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3"/>
  </p:notesMasterIdLst>
  <p:handoutMasterIdLst>
    <p:handoutMasterId r:id="rId34"/>
  </p:handoutMasterIdLst>
  <p:sldIdLst>
    <p:sldId id="305" r:id="rId2"/>
    <p:sldId id="386" r:id="rId3"/>
    <p:sldId id="388" r:id="rId4"/>
    <p:sldId id="376" r:id="rId5"/>
    <p:sldId id="353" r:id="rId6"/>
    <p:sldId id="391" r:id="rId7"/>
    <p:sldId id="356" r:id="rId8"/>
    <p:sldId id="355" r:id="rId9"/>
    <p:sldId id="339" r:id="rId10"/>
    <p:sldId id="357" r:id="rId11"/>
    <p:sldId id="384" r:id="rId12"/>
    <p:sldId id="385" r:id="rId13"/>
    <p:sldId id="360" r:id="rId14"/>
    <p:sldId id="393" r:id="rId15"/>
    <p:sldId id="361" r:id="rId16"/>
    <p:sldId id="362" r:id="rId17"/>
    <p:sldId id="363" r:id="rId18"/>
    <p:sldId id="277" r:id="rId19"/>
    <p:sldId id="365" r:id="rId20"/>
    <p:sldId id="382" r:id="rId21"/>
    <p:sldId id="383" r:id="rId22"/>
    <p:sldId id="367" r:id="rId23"/>
    <p:sldId id="368" r:id="rId24"/>
    <p:sldId id="392" r:id="rId25"/>
    <p:sldId id="369" r:id="rId26"/>
    <p:sldId id="338" r:id="rId27"/>
    <p:sldId id="370" r:id="rId28"/>
    <p:sldId id="371" r:id="rId29"/>
    <p:sldId id="372" r:id="rId30"/>
    <p:sldId id="373" r:id="rId31"/>
    <p:sldId id="307" r:id="rId32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6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6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6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6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6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6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6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6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6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94660"/>
  </p:normalViewPr>
  <p:slideViewPr>
    <p:cSldViewPr>
      <p:cViewPr varScale="1">
        <p:scale>
          <a:sx n="64" d="100"/>
          <a:sy n="64" d="100"/>
        </p:scale>
        <p:origin x="125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1" u="none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 u="none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7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1" u="none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7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 u="none"/>
            </a:lvl1pPr>
          </a:lstStyle>
          <a:p>
            <a:fld id="{46449484-EC3D-43F2-A5B4-B7E903CCC9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94719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1" u="none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 u="none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1" u="none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 u="none"/>
            </a:lvl1pPr>
          </a:lstStyle>
          <a:p>
            <a:fld id="{75D8A417-DFF4-4C6E-8E4D-6CE2B72718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32533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16943E-C13C-4450-A283-82DDF9B33E07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BD67A-7630-4CD4-8E27-0C418BD572E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66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6245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47642E-EBE0-4EB3-A4A3-795209459381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8CF82-9B73-4FB3-8285-B6D452F661A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35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6E463-AF20-47BC-9DE8-8926DD0AC4C0}" type="datetime1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0525E-1D7A-47E1-BB59-8DF78DEF293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62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493B75-7998-475E-B1DD-EA801CCC5864}" type="datetime1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C1CDE-8885-4C63-9663-4797E8111DE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9594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F1ECAB-9209-43B0-8EF3-410A9EE4038C}" type="datetime1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5421-498E-4324-B6CF-E2BB615978D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39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03C5C5-C05E-43F2-9C42-C2EB43592384}" type="datetime1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DCB5-1CEC-4748-AF0B-EA307A61096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5523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FC821B3-8831-4E76-8C03-1D42653E892C}" type="datetime1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9EBA80-E311-40C2-A2AD-BBD82A7A361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12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92C407-2807-4CAD-8D64-2E5CD3E35CD2}" type="datetime1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6C32-A743-4664-A40B-A6127C7E4BC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860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0B58063-682C-42D3-8DFC-85BE28576DEB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7225-0B30-40EC-B9C6-D105040803A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1345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8FB626-7D62-4B36-B4D5-E1DEECC0229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8F755-A9E8-446D-A49A-DA5DDDBF4B3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065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DFCCB9D-6D79-4C1F-9ACD-C7664F26E5DC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02E78A3-AB8C-45A1-B5AE-90EC7F89650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261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Project Quality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6D322-C362-481D-9F15-DECB5245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8AD557-DAE0-4292-93C9-057DAB599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BD67A-7630-4CD4-8E27-0C418BD572E0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6F59B2-68B7-4E9C-849C-CF5BEFF6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0A51AA-F4E2-4277-BA62-964E81936A2A}" type="datetime1">
              <a:rPr lang="en-US" smtClean="0"/>
              <a:t>10/23/2024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5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Quality Management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algn="just"/>
            <a:r>
              <a:rPr lang="en-GB" dirty="0"/>
              <a:t>Project Quality Management includes the </a:t>
            </a:r>
            <a:r>
              <a:rPr lang="en-GB" b="1" dirty="0"/>
              <a:t>processes and activities </a:t>
            </a:r>
            <a:r>
              <a:rPr lang="en-GB" dirty="0"/>
              <a:t>of the </a:t>
            </a:r>
            <a:r>
              <a:rPr lang="en-GB" b="1" dirty="0"/>
              <a:t>performing organization </a:t>
            </a:r>
            <a:r>
              <a:rPr lang="en-GB" dirty="0"/>
              <a:t>that determine </a:t>
            </a:r>
            <a:r>
              <a:rPr lang="en-GB" b="1" dirty="0"/>
              <a:t>quality policies, objectives, and responsibilities </a:t>
            </a:r>
            <a:r>
              <a:rPr lang="en-GB" dirty="0"/>
              <a:t>so that the project will satisfy the needs for which it was undertaken</a:t>
            </a:r>
            <a:r>
              <a:rPr lang="en-GB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PK" dirty="0"/>
              <a:t>Project Quality Management works to ensure that the project requirements, including product requirements, are met and validated.</a:t>
            </a:r>
            <a:endParaRPr lang="en-GB" dirty="0"/>
          </a:p>
          <a:p>
            <a:pPr algn="just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7496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Quality Management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940041" cy="402336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three main processes in the Quality Management Knowledge Area are</a:t>
            </a:r>
            <a:r>
              <a:rPr lang="en-US" dirty="0" smtClean="0"/>
              <a:t>:</a:t>
            </a:r>
            <a:endParaRPr lang="en-GB" dirty="0"/>
          </a:p>
          <a:p>
            <a:pPr algn="just"/>
            <a:r>
              <a:rPr lang="en-US" dirty="0"/>
              <a:t>1. </a:t>
            </a:r>
            <a:r>
              <a:rPr lang="en-US" b="1" dirty="0"/>
              <a:t>Plan Quality Management: </a:t>
            </a:r>
            <a:r>
              <a:rPr lang="en-PK" dirty="0"/>
              <a:t>The process of </a:t>
            </a:r>
            <a:r>
              <a:rPr lang="en-PK" b="1" dirty="0"/>
              <a:t>identifying quality requirements and/or standards</a:t>
            </a:r>
            <a:r>
              <a:rPr lang="en-PK" dirty="0"/>
              <a:t> for the project and its deliverables, and </a:t>
            </a:r>
            <a:r>
              <a:rPr lang="en-PK" b="1" dirty="0"/>
              <a:t>documenting how the project will demonstrate compliance with quality requirements and/ or standards.</a:t>
            </a:r>
            <a:endParaRPr lang="en-GB" b="1" dirty="0"/>
          </a:p>
          <a:p>
            <a:pPr algn="just"/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b="1" dirty="0"/>
              <a:t>Manage Quality</a:t>
            </a:r>
            <a:r>
              <a:rPr lang="en-US" dirty="0"/>
              <a:t> (formerly called Perform Quality Assurance): </a:t>
            </a:r>
            <a:r>
              <a:rPr lang="en-PK" dirty="0"/>
              <a:t>The process of translating the quality management plan into executable quality activities that incorporate the organization’s quality policies into </a:t>
            </a:r>
            <a:r>
              <a:rPr lang="en-PK" dirty="0" smtClean="0"/>
              <a:t>the</a:t>
            </a:r>
            <a:r>
              <a:rPr lang="en-US" dirty="0" smtClean="0"/>
              <a:t> project.</a:t>
            </a:r>
            <a:endParaRPr lang="en-GB" dirty="0"/>
          </a:p>
          <a:p>
            <a:pPr algn="just"/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en-US" b="1" dirty="0"/>
              <a:t>Control Quality: </a:t>
            </a:r>
            <a:r>
              <a:rPr lang="en-US" dirty="0"/>
              <a:t>Monitoring and recording the results of executing quality activities to assess performance and recommend necessary changes.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590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03C5C5-C05E-43F2-9C42-C2EB43592384}" type="datetime1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DCB5-1CEC-4748-AF0B-EA307A610967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85800"/>
            <a:ext cx="85344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40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/>
              <a:t>Plan Quality Management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863841" cy="4023360"/>
          </a:xfrm>
        </p:spPr>
        <p:txBody>
          <a:bodyPr/>
          <a:lstStyle/>
          <a:p>
            <a:r>
              <a:rPr lang="en-US" altLang="en-US" b="1" dirty="0"/>
              <a:t>Plan Quality </a:t>
            </a:r>
            <a:r>
              <a:rPr lang="en-US" altLang="en-US" b="1" dirty="0" smtClean="0"/>
              <a:t>Management: </a:t>
            </a:r>
            <a:r>
              <a:rPr lang="en-US" altLang="en-US" dirty="0" smtClean="0"/>
              <a:t>The </a:t>
            </a:r>
            <a:r>
              <a:rPr lang="en-US" altLang="en-US" dirty="0"/>
              <a:t>process of identifying quality requirements </a:t>
            </a:r>
            <a:r>
              <a:rPr lang="en-US" altLang="en-US" dirty="0" smtClean="0"/>
              <a:t>and </a:t>
            </a:r>
            <a:r>
              <a:rPr lang="en-US" altLang="en-US" dirty="0"/>
              <a:t>standards for the project </a:t>
            </a:r>
            <a:r>
              <a:rPr lang="en-US" altLang="en-US" dirty="0" smtClean="0"/>
              <a:t>and </a:t>
            </a:r>
            <a:r>
              <a:rPr lang="en-US" altLang="en-US" dirty="0"/>
              <a:t>its deliverables, and documenting how the project will demonstrate compliance with quality requirements </a:t>
            </a:r>
            <a:r>
              <a:rPr lang="en-US" altLang="en-US" dirty="0" smtClean="0"/>
              <a:t>and </a:t>
            </a:r>
            <a:r>
              <a:rPr lang="en-US" altLang="en-US" dirty="0"/>
              <a:t>standards</a:t>
            </a:r>
            <a:r>
              <a:rPr lang="en-US" altLang="en-US" dirty="0" smtClean="0"/>
              <a:t>.</a:t>
            </a:r>
          </a:p>
          <a:p>
            <a:pPr algn="ctr"/>
            <a:r>
              <a:rPr lang="en-US" altLang="en-US" b="1" i="1" dirty="0" smtClean="0"/>
              <a:t>What is the quality for this project? How will we ensure it?</a:t>
            </a:r>
          </a:p>
          <a:p>
            <a:pPr algn="ctr"/>
            <a:endParaRPr lang="en-US" b="1" i="1" dirty="0"/>
          </a:p>
          <a:p>
            <a:r>
              <a:rPr lang="en-US" dirty="0" smtClean="0"/>
              <a:t>The </a:t>
            </a:r>
            <a:r>
              <a:rPr lang="en-US" dirty="0"/>
              <a:t>key </a:t>
            </a:r>
            <a:r>
              <a:rPr lang="en-US" dirty="0" smtClean="0"/>
              <a:t>benefit </a:t>
            </a:r>
            <a:r>
              <a:rPr lang="en-US" dirty="0"/>
              <a:t>of this process is that </a:t>
            </a:r>
            <a:r>
              <a:rPr lang="en-US" b="1" dirty="0"/>
              <a:t>it provides guidance and direction on how quality will be managed and veriﬁed </a:t>
            </a:r>
            <a:r>
              <a:rPr lang="en-US" b="1" dirty="0" smtClean="0"/>
              <a:t>throughout </a:t>
            </a:r>
            <a:r>
              <a:rPr lang="en-US" b="1" dirty="0"/>
              <a:t>the project. </a:t>
            </a:r>
            <a:endParaRPr lang="en-US" b="1" dirty="0" smtClean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14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03C5C5-C05E-43F2-9C42-C2EB43592384}" type="datetime1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DCB5-1CEC-4748-AF0B-EA307A610967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2" y="685800"/>
            <a:ext cx="7940038" cy="5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390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/>
              <a:t>PLAN QUALITY MANAGEMENT: TOOLS </a:t>
            </a:r>
            <a:r>
              <a:rPr lang="en-US" sz="3200" b="1" dirty="0"/>
              <a:t>AND TECHNIQUES</a:t>
            </a:r>
            <a:endParaRPr lang="en-GB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b="1" dirty="0" smtClean="0"/>
              <a:t>DATA</a:t>
            </a:r>
            <a:r>
              <a:rPr lang="en-GB" sz="1800" dirty="0" smtClean="0"/>
              <a:t> </a:t>
            </a:r>
            <a:r>
              <a:rPr lang="en-GB" sz="1800" b="1" dirty="0" smtClean="0"/>
              <a:t>ANALYSIS: </a:t>
            </a:r>
          </a:p>
          <a:p>
            <a:r>
              <a:rPr lang="en-US" sz="1800" b="1" dirty="0" smtClean="0"/>
              <a:t>Cost Benefit </a:t>
            </a:r>
            <a:r>
              <a:rPr lang="en-US" sz="1800" b="1" dirty="0"/>
              <a:t>Analysis: </a:t>
            </a:r>
            <a:r>
              <a:rPr lang="en-US" sz="1800" dirty="0"/>
              <a:t>A cost-beneﬁt analysis is a ﬁnancial analysis </a:t>
            </a:r>
            <a:r>
              <a:rPr lang="en-US" sz="1800" dirty="0" smtClean="0"/>
              <a:t>tool. </a:t>
            </a:r>
          </a:p>
          <a:p>
            <a:r>
              <a:rPr lang="en-US" sz="1800" dirty="0" smtClean="0"/>
              <a:t>The main reason behind maintaining quality is to have less rework, lower cost, higher productivity, and higher customer satisfaction.</a:t>
            </a:r>
          </a:p>
          <a:p>
            <a:r>
              <a:rPr lang="en-US" sz="1800" dirty="0" smtClean="0"/>
              <a:t>In cost-benefit analysis, we compare benefits versus the cost of meeting quality requirements.</a:t>
            </a:r>
          </a:p>
          <a:p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03C5C5-C05E-43F2-9C42-C2EB43592384}" type="datetime1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DCB5-1CEC-4748-AF0B-EA307A61096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968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/>
              <a:t>PLAN QUALITY MANAGEMENT: TOOLS AND TECHNIQUES</a:t>
            </a:r>
            <a:endParaRPr lang="en-GB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1800" b="1" dirty="0"/>
              <a:t>Cost of quality</a:t>
            </a:r>
            <a:r>
              <a:rPr lang="en-GB" sz="1800" b="1" dirty="0" smtClean="0"/>
              <a:t>. </a:t>
            </a:r>
            <a:r>
              <a:rPr lang="en-US" sz="1800" dirty="0"/>
              <a:t>The cost of quality (COQ) associated with a project consists of one or more of the following costs </a:t>
            </a:r>
            <a:endParaRPr lang="en-US" sz="1800" dirty="0" smtClean="0"/>
          </a:p>
          <a:p>
            <a:r>
              <a:rPr lang="en-US" sz="1800" b="1" dirty="0"/>
              <a:t>Prevention costs. </a:t>
            </a:r>
            <a:r>
              <a:rPr lang="en-US" sz="1800" dirty="0"/>
              <a:t>Costs related to the prevention of poor quality in the products, deliverables, or services of </a:t>
            </a:r>
            <a:r>
              <a:rPr lang="en-US" sz="1800" dirty="0" smtClean="0"/>
              <a:t>the </a:t>
            </a:r>
            <a:r>
              <a:rPr lang="en-US" sz="1800" dirty="0"/>
              <a:t>speciﬁc </a:t>
            </a:r>
            <a:r>
              <a:rPr lang="en-US" sz="1800" dirty="0" smtClean="0"/>
              <a:t>project…Quality Planning.</a:t>
            </a:r>
          </a:p>
          <a:p>
            <a:r>
              <a:rPr lang="en-GB" sz="1800" b="1" dirty="0" smtClean="0"/>
              <a:t>Appraisal </a:t>
            </a:r>
            <a:r>
              <a:rPr lang="en-GB" sz="1800" b="1" dirty="0"/>
              <a:t>costs. </a:t>
            </a:r>
            <a:r>
              <a:rPr lang="en-US" sz="1800" dirty="0"/>
              <a:t>Costs related to evaluating, measuring, auditing, and testing the products, deliverables, or </a:t>
            </a:r>
            <a:r>
              <a:rPr lang="en-US" sz="1800" dirty="0" smtClean="0"/>
              <a:t>services </a:t>
            </a:r>
            <a:r>
              <a:rPr lang="en-US" sz="1800" dirty="0"/>
              <a:t>of the speciﬁc project</a:t>
            </a:r>
            <a:r>
              <a:rPr lang="en-US" sz="1800" dirty="0" smtClean="0"/>
              <a:t>.</a:t>
            </a:r>
          </a:p>
          <a:p>
            <a:r>
              <a:rPr lang="en-US" sz="1800" b="1" dirty="0"/>
              <a:t>Failure costs (internal/external). </a:t>
            </a:r>
            <a:r>
              <a:rPr lang="en-US" sz="1800" dirty="0"/>
              <a:t>Costs related to </a:t>
            </a:r>
            <a:r>
              <a:rPr lang="en-US" sz="1800" dirty="0" smtClean="0"/>
              <a:t>non-conformance </a:t>
            </a:r>
            <a:r>
              <a:rPr lang="en-US" sz="1800" dirty="0"/>
              <a:t>of the products, deliverables, or services to </a:t>
            </a:r>
            <a:r>
              <a:rPr lang="en-US" sz="1800" dirty="0" smtClean="0"/>
              <a:t>the </a:t>
            </a:r>
            <a:r>
              <a:rPr lang="en-US" sz="1800" dirty="0"/>
              <a:t>needs or expectations of the </a:t>
            </a:r>
            <a:r>
              <a:rPr lang="en-US" sz="1800" dirty="0" smtClean="0"/>
              <a:t>stakeholders.</a:t>
            </a:r>
          </a:p>
          <a:p>
            <a:r>
              <a:rPr lang="en-US" altLang="en-US" sz="1800" b="1" dirty="0" smtClean="0"/>
              <a:t>Internal Cost: </a:t>
            </a:r>
            <a:r>
              <a:rPr lang="en-US" altLang="en-US" sz="1800" dirty="0" smtClean="0"/>
              <a:t>It occurs </a:t>
            </a:r>
            <a:r>
              <a:rPr lang="en-US" altLang="en-US" sz="1800" dirty="0"/>
              <a:t>when an error is detected in a product </a:t>
            </a:r>
            <a:r>
              <a:rPr lang="en-US" altLang="en-US" sz="1800" u="sng" dirty="0" smtClean="0"/>
              <a:t>before</a:t>
            </a:r>
            <a:r>
              <a:rPr lang="en-US" altLang="en-US" sz="1800" dirty="0" smtClean="0"/>
              <a:t> shipment, Including </a:t>
            </a:r>
            <a:r>
              <a:rPr lang="en-US" altLang="en-US" sz="1800" dirty="0"/>
              <a:t>rework, repair, and failure mode </a:t>
            </a:r>
            <a:r>
              <a:rPr lang="en-US" altLang="en-US" sz="1800" dirty="0" smtClean="0"/>
              <a:t>analysis.</a:t>
            </a:r>
            <a:r>
              <a:rPr lang="en-US" altLang="en-US" sz="1800" b="1" dirty="0" smtClean="0"/>
              <a:t>  </a:t>
            </a:r>
          </a:p>
          <a:p>
            <a:r>
              <a:rPr lang="en-US" altLang="en-US" sz="1800" b="1" dirty="0" smtClean="0"/>
              <a:t>External Failure cost: </a:t>
            </a:r>
            <a:r>
              <a:rPr lang="en-US" altLang="en-US" sz="1800" dirty="0" smtClean="0"/>
              <a:t>Involves </a:t>
            </a:r>
            <a:r>
              <a:rPr lang="en-US" altLang="en-US" sz="1800" dirty="0"/>
              <a:t>defects found </a:t>
            </a:r>
            <a:r>
              <a:rPr lang="en-US" altLang="en-US" sz="1800" u="sng" dirty="0"/>
              <a:t>after</a:t>
            </a:r>
            <a:r>
              <a:rPr lang="en-US" altLang="en-US" sz="1800" dirty="0"/>
              <a:t> the product has been </a:t>
            </a:r>
            <a:r>
              <a:rPr lang="en-US" altLang="en-US" sz="1800" dirty="0" smtClean="0"/>
              <a:t>shipped. Include </a:t>
            </a:r>
            <a:r>
              <a:rPr lang="en-US" altLang="en-US" sz="1800" dirty="0"/>
              <a:t>complaint resolution, product </a:t>
            </a:r>
            <a:r>
              <a:rPr lang="en-US" altLang="en-US" sz="1800" dirty="0" smtClean="0"/>
              <a:t>return, </a:t>
            </a:r>
            <a:r>
              <a:rPr lang="en-US" altLang="en-US" sz="1800" dirty="0"/>
              <a:t>and replacement, </a:t>
            </a:r>
            <a:r>
              <a:rPr lang="en-US" altLang="en-US" sz="1800" dirty="0" smtClean="0"/>
              <a:t>helpline </a:t>
            </a:r>
            <a:r>
              <a:rPr lang="en-US" altLang="en-US" sz="1800" dirty="0"/>
              <a:t>support, and warranty work </a:t>
            </a:r>
          </a:p>
          <a:p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03C5C5-C05E-43F2-9C42-C2EB43592384}" type="datetime1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DCB5-1CEC-4748-AF0B-EA307A610967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840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BAC9-7920-4F44-B2F6-1EE6BC11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Quality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9FC3F-BAC6-4DCB-92DE-328003065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079F8-0147-4E75-95E5-FE0DE707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E745A-9DCB-4AC6-B97A-1F5BB67D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9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B74C35-E43F-4FD9-9991-F4332071F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857145"/>
            <a:ext cx="6934080" cy="423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6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/>
              <a:t>Plan Quality Management: Tools And Techniques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smtClean="0"/>
              <a:t>Data Representation:</a:t>
            </a:r>
          </a:p>
          <a:p>
            <a:pPr marL="0" indent="0">
              <a:buNone/>
            </a:pPr>
            <a:r>
              <a:rPr lang="en-US" dirty="0" smtClean="0"/>
              <a:t>Data </a:t>
            </a:r>
            <a:r>
              <a:rPr lang="en-US" dirty="0"/>
              <a:t>representation techniques that can be used for this process include but are not limited to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GB" b="1" dirty="0"/>
              <a:t>Flowcharts</a:t>
            </a:r>
            <a:r>
              <a:rPr lang="en-GB" b="1" dirty="0" smtClean="0"/>
              <a:t>.</a:t>
            </a:r>
            <a:r>
              <a:rPr lang="en-US" b="1" dirty="0"/>
              <a:t> </a:t>
            </a:r>
            <a:r>
              <a:rPr lang="en-US" dirty="0" smtClean="0"/>
              <a:t>Also called </a:t>
            </a:r>
            <a:r>
              <a:rPr lang="en-US" b="1" dirty="0" smtClean="0"/>
              <a:t>Process maps</a:t>
            </a:r>
            <a:r>
              <a:rPr lang="en-US" dirty="0" smtClean="0"/>
              <a:t>, because flow charts describe the sequence of steps. The flow charts help us better understand projects</a:t>
            </a:r>
            <a:r>
              <a:rPr lang="en-US" dirty="0"/>
              <a:t>. </a:t>
            </a:r>
            <a:r>
              <a:rPr lang="en-US" b="1" dirty="0"/>
              <a:t>SIPOC</a:t>
            </a:r>
            <a:r>
              <a:rPr lang="en-US" dirty="0"/>
              <a:t> (suppliers, inputs, process, outputs, and customers) model. SIPOC is a method for describing and improving processes by summarizing the inputs and outputs of one or more processes.</a:t>
            </a:r>
          </a:p>
          <a:p>
            <a:pPr marL="0" indent="0">
              <a:buNone/>
            </a:pPr>
            <a:r>
              <a:rPr lang="en-US" b="1" dirty="0" smtClean="0"/>
              <a:t>Matrix </a:t>
            </a:r>
            <a:r>
              <a:rPr lang="en-US" b="1" dirty="0"/>
              <a:t>diagrams. </a:t>
            </a:r>
            <a:r>
              <a:rPr lang="en-US" dirty="0"/>
              <a:t>The matrix diagram shows the relationship between two, </a:t>
            </a:r>
            <a:r>
              <a:rPr lang="en-US" dirty="0" smtClean="0"/>
              <a:t>three, </a:t>
            </a:r>
            <a:r>
              <a:rPr lang="en-US" dirty="0"/>
              <a:t>or four groups of information</a:t>
            </a:r>
            <a:r>
              <a:rPr lang="en-US" dirty="0" smtClean="0"/>
              <a:t>. It is </a:t>
            </a:r>
            <a:r>
              <a:rPr lang="en-US" dirty="0"/>
              <a:t>used to analyze and determine the relationship between data sets.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605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03C5C5-C05E-43F2-9C42-C2EB43592384}" type="datetime1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DCB5-1CEC-4748-AF0B-EA307A610967}" type="slidenum">
              <a:rPr lang="en-US" altLang="en-US" smtClean="0"/>
              <a:pPr/>
              <a:t>11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38200"/>
            <a:ext cx="8001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2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Matrix Diagram – L  Shaped</a:t>
            </a:r>
            <a:endParaRPr lang="en-GB" sz="3600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088" y="2419150"/>
            <a:ext cx="7154273" cy="28769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50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/>
              <a:t>PLAN QUALITY MANAGEMENT: TOOLS AND TECHNIQUES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Mind </a:t>
            </a:r>
            <a:r>
              <a:rPr lang="en-US" b="1" dirty="0"/>
              <a:t>mapping. </a:t>
            </a:r>
            <a:r>
              <a:rPr lang="en-US" dirty="0"/>
              <a:t>Mind mapping is a diagrammatic method used </a:t>
            </a:r>
            <a:r>
              <a:rPr lang="en-US" dirty="0" smtClean="0"/>
              <a:t>to organize information visually.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99" y="2743199"/>
            <a:ext cx="6896454" cy="31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67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14</a:t>
            </a:fld>
            <a:endParaRPr lang="en-US" alt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25" y="657082"/>
            <a:ext cx="7779150" cy="554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88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/>
              <a:t>PLAN QUALITY MANAGEMENT: OUTPUTS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1 </a:t>
            </a:r>
            <a:r>
              <a:rPr lang="en-US" b="1" dirty="0" smtClean="0"/>
              <a:t>Quality Management Plan</a:t>
            </a:r>
          </a:p>
          <a:p>
            <a:r>
              <a:rPr lang="en-US" dirty="0"/>
              <a:t>The quality management plan may include but is not limited to the following components</a:t>
            </a:r>
            <a:r>
              <a:rPr lang="en-US" dirty="0" smtClean="0"/>
              <a:t>:</a:t>
            </a:r>
          </a:p>
          <a:p>
            <a:r>
              <a:rPr lang="en-US" dirty="0" smtClean="0"/>
              <a:t>1. Quality </a:t>
            </a:r>
            <a:r>
              <a:rPr lang="en-US" dirty="0"/>
              <a:t>standards that will be used by the </a:t>
            </a:r>
            <a:r>
              <a:rPr lang="en-US" dirty="0" smtClean="0"/>
              <a:t>project</a:t>
            </a:r>
          </a:p>
          <a:p>
            <a:r>
              <a:rPr lang="en-US" dirty="0"/>
              <a:t>2. Quality objectives of the </a:t>
            </a:r>
            <a:r>
              <a:rPr lang="en-US" dirty="0" smtClean="0"/>
              <a:t>project</a:t>
            </a:r>
          </a:p>
          <a:p>
            <a:r>
              <a:rPr lang="en-US" dirty="0"/>
              <a:t>3. Quality roles and </a:t>
            </a:r>
            <a:r>
              <a:rPr lang="en-US" dirty="0" smtClean="0"/>
              <a:t>responsibilities.</a:t>
            </a:r>
          </a:p>
          <a:p>
            <a:r>
              <a:rPr lang="en-US" dirty="0"/>
              <a:t>4. Project deliverables and processes </a:t>
            </a:r>
            <a:r>
              <a:rPr lang="en-US" dirty="0" smtClean="0"/>
              <a:t>are subject </a:t>
            </a:r>
            <a:r>
              <a:rPr lang="en-US" dirty="0"/>
              <a:t>to quality </a:t>
            </a:r>
            <a:r>
              <a:rPr lang="en-US" dirty="0" smtClean="0"/>
              <a:t>review.</a:t>
            </a:r>
          </a:p>
          <a:p>
            <a:r>
              <a:rPr lang="en-US" dirty="0" smtClean="0"/>
              <a:t>5</a:t>
            </a:r>
            <a:r>
              <a:rPr lang="en-US" dirty="0"/>
              <a:t>. Quality control and quality management activities planned for the </a:t>
            </a:r>
            <a:r>
              <a:rPr lang="en-US" dirty="0" smtClean="0"/>
              <a:t>project</a:t>
            </a:r>
          </a:p>
          <a:p>
            <a:r>
              <a:rPr lang="en-US" dirty="0"/>
              <a:t>6. Quality tools that will be used for the </a:t>
            </a:r>
            <a:r>
              <a:rPr lang="en-US" dirty="0" smtClean="0"/>
              <a:t>project.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25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/>
              <a:t>PLAN QUALITY MANAGEMENT: OUTPUTS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787641" cy="4023360"/>
          </a:xfrm>
        </p:spPr>
        <p:txBody>
          <a:bodyPr>
            <a:normAutofit/>
          </a:bodyPr>
          <a:lstStyle/>
          <a:p>
            <a:r>
              <a:rPr lang="en-US" b="1" dirty="0" smtClean="0"/>
              <a:t>2 Quality Metrics</a:t>
            </a:r>
          </a:p>
          <a:p>
            <a:r>
              <a:rPr lang="en-US" dirty="0"/>
              <a:t>Some examples of quality metrics include </a:t>
            </a:r>
            <a:r>
              <a:rPr lang="en-US" dirty="0" smtClean="0"/>
              <a:t>the </a:t>
            </a:r>
            <a:r>
              <a:rPr lang="en-US" b="1" dirty="0" smtClean="0"/>
              <a:t>percentage </a:t>
            </a:r>
            <a:r>
              <a:rPr lang="en-US" b="1" dirty="0"/>
              <a:t>of tasks completed on time</a:t>
            </a:r>
            <a:r>
              <a:rPr lang="en-US" dirty="0"/>
              <a:t>, </a:t>
            </a:r>
            <a:r>
              <a:rPr lang="en-US" b="1" dirty="0"/>
              <a:t>cost </a:t>
            </a:r>
            <a:r>
              <a:rPr lang="en-US" b="1" dirty="0" smtClean="0"/>
              <a:t>performance</a:t>
            </a:r>
            <a:r>
              <a:rPr lang="en-US" dirty="0" smtClean="0"/>
              <a:t>, </a:t>
            </a:r>
            <a:r>
              <a:rPr lang="en-US" b="1" dirty="0"/>
              <a:t>failure rate</a:t>
            </a:r>
            <a:r>
              <a:rPr lang="en-US" dirty="0"/>
              <a:t>, </a:t>
            </a:r>
            <a:r>
              <a:rPr lang="en-US" b="1" dirty="0" smtClean="0"/>
              <a:t>and number </a:t>
            </a:r>
            <a:r>
              <a:rPr lang="en-US" b="1" dirty="0"/>
              <a:t>of defects identified per day</a:t>
            </a:r>
            <a:r>
              <a:rPr lang="en-US" b="1" dirty="0" smtClean="0"/>
              <a:t>,...</a:t>
            </a:r>
          </a:p>
          <a:p>
            <a:r>
              <a:rPr lang="en-US" b="1" dirty="0" smtClean="0"/>
              <a:t>3 Project Management Plan Updates: </a:t>
            </a:r>
            <a:r>
              <a:rPr lang="en-US" dirty="0" smtClean="0"/>
              <a:t>Risk Management plan and scope baseline.</a:t>
            </a:r>
          </a:p>
          <a:p>
            <a:r>
              <a:rPr lang="en-US" b="1" dirty="0"/>
              <a:t>4 </a:t>
            </a:r>
            <a:r>
              <a:rPr lang="en-US" b="1" dirty="0" smtClean="0"/>
              <a:t>Project Documents </a:t>
            </a:r>
            <a:r>
              <a:rPr lang="en-US" b="1" dirty="0"/>
              <a:t>Updates: </a:t>
            </a:r>
            <a:r>
              <a:rPr lang="en-US" dirty="0"/>
              <a:t>Lessons learned register, Requirements traceability matrix, Risk </a:t>
            </a:r>
            <a:r>
              <a:rPr lang="en-US" dirty="0" smtClean="0"/>
              <a:t>register, and Stakeholder </a:t>
            </a:r>
            <a:r>
              <a:rPr lang="en-US" dirty="0"/>
              <a:t>register.</a:t>
            </a:r>
            <a:endParaRPr lang="en-US" dirty="0" smtClean="0"/>
          </a:p>
          <a:p>
            <a:endParaRPr lang="en-US" dirty="0" smtClean="0"/>
          </a:p>
          <a:p>
            <a:endParaRPr lang="en-US" b="1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725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Manage Quality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 Quality is the process of </a:t>
            </a:r>
            <a:r>
              <a:rPr lang="en-US" b="1" dirty="0"/>
              <a:t>translating the quality management plan into executable quality </a:t>
            </a:r>
            <a:r>
              <a:rPr lang="en-US" b="1" dirty="0" smtClean="0"/>
              <a:t>activities.</a:t>
            </a:r>
          </a:p>
          <a:p>
            <a:endParaRPr lang="en-US" b="1" dirty="0" smtClean="0"/>
          </a:p>
          <a:p>
            <a:r>
              <a:rPr lang="en-US" b="1" dirty="0" smtClean="0"/>
              <a:t>The </a:t>
            </a:r>
            <a:r>
              <a:rPr lang="en-US" b="1" dirty="0"/>
              <a:t>key </a:t>
            </a:r>
            <a:r>
              <a:rPr lang="en-US" b="1" dirty="0" smtClean="0"/>
              <a:t>benefits </a:t>
            </a:r>
            <a:r>
              <a:rPr lang="en-US" b="1" dirty="0"/>
              <a:t>of this process </a:t>
            </a: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Increases the probability of meeting the quality objectives.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Identifying ineffective processes and causes of poor quality. 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330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Manage Quality</a:t>
            </a:r>
          </a:p>
        </p:txBody>
      </p:sp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1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309400-7887-4DA8-A90C-56FB212B9F13}" type="slidenum">
              <a:rPr lang="en-US" altLang="en-US" sz="1400" u="none"/>
              <a:pPr eaLnBrk="1" hangingPunct="1"/>
              <a:t>18</a:t>
            </a:fld>
            <a:endParaRPr lang="en-US" altLang="en-US" sz="1400" u="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126A4-E0B5-45C6-9DA9-93F72A7BF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CD948-D0E2-4606-AD87-71FEFC624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F5590A6-9505-43EF-99D3-C4BEACFB0FA3}" type="datetime1">
              <a:rPr lang="en-US" smtClean="0"/>
              <a:t>10/23/2024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2AD257-2D38-4031-9FEA-69D152DA9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561" y="1826581"/>
            <a:ext cx="6468039" cy="44980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Manage Quality: Tools And Techniques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Root cause analysis (RCA). </a:t>
            </a:r>
            <a:r>
              <a:rPr lang="en-US" dirty="0"/>
              <a:t>analytical technique used to determine the basic underlying </a:t>
            </a:r>
            <a:r>
              <a:rPr lang="en-US" dirty="0" smtClean="0"/>
              <a:t>reason </a:t>
            </a:r>
            <a:r>
              <a:rPr lang="en-US" dirty="0"/>
              <a:t>that causes a variance, defect, or risk</a:t>
            </a:r>
            <a:r>
              <a:rPr lang="en-US" dirty="0" smtClean="0"/>
              <a:t>.</a:t>
            </a:r>
          </a:p>
          <a:p>
            <a:r>
              <a:rPr lang="en-GB" b="1" dirty="0"/>
              <a:t>DATA </a:t>
            </a:r>
            <a:r>
              <a:rPr lang="en-GB" b="1" dirty="0" smtClean="0"/>
              <a:t>REPRESENTATION</a:t>
            </a:r>
          </a:p>
          <a:p>
            <a:r>
              <a:rPr lang="en-GB" b="1" dirty="0"/>
              <a:t>Affinity diagrams</a:t>
            </a:r>
            <a:r>
              <a:rPr lang="en-GB" b="1" dirty="0" smtClean="0"/>
              <a:t>. </a:t>
            </a:r>
            <a:r>
              <a:rPr lang="en-US" dirty="0" smtClean="0"/>
              <a:t>A diagram </a:t>
            </a:r>
            <a:r>
              <a:rPr lang="en-US" dirty="0"/>
              <a:t>reflecting an affinity (connection) among information </a:t>
            </a:r>
            <a:r>
              <a:rPr lang="en-US" dirty="0" smtClean="0"/>
              <a:t>sets.</a:t>
            </a:r>
          </a:p>
          <a:p>
            <a:r>
              <a:rPr lang="en-GB" b="1" dirty="0"/>
              <a:t>Cause-and-effect </a:t>
            </a:r>
            <a:r>
              <a:rPr lang="en-GB" b="1" dirty="0" smtClean="0"/>
              <a:t>diagrams. </a:t>
            </a:r>
            <a:r>
              <a:rPr lang="en-US" dirty="0"/>
              <a:t>This type of diagram breaks down the causes of the problem statement </a:t>
            </a:r>
            <a:r>
              <a:rPr lang="en-US" dirty="0" smtClean="0"/>
              <a:t>into </a:t>
            </a:r>
            <a:r>
              <a:rPr lang="en-US" dirty="0"/>
              <a:t>discrete branches, helping to identify the main or root cause of the problem</a:t>
            </a:r>
            <a:r>
              <a:rPr lang="en-US" dirty="0" smtClean="0"/>
              <a:t>. </a:t>
            </a:r>
            <a:r>
              <a:rPr lang="en-US" b="1" dirty="0" smtClean="0"/>
              <a:t>It is used to find possible causes of problems.</a:t>
            </a:r>
          </a:p>
          <a:p>
            <a:r>
              <a:rPr lang="en-GB" b="1" dirty="0"/>
              <a:t>Flowcharts</a:t>
            </a:r>
            <a:r>
              <a:rPr lang="en-GB" b="1" dirty="0" smtClean="0"/>
              <a:t>. </a:t>
            </a:r>
            <a:r>
              <a:rPr lang="en-US" dirty="0"/>
              <a:t>Flowcharts show a series of steps that lead to a defect</a:t>
            </a:r>
            <a:r>
              <a:rPr lang="en-US" dirty="0" smtClean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113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20</a:t>
            </a:fld>
            <a:endParaRPr lang="en-US" alt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838200" y="304800"/>
            <a:ext cx="74676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8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03C5C5-C05E-43F2-9C42-C2EB43592384}" type="datetime1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DCB5-1CEC-4748-AF0B-EA307A610967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1"/>
            <a:ext cx="815339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16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Manage Quality: Tools And Techniques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250266"/>
          </a:xfrm>
        </p:spPr>
        <p:txBody>
          <a:bodyPr>
            <a:noAutofit/>
          </a:bodyPr>
          <a:lstStyle/>
          <a:p>
            <a:r>
              <a:rPr lang="en-US" b="1" dirty="0" smtClean="0"/>
              <a:t>Problem </a:t>
            </a:r>
            <a:r>
              <a:rPr lang="en-US" b="1" dirty="0"/>
              <a:t>Solving: </a:t>
            </a:r>
            <a:endParaRPr lang="en-US" b="1" dirty="0" smtClean="0"/>
          </a:p>
          <a:p>
            <a:r>
              <a:rPr lang="en-US" dirty="0" smtClean="0"/>
              <a:t>Problem-solving </a:t>
            </a:r>
            <a:r>
              <a:rPr lang="en-US" dirty="0"/>
              <a:t>methods generally include </a:t>
            </a:r>
            <a:r>
              <a:rPr lang="en-US" dirty="0" smtClean="0"/>
              <a:t>the </a:t>
            </a:r>
            <a:r>
              <a:rPr lang="en-US" dirty="0"/>
              <a:t>following elements:</a:t>
            </a:r>
          </a:p>
          <a:p>
            <a:pPr lvl="1"/>
            <a:r>
              <a:rPr lang="en-US" sz="2000" dirty="0" smtClean="0"/>
              <a:t>Deﬁning </a:t>
            </a:r>
            <a:r>
              <a:rPr lang="en-US" sz="2000" dirty="0"/>
              <a:t>the problem,</a:t>
            </a:r>
          </a:p>
          <a:p>
            <a:pPr lvl="1"/>
            <a:r>
              <a:rPr lang="en-US" sz="2000" dirty="0" smtClean="0"/>
              <a:t>identifying </a:t>
            </a:r>
            <a:r>
              <a:rPr lang="en-US" sz="2000" dirty="0"/>
              <a:t>the </a:t>
            </a:r>
            <a:r>
              <a:rPr lang="en-US" sz="2000" dirty="0" smtClean="0"/>
              <a:t>root cause.</a:t>
            </a:r>
            <a:endParaRPr lang="en-US" sz="2000" dirty="0"/>
          </a:p>
          <a:p>
            <a:pPr lvl="1"/>
            <a:r>
              <a:rPr lang="en-US" sz="2000" dirty="0" smtClean="0"/>
              <a:t>generating </a:t>
            </a:r>
            <a:r>
              <a:rPr lang="en-US" sz="2000" dirty="0"/>
              <a:t>possible </a:t>
            </a:r>
            <a:r>
              <a:rPr lang="en-US" sz="2000" dirty="0" smtClean="0"/>
              <a:t>solutions.</a:t>
            </a:r>
            <a:endParaRPr lang="en-US" sz="2000" dirty="0"/>
          </a:p>
          <a:p>
            <a:pPr lvl="1"/>
            <a:r>
              <a:rPr lang="en-US" sz="2000" dirty="0" smtClean="0"/>
              <a:t>choosing </a:t>
            </a:r>
            <a:r>
              <a:rPr lang="en-US" sz="2000" dirty="0"/>
              <a:t>the best </a:t>
            </a:r>
            <a:r>
              <a:rPr lang="en-US" sz="2000" dirty="0" smtClean="0"/>
              <a:t>solution.</a:t>
            </a:r>
            <a:endParaRPr lang="en-US" sz="2000" dirty="0"/>
          </a:p>
          <a:p>
            <a:pPr lvl="1"/>
            <a:r>
              <a:rPr lang="en-US" sz="2000" dirty="0" smtClean="0"/>
              <a:t>implementing </a:t>
            </a:r>
            <a:r>
              <a:rPr lang="en-US" sz="2000" dirty="0"/>
              <a:t>the solution, and</a:t>
            </a:r>
          </a:p>
          <a:p>
            <a:pPr lvl="1"/>
            <a:r>
              <a:rPr lang="en-US" sz="2000" dirty="0" smtClean="0"/>
              <a:t>Verifying </a:t>
            </a:r>
            <a:r>
              <a:rPr lang="en-US" sz="2000" dirty="0"/>
              <a:t>solution effectiveness.</a:t>
            </a:r>
            <a:endParaRPr lang="en-GB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398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Manage Quality: </a:t>
            </a:r>
            <a:r>
              <a:rPr lang="en-US" sz="3600" b="1" dirty="0" smtClean="0"/>
              <a:t>Outputs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Quality Reports: </a:t>
            </a:r>
            <a:r>
              <a:rPr lang="en-GB" dirty="0" smtClean="0"/>
              <a:t>The information may include</a:t>
            </a:r>
          </a:p>
          <a:p>
            <a:r>
              <a:rPr lang="en-GB" b="1" dirty="0" smtClean="0"/>
              <a:t>Quality management issues</a:t>
            </a:r>
            <a:r>
              <a:rPr lang="en-GB" dirty="0" smtClean="0"/>
              <a:t>, </a:t>
            </a:r>
            <a:r>
              <a:rPr lang="en-US" b="1" dirty="0"/>
              <a:t>recommendations for </a:t>
            </a:r>
            <a:r>
              <a:rPr lang="en-US" b="1" dirty="0" smtClean="0"/>
              <a:t>process</a:t>
            </a:r>
            <a:r>
              <a:rPr lang="en-US" b="1" dirty="0"/>
              <a:t>, project, and product improvement</a:t>
            </a:r>
            <a:r>
              <a:rPr lang="en-US" dirty="0"/>
              <a:t>, corrective </a:t>
            </a:r>
            <a:r>
              <a:rPr lang="en-US" dirty="0" smtClean="0"/>
              <a:t>action recommendations, and the </a:t>
            </a:r>
            <a:r>
              <a:rPr lang="en-US" dirty="0"/>
              <a:t>summary of ﬁndings from the Control Quality </a:t>
            </a:r>
            <a:r>
              <a:rPr lang="en-US" dirty="0" smtClean="0"/>
              <a:t>process.</a:t>
            </a:r>
            <a:endParaRPr lang="en-GB" dirty="0" smtClean="0"/>
          </a:p>
          <a:p>
            <a:endParaRPr lang="en-GB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3286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24</a:t>
            </a:fld>
            <a:endParaRPr lang="en-US" alt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52400" y="0"/>
            <a:ext cx="88392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994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Quality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711441" cy="4023360"/>
          </a:xfrm>
        </p:spPr>
        <p:txBody>
          <a:bodyPr/>
          <a:lstStyle/>
          <a:p>
            <a:r>
              <a:rPr lang="en-US" dirty="0"/>
              <a:t>Control Quality is the process of </a:t>
            </a:r>
            <a:r>
              <a:rPr lang="en-US" b="1" dirty="0"/>
              <a:t>monitoring and recording results of </a:t>
            </a:r>
            <a:r>
              <a:rPr lang="en-US" b="1" dirty="0" smtClean="0"/>
              <a:t>quality </a:t>
            </a:r>
            <a:r>
              <a:rPr lang="en-US" b="1" dirty="0"/>
              <a:t>management activities </a:t>
            </a:r>
            <a:r>
              <a:rPr lang="en-US" dirty="0" smtClean="0"/>
              <a:t>to </a:t>
            </a:r>
            <a:r>
              <a:rPr lang="en-US" b="1" dirty="0" smtClean="0"/>
              <a:t>assess performance and ensure the project outputs are complete, correct, and meet customer expectations. </a:t>
            </a:r>
          </a:p>
          <a:p>
            <a:r>
              <a:rPr lang="en-US" dirty="0"/>
              <a:t>The </a:t>
            </a:r>
            <a:r>
              <a:rPr lang="en-US" b="1" dirty="0"/>
              <a:t>key </a:t>
            </a:r>
            <a:r>
              <a:rPr lang="en-US" b="1" dirty="0" smtClean="0"/>
              <a:t>benefit </a:t>
            </a:r>
            <a:r>
              <a:rPr lang="en-US" dirty="0"/>
              <a:t>of this process is </a:t>
            </a:r>
            <a:r>
              <a:rPr lang="en-US" b="1" dirty="0" smtClean="0"/>
              <a:t>verifying that project deliverables and work </a:t>
            </a:r>
            <a:r>
              <a:rPr lang="en-US" dirty="0" smtClean="0"/>
              <a:t>meet </a:t>
            </a:r>
            <a:r>
              <a:rPr lang="en-US" dirty="0"/>
              <a:t>the requirements speciﬁed by key </a:t>
            </a:r>
            <a:r>
              <a:rPr lang="en-US" dirty="0" smtClean="0"/>
              <a:t>stakeholders </a:t>
            </a:r>
            <a:r>
              <a:rPr lang="en-US" dirty="0"/>
              <a:t>for ﬁnal acceptance.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593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A241F-430B-4A5B-9A41-C23CB1C72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Quality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76B7D-DFED-499C-97BA-476F3B6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DD64F-6792-431D-BA13-91B97FBF1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CSE494 - 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B7F57-D52C-470C-B261-582DD1457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26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9C9E4B-38CA-4345-B2C1-B959182E6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9524"/>
            <a:ext cx="7556112" cy="451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4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27</a:t>
            </a:fld>
            <a:endParaRPr lang="en-US" alt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33400" y="304800"/>
            <a:ext cx="75438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08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 smtClean="0"/>
              <a:t>Control Quality: Tools And Techniques</a:t>
            </a:r>
            <a:endParaRPr lang="en-GB" sz="36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Data </a:t>
            </a:r>
            <a:r>
              <a:rPr lang="en-GB" b="1" dirty="0" smtClean="0"/>
              <a:t>Gathering Techniques</a:t>
            </a:r>
          </a:p>
          <a:p>
            <a:r>
              <a:rPr lang="en-GB" b="1" dirty="0"/>
              <a:t>Check sheets</a:t>
            </a:r>
            <a:r>
              <a:rPr lang="en-GB" b="1" dirty="0" smtClean="0"/>
              <a:t>.</a:t>
            </a:r>
            <a:r>
              <a:rPr lang="en-US" dirty="0"/>
              <a:t> Check sheets are used </a:t>
            </a:r>
            <a:r>
              <a:rPr lang="en-US" dirty="0" smtClean="0"/>
              <a:t>to collect data about a problem or its attributes when performing inspections.</a:t>
            </a:r>
            <a:endParaRPr lang="en-GB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03C5C5-C05E-43F2-9C42-C2EB43592384}" type="datetime1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DCB5-1CEC-4748-AF0B-EA307A610967}" type="slidenum">
              <a:rPr lang="en-US" altLang="en-US" smtClean="0"/>
              <a:pPr/>
              <a:t>28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200400"/>
            <a:ext cx="6477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11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Control Quality: Tools And Techniques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Questionnaires </a:t>
            </a:r>
            <a:r>
              <a:rPr lang="en-GB" b="1" dirty="0"/>
              <a:t>and Surveys</a:t>
            </a:r>
            <a:r>
              <a:rPr lang="en-GB" b="1" dirty="0" smtClean="0"/>
              <a:t>. </a:t>
            </a:r>
            <a:r>
              <a:rPr lang="en-US" dirty="0"/>
              <a:t>Surveys may be used to gather data about customer satisfaction after the </a:t>
            </a:r>
            <a:r>
              <a:rPr lang="en-US" dirty="0" smtClean="0"/>
              <a:t>deployment </a:t>
            </a:r>
            <a:r>
              <a:rPr lang="en-US" dirty="0"/>
              <a:t>of the product or service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GB" dirty="0" smtClean="0"/>
              <a:t> </a:t>
            </a:r>
            <a:r>
              <a:rPr lang="en-GB" b="1" dirty="0" smtClean="0"/>
              <a:t>Inspection: </a:t>
            </a:r>
            <a:r>
              <a:rPr lang="en-US" dirty="0"/>
              <a:t>An inspection is the </a:t>
            </a:r>
            <a:r>
              <a:rPr lang="en-US" b="1" dirty="0"/>
              <a:t>examination of a work product </a:t>
            </a:r>
            <a:r>
              <a:rPr lang="en-US" dirty="0"/>
              <a:t>to determine if it </a:t>
            </a:r>
            <a:r>
              <a:rPr lang="en-US" b="1" dirty="0"/>
              <a:t>conforms to documented standards</a:t>
            </a:r>
            <a:r>
              <a:rPr lang="en-US" dirty="0" smtClean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results of a single activity can be </a:t>
            </a:r>
            <a:r>
              <a:rPr lang="en-US" b="1" dirty="0" smtClean="0"/>
              <a:t>inspected</a:t>
            </a:r>
            <a:r>
              <a:rPr lang="en-US" dirty="0"/>
              <a:t>, or the </a:t>
            </a:r>
            <a:r>
              <a:rPr lang="en-US" b="1" dirty="0"/>
              <a:t>ﬁnal product of the project can be inspected</a:t>
            </a:r>
            <a:r>
              <a:rPr lang="en-US" dirty="0"/>
              <a:t>. Inspections also are used </a:t>
            </a:r>
            <a:r>
              <a:rPr lang="en-US" dirty="0" smtClean="0"/>
              <a:t>to </a:t>
            </a:r>
            <a:r>
              <a:rPr lang="en-US" dirty="0"/>
              <a:t>verify defect repairs.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527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 smtClean="0"/>
              <a:t>Control Quality: Outputs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1 </a:t>
            </a:r>
            <a:r>
              <a:rPr lang="en-GB" b="1" dirty="0" smtClean="0"/>
              <a:t>Quality Control Measurements </a:t>
            </a:r>
            <a:r>
              <a:rPr lang="en-US" dirty="0"/>
              <a:t>are the documented results of Control Quality activities. </a:t>
            </a:r>
            <a:endParaRPr lang="en-US" dirty="0" smtClean="0"/>
          </a:p>
          <a:p>
            <a:r>
              <a:rPr lang="en-GB" b="1" dirty="0"/>
              <a:t>2 </a:t>
            </a:r>
            <a:r>
              <a:rPr lang="en-GB" b="1" dirty="0" smtClean="0"/>
              <a:t>Verified Deliverables: </a:t>
            </a:r>
            <a:r>
              <a:rPr lang="en-US" dirty="0" smtClean="0"/>
              <a:t>The </a:t>
            </a:r>
            <a:r>
              <a:rPr lang="en-US" dirty="0"/>
              <a:t>results of performing the </a:t>
            </a:r>
            <a:r>
              <a:rPr lang="en-US" dirty="0" smtClean="0"/>
              <a:t>Control </a:t>
            </a:r>
            <a:r>
              <a:rPr lang="en-US" dirty="0"/>
              <a:t>Quality process are </a:t>
            </a:r>
            <a:r>
              <a:rPr lang="en-US" b="1" dirty="0"/>
              <a:t>veriﬁed deliverables </a:t>
            </a:r>
            <a:r>
              <a:rPr lang="en-US" dirty="0"/>
              <a:t>that become </a:t>
            </a:r>
            <a:r>
              <a:rPr lang="en-US" b="1" dirty="0"/>
              <a:t>an input to the Validate Scope </a:t>
            </a:r>
            <a:r>
              <a:rPr lang="en-US" b="1" dirty="0" smtClean="0"/>
              <a:t>process.</a:t>
            </a:r>
          </a:p>
          <a:p>
            <a:r>
              <a:rPr lang="en-US" dirty="0" smtClean="0"/>
              <a:t>The other outputs are </a:t>
            </a:r>
            <a:r>
              <a:rPr lang="en-US" b="1" dirty="0" smtClean="0"/>
              <a:t>Work Performance information</a:t>
            </a:r>
            <a:r>
              <a:rPr lang="en-US" dirty="0" smtClean="0"/>
              <a:t>, Change requests, and project management plan &amp; document updates.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44D5-FDC7-442F-AFD3-AD83E8215E0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CSE494 - 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7558-F016-4AC7-AA0C-237BD6360F00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281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C7BF-0B47-4E79-83C6-67955BC86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Reading</a:t>
            </a:r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C546-52E5-41DA-B325-6605630D1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100" dirty="0"/>
          </a:p>
          <a:p>
            <a:r>
              <a:rPr lang="en-US" sz="2100" dirty="0"/>
              <a:t>Chapter 8: Project Quality Management </a:t>
            </a:r>
            <a:r>
              <a:rPr lang="en-US" dirty="0"/>
              <a:t>by PMBOK-Guide-5th-Edition-PMI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02B09-1F9D-427A-B846-E2E1785E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C0A20-89B7-4206-8382-56840DE54A82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6F421-BEF6-4F37-B740-BDD25316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CSE494 - 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EC7B5-5B0A-4C13-9C45-C564BA1F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BCB7-F020-4D66-B969-F77D7060AB5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1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Words>1461</Words>
  <Application>Microsoft Office PowerPoint</Application>
  <PresentationFormat>On-screen Show (4:3)</PresentationFormat>
  <Paragraphs>189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Baskerville Old Face</vt:lpstr>
      <vt:lpstr>Calibri</vt:lpstr>
      <vt:lpstr>Calibri Light</vt:lpstr>
      <vt:lpstr>Times New Roman</vt:lpstr>
      <vt:lpstr>Retrospect</vt:lpstr>
      <vt:lpstr>Project Quality Management</vt:lpstr>
      <vt:lpstr>Quality Management</vt:lpstr>
      <vt:lpstr>Quality Management</vt:lpstr>
      <vt:lpstr>PowerPoint Presentation</vt:lpstr>
      <vt:lpstr>Plan Quality Management</vt:lpstr>
      <vt:lpstr>PowerPoint Presentation</vt:lpstr>
      <vt:lpstr>PLAN QUALITY MANAGEMENT: TOOLS AND TECHNIQUES</vt:lpstr>
      <vt:lpstr>PLAN QUALITY MANAGEMENT: TOOLS AND TECHNIQUES</vt:lpstr>
      <vt:lpstr>Cost of Quality</vt:lpstr>
      <vt:lpstr>Plan Quality Management: Tools And Techniques</vt:lpstr>
      <vt:lpstr>PowerPoint Presentation</vt:lpstr>
      <vt:lpstr>Matrix Diagram – L  Shaped</vt:lpstr>
      <vt:lpstr>PLAN QUALITY MANAGEMENT: TOOLS AND TECHNIQUES</vt:lpstr>
      <vt:lpstr>PowerPoint Presentation</vt:lpstr>
      <vt:lpstr>PLAN QUALITY MANAGEMENT: OUTPUTS</vt:lpstr>
      <vt:lpstr>PLAN QUALITY MANAGEMENT: OUTPUTS</vt:lpstr>
      <vt:lpstr>Manage Quality</vt:lpstr>
      <vt:lpstr>Manage Quality</vt:lpstr>
      <vt:lpstr>Manage Quality: Tools And Techniques</vt:lpstr>
      <vt:lpstr>PowerPoint Presentation</vt:lpstr>
      <vt:lpstr>PowerPoint Presentation</vt:lpstr>
      <vt:lpstr>Manage Quality: Tools And Techniques</vt:lpstr>
      <vt:lpstr>Manage Quality: Outputs</vt:lpstr>
      <vt:lpstr>PowerPoint Presentation</vt:lpstr>
      <vt:lpstr>Control Quality</vt:lpstr>
      <vt:lpstr>Control Quality</vt:lpstr>
      <vt:lpstr>PowerPoint Presentation</vt:lpstr>
      <vt:lpstr>Control Quality: Tools And Techniques</vt:lpstr>
      <vt:lpstr>Control Quality: Tools And Techniques</vt:lpstr>
      <vt:lpstr>Control Quality: Outputs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Assurance</dc:title>
  <dc:creator>Fareeha Iftikhar</dc:creator>
  <cp:lastModifiedBy>Humaira Afzal</cp:lastModifiedBy>
  <cp:revision>150</cp:revision>
  <dcterms:created xsi:type="dcterms:W3CDTF">2020-06-05T20:53:23Z</dcterms:created>
  <dcterms:modified xsi:type="dcterms:W3CDTF">2024-10-23T03:54:06Z</dcterms:modified>
</cp:coreProperties>
</file>