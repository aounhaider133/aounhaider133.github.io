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123" r:id="rId1"/>
  </p:sldMasterIdLst>
  <p:notesMasterIdLst>
    <p:notesMasterId r:id="rId28"/>
  </p:notesMasterIdLst>
  <p:sldIdLst>
    <p:sldId id="256" r:id="rId2"/>
    <p:sldId id="434" r:id="rId3"/>
    <p:sldId id="435" r:id="rId4"/>
    <p:sldId id="413" r:id="rId5"/>
    <p:sldId id="414" r:id="rId6"/>
    <p:sldId id="415" r:id="rId7"/>
    <p:sldId id="416" r:id="rId8"/>
    <p:sldId id="417" r:id="rId9"/>
    <p:sldId id="418" r:id="rId10"/>
    <p:sldId id="419" r:id="rId11"/>
    <p:sldId id="420" r:id="rId12"/>
    <p:sldId id="421" r:id="rId13"/>
    <p:sldId id="437" r:id="rId14"/>
    <p:sldId id="438" r:id="rId15"/>
    <p:sldId id="439" r:id="rId16"/>
    <p:sldId id="440" r:id="rId17"/>
    <p:sldId id="424" r:id="rId18"/>
    <p:sldId id="425" r:id="rId19"/>
    <p:sldId id="426" r:id="rId20"/>
    <p:sldId id="427" r:id="rId21"/>
    <p:sldId id="428" r:id="rId22"/>
    <p:sldId id="429" r:id="rId23"/>
    <p:sldId id="430" r:id="rId24"/>
    <p:sldId id="431" r:id="rId25"/>
    <p:sldId id="436" r:id="rId26"/>
    <p:sldId id="432" r:id="rId2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194" autoAdjust="0"/>
    <p:restoredTop sz="89680" autoAdjust="0"/>
  </p:normalViewPr>
  <p:slideViewPr>
    <p:cSldViewPr>
      <p:cViewPr varScale="1">
        <p:scale>
          <a:sx n="58" d="100"/>
          <a:sy n="58" d="100"/>
        </p:scale>
        <p:origin x="1268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9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7A62E0A-EBD3-48BD-911D-BA55EA318C0D}" type="datetimeFigureOut">
              <a:rPr lang="en-US"/>
              <a:pPr>
                <a:defRPr/>
              </a:pPr>
              <a:t>9/23/2024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44B4D39A-D25D-480D-AB96-A08967E408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16231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DB79FF4C-1FB3-4BA0-8E05-FB80E858F391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39011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0FB6FB6-141C-4358-845D-80DFDB107502}" type="datetime1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Software Project 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0A5AE0D-353C-4AC8-9449-69705DA3A7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C648A40-5F72-45BF-AA42-BC345B0DD97D}" type="datetime1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Software Project 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105D05-7805-4C3E-9801-D301115D6E83}" type="datetime1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Software Project 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6259D8-7B11-4556-B89D-CF5053D9705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68139D8-9120-4680-82B8-093C4FE5AD33}" type="datetime1">
              <a:rPr lang="en-US" smtClean="0"/>
              <a:t>9/23/2024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Software Project Management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DE9686-7BB6-4720-BDEC-9ACAC589273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89EE862-238D-4399-BFED-F7BF44AA215E}" type="datetime1">
              <a:rPr lang="en-US" smtClean="0"/>
              <a:t>9/23/2024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Software Project Management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78114E-08A7-4929-BB19-B9B9E884E55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CE68C54-0A80-4D44-ADBB-0DF5AE478FE3}" type="datetime1">
              <a:rPr lang="en-US" smtClean="0"/>
              <a:t>9/23/2024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Software Project Management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6DFD43-7B17-4839-B016-410BF59C22F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FA44F33-516C-46EB-8198-952E3218A71C}" type="datetime1">
              <a:rPr lang="en-US" smtClean="0"/>
              <a:t>9/23/2024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Software Project Management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086910-7AD0-4284-9154-4A6C3219C38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5E6298-4BE7-4118-B21E-8F5F8B3F0EB4}" type="datetime1">
              <a:rPr lang="en-US" smtClean="0"/>
              <a:t>9/23/2024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Software Project Management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81E411-4FA8-448A-B4B3-8202B5DDED2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0104460-0F94-455D-B4D4-A10AA20743E3}" type="datetime1">
              <a:rPr lang="en-US" smtClean="0"/>
              <a:t>9/23/2024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Software Project Management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28A4FC4-C37C-4675-8ABA-1AE94FFC39F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FE0899D-78EF-42B8-9C22-4DC9A9AB559B}" type="datetime1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Software Project 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4DBE2E-AB2C-450C-9F80-22E0A2787DE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5A1D138-3410-456E-969E-FB008E3913A0}" type="datetime1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Software Project 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A0B48F-275F-4B11-9A36-0F3DBAD0582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8C2930DE-5E66-4410-8E6A-42CCB20BE038}" type="datetime1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GB" smtClean="0"/>
              <a:t>Software Project 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2AC40421-925F-4082-BA86-2260C7B6485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24" r:id="rId1"/>
    <p:sldLayoutId id="2147484125" r:id="rId2"/>
    <p:sldLayoutId id="2147484126" r:id="rId3"/>
    <p:sldLayoutId id="2147484127" r:id="rId4"/>
    <p:sldLayoutId id="2147484128" r:id="rId5"/>
    <p:sldLayoutId id="2147484129" r:id="rId6"/>
    <p:sldLayoutId id="2147484130" r:id="rId7"/>
    <p:sldLayoutId id="2147484131" r:id="rId8"/>
    <p:sldLayoutId id="2147484132" r:id="rId9"/>
    <p:sldLayoutId id="2147484133" r:id="rId10"/>
    <p:sldLayoutId id="2147484134" r:id="rId11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133600" y="2209800"/>
            <a:ext cx="5105400" cy="1905000"/>
          </a:xfrm>
        </p:spPr>
        <p:txBody>
          <a:bodyPr>
            <a:normAutofit/>
          </a:bodyPr>
          <a:lstStyle/>
          <a:p>
            <a:pPr marL="63500" algn="ctr" eaLnBrk="1" hangingPunct="1"/>
            <a:r>
              <a:rPr lang="en-US" sz="4400" dirty="0" smtClean="0">
                <a:solidFill>
                  <a:schemeClr val="tx1"/>
                </a:solidFill>
                <a:latin typeface="+mj-lt"/>
                <a:cs typeface="Times New Roman" pitchFamily="18" charset="0"/>
              </a:rPr>
              <a:t>Project Life Cycle </a:t>
            </a:r>
            <a:endParaRPr lang="en-US" sz="4400" dirty="0">
              <a:solidFill>
                <a:schemeClr val="tx1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6648117-779D-41E4-B57A-25F3061EC09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828800"/>
            <a:ext cx="7772400" cy="1524000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600" dirty="0">
                <a:latin typeface="Times New Roman" pitchFamily="18" charset="0"/>
                <a:cs typeface="Times New Roman" pitchFamily="18" charset="0"/>
              </a:rPr>
            </a:b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600" dirty="0">
                <a:latin typeface="Times New Roman" pitchFamily="18" charset="0"/>
                <a:cs typeface="Times New Roman" pitchFamily="18" charset="0"/>
              </a:rPr>
            </a:b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600" dirty="0">
                <a:latin typeface="Times New Roman" pitchFamily="18" charset="0"/>
                <a:cs typeface="Times New Roman" pitchFamily="18" charset="0"/>
              </a:rPr>
            </a:b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600" dirty="0">
                <a:latin typeface="Times New Roman" pitchFamily="18" charset="0"/>
                <a:cs typeface="Times New Roman" pitchFamily="18" charset="0"/>
              </a:rPr>
            </a:b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600" dirty="0">
                <a:latin typeface="Times New Roman" pitchFamily="18" charset="0"/>
                <a:cs typeface="Times New Roman" pitchFamily="18" charset="0"/>
              </a:rPr>
            </a:br>
            <a:r>
              <a:rPr lang="en-US" sz="3600" cap="none" dirty="0">
                <a:solidFill>
                  <a:srgbClr val="C00000"/>
                </a:solidFill>
                <a:cs typeface="Times New Roman" pitchFamily="18" charset="0"/>
              </a:rPr>
              <a:t/>
            </a:r>
            <a:br>
              <a:rPr lang="en-US" sz="3600" cap="none" dirty="0">
                <a:solidFill>
                  <a:srgbClr val="C00000"/>
                </a:solidFill>
                <a:cs typeface="Times New Roman" pitchFamily="18" charset="0"/>
              </a:rPr>
            </a:br>
            <a:endParaRPr lang="en-US" sz="3600" dirty="0">
              <a:solidFill>
                <a:srgbClr val="C00000"/>
              </a:solidFill>
              <a:cs typeface="Times New Roman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EB73EB5-A416-2794-DED6-163D608639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598343"/>
            <a:ext cx="1209675" cy="12096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Project Life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dirty="0"/>
              <a:t>A </a:t>
            </a:r>
            <a:r>
              <a:rPr lang="en-GB" sz="2000" b="1" dirty="0"/>
              <a:t>project life cycle </a:t>
            </a:r>
            <a:r>
              <a:rPr lang="en-GB" sz="2000" dirty="0"/>
              <a:t>is the series of phases that a project passes through from its initiation to its closure. </a:t>
            </a:r>
            <a:endParaRPr lang="en-GB" sz="2000" dirty="0" smtClean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GB" sz="2000" dirty="0" smtClean="0"/>
              <a:t>A </a:t>
            </a:r>
            <a:r>
              <a:rPr lang="en-GB" sz="2000" b="1" dirty="0"/>
              <a:t>project phase </a:t>
            </a:r>
            <a:r>
              <a:rPr lang="en-GB" sz="2000" dirty="0"/>
              <a:t>is a collection of logically related project activities that culminates in the completion of one or more deliverables</a:t>
            </a:r>
            <a:r>
              <a:rPr lang="en-GB" sz="2000" dirty="0" smtClean="0"/>
              <a:t>.</a:t>
            </a:r>
          </a:p>
          <a:p>
            <a:pPr marL="0" indent="0">
              <a:buNone/>
            </a:pPr>
            <a:endParaRPr lang="en-GB" sz="2000" dirty="0" smtClean="0"/>
          </a:p>
          <a:p>
            <a:pPr marL="0" indent="0">
              <a:buNone/>
            </a:pPr>
            <a:r>
              <a:rPr lang="en-GB" sz="2000" dirty="0" smtClean="0"/>
              <a:t>Two </a:t>
            </a:r>
            <a:r>
              <a:rPr lang="en-GB" sz="2000" dirty="0"/>
              <a:t>basic types of phase-to-phase relationships: </a:t>
            </a:r>
            <a:endParaRPr lang="en-GB" sz="2000" dirty="0" smtClean="0"/>
          </a:p>
          <a:p>
            <a:pPr marL="0" indent="0">
              <a:buNone/>
            </a:pPr>
            <a:endParaRPr lang="en-GB" sz="2000" dirty="0" smtClean="0"/>
          </a:p>
          <a:p>
            <a:pPr marL="0" indent="0">
              <a:buNone/>
            </a:pPr>
            <a:r>
              <a:rPr lang="en-GB" sz="2000" b="1" dirty="0"/>
              <a:t>Sequential relationship. </a:t>
            </a:r>
            <a:r>
              <a:rPr lang="en-GB" sz="2000" dirty="0"/>
              <a:t>In a sequential relationship, a phase starts only when the previous phase is complete</a:t>
            </a:r>
            <a:r>
              <a:rPr lang="en-GB" sz="2000" dirty="0" smtClean="0"/>
              <a:t>.</a:t>
            </a:r>
          </a:p>
          <a:p>
            <a:pPr marL="0" indent="0">
              <a:buNone/>
            </a:pPr>
            <a:endParaRPr lang="en-GB" sz="2000" dirty="0" smtClean="0"/>
          </a:p>
          <a:p>
            <a:pPr marL="0" indent="0">
              <a:buNone/>
            </a:pPr>
            <a:r>
              <a:rPr lang="en-GB" sz="2000" b="1" dirty="0"/>
              <a:t>Overlapping relationship. </a:t>
            </a:r>
            <a:r>
              <a:rPr lang="en-GB" sz="2000" dirty="0"/>
              <a:t>In an overlapping relationship, a phase starts prior to completion of the previous </a:t>
            </a:r>
            <a:r>
              <a:rPr lang="en-GB" sz="2000" dirty="0" smtClean="0"/>
              <a:t>one.</a:t>
            </a:r>
            <a:endParaRPr lang="en-GB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4C3A3BE-2D7C-486E-8DE2-E9D0B0CF02BF}" type="datetime1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Software Project 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886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Project Life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b="1" dirty="0"/>
              <a:t>Predictive Life </a:t>
            </a:r>
            <a:r>
              <a:rPr lang="en-GB" sz="2000" b="1" dirty="0" smtClean="0"/>
              <a:t>Cycles</a:t>
            </a:r>
          </a:p>
          <a:p>
            <a:pPr marL="0" indent="0">
              <a:buNone/>
            </a:pPr>
            <a:r>
              <a:rPr lang="en-GB" sz="2000" dirty="0" smtClean="0"/>
              <a:t>Predictive </a:t>
            </a:r>
            <a:r>
              <a:rPr lang="en-GB" sz="2000" dirty="0"/>
              <a:t>life cycles (also known as fully plan-driven) are ones in which the project scope, and the time and cost required to deliver that scope, are determined as early in the project life cycle as practically possible</a:t>
            </a:r>
            <a:r>
              <a:rPr lang="en-GB" sz="2000" dirty="0" smtClean="0"/>
              <a:t>.</a:t>
            </a:r>
          </a:p>
          <a:p>
            <a:pPr marL="0" indent="0">
              <a:buNone/>
            </a:pPr>
            <a:r>
              <a:rPr lang="en-GB" sz="2000" b="1" dirty="0"/>
              <a:t>Iterative and Incremental Life </a:t>
            </a:r>
            <a:r>
              <a:rPr lang="en-GB" sz="2000" b="1" dirty="0" smtClean="0"/>
              <a:t>Cycles</a:t>
            </a:r>
          </a:p>
          <a:p>
            <a:pPr marL="0" indent="0">
              <a:buNone/>
            </a:pPr>
            <a:r>
              <a:rPr lang="en-GB" sz="2000" dirty="0" smtClean="0"/>
              <a:t>Iterations </a:t>
            </a:r>
            <a:r>
              <a:rPr lang="en-GB" sz="2000" dirty="0"/>
              <a:t>develop the product through a series of repeated cycles, while increments successively add to the functionality of the product</a:t>
            </a:r>
            <a:r>
              <a:rPr lang="en-GB" sz="2000" dirty="0" smtClean="0"/>
              <a:t>.</a:t>
            </a:r>
          </a:p>
          <a:p>
            <a:pPr marL="0" indent="0">
              <a:buNone/>
            </a:pPr>
            <a:r>
              <a:rPr lang="en-GB" sz="2000" b="1" dirty="0"/>
              <a:t>Adaptive Life </a:t>
            </a:r>
            <a:r>
              <a:rPr lang="en-GB" sz="2000" b="1" dirty="0" smtClean="0"/>
              <a:t>Cycles</a:t>
            </a:r>
          </a:p>
          <a:p>
            <a:pPr marL="0" indent="0">
              <a:buNone/>
            </a:pPr>
            <a:r>
              <a:rPr lang="en-GB" sz="2000" dirty="0"/>
              <a:t>Adaptive life cycles (also known as change-driven or agile methods) are intended to respond to high levels of change and ongoing stakeholder involvement. </a:t>
            </a:r>
            <a:endParaRPr lang="en-GB" sz="2000" dirty="0" smtClean="0"/>
          </a:p>
          <a:p>
            <a:pPr marL="0" indent="0">
              <a:buNone/>
            </a:pPr>
            <a:r>
              <a:rPr lang="en-GB" sz="2000" dirty="0"/>
              <a:t>Adaptive methods are also iterative and incremental, but differ in that iterations are very rapid (usually with a duration of 2 to 4 weeks) and are fixed in time and cost.</a:t>
            </a:r>
            <a:endParaRPr lang="en-GB" sz="2000" b="1" dirty="0" smtClean="0"/>
          </a:p>
          <a:p>
            <a:pPr marL="0" indent="0">
              <a:buNone/>
            </a:pPr>
            <a:endParaRPr lang="en-GB" sz="20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F2BFEA3-48B4-4650-896D-9D951000434F}" type="datetime1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Software Project 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922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Existing Agile Methods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sz="2000" dirty="0">
                <a:cs typeface="Times New Roman" pitchFamily="18" charset="0"/>
              </a:rPr>
              <a:t>Extreme Programming (“XP”)</a:t>
            </a:r>
          </a:p>
          <a:p>
            <a:r>
              <a:rPr lang="en-US" sz="2000" dirty="0"/>
              <a:t>Scrum</a:t>
            </a:r>
          </a:p>
          <a:p>
            <a:r>
              <a:rPr lang="en-US" sz="2000" dirty="0"/>
              <a:t>Dynamic Systems Development Method (DSDM)</a:t>
            </a:r>
          </a:p>
          <a:p>
            <a:r>
              <a:rPr lang="en-US" sz="2000" dirty="0"/>
              <a:t>Feature Drive Development (FDD)</a:t>
            </a:r>
          </a:p>
          <a:p>
            <a:r>
              <a:rPr lang="en-US" sz="2000" dirty="0"/>
              <a:t>Lean Software Development (LSD)</a:t>
            </a:r>
          </a:p>
          <a:p>
            <a:r>
              <a:rPr lang="en-US" sz="2000" dirty="0"/>
              <a:t>Agile Modeling (AM)</a:t>
            </a:r>
          </a:p>
          <a:p>
            <a:r>
              <a:rPr lang="en-US" sz="2000" dirty="0"/>
              <a:t>Agile Unified Process (AUP)</a:t>
            </a:r>
          </a:p>
          <a:p>
            <a:r>
              <a:rPr lang="en-US" sz="2000" dirty="0"/>
              <a:t>Kanban</a:t>
            </a:r>
            <a:endParaRPr lang="en-US" sz="2000" dirty="0">
              <a:cs typeface="Times New Roman" pitchFamily="18" charset="0"/>
            </a:endParaRP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E982B-26DA-4890-9883-2E9C5C3BF3D2}" type="datetime1">
              <a:rPr lang="en-US" smtClean="0"/>
              <a:t>9/23/2024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Software Project Management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669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cs typeface="Times New Roman" pitchFamily="18" charset="0"/>
              </a:rPr>
              <a:t>Extreme Programming</a:t>
            </a:r>
          </a:p>
        </p:txBody>
      </p:sp>
      <p:sp>
        <p:nvSpPr>
          <p:cNvPr id="16386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458200" cy="4876800"/>
          </a:xfrm>
        </p:spPr>
        <p:txBody>
          <a:bodyPr>
            <a:normAutofit/>
          </a:bodyPr>
          <a:lstStyle/>
          <a:p>
            <a:pPr algn="just">
              <a:lnSpc>
                <a:spcPct val="90000"/>
              </a:lnSpc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90000"/>
              </a:lnSpc>
              <a:buNone/>
            </a:pPr>
            <a:endParaRPr lang="en-US" dirty="0" smtClean="0"/>
          </a:p>
          <a:p>
            <a:pPr marL="0" indent="0">
              <a:lnSpc>
                <a:spcPct val="90000"/>
              </a:lnSpc>
              <a:buNone/>
            </a:pPr>
            <a:r>
              <a:rPr lang="en-PK" sz="2200" dirty="0" smtClean="0"/>
              <a:t>Extreme </a:t>
            </a:r>
            <a:r>
              <a:rPr lang="en-PK" sz="2200" dirty="0"/>
              <a:t>Programming (XP</a:t>
            </a:r>
            <a:r>
              <a:rPr lang="en-PK" sz="2200" dirty="0" smtClean="0"/>
              <a:t>) </a:t>
            </a:r>
            <a:r>
              <a:rPr lang="en-PK" sz="2200" dirty="0"/>
              <a:t>is an </a:t>
            </a:r>
            <a:r>
              <a:rPr lang="en-PK" sz="2200" b="1" dirty="0"/>
              <a:t>Agile software development methodology</a:t>
            </a:r>
            <a:r>
              <a:rPr lang="en-PK" sz="2200" dirty="0"/>
              <a:t> that emphasizes </a:t>
            </a:r>
            <a:r>
              <a:rPr lang="en-PK" sz="2200" b="1" dirty="0"/>
              <a:t>customer satisfaction</a:t>
            </a:r>
            <a:r>
              <a:rPr lang="en-PK" sz="2200" dirty="0"/>
              <a:t>, </a:t>
            </a:r>
            <a:r>
              <a:rPr lang="en-PK" sz="2200" b="1" dirty="0"/>
              <a:t>flexibility</a:t>
            </a:r>
            <a:r>
              <a:rPr lang="en-PK" sz="2200" dirty="0"/>
              <a:t>, and </a:t>
            </a:r>
            <a:r>
              <a:rPr lang="en-PK" sz="2200" b="1" dirty="0"/>
              <a:t>high-quality software </a:t>
            </a:r>
            <a:r>
              <a:rPr lang="en-PK" sz="2200" dirty="0"/>
              <a:t>through frequent releases and constant communication between developers and stakeholders</a:t>
            </a:r>
            <a:r>
              <a:rPr lang="en-PK" sz="2200" dirty="0" smtClean="0"/>
              <a:t>.</a:t>
            </a:r>
            <a:endParaRPr lang="en-US" sz="2200" dirty="0" smtClean="0"/>
          </a:p>
          <a:p>
            <a:pPr marL="0" indent="0" algn="just">
              <a:lnSpc>
                <a:spcPct val="90000"/>
              </a:lnSpc>
              <a:buNone/>
            </a:pPr>
            <a:endParaRPr lang="en-US" sz="2200" dirty="0">
              <a:solidFill>
                <a:schemeClr val="tx1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3D322-5EFB-4E07-910A-A8BB4DF9F878}" type="slidenum">
              <a:rPr lang="en-US"/>
              <a:pPr/>
              <a:t>5</a:t>
            </a:fld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4914F-86CF-4313-9624-A3266015D3D9}" type="datetime1">
              <a:rPr lang="en-US" smtClean="0"/>
              <a:t>9/23/2024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Software Project Management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460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762000"/>
          </a:xfrm>
        </p:spPr>
        <p:txBody>
          <a:bodyPr>
            <a:normAutofit fontScale="90000"/>
          </a:bodyPr>
          <a:lstStyle/>
          <a:p>
            <a:r>
              <a:rPr lang="en-US" dirty="0">
                <a:cs typeface="Times New Roman" pitchFamily="18" charset="0"/>
              </a:rPr>
              <a:t>Extreme Programming Core </a:t>
            </a:r>
            <a:r>
              <a:rPr lang="en-US" dirty="0" smtClean="0">
                <a:cs typeface="Times New Roman" pitchFamily="18" charset="0"/>
              </a:rPr>
              <a:t>Practices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E0551-D45A-49C7-AA3D-29B8ACBEFCBA}" type="datetime1">
              <a:rPr lang="en-US" smtClean="0"/>
              <a:t>9/23/2024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Software Project Management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7BFEF-14F8-4092-A823-5A9F64FBCBBC}" type="slidenum">
              <a:rPr lang="en-US"/>
              <a:pPr/>
              <a:t>6</a:t>
            </a:fld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4528545"/>
              </p:ext>
            </p:extLst>
          </p:nvPr>
        </p:nvGraphicFramePr>
        <p:xfrm>
          <a:off x="152400" y="1295400"/>
          <a:ext cx="8782050" cy="5164703"/>
        </p:xfrm>
        <a:graphic>
          <a:graphicData uri="http://schemas.openxmlformats.org/drawingml/2006/table">
            <a:tbl>
              <a:tblPr/>
              <a:tblGrid>
                <a:gridCol w="2488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934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0969"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pitchFamily="30" charset="-128"/>
                          <a:cs typeface="Arial" charset="0"/>
                        </a:rPr>
                        <a:t>Principle or practice</a:t>
                      </a:r>
                    </a:p>
                  </a:txBody>
                  <a:tcPr marL="73025" marR="73025" marT="91440" marB="914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pitchFamily="30" charset="-128"/>
                          <a:cs typeface="Arial" charset="0"/>
                        </a:rPr>
                        <a:t>Description</a:t>
                      </a:r>
                    </a:p>
                  </a:txBody>
                  <a:tcPr marL="73025" marR="73025" marT="91440" marB="914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6831"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pitchFamily="30" charset="-128"/>
                          <a:cs typeface="Arial" charset="0"/>
                        </a:rPr>
                        <a:t>Incremental planning</a:t>
                      </a:r>
                    </a:p>
                  </a:txBody>
                  <a:tcPr marL="73025" marR="73025" marT="0" marB="914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pitchFamily="30" charset="-128"/>
                          <a:cs typeface="Arial" charset="0"/>
                        </a:rPr>
                        <a:t> Requirements are recorded on story cards </a:t>
                      </a:r>
                    </a:p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pitchFamily="30" charset="-128"/>
                          <a:cs typeface="Arial" charset="0"/>
                        </a:rPr>
                        <a:t> The developers break these stories into development </a:t>
                      </a:r>
                      <a:r>
                        <a:rPr kumimoji="0" lang="en-GB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pitchFamily="30" charset="-128"/>
                          <a:cs typeface="Arial" charset="0"/>
                        </a:rPr>
                        <a:t>‘</a:t>
                      </a:r>
                      <a:r>
                        <a:rPr kumimoji="0" lang="en-GB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pitchFamily="30" charset="-128"/>
                          <a:cs typeface="Arial" charset="0"/>
                        </a:rPr>
                        <a:t>Tasks</a:t>
                      </a:r>
                      <a:r>
                        <a:rPr kumimoji="0" lang="en-GB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pitchFamily="30" charset="-128"/>
                          <a:cs typeface="Arial" charset="0"/>
                        </a:rPr>
                        <a:t>’</a:t>
                      </a:r>
                      <a:r>
                        <a:rPr kumimoji="0" lang="en-GB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pitchFamily="30" charset="-128"/>
                          <a:cs typeface="Arial" charset="0"/>
                        </a:rPr>
                        <a:t>. </a:t>
                      </a:r>
                    </a:p>
                  </a:txBody>
                  <a:tcPr marL="73025" marR="73025" marT="0" marB="914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16778"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pitchFamily="30" charset="-128"/>
                          <a:cs typeface="Arial" charset="0"/>
                        </a:rPr>
                        <a:t>Small releases</a:t>
                      </a:r>
                    </a:p>
                  </a:txBody>
                  <a:tcPr marL="73025" marR="73025" marT="0" marB="914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pitchFamily="30" charset="-128"/>
                          <a:cs typeface="Arial" charset="0"/>
                        </a:rPr>
                        <a:t>The minimal useful set of functionality that provides business value is developed first. </a:t>
                      </a:r>
                    </a:p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pitchFamily="30" charset="-128"/>
                          <a:cs typeface="Arial" charset="0"/>
                        </a:rPr>
                        <a:t>Releases of the system are frequent and incrementally add functionality to the first release.</a:t>
                      </a:r>
                    </a:p>
                  </a:txBody>
                  <a:tcPr marL="73025" marR="73025" marT="0" marB="914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745"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pitchFamily="30" charset="-128"/>
                          <a:cs typeface="Arial" charset="0"/>
                        </a:rPr>
                        <a:t>Simple design </a:t>
                      </a:r>
                    </a:p>
                  </a:txBody>
                  <a:tcPr marL="73025" marR="73025" marT="0" marB="914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pitchFamily="30" charset="-128"/>
                          <a:cs typeface="Arial" charset="0"/>
                        </a:rPr>
                        <a:t>Enough design is carried out to meet the current requirements and no more.</a:t>
                      </a:r>
                    </a:p>
                  </a:txBody>
                  <a:tcPr marL="73025" marR="73025" marT="0" marB="914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1690"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pitchFamily="30" charset="-128"/>
                          <a:cs typeface="Arial" charset="0"/>
                        </a:rPr>
                        <a:t>Test-first development</a:t>
                      </a:r>
                    </a:p>
                  </a:txBody>
                  <a:tcPr marL="73025" marR="73025" marT="0" marB="914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pitchFamily="30" charset="-128"/>
                          <a:cs typeface="Arial" charset="0"/>
                        </a:rPr>
                        <a:t>An automated unit test framework is used to write tests for a new piece of functionality before that functionality itself is implemented.</a:t>
                      </a:r>
                    </a:p>
                  </a:txBody>
                  <a:tcPr marL="73025" marR="73025" marT="0" marB="914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61690"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pitchFamily="30" charset="-128"/>
                          <a:cs typeface="Arial" charset="0"/>
                        </a:rPr>
                        <a:t>Refactoring</a:t>
                      </a:r>
                    </a:p>
                  </a:txBody>
                  <a:tcPr marL="73025" marR="73025" marT="0" marB="914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pitchFamily="30" charset="-128"/>
                          <a:cs typeface="Arial" charset="0"/>
                        </a:rPr>
                        <a:t>Code is continuously improved or “refactored” to keep it clean, simple, and efficient. This keeps the code simple and maintainable.</a:t>
                      </a:r>
                      <a:endParaRPr kumimoji="0" lang="en-GB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ＭＳ Ｐゴシック" pitchFamily="30" charset="-128"/>
                        <a:cs typeface="Arial" charset="0"/>
                      </a:endParaRPr>
                    </a:p>
                  </a:txBody>
                  <a:tcPr marL="73025" marR="73025" marT="0" marB="914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026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dirty="0">
                <a:cs typeface="Times New Roman" pitchFamily="18" charset="0"/>
              </a:rPr>
              <a:t>Extreme Programming Core Practices (B)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D1C89-356D-4877-809F-8652109317EE}" type="datetime1">
              <a:rPr lang="en-US" smtClean="0"/>
              <a:t>9/23/2024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Software Project Management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50DB7-5DD1-4DBE-92A4-305EEEB06667}" type="slidenum">
              <a:rPr lang="en-US"/>
              <a:pPr/>
              <a:t>7</a:t>
            </a:fld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152400" y="1142998"/>
          <a:ext cx="8763000" cy="5410201"/>
        </p:xfrm>
        <a:graphic>
          <a:graphicData uri="http://schemas.openxmlformats.org/drawingml/2006/table">
            <a:tbl>
              <a:tblPr/>
              <a:tblGrid>
                <a:gridCol w="24379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250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51038"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pitchFamily="30" charset="-128"/>
                          <a:cs typeface="Arial" charset="0"/>
                        </a:rPr>
                        <a:t>Pair programming</a:t>
                      </a:r>
                      <a:endParaRPr kumimoji="0" lang="en-GB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Times New Roman" pitchFamily="18" charset="0"/>
                      </a:endParaRPr>
                    </a:p>
                  </a:txBody>
                  <a:tcPr marL="73025" marR="73025" marT="0" marB="91440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pitchFamily="30" charset="-128"/>
                          <a:cs typeface="Arial" charset="0"/>
                        </a:rPr>
                        <a:t>Developers work in pairs, checking each other</a:t>
                      </a:r>
                      <a:r>
                        <a:rPr kumimoji="0" lang="en-GB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pitchFamily="30" charset="-128"/>
                          <a:cs typeface="Arial" charset="0"/>
                        </a:rPr>
                        <a:t>’</a:t>
                      </a: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pitchFamily="30" charset="-128"/>
                          <a:cs typeface="Arial" charset="0"/>
                        </a:rPr>
                        <a:t>s work and providing the support to always do a good job.</a:t>
                      </a:r>
                      <a:endParaRPr kumimoji="0" lang="en-GB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Times New Roman" pitchFamily="18" charset="0"/>
                      </a:endParaRPr>
                    </a:p>
                  </a:txBody>
                  <a:tcPr marL="73025" marR="73025" marT="0" marB="91440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7599"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pitchFamily="30" charset="-128"/>
                          <a:cs typeface="Arial" charset="0"/>
                        </a:rPr>
                        <a:t>Collective ownership</a:t>
                      </a:r>
                      <a:endParaRPr kumimoji="0" lang="en-GB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Times New Roman" pitchFamily="18" charset="0"/>
                      </a:endParaRPr>
                    </a:p>
                  </a:txBody>
                  <a:tcPr marL="73025" marR="73025" marT="0" marB="91440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pitchFamily="30" charset="-128"/>
                          <a:cs typeface="Arial" charset="0"/>
                        </a:rPr>
                        <a:t>The pairs of developers work on all areas of the system, all the developers take responsibility for all of the code. Anyone can change anything.</a:t>
                      </a:r>
                      <a:endParaRPr kumimoji="0" lang="en-GB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Times New Roman" pitchFamily="18" charset="0"/>
                      </a:endParaRPr>
                    </a:p>
                  </a:txBody>
                  <a:tcPr marL="73025" marR="73025" marT="0" marB="91440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7599"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pitchFamily="30" charset="-128"/>
                          <a:cs typeface="Arial" charset="0"/>
                        </a:rPr>
                        <a:t>Continuous integration</a:t>
                      </a:r>
                      <a:endParaRPr kumimoji="0" lang="en-GB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Times New Roman" pitchFamily="18" charset="0"/>
                      </a:endParaRPr>
                    </a:p>
                  </a:txBody>
                  <a:tcPr marL="73025" marR="73025" marT="0" marB="91440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pitchFamily="30" charset="-128"/>
                          <a:cs typeface="Arial" charset="0"/>
                        </a:rPr>
                        <a:t>As soon as the work on a task is complete, it is integrated into the whole system. After any such integration, all the unit tests in the system must pass.</a:t>
                      </a:r>
                      <a:endParaRPr kumimoji="0" lang="en-GB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Times New Roman" pitchFamily="18" charset="0"/>
                      </a:endParaRPr>
                    </a:p>
                  </a:txBody>
                  <a:tcPr marL="73025" marR="73025" marT="0" marB="91440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7599"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pitchFamily="30" charset="-128"/>
                          <a:cs typeface="Arial" charset="0"/>
                        </a:rPr>
                        <a:t>Sustainable pace</a:t>
                      </a:r>
                      <a:endParaRPr kumimoji="0" lang="en-GB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Times New Roman" pitchFamily="18" charset="0"/>
                      </a:endParaRPr>
                    </a:p>
                  </a:txBody>
                  <a:tcPr marL="73025" marR="73025" marT="0" marB="91440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pitchFamily="30" charset="-128"/>
                          <a:cs typeface="Arial" charset="0"/>
                        </a:rPr>
                        <a:t>Large amounts of overtime are not considered acceptable as the net effect is often to reduce code quality and productivity</a:t>
                      </a:r>
                      <a:endParaRPr kumimoji="0" lang="en-GB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Times New Roman" pitchFamily="18" charset="0"/>
                      </a:endParaRPr>
                    </a:p>
                  </a:txBody>
                  <a:tcPr marL="73025" marR="73025" marT="0" marB="91440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06366"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pitchFamily="30" charset="-128"/>
                          <a:cs typeface="Arial" charset="0"/>
                        </a:rPr>
                        <a:t>On-site customer</a:t>
                      </a:r>
                      <a:endParaRPr kumimoji="0" lang="en-GB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Times New Roman" pitchFamily="18" charset="0"/>
                      </a:endParaRPr>
                    </a:p>
                  </a:txBody>
                  <a:tcPr marL="73025" marR="73025" marT="0" marB="91440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pitchFamily="30" charset="-128"/>
                          <a:cs typeface="Arial" charset="0"/>
                        </a:rPr>
                        <a:t>A representative of the end-user of the system (the customer) should be available full time.</a:t>
                      </a:r>
                    </a:p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pitchFamily="30" charset="-128"/>
                          <a:cs typeface="Arial" charset="0"/>
                        </a:rPr>
                        <a:t>In an extreme programming process, the customer is a member of the development team and is responsible for bringing system requirements to the team for implementation.</a:t>
                      </a:r>
                      <a:endParaRPr kumimoji="0" lang="en-GB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Times New Roman" pitchFamily="18" charset="0"/>
                      </a:endParaRPr>
                    </a:p>
                  </a:txBody>
                  <a:tcPr marL="73025" marR="73025" marT="0" marB="91440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4424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 rtlCol="0"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3200" dirty="0">
                <a:cs typeface="Times New Roman" pitchFamily="18" charset="0"/>
              </a:rPr>
              <a:t>The Extreme Programming Release Cycle</a:t>
            </a:r>
            <a:r>
              <a:rPr lang="en-GB" sz="3200" dirty="0">
                <a:cs typeface="Times New Roman" pitchFamily="18" charset="0"/>
              </a:rPr>
              <a:t> </a:t>
            </a:r>
            <a:endParaRPr lang="en-US" sz="3200" dirty="0">
              <a:cs typeface="Times New Roman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57B1-9182-4650-9BE2-9637B6A72534}" type="datetime1">
              <a:rPr lang="en-US" smtClean="0"/>
              <a:t>9/23/2024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Software Project Management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71C6D-052C-4BE3-88E1-4DE1ABA137C7}" type="slidenum">
              <a:rPr lang="en-US"/>
              <a:pPr/>
              <a:t>8</a:t>
            </a:fld>
            <a:endParaRPr lang="en-US" dirty="0"/>
          </a:p>
        </p:txBody>
      </p:sp>
      <p:pic>
        <p:nvPicPr>
          <p:cNvPr id="18434" name="Picture 3" descr="3.3-XP-ReleaseCycle.eps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92213" y="2371725"/>
            <a:ext cx="6557962" cy="2855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7794698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– Story Card For Downloading Document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D8C3-45D8-46B9-B26B-18DD5D38DBAA}" type="datetime1">
              <a:rPr lang="en-US" smtClean="0"/>
              <a:t>9/23/2024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905000"/>
            <a:ext cx="6629400" cy="4062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0076AE-484F-43F5-890F-68B012D0C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Software Project Management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98838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Cards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B6921-ED90-4776-9152-5BA16A2E9F7C}" type="datetime1">
              <a:rPr lang="en-US" smtClean="0"/>
              <a:t>9/23/2024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905000"/>
            <a:ext cx="6324600" cy="4011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DDA3F4-6D9B-4C42-BA1C-D0B86CB0A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Software Project Management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82660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753AC-86F8-4C76-BEAA-AD27FC8C4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Test case description for credit card validity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73E0073-6025-4A96-803B-B1E3F4A396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4" t="3062" r="6006" b="8931"/>
          <a:stretch/>
        </p:blipFill>
        <p:spPr>
          <a:xfrm>
            <a:off x="914400" y="1524000"/>
            <a:ext cx="7391400" cy="4800600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A1A3B2-45DA-4F44-B8B3-791BD036C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0B1A7-774D-4F90-BCC7-04F15E0978DB}" type="datetime1">
              <a:rPr lang="en-US" smtClean="0"/>
              <a:t>9/23/2024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DFC10-CBE2-4E12-A27F-BA82CA28C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Software Project Management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837F6-0224-46DD-9320-2138EAF6A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06001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DFD44-7158-3DA7-99E2-01EADF00F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A238C-90D3-16E7-7AA8-E99656673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382000" cy="4876800"/>
          </a:xfrm>
        </p:spPr>
        <p:txBody>
          <a:bodyPr>
            <a:normAutofit/>
          </a:bodyPr>
          <a:lstStyle/>
          <a:p>
            <a:endParaRPr lang="en-GB" sz="2000" dirty="0" smtClean="0"/>
          </a:p>
          <a:p>
            <a:r>
              <a:rPr lang="en-GB" sz="2000" dirty="0" smtClean="0"/>
              <a:t>Scrum is </a:t>
            </a:r>
            <a:r>
              <a:rPr lang="en-GB" sz="2000" dirty="0"/>
              <a:t>an Agile </a:t>
            </a:r>
            <a:r>
              <a:rPr lang="en-GB" sz="2000" dirty="0" smtClean="0"/>
              <a:t>framework </a:t>
            </a:r>
            <a:r>
              <a:rPr lang="en-GB" sz="2000" dirty="0"/>
              <a:t>used for managing complex projects, particularly in software development. </a:t>
            </a:r>
            <a:endParaRPr lang="en-US" sz="2000" dirty="0"/>
          </a:p>
          <a:p>
            <a:pPr marL="0" indent="0" algn="just">
              <a:buNone/>
            </a:pPr>
            <a:endParaRPr lang="en-US" sz="2000" dirty="0"/>
          </a:p>
          <a:p>
            <a:pPr algn="just"/>
            <a:r>
              <a:rPr lang="en-GB" sz="2000" dirty="0"/>
              <a:t>Scrum breaks work into short, consistent cycles called </a:t>
            </a:r>
            <a:r>
              <a:rPr lang="en-GB" sz="2000" b="1" dirty="0" smtClean="0"/>
              <a:t>sprints</a:t>
            </a:r>
            <a:r>
              <a:rPr lang="en-GB" sz="2000" dirty="0" smtClean="0"/>
              <a:t>, </a:t>
            </a:r>
            <a:r>
              <a:rPr lang="en-GB" sz="2000" dirty="0"/>
              <a:t>which typically last 2</a:t>
            </a:r>
            <a:r>
              <a:rPr lang="en-GB" sz="2000" dirty="0" smtClean="0"/>
              <a:t>-4 </a:t>
            </a:r>
            <a:r>
              <a:rPr lang="en-GB" sz="2000" dirty="0"/>
              <a:t>weeks. </a:t>
            </a:r>
            <a:endParaRPr lang="en-GB" sz="2000" dirty="0" smtClean="0"/>
          </a:p>
          <a:p>
            <a:pPr algn="just"/>
            <a:endParaRPr lang="en-GB" sz="2000" dirty="0"/>
          </a:p>
          <a:p>
            <a:pPr algn="just"/>
            <a:r>
              <a:rPr lang="en-GB" sz="2000" dirty="0" smtClean="0"/>
              <a:t>The </a:t>
            </a:r>
            <a:r>
              <a:rPr lang="en-GB" sz="2000" dirty="0"/>
              <a:t>goal of Scrum is to deliver a potentially </a:t>
            </a:r>
            <a:r>
              <a:rPr lang="en-GB" sz="2000" b="1" dirty="0"/>
              <a:t>shippable product increment </a:t>
            </a:r>
            <a:r>
              <a:rPr lang="en-GB" sz="2000" dirty="0"/>
              <a:t>at the end of each sprint, ensuring continuous improvement and adaptability.</a:t>
            </a:r>
            <a:endParaRPr lang="en-PK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EB4B3-0BF5-989F-E95A-1E6A5C548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E7368-E1E9-4644-B71F-4168BEC176CE}" type="datetime1">
              <a:rPr lang="en-US" smtClean="0"/>
              <a:t>9/23/2024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DFD22F-F511-0B2F-A5C5-11F0A082D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Software Project Management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39733-519D-1864-23C9-5EE8BF77B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3396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K" sz="3600" dirty="0"/>
              <a:t>Key Components of Scrum</a:t>
            </a:r>
            <a:endParaRPr lang="en-GB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1. Roles:</a:t>
            </a:r>
            <a:endParaRPr lang="en-GB" b="1" dirty="0"/>
          </a:p>
          <a:p>
            <a:pPr marL="0" indent="0">
              <a:buNone/>
            </a:pPr>
            <a:r>
              <a:rPr lang="en-PK" b="1" dirty="0"/>
              <a:t>Product </a:t>
            </a:r>
            <a:r>
              <a:rPr lang="en-PK" b="1" dirty="0" smtClean="0"/>
              <a:t>Owner</a:t>
            </a:r>
            <a:r>
              <a:rPr lang="en-US" b="1" dirty="0" smtClean="0"/>
              <a:t>:</a:t>
            </a:r>
          </a:p>
          <a:p>
            <a:pPr marL="0" indent="0">
              <a:buNone/>
            </a:pPr>
            <a:r>
              <a:rPr lang="en-GB" b="1" dirty="0"/>
              <a:t> </a:t>
            </a:r>
            <a:r>
              <a:rPr lang="en-GB" b="1" dirty="0" smtClean="0"/>
              <a:t>-  </a:t>
            </a:r>
            <a:r>
              <a:rPr lang="en-GB" sz="2000" dirty="0" smtClean="0"/>
              <a:t>Represents </a:t>
            </a:r>
            <a:r>
              <a:rPr lang="en-GB" sz="2000" dirty="0"/>
              <a:t>the </a:t>
            </a:r>
            <a:r>
              <a:rPr lang="en-GB" sz="2000" dirty="0" smtClean="0"/>
              <a:t>stakeholders.</a:t>
            </a:r>
          </a:p>
          <a:p>
            <a:pPr marL="0" indent="0">
              <a:buNone/>
            </a:pPr>
            <a:r>
              <a:rPr lang="en-GB" sz="2000" dirty="0"/>
              <a:t> </a:t>
            </a:r>
            <a:r>
              <a:rPr lang="en-GB" sz="2000" dirty="0" smtClean="0"/>
              <a:t> -  </a:t>
            </a:r>
            <a:r>
              <a:rPr lang="en-GB" sz="2000" dirty="0"/>
              <a:t>Responsible for defining and prioritizing the *</a:t>
            </a:r>
            <a:r>
              <a:rPr lang="en-GB" sz="2000" b="1" dirty="0"/>
              <a:t>Product Backlog</a:t>
            </a:r>
            <a:r>
              <a:rPr lang="en-GB" sz="2000" dirty="0"/>
              <a:t>*, which is a list of features or tasks to be completed</a:t>
            </a:r>
            <a:r>
              <a:rPr lang="en-GB" sz="2000" dirty="0" smtClean="0"/>
              <a:t>.</a:t>
            </a:r>
          </a:p>
          <a:p>
            <a:pPr marL="0" indent="0">
              <a:buNone/>
            </a:pPr>
            <a:r>
              <a:rPr lang="en-PK" b="1" dirty="0"/>
              <a:t>Scrum </a:t>
            </a:r>
            <a:r>
              <a:rPr lang="en-PK" b="1" dirty="0" smtClean="0"/>
              <a:t>Master</a:t>
            </a:r>
            <a:r>
              <a:rPr lang="en-US" b="1" dirty="0" smtClean="0"/>
              <a:t>:</a:t>
            </a:r>
          </a:p>
          <a:p>
            <a:pPr marL="0" indent="0">
              <a:buNone/>
            </a:pPr>
            <a:r>
              <a:rPr lang="en-GB" sz="2000" dirty="0" smtClean="0"/>
              <a:t>- </a:t>
            </a:r>
            <a:r>
              <a:rPr lang="en-GB" sz="2000" dirty="0"/>
              <a:t>A Scrum master is a facilitator for an Agile development team. They are responsible for managing the exchange of information between team members.</a:t>
            </a:r>
            <a:endParaRPr lang="en-GB" sz="20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476544E-74E7-47B1-A3DD-BE3082E7EA49}" type="datetime1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Software Project 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9188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K" sz="3600" dirty="0"/>
              <a:t>Key Components of Scrum</a:t>
            </a:r>
            <a:endParaRPr lang="en-GB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PK" sz="2000" b="1" dirty="0"/>
              <a:t>Development </a:t>
            </a:r>
            <a:r>
              <a:rPr lang="en-PK" sz="2000" b="1" dirty="0" smtClean="0"/>
              <a:t>Team</a:t>
            </a:r>
            <a:r>
              <a:rPr lang="en-US" sz="2000" dirty="0"/>
              <a:t>.</a:t>
            </a:r>
            <a:endParaRPr lang="en-GB" sz="2000" dirty="0"/>
          </a:p>
          <a:p>
            <a:pPr>
              <a:buFontTx/>
              <a:buChar char="-"/>
            </a:pPr>
            <a:r>
              <a:rPr lang="en-US" sz="2000" dirty="0" smtClean="0"/>
              <a:t>G</a:t>
            </a:r>
            <a:r>
              <a:rPr lang="en-PK" sz="2000" dirty="0" smtClean="0"/>
              <a:t>roup </a:t>
            </a:r>
            <a:r>
              <a:rPr lang="en-PK" sz="2000" dirty="0"/>
              <a:t>of professionals (developers, designers, testers, etc.) responsible for delivering the product increment </a:t>
            </a:r>
            <a:r>
              <a:rPr lang="en-PK" sz="2000" dirty="0" smtClean="0"/>
              <a:t>during </a:t>
            </a:r>
            <a:r>
              <a:rPr lang="en-PK" sz="2000" dirty="0"/>
              <a:t>each sprint</a:t>
            </a:r>
            <a:r>
              <a:rPr lang="en-PK" sz="2000" dirty="0" smtClean="0"/>
              <a:t>.</a:t>
            </a:r>
            <a:endParaRPr lang="en-GB" sz="2000" dirty="0"/>
          </a:p>
          <a:p>
            <a:pPr marL="0" indent="0">
              <a:buNone/>
            </a:pPr>
            <a:r>
              <a:rPr lang="en-GB" sz="2000" dirty="0" smtClean="0"/>
              <a:t> </a:t>
            </a:r>
            <a:r>
              <a:rPr lang="en-PK" sz="2000" b="1" dirty="0" smtClean="0"/>
              <a:t>2</a:t>
            </a:r>
            <a:r>
              <a:rPr lang="en-PK" sz="2000" b="1" dirty="0"/>
              <a:t>. </a:t>
            </a:r>
            <a:r>
              <a:rPr lang="en-PK" sz="2000" b="1" dirty="0" smtClean="0"/>
              <a:t>Artifacts:</a:t>
            </a:r>
            <a:endParaRPr lang="en-US" sz="2000" b="1" dirty="0" smtClean="0"/>
          </a:p>
          <a:p>
            <a:pPr marL="0" indent="0">
              <a:buNone/>
            </a:pPr>
            <a:r>
              <a:rPr lang="en-PK" sz="2000" b="1" dirty="0"/>
              <a:t>Product </a:t>
            </a:r>
            <a:r>
              <a:rPr lang="en-PK" sz="2000" b="1" dirty="0" smtClean="0"/>
              <a:t>Backlog</a:t>
            </a:r>
            <a:r>
              <a:rPr lang="en-US" sz="2000" b="1" dirty="0" smtClean="0"/>
              <a:t>:</a:t>
            </a:r>
          </a:p>
          <a:p>
            <a:pPr marL="0" indent="0">
              <a:buNone/>
            </a:pPr>
            <a:r>
              <a:rPr lang="en-PK" sz="2000" dirty="0"/>
              <a:t>A prioritized list of all the work that needs to be done for the product. It is dynamic and evolves over time as new information becomes available</a:t>
            </a:r>
            <a:r>
              <a:rPr lang="en-PK" sz="2000" dirty="0" smtClean="0"/>
              <a:t>.</a:t>
            </a:r>
            <a:endParaRPr lang="en-US" sz="2000" dirty="0" smtClean="0"/>
          </a:p>
          <a:p>
            <a:pPr marL="0" indent="0">
              <a:buNone/>
            </a:pPr>
            <a:r>
              <a:rPr lang="en-PK" sz="2000" dirty="0"/>
              <a:t>Managed by the Product Owner, it includes user stories, bug fixes, features, and other tasks.</a:t>
            </a:r>
            <a:endParaRPr lang="en-GB" sz="2000" b="1" dirty="0"/>
          </a:p>
          <a:p>
            <a:pPr marL="0" indent="0">
              <a:buNone/>
            </a:pPr>
            <a:r>
              <a:rPr lang="en-PK" sz="2000" b="1" dirty="0"/>
              <a:t>Sprint </a:t>
            </a:r>
            <a:r>
              <a:rPr lang="en-PK" sz="2000" b="1" dirty="0" smtClean="0"/>
              <a:t>Backlog</a:t>
            </a:r>
            <a:r>
              <a:rPr lang="en-US" sz="2000" b="1" dirty="0" smtClean="0"/>
              <a:t>:</a:t>
            </a:r>
          </a:p>
          <a:p>
            <a:pPr marL="0" indent="0">
              <a:buNone/>
            </a:pPr>
            <a:r>
              <a:rPr lang="en-GB" sz="2000" dirty="0"/>
              <a:t>A subset of the Product Backlog, selected for a single sprint.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E8E2716-C683-4F2F-BA2D-1CABB1DF7F7E}" type="datetime1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Software Project 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0533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K" sz="3600" dirty="0"/>
              <a:t>Key Components of Scrum</a:t>
            </a:r>
            <a:endParaRPr lang="en-GB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PK" sz="2000" b="1" dirty="0"/>
              <a:t>Events (Ceremonies</a:t>
            </a:r>
            <a:r>
              <a:rPr lang="en-PK" sz="2000" b="1" dirty="0" smtClean="0"/>
              <a:t>)</a:t>
            </a:r>
            <a:r>
              <a:rPr lang="en-US" sz="2000" b="1" dirty="0" smtClean="0"/>
              <a:t>:</a:t>
            </a:r>
            <a:endParaRPr lang="en-GB" sz="2000" b="1" dirty="0"/>
          </a:p>
          <a:p>
            <a:pPr marL="0" indent="0">
              <a:buNone/>
            </a:pPr>
            <a:r>
              <a:rPr lang="en-PK" sz="2000" b="1" dirty="0" smtClean="0"/>
              <a:t>Sprint</a:t>
            </a:r>
            <a:r>
              <a:rPr lang="en-US" sz="2000" b="1" dirty="0" smtClean="0"/>
              <a:t>: </a:t>
            </a:r>
            <a:r>
              <a:rPr lang="en-PK" sz="2000" dirty="0"/>
              <a:t>A time-boxed iteration (usually </a:t>
            </a:r>
            <a:r>
              <a:rPr lang="en-US" sz="2000" dirty="0" smtClean="0"/>
              <a:t>2</a:t>
            </a:r>
            <a:r>
              <a:rPr lang="en-PK" sz="2000" dirty="0" smtClean="0"/>
              <a:t> </a:t>
            </a:r>
            <a:r>
              <a:rPr lang="en-PK" sz="2000" dirty="0"/>
              <a:t>to 4 weeks) during which the </a:t>
            </a:r>
            <a:r>
              <a:rPr lang="en-PK" sz="2000" dirty="0" smtClean="0"/>
              <a:t>Scrum </a:t>
            </a:r>
            <a:r>
              <a:rPr lang="en-PK" sz="2000" dirty="0"/>
              <a:t>Team works to deliver a potentially shippable product increment</a:t>
            </a:r>
            <a:r>
              <a:rPr lang="en-PK" sz="2000" dirty="0" smtClean="0"/>
              <a:t>.</a:t>
            </a:r>
            <a:endParaRPr lang="en-US" sz="2000" dirty="0" smtClean="0"/>
          </a:p>
          <a:p>
            <a:pPr marL="0" indent="0">
              <a:buNone/>
            </a:pPr>
            <a:r>
              <a:rPr lang="en-PK" sz="2000" b="1" dirty="0" smtClean="0"/>
              <a:t>Sprint Planning</a:t>
            </a:r>
            <a:r>
              <a:rPr lang="en-US" sz="2000" b="1" dirty="0" smtClean="0"/>
              <a:t>:</a:t>
            </a:r>
            <a:r>
              <a:rPr lang="en-GB" sz="2000" dirty="0"/>
              <a:t>A meeting held at the start of each sprint to define what will be worked on and how the team plans to complete the selected items.</a:t>
            </a:r>
          </a:p>
          <a:p>
            <a:pPr marL="0" indent="0">
              <a:buNone/>
            </a:pPr>
            <a:r>
              <a:rPr lang="en-GB" sz="2000" dirty="0"/>
              <a:t>     - The team selects items from the Product Backlog to form the Sprint Backlog and sets a </a:t>
            </a:r>
            <a:r>
              <a:rPr lang="en-GB" sz="2000" dirty="0" smtClean="0"/>
              <a:t>Sprint Goal.</a:t>
            </a:r>
          </a:p>
          <a:p>
            <a:pPr marL="0" indent="0">
              <a:buNone/>
            </a:pPr>
            <a:r>
              <a:rPr lang="en-PK" sz="2000" b="1" dirty="0"/>
              <a:t>Daily </a:t>
            </a:r>
            <a:r>
              <a:rPr lang="en-PK" sz="2000" b="1" dirty="0" smtClean="0"/>
              <a:t>Scrum</a:t>
            </a:r>
            <a:r>
              <a:rPr lang="en-US" sz="2000" b="1" dirty="0" smtClean="0"/>
              <a:t>:</a:t>
            </a:r>
            <a:r>
              <a:rPr lang="en-PK" sz="2000" dirty="0"/>
              <a:t>A short, time-boxed meeting (usually 15 minutes) held </a:t>
            </a:r>
            <a:r>
              <a:rPr lang="en-PK" sz="2000" dirty="0" smtClean="0"/>
              <a:t>daily</a:t>
            </a:r>
            <a:r>
              <a:rPr lang="en-US" sz="2000" dirty="0" smtClean="0"/>
              <a:t>.</a:t>
            </a:r>
            <a:r>
              <a:rPr lang="en-PK" sz="2000" dirty="0"/>
              <a:t> Each team member answers three key questions: </a:t>
            </a:r>
            <a:endParaRPr lang="en-GB" sz="2000" dirty="0"/>
          </a:p>
          <a:p>
            <a:pPr marL="0" indent="0">
              <a:buNone/>
            </a:pPr>
            <a:r>
              <a:rPr lang="en-PK" sz="2000" dirty="0" smtClean="0"/>
              <a:t>1</a:t>
            </a:r>
            <a:r>
              <a:rPr lang="en-PK" sz="2000" dirty="0"/>
              <a:t>. What did I do yesterday?</a:t>
            </a:r>
            <a:endParaRPr lang="en-GB" sz="2000" dirty="0"/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PK" sz="2000" dirty="0" smtClean="0"/>
              <a:t>2</a:t>
            </a:r>
            <a:r>
              <a:rPr lang="en-PK" sz="2000" dirty="0"/>
              <a:t>. What will I do today?</a:t>
            </a:r>
            <a:endParaRPr lang="en-GB" sz="2000" dirty="0"/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PK" sz="2000" dirty="0" smtClean="0"/>
              <a:t>3</a:t>
            </a:r>
            <a:r>
              <a:rPr lang="en-PK" sz="2000" dirty="0"/>
              <a:t>. Are there any impediments in my way?</a:t>
            </a:r>
            <a:endParaRPr lang="en-GB" sz="2000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GB" sz="20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983366B-575E-4D1B-8407-6A0977D5442D}" type="datetime1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Software Project 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4915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K" sz="3600" dirty="0"/>
              <a:t>Key Components of Scrum</a:t>
            </a:r>
            <a:endParaRPr lang="en-GB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b="1" dirty="0"/>
              <a:t>Sprint review meeting: </a:t>
            </a:r>
            <a:r>
              <a:rPr lang="en-US" sz="2000" dirty="0"/>
              <a:t>At the end of each sprint, the team demonstrates the completed functionality at a sprint review meeting, during which, the team shows what they accomplished during the sprint. 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b="1" dirty="0"/>
              <a:t>Sprint retrospective:</a:t>
            </a:r>
            <a:r>
              <a:rPr lang="en-US" sz="2000" dirty="0"/>
              <a:t> Also at the end of each sprint, the team conducts a sprint retrospective, which is a meeting during which the team (including its </a:t>
            </a:r>
            <a:r>
              <a:rPr lang="en-US" sz="2000" dirty="0" smtClean="0"/>
              <a:t>Scrum Master </a:t>
            </a:r>
            <a:r>
              <a:rPr lang="en-US" sz="2000" dirty="0"/>
              <a:t>and product owner) reflect on </a:t>
            </a:r>
            <a:r>
              <a:rPr lang="en-US" sz="2000" b="1" dirty="0"/>
              <a:t>how well Scrum is working for them and what changes they may wish to make for it to work even better.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0158FA-B27A-4AC5-A40A-4C4C7033ACD5}" type="datetime1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Software Project 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0603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E1A6D0-8B2A-09A5-6772-5ACF43D0C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1079C-4E77-4CA4-ACDB-9D3E210BCB32}" type="datetime1">
              <a:rPr lang="en-US" smtClean="0"/>
              <a:t>9/23/2024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B6A0CF-27B5-68DC-47C7-545955CBB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Software Project Management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906C65-9BF2-F950-2ACF-A8057472F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8D3BCC-D6C7-E8AB-CA5A-87C9FCF9E0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85800"/>
            <a:ext cx="78486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7748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F6C1E3-F6EE-E15E-35EA-7774D7D9B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FE3B2-697D-4F17-B19F-2175BC723C15}" type="datetime1">
              <a:rPr lang="en-US" smtClean="0"/>
              <a:t>9/23/2024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6DF7BC-C8CA-C94B-3E60-2B6C0A11C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Software Project Management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FD27DF-BA44-828E-9653-C0FECA1BB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4F1B0A-CADF-3899-8609-4A790EB262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652" y="609601"/>
            <a:ext cx="8030696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808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D7A6E-58B6-A6E6-2489-FE1332612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KANBAN – A Work Visualization Tool</a:t>
            </a:r>
            <a:endParaRPr lang="en-PK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250E4-6B76-9E2D-1A29-54F3CB1BA2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1800" dirty="0" smtClean="0"/>
          </a:p>
          <a:p>
            <a:pPr marL="0" indent="0">
              <a:buNone/>
            </a:pPr>
            <a:r>
              <a:rPr lang="en-US" sz="2000" dirty="0" smtClean="0"/>
              <a:t>Kanban </a:t>
            </a:r>
            <a:r>
              <a:rPr lang="en-US" sz="2000" dirty="0"/>
              <a:t>is </a:t>
            </a:r>
            <a:r>
              <a:rPr lang="en-US" sz="2000" dirty="0" smtClean="0"/>
              <a:t>an agile approach that </a:t>
            </a:r>
            <a:r>
              <a:rPr lang="en-US" sz="2000" dirty="0"/>
              <a:t>focuses on </a:t>
            </a:r>
            <a:r>
              <a:rPr lang="en-GB" sz="2000" b="1" dirty="0"/>
              <a:t>continuous delivery</a:t>
            </a:r>
            <a:r>
              <a:rPr lang="en-GB" sz="2000" dirty="0"/>
              <a:t>, </a:t>
            </a:r>
            <a:r>
              <a:rPr lang="en-GB" sz="2000" b="1" dirty="0"/>
              <a:t>visualizing work</a:t>
            </a:r>
            <a:r>
              <a:rPr lang="en-GB" sz="2000" dirty="0"/>
              <a:t>, and </a:t>
            </a:r>
            <a:r>
              <a:rPr lang="en-GB" sz="2000" b="1" dirty="0"/>
              <a:t>limiting work in progress (WIP) </a:t>
            </a:r>
            <a:r>
              <a:rPr lang="en-GB" sz="2000" dirty="0"/>
              <a:t>to improve efficiency and flow within a project</a:t>
            </a:r>
            <a:r>
              <a:rPr lang="en-GB" sz="2000" dirty="0" smtClean="0"/>
              <a:t>.</a:t>
            </a:r>
            <a:endParaRPr lang="en-US" sz="2000" b="1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GB" sz="2000" dirty="0"/>
              <a:t>It originated in manufacturing (specifically from Toyota's production system) but has since been adapted for software development and project management.</a:t>
            </a: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r>
              <a:rPr lang="en-US" sz="2000" dirty="0" smtClean="0"/>
              <a:t>Kanban </a:t>
            </a:r>
            <a:r>
              <a:rPr lang="en-US" sz="2000" dirty="0"/>
              <a:t>means signboard or billboard in </a:t>
            </a:r>
            <a:r>
              <a:rPr lang="en-US" sz="2000" dirty="0" smtClean="0"/>
              <a:t>Japanese.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EA45BC-1879-0355-D061-1C786357F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3983E-23ED-4BFC-92F1-D6A43DF8BC00}" type="datetime1">
              <a:rPr lang="en-US" smtClean="0"/>
              <a:t>9/23/2024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9DD077-B3A7-755A-0391-D2DC37F02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Software Project Management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B4403C-AB1E-C7C1-9539-A553793CE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62944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1AF9D-F040-A8B2-AE27-944665141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dirty="0"/>
              <a:t>Core principles for Kanban in software development</a:t>
            </a:r>
            <a:endParaRPr lang="en-PK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744DC-CB55-9C7D-AEF8-50881A51E7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dirty="0"/>
              <a:t>Kanban method has three basic principles, that everyone should follow </a:t>
            </a:r>
            <a:r>
              <a:rPr lang="en-US" sz="2000" dirty="0" smtClean="0"/>
              <a:t>to </a:t>
            </a:r>
            <a:r>
              <a:rPr lang="en-US" sz="2000" dirty="0"/>
              <a:t>achieve an improvement in a software development team's performance.</a:t>
            </a:r>
          </a:p>
          <a:p>
            <a:pPr marL="0" indent="0" algn="just">
              <a:buNone/>
            </a:pPr>
            <a:endParaRPr lang="en-US" sz="2000" dirty="0"/>
          </a:p>
          <a:p>
            <a:pPr marL="0" indent="0" algn="just" fontAlgn="base">
              <a:buNone/>
            </a:pPr>
            <a:r>
              <a:rPr lang="en-US" sz="2000" b="1" i="0" dirty="0">
                <a:effectLst/>
              </a:rPr>
              <a:t>Workflow </a:t>
            </a:r>
            <a:r>
              <a:rPr lang="en-US" sz="2000" b="1" dirty="0" smtClean="0"/>
              <a:t>illustration / Visualizing Workflow</a:t>
            </a:r>
          </a:p>
          <a:p>
            <a:pPr marL="0" indent="0" algn="just" fontAlgn="base">
              <a:buNone/>
            </a:pPr>
            <a:r>
              <a:rPr lang="en-GB" sz="2000" dirty="0" smtClean="0"/>
              <a:t>Kanban </a:t>
            </a:r>
            <a:r>
              <a:rPr lang="en-GB" sz="2000" dirty="0"/>
              <a:t>uses a </a:t>
            </a:r>
            <a:r>
              <a:rPr lang="en-GB" sz="2000" b="1" dirty="0"/>
              <a:t>visual board </a:t>
            </a:r>
            <a:r>
              <a:rPr lang="en-GB" sz="2000" dirty="0"/>
              <a:t>to represent the </a:t>
            </a:r>
            <a:r>
              <a:rPr lang="en-GB" sz="2000" b="1" dirty="0"/>
              <a:t>flow of tasks</a:t>
            </a:r>
            <a:r>
              <a:rPr lang="en-GB" sz="2000" dirty="0"/>
              <a:t>. Tasks (or user stories) are displayed as </a:t>
            </a:r>
            <a:r>
              <a:rPr lang="en-GB" sz="2000" b="1" dirty="0"/>
              <a:t>cards </a:t>
            </a:r>
            <a:r>
              <a:rPr lang="en-GB" sz="2000" dirty="0"/>
              <a:t>on the board, usually categorized into columns that represent different stages of work, such as "To Do," "In Progress," and "Done</a:t>
            </a:r>
            <a:r>
              <a:rPr lang="en-GB" sz="2000" dirty="0" smtClean="0"/>
              <a:t>.“</a:t>
            </a:r>
          </a:p>
          <a:p>
            <a:pPr marL="0" indent="0" algn="just" fontAlgn="base">
              <a:buNone/>
            </a:pPr>
            <a:endParaRPr lang="en-GB" sz="2000" dirty="0"/>
          </a:p>
          <a:p>
            <a:pPr marL="0" indent="0" algn="just" fontAlgn="base">
              <a:buNone/>
            </a:pPr>
            <a:r>
              <a:rPr lang="en-GB" sz="2000" dirty="0"/>
              <a:t> </a:t>
            </a:r>
            <a:r>
              <a:rPr lang="en-GB" sz="2000" dirty="0" smtClean="0"/>
              <a:t>The </a:t>
            </a:r>
            <a:r>
              <a:rPr lang="en-GB" sz="2000" b="1" dirty="0"/>
              <a:t>Kanban board </a:t>
            </a:r>
            <a:r>
              <a:rPr lang="en-GB" sz="2000" dirty="0"/>
              <a:t>helps team members and stakeholders visualize the current status of tasks and identify bottlenecks or areas of </a:t>
            </a:r>
            <a:r>
              <a:rPr lang="en-GB" sz="2000" dirty="0" smtClean="0"/>
              <a:t>delay.</a:t>
            </a:r>
            <a:endParaRPr lang="en-GB" sz="2000" dirty="0"/>
          </a:p>
          <a:p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2C3D7-1C34-9B60-7FA5-DC90CE598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0228D-3908-43BA-9D44-1CB69DE7F03F}" type="datetime1">
              <a:rPr lang="en-US" smtClean="0"/>
              <a:t>9/23/2024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D2C9C-397D-91D6-E541-D6A66F662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Software Project Management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EC371-4C95-115A-0DC1-458D43940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363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8BCEE-613B-518E-B5C8-EF28A5EA9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+mn-lt"/>
              </a:rPr>
              <a:t>Kanban board for software development processes</a:t>
            </a:r>
            <a:endParaRPr lang="en-PK" sz="2800" dirty="0">
              <a:latin typeface="+mn-lt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0308E6E-ED86-78C4-521E-CFE59C31A0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524000"/>
            <a:ext cx="8229600" cy="4800600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73B86-520F-C0A3-9381-3C8BB39A7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7FF6D-A66E-4DCA-8CCB-7EAE6C622E3D}" type="datetime1">
              <a:rPr lang="en-US" smtClean="0"/>
              <a:t>9/23/2024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D19653-BDD9-4F08-B4F7-91BC98C6D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Software Project Management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4658AF-0510-2991-4188-5FBB717E9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2948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BE56E-8310-F7DC-0CC2-5A0C70960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2800" b="0" i="0" u="none" strike="noStrike" kern="1200" cap="none" spc="-100" normalizeH="0" baseline="0" noProof="0" dirty="0">
                <a:ln>
                  <a:noFill/>
                </a:ln>
                <a:solidFill>
                  <a:srgbClr val="D1282E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Kanban board for software development processes</a:t>
            </a:r>
            <a:endParaRPr lang="en-PK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D9FF16D-AF9F-9D41-55E3-F1EE52F2B7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0600" y="1905000"/>
            <a:ext cx="7543800" cy="3629213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E26292-10CD-35C9-A98B-DBA6194AC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E43F-8A18-49BF-A0F1-DBFC65286C50}" type="datetime1">
              <a:rPr lang="en-US" smtClean="0"/>
              <a:t>9/23/2024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01498C-A047-AD88-98E8-3CE327624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Software Project Management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43C19-A7AA-BE9F-69F5-E72A59F5F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458118" y="5595315"/>
            <a:ext cx="792479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GB" sz="1800" dirty="0" smtClean="0"/>
              <a:t>Tasks </a:t>
            </a:r>
            <a:r>
              <a:rPr lang="en-GB" sz="1800" dirty="0"/>
              <a:t>are moved from left to right as they progress through the stages</a:t>
            </a:r>
            <a:r>
              <a:rPr lang="en-GB" sz="1800" dirty="0" smtClean="0"/>
              <a:t>.</a:t>
            </a:r>
          </a:p>
          <a:p>
            <a:pPr marL="285750" indent="-285750">
              <a:buFontTx/>
              <a:buChar char="-"/>
            </a:pPr>
            <a:r>
              <a:rPr lang="en-GB" sz="1800" dirty="0" smtClean="0"/>
              <a:t>WIP </a:t>
            </a:r>
            <a:r>
              <a:rPr lang="en-GB" sz="1800" dirty="0"/>
              <a:t>limits may be set on columns (e.g., no more than 3 tasks in "In Progress" at once).</a:t>
            </a:r>
          </a:p>
        </p:txBody>
      </p:sp>
    </p:spTree>
    <p:extLst>
      <p:ext uri="{BB962C8B-B14F-4D97-AF65-F5344CB8AC3E}">
        <p14:creationId xmlns:p14="http://schemas.microsoft.com/office/powerpoint/2010/main" val="3799182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4DE2D-91E2-4852-EB27-5682A40D5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dirty="0"/>
              <a:t>Core principles for Kanban in software development</a:t>
            </a:r>
            <a:endParaRPr lang="en-PK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DD518-6D42-C996-A4F2-DE0AA93364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 fontAlgn="base">
              <a:buNone/>
            </a:pPr>
            <a:r>
              <a:rPr lang="en-GB" sz="2000" b="1" dirty="0"/>
              <a:t>Limiting Work in Progress (</a:t>
            </a:r>
            <a:r>
              <a:rPr lang="en-GB" sz="2000" b="1" dirty="0" smtClean="0"/>
              <a:t>WIP)</a:t>
            </a:r>
          </a:p>
          <a:p>
            <a:pPr marL="0" indent="0" algn="just" fontAlgn="base">
              <a:buNone/>
            </a:pPr>
            <a:endParaRPr lang="en-GB" sz="2000" b="1" dirty="0"/>
          </a:p>
          <a:p>
            <a:pPr marL="0" indent="0" algn="just" fontAlgn="base">
              <a:buNone/>
            </a:pPr>
            <a:r>
              <a:rPr lang="en-GB" sz="1800" dirty="0" smtClean="0"/>
              <a:t>One </a:t>
            </a:r>
            <a:r>
              <a:rPr lang="en-GB" sz="1800" dirty="0"/>
              <a:t>of Kanban's core principles is to limit the number of tasks that are in progress at any given time</a:t>
            </a:r>
            <a:r>
              <a:rPr lang="en-GB" sz="1800" dirty="0" smtClean="0"/>
              <a:t>.</a:t>
            </a:r>
          </a:p>
          <a:p>
            <a:pPr marL="0" indent="0" algn="just" fontAlgn="base">
              <a:buNone/>
            </a:pPr>
            <a:endParaRPr lang="en-GB" sz="1800" dirty="0"/>
          </a:p>
          <a:p>
            <a:pPr marL="0" indent="0" algn="just" fontAlgn="base">
              <a:buNone/>
            </a:pPr>
            <a:r>
              <a:rPr lang="en-GB" sz="1800" dirty="0" smtClean="0"/>
              <a:t>WIP </a:t>
            </a:r>
            <a:r>
              <a:rPr lang="en-GB" sz="1800" dirty="0"/>
              <a:t>limits are set for each stage of the process to ensure that the team is not overburdened, maintaining a smooth and consistent </a:t>
            </a:r>
            <a:r>
              <a:rPr lang="en-GB" sz="1800" dirty="0" smtClean="0"/>
              <a:t>workflow.</a:t>
            </a:r>
          </a:p>
          <a:p>
            <a:pPr marL="0" indent="0" algn="just" fontAlgn="base">
              <a:buNone/>
            </a:pPr>
            <a:endParaRPr lang="en-GB" sz="1800" b="0" i="0" dirty="0">
              <a:effectLst/>
            </a:endParaRPr>
          </a:p>
          <a:p>
            <a:pPr marL="0" indent="0" algn="just" fontAlgn="base">
              <a:buNone/>
            </a:pPr>
            <a:r>
              <a:rPr lang="en-US" sz="1800" b="0" i="0" dirty="0" smtClean="0">
                <a:effectLst/>
              </a:rPr>
              <a:t>Before </a:t>
            </a:r>
            <a:r>
              <a:rPr lang="en-US" sz="1800" b="0" i="0" dirty="0">
                <a:effectLst/>
              </a:rPr>
              <a:t>a new </a:t>
            </a:r>
            <a:r>
              <a:rPr lang="en-US" sz="1800" b="0" i="0" dirty="0" smtClean="0">
                <a:effectLst/>
              </a:rPr>
              <a:t>Kanban </a:t>
            </a:r>
            <a:r>
              <a:rPr lang="en-US" sz="1800" b="0" i="0" dirty="0">
                <a:effectLst/>
              </a:rPr>
              <a:t>card can be moved over to the next column, the card you’re currently working on has to be marked as done.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373B44-332B-C3CB-A99F-4885975E2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F6969-AF45-4B5B-9F5F-CF8E7F8683B2}" type="datetime1">
              <a:rPr lang="en-US" smtClean="0"/>
              <a:t>9/23/2024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35C2B8-D234-DA99-7FBB-3B776B75E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Software Project Management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4F46AF-C815-CF56-8722-E6DB3A387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8516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C705C-50AD-1167-36A0-7F5779542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PULL SYSTEM Showing Prioritization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989E6-F7A1-1F0A-AA0A-D852673C3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3429000" cy="4876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sz="2000" dirty="0"/>
              <a:t>In Kanban, tasks are "pulled" into the next stage of work when there is capacity to work on them, rather than being "pushed" based on a pre-defined schedule</a:t>
            </a:r>
            <a:r>
              <a:rPr lang="en-GB" sz="2000" dirty="0" smtClean="0"/>
              <a:t>.</a:t>
            </a:r>
          </a:p>
          <a:p>
            <a:pPr marL="0" indent="0" algn="just">
              <a:buNone/>
            </a:pPr>
            <a:endParaRPr lang="en-GB" sz="2000" dirty="0"/>
          </a:p>
          <a:p>
            <a:pPr marL="0" indent="0" algn="just">
              <a:buNone/>
            </a:pPr>
            <a:r>
              <a:rPr lang="en-GB" sz="2000" dirty="0" smtClean="0"/>
              <a:t>This </a:t>
            </a:r>
            <a:r>
              <a:rPr lang="en-GB" sz="2000" dirty="0"/>
              <a:t>system ensures that the team is only working on tasks they can handle, optimizing productivity and preventing overloading.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FFAEF5-2392-C279-9881-404E21BCF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25D8B-42D9-4463-8DD1-358DE1487495}" type="datetime1">
              <a:rPr lang="en-US" smtClean="0"/>
              <a:t>9/23/2024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ADE26D-43C3-B53C-167F-3C06AABBC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Software Project Management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F5E9E9-4D00-9751-4927-78438D703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A0F89CB-9C92-50C3-2928-EB4CF99B1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2031117"/>
            <a:ext cx="4572000" cy="4293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0117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K" sz="3600" dirty="0"/>
              <a:t>Measuring Flow</a:t>
            </a:r>
            <a:endParaRPr lang="en-GB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endParaRPr lang="en-GB" sz="2000" dirty="0" smtClean="0"/>
          </a:p>
          <a:p>
            <a:pPr marL="0" indent="0" algn="just">
              <a:buNone/>
            </a:pPr>
            <a:r>
              <a:rPr lang="en-GB" sz="2000" dirty="0" smtClean="0"/>
              <a:t>Kanban </a:t>
            </a:r>
            <a:r>
              <a:rPr lang="en-GB" sz="2000" dirty="0"/>
              <a:t>uses metrics like </a:t>
            </a:r>
            <a:r>
              <a:rPr lang="en-GB" sz="2000" b="1" dirty="0" smtClean="0"/>
              <a:t>Cycle Time</a:t>
            </a:r>
            <a:r>
              <a:rPr lang="en-GB" sz="2000" dirty="0" smtClean="0"/>
              <a:t>(the </a:t>
            </a:r>
            <a:r>
              <a:rPr lang="en-GB" sz="2000" dirty="0"/>
              <a:t>time it takes to complete a task) and </a:t>
            </a:r>
            <a:r>
              <a:rPr lang="en-GB" sz="2000" b="1" dirty="0" smtClean="0"/>
              <a:t>Throughput</a:t>
            </a:r>
            <a:r>
              <a:rPr lang="en-GB" sz="2000" dirty="0" smtClean="0"/>
              <a:t>(the </a:t>
            </a:r>
            <a:r>
              <a:rPr lang="en-GB" sz="2000" dirty="0"/>
              <a:t>number of tasks completed in a given period) to measure performance and identify areas for improvement</a:t>
            </a:r>
            <a:r>
              <a:rPr lang="en-GB" sz="2000" dirty="0" smtClean="0"/>
              <a:t>.</a:t>
            </a:r>
          </a:p>
          <a:p>
            <a:pPr marL="0" indent="0" algn="just">
              <a:buNone/>
            </a:pPr>
            <a:endParaRPr lang="en-US" sz="2000" dirty="0"/>
          </a:p>
          <a:p>
            <a:pPr marL="0" indent="0" algn="just">
              <a:buNone/>
            </a:pPr>
            <a:r>
              <a:rPr lang="en-GB" sz="2000" dirty="0"/>
              <a:t>Monitoring these metrics helps in ensuring that work is flowing smoothly across the board and helps teams make data-driven decisions.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D7CDF1F-1721-4214-9636-CE4B8C906FAD}" type="datetime1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Software Project 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5622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cs typeface="Times New Roman" pitchFamily="18" charset="0"/>
              </a:rPr>
              <a:t>Agile Method Applicability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algn="just" fontAlgn="auto">
              <a:spcAft>
                <a:spcPts val="0"/>
              </a:spcAft>
              <a:buFont typeface="Arial"/>
              <a:buChar char="•"/>
              <a:defRPr/>
            </a:pPr>
            <a:endParaRPr lang="en-GB" sz="2400" dirty="0">
              <a:latin typeface="Times New Roman" pitchFamily="18" charset="0"/>
              <a:cs typeface="Times New Roman" pitchFamily="18" charset="0"/>
            </a:endParaRPr>
          </a:p>
          <a:p>
            <a:pPr algn="just" fontAlgn="auto">
              <a:spcAft>
                <a:spcPts val="0"/>
              </a:spcAft>
              <a:buNone/>
              <a:defRPr/>
            </a:pPr>
            <a:endParaRPr lang="en-GB" sz="2000" dirty="0">
              <a:cs typeface="Times New Roman" pitchFamily="18" charset="0"/>
            </a:endParaRPr>
          </a:p>
          <a:p>
            <a:pPr algn="just" fontAlgn="auto">
              <a:spcAft>
                <a:spcPts val="0"/>
              </a:spcAft>
              <a:buFont typeface="Arial"/>
              <a:buChar char="•"/>
              <a:defRPr/>
            </a:pPr>
            <a:r>
              <a:rPr lang="en-GB" sz="2000" dirty="0">
                <a:cs typeface="Times New Roman" pitchFamily="18" charset="0"/>
              </a:rPr>
              <a:t>Custom system development within an organization, where there is a clear commitment from the customer to become involved in the development </a:t>
            </a:r>
            <a:r>
              <a:rPr lang="en-GB" sz="2000" dirty="0" smtClean="0">
                <a:cs typeface="Times New Roman" pitchFamily="18" charset="0"/>
              </a:rPr>
              <a:t>process</a:t>
            </a:r>
          </a:p>
          <a:p>
            <a:pPr algn="just" fontAlgn="auto">
              <a:spcAft>
                <a:spcPts val="0"/>
              </a:spcAft>
              <a:buFont typeface="Arial"/>
              <a:buChar char="•"/>
              <a:defRPr/>
            </a:pPr>
            <a:endParaRPr lang="en-US" sz="2000" dirty="0">
              <a:cs typeface="Times New Roman" pitchFamily="18" charset="0"/>
            </a:endParaRPr>
          </a:p>
          <a:p>
            <a:pPr algn="just">
              <a:buFont typeface="Arial"/>
              <a:buChar char="•"/>
              <a:defRPr/>
            </a:pPr>
            <a:r>
              <a:rPr lang="en-US" sz="2000" dirty="0"/>
              <a:t>Nor should agile methods be used for critical systems development where a detailed analysis of all of the system requirements is necessary to understand their safety or security implications.</a:t>
            </a:r>
          </a:p>
          <a:p>
            <a:pPr algn="just" fontAlgn="auto">
              <a:spcAft>
                <a:spcPts val="0"/>
              </a:spcAft>
              <a:buFont typeface="Arial"/>
              <a:buChar char="•"/>
              <a:defRPr/>
            </a:pPr>
            <a:endParaRPr lang="en-GB" sz="2000" dirty="0">
              <a:cs typeface="Times New Roman" pitchFamily="18" charset="0"/>
            </a:endParaRPr>
          </a:p>
          <a:p>
            <a:pPr marL="0" indent="0" algn="just" fontAlgn="auto">
              <a:spcAft>
                <a:spcPts val="0"/>
              </a:spcAft>
              <a:buNone/>
              <a:defRPr/>
            </a:pPr>
            <a:endParaRPr lang="en-GB" sz="2000" dirty="0">
              <a:cs typeface="Times New Roman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A7A7A"/>
              </a:buClr>
              <a:buSzPct val="85000"/>
              <a:buFont typeface="Arial" pitchFamily="34" charset="0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algn="just" fontAlgn="auto">
              <a:spcAft>
                <a:spcPts val="0"/>
              </a:spcAft>
              <a:buNone/>
              <a:defRPr/>
            </a:pPr>
            <a:endParaRPr lang="en-GB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EE552-B465-4386-9517-19AB4EC0C655}" type="slidenum">
              <a:rPr lang="en-US"/>
              <a:pPr/>
              <a:t>26</a:t>
            </a:fld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B07A6-08C0-4B6A-9510-6915587BCCC7}" type="datetime1">
              <a:rPr lang="en-US" smtClean="0"/>
              <a:t>9/23/2024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Software Project Management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28561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6250</TotalTime>
  <Words>1610</Words>
  <Application>Microsoft Office PowerPoint</Application>
  <PresentationFormat>On-screen Show (4:3)</PresentationFormat>
  <Paragraphs>222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ＭＳ Ｐゴシック</vt:lpstr>
      <vt:lpstr>Arial</vt:lpstr>
      <vt:lpstr>Calibri</vt:lpstr>
      <vt:lpstr>Times New Roman</vt:lpstr>
      <vt:lpstr>Clarity</vt:lpstr>
      <vt:lpstr>      </vt:lpstr>
      <vt:lpstr>Project Life Cycle</vt:lpstr>
      <vt:lpstr>Project Life Cycle</vt:lpstr>
      <vt:lpstr>Existing Agile Methods</vt:lpstr>
      <vt:lpstr>Extreme Programming</vt:lpstr>
      <vt:lpstr>Extreme Programming Core Practices</vt:lpstr>
      <vt:lpstr>Extreme Programming Core Practices (B)</vt:lpstr>
      <vt:lpstr>The Extreme Programming Release Cycle </vt:lpstr>
      <vt:lpstr>Example – Story Card For Downloading Document</vt:lpstr>
      <vt:lpstr>Task Cards</vt:lpstr>
      <vt:lpstr>Test case description for credit card validity</vt:lpstr>
      <vt:lpstr>Scrum</vt:lpstr>
      <vt:lpstr>Key Components of Scrum</vt:lpstr>
      <vt:lpstr>Key Components of Scrum</vt:lpstr>
      <vt:lpstr>Key Components of Scrum</vt:lpstr>
      <vt:lpstr>Key Components of Scrum</vt:lpstr>
      <vt:lpstr>PowerPoint Presentation</vt:lpstr>
      <vt:lpstr>PowerPoint Presentation</vt:lpstr>
      <vt:lpstr>KANBAN – A Work Visualization Tool</vt:lpstr>
      <vt:lpstr>Core principles for Kanban in software development</vt:lpstr>
      <vt:lpstr>Kanban board for software development processes</vt:lpstr>
      <vt:lpstr>Kanban board for software development processes</vt:lpstr>
      <vt:lpstr>Core principles for Kanban in software development</vt:lpstr>
      <vt:lpstr>PULL SYSTEM Showing Prioritization</vt:lpstr>
      <vt:lpstr>Measuring Flow</vt:lpstr>
      <vt:lpstr>Agile Method Applicability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Engineering</dc:title>
  <dc:creator>sidra</dc:creator>
  <cp:lastModifiedBy>Humaira Afzal</cp:lastModifiedBy>
  <cp:revision>467</cp:revision>
  <dcterms:created xsi:type="dcterms:W3CDTF">2008-08-13T03:46:03Z</dcterms:created>
  <dcterms:modified xsi:type="dcterms:W3CDTF">2024-09-23T14:38:00Z</dcterms:modified>
</cp:coreProperties>
</file>