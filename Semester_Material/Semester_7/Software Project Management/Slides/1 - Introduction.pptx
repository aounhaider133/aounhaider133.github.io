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73" r:id="rId1"/>
  </p:sldMasterIdLst>
  <p:notesMasterIdLst>
    <p:notesMasterId r:id="rId20"/>
  </p:notesMasterIdLst>
  <p:sldIdLst>
    <p:sldId id="256" r:id="rId2"/>
    <p:sldId id="578" r:id="rId3"/>
    <p:sldId id="484" r:id="rId4"/>
    <p:sldId id="566" r:id="rId5"/>
    <p:sldId id="570" r:id="rId6"/>
    <p:sldId id="571" r:id="rId7"/>
    <p:sldId id="567" r:id="rId8"/>
    <p:sldId id="572" r:id="rId9"/>
    <p:sldId id="583" r:id="rId10"/>
    <p:sldId id="569" r:id="rId11"/>
    <p:sldId id="582" r:id="rId12"/>
    <p:sldId id="579" r:id="rId13"/>
    <p:sldId id="584" r:id="rId14"/>
    <p:sldId id="580" r:id="rId15"/>
    <p:sldId id="581" r:id="rId16"/>
    <p:sldId id="494" r:id="rId17"/>
    <p:sldId id="576" r:id="rId18"/>
    <p:sldId id="57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9" autoAdjust="0"/>
    <p:restoredTop sz="90037" autoAdjust="0"/>
  </p:normalViewPr>
  <p:slideViewPr>
    <p:cSldViewPr>
      <p:cViewPr varScale="1">
        <p:scale>
          <a:sx n="78" d="100"/>
          <a:sy n="78" d="100"/>
        </p:scale>
        <p:origin x="169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7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A3F81E7-869A-4B4C-BA08-8B61E38492B4}" type="datetimeFigureOut">
              <a:rPr lang="en-IE"/>
              <a:pPr>
                <a:defRPr/>
              </a:pPr>
              <a:t>03/01/2025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E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C5322DE-1080-4C86-A14A-742DE231B42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46344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441A44-B654-4FC6-9802-BEF8CF8E0E2E}" type="slidenum">
              <a:rPr lang="en-IE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IE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Endeavor - Attempt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29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61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46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CEC54F-17D1-4C02-981A-0A649ED585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1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7C4DEF-63B5-4545-920D-312E81694F01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3FD18-58CE-4B8E-9213-DD1028FE2D4F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91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11708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FD5411-1C3C-4DF8-B721-192E159AB2A6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3C388-5C26-4FD6-9F85-C42A6B9C4B73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31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208DFA-5320-455F-A6C3-3C7183E666F2}" type="datetime1">
              <a:rPr lang="en-IE" smtClean="0"/>
              <a:t>03/01/2025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FE99F-EA72-4303-B76C-0C4041C9228E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59993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E373C-5B59-4E59-ABD7-4BFEA1E0477D}" type="datetime1">
              <a:rPr lang="en-IE" smtClean="0"/>
              <a:t>03/01/2025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DCE28-443B-45E7-B454-C643CBB44470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7895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4BDDE8-1A99-4999-A373-BD9BFA57E224}" type="datetime1">
              <a:rPr lang="en-IE" smtClean="0"/>
              <a:t>03/01/2025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5906B-B8AA-4686-BEE0-0FE2FE8FB0F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6961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889B80-A10C-47D2-A02E-9299705BB490}" type="datetime1">
              <a:rPr lang="en-IE" smtClean="0"/>
              <a:t>03/01/2025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BC991-349A-427E-B0B2-8596DFCF392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3218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4EEEAD9-00BE-4E93-B2DA-406962D5F7D0}" type="datetime1">
              <a:rPr lang="en-IE" smtClean="0"/>
              <a:t>03/01/2025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CA2C10-594C-438E-B507-E32B30485BF5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56593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C25DD4-AD94-4C28-ADBD-DBEF6C05DED6}" type="datetime1">
              <a:rPr lang="en-IE" smtClean="0"/>
              <a:t>03/01/2025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8FC2-5124-4380-90B9-15E1F63BD42D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603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E4F854-80CD-4947-A9E1-39FCC9D6B3D5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C67C7-1637-4F39-8D28-898B39D212F0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5615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7CE7D6-118B-4E0B-A717-9BE1B799AECE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ACE0-F459-49AE-B4D7-FA2690E3453C}" type="slidenum">
              <a:rPr lang="en-IE" altLang="en-US" smtClean="0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28130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9091A33-1065-4FFF-8FA1-DA96F8A35F22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06163D-9C37-4650-9C3F-892C2C4B15FC}" type="slidenum">
              <a:rPr lang="en-IE" altLang="en-US" smtClean="0"/>
              <a:pPr/>
              <a:t>‹#›</a:t>
            </a:fld>
            <a:endParaRPr lang="en-IE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81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4" r:id="rId1"/>
    <p:sldLayoutId id="2147484375" r:id="rId2"/>
    <p:sldLayoutId id="2147484376" r:id="rId3"/>
    <p:sldLayoutId id="2147484377" r:id="rId4"/>
    <p:sldLayoutId id="2147484378" r:id="rId5"/>
    <p:sldLayoutId id="2147484379" r:id="rId6"/>
    <p:sldLayoutId id="2147484380" r:id="rId7"/>
    <p:sldLayoutId id="2147484381" r:id="rId8"/>
    <p:sldLayoutId id="2147484382" r:id="rId9"/>
    <p:sldLayoutId id="2147484383" r:id="rId10"/>
    <p:sldLayoutId id="2147484384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276872"/>
            <a:ext cx="7543800" cy="2016224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IE" sz="4800" b="1" dirty="0"/>
            </a:br>
            <a:br>
              <a:rPr lang="en-IE" sz="4800" b="1" dirty="0"/>
            </a:br>
            <a:br>
              <a:rPr lang="en-IE" sz="4800" b="1" dirty="0"/>
            </a:br>
            <a:r>
              <a:rPr lang="en-IE" sz="4800" b="1" dirty="0"/>
              <a:t>Software Project Management</a:t>
            </a:r>
            <a:br>
              <a:rPr lang="en-IE" sz="4800" b="1" dirty="0"/>
            </a:br>
            <a:r>
              <a:rPr lang="en-IE" sz="4000" b="1" dirty="0"/>
              <a:t> </a:t>
            </a:r>
            <a:br>
              <a:rPr lang="en-IE" sz="4000" b="1" dirty="0"/>
            </a:br>
            <a:endParaRPr lang="en-IE" sz="4000" b="1" dirty="0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69CF447A-B140-487E-96CB-699906E80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4455620"/>
            <a:ext cx="7543800" cy="1792779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5100" dirty="0"/>
              <a:t>Week 1</a:t>
            </a:r>
            <a:r>
              <a:rPr lang="en-US" sz="5100" dirty="0">
                <a:sym typeface="Wingdings" panose="05000000000000000000" pitchFamily="2" charset="2"/>
              </a:rPr>
              <a:t> </a:t>
            </a:r>
            <a:r>
              <a:rPr lang="en-US" sz="5100" dirty="0"/>
              <a:t>Lecture 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By</a:t>
            </a:r>
          </a:p>
          <a:p>
            <a:pPr algn="ctr"/>
            <a:r>
              <a:rPr lang="en-US" dirty="0"/>
              <a:t>Humaira Afzal</a:t>
            </a:r>
          </a:p>
          <a:p>
            <a:pPr algn="ctr"/>
            <a:r>
              <a:rPr lang="en-US" dirty="0"/>
              <a:t>Computer Science Department, CUI Lahore Campus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04664"/>
            <a:ext cx="2121592" cy="17862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askerville Old Face" panose="02020602080505020303" pitchFamily="18" charset="0"/>
              </a:rPr>
              <a:t>Course Outline</a:t>
            </a:r>
            <a:endParaRPr lang="en-GB" sz="4000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Introduction to Software Project Management Foundational Elements</a:t>
            </a:r>
          </a:p>
          <a:p>
            <a:r>
              <a:rPr lang="en-US" dirty="0"/>
              <a:t>- Role of Project Manager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91375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4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i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temporary endeavor </a:t>
            </a:r>
            <a:r>
              <a:rPr lang="en-US" sz="2400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undertaken to create a </a:t>
            </a:r>
            <a:r>
              <a:rPr lang="en-US" sz="2400" b="1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product, service or result.</a:t>
            </a: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822959" y="764704"/>
            <a:ext cx="8321041" cy="1369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askerville Old Face" panose="02020602080505020303" pitchFamily="18" charset="0"/>
              </a:rPr>
              <a:t>What is a Project? </a:t>
            </a:r>
            <a:endParaRPr lang="en-US" altLang="en-US" sz="40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3</a:t>
            </a:fld>
            <a:endParaRPr lang="en-IE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EFF519-C527-4E1A-9E51-F1D4F30E6B0B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9708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AF20-9820-7E3E-8D82-066DE345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836712"/>
            <a:ext cx="7543800" cy="1450757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What is a Project? (Cont.) </a:t>
            </a:r>
            <a:br>
              <a:rPr lang="en-US" alt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</a:br>
            <a:endParaRPr lang="en-PK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1B0E-D81D-5F66-070B-B6FFBA999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6358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Temporary endeavor.</a:t>
            </a:r>
          </a:p>
          <a:p>
            <a:pPr marL="749808" lvl="1" indent="-457200" algn="just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has a definite beginning and end.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end of the project is reached when one  or more of the following is true: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project’s objectives have been achieved.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Funding is exhausted or no longer available for allocation to the project.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the project no longer exists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terminated for legal cause or if the client wishes to terminate the project.</a:t>
            </a:r>
          </a:p>
          <a:p>
            <a:pPr marL="201168" lvl="1" indent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are temporary, but their deliverables may exist beyond the end of the project.</a:t>
            </a:r>
            <a:endParaRPr lang="en-PK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45A23-A2FE-2877-45C4-A7AA0810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4</a:t>
            </a:fld>
            <a:endParaRPr lang="en-I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FD289C-3B35-43FD-872D-12A2299F507E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459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46BF-EA13-A47F-21DF-25B15F70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332656"/>
            <a:ext cx="7543800" cy="1450757"/>
          </a:xfrm>
        </p:spPr>
        <p:txBody>
          <a:bodyPr/>
          <a:lstStyle/>
          <a:p>
            <a:pPr algn="l"/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What is a Project? </a:t>
            </a:r>
            <a:r>
              <a:rPr lang="en-US" sz="2000" cap="all" spc="-60" dirty="0">
                <a:solidFill>
                  <a:schemeClr val="tx1"/>
                </a:solidFill>
              </a:rPr>
              <a:t>(Cont.) </a:t>
            </a:r>
            <a:endParaRPr lang="en-US" altLang="en-US" sz="3600" cap="all" spc="-6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A79E-D101-2ACA-714A-E925F4AD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853497" cy="439157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project will have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initiating phase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during which the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infrastructure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drafted.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planning phase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during which project goals are reﬁned,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 identiﬁed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scheduled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many other support activities are properly planned.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executing phase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during which the actual work takes place. Running in parallel, 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phase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progress and raises ﬂags when plans and reality disagree.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ﬁnal closing phase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the project outputs are handed out and the project is closed.</a:t>
            </a:r>
            <a:endParaRPr lang="en-PK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C36A-A190-C04C-7454-03777CBE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5</a:t>
            </a:fld>
            <a:endParaRPr lang="en-I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43D429-A028-4788-8C27-DA2F33A5FBE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019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3C9E-BFCF-C090-DFCA-44D0D63E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What is a Project? (Cont.) </a:t>
            </a:r>
            <a:endParaRPr lang="en-PK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2CAFA2-D623-B3DB-B938-15A6D44DB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876149"/>
            <a:ext cx="8280920" cy="4505179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9095B-8BC8-E2A3-F129-61F95A5E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6</a:t>
            </a:fld>
            <a:endParaRPr lang="en-IE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271E4D-EEF1-417C-9801-44674F223031}" type="datetime1">
              <a:rPr lang="en-IE" smtClean="0"/>
              <a:t>03/01/2025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028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46BF-EA13-A47F-21DF-25B15F70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60648"/>
            <a:ext cx="7543800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What is a Project? (Cont.) </a:t>
            </a:r>
            <a:endParaRPr lang="en-US" altLang="en-US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A79E-D101-2ACA-714A-E925F4ADE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709481" cy="4391578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product, service, or result.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are undertaken to fulﬁll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producing deliverables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objective is deﬁned as an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toward which work is to be directed.</a:t>
            </a:r>
          </a:p>
          <a:p>
            <a:pPr lvl="3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result to be obtained, a product to be produced, or a service to be performed.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product that can be either a component of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2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item, an enhancement or a correction to an item.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service or a capability to perform a service (e.g., a business function that supports production. or distribution)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result, such as research results or documents. </a:t>
            </a:r>
          </a:p>
          <a:p>
            <a:pPr lvl="1"/>
            <a:endParaRPr lang="en-PK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C36A-A190-C04C-7454-03777CBE4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7</a:t>
            </a:fld>
            <a:endParaRPr lang="en-I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D880F7-C33C-4D7B-8098-A549755BD915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625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93A4A-83DA-F538-0A67-525A4278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332656"/>
            <a:ext cx="7543800" cy="1450757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What is a Project? (Cont.) </a:t>
            </a:r>
            <a:endParaRPr lang="en-PK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4424-7510-942F-68DB-1A4826D34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constraints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Quality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Schedule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Budget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Resources and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Risk</a:t>
            </a:r>
            <a:r>
              <a:rPr 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algn="just"/>
            <a:r>
              <a:rPr lang="en-US" sz="2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important consequence is that the project manager and the team have to ﬁnd an achievable solution while respecting all project constraints. </a:t>
            </a:r>
            <a:endParaRPr lang="en-PK" sz="22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09F6D-7B86-3879-BBA4-49266FB8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8</a:t>
            </a:fld>
            <a:endParaRPr lang="en-I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368F1-DA2B-4EA2-95F9-021FA2EB987D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Software Project Management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935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908721"/>
            <a:ext cx="7543800" cy="1224136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solidFill>
                  <a:schemeClr val="tx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Projects constraints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- The Classic Triple constraint triangle</a:t>
            </a:r>
          </a:p>
          <a:p>
            <a:r>
              <a:rPr lang="en-US" dirty="0"/>
              <a:t>- Note That these constraints are interrelated, so a strain on one of the core constraints will affect one or more of the other factors.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9</a:t>
            </a:fld>
            <a:endParaRPr lang="en-IE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2924944"/>
            <a:ext cx="5042385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4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C1C6-1539-25F0-56EC-707EDFCD4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-21985"/>
            <a:ext cx="7543800" cy="1450757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Examples of projects</a:t>
            </a:r>
            <a:endParaRPr lang="en-PK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925E-E68E-33B6-188D-EECB59D14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781489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Developing a new pharmaceutical compound for the market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Expanding a tour guide service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Acquiring and installing a new computer hardware system for use in an organization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Modifying a computer software program used in an organization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Researching to develop a new Process or improve the existing one.</a:t>
            </a:r>
            <a:endParaRPr 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3680-3AD6-0828-0BDE-66FC0F1A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10</a:t>
            </a:fld>
            <a:endParaRPr lang="en-I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189B39-077C-4DA9-B1BE-37245B70BE27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410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Practice</a:t>
            </a:r>
            <a:endParaRPr lang="en-GB" sz="4000" b="1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 mobile phone factory</a:t>
            </a:r>
          </a:p>
          <a:p>
            <a:r>
              <a:rPr lang="en-US" dirty="0"/>
              <a:t>Assembling thousands of mobile phones every day</a:t>
            </a:r>
          </a:p>
          <a:p>
            <a:r>
              <a:rPr lang="en-US" dirty="0"/>
              <a:t>Putting together a team of research analysts to come up with a design and prototype of a waterproof phone within 6 months.</a:t>
            </a:r>
          </a:p>
          <a:p>
            <a:r>
              <a:rPr lang="en-US" dirty="0"/>
              <a:t>Manufacturing thousands of these waterproof phones using the design blueprint.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53394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askerville Old Face" panose="02020602080505020303" pitchFamily="18" charset="0"/>
              </a:rPr>
              <a:t>Factors that Lead to the Creation of a Project</a:t>
            </a:r>
            <a:endParaRPr lang="en-GB" sz="32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200" dirty="0"/>
          </a:p>
          <a:p>
            <a:r>
              <a:rPr lang="en-US" sz="2200" dirty="0"/>
              <a:t>- </a:t>
            </a:r>
            <a:r>
              <a:rPr lang="en-GB" sz="2200" dirty="0"/>
              <a:t>New technology</a:t>
            </a:r>
          </a:p>
          <a:p>
            <a:r>
              <a:rPr lang="en-US" sz="2200" dirty="0"/>
              <a:t>- </a:t>
            </a:r>
            <a:r>
              <a:rPr lang="en-GB" sz="2200" dirty="0"/>
              <a:t>Competitive forces</a:t>
            </a:r>
          </a:p>
          <a:p>
            <a:r>
              <a:rPr lang="en-US" sz="2200" dirty="0"/>
              <a:t>- </a:t>
            </a:r>
            <a:r>
              <a:rPr lang="en-GB" sz="2200" dirty="0"/>
              <a:t>Market demand</a:t>
            </a:r>
          </a:p>
          <a:p>
            <a:r>
              <a:rPr lang="en-US" sz="2200" dirty="0"/>
              <a:t>- </a:t>
            </a:r>
            <a:r>
              <a:rPr lang="en-GB" sz="2200" dirty="0"/>
              <a:t>Customer request</a:t>
            </a:r>
          </a:p>
          <a:p>
            <a:r>
              <a:rPr lang="en-US" sz="2200" dirty="0"/>
              <a:t>- Organization </a:t>
            </a:r>
            <a:r>
              <a:rPr lang="en-GB" sz="2200" dirty="0"/>
              <a:t>process improvements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12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91488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563" y="99631"/>
            <a:ext cx="7543800" cy="1450757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Baskerville Old Face" panose="02020602080505020303" pitchFamily="18" charset="0"/>
              </a:rPr>
              <a:t>Project, Program, and Portfolio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GB" sz="2200" dirty="0"/>
              <a:t>A </a:t>
            </a:r>
            <a:r>
              <a:rPr lang="en-GB" sz="2200" b="1" dirty="0"/>
              <a:t>project</a:t>
            </a:r>
            <a:r>
              <a:rPr lang="en-GB" sz="2200" dirty="0"/>
              <a:t> is a temporary endeavour undertaken by a company or organization (such as the creation of a new product, service, or result).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A </a:t>
            </a:r>
            <a:r>
              <a:rPr lang="en-GB" sz="2200" b="1" dirty="0"/>
              <a:t>program</a:t>
            </a:r>
            <a:r>
              <a:rPr lang="en-GB" sz="2200" dirty="0"/>
              <a:t> is a group of projects that are similar or related to one another and that are often managed as a group instead of independently.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A </a:t>
            </a:r>
            <a:r>
              <a:rPr lang="en-GB" sz="2200" b="1" dirty="0"/>
              <a:t>portfolio</a:t>
            </a:r>
            <a:r>
              <a:rPr lang="en-GB" sz="2200" dirty="0"/>
              <a:t> is a group of programs and/or projects within the same organization, which may be related or unrelated to one another.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13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2730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543800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What is Project Management</a:t>
            </a:r>
            <a:endParaRPr lang="en-GB" sz="4000" b="1"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844824"/>
            <a:ext cx="8064896" cy="4023360"/>
          </a:xfrm>
        </p:spPr>
        <p:txBody>
          <a:bodyPr/>
          <a:lstStyle/>
          <a:p>
            <a:endParaRPr lang="en-US" sz="2200" i="1" dirty="0"/>
          </a:p>
          <a:p>
            <a:r>
              <a:rPr lang="en-US" sz="2200" i="1" dirty="0"/>
              <a:t>“Project management is the application of knowledge, skills, tools, and techniques to project activities to meet the project requirements.”</a:t>
            </a:r>
          </a:p>
          <a:p>
            <a:endParaRPr lang="en-US" sz="2200" i="1" dirty="0"/>
          </a:p>
          <a:p>
            <a:r>
              <a:rPr lang="en-US" sz="2200" i="1" dirty="0"/>
              <a:t>- </a:t>
            </a:r>
            <a:r>
              <a:rPr lang="en-US" sz="2200" dirty="0"/>
              <a:t>Project management is accomplished through the appropriate application and integration of the 49 logically grouped project management processes, which are categorized into five process groups.</a:t>
            </a:r>
          </a:p>
          <a:p>
            <a:endParaRPr lang="en-US" sz="2200" i="1" dirty="0"/>
          </a:p>
          <a:p>
            <a:endParaRPr lang="en-GB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14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67927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Baskerville Old Face" panose="02020602080505020303" pitchFamily="18" charset="0"/>
              </a:rPr>
              <a:t>What is Project Management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Managing a Project </a:t>
            </a:r>
            <a:r>
              <a:rPr lang="en-US" dirty="0"/>
              <a:t>Typically includes, but is not limited to</a:t>
            </a:r>
          </a:p>
          <a:p>
            <a:r>
              <a:rPr lang="en-US" dirty="0"/>
              <a:t>- Identify Project requirements</a:t>
            </a:r>
          </a:p>
          <a:p>
            <a:r>
              <a:rPr lang="en-US" dirty="0"/>
              <a:t>- Addressing the various needs, concerns, and expectations of the stakeholders – Stakeholder Management</a:t>
            </a:r>
          </a:p>
          <a:p>
            <a:r>
              <a:rPr lang="en-US" dirty="0"/>
              <a:t>- Balancing the competing project constraints.</a:t>
            </a:r>
          </a:p>
          <a:p>
            <a:endParaRPr lang="en-US" dirty="0"/>
          </a:p>
          <a:p>
            <a:r>
              <a:rPr lang="en-US" dirty="0"/>
              <a:t>The Project manager and team need to be able to assess the situation, balance the demands, and maintain communication with stakeholders to deliver a successful project.</a:t>
            </a:r>
          </a:p>
          <a:p>
            <a:r>
              <a:rPr lang="en-US" dirty="0"/>
              <a:t>-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FAF90E-56F7-42BD-9565-7C6654B3D693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15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5547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635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0" dirty="0">
                <a:solidFill>
                  <a:srgbClr val="101423"/>
                </a:solidFill>
                <a:effectLst/>
                <a:cs typeface="Times New Roman" panose="02020603050405020304" pitchFamily="18" charset="0"/>
              </a:rPr>
              <a:t>The Project Manager is the person assigned by the performing organization to lead the team that is responsible for achieving the project objectives.</a:t>
            </a:r>
            <a:endParaRPr lang="en-US" b="1" dirty="0">
              <a:solidFill>
                <a:srgbClr val="101423"/>
              </a:solidFill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i="0" dirty="0">
                <a:solidFill>
                  <a:srgbClr val="101423"/>
                </a:solidFill>
                <a:effectLst/>
                <a:cs typeface="Times New Roman" panose="02020603050405020304" pitchFamily="18" charset="0"/>
              </a:rPr>
              <a:t>Responsibilities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   - Define Project Scope and determine available resources.</a:t>
            </a:r>
          </a:p>
          <a:p>
            <a:pPr marL="0" indent="0" algn="just">
              <a:buNone/>
            </a:pPr>
            <a:r>
              <a:rPr lang="en-US" cap="none" dirty="0">
                <a:solidFill>
                  <a:schemeClr val="tx1"/>
                </a:solidFill>
                <a:cs typeface="Times New Roman" panose="02020603050405020304" pitchFamily="18" charset="0"/>
              </a:rPr>
              <a:t>   -  Develop Project Plan that encourage the team to work with full potential.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  - Set realistic deadlines and communicate with the team.</a:t>
            </a:r>
          </a:p>
          <a:p>
            <a:pPr marL="0" indent="0" algn="just">
              <a:buNone/>
            </a:pPr>
            <a:r>
              <a:rPr lang="en-US" cap="none" dirty="0">
                <a:solidFill>
                  <a:schemeClr val="tx1"/>
                </a:solidFill>
                <a:cs typeface="Times New Roman" panose="02020603050405020304" pitchFamily="18" charset="0"/>
              </a:rPr>
              <a:t>  - Estimate, Monitor and control the cost of the project.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 - Maintain effective communication with the stakeholders</a:t>
            </a:r>
            <a:endParaRPr lang="en-US" cap="none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611560" y="836712"/>
            <a:ext cx="8388424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askerville Old Face" panose="02020602080505020303" pitchFamily="18" charset="0"/>
              </a:rPr>
              <a:t>The Role of Project Manager</a:t>
            </a:r>
            <a:endParaRPr lang="en-US" altLang="en-US" sz="40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16</a:t>
            </a:fld>
            <a:endParaRPr lang="en-IE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53CF58-3B3F-4F64-8C5C-74E8F9F21838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379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6358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</a:t>
            </a:r>
          </a:p>
          <a:p>
            <a:pPr algn="just">
              <a:buFontTx/>
              <a:buChar char="-"/>
            </a:pPr>
            <a:r>
              <a:rPr lang="en-US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Identify, evaluate and take steps to minimize the project risks.</a:t>
            </a:r>
          </a:p>
          <a:p>
            <a:pPr algn="just">
              <a:buFontTx/>
              <a:buChar char="-"/>
            </a:pPr>
            <a:r>
              <a:rPr lang="en-US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r>
              <a:rPr lang="en-US" b="1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control the team performance for efficient results.</a:t>
            </a:r>
          </a:p>
          <a:p>
            <a:pPr algn="just">
              <a:buFontTx/>
              <a:buChar char="-"/>
            </a:pPr>
            <a:r>
              <a:rPr lang="en-US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 elaborative reports about the progress of project to stakeholders.</a:t>
            </a:r>
            <a:r>
              <a:rPr lang="en-US" b="1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i="0" dirty="0">
              <a:solidFill>
                <a:srgbClr val="10142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752925" y="821796"/>
            <a:ext cx="8388424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askerville Old Face" panose="02020602080505020303" pitchFamily="18" charset="0"/>
              </a:rPr>
              <a:t>The Role of Project Manager</a:t>
            </a:r>
            <a:endParaRPr lang="en-US" altLang="en-US" sz="40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17</a:t>
            </a:fld>
            <a:endParaRPr lang="en-IE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95AF1C-48F7-417A-BC09-AD132978ACA9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Software Project Management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6210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17555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Excellent communication skills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and leadership skills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planning, risk management, time management and other project management skills.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</a:t>
            </a:r>
            <a:r>
              <a:rPr lang="en-US" dirty="0">
                <a:solidFill>
                  <a:srgbClr val="1014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certification </a:t>
            </a: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(PMP), Certified Associate in Project Management (CAPM), or equivalent experience as a project manager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Proficiency in project management software and tools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negotiation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i="0" dirty="0">
                <a:solidFill>
                  <a:srgbClr val="1014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Conflict resolution experience.</a:t>
            </a:r>
            <a:endParaRPr lang="en-US" sz="1800" cap="none" dirty="0">
              <a:solidFill>
                <a:schemeClr val="tx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4" name="Rectangle 1040"/>
          <p:cNvSpPr txBox="1">
            <a:spLocks noChangeArrowheads="1"/>
          </p:cNvSpPr>
          <p:nvPr/>
        </p:nvSpPr>
        <p:spPr>
          <a:xfrm>
            <a:off x="752925" y="821796"/>
            <a:ext cx="8388424" cy="102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askerville Old Face" panose="02020602080505020303" pitchFamily="18" charset="0"/>
              </a:rPr>
              <a:t>Project Manager</a:t>
            </a:r>
            <a:endParaRPr lang="en-US" altLang="en-US" sz="4000" b="1" dirty="0">
              <a:latin typeface="Baskerville Old Face" panose="020206020805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322-12C0-4AF8-84C9-BC6AB0C5B083}" type="slidenum">
              <a:rPr lang="en-IE" altLang="en-US" smtClean="0"/>
              <a:pPr/>
              <a:t>18</a:t>
            </a:fld>
            <a:endParaRPr lang="en-IE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B455-1B2E-4E1D-9F36-78B4D7AD0A68}" type="datetime1">
              <a:rPr lang="en-IE" smtClean="0"/>
              <a:t>03/01/2025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Software Project Management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647845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8118</TotalTime>
  <Words>1091</Words>
  <Application>Microsoft Office PowerPoint</Application>
  <PresentationFormat>On-screen Show (4:3)</PresentationFormat>
  <Paragraphs>166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Baskerville Old Face</vt:lpstr>
      <vt:lpstr>Calibri</vt:lpstr>
      <vt:lpstr>Calibri Light</vt:lpstr>
      <vt:lpstr>Times New Roman</vt:lpstr>
      <vt:lpstr>Wingdings</vt:lpstr>
      <vt:lpstr>Retrospect</vt:lpstr>
      <vt:lpstr>   Software Project Management   </vt:lpstr>
      <vt:lpstr>Course Outline</vt:lpstr>
      <vt:lpstr>PowerPoint Presentation</vt:lpstr>
      <vt:lpstr>What is a Project? (Cont.)  </vt:lpstr>
      <vt:lpstr>What is a Project? (Cont.) </vt:lpstr>
      <vt:lpstr>What is a Project? (Cont.) </vt:lpstr>
      <vt:lpstr>What is a Project? (Cont.) </vt:lpstr>
      <vt:lpstr>What is a Project? (Cont.) </vt:lpstr>
      <vt:lpstr>      Projects constraints </vt:lpstr>
      <vt:lpstr>Examples of projects</vt:lpstr>
      <vt:lpstr>Practice</vt:lpstr>
      <vt:lpstr>Factors that Lead to the Creation of a Project</vt:lpstr>
      <vt:lpstr>Project, Program, and Portfolio</vt:lpstr>
      <vt:lpstr>What is Project Management</vt:lpstr>
      <vt:lpstr>What is Project Management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SE-II Lecture-1</dc:title>
  <dc:creator>SIH</dc:creator>
  <cp:lastModifiedBy>FA21-BAF-072 (MUHAMMAD KAWISH  )</cp:lastModifiedBy>
  <cp:revision>340</cp:revision>
  <dcterms:created xsi:type="dcterms:W3CDTF">2016-01-31T17:24:27Z</dcterms:created>
  <dcterms:modified xsi:type="dcterms:W3CDTF">2025-01-03T17:31:49Z</dcterms:modified>
</cp:coreProperties>
</file>