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8"/>
  </p:notesMasterIdLst>
  <p:sldIdLst>
    <p:sldId id="256" r:id="rId2"/>
    <p:sldId id="372" r:id="rId3"/>
    <p:sldId id="311" r:id="rId4"/>
    <p:sldId id="373" r:id="rId5"/>
    <p:sldId id="375" r:id="rId6"/>
    <p:sldId id="323" r:id="rId7"/>
    <p:sldId id="381" r:id="rId8"/>
    <p:sldId id="324" r:id="rId9"/>
    <p:sldId id="382" r:id="rId10"/>
    <p:sldId id="325" r:id="rId11"/>
    <p:sldId id="383" r:id="rId12"/>
    <p:sldId id="326" r:id="rId13"/>
    <p:sldId id="384" r:id="rId14"/>
    <p:sldId id="387" r:id="rId15"/>
    <p:sldId id="385" r:id="rId16"/>
    <p:sldId id="386" r:id="rId17"/>
  </p:sldIdLst>
  <p:sldSz cx="9144000" cy="6858000" type="screen4x3"/>
  <p:notesSz cx="6858000" cy="9144000"/>
  <p:embeddedFontLst>
    <p:embeddedFont>
      <p:font typeface="Calibri Light" panose="020F0302020204030204" pitchFamily="34" charset="0"/>
      <p:regular r:id="rId19"/>
      <p:italic r:id="rId20"/>
    </p:embeddedFont>
    <p:embeddedFont>
      <p:font typeface="Libre Baskerville" panose="020B0604020202020204" charset="0"/>
      <p:regular r:id="rId21"/>
      <p:bold r:id="rId22"/>
      <p: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5" name="Shape 2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Shape 26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1530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86F76-40D9-44DD-AA94-19B4F5BCB290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41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636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436E-D01F-4802-9FD3-3997B0142FB2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2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86F7F-0C3F-4C9A-9507-7A70167F7E24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99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D132B-7ED7-4F01-8303-5FB416855429}" type="datetime1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533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C6183-8659-48EB-9A71-0870B01B20BC}" type="datetime1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647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619E-CED4-4B81-B833-AC6FF384DDBF}" type="datetime1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203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E60B0B3-3075-4FEF-9A8B-226144FF304E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902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5F1-004D-4D11-AD09-05B954F0029D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038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4C0B5-688B-4570-8DBD-02F414A003AF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281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42D4-3788-49C0-8BFF-8A69E1D582AC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309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56CD1F-1DD6-4791-9F6B-1781998953FF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2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685800" y="2773179"/>
            <a:ext cx="7772400" cy="157396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Libre Baskerville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Software Management Process Groups</a:t>
            </a:r>
            <a:endParaRPr lang="en-US" sz="3600" b="0" i="0" u="none" strike="noStrike" cap="none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74181" y="6459786"/>
            <a:ext cx="984019" cy="365125"/>
          </a:xfrm>
        </p:spPr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A5D61-8E92-4B52-B051-5E84ACD8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CDF6E-524C-4C25-AD15-F6CC38E7E3E1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8B9D78CE-1F28-448F-A29D-029D9732E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4365104"/>
            <a:ext cx="7543800" cy="1792779"/>
          </a:xfrm>
        </p:spPr>
        <p:txBody>
          <a:bodyPr>
            <a:norm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By</a:t>
            </a:r>
          </a:p>
          <a:p>
            <a:pPr algn="ctr"/>
            <a:r>
              <a:rPr lang="en-US" sz="1200" dirty="0" smtClean="0"/>
              <a:t>Humaira Afzal</a:t>
            </a:r>
            <a:endParaRPr lang="en-US" sz="1200" dirty="0"/>
          </a:p>
          <a:p>
            <a:pPr algn="ctr"/>
            <a:r>
              <a:rPr lang="en-US" sz="1200" dirty="0"/>
              <a:t>Lecturer CS, CUI Lahore Campus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457200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Project Management process</a:t>
            </a:r>
            <a:endParaRPr lang="en-GB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2400" spc="-5" dirty="0" smtClean="0">
              <a:solidFill>
                <a:srgbClr val="6E6259"/>
              </a:solidFill>
              <a:cs typeface="Calibri"/>
            </a:endParaRPr>
          </a:p>
          <a:p>
            <a:pPr algn="ctr"/>
            <a:endParaRPr lang="en-US" sz="2400" spc="-5" dirty="0">
              <a:solidFill>
                <a:srgbClr val="6E6259"/>
              </a:solidFill>
              <a:cs typeface="Calibri"/>
            </a:endParaRPr>
          </a:p>
          <a:p>
            <a:pPr algn="ctr"/>
            <a:r>
              <a:rPr lang="en-US" sz="2400" spc="-5" dirty="0" smtClean="0">
                <a:solidFill>
                  <a:schemeClr val="tx1"/>
                </a:solidFill>
                <a:cs typeface="Calibri"/>
              </a:rPr>
              <a:t>“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Project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management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processes </a:t>
            </a:r>
            <a:r>
              <a:rPr lang="en-US" sz="2400" spc="-98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ensure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the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effective</a:t>
            </a:r>
            <a:r>
              <a:rPr lang="en-US" sz="24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flow</a:t>
            </a:r>
            <a:r>
              <a:rPr lang="en-US" sz="24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of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 the </a:t>
            </a:r>
            <a:r>
              <a:rPr lang="en-US" sz="2400" dirty="0" smtClean="0">
                <a:solidFill>
                  <a:schemeClr val="tx1"/>
                </a:solidFill>
                <a:cs typeface="Calibri"/>
              </a:rPr>
              <a:t>project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through</a:t>
            </a:r>
            <a:r>
              <a:rPr lang="en-US" sz="2400" dirty="0">
                <a:solidFill>
                  <a:schemeClr val="tx1"/>
                </a:solidFill>
                <a:cs typeface="Calibri"/>
              </a:rPr>
              <a:t> its </a:t>
            </a:r>
            <a:r>
              <a:rPr lang="en-US" sz="2400" spc="-5" dirty="0">
                <a:solidFill>
                  <a:schemeClr val="tx1"/>
                </a:solidFill>
                <a:cs typeface="Calibri"/>
              </a:rPr>
              <a:t>life-cycle.“</a:t>
            </a:r>
            <a:endParaRPr lang="en-US" sz="2400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29BF-288C-43C1-9EF5-8FA91B183B0E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924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33046" y="1786596"/>
            <a:ext cx="7776317" cy="451573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100" dirty="0"/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en-US" sz="2400" dirty="0" smtClean="0">
                <a:solidFill>
                  <a:schemeClr val="tx1"/>
                </a:solidFill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</a:rPr>
              <a:t>project management process groups include</a:t>
            </a:r>
            <a:r>
              <a:rPr lang="en-US" altLang="en-US" sz="2400" dirty="0" smtClean="0">
                <a:solidFill>
                  <a:schemeClr val="tx1"/>
                </a:solidFill>
              </a:rPr>
              <a:t>: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chemeClr val="tx1"/>
                </a:solidFill>
              </a:rPr>
              <a:t>Initiating 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Planning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Executing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Monitoring and controlling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Closing </a:t>
            </a:r>
          </a:p>
        </p:txBody>
      </p:sp>
      <p:sp>
        <p:nvSpPr>
          <p:cNvPr id="10" name="Shape 269"/>
          <p:cNvSpPr txBox="1"/>
          <p:nvPr/>
        </p:nvSpPr>
        <p:spPr>
          <a:xfrm>
            <a:off x="474054" y="390381"/>
            <a:ext cx="8595360" cy="1295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Libre Baskerville"/>
              <a:buNone/>
            </a:pPr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Management Process Groups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24FF3-E07E-400F-9E8E-48F7C7E9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9243-4826-4082-B4D4-4B9B71FCDC87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4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009" y="223542"/>
            <a:ext cx="7543800" cy="1450757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Initiating Processes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95372" cy="402336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This </a:t>
            </a:r>
            <a:r>
              <a:rPr lang="en-US" dirty="0">
                <a:solidFill>
                  <a:schemeClr val="tx1"/>
                </a:solidFill>
              </a:rPr>
              <a:t>is where the project is </a:t>
            </a:r>
            <a:r>
              <a:rPr lang="en-US" b="1" dirty="0">
                <a:solidFill>
                  <a:schemeClr val="tx1"/>
                </a:solidFill>
              </a:rPr>
              <a:t>formally authorized </a:t>
            </a:r>
            <a:r>
              <a:rPr lang="en-US" dirty="0">
                <a:solidFill>
                  <a:schemeClr val="tx1"/>
                </a:solidFill>
              </a:rPr>
              <a:t>by the sponsor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smtClean="0">
                <a:solidFill>
                  <a:schemeClr val="tx1"/>
                </a:solidFill>
              </a:rPr>
              <a:t>the initial </a:t>
            </a:r>
            <a:r>
              <a:rPr lang="en-US" b="1" dirty="0">
                <a:solidFill>
                  <a:schemeClr val="tx1"/>
                </a:solidFill>
              </a:rPr>
              <a:t>scope </a:t>
            </a:r>
            <a:r>
              <a:rPr lang="en-US" b="1" dirty="0" smtClean="0">
                <a:solidFill>
                  <a:schemeClr val="tx1"/>
                </a:solidFill>
              </a:rPr>
              <a:t>is defined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stakeholders </a:t>
            </a:r>
            <a:r>
              <a:rPr lang="en-US" b="1" dirty="0" smtClean="0">
                <a:solidFill>
                  <a:schemeClr val="tx1"/>
                </a:solidFill>
              </a:rPr>
              <a:t>are identified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12700" indent="0">
              <a:lnSpc>
                <a:spcPct val="100000"/>
              </a:lnSpc>
              <a:spcBef>
                <a:spcPts val="625"/>
              </a:spcBef>
              <a:buClr>
                <a:srgbClr val="C8102E"/>
              </a:buClr>
              <a:buSzPct val="79166"/>
              <a:buNone/>
              <a:tabLst>
                <a:tab pos="354965" algn="l"/>
                <a:tab pos="355600" algn="l"/>
              </a:tabLst>
            </a:pPr>
            <a:endParaRPr lang="en-US" b="1" spc="-5" dirty="0" smtClean="0">
              <a:solidFill>
                <a:schemeClr val="tx1"/>
              </a:solidFill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625"/>
              </a:spcBef>
              <a:buClr>
                <a:srgbClr val="C8102E"/>
              </a:buClr>
              <a:buSzPct val="79166"/>
              <a:buNone/>
              <a:tabLst>
                <a:tab pos="354965" algn="l"/>
                <a:tab pos="355600" algn="l"/>
              </a:tabLst>
            </a:pP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Activities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Initial</a:t>
            </a:r>
            <a:r>
              <a:rPr lang="en-US" sz="2000" spc="-40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scope is defined.</a:t>
            </a:r>
            <a:endParaRPr lang="en-US" sz="2000" dirty="0" smtClean="0">
              <a:solidFill>
                <a:schemeClr val="tx1"/>
              </a:solidFill>
              <a:cs typeface="Calibri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Initial</a:t>
            </a:r>
            <a:r>
              <a:rPr lang="en-US" sz="2000" spc="-10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financial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resources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are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committed</a:t>
            </a:r>
            <a:endParaRPr lang="en-US" sz="2000" dirty="0" smtClean="0">
              <a:solidFill>
                <a:schemeClr val="tx1"/>
              </a:solidFill>
              <a:cs typeface="Calibri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Internal and external Stakeholders</a:t>
            </a:r>
            <a:r>
              <a:rPr lang="en-US" sz="2000" spc="-15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are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identified.</a:t>
            </a:r>
            <a:endParaRPr lang="en-US" sz="2000" dirty="0" smtClean="0">
              <a:solidFill>
                <a:schemeClr val="tx1"/>
              </a:solidFill>
              <a:cs typeface="Calibri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GB" sz="2000" dirty="0">
                <a:solidFill>
                  <a:schemeClr val="tx1"/>
                </a:solidFill>
              </a:rPr>
              <a:t>If not already assigned, the project manager will be selected</a:t>
            </a:r>
            <a:r>
              <a:rPr lang="en-GB" sz="2000" dirty="0" smtClean="0">
                <a:solidFill>
                  <a:schemeClr val="tx1"/>
                </a:solidFill>
              </a:rPr>
              <a:t>.</a:t>
            </a:r>
          </a:p>
          <a:p>
            <a:pPr marL="755650" lvl="1" indent="-28575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GB" sz="2000" dirty="0">
                <a:solidFill>
                  <a:schemeClr val="tx1"/>
                </a:solidFill>
              </a:rPr>
              <a:t>This information is captured in the </a:t>
            </a:r>
            <a:r>
              <a:rPr lang="en-GB" sz="2000" b="1" dirty="0">
                <a:solidFill>
                  <a:schemeClr val="tx1"/>
                </a:solidFill>
              </a:rPr>
              <a:t>project charter</a:t>
            </a:r>
            <a:r>
              <a:rPr lang="en-GB" sz="2000" dirty="0">
                <a:solidFill>
                  <a:schemeClr val="tx1"/>
                </a:solidFill>
              </a:rPr>
              <a:t> and </a:t>
            </a:r>
            <a:r>
              <a:rPr lang="en-GB" sz="2000" b="1" dirty="0">
                <a:solidFill>
                  <a:schemeClr val="tx1"/>
                </a:solidFill>
              </a:rPr>
              <a:t>stakeholder </a:t>
            </a:r>
            <a:r>
              <a:rPr lang="en-GB" sz="2000" b="1" dirty="0" smtClean="0">
                <a:solidFill>
                  <a:schemeClr val="tx1"/>
                </a:solidFill>
              </a:rPr>
              <a:t>register.</a:t>
            </a:r>
            <a:endParaRPr lang="en-GB" sz="2000" b="1" dirty="0" smtClean="0">
              <a:solidFill>
                <a:schemeClr val="tx1"/>
              </a:solidFill>
            </a:endParaRPr>
          </a:p>
          <a:p>
            <a:pPr marL="469900" lvl="1" indent="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None/>
              <a:tabLst>
                <a:tab pos="755015" algn="l"/>
                <a:tab pos="755650" algn="l"/>
              </a:tabLst>
            </a:pPr>
            <a:endParaRPr lang="en-US" dirty="0" smtClean="0">
              <a:solidFill>
                <a:schemeClr val="tx1"/>
              </a:solidFill>
              <a:cs typeface="Calibri"/>
            </a:endParaRPr>
          </a:p>
          <a:p>
            <a:pPr marL="469900" lvl="1" indent="0" algn="just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None/>
              <a:tabLst>
                <a:tab pos="755015" algn="l"/>
                <a:tab pos="755650" algn="l"/>
              </a:tabLst>
            </a:pPr>
            <a:endParaRPr lang="en-US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B50E-B800-422A-89F6-31184AB1E4D5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818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656" y="1887991"/>
            <a:ext cx="7565390" cy="43345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r>
              <a:rPr lang="en-US" sz="2000" b="1" dirty="0" smtClean="0"/>
              <a:t>Processes</a:t>
            </a:r>
            <a:r>
              <a:rPr lang="en-US" sz="2000" b="1" dirty="0"/>
              <a:t>:</a:t>
            </a:r>
          </a:p>
          <a:p>
            <a:r>
              <a:rPr lang="en-US" sz="2000" dirty="0"/>
              <a:t>The Initiation process group has only two processes </a:t>
            </a:r>
          </a:p>
          <a:p>
            <a:endParaRPr lang="en-US" sz="2000" dirty="0"/>
          </a:p>
          <a:p>
            <a:pPr lvl="1"/>
            <a:r>
              <a:rPr lang="en-US" sz="2000" b="1" dirty="0"/>
              <a:t>Develop Project Charter</a:t>
            </a:r>
          </a:p>
          <a:p>
            <a:pPr lvl="1" fontAlgn="base"/>
            <a:r>
              <a:rPr lang="en-US" sz="2000" b="1" dirty="0"/>
              <a:t>Identify Stakeholders </a:t>
            </a:r>
            <a:endParaRPr lang="en-US" sz="2000" b="1" dirty="0" smtClean="0"/>
          </a:p>
          <a:p>
            <a:pPr lvl="1" fontAlgn="base"/>
            <a:endParaRPr lang="en-US" sz="2000" b="1" dirty="0"/>
          </a:p>
          <a:p>
            <a:pPr marL="12700">
              <a:lnSpc>
                <a:spcPct val="100000"/>
              </a:lnSpc>
              <a:spcBef>
                <a:spcPts val="700"/>
              </a:spcBef>
              <a:buClr>
                <a:srgbClr val="C8102E"/>
              </a:buClr>
              <a:buSzPct val="79166"/>
              <a:tabLst>
                <a:tab pos="354965" algn="l"/>
                <a:tab pos="355600" algn="l"/>
              </a:tabLst>
            </a:pPr>
            <a:r>
              <a:rPr lang="en-GB" sz="2000" b="1" dirty="0" smtClean="0"/>
              <a:t>Key </a:t>
            </a:r>
            <a:r>
              <a:rPr lang="en-GB" sz="2000" b="1" dirty="0"/>
              <a:t>artifacts created:</a:t>
            </a:r>
            <a:r>
              <a:rPr lang="en-GB" sz="2000" dirty="0"/>
              <a:t> </a:t>
            </a:r>
            <a:endParaRPr sz="2000" dirty="0"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cs typeface="Calibri"/>
              </a:rPr>
              <a:t>Project Charter and Stakeholder Register</a:t>
            </a:r>
            <a:r>
              <a:rPr lang="en-US" sz="2000" spc="-5" dirty="0" smtClean="0">
                <a:cs typeface="Calibri"/>
              </a:rPr>
              <a:t>.</a:t>
            </a:r>
          </a:p>
          <a:p>
            <a:pPr marL="469900" lvl="1">
              <a:lnSpc>
                <a:spcPct val="100000"/>
              </a:lnSpc>
              <a:spcBef>
                <a:spcPts val="600"/>
              </a:spcBef>
              <a:buClr>
                <a:srgbClr val="C8102E"/>
              </a:buClr>
              <a:buSzPct val="79166"/>
              <a:tabLst>
                <a:tab pos="755015" algn="l"/>
                <a:tab pos="755650" algn="l"/>
              </a:tabLst>
            </a:pPr>
            <a:endParaRPr lang="en-US" sz="2000" spc="-5" dirty="0" smtClean="0">
              <a:cs typeface="Calibri"/>
            </a:endParaRPr>
          </a:p>
          <a:p>
            <a:pPr marL="12700">
              <a:lnSpc>
                <a:spcPct val="100000"/>
              </a:lnSpc>
              <a:buClr>
                <a:srgbClr val="C8102E"/>
              </a:buClr>
              <a:buSzPct val="79166"/>
              <a:tabLst>
                <a:tab pos="354965" algn="l"/>
                <a:tab pos="355600" algn="l"/>
              </a:tabLst>
            </a:pPr>
            <a:r>
              <a:rPr sz="2000" b="1" spc="-5" dirty="0" smtClean="0">
                <a:cs typeface="Calibri"/>
              </a:rPr>
              <a:t>Decision</a:t>
            </a:r>
            <a:r>
              <a:rPr sz="2000" b="1" spc="-5" dirty="0">
                <a:cs typeface="Calibri"/>
              </a:rPr>
              <a:t>:</a:t>
            </a:r>
            <a:r>
              <a:rPr sz="2000" b="1" spc="-25" dirty="0">
                <a:cs typeface="Calibri"/>
              </a:rPr>
              <a:t> </a:t>
            </a:r>
            <a:r>
              <a:rPr sz="2000" spc="-5" dirty="0" smtClean="0">
                <a:cs typeface="Calibri"/>
              </a:rPr>
              <a:t>Continue/delay/stop</a:t>
            </a:r>
            <a:endParaRPr lang="en-US" sz="2000" dirty="0">
              <a:cs typeface="Calibri"/>
            </a:endParaRPr>
          </a:p>
          <a:p>
            <a:pPr marL="12700">
              <a:lnSpc>
                <a:spcPct val="100000"/>
              </a:lnSpc>
              <a:buClr>
                <a:srgbClr val="C8102E"/>
              </a:buClr>
              <a:buSzPct val="79166"/>
              <a:tabLst>
                <a:tab pos="354965" algn="l"/>
                <a:tab pos="355600" algn="l"/>
              </a:tabLst>
            </a:pPr>
            <a:endParaRPr lang="en-US" sz="2000" b="1" spc="-5" dirty="0" smtClean="0">
              <a:cs typeface="Calibri"/>
            </a:endParaRPr>
          </a:p>
          <a:p>
            <a:pPr marL="12700">
              <a:lnSpc>
                <a:spcPct val="100000"/>
              </a:lnSpc>
              <a:buClr>
                <a:srgbClr val="C8102E"/>
              </a:buClr>
              <a:buSzPct val="79166"/>
              <a:tabLst>
                <a:tab pos="354965" algn="l"/>
                <a:tab pos="355600" algn="l"/>
              </a:tabLst>
            </a:pPr>
            <a:r>
              <a:rPr sz="2000" b="1" spc="-5" dirty="0" smtClean="0">
                <a:cs typeface="Calibri"/>
              </a:rPr>
              <a:t>Continue</a:t>
            </a:r>
            <a:r>
              <a:rPr sz="2000" b="1" dirty="0" smtClean="0">
                <a:cs typeface="Calibri"/>
              </a:rPr>
              <a:t> </a:t>
            </a:r>
            <a:r>
              <a:rPr sz="2000" dirty="0">
                <a:cs typeface="Calibri"/>
              </a:rPr>
              <a:t>-&gt; </a:t>
            </a:r>
            <a:r>
              <a:rPr sz="2000" spc="-5" dirty="0">
                <a:cs typeface="Calibri"/>
              </a:rPr>
              <a:t>PM is given</a:t>
            </a:r>
            <a:r>
              <a:rPr sz="200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authorization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to use</a:t>
            </a:r>
            <a:r>
              <a:rPr sz="2000" spc="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resources to </a:t>
            </a:r>
            <a:r>
              <a:rPr sz="2000" spc="-52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continue the</a:t>
            </a:r>
            <a:r>
              <a:rPr sz="2000" dirty="0">
                <a:cs typeface="Calibri"/>
              </a:rPr>
              <a:t> </a:t>
            </a:r>
            <a:r>
              <a:rPr sz="2000" spc="-5" dirty="0" smtClean="0">
                <a:cs typeface="Calibri"/>
              </a:rPr>
              <a:t>project</a:t>
            </a:r>
            <a:endParaRPr sz="2000" dirty="0"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8188" y="1133262"/>
            <a:ext cx="737834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Initiating Process Group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A0F53-80A2-456A-9AFC-F7BFB15A2B42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6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133" y="633445"/>
            <a:ext cx="7543800" cy="1450757"/>
          </a:xfrm>
        </p:spPr>
        <p:txBody>
          <a:bodyPr>
            <a:normAutofit/>
          </a:bodyPr>
          <a:lstStyle/>
          <a:p>
            <a:r>
              <a:rPr lang="en-US" alt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Planning process Group</a:t>
            </a:r>
            <a:br>
              <a:rPr lang="en-US" alt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</a:br>
            <a:endParaRPr lang="en-US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71" y="1845733"/>
            <a:ext cx="7598981" cy="43343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 smtClean="0">
                <a:solidFill>
                  <a:schemeClr val="tx1"/>
                </a:solidFill>
              </a:rPr>
              <a:t>The </a:t>
            </a:r>
            <a:r>
              <a:rPr lang="en-GB" dirty="0">
                <a:solidFill>
                  <a:schemeClr val="tx1"/>
                </a:solidFill>
              </a:rPr>
              <a:t>Planning processes </a:t>
            </a:r>
            <a:r>
              <a:rPr lang="en-GB" b="1" dirty="0">
                <a:solidFill>
                  <a:schemeClr val="tx1"/>
                </a:solidFill>
              </a:rPr>
              <a:t>develop the project management plan </a:t>
            </a:r>
            <a:r>
              <a:rPr lang="en-GB" dirty="0">
                <a:solidFill>
                  <a:schemeClr val="tx1"/>
                </a:solidFill>
              </a:rPr>
              <a:t>and the </a:t>
            </a:r>
            <a:r>
              <a:rPr lang="en-GB" b="1" dirty="0">
                <a:solidFill>
                  <a:schemeClr val="tx1"/>
                </a:solidFill>
              </a:rPr>
              <a:t>project documents </a:t>
            </a:r>
            <a:r>
              <a:rPr lang="en-GB" dirty="0">
                <a:solidFill>
                  <a:schemeClr val="tx1"/>
                </a:solidFill>
              </a:rPr>
              <a:t>that will be used to carry out the project. </a:t>
            </a:r>
            <a:endParaRPr lang="en-US" dirty="0" smtClean="0">
              <a:solidFill>
                <a:schemeClr val="tx1"/>
              </a:solidFill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480"/>
              </a:spcBef>
              <a:buClr>
                <a:srgbClr val="C8102E"/>
              </a:buClr>
              <a:buSzPct val="80000"/>
              <a:buNone/>
              <a:tabLst>
                <a:tab pos="354965" algn="l"/>
                <a:tab pos="355600" algn="l"/>
              </a:tabLst>
            </a:pPr>
            <a:endParaRPr lang="en-US" dirty="0" smtClean="0">
              <a:solidFill>
                <a:schemeClr val="tx1"/>
              </a:solidFill>
              <a:cs typeface="Calibri"/>
            </a:endParaRPr>
          </a:p>
          <a:p>
            <a:pPr marL="12700" indent="0">
              <a:lnSpc>
                <a:spcPct val="100000"/>
              </a:lnSpc>
              <a:spcBef>
                <a:spcPts val="480"/>
              </a:spcBef>
              <a:buClr>
                <a:srgbClr val="C8102E"/>
              </a:buClr>
              <a:buSzPct val="80000"/>
              <a:buNone/>
              <a:tabLst>
                <a:tab pos="354965" algn="l"/>
                <a:tab pos="355600" algn="l"/>
              </a:tabLst>
            </a:pPr>
            <a:r>
              <a:rPr lang="en-US" b="1" dirty="0" smtClean="0">
                <a:solidFill>
                  <a:schemeClr val="tx1"/>
                </a:solidFill>
                <a:cs typeface="Calibri"/>
              </a:rPr>
              <a:t>Activities</a:t>
            </a:r>
            <a:r>
              <a:rPr lang="en-US" b="1" spc="-10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of</a:t>
            </a:r>
            <a:r>
              <a:rPr lang="en-US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cs typeface="Calibri"/>
              </a:rPr>
              <a:t>the</a:t>
            </a:r>
            <a:r>
              <a:rPr lang="en-US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phase</a:t>
            </a:r>
            <a:r>
              <a:rPr lang="en-US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include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marL="561340" lvl="1" indent="-342900">
              <a:lnSpc>
                <a:spcPct val="100000"/>
              </a:lnSpc>
              <a:spcBef>
                <a:spcPts val="385"/>
              </a:spcBef>
              <a:buClr>
                <a:srgbClr val="C8102E"/>
              </a:buClr>
              <a:buSzPct val="80000"/>
              <a:buAutoNum type="arabicPeriod"/>
              <a:tabLst>
                <a:tab pos="560705" algn="l"/>
                <a:tab pos="56134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Develop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a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strategy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 and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a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course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of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action</a:t>
            </a:r>
            <a:r>
              <a:rPr lang="en-US" sz="2000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to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 achieve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the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project objectives.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561340" lvl="1" indent="-342900">
              <a:lnSpc>
                <a:spcPct val="100000"/>
              </a:lnSpc>
              <a:spcBef>
                <a:spcPts val="505"/>
              </a:spcBef>
              <a:buClr>
                <a:srgbClr val="C8102E"/>
              </a:buClr>
              <a:buSzPct val="80000"/>
              <a:buAutoNum type="arabicPeriod"/>
              <a:tabLst>
                <a:tab pos="560705" algn="l"/>
                <a:tab pos="561340" algn="l"/>
              </a:tabLst>
            </a:pPr>
            <a:r>
              <a:rPr lang="en-US" sz="2000" dirty="0">
                <a:solidFill>
                  <a:schemeClr val="tx1"/>
                </a:solidFill>
                <a:cs typeface="Calibri"/>
              </a:rPr>
              <a:t>Gather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information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about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the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project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and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refine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the</a:t>
            </a:r>
            <a:r>
              <a:rPr lang="en-US" sz="2000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plan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of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cs typeface="Calibri"/>
              </a:rPr>
              <a:t>action.</a:t>
            </a:r>
          </a:p>
          <a:p>
            <a:pPr marL="218440" lvl="1" indent="0">
              <a:lnSpc>
                <a:spcPct val="100000"/>
              </a:lnSpc>
              <a:spcBef>
                <a:spcPts val="505"/>
              </a:spcBef>
              <a:buClr>
                <a:srgbClr val="C8102E"/>
              </a:buClr>
              <a:buSzPct val="80000"/>
              <a:buNone/>
              <a:tabLst>
                <a:tab pos="560705" algn="l"/>
                <a:tab pos="561340" algn="l"/>
              </a:tabLst>
            </a:pPr>
            <a:r>
              <a:rPr lang="en-US" sz="2000" b="1" dirty="0">
                <a:solidFill>
                  <a:schemeClr val="tx1"/>
                </a:solidFill>
                <a:cs typeface="Calibri"/>
              </a:rPr>
              <a:t>Key documents created: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Project Management </a:t>
            </a:r>
            <a:r>
              <a:rPr lang="en-US" sz="2000" dirty="0" smtClean="0">
                <a:solidFill>
                  <a:schemeClr val="tx1"/>
                </a:solidFill>
                <a:cs typeface="Calibri"/>
              </a:rPr>
              <a:t>Plan and project documents including work break down structure, schedule and cost baselines, risk registers , communication plan…</a:t>
            </a:r>
          </a:p>
          <a:p>
            <a:pPr marL="268732" indent="-342900">
              <a:lnSpc>
                <a:spcPct val="100000"/>
              </a:lnSpc>
              <a:spcBef>
                <a:spcPts val="505"/>
              </a:spcBef>
              <a:buClr>
                <a:srgbClr val="C8102E"/>
              </a:buClr>
              <a:buSzPct val="80000"/>
              <a:buAutoNum type="arabicPeriod"/>
              <a:tabLst>
                <a:tab pos="560705" algn="l"/>
                <a:tab pos="561340" algn="l"/>
              </a:tabLst>
            </a:pPr>
            <a:endParaRPr lang="en-US" sz="2200" dirty="0" smtClean="0">
              <a:solidFill>
                <a:schemeClr val="tx1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505"/>
              </a:spcBef>
              <a:buClr>
                <a:srgbClr val="C8102E"/>
              </a:buClr>
              <a:buSzPct val="80000"/>
              <a:buNone/>
              <a:tabLst>
                <a:tab pos="560705" algn="l"/>
                <a:tab pos="561340" algn="l"/>
              </a:tabLst>
            </a:pPr>
            <a:endParaRPr lang="en-US" sz="2200" dirty="0">
              <a:solidFill>
                <a:schemeClr val="tx1"/>
              </a:solidFill>
              <a:cs typeface="Calibri"/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03B328-DDDD-4769-B6F1-181D768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F11C-BE17-4F54-95BA-567A67B934D0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Project</a:t>
            </a:r>
            <a:r>
              <a:rPr lang="en-US" sz="3200" dirty="0"/>
              <a:t> </a:t>
            </a:r>
            <a:r>
              <a:rPr lang="en-US" alt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Planning processes</a:t>
            </a:r>
            <a:endParaRPr lang="en-GB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822960" y="1845733"/>
            <a:ext cx="3703320" cy="466542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scope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schedule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cost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quality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resource management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communications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risk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procurement management </a:t>
            </a:r>
          </a:p>
          <a:p>
            <a:pPr>
              <a:lnSpc>
                <a:spcPct val="110000"/>
              </a:lnSpc>
            </a:pPr>
            <a:r>
              <a:rPr lang="en-GB" sz="2600" b="1" dirty="0">
                <a:solidFill>
                  <a:schemeClr val="tx1"/>
                </a:solidFill>
              </a:rPr>
              <a:t>P</a:t>
            </a:r>
            <a:r>
              <a:rPr lang="en-GB" sz="2600" dirty="0">
                <a:solidFill>
                  <a:schemeClr val="tx1"/>
                </a:solidFill>
              </a:rPr>
              <a:t>lan stakeholder management </a:t>
            </a:r>
            <a:endParaRPr lang="en-GB" sz="2600" dirty="0" smtClean="0">
              <a:solidFill>
                <a:schemeClr val="tx1"/>
              </a:solidFill>
            </a:endParaRPr>
          </a:p>
          <a:p>
            <a:r>
              <a:rPr lang="en-US" sz="2600" b="1" dirty="0">
                <a:solidFill>
                  <a:schemeClr val="tx1"/>
                </a:solidFill>
              </a:rPr>
              <a:t>I</a:t>
            </a:r>
            <a:r>
              <a:rPr lang="en-US" sz="2600" dirty="0">
                <a:solidFill>
                  <a:schemeClr val="tx1"/>
                </a:solidFill>
              </a:rPr>
              <a:t>dentify risks</a:t>
            </a:r>
          </a:p>
          <a:p>
            <a:r>
              <a:rPr lang="en-US" sz="2600" b="1" dirty="0">
                <a:solidFill>
                  <a:schemeClr val="tx1"/>
                </a:solidFill>
              </a:rPr>
              <a:t>P</a:t>
            </a:r>
            <a:r>
              <a:rPr lang="en-US" sz="2600" dirty="0">
                <a:solidFill>
                  <a:schemeClr val="tx1"/>
                </a:solidFill>
              </a:rPr>
              <a:t>erform qualitative risk analysis</a:t>
            </a:r>
          </a:p>
          <a:p>
            <a:pPr>
              <a:lnSpc>
                <a:spcPct val="110000"/>
              </a:lnSpc>
            </a:pPr>
            <a:endParaRPr lang="en-GB" sz="2600" dirty="0"/>
          </a:p>
          <a:p>
            <a:pPr>
              <a:lnSpc>
                <a:spcPct val="110000"/>
              </a:lnSpc>
            </a:pPr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492002"/>
          </a:xfrm>
        </p:spPr>
        <p:txBody>
          <a:bodyPr>
            <a:normAutofit fontScale="62500" lnSpcReduction="20000"/>
          </a:bodyPr>
          <a:lstStyle/>
          <a:p>
            <a:r>
              <a:rPr lang="en-US" sz="2600" b="1" dirty="0" smtClean="0">
                <a:solidFill>
                  <a:schemeClr val="tx1"/>
                </a:solidFill>
              </a:rPr>
              <a:t>Develop a project management plan </a:t>
            </a:r>
            <a:endParaRPr lang="en-US" sz="2600" b="1" dirty="0">
              <a:solidFill>
                <a:schemeClr val="tx1"/>
              </a:solidFill>
            </a:endParaRPr>
          </a:p>
          <a:p>
            <a:r>
              <a:rPr lang="en-US" sz="2600" b="1" dirty="0">
                <a:solidFill>
                  <a:schemeClr val="tx1"/>
                </a:solidFill>
              </a:rPr>
              <a:t>C</a:t>
            </a:r>
            <a:r>
              <a:rPr lang="en-US" sz="2600" dirty="0">
                <a:solidFill>
                  <a:schemeClr val="tx1"/>
                </a:solidFill>
              </a:rPr>
              <a:t>ollect requirements </a:t>
            </a:r>
          </a:p>
          <a:p>
            <a:r>
              <a:rPr lang="en-US" sz="2600" b="1" dirty="0">
                <a:solidFill>
                  <a:schemeClr val="tx1"/>
                </a:solidFill>
              </a:rPr>
              <a:t>D</a:t>
            </a:r>
            <a:r>
              <a:rPr lang="en-US" sz="2600" dirty="0">
                <a:solidFill>
                  <a:schemeClr val="tx1"/>
                </a:solidFill>
              </a:rPr>
              <a:t>efine scope</a:t>
            </a:r>
          </a:p>
          <a:p>
            <a:r>
              <a:rPr lang="en-US" sz="2600" b="1" dirty="0" smtClean="0">
                <a:solidFill>
                  <a:schemeClr val="tx1"/>
                </a:solidFill>
              </a:rPr>
              <a:t>Create a work breakdown schedule </a:t>
            </a:r>
          </a:p>
          <a:p>
            <a:r>
              <a:rPr lang="en-US" sz="2600" b="1" dirty="0" smtClean="0">
                <a:solidFill>
                  <a:schemeClr val="tx1"/>
                </a:solidFill>
              </a:rPr>
              <a:t>D</a:t>
            </a:r>
            <a:r>
              <a:rPr lang="en-US" sz="2600" dirty="0" smtClean="0">
                <a:solidFill>
                  <a:schemeClr val="tx1"/>
                </a:solidFill>
              </a:rPr>
              <a:t>efine activities </a:t>
            </a:r>
          </a:p>
          <a:p>
            <a:r>
              <a:rPr lang="en-GB" sz="2600" b="1" dirty="0" smtClean="0">
                <a:solidFill>
                  <a:schemeClr val="tx1"/>
                </a:solidFill>
              </a:rPr>
              <a:t>S</a:t>
            </a:r>
            <a:r>
              <a:rPr lang="en-GB" sz="2600" dirty="0" smtClean="0">
                <a:solidFill>
                  <a:schemeClr val="tx1"/>
                </a:solidFill>
              </a:rPr>
              <a:t>equence </a:t>
            </a:r>
            <a:r>
              <a:rPr lang="en-GB" sz="2600" dirty="0">
                <a:solidFill>
                  <a:schemeClr val="tx1"/>
                </a:solidFill>
              </a:rPr>
              <a:t>activities </a:t>
            </a:r>
          </a:p>
          <a:p>
            <a:r>
              <a:rPr lang="en-GB" sz="2600" b="1" dirty="0">
                <a:solidFill>
                  <a:schemeClr val="tx1"/>
                </a:solidFill>
              </a:rPr>
              <a:t>Estimate activity </a:t>
            </a:r>
            <a:r>
              <a:rPr lang="en-GB" sz="2600" b="1" dirty="0" smtClean="0">
                <a:solidFill>
                  <a:schemeClr val="tx1"/>
                </a:solidFill>
              </a:rPr>
              <a:t>durations </a:t>
            </a:r>
            <a:endParaRPr lang="en-GB" sz="2600" b="1" dirty="0">
              <a:solidFill>
                <a:schemeClr val="tx1"/>
              </a:solidFill>
            </a:endParaRPr>
          </a:p>
          <a:p>
            <a:r>
              <a:rPr lang="en-GB" sz="2600" b="1" dirty="0">
                <a:solidFill>
                  <a:schemeClr val="tx1"/>
                </a:solidFill>
              </a:rPr>
              <a:t>D</a:t>
            </a:r>
            <a:r>
              <a:rPr lang="en-GB" sz="2600" dirty="0">
                <a:solidFill>
                  <a:schemeClr val="tx1"/>
                </a:solidFill>
              </a:rPr>
              <a:t>evelop schedule </a:t>
            </a:r>
          </a:p>
          <a:p>
            <a:r>
              <a:rPr lang="en-GB" sz="2600" b="1" dirty="0">
                <a:solidFill>
                  <a:schemeClr val="tx1"/>
                </a:solidFill>
              </a:rPr>
              <a:t>E</a:t>
            </a:r>
            <a:r>
              <a:rPr lang="en-GB" sz="2600" dirty="0">
                <a:solidFill>
                  <a:schemeClr val="tx1"/>
                </a:solidFill>
              </a:rPr>
              <a:t>stimate costs </a:t>
            </a:r>
          </a:p>
          <a:p>
            <a:r>
              <a:rPr lang="en-GB" sz="2600" b="1" dirty="0">
                <a:solidFill>
                  <a:schemeClr val="tx1"/>
                </a:solidFill>
              </a:rPr>
              <a:t>D</a:t>
            </a:r>
            <a:r>
              <a:rPr lang="en-GB" sz="2600" dirty="0">
                <a:solidFill>
                  <a:schemeClr val="tx1"/>
                </a:solidFill>
              </a:rPr>
              <a:t>evelop budget</a:t>
            </a:r>
          </a:p>
          <a:p>
            <a:r>
              <a:rPr lang="en-GB" sz="2600" b="1" dirty="0">
                <a:solidFill>
                  <a:schemeClr val="tx1"/>
                </a:solidFill>
              </a:rPr>
              <a:t>E</a:t>
            </a:r>
            <a:r>
              <a:rPr lang="en-GB" sz="2600" dirty="0">
                <a:solidFill>
                  <a:schemeClr val="tx1"/>
                </a:solidFill>
              </a:rPr>
              <a:t>stimate activity resources </a:t>
            </a:r>
            <a:endParaRPr lang="en-GB" sz="2600" dirty="0" smtClean="0">
              <a:solidFill>
                <a:schemeClr val="tx1"/>
              </a:solidFill>
            </a:endParaRPr>
          </a:p>
          <a:p>
            <a:r>
              <a:rPr lang="en-US" sz="2600" b="1" dirty="0">
                <a:solidFill>
                  <a:schemeClr val="tx1"/>
                </a:solidFill>
              </a:rPr>
              <a:t>P</a:t>
            </a:r>
            <a:r>
              <a:rPr lang="en-US" sz="2600" dirty="0">
                <a:solidFill>
                  <a:schemeClr val="tx1"/>
                </a:solidFill>
              </a:rPr>
              <a:t>erform quantitative risk analysis</a:t>
            </a:r>
          </a:p>
          <a:p>
            <a:r>
              <a:rPr lang="en-US" sz="2600" b="1" dirty="0" smtClean="0">
                <a:solidFill>
                  <a:schemeClr val="tx1"/>
                </a:solidFill>
              </a:rPr>
              <a:t>P</a:t>
            </a:r>
            <a:r>
              <a:rPr lang="en-US" sz="2600" dirty="0" smtClean="0">
                <a:solidFill>
                  <a:schemeClr val="tx1"/>
                </a:solidFill>
              </a:rPr>
              <a:t>lan risk responses </a:t>
            </a:r>
          </a:p>
          <a:p>
            <a:endParaRPr lang="en-GB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4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Executing Process Group</a:t>
            </a:r>
            <a:endParaRPr lang="en-US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84943" cy="438625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dirty="0">
                <a:solidFill>
                  <a:schemeClr val="tx1"/>
                </a:solidFill>
              </a:rPr>
              <a:t>The Executing Process Group consists of those processes performed to </a:t>
            </a:r>
            <a:r>
              <a:rPr lang="en-GB" b="1" dirty="0">
                <a:solidFill>
                  <a:schemeClr val="tx1"/>
                </a:solidFill>
              </a:rPr>
              <a:t>complete the work defined in the project management plan </a:t>
            </a:r>
            <a:r>
              <a:rPr lang="en-GB" dirty="0">
                <a:solidFill>
                  <a:schemeClr val="tx1"/>
                </a:solidFill>
              </a:rPr>
              <a:t>to </a:t>
            </a:r>
            <a:r>
              <a:rPr lang="en-GB" b="1" dirty="0" smtClean="0">
                <a:solidFill>
                  <a:schemeClr val="tx1"/>
                </a:solidFill>
              </a:rPr>
              <a:t>satisfy the project specifications.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Activities</a:t>
            </a:r>
            <a:r>
              <a:rPr lang="en-US" b="1" spc="-25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include</a:t>
            </a: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1" dirty="0">
              <a:solidFill>
                <a:schemeClr val="tx1"/>
              </a:solidFill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625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Coordinating</a:t>
            </a:r>
            <a:r>
              <a:rPr lang="en-US" sz="20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25" dirty="0" smtClean="0">
                <a:solidFill>
                  <a:schemeClr val="tx1"/>
                </a:solidFill>
                <a:cs typeface="Calibri"/>
              </a:rPr>
              <a:t> people and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resources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60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Managing</a:t>
            </a:r>
            <a:r>
              <a:rPr lang="en-US" sz="20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stakeholders expectations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525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b="1" spc="-5" dirty="0">
                <a:solidFill>
                  <a:schemeClr val="tx1"/>
                </a:solidFill>
                <a:cs typeface="Calibri"/>
              </a:rPr>
              <a:t>Performing</a:t>
            </a:r>
            <a:r>
              <a:rPr lang="en-US" sz="2000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cs typeface="Calibri"/>
              </a:rPr>
              <a:t>the</a:t>
            </a:r>
            <a:r>
              <a:rPr lang="en-US" sz="2000" b="1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cs typeface="Calibri"/>
              </a:rPr>
              <a:t>project</a:t>
            </a:r>
            <a:r>
              <a:rPr lang="en-US" sz="2000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b="1" spc="-5" dirty="0">
                <a:solidFill>
                  <a:schemeClr val="tx1"/>
                </a:solidFill>
                <a:cs typeface="Calibri"/>
              </a:rPr>
              <a:t>plan </a:t>
            </a:r>
            <a:r>
              <a:rPr lang="en-US" sz="2000" b="1" spc="-5" dirty="0" smtClean="0">
                <a:solidFill>
                  <a:schemeClr val="tx1"/>
                </a:solidFill>
                <a:cs typeface="Calibri"/>
              </a:rPr>
              <a:t>tasks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pPr marL="469265" lvl="1" indent="0">
              <a:lnSpc>
                <a:spcPct val="100000"/>
              </a:lnSpc>
              <a:spcBef>
                <a:spcPts val="525"/>
              </a:spcBef>
              <a:buClr>
                <a:srgbClr val="C8102E"/>
              </a:buClr>
              <a:buSzPct val="79166"/>
              <a:buNone/>
              <a:tabLst>
                <a:tab pos="755015" algn="l"/>
                <a:tab pos="755650" algn="l"/>
              </a:tabLst>
            </a:pP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GB" dirty="0" smtClean="0">
                <a:solidFill>
                  <a:schemeClr val="tx1"/>
                </a:solidFill>
              </a:rPr>
              <a:t>During </a:t>
            </a:r>
            <a:r>
              <a:rPr lang="en-GB" dirty="0">
                <a:solidFill>
                  <a:schemeClr val="tx1"/>
                </a:solidFill>
              </a:rPr>
              <a:t>project execution, results may require planning updates and </a:t>
            </a:r>
            <a:r>
              <a:rPr lang="en-GB" dirty="0" smtClean="0">
                <a:solidFill>
                  <a:schemeClr val="tx1"/>
                </a:solidFill>
              </a:rPr>
              <a:t>rebase lining…</a:t>
            </a: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updating the</a:t>
            </a:r>
            <a:r>
              <a:rPr lang="en-US" b="1" spc="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project</a:t>
            </a:r>
            <a:r>
              <a:rPr lang="en-US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plan </a:t>
            </a: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.</a:t>
            </a:r>
            <a:endParaRPr lang="en-US" dirty="0">
              <a:solidFill>
                <a:schemeClr val="tx1"/>
              </a:solidFill>
              <a:cs typeface="Calibri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29BB15-2796-4EFB-8F7F-A0609476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B50D-E51C-4D50-8FB6-DF18A0EAE6E7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1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Project </a:t>
            </a:r>
            <a:r>
              <a:rPr 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Executing - Processes</a:t>
            </a:r>
            <a:endParaRPr lang="en-GB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anage project knowledge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anage quality 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anage team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anage communications 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anage stakeholder engagement </a:t>
            </a:r>
          </a:p>
          <a:p>
            <a:r>
              <a:rPr lang="en-US" b="1" dirty="0">
                <a:solidFill>
                  <a:schemeClr val="tx1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irect and manage project work</a:t>
            </a:r>
          </a:p>
          <a:p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cquire resources </a:t>
            </a:r>
          </a:p>
          <a:p>
            <a:r>
              <a:rPr lang="en-US" b="1" dirty="0">
                <a:solidFill>
                  <a:schemeClr val="tx1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evelop team</a:t>
            </a:r>
          </a:p>
          <a:p>
            <a:r>
              <a:rPr lang="en-US" b="1" dirty="0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mplement risk responses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onduct procurements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234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415" y="255073"/>
            <a:ext cx="8110222" cy="1450757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Monitoring</a:t>
            </a:r>
            <a:r>
              <a:rPr lang="en-US" sz="2800" dirty="0" smtClean="0"/>
              <a:t> </a:t>
            </a:r>
            <a:r>
              <a:rPr lang="en-US" sz="28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and</a:t>
            </a:r>
            <a:r>
              <a:rPr lang="en-US" sz="2800" dirty="0"/>
              <a:t> </a:t>
            </a:r>
            <a:r>
              <a:rPr lang="en-US" sz="28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Controlling Process Group</a:t>
            </a:r>
            <a:endParaRPr lang="en-US" sz="28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98897"/>
            <a:ext cx="7543801" cy="44762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</a:rPr>
              <a:t>Involves </a:t>
            </a:r>
            <a:r>
              <a:rPr lang="en-US" altLang="en-US" b="1" dirty="0">
                <a:solidFill>
                  <a:schemeClr val="tx1"/>
                </a:solidFill>
              </a:rPr>
              <a:t>measuring progress toward project objectives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b="1" dirty="0">
                <a:solidFill>
                  <a:schemeClr val="tx1"/>
                </a:solidFill>
              </a:rPr>
              <a:t>monitoring deviation from the plan, and taking </a:t>
            </a:r>
            <a:r>
              <a:rPr lang="en-US" altLang="en-US" b="1" dirty="0" smtClean="0">
                <a:solidFill>
                  <a:schemeClr val="tx1"/>
                </a:solidFill>
              </a:rPr>
              <a:t>corrective actions.</a:t>
            </a:r>
            <a:endParaRPr lang="en-US" altLang="en-US" b="1" dirty="0">
              <a:solidFill>
                <a:schemeClr val="tx1"/>
              </a:solidFill>
            </a:endParaRPr>
          </a:p>
          <a:p>
            <a:pPr marL="12700" indent="0">
              <a:lnSpc>
                <a:spcPct val="100000"/>
              </a:lnSpc>
              <a:buClr>
                <a:srgbClr val="C8102E"/>
              </a:buClr>
              <a:buSzPct val="79166"/>
              <a:buNone/>
              <a:tabLst>
                <a:tab pos="354965" algn="l"/>
                <a:tab pos="355600" algn="l"/>
              </a:tabLst>
            </a:pPr>
            <a:r>
              <a:rPr lang="en-US" b="1" spc="-5" dirty="0" smtClean="0">
                <a:solidFill>
                  <a:schemeClr val="tx1"/>
                </a:solidFill>
                <a:cs typeface="Calibri"/>
              </a:rPr>
              <a:t>Activities</a:t>
            </a:r>
            <a:r>
              <a:rPr lang="en-US" b="1" spc="-25" dirty="0" smtClean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5" dirty="0">
                <a:solidFill>
                  <a:schemeClr val="tx1"/>
                </a:solidFill>
                <a:cs typeface="Calibri"/>
              </a:rPr>
              <a:t>include: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marL="755650" marR="499109" lvl="1" indent="-285750">
              <a:lnSpc>
                <a:spcPct val="100800"/>
              </a:lnSpc>
              <a:spcBef>
                <a:spcPts val="48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Monitor project activities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and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compare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them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to the </a:t>
            </a:r>
            <a:r>
              <a:rPr lang="en-US" sz="2000" spc="-53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planned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activities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Apply</a:t>
            </a:r>
            <a:r>
              <a:rPr lang="en-US" sz="20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corrective or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preventive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actions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30"/>
              </a:spcBef>
              <a:buClr>
                <a:srgbClr val="C8102E"/>
              </a:buClr>
              <a:buSzPct val="79166"/>
              <a:buFont typeface="Times New Roman"/>
              <a:buChar char="•"/>
              <a:tabLst>
                <a:tab pos="755015" algn="l"/>
                <a:tab pos="755650" algn="l"/>
              </a:tabLst>
            </a:pPr>
            <a:r>
              <a:rPr lang="en-US" sz="2000" spc="-5" dirty="0">
                <a:solidFill>
                  <a:schemeClr val="tx1"/>
                </a:solidFill>
                <a:cs typeface="Calibri"/>
              </a:rPr>
              <a:t>Control</a:t>
            </a:r>
            <a:r>
              <a:rPr lang="en-US" sz="20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changes</a:t>
            </a:r>
            <a:r>
              <a:rPr lang="en-US" sz="20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to</a:t>
            </a:r>
            <a:r>
              <a:rPr lang="en-US" sz="20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>
                <a:solidFill>
                  <a:schemeClr val="tx1"/>
                </a:solidFill>
                <a:cs typeface="Calibri"/>
              </a:rPr>
              <a:t>the</a:t>
            </a:r>
            <a:r>
              <a:rPr lang="en-US" sz="200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000" spc="-5" dirty="0" smtClean="0">
                <a:solidFill>
                  <a:schemeClr val="tx1"/>
                </a:solidFill>
                <a:cs typeface="Calibri"/>
              </a:rPr>
              <a:t>project.</a:t>
            </a:r>
            <a:endParaRPr lang="en-US" sz="2000" dirty="0">
              <a:solidFill>
                <a:schemeClr val="tx1"/>
              </a:solidFill>
              <a:cs typeface="Calibri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dirty="0" smtClean="0">
                <a:solidFill>
                  <a:schemeClr val="tx1"/>
                </a:solidFill>
              </a:rPr>
              <a:t>Outputs include </a:t>
            </a:r>
            <a:r>
              <a:rPr lang="en-US" altLang="en-US" b="1" dirty="0" smtClean="0">
                <a:solidFill>
                  <a:schemeClr val="tx1"/>
                </a:solidFill>
              </a:rPr>
              <a:t>performance reports</a:t>
            </a:r>
            <a:r>
              <a:rPr lang="en-US" altLang="en-US" dirty="0" smtClean="0">
                <a:solidFill>
                  <a:schemeClr val="tx1"/>
                </a:solidFill>
              </a:rPr>
              <a:t>, </a:t>
            </a:r>
            <a:r>
              <a:rPr lang="en-US" altLang="en-US" b="1" dirty="0">
                <a:solidFill>
                  <a:schemeClr val="tx1"/>
                </a:solidFill>
              </a:rPr>
              <a:t>change requests</a:t>
            </a:r>
            <a:r>
              <a:rPr lang="en-US" altLang="en-US" dirty="0">
                <a:solidFill>
                  <a:schemeClr val="tx1"/>
                </a:solidFill>
              </a:rPr>
              <a:t>, and </a:t>
            </a:r>
            <a:r>
              <a:rPr lang="en-US" altLang="en-US" b="1" dirty="0" smtClean="0">
                <a:solidFill>
                  <a:schemeClr val="tx1"/>
                </a:solidFill>
              </a:rPr>
              <a:t>updates to plan.</a:t>
            </a:r>
            <a:endParaRPr lang="en-US" altLang="en-US" b="1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98376-27E5-4790-8D3F-D82EF369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F152-9F6C-45C0-9732-F8D3D3654E52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22960" y="286604"/>
            <a:ext cx="8068792" cy="1450757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Monitoring </a:t>
            </a:r>
            <a:r>
              <a:rPr lang="en-US" sz="28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and </a:t>
            </a:r>
            <a:r>
              <a:rPr lang="en-US" sz="28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Controlling - Processes</a:t>
            </a:r>
            <a:endParaRPr lang="en-GB" sz="28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onitor and control project work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onitor communication 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onitor risk</a:t>
            </a:r>
          </a:p>
          <a:p>
            <a:r>
              <a:rPr lang="en-US" b="1" dirty="0">
                <a:solidFill>
                  <a:schemeClr val="tx1"/>
                </a:solidFill>
              </a:rPr>
              <a:t>M</a:t>
            </a:r>
            <a:r>
              <a:rPr lang="en-US" dirty="0">
                <a:solidFill>
                  <a:schemeClr val="tx1"/>
                </a:solidFill>
              </a:rPr>
              <a:t>onitor stakeholder engagement 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scope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schedule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cost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quality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resources</a:t>
            </a:r>
          </a:p>
          <a:p>
            <a:r>
              <a:rPr lang="en-US" b="1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ontrol procurements</a:t>
            </a:r>
          </a:p>
          <a:p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V</a:t>
            </a:r>
            <a:r>
              <a:rPr lang="en-US" dirty="0">
                <a:solidFill>
                  <a:schemeClr val="tx1"/>
                </a:solidFill>
              </a:rPr>
              <a:t>alidate scope</a:t>
            </a:r>
          </a:p>
          <a:p>
            <a:r>
              <a:rPr lang="en-US" b="1" dirty="0">
                <a:solidFill>
                  <a:schemeClr val="tx1"/>
                </a:solidFill>
              </a:rPr>
              <a:t>P</a:t>
            </a:r>
            <a:r>
              <a:rPr lang="en-US" dirty="0">
                <a:solidFill>
                  <a:schemeClr val="tx1"/>
                </a:solidFill>
              </a:rPr>
              <a:t>erform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change control 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05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Closing Process Group</a:t>
            </a:r>
            <a:endParaRPr lang="en-US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r>
              <a:rPr lang="en-US" altLang="en-US" dirty="0" smtClean="0"/>
              <a:t>Processes </a:t>
            </a:r>
            <a:r>
              <a:rPr lang="en-US" altLang="en-US" dirty="0"/>
              <a:t>to </a:t>
            </a:r>
            <a:r>
              <a:rPr lang="en-US" altLang="en-US" b="1" dirty="0"/>
              <a:t>conclude the project activities </a:t>
            </a:r>
            <a:r>
              <a:rPr lang="en-US" altLang="en-US" dirty="0"/>
              <a:t>and </a:t>
            </a:r>
            <a:r>
              <a:rPr lang="en-US" altLang="en-US" b="1" dirty="0"/>
              <a:t>formally </a:t>
            </a:r>
            <a:r>
              <a:rPr lang="en-US" altLang="en-US" b="1" dirty="0" smtClean="0"/>
              <a:t>complete </a:t>
            </a:r>
            <a:r>
              <a:rPr lang="en-US" altLang="en-US" b="1" dirty="0"/>
              <a:t>the project</a:t>
            </a:r>
          </a:p>
          <a:p>
            <a:pPr marL="0" indent="0" algn="just">
              <a:buNone/>
            </a:pPr>
            <a:r>
              <a:rPr lang="en-US" altLang="en-US" dirty="0"/>
              <a:t>It includes </a:t>
            </a:r>
            <a:r>
              <a:rPr lang="en-US" altLang="en-US" b="1" dirty="0"/>
              <a:t>verification that all tasks </a:t>
            </a:r>
            <a:r>
              <a:rPr lang="en-US" altLang="en-US" b="1" dirty="0" smtClean="0"/>
              <a:t>are </a:t>
            </a:r>
            <a:r>
              <a:rPr lang="en-US" altLang="en-US" b="1" dirty="0"/>
              <a:t>completed and deliverables are accepted </a:t>
            </a:r>
            <a:r>
              <a:rPr lang="en-US" altLang="en-US" b="1" dirty="0" smtClean="0"/>
              <a:t>by the stakeholders.</a:t>
            </a:r>
          </a:p>
          <a:p>
            <a:pPr marL="0" indent="0" algn="just">
              <a:buNone/>
            </a:pPr>
            <a:r>
              <a:rPr lang="en-US" altLang="en-US" dirty="0"/>
              <a:t>Outputs include </a:t>
            </a:r>
            <a:r>
              <a:rPr lang="en-US" altLang="en-US" b="1" dirty="0"/>
              <a:t>project archives </a:t>
            </a:r>
            <a:r>
              <a:rPr lang="en-US" altLang="en-US" dirty="0"/>
              <a:t>and </a:t>
            </a:r>
            <a:r>
              <a:rPr lang="en-US" altLang="en-US" b="1" dirty="0"/>
              <a:t>lessons learned</a:t>
            </a:r>
            <a:r>
              <a:rPr lang="en-US" altLang="en-US" dirty="0"/>
              <a:t>, part of </a:t>
            </a:r>
            <a:r>
              <a:rPr lang="en-US" altLang="en-US" b="1" dirty="0"/>
              <a:t>organizational process assets</a:t>
            </a:r>
          </a:p>
          <a:p>
            <a:pPr marL="0" indent="0" algn="just">
              <a:buNone/>
            </a:pPr>
            <a:r>
              <a:rPr lang="en-US" altLang="en-US" dirty="0" smtClean="0"/>
              <a:t>Most </a:t>
            </a:r>
            <a:r>
              <a:rPr lang="en-US" altLang="en-US" dirty="0"/>
              <a:t>projects also include a </a:t>
            </a:r>
            <a:r>
              <a:rPr lang="en-US" altLang="en-US" b="1" dirty="0"/>
              <a:t>final report </a:t>
            </a:r>
            <a:r>
              <a:rPr lang="en-US" altLang="en-US" dirty="0"/>
              <a:t>and </a:t>
            </a:r>
            <a:r>
              <a:rPr lang="en-US" altLang="en-US" b="1" dirty="0"/>
              <a:t>presentation to the sponsor/senior </a:t>
            </a:r>
            <a:r>
              <a:rPr lang="en-US" altLang="en-US" b="1" dirty="0" smtClean="0"/>
              <a:t>management.</a:t>
            </a:r>
            <a:endParaRPr lang="en-US" altLang="en-US" b="1" dirty="0"/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FE119D-1563-4587-9511-CA604483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1BCF-10FD-41F7-9C77-0B6D03F143EB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5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Project </a:t>
            </a:r>
            <a:r>
              <a:rPr lang="en-US" sz="3200" b="1" dirty="0" smtClean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</a:rPr>
              <a:t>Closing - Processes</a:t>
            </a:r>
            <a:endParaRPr lang="en-GB"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sz="2400" dirty="0" smtClean="0">
                <a:solidFill>
                  <a:schemeClr val="tx1"/>
                </a:solidFill>
              </a:rPr>
              <a:t>1 - Close </a:t>
            </a:r>
            <a:r>
              <a:rPr lang="en-GB" sz="2400" dirty="0">
                <a:solidFill>
                  <a:schemeClr val="tx1"/>
                </a:solidFill>
              </a:rPr>
              <a:t>Project or Phase 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33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>
            <a:spLocks noGrp="1"/>
          </p:cNvSpPr>
          <p:nvPr>
            <p:ph type="subTitle" idx="1"/>
          </p:nvPr>
        </p:nvSpPr>
        <p:spPr>
          <a:xfrm>
            <a:off x="333375" y="1384549"/>
            <a:ext cx="8381999" cy="5257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id="269" name="Shape 269"/>
          <p:cNvSpPr txBox="1"/>
          <p:nvPr/>
        </p:nvSpPr>
        <p:spPr>
          <a:xfrm>
            <a:off x="333375" y="277837"/>
            <a:ext cx="8595360" cy="1295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2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Libre Baskerville"/>
              <a:buNone/>
            </a:pPr>
            <a:r>
              <a:rPr lang="en-US" sz="32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Management Process Groups</a:t>
            </a:r>
          </a:p>
        </p:txBody>
      </p:sp>
      <p:pic>
        <p:nvPicPr>
          <p:cNvPr id="270" name="Shape 2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743665"/>
            <a:ext cx="8286749" cy="39052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B1013-A680-4199-AA74-CDCF5A09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0BA8-AF8B-4AB4-A082-403065EFD8D1}" type="datetime1">
              <a:rPr lang="en-US" smtClean="0"/>
              <a:t>9/24/2024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6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95BC-5EED-46B0-85A3-16698A85339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9143999" cy="673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8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619E-CED4-4B81-B833-AC6FF384DDBF}" type="datetime1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Project Management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2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2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618</TotalTime>
  <Words>634</Words>
  <Application>Microsoft Office PowerPoint</Application>
  <PresentationFormat>On-screen Show (4:3)</PresentationFormat>
  <Paragraphs>177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 Light</vt:lpstr>
      <vt:lpstr>Times New Roman</vt:lpstr>
      <vt:lpstr>Libre Baskerville</vt:lpstr>
      <vt:lpstr>Calibri</vt:lpstr>
      <vt:lpstr>Retrospect</vt:lpstr>
      <vt:lpstr>Software Management Process Groups</vt:lpstr>
      <vt:lpstr>Project Management process</vt:lpstr>
      <vt:lpstr>PowerPoint Presentation</vt:lpstr>
      <vt:lpstr>Initiating Processes Group</vt:lpstr>
      <vt:lpstr>Initiating Process Group</vt:lpstr>
      <vt:lpstr>Planning process Group </vt:lpstr>
      <vt:lpstr>Project Planning processes</vt:lpstr>
      <vt:lpstr>Executing Process Group</vt:lpstr>
      <vt:lpstr>Project Executing - Processes</vt:lpstr>
      <vt:lpstr>Monitoring and Controlling Process Group</vt:lpstr>
      <vt:lpstr>Monitoring and Controlling - Processes</vt:lpstr>
      <vt:lpstr>Closing Process Group</vt:lpstr>
      <vt:lpstr>Project Closing - Processes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   Dr. Farrukh Zeshan</dc:title>
  <dc:creator>Faree</dc:creator>
  <cp:lastModifiedBy>Humaira Afzal</cp:lastModifiedBy>
  <cp:revision>92</cp:revision>
  <dcterms:modified xsi:type="dcterms:W3CDTF">2024-09-24T10:20:17Z</dcterms:modified>
</cp:coreProperties>
</file>