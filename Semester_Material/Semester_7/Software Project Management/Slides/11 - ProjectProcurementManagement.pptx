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6"/>
  </p:notesMasterIdLst>
  <p:handoutMasterIdLst>
    <p:handoutMasterId r:id="rId17"/>
  </p:handoutMasterIdLst>
  <p:sldIdLst>
    <p:sldId id="265" r:id="rId2"/>
    <p:sldId id="309" r:id="rId3"/>
    <p:sldId id="310" r:id="rId4"/>
    <p:sldId id="311" r:id="rId5"/>
    <p:sldId id="312" r:id="rId6"/>
    <p:sldId id="317" r:id="rId7"/>
    <p:sldId id="319" r:id="rId8"/>
    <p:sldId id="320" r:id="rId9"/>
    <p:sldId id="322" r:id="rId10"/>
    <p:sldId id="316" r:id="rId11"/>
    <p:sldId id="299" r:id="rId12"/>
    <p:sldId id="323" r:id="rId13"/>
    <p:sldId id="304" r:id="rId14"/>
    <p:sldId id="307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4595" autoAdjust="0"/>
  </p:normalViewPr>
  <p:slideViewPr>
    <p:cSldViewPr>
      <p:cViewPr varScale="1">
        <p:scale>
          <a:sx n="60" d="100"/>
          <a:sy n="60" d="100"/>
        </p:scale>
        <p:origin x="146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7169CEDF-0E1D-40DB-90D2-1BA8449902C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F73702B9-1FB7-4D73-BE57-5194FC39EDA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9636" name="Rectangle 4">
            <a:extLst>
              <a:ext uri="{FF2B5EF4-FFF2-40B4-BE49-F238E27FC236}">
                <a16:creationId xmlns:a16="http://schemas.microsoft.com/office/drawing/2014/main" id="{73AD7710-C19E-4BE2-AC32-6FD3BE628AB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9637" name="Rectangle 5">
            <a:extLst>
              <a:ext uri="{FF2B5EF4-FFF2-40B4-BE49-F238E27FC236}">
                <a16:creationId xmlns:a16="http://schemas.microsoft.com/office/drawing/2014/main" id="{1C3CC30D-073B-4257-BCE4-651F6C953F3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0CD19A09-5750-4C4F-8BAA-4687B0BDC8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C305B3C9-F681-4D76-A97C-F21496F95B9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68E19801-D955-4B0D-B5FD-D11A33CB68B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4F848370-AA0F-4357-BACE-75E7D0BFF5F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E3EB36C3-74DF-4EEB-B453-8E85A9A6FC2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4F28121B-68E7-40BD-A46B-E3C3A2F0724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6567" name="Rectangle 7">
            <a:extLst>
              <a:ext uri="{FF2B5EF4-FFF2-40B4-BE49-F238E27FC236}">
                <a16:creationId xmlns:a16="http://schemas.microsoft.com/office/drawing/2014/main" id="{350CFD20-2296-44A6-BF87-8534E6CF23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9F0A886F-679C-4A3D-82B0-F4D159C897A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74AE-007F-4B05-B2C2-81C48A0B548F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CSE494-SoftwareProjectManagement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82D-C459-4BF4-BFF2-F8760BB728D4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480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D960C-B660-4F9E-BF2F-8C80FD93319B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CSE494-SoftwareProjectManagement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4A3C-D903-4C50-BF42-983DB50980F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198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945E-DE9B-46D1-910B-EF3CEF514872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CSE494-SoftwareProjectManagement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6EF3-2162-4EC8-960E-60B4C9FED7EF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331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B3807-EEB5-44A9-9CBF-C31AA05A0EE3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CSE494-SoftwareProjectManagement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B505-EF87-4A22-BFB2-0ED36E17CD6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6444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2424-DCCF-4F3B-B5D5-73058393FD65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CSE494-SoftwareProjectManagement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3BB93-7A95-4B2B-B23F-EF9407F8A0F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909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E15EE-D7E5-4BEE-A46B-6A47F7A8690D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CSE494-SoftwareProjectManagement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262B4-565F-4396-906E-B51184D067B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9977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F27DA-49BB-4F53-89B4-D66377CC80B5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en-US"/>
              <a:t>CSE494-SoftwareProjectManagement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5B34-0941-4AF5-A553-956ECBDE1A7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0031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E2C4F2C-1606-44D4-84FA-FE57C075FC09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altLang="en-US"/>
              <a:t>CSE494-SoftwareProjectManagement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7B32FAF-44BE-48F7-A463-626741ACD0F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1783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4D518-C46A-4B62-AE83-05FBD0762B2F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CSE494-SoftwareProjectManagement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E34A0-4DAC-4DD7-BDCB-F53D9FC5F20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775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4629B-6D7A-41A5-B889-3989AD9B5155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CSE494-SoftwareProjectManagement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6FFA-9B7C-4C3C-BCA7-FB52A191FDA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4158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2EEA-1E60-4390-8881-23DE3EF8D50E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CSE494-SoftwareProjectManagement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ABA13-4B8A-419C-AFB1-9BF9F2390AC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129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EBEAA9A-8AE4-46D2-A42B-208C6DFAA97A}" type="datetime1">
              <a:rPr lang="en-US" altLang="en-US" smtClean="0"/>
              <a:t>11/21/2024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altLang="en-US"/>
              <a:t>CSE494-SoftwareProjectManagement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55E6E95-5CA2-4C4A-ACBE-97740D0D1A8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15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>
            <a:extLst>
              <a:ext uri="{FF2B5EF4-FFF2-40B4-BE49-F238E27FC236}">
                <a16:creationId xmlns:a16="http://schemas.microsoft.com/office/drawing/2014/main" id="{B6ADE046-FEDD-402A-B05A-EE9714A0E97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dirty="0"/>
              <a:t/>
            </a:r>
            <a:br>
              <a:rPr lang="en-US" altLang="en-US" sz="4000" dirty="0"/>
            </a:br>
            <a:r>
              <a:rPr lang="en-US" altLang="en-US" sz="4800" dirty="0"/>
              <a:t>Project Procurement Management</a:t>
            </a:r>
            <a:endParaRPr lang="en-US" altLang="en-US" sz="400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519108E-A4D9-46CD-A2ED-924058A1F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038" y="4455620"/>
            <a:ext cx="7543800" cy="1792779"/>
          </a:xfrm>
        </p:spPr>
        <p:txBody>
          <a:bodyPr>
            <a:normAutofit/>
          </a:bodyPr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5C4371-1DD0-4CFC-9406-6BFFA28D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1FF4-0A37-4CA0-BC72-D1837CEFD71D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F292A9-4016-4F58-AAB5-9170FAC79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CSE494-SoftwareProjectManagement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30CD0-FFD2-4D30-B66D-F956AFA1E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82D-C459-4BF4-BFF2-F8760BB728D4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Project </a:t>
            </a:r>
            <a:r>
              <a:rPr lang="en-US" sz="3600" b="1" dirty="0" smtClean="0"/>
              <a:t>Procurement Management 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It covers </a:t>
            </a:r>
            <a:r>
              <a:rPr lang="en-US" dirty="0"/>
              <a:t>all aspects of obtaining the necessary goods and services for a project</a:t>
            </a:r>
            <a:r>
              <a:rPr lang="en-US" dirty="0" smtClean="0"/>
              <a:t>.</a:t>
            </a:r>
            <a:r>
              <a:rPr lang="en-US" dirty="0"/>
              <a:t> </a:t>
            </a:r>
            <a:r>
              <a:rPr lang="en-US" dirty="0" smtClean="0"/>
              <a:t>It includes</a:t>
            </a:r>
          </a:p>
          <a:p>
            <a:pPr lvl="1"/>
            <a:r>
              <a:rPr lang="en-US" sz="2000" dirty="0" smtClean="0"/>
              <a:t> Developing </a:t>
            </a:r>
            <a:r>
              <a:rPr lang="en-US" sz="2000" dirty="0"/>
              <a:t>procurement </a:t>
            </a:r>
            <a:r>
              <a:rPr lang="en-US" sz="2000" dirty="0" smtClean="0"/>
              <a:t>strategies</a:t>
            </a:r>
          </a:p>
          <a:p>
            <a:pPr lvl="1"/>
            <a:r>
              <a:rPr lang="en-US" sz="2000" dirty="0" smtClean="0"/>
              <a:t> </a:t>
            </a:r>
            <a:r>
              <a:rPr lang="en-US" sz="2000" dirty="0"/>
              <a:t>I</a:t>
            </a:r>
            <a:r>
              <a:rPr lang="en-US" sz="2000" dirty="0" smtClean="0"/>
              <a:t>ssuing </a:t>
            </a:r>
            <a:r>
              <a:rPr lang="en-US" sz="2000" dirty="0"/>
              <a:t>tenders and requests for proposals (RFPs</a:t>
            </a:r>
            <a:r>
              <a:rPr lang="en-US" sz="2000" dirty="0" smtClean="0"/>
              <a:t>)</a:t>
            </a:r>
          </a:p>
          <a:p>
            <a:pPr lvl="1"/>
            <a:r>
              <a:rPr lang="en-US" sz="2000" dirty="0" smtClean="0"/>
              <a:t> Selecting </a:t>
            </a:r>
            <a:r>
              <a:rPr lang="en-US" sz="2000" dirty="0"/>
              <a:t>suppliers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 </a:t>
            </a:r>
            <a:r>
              <a:rPr lang="en-US" sz="2000" dirty="0"/>
              <a:t>C</a:t>
            </a:r>
            <a:r>
              <a:rPr lang="en-US" sz="2000" dirty="0" smtClean="0"/>
              <a:t>ontract </a:t>
            </a:r>
            <a:r>
              <a:rPr lang="en-US" sz="2000" dirty="0"/>
              <a:t>negotiations and management, as well as supplier quality assurance</a:t>
            </a:r>
            <a:r>
              <a:rPr lang="en-US" sz="2000" dirty="0" smtClean="0"/>
              <a:t>.</a:t>
            </a:r>
          </a:p>
          <a:p>
            <a:r>
              <a:rPr lang="en-US" dirty="0"/>
              <a:t>Project procurement management includes three primary processes. These are:</a:t>
            </a:r>
          </a:p>
          <a:p>
            <a:pPr marL="201168" lvl="1" indent="0">
              <a:buNone/>
            </a:pPr>
            <a:r>
              <a:rPr lang="en-US" sz="2000" b="1" dirty="0" smtClean="0"/>
              <a:t>   Plan </a:t>
            </a:r>
            <a:r>
              <a:rPr lang="en-US" sz="2000" b="1" dirty="0"/>
              <a:t>procurements</a:t>
            </a:r>
          </a:p>
          <a:p>
            <a:pPr marL="292608" lvl="1" indent="0">
              <a:buNone/>
            </a:pPr>
            <a:r>
              <a:rPr lang="en-US" sz="2000" b="1" dirty="0" smtClean="0"/>
              <a:t> Conduct </a:t>
            </a:r>
            <a:r>
              <a:rPr lang="en-US" sz="2000" b="1" dirty="0"/>
              <a:t>procurements</a:t>
            </a:r>
          </a:p>
          <a:p>
            <a:pPr marL="292608" lvl="1" indent="0">
              <a:buNone/>
            </a:pPr>
            <a:r>
              <a:rPr lang="en-US" sz="2000" b="1" dirty="0" smtClean="0"/>
              <a:t> Control</a:t>
            </a:r>
            <a:r>
              <a:rPr lang="en-US" sz="2000" b="1" dirty="0"/>
              <a:t> </a:t>
            </a:r>
            <a:r>
              <a:rPr lang="en-US" sz="2000" b="1" dirty="0" smtClean="0"/>
              <a:t> </a:t>
            </a:r>
            <a:r>
              <a:rPr lang="en-US" sz="2000" b="1" dirty="0"/>
              <a:t>procurements</a:t>
            </a:r>
          </a:p>
          <a:p>
            <a:pPr marL="384048" lvl="2" indent="0">
              <a:buNone/>
            </a:pPr>
            <a:endParaRPr lang="en-GB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D960C-B660-4F9E-BF2F-8C80FD93319B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CSE494-SoftwareProjectManagement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4A3C-D903-4C50-BF42-983DB50980FA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153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 smtClean="0"/>
              <a:t>1 Plan Procurement Management</a:t>
            </a:r>
            <a:endParaRPr lang="en-GB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first step in successful project procurement management is making a plan. </a:t>
            </a:r>
            <a:endParaRPr lang="en-US" dirty="0" smtClean="0"/>
          </a:p>
          <a:p>
            <a:pPr algn="just"/>
            <a:r>
              <a:rPr lang="en-US" dirty="0"/>
              <a:t>Plan Procurement Management is the process of </a:t>
            </a:r>
            <a:r>
              <a:rPr lang="en-US" b="1" dirty="0"/>
              <a:t>documenting project procurement decisions</a:t>
            </a:r>
            <a:r>
              <a:rPr lang="en-US" dirty="0"/>
              <a:t>, </a:t>
            </a:r>
            <a:r>
              <a:rPr lang="en-US" b="1" dirty="0"/>
              <a:t>specifying the </a:t>
            </a:r>
            <a:r>
              <a:rPr lang="en-US" b="1" dirty="0" smtClean="0"/>
              <a:t>approach</a:t>
            </a:r>
            <a:r>
              <a:rPr lang="en-US" dirty="0" smtClean="0"/>
              <a:t>, </a:t>
            </a:r>
            <a:r>
              <a:rPr lang="en-US" dirty="0"/>
              <a:t>and </a:t>
            </a:r>
            <a:r>
              <a:rPr lang="en-US" b="1" dirty="0"/>
              <a:t>identifying potential sellers</a:t>
            </a:r>
            <a:r>
              <a:rPr lang="en-US" b="1" dirty="0" smtClean="0"/>
              <a:t>.</a:t>
            </a:r>
          </a:p>
          <a:p>
            <a:pPr algn="just"/>
            <a:r>
              <a:rPr lang="en-US" dirty="0" smtClean="0"/>
              <a:t>This </a:t>
            </a:r>
            <a:r>
              <a:rPr lang="en-US" dirty="0"/>
              <a:t>includes planning for the following</a:t>
            </a:r>
            <a:r>
              <a:rPr lang="en-US" dirty="0" smtClean="0"/>
              <a:t>:</a:t>
            </a:r>
          </a:p>
          <a:p>
            <a:pPr algn="just"/>
            <a:r>
              <a:rPr lang="en-US" dirty="0"/>
              <a:t>What are all the materials and services you will require for the project? </a:t>
            </a:r>
            <a:endParaRPr lang="en-US" dirty="0" smtClean="0"/>
          </a:p>
          <a:p>
            <a:pPr algn="just"/>
            <a:r>
              <a:rPr lang="en-US" dirty="0"/>
              <a:t>What can be provided by your company, and what should you purchase elsewhere? This is called the </a:t>
            </a:r>
            <a:r>
              <a:rPr lang="en-US" b="1" dirty="0"/>
              <a:t>make vs. buy decision</a:t>
            </a:r>
            <a:r>
              <a:rPr lang="en-US" b="1" dirty="0" smtClean="0"/>
              <a:t>.</a:t>
            </a:r>
          </a:p>
          <a:p>
            <a:pPr algn="just"/>
            <a:r>
              <a:rPr lang="en-US" dirty="0"/>
              <a:t>What are your contract requirements for outside purchases?</a:t>
            </a:r>
          </a:p>
          <a:p>
            <a:pPr algn="just"/>
            <a:endParaRPr lang="en-US" dirty="0" smtClean="0"/>
          </a:p>
          <a:p>
            <a:pPr algn="just"/>
            <a:endParaRPr lang="en-GB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D960C-B660-4F9E-BF2F-8C80FD93319B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CSE494-SoftwareProjectManagement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4A3C-D903-4C50-BF42-983DB50980FA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420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1 Plan Procurement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8092441" cy="40233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Do you want a </a:t>
            </a:r>
            <a:r>
              <a:rPr lang="en-US" dirty="0" smtClean="0"/>
              <a:t>fixed-price </a:t>
            </a:r>
            <a:r>
              <a:rPr lang="en-US" dirty="0"/>
              <a:t>contract or cost-reimbursable?</a:t>
            </a:r>
          </a:p>
          <a:p>
            <a:r>
              <a:rPr lang="en-US" dirty="0"/>
              <a:t>What about legal terms and conditions that must be met</a:t>
            </a:r>
            <a:r>
              <a:rPr lang="en-US" dirty="0" smtClean="0"/>
              <a:t>?</a:t>
            </a:r>
          </a:p>
          <a:p>
            <a:r>
              <a:rPr lang="en-US" dirty="0"/>
              <a:t>Do you have a preferred supplier</a:t>
            </a:r>
            <a:r>
              <a:rPr lang="en-US" dirty="0" smtClean="0"/>
              <a:t>?</a:t>
            </a:r>
          </a:p>
          <a:p>
            <a:r>
              <a:rPr lang="en-US" b="1" dirty="0"/>
              <a:t>Defining roles and responsibilities related to procurement should be done early in the Plan Procurement Management process</a:t>
            </a:r>
            <a:r>
              <a:rPr lang="en-US" b="1" dirty="0" smtClean="0"/>
              <a:t>.</a:t>
            </a:r>
            <a:r>
              <a:rPr lang="en-US" dirty="0"/>
              <a:t> These responsibilities should be documented in the procurement management plan</a:t>
            </a:r>
            <a:r>
              <a:rPr lang="en-US" dirty="0" smtClean="0"/>
              <a:t>.</a:t>
            </a:r>
          </a:p>
          <a:p>
            <a:r>
              <a:rPr lang="en-GB" dirty="0"/>
              <a:t>Typical steps might be:</a:t>
            </a:r>
            <a:endParaRPr lang="en-US" b="1" dirty="0" smtClean="0"/>
          </a:p>
          <a:p>
            <a:r>
              <a:rPr lang="en-US" dirty="0"/>
              <a:t>Prepare the procurement </a:t>
            </a:r>
            <a:r>
              <a:rPr lang="en-US" b="1" dirty="0"/>
              <a:t>statement of work (SOW</a:t>
            </a:r>
            <a:r>
              <a:rPr lang="en-US" b="1" dirty="0" smtClean="0"/>
              <a:t>), </a:t>
            </a:r>
            <a:r>
              <a:rPr lang="en-US" dirty="0" smtClean="0"/>
              <a:t>Prepare </a:t>
            </a:r>
            <a:r>
              <a:rPr lang="en-US" dirty="0"/>
              <a:t>a high-level cost estimate to determine the </a:t>
            </a:r>
            <a:r>
              <a:rPr lang="en-US" dirty="0" smtClean="0"/>
              <a:t>budget, </a:t>
            </a:r>
            <a:r>
              <a:rPr lang="en-GB" dirty="0"/>
              <a:t>Advertise the </a:t>
            </a:r>
            <a:r>
              <a:rPr lang="en-GB" dirty="0" smtClean="0"/>
              <a:t>opportunity, </a:t>
            </a:r>
            <a:r>
              <a:rPr lang="en-US" dirty="0"/>
              <a:t>Identify a short list of qualified sellers, Prepare </a:t>
            </a:r>
            <a:r>
              <a:rPr lang="en-US" dirty="0" smtClean="0"/>
              <a:t>bid </a:t>
            </a:r>
            <a:r>
              <a:rPr lang="en-US" dirty="0"/>
              <a:t>documents, Prepare and submit proposals by the </a:t>
            </a:r>
            <a:r>
              <a:rPr lang="en-US" dirty="0" smtClean="0"/>
              <a:t>seller</a:t>
            </a:r>
            <a:r>
              <a:rPr lang="en-US" dirty="0"/>
              <a:t>, Conduct a technical evaluation of the proposals including </a:t>
            </a:r>
            <a:r>
              <a:rPr lang="en-US" dirty="0" smtClean="0"/>
              <a:t>quality and Finalize </a:t>
            </a:r>
            <a:r>
              <a:rPr lang="en-US" dirty="0"/>
              <a:t>negotiations and sign </a:t>
            </a:r>
            <a:r>
              <a:rPr lang="en-US" dirty="0" smtClean="0"/>
              <a:t>the contract </a:t>
            </a:r>
            <a:r>
              <a:rPr lang="en-US" dirty="0"/>
              <a:t>between the buyer and the seller.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D960C-B660-4F9E-BF2F-8C80FD93319B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CSE494-SoftwareProjectManagement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4A3C-D903-4C50-BF42-983DB50980FA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2668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 smtClean="0"/>
              <a:t>1 Plan Procurement Management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A</a:t>
            </a:r>
            <a:r>
              <a:rPr lang="en-US" altLang="en-US" b="1" dirty="0"/>
              <a:t> contract </a:t>
            </a:r>
            <a:r>
              <a:rPr lang="en-US" altLang="en-US" dirty="0"/>
              <a:t>is</a:t>
            </a:r>
            <a:r>
              <a:rPr lang="en-US" altLang="en-US" b="1" dirty="0"/>
              <a:t> </a:t>
            </a:r>
            <a:r>
              <a:rPr lang="en-US" altLang="en-US" dirty="0"/>
              <a:t>a </a:t>
            </a:r>
            <a:r>
              <a:rPr lang="en-US" altLang="en-US" b="1" dirty="0"/>
              <a:t>mutually binding agreement </a:t>
            </a:r>
            <a:r>
              <a:rPr lang="en-US" altLang="en-US" dirty="0"/>
              <a:t>that obligates the seller to provide the specified products or services and obligates the buyer to pay for them.</a:t>
            </a:r>
          </a:p>
          <a:p>
            <a:r>
              <a:rPr lang="en-US" b="1" dirty="0"/>
              <a:t>Fixed-price contracts. </a:t>
            </a:r>
            <a:r>
              <a:rPr lang="en-US" dirty="0"/>
              <a:t>This category of contracts involves </a:t>
            </a:r>
            <a:r>
              <a:rPr lang="en-US" b="1" dirty="0"/>
              <a:t>setting a fixed total price for a defined product, service, or result to be provided. </a:t>
            </a:r>
            <a:r>
              <a:rPr lang="en-US" dirty="0"/>
              <a:t>These contracts should be used when the requirements are well-defined and no significant changes to the scope are expected.</a:t>
            </a:r>
            <a:endParaRPr lang="en-US" altLang="en-US" dirty="0"/>
          </a:p>
          <a:p>
            <a:r>
              <a:rPr lang="en-US" b="1" dirty="0" smtClean="0"/>
              <a:t>Cost-reimbursement </a:t>
            </a:r>
            <a:r>
              <a:rPr lang="en-US" b="1" dirty="0"/>
              <a:t>contracts </a:t>
            </a:r>
            <a:r>
              <a:rPr lang="en-US" dirty="0"/>
              <a:t>are contracts where the contractor is reimbursed for the actual costs incurred in performing the work, plus a fee or </a:t>
            </a:r>
            <a:r>
              <a:rPr lang="en-US" dirty="0" smtClean="0"/>
              <a:t>profit. This </a:t>
            </a:r>
            <a:r>
              <a:rPr lang="en-US" dirty="0"/>
              <a:t>type should be used if the scope of work is expected to change significantly during the execution of the contract. </a:t>
            </a:r>
            <a:endParaRPr lang="en-US" dirty="0" smtClean="0"/>
          </a:p>
          <a:p>
            <a:r>
              <a:rPr lang="en-US" b="1" dirty="0" smtClean="0"/>
              <a:t>Time &amp; Material Contract: </a:t>
            </a:r>
            <a:r>
              <a:rPr lang="en-US" dirty="0" smtClean="0"/>
              <a:t>Hybrid. Used for Staff augmentation or </a:t>
            </a:r>
            <a:r>
              <a:rPr lang="en-PK" dirty="0"/>
              <a:t>acquisition of experts, and any outside support when a precise statement of work cannot be quickly prescribed.</a:t>
            </a:r>
            <a:endParaRPr lang="en-GB" dirty="0"/>
          </a:p>
          <a:p>
            <a:r>
              <a:rPr lang="en-US" dirty="0" smtClean="0"/>
              <a:t> </a:t>
            </a:r>
            <a:endParaRPr lang="en-GB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D960C-B660-4F9E-BF2F-8C80FD93319B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CSE494-SoftwareProjectManagement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4A3C-D903-4C50-BF42-983DB50980FA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5890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Contract Statement of Work(SOW)</a:t>
            </a:r>
            <a:endParaRPr lang="en-GB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Statement of Work, often known as an SOW, is a </a:t>
            </a:r>
            <a:r>
              <a:rPr lang="en-US" b="1" dirty="0"/>
              <a:t>business agreement that outlines deliverables and project goals</a:t>
            </a:r>
            <a:r>
              <a:rPr lang="en-US" b="1" dirty="0" smtClean="0"/>
              <a:t>.</a:t>
            </a:r>
          </a:p>
          <a:p>
            <a:r>
              <a:rPr lang="en-US" dirty="0"/>
              <a:t> </a:t>
            </a:r>
            <a:r>
              <a:rPr lang="en-US" b="1" dirty="0"/>
              <a:t>It’s created to keep everyone on the same page about deadlines, scope of work, and project expectations. </a:t>
            </a:r>
            <a:endParaRPr lang="en-US" b="1" dirty="0" smtClean="0"/>
          </a:p>
          <a:p>
            <a:r>
              <a:rPr lang="en-US" b="1" dirty="0"/>
              <a:t>A good SOW functions as both a contract </a:t>
            </a:r>
            <a:r>
              <a:rPr lang="en-US" b="1" dirty="0" smtClean="0"/>
              <a:t>agreement(if </a:t>
            </a:r>
            <a:r>
              <a:rPr lang="en-US" dirty="0" smtClean="0"/>
              <a:t>it is part of a contract) </a:t>
            </a:r>
            <a:r>
              <a:rPr lang="en-US" dirty="0"/>
              <a:t>and a project management tool. </a:t>
            </a:r>
            <a:endParaRPr lang="en-US" dirty="0" smtClean="0"/>
          </a:p>
          <a:p>
            <a:r>
              <a:rPr lang="en-US" dirty="0"/>
              <a:t>For example, if your company is hiring a freelance writer to create blog posts for your website, you might include an SOW with their contract to communicate expectations for a project’s workflow, deadlines, and payment details.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D960C-B660-4F9E-BF2F-8C80FD93319B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CSE494-SoftwareProjectManagement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4A3C-D903-4C50-BF42-983DB50980FA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557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Statement of Work(SOW)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components that most SOWs have in common.</a:t>
            </a:r>
          </a:p>
          <a:p>
            <a:pPr lvl="1"/>
            <a:r>
              <a:rPr lang="en-US" sz="2000" dirty="0" smtClean="0"/>
              <a:t>Introduction</a:t>
            </a:r>
            <a:endParaRPr lang="en-US" sz="2000" dirty="0"/>
          </a:p>
          <a:p>
            <a:pPr lvl="1"/>
            <a:r>
              <a:rPr lang="en-US" sz="2000" dirty="0"/>
              <a:t>Objectives</a:t>
            </a:r>
          </a:p>
          <a:p>
            <a:pPr lvl="1"/>
            <a:r>
              <a:rPr lang="en-US" sz="2000" dirty="0"/>
              <a:t>Scope of Work</a:t>
            </a:r>
          </a:p>
          <a:p>
            <a:pPr lvl="1"/>
            <a:r>
              <a:rPr lang="en-US" sz="2000" dirty="0"/>
              <a:t>Deliverables &amp; Timeline</a:t>
            </a:r>
          </a:p>
          <a:p>
            <a:pPr lvl="1"/>
            <a:r>
              <a:rPr lang="en-US" sz="2000" dirty="0"/>
              <a:t>Payment Terms &amp; Schedule</a:t>
            </a:r>
          </a:p>
          <a:p>
            <a:pPr lvl="1"/>
            <a:r>
              <a:rPr lang="en-US" sz="2000" dirty="0"/>
              <a:t>Project Resources</a:t>
            </a:r>
          </a:p>
          <a:p>
            <a:pPr lvl="1"/>
            <a:r>
              <a:rPr lang="en-US" sz="2000" dirty="0"/>
              <a:t>Project Risks</a:t>
            </a:r>
          </a:p>
          <a:p>
            <a:pPr lvl="1"/>
            <a:r>
              <a:rPr lang="en-US" sz="2000" dirty="0"/>
              <a:t>Terms &amp; Conditions/Special Requirements</a:t>
            </a:r>
          </a:p>
          <a:p>
            <a:pPr lvl="1"/>
            <a:r>
              <a:rPr lang="en-US" sz="2000" dirty="0"/>
              <a:t>Authorization</a:t>
            </a:r>
            <a:endParaRPr lang="en-GB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D960C-B660-4F9E-BF2F-8C80FD93319B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CSE494-SoftwareProjectManagement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4A3C-D903-4C50-BF42-983DB50980FA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191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355050-64DB-4548-9EE7-3BB80870D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2D5F5-AA87-4F6D-877F-C6BC7ACEBAFB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D431E91-5E86-4A17-B8A6-8018EF6BD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CSE494-SoftwareProjectManagement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047FBC8-45AB-45B4-9B7E-76FF23B2C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AB8-7451-4FE2-A82C-306859FF7549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930EECBE-D26F-4C30-A80D-F5EFEDF0233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02102" y="3517"/>
            <a:ext cx="8284698" cy="1449387"/>
          </a:xfrm>
        </p:spPr>
        <p:txBody>
          <a:bodyPr>
            <a:normAutofit/>
          </a:bodyPr>
          <a:lstStyle/>
          <a:p>
            <a:r>
              <a:rPr lang="en-US" altLang="en-US" sz="4000" dirty="0" smtClean="0"/>
              <a:t>Statement </a:t>
            </a:r>
            <a:r>
              <a:rPr lang="en-US" altLang="en-US" sz="4000" dirty="0"/>
              <a:t>of Work (SOW) Template</a:t>
            </a:r>
          </a:p>
        </p:txBody>
      </p:sp>
      <p:graphicFrame>
        <p:nvGraphicFramePr>
          <p:cNvPr id="346115" name="Object 3">
            <a:extLst>
              <a:ext uri="{FF2B5EF4-FFF2-40B4-BE49-F238E27FC236}">
                <a16:creationId xmlns:a16="http://schemas.microsoft.com/office/drawing/2014/main" id="{A3079DDD-210C-42C9-BDD8-7AAEF939F8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1447800"/>
          <a:ext cx="8305800" cy="496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15" name="Document" r:id="rId3" imgW="5638680" imgH="3375360" progId="Word.Document.8">
                  <p:embed/>
                </p:oleObj>
              </mc:Choice>
              <mc:Fallback>
                <p:oleObj name="Document" r:id="rId3" imgW="5638680" imgH="3375360" progId="Word.Document.8">
                  <p:embed/>
                  <p:pic>
                    <p:nvPicPr>
                      <p:cNvPr id="346115" name="Object 3">
                        <a:extLst>
                          <a:ext uri="{FF2B5EF4-FFF2-40B4-BE49-F238E27FC236}">
                            <a16:creationId xmlns:a16="http://schemas.microsoft.com/office/drawing/2014/main" id="{A3079DDD-210C-42C9-BDD8-7AAEF939F8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447800"/>
                        <a:ext cx="8305800" cy="496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390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Request For Proposal(RFP)</a:t>
            </a:r>
            <a:endParaRPr lang="en-GB" sz="36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5550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Request for Proposal in </a:t>
            </a:r>
            <a:r>
              <a:rPr lang="en-US" dirty="0" smtClean="0"/>
              <a:t>Procurement </a:t>
            </a:r>
            <a:r>
              <a:rPr lang="en-US" dirty="0"/>
              <a:t>is </a:t>
            </a:r>
            <a:r>
              <a:rPr lang="en-US" b="1" dirty="0"/>
              <a:t>a document used to obtain proposals from eligible suppliers</a:t>
            </a:r>
            <a:r>
              <a:rPr lang="en-US" dirty="0"/>
              <a:t> </a:t>
            </a:r>
            <a:r>
              <a:rPr lang="en-US" b="1" dirty="0"/>
              <a:t>and vendors </a:t>
            </a:r>
            <a:r>
              <a:rPr lang="en-US" dirty="0"/>
              <a:t>for a </a:t>
            </a:r>
            <a:r>
              <a:rPr lang="en-US" b="1" dirty="0"/>
              <a:t>particular project or business</a:t>
            </a:r>
            <a:r>
              <a:rPr lang="en-US" b="1" dirty="0" smtClean="0"/>
              <a:t>.</a:t>
            </a:r>
          </a:p>
          <a:p>
            <a:r>
              <a:rPr lang="en-US" dirty="0"/>
              <a:t>The following is the information included in a Request for Proposal in the procurement document:</a:t>
            </a:r>
          </a:p>
          <a:p>
            <a:r>
              <a:rPr lang="en-US" dirty="0"/>
              <a:t>Information about the project and the purpose of procurement.</a:t>
            </a:r>
          </a:p>
          <a:p>
            <a:r>
              <a:rPr lang="en-US" dirty="0"/>
              <a:t>Objectives, Requirements, and deadlines.</a:t>
            </a:r>
          </a:p>
          <a:p>
            <a:r>
              <a:rPr lang="en-US" dirty="0"/>
              <a:t>Technical Specifications needed for the project</a:t>
            </a:r>
          </a:p>
          <a:p>
            <a:r>
              <a:rPr lang="en-US" dirty="0"/>
              <a:t>Criteria to be followed for evaluation</a:t>
            </a:r>
          </a:p>
          <a:p>
            <a:r>
              <a:rPr lang="en-US" dirty="0"/>
              <a:t>Instructions regarding the submission of the proposal by the suppliers</a:t>
            </a:r>
          </a:p>
          <a:p>
            <a:r>
              <a:rPr lang="en-US" dirty="0"/>
              <a:t>The terms and conditions of the organization</a:t>
            </a:r>
          </a:p>
          <a:p>
            <a:r>
              <a:rPr lang="en-US" dirty="0"/>
              <a:t>Contact information of the procurement officer.</a:t>
            </a:r>
          </a:p>
          <a:p>
            <a:endParaRPr lang="en-US" dirty="0" smtClean="0"/>
          </a:p>
          <a:p>
            <a:endParaRPr lang="en-GB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F27DA-49BB-4F53-89B4-D66377CC80B5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CSE494-SoftwareProjectManagement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5B34-0941-4AF5-A553-956ECBDE1A7A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025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 smtClean="0"/>
              <a:t>2 Conduct Procurements</a:t>
            </a:r>
            <a:endParaRPr lang="en-GB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execution phase of project procurement management. It’s when the RFPs are released, bids are gathered, and selections are made</a:t>
            </a:r>
            <a:r>
              <a:rPr lang="en-US" dirty="0" smtClean="0"/>
              <a:t>.</a:t>
            </a:r>
          </a:p>
          <a:p>
            <a:r>
              <a:rPr lang="en-US" dirty="0"/>
              <a:t>Any vendor negotiations will occur during this phase, and then the agreed-upon contracts are signed. </a:t>
            </a:r>
            <a:endParaRPr lang="en-GB" dirty="0"/>
          </a:p>
          <a:p>
            <a:r>
              <a:rPr lang="en-GB" b="1" dirty="0" smtClean="0"/>
              <a:t>Outputs: </a:t>
            </a:r>
          </a:p>
          <a:p>
            <a:r>
              <a:rPr lang="en-GB" dirty="0" smtClean="0"/>
              <a:t>1 Selected Sellers</a:t>
            </a:r>
          </a:p>
          <a:p>
            <a:r>
              <a:rPr lang="en-GB" dirty="0" smtClean="0"/>
              <a:t>2 Agreements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D960C-B660-4F9E-BF2F-8C80FD93319B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CSE494-SoftwareProjectManagement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4A3C-D903-4C50-BF42-983DB50980FA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906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>
            <a:extLst>
              <a:ext uri="{FF2B5EF4-FFF2-40B4-BE49-F238E27FC236}">
                <a16:creationId xmlns:a16="http://schemas.microsoft.com/office/drawing/2014/main" id="{65AA8D8D-5FF5-433C-88C1-C7D7DAC3FB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/>
              <a:t>Selecting Sellers</a:t>
            </a:r>
          </a:p>
        </p:txBody>
      </p:sp>
      <p:sp>
        <p:nvSpPr>
          <p:cNvPr id="381955" name="Rectangle 3">
            <a:extLst>
              <a:ext uri="{FF2B5EF4-FFF2-40B4-BE49-F238E27FC236}">
                <a16:creationId xmlns:a16="http://schemas.microsoft.com/office/drawing/2014/main" id="{A3069C0F-F0E0-487F-896B-AE50482A56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100000"/>
              </a:spcBef>
            </a:pPr>
            <a:r>
              <a:rPr lang="en-US" altLang="en-US" sz="2400" dirty="0"/>
              <a:t>Also called source selection.</a:t>
            </a:r>
          </a:p>
          <a:p>
            <a:pPr>
              <a:spcBef>
                <a:spcPct val="100000"/>
              </a:spcBef>
            </a:pPr>
            <a:r>
              <a:rPr lang="en-US" altLang="en-US" sz="2400" dirty="0"/>
              <a:t>Involves:</a:t>
            </a:r>
          </a:p>
          <a:p>
            <a:pPr lvl="1">
              <a:spcBef>
                <a:spcPct val="100000"/>
              </a:spcBef>
            </a:pPr>
            <a:r>
              <a:rPr lang="en-US" altLang="en-US" sz="2000" dirty="0"/>
              <a:t>Evaluating proposals or bids from sellers.</a:t>
            </a:r>
          </a:p>
          <a:p>
            <a:pPr lvl="1">
              <a:spcBef>
                <a:spcPct val="100000"/>
              </a:spcBef>
            </a:pPr>
            <a:r>
              <a:rPr lang="en-US" altLang="en-US" sz="2000" dirty="0"/>
              <a:t>Choosing the best one.</a:t>
            </a:r>
          </a:p>
          <a:p>
            <a:pPr lvl="1">
              <a:spcBef>
                <a:spcPct val="100000"/>
              </a:spcBef>
            </a:pPr>
            <a:r>
              <a:rPr lang="en-US" altLang="en-US" sz="2000" dirty="0"/>
              <a:t>Negotiating the contract.</a:t>
            </a:r>
          </a:p>
          <a:p>
            <a:pPr lvl="1">
              <a:spcBef>
                <a:spcPct val="100000"/>
              </a:spcBef>
            </a:pPr>
            <a:r>
              <a:rPr lang="en-US" altLang="en-US" sz="2000" dirty="0"/>
              <a:t>Awarding the contract.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60C884-05F8-4C91-8E54-768DFF655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2B60-EE8C-4422-90F0-A98E697591EA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419AB-75C8-4B03-8B31-979E8EBDE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CSE494-SoftwareProjectManagement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6A677-DFFB-49B0-88DE-D99D652DB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F19A-F9FA-41AC-98CE-9F1709A4AB32}" type="slidenum">
              <a:rPr lang="en-US" altLang="en-US"/>
              <a:pPr/>
              <a:t>11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 smtClean="0"/>
              <a:t>3 Control Procurements</a:t>
            </a:r>
            <a:endParaRPr lang="en-GB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026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Control Procurements is the process of </a:t>
            </a:r>
            <a:r>
              <a:rPr lang="en-US" b="1" dirty="0"/>
              <a:t>managing procurement relationships</a:t>
            </a:r>
            <a:r>
              <a:rPr lang="en-US" dirty="0"/>
              <a:t>; </a:t>
            </a:r>
            <a:r>
              <a:rPr lang="en-US" b="1" dirty="0"/>
              <a:t>monitoring contract performance</a:t>
            </a:r>
            <a:r>
              <a:rPr lang="en-US" dirty="0"/>
              <a:t>, </a:t>
            </a:r>
            <a:r>
              <a:rPr lang="en-US" b="1" dirty="0" smtClean="0"/>
              <a:t>making </a:t>
            </a:r>
            <a:r>
              <a:rPr lang="en-US" b="1" dirty="0"/>
              <a:t>changes and corrections as appropriate</a:t>
            </a:r>
            <a:r>
              <a:rPr lang="en-US" dirty="0"/>
              <a:t>; and </a:t>
            </a:r>
            <a:r>
              <a:rPr lang="en-US" b="1" dirty="0"/>
              <a:t>closing out contracts</a:t>
            </a:r>
            <a:r>
              <a:rPr lang="en-US" dirty="0"/>
              <a:t>. </a:t>
            </a:r>
            <a:endParaRPr lang="en-GB" dirty="0" smtClean="0"/>
          </a:p>
          <a:p>
            <a:r>
              <a:rPr lang="en-GB" b="1" dirty="0" smtClean="0"/>
              <a:t>Output</a:t>
            </a:r>
          </a:p>
          <a:p>
            <a:r>
              <a:rPr lang="en-GB" b="1" dirty="0" smtClean="0"/>
              <a:t>Closed Procurements</a:t>
            </a:r>
          </a:p>
          <a:p>
            <a:r>
              <a:rPr lang="en-US" dirty="0" smtClean="0"/>
              <a:t>Involves completing and settling contracts and resolving any open items</a:t>
            </a:r>
          </a:p>
          <a:p>
            <a:r>
              <a:rPr lang="en-US" b="1" dirty="0" smtClean="0"/>
              <a:t>The project team should:</a:t>
            </a:r>
          </a:p>
          <a:p>
            <a:r>
              <a:rPr lang="en-US" dirty="0" smtClean="0"/>
              <a:t>Determine if all the work was completed correctly</a:t>
            </a:r>
          </a:p>
          <a:p>
            <a:r>
              <a:rPr lang="en-US" dirty="0" smtClean="0"/>
              <a:t>Updated records to reflect final results</a:t>
            </a:r>
          </a:p>
          <a:p>
            <a:r>
              <a:rPr lang="en-US" dirty="0" smtClean="0"/>
              <a:t>Archive information for future use</a:t>
            </a:r>
          </a:p>
          <a:p>
            <a:r>
              <a:rPr lang="en-US" dirty="0" smtClean="0"/>
              <a:t>The contract itself should include the requirements for the final acceptance and closure</a:t>
            </a:r>
            <a:r>
              <a:rPr lang="en-US" b="1" dirty="0" smtClean="0"/>
              <a:t>.</a:t>
            </a:r>
          </a:p>
          <a:p>
            <a:endParaRPr lang="en-GB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D960C-B660-4F9E-BF2F-8C80FD93319B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CSE494-SoftwareProjectManagement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4A3C-D903-4C50-BF42-983DB50980FA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9339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>
            <a:extLst>
              <a:ext uri="{FF2B5EF4-FFF2-40B4-BE49-F238E27FC236}">
                <a16:creationId xmlns:a16="http://schemas.microsoft.com/office/drawing/2014/main" id="{0C8A61B7-055C-4837-9014-A930D4379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Conclusion</a:t>
            </a:r>
          </a:p>
        </p:txBody>
      </p:sp>
      <p:sp>
        <p:nvSpPr>
          <p:cNvPr id="389123" name="Rectangle 3">
            <a:extLst>
              <a:ext uri="{FF2B5EF4-FFF2-40B4-BE49-F238E27FC236}">
                <a16:creationId xmlns:a16="http://schemas.microsoft.com/office/drawing/2014/main" id="{517A5304-6288-4C9F-9388-8DA98C2525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2959" y="1845734"/>
            <a:ext cx="7543801" cy="4402666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sz="2400"/>
              <a:t>Project procurement management involves acquiring goods and services for a project from outside the performing organization.</a:t>
            </a:r>
          </a:p>
          <a:p>
            <a:pPr algn="just">
              <a:lnSpc>
                <a:spcPct val="100000"/>
              </a:lnSpc>
            </a:pPr>
            <a:r>
              <a:rPr lang="en-US" altLang="en-US" sz="2400"/>
              <a:t>Processes include:</a:t>
            </a:r>
          </a:p>
          <a:p>
            <a:pPr lvl="1" algn="just">
              <a:lnSpc>
                <a:spcPct val="100000"/>
              </a:lnSpc>
            </a:pPr>
            <a:r>
              <a:rPr lang="en-US" altLang="en-US" sz="2000"/>
              <a:t>Planning purchases and acquisitions</a:t>
            </a:r>
          </a:p>
          <a:p>
            <a:pPr lvl="1" algn="just">
              <a:lnSpc>
                <a:spcPct val="100000"/>
              </a:lnSpc>
            </a:pPr>
            <a:r>
              <a:rPr lang="en-US" altLang="en-US" sz="2000"/>
              <a:t>Planning contracting</a:t>
            </a:r>
          </a:p>
          <a:p>
            <a:pPr lvl="1" algn="just">
              <a:lnSpc>
                <a:spcPct val="100000"/>
              </a:lnSpc>
            </a:pPr>
            <a:r>
              <a:rPr lang="en-US" altLang="en-US" sz="2000"/>
              <a:t>Requesting seller responses</a:t>
            </a:r>
          </a:p>
          <a:p>
            <a:pPr lvl="1" algn="just">
              <a:lnSpc>
                <a:spcPct val="100000"/>
              </a:lnSpc>
            </a:pPr>
            <a:r>
              <a:rPr lang="en-US" altLang="en-US" sz="2000"/>
              <a:t>Selecting sellers</a:t>
            </a:r>
          </a:p>
          <a:p>
            <a:pPr lvl="1" algn="just">
              <a:lnSpc>
                <a:spcPct val="100000"/>
              </a:lnSpc>
            </a:pPr>
            <a:r>
              <a:rPr lang="en-US" altLang="en-US" sz="2000"/>
              <a:t>Administering contracts</a:t>
            </a:r>
          </a:p>
          <a:p>
            <a:pPr lvl="1" algn="just">
              <a:lnSpc>
                <a:spcPct val="100000"/>
              </a:lnSpc>
            </a:pPr>
            <a:r>
              <a:rPr lang="en-US" altLang="en-US" sz="2000"/>
              <a:t>Closing contracts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458AAE-1EBA-4F46-9523-4D1EA54ED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32EF-DDC6-487F-90F8-F4E770004238}" type="datetime1">
              <a:rPr lang="en-US" smtClean="0"/>
              <a:t>11/21/2024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1236D-89BC-4440-A900-808EF9E33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CSE494-SoftwareProjectManagement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DC9B3-C9C9-4B87-8902-92935FBB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9F684-57EF-4EF2-ADC6-0C76CC002A46}" type="slidenum">
              <a:rPr lang="en-US" altLang="en-US"/>
              <a:pPr/>
              <a:t>13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C7BF-0B47-4E79-83C6-67955BC86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Reading</a:t>
            </a:r>
            <a:r>
              <a:rPr lang="en-US" dirty="0"/>
              <a:t> </a:t>
            </a:r>
            <a:r>
              <a:rPr lang="en-US" b="1" dirty="0">
                <a:latin typeface="Baskerville Old Face" panose="02020602080505020303" pitchFamily="18" charset="0"/>
              </a:rPr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DC546-52E5-41DA-B325-6605630D1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100" dirty="0"/>
          </a:p>
          <a:p>
            <a:r>
              <a:rPr lang="en-US" sz="2100" b="1" dirty="0"/>
              <a:t>Chapter 12: </a:t>
            </a:r>
            <a:r>
              <a:rPr lang="en-US" sz="2100" dirty="0"/>
              <a:t>Project Procurement Management </a:t>
            </a:r>
            <a:r>
              <a:rPr lang="en-US" dirty="0"/>
              <a:t>by PMBOK-Guide-5th-Edition-PMI</a:t>
            </a:r>
          </a:p>
          <a:p>
            <a:r>
              <a:rPr lang="en-US" dirty="0"/>
              <a:t>(Book, Lecture Slides and recorded lecture is already uploaded on resource link.)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02B09-1F9D-427A-B846-E2E1785EF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4BDD9-2E43-445F-839E-155E31213FE4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6F421-BEF6-4F37-B740-BDD253168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CSE494-SoftwareProjectManagement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EC7B5-5B0A-4C13-9C45-C564BA1F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BCB7-F020-4D66-B969-F77D7060AB5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1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1245</TotalTime>
  <Words>766</Words>
  <Application>Microsoft Office PowerPoint</Application>
  <PresentationFormat>On-screen Show (4:3)</PresentationFormat>
  <Paragraphs>136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Baskerville Old Face</vt:lpstr>
      <vt:lpstr>Calibri</vt:lpstr>
      <vt:lpstr>Calibri Light</vt:lpstr>
      <vt:lpstr>Times New Roman</vt:lpstr>
      <vt:lpstr>Retrospect</vt:lpstr>
      <vt:lpstr>Document</vt:lpstr>
      <vt:lpstr> Project Procurement Management</vt:lpstr>
      <vt:lpstr>Project Procurement Management </vt:lpstr>
      <vt:lpstr>1 Plan Procurement Management</vt:lpstr>
      <vt:lpstr>1 Plan Procurement Management</vt:lpstr>
      <vt:lpstr>1 Plan Procurement Management</vt:lpstr>
      <vt:lpstr>Contract Statement of Work(SOW)</vt:lpstr>
      <vt:lpstr>Statement of Work(SOW)</vt:lpstr>
      <vt:lpstr>Statement of Work (SOW) Template</vt:lpstr>
      <vt:lpstr>Request For Proposal(RFP)</vt:lpstr>
      <vt:lpstr>2 Conduct Procurements</vt:lpstr>
      <vt:lpstr>Selecting Sellers</vt:lpstr>
      <vt:lpstr>3 Control Procurements</vt:lpstr>
      <vt:lpstr>Conclusion</vt:lpstr>
      <vt:lpstr>Reading Assignment</vt:lpstr>
    </vt:vector>
  </TitlesOfParts>
  <Company>Augsburg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 Technology</dc:creator>
  <cp:lastModifiedBy>Humaira Afzal</cp:lastModifiedBy>
  <cp:revision>199</cp:revision>
  <dcterms:created xsi:type="dcterms:W3CDTF">2001-07-05T23:10:12Z</dcterms:created>
  <dcterms:modified xsi:type="dcterms:W3CDTF">2024-11-21T04:53:19Z</dcterms:modified>
</cp:coreProperties>
</file>