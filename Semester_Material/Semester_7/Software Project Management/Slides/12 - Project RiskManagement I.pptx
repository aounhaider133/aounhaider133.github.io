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24"/>
  </p:notesMasterIdLst>
  <p:handoutMasterIdLst>
    <p:handoutMasterId r:id="rId25"/>
  </p:handoutMasterIdLst>
  <p:sldIdLst>
    <p:sldId id="386" r:id="rId2"/>
    <p:sldId id="411" r:id="rId3"/>
    <p:sldId id="431" r:id="rId4"/>
    <p:sldId id="412" r:id="rId5"/>
    <p:sldId id="398" r:id="rId6"/>
    <p:sldId id="413" r:id="rId7"/>
    <p:sldId id="414" r:id="rId8"/>
    <p:sldId id="415" r:id="rId9"/>
    <p:sldId id="430" r:id="rId10"/>
    <p:sldId id="416" r:id="rId11"/>
    <p:sldId id="417" r:id="rId12"/>
    <p:sldId id="432" r:id="rId13"/>
    <p:sldId id="433" r:id="rId14"/>
    <p:sldId id="434" r:id="rId15"/>
    <p:sldId id="435" r:id="rId16"/>
    <p:sldId id="436" r:id="rId17"/>
    <p:sldId id="437" r:id="rId18"/>
    <p:sldId id="438" r:id="rId19"/>
    <p:sldId id="439" r:id="rId20"/>
    <p:sldId id="418" r:id="rId21"/>
    <p:sldId id="440" r:id="rId22"/>
    <p:sldId id="442" r:id="rId23"/>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5050"/>
    <a:srgbClr val="3333FF"/>
    <a:srgbClr val="0066FF"/>
    <a:srgbClr val="FF66CC"/>
    <a:srgbClr val="800000"/>
    <a:srgbClr val="00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0" autoAdjust="0"/>
    <p:restoredTop sz="78964" autoAdjust="0"/>
  </p:normalViewPr>
  <p:slideViewPr>
    <p:cSldViewPr>
      <p:cViewPr varScale="1">
        <p:scale>
          <a:sx n="64" d="100"/>
          <a:sy n="64" d="100"/>
        </p:scale>
        <p:origin x="13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154627"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154628"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154629"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1938D9B4-4E47-45CB-B0E7-AFA85C485AAA}" type="slidenum">
              <a:rPr lang="en-US" altLang="en-US"/>
              <a:pPr>
                <a:defRPr/>
              </a:pPr>
              <a:t>‹#›</a:t>
            </a:fld>
            <a:endParaRPr lang="en-US" altLang="en-US"/>
          </a:p>
        </p:txBody>
      </p:sp>
    </p:spTree>
    <p:extLst>
      <p:ext uri="{BB962C8B-B14F-4D97-AF65-F5344CB8AC3E}">
        <p14:creationId xmlns:p14="http://schemas.microsoft.com/office/powerpoint/2010/main" val="83229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4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16384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819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84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16384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C6728699-3588-43CD-9517-A5B406E46746}" type="slidenum">
              <a:rPr lang="en-US" altLang="en-US"/>
              <a:pPr>
                <a:defRPr/>
              </a:pPr>
              <a:t>‹#›</a:t>
            </a:fld>
            <a:endParaRPr lang="en-US" altLang="en-US"/>
          </a:p>
        </p:txBody>
      </p:sp>
    </p:spTree>
    <p:extLst>
      <p:ext uri="{BB962C8B-B14F-4D97-AF65-F5344CB8AC3E}">
        <p14:creationId xmlns:p14="http://schemas.microsoft.com/office/powerpoint/2010/main" val="41262382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6728699-3588-43CD-9517-A5B406E46746}" type="slidenum">
              <a:rPr lang="en-US" altLang="en-US" smtClean="0"/>
              <a:pPr>
                <a:defRPr/>
              </a:pPr>
              <a:t>1</a:t>
            </a:fld>
            <a:endParaRPr lang="en-US" altLang="en-US"/>
          </a:p>
        </p:txBody>
      </p:sp>
    </p:spTree>
    <p:extLst>
      <p:ext uri="{BB962C8B-B14F-4D97-AF65-F5344CB8AC3E}">
        <p14:creationId xmlns:p14="http://schemas.microsoft.com/office/powerpoint/2010/main" val="3172418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21AD5499-8CC3-4E60-94B7-ED25FD97F54A}"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0CA453BC-907F-4309-A456-EFC8BBBDA339}" type="slidenum">
              <a:rPr lang="en-US" altLang="en-US" smtClean="0"/>
              <a:pPr>
                <a:defRPr/>
              </a:pPr>
              <a:t>‹#›</a:t>
            </a:fld>
            <a:endParaRPr lang="en-US"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14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a:t>
            </a:fld>
            <a:endParaRPr lang="en-US" altLang="en-US"/>
          </a:p>
        </p:txBody>
      </p:sp>
    </p:spTree>
    <p:extLst>
      <p:ext uri="{BB962C8B-B14F-4D97-AF65-F5344CB8AC3E}">
        <p14:creationId xmlns:p14="http://schemas.microsoft.com/office/powerpoint/2010/main" val="3615583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6A30DB5-06E1-43DD-9616-9AC82D6B4E21}"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CAF984BB-7F1A-4A3D-970B-88045DC8A536}" type="slidenum">
              <a:rPr lang="en-US" altLang="en-US" smtClean="0"/>
              <a:pPr>
                <a:defRPr/>
              </a:pPr>
              <a:t>‹#›</a:t>
            </a:fld>
            <a:endParaRPr lang="en-US"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74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2383447-34C0-4E02-B44A-89F5B4558521}" type="datetime1">
              <a:rPr lang="en-US" smtClean="0"/>
              <a:t>11/26/2024</a:t>
            </a:fld>
            <a:endParaRPr lang="en-US"/>
          </a:p>
        </p:txBody>
      </p:sp>
      <p:sp>
        <p:nvSpPr>
          <p:cNvPr id="6" name="Footer Placeholder 5"/>
          <p:cNvSpPr>
            <a:spLocks noGrp="1"/>
          </p:cNvSpPr>
          <p:nvPr>
            <p:ph type="ftr" sz="quarter" idx="11"/>
          </p:nvPr>
        </p:nvSpPr>
        <p:spPr/>
        <p:txBody>
          <a:bodyPr/>
          <a:lstStyle/>
          <a:p>
            <a:pPr>
              <a:defRPr/>
            </a:pPr>
            <a:r>
              <a:rPr lang="en-US"/>
              <a:t>CSE494-Software Project Management</a:t>
            </a:r>
          </a:p>
        </p:txBody>
      </p:sp>
      <p:sp>
        <p:nvSpPr>
          <p:cNvPr id="7" name="Slide Number Placeholder 6"/>
          <p:cNvSpPr>
            <a:spLocks noGrp="1"/>
          </p:cNvSpPr>
          <p:nvPr>
            <p:ph type="sldNum" sz="quarter" idx="12"/>
          </p:nvPr>
        </p:nvSpPr>
        <p:spPr/>
        <p:txBody>
          <a:bodyPr/>
          <a:lstStyle/>
          <a:p>
            <a:pPr>
              <a:defRPr/>
            </a:pPr>
            <a:fld id="{67099909-FE1F-4037-888F-7BA56625E69C}" type="slidenum">
              <a:rPr lang="en-US" altLang="en-US" smtClean="0"/>
              <a:pPr>
                <a:defRPr/>
              </a:pPr>
              <a:t>‹#›</a:t>
            </a:fld>
            <a:endParaRPr lang="en-US" altLang="en-US"/>
          </a:p>
        </p:txBody>
      </p:sp>
    </p:spTree>
    <p:extLst>
      <p:ext uri="{BB962C8B-B14F-4D97-AF65-F5344CB8AC3E}">
        <p14:creationId xmlns:p14="http://schemas.microsoft.com/office/powerpoint/2010/main" val="2522810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695C2003-6A76-42C2-8293-7981AF13100E}" type="datetime1">
              <a:rPr lang="en-US" smtClean="0"/>
              <a:t>11/26/2024</a:t>
            </a:fld>
            <a:endParaRPr lang="en-US"/>
          </a:p>
        </p:txBody>
      </p:sp>
      <p:sp>
        <p:nvSpPr>
          <p:cNvPr id="8" name="Footer Placeholder 7"/>
          <p:cNvSpPr>
            <a:spLocks noGrp="1"/>
          </p:cNvSpPr>
          <p:nvPr>
            <p:ph type="ftr" sz="quarter" idx="11"/>
          </p:nvPr>
        </p:nvSpPr>
        <p:spPr/>
        <p:txBody>
          <a:bodyPr/>
          <a:lstStyle/>
          <a:p>
            <a:pPr>
              <a:defRPr/>
            </a:pPr>
            <a:r>
              <a:rPr lang="en-US"/>
              <a:t>CSE494-Software Project Management</a:t>
            </a:r>
          </a:p>
        </p:txBody>
      </p:sp>
      <p:sp>
        <p:nvSpPr>
          <p:cNvPr id="9" name="Slide Number Placeholder 8"/>
          <p:cNvSpPr>
            <a:spLocks noGrp="1"/>
          </p:cNvSpPr>
          <p:nvPr>
            <p:ph type="sldNum" sz="quarter" idx="12"/>
          </p:nvPr>
        </p:nvSpPr>
        <p:spPr/>
        <p:txBody>
          <a:bodyPr/>
          <a:lstStyle/>
          <a:p>
            <a:pPr>
              <a:defRPr/>
            </a:pPr>
            <a:fld id="{4E5959C5-43CA-459B-BDCC-5CE2BCF9AD93}" type="slidenum">
              <a:rPr lang="en-US" altLang="en-US" smtClean="0"/>
              <a:pPr>
                <a:defRPr/>
              </a:pPr>
              <a:t>‹#›</a:t>
            </a:fld>
            <a:endParaRPr lang="en-US" altLang="en-US"/>
          </a:p>
        </p:txBody>
      </p:sp>
    </p:spTree>
    <p:extLst>
      <p:ext uri="{BB962C8B-B14F-4D97-AF65-F5344CB8AC3E}">
        <p14:creationId xmlns:p14="http://schemas.microsoft.com/office/powerpoint/2010/main" val="2079069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95BF97BE-D951-4085-AF79-057E33729B8A}" type="datetime1">
              <a:rPr lang="en-US" smtClean="0"/>
              <a:t>11/26/2024</a:t>
            </a:fld>
            <a:endParaRPr lang="en-US"/>
          </a:p>
        </p:txBody>
      </p:sp>
      <p:sp>
        <p:nvSpPr>
          <p:cNvPr id="4" name="Footer Placeholder 3"/>
          <p:cNvSpPr>
            <a:spLocks noGrp="1"/>
          </p:cNvSpPr>
          <p:nvPr>
            <p:ph type="ftr" sz="quarter" idx="11"/>
          </p:nvPr>
        </p:nvSpPr>
        <p:spPr/>
        <p:txBody>
          <a:bodyPr/>
          <a:lstStyle/>
          <a:p>
            <a:pPr>
              <a:defRPr/>
            </a:pPr>
            <a:r>
              <a:rPr lang="en-US"/>
              <a:t>CSE494-Software Project Management</a:t>
            </a:r>
          </a:p>
        </p:txBody>
      </p:sp>
      <p:sp>
        <p:nvSpPr>
          <p:cNvPr id="5" name="Slide Number Placeholder 4"/>
          <p:cNvSpPr>
            <a:spLocks noGrp="1"/>
          </p:cNvSpPr>
          <p:nvPr>
            <p:ph type="sldNum" sz="quarter" idx="12"/>
          </p:nvPr>
        </p:nvSpPr>
        <p:spPr/>
        <p:txBody>
          <a:bodyPr/>
          <a:lstStyle/>
          <a:p>
            <a:pPr>
              <a:defRPr/>
            </a:pPr>
            <a:fld id="{1A4EC3CF-E704-4A1F-A192-5F9B890C6330}" type="slidenum">
              <a:rPr lang="en-US" altLang="en-US" smtClean="0"/>
              <a:pPr>
                <a:defRPr/>
              </a:pPr>
              <a:t>‹#›</a:t>
            </a:fld>
            <a:endParaRPr lang="en-US" altLang="en-US"/>
          </a:p>
        </p:txBody>
      </p:sp>
    </p:spTree>
    <p:extLst>
      <p:ext uri="{BB962C8B-B14F-4D97-AF65-F5344CB8AC3E}">
        <p14:creationId xmlns:p14="http://schemas.microsoft.com/office/powerpoint/2010/main" val="2821000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412A15AB-346B-4DDE-9CFC-20AC7D49A222}" type="datetime1">
              <a:rPr lang="en-US" smtClean="0"/>
              <a:t>11/26/2024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t>CSE494-Software Project Management</a:t>
            </a:r>
          </a:p>
        </p:txBody>
      </p:sp>
      <p:sp>
        <p:nvSpPr>
          <p:cNvPr id="9" name="Slide Number Placeholder 8"/>
          <p:cNvSpPr>
            <a:spLocks noGrp="1"/>
          </p:cNvSpPr>
          <p:nvPr>
            <p:ph type="sldNum" sz="quarter" idx="12"/>
          </p:nvPr>
        </p:nvSpPr>
        <p:spPr/>
        <p:txBody>
          <a:bodyPr/>
          <a:lstStyle/>
          <a:p>
            <a:pPr>
              <a:defRPr/>
            </a:pPr>
            <a:fld id="{72166C2C-6027-4FE3-B0ED-67FA033D8EC8}" type="slidenum">
              <a:rPr lang="en-US" altLang="en-US" smtClean="0"/>
              <a:pPr>
                <a:defRPr/>
              </a:pPr>
              <a:t>‹#›</a:t>
            </a:fld>
            <a:endParaRPr lang="en-US" altLang="en-US"/>
          </a:p>
        </p:txBody>
      </p:sp>
    </p:spTree>
    <p:extLst>
      <p:ext uri="{BB962C8B-B14F-4D97-AF65-F5344CB8AC3E}">
        <p14:creationId xmlns:p14="http://schemas.microsoft.com/office/powerpoint/2010/main" val="1547188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fld id="{0324BBCA-A18D-4AE6-8BE6-368DC5BE512F}" type="datetime1">
              <a:rPr lang="en-US" smtClean="0"/>
              <a:t>11/26/2024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r>
              <a:rPr lang="en-US"/>
              <a:t>CSE494-Software Project Management</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60FC9F50-7C60-4A35-AE2F-559F4C03D653}" type="slidenum">
              <a:rPr lang="en-US" altLang="en-US" smtClean="0"/>
              <a:pPr>
                <a:defRPr/>
              </a:pPr>
              <a:t>‹#›</a:t>
            </a:fld>
            <a:endParaRPr lang="en-US" altLang="en-US"/>
          </a:p>
        </p:txBody>
      </p:sp>
    </p:spTree>
    <p:extLst>
      <p:ext uri="{BB962C8B-B14F-4D97-AF65-F5344CB8AC3E}">
        <p14:creationId xmlns:p14="http://schemas.microsoft.com/office/powerpoint/2010/main" val="308326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AC47ECD-3DEE-40B5-B6CF-FD2583C62D03}" type="datetime1">
              <a:rPr lang="en-US" smtClean="0"/>
              <a:t>11/26/2024</a:t>
            </a:fld>
            <a:endParaRPr lang="en-US"/>
          </a:p>
        </p:txBody>
      </p:sp>
      <p:sp>
        <p:nvSpPr>
          <p:cNvPr id="6" name="Footer Placeholder 5"/>
          <p:cNvSpPr>
            <a:spLocks noGrp="1"/>
          </p:cNvSpPr>
          <p:nvPr>
            <p:ph type="ftr" sz="quarter" idx="11"/>
          </p:nvPr>
        </p:nvSpPr>
        <p:spPr/>
        <p:txBody>
          <a:bodyPr/>
          <a:lstStyle/>
          <a:p>
            <a:pPr>
              <a:defRPr/>
            </a:pPr>
            <a:r>
              <a:rPr lang="en-US"/>
              <a:t>CSE494-Software Project Management</a:t>
            </a:r>
          </a:p>
        </p:txBody>
      </p:sp>
      <p:sp>
        <p:nvSpPr>
          <p:cNvPr id="7" name="Slide Number Placeholder 6"/>
          <p:cNvSpPr>
            <a:spLocks noGrp="1"/>
          </p:cNvSpPr>
          <p:nvPr>
            <p:ph type="sldNum" sz="quarter" idx="12"/>
          </p:nvPr>
        </p:nvSpPr>
        <p:spPr/>
        <p:txBody>
          <a:bodyPr/>
          <a:lstStyle/>
          <a:p>
            <a:pPr>
              <a:defRPr/>
            </a:pPr>
            <a:fld id="{0EC30936-8E7F-4FB2-8C83-FF7115F4EB66}" type="slidenum">
              <a:rPr lang="en-US" altLang="en-US" smtClean="0"/>
              <a:pPr>
                <a:defRPr/>
              </a:pPr>
              <a:t>‹#›</a:t>
            </a:fld>
            <a:endParaRPr lang="en-US" altLang="en-US"/>
          </a:p>
        </p:txBody>
      </p:sp>
    </p:spTree>
    <p:extLst>
      <p:ext uri="{BB962C8B-B14F-4D97-AF65-F5344CB8AC3E}">
        <p14:creationId xmlns:p14="http://schemas.microsoft.com/office/powerpoint/2010/main" val="427296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EDA4246-1FCA-4E12-9D0C-A225AC41F0C5}"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0CB0802F-F6B7-4760-B34A-C45E6D92473C}" type="slidenum">
              <a:rPr lang="en-US" altLang="en-US" smtClean="0"/>
              <a:pPr>
                <a:defRPr/>
              </a:pPr>
              <a:t>‹#›</a:t>
            </a:fld>
            <a:endParaRPr lang="en-US" altLang="en-US"/>
          </a:p>
        </p:txBody>
      </p:sp>
    </p:spTree>
    <p:extLst>
      <p:ext uri="{BB962C8B-B14F-4D97-AF65-F5344CB8AC3E}">
        <p14:creationId xmlns:p14="http://schemas.microsoft.com/office/powerpoint/2010/main" val="272213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D432C2A9-2D89-41C8-9C03-D24E85C1C07D}"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CACC0081-843F-48E8-97F4-68298949AB6E}" type="slidenum">
              <a:rPr lang="en-US" altLang="en-US" smtClean="0"/>
              <a:pPr>
                <a:defRPr/>
              </a:pPr>
              <a:t>‹#›</a:t>
            </a:fld>
            <a:endParaRPr lang="en-US" altLang="en-US"/>
          </a:p>
        </p:txBody>
      </p:sp>
    </p:spTree>
    <p:extLst>
      <p:ext uri="{BB962C8B-B14F-4D97-AF65-F5344CB8AC3E}">
        <p14:creationId xmlns:p14="http://schemas.microsoft.com/office/powerpoint/2010/main" val="100901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fld id="{09EF6CAC-58E0-43DC-9A6B-D26C317D9507}" type="datetime1">
              <a:rPr lang="en-US" smtClean="0"/>
              <a:t>11/26/2024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CSE494-Software Project Management</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FD2E2015-F004-4287-9F32-C17CF65DB7C6}" type="slidenum">
              <a:rPr lang="en-US" altLang="en-US" smtClean="0"/>
              <a:pPr>
                <a:defRPr/>
              </a:pPr>
              <a:t>‹#›</a:t>
            </a:fld>
            <a:endParaRPr lang="en-US"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43892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ebcdn.bigpicture.one/kinsta-website/2022/06/18112844/Project-risk-assessment-form2.p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ebcdn.bigpicture.one/kinsta-website/2022/06/18112843/Project-risk-assessment-form3.p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ebcdn.bigpicture.one/kinsta-website/2022/06/18112842/Project-risk-assessment-form4.pn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eaLnBrk="1" hangingPunct="1">
              <a:defRPr/>
            </a:pPr>
            <a:r>
              <a:rPr lang="en-US" altLang="en-US" sz="5400" b="1" dirty="0" smtClean="0">
                <a:solidFill>
                  <a:schemeClr val="tx1">
                    <a:lumMod val="75000"/>
                    <a:lumOff val="25000"/>
                  </a:schemeClr>
                </a:solidFill>
              </a:rPr>
              <a:t>Project Risk </a:t>
            </a:r>
            <a:r>
              <a:rPr lang="en-US" altLang="en-US" sz="5400" b="1" dirty="0">
                <a:solidFill>
                  <a:schemeClr val="tx1">
                    <a:lumMod val="75000"/>
                    <a:lumOff val="25000"/>
                  </a:schemeClr>
                </a:solidFill>
              </a:rPr>
              <a:t>Management</a:t>
            </a:r>
            <a:endParaRPr lang="en-US" sz="5400" b="1" dirty="0"/>
          </a:p>
        </p:txBody>
      </p:sp>
      <p:sp>
        <p:nvSpPr>
          <p:cNvPr id="4" name="Date Placeholder 3"/>
          <p:cNvSpPr>
            <a:spLocks noGrp="1"/>
          </p:cNvSpPr>
          <p:nvPr>
            <p:ph type="dt" sz="half" idx="10"/>
          </p:nvPr>
        </p:nvSpPr>
        <p:spPr/>
        <p:txBody>
          <a:bodyPr/>
          <a:lstStyle/>
          <a:p>
            <a:pPr>
              <a:defRPr/>
            </a:pPr>
            <a:fld id="{3751B0BC-EBA2-4F8A-8879-10FEC6C1E813}" type="datetime1">
              <a:rPr lang="en-US" smtClean="0"/>
              <a:t>11/26/2024</a:t>
            </a:fld>
            <a:endParaRPr lang="en-US"/>
          </a:p>
        </p:txBody>
      </p:sp>
      <p:sp>
        <p:nvSpPr>
          <p:cNvPr id="5" name="Slide Number Placeholder 4"/>
          <p:cNvSpPr>
            <a:spLocks noGrp="1"/>
          </p:cNvSpPr>
          <p:nvPr>
            <p:ph type="sldNum" sz="quarter" idx="12"/>
          </p:nvPr>
        </p:nvSpPr>
        <p:spPr/>
        <p:txBody>
          <a:bodyPr/>
          <a:lstStyle/>
          <a:p>
            <a:pPr>
              <a:defRPr/>
            </a:pPr>
            <a:fld id="{0CA453BC-907F-4309-A456-EFC8BBBDA339}" type="slidenum">
              <a:rPr lang="en-US" altLang="en-US" smtClean="0"/>
              <a:pPr>
                <a:defRPr/>
              </a:pPr>
              <a:t>1</a:t>
            </a:fld>
            <a:endParaRPr lang="en-US" altLang="en-US"/>
          </a:p>
        </p:txBody>
      </p:sp>
      <p:sp>
        <p:nvSpPr>
          <p:cNvPr id="6" name="Footer Placeholder 5">
            <a:extLst>
              <a:ext uri="{FF2B5EF4-FFF2-40B4-BE49-F238E27FC236}">
                <a16:creationId xmlns:a16="http://schemas.microsoft.com/office/drawing/2014/main" id="{EDC1C37F-725D-4BD9-B68E-5891A4D455DC}"/>
              </a:ext>
            </a:extLst>
          </p:cNvPr>
          <p:cNvSpPr>
            <a:spLocks noGrp="1"/>
          </p:cNvSpPr>
          <p:nvPr>
            <p:ph type="ftr" sz="quarter" idx="11"/>
          </p:nvPr>
        </p:nvSpPr>
        <p:spPr/>
        <p:txBody>
          <a:bodyPr/>
          <a:lstStyle/>
          <a:p>
            <a:pPr>
              <a:defRPr/>
            </a:pPr>
            <a:r>
              <a:rPr lang="en-US"/>
              <a:t>CSE494-Software Project Management</a:t>
            </a:r>
            <a:endParaRPr lang="en-US" dirty="0"/>
          </a:p>
        </p:txBody>
      </p:sp>
      <p:sp>
        <p:nvSpPr>
          <p:cNvPr id="9" name="Subtitle 1">
            <a:extLst>
              <a:ext uri="{FF2B5EF4-FFF2-40B4-BE49-F238E27FC236}">
                <a16:creationId xmlns:a16="http://schemas.microsoft.com/office/drawing/2014/main" id="{0C3F8AD3-BD59-4867-A70B-465011E1EF13}"/>
              </a:ext>
            </a:extLst>
          </p:cNvPr>
          <p:cNvSpPr txBox="1">
            <a:spLocks/>
          </p:cNvSpPr>
          <p:nvPr/>
        </p:nvSpPr>
        <p:spPr>
          <a:xfrm>
            <a:off x="762000" y="4325112"/>
            <a:ext cx="7543800" cy="179277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fontAlgn="auto"/>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PROJECT RISK MANAGEMENT</a:t>
            </a:r>
          </a:p>
        </p:txBody>
      </p:sp>
      <p:sp>
        <p:nvSpPr>
          <p:cNvPr id="3" name="Content Placeholder 2"/>
          <p:cNvSpPr>
            <a:spLocks noGrp="1"/>
          </p:cNvSpPr>
          <p:nvPr>
            <p:ph idx="1"/>
          </p:nvPr>
        </p:nvSpPr>
        <p:spPr/>
        <p:txBody>
          <a:bodyPr/>
          <a:lstStyle/>
          <a:p>
            <a:pPr algn="just"/>
            <a:r>
              <a:rPr lang="en-US" dirty="0"/>
              <a:t>Project Risk Management includes the processes of </a:t>
            </a:r>
            <a:r>
              <a:rPr lang="en-US" b="1" dirty="0"/>
              <a:t>conducting risk management planning</a:t>
            </a:r>
            <a:r>
              <a:rPr lang="en-US" dirty="0"/>
              <a:t>, </a:t>
            </a:r>
            <a:r>
              <a:rPr lang="en-US" b="1" dirty="0"/>
              <a:t>identification</a:t>
            </a:r>
            <a:r>
              <a:rPr lang="en-US" dirty="0"/>
              <a:t>, </a:t>
            </a:r>
            <a:r>
              <a:rPr lang="en-US" b="1" dirty="0"/>
              <a:t>analysis</a:t>
            </a:r>
            <a:r>
              <a:rPr lang="en-US" dirty="0"/>
              <a:t>, </a:t>
            </a:r>
            <a:r>
              <a:rPr lang="en-US" b="1" dirty="0"/>
              <a:t>response planning, response implementation</a:t>
            </a:r>
            <a:r>
              <a:rPr lang="en-US" dirty="0"/>
              <a:t>, </a:t>
            </a:r>
            <a:r>
              <a:rPr lang="en-US" dirty="0" smtClean="0"/>
              <a:t>and </a:t>
            </a:r>
            <a:r>
              <a:rPr lang="en-US" b="1" dirty="0"/>
              <a:t>monitoring risk </a:t>
            </a:r>
            <a:r>
              <a:rPr lang="en-US" dirty="0"/>
              <a:t>on a project</a:t>
            </a:r>
            <a:r>
              <a:rPr lang="en-US" dirty="0" smtClean="0"/>
              <a:t>.</a:t>
            </a:r>
          </a:p>
          <a:p>
            <a:pPr algn="just"/>
            <a:r>
              <a:rPr lang="en-US" dirty="0" smtClean="0"/>
              <a:t>A </a:t>
            </a:r>
            <a:r>
              <a:rPr lang="en-US" b="1" dirty="0"/>
              <a:t>risk</a:t>
            </a:r>
            <a:r>
              <a:rPr lang="en-US" dirty="0"/>
              <a:t> is an uncertain </a:t>
            </a:r>
            <a:r>
              <a:rPr lang="en-US" b="1" dirty="0"/>
              <a:t>event</a:t>
            </a:r>
            <a:r>
              <a:rPr lang="en-US" dirty="0"/>
              <a:t> or </a:t>
            </a:r>
            <a:r>
              <a:rPr lang="en-US" b="1" dirty="0"/>
              <a:t>condition</a:t>
            </a:r>
            <a:r>
              <a:rPr lang="en-US" dirty="0"/>
              <a:t> that can have affect the outcome of a project.</a:t>
            </a:r>
            <a:endParaRPr lang="en-US" dirty="0" smtClean="0"/>
          </a:p>
          <a:p>
            <a:pPr algn="just"/>
            <a:r>
              <a:rPr lang="en-US" dirty="0" smtClean="0"/>
              <a:t> </a:t>
            </a:r>
            <a:r>
              <a:rPr lang="en-US" dirty="0"/>
              <a:t>The </a:t>
            </a:r>
            <a:r>
              <a:rPr lang="en-US" b="1" dirty="0"/>
              <a:t>objectives of project risk management </a:t>
            </a:r>
            <a:r>
              <a:rPr lang="en-US" dirty="0"/>
              <a:t>are to </a:t>
            </a:r>
            <a:endParaRPr lang="en-US" dirty="0" smtClean="0"/>
          </a:p>
          <a:p>
            <a:pPr algn="just"/>
            <a:endParaRPr lang="en-US" dirty="0" smtClean="0"/>
          </a:p>
          <a:p>
            <a:pPr lvl="1" algn="just"/>
            <a:r>
              <a:rPr lang="en-US" dirty="0"/>
              <a:t>I</a:t>
            </a:r>
            <a:r>
              <a:rPr lang="en-US" dirty="0" smtClean="0"/>
              <a:t>ncrease </a:t>
            </a:r>
            <a:r>
              <a:rPr lang="en-US" dirty="0"/>
              <a:t>the probability and/or impact of </a:t>
            </a:r>
            <a:r>
              <a:rPr lang="en-US" b="1" dirty="0"/>
              <a:t>positive </a:t>
            </a:r>
            <a:r>
              <a:rPr lang="en-US" b="1" dirty="0" smtClean="0"/>
              <a:t>risks </a:t>
            </a:r>
            <a:r>
              <a:rPr lang="en-US" dirty="0" smtClean="0"/>
              <a:t>(opportunities).</a:t>
            </a:r>
            <a:endParaRPr lang="en-US" dirty="0"/>
          </a:p>
          <a:p>
            <a:pPr lvl="1" algn="just"/>
            <a:r>
              <a:rPr lang="en-US" dirty="0"/>
              <a:t>D</a:t>
            </a:r>
            <a:r>
              <a:rPr lang="en-US" dirty="0" smtClean="0"/>
              <a:t>ecrease </a:t>
            </a:r>
            <a:r>
              <a:rPr lang="en-US" dirty="0"/>
              <a:t>the probability and/or impact of </a:t>
            </a:r>
            <a:r>
              <a:rPr lang="en-US" b="1" dirty="0"/>
              <a:t>negative </a:t>
            </a:r>
            <a:r>
              <a:rPr lang="en-US" b="1" dirty="0" smtClean="0"/>
              <a:t>risks</a:t>
            </a:r>
            <a:r>
              <a:rPr lang="en-US" dirty="0" smtClean="0"/>
              <a:t>(Threats), </a:t>
            </a:r>
            <a:r>
              <a:rPr lang="en-US" dirty="0"/>
              <a:t>in order to optimize the chances of project </a:t>
            </a:r>
            <a:r>
              <a:rPr lang="en-US" dirty="0" smtClean="0"/>
              <a:t>success.</a:t>
            </a:r>
            <a:endParaRPr lang="en-US" dirty="0"/>
          </a:p>
          <a:p>
            <a:pPr algn="just"/>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a:t>
            </a:fld>
            <a:endParaRPr lang="en-US" altLang="en-US"/>
          </a:p>
        </p:txBody>
      </p:sp>
    </p:spTree>
    <p:extLst>
      <p:ext uri="{BB962C8B-B14F-4D97-AF65-F5344CB8AC3E}">
        <p14:creationId xmlns:p14="http://schemas.microsoft.com/office/powerpoint/2010/main" val="149241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PROJECT RISK MANAGEMENT</a:t>
            </a:r>
          </a:p>
        </p:txBody>
      </p:sp>
      <p:sp>
        <p:nvSpPr>
          <p:cNvPr id="3" name="Content Placeholder 2"/>
          <p:cNvSpPr>
            <a:spLocks noGrp="1"/>
          </p:cNvSpPr>
          <p:nvPr>
            <p:ph idx="1"/>
          </p:nvPr>
        </p:nvSpPr>
        <p:spPr/>
        <p:txBody>
          <a:bodyPr>
            <a:noAutofit/>
          </a:bodyPr>
          <a:lstStyle/>
          <a:p>
            <a:pPr lvl="1" algn="just"/>
            <a:r>
              <a:rPr lang="en-US" b="1" dirty="0" smtClean="0"/>
              <a:t>Positive risks (opportunities) </a:t>
            </a:r>
          </a:p>
          <a:p>
            <a:pPr marL="384048" lvl="2" indent="0" algn="just">
              <a:buNone/>
            </a:pPr>
            <a:r>
              <a:rPr lang="en-GB" sz="1800" dirty="0" smtClean="0"/>
              <a:t>Positive </a:t>
            </a:r>
            <a:r>
              <a:rPr lang="en-GB" sz="1800" dirty="0"/>
              <a:t>risks are events that, if they occur, will have a beneficial impact on the project. They can create opportunities to enhance project outcomes, save costs, or deliver additional value</a:t>
            </a:r>
            <a:r>
              <a:rPr lang="en-GB" sz="1800" dirty="0" smtClean="0"/>
              <a:t>.</a:t>
            </a:r>
          </a:p>
          <a:p>
            <a:pPr marL="384048" lvl="2" indent="0" algn="just">
              <a:buNone/>
            </a:pPr>
            <a:r>
              <a:rPr lang="en-GB" sz="1800" b="1" dirty="0" smtClean="0"/>
              <a:t>Example</a:t>
            </a:r>
            <a:r>
              <a:rPr lang="en-GB" sz="1800" b="1" dirty="0"/>
              <a:t>:</a:t>
            </a:r>
            <a:r>
              <a:rPr lang="en-GB" sz="1800" dirty="0"/>
              <a:t> A software development team discovers a tool that automates coding, reducing development time by 20</a:t>
            </a:r>
            <a:r>
              <a:rPr lang="en-GB" sz="1800" dirty="0" smtClean="0"/>
              <a:t>%. </a:t>
            </a:r>
            <a:r>
              <a:rPr lang="en-GB" sz="1800" b="1" dirty="0" smtClean="0"/>
              <a:t>Implementing </a:t>
            </a:r>
            <a:r>
              <a:rPr lang="en-GB" sz="1800" b="1" dirty="0"/>
              <a:t>a new technology unexpectedly enhances product performance or functionality.</a:t>
            </a:r>
          </a:p>
          <a:p>
            <a:pPr lvl="1" algn="just"/>
            <a:r>
              <a:rPr lang="en-US" b="1" dirty="0" smtClean="0"/>
              <a:t>Negative risks(Threats)</a:t>
            </a:r>
          </a:p>
          <a:p>
            <a:pPr marL="384048" lvl="2" indent="0" algn="just">
              <a:buNone/>
            </a:pPr>
            <a:r>
              <a:rPr lang="en-GB" sz="1800" dirty="0"/>
              <a:t>Negative risks are events that can have adverse effects on the project, such as delays, cost overruns, or quality issues. These need to be identified and mitigated to minimize their impact.</a:t>
            </a:r>
          </a:p>
          <a:p>
            <a:pPr marL="384048" lvl="2" indent="0">
              <a:buNone/>
            </a:pPr>
            <a:r>
              <a:rPr lang="en-GB" sz="1800" dirty="0"/>
              <a:t>Unexpected costs arise due to market price fluctuations.</a:t>
            </a:r>
          </a:p>
          <a:p>
            <a:pPr marL="384048" lvl="2" indent="0">
              <a:buNone/>
            </a:pPr>
            <a:r>
              <a:rPr lang="en-GB" sz="1800" b="1" dirty="0"/>
              <a:t>Example:</a:t>
            </a:r>
            <a:r>
              <a:rPr lang="en-GB" sz="1800" dirty="0"/>
              <a:t> The price of raw materials increases by 15%, leading to budget overruns.</a:t>
            </a:r>
          </a:p>
          <a:p>
            <a:pPr marL="201168" lvl="1" indent="0">
              <a:buNone/>
            </a:pPr>
            <a:r>
              <a:rPr lang="en-GB" dirty="0"/>
              <a:t/>
            </a:r>
            <a:br>
              <a:rPr lang="en-GB" dirty="0"/>
            </a:b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3</a:t>
            </a:fld>
            <a:endParaRPr lang="en-US" altLang="en-US"/>
          </a:p>
        </p:txBody>
      </p:sp>
    </p:spTree>
    <p:extLst>
      <p:ext uri="{BB962C8B-B14F-4D97-AF65-F5344CB8AC3E}">
        <p14:creationId xmlns:p14="http://schemas.microsoft.com/office/powerpoint/2010/main" val="4101278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543800" cy="1450757"/>
          </a:xfrm>
        </p:spPr>
        <p:txBody>
          <a:bodyPr>
            <a:normAutofit fontScale="90000"/>
          </a:bodyPr>
          <a:lstStyle/>
          <a:p>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smtClean="0"/>
              <a:t>The </a:t>
            </a:r>
            <a:r>
              <a:rPr lang="en-US" sz="2400" b="1" dirty="0"/>
              <a:t>Project Risk Management processes are:</a:t>
            </a:r>
            <a:r>
              <a:rPr lang="en-US" sz="2400" dirty="0"/>
              <a:t/>
            </a:r>
            <a:br>
              <a:rPr lang="en-US" sz="2400" dirty="0"/>
            </a:br>
            <a:r>
              <a:rPr lang="en-US" sz="2400" dirty="0"/>
              <a:t/>
            </a:r>
            <a:br>
              <a:rPr lang="en-US" sz="2400" dirty="0"/>
            </a:br>
            <a:endParaRPr lang="en-GB" sz="2400" dirty="0"/>
          </a:p>
        </p:txBody>
      </p:sp>
      <p:pic>
        <p:nvPicPr>
          <p:cNvPr id="7" name="Content Placeholder 6"/>
          <p:cNvPicPr>
            <a:picLocks noGrp="1" noChangeAspect="1"/>
          </p:cNvPicPr>
          <p:nvPr>
            <p:ph idx="1"/>
          </p:nvPr>
        </p:nvPicPr>
        <p:blipFill>
          <a:blip r:embed="rId2"/>
          <a:stretch>
            <a:fillRect/>
          </a:stretch>
        </p:blipFill>
        <p:spPr>
          <a:xfrm>
            <a:off x="457200" y="1905000"/>
            <a:ext cx="8077200" cy="4419600"/>
          </a:xfrm>
          <a:prstGeom prst="rect">
            <a:avLst/>
          </a:prstGeom>
        </p:spPr>
      </p:pic>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4</a:t>
            </a:fld>
            <a:endParaRPr lang="en-US" altLang="en-US"/>
          </a:p>
        </p:txBody>
      </p:sp>
    </p:spTree>
    <p:extLst>
      <p:ext uri="{BB962C8B-B14F-4D97-AF65-F5344CB8AC3E}">
        <p14:creationId xmlns:p14="http://schemas.microsoft.com/office/powerpoint/2010/main" val="994840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787EFB45-D3AC-47B0-AAE9-DAEF565EB280}"/>
              </a:ext>
            </a:extLst>
          </p:cNvPr>
          <p:cNvSpPr>
            <a:spLocks noGrp="1" noChangeArrowheads="1"/>
          </p:cNvSpPr>
          <p:nvPr>
            <p:ph type="title"/>
          </p:nvPr>
        </p:nvSpPr>
        <p:spPr/>
        <p:txBody>
          <a:bodyPr/>
          <a:lstStyle/>
          <a:p>
            <a:r>
              <a:rPr lang="en-US" altLang="en-US" sz="3600" b="1" dirty="0"/>
              <a:t>What is Risk Management Process?</a:t>
            </a:r>
            <a:endParaRPr lang="en-US" altLang="en-US" sz="2400" dirty="0"/>
          </a:p>
        </p:txBody>
      </p:sp>
      <p:sp>
        <p:nvSpPr>
          <p:cNvPr id="92163" name="Rectangle 3">
            <a:extLst>
              <a:ext uri="{FF2B5EF4-FFF2-40B4-BE49-F238E27FC236}">
                <a16:creationId xmlns:a16="http://schemas.microsoft.com/office/drawing/2014/main" id="{0B08EA2B-45DF-4BD2-A84E-51CFD2393FCD}"/>
              </a:ext>
            </a:extLst>
          </p:cNvPr>
          <p:cNvSpPr>
            <a:spLocks noGrp="1" noChangeArrowheads="1"/>
          </p:cNvSpPr>
          <p:nvPr>
            <p:ph type="body" idx="1"/>
          </p:nvPr>
        </p:nvSpPr>
        <p:spPr>
          <a:xfrm>
            <a:off x="822959" y="1845734"/>
            <a:ext cx="7543801" cy="4478866"/>
          </a:xfrm>
        </p:spPr>
        <p:txBody>
          <a:bodyPr>
            <a:normAutofit/>
          </a:bodyPr>
          <a:lstStyle/>
          <a:p>
            <a:pPr lvl="1" algn="just">
              <a:lnSpc>
                <a:spcPct val="100000"/>
              </a:lnSpc>
            </a:pPr>
            <a:endParaRPr lang="en-US" altLang="en-US" sz="2400" dirty="0"/>
          </a:p>
          <a:p>
            <a:pPr marL="201168" lvl="1" indent="0" algn="just">
              <a:lnSpc>
                <a:spcPct val="100000"/>
              </a:lnSpc>
              <a:buNone/>
            </a:pPr>
            <a:r>
              <a:rPr lang="en-US" altLang="en-US" sz="2000" dirty="0"/>
              <a:t>It is a series of steps that help the software team to understand and manage uncertainty. It </a:t>
            </a:r>
            <a:r>
              <a:rPr lang="en-US" altLang="en-US" sz="2000" dirty="0" smtClean="0"/>
              <a:t>involves</a:t>
            </a:r>
          </a:p>
          <a:p>
            <a:pPr marL="201168" lvl="1" indent="0" algn="just">
              <a:lnSpc>
                <a:spcPct val="100000"/>
              </a:lnSpc>
              <a:buNone/>
            </a:pPr>
            <a:endParaRPr lang="en-US" altLang="en-US" sz="2000" dirty="0"/>
          </a:p>
          <a:p>
            <a:pPr marL="841248" lvl="2" indent="-457200" algn="just">
              <a:lnSpc>
                <a:spcPct val="100000"/>
              </a:lnSpc>
              <a:buFont typeface="+mj-lt"/>
              <a:buAutoNum type="arabicPeriod"/>
            </a:pPr>
            <a:r>
              <a:rPr lang="en-US" altLang="en-US" sz="2000" dirty="0"/>
              <a:t>Identifying </a:t>
            </a:r>
            <a:r>
              <a:rPr lang="en-US" altLang="en-US" sz="2000" dirty="0" smtClean="0"/>
              <a:t>risks.</a:t>
            </a:r>
            <a:endParaRPr lang="en-US" altLang="en-US" sz="2000" dirty="0"/>
          </a:p>
          <a:p>
            <a:pPr marL="841248" lvl="2" indent="-457200" algn="just">
              <a:lnSpc>
                <a:spcPct val="100000"/>
              </a:lnSpc>
              <a:buFont typeface="+mj-lt"/>
              <a:buAutoNum type="arabicPeriod"/>
            </a:pPr>
            <a:r>
              <a:rPr lang="en-US" altLang="en-US" sz="2000" dirty="0"/>
              <a:t>Assessing the probability of risks’ </a:t>
            </a:r>
            <a:r>
              <a:rPr lang="en-US" altLang="en-US" sz="2000" dirty="0" smtClean="0"/>
              <a:t>occurrence.</a:t>
            </a:r>
            <a:endParaRPr lang="en-US" altLang="en-US" sz="2000" dirty="0"/>
          </a:p>
          <a:p>
            <a:pPr marL="841248" lvl="2" indent="-457200" algn="just">
              <a:lnSpc>
                <a:spcPct val="100000"/>
              </a:lnSpc>
              <a:buFont typeface="+mj-lt"/>
              <a:buAutoNum type="arabicPeriod"/>
            </a:pPr>
            <a:r>
              <a:rPr lang="en-US" altLang="en-US" sz="2000" dirty="0"/>
              <a:t>Estimating risks’ </a:t>
            </a:r>
            <a:r>
              <a:rPr lang="en-US" altLang="en-US" sz="2000" dirty="0" smtClean="0"/>
              <a:t>impact.</a:t>
            </a:r>
            <a:endParaRPr lang="en-US" altLang="en-US" sz="2000" dirty="0"/>
          </a:p>
          <a:p>
            <a:pPr marL="841248" lvl="2" indent="-457200" algn="just">
              <a:lnSpc>
                <a:spcPct val="100000"/>
              </a:lnSpc>
              <a:buFont typeface="+mj-lt"/>
              <a:buAutoNum type="arabicPeriod"/>
            </a:pPr>
            <a:r>
              <a:rPr lang="en-US" altLang="en-US" sz="2000" dirty="0"/>
              <a:t>Ranking risks by probability and </a:t>
            </a:r>
            <a:r>
              <a:rPr lang="en-US" altLang="en-US" sz="2000" dirty="0" smtClean="0"/>
              <a:t>impact.</a:t>
            </a:r>
            <a:endParaRPr lang="en-US" altLang="en-US" sz="2000" dirty="0"/>
          </a:p>
          <a:p>
            <a:pPr marL="841248" lvl="2" indent="-457200" algn="just">
              <a:lnSpc>
                <a:spcPct val="100000"/>
              </a:lnSpc>
              <a:buFont typeface="+mj-lt"/>
              <a:buAutoNum type="arabicPeriod"/>
            </a:pPr>
            <a:r>
              <a:rPr lang="en-US" altLang="en-US" sz="2000" dirty="0"/>
              <a:t>Establishing a contingency plan to manage risks if they </a:t>
            </a:r>
            <a:r>
              <a:rPr lang="en-US" altLang="en-US" sz="2000" dirty="0" smtClean="0"/>
              <a:t>occur.</a:t>
            </a:r>
            <a:endParaRPr lang="en-US" altLang="en-US" sz="2000" dirty="0"/>
          </a:p>
        </p:txBody>
      </p:sp>
      <p:sp>
        <p:nvSpPr>
          <p:cNvPr id="2" name="Date Placeholder 1">
            <a:extLst>
              <a:ext uri="{FF2B5EF4-FFF2-40B4-BE49-F238E27FC236}">
                <a16:creationId xmlns:a16="http://schemas.microsoft.com/office/drawing/2014/main" id="{22DC2BFE-5A1A-44F6-9C59-FB4D5A267EA5}"/>
              </a:ext>
            </a:extLst>
          </p:cNvPr>
          <p:cNvSpPr>
            <a:spLocks noGrp="1"/>
          </p:cNvSpPr>
          <p:nvPr>
            <p:ph type="dt" sz="half" idx="10"/>
          </p:nvPr>
        </p:nvSpPr>
        <p:spPr/>
        <p:txBody>
          <a:bodyPr/>
          <a:lstStyle/>
          <a:p>
            <a:pPr>
              <a:defRPr/>
            </a:pPr>
            <a:fld id="{1BB8722F-1537-44FF-AB73-083029314AE4}" type="datetime1">
              <a:rPr lang="en-US" smtClean="0"/>
              <a:t>11/26/2024</a:t>
            </a:fld>
            <a:endParaRPr lang="en-US"/>
          </a:p>
        </p:txBody>
      </p:sp>
      <p:sp>
        <p:nvSpPr>
          <p:cNvPr id="3" name="Footer Placeholder 2">
            <a:extLst>
              <a:ext uri="{FF2B5EF4-FFF2-40B4-BE49-F238E27FC236}">
                <a16:creationId xmlns:a16="http://schemas.microsoft.com/office/drawing/2014/main" id="{C842A512-FEBC-4110-AC2F-0FE56501F2DB}"/>
              </a:ext>
            </a:extLst>
          </p:cNvPr>
          <p:cNvSpPr>
            <a:spLocks noGrp="1"/>
          </p:cNvSpPr>
          <p:nvPr>
            <p:ph type="ftr" sz="quarter" idx="11"/>
          </p:nvPr>
        </p:nvSpPr>
        <p:spPr/>
        <p:txBody>
          <a:bodyPr/>
          <a:lstStyle/>
          <a:p>
            <a:pPr>
              <a:defRPr/>
            </a:pPr>
            <a:r>
              <a:rPr lang="en-US"/>
              <a:t>CSE494-Software Project Management</a:t>
            </a:r>
          </a:p>
        </p:txBody>
      </p:sp>
      <p:sp>
        <p:nvSpPr>
          <p:cNvPr id="4" name="Slide Number Placeholder 3">
            <a:extLst>
              <a:ext uri="{FF2B5EF4-FFF2-40B4-BE49-F238E27FC236}">
                <a16:creationId xmlns:a16="http://schemas.microsoft.com/office/drawing/2014/main" id="{D24A7CF1-369A-4E63-B9A9-FB30D4E2835F}"/>
              </a:ext>
            </a:extLst>
          </p:cNvPr>
          <p:cNvSpPr>
            <a:spLocks noGrp="1"/>
          </p:cNvSpPr>
          <p:nvPr>
            <p:ph type="sldNum" sz="quarter" idx="12"/>
          </p:nvPr>
        </p:nvSpPr>
        <p:spPr/>
        <p:txBody>
          <a:bodyPr/>
          <a:lstStyle/>
          <a:p>
            <a:pPr>
              <a:defRPr/>
            </a:pPr>
            <a:fld id="{4861128D-6627-4267-B434-E840C2C2B75D}" type="slidenum">
              <a:rPr lang="en-US" altLang="en-US" smtClean="0"/>
              <a:pPr>
                <a:defRPr/>
              </a:pPr>
              <a:t>5</a:t>
            </a:fld>
            <a:endParaRPr lang="en-US" altLang="en-US"/>
          </a:p>
        </p:txBody>
      </p:sp>
    </p:spTree>
    <p:extLst>
      <p:ext uri="{BB962C8B-B14F-4D97-AF65-F5344CB8AC3E}">
        <p14:creationId xmlns:p14="http://schemas.microsoft.com/office/powerpoint/2010/main" val="770531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1: </a:t>
            </a:r>
            <a:r>
              <a:rPr lang="en-GB" sz="3200" b="1" dirty="0"/>
              <a:t>PLAN RISK MANAGEMENT</a:t>
            </a:r>
          </a:p>
        </p:txBody>
      </p:sp>
      <p:sp>
        <p:nvSpPr>
          <p:cNvPr id="3" name="Content Placeholder 2"/>
          <p:cNvSpPr>
            <a:spLocks noGrp="1"/>
          </p:cNvSpPr>
          <p:nvPr>
            <p:ph idx="1"/>
          </p:nvPr>
        </p:nvSpPr>
        <p:spPr/>
        <p:txBody>
          <a:bodyPr/>
          <a:lstStyle/>
          <a:p>
            <a:r>
              <a:rPr lang="en-US" dirty="0"/>
              <a:t>Plan Risk Management is the process of </a:t>
            </a:r>
            <a:r>
              <a:rPr lang="en-US" b="1" dirty="0"/>
              <a:t>defining how to conduct risk management </a:t>
            </a:r>
            <a:r>
              <a:rPr lang="en-US" b="1" dirty="0" smtClean="0"/>
              <a:t>activities</a:t>
            </a:r>
            <a:r>
              <a:rPr lang="en-US" dirty="0" smtClean="0"/>
              <a:t> </a:t>
            </a:r>
            <a:r>
              <a:rPr lang="en-US" dirty="0"/>
              <a:t>for a project. </a:t>
            </a:r>
            <a:endParaRPr lang="en-US" dirty="0" smtClean="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6</a:t>
            </a:fld>
            <a:endParaRPr lang="en-US" altLang="en-US"/>
          </a:p>
        </p:txBody>
      </p:sp>
      <p:pic>
        <p:nvPicPr>
          <p:cNvPr id="7" name="Picture 6"/>
          <p:cNvPicPr>
            <a:picLocks noChangeAspect="1"/>
          </p:cNvPicPr>
          <p:nvPr/>
        </p:nvPicPr>
        <p:blipFill>
          <a:blip r:embed="rId2"/>
          <a:stretch>
            <a:fillRect/>
          </a:stretch>
        </p:blipFill>
        <p:spPr>
          <a:xfrm>
            <a:off x="838200" y="2819400"/>
            <a:ext cx="7239000" cy="3124200"/>
          </a:xfrm>
          <a:prstGeom prst="rect">
            <a:avLst/>
          </a:prstGeom>
        </p:spPr>
      </p:pic>
    </p:spTree>
    <p:extLst>
      <p:ext uri="{BB962C8B-B14F-4D97-AF65-F5344CB8AC3E}">
        <p14:creationId xmlns:p14="http://schemas.microsoft.com/office/powerpoint/2010/main" val="3128939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1: PLAN </a:t>
            </a:r>
            <a:r>
              <a:rPr lang="en-GB" sz="3200" b="1" dirty="0"/>
              <a:t>RISK MANAGEMENT</a:t>
            </a:r>
            <a:endParaRPr lang="en-GB" sz="3200" dirty="0"/>
          </a:p>
        </p:txBody>
      </p:sp>
      <p:sp>
        <p:nvSpPr>
          <p:cNvPr id="3" name="Content Placeholder 2"/>
          <p:cNvSpPr>
            <a:spLocks noGrp="1"/>
          </p:cNvSpPr>
          <p:nvPr>
            <p:ph idx="1"/>
          </p:nvPr>
        </p:nvSpPr>
        <p:spPr/>
        <p:txBody>
          <a:bodyPr/>
          <a:lstStyle/>
          <a:p>
            <a:r>
              <a:rPr lang="en-GB" b="1" dirty="0" smtClean="0"/>
              <a:t>Output: Risk Management Plan</a:t>
            </a:r>
          </a:p>
          <a:p>
            <a:r>
              <a:rPr lang="en-US" dirty="0" smtClean="0"/>
              <a:t>- Component of project management plan</a:t>
            </a:r>
          </a:p>
          <a:p>
            <a:r>
              <a:rPr lang="en-US" dirty="0"/>
              <a:t>- </a:t>
            </a:r>
            <a:r>
              <a:rPr lang="en-US" dirty="0" smtClean="0"/>
              <a:t>It </a:t>
            </a:r>
            <a:r>
              <a:rPr lang="en-US" dirty="0"/>
              <a:t>describes </a:t>
            </a:r>
            <a:r>
              <a:rPr lang="en-US" b="1" dirty="0"/>
              <a:t>how risk management activities will be structured and performed</a:t>
            </a:r>
            <a:r>
              <a:rPr lang="en-US" b="1" dirty="0" smtClean="0"/>
              <a:t>.</a:t>
            </a:r>
          </a:p>
          <a:p>
            <a:r>
              <a:rPr lang="en-US" dirty="0"/>
              <a:t>The risk management plan may include </a:t>
            </a:r>
            <a:r>
              <a:rPr lang="en-US" dirty="0" smtClean="0"/>
              <a:t>the </a:t>
            </a:r>
            <a:r>
              <a:rPr lang="en-US" dirty="0"/>
              <a:t>following </a:t>
            </a:r>
            <a:r>
              <a:rPr lang="en-US" dirty="0" smtClean="0"/>
              <a:t>elements.</a:t>
            </a:r>
          </a:p>
          <a:p>
            <a:r>
              <a:rPr lang="en-US" b="1" dirty="0" smtClean="0"/>
              <a:t>Risk Strategy: </a:t>
            </a:r>
            <a:r>
              <a:rPr lang="en-US" dirty="0" smtClean="0"/>
              <a:t>Approach to manage risks.</a:t>
            </a:r>
          </a:p>
          <a:p>
            <a:pPr algn="just"/>
            <a:r>
              <a:rPr lang="en-GB" b="1" dirty="0"/>
              <a:t>Roles and </a:t>
            </a:r>
            <a:r>
              <a:rPr lang="en-GB" b="1" dirty="0" smtClean="0"/>
              <a:t>responsibilities: </a:t>
            </a:r>
            <a:r>
              <a:rPr lang="en-US" dirty="0"/>
              <a:t>Defines the lead, support, and risk management team members for each type of activity described in the risk management plan, and clarifies their </a:t>
            </a:r>
            <a:r>
              <a:rPr lang="en-US" dirty="0" smtClean="0"/>
              <a:t>responsibilities.</a:t>
            </a:r>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7</a:t>
            </a:fld>
            <a:endParaRPr lang="en-US" altLang="en-US"/>
          </a:p>
        </p:txBody>
      </p:sp>
    </p:spTree>
    <p:extLst>
      <p:ext uri="{BB962C8B-B14F-4D97-AF65-F5344CB8AC3E}">
        <p14:creationId xmlns:p14="http://schemas.microsoft.com/office/powerpoint/2010/main" val="343722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130" y="914400"/>
            <a:ext cx="7586870" cy="1451113"/>
          </a:xfrm>
        </p:spPr>
        <p:txBody>
          <a:bodyPr/>
          <a:lstStyle/>
          <a:p>
            <a:r>
              <a:rPr lang="en-GB" sz="3200" b="1" dirty="0"/>
              <a:t>Risk Management Plan</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20000"/>
          </a:bodyPr>
          <a:lstStyle/>
          <a:p>
            <a:r>
              <a:rPr lang="en-GB" b="1" dirty="0"/>
              <a:t>Timing</a:t>
            </a:r>
            <a:r>
              <a:rPr lang="en-GB" b="1" dirty="0" smtClean="0"/>
              <a:t>. </a:t>
            </a:r>
            <a:r>
              <a:rPr lang="en-US" dirty="0"/>
              <a:t>Defines when and how often the Project Risk Management processes will be performed throughout the project life </a:t>
            </a:r>
            <a:r>
              <a:rPr lang="en-US" dirty="0" smtClean="0"/>
              <a:t>cycle.</a:t>
            </a:r>
          </a:p>
          <a:p>
            <a:r>
              <a:rPr lang="en-GB" b="1" dirty="0"/>
              <a:t>Risk </a:t>
            </a:r>
            <a:r>
              <a:rPr lang="en-GB" b="1" dirty="0" smtClean="0"/>
              <a:t>categories:  </a:t>
            </a:r>
            <a:r>
              <a:rPr lang="en-GB" dirty="0" smtClean="0"/>
              <a:t>Group individual project risks – A common way to structure risk categories is </a:t>
            </a:r>
            <a:r>
              <a:rPr lang="en-GB" b="1" dirty="0" smtClean="0"/>
              <a:t>RBS(Risk Breakdown Structure) – </a:t>
            </a:r>
            <a:r>
              <a:rPr lang="en-GB" dirty="0" smtClean="0"/>
              <a:t>a </a:t>
            </a:r>
            <a:r>
              <a:rPr lang="en-US" dirty="0" smtClean="0"/>
              <a:t>hierarchical </a:t>
            </a:r>
            <a:r>
              <a:rPr lang="en-US" dirty="0"/>
              <a:t>representation of potential sources of </a:t>
            </a:r>
            <a:r>
              <a:rPr lang="en-US" dirty="0" smtClean="0"/>
              <a:t>risk.</a:t>
            </a:r>
          </a:p>
          <a:p>
            <a:r>
              <a:rPr lang="en-US" dirty="0"/>
              <a:t>T</a:t>
            </a:r>
            <a:r>
              <a:rPr lang="en-US" dirty="0" smtClean="0"/>
              <a:t>he </a:t>
            </a:r>
            <a:r>
              <a:rPr lang="en-US" dirty="0"/>
              <a:t>risk breakdown </a:t>
            </a:r>
            <a:r>
              <a:rPr lang="en-US" dirty="0" smtClean="0"/>
              <a:t>structure organizes </a:t>
            </a:r>
            <a:r>
              <a:rPr lang="en-US" dirty="0"/>
              <a:t>the project’s risks into </a:t>
            </a:r>
            <a:r>
              <a:rPr lang="en-US" dirty="0" smtClean="0"/>
              <a:t>different categories e.g. </a:t>
            </a:r>
            <a:r>
              <a:rPr lang="en-US" b="1" dirty="0"/>
              <a:t>technical</a:t>
            </a:r>
            <a:r>
              <a:rPr lang="en-US" dirty="0"/>
              <a:t>, </a:t>
            </a:r>
            <a:r>
              <a:rPr lang="en-US" b="1" dirty="0"/>
              <a:t>external</a:t>
            </a:r>
            <a:r>
              <a:rPr lang="en-US" dirty="0"/>
              <a:t>, </a:t>
            </a:r>
            <a:r>
              <a:rPr lang="en-US" b="1" dirty="0"/>
              <a:t>organizational</a:t>
            </a:r>
            <a:r>
              <a:rPr lang="en-US" dirty="0"/>
              <a:t>, </a:t>
            </a:r>
            <a:r>
              <a:rPr lang="en-US" dirty="0" smtClean="0"/>
              <a:t>and </a:t>
            </a:r>
            <a:r>
              <a:rPr lang="en-US" b="1" dirty="0" smtClean="0"/>
              <a:t>project management</a:t>
            </a:r>
            <a:r>
              <a:rPr lang="en-US" dirty="0" smtClean="0"/>
              <a:t>.</a:t>
            </a:r>
          </a:p>
          <a:p>
            <a:r>
              <a:rPr lang="en-US" b="1" dirty="0"/>
              <a:t>Definitions of risk probability and </a:t>
            </a:r>
            <a:r>
              <a:rPr lang="en-US" b="1" dirty="0" smtClean="0"/>
              <a:t>impacts/</a:t>
            </a:r>
            <a:r>
              <a:rPr lang="en-GB" b="1" dirty="0"/>
              <a:t>Probability and impact matrix</a:t>
            </a:r>
            <a:r>
              <a:rPr lang="en-GB" b="1" dirty="0" smtClean="0"/>
              <a:t>. </a:t>
            </a:r>
            <a:r>
              <a:rPr lang="en-GB" dirty="0" smtClean="0"/>
              <a:t>Probability and impact matrix</a:t>
            </a:r>
          </a:p>
          <a:p>
            <a:r>
              <a:rPr lang="en-GB" b="1" dirty="0"/>
              <a:t>Reporting F</a:t>
            </a:r>
            <a:r>
              <a:rPr lang="en-GB" b="1" dirty="0" smtClean="0"/>
              <a:t>ormats and Tracking:</a:t>
            </a:r>
            <a:r>
              <a:rPr lang="en-US" dirty="0"/>
              <a:t> Reporting formats define how the outcomes of the Project Risk Management process will be documented, analyzed, and communicated./ </a:t>
            </a:r>
            <a:r>
              <a:rPr lang="en-US" dirty="0" smtClean="0"/>
              <a:t>Tracking </a:t>
            </a:r>
            <a:r>
              <a:rPr lang="en-US" dirty="0"/>
              <a:t>documents how risk activities will be recorded and how risk management processes will be </a:t>
            </a:r>
            <a:r>
              <a:rPr lang="en-US" dirty="0" smtClean="0"/>
              <a:t>audited</a:t>
            </a:r>
            <a:endParaRPr lang="en-US" b="1" u="sng" dirty="0" smtClean="0"/>
          </a:p>
          <a:p>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8</a:t>
            </a:fld>
            <a:endParaRPr lang="en-US" altLang="en-US"/>
          </a:p>
        </p:txBody>
      </p:sp>
    </p:spTree>
    <p:extLst>
      <p:ext uri="{BB962C8B-B14F-4D97-AF65-F5344CB8AC3E}">
        <p14:creationId xmlns:p14="http://schemas.microsoft.com/office/powerpoint/2010/main" val="1781053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Risk Categories</a:t>
            </a:r>
            <a:endParaRPr lang="en-GB" sz="3200" b="1" dirty="0"/>
          </a:p>
        </p:txBody>
      </p:sp>
      <p:sp>
        <p:nvSpPr>
          <p:cNvPr id="3" name="Content Placeholder 2"/>
          <p:cNvSpPr>
            <a:spLocks noGrp="1"/>
          </p:cNvSpPr>
          <p:nvPr>
            <p:ph idx="1"/>
          </p:nvPr>
        </p:nvSpPr>
        <p:spPr>
          <a:xfrm>
            <a:off x="822959" y="1845734"/>
            <a:ext cx="7543801" cy="4859866"/>
          </a:xfrm>
        </p:spPr>
        <p:txBody>
          <a:bodyPr>
            <a:normAutofit fontScale="70000" lnSpcReduction="20000"/>
          </a:bodyPr>
          <a:lstStyle/>
          <a:p>
            <a:r>
              <a:rPr lang="en-GB" sz="2600" b="1" dirty="0"/>
              <a:t>Technical Risks</a:t>
            </a:r>
            <a:endParaRPr lang="en-GB" sz="2600" dirty="0"/>
          </a:p>
          <a:p>
            <a:r>
              <a:rPr lang="en-US" sz="2600" dirty="0"/>
              <a:t>T</a:t>
            </a:r>
            <a:r>
              <a:rPr lang="en-US" sz="2600" dirty="0" smtClean="0"/>
              <a:t>echnical </a:t>
            </a:r>
            <a:r>
              <a:rPr lang="en-US" sz="2600" dirty="0"/>
              <a:t>risks </a:t>
            </a:r>
            <a:r>
              <a:rPr lang="en-US" sz="2600" dirty="0" smtClean="0"/>
              <a:t>in a project refer to the potential problems that arise from new technology, system complexity, technical failures.. e.g. </a:t>
            </a:r>
            <a:r>
              <a:rPr lang="en-GB" sz="2600" dirty="0" smtClean="0"/>
              <a:t>A </a:t>
            </a:r>
            <a:r>
              <a:rPr lang="en-GB" sz="2600" dirty="0"/>
              <a:t>software project faces integration issues due to compatibility problems between old and new systems.</a:t>
            </a:r>
            <a:endParaRPr lang="en-US" sz="2600" dirty="0" smtClean="0"/>
          </a:p>
          <a:p>
            <a:r>
              <a:rPr lang="en-GB" sz="2600" b="1" dirty="0" smtClean="0"/>
              <a:t>External Risks</a:t>
            </a:r>
            <a:endParaRPr lang="en-GB" sz="2600" dirty="0" smtClean="0"/>
          </a:p>
          <a:p>
            <a:r>
              <a:rPr lang="en-US" sz="2600" dirty="0" smtClean="0"/>
              <a:t>External </a:t>
            </a:r>
            <a:r>
              <a:rPr lang="en-US" sz="2600" dirty="0"/>
              <a:t>risks are those that exist outside of the project’s </a:t>
            </a:r>
            <a:r>
              <a:rPr lang="en-US" sz="2600" dirty="0" smtClean="0"/>
              <a:t>organization.</a:t>
            </a:r>
            <a:r>
              <a:rPr lang="en-US" sz="2600" dirty="0"/>
              <a:t> </a:t>
            </a:r>
            <a:r>
              <a:rPr lang="en-US" sz="2600" dirty="0" smtClean="0"/>
              <a:t>Such </a:t>
            </a:r>
            <a:r>
              <a:rPr lang="en-US" sz="2600" dirty="0"/>
              <a:t>as political, governmental, climate, or economic </a:t>
            </a:r>
            <a:r>
              <a:rPr lang="en-US" sz="2600" dirty="0" smtClean="0"/>
              <a:t>changes.</a:t>
            </a:r>
            <a:r>
              <a:rPr lang="en-GB" sz="2600" dirty="0" smtClean="0"/>
              <a:t>e.g. New </a:t>
            </a:r>
            <a:r>
              <a:rPr lang="en-GB" sz="2600" dirty="0"/>
              <a:t>government regulations increase costs or require a project redesign.</a:t>
            </a:r>
            <a:endParaRPr lang="en-US" sz="2600" dirty="0" smtClean="0"/>
          </a:p>
          <a:p>
            <a:r>
              <a:rPr lang="en-GB" sz="2600" b="1" dirty="0" smtClean="0"/>
              <a:t>Organizational Risks: </a:t>
            </a:r>
            <a:r>
              <a:rPr lang="en-GB" sz="2600" dirty="0"/>
              <a:t>Organizational risks stem from internal challenges within the organization, such as resource constraints, unclear communication, or misaligned priorities</a:t>
            </a:r>
            <a:r>
              <a:rPr lang="en-GB" sz="2600" dirty="0" smtClean="0"/>
              <a:t>. e.g</a:t>
            </a:r>
            <a:r>
              <a:rPr lang="en-GB" sz="2600" dirty="0"/>
              <a:t>. Poor communication between departments results in missed deadlines.</a:t>
            </a:r>
            <a:endParaRPr lang="en-GB" sz="2600" dirty="0" smtClean="0"/>
          </a:p>
          <a:p>
            <a:r>
              <a:rPr lang="en-US" sz="2600" b="1" dirty="0" smtClean="0"/>
              <a:t>Project </a:t>
            </a:r>
            <a:r>
              <a:rPr lang="en-US" sz="2600" b="1" dirty="0"/>
              <a:t>Management Risks</a:t>
            </a:r>
            <a:endParaRPr lang="en-US" sz="2600" dirty="0"/>
          </a:p>
          <a:p>
            <a:r>
              <a:rPr lang="en-GB" sz="2600" dirty="0"/>
              <a:t>These risks arise from flaws in planning, execution, monitoring, or controlling the project. They often result from poor </a:t>
            </a:r>
            <a:r>
              <a:rPr lang="en-GB" sz="2600" dirty="0" smtClean="0"/>
              <a:t>decision making. e.g. </a:t>
            </a:r>
            <a:r>
              <a:rPr lang="en-GB" sz="2600" dirty="0"/>
              <a:t>Budget overruns occur due to poor cost estimation.</a:t>
            </a:r>
          </a:p>
          <a:p>
            <a:r>
              <a:rPr lang="en-GB" sz="2600" dirty="0"/>
              <a:t/>
            </a:r>
            <a:br>
              <a:rPr lang="en-GB" sz="2600" dirty="0"/>
            </a:br>
            <a:endParaRPr lang="en-US" sz="2600" dirty="0" smtClean="0"/>
          </a:p>
          <a:p>
            <a:endParaRPr lang="en-GB" sz="1800" b="1" dirty="0" smtClean="0"/>
          </a:p>
          <a:p>
            <a:endParaRPr lang="en-GB" sz="1800" dirty="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9</a:t>
            </a:fld>
            <a:endParaRPr lang="en-US" altLang="en-US"/>
          </a:p>
        </p:txBody>
      </p:sp>
    </p:spTree>
    <p:extLst>
      <p:ext uri="{BB962C8B-B14F-4D97-AF65-F5344CB8AC3E}">
        <p14:creationId xmlns:p14="http://schemas.microsoft.com/office/powerpoint/2010/main" val="14985703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Risk Breakdown Structure</a:t>
            </a:r>
            <a:endParaRPr lang="en-GB" sz="3200" b="1" dirty="0"/>
          </a:p>
        </p:txBody>
      </p:sp>
      <p:pic>
        <p:nvPicPr>
          <p:cNvPr id="7" name="Content Placeholder 6"/>
          <p:cNvPicPr>
            <a:picLocks noGrp="1" noChangeAspect="1"/>
          </p:cNvPicPr>
          <p:nvPr>
            <p:ph idx="1"/>
          </p:nvPr>
        </p:nvPicPr>
        <p:blipFill>
          <a:blip r:embed="rId2"/>
          <a:stretch>
            <a:fillRect/>
          </a:stretch>
        </p:blipFill>
        <p:spPr>
          <a:xfrm>
            <a:off x="685800" y="1846263"/>
            <a:ext cx="7848600" cy="4402137"/>
          </a:xfrm>
          <a:prstGeom prst="rect">
            <a:avLst/>
          </a:prstGeom>
        </p:spPr>
      </p:pic>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10</a:t>
            </a:fld>
            <a:endParaRPr lang="en-US" altLang="en-US"/>
          </a:p>
        </p:txBody>
      </p:sp>
    </p:spTree>
    <p:extLst>
      <p:ext uri="{BB962C8B-B14F-4D97-AF65-F5344CB8AC3E}">
        <p14:creationId xmlns:p14="http://schemas.microsoft.com/office/powerpoint/2010/main" val="29093340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Risk Breakdown Structure</a:t>
            </a:r>
            <a:endParaRPr lang="en-GB" sz="3200" dirty="0"/>
          </a:p>
        </p:txBody>
      </p:sp>
      <p:pic>
        <p:nvPicPr>
          <p:cNvPr id="7" name="Content Placeholder 6"/>
          <p:cNvPicPr>
            <a:picLocks noGrp="1" noChangeAspect="1"/>
          </p:cNvPicPr>
          <p:nvPr>
            <p:ph idx="1"/>
          </p:nvPr>
        </p:nvPicPr>
        <p:blipFill>
          <a:blip r:embed="rId2"/>
          <a:stretch>
            <a:fillRect/>
          </a:stretch>
        </p:blipFill>
        <p:spPr>
          <a:xfrm>
            <a:off x="955167" y="1995228"/>
            <a:ext cx="7278116" cy="3724795"/>
          </a:xfrm>
          <a:prstGeom prst="rect">
            <a:avLst/>
          </a:prstGeom>
        </p:spPr>
      </p:pic>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11</a:t>
            </a:fld>
            <a:endParaRPr lang="en-US" altLang="en-US"/>
          </a:p>
        </p:txBody>
      </p:sp>
    </p:spTree>
    <p:extLst>
      <p:ext uri="{BB962C8B-B14F-4D97-AF65-F5344CB8AC3E}">
        <p14:creationId xmlns:p14="http://schemas.microsoft.com/office/powerpoint/2010/main" val="7464193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8B95-3172-B4A5-1309-B6D6EBE53E67}"/>
              </a:ext>
            </a:extLst>
          </p:cNvPr>
          <p:cNvSpPr>
            <a:spLocks noGrp="1"/>
          </p:cNvSpPr>
          <p:nvPr>
            <p:ph type="title"/>
          </p:nvPr>
        </p:nvSpPr>
        <p:spPr>
          <a:xfrm>
            <a:off x="631135" y="1176544"/>
            <a:ext cx="7886700" cy="994172"/>
          </a:xfrm>
        </p:spPr>
        <p:txBody>
          <a:bodyPr>
            <a:normAutofit/>
          </a:bodyPr>
          <a:lstStyle/>
          <a:p>
            <a:r>
              <a:rPr lang="en-US" sz="3200" dirty="0" smtClean="0"/>
              <a:t>  What </a:t>
            </a:r>
            <a:r>
              <a:rPr lang="en-US" sz="3200" dirty="0"/>
              <a:t>is a project risk matrix?</a:t>
            </a:r>
            <a:r>
              <a:rPr lang="en-US" sz="3200" b="1" dirty="0"/>
              <a:t/>
            </a:r>
            <a:br>
              <a:rPr lang="en-US" sz="3200" b="1" dirty="0"/>
            </a:br>
            <a:endParaRPr lang="en-PK" sz="3200" dirty="0"/>
          </a:p>
        </p:txBody>
      </p:sp>
      <p:sp>
        <p:nvSpPr>
          <p:cNvPr id="3" name="Content Placeholder 2">
            <a:extLst>
              <a:ext uri="{FF2B5EF4-FFF2-40B4-BE49-F238E27FC236}">
                <a16:creationId xmlns:a16="http://schemas.microsoft.com/office/drawing/2014/main" id="{0265A359-2E96-1DD9-5485-5192612FD980}"/>
              </a:ext>
            </a:extLst>
          </p:cNvPr>
          <p:cNvSpPr>
            <a:spLocks noGrp="1"/>
          </p:cNvSpPr>
          <p:nvPr>
            <p:ph idx="1"/>
          </p:nvPr>
        </p:nvSpPr>
        <p:spPr/>
        <p:txBody>
          <a:bodyPr>
            <a:normAutofit/>
          </a:bodyPr>
          <a:lstStyle/>
          <a:p>
            <a:r>
              <a:rPr lang="en-US" sz="1800" dirty="0"/>
              <a:t>A project risk matrix, also known as a </a:t>
            </a:r>
            <a:r>
              <a:rPr lang="en-US" sz="1800" b="1" dirty="0"/>
              <a:t>Probability and Severity risk matrix</a:t>
            </a:r>
            <a:r>
              <a:rPr lang="en-US" sz="1800" dirty="0"/>
              <a:t>, is a graphical </a:t>
            </a:r>
            <a:r>
              <a:rPr lang="en-US" sz="1800" b="1" dirty="0"/>
              <a:t>risk analysis tool </a:t>
            </a:r>
            <a:r>
              <a:rPr lang="en-US" sz="1800" dirty="0"/>
              <a:t>in the form of a table (matrix). </a:t>
            </a:r>
          </a:p>
          <a:p>
            <a:r>
              <a:rPr lang="en-US" sz="1800" dirty="0"/>
              <a:t>Allocate ratings for each risk based on two intersecting factors</a:t>
            </a:r>
            <a:r>
              <a:rPr lang="en-US" sz="1800" dirty="0" smtClean="0"/>
              <a:t>: </a:t>
            </a:r>
            <a:endParaRPr lang="en-US" sz="1800" dirty="0"/>
          </a:p>
          <a:p>
            <a:pPr marL="0" indent="0">
              <a:buNone/>
            </a:pPr>
            <a:endParaRPr lang="en-US" sz="1800" dirty="0"/>
          </a:p>
          <a:p>
            <a:pPr lvl="1"/>
            <a:r>
              <a:rPr lang="en-US" dirty="0"/>
              <a:t>The likelihood (or probability) of a risk to occur.</a:t>
            </a:r>
          </a:p>
          <a:p>
            <a:pPr lvl="1"/>
            <a:r>
              <a:rPr lang="en-US" dirty="0"/>
              <a:t>The impact (or severity) if a risk occurs.</a:t>
            </a:r>
          </a:p>
          <a:p>
            <a:pPr marL="342900" lvl="1" indent="0">
              <a:buNone/>
            </a:pPr>
            <a:endParaRPr lang="en-US" dirty="0"/>
          </a:p>
          <a:p>
            <a:r>
              <a:rPr lang="en-US" sz="1800" dirty="0"/>
              <a:t>The higher a risk ranks for these two factors, the bigger threat it poses to your project.</a:t>
            </a:r>
          </a:p>
          <a:p>
            <a:pPr marL="0" indent="0">
              <a:buNone/>
            </a:pPr>
            <a:endParaRPr lang="en-US" sz="1800" dirty="0"/>
          </a:p>
          <a:p>
            <a:pPr marL="0" indent="0">
              <a:buNone/>
            </a:pPr>
            <a:endParaRPr lang="en-PK" sz="1800" dirty="0"/>
          </a:p>
        </p:txBody>
      </p:sp>
    </p:spTree>
    <p:extLst>
      <p:ext uri="{BB962C8B-B14F-4D97-AF65-F5344CB8AC3E}">
        <p14:creationId xmlns:p14="http://schemas.microsoft.com/office/powerpoint/2010/main" val="38808896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4E45-A9B4-BC77-ED97-7677B0C3B5E4}"/>
              </a:ext>
            </a:extLst>
          </p:cNvPr>
          <p:cNvSpPr>
            <a:spLocks noGrp="1"/>
          </p:cNvSpPr>
          <p:nvPr>
            <p:ph type="title"/>
          </p:nvPr>
        </p:nvSpPr>
        <p:spPr>
          <a:xfrm>
            <a:off x="544285" y="1072203"/>
            <a:ext cx="7822475" cy="1088068"/>
          </a:xfrm>
        </p:spPr>
        <p:txBody>
          <a:bodyPr>
            <a:normAutofit/>
          </a:bodyPr>
          <a:lstStyle/>
          <a:p>
            <a:r>
              <a:rPr lang="en-US" sz="1800" b="1" dirty="0"/>
              <a:t>Risk matrix template: create a risk matrix for your project </a:t>
            </a:r>
            <a:r>
              <a:rPr lang="en-US" b="1" dirty="0">
                <a:solidFill>
                  <a:srgbClr val="4B5973"/>
                </a:solidFill>
                <a:effectLst/>
                <a:latin typeface="+mn-lt"/>
              </a:rPr>
              <a:t/>
            </a:r>
            <a:br>
              <a:rPr lang="en-US" b="1" dirty="0">
                <a:solidFill>
                  <a:srgbClr val="4B5973"/>
                </a:solidFill>
                <a:effectLst/>
                <a:latin typeface="+mn-lt"/>
              </a:rPr>
            </a:br>
            <a:endParaRPr lang="en-PK" dirty="0">
              <a:latin typeface="+mn-lt"/>
            </a:endParaRPr>
          </a:p>
        </p:txBody>
      </p:sp>
      <p:sp>
        <p:nvSpPr>
          <p:cNvPr id="3" name="Content Placeholder 2">
            <a:extLst>
              <a:ext uri="{FF2B5EF4-FFF2-40B4-BE49-F238E27FC236}">
                <a16:creationId xmlns:a16="http://schemas.microsoft.com/office/drawing/2014/main" id="{E74BBF0E-3D2D-5A28-1121-F9DA6B3DB371}"/>
              </a:ext>
            </a:extLst>
          </p:cNvPr>
          <p:cNvSpPr>
            <a:spLocks noGrp="1"/>
          </p:cNvSpPr>
          <p:nvPr>
            <p:ph idx="1"/>
          </p:nvPr>
        </p:nvSpPr>
        <p:spPr>
          <a:xfrm>
            <a:off x="628650" y="1851163"/>
            <a:ext cx="7886700" cy="3638810"/>
          </a:xfrm>
        </p:spPr>
        <p:txBody>
          <a:bodyPr/>
          <a:lstStyle/>
          <a:p>
            <a:pPr marL="0" indent="0">
              <a:buNone/>
            </a:pPr>
            <a:r>
              <a:rPr lang="en-US" sz="1500" b="1" dirty="0"/>
              <a:t>Step 1. Identify project risks</a:t>
            </a:r>
          </a:p>
          <a:p>
            <a:pPr marL="0" indent="0">
              <a:buNone/>
            </a:pPr>
            <a:endParaRPr lang="en-PK" dirty="0"/>
          </a:p>
        </p:txBody>
      </p:sp>
      <p:pic>
        <p:nvPicPr>
          <p:cNvPr id="5" name="Picture 4">
            <a:extLst>
              <a:ext uri="{FF2B5EF4-FFF2-40B4-BE49-F238E27FC236}">
                <a16:creationId xmlns:a16="http://schemas.microsoft.com/office/drawing/2014/main" id="{6E0A7629-D6A1-E96E-16D6-85402BAE4536}"/>
              </a:ext>
            </a:extLst>
          </p:cNvPr>
          <p:cNvPicPr>
            <a:picLocks noChangeAspect="1"/>
          </p:cNvPicPr>
          <p:nvPr/>
        </p:nvPicPr>
        <p:blipFill>
          <a:blip r:embed="rId2"/>
          <a:stretch>
            <a:fillRect/>
          </a:stretch>
        </p:blipFill>
        <p:spPr>
          <a:xfrm>
            <a:off x="934279" y="2258668"/>
            <a:ext cx="7056782" cy="3684932"/>
          </a:xfrm>
          <a:prstGeom prst="rect">
            <a:avLst/>
          </a:prstGeom>
        </p:spPr>
      </p:pic>
    </p:spTree>
    <p:extLst>
      <p:ext uri="{BB962C8B-B14F-4D97-AF65-F5344CB8AC3E}">
        <p14:creationId xmlns:p14="http://schemas.microsoft.com/office/powerpoint/2010/main" val="896031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ED2683-4C84-A732-252D-1683628223FB}"/>
              </a:ext>
            </a:extLst>
          </p:cNvPr>
          <p:cNvSpPr>
            <a:spLocks noGrp="1"/>
          </p:cNvSpPr>
          <p:nvPr>
            <p:ph idx="1"/>
          </p:nvPr>
        </p:nvSpPr>
        <p:spPr>
          <a:xfrm>
            <a:off x="838200" y="1828800"/>
            <a:ext cx="7886700" cy="4135766"/>
          </a:xfrm>
        </p:spPr>
        <p:txBody>
          <a:bodyPr>
            <a:normAutofit/>
          </a:bodyPr>
          <a:lstStyle/>
          <a:p>
            <a:pPr marL="0" indent="0">
              <a:buNone/>
            </a:pPr>
            <a:r>
              <a:rPr lang="en-US" b="1" dirty="0" smtClean="0"/>
              <a:t> Step </a:t>
            </a:r>
            <a:r>
              <a:rPr lang="en-US" b="1" dirty="0"/>
              <a:t>2: Determine the risk likelihood</a:t>
            </a:r>
          </a:p>
          <a:p>
            <a:pPr marL="0" indent="0">
              <a:buNone/>
            </a:pPr>
            <a:endParaRPr lang="en-US" sz="1500" dirty="0">
              <a:solidFill>
                <a:srgbClr val="28303D"/>
              </a:solidFill>
            </a:endParaRPr>
          </a:p>
          <a:p>
            <a:pPr marL="0" indent="0">
              <a:buNone/>
            </a:pPr>
            <a:r>
              <a:rPr lang="en-US" sz="1500" dirty="0">
                <a:solidFill>
                  <a:srgbClr val="28303D"/>
                </a:solidFill>
              </a:rPr>
              <a:t>In this step, you need to identify the likelihood of a given risk happening.</a:t>
            </a:r>
          </a:p>
          <a:p>
            <a:pPr marL="0" indent="0">
              <a:buNone/>
            </a:pPr>
            <a:endParaRPr lang="en-US" sz="1500" dirty="0">
              <a:solidFill>
                <a:srgbClr val="28303D"/>
              </a:solidFill>
            </a:endParaRPr>
          </a:p>
          <a:p>
            <a:pPr marL="0" indent="0" fontAlgn="base">
              <a:buNone/>
            </a:pPr>
            <a:r>
              <a:rPr lang="en-US" sz="1500" b="1" dirty="0">
                <a:solidFill>
                  <a:srgbClr val="28303D"/>
                </a:solidFill>
              </a:rPr>
              <a:t>1</a:t>
            </a:r>
            <a:r>
              <a:rPr lang="en-US" sz="1500" dirty="0">
                <a:solidFill>
                  <a:srgbClr val="28303D"/>
                </a:solidFill>
              </a:rPr>
              <a:t> – (Very unlikely): A very slim chance for this risk to occur.</a:t>
            </a:r>
          </a:p>
          <a:p>
            <a:pPr marL="0" indent="0" fontAlgn="base">
              <a:buNone/>
            </a:pPr>
            <a:r>
              <a:rPr lang="en-US" sz="1500" b="1" dirty="0">
                <a:solidFill>
                  <a:srgbClr val="28303D"/>
                </a:solidFill>
              </a:rPr>
              <a:t>2</a:t>
            </a:r>
            <a:r>
              <a:rPr lang="en-US" sz="1500" dirty="0">
                <a:solidFill>
                  <a:srgbClr val="28303D"/>
                </a:solidFill>
              </a:rPr>
              <a:t> –  (Not likely): Low chances for this risk to occur.</a:t>
            </a:r>
          </a:p>
          <a:p>
            <a:pPr marL="0" indent="0" fontAlgn="base">
              <a:buNone/>
            </a:pPr>
            <a:r>
              <a:rPr lang="en-US" sz="1500" b="1" dirty="0">
                <a:solidFill>
                  <a:srgbClr val="28303D"/>
                </a:solidFill>
              </a:rPr>
              <a:t>3</a:t>
            </a:r>
            <a:r>
              <a:rPr lang="en-US" sz="1500" dirty="0">
                <a:solidFill>
                  <a:srgbClr val="28303D"/>
                </a:solidFill>
              </a:rPr>
              <a:t> – (Possible): Fifty-fifty chances for this risk to occur.</a:t>
            </a:r>
          </a:p>
          <a:p>
            <a:pPr marL="0" indent="0" fontAlgn="base">
              <a:buNone/>
            </a:pPr>
            <a:r>
              <a:rPr lang="en-US" sz="1500" b="1" dirty="0">
                <a:solidFill>
                  <a:srgbClr val="28303D"/>
                </a:solidFill>
              </a:rPr>
              <a:t>4</a:t>
            </a:r>
            <a:r>
              <a:rPr lang="en-US" sz="1500" dirty="0">
                <a:solidFill>
                  <a:srgbClr val="28303D"/>
                </a:solidFill>
              </a:rPr>
              <a:t> – (Probable): Good chances for this risk to occur.</a:t>
            </a:r>
          </a:p>
          <a:p>
            <a:pPr marL="0" indent="0" fontAlgn="base">
              <a:buNone/>
            </a:pPr>
            <a:r>
              <a:rPr lang="en-US" sz="1500" b="1" dirty="0">
                <a:solidFill>
                  <a:srgbClr val="28303D"/>
                </a:solidFill>
              </a:rPr>
              <a:t>5</a:t>
            </a:r>
            <a:r>
              <a:rPr lang="en-US" sz="1500" dirty="0">
                <a:solidFill>
                  <a:srgbClr val="28303D"/>
                </a:solidFill>
              </a:rPr>
              <a:t> – (Very likely): You can bet this risk will occur at some point.</a:t>
            </a:r>
          </a:p>
          <a:p>
            <a:pPr marL="0" indent="0">
              <a:buNone/>
            </a:pPr>
            <a:r>
              <a:rPr lang="en-US" sz="1500" dirty="0">
                <a:solidFill>
                  <a:srgbClr val="007FBF"/>
                </a:solidFill>
                <a:hlinkClick r:id="rId2"/>
              </a:rPr>
              <a:t/>
            </a:r>
            <a:br>
              <a:rPr lang="en-US" sz="1500" dirty="0">
                <a:solidFill>
                  <a:srgbClr val="007FBF"/>
                </a:solidFill>
                <a:hlinkClick r:id="rId2"/>
              </a:rPr>
            </a:br>
            <a:endParaRPr lang="en-PK" sz="1500" dirty="0"/>
          </a:p>
        </p:txBody>
      </p:sp>
    </p:spTree>
    <p:extLst>
      <p:ext uri="{BB962C8B-B14F-4D97-AF65-F5344CB8AC3E}">
        <p14:creationId xmlns:p14="http://schemas.microsoft.com/office/powerpoint/2010/main" val="8138517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020E02-6BE2-38E1-26AA-877BC8F16358}"/>
              </a:ext>
            </a:extLst>
          </p:cNvPr>
          <p:cNvPicPr>
            <a:picLocks noGrp="1" noChangeAspect="1"/>
          </p:cNvPicPr>
          <p:nvPr>
            <p:ph idx="1"/>
          </p:nvPr>
        </p:nvPicPr>
        <p:blipFill>
          <a:blip r:embed="rId2"/>
          <a:stretch>
            <a:fillRect/>
          </a:stretch>
        </p:blipFill>
        <p:spPr>
          <a:xfrm>
            <a:off x="609600" y="1066800"/>
            <a:ext cx="7848600" cy="5181600"/>
          </a:xfrm>
        </p:spPr>
      </p:pic>
    </p:spTree>
    <p:extLst>
      <p:ext uri="{BB962C8B-B14F-4D97-AF65-F5344CB8AC3E}">
        <p14:creationId xmlns:p14="http://schemas.microsoft.com/office/powerpoint/2010/main" val="26497238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7D4061-1ECC-A327-CE12-8369F5D3192B}"/>
              </a:ext>
            </a:extLst>
          </p:cNvPr>
          <p:cNvSpPr>
            <a:spLocks noGrp="1"/>
          </p:cNvSpPr>
          <p:nvPr>
            <p:ph idx="1"/>
          </p:nvPr>
        </p:nvSpPr>
        <p:spPr/>
        <p:txBody>
          <a:bodyPr>
            <a:normAutofit/>
          </a:bodyPr>
          <a:lstStyle/>
          <a:p>
            <a:pPr marL="0" indent="0" fontAlgn="base">
              <a:buNone/>
            </a:pPr>
            <a:r>
              <a:rPr lang="en-US" sz="1800" b="1" dirty="0" smtClean="0"/>
              <a:t>Step </a:t>
            </a:r>
            <a:r>
              <a:rPr lang="en-US" sz="1800" b="1" dirty="0"/>
              <a:t>3. Define the impact scale</a:t>
            </a:r>
            <a:endParaRPr lang="en-US" sz="1800" b="1" dirty="0">
              <a:solidFill>
                <a:srgbClr val="28303D"/>
              </a:solidFill>
            </a:endParaRPr>
          </a:p>
          <a:p>
            <a:pPr marL="0" indent="0" fontAlgn="base">
              <a:buNone/>
            </a:pPr>
            <a:r>
              <a:rPr lang="en-US" sz="1800" b="1" dirty="0" smtClean="0">
                <a:solidFill>
                  <a:srgbClr val="28303D"/>
                </a:solidFill>
              </a:rPr>
              <a:t>1</a:t>
            </a:r>
            <a:r>
              <a:rPr lang="en-US" sz="1800" dirty="0">
                <a:solidFill>
                  <a:srgbClr val="28303D"/>
                </a:solidFill>
              </a:rPr>
              <a:t> – (Negligible): This risk will hardly impact your project.</a:t>
            </a:r>
          </a:p>
          <a:p>
            <a:pPr marL="0" indent="0" fontAlgn="base">
              <a:buNone/>
            </a:pPr>
            <a:r>
              <a:rPr lang="en-US" sz="1800" b="1" dirty="0">
                <a:solidFill>
                  <a:srgbClr val="28303D"/>
                </a:solidFill>
              </a:rPr>
              <a:t>2</a:t>
            </a:r>
            <a:r>
              <a:rPr lang="en-US" sz="1800" dirty="0">
                <a:solidFill>
                  <a:srgbClr val="28303D"/>
                </a:solidFill>
              </a:rPr>
              <a:t> –  (Low): You can easily handle the consequences of this risk.</a:t>
            </a:r>
          </a:p>
          <a:p>
            <a:pPr marL="0" indent="0" fontAlgn="base">
              <a:buNone/>
            </a:pPr>
            <a:r>
              <a:rPr lang="en-US" sz="1800" b="1" dirty="0">
                <a:solidFill>
                  <a:srgbClr val="28303D"/>
                </a:solidFill>
              </a:rPr>
              <a:t>3</a:t>
            </a:r>
            <a:r>
              <a:rPr lang="en-US" sz="1800" dirty="0">
                <a:solidFill>
                  <a:srgbClr val="28303D"/>
                </a:solidFill>
              </a:rPr>
              <a:t> – (Moderate): It will take some time and effort to mitigate the consequences of this risk.</a:t>
            </a:r>
          </a:p>
          <a:p>
            <a:pPr marL="0" indent="0" fontAlgn="base">
              <a:buNone/>
            </a:pPr>
            <a:r>
              <a:rPr lang="en-US" sz="1800" b="1" dirty="0">
                <a:solidFill>
                  <a:srgbClr val="28303D"/>
                </a:solidFill>
              </a:rPr>
              <a:t>4</a:t>
            </a:r>
            <a:r>
              <a:rPr lang="en-US" sz="1800" dirty="0">
                <a:solidFill>
                  <a:srgbClr val="28303D"/>
                </a:solidFill>
              </a:rPr>
              <a:t> – (Significant): This risk could cause long-term consequences that will be hard to recover from.</a:t>
            </a:r>
          </a:p>
          <a:p>
            <a:pPr marL="0" indent="0" fontAlgn="base">
              <a:buNone/>
            </a:pPr>
            <a:r>
              <a:rPr lang="en-US" sz="1800" b="1" dirty="0">
                <a:solidFill>
                  <a:srgbClr val="28303D"/>
                </a:solidFill>
              </a:rPr>
              <a:t>5</a:t>
            </a:r>
            <a:r>
              <a:rPr lang="en-US" sz="1800" dirty="0">
                <a:solidFill>
                  <a:srgbClr val="28303D"/>
                </a:solidFill>
              </a:rPr>
              <a:t> – (Catastrophic): The impact of this risk might wreck your project.</a:t>
            </a:r>
          </a:p>
          <a:p>
            <a:pPr marL="0" indent="0">
              <a:buNone/>
            </a:pPr>
            <a:r>
              <a:rPr lang="en-US" sz="1800" dirty="0">
                <a:solidFill>
                  <a:srgbClr val="007FBF"/>
                </a:solidFill>
                <a:hlinkClick r:id="rId2"/>
              </a:rPr>
              <a:t/>
            </a:r>
            <a:br>
              <a:rPr lang="en-US" sz="1800" dirty="0">
                <a:solidFill>
                  <a:srgbClr val="007FBF"/>
                </a:solidFill>
                <a:hlinkClick r:id="rId2"/>
              </a:rPr>
            </a:br>
            <a:endParaRPr lang="en-PK" sz="1800" dirty="0"/>
          </a:p>
        </p:txBody>
      </p:sp>
    </p:spTree>
    <p:extLst>
      <p:ext uri="{BB962C8B-B14F-4D97-AF65-F5344CB8AC3E}">
        <p14:creationId xmlns:p14="http://schemas.microsoft.com/office/powerpoint/2010/main" val="13571456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2017C6-3BCB-CCB6-3B4C-C931D8F2F5D2}"/>
              </a:ext>
            </a:extLst>
          </p:cNvPr>
          <p:cNvPicPr>
            <a:picLocks noGrp="1" noChangeAspect="1"/>
          </p:cNvPicPr>
          <p:nvPr>
            <p:ph idx="1"/>
          </p:nvPr>
        </p:nvPicPr>
        <p:blipFill>
          <a:blip r:embed="rId2"/>
          <a:stretch>
            <a:fillRect/>
          </a:stretch>
        </p:blipFill>
        <p:spPr>
          <a:xfrm>
            <a:off x="838200" y="762000"/>
            <a:ext cx="7620000" cy="4876800"/>
          </a:xfrm>
        </p:spPr>
      </p:pic>
    </p:spTree>
    <p:extLst>
      <p:ext uri="{BB962C8B-B14F-4D97-AF65-F5344CB8AC3E}">
        <p14:creationId xmlns:p14="http://schemas.microsoft.com/office/powerpoint/2010/main" val="30000829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3BB216-E9CE-4611-3DC5-9CA86DA620E5}"/>
              </a:ext>
            </a:extLst>
          </p:cNvPr>
          <p:cNvSpPr>
            <a:spLocks noGrp="1"/>
          </p:cNvSpPr>
          <p:nvPr>
            <p:ph idx="1"/>
          </p:nvPr>
        </p:nvSpPr>
        <p:spPr/>
        <p:txBody>
          <a:bodyPr/>
          <a:lstStyle/>
          <a:p>
            <a:pPr marL="0" indent="0" fontAlgn="base">
              <a:buNone/>
            </a:pPr>
            <a:r>
              <a:rPr lang="en-US" sz="1800" b="1" dirty="0" smtClean="0"/>
              <a:t>Step </a:t>
            </a:r>
            <a:r>
              <a:rPr lang="en-US" sz="1800" b="1" dirty="0"/>
              <a:t>4. Calculate the risk rating</a:t>
            </a:r>
            <a:endParaRPr lang="en-US" sz="1800" dirty="0">
              <a:solidFill>
                <a:srgbClr val="28303D"/>
              </a:solidFill>
            </a:endParaRPr>
          </a:p>
          <a:p>
            <a:pPr marL="0" indent="0" fontAlgn="base">
              <a:buNone/>
            </a:pPr>
            <a:r>
              <a:rPr lang="en-US" sz="1800" dirty="0" smtClean="0">
                <a:solidFill>
                  <a:srgbClr val="28303D"/>
                </a:solidFill>
              </a:rPr>
              <a:t>The </a:t>
            </a:r>
            <a:r>
              <a:rPr lang="en-US" sz="1800" dirty="0">
                <a:solidFill>
                  <a:srgbClr val="28303D"/>
                </a:solidFill>
              </a:rPr>
              <a:t>formula for the risk rating is as follows:</a:t>
            </a:r>
          </a:p>
          <a:p>
            <a:pPr marL="0" indent="0" fontAlgn="base">
              <a:buNone/>
            </a:pPr>
            <a:r>
              <a:rPr lang="en-US" sz="1800" b="1" i="1" dirty="0" smtClean="0">
                <a:solidFill>
                  <a:srgbClr val="28303D"/>
                </a:solidFill>
              </a:rPr>
              <a:t>Likelihood </a:t>
            </a:r>
            <a:r>
              <a:rPr lang="en-US" sz="1800" b="1" i="1" dirty="0">
                <a:solidFill>
                  <a:srgbClr val="28303D"/>
                </a:solidFill>
              </a:rPr>
              <a:t>x impact = Risk rating</a:t>
            </a:r>
            <a:endParaRPr lang="en-US" sz="1800" dirty="0">
              <a:solidFill>
                <a:srgbClr val="28303D"/>
              </a:solidFill>
            </a:endParaRPr>
          </a:p>
          <a:p>
            <a:pPr marL="0" indent="0" fontAlgn="base">
              <a:buNone/>
            </a:pPr>
            <a:r>
              <a:rPr lang="en-US" sz="1800" dirty="0">
                <a:solidFill>
                  <a:srgbClr val="28303D"/>
                </a:solidFill>
              </a:rPr>
              <a:t>e.g., Likelihood (4) x Impact (5) = Risk rating (20) </a:t>
            </a:r>
          </a:p>
          <a:p>
            <a:pPr marL="0" indent="0" fontAlgn="base">
              <a:buNone/>
            </a:pPr>
            <a:r>
              <a:rPr lang="en-US" sz="1800" dirty="0" smtClean="0">
                <a:solidFill>
                  <a:srgbClr val="28303D"/>
                </a:solidFill>
              </a:rPr>
              <a:t>(</a:t>
            </a:r>
            <a:r>
              <a:rPr lang="en-US" sz="1800" dirty="0">
                <a:solidFill>
                  <a:srgbClr val="28303D"/>
                </a:solidFill>
              </a:rPr>
              <a:t>A risk with such a high rating could threaten your project, therefore you should monitor it closely.)</a:t>
            </a:r>
          </a:p>
          <a:p>
            <a:endParaRPr lang="en-PK" dirty="0"/>
          </a:p>
        </p:txBody>
      </p:sp>
    </p:spTree>
    <p:extLst>
      <p:ext uri="{BB962C8B-B14F-4D97-AF65-F5344CB8AC3E}">
        <p14:creationId xmlns:p14="http://schemas.microsoft.com/office/powerpoint/2010/main" val="8827849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BB6B0-BF8A-9B18-E425-DEDD2A74E6A4}"/>
              </a:ext>
            </a:extLst>
          </p:cNvPr>
          <p:cNvSpPr>
            <a:spLocks noGrp="1"/>
          </p:cNvSpPr>
          <p:nvPr>
            <p:ph idx="1"/>
          </p:nvPr>
        </p:nvSpPr>
        <p:spPr>
          <a:xfrm>
            <a:off x="838200" y="1828800"/>
            <a:ext cx="7886700" cy="4016496"/>
          </a:xfrm>
        </p:spPr>
        <p:txBody>
          <a:bodyPr>
            <a:normAutofit/>
          </a:bodyPr>
          <a:lstStyle/>
          <a:p>
            <a:pPr marL="0" indent="0" fontAlgn="base">
              <a:buNone/>
            </a:pPr>
            <a:r>
              <a:rPr lang="en-US" sz="1800" b="1" dirty="0" smtClean="0">
                <a:solidFill>
                  <a:srgbClr val="28303D"/>
                </a:solidFill>
              </a:rPr>
              <a:t>The </a:t>
            </a:r>
            <a:r>
              <a:rPr lang="en-US" sz="1800" b="1" dirty="0">
                <a:solidFill>
                  <a:srgbClr val="28303D"/>
                </a:solidFill>
              </a:rPr>
              <a:t>risk rating values will range from 1 to 25.</a:t>
            </a:r>
          </a:p>
          <a:p>
            <a:pPr marL="0" indent="0" fontAlgn="base">
              <a:buNone/>
            </a:pPr>
            <a:r>
              <a:rPr lang="en-US" sz="1800" b="1" dirty="0" smtClean="0">
                <a:solidFill>
                  <a:srgbClr val="28303D"/>
                </a:solidFill>
              </a:rPr>
              <a:t>1 </a:t>
            </a:r>
            <a:r>
              <a:rPr lang="en-US" sz="1800" b="1" dirty="0">
                <a:solidFill>
                  <a:srgbClr val="28303D"/>
                </a:solidFill>
              </a:rPr>
              <a:t>– 6</a:t>
            </a:r>
            <a:r>
              <a:rPr lang="en-US" sz="1800" dirty="0">
                <a:solidFill>
                  <a:srgbClr val="28303D"/>
                </a:solidFill>
              </a:rPr>
              <a:t> (Low): Low-rating risks most likely will not happen. If they do, they will not be a threat to your project.</a:t>
            </a:r>
          </a:p>
          <a:p>
            <a:pPr marL="0" indent="0" fontAlgn="base">
              <a:buNone/>
            </a:pPr>
            <a:r>
              <a:rPr lang="en-US" sz="1800" b="1" dirty="0">
                <a:solidFill>
                  <a:srgbClr val="28303D"/>
                </a:solidFill>
              </a:rPr>
              <a:t>7 – 12</a:t>
            </a:r>
            <a:r>
              <a:rPr lang="en-US" sz="1800" dirty="0">
                <a:solidFill>
                  <a:srgbClr val="28303D"/>
                </a:solidFill>
              </a:rPr>
              <a:t> (Medium): Some medium-rating risks might happen at some point. You do not need to prioritize them but you should not ignore them either.</a:t>
            </a:r>
          </a:p>
          <a:p>
            <a:pPr marL="0" indent="0" fontAlgn="base">
              <a:buNone/>
            </a:pPr>
            <a:r>
              <a:rPr lang="en-US" sz="1800" b="1" dirty="0">
                <a:solidFill>
                  <a:srgbClr val="28303D"/>
                </a:solidFill>
              </a:rPr>
              <a:t>13 – 25</a:t>
            </a:r>
            <a:r>
              <a:rPr lang="en-US" sz="1800" dirty="0">
                <a:solidFill>
                  <a:srgbClr val="28303D"/>
                </a:solidFill>
              </a:rPr>
              <a:t> (High): High-rating risks are serious and very likely to happen threats. They can cause your project to go off the rails, so you should keep them in mind when planning your project.</a:t>
            </a:r>
          </a:p>
          <a:p>
            <a:pPr marL="0" indent="0">
              <a:buNone/>
            </a:pPr>
            <a:r>
              <a:rPr lang="en-US" sz="1500" dirty="0">
                <a:solidFill>
                  <a:srgbClr val="007FBF"/>
                </a:solidFill>
                <a:hlinkClick r:id="rId2"/>
              </a:rPr>
              <a:t/>
            </a:r>
            <a:br>
              <a:rPr lang="en-US" sz="1500" dirty="0">
                <a:solidFill>
                  <a:srgbClr val="007FBF"/>
                </a:solidFill>
                <a:hlinkClick r:id="rId2"/>
              </a:rPr>
            </a:br>
            <a:endParaRPr lang="en-PK" sz="1500" dirty="0"/>
          </a:p>
        </p:txBody>
      </p:sp>
    </p:spTree>
    <p:extLst>
      <p:ext uri="{BB962C8B-B14F-4D97-AF65-F5344CB8AC3E}">
        <p14:creationId xmlns:p14="http://schemas.microsoft.com/office/powerpoint/2010/main" val="38226265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Project </a:t>
            </a:r>
            <a:r>
              <a:rPr lang="en-US" sz="3200" b="1" dirty="0"/>
              <a:t>risk matrix</a:t>
            </a:r>
            <a:endParaRPr lang="en-GB" sz="3200"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20</a:t>
            </a:fld>
            <a:endParaRPr lang="en-US" altLang="en-US"/>
          </a:p>
        </p:txBody>
      </p:sp>
      <p:pic>
        <p:nvPicPr>
          <p:cNvPr id="7" name="Content Placeholder 4">
            <a:extLst>
              <a:ext uri="{FF2B5EF4-FFF2-40B4-BE49-F238E27FC236}">
                <a16:creationId xmlns:a16="http://schemas.microsoft.com/office/drawing/2014/main" id="{7FE81C60-60F6-5D12-0285-C9FB03823CD1}"/>
              </a:ext>
            </a:extLst>
          </p:cNvPr>
          <p:cNvPicPr>
            <a:picLocks noGrp="1" noChangeAspect="1"/>
          </p:cNvPicPr>
          <p:nvPr>
            <p:ph idx="1"/>
          </p:nvPr>
        </p:nvPicPr>
        <p:blipFill>
          <a:blip r:embed="rId2"/>
          <a:stretch>
            <a:fillRect/>
          </a:stretch>
        </p:blipFill>
        <p:spPr>
          <a:xfrm>
            <a:off x="1017088" y="2076202"/>
            <a:ext cx="7154273" cy="3562847"/>
          </a:xfrm>
        </p:spPr>
      </p:pic>
    </p:spTree>
    <p:extLst>
      <p:ext uri="{BB962C8B-B14F-4D97-AF65-F5344CB8AC3E}">
        <p14:creationId xmlns:p14="http://schemas.microsoft.com/office/powerpoint/2010/main" val="3654121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Case study:</a:t>
            </a:r>
            <a:r>
              <a:rPr lang="en-GB" sz="2400" b="1" dirty="0"/>
              <a:t>Development of a Cloud-Based Education Platform</a:t>
            </a:r>
          </a:p>
        </p:txBody>
      </p:sp>
      <p:sp>
        <p:nvSpPr>
          <p:cNvPr id="3" name="Content Placeholder 2"/>
          <p:cNvSpPr>
            <a:spLocks noGrp="1"/>
          </p:cNvSpPr>
          <p:nvPr>
            <p:ph idx="1"/>
          </p:nvPr>
        </p:nvSpPr>
        <p:spPr>
          <a:xfrm>
            <a:off x="822959" y="1845734"/>
            <a:ext cx="7543801" cy="5545666"/>
          </a:xfrm>
        </p:spPr>
        <p:txBody>
          <a:bodyPr>
            <a:normAutofit fontScale="40000" lnSpcReduction="20000"/>
          </a:bodyPr>
          <a:lstStyle/>
          <a:p>
            <a:pPr marL="0" indent="0" algn="just">
              <a:buNone/>
            </a:pPr>
            <a:r>
              <a:rPr lang="en-GB" sz="3800" dirty="0" smtClean="0"/>
              <a:t> A </a:t>
            </a:r>
            <a:r>
              <a:rPr lang="en-GB" sz="3800" dirty="0"/>
              <a:t>tech company is contracted to build a cloud-based education platform aimed at universities and schools. The platform will provide features like live classes, digital content management, and performance analytics for students and teachers. The project is high-priority, with a tight deadline of six months to launch before the upcoming academic year</a:t>
            </a:r>
            <a:r>
              <a:rPr lang="en-GB" sz="3800" dirty="0" smtClean="0"/>
              <a:t>.</a:t>
            </a:r>
          </a:p>
          <a:p>
            <a:pPr marL="0" indent="0" algn="just">
              <a:buNone/>
            </a:pPr>
            <a:r>
              <a:rPr lang="en-GB" sz="3800" dirty="0"/>
              <a:t>The platform needs to integrate seamlessly with existing legacy systems used by schools and </a:t>
            </a:r>
            <a:r>
              <a:rPr lang="en-GB" sz="3800" dirty="0" smtClean="0"/>
              <a:t>universities. Government </a:t>
            </a:r>
            <a:r>
              <a:rPr lang="en-GB" sz="3800" dirty="0"/>
              <a:t>regulations mandate strict data security and compliance with privacy </a:t>
            </a:r>
            <a:r>
              <a:rPr lang="en-GB" sz="3800" dirty="0" smtClean="0"/>
              <a:t>laws. The </a:t>
            </a:r>
            <a:r>
              <a:rPr lang="en-GB" sz="3800" dirty="0"/>
              <a:t>team comprises developers, testers, and project managers, with key members handling critical components like live streaming and </a:t>
            </a:r>
            <a:r>
              <a:rPr lang="en-GB" sz="3800" dirty="0" smtClean="0"/>
              <a:t>analytics. The </a:t>
            </a:r>
            <a:r>
              <a:rPr lang="en-GB" sz="3800" dirty="0"/>
              <a:t>project budget is constrained, and timelines are tight due to contractual obligations</a:t>
            </a:r>
            <a:r>
              <a:rPr lang="en-GB" sz="3800" dirty="0" smtClean="0"/>
              <a:t>.</a:t>
            </a:r>
          </a:p>
          <a:p>
            <a:pPr algn="just"/>
            <a:r>
              <a:rPr lang="en-GB" sz="4000" b="1" dirty="0"/>
              <a:t>Progress and Challenges:</a:t>
            </a:r>
            <a:endParaRPr lang="en-GB" sz="4000" dirty="0"/>
          </a:p>
          <a:p>
            <a:pPr algn="just"/>
            <a:r>
              <a:rPr lang="en-GB" sz="4000" dirty="0"/>
              <a:t> 1. Legacy System Integration</a:t>
            </a:r>
          </a:p>
          <a:p>
            <a:pPr algn="just"/>
            <a:r>
              <a:rPr lang="en-GB" sz="4000" dirty="0"/>
              <a:t>During initial development, the team discovered that integrating the platform with the diverse legacy systems used by different schools would be more complex than anticipated. This integration challenge risks delaying delivery timelines.</a:t>
            </a:r>
          </a:p>
          <a:p>
            <a:pPr algn="just"/>
            <a:r>
              <a:rPr lang="en-GB" sz="4000" dirty="0"/>
              <a:t> 2. Regulatory Compliance</a:t>
            </a:r>
          </a:p>
          <a:p>
            <a:pPr algn="just"/>
            <a:r>
              <a:rPr lang="en-GB" sz="4000" dirty="0"/>
              <a:t>Midway through the project, a government directive introduced new data security standards for education platforms. These changes require the team to implement additional security features, which could increase development time and costs.</a:t>
            </a:r>
          </a:p>
          <a:p>
            <a:pPr marL="0" indent="0" algn="just">
              <a:buNone/>
            </a:pPr>
            <a:endParaRPr lang="en-GB" sz="3800" dirty="0" smtClean="0"/>
          </a:p>
          <a:p>
            <a:pPr algn="just"/>
            <a:endParaRPr lang="en-US" sz="4500" dirty="0"/>
          </a:p>
          <a:p>
            <a:r>
              <a:rPr lang="en-GB" dirty="0"/>
              <a:t/>
            </a:r>
            <a:br>
              <a:rPr lang="en-GB" dirty="0"/>
            </a:br>
            <a:endParaRPr lang="en-GB" dirty="0"/>
          </a:p>
          <a:p>
            <a:r>
              <a:rPr lang="en-GB" dirty="0"/>
              <a:t/>
            </a:r>
            <a:br>
              <a:rPr lang="en-GB" dirty="0"/>
            </a:b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21</a:t>
            </a:fld>
            <a:endParaRPr lang="en-US" altLang="en-US"/>
          </a:p>
        </p:txBody>
      </p:sp>
    </p:spTree>
    <p:extLst>
      <p:ext uri="{BB962C8B-B14F-4D97-AF65-F5344CB8AC3E}">
        <p14:creationId xmlns:p14="http://schemas.microsoft.com/office/powerpoint/2010/main" val="23205921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Case study:</a:t>
            </a:r>
            <a:r>
              <a:rPr lang="en-GB" sz="2400" b="1" dirty="0"/>
              <a:t>Development of a Cloud-Based Education Platform</a:t>
            </a:r>
            <a:endParaRPr lang="en-GB" sz="2400" dirty="0"/>
          </a:p>
        </p:txBody>
      </p:sp>
      <p:sp>
        <p:nvSpPr>
          <p:cNvPr id="3" name="Content Placeholder 2"/>
          <p:cNvSpPr>
            <a:spLocks noGrp="1"/>
          </p:cNvSpPr>
          <p:nvPr>
            <p:ph idx="1"/>
          </p:nvPr>
        </p:nvSpPr>
        <p:spPr/>
        <p:txBody>
          <a:bodyPr>
            <a:normAutofit fontScale="92500" lnSpcReduction="20000"/>
          </a:bodyPr>
          <a:lstStyle/>
          <a:p>
            <a:pPr algn="just"/>
            <a:r>
              <a:rPr lang="en-GB" dirty="0"/>
              <a:t> </a:t>
            </a:r>
            <a:r>
              <a:rPr lang="en-GB" sz="1900" dirty="0"/>
              <a:t>3. Team Member Resignation</a:t>
            </a:r>
          </a:p>
          <a:p>
            <a:pPr algn="just"/>
            <a:r>
              <a:rPr lang="en-GB" sz="1900" dirty="0"/>
              <a:t>Two months into the project, a senior developer who was leading the live streaming module resigned. This resignation created a gap in expertise, slowing progress on a critical feature.</a:t>
            </a:r>
          </a:p>
          <a:p>
            <a:pPr algn="just"/>
            <a:r>
              <a:rPr lang="en-GB" sz="1900" dirty="0"/>
              <a:t> 4. Underestimated Effort</a:t>
            </a:r>
          </a:p>
          <a:p>
            <a:pPr algn="just"/>
            <a:r>
              <a:rPr lang="en-GB" sz="1900" dirty="0"/>
              <a:t>Initial estimates for the live class and analytics features turned out to be overly optimistic. The team realized that building and testing these features required far more time than planned, leading to concerns about meeting deadlines.</a:t>
            </a:r>
          </a:p>
          <a:p>
            <a:pPr algn="just"/>
            <a:r>
              <a:rPr lang="en-US" sz="1900" b="1" dirty="0" smtClean="0"/>
              <a:t>Q1</a:t>
            </a:r>
            <a:r>
              <a:rPr lang="en-US" sz="1900" b="1" dirty="0"/>
              <a:t>: Identify the project risks</a:t>
            </a:r>
          </a:p>
          <a:p>
            <a:pPr algn="just"/>
            <a:r>
              <a:rPr lang="en-US" sz="1900" b="1" dirty="0"/>
              <a:t>Q2:  </a:t>
            </a:r>
            <a:r>
              <a:rPr lang="en-US" sz="1900" b="1" dirty="0" smtClean="0"/>
              <a:t>Create </a:t>
            </a:r>
            <a:r>
              <a:rPr lang="en-US" sz="1900" b="1" dirty="0"/>
              <a:t>Risk Breakdown Structure</a:t>
            </a:r>
            <a:endParaRPr lang="en-GB" sz="1900" b="1" dirty="0"/>
          </a:p>
          <a:p>
            <a:pPr algn="just"/>
            <a:r>
              <a:rPr lang="en-US" sz="1900" b="1" dirty="0"/>
              <a:t>Q3: </a:t>
            </a:r>
            <a:r>
              <a:rPr lang="en-US" sz="1900" b="1" dirty="0" smtClean="0"/>
              <a:t>Assessing </a:t>
            </a:r>
            <a:r>
              <a:rPr lang="en-US" sz="1900" b="1" dirty="0"/>
              <a:t>the probability of risks’ occurrence</a:t>
            </a:r>
            <a:r>
              <a:rPr lang="en-GB" sz="1900" b="1" dirty="0"/>
              <a:t>, </a:t>
            </a:r>
            <a:r>
              <a:rPr lang="en-US" sz="1900" b="1" dirty="0"/>
              <a:t>Estimating risks’ impact</a:t>
            </a:r>
            <a:r>
              <a:rPr lang="en-GB" sz="1900" b="1" dirty="0"/>
              <a:t>, </a:t>
            </a:r>
            <a:r>
              <a:rPr lang="en-US" sz="1900" b="1" dirty="0"/>
              <a:t>Ranking risks by probability and impact</a:t>
            </a:r>
            <a:r>
              <a:rPr lang="en-GB" sz="1900" b="1" dirty="0"/>
              <a:t>, </a:t>
            </a:r>
            <a:r>
              <a:rPr lang="en-US" sz="1900" b="1" dirty="0"/>
              <a:t>Establishing a plan to manage risks if they occur.</a:t>
            </a:r>
            <a:endParaRPr lang="en-GB" sz="1900" b="1" dirty="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11/26/2024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22</a:t>
            </a:fld>
            <a:endParaRPr lang="en-US" altLang="en-US"/>
          </a:p>
        </p:txBody>
      </p:sp>
    </p:spTree>
    <p:extLst>
      <p:ext uri="{BB962C8B-B14F-4D97-AF65-F5344CB8AC3E}">
        <p14:creationId xmlns:p14="http://schemas.microsoft.com/office/powerpoint/2010/main" val="360488670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774</TotalTime>
  <Words>1102</Words>
  <Application>Microsoft Office PowerPoint</Application>
  <PresentationFormat>On-screen Show (4:3)</PresentationFormat>
  <Paragraphs>155</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Calibri Light</vt:lpstr>
      <vt:lpstr>Times New Roman</vt:lpstr>
      <vt:lpstr>Retrospect</vt:lpstr>
      <vt:lpstr>Project Risk Management</vt:lpstr>
      <vt:lpstr>PROJECT RISK MANAGEMENT</vt:lpstr>
      <vt:lpstr>PROJECT RISK MANAGEMENT</vt:lpstr>
      <vt:lpstr>       The Project Risk Management processes are:  </vt:lpstr>
      <vt:lpstr>What is Risk Management Process?</vt:lpstr>
      <vt:lpstr>1: PLAN RISK MANAGEMENT</vt:lpstr>
      <vt:lpstr>1: PLAN RISK MANAGEMENT</vt:lpstr>
      <vt:lpstr>Risk Management Plan </vt:lpstr>
      <vt:lpstr>Risk Categories</vt:lpstr>
      <vt:lpstr>Risk Breakdown Structure</vt:lpstr>
      <vt:lpstr>Risk Breakdown Structure</vt:lpstr>
      <vt:lpstr>  What is a project risk matrix? </vt:lpstr>
      <vt:lpstr>Risk matrix template: create a risk matrix for your project  </vt:lpstr>
      <vt:lpstr>PowerPoint Presentation</vt:lpstr>
      <vt:lpstr>PowerPoint Presentation</vt:lpstr>
      <vt:lpstr>PowerPoint Presentation</vt:lpstr>
      <vt:lpstr>PowerPoint Presentation</vt:lpstr>
      <vt:lpstr>PowerPoint Presentation</vt:lpstr>
      <vt:lpstr>PowerPoint Presentation</vt:lpstr>
      <vt:lpstr>Project risk matrix</vt:lpstr>
      <vt:lpstr>Case study:Development of a Cloud-Based Education Platform</vt:lpstr>
      <vt:lpstr>Case study:Development of a Cloud-Based Education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dc:title>
  <dc:creator>Fareeha Iftikhar</dc:creator>
  <cp:lastModifiedBy>Humaira Afzal</cp:lastModifiedBy>
  <cp:revision>99</cp:revision>
  <cp:lastPrinted>2024-11-25T05:12:38Z</cp:lastPrinted>
  <dcterms:created xsi:type="dcterms:W3CDTF">2020-06-02T20:16:11Z</dcterms:created>
  <dcterms:modified xsi:type="dcterms:W3CDTF">2024-11-26T08:34:02Z</dcterms:modified>
</cp:coreProperties>
</file>