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handoutMasterIdLst>
    <p:handoutMasterId r:id="rId35"/>
  </p:handoutMasterIdLst>
  <p:sldIdLst>
    <p:sldId id="260" r:id="rId2"/>
    <p:sldId id="588" r:id="rId3"/>
    <p:sldId id="589" r:id="rId4"/>
    <p:sldId id="522" r:id="rId5"/>
    <p:sldId id="568" r:id="rId6"/>
    <p:sldId id="590" r:id="rId7"/>
    <p:sldId id="529" r:id="rId8"/>
    <p:sldId id="591" r:id="rId9"/>
    <p:sldId id="592" r:id="rId10"/>
    <p:sldId id="535" r:id="rId11"/>
    <p:sldId id="571" r:id="rId12"/>
    <p:sldId id="594" r:id="rId13"/>
    <p:sldId id="265" r:id="rId14"/>
    <p:sldId id="587" r:id="rId15"/>
    <p:sldId id="595" r:id="rId16"/>
    <p:sldId id="545" r:id="rId17"/>
    <p:sldId id="547" r:id="rId18"/>
    <p:sldId id="596" r:id="rId19"/>
    <p:sldId id="551" r:id="rId20"/>
    <p:sldId id="552" r:id="rId21"/>
    <p:sldId id="554" r:id="rId22"/>
    <p:sldId id="555" r:id="rId23"/>
    <p:sldId id="557" r:id="rId24"/>
    <p:sldId id="572" r:id="rId25"/>
    <p:sldId id="598" r:id="rId26"/>
    <p:sldId id="573" r:id="rId27"/>
    <p:sldId id="576" r:id="rId28"/>
    <p:sldId id="577" r:id="rId29"/>
    <p:sldId id="578" r:id="rId30"/>
    <p:sldId id="582" r:id="rId31"/>
    <p:sldId id="586" r:id="rId32"/>
    <p:sldId id="585"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ss" initials="M" lastIdx="1" clrIdx="0">
    <p:extLst>
      <p:ext uri="{19B8F6BF-5375-455C-9EA6-DF929625EA0E}">
        <p15:presenceInfo xmlns:p15="http://schemas.microsoft.com/office/powerpoint/2012/main" userId="Mis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54" autoAdjust="0"/>
    <p:restoredTop sz="94576" autoAdjust="0"/>
  </p:normalViewPr>
  <p:slideViewPr>
    <p:cSldViewPr>
      <p:cViewPr>
        <p:scale>
          <a:sx n="60" d="100"/>
          <a:sy n="60" d="100"/>
        </p:scale>
        <p:origin x="153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C15E466-BC60-4AFF-B295-F9FB67C9FA6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TW"/>
          </a:p>
        </p:txBody>
      </p:sp>
      <p:sp>
        <p:nvSpPr>
          <p:cNvPr id="69635" name="Rectangle 3">
            <a:extLst>
              <a:ext uri="{FF2B5EF4-FFF2-40B4-BE49-F238E27FC236}">
                <a16:creationId xmlns:a16="http://schemas.microsoft.com/office/drawing/2014/main" id="{A7962FE3-D834-4831-A292-5205EE0878A1}"/>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TW"/>
          </a:p>
        </p:txBody>
      </p:sp>
      <p:sp>
        <p:nvSpPr>
          <p:cNvPr id="69636" name="Rectangle 4">
            <a:extLst>
              <a:ext uri="{FF2B5EF4-FFF2-40B4-BE49-F238E27FC236}">
                <a16:creationId xmlns:a16="http://schemas.microsoft.com/office/drawing/2014/main" id="{466E6256-74D5-48A8-A28D-B17A92068B34}"/>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TW"/>
          </a:p>
        </p:txBody>
      </p:sp>
      <p:sp>
        <p:nvSpPr>
          <p:cNvPr id="69637" name="Rectangle 5">
            <a:extLst>
              <a:ext uri="{FF2B5EF4-FFF2-40B4-BE49-F238E27FC236}">
                <a16:creationId xmlns:a16="http://schemas.microsoft.com/office/drawing/2014/main" id="{0B9D919D-E1E6-49C2-9BA1-B5EF3613A724}"/>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11F38B6-6EA5-4186-82AA-3D0F6CD8EF3E}" type="slidenum">
              <a:rPr lang="zh-TW" altLang="en-US"/>
              <a:pPr/>
              <a:t>‹#›</a:t>
            </a:fld>
            <a:endParaRPr lang="en-US" altLang="zh-T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ED2FDBBA-AAD1-4012-88FA-59985C75A9D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TW"/>
          </a:p>
        </p:txBody>
      </p:sp>
      <p:sp>
        <p:nvSpPr>
          <p:cNvPr id="66563" name="Rectangle 3">
            <a:extLst>
              <a:ext uri="{FF2B5EF4-FFF2-40B4-BE49-F238E27FC236}">
                <a16:creationId xmlns:a16="http://schemas.microsoft.com/office/drawing/2014/main" id="{15A0DF7D-94DB-4BF0-971C-2C8C0B717C4D}"/>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TW"/>
          </a:p>
        </p:txBody>
      </p:sp>
      <p:sp>
        <p:nvSpPr>
          <p:cNvPr id="66564" name="Rectangle 4">
            <a:extLst>
              <a:ext uri="{FF2B5EF4-FFF2-40B4-BE49-F238E27FC236}">
                <a16:creationId xmlns:a16="http://schemas.microsoft.com/office/drawing/2014/main" id="{F7F14CEB-3D96-4867-868E-727090DC5CF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5" name="Rectangle 5">
            <a:extLst>
              <a:ext uri="{FF2B5EF4-FFF2-40B4-BE49-F238E27FC236}">
                <a16:creationId xmlns:a16="http://schemas.microsoft.com/office/drawing/2014/main" id="{EC1EF0C9-1485-43E0-A14B-FAE42483A987}"/>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66566" name="Rectangle 6">
            <a:extLst>
              <a:ext uri="{FF2B5EF4-FFF2-40B4-BE49-F238E27FC236}">
                <a16:creationId xmlns:a16="http://schemas.microsoft.com/office/drawing/2014/main" id="{4CE2BD61-C5BD-456A-A0CC-3A930C4A8388}"/>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TW"/>
          </a:p>
        </p:txBody>
      </p:sp>
      <p:sp>
        <p:nvSpPr>
          <p:cNvPr id="66567" name="Rectangle 7">
            <a:extLst>
              <a:ext uri="{FF2B5EF4-FFF2-40B4-BE49-F238E27FC236}">
                <a16:creationId xmlns:a16="http://schemas.microsoft.com/office/drawing/2014/main" id="{C4C8C290-70C2-4358-8491-760DA3F0E146}"/>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FB327AED-BBFA-4A4B-B9B0-0E37DC825FAB}" type="slidenum">
              <a:rPr lang="zh-TW" altLang="en-US"/>
              <a:pPr/>
              <a:t>‹#›</a:t>
            </a:fld>
            <a:endParaRPr lang="en-US" altLang="zh-TW"/>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Times New Roman" panose="02020603050405020304" pitchFamily="18" charset="0"/>
                <a:ea typeface="+mn-ea"/>
                <a:cs typeface="+mn-cs"/>
              </a:rPr>
              <a:t>Project approval requirements (</a:t>
            </a:r>
            <a:r>
              <a:rPr lang="en-US" sz="1200" b="0" i="0" kern="1200" dirty="0" err="1" smtClean="0">
                <a:solidFill>
                  <a:schemeClr val="tx1"/>
                </a:solidFill>
                <a:effectLst/>
                <a:latin typeface="Times New Roman" panose="02020603050405020304" pitchFamily="18" charset="0"/>
                <a:ea typeface="+mn-ea"/>
                <a:cs typeface="+mn-cs"/>
              </a:rPr>
              <a:t>i.e</a:t>
            </a:r>
            <a:r>
              <a:rPr lang="en-US" sz="1200" b="0" i="0" kern="1200" dirty="0" smtClean="0">
                <a:solidFill>
                  <a:schemeClr val="tx1"/>
                </a:solidFill>
                <a:effectLst/>
                <a:latin typeface="Times New Roman" panose="02020603050405020304" pitchFamily="18" charset="0"/>
                <a:ea typeface="+mn-ea"/>
                <a:cs typeface="+mn-cs"/>
              </a:rPr>
              <a:t>, What constitutes project success, who decides the project is successful, and who signs off on the project)</a:t>
            </a:r>
            <a:endParaRPr lang="en-GB" dirty="0"/>
          </a:p>
        </p:txBody>
      </p:sp>
      <p:sp>
        <p:nvSpPr>
          <p:cNvPr id="4" name="Slide Number Placeholder 3"/>
          <p:cNvSpPr>
            <a:spLocks noGrp="1"/>
          </p:cNvSpPr>
          <p:nvPr>
            <p:ph type="sldNum" sz="quarter" idx="10"/>
          </p:nvPr>
        </p:nvSpPr>
        <p:spPr/>
        <p:txBody>
          <a:bodyPr/>
          <a:lstStyle/>
          <a:p>
            <a:fld id="{FB327AED-BBFA-4A4B-B9B0-0E37DC825FAB}" type="slidenum">
              <a:rPr lang="zh-TW" altLang="en-US" smtClean="0"/>
              <a:pPr/>
              <a:t>10</a:t>
            </a:fld>
            <a:endParaRPr lang="en-US" altLang="zh-TW"/>
          </a:p>
        </p:txBody>
      </p:sp>
    </p:spTree>
    <p:extLst>
      <p:ext uri="{BB962C8B-B14F-4D97-AF65-F5344CB8AC3E}">
        <p14:creationId xmlns:p14="http://schemas.microsoft.com/office/powerpoint/2010/main" val="2698154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Times New Roman" panose="02020603050405020304" pitchFamily="18" charset="0"/>
                <a:ea typeface="+mn-ea"/>
                <a:cs typeface="+mn-cs"/>
              </a:rPr>
              <a:t>KPIs or Key Performance Indicators are measurable indicators used by a company or sector to compare and evaluate performance in achieving strategic and operational objectives.</a:t>
            </a:r>
            <a:endParaRPr lang="en-GB" dirty="0"/>
          </a:p>
        </p:txBody>
      </p:sp>
      <p:sp>
        <p:nvSpPr>
          <p:cNvPr id="4" name="Slide Number Placeholder 3"/>
          <p:cNvSpPr>
            <a:spLocks noGrp="1"/>
          </p:cNvSpPr>
          <p:nvPr>
            <p:ph type="sldNum" sz="quarter" idx="10"/>
          </p:nvPr>
        </p:nvSpPr>
        <p:spPr/>
        <p:txBody>
          <a:bodyPr/>
          <a:lstStyle/>
          <a:p>
            <a:fld id="{FB327AED-BBFA-4A4B-B9B0-0E37DC825FAB}" type="slidenum">
              <a:rPr lang="zh-TW" altLang="en-US" smtClean="0"/>
              <a:pPr/>
              <a:t>21</a:t>
            </a:fld>
            <a:endParaRPr lang="en-US" altLang="zh-TW"/>
          </a:p>
        </p:txBody>
      </p:sp>
    </p:spTree>
    <p:extLst>
      <p:ext uri="{BB962C8B-B14F-4D97-AF65-F5344CB8AC3E}">
        <p14:creationId xmlns:p14="http://schemas.microsoft.com/office/powerpoint/2010/main" val="1907328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Times New Roman" panose="02020603050405020304" pitchFamily="18" charset="0"/>
                <a:ea typeface="+mn-ea"/>
                <a:cs typeface="+mn-cs"/>
              </a:rPr>
              <a:t>Earned value management (EVM) is a method used in project management to assess project performance. It provides valuable insights into the project’s health by measuring the planned work against actual work completed as well as the associated costs. </a:t>
            </a:r>
          </a:p>
          <a:p>
            <a:r>
              <a:rPr lang="en-US" dirty="0" smtClean="0"/>
              <a:t> A burn down chart shows how much work is remaining to be done in the project, whereas a burn up shows how much work has been completed</a:t>
            </a:r>
            <a:endParaRPr lang="en-GB" dirty="0"/>
          </a:p>
        </p:txBody>
      </p:sp>
      <p:sp>
        <p:nvSpPr>
          <p:cNvPr id="4" name="Slide Number Placeholder 3"/>
          <p:cNvSpPr>
            <a:spLocks noGrp="1"/>
          </p:cNvSpPr>
          <p:nvPr>
            <p:ph type="sldNum" sz="quarter" idx="10"/>
          </p:nvPr>
        </p:nvSpPr>
        <p:spPr/>
        <p:txBody>
          <a:bodyPr/>
          <a:lstStyle/>
          <a:p>
            <a:fld id="{FB327AED-BBFA-4A4B-B9B0-0E37DC825FAB}" type="slidenum">
              <a:rPr lang="zh-TW" altLang="en-US" smtClean="0"/>
              <a:pPr/>
              <a:t>27</a:t>
            </a:fld>
            <a:endParaRPr lang="en-US" altLang="zh-TW"/>
          </a:p>
        </p:txBody>
      </p:sp>
    </p:spTree>
    <p:extLst>
      <p:ext uri="{BB962C8B-B14F-4D97-AF65-F5344CB8AC3E}">
        <p14:creationId xmlns:p14="http://schemas.microsoft.com/office/powerpoint/2010/main" val="3816156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E492DA-5292-42BE-BB42-AE374325D070}"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5E34FAC8-D921-4E42-BA19-1C34323AD03C}" type="slidenum">
              <a:rPr lang="zh-TW" altLang="en-US" smtClean="0"/>
              <a:pPr/>
              <a:t>‹#›</a:t>
            </a:fld>
            <a:endParaRPr lang="en-US" altLang="zh-TW"/>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586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A75A48-63C8-430F-B8CD-E032A2B7E9BC}"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9A46E848-2F87-4B68-B733-807A8A6F6C7D}" type="slidenum">
              <a:rPr lang="zh-TW" altLang="en-US" smtClean="0"/>
              <a:pPr/>
              <a:t>‹#›</a:t>
            </a:fld>
            <a:endParaRPr lang="en-US" altLang="zh-TW"/>
          </a:p>
        </p:txBody>
      </p:sp>
    </p:spTree>
    <p:extLst>
      <p:ext uri="{BB962C8B-B14F-4D97-AF65-F5344CB8AC3E}">
        <p14:creationId xmlns:p14="http://schemas.microsoft.com/office/powerpoint/2010/main" val="285559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31AE3-8C01-4D59-8655-A106AF406D18}"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29C385AF-603F-4E7F-8BF8-2D1A708C03B5}" type="slidenum">
              <a:rPr lang="zh-TW" altLang="en-US" smtClean="0"/>
              <a:pPr/>
              <a:t>‹#›</a:t>
            </a:fld>
            <a:endParaRPr lang="en-US" altLang="zh-TW"/>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777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99008B-77EB-41F9-816F-5590B1E888A9}" type="datetime1">
              <a:rPr lang="en-US" smtClean="0"/>
              <a:t>10/2/2024</a:t>
            </a:fld>
            <a:endParaRPr lang="en-US" dirty="0"/>
          </a:p>
        </p:txBody>
      </p:sp>
      <p:sp>
        <p:nvSpPr>
          <p:cNvPr id="6" name="Footer Placeholder 5"/>
          <p:cNvSpPr>
            <a:spLocks noGrp="1"/>
          </p:cNvSpPr>
          <p:nvPr>
            <p:ph type="ftr" sz="quarter" idx="11"/>
          </p:nvPr>
        </p:nvSpPr>
        <p:spPr/>
        <p:txBody>
          <a:bodyPr/>
          <a:lstStyle/>
          <a:p>
            <a:r>
              <a:rPr lang="en-US" smtClean="0"/>
              <a:t>Software Project Management</a:t>
            </a:r>
            <a:endParaRPr lang="en-US" dirty="0"/>
          </a:p>
        </p:txBody>
      </p:sp>
      <p:sp>
        <p:nvSpPr>
          <p:cNvPr id="7" name="Slide Number Placeholder 6"/>
          <p:cNvSpPr>
            <a:spLocks noGrp="1"/>
          </p:cNvSpPr>
          <p:nvPr>
            <p:ph type="sldNum" sz="quarter" idx="12"/>
          </p:nvPr>
        </p:nvSpPr>
        <p:spPr/>
        <p:txBody>
          <a:bodyPr/>
          <a:lstStyle/>
          <a:p>
            <a:fld id="{49B9F7D0-405E-4B92-BF01-D351B76C82FE}" type="slidenum">
              <a:rPr lang="zh-TW" altLang="en-US" smtClean="0"/>
              <a:pPr/>
              <a:t>‹#›</a:t>
            </a:fld>
            <a:endParaRPr lang="en-US" altLang="zh-TW"/>
          </a:p>
        </p:txBody>
      </p:sp>
    </p:spTree>
    <p:extLst>
      <p:ext uri="{BB962C8B-B14F-4D97-AF65-F5344CB8AC3E}">
        <p14:creationId xmlns:p14="http://schemas.microsoft.com/office/powerpoint/2010/main" val="1424717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2ACC78-FCE0-4007-AB32-8D45DBD3BF5D}" type="datetime1">
              <a:rPr lang="en-US" smtClean="0"/>
              <a:t>10/2/2024</a:t>
            </a:fld>
            <a:endParaRPr lang="en-US" dirty="0"/>
          </a:p>
        </p:txBody>
      </p:sp>
      <p:sp>
        <p:nvSpPr>
          <p:cNvPr id="8" name="Footer Placeholder 7"/>
          <p:cNvSpPr>
            <a:spLocks noGrp="1"/>
          </p:cNvSpPr>
          <p:nvPr>
            <p:ph type="ftr" sz="quarter" idx="11"/>
          </p:nvPr>
        </p:nvSpPr>
        <p:spPr/>
        <p:txBody>
          <a:bodyPr/>
          <a:lstStyle/>
          <a:p>
            <a:r>
              <a:rPr lang="en-US" smtClean="0"/>
              <a:t>Software Project Management</a:t>
            </a:r>
            <a:endParaRPr lang="en-US" dirty="0"/>
          </a:p>
        </p:txBody>
      </p:sp>
      <p:sp>
        <p:nvSpPr>
          <p:cNvPr id="9" name="Slide Number Placeholder 8"/>
          <p:cNvSpPr>
            <a:spLocks noGrp="1"/>
          </p:cNvSpPr>
          <p:nvPr>
            <p:ph type="sldNum" sz="quarter" idx="12"/>
          </p:nvPr>
        </p:nvSpPr>
        <p:spPr/>
        <p:txBody>
          <a:bodyPr/>
          <a:lstStyle/>
          <a:p>
            <a:fld id="{87E7B1AB-4E06-410F-A0B3-924EE49928FF}" type="slidenum">
              <a:rPr lang="zh-TW" altLang="en-US" smtClean="0"/>
              <a:pPr/>
              <a:t>‹#›</a:t>
            </a:fld>
            <a:endParaRPr lang="en-US" altLang="zh-TW"/>
          </a:p>
        </p:txBody>
      </p:sp>
    </p:spTree>
    <p:extLst>
      <p:ext uri="{BB962C8B-B14F-4D97-AF65-F5344CB8AC3E}">
        <p14:creationId xmlns:p14="http://schemas.microsoft.com/office/powerpoint/2010/main" val="3488559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6D12F5-19F4-48B0-AB84-11BE3190DCCB}" type="datetime1">
              <a:rPr lang="en-US" smtClean="0"/>
              <a:t>10/2/2024</a:t>
            </a:fld>
            <a:endParaRPr lang="en-US"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E94B5A8-C9E9-497F-9D95-0345983B4F34}" type="slidenum">
              <a:rPr lang="zh-TW" altLang="en-US" smtClean="0"/>
              <a:pPr/>
              <a:t>‹#›</a:t>
            </a:fld>
            <a:endParaRPr lang="en-US" altLang="zh-TW"/>
          </a:p>
        </p:txBody>
      </p:sp>
    </p:spTree>
    <p:extLst>
      <p:ext uri="{BB962C8B-B14F-4D97-AF65-F5344CB8AC3E}">
        <p14:creationId xmlns:p14="http://schemas.microsoft.com/office/powerpoint/2010/main" val="3632852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1FE68D0-09F7-4BBC-B1C1-FAA4A6F62E68}" type="datetime1">
              <a:rPr lang="en-US" smtClean="0"/>
              <a:t>10/2/2024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Software Project Management</a:t>
            </a:r>
            <a:endParaRPr lang="en-US" dirty="0"/>
          </a:p>
        </p:txBody>
      </p:sp>
      <p:sp>
        <p:nvSpPr>
          <p:cNvPr id="9" name="Slide Number Placeholder 8"/>
          <p:cNvSpPr>
            <a:spLocks noGrp="1"/>
          </p:cNvSpPr>
          <p:nvPr>
            <p:ph type="sldNum" sz="quarter" idx="12"/>
          </p:nvPr>
        </p:nvSpPr>
        <p:spPr/>
        <p:txBody>
          <a:bodyPr/>
          <a:lstStyle/>
          <a:p>
            <a:fld id="{6A724623-74B1-4E3A-973F-8BDA5AC5721A}" type="slidenum">
              <a:rPr lang="zh-TW" altLang="en-US" smtClean="0"/>
              <a:pPr/>
              <a:t>‹#›</a:t>
            </a:fld>
            <a:endParaRPr lang="en-US" altLang="zh-TW"/>
          </a:p>
        </p:txBody>
      </p:sp>
    </p:spTree>
    <p:extLst>
      <p:ext uri="{BB962C8B-B14F-4D97-AF65-F5344CB8AC3E}">
        <p14:creationId xmlns:p14="http://schemas.microsoft.com/office/powerpoint/2010/main" val="70237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8AAB76A6-EC70-405D-8BF9-8E3CD4566A03}" type="datetime1">
              <a:rPr lang="en-US" smtClean="0"/>
              <a:t>10/2/2024</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smtClean="0"/>
              <a:t>Software Project Management</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4ABF801-3B0F-4830-870D-90F70479BD32}" type="slidenum">
              <a:rPr lang="zh-TW" altLang="en-US" smtClean="0"/>
              <a:pPr/>
              <a:t>‹#›</a:t>
            </a:fld>
            <a:endParaRPr lang="en-US" altLang="zh-TW"/>
          </a:p>
        </p:txBody>
      </p:sp>
    </p:spTree>
    <p:extLst>
      <p:ext uri="{BB962C8B-B14F-4D97-AF65-F5344CB8AC3E}">
        <p14:creationId xmlns:p14="http://schemas.microsoft.com/office/powerpoint/2010/main" val="2424287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7B8BF9-D01C-4E8D-86C0-6CEE79BB5BB3}" type="datetime1">
              <a:rPr lang="en-US" smtClean="0"/>
              <a:t>10/2/2024</a:t>
            </a:fld>
            <a:endParaRPr lang="en-US" dirty="0"/>
          </a:p>
        </p:txBody>
      </p:sp>
      <p:sp>
        <p:nvSpPr>
          <p:cNvPr id="6" name="Footer Placeholder 5"/>
          <p:cNvSpPr>
            <a:spLocks noGrp="1"/>
          </p:cNvSpPr>
          <p:nvPr>
            <p:ph type="ftr" sz="quarter" idx="11"/>
          </p:nvPr>
        </p:nvSpPr>
        <p:spPr/>
        <p:txBody>
          <a:bodyPr/>
          <a:lstStyle/>
          <a:p>
            <a:r>
              <a:rPr lang="en-US" smtClean="0"/>
              <a:t>Software Project Management</a:t>
            </a:r>
            <a:endParaRPr lang="en-US" dirty="0"/>
          </a:p>
        </p:txBody>
      </p:sp>
      <p:sp>
        <p:nvSpPr>
          <p:cNvPr id="7" name="Slide Number Placeholder 6"/>
          <p:cNvSpPr>
            <a:spLocks noGrp="1"/>
          </p:cNvSpPr>
          <p:nvPr>
            <p:ph type="sldNum" sz="quarter" idx="12"/>
          </p:nvPr>
        </p:nvSpPr>
        <p:spPr/>
        <p:txBody>
          <a:bodyPr/>
          <a:lstStyle/>
          <a:p>
            <a:fld id="{582F0B6B-3858-40E1-BAE3-ACCED128090D}" type="slidenum">
              <a:rPr lang="zh-TW" altLang="en-US" smtClean="0"/>
              <a:pPr/>
              <a:t>‹#›</a:t>
            </a:fld>
            <a:endParaRPr lang="en-US" altLang="zh-TW"/>
          </a:p>
        </p:txBody>
      </p:sp>
    </p:spTree>
    <p:extLst>
      <p:ext uri="{BB962C8B-B14F-4D97-AF65-F5344CB8AC3E}">
        <p14:creationId xmlns:p14="http://schemas.microsoft.com/office/powerpoint/2010/main" val="2704662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E37D14-F182-40F0-9CB2-D9BD823C3FCF}"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D0943D78-1B64-4898-BC56-B3A5C5588DA3}" type="slidenum">
              <a:rPr lang="zh-TW" altLang="en-US" smtClean="0"/>
              <a:pPr/>
              <a:t>‹#›</a:t>
            </a:fld>
            <a:endParaRPr lang="en-US" altLang="zh-TW"/>
          </a:p>
        </p:txBody>
      </p:sp>
    </p:spTree>
    <p:extLst>
      <p:ext uri="{BB962C8B-B14F-4D97-AF65-F5344CB8AC3E}">
        <p14:creationId xmlns:p14="http://schemas.microsoft.com/office/powerpoint/2010/main" val="222297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D663A1-BD08-4FDD-B72F-DBB9AE60E335}"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16329DF6-6EB0-49BA-A023-F9BC8C92F91A}" type="slidenum">
              <a:rPr lang="zh-TW" altLang="en-US" smtClean="0"/>
              <a:pPr/>
              <a:t>‹#›</a:t>
            </a:fld>
            <a:endParaRPr lang="en-US" altLang="zh-TW"/>
          </a:p>
        </p:txBody>
      </p:sp>
    </p:spTree>
    <p:extLst>
      <p:ext uri="{BB962C8B-B14F-4D97-AF65-F5344CB8AC3E}">
        <p14:creationId xmlns:p14="http://schemas.microsoft.com/office/powerpoint/2010/main" val="1889139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E3CA376F-06BD-447E-8D7A-59E79BCDD37C}" type="datetime1">
              <a:rPr lang="en-US" smtClean="0"/>
              <a:t>10/2/2024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Software Project Management</a:t>
            </a:r>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6CAF7C1-D825-4C17-9AC2-D4B3B681BB94}" type="slidenum">
              <a:rPr lang="zh-TW" altLang="en-US" smtClean="0"/>
              <a:pPr/>
              <a:t>‹#›</a:t>
            </a:fld>
            <a:endParaRPr lang="en-US" altLang="zh-TW"/>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66974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DE5B6B0-888B-4164-AC6B-6A2E516985A4}"/>
              </a:ext>
            </a:extLst>
          </p:cNvPr>
          <p:cNvSpPr>
            <a:spLocks noGrp="1" noChangeArrowheads="1"/>
          </p:cNvSpPr>
          <p:nvPr>
            <p:ph type="ctrTitle"/>
          </p:nvPr>
        </p:nvSpPr>
        <p:spPr>
          <a:xfrm>
            <a:off x="685800" y="3124200"/>
            <a:ext cx="7772400" cy="1143000"/>
          </a:xfrm>
        </p:spPr>
        <p:txBody>
          <a:bodyPr anchor="ctr">
            <a:normAutofit fontScale="90000"/>
          </a:bodyPr>
          <a:lstStyle/>
          <a:p>
            <a:pPr algn="ctr"/>
            <a:r>
              <a:rPr lang="en-US" altLang="zh-TW" sz="5300" dirty="0">
                <a:solidFill>
                  <a:schemeClr val="dk1"/>
                </a:solidFill>
                <a:latin typeface="Libre Baskerville"/>
              </a:rPr>
              <a:t>Project</a:t>
            </a:r>
            <a:r>
              <a:rPr lang="en-US" altLang="zh-TW" sz="4800" dirty="0">
                <a:ea typeface="新細明體" panose="02020500000000000000" pitchFamily="18" charset="-120"/>
              </a:rPr>
              <a:t> </a:t>
            </a:r>
            <a:r>
              <a:rPr lang="en-US" altLang="zh-TW" sz="5300" dirty="0">
                <a:solidFill>
                  <a:schemeClr val="dk1"/>
                </a:solidFill>
                <a:latin typeface="Libre Baskerville"/>
              </a:rPr>
              <a:t>Integration</a:t>
            </a:r>
            <a:r>
              <a:rPr lang="en-US" altLang="zh-TW" sz="4800" dirty="0">
                <a:ea typeface="新細明體" panose="02020500000000000000" pitchFamily="18" charset="-120"/>
              </a:rPr>
              <a:t> </a:t>
            </a:r>
            <a:r>
              <a:rPr lang="en-US" altLang="zh-TW" sz="5300" dirty="0">
                <a:solidFill>
                  <a:schemeClr val="dk1"/>
                </a:solidFill>
                <a:latin typeface="Libre Baskerville"/>
              </a:rPr>
              <a:t>Management</a:t>
            </a:r>
          </a:p>
        </p:txBody>
      </p:sp>
      <p:sp>
        <p:nvSpPr>
          <p:cNvPr id="3" name="Slide Number Placeholder 3">
            <a:extLst>
              <a:ext uri="{FF2B5EF4-FFF2-40B4-BE49-F238E27FC236}">
                <a16:creationId xmlns:a16="http://schemas.microsoft.com/office/drawing/2014/main" id="{5ED94533-4A5F-47D1-BEB6-8BA8E8973279}"/>
              </a:ext>
            </a:extLst>
          </p:cNvPr>
          <p:cNvSpPr>
            <a:spLocks noGrp="1"/>
          </p:cNvSpPr>
          <p:nvPr>
            <p:ph type="sldNum" sz="quarter" idx="12"/>
          </p:nvPr>
        </p:nvSpPr>
        <p:spPr/>
        <p:txBody>
          <a:bodyPr/>
          <a:lstStyle/>
          <a:p>
            <a:fld id="{66ACE577-55B7-404A-BEBA-F1C2B7542929}" type="slidenum">
              <a:rPr lang="zh-TW" altLang="en-US"/>
              <a:pPr/>
              <a:t>1</a:t>
            </a:fld>
            <a:endParaRPr lang="en-US" altLang="zh-TW"/>
          </a:p>
        </p:txBody>
      </p:sp>
      <p:sp>
        <p:nvSpPr>
          <p:cNvPr id="4" name="Subtitle 1">
            <a:extLst>
              <a:ext uri="{FF2B5EF4-FFF2-40B4-BE49-F238E27FC236}">
                <a16:creationId xmlns:a16="http://schemas.microsoft.com/office/drawing/2014/main" id="{A99D0163-6486-46F6-920E-38C7F449E233}"/>
              </a:ext>
            </a:extLst>
          </p:cNvPr>
          <p:cNvSpPr>
            <a:spLocks noGrp="1"/>
          </p:cNvSpPr>
          <p:nvPr>
            <p:ph type="subTitle" idx="1"/>
          </p:nvPr>
        </p:nvSpPr>
        <p:spPr>
          <a:xfrm>
            <a:off x="822960" y="4365104"/>
            <a:ext cx="7543800" cy="1792779"/>
          </a:xfrm>
        </p:spPr>
        <p:txBody>
          <a:bodyPr>
            <a:normAutofit/>
          </a:bodyPr>
          <a:lstStyle/>
          <a:p>
            <a:pPr algn="ctr"/>
            <a:endParaRPr lang="en-US" sz="1200" dirty="0" smtClean="0"/>
          </a:p>
          <a:p>
            <a:pPr algn="ctr"/>
            <a:r>
              <a:rPr lang="en-US" sz="1200" dirty="0" smtClean="0"/>
              <a:t>By</a:t>
            </a:r>
            <a:endParaRPr lang="en-US" sz="1200" dirty="0"/>
          </a:p>
          <a:p>
            <a:pPr algn="ctr"/>
            <a:r>
              <a:rPr lang="en-US" sz="1200" dirty="0" smtClean="0"/>
              <a:t>Humaira Afzal</a:t>
            </a:r>
            <a:endParaRPr lang="en-US" sz="1200" dirty="0"/>
          </a:p>
          <a:p>
            <a:pPr algn="ctr"/>
            <a:r>
              <a:rPr lang="en-US" sz="1200" dirty="0"/>
              <a:t>Lecturer CS, CUI Lahore Campus</a:t>
            </a:r>
          </a:p>
        </p:txBody>
      </p:sp>
      <p:sp>
        <p:nvSpPr>
          <p:cNvPr id="2" name="Footer Placeholder 1">
            <a:extLst>
              <a:ext uri="{FF2B5EF4-FFF2-40B4-BE49-F238E27FC236}">
                <a16:creationId xmlns:a16="http://schemas.microsoft.com/office/drawing/2014/main" id="{3BB89868-8FA5-4CA2-851B-C99A4DA54B8B}"/>
              </a:ext>
            </a:extLst>
          </p:cNvPr>
          <p:cNvSpPr>
            <a:spLocks noGrp="1"/>
          </p:cNvSpPr>
          <p:nvPr>
            <p:ph type="ftr" sz="quarter" idx="11"/>
          </p:nvPr>
        </p:nvSpPr>
        <p:spPr/>
        <p:txBody>
          <a:bodyPr/>
          <a:lstStyle/>
          <a:p>
            <a:r>
              <a:rPr lang="en-US" smtClean="0"/>
              <a:t>Software Project Management</a:t>
            </a:r>
            <a:endParaRPr lang="en-US" dirty="0"/>
          </a:p>
        </p:txBody>
      </p:sp>
      <p:sp>
        <p:nvSpPr>
          <p:cNvPr id="5" name="Date Placeholder 4"/>
          <p:cNvSpPr>
            <a:spLocks noGrp="1"/>
          </p:cNvSpPr>
          <p:nvPr>
            <p:ph type="dt" sz="half" idx="10"/>
          </p:nvPr>
        </p:nvSpPr>
        <p:spPr/>
        <p:txBody>
          <a:bodyPr/>
          <a:lstStyle/>
          <a:p>
            <a:fld id="{0BDBE24A-A9A7-4B94-AEC3-5F1FD5521127}" type="datetime1">
              <a:rPr lang="en-US" smtClean="0"/>
              <a:t>10/2/2024</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Knowledge Area</a:t>
            </a:r>
            <a:endParaRPr lang="en-GB" dirty="0"/>
          </a:p>
        </p:txBody>
      </p:sp>
      <p:sp>
        <p:nvSpPr>
          <p:cNvPr id="3" name="Content Placeholder 2"/>
          <p:cNvSpPr>
            <a:spLocks noGrp="1"/>
          </p:cNvSpPr>
          <p:nvPr>
            <p:ph idx="1"/>
          </p:nvPr>
        </p:nvSpPr>
        <p:spPr/>
        <p:txBody>
          <a:bodyPr/>
          <a:lstStyle/>
          <a:p>
            <a:endParaRPr lang="en-US" dirty="0" smtClean="0"/>
          </a:p>
          <a:p>
            <a:r>
              <a:rPr lang="en-US" dirty="0" smtClean="0"/>
              <a:t>There  are </a:t>
            </a:r>
            <a:r>
              <a:rPr lang="en-US" b="1" dirty="0" smtClean="0"/>
              <a:t>10</a:t>
            </a:r>
            <a:r>
              <a:rPr lang="en-US" dirty="0" smtClean="0"/>
              <a:t> knowledge areas in Project management</a:t>
            </a:r>
            <a:r>
              <a:rPr lang="en-US" dirty="0"/>
              <a:t> </a:t>
            </a:r>
            <a:r>
              <a:rPr lang="en-US" dirty="0" smtClean="0"/>
              <a:t>that represents the key aspects of project management such as cost, time, risk, communication ..etc. </a:t>
            </a:r>
          </a:p>
          <a:p>
            <a:r>
              <a:rPr lang="en-US" dirty="0" smtClean="0"/>
              <a:t>These Knowledge </a:t>
            </a:r>
            <a:r>
              <a:rPr lang="en-US" dirty="0"/>
              <a:t>A</a:t>
            </a:r>
            <a:r>
              <a:rPr lang="en-US" dirty="0" smtClean="0"/>
              <a:t>reas provides the specialized knowledge needed for different aspects of project management.</a:t>
            </a:r>
          </a:p>
          <a:p>
            <a:r>
              <a:rPr lang="en-US" dirty="0" smtClean="0"/>
              <a:t>Each Knowledge </a:t>
            </a:r>
            <a:r>
              <a:rPr lang="en-US" dirty="0"/>
              <a:t>A</a:t>
            </a:r>
            <a:r>
              <a:rPr lang="en-US" dirty="0" smtClean="0"/>
              <a:t>rea consist of processes that focus on specific project objective.</a:t>
            </a:r>
          </a:p>
          <a:p>
            <a:r>
              <a:rPr lang="en-US" dirty="0" smtClean="0"/>
              <a:t>These processes are distributed across the 5 process groups and 10 Knowledge Areas.</a:t>
            </a:r>
            <a:endParaRPr lang="en-GB" dirty="0"/>
          </a:p>
        </p:txBody>
      </p:sp>
      <p:sp>
        <p:nvSpPr>
          <p:cNvPr id="4" name="Date Placeholder 3"/>
          <p:cNvSpPr>
            <a:spLocks noGrp="1"/>
          </p:cNvSpPr>
          <p:nvPr>
            <p:ph type="dt" sz="half" idx="10"/>
          </p:nvPr>
        </p:nvSpPr>
        <p:spPr/>
        <p:txBody>
          <a:bodyPr/>
          <a:lstStyle/>
          <a:p>
            <a:fld id="{5FA75A48-63C8-430F-B8CD-E032A2B7E9BC}"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9A46E848-2F87-4B68-B733-807A8A6F6C7D}" type="slidenum">
              <a:rPr lang="zh-TW" altLang="en-US" smtClean="0"/>
              <a:pPr/>
              <a:t>2</a:t>
            </a:fld>
            <a:endParaRPr lang="en-US" altLang="zh-TW"/>
          </a:p>
        </p:txBody>
      </p:sp>
    </p:spTree>
    <p:extLst>
      <p:ext uri="{BB962C8B-B14F-4D97-AF65-F5344CB8AC3E}">
        <p14:creationId xmlns:p14="http://schemas.microsoft.com/office/powerpoint/2010/main" val="206773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smtClean="0"/>
              <a:t>Software Project Management</a:t>
            </a:r>
            <a:endParaRPr lang="en-US"/>
          </a:p>
        </p:txBody>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rgbClr val="888888"/>
                </a:solidFill>
                <a:latin typeface="Calibri"/>
                <a:ea typeface="Calibri"/>
                <a:cs typeface="Calibri"/>
                <a:sym typeface="Calibri"/>
              </a:rPr>
              <a:t>3</a:t>
            </a:fld>
            <a:endParaRPr lang="en-US" sz="1200" b="0" i="0" u="none" strike="noStrike" cap="none">
              <a:solidFill>
                <a:srgbClr val="888888"/>
              </a:solidFill>
              <a:latin typeface="Calibri"/>
              <a:ea typeface="Calibri"/>
              <a:cs typeface="Calibri"/>
              <a:sym typeface="Calibri"/>
            </a:endParaRPr>
          </a:p>
        </p:txBody>
      </p:sp>
      <p:pic>
        <p:nvPicPr>
          <p:cNvPr id="7" name="Content Placeholder 6"/>
          <p:cNvPicPr>
            <a:picLocks noGrp="1" noChangeAspect="1"/>
          </p:cNvPicPr>
          <p:nvPr>
            <p:ph idx="4294967295"/>
          </p:nvPr>
        </p:nvPicPr>
        <p:blipFill rotWithShape="1">
          <a:blip r:embed="rId2"/>
          <a:srcRect l="2758"/>
          <a:stretch/>
        </p:blipFill>
        <p:spPr>
          <a:xfrm>
            <a:off x="0" y="1"/>
            <a:ext cx="9143999" cy="6416566"/>
          </a:xfrm>
          <a:prstGeom prst="rect">
            <a:avLst/>
          </a:prstGeom>
        </p:spPr>
      </p:pic>
      <p:sp>
        <p:nvSpPr>
          <p:cNvPr id="2" name="Date Placeholder 1"/>
          <p:cNvSpPr>
            <a:spLocks noGrp="1"/>
          </p:cNvSpPr>
          <p:nvPr>
            <p:ph type="dt" sz="half" idx="10"/>
          </p:nvPr>
        </p:nvSpPr>
        <p:spPr/>
        <p:txBody>
          <a:bodyPr/>
          <a:lstStyle/>
          <a:p>
            <a:fld id="{8CE86AA0-0D8D-4319-8731-F61A1EE05310}" type="datetime1">
              <a:rPr lang="en-US" smtClean="0"/>
              <a:t>10/2/2024</a:t>
            </a:fld>
            <a:endParaRPr lang="en-US" dirty="0"/>
          </a:p>
        </p:txBody>
      </p:sp>
    </p:spTree>
    <p:extLst>
      <p:ext uri="{BB962C8B-B14F-4D97-AF65-F5344CB8AC3E}">
        <p14:creationId xmlns:p14="http://schemas.microsoft.com/office/powerpoint/2010/main" val="6443658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Integration </a:t>
            </a:r>
            <a:endParaRPr lang="en-GB" dirty="0"/>
          </a:p>
        </p:txBody>
      </p:sp>
      <p:sp>
        <p:nvSpPr>
          <p:cNvPr id="3" name="Content Placeholder 2"/>
          <p:cNvSpPr>
            <a:spLocks noGrp="1"/>
          </p:cNvSpPr>
          <p:nvPr>
            <p:ph idx="1"/>
          </p:nvPr>
        </p:nvSpPr>
        <p:spPr/>
        <p:txBody>
          <a:bodyPr>
            <a:normAutofit/>
          </a:bodyPr>
          <a:lstStyle/>
          <a:p>
            <a:endParaRPr lang="en-US" dirty="0" smtClean="0"/>
          </a:p>
          <a:p>
            <a:r>
              <a:rPr lang="en-US" dirty="0" smtClean="0"/>
              <a:t>Project </a:t>
            </a:r>
            <a:r>
              <a:rPr lang="en-US" dirty="0"/>
              <a:t>Integration Management includes the </a:t>
            </a:r>
            <a:r>
              <a:rPr lang="en-US" b="1" dirty="0"/>
              <a:t>processes</a:t>
            </a:r>
            <a:r>
              <a:rPr lang="en-US" dirty="0"/>
              <a:t> and </a:t>
            </a:r>
            <a:r>
              <a:rPr lang="en-US" b="1" dirty="0"/>
              <a:t>activities</a:t>
            </a:r>
            <a:r>
              <a:rPr lang="en-US" dirty="0"/>
              <a:t> to </a:t>
            </a:r>
            <a:r>
              <a:rPr lang="en-US" b="1" dirty="0"/>
              <a:t>identify</a:t>
            </a:r>
            <a:r>
              <a:rPr lang="en-US" dirty="0"/>
              <a:t>, </a:t>
            </a:r>
            <a:r>
              <a:rPr lang="en-US" b="1" dirty="0" smtClean="0"/>
              <a:t>deﬁne</a:t>
            </a:r>
            <a:r>
              <a:rPr lang="en-US" dirty="0" smtClean="0"/>
              <a:t>, </a:t>
            </a:r>
            <a:r>
              <a:rPr lang="en-US" b="1" dirty="0" smtClean="0"/>
              <a:t>combine</a:t>
            </a:r>
            <a:r>
              <a:rPr lang="en-US" dirty="0"/>
              <a:t> </a:t>
            </a:r>
            <a:r>
              <a:rPr lang="en-US" dirty="0" smtClean="0"/>
              <a:t>and </a:t>
            </a:r>
            <a:r>
              <a:rPr lang="en-US" b="1" dirty="0" smtClean="0"/>
              <a:t>coordinate</a:t>
            </a:r>
            <a:r>
              <a:rPr lang="en-US" dirty="0" smtClean="0"/>
              <a:t> </a:t>
            </a:r>
            <a:r>
              <a:rPr lang="en-US" dirty="0"/>
              <a:t>the various processes and project management activities within the </a:t>
            </a:r>
            <a:r>
              <a:rPr lang="en-US" b="1" dirty="0"/>
              <a:t>Project Management Process Groups</a:t>
            </a:r>
            <a:r>
              <a:rPr lang="en-US" b="1" dirty="0" smtClean="0"/>
              <a:t>.</a:t>
            </a:r>
          </a:p>
          <a:p>
            <a:pPr marL="0" indent="0">
              <a:buNone/>
            </a:pPr>
            <a:r>
              <a:rPr lang="en-GB" dirty="0" smtClean="0"/>
              <a:t>Project </a:t>
            </a:r>
            <a:r>
              <a:rPr lang="en-GB" dirty="0"/>
              <a:t>integration management is the coordination of all elements of a project. </a:t>
            </a:r>
            <a:endParaRPr lang="en-US" dirty="0" smtClean="0"/>
          </a:p>
          <a:p>
            <a:pPr marL="0" indent="0">
              <a:buNone/>
            </a:pPr>
            <a:endParaRPr lang="en-US" b="1" dirty="0" smtClean="0"/>
          </a:p>
          <a:p>
            <a:pPr marL="0" indent="0">
              <a:buNone/>
            </a:pPr>
            <a:r>
              <a:rPr lang="en-US" b="1" dirty="0" smtClean="0"/>
              <a:t>These </a:t>
            </a:r>
            <a:r>
              <a:rPr lang="en-US" b="1" dirty="0"/>
              <a:t>actions should be applied from the start of the project through completion.</a:t>
            </a:r>
            <a:endParaRPr lang="en-GB" b="1"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4</a:t>
            </a:fld>
            <a:endParaRPr lang="en-US" altLang="zh-TW"/>
          </a:p>
        </p:txBody>
      </p:sp>
      <p:sp>
        <p:nvSpPr>
          <p:cNvPr id="6" name="Date Placeholder 5"/>
          <p:cNvSpPr>
            <a:spLocks noGrp="1"/>
          </p:cNvSpPr>
          <p:nvPr>
            <p:ph type="dt" sz="half" idx="10"/>
          </p:nvPr>
        </p:nvSpPr>
        <p:spPr/>
        <p:txBody>
          <a:bodyPr/>
          <a:lstStyle/>
          <a:p>
            <a:fld id="{D21A76C7-ACA4-4C50-87BE-3537D4AC5B9C}" type="datetime1">
              <a:rPr lang="en-US" smtClean="0"/>
              <a:t>10/2/2024</a:t>
            </a:fld>
            <a:endParaRPr lang="en-US" dirty="0"/>
          </a:p>
        </p:txBody>
      </p:sp>
    </p:spTree>
    <p:extLst>
      <p:ext uri="{BB962C8B-B14F-4D97-AF65-F5344CB8AC3E}">
        <p14:creationId xmlns:p14="http://schemas.microsoft.com/office/powerpoint/2010/main" val="11088716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96D12F5-19F4-48B0-AB84-11BE3190DCCB}" type="datetime1">
              <a:rPr lang="en-US" smtClean="0"/>
              <a:t>10/2/2024</a:t>
            </a:fld>
            <a:endParaRPr lang="en-US"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E94B5A8-C9E9-497F-9D95-0345983B4F34}" type="slidenum">
              <a:rPr lang="zh-TW" altLang="en-US" smtClean="0"/>
              <a:pPr/>
              <a:t>5</a:t>
            </a:fld>
            <a:endParaRPr lang="en-US" altLang="zh-TW"/>
          </a:p>
        </p:txBody>
      </p:sp>
      <p:pic>
        <p:nvPicPr>
          <p:cNvPr id="6" name="Picture 5"/>
          <p:cNvPicPr>
            <a:picLocks noChangeAspect="1"/>
          </p:cNvPicPr>
          <p:nvPr/>
        </p:nvPicPr>
        <p:blipFill rotWithShape="1">
          <a:blip r:embed="rId2"/>
          <a:srcRect t="11169"/>
          <a:stretch/>
        </p:blipFill>
        <p:spPr>
          <a:xfrm>
            <a:off x="76200" y="1828800"/>
            <a:ext cx="8991599" cy="4495800"/>
          </a:xfrm>
          <a:prstGeom prst="rect">
            <a:avLst/>
          </a:prstGeom>
        </p:spPr>
      </p:pic>
      <p:sp>
        <p:nvSpPr>
          <p:cNvPr id="7" name="Title 3"/>
          <p:cNvSpPr>
            <a:spLocks noGrp="1"/>
          </p:cNvSpPr>
          <p:nvPr>
            <p:ph type="title"/>
          </p:nvPr>
        </p:nvSpPr>
        <p:spPr>
          <a:xfrm>
            <a:off x="609600" y="286604"/>
            <a:ext cx="8001000" cy="1450757"/>
          </a:xfrm>
        </p:spPr>
        <p:txBody>
          <a:bodyPr>
            <a:normAutofit/>
          </a:bodyPr>
          <a:lstStyle/>
          <a:p>
            <a:r>
              <a:rPr lang="en-GB" sz="3600" b="1" dirty="0"/>
              <a:t>Project Integration Management processes</a:t>
            </a:r>
            <a:r>
              <a:rPr lang="en-GB" sz="3600" dirty="0"/>
              <a:t> </a:t>
            </a:r>
          </a:p>
        </p:txBody>
      </p:sp>
    </p:spTree>
    <p:extLst>
      <p:ext uri="{BB962C8B-B14F-4D97-AF65-F5344CB8AC3E}">
        <p14:creationId xmlns:p14="http://schemas.microsoft.com/office/powerpoint/2010/main" val="30331150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96D12F5-19F4-48B0-AB84-11BE3190DCCB}" type="datetime1">
              <a:rPr lang="en-US" smtClean="0"/>
              <a:t>10/2/2024</a:t>
            </a:fld>
            <a:endParaRPr lang="en-US"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E94B5A8-C9E9-497F-9D95-0345983B4F34}" type="slidenum">
              <a:rPr lang="zh-TW" altLang="en-US" smtClean="0"/>
              <a:pPr/>
              <a:t>6</a:t>
            </a:fld>
            <a:endParaRPr lang="en-US" altLang="zh-TW"/>
          </a:p>
        </p:txBody>
      </p:sp>
      <p:pic>
        <p:nvPicPr>
          <p:cNvPr id="6" name="Picture 5"/>
          <p:cNvPicPr>
            <a:picLocks noChangeAspect="1"/>
          </p:cNvPicPr>
          <p:nvPr/>
        </p:nvPicPr>
        <p:blipFill rotWithShape="1">
          <a:blip r:embed="rId2"/>
          <a:srcRect l="7070"/>
          <a:stretch/>
        </p:blipFill>
        <p:spPr>
          <a:xfrm>
            <a:off x="0" y="76200"/>
            <a:ext cx="8839200" cy="6133214"/>
          </a:xfrm>
          <a:prstGeom prst="rect">
            <a:avLst/>
          </a:prstGeom>
        </p:spPr>
      </p:pic>
    </p:spTree>
    <p:extLst>
      <p:ext uri="{BB962C8B-B14F-4D97-AF65-F5344CB8AC3E}">
        <p14:creationId xmlns:p14="http://schemas.microsoft.com/office/powerpoint/2010/main" val="1699156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sz="3600" b="1" dirty="0"/>
              <a:t>DEVELOP PROJECT CHARTER</a:t>
            </a:r>
          </a:p>
        </p:txBody>
      </p:sp>
      <p:sp>
        <p:nvSpPr>
          <p:cNvPr id="5" name="Content Placeholder 4"/>
          <p:cNvSpPr>
            <a:spLocks noGrp="1"/>
          </p:cNvSpPr>
          <p:nvPr>
            <p:ph idx="1"/>
          </p:nvPr>
        </p:nvSpPr>
        <p:spPr>
          <a:xfrm>
            <a:off x="822960" y="1845734"/>
            <a:ext cx="7586404" cy="4023360"/>
          </a:xfrm>
        </p:spPr>
        <p:txBody>
          <a:bodyPr>
            <a:normAutofit/>
          </a:bodyPr>
          <a:lstStyle/>
          <a:p>
            <a:r>
              <a:rPr lang="en-PK" dirty="0"/>
              <a:t>The process of </a:t>
            </a:r>
            <a:r>
              <a:rPr lang="en-PK" b="1" dirty="0"/>
              <a:t>developing a document that formally authorizes the existence of a project </a:t>
            </a:r>
            <a:r>
              <a:rPr lang="en-PK" dirty="0"/>
              <a:t>and </a:t>
            </a:r>
            <a:r>
              <a:rPr lang="en-PK" b="1" dirty="0"/>
              <a:t>provides the project manager with the authority</a:t>
            </a:r>
            <a:r>
              <a:rPr lang="en-PK" dirty="0"/>
              <a:t> to </a:t>
            </a:r>
            <a:r>
              <a:rPr lang="en-PK" b="1" dirty="0"/>
              <a:t>apply organizational resources to project </a:t>
            </a:r>
            <a:r>
              <a:rPr lang="en-PK" b="1" dirty="0" smtClean="0"/>
              <a:t>activities</a:t>
            </a:r>
            <a:r>
              <a:rPr lang="en-US" b="1" dirty="0"/>
              <a:t>.</a:t>
            </a:r>
            <a:endParaRPr lang="en-GB" b="1" dirty="0"/>
          </a:p>
          <a:p>
            <a:r>
              <a:rPr lang="en-US" b="1" dirty="0" smtClean="0"/>
              <a:t>Inputs:</a:t>
            </a:r>
          </a:p>
          <a:p>
            <a:r>
              <a:rPr lang="en-US" b="1" dirty="0" smtClean="0"/>
              <a:t>Project Statement of work: </a:t>
            </a:r>
            <a:r>
              <a:rPr lang="en-US" dirty="0" smtClean="0"/>
              <a:t>is a </a:t>
            </a:r>
            <a:r>
              <a:rPr lang="en-PK" dirty="0" smtClean="0"/>
              <a:t>description </a:t>
            </a:r>
            <a:r>
              <a:rPr lang="en-PK" dirty="0"/>
              <a:t>of products, services, or results to be delivered by a project</a:t>
            </a:r>
            <a:r>
              <a:rPr lang="en-PK" dirty="0" smtClean="0"/>
              <a:t>.</a:t>
            </a:r>
            <a:endParaRPr lang="en-US" dirty="0" smtClean="0"/>
          </a:p>
          <a:p>
            <a:r>
              <a:rPr lang="en-US" dirty="0"/>
              <a:t>The </a:t>
            </a:r>
            <a:r>
              <a:rPr lang="en-US" b="1" dirty="0"/>
              <a:t>business case </a:t>
            </a:r>
            <a:r>
              <a:rPr lang="en-US" dirty="0"/>
              <a:t>describes the necessary information from a business standpoint to determine </a:t>
            </a:r>
            <a:r>
              <a:rPr lang="en-US" b="1" dirty="0"/>
              <a:t>whether the expected outcomes of the project justify the required investment</a:t>
            </a:r>
            <a:r>
              <a:rPr lang="en-US" b="1" dirty="0" smtClean="0"/>
              <a:t>.</a:t>
            </a:r>
          </a:p>
          <a:p>
            <a:r>
              <a:rPr lang="en-GB" dirty="0" smtClean="0"/>
              <a:t>A </a:t>
            </a:r>
            <a:r>
              <a:rPr lang="en-GB" b="1" dirty="0"/>
              <a:t>Contract</a:t>
            </a:r>
            <a:r>
              <a:rPr lang="en-GB" dirty="0"/>
              <a:t> is used when a project is being performed for an external customer.</a:t>
            </a:r>
            <a:endParaRPr lang="en-GB" b="1" dirty="0"/>
          </a:p>
          <a:p>
            <a:endParaRPr lang="en-US" b="1" dirty="0"/>
          </a:p>
          <a:p>
            <a:endParaRPr lang="en-US" dirty="0" smtClean="0"/>
          </a:p>
          <a:p>
            <a:endParaRPr lang="en-GB" dirty="0"/>
          </a:p>
          <a:p>
            <a:endParaRPr lang="en-US" b="1" dirty="0" smtClean="0"/>
          </a:p>
          <a:p>
            <a:endParaRPr lang="en-US" b="1" dirty="0" smtClean="0"/>
          </a:p>
        </p:txBody>
      </p:sp>
      <p:sp>
        <p:nvSpPr>
          <p:cNvPr id="2" name="Footer Placeholder 1"/>
          <p:cNvSpPr>
            <a:spLocks noGrp="1"/>
          </p:cNvSpPr>
          <p:nvPr>
            <p:ph type="ftr" sz="quarter" idx="11"/>
          </p:nvPr>
        </p:nvSpPr>
        <p:spPr/>
        <p:txBody>
          <a:bodyPr/>
          <a:lstStyle/>
          <a:p>
            <a:r>
              <a:rPr lang="en-US" smtClean="0"/>
              <a:t>Software Project Management</a:t>
            </a:r>
            <a:endParaRPr lang="en-US" dirty="0"/>
          </a:p>
        </p:txBody>
      </p:sp>
      <p:sp>
        <p:nvSpPr>
          <p:cNvPr id="3" name="Slide Number Placeholder 2"/>
          <p:cNvSpPr>
            <a:spLocks noGrp="1"/>
          </p:cNvSpPr>
          <p:nvPr>
            <p:ph type="sldNum" sz="quarter" idx="12"/>
          </p:nvPr>
        </p:nvSpPr>
        <p:spPr/>
        <p:txBody>
          <a:bodyPr/>
          <a:lstStyle/>
          <a:p>
            <a:fld id="{6A724623-74B1-4E3A-973F-8BDA5AC5721A}" type="slidenum">
              <a:rPr lang="zh-TW" altLang="en-US" smtClean="0"/>
              <a:pPr/>
              <a:t>7</a:t>
            </a:fld>
            <a:endParaRPr lang="en-US" altLang="zh-TW"/>
          </a:p>
        </p:txBody>
      </p:sp>
      <p:sp>
        <p:nvSpPr>
          <p:cNvPr id="6" name="Date Placeholder 5"/>
          <p:cNvSpPr>
            <a:spLocks noGrp="1"/>
          </p:cNvSpPr>
          <p:nvPr>
            <p:ph type="dt" sz="half" idx="10"/>
          </p:nvPr>
        </p:nvSpPr>
        <p:spPr/>
        <p:txBody>
          <a:bodyPr/>
          <a:lstStyle/>
          <a:p>
            <a:fld id="{4748C26E-C89A-440F-A7E5-069CC9A1BCC6}" type="datetime1">
              <a:rPr lang="en-US" smtClean="0"/>
              <a:t>10/2/2024</a:t>
            </a:fld>
            <a:endParaRPr lang="en-US" dirty="0"/>
          </a:p>
        </p:txBody>
      </p:sp>
    </p:spTree>
    <p:extLst>
      <p:ext uri="{BB962C8B-B14F-4D97-AF65-F5344CB8AC3E}">
        <p14:creationId xmlns:p14="http://schemas.microsoft.com/office/powerpoint/2010/main" val="12560236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A75A48-63C8-430F-B8CD-E032A2B7E9BC}"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9A46E848-2F87-4B68-B733-807A8A6F6C7D}" type="slidenum">
              <a:rPr lang="zh-TW" altLang="en-US" smtClean="0"/>
              <a:pPr/>
              <a:t>8</a:t>
            </a:fld>
            <a:endParaRPr lang="en-US" altLang="zh-TW"/>
          </a:p>
        </p:txBody>
      </p:sp>
      <p:pic>
        <p:nvPicPr>
          <p:cNvPr id="7" name="Content Placeholder 6"/>
          <p:cNvPicPr>
            <a:picLocks noGrp="1" noChangeAspect="1"/>
          </p:cNvPicPr>
          <p:nvPr>
            <p:ph idx="4294967295"/>
          </p:nvPr>
        </p:nvPicPr>
        <p:blipFill rotWithShape="1">
          <a:blip r:embed="rId2"/>
          <a:srcRect l="5355" r="3598"/>
          <a:stretch/>
        </p:blipFill>
        <p:spPr>
          <a:xfrm>
            <a:off x="457200" y="457200"/>
            <a:ext cx="8305800" cy="5715000"/>
          </a:xfrm>
          <a:prstGeom prst="rect">
            <a:avLst/>
          </a:prstGeom>
        </p:spPr>
      </p:pic>
    </p:spTree>
    <p:extLst>
      <p:ext uri="{BB962C8B-B14F-4D97-AF65-F5344CB8AC3E}">
        <p14:creationId xmlns:p14="http://schemas.microsoft.com/office/powerpoint/2010/main" val="15219497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FE68D0-09F7-4BBC-B1C1-FAA4A6F62E68}" type="datetime1">
              <a:rPr lang="en-US" smtClean="0"/>
              <a:t>10/2/2024</a:t>
            </a:fld>
            <a:endParaRPr lang="en-US" dirty="0"/>
          </a:p>
        </p:txBody>
      </p:sp>
      <p:sp>
        <p:nvSpPr>
          <p:cNvPr id="3" name="Footer Placeholder 2"/>
          <p:cNvSpPr>
            <a:spLocks noGrp="1"/>
          </p:cNvSpPr>
          <p:nvPr>
            <p:ph type="ftr" sz="quarter" idx="11"/>
          </p:nvPr>
        </p:nvSpPr>
        <p:spPr/>
        <p:txBody>
          <a:bodyPr/>
          <a:lstStyle/>
          <a:p>
            <a:r>
              <a:rPr lang="en-US" smtClean="0"/>
              <a:t>Software Project Management</a:t>
            </a:r>
            <a:endParaRPr lang="en-US" dirty="0"/>
          </a:p>
        </p:txBody>
      </p:sp>
      <p:sp>
        <p:nvSpPr>
          <p:cNvPr id="4" name="Slide Number Placeholder 3"/>
          <p:cNvSpPr>
            <a:spLocks noGrp="1"/>
          </p:cNvSpPr>
          <p:nvPr>
            <p:ph type="sldNum" sz="quarter" idx="12"/>
          </p:nvPr>
        </p:nvSpPr>
        <p:spPr/>
        <p:txBody>
          <a:bodyPr/>
          <a:lstStyle/>
          <a:p>
            <a:fld id="{6A724623-74B1-4E3A-973F-8BDA5AC5721A}" type="slidenum">
              <a:rPr lang="zh-TW" altLang="en-US" smtClean="0"/>
              <a:pPr/>
              <a:t>9</a:t>
            </a:fld>
            <a:endParaRPr lang="en-US" altLang="zh-TW"/>
          </a:p>
        </p:txBody>
      </p:sp>
      <p:pic>
        <p:nvPicPr>
          <p:cNvPr id="5" name="Picture 4"/>
          <p:cNvPicPr>
            <a:picLocks noChangeAspect="1"/>
          </p:cNvPicPr>
          <p:nvPr/>
        </p:nvPicPr>
        <p:blipFill rotWithShape="1">
          <a:blip r:embed="rId2"/>
          <a:srcRect l="4386"/>
          <a:stretch/>
        </p:blipFill>
        <p:spPr>
          <a:xfrm>
            <a:off x="76200" y="304801"/>
            <a:ext cx="8915400" cy="5943599"/>
          </a:xfrm>
          <a:prstGeom prst="rect">
            <a:avLst/>
          </a:prstGeom>
        </p:spPr>
      </p:pic>
    </p:spTree>
    <p:extLst>
      <p:ext uri="{BB962C8B-B14F-4D97-AF65-F5344CB8AC3E}">
        <p14:creationId xmlns:p14="http://schemas.microsoft.com/office/powerpoint/2010/main" val="38339721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a:t>DEVELOP PROJECT </a:t>
            </a:r>
            <a:r>
              <a:rPr lang="en-GB" sz="3600" b="1" dirty="0" smtClean="0"/>
              <a:t>CHARTER</a:t>
            </a:r>
            <a:endParaRPr lang="en-GB" sz="3600" b="1" dirty="0"/>
          </a:p>
        </p:txBody>
      </p:sp>
      <p:sp>
        <p:nvSpPr>
          <p:cNvPr id="3" name="Content Placeholder 2"/>
          <p:cNvSpPr>
            <a:spLocks noGrp="1"/>
          </p:cNvSpPr>
          <p:nvPr>
            <p:ph idx="1"/>
          </p:nvPr>
        </p:nvSpPr>
        <p:spPr>
          <a:xfrm>
            <a:off x="822959" y="1845734"/>
            <a:ext cx="7940041" cy="4478866"/>
          </a:xfrm>
        </p:spPr>
        <p:txBody>
          <a:bodyPr>
            <a:normAutofit/>
          </a:bodyPr>
          <a:lstStyle/>
          <a:p>
            <a:r>
              <a:rPr lang="en-US" dirty="0" smtClean="0"/>
              <a:t>Project Charter </a:t>
            </a:r>
            <a:r>
              <a:rPr lang="en-US" dirty="0"/>
              <a:t>documents the high-level information on the project and </a:t>
            </a:r>
            <a:r>
              <a:rPr lang="en-US" dirty="0" smtClean="0"/>
              <a:t>the </a:t>
            </a:r>
            <a:r>
              <a:rPr lang="en-US" dirty="0"/>
              <a:t>product, service, or result the project is intended to </a:t>
            </a:r>
            <a:r>
              <a:rPr lang="en-US" dirty="0" smtClean="0"/>
              <a:t>satisfy.</a:t>
            </a:r>
          </a:p>
          <a:p>
            <a:endParaRPr lang="en-US" dirty="0" smtClean="0"/>
          </a:p>
          <a:p>
            <a:pPr lvl="1"/>
            <a:r>
              <a:rPr lang="en-US" sz="2000" b="1" dirty="0"/>
              <a:t>Project </a:t>
            </a:r>
            <a:r>
              <a:rPr lang="en-US" sz="2000" b="1" dirty="0" smtClean="0"/>
              <a:t>purpose </a:t>
            </a:r>
            <a:r>
              <a:rPr lang="en-US" sz="2000" dirty="0" smtClean="0"/>
              <a:t>or Justification.</a:t>
            </a:r>
          </a:p>
          <a:p>
            <a:pPr lvl="1"/>
            <a:r>
              <a:rPr lang="en-US" sz="2000" dirty="0" smtClean="0"/>
              <a:t>High-level Project description and </a:t>
            </a:r>
            <a:r>
              <a:rPr lang="en-US" sz="2000" b="1" dirty="0" smtClean="0"/>
              <a:t>boundaries</a:t>
            </a:r>
            <a:r>
              <a:rPr lang="en-US" sz="2000" dirty="0" smtClean="0"/>
              <a:t>.</a:t>
            </a:r>
          </a:p>
          <a:p>
            <a:pPr lvl="1"/>
            <a:r>
              <a:rPr lang="en-US" sz="2000" b="1" dirty="0" smtClean="0"/>
              <a:t>Measurable Project Objectives and related success criteria.</a:t>
            </a:r>
            <a:endParaRPr lang="en-US" sz="2000" b="1" dirty="0"/>
          </a:p>
          <a:p>
            <a:pPr lvl="1"/>
            <a:r>
              <a:rPr lang="en-US" sz="2000" b="1" dirty="0" smtClean="0"/>
              <a:t>Summary </a:t>
            </a:r>
            <a:r>
              <a:rPr lang="en-US" sz="2000" b="1" dirty="0"/>
              <a:t>milestones </a:t>
            </a:r>
            <a:r>
              <a:rPr lang="en-US" sz="2000" dirty="0" smtClean="0"/>
              <a:t>(high-level </a:t>
            </a:r>
            <a:r>
              <a:rPr lang="en-US" sz="2000" dirty="0"/>
              <a:t>schedule)</a:t>
            </a:r>
          </a:p>
          <a:p>
            <a:pPr lvl="1"/>
            <a:r>
              <a:rPr lang="en-US" sz="2000" dirty="0" smtClean="0"/>
              <a:t>Summary </a:t>
            </a:r>
            <a:r>
              <a:rPr lang="en-US" sz="2000" b="1" dirty="0"/>
              <a:t>budget</a:t>
            </a:r>
          </a:p>
          <a:p>
            <a:pPr lvl="1"/>
            <a:r>
              <a:rPr lang="en-US" sz="2000" b="1" dirty="0" smtClean="0"/>
              <a:t>Approval requirements</a:t>
            </a:r>
          </a:p>
          <a:p>
            <a:pPr lvl="1"/>
            <a:r>
              <a:rPr lang="en-PK" sz="2000" dirty="0" smtClean="0"/>
              <a:t>Assigned </a:t>
            </a:r>
            <a:r>
              <a:rPr lang="en-PK" sz="2000" dirty="0"/>
              <a:t>project manager, responsibility, and authority </a:t>
            </a:r>
            <a:r>
              <a:rPr lang="en-PK" sz="2000" dirty="0" smtClean="0"/>
              <a:t>level</a:t>
            </a:r>
            <a:endParaRPr lang="en-US" sz="2000" dirty="0" smtClean="0"/>
          </a:p>
          <a:p>
            <a:pPr lvl="1"/>
            <a:r>
              <a:rPr lang="en-PK" sz="2000" dirty="0" smtClean="0"/>
              <a:t> </a:t>
            </a:r>
            <a:r>
              <a:rPr lang="en-PK" sz="2000" dirty="0"/>
              <a:t>Name and authority of the sponsor or other person(s) authorizing the project </a:t>
            </a:r>
            <a:r>
              <a:rPr lang="en-PK" sz="2000" dirty="0" smtClean="0"/>
              <a:t>charter</a:t>
            </a:r>
            <a:r>
              <a:rPr lang="en-US" sz="2000" dirty="0" smtClean="0"/>
              <a:t>.</a:t>
            </a:r>
            <a:endParaRPr lang="en-GB" sz="2000"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10</a:t>
            </a:fld>
            <a:endParaRPr lang="en-US" altLang="zh-TW"/>
          </a:p>
        </p:txBody>
      </p:sp>
      <p:sp>
        <p:nvSpPr>
          <p:cNvPr id="6" name="Date Placeholder 5"/>
          <p:cNvSpPr>
            <a:spLocks noGrp="1"/>
          </p:cNvSpPr>
          <p:nvPr>
            <p:ph type="dt" sz="half" idx="10"/>
          </p:nvPr>
        </p:nvSpPr>
        <p:spPr/>
        <p:txBody>
          <a:bodyPr/>
          <a:lstStyle/>
          <a:p>
            <a:fld id="{A8625599-4851-4D5D-A1E3-AFCEFDE69CC7}" type="datetime1">
              <a:rPr lang="en-US" smtClean="0"/>
              <a:t>10/2/2024</a:t>
            </a:fld>
            <a:endParaRPr lang="en-US" dirty="0"/>
          </a:p>
        </p:txBody>
      </p:sp>
    </p:spTree>
    <p:extLst>
      <p:ext uri="{BB962C8B-B14F-4D97-AF65-F5344CB8AC3E}">
        <p14:creationId xmlns:p14="http://schemas.microsoft.com/office/powerpoint/2010/main" val="8665519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11</a:t>
            </a:fld>
            <a:endParaRPr lang="en-US" altLang="zh-TW"/>
          </a:p>
        </p:txBody>
      </p:sp>
      <p:pic>
        <p:nvPicPr>
          <p:cNvPr id="6" name="Picture 5"/>
          <p:cNvPicPr>
            <a:picLocks noChangeAspect="1"/>
          </p:cNvPicPr>
          <p:nvPr/>
        </p:nvPicPr>
        <p:blipFill>
          <a:blip r:embed="rId2"/>
          <a:stretch>
            <a:fillRect/>
          </a:stretch>
        </p:blipFill>
        <p:spPr>
          <a:xfrm>
            <a:off x="0" y="1"/>
            <a:ext cx="9144000" cy="6858000"/>
          </a:xfrm>
          <a:prstGeom prst="rect">
            <a:avLst/>
          </a:prstGeom>
        </p:spPr>
      </p:pic>
      <p:sp>
        <p:nvSpPr>
          <p:cNvPr id="2" name="Date Placeholder 1"/>
          <p:cNvSpPr>
            <a:spLocks noGrp="1"/>
          </p:cNvSpPr>
          <p:nvPr>
            <p:ph type="dt" sz="half" idx="10"/>
          </p:nvPr>
        </p:nvSpPr>
        <p:spPr/>
        <p:txBody>
          <a:bodyPr/>
          <a:lstStyle/>
          <a:p>
            <a:fld id="{AB9FEC9E-255B-4E7E-9269-8CDFC00D0CB1}" type="datetime1">
              <a:rPr lang="en-US" smtClean="0"/>
              <a:t>10/2/2024</a:t>
            </a:fld>
            <a:endParaRPr lang="en-US" dirty="0"/>
          </a:p>
        </p:txBody>
      </p:sp>
    </p:spTree>
    <p:extLst>
      <p:ext uri="{BB962C8B-B14F-4D97-AF65-F5344CB8AC3E}">
        <p14:creationId xmlns:p14="http://schemas.microsoft.com/office/powerpoint/2010/main" val="37439068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a:t>ASSUMPTION LOG</a:t>
            </a:r>
          </a:p>
        </p:txBody>
      </p:sp>
      <p:sp>
        <p:nvSpPr>
          <p:cNvPr id="3" name="Content Placeholder 2"/>
          <p:cNvSpPr>
            <a:spLocks noGrp="1"/>
          </p:cNvSpPr>
          <p:nvPr>
            <p:ph idx="1"/>
          </p:nvPr>
        </p:nvSpPr>
        <p:spPr/>
        <p:txBody>
          <a:bodyPr/>
          <a:lstStyle/>
          <a:p>
            <a:r>
              <a:rPr lang="en-US" dirty="0"/>
              <a:t>The assumption </a:t>
            </a:r>
            <a:r>
              <a:rPr lang="en-US" dirty="0" smtClean="0"/>
              <a:t>log is </a:t>
            </a:r>
            <a:r>
              <a:rPr lang="en-US" dirty="0"/>
              <a:t>used to record all assumptions and constraints throughout the project life cycle</a:t>
            </a:r>
            <a:r>
              <a:rPr lang="en-US" dirty="0" smtClean="0"/>
              <a:t>.</a:t>
            </a:r>
            <a:endParaRPr lang="en-US" dirty="0" smtClean="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12</a:t>
            </a:fld>
            <a:endParaRPr lang="en-US" altLang="zh-TW"/>
          </a:p>
        </p:txBody>
      </p:sp>
      <p:pic>
        <p:nvPicPr>
          <p:cNvPr id="6" name="Picture 5"/>
          <p:cNvPicPr>
            <a:picLocks noChangeAspect="1"/>
          </p:cNvPicPr>
          <p:nvPr/>
        </p:nvPicPr>
        <p:blipFill rotWithShape="1">
          <a:blip r:embed="rId2"/>
          <a:srcRect t="4622"/>
          <a:stretch/>
        </p:blipFill>
        <p:spPr>
          <a:xfrm>
            <a:off x="685800" y="2895601"/>
            <a:ext cx="7725853" cy="1600200"/>
          </a:xfrm>
          <a:prstGeom prst="rect">
            <a:avLst/>
          </a:prstGeom>
        </p:spPr>
      </p:pic>
      <p:pic>
        <p:nvPicPr>
          <p:cNvPr id="7" name="Picture 6"/>
          <p:cNvPicPr>
            <a:picLocks noChangeAspect="1"/>
          </p:cNvPicPr>
          <p:nvPr/>
        </p:nvPicPr>
        <p:blipFill rotWithShape="1">
          <a:blip r:embed="rId3"/>
          <a:srcRect t="78877" b="-1"/>
          <a:stretch/>
        </p:blipFill>
        <p:spPr>
          <a:xfrm>
            <a:off x="762000" y="4604174"/>
            <a:ext cx="7706801" cy="1111217"/>
          </a:xfrm>
          <a:prstGeom prst="rect">
            <a:avLst/>
          </a:prstGeom>
        </p:spPr>
      </p:pic>
      <p:sp>
        <p:nvSpPr>
          <p:cNvPr id="8" name="Date Placeholder 7"/>
          <p:cNvSpPr>
            <a:spLocks noGrp="1"/>
          </p:cNvSpPr>
          <p:nvPr>
            <p:ph type="dt" sz="half" idx="10"/>
          </p:nvPr>
        </p:nvSpPr>
        <p:spPr/>
        <p:txBody>
          <a:bodyPr/>
          <a:lstStyle/>
          <a:p>
            <a:fld id="{08171857-84D7-4654-B202-689F3E8C49F5}" type="datetime1">
              <a:rPr lang="en-US" smtClean="0"/>
              <a:t>10/2/2024</a:t>
            </a:fld>
            <a:endParaRPr lang="en-US" dirty="0"/>
          </a:p>
        </p:txBody>
      </p:sp>
    </p:spTree>
    <p:extLst>
      <p:ext uri="{BB962C8B-B14F-4D97-AF65-F5344CB8AC3E}">
        <p14:creationId xmlns:p14="http://schemas.microsoft.com/office/powerpoint/2010/main" val="35367616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5BD62B7-5DC8-4417-BE90-AB5F33DFEDB7}"/>
              </a:ext>
            </a:extLst>
          </p:cNvPr>
          <p:cNvSpPr>
            <a:spLocks noGrp="1" noChangeArrowheads="1"/>
          </p:cNvSpPr>
          <p:nvPr>
            <p:ph type="title"/>
          </p:nvPr>
        </p:nvSpPr>
        <p:spPr>
          <a:xfrm>
            <a:off x="609600" y="286604"/>
            <a:ext cx="7757160" cy="1450757"/>
          </a:xfrm>
        </p:spPr>
        <p:txBody>
          <a:bodyPr>
            <a:normAutofit/>
          </a:bodyPr>
          <a:lstStyle/>
          <a:p>
            <a:r>
              <a:rPr lang="en-US" altLang="zh-TW" sz="3600" b="1" dirty="0">
                <a:ea typeface="新細明體" panose="02020500000000000000" pitchFamily="18" charset="-120"/>
              </a:rPr>
              <a:t>DEVELOP PROJECT MANAGEMENT PLAN</a:t>
            </a:r>
          </a:p>
        </p:txBody>
      </p:sp>
      <p:sp>
        <p:nvSpPr>
          <p:cNvPr id="80899" name="Rectangle 3">
            <a:extLst>
              <a:ext uri="{FF2B5EF4-FFF2-40B4-BE49-F238E27FC236}">
                <a16:creationId xmlns:a16="http://schemas.microsoft.com/office/drawing/2014/main" id="{27101CD8-F998-4295-94FC-016A76CD055A}"/>
              </a:ext>
            </a:extLst>
          </p:cNvPr>
          <p:cNvSpPr>
            <a:spLocks noGrp="1" noChangeArrowheads="1"/>
          </p:cNvSpPr>
          <p:nvPr>
            <p:ph idx="1"/>
          </p:nvPr>
        </p:nvSpPr>
        <p:spPr>
          <a:xfrm>
            <a:off x="728662" y="1752600"/>
            <a:ext cx="7680701" cy="4791075"/>
          </a:xfrm>
        </p:spPr>
        <p:txBody>
          <a:bodyPr>
            <a:normAutofit/>
          </a:bodyPr>
          <a:lstStyle/>
          <a:p>
            <a:pPr marL="0" indent="0">
              <a:buNone/>
            </a:pPr>
            <a:endParaRPr lang="en-US" altLang="zh-TW" sz="2400" b="1" dirty="0" smtClean="0">
              <a:ea typeface="新細明體" panose="02020500000000000000" pitchFamily="18" charset="-120"/>
            </a:endParaRPr>
          </a:p>
          <a:p>
            <a:pPr marL="0" indent="0" algn="just">
              <a:buNone/>
            </a:pPr>
            <a:r>
              <a:rPr lang="en-GB" sz="2400" dirty="0"/>
              <a:t>Develop Project Management Plan is the process of </a:t>
            </a:r>
            <a:r>
              <a:rPr lang="en-GB" sz="2400" b="1" dirty="0"/>
              <a:t>defining</a:t>
            </a:r>
            <a:r>
              <a:rPr lang="en-GB" sz="2400" dirty="0"/>
              <a:t>, </a:t>
            </a:r>
            <a:r>
              <a:rPr lang="en-GB" sz="2400" b="1" dirty="0"/>
              <a:t>preparing</a:t>
            </a:r>
            <a:r>
              <a:rPr lang="en-GB" sz="2400" dirty="0"/>
              <a:t>, and </a:t>
            </a:r>
            <a:r>
              <a:rPr lang="en-GB" sz="2400" b="1" dirty="0"/>
              <a:t>coordinating</a:t>
            </a:r>
            <a:r>
              <a:rPr lang="en-GB" sz="2400" dirty="0"/>
              <a:t> all </a:t>
            </a:r>
            <a:r>
              <a:rPr lang="en-GB" sz="2400" b="1" dirty="0"/>
              <a:t>plan components </a:t>
            </a:r>
            <a:r>
              <a:rPr lang="en-GB" sz="2400" dirty="0"/>
              <a:t>and consolidating them into an integrated project management plan. </a:t>
            </a:r>
            <a:endParaRPr lang="en-GB" sz="2400" dirty="0" smtClean="0"/>
          </a:p>
          <a:p>
            <a:pPr marL="0" indent="0">
              <a:buNone/>
            </a:pPr>
            <a:r>
              <a:rPr lang="en-US" altLang="zh-TW" sz="2400" dirty="0" smtClean="0">
                <a:ea typeface="新細明體" panose="02020500000000000000" pitchFamily="18" charset="-120"/>
              </a:rPr>
              <a:t>Project </a:t>
            </a:r>
            <a:r>
              <a:rPr lang="en-US" altLang="zh-TW" sz="2400" dirty="0">
                <a:ea typeface="新細明體" panose="02020500000000000000" pitchFamily="18" charset="-120"/>
              </a:rPr>
              <a:t>performance should be measured against a </a:t>
            </a:r>
            <a:r>
              <a:rPr lang="en-US" altLang="zh-TW" sz="2400" dirty="0">
                <a:solidFill>
                  <a:srgbClr val="FF0000"/>
                </a:solidFill>
                <a:ea typeface="新細明體" panose="02020500000000000000" pitchFamily="18" charset="-120"/>
              </a:rPr>
              <a:t>baseline </a:t>
            </a:r>
            <a:r>
              <a:rPr lang="en-US" altLang="zh-TW" sz="2400" dirty="0" smtClean="0">
                <a:solidFill>
                  <a:srgbClr val="FF0000"/>
                </a:solidFill>
                <a:ea typeface="新細明體" panose="02020500000000000000" pitchFamily="18" charset="-120"/>
              </a:rPr>
              <a:t>plan.</a:t>
            </a:r>
            <a:endParaRPr lang="en-US" altLang="zh-TW" sz="2400" dirty="0">
              <a:solidFill>
                <a:srgbClr val="FF0000"/>
              </a:solidFill>
              <a:ea typeface="新細明體" panose="02020500000000000000" pitchFamily="18" charset="-120"/>
            </a:endParaRPr>
          </a:p>
        </p:txBody>
      </p:sp>
      <p:sp>
        <p:nvSpPr>
          <p:cNvPr id="4" name="Slide Number Placeholder 3">
            <a:extLst>
              <a:ext uri="{FF2B5EF4-FFF2-40B4-BE49-F238E27FC236}">
                <a16:creationId xmlns:a16="http://schemas.microsoft.com/office/drawing/2014/main" id="{7D9318A8-241C-452E-BA9D-69E960355471}"/>
              </a:ext>
            </a:extLst>
          </p:cNvPr>
          <p:cNvSpPr>
            <a:spLocks noGrp="1"/>
          </p:cNvSpPr>
          <p:nvPr>
            <p:ph type="sldNum" sz="quarter" idx="12"/>
          </p:nvPr>
        </p:nvSpPr>
        <p:spPr/>
        <p:txBody>
          <a:bodyPr/>
          <a:lstStyle/>
          <a:p>
            <a:fld id="{F1D8AEF4-DB9A-4D0C-9288-D2E261C5A66E}" type="slidenum">
              <a:rPr lang="zh-TW" altLang="en-US"/>
              <a:pPr/>
              <a:t>13</a:t>
            </a:fld>
            <a:endParaRPr lang="en-US" altLang="zh-TW"/>
          </a:p>
        </p:txBody>
      </p:sp>
      <p:sp>
        <p:nvSpPr>
          <p:cNvPr id="2" name="Footer Placeholder 1">
            <a:extLst>
              <a:ext uri="{FF2B5EF4-FFF2-40B4-BE49-F238E27FC236}">
                <a16:creationId xmlns:a16="http://schemas.microsoft.com/office/drawing/2014/main" id="{9E584C29-00B8-4A9A-93D9-1C4207B22523}"/>
              </a:ext>
            </a:extLst>
          </p:cNvPr>
          <p:cNvSpPr>
            <a:spLocks noGrp="1"/>
          </p:cNvSpPr>
          <p:nvPr>
            <p:ph type="ftr" sz="quarter" idx="11"/>
          </p:nvPr>
        </p:nvSpPr>
        <p:spPr/>
        <p:txBody>
          <a:bodyPr/>
          <a:lstStyle/>
          <a:p>
            <a:r>
              <a:rPr lang="en-US" smtClean="0"/>
              <a:t>Software Project Management</a:t>
            </a:r>
            <a:endParaRPr lang="en-US" dirty="0"/>
          </a:p>
        </p:txBody>
      </p:sp>
      <p:sp>
        <p:nvSpPr>
          <p:cNvPr id="3" name="Date Placeholder 2"/>
          <p:cNvSpPr>
            <a:spLocks noGrp="1"/>
          </p:cNvSpPr>
          <p:nvPr>
            <p:ph type="dt" sz="half" idx="10"/>
          </p:nvPr>
        </p:nvSpPr>
        <p:spPr/>
        <p:txBody>
          <a:bodyPr/>
          <a:lstStyle/>
          <a:p>
            <a:fld id="{B05DDA44-18C9-4D65-8111-09922E2D6116}" type="datetime1">
              <a:rPr lang="en-US" smtClean="0"/>
              <a:t>10/2/2024</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A75A48-63C8-430F-B8CD-E032A2B7E9BC}"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9A46E848-2F87-4B68-B733-807A8A6F6C7D}" type="slidenum">
              <a:rPr lang="zh-TW" altLang="en-US" smtClean="0"/>
              <a:pPr/>
              <a:t>14</a:t>
            </a:fld>
            <a:endParaRPr lang="en-US" altLang="zh-TW"/>
          </a:p>
        </p:txBody>
      </p:sp>
      <p:pic>
        <p:nvPicPr>
          <p:cNvPr id="2" name="Picture 1"/>
          <p:cNvPicPr>
            <a:picLocks noChangeAspect="1"/>
          </p:cNvPicPr>
          <p:nvPr/>
        </p:nvPicPr>
        <p:blipFill rotWithShape="1">
          <a:blip r:embed="rId2"/>
          <a:srcRect l="6364"/>
          <a:stretch/>
        </p:blipFill>
        <p:spPr>
          <a:xfrm>
            <a:off x="533400" y="381000"/>
            <a:ext cx="8458199" cy="5867400"/>
          </a:xfrm>
          <a:prstGeom prst="rect">
            <a:avLst/>
          </a:prstGeom>
        </p:spPr>
      </p:pic>
      <p:cxnSp>
        <p:nvCxnSpPr>
          <p:cNvPr id="8" name="Elbow Connector 7"/>
          <p:cNvCxnSpPr/>
          <p:nvPr/>
        </p:nvCxnSpPr>
        <p:spPr>
          <a:xfrm>
            <a:off x="3429000" y="3505200"/>
            <a:ext cx="914400" cy="9144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4337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FE68D0-09F7-4BBC-B1C1-FAA4A6F62E68}" type="datetime1">
              <a:rPr lang="en-US" smtClean="0"/>
              <a:t>10/2/2024</a:t>
            </a:fld>
            <a:endParaRPr lang="en-US" dirty="0"/>
          </a:p>
        </p:txBody>
      </p:sp>
      <p:sp>
        <p:nvSpPr>
          <p:cNvPr id="3" name="Footer Placeholder 2"/>
          <p:cNvSpPr>
            <a:spLocks noGrp="1"/>
          </p:cNvSpPr>
          <p:nvPr>
            <p:ph type="ftr" sz="quarter" idx="11"/>
          </p:nvPr>
        </p:nvSpPr>
        <p:spPr/>
        <p:txBody>
          <a:bodyPr/>
          <a:lstStyle/>
          <a:p>
            <a:r>
              <a:rPr lang="en-US" smtClean="0"/>
              <a:t>Software Project Management</a:t>
            </a:r>
            <a:endParaRPr lang="en-US" dirty="0"/>
          </a:p>
        </p:txBody>
      </p:sp>
      <p:sp>
        <p:nvSpPr>
          <p:cNvPr id="4" name="Slide Number Placeholder 3"/>
          <p:cNvSpPr>
            <a:spLocks noGrp="1"/>
          </p:cNvSpPr>
          <p:nvPr>
            <p:ph type="sldNum" sz="quarter" idx="12"/>
          </p:nvPr>
        </p:nvSpPr>
        <p:spPr/>
        <p:txBody>
          <a:bodyPr/>
          <a:lstStyle/>
          <a:p>
            <a:fld id="{6A724623-74B1-4E3A-973F-8BDA5AC5721A}" type="slidenum">
              <a:rPr lang="zh-TW" altLang="en-US" smtClean="0"/>
              <a:pPr/>
              <a:t>15</a:t>
            </a:fld>
            <a:endParaRPr lang="en-US" altLang="zh-TW"/>
          </a:p>
        </p:txBody>
      </p:sp>
      <p:pic>
        <p:nvPicPr>
          <p:cNvPr id="5" name="Picture 4"/>
          <p:cNvPicPr>
            <a:picLocks noChangeAspect="1"/>
          </p:cNvPicPr>
          <p:nvPr/>
        </p:nvPicPr>
        <p:blipFill>
          <a:blip r:embed="rId2"/>
          <a:stretch>
            <a:fillRect/>
          </a:stretch>
        </p:blipFill>
        <p:spPr>
          <a:xfrm>
            <a:off x="457200" y="381001"/>
            <a:ext cx="8458199" cy="5867400"/>
          </a:xfrm>
          <a:prstGeom prst="rect">
            <a:avLst/>
          </a:prstGeom>
        </p:spPr>
      </p:pic>
    </p:spTree>
    <p:extLst>
      <p:ext uri="{BB962C8B-B14F-4D97-AF65-F5344CB8AC3E}">
        <p14:creationId xmlns:p14="http://schemas.microsoft.com/office/powerpoint/2010/main" val="2414687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600" b="1" dirty="0"/>
              <a:t>DEVELOP PROJECT MANAGEMENT PLAN: OUTPUTS</a:t>
            </a:r>
          </a:p>
        </p:txBody>
      </p:sp>
      <p:sp>
        <p:nvSpPr>
          <p:cNvPr id="3" name="Content Placeholder 2"/>
          <p:cNvSpPr>
            <a:spLocks noGrp="1"/>
          </p:cNvSpPr>
          <p:nvPr>
            <p:ph idx="1"/>
          </p:nvPr>
        </p:nvSpPr>
        <p:spPr>
          <a:xfrm>
            <a:off x="822959" y="1845734"/>
            <a:ext cx="7543801" cy="4326466"/>
          </a:xfrm>
        </p:spPr>
        <p:txBody>
          <a:bodyPr>
            <a:normAutofit fontScale="77500" lnSpcReduction="20000"/>
          </a:bodyPr>
          <a:lstStyle/>
          <a:p>
            <a:r>
              <a:rPr lang="en-GB" sz="2600" b="1" dirty="0"/>
              <a:t>PROJECT MANAGEMENT </a:t>
            </a:r>
            <a:r>
              <a:rPr lang="en-GB" sz="2600" b="1" dirty="0" smtClean="0"/>
              <a:t>PLAN</a:t>
            </a:r>
          </a:p>
          <a:p>
            <a:r>
              <a:rPr lang="en-US" sz="2600" dirty="0"/>
              <a:t>The project management plan is the document that </a:t>
            </a:r>
            <a:r>
              <a:rPr lang="en-US" sz="2600" b="1" dirty="0"/>
              <a:t>describes how the project will be executed, </a:t>
            </a:r>
            <a:r>
              <a:rPr lang="en-US" sz="2600" b="1" dirty="0" smtClean="0"/>
              <a:t>monitored, controlled</a:t>
            </a:r>
            <a:r>
              <a:rPr lang="en-US" sz="2600" b="1" dirty="0"/>
              <a:t>, and closed</a:t>
            </a:r>
            <a:r>
              <a:rPr lang="en-US" sz="2600" b="1" dirty="0" smtClean="0"/>
              <a:t>.</a:t>
            </a:r>
          </a:p>
          <a:p>
            <a:r>
              <a:rPr lang="en-US" sz="2600" dirty="0"/>
              <a:t>It integrates and consolidates all of the subsidiary management plans </a:t>
            </a:r>
            <a:r>
              <a:rPr lang="en-US" sz="2600" dirty="0" smtClean="0"/>
              <a:t>baselines</a:t>
            </a:r>
            <a:r>
              <a:rPr lang="en-US" sz="2600" dirty="0"/>
              <a:t>, and other </a:t>
            </a:r>
            <a:r>
              <a:rPr lang="en-US" sz="2600" dirty="0" smtClean="0"/>
              <a:t>information </a:t>
            </a:r>
            <a:r>
              <a:rPr lang="en-US" sz="2600" dirty="0"/>
              <a:t>necessary to manage the project</a:t>
            </a:r>
            <a:r>
              <a:rPr lang="en-US" sz="2600" dirty="0" smtClean="0"/>
              <a:t>.</a:t>
            </a:r>
          </a:p>
          <a:p>
            <a:r>
              <a:rPr lang="en-US" sz="2600" b="1" dirty="0"/>
              <a:t>Project management plan components </a:t>
            </a:r>
            <a:r>
              <a:rPr lang="en-US" sz="2600" b="1" dirty="0" smtClean="0"/>
              <a:t>include</a:t>
            </a:r>
          </a:p>
          <a:p>
            <a:endParaRPr lang="en-US" sz="2600" b="1" dirty="0" smtClean="0"/>
          </a:p>
          <a:p>
            <a:pPr lvl="1"/>
            <a:r>
              <a:rPr lang="en-US" sz="2600" b="1" dirty="0"/>
              <a:t>Scope management </a:t>
            </a:r>
            <a:r>
              <a:rPr lang="en-US" sz="2600" b="1" dirty="0" smtClean="0"/>
              <a:t>plan</a:t>
            </a:r>
          </a:p>
          <a:p>
            <a:pPr lvl="1"/>
            <a:r>
              <a:rPr lang="en-US" sz="2600" b="1" dirty="0"/>
              <a:t>Requirements management plan</a:t>
            </a:r>
            <a:r>
              <a:rPr lang="en-US" sz="2600" b="1" dirty="0" smtClean="0"/>
              <a:t>.</a:t>
            </a:r>
          </a:p>
          <a:p>
            <a:pPr lvl="1"/>
            <a:r>
              <a:rPr lang="en-US" sz="2600" b="1" dirty="0"/>
              <a:t>Schedule management plan</a:t>
            </a:r>
            <a:r>
              <a:rPr lang="en-US" sz="2600" b="1" dirty="0" smtClean="0"/>
              <a:t>.</a:t>
            </a:r>
          </a:p>
          <a:p>
            <a:pPr lvl="1"/>
            <a:r>
              <a:rPr lang="en-US" sz="2600" b="1" dirty="0"/>
              <a:t>Cost management plan</a:t>
            </a:r>
            <a:r>
              <a:rPr lang="en-US" sz="2600" b="1" dirty="0" smtClean="0"/>
              <a:t>.</a:t>
            </a:r>
          </a:p>
          <a:p>
            <a:pPr lvl="1"/>
            <a:r>
              <a:rPr lang="en-US" sz="2600" b="1" dirty="0"/>
              <a:t>Quality management plan</a:t>
            </a:r>
            <a:r>
              <a:rPr lang="en-US" sz="2600" b="1" dirty="0" smtClean="0"/>
              <a:t>.</a:t>
            </a:r>
          </a:p>
          <a:p>
            <a:pPr lvl="1"/>
            <a:r>
              <a:rPr lang="en-US" sz="2600" b="1" dirty="0" smtClean="0"/>
              <a:t>Resource, Communication, Risk, Procurement and stakeholder  </a:t>
            </a:r>
            <a:r>
              <a:rPr lang="en-US" sz="2600" b="1" dirty="0"/>
              <a:t>management </a:t>
            </a:r>
            <a:r>
              <a:rPr lang="en-US" sz="2600" b="1" dirty="0" smtClean="0"/>
              <a:t>plan.</a:t>
            </a:r>
          </a:p>
          <a:p>
            <a:endParaRPr lang="en-US" b="1" dirty="0" smtClean="0"/>
          </a:p>
          <a:p>
            <a:endParaRPr lang="en-GB"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16</a:t>
            </a:fld>
            <a:endParaRPr lang="en-US" altLang="zh-TW"/>
          </a:p>
        </p:txBody>
      </p:sp>
      <p:sp>
        <p:nvSpPr>
          <p:cNvPr id="6" name="Date Placeholder 5"/>
          <p:cNvSpPr>
            <a:spLocks noGrp="1"/>
          </p:cNvSpPr>
          <p:nvPr>
            <p:ph type="dt" sz="half" idx="10"/>
          </p:nvPr>
        </p:nvSpPr>
        <p:spPr/>
        <p:txBody>
          <a:bodyPr/>
          <a:lstStyle/>
          <a:p>
            <a:fld id="{830BE62A-4CC6-430E-B97B-EEDC2B3DD0EE}" type="datetime1">
              <a:rPr lang="en-US" smtClean="0"/>
              <a:t>10/2/2024</a:t>
            </a:fld>
            <a:endParaRPr lang="en-US" dirty="0"/>
          </a:p>
        </p:txBody>
      </p:sp>
    </p:spTree>
    <p:extLst>
      <p:ext uri="{BB962C8B-B14F-4D97-AF65-F5344CB8AC3E}">
        <p14:creationId xmlns:p14="http://schemas.microsoft.com/office/powerpoint/2010/main" val="20794571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b="1" dirty="0"/>
              <a:t>DIRECT AND MANAGE PROJECT WORK</a:t>
            </a:r>
            <a:endParaRPr lang="en-GB" sz="3600" b="1" dirty="0"/>
          </a:p>
        </p:txBody>
      </p:sp>
      <p:sp>
        <p:nvSpPr>
          <p:cNvPr id="5" name="Content Placeholder 4"/>
          <p:cNvSpPr>
            <a:spLocks noGrp="1"/>
          </p:cNvSpPr>
          <p:nvPr>
            <p:ph idx="1"/>
          </p:nvPr>
        </p:nvSpPr>
        <p:spPr>
          <a:xfrm>
            <a:off x="762001" y="1845734"/>
            <a:ext cx="7772400" cy="4402666"/>
          </a:xfrm>
        </p:spPr>
        <p:txBody>
          <a:bodyPr>
            <a:normAutofit/>
          </a:bodyPr>
          <a:lstStyle/>
          <a:p>
            <a:pPr marL="0" indent="0">
              <a:buNone/>
            </a:pPr>
            <a:endParaRPr lang="en-US" sz="2200" dirty="0" smtClean="0"/>
          </a:p>
          <a:p>
            <a:pPr marL="0" indent="0">
              <a:buNone/>
            </a:pPr>
            <a:r>
              <a:rPr lang="en-US" sz="2200" dirty="0" smtClean="0"/>
              <a:t>Direct </a:t>
            </a:r>
            <a:r>
              <a:rPr lang="en-US" sz="2200" dirty="0"/>
              <a:t>and Manage Project Work is the process </a:t>
            </a:r>
            <a:r>
              <a:rPr lang="en-US" sz="2200" b="1" dirty="0"/>
              <a:t>of leading and performing the work deﬁned in the project </a:t>
            </a:r>
            <a:r>
              <a:rPr lang="en-US" sz="2200" b="1" dirty="0" smtClean="0"/>
              <a:t>management plan </a:t>
            </a:r>
            <a:r>
              <a:rPr lang="en-US" sz="2200" dirty="0"/>
              <a:t>and </a:t>
            </a:r>
            <a:r>
              <a:rPr lang="en-US" sz="2200" b="1" dirty="0" smtClean="0"/>
              <a:t>implementing approved changes </a:t>
            </a:r>
            <a:r>
              <a:rPr lang="en-US" sz="2200" dirty="0" smtClean="0"/>
              <a:t>to </a:t>
            </a:r>
            <a:r>
              <a:rPr lang="en-US" sz="2200" dirty="0"/>
              <a:t>achieve the project’s objectives</a:t>
            </a:r>
            <a:r>
              <a:rPr lang="en-US" sz="2200" dirty="0" smtClean="0"/>
              <a:t>.</a:t>
            </a:r>
          </a:p>
          <a:p>
            <a:endParaRPr lang="en-GB" dirty="0"/>
          </a:p>
        </p:txBody>
      </p:sp>
      <p:sp>
        <p:nvSpPr>
          <p:cNvPr id="2" name="Footer Placeholder 1"/>
          <p:cNvSpPr>
            <a:spLocks noGrp="1"/>
          </p:cNvSpPr>
          <p:nvPr>
            <p:ph type="ftr" sz="quarter" idx="11"/>
          </p:nvPr>
        </p:nvSpPr>
        <p:spPr/>
        <p:txBody>
          <a:bodyPr/>
          <a:lstStyle/>
          <a:p>
            <a:r>
              <a:rPr lang="en-US" smtClean="0"/>
              <a:t>Software Project Management</a:t>
            </a:r>
            <a:endParaRPr lang="en-US" dirty="0"/>
          </a:p>
        </p:txBody>
      </p:sp>
      <p:sp>
        <p:nvSpPr>
          <p:cNvPr id="3" name="Slide Number Placeholder 2"/>
          <p:cNvSpPr>
            <a:spLocks noGrp="1"/>
          </p:cNvSpPr>
          <p:nvPr>
            <p:ph type="sldNum" sz="quarter" idx="12"/>
          </p:nvPr>
        </p:nvSpPr>
        <p:spPr/>
        <p:txBody>
          <a:bodyPr/>
          <a:lstStyle/>
          <a:p>
            <a:fld id="{6A724623-74B1-4E3A-973F-8BDA5AC5721A}" type="slidenum">
              <a:rPr lang="zh-TW" altLang="en-US" smtClean="0"/>
              <a:pPr/>
              <a:t>17</a:t>
            </a:fld>
            <a:endParaRPr lang="en-US" altLang="zh-TW"/>
          </a:p>
        </p:txBody>
      </p:sp>
      <p:sp>
        <p:nvSpPr>
          <p:cNvPr id="6" name="Date Placeholder 5"/>
          <p:cNvSpPr>
            <a:spLocks noGrp="1"/>
          </p:cNvSpPr>
          <p:nvPr>
            <p:ph type="dt" sz="half" idx="10"/>
          </p:nvPr>
        </p:nvSpPr>
        <p:spPr/>
        <p:txBody>
          <a:bodyPr/>
          <a:lstStyle/>
          <a:p>
            <a:fld id="{34A4C4DE-442A-4D6C-A08B-F02615510EC4}" type="datetime1">
              <a:rPr lang="en-US" smtClean="0"/>
              <a:t>10/2/2024</a:t>
            </a:fld>
            <a:endParaRPr lang="en-US" dirty="0"/>
          </a:p>
        </p:txBody>
      </p:sp>
    </p:spTree>
    <p:extLst>
      <p:ext uri="{BB962C8B-B14F-4D97-AF65-F5344CB8AC3E}">
        <p14:creationId xmlns:p14="http://schemas.microsoft.com/office/powerpoint/2010/main" val="27795276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A75A48-63C8-430F-B8CD-E032A2B7E9BC}" type="datetime1">
              <a:rPr lang="en-US" smtClean="0"/>
              <a:t>10/2/2024</a:t>
            </a:fld>
            <a:endParaRPr lang="en-US" dirty="0"/>
          </a:p>
        </p:txBody>
      </p:sp>
      <p:sp>
        <p:nvSpPr>
          <p:cNvPr id="5" name="Footer Placeholder 4"/>
          <p:cNvSpPr>
            <a:spLocks noGrp="1"/>
          </p:cNvSpPr>
          <p:nvPr>
            <p:ph type="ftr" sz="quarter" idx="11"/>
          </p:nvPr>
        </p:nvSpPr>
        <p:spPr/>
        <p:txBody>
          <a:bodyPr/>
          <a:lstStyle/>
          <a:p>
            <a:r>
              <a:rPr lang="en-US" smtClean="0"/>
              <a:t>Software Project Management</a:t>
            </a:r>
            <a:endParaRPr lang="en-US" dirty="0"/>
          </a:p>
        </p:txBody>
      </p:sp>
      <p:sp>
        <p:nvSpPr>
          <p:cNvPr id="6" name="Slide Number Placeholder 5"/>
          <p:cNvSpPr>
            <a:spLocks noGrp="1"/>
          </p:cNvSpPr>
          <p:nvPr>
            <p:ph type="sldNum" sz="quarter" idx="12"/>
          </p:nvPr>
        </p:nvSpPr>
        <p:spPr/>
        <p:txBody>
          <a:bodyPr/>
          <a:lstStyle/>
          <a:p>
            <a:fld id="{9A46E848-2F87-4B68-B733-807A8A6F6C7D}" type="slidenum">
              <a:rPr lang="zh-TW" altLang="en-US" smtClean="0"/>
              <a:pPr/>
              <a:t>18</a:t>
            </a:fld>
            <a:endParaRPr lang="en-US" altLang="zh-TW"/>
          </a:p>
        </p:txBody>
      </p:sp>
      <p:pic>
        <p:nvPicPr>
          <p:cNvPr id="7" name="Picture 6"/>
          <p:cNvPicPr>
            <a:picLocks noChangeAspect="1"/>
          </p:cNvPicPr>
          <p:nvPr/>
        </p:nvPicPr>
        <p:blipFill rotWithShape="1">
          <a:blip r:embed="rId2"/>
          <a:srcRect l="3249"/>
          <a:stretch/>
        </p:blipFill>
        <p:spPr>
          <a:xfrm>
            <a:off x="228601" y="533401"/>
            <a:ext cx="8610600" cy="5638800"/>
          </a:xfrm>
          <a:prstGeom prst="rect">
            <a:avLst/>
          </a:prstGeom>
        </p:spPr>
      </p:pic>
    </p:spTree>
    <p:extLst>
      <p:ext uri="{BB962C8B-B14F-4D97-AF65-F5344CB8AC3E}">
        <p14:creationId xmlns:p14="http://schemas.microsoft.com/office/powerpoint/2010/main" val="3016844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b="1" dirty="0"/>
              <a:t>DIRECT AND MANAGE PROJECT </a:t>
            </a:r>
            <a:r>
              <a:rPr lang="en-US" sz="3200" b="1" dirty="0" smtClean="0"/>
              <a:t>WORK</a:t>
            </a:r>
            <a:endParaRPr lang="en-GB" sz="3200" b="1" dirty="0"/>
          </a:p>
        </p:txBody>
      </p:sp>
      <p:sp>
        <p:nvSpPr>
          <p:cNvPr id="5" name="Content Placeholder 4"/>
          <p:cNvSpPr>
            <a:spLocks noGrp="1"/>
          </p:cNvSpPr>
          <p:nvPr>
            <p:ph idx="1"/>
          </p:nvPr>
        </p:nvSpPr>
        <p:spPr>
          <a:xfrm>
            <a:off x="822960" y="1905000"/>
            <a:ext cx="8016240" cy="4250266"/>
          </a:xfrm>
        </p:spPr>
        <p:txBody>
          <a:bodyPr>
            <a:normAutofit/>
          </a:bodyPr>
          <a:lstStyle/>
          <a:p>
            <a:pPr marL="0" indent="0">
              <a:buNone/>
            </a:pPr>
            <a:r>
              <a:rPr lang="en-US" b="1" dirty="0"/>
              <a:t>Inputs:</a:t>
            </a:r>
          </a:p>
          <a:p>
            <a:pPr marL="0" indent="0">
              <a:buNone/>
            </a:pPr>
            <a:r>
              <a:rPr lang="en-GB" b="1" dirty="0"/>
              <a:t>Change log. </a:t>
            </a:r>
            <a:r>
              <a:rPr lang="en-US" dirty="0"/>
              <a:t>The change log contains the status of all change requests.</a:t>
            </a:r>
          </a:p>
          <a:p>
            <a:pPr marL="0" indent="0">
              <a:buNone/>
            </a:pPr>
            <a:r>
              <a:rPr lang="en-GB" b="1" dirty="0"/>
              <a:t>Milestone list.</a:t>
            </a:r>
            <a:r>
              <a:rPr lang="en-US" b="1" dirty="0"/>
              <a:t> </a:t>
            </a:r>
            <a:r>
              <a:rPr lang="en-US" dirty="0"/>
              <a:t>The milestone list shows the scheduled dates for speciﬁc milestones.</a:t>
            </a:r>
          </a:p>
          <a:p>
            <a:pPr marL="0" indent="0">
              <a:buNone/>
            </a:pPr>
            <a:r>
              <a:rPr lang="en-US" b="1" dirty="0"/>
              <a:t>Project communications. </a:t>
            </a:r>
            <a:r>
              <a:rPr lang="en-US" dirty="0"/>
              <a:t>Project communications include performance reports, deliverable status, and other information generated by the project.</a:t>
            </a:r>
            <a:endParaRPr lang="en-US" b="1" dirty="0"/>
          </a:p>
          <a:p>
            <a:pPr marL="0" indent="0">
              <a:buNone/>
            </a:pPr>
            <a:r>
              <a:rPr lang="en-GB" b="1" dirty="0" smtClean="0"/>
              <a:t>APPROVED </a:t>
            </a:r>
            <a:r>
              <a:rPr lang="en-GB" b="1" dirty="0"/>
              <a:t>CHANGE </a:t>
            </a:r>
            <a:r>
              <a:rPr lang="en-GB" b="1" dirty="0" smtClean="0"/>
              <a:t>REQUESTS</a:t>
            </a:r>
          </a:p>
          <a:p>
            <a:pPr marL="0" indent="0">
              <a:buNone/>
            </a:pPr>
            <a:r>
              <a:rPr lang="en-US" dirty="0"/>
              <a:t>Approved change requests are an </a:t>
            </a:r>
            <a:r>
              <a:rPr lang="en-US" b="1" dirty="0"/>
              <a:t>output of the Perform Integrated Change </a:t>
            </a:r>
            <a:r>
              <a:rPr lang="en-US" b="1" dirty="0" smtClean="0"/>
              <a:t>Control process</a:t>
            </a:r>
            <a:r>
              <a:rPr lang="en-US" dirty="0"/>
              <a:t>, and include </a:t>
            </a:r>
            <a:r>
              <a:rPr lang="en-US" b="1" dirty="0"/>
              <a:t>those requests reviewed and approved for implementation </a:t>
            </a:r>
            <a:r>
              <a:rPr lang="en-US" dirty="0"/>
              <a:t>by </a:t>
            </a:r>
            <a:r>
              <a:rPr lang="en-US" b="1" dirty="0"/>
              <a:t>the project manager or by </a:t>
            </a:r>
            <a:r>
              <a:rPr lang="en-US" b="1" dirty="0" smtClean="0"/>
              <a:t>the change </a:t>
            </a:r>
            <a:r>
              <a:rPr lang="en-US" b="1" dirty="0"/>
              <a:t>control board (CCB) </a:t>
            </a:r>
            <a:r>
              <a:rPr lang="en-US" dirty="0" smtClean="0"/>
              <a:t>when </a:t>
            </a:r>
            <a:r>
              <a:rPr lang="en-US" dirty="0"/>
              <a:t>applicable</a:t>
            </a:r>
            <a:r>
              <a:rPr lang="en-US" dirty="0" smtClean="0"/>
              <a:t>.</a:t>
            </a:r>
          </a:p>
          <a:p>
            <a:pPr marL="0" indent="0">
              <a:buNone/>
            </a:pPr>
            <a:endParaRPr lang="en-GB" dirty="0"/>
          </a:p>
        </p:txBody>
      </p:sp>
      <p:sp>
        <p:nvSpPr>
          <p:cNvPr id="2" name="Footer Placeholder 1"/>
          <p:cNvSpPr>
            <a:spLocks noGrp="1"/>
          </p:cNvSpPr>
          <p:nvPr>
            <p:ph type="ftr" sz="quarter" idx="11"/>
          </p:nvPr>
        </p:nvSpPr>
        <p:spPr/>
        <p:txBody>
          <a:bodyPr/>
          <a:lstStyle/>
          <a:p>
            <a:r>
              <a:rPr lang="en-US" smtClean="0"/>
              <a:t>Software Project Management</a:t>
            </a:r>
            <a:endParaRPr lang="en-US" dirty="0"/>
          </a:p>
        </p:txBody>
      </p:sp>
      <p:sp>
        <p:nvSpPr>
          <p:cNvPr id="3" name="Slide Number Placeholder 2"/>
          <p:cNvSpPr>
            <a:spLocks noGrp="1"/>
          </p:cNvSpPr>
          <p:nvPr>
            <p:ph type="sldNum" sz="quarter" idx="12"/>
          </p:nvPr>
        </p:nvSpPr>
        <p:spPr/>
        <p:txBody>
          <a:bodyPr/>
          <a:lstStyle/>
          <a:p>
            <a:fld id="{6A724623-74B1-4E3A-973F-8BDA5AC5721A}" type="slidenum">
              <a:rPr lang="zh-TW" altLang="en-US" smtClean="0"/>
              <a:pPr/>
              <a:t>19</a:t>
            </a:fld>
            <a:endParaRPr lang="en-US" altLang="zh-TW"/>
          </a:p>
        </p:txBody>
      </p:sp>
      <p:sp>
        <p:nvSpPr>
          <p:cNvPr id="6" name="Date Placeholder 5"/>
          <p:cNvSpPr>
            <a:spLocks noGrp="1"/>
          </p:cNvSpPr>
          <p:nvPr>
            <p:ph type="dt" sz="half" idx="10"/>
          </p:nvPr>
        </p:nvSpPr>
        <p:spPr/>
        <p:txBody>
          <a:bodyPr/>
          <a:lstStyle/>
          <a:p>
            <a:fld id="{A2B44500-6017-4BEF-A107-27C921542F7A}" type="datetime1">
              <a:rPr lang="en-US" smtClean="0"/>
              <a:t>10/2/2024</a:t>
            </a:fld>
            <a:endParaRPr lang="en-US" dirty="0"/>
          </a:p>
        </p:txBody>
      </p:sp>
    </p:spTree>
    <p:extLst>
      <p:ext uri="{BB962C8B-B14F-4D97-AF65-F5344CB8AC3E}">
        <p14:creationId xmlns:p14="http://schemas.microsoft.com/office/powerpoint/2010/main" val="26334185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t>DIRECT AND MANAGE PROJECT WORK: TOOLS AND TECHNIQUES</a:t>
            </a:r>
            <a:endParaRPr lang="en-GB" sz="3200" b="1" dirty="0"/>
          </a:p>
        </p:txBody>
      </p:sp>
      <p:sp>
        <p:nvSpPr>
          <p:cNvPr id="3" name="Content Placeholder 2"/>
          <p:cNvSpPr>
            <a:spLocks noGrp="1"/>
          </p:cNvSpPr>
          <p:nvPr>
            <p:ph idx="1"/>
          </p:nvPr>
        </p:nvSpPr>
        <p:spPr/>
        <p:txBody>
          <a:bodyPr>
            <a:normAutofit/>
          </a:bodyPr>
          <a:lstStyle/>
          <a:p>
            <a:pPr>
              <a:lnSpc>
                <a:spcPct val="100000"/>
              </a:lnSpc>
            </a:pPr>
            <a:r>
              <a:rPr lang="en-GB" b="1" dirty="0" smtClean="0"/>
              <a:t>PROJECT </a:t>
            </a:r>
            <a:r>
              <a:rPr lang="en-GB" b="1" dirty="0"/>
              <a:t>MANAGEMENT INFORMATION SYSTEM (PMIS</a:t>
            </a:r>
            <a:r>
              <a:rPr lang="en-GB" b="1" dirty="0" smtClean="0"/>
              <a:t>)</a:t>
            </a:r>
          </a:p>
          <a:p>
            <a:pPr>
              <a:lnSpc>
                <a:spcPct val="100000"/>
              </a:lnSpc>
            </a:pPr>
            <a:r>
              <a:rPr lang="en-US" dirty="0"/>
              <a:t>A PMIS is a software program or application that organizes and controls the flow of project data and information</a:t>
            </a:r>
            <a:r>
              <a:rPr lang="en-US" dirty="0" smtClean="0"/>
              <a:t>. </a:t>
            </a:r>
            <a:endParaRPr lang="en-GB" b="1"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20</a:t>
            </a:fld>
            <a:endParaRPr lang="en-US" altLang="zh-TW"/>
          </a:p>
        </p:txBody>
      </p:sp>
      <p:sp>
        <p:nvSpPr>
          <p:cNvPr id="6" name="Date Placeholder 5"/>
          <p:cNvSpPr>
            <a:spLocks noGrp="1"/>
          </p:cNvSpPr>
          <p:nvPr>
            <p:ph type="dt" sz="half" idx="10"/>
          </p:nvPr>
        </p:nvSpPr>
        <p:spPr/>
        <p:txBody>
          <a:bodyPr/>
          <a:lstStyle/>
          <a:p>
            <a:fld id="{6018D804-CA67-43EA-AE28-9DAB5643888E}" type="datetime1">
              <a:rPr lang="en-US" smtClean="0"/>
              <a:t>10/2/2024</a:t>
            </a:fld>
            <a:endParaRPr lang="en-US" dirty="0"/>
          </a:p>
        </p:txBody>
      </p:sp>
    </p:spTree>
    <p:extLst>
      <p:ext uri="{BB962C8B-B14F-4D97-AF65-F5344CB8AC3E}">
        <p14:creationId xmlns:p14="http://schemas.microsoft.com/office/powerpoint/2010/main" val="29270603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mn-lt"/>
              </a:rPr>
              <a:t>DIRECT AND MANAGE PROJECT WORK: OUTPUTS</a:t>
            </a:r>
            <a:endParaRPr lang="en-GB" sz="3600" dirty="0">
              <a:latin typeface="+mn-lt"/>
            </a:endParaRPr>
          </a:p>
        </p:txBody>
      </p:sp>
      <p:sp>
        <p:nvSpPr>
          <p:cNvPr id="3" name="Content Placeholder 2"/>
          <p:cNvSpPr>
            <a:spLocks noGrp="1"/>
          </p:cNvSpPr>
          <p:nvPr>
            <p:ph idx="1"/>
          </p:nvPr>
        </p:nvSpPr>
        <p:spPr>
          <a:xfrm>
            <a:off x="822959" y="1845734"/>
            <a:ext cx="8168641" cy="4023360"/>
          </a:xfrm>
        </p:spPr>
        <p:txBody>
          <a:bodyPr>
            <a:normAutofit/>
          </a:bodyPr>
          <a:lstStyle/>
          <a:p>
            <a:r>
              <a:rPr lang="en-GB" b="1" dirty="0"/>
              <a:t>1 </a:t>
            </a:r>
            <a:r>
              <a:rPr lang="en-GB" b="1" dirty="0" smtClean="0"/>
              <a:t>DELIVERABLES</a:t>
            </a:r>
          </a:p>
          <a:p>
            <a:r>
              <a:rPr lang="en-US" dirty="0"/>
              <a:t>Deliverables are typically the outcomes of the project </a:t>
            </a:r>
            <a:r>
              <a:rPr lang="en-US" dirty="0" smtClean="0"/>
              <a:t>or phase.</a:t>
            </a:r>
          </a:p>
          <a:p>
            <a:r>
              <a:rPr lang="en-GB" b="1" dirty="0"/>
              <a:t>2 WORK PERFORMANCE </a:t>
            </a:r>
            <a:r>
              <a:rPr lang="en-GB" b="1" dirty="0" smtClean="0"/>
              <a:t>DATA</a:t>
            </a:r>
          </a:p>
          <a:p>
            <a:r>
              <a:rPr lang="en-US" dirty="0"/>
              <a:t>Examples of work performance data include work completed, key performance indicators (KPIs), </a:t>
            </a:r>
            <a:r>
              <a:rPr lang="en-US" dirty="0" smtClean="0"/>
              <a:t>actual </a:t>
            </a:r>
            <a:r>
              <a:rPr lang="en-US" dirty="0"/>
              <a:t>start and ﬁnish dates of </a:t>
            </a:r>
            <a:r>
              <a:rPr lang="en-US" dirty="0" smtClean="0"/>
              <a:t>scheduled </a:t>
            </a:r>
            <a:r>
              <a:rPr lang="en-US" dirty="0"/>
              <a:t>activities, </a:t>
            </a:r>
            <a:r>
              <a:rPr lang="en-US" dirty="0" smtClean="0"/>
              <a:t>deliverables </a:t>
            </a:r>
            <a:r>
              <a:rPr lang="en-US" dirty="0"/>
              <a:t>status, schedule </a:t>
            </a:r>
            <a:r>
              <a:rPr lang="en-US" dirty="0" smtClean="0"/>
              <a:t>progress, and number </a:t>
            </a:r>
            <a:r>
              <a:rPr lang="en-US" dirty="0"/>
              <a:t>of </a:t>
            </a:r>
            <a:r>
              <a:rPr lang="en-US" dirty="0" smtClean="0"/>
              <a:t>defects.</a:t>
            </a:r>
          </a:p>
          <a:p>
            <a:r>
              <a:rPr lang="en-GB" b="1" dirty="0"/>
              <a:t>3 ISSUE </a:t>
            </a:r>
            <a:r>
              <a:rPr lang="en-GB" b="1" dirty="0" smtClean="0"/>
              <a:t>LOG</a:t>
            </a:r>
          </a:p>
          <a:p>
            <a:r>
              <a:rPr lang="en-US" dirty="0"/>
              <a:t>Throughout the life cycle of a project, the </a:t>
            </a:r>
            <a:r>
              <a:rPr lang="en-US" b="1" dirty="0"/>
              <a:t>project manager will normally face problems, gaps, inconsistencies, or </a:t>
            </a:r>
            <a:r>
              <a:rPr lang="en-US" b="1" dirty="0" smtClean="0"/>
              <a:t>conﬂicts </a:t>
            </a:r>
            <a:r>
              <a:rPr lang="en-US" dirty="0"/>
              <a:t>that occur unexpectedly and </a:t>
            </a:r>
            <a:r>
              <a:rPr lang="en-US" b="1" dirty="0"/>
              <a:t>that require some action so they do not impact the project performance. </a:t>
            </a:r>
            <a:endParaRPr lang="en-GB" b="1"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21</a:t>
            </a:fld>
            <a:endParaRPr lang="en-US" altLang="zh-TW"/>
          </a:p>
        </p:txBody>
      </p:sp>
      <p:sp>
        <p:nvSpPr>
          <p:cNvPr id="6" name="Date Placeholder 5"/>
          <p:cNvSpPr>
            <a:spLocks noGrp="1"/>
          </p:cNvSpPr>
          <p:nvPr>
            <p:ph type="dt" sz="half" idx="10"/>
          </p:nvPr>
        </p:nvSpPr>
        <p:spPr/>
        <p:txBody>
          <a:bodyPr/>
          <a:lstStyle/>
          <a:p>
            <a:fld id="{64228E45-A5CA-40E1-90CF-F27CD2C44C60}" type="datetime1">
              <a:rPr lang="en-US" smtClean="0"/>
              <a:t>10/2/2024</a:t>
            </a:fld>
            <a:endParaRPr lang="en-US" dirty="0"/>
          </a:p>
        </p:txBody>
      </p:sp>
    </p:spTree>
    <p:extLst>
      <p:ext uri="{BB962C8B-B14F-4D97-AF65-F5344CB8AC3E}">
        <p14:creationId xmlns:p14="http://schemas.microsoft.com/office/powerpoint/2010/main" val="1230606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mn-lt"/>
              </a:rPr>
              <a:t>DIRECT AND MANAGE PROJECT WORK: OUTPUTS</a:t>
            </a:r>
            <a:endParaRPr lang="en-GB" sz="3600" dirty="0">
              <a:latin typeface="+mn-lt"/>
            </a:endParaRPr>
          </a:p>
        </p:txBody>
      </p:sp>
      <p:sp>
        <p:nvSpPr>
          <p:cNvPr id="3" name="Content Placeholder 2"/>
          <p:cNvSpPr>
            <a:spLocks noGrp="1"/>
          </p:cNvSpPr>
          <p:nvPr>
            <p:ph idx="1"/>
          </p:nvPr>
        </p:nvSpPr>
        <p:spPr>
          <a:xfrm>
            <a:off x="822959" y="1845734"/>
            <a:ext cx="8168641" cy="4023360"/>
          </a:xfrm>
        </p:spPr>
        <p:txBody>
          <a:bodyPr>
            <a:normAutofit fontScale="92500" lnSpcReduction="10000"/>
          </a:bodyPr>
          <a:lstStyle/>
          <a:p>
            <a:r>
              <a:rPr lang="en-GB" b="1" dirty="0" smtClean="0"/>
              <a:t>3 </a:t>
            </a:r>
            <a:r>
              <a:rPr lang="en-GB" b="1" dirty="0"/>
              <a:t>ISSUE </a:t>
            </a:r>
            <a:r>
              <a:rPr lang="en-GB" b="1" dirty="0" smtClean="0"/>
              <a:t>LOG</a:t>
            </a:r>
          </a:p>
          <a:p>
            <a:r>
              <a:rPr lang="en-US" dirty="0"/>
              <a:t>The </a:t>
            </a:r>
            <a:r>
              <a:rPr lang="en-US" dirty="0" smtClean="0"/>
              <a:t>issue log </a:t>
            </a:r>
            <a:r>
              <a:rPr lang="en-US" dirty="0"/>
              <a:t>is a project document where all the issues are recorded and tracked</a:t>
            </a:r>
            <a:r>
              <a:rPr lang="en-US" dirty="0" smtClean="0"/>
              <a:t>.</a:t>
            </a:r>
          </a:p>
          <a:p>
            <a:r>
              <a:rPr lang="en-US" dirty="0"/>
              <a:t>Issue </a:t>
            </a:r>
            <a:r>
              <a:rPr lang="en-US" dirty="0" smtClean="0"/>
              <a:t>type</a:t>
            </a:r>
            <a:endParaRPr lang="en-US" dirty="0"/>
          </a:p>
          <a:p>
            <a:r>
              <a:rPr lang="en-US" dirty="0" smtClean="0"/>
              <a:t>Who </a:t>
            </a:r>
            <a:r>
              <a:rPr lang="en-US" dirty="0"/>
              <a:t>raised the issue and when,</a:t>
            </a:r>
          </a:p>
          <a:p>
            <a:r>
              <a:rPr lang="en-US" dirty="0" smtClean="0"/>
              <a:t>Description</a:t>
            </a:r>
            <a:endParaRPr lang="en-US" dirty="0"/>
          </a:p>
          <a:p>
            <a:r>
              <a:rPr lang="en-US" dirty="0" smtClean="0"/>
              <a:t>Priority</a:t>
            </a:r>
            <a:endParaRPr lang="en-US" dirty="0"/>
          </a:p>
          <a:p>
            <a:r>
              <a:rPr lang="en-US" dirty="0" smtClean="0"/>
              <a:t>Who </a:t>
            </a:r>
            <a:r>
              <a:rPr lang="en-US" dirty="0"/>
              <a:t>is assigned to the </a:t>
            </a:r>
            <a:r>
              <a:rPr lang="en-US" dirty="0" smtClean="0"/>
              <a:t>issue</a:t>
            </a:r>
            <a:endParaRPr lang="en-US" dirty="0"/>
          </a:p>
          <a:p>
            <a:r>
              <a:rPr lang="en-US" dirty="0" smtClean="0"/>
              <a:t>target </a:t>
            </a:r>
            <a:r>
              <a:rPr lang="en-US" dirty="0"/>
              <a:t>resolution </a:t>
            </a:r>
            <a:r>
              <a:rPr lang="en-US" dirty="0" smtClean="0"/>
              <a:t>date</a:t>
            </a:r>
            <a:endParaRPr lang="en-US" dirty="0"/>
          </a:p>
          <a:p>
            <a:r>
              <a:rPr lang="en-US" dirty="0" smtClean="0"/>
              <a:t>status, </a:t>
            </a:r>
            <a:r>
              <a:rPr lang="en-US" dirty="0"/>
              <a:t>and</a:t>
            </a:r>
          </a:p>
          <a:p>
            <a:r>
              <a:rPr lang="en-US" dirty="0" smtClean="0"/>
              <a:t>final </a:t>
            </a:r>
            <a:r>
              <a:rPr lang="en-US" dirty="0"/>
              <a:t>solution.</a:t>
            </a:r>
            <a:endParaRPr lang="en-GB" dirty="0" smtClean="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22</a:t>
            </a:fld>
            <a:endParaRPr lang="en-US" altLang="zh-TW"/>
          </a:p>
        </p:txBody>
      </p:sp>
      <p:sp>
        <p:nvSpPr>
          <p:cNvPr id="6" name="Date Placeholder 5"/>
          <p:cNvSpPr>
            <a:spLocks noGrp="1"/>
          </p:cNvSpPr>
          <p:nvPr>
            <p:ph type="dt" sz="half" idx="10"/>
          </p:nvPr>
        </p:nvSpPr>
        <p:spPr/>
        <p:txBody>
          <a:bodyPr/>
          <a:lstStyle/>
          <a:p>
            <a:fld id="{563B303F-40EE-40DE-A0E7-974AF8B2A89D}" type="datetime1">
              <a:rPr lang="en-US" smtClean="0"/>
              <a:t>10/2/2024</a:t>
            </a:fld>
            <a:endParaRPr lang="en-US" dirty="0"/>
          </a:p>
        </p:txBody>
      </p:sp>
    </p:spTree>
    <p:extLst>
      <p:ext uri="{BB962C8B-B14F-4D97-AF65-F5344CB8AC3E}">
        <p14:creationId xmlns:p14="http://schemas.microsoft.com/office/powerpoint/2010/main" val="34137971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t>DIRECT AND MANAGE PROJECT WORK: OUTPUTS</a:t>
            </a:r>
            <a:endParaRPr lang="en-GB" sz="3200" b="1" dirty="0"/>
          </a:p>
        </p:txBody>
      </p:sp>
      <p:sp>
        <p:nvSpPr>
          <p:cNvPr id="3" name="Content Placeholder 2"/>
          <p:cNvSpPr>
            <a:spLocks noGrp="1"/>
          </p:cNvSpPr>
          <p:nvPr>
            <p:ph idx="1"/>
          </p:nvPr>
        </p:nvSpPr>
        <p:spPr/>
        <p:txBody>
          <a:bodyPr/>
          <a:lstStyle/>
          <a:p>
            <a:r>
              <a:rPr lang="en-US" b="1" dirty="0" smtClean="0"/>
              <a:t>Project Documents Include:</a:t>
            </a:r>
          </a:p>
          <a:p>
            <a:pPr lvl="1"/>
            <a:r>
              <a:rPr lang="en-US" b="1" dirty="0"/>
              <a:t>Assumption log</a:t>
            </a:r>
            <a:r>
              <a:rPr lang="en-US" b="1" dirty="0" smtClean="0"/>
              <a:t>.</a:t>
            </a:r>
          </a:p>
          <a:p>
            <a:pPr lvl="1"/>
            <a:r>
              <a:rPr lang="en-US" b="1" dirty="0" smtClean="0"/>
              <a:t>lessons </a:t>
            </a:r>
            <a:r>
              <a:rPr lang="en-US" b="1" dirty="0"/>
              <a:t>learned register</a:t>
            </a:r>
            <a:r>
              <a:rPr lang="en-US" b="1" dirty="0" smtClean="0"/>
              <a:t>.</a:t>
            </a:r>
          </a:p>
          <a:p>
            <a:pPr lvl="1"/>
            <a:r>
              <a:rPr lang="en-US" b="1" dirty="0"/>
              <a:t>Requirements documentation</a:t>
            </a:r>
            <a:r>
              <a:rPr lang="en-US" b="1" dirty="0" smtClean="0"/>
              <a:t>.</a:t>
            </a:r>
          </a:p>
          <a:p>
            <a:pPr lvl="1"/>
            <a:r>
              <a:rPr lang="en-US" b="1" dirty="0"/>
              <a:t>Risk register. </a:t>
            </a:r>
            <a:endParaRPr lang="en-US" b="1" dirty="0" smtClean="0"/>
          </a:p>
          <a:p>
            <a:pPr lvl="1"/>
            <a:r>
              <a:rPr lang="en-US" b="1" dirty="0"/>
              <a:t>Stakeholder register</a:t>
            </a:r>
            <a:r>
              <a:rPr lang="en-US" b="1" dirty="0" smtClean="0"/>
              <a:t>.</a:t>
            </a:r>
          </a:p>
          <a:p>
            <a:r>
              <a:rPr lang="en-US" b="1" dirty="0" smtClean="0"/>
              <a:t>7. </a:t>
            </a:r>
            <a:r>
              <a:rPr lang="en-US" b="1" dirty="0"/>
              <a:t>ORGANIZATIONAL PROCESS ASSETS </a:t>
            </a:r>
            <a:r>
              <a:rPr lang="en-US" b="1" dirty="0" smtClean="0"/>
              <a:t>UPDATES</a:t>
            </a:r>
          </a:p>
          <a:p>
            <a:r>
              <a:rPr lang="en-US" dirty="0"/>
              <a:t>Any organizational process asset can be updated as a result of this process.</a:t>
            </a:r>
            <a:endParaRPr lang="en-US" dirty="0" smtClean="0"/>
          </a:p>
          <a:p>
            <a:endParaRPr lang="en-GB" dirty="0"/>
          </a:p>
        </p:txBody>
      </p:sp>
      <p:sp>
        <p:nvSpPr>
          <p:cNvPr id="4" name="Footer Placeholder 3"/>
          <p:cNvSpPr>
            <a:spLocks noGrp="1"/>
          </p:cNvSpPr>
          <p:nvPr>
            <p:ph type="ftr" sz="quarter" idx="11"/>
          </p:nvPr>
        </p:nvSpPr>
        <p:spPr/>
        <p:txBody>
          <a:bodyPr/>
          <a:lstStyle/>
          <a:p>
            <a:r>
              <a:rPr lang="en-US" smtClean="0"/>
              <a:t>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23</a:t>
            </a:fld>
            <a:endParaRPr lang="en-US" altLang="zh-TW"/>
          </a:p>
        </p:txBody>
      </p:sp>
      <p:sp>
        <p:nvSpPr>
          <p:cNvPr id="6" name="Date Placeholder 5"/>
          <p:cNvSpPr>
            <a:spLocks noGrp="1"/>
          </p:cNvSpPr>
          <p:nvPr>
            <p:ph type="dt" sz="half" idx="10"/>
          </p:nvPr>
        </p:nvSpPr>
        <p:spPr/>
        <p:txBody>
          <a:bodyPr/>
          <a:lstStyle/>
          <a:p>
            <a:fld id="{E14A0A29-2342-4058-A10A-18D57A5DF08A}" type="datetime1">
              <a:rPr lang="en-US" smtClean="0"/>
              <a:t>10/2/2024</a:t>
            </a:fld>
            <a:endParaRPr lang="en-US" dirty="0"/>
          </a:p>
        </p:txBody>
      </p:sp>
    </p:spTree>
    <p:extLst>
      <p:ext uri="{BB962C8B-B14F-4D97-AF65-F5344CB8AC3E}">
        <p14:creationId xmlns:p14="http://schemas.microsoft.com/office/powerpoint/2010/main" val="32237484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B350D598-9311-42D7-9119-8BCE003766E3}"/>
              </a:ext>
            </a:extLst>
          </p:cNvPr>
          <p:cNvSpPr>
            <a:spLocks noGrp="1" noChangeArrowheads="1"/>
          </p:cNvSpPr>
          <p:nvPr>
            <p:ph type="title"/>
          </p:nvPr>
        </p:nvSpPr>
        <p:spPr/>
        <p:txBody>
          <a:bodyPr>
            <a:normAutofit/>
          </a:bodyPr>
          <a:lstStyle/>
          <a:p>
            <a:pPr algn="ctr"/>
            <a:r>
              <a:rPr lang="en-US" altLang="zh-TW" sz="3600" b="1" dirty="0">
                <a:ea typeface="新細明體" panose="02020500000000000000" pitchFamily="18" charset="-120"/>
              </a:rPr>
              <a:t>PERFORM INTEGRATED CHANGE CONTROL</a:t>
            </a:r>
          </a:p>
        </p:txBody>
      </p:sp>
      <p:sp>
        <p:nvSpPr>
          <p:cNvPr id="91139" name="Rectangle 3">
            <a:extLst>
              <a:ext uri="{FF2B5EF4-FFF2-40B4-BE49-F238E27FC236}">
                <a16:creationId xmlns:a16="http://schemas.microsoft.com/office/drawing/2014/main" id="{108AA50E-2CD7-487C-B488-76E6DC8B07E5}"/>
              </a:ext>
            </a:extLst>
          </p:cNvPr>
          <p:cNvSpPr>
            <a:spLocks noGrp="1" noChangeArrowheads="1"/>
          </p:cNvSpPr>
          <p:nvPr>
            <p:ph idx="1"/>
          </p:nvPr>
        </p:nvSpPr>
        <p:spPr>
          <a:xfrm>
            <a:off x="478631" y="1828800"/>
            <a:ext cx="8186738" cy="4267200"/>
          </a:xfrm>
        </p:spPr>
        <p:txBody>
          <a:bodyPr>
            <a:normAutofit/>
          </a:bodyPr>
          <a:lstStyle/>
          <a:p>
            <a:endParaRPr lang="en-US" altLang="zh-TW" sz="1600" dirty="0" smtClean="0">
              <a:ea typeface="新細明體" panose="02020500000000000000" pitchFamily="18" charset="-120"/>
            </a:endParaRPr>
          </a:p>
          <a:p>
            <a:pPr algn="just"/>
            <a:r>
              <a:rPr lang="en-US" altLang="zh-TW" sz="2400" dirty="0" smtClean="0">
                <a:ea typeface="新細明體" panose="02020500000000000000" pitchFamily="18" charset="-120"/>
              </a:rPr>
              <a:t>Perform </a:t>
            </a:r>
            <a:r>
              <a:rPr lang="en-US" altLang="zh-TW" sz="2400" dirty="0">
                <a:ea typeface="新細明體" panose="02020500000000000000" pitchFamily="18" charset="-120"/>
              </a:rPr>
              <a:t>Integrated Change Control is the process of </a:t>
            </a:r>
            <a:r>
              <a:rPr lang="en-US" altLang="zh-TW" sz="2400" b="1" dirty="0">
                <a:ea typeface="新細明體" panose="02020500000000000000" pitchFamily="18" charset="-120"/>
              </a:rPr>
              <a:t>reviewing all change requests</a:t>
            </a:r>
            <a:r>
              <a:rPr lang="en-US" altLang="zh-TW" sz="2400" dirty="0">
                <a:ea typeface="新細明體" panose="02020500000000000000" pitchFamily="18" charset="-120"/>
              </a:rPr>
              <a:t>; </a:t>
            </a:r>
            <a:r>
              <a:rPr lang="en-US" altLang="zh-TW" sz="2400" b="1" dirty="0">
                <a:ea typeface="新細明體" panose="02020500000000000000" pitchFamily="18" charset="-120"/>
              </a:rPr>
              <a:t>approving changes and managing </a:t>
            </a:r>
            <a:r>
              <a:rPr lang="en-US" altLang="zh-TW" sz="2400" b="1" dirty="0" smtClean="0">
                <a:ea typeface="新細明體" panose="02020500000000000000" pitchFamily="18" charset="-120"/>
              </a:rPr>
              <a:t>changes </a:t>
            </a:r>
            <a:r>
              <a:rPr lang="en-US" altLang="zh-TW" sz="2400" b="1" dirty="0">
                <a:ea typeface="新細明體" panose="02020500000000000000" pitchFamily="18" charset="-120"/>
              </a:rPr>
              <a:t>to deliverables, project documents</a:t>
            </a:r>
            <a:r>
              <a:rPr lang="en-US" altLang="zh-TW" sz="2400" dirty="0">
                <a:ea typeface="新細明體" panose="02020500000000000000" pitchFamily="18" charset="-120"/>
              </a:rPr>
              <a:t>, and the </a:t>
            </a:r>
            <a:r>
              <a:rPr lang="en-US" altLang="zh-TW" sz="2400" b="1" dirty="0">
                <a:ea typeface="新細明體" panose="02020500000000000000" pitchFamily="18" charset="-120"/>
              </a:rPr>
              <a:t>project management plan; and communicating the decisions. </a:t>
            </a:r>
            <a:endParaRPr lang="en-US" altLang="zh-TW" sz="2400" b="1" dirty="0" smtClean="0">
              <a:ea typeface="新細明體" panose="02020500000000000000" pitchFamily="18" charset="-120"/>
            </a:endParaRPr>
          </a:p>
          <a:p>
            <a:r>
              <a:rPr lang="en-US" altLang="zh-TW" sz="2400" b="1" dirty="0">
                <a:ea typeface="新細明體" panose="02020500000000000000" pitchFamily="18" charset="-120"/>
              </a:rPr>
              <a:t>key beneﬁt </a:t>
            </a:r>
            <a:endParaRPr lang="en-US" altLang="zh-TW" sz="2400" b="1" dirty="0" smtClean="0">
              <a:ea typeface="新細明體" panose="02020500000000000000" pitchFamily="18" charset="-120"/>
            </a:endParaRPr>
          </a:p>
          <a:p>
            <a:r>
              <a:rPr lang="en-US" altLang="zh-TW" sz="2400" dirty="0" smtClean="0">
                <a:ea typeface="新細明體" panose="02020500000000000000" pitchFamily="18" charset="-120"/>
              </a:rPr>
              <a:t>Manage Changes throughout the project cycle</a:t>
            </a:r>
          </a:p>
          <a:p>
            <a:endParaRPr lang="en-US" altLang="zh-TW" sz="2400" dirty="0">
              <a:ea typeface="新細明體" panose="02020500000000000000" pitchFamily="18" charset="-120"/>
            </a:endParaRPr>
          </a:p>
          <a:p>
            <a:endParaRPr lang="en-US" altLang="zh-TW" sz="2400" b="1" dirty="0" smtClean="0">
              <a:ea typeface="新細明體" panose="02020500000000000000" pitchFamily="18" charset="-120"/>
            </a:endParaRPr>
          </a:p>
        </p:txBody>
      </p:sp>
      <p:sp>
        <p:nvSpPr>
          <p:cNvPr id="4" name="Slide Number Placeholder 3">
            <a:extLst>
              <a:ext uri="{FF2B5EF4-FFF2-40B4-BE49-F238E27FC236}">
                <a16:creationId xmlns:a16="http://schemas.microsoft.com/office/drawing/2014/main" id="{C1107467-A48D-4CE4-9302-F983B0AE74DB}"/>
              </a:ext>
            </a:extLst>
          </p:cNvPr>
          <p:cNvSpPr>
            <a:spLocks noGrp="1"/>
          </p:cNvSpPr>
          <p:nvPr>
            <p:ph type="sldNum" sz="quarter" idx="12"/>
          </p:nvPr>
        </p:nvSpPr>
        <p:spPr/>
        <p:txBody>
          <a:bodyPr/>
          <a:lstStyle/>
          <a:p>
            <a:fld id="{94518FC2-EF7E-4948-80DC-D64173D69E0E}" type="slidenum">
              <a:rPr lang="zh-TW" altLang="en-US"/>
              <a:pPr/>
              <a:t>24</a:t>
            </a:fld>
            <a:endParaRPr lang="en-US" altLang="zh-TW"/>
          </a:p>
        </p:txBody>
      </p:sp>
      <p:sp>
        <p:nvSpPr>
          <p:cNvPr id="2" name="Footer Placeholder 1">
            <a:extLst>
              <a:ext uri="{FF2B5EF4-FFF2-40B4-BE49-F238E27FC236}">
                <a16:creationId xmlns:a16="http://schemas.microsoft.com/office/drawing/2014/main" id="{EB91A15C-6AE7-4C29-A51F-9D778010E1F6}"/>
              </a:ext>
            </a:extLst>
          </p:cNvPr>
          <p:cNvSpPr>
            <a:spLocks noGrp="1"/>
          </p:cNvSpPr>
          <p:nvPr>
            <p:ph type="ftr" sz="quarter" idx="11"/>
          </p:nvPr>
        </p:nvSpPr>
        <p:spPr/>
        <p:txBody>
          <a:bodyPr/>
          <a:lstStyle/>
          <a:p>
            <a:r>
              <a:rPr lang="en-US"/>
              <a:t>CSE494-Software Project Management</a:t>
            </a:r>
            <a:endParaRPr lang="en-US" dirty="0"/>
          </a:p>
        </p:txBody>
      </p:sp>
    </p:spTree>
    <p:extLst>
      <p:ext uri="{BB962C8B-B14F-4D97-AF65-F5344CB8AC3E}">
        <p14:creationId xmlns:p14="http://schemas.microsoft.com/office/powerpoint/2010/main" val="15777209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zh-TW" sz="3600" b="1" dirty="0">
                <a:ea typeface="新細明體" panose="02020500000000000000" pitchFamily="18" charset="-120"/>
              </a:rPr>
              <a:t>PERFORM INTEGRATED CHANGE CONTROL</a:t>
            </a:r>
            <a:endParaRPr lang="en-GB" sz="3600" dirty="0"/>
          </a:p>
        </p:txBody>
      </p:sp>
      <p:pic>
        <p:nvPicPr>
          <p:cNvPr id="6" name="Content Placeholder 5"/>
          <p:cNvPicPr>
            <a:picLocks noGrp="1" noChangeAspect="1"/>
          </p:cNvPicPr>
          <p:nvPr>
            <p:ph idx="1"/>
          </p:nvPr>
        </p:nvPicPr>
        <p:blipFill>
          <a:blip r:embed="rId2"/>
          <a:stretch>
            <a:fillRect/>
          </a:stretch>
        </p:blipFill>
        <p:spPr>
          <a:xfrm>
            <a:off x="304800" y="1901982"/>
            <a:ext cx="8305800" cy="4117818"/>
          </a:xfrm>
          <a:prstGeom prst="rect">
            <a:avLst/>
          </a:prstGeom>
        </p:spPr>
      </p:pic>
      <p:sp>
        <p:nvSpPr>
          <p:cNvPr id="4" name="Footer Placeholder 3"/>
          <p:cNvSpPr>
            <a:spLocks noGrp="1"/>
          </p:cNvSpPr>
          <p:nvPr>
            <p:ph type="ftr" sz="quarter" idx="11"/>
          </p:nvPr>
        </p:nvSpPr>
        <p:spPr/>
        <p:txBody>
          <a:bodyPr/>
          <a:lstStyle/>
          <a:p>
            <a:r>
              <a:rPr lang="en-US" smtClean="0"/>
              <a:t>CSE494-Software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25</a:t>
            </a:fld>
            <a:endParaRPr lang="en-US" altLang="zh-TW"/>
          </a:p>
        </p:txBody>
      </p:sp>
    </p:spTree>
    <p:extLst>
      <p:ext uri="{BB962C8B-B14F-4D97-AF65-F5344CB8AC3E}">
        <p14:creationId xmlns:p14="http://schemas.microsoft.com/office/powerpoint/2010/main" val="73848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PERFORM INTEGRATED CHANGE CONTROL: INPUTS</a:t>
            </a:r>
            <a:endParaRPr lang="en-GB" sz="3600" b="1" dirty="0"/>
          </a:p>
        </p:txBody>
      </p:sp>
      <p:sp>
        <p:nvSpPr>
          <p:cNvPr id="3" name="Content Placeholder 2"/>
          <p:cNvSpPr>
            <a:spLocks noGrp="1"/>
          </p:cNvSpPr>
          <p:nvPr>
            <p:ph idx="1"/>
          </p:nvPr>
        </p:nvSpPr>
        <p:spPr/>
        <p:txBody>
          <a:bodyPr>
            <a:normAutofit/>
          </a:bodyPr>
          <a:lstStyle/>
          <a:p>
            <a:r>
              <a:rPr lang="en-GB" b="1" dirty="0"/>
              <a:t>1 PROJECT MANAGEMENT </a:t>
            </a:r>
            <a:r>
              <a:rPr lang="en-GB" b="1" dirty="0" smtClean="0"/>
              <a:t>PLAN</a:t>
            </a:r>
          </a:p>
          <a:p>
            <a:r>
              <a:rPr lang="en-US" b="1" dirty="0"/>
              <a:t>Change management plan</a:t>
            </a:r>
            <a:r>
              <a:rPr lang="en-US" b="1" dirty="0" smtClean="0"/>
              <a:t>. </a:t>
            </a:r>
            <a:r>
              <a:rPr lang="en-US" dirty="0"/>
              <a:t>The change management plan </a:t>
            </a:r>
            <a:r>
              <a:rPr lang="en-US" b="1" dirty="0"/>
              <a:t>provides the direction </a:t>
            </a:r>
            <a:r>
              <a:rPr lang="en-US" b="1" dirty="0" smtClean="0"/>
              <a:t>for </a:t>
            </a:r>
            <a:r>
              <a:rPr lang="en-US" b="1" dirty="0"/>
              <a:t>managing the change control process</a:t>
            </a:r>
            <a:r>
              <a:rPr lang="en-US" dirty="0"/>
              <a:t> and </a:t>
            </a:r>
            <a:r>
              <a:rPr lang="en-US" b="1" dirty="0" smtClean="0"/>
              <a:t>documenting </a:t>
            </a:r>
            <a:r>
              <a:rPr lang="en-US" b="1" dirty="0"/>
              <a:t>the roles and responsibilities of the change control </a:t>
            </a:r>
            <a:r>
              <a:rPr lang="en-US" b="1" dirty="0" smtClean="0"/>
              <a:t>board </a:t>
            </a:r>
            <a:r>
              <a:rPr lang="en-US" b="1" dirty="0"/>
              <a:t>(CCB).</a:t>
            </a:r>
          </a:p>
          <a:p>
            <a:r>
              <a:rPr lang="en-US" b="1" dirty="0" smtClean="0"/>
              <a:t>Configuration </a:t>
            </a:r>
            <a:r>
              <a:rPr lang="en-US" b="1" dirty="0"/>
              <a:t>management plan. </a:t>
            </a:r>
            <a:r>
              <a:rPr lang="en-US" dirty="0" smtClean="0"/>
              <a:t>The </a:t>
            </a:r>
            <a:r>
              <a:rPr lang="en-US" dirty="0"/>
              <a:t>conﬁguration management plan describes </a:t>
            </a:r>
            <a:r>
              <a:rPr lang="en-US" dirty="0" smtClean="0"/>
              <a:t>the </a:t>
            </a:r>
            <a:r>
              <a:rPr lang="en-US" dirty="0"/>
              <a:t>conﬁgurable items of the </a:t>
            </a:r>
            <a:r>
              <a:rPr lang="en-US" dirty="0" smtClean="0"/>
              <a:t>project. </a:t>
            </a:r>
            <a:r>
              <a:rPr lang="en-US" b="1" dirty="0" smtClean="0"/>
              <a:t>It identifies </a:t>
            </a:r>
            <a:r>
              <a:rPr lang="en-US" b="1" dirty="0"/>
              <a:t>the items that will be recorded and updated so that the </a:t>
            </a:r>
            <a:r>
              <a:rPr lang="en-US" b="1" dirty="0" smtClean="0"/>
              <a:t>product </a:t>
            </a:r>
            <a:r>
              <a:rPr lang="en-US" b="1" dirty="0"/>
              <a:t>of the project remains consistent and operable</a:t>
            </a:r>
            <a:r>
              <a:rPr lang="en-US" b="1" dirty="0" smtClean="0"/>
              <a:t>.</a:t>
            </a:r>
            <a:endParaRPr lang="en-US" b="1" dirty="0"/>
          </a:p>
        </p:txBody>
      </p:sp>
      <p:sp>
        <p:nvSpPr>
          <p:cNvPr id="4" name="Footer Placeholder 3"/>
          <p:cNvSpPr>
            <a:spLocks noGrp="1"/>
          </p:cNvSpPr>
          <p:nvPr>
            <p:ph type="ftr" sz="quarter" idx="11"/>
          </p:nvPr>
        </p:nvSpPr>
        <p:spPr/>
        <p:txBody>
          <a:bodyPr/>
          <a:lstStyle/>
          <a:p>
            <a:r>
              <a:rPr lang="en-US" smtClean="0"/>
              <a:t>CSE494-Software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26</a:t>
            </a:fld>
            <a:endParaRPr lang="en-US" altLang="zh-TW"/>
          </a:p>
        </p:txBody>
      </p:sp>
    </p:spTree>
    <p:extLst>
      <p:ext uri="{BB962C8B-B14F-4D97-AF65-F5344CB8AC3E}">
        <p14:creationId xmlns:p14="http://schemas.microsoft.com/office/powerpoint/2010/main" val="3707076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PERFORM INTEGRATED CHANGE CONTROL: INPUTS</a:t>
            </a:r>
            <a:endParaRPr lang="en-GB" sz="3600" b="1" dirty="0"/>
          </a:p>
        </p:txBody>
      </p:sp>
      <p:sp>
        <p:nvSpPr>
          <p:cNvPr id="3" name="Content Placeholder 2"/>
          <p:cNvSpPr>
            <a:spLocks noGrp="1"/>
          </p:cNvSpPr>
          <p:nvPr>
            <p:ph idx="1"/>
          </p:nvPr>
        </p:nvSpPr>
        <p:spPr>
          <a:xfrm>
            <a:off x="822959" y="1845734"/>
            <a:ext cx="7863841" cy="4023360"/>
          </a:xfrm>
        </p:spPr>
        <p:txBody>
          <a:bodyPr>
            <a:normAutofit/>
          </a:bodyPr>
          <a:lstStyle/>
          <a:p>
            <a:r>
              <a:rPr lang="en-GB" b="1" dirty="0"/>
              <a:t>3 WORK PERFORMANCE </a:t>
            </a:r>
            <a:r>
              <a:rPr lang="en-GB" b="1" dirty="0" smtClean="0"/>
              <a:t>REPORTS</a:t>
            </a:r>
          </a:p>
          <a:p>
            <a:r>
              <a:rPr lang="en-US" dirty="0" smtClean="0"/>
              <a:t>Work performance reports of particular interest to the Perform Integrated Change Control process include </a:t>
            </a:r>
            <a:r>
              <a:rPr lang="en-US" b="1" dirty="0" smtClean="0"/>
              <a:t>resource availability</a:t>
            </a:r>
            <a:r>
              <a:rPr lang="en-US" dirty="0" smtClean="0"/>
              <a:t>, </a:t>
            </a:r>
            <a:r>
              <a:rPr lang="en-US" b="1" dirty="0" smtClean="0"/>
              <a:t>schedule, and cost </a:t>
            </a:r>
            <a:r>
              <a:rPr lang="en-US" b="1" dirty="0" smtClean="0"/>
              <a:t>data </a:t>
            </a:r>
            <a:r>
              <a:rPr lang="en-US" b="1" dirty="0" smtClean="0"/>
              <a:t>and burnup or burn-down charts.</a:t>
            </a:r>
          </a:p>
          <a:p>
            <a:r>
              <a:rPr lang="en-GB" b="1" dirty="0"/>
              <a:t>4 CHANGE </a:t>
            </a:r>
            <a:r>
              <a:rPr lang="en-GB" b="1" dirty="0" smtClean="0"/>
              <a:t>REQUESTS</a:t>
            </a:r>
          </a:p>
          <a:p>
            <a:r>
              <a:rPr lang="en-US" dirty="0"/>
              <a:t>Change requests that have an impact on the project baselines should normally include information about the </a:t>
            </a:r>
            <a:r>
              <a:rPr lang="en-US" b="1" dirty="0"/>
              <a:t>cost </a:t>
            </a:r>
            <a:r>
              <a:rPr lang="en-US" b="1" dirty="0" smtClean="0"/>
              <a:t>of </a:t>
            </a:r>
            <a:r>
              <a:rPr lang="en-US" b="1" dirty="0"/>
              <a:t>implementing the change</a:t>
            </a:r>
            <a:r>
              <a:rPr lang="en-US" dirty="0"/>
              <a:t>, </a:t>
            </a:r>
            <a:r>
              <a:rPr lang="en-US" b="1" dirty="0"/>
              <a:t>modiﬁcations in the scheduled dates</a:t>
            </a:r>
            <a:r>
              <a:rPr lang="en-US" dirty="0"/>
              <a:t>, </a:t>
            </a:r>
            <a:r>
              <a:rPr lang="en-US" b="1" dirty="0"/>
              <a:t>resource requirements</a:t>
            </a:r>
            <a:r>
              <a:rPr lang="en-US" dirty="0"/>
              <a:t>, and </a:t>
            </a:r>
            <a:r>
              <a:rPr lang="en-US" b="1" dirty="0"/>
              <a:t>risks</a:t>
            </a:r>
            <a:r>
              <a:rPr lang="en-US" dirty="0"/>
              <a:t>. These changes </a:t>
            </a:r>
            <a:r>
              <a:rPr lang="en-US" dirty="0" smtClean="0"/>
              <a:t>should </a:t>
            </a:r>
            <a:r>
              <a:rPr lang="en-US" dirty="0"/>
              <a:t>be approved by the CCB (if it exists) and by the customer or sponsor, unless they are part of the CCB. </a:t>
            </a:r>
            <a:r>
              <a:rPr lang="en-US" b="1" dirty="0"/>
              <a:t>Only </a:t>
            </a:r>
            <a:r>
              <a:rPr lang="en-US" b="1" dirty="0" smtClean="0"/>
              <a:t>approved </a:t>
            </a:r>
            <a:r>
              <a:rPr lang="en-US" b="1" dirty="0"/>
              <a:t>changes should be incorporated into a revised baseline.</a:t>
            </a:r>
            <a:endParaRPr lang="en-GB" b="1" dirty="0"/>
          </a:p>
        </p:txBody>
      </p:sp>
      <p:sp>
        <p:nvSpPr>
          <p:cNvPr id="4" name="Footer Placeholder 3"/>
          <p:cNvSpPr>
            <a:spLocks noGrp="1"/>
          </p:cNvSpPr>
          <p:nvPr>
            <p:ph type="ftr" sz="quarter" idx="11"/>
          </p:nvPr>
        </p:nvSpPr>
        <p:spPr/>
        <p:txBody>
          <a:bodyPr/>
          <a:lstStyle/>
          <a:p>
            <a:r>
              <a:rPr lang="en-US" smtClean="0"/>
              <a:t>CSE494-Software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27</a:t>
            </a:fld>
            <a:endParaRPr lang="en-US" altLang="zh-TW"/>
          </a:p>
        </p:txBody>
      </p:sp>
    </p:spTree>
    <p:extLst>
      <p:ext uri="{BB962C8B-B14F-4D97-AF65-F5344CB8AC3E}">
        <p14:creationId xmlns:p14="http://schemas.microsoft.com/office/powerpoint/2010/main" val="6843539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CSE494-Software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28</a:t>
            </a:fld>
            <a:endParaRPr lang="en-US" altLang="zh-TW"/>
          </a:p>
        </p:txBody>
      </p:sp>
      <p:pic>
        <p:nvPicPr>
          <p:cNvPr id="6" name="Picture 5"/>
          <p:cNvPicPr>
            <a:picLocks noChangeAspect="1"/>
          </p:cNvPicPr>
          <p:nvPr/>
        </p:nvPicPr>
        <p:blipFill rotWithShape="1">
          <a:blip r:embed="rId2"/>
          <a:srcRect l="14517" r="17206" b="3678"/>
          <a:stretch/>
        </p:blipFill>
        <p:spPr>
          <a:xfrm>
            <a:off x="533400" y="228600"/>
            <a:ext cx="7772401" cy="3200400"/>
          </a:xfrm>
          <a:prstGeom prst="rect">
            <a:avLst/>
          </a:prstGeom>
        </p:spPr>
      </p:pic>
      <p:pic>
        <p:nvPicPr>
          <p:cNvPr id="7" name="Picture 6"/>
          <p:cNvPicPr>
            <a:picLocks noChangeAspect="1"/>
          </p:cNvPicPr>
          <p:nvPr/>
        </p:nvPicPr>
        <p:blipFill rotWithShape="1">
          <a:blip r:embed="rId3"/>
          <a:srcRect l="12138" t="4138" r="11310" b="6897"/>
          <a:stretch/>
        </p:blipFill>
        <p:spPr>
          <a:xfrm>
            <a:off x="457200" y="3581400"/>
            <a:ext cx="7848600" cy="2667001"/>
          </a:xfrm>
          <a:prstGeom prst="rect">
            <a:avLst/>
          </a:prstGeom>
        </p:spPr>
      </p:pic>
    </p:spTree>
    <p:extLst>
      <p:ext uri="{BB962C8B-B14F-4D97-AF65-F5344CB8AC3E}">
        <p14:creationId xmlns:p14="http://schemas.microsoft.com/office/powerpoint/2010/main" val="13841964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CSE494-Software Project Management</a:t>
            </a:r>
            <a:endParaRPr lang="en-US" dirty="0"/>
          </a:p>
        </p:txBody>
      </p:sp>
      <p:sp>
        <p:nvSpPr>
          <p:cNvPr id="3" name="Slide Number Placeholder 2"/>
          <p:cNvSpPr>
            <a:spLocks noGrp="1"/>
          </p:cNvSpPr>
          <p:nvPr>
            <p:ph type="sldNum" sz="quarter" idx="12"/>
          </p:nvPr>
        </p:nvSpPr>
        <p:spPr/>
        <p:txBody>
          <a:bodyPr/>
          <a:lstStyle/>
          <a:p>
            <a:fld id="{6A724623-74B1-4E3A-973F-8BDA5AC5721A}" type="slidenum">
              <a:rPr lang="zh-TW" altLang="en-US" smtClean="0"/>
              <a:pPr/>
              <a:t>29</a:t>
            </a:fld>
            <a:endParaRPr lang="en-US" altLang="zh-TW"/>
          </a:p>
        </p:txBody>
      </p:sp>
      <p:pic>
        <p:nvPicPr>
          <p:cNvPr id="4" name="Picture 3"/>
          <p:cNvPicPr>
            <a:picLocks noChangeAspect="1"/>
          </p:cNvPicPr>
          <p:nvPr/>
        </p:nvPicPr>
        <p:blipFill rotWithShape="1">
          <a:blip r:embed="rId2"/>
          <a:srcRect l="9796" r="10008"/>
          <a:stretch/>
        </p:blipFill>
        <p:spPr>
          <a:xfrm>
            <a:off x="533400" y="304800"/>
            <a:ext cx="8305800" cy="6019800"/>
          </a:xfrm>
          <a:prstGeom prst="rect">
            <a:avLst/>
          </a:prstGeom>
        </p:spPr>
      </p:pic>
    </p:spTree>
    <p:extLst>
      <p:ext uri="{BB962C8B-B14F-4D97-AF65-F5344CB8AC3E}">
        <p14:creationId xmlns:p14="http://schemas.microsoft.com/office/powerpoint/2010/main" val="4712216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3 PERFORM INTEGRATED CHANGE CONTROL: OUTPUTS</a:t>
            </a:r>
            <a:endParaRPr lang="en-GB" sz="3600" b="1" dirty="0"/>
          </a:p>
        </p:txBody>
      </p:sp>
      <p:sp>
        <p:nvSpPr>
          <p:cNvPr id="3" name="Content Placeholder 2"/>
          <p:cNvSpPr>
            <a:spLocks noGrp="1"/>
          </p:cNvSpPr>
          <p:nvPr>
            <p:ph idx="1"/>
          </p:nvPr>
        </p:nvSpPr>
        <p:spPr/>
        <p:txBody>
          <a:bodyPr>
            <a:normAutofit/>
          </a:bodyPr>
          <a:lstStyle/>
          <a:p>
            <a:r>
              <a:rPr lang="en-GB" b="1" dirty="0"/>
              <a:t>1 APPROVED CHANGE </a:t>
            </a:r>
            <a:r>
              <a:rPr lang="en-GB" b="1" dirty="0" smtClean="0"/>
              <a:t>REQUESTS</a:t>
            </a:r>
          </a:p>
          <a:p>
            <a:r>
              <a:rPr lang="en-US" dirty="0"/>
              <a:t>Approved change requests will be implemented through the Direct and Manage Project Work process. Deferred or </a:t>
            </a:r>
            <a:r>
              <a:rPr lang="en-US" dirty="0" smtClean="0"/>
              <a:t>rejected </a:t>
            </a:r>
            <a:r>
              <a:rPr lang="en-US" dirty="0"/>
              <a:t>change requests are </a:t>
            </a:r>
            <a:r>
              <a:rPr lang="en-US" dirty="0" smtClean="0"/>
              <a:t>communicated </a:t>
            </a:r>
            <a:r>
              <a:rPr lang="en-US" dirty="0"/>
              <a:t>to the person or group requesting the change</a:t>
            </a:r>
            <a:r>
              <a:rPr lang="en-US" dirty="0" smtClean="0"/>
              <a:t>.</a:t>
            </a:r>
          </a:p>
          <a:p>
            <a:r>
              <a:rPr lang="en-US" dirty="0"/>
              <a:t>The disposition of all change requests </a:t>
            </a:r>
            <a:r>
              <a:rPr lang="en-US" dirty="0" smtClean="0"/>
              <a:t>is </a:t>
            </a:r>
            <a:r>
              <a:rPr lang="en-US" dirty="0"/>
              <a:t>recorded in the </a:t>
            </a:r>
            <a:r>
              <a:rPr lang="en-US" b="1" dirty="0"/>
              <a:t>change log</a:t>
            </a:r>
            <a:r>
              <a:rPr lang="en-US" dirty="0"/>
              <a:t> as a project document update</a:t>
            </a:r>
            <a:r>
              <a:rPr lang="en-US" dirty="0" smtClean="0"/>
              <a:t>.</a:t>
            </a:r>
          </a:p>
          <a:p>
            <a:r>
              <a:rPr lang="en-US" b="1" dirty="0"/>
              <a:t>2 PROJECT MANAGEMENT PLAN </a:t>
            </a:r>
            <a:r>
              <a:rPr lang="en-US" b="1" dirty="0" smtClean="0"/>
              <a:t>UPDATES</a:t>
            </a:r>
          </a:p>
          <a:p>
            <a:r>
              <a:rPr lang="en-US" b="1" dirty="0"/>
              <a:t>3 PROJECT DOCUMENTS </a:t>
            </a:r>
            <a:r>
              <a:rPr lang="en-US" b="1" dirty="0" smtClean="0"/>
              <a:t>UPDATES</a:t>
            </a:r>
          </a:p>
          <a:p>
            <a:r>
              <a:rPr lang="en-US" dirty="0"/>
              <a:t>A project document that is </a:t>
            </a:r>
            <a:r>
              <a:rPr lang="en-US" dirty="0" smtClean="0"/>
              <a:t>normally </a:t>
            </a:r>
            <a:r>
              <a:rPr lang="en-US" dirty="0"/>
              <a:t>updated as a result of this process is the change log. The change log is used to document changes that occur </a:t>
            </a:r>
            <a:r>
              <a:rPr lang="en-US" dirty="0" smtClean="0"/>
              <a:t>during </a:t>
            </a:r>
            <a:r>
              <a:rPr lang="en-US" dirty="0"/>
              <a:t>a project.</a:t>
            </a:r>
            <a:endParaRPr lang="en-US" dirty="0" smtClean="0"/>
          </a:p>
          <a:p>
            <a:endParaRPr lang="en-GB" dirty="0"/>
          </a:p>
        </p:txBody>
      </p:sp>
      <p:sp>
        <p:nvSpPr>
          <p:cNvPr id="4" name="Footer Placeholder 3"/>
          <p:cNvSpPr>
            <a:spLocks noGrp="1"/>
          </p:cNvSpPr>
          <p:nvPr>
            <p:ph type="ftr" sz="quarter" idx="11"/>
          </p:nvPr>
        </p:nvSpPr>
        <p:spPr/>
        <p:txBody>
          <a:bodyPr/>
          <a:lstStyle/>
          <a:p>
            <a:r>
              <a:rPr lang="en-US" smtClean="0"/>
              <a:t>CSE494-Software Project Management</a:t>
            </a:r>
            <a:endParaRPr lang="en-US" dirty="0"/>
          </a:p>
        </p:txBody>
      </p:sp>
      <p:sp>
        <p:nvSpPr>
          <p:cNvPr id="5" name="Slide Number Placeholder 4"/>
          <p:cNvSpPr>
            <a:spLocks noGrp="1"/>
          </p:cNvSpPr>
          <p:nvPr>
            <p:ph type="sldNum" sz="quarter" idx="12"/>
          </p:nvPr>
        </p:nvSpPr>
        <p:spPr/>
        <p:txBody>
          <a:bodyPr/>
          <a:lstStyle/>
          <a:p>
            <a:fld id="{9A46E848-2F87-4B68-B733-807A8A6F6C7D}" type="slidenum">
              <a:rPr lang="zh-TW" altLang="en-US" smtClean="0"/>
              <a:pPr/>
              <a:t>30</a:t>
            </a:fld>
            <a:endParaRPr lang="en-US" altLang="zh-TW"/>
          </a:p>
        </p:txBody>
      </p:sp>
    </p:spTree>
    <p:extLst>
      <p:ext uri="{BB962C8B-B14F-4D97-AF65-F5344CB8AC3E}">
        <p14:creationId xmlns:p14="http://schemas.microsoft.com/office/powerpoint/2010/main" val="32291053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286604"/>
            <a:ext cx="8001000" cy="1450757"/>
          </a:xfrm>
        </p:spPr>
        <p:txBody>
          <a:bodyPr>
            <a:normAutofit/>
          </a:bodyPr>
          <a:lstStyle/>
          <a:p>
            <a:r>
              <a:rPr lang="en-GB" sz="3600" b="1" dirty="0"/>
              <a:t>Project Integration Management processes</a:t>
            </a:r>
            <a:r>
              <a:rPr lang="en-GB" sz="3600" dirty="0"/>
              <a:t> </a:t>
            </a:r>
          </a:p>
        </p:txBody>
      </p:sp>
      <p:sp>
        <p:nvSpPr>
          <p:cNvPr id="5" name="Content Placeholder 4"/>
          <p:cNvSpPr>
            <a:spLocks noGrp="1"/>
          </p:cNvSpPr>
          <p:nvPr>
            <p:ph idx="1"/>
          </p:nvPr>
        </p:nvSpPr>
        <p:spPr>
          <a:xfrm>
            <a:off x="822959" y="1845734"/>
            <a:ext cx="7787641" cy="4023360"/>
          </a:xfrm>
        </p:spPr>
        <p:txBody>
          <a:bodyPr/>
          <a:lstStyle/>
          <a:p>
            <a:pPr marL="0" indent="0">
              <a:buNone/>
            </a:pPr>
            <a:r>
              <a:rPr lang="en-US" b="1" dirty="0"/>
              <a:t>Manage Project Knowledge</a:t>
            </a:r>
            <a:r>
              <a:rPr lang="en-US" dirty="0"/>
              <a:t>—The process of using existing knowledge and creating new knowledge to achieve </a:t>
            </a:r>
            <a:r>
              <a:rPr lang="en-US" dirty="0" smtClean="0"/>
              <a:t>the </a:t>
            </a:r>
            <a:r>
              <a:rPr lang="en-US" dirty="0"/>
              <a:t>project’s objectives and contribute to organizational learning</a:t>
            </a:r>
            <a:r>
              <a:rPr lang="en-US" dirty="0" smtClean="0"/>
              <a:t>.</a:t>
            </a:r>
          </a:p>
          <a:p>
            <a:pPr marL="0" indent="0">
              <a:buNone/>
            </a:pPr>
            <a:r>
              <a:rPr lang="en-US" b="1" dirty="0"/>
              <a:t>Monitor and Control Project Work</a:t>
            </a:r>
            <a:r>
              <a:rPr lang="en-US" dirty="0"/>
              <a:t>—The</a:t>
            </a:r>
            <a:r>
              <a:rPr lang="en-US" b="1" dirty="0"/>
              <a:t> </a:t>
            </a:r>
            <a:r>
              <a:rPr lang="en-US" dirty="0"/>
              <a:t>process of tracking, reviewing, and reporting overall progress to meet </a:t>
            </a:r>
            <a:r>
              <a:rPr lang="en-US" dirty="0" smtClean="0"/>
              <a:t>the </a:t>
            </a:r>
            <a:r>
              <a:rPr lang="en-US" dirty="0"/>
              <a:t>performance objectives deﬁned in the project management plan</a:t>
            </a:r>
            <a:r>
              <a:rPr lang="en-US" dirty="0" smtClean="0"/>
              <a:t>.</a:t>
            </a:r>
          </a:p>
          <a:p>
            <a:pPr marL="0" indent="0">
              <a:buNone/>
            </a:pPr>
            <a:r>
              <a:rPr lang="en-US" b="1" dirty="0" smtClean="0"/>
              <a:t>Close </a:t>
            </a:r>
            <a:r>
              <a:rPr lang="en-US" b="1" dirty="0"/>
              <a:t>Project or Phase</a:t>
            </a:r>
            <a:r>
              <a:rPr lang="en-US" dirty="0"/>
              <a:t>—The</a:t>
            </a:r>
            <a:r>
              <a:rPr lang="en-US" b="1" dirty="0"/>
              <a:t> </a:t>
            </a:r>
            <a:r>
              <a:rPr lang="en-US" dirty="0"/>
              <a:t>process of ﬁnalizing all activities for the project, phase, or contract.</a:t>
            </a:r>
            <a:endParaRPr lang="en-GB" dirty="0"/>
          </a:p>
        </p:txBody>
      </p:sp>
      <p:sp>
        <p:nvSpPr>
          <p:cNvPr id="2" name="Footer Placeholder 1"/>
          <p:cNvSpPr>
            <a:spLocks noGrp="1"/>
          </p:cNvSpPr>
          <p:nvPr>
            <p:ph type="ftr" sz="quarter" idx="11"/>
          </p:nvPr>
        </p:nvSpPr>
        <p:spPr/>
        <p:txBody>
          <a:bodyPr/>
          <a:lstStyle/>
          <a:p>
            <a:r>
              <a:rPr lang="en-US" smtClean="0"/>
              <a:t>Software Project Management</a:t>
            </a:r>
            <a:endParaRPr lang="en-US" dirty="0"/>
          </a:p>
        </p:txBody>
      </p:sp>
      <p:sp>
        <p:nvSpPr>
          <p:cNvPr id="3" name="Slide Number Placeholder 2"/>
          <p:cNvSpPr>
            <a:spLocks noGrp="1"/>
          </p:cNvSpPr>
          <p:nvPr>
            <p:ph type="sldNum" sz="quarter" idx="12"/>
          </p:nvPr>
        </p:nvSpPr>
        <p:spPr/>
        <p:txBody>
          <a:bodyPr/>
          <a:lstStyle/>
          <a:p>
            <a:fld id="{6A724623-74B1-4E3A-973F-8BDA5AC5721A}" type="slidenum">
              <a:rPr lang="zh-TW" altLang="en-US" smtClean="0"/>
              <a:pPr/>
              <a:t>31</a:t>
            </a:fld>
            <a:endParaRPr lang="en-US" altLang="zh-TW"/>
          </a:p>
        </p:txBody>
      </p:sp>
      <p:sp>
        <p:nvSpPr>
          <p:cNvPr id="6" name="Date Placeholder 5"/>
          <p:cNvSpPr>
            <a:spLocks noGrp="1"/>
          </p:cNvSpPr>
          <p:nvPr>
            <p:ph type="dt" sz="half" idx="10"/>
          </p:nvPr>
        </p:nvSpPr>
        <p:spPr/>
        <p:txBody>
          <a:bodyPr/>
          <a:lstStyle/>
          <a:p>
            <a:fld id="{DFB7BD57-D54D-4425-BC49-ADA724240E16}" type="datetime1">
              <a:rPr lang="en-US" smtClean="0"/>
              <a:t>10/2/2024</a:t>
            </a:fld>
            <a:endParaRPr lang="en-US" dirty="0"/>
          </a:p>
        </p:txBody>
      </p:sp>
    </p:spTree>
    <p:extLst>
      <p:ext uri="{BB962C8B-B14F-4D97-AF65-F5344CB8AC3E}">
        <p14:creationId xmlns:p14="http://schemas.microsoft.com/office/powerpoint/2010/main" val="8514259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FC7BF-0B47-4E79-83C6-67955BC866B2}"/>
              </a:ext>
            </a:extLst>
          </p:cNvPr>
          <p:cNvSpPr>
            <a:spLocks noGrp="1"/>
          </p:cNvSpPr>
          <p:nvPr>
            <p:ph type="title"/>
          </p:nvPr>
        </p:nvSpPr>
        <p:spPr/>
        <p:txBody>
          <a:bodyPr/>
          <a:lstStyle/>
          <a:p>
            <a:r>
              <a:rPr lang="en-US" b="1" dirty="0">
                <a:latin typeface="Baskerville Old Face" panose="02020602080505020303" pitchFamily="18" charset="0"/>
              </a:rPr>
              <a:t>Reading</a:t>
            </a:r>
            <a:r>
              <a:rPr lang="en-US" dirty="0"/>
              <a:t> </a:t>
            </a:r>
            <a:r>
              <a:rPr lang="en-US" b="1" dirty="0">
                <a:latin typeface="Baskerville Old Face" panose="02020602080505020303" pitchFamily="18" charset="0"/>
              </a:rPr>
              <a:t>Assignment</a:t>
            </a:r>
          </a:p>
        </p:txBody>
      </p:sp>
      <p:sp>
        <p:nvSpPr>
          <p:cNvPr id="3" name="Content Placeholder 2">
            <a:extLst>
              <a:ext uri="{FF2B5EF4-FFF2-40B4-BE49-F238E27FC236}">
                <a16:creationId xmlns:a16="http://schemas.microsoft.com/office/drawing/2014/main" id="{00CDC546-52E5-41DA-B325-6605630D1848}"/>
              </a:ext>
            </a:extLst>
          </p:cNvPr>
          <p:cNvSpPr>
            <a:spLocks noGrp="1"/>
          </p:cNvSpPr>
          <p:nvPr>
            <p:ph idx="1"/>
          </p:nvPr>
        </p:nvSpPr>
        <p:spPr/>
        <p:txBody>
          <a:bodyPr/>
          <a:lstStyle/>
          <a:p>
            <a:endParaRPr lang="en-US" sz="2100" dirty="0"/>
          </a:p>
          <a:p>
            <a:r>
              <a:rPr lang="en-US" sz="2100" b="1" dirty="0"/>
              <a:t>Chapter 4: Project Integration Management </a:t>
            </a:r>
            <a:r>
              <a:rPr lang="en-US" dirty="0"/>
              <a:t>by PMBOK-Guide-6th-Edition-PMI</a:t>
            </a:r>
          </a:p>
          <a:p>
            <a:r>
              <a:rPr lang="en-GB" b="1" dirty="0"/>
              <a:t>Manage Project </a:t>
            </a:r>
            <a:r>
              <a:rPr lang="en-GB" b="1" dirty="0" smtClean="0"/>
              <a:t>Knowledge</a:t>
            </a:r>
          </a:p>
          <a:p>
            <a:r>
              <a:rPr lang="en-US" b="1" dirty="0"/>
              <a:t>Monitor and Control Project Work</a:t>
            </a:r>
          </a:p>
          <a:p>
            <a:r>
              <a:rPr lang="en-GB" b="1" dirty="0"/>
              <a:t>Close Project or Phase</a:t>
            </a:r>
          </a:p>
          <a:p>
            <a:endParaRPr lang="en-GB" b="1" dirty="0"/>
          </a:p>
          <a:p>
            <a:endParaRPr lang="en-US" dirty="0"/>
          </a:p>
        </p:txBody>
      </p:sp>
      <p:sp>
        <p:nvSpPr>
          <p:cNvPr id="4" name="Date Placeholder 3">
            <a:extLst>
              <a:ext uri="{FF2B5EF4-FFF2-40B4-BE49-F238E27FC236}">
                <a16:creationId xmlns:a16="http://schemas.microsoft.com/office/drawing/2014/main" id="{A5B02B09-1F9D-427A-B846-E2E1785EF80B}"/>
              </a:ext>
            </a:extLst>
          </p:cNvPr>
          <p:cNvSpPr>
            <a:spLocks noGrp="1"/>
          </p:cNvSpPr>
          <p:nvPr>
            <p:ph type="dt" sz="half" idx="10"/>
          </p:nvPr>
        </p:nvSpPr>
        <p:spPr/>
        <p:txBody>
          <a:bodyPr/>
          <a:lstStyle/>
          <a:p>
            <a:fld id="{E534BDD9-2E43-445F-839E-155E31213FE4}" type="datetime1">
              <a:rPr lang="en-US" smtClean="0"/>
              <a:t>10/2/2024</a:t>
            </a:fld>
            <a:endParaRPr lang="en-US"/>
          </a:p>
        </p:txBody>
      </p:sp>
      <p:sp>
        <p:nvSpPr>
          <p:cNvPr id="5" name="Footer Placeholder 4">
            <a:extLst>
              <a:ext uri="{FF2B5EF4-FFF2-40B4-BE49-F238E27FC236}">
                <a16:creationId xmlns:a16="http://schemas.microsoft.com/office/drawing/2014/main" id="{5956F421-BEF6-4F37-B740-BDD2531683E0}"/>
              </a:ext>
            </a:extLst>
          </p:cNvPr>
          <p:cNvSpPr>
            <a:spLocks noGrp="1"/>
          </p:cNvSpPr>
          <p:nvPr>
            <p:ph type="ftr" sz="quarter" idx="11"/>
          </p:nvPr>
        </p:nvSpPr>
        <p:spPr/>
        <p:txBody>
          <a:bodyPr/>
          <a:lstStyle/>
          <a:p>
            <a:r>
              <a:rPr lang="en-US"/>
              <a:t>CSE494-SoftwareProjectManagement</a:t>
            </a:r>
          </a:p>
        </p:txBody>
      </p:sp>
      <p:sp>
        <p:nvSpPr>
          <p:cNvPr id="6" name="Slide Number Placeholder 5">
            <a:extLst>
              <a:ext uri="{FF2B5EF4-FFF2-40B4-BE49-F238E27FC236}">
                <a16:creationId xmlns:a16="http://schemas.microsoft.com/office/drawing/2014/main" id="{BABEC7B5-5B0A-4C13-9C45-C564BA1F74C3}"/>
              </a:ext>
            </a:extLst>
          </p:cNvPr>
          <p:cNvSpPr>
            <a:spLocks noGrp="1"/>
          </p:cNvSpPr>
          <p:nvPr>
            <p:ph type="sldNum" sz="quarter" idx="12"/>
          </p:nvPr>
        </p:nvSpPr>
        <p:spPr/>
        <p:txBody>
          <a:bodyPr/>
          <a:lstStyle/>
          <a:p>
            <a:fld id="{2BA7BCB7-F020-4D66-B969-F77D7060AB52}" type="slidenum">
              <a:rPr lang="en-US" smtClean="0"/>
              <a:t>32</a:t>
            </a:fld>
            <a:endParaRPr lang="en-US"/>
          </a:p>
        </p:txBody>
      </p:sp>
    </p:spTree>
    <p:extLst>
      <p:ext uri="{BB962C8B-B14F-4D97-AF65-F5344CB8AC3E}">
        <p14:creationId xmlns:p14="http://schemas.microsoft.com/office/powerpoint/2010/main" val="378039571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1901</TotalTime>
  <Words>1495</Words>
  <Application>Microsoft Office PowerPoint</Application>
  <PresentationFormat>On-screen Show (4:3)</PresentationFormat>
  <Paragraphs>224</Paragraphs>
  <Slides>32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Baskerville Old Face</vt:lpstr>
      <vt:lpstr>Calibri</vt:lpstr>
      <vt:lpstr>Calibri Light</vt:lpstr>
      <vt:lpstr>Libre Baskerville</vt:lpstr>
      <vt:lpstr>新細明體</vt:lpstr>
      <vt:lpstr>Times New Roman</vt:lpstr>
      <vt:lpstr>Retrospect</vt:lpstr>
      <vt:lpstr>Project Integration Management</vt:lpstr>
      <vt:lpstr>Knowledge Area</vt:lpstr>
      <vt:lpstr>PowerPoint Presentation</vt:lpstr>
      <vt:lpstr>Project Integration </vt:lpstr>
      <vt:lpstr>Project Integration Management processes </vt:lpstr>
      <vt:lpstr>PowerPoint Presentation</vt:lpstr>
      <vt:lpstr>DEVELOP PROJECT CHARTER</vt:lpstr>
      <vt:lpstr>PowerPoint Presentation</vt:lpstr>
      <vt:lpstr>PowerPoint Presentation</vt:lpstr>
      <vt:lpstr>DEVELOP PROJECT CHARTER</vt:lpstr>
      <vt:lpstr>PowerPoint Presentation</vt:lpstr>
      <vt:lpstr>ASSUMPTION LOG</vt:lpstr>
      <vt:lpstr>DEVELOP PROJECT MANAGEMENT PLAN</vt:lpstr>
      <vt:lpstr>PowerPoint Presentation</vt:lpstr>
      <vt:lpstr>PowerPoint Presentation</vt:lpstr>
      <vt:lpstr>DEVELOP PROJECT MANAGEMENT PLAN: OUTPUTS</vt:lpstr>
      <vt:lpstr>DIRECT AND MANAGE PROJECT WORK</vt:lpstr>
      <vt:lpstr>PowerPoint Presentation</vt:lpstr>
      <vt:lpstr>DIRECT AND MANAGE PROJECT WORK</vt:lpstr>
      <vt:lpstr>DIRECT AND MANAGE PROJECT WORK: TOOLS AND TECHNIQUES</vt:lpstr>
      <vt:lpstr>DIRECT AND MANAGE PROJECT WORK: OUTPUTS</vt:lpstr>
      <vt:lpstr>DIRECT AND MANAGE PROJECT WORK: OUTPUTS</vt:lpstr>
      <vt:lpstr>DIRECT AND MANAGE PROJECT WORK: OUTPUTS</vt:lpstr>
      <vt:lpstr>PERFORM INTEGRATED CHANGE CONTROL</vt:lpstr>
      <vt:lpstr>PERFORM INTEGRATED CHANGE CONTROL</vt:lpstr>
      <vt:lpstr>PERFORM INTEGRATED CHANGE CONTROL: INPUTS</vt:lpstr>
      <vt:lpstr>PERFORM INTEGRATED CHANGE CONTROL: INPUTS</vt:lpstr>
      <vt:lpstr>PowerPoint Presentation</vt:lpstr>
      <vt:lpstr>PowerPoint Presentation</vt:lpstr>
      <vt:lpstr>3 PERFORM INTEGRATED CHANGE CONTROL: OUTPUTS</vt:lpstr>
      <vt:lpstr>Project Integration Management processes </vt:lpstr>
      <vt:lpstr>Reading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Project Integration Management</dc:title>
  <dc:creator>Fareeha</dc:creator>
  <cp:lastModifiedBy>Humaira Afzal</cp:lastModifiedBy>
  <cp:revision>174</cp:revision>
  <dcterms:created xsi:type="dcterms:W3CDTF">2001-07-05T23:10:12Z</dcterms:created>
  <dcterms:modified xsi:type="dcterms:W3CDTF">2024-10-02T04:16:57Z</dcterms:modified>
</cp:coreProperties>
</file>