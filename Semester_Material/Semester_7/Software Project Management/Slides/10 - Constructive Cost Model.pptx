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1" r:id="rId5"/>
    <p:sldId id="259" r:id="rId6"/>
    <p:sldId id="260" r:id="rId7"/>
    <p:sldId id="262" r:id="rId8"/>
    <p:sldId id="264" r:id="rId9"/>
    <p:sldId id="265" r:id="rId10"/>
    <p:sldId id="269" r:id="rId11"/>
    <p:sldId id="270" r:id="rId12"/>
    <p:sldId id="271" r:id="rId13"/>
    <p:sldId id="272" r:id="rId14"/>
    <p:sldId id="273" r:id="rId15"/>
    <p:sldId id="27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4" d="100"/>
          <a:sy n="64" d="100"/>
        </p:scale>
        <p:origin x="7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98CC095-BD67-4DEB-94C9-35CF3CBDA423}" type="datetimeFigureOut">
              <a:rPr lang="en-GB" smtClean="0"/>
              <a:t>14/11/2024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0C7BAB-8905-40EA-8A8E-CAA40711A539}"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406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8CC095-BD67-4DEB-94C9-35CF3CBDA423}" type="datetimeFigureOut">
              <a:rPr lang="en-GB" smtClean="0"/>
              <a:t>14/11/2024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0C7BAB-8905-40EA-8A8E-CAA40711A539}" type="slidenum">
              <a:rPr lang="en-GB" smtClean="0"/>
              <a:t>‹#›</a:t>
            </a:fld>
            <a:endParaRPr lang="en-GB"/>
          </a:p>
        </p:txBody>
      </p:sp>
    </p:spTree>
    <p:extLst>
      <p:ext uri="{BB962C8B-B14F-4D97-AF65-F5344CB8AC3E}">
        <p14:creationId xmlns:p14="http://schemas.microsoft.com/office/powerpoint/2010/main" val="3079627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8CC095-BD67-4DEB-94C9-35CF3CBDA423}" type="datetimeFigureOut">
              <a:rPr lang="en-GB" smtClean="0"/>
              <a:t>14/11/2024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0C7BAB-8905-40EA-8A8E-CAA40711A539}"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911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8CC095-BD67-4DEB-94C9-35CF3CBDA423}" type="datetimeFigureOut">
              <a:rPr lang="en-GB" smtClean="0"/>
              <a:t>14/11/2024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0C7BAB-8905-40EA-8A8E-CAA40711A539}" type="slidenum">
              <a:rPr lang="en-GB" smtClean="0"/>
              <a:t>‹#›</a:t>
            </a:fld>
            <a:endParaRPr lang="en-GB"/>
          </a:p>
        </p:txBody>
      </p:sp>
    </p:spTree>
    <p:extLst>
      <p:ext uri="{BB962C8B-B14F-4D97-AF65-F5344CB8AC3E}">
        <p14:creationId xmlns:p14="http://schemas.microsoft.com/office/powerpoint/2010/main" val="338609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98CC095-BD67-4DEB-94C9-35CF3CBDA423}" type="datetimeFigureOut">
              <a:rPr lang="en-GB" smtClean="0"/>
              <a:t>14/11/2024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90C7BAB-8905-40EA-8A8E-CAA40711A539}" type="slidenum">
              <a:rPr lang="en-GB" smtClean="0"/>
              <a:t>‹#›</a:t>
            </a:fld>
            <a:endParaRPr lang="en-GB"/>
          </a:p>
        </p:txBody>
      </p:sp>
    </p:spTree>
    <p:extLst>
      <p:ext uri="{BB962C8B-B14F-4D97-AF65-F5344CB8AC3E}">
        <p14:creationId xmlns:p14="http://schemas.microsoft.com/office/powerpoint/2010/main" val="1712462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98CC095-BD67-4DEB-94C9-35CF3CBDA423}" type="datetimeFigureOut">
              <a:rPr lang="en-GB" smtClean="0"/>
              <a:t>14/11/2024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90C7BAB-8905-40EA-8A8E-CAA40711A539}" type="slidenum">
              <a:rPr lang="en-GB" smtClean="0"/>
              <a:t>‹#›</a:t>
            </a:fld>
            <a:endParaRPr lang="en-GB"/>
          </a:p>
        </p:txBody>
      </p:sp>
    </p:spTree>
    <p:extLst>
      <p:ext uri="{BB962C8B-B14F-4D97-AF65-F5344CB8AC3E}">
        <p14:creationId xmlns:p14="http://schemas.microsoft.com/office/powerpoint/2010/main" val="607170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98CC095-BD67-4DEB-94C9-35CF3CBDA423}" type="datetimeFigureOut">
              <a:rPr lang="en-GB" smtClean="0"/>
              <a:t>14/11/2024</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E90C7BAB-8905-40EA-8A8E-CAA40711A539}" type="slidenum">
              <a:rPr lang="en-GB" smtClean="0"/>
              <a:t>‹#›</a:t>
            </a:fld>
            <a:endParaRPr lang="en-GB"/>
          </a:p>
        </p:txBody>
      </p:sp>
    </p:spTree>
    <p:extLst>
      <p:ext uri="{BB962C8B-B14F-4D97-AF65-F5344CB8AC3E}">
        <p14:creationId xmlns:p14="http://schemas.microsoft.com/office/powerpoint/2010/main" val="2780867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98CC095-BD67-4DEB-94C9-35CF3CBDA423}" type="datetimeFigureOut">
              <a:rPr lang="en-GB" smtClean="0"/>
              <a:t>14/11/2024</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90C7BAB-8905-40EA-8A8E-CAA40711A539}" type="slidenum">
              <a:rPr lang="en-GB" smtClean="0"/>
              <a:t>‹#›</a:t>
            </a:fld>
            <a:endParaRPr lang="en-GB"/>
          </a:p>
        </p:txBody>
      </p:sp>
    </p:spTree>
    <p:extLst>
      <p:ext uri="{BB962C8B-B14F-4D97-AF65-F5344CB8AC3E}">
        <p14:creationId xmlns:p14="http://schemas.microsoft.com/office/powerpoint/2010/main" val="2762283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8CC095-BD67-4DEB-94C9-35CF3CBDA423}" type="datetimeFigureOut">
              <a:rPr lang="en-GB" smtClean="0"/>
              <a:t>14/11/2024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0C7BAB-8905-40EA-8A8E-CAA40711A539}" type="slidenum">
              <a:rPr lang="en-GB" smtClean="0"/>
              <a:t>‹#›</a:t>
            </a:fld>
            <a:endParaRPr lang="en-GB"/>
          </a:p>
        </p:txBody>
      </p:sp>
    </p:spTree>
    <p:extLst>
      <p:ext uri="{BB962C8B-B14F-4D97-AF65-F5344CB8AC3E}">
        <p14:creationId xmlns:p14="http://schemas.microsoft.com/office/powerpoint/2010/main" val="1493171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8CC095-BD67-4DEB-94C9-35CF3CBDA423}" type="datetimeFigureOut">
              <a:rPr lang="en-GB" smtClean="0"/>
              <a:t>14/11/2024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0C7BAB-8905-40EA-8A8E-CAA40711A539}" type="slidenum">
              <a:rPr lang="en-GB" smtClean="0"/>
              <a:t>‹#›</a:t>
            </a:fld>
            <a:endParaRPr lang="en-GB"/>
          </a:p>
        </p:txBody>
      </p:sp>
    </p:spTree>
    <p:extLst>
      <p:ext uri="{BB962C8B-B14F-4D97-AF65-F5344CB8AC3E}">
        <p14:creationId xmlns:p14="http://schemas.microsoft.com/office/powerpoint/2010/main" val="5777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8CC095-BD67-4DEB-94C9-35CF3CBDA423}" type="datetimeFigureOut">
              <a:rPr lang="en-GB" smtClean="0"/>
              <a:t>14/11/2024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0C7BAB-8905-40EA-8A8E-CAA40711A539}" type="slidenum">
              <a:rPr lang="en-GB" smtClean="0"/>
              <a:t>‹#›</a:t>
            </a:fld>
            <a:endParaRPr lang="en-GB"/>
          </a:p>
        </p:txBody>
      </p:sp>
    </p:spTree>
    <p:extLst>
      <p:ext uri="{BB962C8B-B14F-4D97-AF65-F5344CB8AC3E}">
        <p14:creationId xmlns:p14="http://schemas.microsoft.com/office/powerpoint/2010/main" val="1367920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98CC095-BD67-4DEB-94C9-35CF3CBDA423}" type="datetimeFigureOut">
              <a:rPr lang="en-GB" smtClean="0"/>
              <a:t>14/11/2024</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90C7BAB-8905-40EA-8A8E-CAA40711A539}"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1166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600" dirty="0"/>
              <a:t>Constructive Cost Model</a:t>
            </a:r>
            <a:r>
              <a:rPr lang="en-US" dirty="0"/>
              <a:t/>
            </a:r>
            <a:br>
              <a:rPr lang="en-US" dirty="0"/>
            </a:br>
            <a:endParaRPr lang="en-GB" dirty="0"/>
          </a:p>
        </p:txBody>
      </p:sp>
      <p:sp>
        <p:nvSpPr>
          <p:cNvPr id="3" name="Subtitle 2"/>
          <p:cNvSpPr>
            <a:spLocks noGrp="1"/>
          </p:cNvSpPr>
          <p:nvPr>
            <p:ph type="subTitle" idx="1"/>
          </p:nvPr>
        </p:nvSpPr>
        <p:spPr/>
        <p:txBody>
          <a:bodyPr/>
          <a:lstStyle/>
          <a:p>
            <a:r>
              <a:rPr lang="en-US" dirty="0"/>
              <a:t>Software Project Cost Management</a:t>
            </a:r>
            <a:endParaRPr lang="en-GB" dirty="0"/>
          </a:p>
        </p:txBody>
      </p:sp>
    </p:spTree>
    <p:extLst>
      <p:ext uri="{BB962C8B-B14F-4D97-AF65-F5344CB8AC3E}">
        <p14:creationId xmlns:p14="http://schemas.microsoft.com/office/powerpoint/2010/main" val="121261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What is COCOMO?</a:t>
            </a:r>
            <a:endParaRPr lang="en-GB" sz="4000"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smtClean="0"/>
              <a:t>Boehm </a:t>
            </a:r>
            <a:r>
              <a:rPr lang="en-US" dirty="0"/>
              <a:t>proposed COCOMO (Constructive </a:t>
            </a:r>
            <a:r>
              <a:rPr lang="en-US" dirty="0" smtClean="0"/>
              <a:t>Cost Model</a:t>
            </a:r>
            <a:r>
              <a:rPr lang="en-US" dirty="0"/>
              <a:t>) in 1981</a:t>
            </a:r>
            <a:r>
              <a:rPr lang="en-US" dirty="0" smtClean="0"/>
              <a:t>.</a:t>
            </a:r>
          </a:p>
          <a:p>
            <a:pPr>
              <a:buFont typeface="Wingdings" panose="05000000000000000000" pitchFamily="2" charset="2"/>
              <a:buChar char="§"/>
            </a:pPr>
            <a:r>
              <a:rPr lang="en-US" dirty="0">
                <a:cs typeface="Calibri" panose="020F0502020204030204" pitchFamily="34" charset="0"/>
              </a:rPr>
              <a:t>COCOMO is the abbreviation of </a:t>
            </a:r>
            <a:r>
              <a:rPr lang="en-US" dirty="0" smtClean="0">
                <a:cs typeface="Calibri" panose="020F0502020204030204" pitchFamily="34" charset="0"/>
              </a:rPr>
              <a:t>the </a:t>
            </a:r>
            <a:r>
              <a:rPr lang="en-US" dirty="0">
                <a:cs typeface="Calibri" panose="020F0502020204030204" pitchFamily="34" charset="0"/>
              </a:rPr>
              <a:t>Constructive Cost Model</a:t>
            </a:r>
            <a:r>
              <a:rPr lang="en-US" dirty="0" smtClean="0">
                <a:cs typeface="Calibri" panose="020F0502020204030204" pitchFamily="34" charset="0"/>
              </a:rPr>
              <a:t>.</a:t>
            </a:r>
            <a:endParaRPr lang="en-US" dirty="0" smtClean="0"/>
          </a:p>
          <a:p>
            <a:pPr>
              <a:buFont typeface="Wingdings" panose="05000000000000000000" pitchFamily="2" charset="2"/>
              <a:buChar char="§"/>
            </a:pPr>
            <a:r>
              <a:rPr lang="en-US" dirty="0" smtClean="0"/>
              <a:t>COCOMO </a:t>
            </a:r>
            <a:r>
              <a:rPr lang="en-US" dirty="0"/>
              <a:t>predicts the </a:t>
            </a:r>
            <a:r>
              <a:rPr lang="en-US" b="1" dirty="0" smtClean="0"/>
              <a:t>effort, cost </a:t>
            </a:r>
            <a:r>
              <a:rPr lang="en-US" dirty="0" smtClean="0"/>
              <a:t>and </a:t>
            </a:r>
            <a:r>
              <a:rPr lang="en-US" b="1" dirty="0"/>
              <a:t>schedule</a:t>
            </a:r>
            <a:r>
              <a:rPr lang="en-US" dirty="0"/>
              <a:t> of a software product based on the </a:t>
            </a:r>
            <a:r>
              <a:rPr lang="en-US" b="1" dirty="0"/>
              <a:t>size of the </a:t>
            </a:r>
            <a:r>
              <a:rPr lang="en-US" b="1" dirty="0" smtClean="0"/>
              <a:t>software(</a:t>
            </a:r>
            <a:r>
              <a:rPr lang="en-US" dirty="0" smtClean="0">
                <a:cs typeface="Calibri" panose="020F0502020204030204" pitchFamily="34" charset="0"/>
              </a:rPr>
              <a:t>number </a:t>
            </a:r>
            <a:r>
              <a:rPr lang="en-US" dirty="0">
                <a:cs typeface="Calibri" panose="020F0502020204030204" pitchFamily="34" charset="0"/>
              </a:rPr>
              <a:t>of Lines of Code</a:t>
            </a:r>
            <a:r>
              <a:rPr lang="en-US" b="1" dirty="0" smtClean="0"/>
              <a:t>).</a:t>
            </a:r>
          </a:p>
          <a:p>
            <a:pPr marL="0" indent="0">
              <a:buNone/>
            </a:pPr>
            <a:endParaRPr lang="en-US" b="1" dirty="0" smtClean="0"/>
          </a:p>
          <a:p>
            <a:pPr lvl="1" algn="just" fontAlgn="base"/>
            <a:r>
              <a:rPr lang="en-US" sz="2000" b="1" dirty="0" smtClean="0">
                <a:cs typeface="Calibri" panose="020F0502020204030204" pitchFamily="34" charset="0"/>
              </a:rPr>
              <a:t>Effort</a:t>
            </a:r>
            <a:r>
              <a:rPr lang="en-US" sz="2000" b="1" dirty="0">
                <a:cs typeface="Calibri" panose="020F0502020204030204" pitchFamily="34" charset="0"/>
              </a:rPr>
              <a:t>:</a:t>
            </a:r>
            <a:r>
              <a:rPr lang="en-US" sz="2000" dirty="0">
                <a:cs typeface="Calibri" panose="020F0502020204030204" pitchFamily="34" charset="0"/>
              </a:rPr>
              <a:t> Amount of labor that will be required to complete a task. It is measured in person-months units. </a:t>
            </a:r>
            <a:endParaRPr lang="en-US" sz="2000" dirty="0" smtClean="0">
              <a:cs typeface="Calibri" panose="020F0502020204030204" pitchFamily="34" charset="0"/>
            </a:endParaRPr>
          </a:p>
          <a:p>
            <a:pPr lvl="1" algn="just" fontAlgn="base"/>
            <a:r>
              <a:rPr lang="en-US" sz="2000" b="1" dirty="0" smtClean="0">
                <a:cs typeface="Calibri" panose="020F0502020204030204" pitchFamily="34" charset="0"/>
              </a:rPr>
              <a:t>Schedule</a:t>
            </a:r>
            <a:r>
              <a:rPr lang="en-US" sz="2000" b="1" dirty="0">
                <a:cs typeface="Calibri" panose="020F0502020204030204" pitchFamily="34" charset="0"/>
              </a:rPr>
              <a:t>:</a:t>
            </a:r>
            <a:r>
              <a:rPr lang="en-US" sz="2000" dirty="0">
                <a:cs typeface="Calibri" panose="020F0502020204030204" pitchFamily="34" charset="0"/>
              </a:rPr>
              <a:t> Simply means the amount of time required for the completion of the job, which is, of course, proportional to the effort put. It is measured in </a:t>
            </a:r>
            <a:r>
              <a:rPr lang="en-US" sz="2000" dirty="0" smtClean="0">
                <a:cs typeface="Calibri" panose="020F0502020204030204" pitchFamily="34" charset="0"/>
              </a:rPr>
              <a:t>units </a:t>
            </a:r>
            <a:r>
              <a:rPr lang="en-US" sz="2000" dirty="0">
                <a:cs typeface="Calibri" panose="020F0502020204030204" pitchFamily="34" charset="0"/>
              </a:rPr>
              <a:t>of time such as weeks, </a:t>
            </a:r>
            <a:r>
              <a:rPr lang="en-US" sz="2000" dirty="0" smtClean="0">
                <a:cs typeface="Calibri" panose="020F0502020204030204" pitchFamily="34" charset="0"/>
              </a:rPr>
              <a:t>or months</a:t>
            </a:r>
            <a:r>
              <a:rPr lang="en-US" sz="2000" dirty="0">
                <a:cs typeface="Calibri" panose="020F0502020204030204" pitchFamily="34" charset="0"/>
              </a:rPr>
              <a:t>.</a:t>
            </a:r>
          </a:p>
          <a:p>
            <a:pPr lvl="2">
              <a:buFont typeface="Wingdings" panose="05000000000000000000" pitchFamily="2" charset="2"/>
              <a:buChar char="§"/>
            </a:pPr>
            <a:endParaRPr lang="en-GB" b="1" dirty="0"/>
          </a:p>
        </p:txBody>
      </p:sp>
    </p:spTree>
    <p:extLst>
      <p:ext uri="{BB962C8B-B14F-4D97-AF65-F5344CB8AC3E}">
        <p14:creationId xmlns:p14="http://schemas.microsoft.com/office/powerpoint/2010/main" val="1606840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Three levels of Project</a:t>
            </a:r>
            <a:endParaRPr lang="en-GB" dirty="0"/>
          </a:p>
        </p:txBody>
      </p:sp>
      <p:sp>
        <p:nvSpPr>
          <p:cNvPr id="3" name="Content Placeholder 2"/>
          <p:cNvSpPr>
            <a:spLocks noGrp="1"/>
          </p:cNvSpPr>
          <p:nvPr>
            <p:ph idx="1"/>
          </p:nvPr>
        </p:nvSpPr>
        <p:spPr/>
        <p:txBody>
          <a:bodyPr>
            <a:normAutofit/>
          </a:bodyPr>
          <a:lstStyle/>
          <a:p>
            <a:pPr algn="just"/>
            <a:r>
              <a:rPr lang="en-US" dirty="0"/>
              <a:t>The COCOMO model can be applied to three types of software projects</a:t>
            </a:r>
            <a:r>
              <a:rPr lang="en-US" dirty="0" smtClean="0"/>
              <a:t>:</a:t>
            </a:r>
          </a:p>
          <a:p>
            <a:pPr algn="just"/>
            <a:r>
              <a:rPr lang="en-US" b="1" dirty="0"/>
              <a:t>Organic project:</a:t>
            </a:r>
            <a:r>
              <a:rPr lang="en-US" dirty="0"/>
              <a:t> An organic software project requires a </a:t>
            </a:r>
            <a:r>
              <a:rPr lang="en-US" b="1" dirty="0"/>
              <a:t>small team</a:t>
            </a:r>
            <a:r>
              <a:rPr lang="en-US" dirty="0"/>
              <a:t>, </a:t>
            </a:r>
            <a:r>
              <a:rPr lang="en-US" b="1" dirty="0"/>
              <a:t>the problem is well understood</a:t>
            </a:r>
            <a:r>
              <a:rPr lang="en-US" dirty="0"/>
              <a:t>, and the </a:t>
            </a:r>
            <a:r>
              <a:rPr lang="en-US" b="1" dirty="0"/>
              <a:t>team members are experienced in developing similar projects</a:t>
            </a:r>
            <a:r>
              <a:rPr lang="en-US" dirty="0" smtClean="0"/>
              <a:t>.</a:t>
            </a:r>
            <a:r>
              <a:rPr lang="en-GB" dirty="0"/>
              <a:t> e</a:t>
            </a:r>
            <a:r>
              <a:rPr lang="en-GB" dirty="0" smtClean="0"/>
              <a:t>.g. small </a:t>
            </a:r>
            <a:r>
              <a:rPr lang="en-GB" dirty="0"/>
              <a:t>data processing systems, basic inventory management systems, business systems.</a:t>
            </a:r>
            <a:endParaRPr lang="en-US" dirty="0"/>
          </a:p>
          <a:p>
            <a:pPr algn="just"/>
            <a:r>
              <a:rPr lang="en-US" b="1" dirty="0"/>
              <a:t>Semi-detached project:</a:t>
            </a:r>
            <a:r>
              <a:rPr lang="en-US" dirty="0"/>
              <a:t> A </a:t>
            </a:r>
            <a:r>
              <a:rPr lang="en-US" dirty="0" smtClean="0"/>
              <a:t>semi-detached </a:t>
            </a:r>
            <a:r>
              <a:rPr lang="en-US" dirty="0"/>
              <a:t>project is </a:t>
            </a:r>
            <a:r>
              <a:rPr lang="en-US" b="1" dirty="0"/>
              <a:t>medium-sized</a:t>
            </a:r>
            <a:r>
              <a:rPr lang="en-US" dirty="0"/>
              <a:t>, with the </a:t>
            </a:r>
            <a:r>
              <a:rPr lang="en-US" dirty="0" smtClean="0"/>
              <a:t>development </a:t>
            </a:r>
            <a:r>
              <a:rPr lang="en-US" dirty="0" smtClean="0"/>
              <a:t>team consists </a:t>
            </a:r>
            <a:r>
              <a:rPr lang="en-US" dirty="0" smtClean="0"/>
              <a:t>of </a:t>
            </a:r>
            <a:r>
              <a:rPr lang="en-US" dirty="0"/>
              <a:t>a mix of </a:t>
            </a:r>
            <a:r>
              <a:rPr lang="en-US" b="1" dirty="0"/>
              <a:t>experienced and inexperienced staff</a:t>
            </a:r>
            <a:r>
              <a:rPr lang="en-US" dirty="0"/>
              <a:t>, and the major characteristics of the project lie in between organic and </a:t>
            </a:r>
            <a:r>
              <a:rPr lang="en-US" dirty="0" smtClean="0"/>
              <a:t>embedded.</a:t>
            </a:r>
            <a:r>
              <a:rPr lang="en-GB" dirty="0" smtClean="0"/>
              <a:t> </a:t>
            </a:r>
            <a:r>
              <a:rPr lang="en-GB" dirty="0" smtClean="0"/>
              <a:t>e.g. Database </a:t>
            </a:r>
            <a:r>
              <a:rPr lang="en-GB" dirty="0"/>
              <a:t>Management System(DBMS), new unknown operating system, difficult inventory management system.</a:t>
            </a:r>
            <a:endParaRPr lang="en-US" dirty="0"/>
          </a:p>
          <a:p>
            <a:pPr algn="just"/>
            <a:r>
              <a:rPr lang="en-US" b="1" dirty="0"/>
              <a:t>Embedded project: </a:t>
            </a:r>
            <a:r>
              <a:rPr lang="en-US" dirty="0"/>
              <a:t>An embedded software project has a </a:t>
            </a:r>
            <a:r>
              <a:rPr lang="en-US" b="1" dirty="0"/>
              <a:t>high level of complexity</a:t>
            </a:r>
            <a:r>
              <a:rPr lang="en-US" dirty="0"/>
              <a:t>, requiring a </a:t>
            </a:r>
            <a:r>
              <a:rPr lang="en-US" b="1" dirty="0"/>
              <a:t>large-sized experienced team</a:t>
            </a:r>
            <a:r>
              <a:rPr lang="en-US" dirty="0"/>
              <a:t>, and is coupled with complex hardware.</a:t>
            </a:r>
          </a:p>
          <a:p>
            <a:pPr algn="just"/>
            <a:endParaRPr lang="en-US" dirty="0">
              <a:latin typeface="Calibri" panose="020F0502020204030204" pitchFamily="34" charset="0"/>
              <a:cs typeface="Calibri" panose="020F0502020204030204" pitchFamily="34" charset="0"/>
            </a:endParaRPr>
          </a:p>
          <a:p>
            <a:endParaRPr lang="en-GB" dirty="0"/>
          </a:p>
        </p:txBody>
      </p:sp>
    </p:spTree>
    <p:extLst>
      <p:ext uri="{BB962C8B-B14F-4D97-AF65-F5344CB8AC3E}">
        <p14:creationId xmlns:p14="http://schemas.microsoft.com/office/powerpoint/2010/main" val="299905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Comparison Between Three levels of Software Project</a:t>
            </a:r>
            <a:endParaRPr lang="en-GB" sz="3600" dirty="0"/>
          </a:p>
        </p:txBody>
      </p:sp>
      <p:sp>
        <p:nvSpPr>
          <p:cNvPr id="5" name="Content Placeholder 4"/>
          <p:cNvSpPr>
            <a:spLocks noGrp="1"/>
          </p:cNvSpPr>
          <p:nvPr>
            <p:ph idx="1"/>
          </p:nvPr>
        </p:nvSpPr>
        <p:spPr/>
        <p:txBody>
          <a:bodyPr/>
          <a:lstStyle/>
          <a:p>
            <a:endParaRPr lang="en-GB"/>
          </a:p>
        </p:txBody>
      </p:sp>
      <p:pic>
        <p:nvPicPr>
          <p:cNvPr id="6" name="Picture 5"/>
          <p:cNvPicPr>
            <a:picLocks noChangeAspect="1"/>
          </p:cNvPicPr>
          <p:nvPr/>
        </p:nvPicPr>
        <p:blipFill rotWithShape="1">
          <a:blip r:embed="rId2"/>
          <a:srcRect t="974"/>
          <a:stretch/>
        </p:blipFill>
        <p:spPr>
          <a:xfrm>
            <a:off x="914400" y="1857827"/>
            <a:ext cx="10726057" cy="4426857"/>
          </a:xfrm>
          <a:prstGeom prst="rect">
            <a:avLst/>
          </a:prstGeom>
        </p:spPr>
      </p:pic>
    </p:spTree>
    <p:extLst>
      <p:ext uri="{BB962C8B-B14F-4D97-AF65-F5344CB8AC3E}">
        <p14:creationId xmlns:p14="http://schemas.microsoft.com/office/powerpoint/2010/main" val="1842373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623" y="765575"/>
            <a:ext cx="10058400" cy="1450757"/>
          </a:xfrm>
        </p:spPr>
        <p:txBody>
          <a:bodyPr>
            <a:normAutofit fontScale="90000"/>
          </a:bodyPr>
          <a:lstStyle/>
          <a:p>
            <a:r>
              <a:rPr lang="en-GB" b="1" dirty="0" smtClean="0"/>
              <a:t/>
            </a:r>
            <a:br>
              <a:rPr lang="en-GB" b="1" dirty="0" smtClean="0"/>
            </a:br>
            <a:r>
              <a:rPr lang="en-GB" b="1" dirty="0"/>
              <a:t/>
            </a:r>
            <a:br>
              <a:rPr lang="en-GB" b="1" dirty="0"/>
            </a:br>
            <a:r>
              <a:rPr lang="en-GB" b="1" dirty="0" smtClean="0"/>
              <a:t/>
            </a:r>
            <a:br>
              <a:rPr lang="en-GB" b="1" dirty="0" smtClean="0"/>
            </a:br>
            <a:r>
              <a:rPr lang="en-GB" b="1" dirty="0"/>
              <a:t/>
            </a:r>
            <a:br>
              <a:rPr lang="en-GB" b="1" dirty="0"/>
            </a:br>
            <a:r>
              <a:rPr lang="en-GB" b="1" dirty="0" smtClean="0"/>
              <a:t/>
            </a:r>
            <a:br>
              <a:rPr lang="en-GB" b="1" dirty="0" smtClean="0"/>
            </a:br>
            <a:r>
              <a:rPr lang="en-GB" b="1" dirty="0" smtClean="0"/>
              <a:t>Types </a:t>
            </a:r>
            <a:r>
              <a:rPr lang="en-GB" b="1" dirty="0"/>
              <a:t>of COCOMO models</a:t>
            </a:r>
            <a:br>
              <a:rPr lang="en-GB" b="1" dirty="0"/>
            </a:br>
            <a:endParaRPr lang="en-GB" dirty="0"/>
          </a:p>
        </p:txBody>
      </p:sp>
      <p:sp>
        <p:nvSpPr>
          <p:cNvPr id="3" name="Content Placeholder 2"/>
          <p:cNvSpPr>
            <a:spLocks noGrp="1"/>
          </p:cNvSpPr>
          <p:nvPr>
            <p:ph idx="1"/>
          </p:nvPr>
        </p:nvSpPr>
        <p:spPr/>
        <p:txBody>
          <a:bodyPr/>
          <a:lstStyle/>
          <a:p>
            <a:r>
              <a:rPr lang="en-US" dirty="0"/>
              <a:t>The COCOMO model is divided into three types based on the accuracy </a:t>
            </a:r>
            <a:r>
              <a:rPr lang="en-US" dirty="0" smtClean="0"/>
              <a:t>quotient. Any </a:t>
            </a:r>
            <a:r>
              <a:rPr lang="en-US" dirty="0"/>
              <a:t>of the three types can be adapted according to our requirements</a:t>
            </a:r>
            <a:r>
              <a:rPr lang="en-US" dirty="0" smtClean="0"/>
              <a:t>:</a:t>
            </a:r>
          </a:p>
          <a:p>
            <a:pPr>
              <a:buFont typeface="Wingdings" panose="05000000000000000000" pitchFamily="2" charset="2"/>
              <a:buChar char="Ø"/>
            </a:pPr>
            <a:r>
              <a:rPr lang="en-US" b="1" dirty="0" smtClean="0"/>
              <a:t> Basic </a:t>
            </a:r>
            <a:r>
              <a:rPr lang="en-US" b="1" dirty="0"/>
              <a:t>model</a:t>
            </a:r>
          </a:p>
          <a:p>
            <a:pPr>
              <a:buFont typeface="Wingdings" panose="05000000000000000000" pitchFamily="2" charset="2"/>
              <a:buChar char="Ø"/>
            </a:pPr>
            <a:r>
              <a:rPr lang="en-US" dirty="0" smtClean="0"/>
              <a:t> Intermediate </a:t>
            </a:r>
            <a:r>
              <a:rPr lang="en-US" dirty="0"/>
              <a:t>model</a:t>
            </a:r>
          </a:p>
          <a:p>
            <a:pPr>
              <a:buFont typeface="Wingdings" panose="05000000000000000000" pitchFamily="2" charset="2"/>
              <a:buChar char="Ø"/>
            </a:pPr>
            <a:r>
              <a:rPr lang="en-US" dirty="0" smtClean="0"/>
              <a:t> Detailed </a:t>
            </a:r>
            <a:r>
              <a:rPr lang="en-US" dirty="0"/>
              <a:t>model</a:t>
            </a:r>
          </a:p>
          <a:p>
            <a:endParaRPr lang="en-GB" dirty="0"/>
          </a:p>
        </p:txBody>
      </p:sp>
      <p:pic>
        <p:nvPicPr>
          <p:cNvPr id="5" name="Picture 4"/>
          <p:cNvPicPr>
            <a:picLocks noChangeAspect="1"/>
          </p:cNvPicPr>
          <p:nvPr/>
        </p:nvPicPr>
        <p:blipFill>
          <a:blip r:embed="rId2"/>
          <a:stretch>
            <a:fillRect/>
          </a:stretch>
        </p:blipFill>
        <p:spPr>
          <a:xfrm>
            <a:off x="5720044" y="3223339"/>
            <a:ext cx="5715798" cy="2762636"/>
          </a:xfrm>
          <a:prstGeom prst="rect">
            <a:avLst/>
          </a:prstGeom>
        </p:spPr>
      </p:pic>
    </p:spTree>
    <p:extLst>
      <p:ext uri="{BB962C8B-B14F-4D97-AF65-F5344CB8AC3E}">
        <p14:creationId xmlns:p14="http://schemas.microsoft.com/office/powerpoint/2010/main" val="4235487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09117"/>
            <a:ext cx="10058400" cy="1450757"/>
          </a:xfrm>
        </p:spPr>
        <p:txBody>
          <a:bodyPr/>
          <a:lstStyle/>
          <a:p>
            <a:r>
              <a:rPr lang="en-US" sz="3600" dirty="0">
                <a:latin typeface="Times New Roman" panose="02020603050405020304" pitchFamily="18" charset="0"/>
                <a:cs typeface="Times New Roman" panose="02020603050405020304" pitchFamily="18" charset="0"/>
              </a:rPr>
              <a:t>Basic COCOMO </a:t>
            </a:r>
            <a:r>
              <a:rPr lang="en-GB" b="1" dirty="0"/>
              <a:t/>
            </a:r>
            <a:br>
              <a:rPr lang="en-GB" b="1" dirty="0"/>
            </a:br>
            <a:endParaRPr lang="en-GB" dirty="0"/>
          </a:p>
        </p:txBody>
      </p:sp>
      <p:sp>
        <p:nvSpPr>
          <p:cNvPr id="3" name="Content Placeholder 2"/>
          <p:cNvSpPr>
            <a:spLocks noGrp="1"/>
          </p:cNvSpPr>
          <p:nvPr>
            <p:ph idx="1"/>
          </p:nvPr>
        </p:nvSpPr>
        <p:spPr/>
        <p:txBody>
          <a:bodyPr>
            <a:normAutofit fontScale="92500" lnSpcReduction="20000"/>
          </a:bodyPr>
          <a:lstStyle/>
          <a:p>
            <a:pPr>
              <a:buFont typeface="Arial" panose="020B0604020202020204" pitchFamily="34" charset="0"/>
              <a:buChar char="•"/>
            </a:pPr>
            <a:r>
              <a:rPr lang="en-US" dirty="0"/>
              <a:t>The </a:t>
            </a:r>
            <a:r>
              <a:rPr lang="en-US" b="1" dirty="0"/>
              <a:t>basic model</a:t>
            </a:r>
            <a:r>
              <a:rPr lang="en-US" dirty="0"/>
              <a:t> is used for quick and </a:t>
            </a:r>
            <a:r>
              <a:rPr lang="en-US" b="1" dirty="0"/>
              <a:t>rough</a:t>
            </a:r>
            <a:r>
              <a:rPr lang="en-US" dirty="0"/>
              <a:t> </a:t>
            </a:r>
            <a:r>
              <a:rPr lang="en-US" b="1" dirty="0"/>
              <a:t>cost calculations </a:t>
            </a:r>
            <a:r>
              <a:rPr lang="en-US" dirty="0"/>
              <a:t>for the software. It calculates the </a:t>
            </a:r>
            <a:r>
              <a:rPr lang="en-US" b="1" dirty="0"/>
              <a:t>effort</a:t>
            </a:r>
            <a:r>
              <a:rPr lang="en-US" dirty="0"/>
              <a:t>, </a:t>
            </a:r>
            <a:r>
              <a:rPr lang="en-US" b="1" dirty="0"/>
              <a:t>time</a:t>
            </a:r>
            <a:r>
              <a:rPr lang="en-US" dirty="0"/>
              <a:t>, and </a:t>
            </a:r>
            <a:r>
              <a:rPr lang="en-US" b="1" dirty="0"/>
              <a:t>number of people </a:t>
            </a:r>
            <a:r>
              <a:rPr lang="en-US" b="1" dirty="0" smtClean="0"/>
              <a:t>required</a:t>
            </a:r>
            <a:r>
              <a:rPr lang="en-US" dirty="0"/>
              <a:t>.</a:t>
            </a:r>
            <a:endParaRPr lang="en-US" dirty="0" smtClean="0"/>
          </a:p>
          <a:p>
            <a:pPr>
              <a:buFont typeface="Arial" panose="020B0604020202020204" pitchFamily="34" charset="0"/>
              <a:buChar char="•"/>
            </a:pPr>
            <a:r>
              <a:rPr lang="en-US" dirty="0" smtClean="0"/>
              <a:t>It </a:t>
            </a:r>
            <a:r>
              <a:rPr lang="en-US" dirty="0"/>
              <a:t>focuses </a:t>
            </a:r>
            <a:r>
              <a:rPr lang="en-US" dirty="0" smtClean="0"/>
              <a:t>on </a:t>
            </a:r>
            <a:r>
              <a:rPr lang="en-US" b="1" dirty="0" smtClean="0"/>
              <a:t>project size and development methods</a:t>
            </a:r>
            <a:r>
              <a:rPr lang="en-US" dirty="0" smtClean="0"/>
              <a:t>.</a:t>
            </a:r>
            <a:endParaRPr lang="en-US" dirty="0"/>
          </a:p>
          <a:p>
            <a:r>
              <a:rPr lang="en-US" b="1" dirty="0"/>
              <a:t>Project </a:t>
            </a:r>
            <a:r>
              <a:rPr lang="en-US" b="1" dirty="0" smtClean="0"/>
              <a:t>size:</a:t>
            </a:r>
            <a:endParaRPr lang="en-US" dirty="0"/>
          </a:p>
          <a:p>
            <a:r>
              <a:rPr lang="en-US" dirty="0"/>
              <a:t>The size of a software project is usually measured in </a:t>
            </a:r>
            <a:r>
              <a:rPr lang="en-US" b="1" dirty="0"/>
              <a:t>lines of code (LOC), </a:t>
            </a:r>
            <a:r>
              <a:rPr lang="en-US" dirty="0"/>
              <a:t>which represents the total number of lines of code to be written.</a:t>
            </a:r>
          </a:p>
          <a:p>
            <a:r>
              <a:rPr lang="en-US" b="1" dirty="0"/>
              <a:t>Development methods:</a:t>
            </a:r>
            <a:endParaRPr lang="en-US" dirty="0"/>
          </a:p>
          <a:p>
            <a:r>
              <a:rPr lang="en-US" dirty="0"/>
              <a:t>The Basic COCOMO model defines </a:t>
            </a:r>
            <a:r>
              <a:rPr lang="en-US" b="1" dirty="0"/>
              <a:t>three development states </a:t>
            </a:r>
            <a:r>
              <a:rPr lang="en-US" dirty="0"/>
              <a:t>that describe the different </a:t>
            </a:r>
            <a:r>
              <a:rPr lang="en-US" b="1" dirty="0"/>
              <a:t>complexity of projects and the capabilities of the team</a:t>
            </a:r>
            <a:r>
              <a:rPr lang="en-US" dirty="0"/>
              <a:t>:</a:t>
            </a:r>
          </a:p>
          <a:p>
            <a:r>
              <a:rPr lang="en-US" b="1" dirty="0"/>
              <a:t>Organic mode</a:t>
            </a:r>
            <a:r>
              <a:rPr lang="en-US" dirty="0"/>
              <a:t>: For small teams working with familiar software.</a:t>
            </a:r>
          </a:p>
          <a:p>
            <a:r>
              <a:rPr lang="en-US" b="1" dirty="0"/>
              <a:t>Semi-detached Mode</a:t>
            </a:r>
            <a:r>
              <a:rPr lang="en-US" dirty="0"/>
              <a:t>: For medium-sized groups working with somewhat familiar software.</a:t>
            </a:r>
          </a:p>
          <a:p>
            <a:r>
              <a:rPr lang="en-US" b="1" dirty="0"/>
              <a:t>Embedded mode</a:t>
            </a:r>
            <a:r>
              <a:rPr lang="en-US" dirty="0"/>
              <a:t>: For large teams working with complex and unfamiliar software.</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403758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309" y="896203"/>
            <a:ext cx="10058400" cy="1450757"/>
          </a:xfrm>
        </p:spPr>
        <p:txBody>
          <a:bodyPr/>
          <a:lstStyle/>
          <a:p>
            <a:r>
              <a:rPr lang="en-US" sz="3600" dirty="0">
                <a:latin typeface="Times New Roman" panose="02020603050405020304" pitchFamily="18" charset="0"/>
                <a:cs typeface="Times New Roman" panose="02020603050405020304" pitchFamily="18" charset="0"/>
              </a:rPr>
              <a:t>Basic COCOMO </a:t>
            </a:r>
            <a:r>
              <a:rPr lang="en-GB" b="1" dirty="0"/>
              <a:t/>
            </a:r>
            <a:br>
              <a:rPr lang="en-GB" b="1" dirty="0"/>
            </a:br>
            <a:endParaRPr lang="en-GB" dirty="0"/>
          </a:p>
        </p:txBody>
      </p:sp>
      <p:sp>
        <p:nvSpPr>
          <p:cNvPr id="3" name="Content Placeholder 2"/>
          <p:cNvSpPr>
            <a:spLocks noGrp="1"/>
          </p:cNvSpPr>
          <p:nvPr>
            <p:ph idx="1"/>
          </p:nvPr>
        </p:nvSpPr>
        <p:spPr/>
        <p:txBody>
          <a:bodyPr/>
          <a:lstStyle/>
          <a:p>
            <a:r>
              <a:rPr lang="en-US" dirty="0"/>
              <a:t>The basic COCOMO estimation model is given by the following expressions:</a:t>
            </a:r>
          </a:p>
          <a:p>
            <a:pPr fontAlgn="base"/>
            <a:r>
              <a:rPr lang="en-GB" i="1" dirty="0"/>
              <a:t>E = a*(KLOC)</a:t>
            </a:r>
            <a:r>
              <a:rPr lang="en-GB" i="1" baseline="30000" dirty="0"/>
              <a:t>b </a:t>
            </a:r>
            <a:endParaRPr lang="en-GB" i="1" dirty="0"/>
          </a:p>
          <a:p>
            <a:pPr fontAlgn="base"/>
            <a:r>
              <a:rPr lang="en-GB" i="1" dirty="0" err="1"/>
              <a:t>Tdev</a:t>
            </a:r>
            <a:r>
              <a:rPr lang="en-GB" i="1" dirty="0"/>
              <a:t> = c*(E)</a:t>
            </a:r>
            <a:r>
              <a:rPr lang="en-GB" i="1" baseline="30000" dirty="0"/>
              <a:t>d</a:t>
            </a:r>
            <a:r>
              <a:rPr lang="en-GB" i="1" dirty="0"/>
              <a:t> </a:t>
            </a:r>
          </a:p>
          <a:p>
            <a:pPr fontAlgn="base"/>
            <a:r>
              <a:rPr lang="en-GB" i="1" dirty="0"/>
              <a:t>Person </a:t>
            </a:r>
            <a:r>
              <a:rPr lang="en-GB" i="1" dirty="0" smtClean="0"/>
              <a:t>required/Staff size </a:t>
            </a:r>
            <a:r>
              <a:rPr lang="en-GB" i="1" dirty="0"/>
              <a:t>= Effort/ Time</a:t>
            </a:r>
          </a:p>
          <a:p>
            <a:r>
              <a:rPr lang="en-GB" dirty="0"/>
              <a:t/>
            </a:r>
            <a:br>
              <a:rPr lang="en-GB" dirty="0"/>
            </a:br>
            <a:r>
              <a:rPr lang="en-GB" dirty="0"/>
              <a:t> </a:t>
            </a:r>
            <a:r>
              <a:rPr lang="en-US" b="1" dirty="0" smtClean="0"/>
              <a:t>Where</a:t>
            </a:r>
            <a:r>
              <a:rPr lang="en-US" b="1" dirty="0"/>
              <a:t>,</a:t>
            </a:r>
            <a:endParaRPr lang="en-US" dirty="0"/>
          </a:p>
          <a:p>
            <a:r>
              <a:rPr lang="en-US" dirty="0"/>
              <a:t>E is effort applied in person-months.</a:t>
            </a:r>
            <a:br>
              <a:rPr lang="en-US" dirty="0"/>
            </a:br>
            <a:r>
              <a:rPr lang="en-US" dirty="0"/>
              <a:t>D is development time in months.</a:t>
            </a:r>
            <a:br>
              <a:rPr lang="en-US" dirty="0"/>
            </a:br>
            <a:r>
              <a:rPr lang="en-US" dirty="0"/>
              <a:t>P is the total no. of persons required to accomplish the project.</a:t>
            </a:r>
          </a:p>
          <a:p>
            <a:endParaRPr lang="en-GB" dirty="0"/>
          </a:p>
        </p:txBody>
      </p:sp>
    </p:spTree>
    <p:extLst>
      <p:ext uri="{BB962C8B-B14F-4D97-AF65-F5344CB8AC3E}">
        <p14:creationId xmlns:p14="http://schemas.microsoft.com/office/powerpoint/2010/main" val="3162901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Basic COCOMO</a:t>
            </a:r>
            <a:endParaRPr lang="en-GB" sz="3600" dirty="0"/>
          </a:p>
        </p:txBody>
      </p:sp>
      <p:sp>
        <p:nvSpPr>
          <p:cNvPr id="3" name="Content Placeholder 2"/>
          <p:cNvSpPr>
            <a:spLocks noGrp="1"/>
          </p:cNvSpPr>
          <p:nvPr>
            <p:ph idx="1"/>
          </p:nvPr>
        </p:nvSpPr>
        <p:spPr/>
        <p:txBody>
          <a:bodyPr/>
          <a:lstStyle/>
          <a:p>
            <a:r>
              <a:rPr lang="en-US" dirty="0"/>
              <a:t>The </a:t>
            </a:r>
            <a:r>
              <a:rPr lang="en-US" dirty="0" smtClean="0"/>
              <a:t>constant </a:t>
            </a:r>
            <a:r>
              <a:rPr lang="en-US" dirty="0"/>
              <a:t>values a, b, c, and d for the Basic Model for the different categories of the system</a:t>
            </a:r>
            <a:r>
              <a:rPr lang="en-US" dirty="0" smtClean="0"/>
              <a:t>:</a:t>
            </a:r>
          </a:p>
          <a:p>
            <a:endParaRPr lang="en-GB" dirty="0"/>
          </a:p>
        </p:txBody>
      </p:sp>
      <p:pic>
        <p:nvPicPr>
          <p:cNvPr id="4" name="Picture 3"/>
          <p:cNvPicPr>
            <a:picLocks noChangeAspect="1"/>
          </p:cNvPicPr>
          <p:nvPr/>
        </p:nvPicPr>
        <p:blipFill>
          <a:blip r:embed="rId2"/>
          <a:stretch>
            <a:fillRect/>
          </a:stretch>
        </p:blipFill>
        <p:spPr>
          <a:xfrm>
            <a:off x="1349828" y="2598057"/>
            <a:ext cx="9303657" cy="3236685"/>
          </a:xfrm>
          <a:prstGeom prst="rect">
            <a:avLst/>
          </a:prstGeom>
        </p:spPr>
      </p:pic>
    </p:spTree>
    <p:extLst>
      <p:ext uri="{BB962C8B-B14F-4D97-AF65-F5344CB8AC3E}">
        <p14:creationId xmlns:p14="http://schemas.microsoft.com/office/powerpoint/2010/main" val="93449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1795" y="823631"/>
            <a:ext cx="10058400" cy="1450757"/>
          </a:xfrm>
        </p:spPr>
        <p:txBody>
          <a:bodyPr/>
          <a:lstStyle/>
          <a:p>
            <a:r>
              <a:rPr lang="en-GB" b="1" dirty="0"/>
              <a:t>Example</a:t>
            </a:r>
            <a:br>
              <a:rPr lang="en-GB" b="1" dirty="0"/>
            </a:br>
            <a:endParaRPr lang="en-GB" dirty="0"/>
          </a:p>
        </p:txBody>
      </p:sp>
      <p:sp>
        <p:nvSpPr>
          <p:cNvPr id="3" name="Content Placeholder 2"/>
          <p:cNvSpPr>
            <a:spLocks noGrp="1"/>
          </p:cNvSpPr>
          <p:nvPr>
            <p:ph idx="1"/>
          </p:nvPr>
        </p:nvSpPr>
        <p:spPr/>
        <p:txBody>
          <a:bodyPr/>
          <a:lstStyle/>
          <a:p>
            <a:r>
              <a:rPr lang="en-US" dirty="0"/>
              <a:t>Suppose that a project was estimated to be </a:t>
            </a:r>
            <a:r>
              <a:rPr lang="en-US" b="1" dirty="0"/>
              <a:t>400 KLOC</a:t>
            </a:r>
            <a:r>
              <a:rPr lang="en-US" dirty="0"/>
              <a:t>. Calculate the effort and development time for each of the three modes i.e., organic, </a:t>
            </a:r>
            <a:r>
              <a:rPr lang="en-US" dirty="0" smtClean="0"/>
              <a:t>semidetached, </a:t>
            </a:r>
            <a:r>
              <a:rPr lang="en-US" dirty="0"/>
              <a:t>and embedded</a:t>
            </a:r>
            <a:r>
              <a:rPr lang="en-US" dirty="0" smtClean="0"/>
              <a:t>.</a:t>
            </a:r>
          </a:p>
          <a:p>
            <a:endParaRPr lang="en-GB" dirty="0"/>
          </a:p>
        </p:txBody>
      </p:sp>
      <p:pic>
        <p:nvPicPr>
          <p:cNvPr id="7" name="Picture 6"/>
          <p:cNvPicPr>
            <a:picLocks noChangeAspect="1"/>
          </p:cNvPicPr>
          <p:nvPr/>
        </p:nvPicPr>
        <p:blipFill rotWithShape="1">
          <a:blip r:embed="rId2"/>
          <a:srcRect t="13885" b="63114"/>
          <a:stretch/>
        </p:blipFill>
        <p:spPr>
          <a:xfrm>
            <a:off x="1764937" y="3200400"/>
            <a:ext cx="9390743" cy="2108831"/>
          </a:xfrm>
          <a:prstGeom prst="rect">
            <a:avLst/>
          </a:prstGeom>
        </p:spPr>
      </p:pic>
    </p:spTree>
    <p:extLst>
      <p:ext uri="{BB962C8B-B14F-4D97-AF65-F5344CB8AC3E}">
        <p14:creationId xmlns:p14="http://schemas.microsoft.com/office/powerpoint/2010/main" val="2447633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GB" dirty="0"/>
          </a:p>
        </p:txBody>
      </p:sp>
      <p:pic>
        <p:nvPicPr>
          <p:cNvPr id="5" name="Content Placeholder 4"/>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66879"/>
          <a:stretch/>
        </p:blipFill>
        <p:spPr>
          <a:xfrm>
            <a:off x="1146629" y="1846264"/>
            <a:ext cx="10145485" cy="4162650"/>
          </a:xfrm>
        </p:spPr>
      </p:pic>
    </p:spTree>
    <p:extLst>
      <p:ext uri="{BB962C8B-B14F-4D97-AF65-F5344CB8AC3E}">
        <p14:creationId xmlns:p14="http://schemas.microsoft.com/office/powerpoint/2010/main" val="281036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1</a:t>
            </a:r>
            <a:endParaRPr lang="en-GB" dirty="0"/>
          </a:p>
        </p:txBody>
      </p:sp>
      <p:sp>
        <p:nvSpPr>
          <p:cNvPr id="3" name="Content Placeholder 2"/>
          <p:cNvSpPr>
            <a:spLocks noGrp="1"/>
          </p:cNvSpPr>
          <p:nvPr>
            <p:ph idx="1"/>
          </p:nvPr>
        </p:nvSpPr>
        <p:spPr>
          <a:xfrm>
            <a:off x="1097280" y="1845734"/>
            <a:ext cx="10058400" cy="1086309"/>
          </a:xfrm>
        </p:spPr>
        <p:txBody>
          <a:bodyPr/>
          <a:lstStyle/>
          <a:p>
            <a:pPr algn="just"/>
            <a:r>
              <a:rPr lang="en-US" dirty="0"/>
              <a:t>A project size of 200 KLOC is to be developed. Software development team has average experience on similar type of projects. The project schedule is not very tight. Calculate the effort, development time, average staff size </a:t>
            </a:r>
            <a:r>
              <a:rPr lang="en-US" dirty="0" smtClean="0"/>
              <a:t>of the </a:t>
            </a:r>
            <a:r>
              <a:rPr lang="en-US" dirty="0"/>
              <a:t>project.</a:t>
            </a:r>
            <a:endParaRPr lang="en-GB" dirty="0"/>
          </a:p>
        </p:txBody>
      </p:sp>
      <p:pic>
        <p:nvPicPr>
          <p:cNvPr id="4" name="Picture 3"/>
          <p:cNvPicPr>
            <a:picLocks noChangeAspect="1"/>
          </p:cNvPicPr>
          <p:nvPr/>
        </p:nvPicPr>
        <p:blipFill>
          <a:blip r:embed="rId2"/>
          <a:stretch>
            <a:fillRect/>
          </a:stretch>
        </p:blipFill>
        <p:spPr>
          <a:xfrm>
            <a:off x="1349828" y="3250096"/>
            <a:ext cx="9303657" cy="2584646"/>
          </a:xfrm>
          <a:prstGeom prst="rect">
            <a:avLst/>
          </a:prstGeom>
        </p:spPr>
      </p:pic>
    </p:spTree>
    <p:extLst>
      <p:ext uri="{BB962C8B-B14F-4D97-AF65-F5344CB8AC3E}">
        <p14:creationId xmlns:p14="http://schemas.microsoft.com/office/powerpoint/2010/main" val="3536892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GB" dirty="0"/>
          </a:p>
        </p:txBody>
      </p:sp>
      <p:pic>
        <p:nvPicPr>
          <p:cNvPr id="5" name="Content Placeholder 4"/>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54251"/>
          <a:stretch/>
        </p:blipFill>
        <p:spPr>
          <a:xfrm>
            <a:off x="1030514" y="1846263"/>
            <a:ext cx="10464800" cy="4293279"/>
          </a:xfrm>
        </p:spPr>
      </p:pic>
    </p:spTree>
    <p:extLst>
      <p:ext uri="{BB962C8B-B14F-4D97-AF65-F5344CB8AC3E}">
        <p14:creationId xmlns:p14="http://schemas.microsoft.com/office/powerpoint/2010/main" val="3760018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2</a:t>
            </a:r>
            <a:endParaRPr lang="en-GB" dirty="0"/>
          </a:p>
        </p:txBody>
      </p:sp>
      <p:sp>
        <p:nvSpPr>
          <p:cNvPr id="3" name="Content Placeholder 2"/>
          <p:cNvSpPr>
            <a:spLocks noGrp="1"/>
          </p:cNvSpPr>
          <p:nvPr>
            <p:ph idx="1"/>
          </p:nvPr>
        </p:nvSpPr>
        <p:spPr/>
        <p:txBody>
          <a:bodyPr/>
          <a:lstStyle/>
          <a:p>
            <a:pPr algn="just"/>
            <a:r>
              <a:rPr lang="en-GB" dirty="0"/>
              <a:t>A medium-sized software company is developing an inventory management system for a client. The project has moderate complexity, and the company has partial experience with similar projects. The estimated size of the project is 100 KLOC</a:t>
            </a:r>
            <a:r>
              <a:rPr lang="en-GB" dirty="0" smtClean="0"/>
              <a:t>.</a:t>
            </a:r>
          </a:p>
          <a:p>
            <a:pPr algn="just"/>
            <a:r>
              <a:rPr lang="en-GB" dirty="0" smtClean="0"/>
              <a:t>Using </a:t>
            </a:r>
            <a:r>
              <a:rPr lang="en-GB" dirty="0"/>
              <a:t>the basic COCOMO </a:t>
            </a:r>
            <a:r>
              <a:rPr lang="en-GB" dirty="0" smtClean="0"/>
              <a:t>model, </a:t>
            </a:r>
            <a:r>
              <a:rPr lang="en-GB" dirty="0"/>
              <a:t>calculate the estimated effort (in person-months), development time (in months), and average staff size for the project.</a:t>
            </a:r>
          </a:p>
        </p:txBody>
      </p:sp>
      <p:pic>
        <p:nvPicPr>
          <p:cNvPr id="4" name="Picture 3"/>
          <p:cNvPicPr>
            <a:picLocks noChangeAspect="1"/>
          </p:cNvPicPr>
          <p:nvPr/>
        </p:nvPicPr>
        <p:blipFill>
          <a:blip r:embed="rId2"/>
          <a:stretch>
            <a:fillRect/>
          </a:stretch>
        </p:blipFill>
        <p:spPr>
          <a:xfrm>
            <a:off x="1250437" y="3975652"/>
            <a:ext cx="9303657" cy="2001816"/>
          </a:xfrm>
          <a:prstGeom prst="rect">
            <a:avLst/>
          </a:prstGeom>
        </p:spPr>
      </p:pic>
    </p:spTree>
    <p:extLst>
      <p:ext uri="{BB962C8B-B14F-4D97-AF65-F5344CB8AC3E}">
        <p14:creationId xmlns:p14="http://schemas.microsoft.com/office/powerpoint/2010/main" val="1649935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3</a:t>
            </a:r>
            <a:endParaRPr lang="en-GB" dirty="0"/>
          </a:p>
        </p:txBody>
      </p:sp>
      <p:sp>
        <p:nvSpPr>
          <p:cNvPr id="3" name="Content Placeholder 2"/>
          <p:cNvSpPr>
            <a:spLocks noGrp="1"/>
          </p:cNvSpPr>
          <p:nvPr>
            <p:ph idx="1"/>
          </p:nvPr>
        </p:nvSpPr>
        <p:spPr/>
        <p:txBody>
          <a:bodyPr/>
          <a:lstStyle/>
          <a:p>
            <a:r>
              <a:rPr lang="en-GB" dirty="0"/>
              <a:t>A small e-commerce </a:t>
            </a:r>
            <a:r>
              <a:rPr lang="en-GB" dirty="0" smtClean="0"/>
              <a:t>start up </a:t>
            </a:r>
            <a:r>
              <a:rPr lang="en-GB" dirty="0"/>
              <a:t>wants to develop a basic online shopping platform. The project is straightforward, with a well-defined and familiar environment. The estimated size of the software project is 20 KLOC (thousands of lines of code</a:t>
            </a:r>
            <a:r>
              <a:rPr lang="en-GB" dirty="0" smtClean="0"/>
              <a:t>).</a:t>
            </a:r>
          </a:p>
          <a:p>
            <a:r>
              <a:rPr lang="en-GB" dirty="0" smtClean="0"/>
              <a:t>Calculate </a:t>
            </a:r>
            <a:r>
              <a:rPr lang="en-GB" dirty="0"/>
              <a:t>the estimated effort (in person-months), development time (in months), and average staff size required for the project.</a:t>
            </a:r>
          </a:p>
        </p:txBody>
      </p:sp>
      <p:pic>
        <p:nvPicPr>
          <p:cNvPr id="4" name="Picture 3"/>
          <p:cNvPicPr>
            <a:picLocks noChangeAspect="1"/>
          </p:cNvPicPr>
          <p:nvPr/>
        </p:nvPicPr>
        <p:blipFill>
          <a:blip r:embed="rId2"/>
          <a:stretch>
            <a:fillRect/>
          </a:stretch>
        </p:blipFill>
        <p:spPr>
          <a:xfrm>
            <a:off x="1349828" y="3886200"/>
            <a:ext cx="9303657" cy="1948542"/>
          </a:xfrm>
          <a:prstGeom prst="rect">
            <a:avLst/>
          </a:prstGeom>
        </p:spPr>
      </p:pic>
    </p:spTree>
    <p:extLst>
      <p:ext uri="{BB962C8B-B14F-4D97-AF65-F5344CB8AC3E}">
        <p14:creationId xmlns:p14="http://schemas.microsoft.com/office/powerpoint/2010/main" val="1087449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4</a:t>
            </a:r>
            <a:endParaRPr lang="en-GB" dirty="0"/>
          </a:p>
        </p:txBody>
      </p:sp>
      <p:sp>
        <p:nvSpPr>
          <p:cNvPr id="3" name="Content Placeholder 2"/>
          <p:cNvSpPr>
            <a:spLocks noGrp="1"/>
          </p:cNvSpPr>
          <p:nvPr>
            <p:ph idx="1"/>
          </p:nvPr>
        </p:nvSpPr>
        <p:spPr/>
        <p:txBody>
          <a:bodyPr/>
          <a:lstStyle/>
          <a:p>
            <a:pPr algn="just"/>
            <a:r>
              <a:rPr lang="en-GB" dirty="0"/>
              <a:t>A government agency requires a mission-critical software system for national </a:t>
            </a:r>
            <a:r>
              <a:rPr lang="en-GB" dirty="0" err="1"/>
              <a:t>defense</a:t>
            </a:r>
            <a:r>
              <a:rPr lang="en-GB" dirty="0"/>
              <a:t>. This project is highly complex and must meet stringent performance and reliability requirements. The estimated size of the project is 500 KLOC</a:t>
            </a:r>
            <a:r>
              <a:rPr lang="en-GB" dirty="0" smtClean="0"/>
              <a:t>.</a:t>
            </a:r>
          </a:p>
          <a:p>
            <a:pPr algn="just"/>
            <a:r>
              <a:rPr lang="en-GB" dirty="0" smtClean="0"/>
              <a:t>Using </a:t>
            </a:r>
            <a:r>
              <a:rPr lang="en-GB" dirty="0"/>
              <a:t>the basic COCOMO </a:t>
            </a:r>
            <a:r>
              <a:rPr lang="en-GB" dirty="0" smtClean="0"/>
              <a:t>model, Calculate </a:t>
            </a:r>
            <a:r>
              <a:rPr lang="en-GB" dirty="0"/>
              <a:t>the estimated effort (in person-months), development time (in months), and average staff size for the project</a:t>
            </a:r>
            <a:r>
              <a:rPr lang="en-GB" dirty="0" smtClean="0"/>
              <a:t>.</a:t>
            </a:r>
          </a:p>
          <a:p>
            <a:pPr algn="just"/>
            <a:endParaRPr lang="en-GB" dirty="0"/>
          </a:p>
        </p:txBody>
      </p:sp>
      <p:pic>
        <p:nvPicPr>
          <p:cNvPr id="4" name="Picture 3"/>
          <p:cNvPicPr>
            <a:picLocks noChangeAspect="1"/>
          </p:cNvPicPr>
          <p:nvPr/>
        </p:nvPicPr>
        <p:blipFill>
          <a:blip r:embed="rId2"/>
          <a:stretch>
            <a:fillRect/>
          </a:stretch>
        </p:blipFill>
        <p:spPr>
          <a:xfrm>
            <a:off x="1349828" y="3796748"/>
            <a:ext cx="9303657" cy="2037994"/>
          </a:xfrm>
          <a:prstGeom prst="rect">
            <a:avLst/>
          </a:prstGeom>
        </p:spPr>
      </p:pic>
    </p:spTree>
    <p:extLst>
      <p:ext uri="{BB962C8B-B14F-4D97-AF65-F5344CB8AC3E}">
        <p14:creationId xmlns:p14="http://schemas.microsoft.com/office/powerpoint/2010/main" val="349731327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365</TotalTime>
  <Words>466</Words>
  <Application>Microsoft Office PowerPoint</Application>
  <PresentationFormat>Widescreen</PresentationFormat>
  <Paragraphs>54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Retrospect</vt:lpstr>
      <vt:lpstr>Constructive Cost Model </vt:lpstr>
      <vt:lpstr>What is COCOMO?</vt:lpstr>
      <vt:lpstr>Three levels of Project</vt:lpstr>
      <vt:lpstr>Comparison Between Three levels of Software Project</vt:lpstr>
      <vt:lpstr>     Types of COCOMO models </vt:lpstr>
      <vt:lpstr>Basic COCOMO  </vt:lpstr>
      <vt:lpstr>Basic COCOMO  </vt:lpstr>
      <vt:lpstr>Basic COCOMO</vt:lpstr>
      <vt:lpstr>Example </vt:lpstr>
      <vt:lpstr>Example</vt:lpstr>
      <vt:lpstr>Exercise 1</vt:lpstr>
      <vt:lpstr>Solution</vt:lpstr>
      <vt:lpstr>Exercise 2</vt:lpstr>
      <vt:lpstr>Exercise 3</vt:lpstr>
      <vt:lpstr>Exercise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Constructive Model</dc:title>
  <dc:creator>Miss</dc:creator>
  <cp:lastModifiedBy>Humaira Afzal</cp:lastModifiedBy>
  <cp:revision>56</cp:revision>
  <dcterms:created xsi:type="dcterms:W3CDTF">2024-05-06T13:45:16Z</dcterms:created>
  <dcterms:modified xsi:type="dcterms:W3CDTF">2024-11-14T05:09:27Z</dcterms:modified>
</cp:coreProperties>
</file>