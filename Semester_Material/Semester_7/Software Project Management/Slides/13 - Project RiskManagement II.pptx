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29"/>
  </p:notesMasterIdLst>
  <p:handoutMasterIdLst>
    <p:handoutMasterId r:id="rId30"/>
  </p:handoutMasterIdLst>
  <p:sldIdLst>
    <p:sldId id="386" r:id="rId2"/>
    <p:sldId id="419" r:id="rId3"/>
    <p:sldId id="434" r:id="rId4"/>
    <p:sldId id="435" r:id="rId5"/>
    <p:sldId id="436" r:id="rId6"/>
    <p:sldId id="437" r:id="rId7"/>
    <p:sldId id="438" r:id="rId8"/>
    <p:sldId id="420" r:id="rId9"/>
    <p:sldId id="430" r:id="rId10"/>
    <p:sldId id="431" r:id="rId11"/>
    <p:sldId id="432" r:id="rId12"/>
    <p:sldId id="433" r:id="rId13"/>
    <p:sldId id="421" r:id="rId14"/>
    <p:sldId id="422" r:id="rId15"/>
    <p:sldId id="423" r:id="rId16"/>
    <p:sldId id="424" r:id="rId17"/>
    <p:sldId id="439" r:id="rId18"/>
    <p:sldId id="441" r:id="rId19"/>
    <p:sldId id="425" r:id="rId20"/>
    <p:sldId id="426" r:id="rId21"/>
    <p:sldId id="427" r:id="rId22"/>
    <p:sldId id="428" r:id="rId23"/>
    <p:sldId id="444" r:id="rId24"/>
    <p:sldId id="429" r:id="rId25"/>
    <p:sldId id="443" r:id="rId26"/>
    <p:sldId id="442" r:id="rId27"/>
    <p:sldId id="370" r:id="rId28"/>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Times New Roman" panose="02020603050405020304" pitchFamily="18"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Times New Roman" panose="02020603050405020304" pitchFamily="18"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Times New Roman" panose="02020603050405020304" pitchFamily="18"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Times New Roman" panose="02020603050405020304"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FF5050"/>
    <a:srgbClr val="3333FF"/>
    <a:srgbClr val="0066FF"/>
    <a:srgbClr val="FF66CC"/>
    <a:srgbClr val="800000"/>
    <a:srgbClr val="00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0" autoAdjust="0"/>
    <p:restoredTop sz="78964" autoAdjust="0"/>
  </p:normalViewPr>
  <p:slideViewPr>
    <p:cSldViewPr>
      <p:cViewPr varScale="1">
        <p:scale>
          <a:sx n="64" d="100"/>
          <a:sy n="64" d="100"/>
        </p:scale>
        <p:origin x="13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lvl1pPr>
          </a:lstStyle>
          <a:p>
            <a:pPr>
              <a:defRPr/>
            </a:pPr>
            <a:endParaRPr lang="en-US"/>
          </a:p>
        </p:txBody>
      </p:sp>
      <p:sp>
        <p:nvSpPr>
          <p:cNvPr id="154627"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vl1pPr>
          </a:lstStyle>
          <a:p>
            <a:pPr>
              <a:defRPr/>
            </a:pPr>
            <a:endParaRPr lang="en-US"/>
          </a:p>
        </p:txBody>
      </p:sp>
      <p:sp>
        <p:nvSpPr>
          <p:cNvPr id="154628"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lvl1pPr>
          </a:lstStyle>
          <a:p>
            <a:pPr>
              <a:defRPr/>
            </a:pPr>
            <a:endParaRPr lang="en-US"/>
          </a:p>
        </p:txBody>
      </p:sp>
      <p:sp>
        <p:nvSpPr>
          <p:cNvPr id="154629"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vl1pPr>
          </a:lstStyle>
          <a:p>
            <a:pPr>
              <a:defRPr/>
            </a:pPr>
            <a:fld id="{1938D9B4-4E47-45CB-B0E7-AFA85C485AAA}" type="slidenum">
              <a:rPr lang="en-US" altLang="en-US"/>
              <a:pPr>
                <a:defRPr/>
              </a:pPr>
              <a:t>‹#›</a:t>
            </a:fld>
            <a:endParaRPr lang="en-US" altLang="en-US"/>
          </a:p>
        </p:txBody>
      </p:sp>
    </p:spTree>
    <p:extLst>
      <p:ext uri="{BB962C8B-B14F-4D97-AF65-F5344CB8AC3E}">
        <p14:creationId xmlns:p14="http://schemas.microsoft.com/office/powerpoint/2010/main" val="83229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4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lvl1pPr>
          </a:lstStyle>
          <a:p>
            <a:pPr>
              <a:defRPr/>
            </a:pPr>
            <a:endParaRPr lang="en-US"/>
          </a:p>
        </p:txBody>
      </p:sp>
      <p:sp>
        <p:nvSpPr>
          <p:cNvPr id="16384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vl1pPr>
          </a:lstStyle>
          <a:p>
            <a:pPr>
              <a:defRPr/>
            </a:pPr>
            <a:endParaRPr lang="en-US"/>
          </a:p>
        </p:txBody>
      </p:sp>
      <p:sp>
        <p:nvSpPr>
          <p:cNvPr id="819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84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lvl1pPr>
          </a:lstStyle>
          <a:p>
            <a:pPr>
              <a:defRPr/>
            </a:pPr>
            <a:endParaRPr lang="en-US"/>
          </a:p>
        </p:txBody>
      </p:sp>
      <p:sp>
        <p:nvSpPr>
          <p:cNvPr id="16384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vl1pPr>
          </a:lstStyle>
          <a:p>
            <a:pPr>
              <a:defRPr/>
            </a:pPr>
            <a:fld id="{C6728699-3588-43CD-9517-A5B406E46746}" type="slidenum">
              <a:rPr lang="en-US" altLang="en-US"/>
              <a:pPr>
                <a:defRPr/>
              </a:pPr>
              <a:t>‹#›</a:t>
            </a:fld>
            <a:endParaRPr lang="en-US" altLang="en-US"/>
          </a:p>
        </p:txBody>
      </p:sp>
    </p:spTree>
    <p:extLst>
      <p:ext uri="{BB962C8B-B14F-4D97-AF65-F5344CB8AC3E}">
        <p14:creationId xmlns:p14="http://schemas.microsoft.com/office/powerpoint/2010/main" val="41262382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6728699-3588-43CD-9517-A5B406E46746}" type="slidenum">
              <a:rPr lang="en-US" altLang="en-US" smtClean="0"/>
              <a:pPr>
                <a:defRPr/>
              </a:pPr>
              <a:t>1</a:t>
            </a:fld>
            <a:endParaRPr lang="en-US" altLang="en-US"/>
          </a:p>
        </p:txBody>
      </p:sp>
    </p:spTree>
    <p:extLst>
      <p:ext uri="{BB962C8B-B14F-4D97-AF65-F5344CB8AC3E}">
        <p14:creationId xmlns:p14="http://schemas.microsoft.com/office/powerpoint/2010/main" val="3172418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21AD5499-8CC3-4E60-94B7-ED25FD97F54A}"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0CA453BC-907F-4309-A456-EFC8BBBDA339}" type="slidenum">
              <a:rPr lang="en-US" altLang="en-US" smtClean="0"/>
              <a:pPr>
                <a:defRPr/>
              </a:pPr>
              <a:t>‹#›</a:t>
            </a:fld>
            <a:endParaRPr lang="en-US"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414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a:t>
            </a:fld>
            <a:endParaRPr lang="en-US" altLang="en-US"/>
          </a:p>
        </p:txBody>
      </p:sp>
    </p:spTree>
    <p:extLst>
      <p:ext uri="{BB962C8B-B14F-4D97-AF65-F5344CB8AC3E}">
        <p14:creationId xmlns:p14="http://schemas.microsoft.com/office/powerpoint/2010/main" val="3615583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56A30DB5-06E1-43DD-9616-9AC82D6B4E21}"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CAF984BB-7F1A-4A3D-970B-88045DC8A536}" type="slidenum">
              <a:rPr lang="en-US" altLang="en-US" smtClean="0"/>
              <a:pPr>
                <a:defRPr/>
              </a:pPr>
              <a:t>‹#›</a:t>
            </a:fld>
            <a:endParaRPr lang="en-US"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174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12383447-34C0-4E02-B44A-89F5B4558521}" type="datetime1">
              <a:rPr lang="en-US" smtClean="0"/>
              <a:t>12/5/2024</a:t>
            </a:fld>
            <a:endParaRPr lang="en-US"/>
          </a:p>
        </p:txBody>
      </p:sp>
      <p:sp>
        <p:nvSpPr>
          <p:cNvPr id="6" name="Footer Placeholder 5"/>
          <p:cNvSpPr>
            <a:spLocks noGrp="1"/>
          </p:cNvSpPr>
          <p:nvPr>
            <p:ph type="ftr" sz="quarter" idx="11"/>
          </p:nvPr>
        </p:nvSpPr>
        <p:spPr/>
        <p:txBody>
          <a:bodyPr/>
          <a:lstStyle/>
          <a:p>
            <a:pPr>
              <a:defRPr/>
            </a:pPr>
            <a:r>
              <a:rPr lang="en-US"/>
              <a:t>CSE494-Software Project Management</a:t>
            </a:r>
          </a:p>
        </p:txBody>
      </p:sp>
      <p:sp>
        <p:nvSpPr>
          <p:cNvPr id="7" name="Slide Number Placeholder 6"/>
          <p:cNvSpPr>
            <a:spLocks noGrp="1"/>
          </p:cNvSpPr>
          <p:nvPr>
            <p:ph type="sldNum" sz="quarter" idx="12"/>
          </p:nvPr>
        </p:nvSpPr>
        <p:spPr/>
        <p:txBody>
          <a:bodyPr/>
          <a:lstStyle/>
          <a:p>
            <a:pPr>
              <a:defRPr/>
            </a:pPr>
            <a:fld id="{67099909-FE1F-4037-888F-7BA56625E69C}" type="slidenum">
              <a:rPr lang="en-US" altLang="en-US" smtClean="0"/>
              <a:pPr>
                <a:defRPr/>
              </a:pPr>
              <a:t>‹#›</a:t>
            </a:fld>
            <a:endParaRPr lang="en-US" altLang="en-US"/>
          </a:p>
        </p:txBody>
      </p:sp>
    </p:spTree>
    <p:extLst>
      <p:ext uri="{BB962C8B-B14F-4D97-AF65-F5344CB8AC3E}">
        <p14:creationId xmlns:p14="http://schemas.microsoft.com/office/powerpoint/2010/main" val="2522810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695C2003-6A76-42C2-8293-7981AF13100E}" type="datetime1">
              <a:rPr lang="en-US" smtClean="0"/>
              <a:t>12/5/2024</a:t>
            </a:fld>
            <a:endParaRPr lang="en-US"/>
          </a:p>
        </p:txBody>
      </p:sp>
      <p:sp>
        <p:nvSpPr>
          <p:cNvPr id="8" name="Footer Placeholder 7"/>
          <p:cNvSpPr>
            <a:spLocks noGrp="1"/>
          </p:cNvSpPr>
          <p:nvPr>
            <p:ph type="ftr" sz="quarter" idx="11"/>
          </p:nvPr>
        </p:nvSpPr>
        <p:spPr/>
        <p:txBody>
          <a:bodyPr/>
          <a:lstStyle/>
          <a:p>
            <a:pPr>
              <a:defRPr/>
            </a:pPr>
            <a:r>
              <a:rPr lang="en-US"/>
              <a:t>CSE494-Software Project Management</a:t>
            </a:r>
          </a:p>
        </p:txBody>
      </p:sp>
      <p:sp>
        <p:nvSpPr>
          <p:cNvPr id="9" name="Slide Number Placeholder 8"/>
          <p:cNvSpPr>
            <a:spLocks noGrp="1"/>
          </p:cNvSpPr>
          <p:nvPr>
            <p:ph type="sldNum" sz="quarter" idx="12"/>
          </p:nvPr>
        </p:nvSpPr>
        <p:spPr/>
        <p:txBody>
          <a:bodyPr/>
          <a:lstStyle/>
          <a:p>
            <a:pPr>
              <a:defRPr/>
            </a:pPr>
            <a:fld id="{4E5959C5-43CA-459B-BDCC-5CE2BCF9AD93}" type="slidenum">
              <a:rPr lang="en-US" altLang="en-US" smtClean="0"/>
              <a:pPr>
                <a:defRPr/>
              </a:pPr>
              <a:t>‹#›</a:t>
            </a:fld>
            <a:endParaRPr lang="en-US" altLang="en-US"/>
          </a:p>
        </p:txBody>
      </p:sp>
    </p:spTree>
    <p:extLst>
      <p:ext uri="{BB962C8B-B14F-4D97-AF65-F5344CB8AC3E}">
        <p14:creationId xmlns:p14="http://schemas.microsoft.com/office/powerpoint/2010/main" val="2079069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95BF97BE-D951-4085-AF79-057E33729B8A}" type="datetime1">
              <a:rPr lang="en-US" smtClean="0"/>
              <a:t>12/5/2024</a:t>
            </a:fld>
            <a:endParaRPr lang="en-US"/>
          </a:p>
        </p:txBody>
      </p:sp>
      <p:sp>
        <p:nvSpPr>
          <p:cNvPr id="4" name="Footer Placeholder 3"/>
          <p:cNvSpPr>
            <a:spLocks noGrp="1"/>
          </p:cNvSpPr>
          <p:nvPr>
            <p:ph type="ftr" sz="quarter" idx="11"/>
          </p:nvPr>
        </p:nvSpPr>
        <p:spPr/>
        <p:txBody>
          <a:bodyPr/>
          <a:lstStyle/>
          <a:p>
            <a:pPr>
              <a:defRPr/>
            </a:pPr>
            <a:r>
              <a:rPr lang="en-US"/>
              <a:t>CSE494-Software Project Management</a:t>
            </a:r>
          </a:p>
        </p:txBody>
      </p:sp>
      <p:sp>
        <p:nvSpPr>
          <p:cNvPr id="5" name="Slide Number Placeholder 4"/>
          <p:cNvSpPr>
            <a:spLocks noGrp="1"/>
          </p:cNvSpPr>
          <p:nvPr>
            <p:ph type="sldNum" sz="quarter" idx="12"/>
          </p:nvPr>
        </p:nvSpPr>
        <p:spPr/>
        <p:txBody>
          <a:bodyPr/>
          <a:lstStyle/>
          <a:p>
            <a:pPr>
              <a:defRPr/>
            </a:pPr>
            <a:fld id="{1A4EC3CF-E704-4A1F-A192-5F9B890C6330}" type="slidenum">
              <a:rPr lang="en-US" altLang="en-US" smtClean="0"/>
              <a:pPr>
                <a:defRPr/>
              </a:pPr>
              <a:t>‹#›</a:t>
            </a:fld>
            <a:endParaRPr lang="en-US" altLang="en-US"/>
          </a:p>
        </p:txBody>
      </p:sp>
    </p:spTree>
    <p:extLst>
      <p:ext uri="{BB962C8B-B14F-4D97-AF65-F5344CB8AC3E}">
        <p14:creationId xmlns:p14="http://schemas.microsoft.com/office/powerpoint/2010/main" val="2821000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412A15AB-346B-4DDE-9CFC-20AC7D49A222}" type="datetime1">
              <a:rPr lang="en-US" smtClean="0"/>
              <a:t>12/5/2024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r>
              <a:rPr lang="en-US"/>
              <a:t>CSE494-Software Project Management</a:t>
            </a:r>
          </a:p>
        </p:txBody>
      </p:sp>
      <p:sp>
        <p:nvSpPr>
          <p:cNvPr id="9" name="Slide Number Placeholder 8"/>
          <p:cNvSpPr>
            <a:spLocks noGrp="1"/>
          </p:cNvSpPr>
          <p:nvPr>
            <p:ph type="sldNum" sz="quarter" idx="12"/>
          </p:nvPr>
        </p:nvSpPr>
        <p:spPr/>
        <p:txBody>
          <a:bodyPr/>
          <a:lstStyle/>
          <a:p>
            <a:pPr>
              <a:defRPr/>
            </a:pPr>
            <a:fld id="{72166C2C-6027-4FE3-B0ED-67FA033D8EC8}" type="slidenum">
              <a:rPr lang="en-US" altLang="en-US" smtClean="0"/>
              <a:pPr>
                <a:defRPr/>
              </a:pPr>
              <a:t>‹#›</a:t>
            </a:fld>
            <a:endParaRPr lang="en-US" altLang="en-US"/>
          </a:p>
        </p:txBody>
      </p:sp>
    </p:spTree>
    <p:extLst>
      <p:ext uri="{BB962C8B-B14F-4D97-AF65-F5344CB8AC3E}">
        <p14:creationId xmlns:p14="http://schemas.microsoft.com/office/powerpoint/2010/main" val="1547188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fld id="{0324BBCA-A18D-4AE6-8BE6-368DC5BE512F}" type="datetime1">
              <a:rPr lang="en-US" smtClean="0"/>
              <a:t>12/5/2024</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r>
              <a:rPr lang="en-US"/>
              <a:t>CSE494-Software Project Management</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60FC9F50-7C60-4A35-AE2F-559F4C03D653}" type="slidenum">
              <a:rPr lang="en-US" altLang="en-US" smtClean="0"/>
              <a:pPr>
                <a:defRPr/>
              </a:pPr>
              <a:t>‹#›</a:t>
            </a:fld>
            <a:endParaRPr lang="en-US" altLang="en-US"/>
          </a:p>
        </p:txBody>
      </p:sp>
    </p:spTree>
    <p:extLst>
      <p:ext uri="{BB962C8B-B14F-4D97-AF65-F5344CB8AC3E}">
        <p14:creationId xmlns:p14="http://schemas.microsoft.com/office/powerpoint/2010/main" val="3083261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AC47ECD-3DEE-40B5-B6CF-FD2583C62D03}" type="datetime1">
              <a:rPr lang="en-US" smtClean="0"/>
              <a:t>12/5/2024</a:t>
            </a:fld>
            <a:endParaRPr lang="en-US"/>
          </a:p>
        </p:txBody>
      </p:sp>
      <p:sp>
        <p:nvSpPr>
          <p:cNvPr id="6" name="Footer Placeholder 5"/>
          <p:cNvSpPr>
            <a:spLocks noGrp="1"/>
          </p:cNvSpPr>
          <p:nvPr>
            <p:ph type="ftr" sz="quarter" idx="11"/>
          </p:nvPr>
        </p:nvSpPr>
        <p:spPr/>
        <p:txBody>
          <a:bodyPr/>
          <a:lstStyle/>
          <a:p>
            <a:pPr>
              <a:defRPr/>
            </a:pPr>
            <a:r>
              <a:rPr lang="en-US"/>
              <a:t>CSE494-Software Project Management</a:t>
            </a:r>
          </a:p>
        </p:txBody>
      </p:sp>
      <p:sp>
        <p:nvSpPr>
          <p:cNvPr id="7" name="Slide Number Placeholder 6"/>
          <p:cNvSpPr>
            <a:spLocks noGrp="1"/>
          </p:cNvSpPr>
          <p:nvPr>
            <p:ph type="sldNum" sz="quarter" idx="12"/>
          </p:nvPr>
        </p:nvSpPr>
        <p:spPr/>
        <p:txBody>
          <a:bodyPr/>
          <a:lstStyle/>
          <a:p>
            <a:pPr>
              <a:defRPr/>
            </a:pPr>
            <a:fld id="{0EC30936-8E7F-4FB2-8C83-FF7115F4EB66}" type="slidenum">
              <a:rPr lang="en-US" altLang="en-US" smtClean="0"/>
              <a:pPr>
                <a:defRPr/>
              </a:pPr>
              <a:t>‹#›</a:t>
            </a:fld>
            <a:endParaRPr lang="en-US" altLang="en-US"/>
          </a:p>
        </p:txBody>
      </p:sp>
    </p:spTree>
    <p:extLst>
      <p:ext uri="{BB962C8B-B14F-4D97-AF65-F5344CB8AC3E}">
        <p14:creationId xmlns:p14="http://schemas.microsoft.com/office/powerpoint/2010/main" val="427296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EDA4246-1FCA-4E12-9D0C-A225AC41F0C5}"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0CB0802F-F6B7-4760-B34A-C45E6D92473C}" type="slidenum">
              <a:rPr lang="en-US" altLang="en-US" smtClean="0"/>
              <a:pPr>
                <a:defRPr/>
              </a:pPr>
              <a:t>‹#›</a:t>
            </a:fld>
            <a:endParaRPr lang="en-US" altLang="en-US"/>
          </a:p>
        </p:txBody>
      </p:sp>
    </p:spTree>
    <p:extLst>
      <p:ext uri="{BB962C8B-B14F-4D97-AF65-F5344CB8AC3E}">
        <p14:creationId xmlns:p14="http://schemas.microsoft.com/office/powerpoint/2010/main" val="272213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D432C2A9-2D89-41C8-9C03-D24E85C1C07D}"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a:t>CSE494-Software Project Management</a:t>
            </a:r>
          </a:p>
        </p:txBody>
      </p:sp>
      <p:sp>
        <p:nvSpPr>
          <p:cNvPr id="6" name="Slide Number Placeholder 5"/>
          <p:cNvSpPr>
            <a:spLocks noGrp="1"/>
          </p:cNvSpPr>
          <p:nvPr>
            <p:ph type="sldNum" sz="quarter" idx="12"/>
          </p:nvPr>
        </p:nvSpPr>
        <p:spPr/>
        <p:txBody>
          <a:bodyPr/>
          <a:lstStyle/>
          <a:p>
            <a:pPr>
              <a:defRPr/>
            </a:pPr>
            <a:fld id="{CACC0081-843F-48E8-97F4-68298949AB6E}" type="slidenum">
              <a:rPr lang="en-US" altLang="en-US" smtClean="0"/>
              <a:pPr>
                <a:defRPr/>
              </a:pPr>
              <a:t>‹#›</a:t>
            </a:fld>
            <a:endParaRPr lang="en-US" altLang="en-US"/>
          </a:p>
        </p:txBody>
      </p:sp>
    </p:spTree>
    <p:extLst>
      <p:ext uri="{BB962C8B-B14F-4D97-AF65-F5344CB8AC3E}">
        <p14:creationId xmlns:p14="http://schemas.microsoft.com/office/powerpoint/2010/main" val="1009015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fld id="{09EF6CAC-58E0-43DC-9A6B-D26C317D9507}" type="datetime1">
              <a:rPr lang="en-US" smtClean="0"/>
              <a:t>12/5/2024</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a:t>CSE494-Software Project Management</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FD2E2015-F004-4287-9F32-C17CF65DB7C6}" type="slidenum">
              <a:rPr lang="en-US" altLang="en-US" smtClean="0"/>
              <a:pPr>
                <a:defRPr/>
              </a:pPr>
              <a:t>‹#›</a:t>
            </a:fld>
            <a:endParaRPr lang="en-US" alt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438921"/>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eaLnBrk="1" hangingPunct="1">
              <a:defRPr/>
            </a:pPr>
            <a:r>
              <a:rPr lang="en-US" altLang="en-US" sz="5400" b="1" dirty="0" smtClean="0">
                <a:solidFill>
                  <a:schemeClr val="tx1">
                    <a:lumMod val="75000"/>
                    <a:lumOff val="25000"/>
                  </a:schemeClr>
                </a:solidFill>
              </a:rPr>
              <a:t>Project Risk </a:t>
            </a:r>
            <a:r>
              <a:rPr lang="en-US" altLang="en-US" sz="5400" b="1" dirty="0">
                <a:solidFill>
                  <a:schemeClr val="tx1">
                    <a:lumMod val="75000"/>
                    <a:lumOff val="25000"/>
                  </a:schemeClr>
                </a:solidFill>
              </a:rPr>
              <a:t>Management</a:t>
            </a:r>
            <a:endParaRPr lang="en-US" sz="5400" b="1" dirty="0"/>
          </a:p>
        </p:txBody>
      </p:sp>
      <p:sp>
        <p:nvSpPr>
          <p:cNvPr id="4" name="Date Placeholder 3"/>
          <p:cNvSpPr>
            <a:spLocks noGrp="1"/>
          </p:cNvSpPr>
          <p:nvPr>
            <p:ph type="dt" sz="half" idx="10"/>
          </p:nvPr>
        </p:nvSpPr>
        <p:spPr/>
        <p:txBody>
          <a:bodyPr/>
          <a:lstStyle/>
          <a:p>
            <a:pPr>
              <a:defRPr/>
            </a:pPr>
            <a:fld id="{3751B0BC-EBA2-4F8A-8879-10FEC6C1E813}" type="datetime1">
              <a:rPr lang="en-US" smtClean="0"/>
              <a:t>12/5/2024</a:t>
            </a:fld>
            <a:endParaRPr lang="en-US"/>
          </a:p>
        </p:txBody>
      </p:sp>
      <p:sp>
        <p:nvSpPr>
          <p:cNvPr id="5" name="Slide Number Placeholder 4"/>
          <p:cNvSpPr>
            <a:spLocks noGrp="1"/>
          </p:cNvSpPr>
          <p:nvPr>
            <p:ph type="sldNum" sz="quarter" idx="12"/>
          </p:nvPr>
        </p:nvSpPr>
        <p:spPr/>
        <p:txBody>
          <a:bodyPr/>
          <a:lstStyle/>
          <a:p>
            <a:pPr>
              <a:defRPr/>
            </a:pPr>
            <a:fld id="{0CA453BC-907F-4309-A456-EFC8BBBDA339}" type="slidenum">
              <a:rPr lang="en-US" altLang="en-US" smtClean="0"/>
              <a:pPr>
                <a:defRPr/>
              </a:pPr>
              <a:t>1</a:t>
            </a:fld>
            <a:endParaRPr lang="en-US" altLang="en-US"/>
          </a:p>
        </p:txBody>
      </p:sp>
      <p:sp>
        <p:nvSpPr>
          <p:cNvPr id="6" name="Footer Placeholder 5">
            <a:extLst>
              <a:ext uri="{FF2B5EF4-FFF2-40B4-BE49-F238E27FC236}">
                <a16:creationId xmlns:a16="http://schemas.microsoft.com/office/drawing/2014/main" id="{EDC1C37F-725D-4BD9-B68E-5891A4D455DC}"/>
              </a:ext>
            </a:extLst>
          </p:cNvPr>
          <p:cNvSpPr>
            <a:spLocks noGrp="1"/>
          </p:cNvSpPr>
          <p:nvPr>
            <p:ph type="ftr" sz="quarter" idx="11"/>
          </p:nvPr>
        </p:nvSpPr>
        <p:spPr/>
        <p:txBody>
          <a:bodyPr/>
          <a:lstStyle/>
          <a:p>
            <a:pPr>
              <a:defRPr/>
            </a:pPr>
            <a:r>
              <a:rPr lang="en-US"/>
              <a:t>CSE494-Software Project Management</a:t>
            </a:r>
            <a:endParaRPr lang="en-US" dirty="0"/>
          </a:p>
        </p:txBody>
      </p:sp>
      <p:sp>
        <p:nvSpPr>
          <p:cNvPr id="9" name="Subtitle 1">
            <a:extLst>
              <a:ext uri="{FF2B5EF4-FFF2-40B4-BE49-F238E27FC236}">
                <a16:creationId xmlns:a16="http://schemas.microsoft.com/office/drawing/2014/main" id="{0C3F8AD3-BD59-4867-A70B-465011E1EF13}"/>
              </a:ext>
            </a:extLst>
          </p:cNvPr>
          <p:cNvSpPr txBox="1">
            <a:spLocks/>
          </p:cNvSpPr>
          <p:nvPr/>
        </p:nvSpPr>
        <p:spPr>
          <a:xfrm>
            <a:off x="762000" y="4325112"/>
            <a:ext cx="7543800" cy="179277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fontAlgn="auto"/>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t>2 </a:t>
            </a:r>
            <a:r>
              <a:rPr lang="en-GB" sz="3200" b="1" dirty="0" smtClean="0"/>
              <a:t>IDENTIFY RISKS</a:t>
            </a:r>
            <a:endParaRPr lang="en-GB" sz="3200" b="1" dirty="0"/>
          </a:p>
        </p:txBody>
      </p:sp>
      <p:sp>
        <p:nvSpPr>
          <p:cNvPr id="3" name="Content Placeholder 2"/>
          <p:cNvSpPr>
            <a:spLocks noGrp="1"/>
          </p:cNvSpPr>
          <p:nvPr>
            <p:ph idx="1"/>
          </p:nvPr>
        </p:nvSpPr>
        <p:spPr/>
        <p:txBody>
          <a:bodyPr/>
          <a:lstStyle/>
          <a:p>
            <a:r>
              <a:rPr lang="en-US" dirty="0"/>
              <a:t>Identify Risks is the process of </a:t>
            </a:r>
            <a:r>
              <a:rPr lang="en-US" b="1" dirty="0"/>
              <a:t>identifying individual project risks </a:t>
            </a:r>
            <a:r>
              <a:rPr lang="en-US" dirty="0"/>
              <a:t>as well as</a:t>
            </a:r>
            <a:r>
              <a:rPr lang="en-US" b="1" dirty="0"/>
              <a:t> sources of overall project risk</a:t>
            </a:r>
            <a:r>
              <a:rPr lang="en-US" dirty="0"/>
              <a:t>, and </a:t>
            </a:r>
            <a:r>
              <a:rPr lang="en-US" b="1" dirty="0"/>
              <a:t>documenting their characteristics</a:t>
            </a:r>
            <a:r>
              <a:rPr lang="en-US" b="1" dirty="0" smtClean="0"/>
              <a:t>.</a:t>
            </a:r>
          </a:p>
          <a:p>
            <a:endParaRPr lang="en-GB"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a:t>
            </a:fld>
            <a:endParaRPr lang="en-US" altLang="en-US"/>
          </a:p>
        </p:txBody>
      </p:sp>
      <p:pic>
        <p:nvPicPr>
          <p:cNvPr id="7" name="Picture 6"/>
          <p:cNvPicPr>
            <a:picLocks noChangeAspect="1"/>
          </p:cNvPicPr>
          <p:nvPr/>
        </p:nvPicPr>
        <p:blipFill>
          <a:blip r:embed="rId2"/>
          <a:stretch>
            <a:fillRect/>
          </a:stretch>
        </p:blipFill>
        <p:spPr>
          <a:xfrm>
            <a:off x="457200" y="2819400"/>
            <a:ext cx="7924800" cy="3581900"/>
          </a:xfrm>
          <a:prstGeom prst="rect">
            <a:avLst/>
          </a:prstGeom>
        </p:spPr>
      </p:pic>
    </p:spTree>
    <p:extLst>
      <p:ext uri="{BB962C8B-B14F-4D97-AF65-F5344CB8AC3E}">
        <p14:creationId xmlns:p14="http://schemas.microsoft.com/office/powerpoint/2010/main" val="29561878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SWOT Analysis</a:t>
            </a:r>
            <a:endParaRPr lang="en-GB" sz="3200" b="1" dirty="0"/>
          </a:p>
        </p:txBody>
      </p:sp>
      <p:sp>
        <p:nvSpPr>
          <p:cNvPr id="3" name="Content Placeholder 2"/>
          <p:cNvSpPr>
            <a:spLocks noGrp="1"/>
          </p:cNvSpPr>
          <p:nvPr>
            <p:ph idx="1"/>
          </p:nvPr>
        </p:nvSpPr>
        <p:spPr/>
        <p:txBody>
          <a:bodyPr>
            <a:normAutofit fontScale="92500" lnSpcReduction="20000"/>
          </a:bodyPr>
          <a:lstStyle/>
          <a:p>
            <a:r>
              <a:rPr lang="en-GB" sz="1900" dirty="0"/>
              <a:t>SWOT Analysis is a strategic tool used in project risk management to </a:t>
            </a:r>
            <a:r>
              <a:rPr lang="en-GB" sz="1900" b="1" dirty="0"/>
              <a:t>identify and </a:t>
            </a:r>
            <a:r>
              <a:rPr lang="en-GB" sz="1900" b="1" dirty="0" smtClean="0"/>
              <a:t>analyse </a:t>
            </a:r>
            <a:r>
              <a:rPr lang="en-GB" sz="1900" b="1" dirty="0"/>
              <a:t>the Strengths, Weaknesses, Opportunities, and Threats associated with a project or organization. </a:t>
            </a:r>
            <a:endParaRPr lang="en-GB" sz="1900" b="1" dirty="0" smtClean="0"/>
          </a:p>
          <a:p>
            <a:r>
              <a:rPr lang="en-GB" sz="1900" dirty="0"/>
              <a:t>It helps teams evaluate internal and external factors that could impact the project's success</a:t>
            </a:r>
            <a:r>
              <a:rPr lang="en-GB" sz="1900" dirty="0" smtClean="0"/>
              <a:t>.</a:t>
            </a:r>
          </a:p>
          <a:p>
            <a:r>
              <a:rPr lang="en-GB" sz="1900" b="1" dirty="0"/>
              <a:t>Components of SWOT </a:t>
            </a:r>
            <a:r>
              <a:rPr lang="en-GB" sz="1900" b="1" dirty="0" smtClean="0"/>
              <a:t>Analysis:</a:t>
            </a:r>
            <a:endParaRPr lang="en-GB" sz="1900" b="1" dirty="0"/>
          </a:p>
          <a:p>
            <a:r>
              <a:rPr lang="en-GB" sz="1900" b="1" dirty="0"/>
              <a:t> </a:t>
            </a:r>
            <a:r>
              <a:rPr lang="en-GB" sz="1900" dirty="0" smtClean="0"/>
              <a:t>1</a:t>
            </a:r>
            <a:r>
              <a:rPr lang="en-GB" sz="1900" dirty="0"/>
              <a:t>. Strengths: Internal attributes that give the project an advantage (e.g., skilled team, robust tools</a:t>
            </a:r>
            <a:r>
              <a:rPr lang="en-GB" sz="1900" dirty="0" smtClean="0"/>
              <a:t>).</a:t>
            </a:r>
          </a:p>
          <a:p>
            <a:r>
              <a:rPr lang="en-GB" sz="1900" dirty="0"/>
              <a:t>2. Weaknesses: Internal attributes that could hinder the project's success (e.g., lack of resources, skill gaps</a:t>
            </a:r>
            <a:r>
              <a:rPr lang="en-GB" sz="1900" dirty="0" smtClean="0"/>
              <a:t>).</a:t>
            </a:r>
          </a:p>
          <a:p>
            <a:r>
              <a:rPr lang="en-GB" sz="1900" dirty="0"/>
              <a:t>3. Opportunities: External factors or trends that the project can capitalize on (e.g., new market demand, emerging technologies</a:t>
            </a:r>
            <a:r>
              <a:rPr lang="en-GB" sz="1900" dirty="0" smtClean="0"/>
              <a:t>).</a:t>
            </a:r>
          </a:p>
          <a:p>
            <a:r>
              <a:rPr lang="en-GB" sz="1900" dirty="0"/>
              <a:t>4. Threats: External factors that could pose risks (e.g</a:t>
            </a:r>
            <a:r>
              <a:rPr lang="en-GB" sz="1900" dirty="0" smtClean="0"/>
              <a:t>. </a:t>
            </a:r>
            <a:r>
              <a:rPr lang="en-GB" sz="1900" dirty="0"/>
              <a:t>regulatory changes).</a:t>
            </a:r>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3</a:t>
            </a:fld>
            <a:endParaRPr lang="en-US" altLang="en-US"/>
          </a:p>
        </p:txBody>
      </p:sp>
    </p:spTree>
    <p:extLst>
      <p:ext uri="{BB962C8B-B14F-4D97-AF65-F5344CB8AC3E}">
        <p14:creationId xmlns:p14="http://schemas.microsoft.com/office/powerpoint/2010/main" val="21441792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SWOT Analysis</a:t>
            </a:r>
            <a:endParaRPr lang="en-GB" sz="3200" dirty="0"/>
          </a:p>
        </p:txBody>
      </p:sp>
      <p:pic>
        <p:nvPicPr>
          <p:cNvPr id="7" name="Content Placeholder 6"/>
          <p:cNvPicPr>
            <a:picLocks noGrp="1" noChangeAspect="1"/>
          </p:cNvPicPr>
          <p:nvPr>
            <p:ph idx="1"/>
          </p:nvPr>
        </p:nvPicPr>
        <p:blipFill rotWithShape="1">
          <a:blip r:embed="rId2"/>
          <a:srcRect l="1835"/>
          <a:stretch/>
        </p:blipFill>
        <p:spPr>
          <a:xfrm>
            <a:off x="609600" y="1981104"/>
            <a:ext cx="8153400" cy="4267296"/>
          </a:xfrm>
          <a:prstGeom prst="rect">
            <a:avLst/>
          </a:prstGeom>
        </p:spPr>
      </p:pic>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4</a:t>
            </a:fld>
            <a:endParaRPr lang="en-US" altLang="en-US"/>
          </a:p>
        </p:txBody>
      </p:sp>
    </p:spTree>
    <p:extLst>
      <p:ext uri="{BB962C8B-B14F-4D97-AF65-F5344CB8AC3E}">
        <p14:creationId xmlns:p14="http://schemas.microsoft.com/office/powerpoint/2010/main" val="1319413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b="1" dirty="0"/>
              <a:t>Case Study: </a:t>
            </a:r>
            <a:r>
              <a:rPr lang="en-GB" sz="2800" b="1" dirty="0" err="1"/>
              <a:t>TechCore</a:t>
            </a:r>
            <a:r>
              <a:rPr lang="en-GB" sz="2800" b="1" dirty="0"/>
              <a:t> Solutions' E-learning Platform</a:t>
            </a:r>
          </a:p>
        </p:txBody>
      </p:sp>
      <p:sp>
        <p:nvSpPr>
          <p:cNvPr id="3" name="Content Placeholder 2"/>
          <p:cNvSpPr>
            <a:spLocks noGrp="1"/>
          </p:cNvSpPr>
          <p:nvPr>
            <p:ph idx="1"/>
          </p:nvPr>
        </p:nvSpPr>
        <p:spPr/>
        <p:txBody>
          <a:bodyPr>
            <a:normAutofit/>
          </a:bodyPr>
          <a:lstStyle/>
          <a:p>
            <a:pPr algn="just"/>
            <a:r>
              <a:rPr lang="en-GB" sz="1800" dirty="0" err="1" smtClean="0"/>
              <a:t>TechCore</a:t>
            </a:r>
            <a:r>
              <a:rPr lang="en-GB" sz="1800" dirty="0" smtClean="0"/>
              <a:t> </a:t>
            </a:r>
            <a:r>
              <a:rPr lang="en-GB" sz="1800" dirty="0"/>
              <a:t>Solutions, a </a:t>
            </a:r>
            <a:r>
              <a:rPr lang="en-GB" sz="1800" dirty="0" smtClean="0"/>
              <a:t>start up </a:t>
            </a:r>
            <a:r>
              <a:rPr lang="en-GB" sz="1800" dirty="0"/>
              <a:t>specializing in technology-driven education, is developing an innovative AI-driven E-learning Platform designed </a:t>
            </a:r>
            <a:r>
              <a:rPr lang="en-GB" sz="1800" dirty="0" smtClean="0"/>
              <a:t>to transform </a:t>
            </a:r>
            <a:r>
              <a:rPr lang="en-GB" sz="1800" dirty="0"/>
              <a:t>personalized learning. The platform </a:t>
            </a:r>
            <a:r>
              <a:rPr lang="en-GB" sz="1800" dirty="0" smtClean="0"/>
              <a:t>analyses </a:t>
            </a:r>
            <a:r>
              <a:rPr lang="en-GB" sz="1800" dirty="0"/>
              <a:t>students’ learning patterns using advanced AI algorithms to deliver tailored content, gamified assessments, and real-time performance tracking. Collaborating closely with experienced educators, the development team aims to ensure high-quality and engaging educational content</a:t>
            </a:r>
            <a:r>
              <a:rPr lang="en-GB" sz="1800" dirty="0" smtClean="0"/>
              <a:t>.</a:t>
            </a:r>
          </a:p>
          <a:p>
            <a:pPr algn="just"/>
            <a:r>
              <a:rPr lang="en-GB" sz="1800" dirty="0" smtClean="0"/>
              <a:t>However</a:t>
            </a:r>
            <a:r>
              <a:rPr lang="en-GB" sz="1800" dirty="0"/>
              <a:t>, the project faces challenges. With limited financial resources, the company struggles to allocate sufficient funds for extensive testing and marketing. Additionally, the </a:t>
            </a:r>
            <a:r>
              <a:rPr lang="en-GB" sz="1800" dirty="0" err="1"/>
              <a:t>startup</a:t>
            </a:r>
            <a:r>
              <a:rPr lang="en-GB" sz="1800" dirty="0"/>
              <a:t> is working under a tight timeline, creating pressure on the team and increasing the risk of burnout. While the development team is highly skilled in AI technologies, they lack experience with large-scale platform deployment, which could impact scalability during launch</a:t>
            </a:r>
            <a:r>
              <a:rPr lang="en-GB" sz="1800" dirty="0" smtClean="0"/>
              <a:t>.</a:t>
            </a:r>
          </a:p>
          <a:p>
            <a:pPr algn="just"/>
            <a:endParaRPr lang="en-GB" sz="1600"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5</a:t>
            </a:fld>
            <a:endParaRPr lang="en-US" altLang="en-US"/>
          </a:p>
        </p:txBody>
      </p:sp>
    </p:spTree>
    <p:extLst>
      <p:ext uri="{BB962C8B-B14F-4D97-AF65-F5344CB8AC3E}">
        <p14:creationId xmlns:p14="http://schemas.microsoft.com/office/powerpoint/2010/main" val="31676861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b="1" dirty="0"/>
              <a:t>Case Study: </a:t>
            </a:r>
            <a:r>
              <a:rPr lang="en-GB" sz="2800" b="1" dirty="0" err="1"/>
              <a:t>TechCore</a:t>
            </a:r>
            <a:r>
              <a:rPr lang="en-GB" sz="2800" b="1" dirty="0"/>
              <a:t> Solutions' E-learning Platform</a:t>
            </a:r>
            <a:endParaRPr lang="en-GB" sz="2800" dirty="0"/>
          </a:p>
        </p:txBody>
      </p:sp>
      <p:sp>
        <p:nvSpPr>
          <p:cNvPr id="3" name="Content Placeholder 2"/>
          <p:cNvSpPr>
            <a:spLocks noGrp="1"/>
          </p:cNvSpPr>
          <p:nvPr>
            <p:ph idx="1"/>
          </p:nvPr>
        </p:nvSpPr>
        <p:spPr/>
        <p:txBody>
          <a:bodyPr>
            <a:normAutofit/>
          </a:bodyPr>
          <a:lstStyle/>
          <a:p>
            <a:pPr algn="just"/>
            <a:r>
              <a:rPr lang="en-GB" sz="1800" dirty="0"/>
              <a:t>Despite these internal challenges, the project is entering a promising market. Post-pandemic, there has been a surge in demand for e-learning platforms, with schools and universities seeking digital solutions. </a:t>
            </a:r>
            <a:r>
              <a:rPr lang="en-GB" sz="1800" dirty="0" err="1"/>
              <a:t>TechCore</a:t>
            </a:r>
            <a:r>
              <a:rPr lang="en-GB" sz="1800" dirty="0"/>
              <a:t> has an opportunity to partner with educational institutions and potentially secure government support for digital education initiatives. There is also increasing interest in gamified learning, which aligns perfectly with the platform’s features</a:t>
            </a:r>
            <a:r>
              <a:rPr lang="en-GB" sz="1800" dirty="0" smtClean="0"/>
              <a:t>.</a:t>
            </a:r>
          </a:p>
          <a:p>
            <a:pPr algn="just"/>
            <a:r>
              <a:rPr lang="en-GB" sz="1800" dirty="0" smtClean="0"/>
              <a:t>On </a:t>
            </a:r>
            <a:r>
              <a:rPr lang="en-GB" sz="1800" dirty="0"/>
              <a:t>the other hand, the market is competitive, with established players like Coursera and Khan Academy dominating the space. These competitors have strong brand recognition and established user bases, making it challenging for </a:t>
            </a:r>
            <a:r>
              <a:rPr lang="en-GB" sz="1800" dirty="0" err="1"/>
              <a:t>TechCore</a:t>
            </a:r>
            <a:r>
              <a:rPr lang="en-GB" sz="1800" dirty="0"/>
              <a:t> to gain traction. Additionally, the fast-paced advancements in AI technology pose a risk of </a:t>
            </a:r>
            <a:r>
              <a:rPr lang="en-GB" sz="1800" dirty="0" smtClean="0"/>
              <a:t>obsolescence, and concerns about data privacy for students’ personal information could </a:t>
            </a:r>
            <a:r>
              <a:rPr lang="en-GB" sz="1800" dirty="0"/>
              <a:t>lead to regulatory challenges</a:t>
            </a:r>
            <a:r>
              <a:rPr lang="en-GB" sz="1800" dirty="0" smtClean="0"/>
              <a:t>.</a:t>
            </a:r>
          </a:p>
          <a:p>
            <a:pPr algn="just"/>
            <a:r>
              <a:rPr lang="en-GB" b="1" dirty="0"/>
              <a:t>Perform a SWOT Analysis based on the case study.</a:t>
            </a:r>
            <a:endParaRPr lang="en-GB" sz="1800"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6</a:t>
            </a:fld>
            <a:endParaRPr lang="en-US" altLang="en-US"/>
          </a:p>
        </p:txBody>
      </p:sp>
    </p:spTree>
    <p:extLst>
      <p:ext uri="{BB962C8B-B14F-4D97-AF65-F5344CB8AC3E}">
        <p14:creationId xmlns:p14="http://schemas.microsoft.com/office/powerpoint/2010/main" val="2403242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Solution</a:t>
            </a:r>
            <a:endParaRPr lang="en-GB" sz="3200" b="1" dirty="0"/>
          </a:p>
        </p:txBody>
      </p:sp>
      <p:sp>
        <p:nvSpPr>
          <p:cNvPr id="14" name="Content Placeholder 13"/>
          <p:cNvSpPr>
            <a:spLocks noGrp="1"/>
          </p:cNvSpPr>
          <p:nvPr>
            <p:ph sz="half" idx="1"/>
          </p:nvPr>
        </p:nvSpPr>
        <p:spPr/>
        <p:txBody>
          <a:bodyPr>
            <a:normAutofit fontScale="77500" lnSpcReduction="20000"/>
          </a:bodyPr>
          <a:lstStyle/>
          <a:p>
            <a:r>
              <a:rPr lang="en-US" b="1" dirty="0"/>
              <a:t>Strengths:</a:t>
            </a:r>
          </a:p>
          <a:p>
            <a:pPr>
              <a:buFont typeface="Wingdings" panose="05000000000000000000" pitchFamily="2" charset="2"/>
              <a:buChar char="§"/>
            </a:pPr>
            <a:r>
              <a:rPr lang="en-US" dirty="0"/>
              <a:t> Skilled AI Team</a:t>
            </a:r>
          </a:p>
          <a:p>
            <a:pPr>
              <a:buFont typeface="Wingdings" panose="05000000000000000000" pitchFamily="2" charset="2"/>
              <a:buChar char="§"/>
            </a:pPr>
            <a:r>
              <a:rPr lang="en-US" dirty="0"/>
              <a:t>Unique AI- Driven Personalization features such as tailored content and gamified assessment.</a:t>
            </a:r>
          </a:p>
          <a:p>
            <a:pPr>
              <a:buFont typeface="Wingdings" panose="05000000000000000000" pitchFamily="2" charset="2"/>
              <a:buChar char="§"/>
            </a:pPr>
            <a:r>
              <a:rPr lang="en-US" dirty="0"/>
              <a:t>Strong Collaboration with experienced educators ensuring high quality content.</a:t>
            </a:r>
          </a:p>
          <a:p>
            <a:pPr>
              <a:buFont typeface="Wingdings" panose="05000000000000000000" pitchFamily="2" charset="2"/>
              <a:buChar char="§"/>
            </a:pPr>
            <a:r>
              <a:rPr lang="en-US" dirty="0"/>
              <a:t>Passionate leadership team committed to innovation.</a:t>
            </a:r>
          </a:p>
          <a:p>
            <a:pPr marL="0" indent="0">
              <a:buNone/>
            </a:pPr>
            <a:r>
              <a:rPr lang="en-US" b="1" dirty="0"/>
              <a:t>Weaknesses:</a:t>
            </a:r>
          </a:p>
          <a:p>
            <a:pPr>
              <a:buFont typeface="Wingdings" panose="05000000000000000000" pitchFamily="2" charset="2"/>
              <a:buChar char="§"/>
            </a:pPr>
            <a:r>
              <a:rPr lang="en-US" dirty="0"/>
              <a:t> Limited Financial Resources</a:t>
            </a:r>
          </a:p>
          <a:p>
            <a:pPr>
              <a:buFont typeface="Wingdings" panose="05000000000000000000" pitchFamily="2" charset="2"/>
              <a:buChar char="§"/>
            </a:pPr>
            <a:r>
              <a:rPr lang="en-US" dirty="0"/>
              <a:t>Tight Project Deadline</a:t>
            </a:r>
          </a:p>
          <a:p>
            <a:pPr>
              <a:buFont typeface="Wingdings" panose="05000000000000000000" pitchFamily="2" charset="2"/>
              <a:buChar char="§"/>
            </a:pPr>
            <a:r>
              <a:rPr lang="en-US" dirty="0"/>
              <a:t>Lack of experience in scaling AI based Platforms for large audience</a:t>
            </a:r>
          </a:p>
          <a:p>
            <a:pPr marL="0" indent="0">
              <a:buNone/>
            </a:pPr>
            <a:endParaRPr lang="en-GB" b="1" dirty="0"/>
          </a:p>
        </p:txBody>
      </p:sp>
      <p:sp>
        <p:nvSpPr>
          <p:cNvPr id="15" name="Content Placeholder 14"/>
          <p:cNvSpPr>
            <a:spLocks noGrp="1"/>
          </p:cNvSpPr>
          <p:nvPr>
            <p:ph sz="half" idx="2"/>
          </p:nvPr>
        </p:nvSpPr>
        <p:spPr/>
        <p:txBody>
          <a:bodyPr>
            <a:normAutofit fontScale="77500" lnSpcReduction="20000"/>
          </a:bodyPr>
          <a:lstStyle/>
          <a:p>
            <a:r>
              <a:rPr lang="en-US" b="1" dirty="0" smtClean="0"/>
              <a:t>Opportunities:</a:t>
            </a:r>
            <a:endParaRPr lang="en-GB" b="1" dirty="0"/>
          </a:p>
          <a:p>
            <a:pPr>
              <a:buFont typeface="Wingdings" panose="05000000000000000000" pitchFamily="2" charset="2"/>
              <a:buChar char="§"/>
            </a:pPr>
            <a:r>
              <a:rPr lang="en-US" b="1" dirty="0"/>
              <a:t> </a:t>
            </a:r>
            <a:r>
              <a:rPr lang="en-US" dirty="0" smtClean="0"/>
              <a:t>Increasing demand for e- learning platforms after the pandemic.</a:t>
            </a:r>
          </a:p>
          <a:p>
            <a:pPr>
              <a:buFont typeface="Wingdings" panose="05000000000000000000" pitchFamily="2" charset="2"/>
              <a:buChar char="§"/>
            </a:pPr>
            <a:r>
              <a:rPr lang="en-US" dirty="0" smtClean="0"/>
              <a:t>Potential Partnership with educational institutions.</a:t>
            </a:r>
          </a:p>
          <a:p>
            <a:pPr>
              <a:buFont typeface="Wingdings" panose="05000000000000000000" pitchFamily="2" charset="2"/>
              <a:buChar char="§"/>
            </a:pPr>
            <a:r>
              <a:rPr lang="en-US" dirty="0" smtClean="0"/>
              <a:t>Government Initiatives supporting digital education.</a:t>
            </a:r>
          </a:p>
          <a:p>
            <a:pPr>
              <a:buFont typeface="Wingdings" panose="05000000000000000000" pitchFamily="2" charset="2"/>
              <a:buChar char="§"/>
            </a:pPr>
            <a:r>
              <a:rPr lang="en-US" dirty="0" smtClean="0"/>
              <a:t>Expansion into International markets.</a:t>
            </a:r>
          </a:p>
          <a:p>
            <a:pPr marL="0" indent="0">
              <a:buNone/>
            </a:pPr>
            <a:r>
              <a:rPr lang="en-US" b="1" dirty="0" smtClean="0"/>
              <a:t>Threats:</a:t>
            </a:r>
          </a:p>
          <a:p>
            <a:pPr>
              <a:buFont typeface="Wingdings" panose="05000000000000000000" pitchFamily="2" charset="2"/>
              <a:buChar char="§"/>
            </a:pPr>
            <a:r>
              <a:rPr lang="en-US" dirty="0"/>
              <a:t> </a:t>
            </a:r>
            <a:r>
              <a:rPr lang="en-US" dirty="0" smtClean="0"/>
              <a:t>Established Competitors</a:t>
            </a:r>
          </a:p>
          <a:p>
            <a:pPr>
              <a:buFont typeface="Wingdings" panose="05000000000000000000" pitchFamily="2" charset="2"/>
              <a:buChar char="§"/>
            </a:pPr>
            <a:r>
              <a:rPr lang="en-US" dirty="0" smtClean="0"/>
              <a:t> Data Privacy Concerns</a:t>
            </a:r>
          </a:p>
          <a:p>
            <a:pPr>
              <a:buFont typeface="Wingdings" panose="05000000000000000000" pitchFamily="2" charset="2"/>
              <a:buChar char="§"/>
            </a:pPr>
            <a:r>
              <a:rPr lang="en-GB" dirty="0" smtClean="0"/>
              <a:t> Fast-paced advancements in AI technology</a:t>
            </a:r>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7</a:t>
            </a:fld>
            <a:endParaRPr lang="en-US" altLang="en-US"/>
          </a:p>
        </p:txBody>
      </p:sp>
    </p:spTree>
    <p:extLst>
      <p:ext uri="{BB962C8B-B14F-4D97-AF65-F5344CB8AC3E}">
        <p14:creationId xmlns:p14="http://schemas.microsoft.com/office/powerpoint/2010/main" val="4258935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t>2 IDENTIFY RISKS</a:t>
            </a:r>
            <a:endParaRPr lang="en-GB" sz="3200" dirty="0"/>
          </a:p>
        </p:txBody>
      </p:sp>
      <p:sp>
        <p:nvSpPr>
          <p:cNvPr id="3" name="Content Placeholder 2"/>
          <p:cNvSpPr>
            <a:spLocks noGrp="1"/>
          </p:cNvSpPr>
          <p:nvPr>
            <p:ph idx="1"/>
          </p:nvPr>
        </p:nvSpPr>
        <p:spPr/>
        <p:txBody>
          <a:bodyPr/>
          <a:lstStyle/>
          <a:p>
            <a:r>
              <a:rPr lang="en-US" b="1" dirty="0" smtClean="0"/>
              <a:t>Output: Risk Register and Risk Report</a:t>
            </a:r>
          </a:p>
          <a:p>
            <a:r>
              <a:rPr lang="en-US" dirty="0"/>
              <a:t>The </a:t>
            </a:r>
            <a:r>
              <a:rPr lang="en-US" b="1" dirty="0"/>
              <a:t>risk register </a:t>
            </a:r>
            <a:r>
              <a:rPr lang="en-US" dirty="0" smtClean="0"/>
              <a:t>is a document that captures all the identified risks along with their characteristics. </a:t>
            </a:r>
          </a:p>
          <a:p>
            <a:r>
              <a:rPr lang="en-US" dirty="0" smtClean="0"/>
              <a:t>It is updated throughout the project life cycle. It is used by project team for daily risk management.</a:t>
            </a:r>
          </a:p>
          <a:p>
            <a:r>
              <a:rPr lang="en-US" dirty="0"/>
              <a:t>The </a:t>
            </a:r>
            <a:r>
              <a:rPr lang="en-US" b="1" dirty="0"/>
              <a:t>risk report</a:t>
            </a:r>
            <a:r>
              <a:rPr lang="en-US" dirty="0"/>
              <a:t> presents information on sources of overall project risk, together with summary information on identified individual project risks</a:t>
            </a:r>
            <a:r>
              <a:rPr lang="en-US" dirty="0" smtClean="0"/>
              <a:t>.</a:t>
            </a:r>
          </a:p>
          <a:p>
            <a:r>
              <a:rPr lang="en-US" dirty="0" smtClean="0"/>
              <a:t>It evolves as risks are identified, analyzed and managed throughout the project. </a:t>
            </a:r>
          </a:p>
          <a:p>
            <a:endParaRPr lang="en-GB"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8</a:t>
            </a:fld>
            <a:endParaRPr lang="en-US" altLang="en-US"/>
          </a:p>
        </p:txBody>
      </p:sp>
    </p:spTree>
    <p:extLst>
      <p:ext uri="{BB962C8B-B14F-4D97-AF65-F5344CB8AC3E}">
        <p14:creationId xmlns:p14="http://schemas.microsoft.com/office/powerpoint/2010/main" val="12375350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Example</a:t>
            </a:r>
            <a:endParaRPr lang="en-GB" sz="3200" b="1" dirty="0"/>
          </a:p>
        </p:txBody>
      </p:sp>
      <p:sp>
        <p:nvSpPr>
          <p:cNvPr id="3" name="Content Placeholder 2"/>
          <p:cNvSpPr>
            <a:spLocks noGrp="1"/>
          </p:cNvSpPr>
          <p:nvPr>
            <p:ph idx="1"/>
          </p:nvPr>
        </p:nvSpPr>
        <p:spPr/>
        <p:txBody>
          <a:bodyPr>
            <a:normAutofit/>
          </a:bodyPr>
          <a:lstStyle/>
          <a:p>
            <a:pPr algn="just"/>
            <a:r>
              <a:rPr lang="en-GB" dirty="0"/>
              <a:t>A company is launching a new e-commerce website to expand its online presence. The project involves designing the website, integrating payment systems, and ensuring scalability for high traffic. The target launch date is three months away. </a:t>
            </a:r>
            <a:endParaRPr lang="en-GB" dirty="0" smtClean="0"/>
          </a:p>
          <a:p>
            <a:pPr algn="just"/>
            <a:r>
              <a:rPr lang="en-GB" dirty="0" smtClean="0"/>
              <a:t>During </a:t>
            </a:r>
            <a:r>
              <a:rPr lang="en-GB" dirty="0"/>
              <a:t>the planning phase, the team identifies the following risks</a:t>
            </a:r>
            <a:r>
              <a:rPr lang="en-GB" dirty="0" smtClean="0"/>
              <a:t>:</a:t>
            </a:r>
          </a:p>
          <a:p>
            <a:pPr algn="just"/>
            <a:endParaRPr lang="en-GB" dirty="0"/>
          </a:p>
          <a:p>
            <a:pPr algn="just"/>
            <a:r>
              <a:rPr lang="en-GB" dirty="0" smtClean="0"/>
              <a:t>1</a:t>
            </a:r>
            <a:r>
              <a:rPr lang="en-GB" dirty="0"/>
              <a:t>. Delayed delivery from the payment gateway vendor.</a:t>
            </a:r>
          </a:p>
          <a:p>
            <a:pPr algn="just"/>
            <a:r>
              <a:rPr lang="en-GB" dirty="0" smtClean="0"/>
              <a:t>2. </a:t>
            </a:r>
            <a:r>
              <a:rPr lang="en-GB" dirty="0"/>
              <a:t>Server capacity issues during the launch phase.</a:t>
            </a:r>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9</a:t>
            </a:fld>
            <a:endParaRPr lang="en-US" altLang="en-US"/>
          </a:p>
        </p:txBody>
      </p:sp>
    </p:spTree>
    <p:extLst>
      <p:ext uri="{BB962C8B-B14F-4D97-AF65-F5344CB8AC3E}">
        <p14:creationId xmlns:p14="http://schemas.microsoft.com/office/powerpoint/2010/main" val="4094376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Risk Register</a:t>
            </a:r>
            <a:endParaRPr lang="en-GB" sz="3200" b="1"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638689767"/>
              </p:ext>
            </p:extLst>
          </p:nvPr>
        </p:nvGraphicFramePr>
        <p:xfrm>
          <a:off x="801290" y="1705231"/>
          <a:ext cx="7961711" cy="4499485"/>
        </p:xfrm>
        <a:graphic>
          <a:graphicData uri="http://schemas.openxmlformats.org/drawingml/2006/table">
            <a:tbl>
              <a:tblPr firstRow="1" bandRow="1">
                <a:tableStyleId>{5C22544A-7EE6-4342-B048-85BDC9FD1C3A}</a:tableStyleId>
              </a:tblPr>
              <a:tblGrid>
                <a:gridCol w="1326952">
                  <a:extLst>
                    <a:ext uri="{9D8B030D-6E8A-4147-A177-3AD203B41FA5}">
                      <a16:colId xmlns:a16="http://schemas.microsoft.com/office/drawing/2014/main" val="3722929267"/>
                    </a:ext>
                  </a:extLst>
                </a:gridCol>
                <a:gridCol w="1326952">
                  <a:extLst>
                    <a:ext uri="{9D8B030D-6E8A-4147-A177-3AD203B41FA5}">
                      <a16:colId xmlns:a16="http://schemas.microsoft.com/office/drawing/2014/main" val="2481596636"/>
                    </a:ext>
                  </a:extLst>
                </a:gridCol>
                <a:gridCol w="1326952">
                  <a:extLst>
                    <a:ext uri="{9D8B030D-6E8A-4147-A177-3AD203B41FA5}">
                      <a16:colId xmlns:a16="http://schemas.microsoft.com/office/drawing/2014/main" val="793988736"/>
                    </a:ext>
                  </a:extLst>
                </a:gridCol>
                <a:gridCol w="1326952">
                  <a:extLst>
                    <a:ext uri="{9D8B030D-6E8A-4147-A177-3AD203B41FA5}">
                      <a16:colId xmlns:a16="http://schemas.microsoft.com/office/drawing/2014/main" val="2419080804"/>
                    </a:ext>
                  </a:extLst>
                </a:gridCol>
                <a:gridCol w="1544759">
                  <a:extLst>
                    <a:ext uri="{9D8B030D-6E8A-4147-A177-3AD203B41FA5}">
                      <a16:colId xmlns:a16="http://schemas.microsoft.com/office/drawing/2014/main" val="2129915283"/>
                    </a:ext>
                  </a:extLst>
                </a:gridCol>
                <a:gridCol w="1109144">
                  <a:extLst>
                    <a:ext uri="{9D8B030D-6E8A-4147-A177-3AD203B41FA5}">
                      <a16:colId xmlns:a16="http://schemas.microsoft.com/office/drawing/2014/main" val="2315624062"/>
                    </a:ext>
                  </a:extLst>
                </a:gridCol>
              </a:tblGrid>
              <a:tr h="863164">
                <a:tc>
                  <a:txBody>
                    <a:bodyPr/>
                    <a:lstStyle/>
                    <a:p>
                      <a:r>
                        <a:rPr lang="en-US" dirty="0" smtClean="0"/>
                        <a:t>Risk ID</a:t>
                      </a:r>
                      <a:endParaRPr lang="en-GB" dirty="0"/>
                    </a:p>
                  </a:txBody>
                  <a:tcPr/>
                </a:tc>
                <a:tc>
                  <a:txBody>
                    <a:bodyPr/>
                    <a:lstStyle/>
                    <a:p>
                      <a:r>
                        <a:rPr lang="en-US" dirty="0" smtClean="0"/>
                        <a:t>Risk</a:t>
                      </a:r>
                      <a:r>
                        <a:rPr lang="en-US" baseline="0" dirty="0" smtClean="0"/>
                        <a:t> Description</a:t>
                      </a:r>
                      <a:endParaRPr lang="en-GB" dirty="0"/>
                    </a:p>
                  </a:txBody>
                  <a:tcPr/>
                </a:tc>
                <a:tc>
                  <a:txBody>
                    <a:bodyPr/>
                    <a:lstStyle/>
                    <a:p>
                      <a:r>
                        <a:rPr lang="en-US" dirty="0" smtClean="0"/>
                        <a:t>Risk Category</a:t>
                      </a:r>
                      <a:endParaRPr lang="en-GB" dirty="0"/>
                    </a:p>
                  </a:txBody>
                  <a:tcPr/>
                </a:tc>
                <a:tc>
                  <a:txBody>
                    <a:bodyPr/>
                    <a:lstStyle/>
                    <a:p>
                      <a:r>
                        <a:rPr lang="en-US" dirty="0" smtClean="0"/>
                        <a:t>Risk</a:t>
                      </a:r>
                      <a:r>
                        <a:rPr lang="en-US" baseline="0" dirty="0" smtClean="0"/>
                        <a:t> Owner</a:t>
                      </a:r>
                      <a:endParaRPr lang="en-GB" dirty="0"/>
                    </a:p>
                  </a:txBody>
                  <a:tcPr/>
                </a:tc>
                <a:tc>
                  <a:txBody>
                    <a:bodyPr/>
                    <a:lstStyle/>
                    <a:p>
                      <a:r>
                        <a:rPr lang="en-US" dirty="0" smtClean="0"/>
                        <a:t>Trigger</a:t>
                      </a:r>
                      <a:endParaRPr lang="en-GB" dirty="0"/>
                    </a:p>
                  </a:txBody>
                  <a:tcPr/>
                </a:tc>
                <a:tc>
                  <a:txBody>
                    <a:bodyPr/>
                    <a:lstStyle/>
                    <a:p>
                      <a:r>
                        <a:rPr lang="en-US" dirty="0" smtClean="0"/>
                        <a:t>Potential Response</a:t>
                      </a:r>
                      <a:endParaRPr lang="en-GB" dirty="0"/>
                    </a:p>
                  </a:txBody>
                  <a:tcPr/>
                </a:tc>
                <a:extLst>
                  <a:ext uri="{0D108BD9-81ED-4DB2-BD59-A6C34878D82A}">
                    <a16:rowId xmlns:a16="http://schemas.microsoft.com/office/drawing/2014/main" val="3235219333"/>
                  </a:ext>
                </a:extLst>
              </a:tr>
              <a:tr h="1898961">
                <a:tc>
                  <a:txBody>
                    <a:bodyPr/>
                    <a:lstStyle/>
                    <a:p>
                      <a:r>
                        <a:rPr lang="en-US" dirty="0" smtClean="0"/>
                        <a:t>R1</a:t>
                      </a:r>
                      <a:endParaRPr lang="en-GB" dirty="0"/>
                    </a:p>
                  </a:txBody>
                  <a:tcPr/>
                </a:tc>
                <a:tc>
                  <a:txBody>
                    <a:bodyPr/>
                    <a:lstStyle/>
                    <a:p>
                      <a:r>
                        <a:rPr lang="en-US" dirty="0" smtClean="0"/>
                        <a:t>Delay in Payment Gateway delivery</a:t>
                      </a:r>
                      <a:endParaRPr lang="en-GB" dirty="0"/>
                    </a:p>
                  </a:txBody>
                  <a:tcPr/>
                </a:tc>
                <a:tc>
                  <a:txBody>
                    <a:bodyPr/>
                    <a:lstStyle/>
                    <a:p>
                      <a:r>
                        <a:rPr lang="en-US" dirty="0" smtClean="0"/>
                        <a:t>External</a:t>
                      </a:r>
                      <a:endParaRPr lang="en-GB" dirty="0"/>
                    </a:p>
                  </a:txBody>
                  <a:tcPr/>
                </a:tc>
                <a:tc>
                  <a:txBody>
                    <a:bodyPr/>
                    <a:lstStyle/>
                    <a:p>
                      <a:r>
                        <a:rPr lang="en-US" dirty="0" smtClean="0"/>
                        <a:t>Vendor/ Manager</a:t>
                      </a:r>
                      <a:endParaRPr lang="en-GB" dirty="0"/>
                    </a:p>
                  </a:txBody>
                  <a:tcPr/>
                </a:tc>
                <a:tc>
                  <a:txBody>
                    <a:bodyPr/>
                    <a:lstStyle/>
                    <a:p>
                      <a:r>
                        <a:rPr lang="en-US" dirty="0" smtClean="0"/>
                        <a:t>Vendor fails to meet delivery deadlines</a:t>
                      </a:r>
                      <a:endParaRPr lang="en-GB" dirty="0"/>
                    </a:p>
                  </a:txBody>
                  <a:tcPr/>
                </a:tc>
                <a:tc>
                  <a:txBody>
                    <a:bodyPr/>
                    <a:lstStyle/>
                    <a:p>
                      <a:r>
                        <a:rPr lang="en-US" dirty="0" smtClean="0"/>
                        <a:t>Negotiate a backup vendor or agreement</a:t>
                      </a:r>
                      <a:endParaRPr lang="en-GB" dirty="0"/>
                    </a:p>
                  </a:txBody>
                  <a:tcPr/>
                </a:tc>
                <a:extLst>
                  <a:ext uri="{0D108BD9-81ED-4DB2-BD59-A6C34878D82A}">
                    <a16:rowId xmlns:a16="http://schemas.microsoft.com/office/drawing/2014/main" val="2630862879"/>
                  </a:ext>
                </a:extLst>
              </a:tr>
              <a:tr h="1640012">
                <a:tc>
                  <a:txBody>
                    <a:bodyPr/>
                    <a:lstStyle/>
                    <a:p>
                      <a:r>
                        <a:rPr lang="en-US" dirty="0" smtClean="0"/>
                        <a:t>R2</a:t>
                      </a:r>
                      <a:endParaRPr lang="en-GB" dirty="0"/>
                    </a:p>
                  </a:txBody>
                  <a:tcPr/>
                </a:tc>
                <a:tc>
                  <a:txBody>
                    <a:bodyPr/>
                    <a:lstStyle/>
                    <a:p>
                      <a:r>
                        <a:rPr lang="en-US" dirty="0" smtClean="0"/>
                        <a:t>Server Overload during launch</a:t>
                      </a:r>
                      <a:endParaRPr lang="en-GB" dirty="0"/>
                    </a:p>
                  </a:txBody>
                  <a:tcPr/>
                </a:tc>
                <a:tc>
                  <a:txBody>
                    <a:bodyPr/>
                    <a:lstStyle/>
                    <a:p>
                      <a:r>
                        <a:rPr lang="en-US" dirty="0" smtClean="0"/>
                        <a:t>Technical</a:t>
                      </a:r>
                      <a:endParaRPr lang="en-GB" dirty="0"/>
                    </a:p>
                  </a:txBody>
                  <a:tcPr/>
                </a:tc>
                <a:tc>
                  <a:txBody>
                    <a:bodyPr/>
                    <a:lstStyle/>
                    <a:p>
                      <a:r>
                        <a:rPr lang="en-US" dirty="0" smtClean="0"/>
                        <a:t>IT Team Lead.</a:t>
                      </a:r>
                      <a:endParaRPr lang="en-GB" dirty="0"/>
                    </a:p>
                  </a:txBody>
                  <a:tcPr/>
                </a:tc>
                <a:tc>
                  <a:txBody>
                    <a:bodyPr/>
                    <a:lstStyle/>
                    <a:p>
                      <a:r>
                        <a:rPr lang="en-US" dirty="0" smtClean="0"/>
                        <a:t>High website traffic</a:t>
                      </a:r>
                      <a:r>
                        <a:rPr lang="en-US" baseline="0" dirty="0" smtClean="0"/>
                        <a:t> during promotional campaigns</a:t>
                      </a:r>
                      <a:endParaRPr lang="en-GB" dirty="0"/>
                    </a:p>
                  </a:txBody>
                  <a:tcPr/>
                </a:tc>
                <a:tc>
                  <a:txBody>
                    <a:bodyPr/>
                    <a:lstStyle/>
                    <a:p>
                      <a:r>
                        <a:rPr lang="en-US" dirty="0" smtClean="0"/>
                        <a:t>Update Server capacity and run load testing</a:t>
                      </a:r>
                      <a:endParaRPr lang="en-GB" dirty="0"/>
                    </a:p>
                  </a:txBody>
                  <a:tcPr/>
                </a:tc>
                <a:extLst>
                  <a:ext uri="{0D108BD9-81ED-4DB2-BD59-A6C34878D82A}">
                    <a16:rowId xmlns:a16="http://schemas.microsoft.com/office/drawing/2014/main" val="2865701164"/>
                  </a:ext>
                </a:extLst>
              </a:tr>
            </a:tbl>
          </a:graphicData>
        </a:graphic>
      </p:graphicFrame>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10</a:t>
            </a:fld>
            <a:endParaRPr lang="en-US" altLang="en-US"/>
          </a:p>
        </p:txBody>
      </p:sp>
    </p:spTree>
    <p:extLst>
      <p:ext uri="{BB962C8B-B14F-4D97-AF65-F5344CB8AC3E}">
        <p14:creationId xmlns:p14="http://schemas.microsoft.com/office/powerpoint/2010/main" val="1199539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2" y="304800"/>
            <a:ext cx="7543800" cy="1450757"/>
          </a:xfrm>
        </p:spPr>
        <p:txBody>
          <a:bodyPr>
            <a:normAutofit/>
          </a:bodyPr>
          <a:lstStyle/>
          <a:p>
            <a:r>
              <a:rPr lang="en-US" sz="3200" dirty="0" smtClean="0"/>
              <a:t> </a:t>
            </a:r>
            <a:r>
              <a:rPr lang="en-US" sz="3200" b="1" dirty="0" smtClean="0"/>
              <a:t>Risk Report</a:t>
            </a:r>
            <a:endParaRPr lang="en-GB" sz="3200" b="1" dirty="0"/>
          </a:p>
        </p:txBody>
      </p:sp>
      <p:sp>
        <p:nvSpPr>
          <p:cNvPr id="3" name="Content Placeholder 2"/>
          <p:cNvSpPr>
            <a:spLocks noGrp="1"/>
          </p:cNvSpPr>
          <p:nvPr>
            <p:ph idx="1"/>
          </p:nvPr>
        </p:nvSpPr>
        <p:spPr>
          <a:xfrm>
            <a:off x="152401" y="1845734"/>
            <a:ext cx="8915400" cy="5469466"/>
          </a:xfrm>
        </p:spPr>
        <p:txBody>
          <a:bodyPr>
            <a:normAutofit fontScale="55000" lnSpcReduction="20000"/>
          </a:bodyPr>
          <a:lstStyle/>
          <a:p>
            <a:r>
              <a:rPr lang="en-GB" sz="2500" b="1" dirty="0"/>
              <a:t>1. Sources of Overall Project Risk:</a:t>
            </a:r>
          </a:p>
          <a:p>
            <a:r>
              <a:rPr lang="en-GB" sz="2500" dirty="0" smtClean="0"/>
              <a:t>Dependency </a:t>
            </a:r>
            <a:r>
              <a:rPr lang="en-GB" sz="2500" dirty="0"/>
              <a:t>on third-party vendors and external </a:t>
            </a:r>
            <a:r>
              <a:rPr lang="en-GB" sz="2500" dirty="0" smtClean="0"/>
              <a:t>systems.</a:t>
            </a:r>
          </a:p>
          <a:p>
            <a:r>
              <a:rPr lang="en-GB" sz="2500" dirty="0" smtClean="0"/>
              <a:t>Scalability </a:t>
            </a:r>
            <a:r>
              <a:rPr lang="en-GB" sz="2500" dirty="0"/>
              <a:t>challenges for the new website under high demand.</a:t>
            </a:r>
          </a:p>
          <a:p>
            <a:r>
              <a:rPr lang="en-GB" sz="2500" b="1" dirty="0"/>
              <a:t> 2. Key Individual Risks:</a:t>
            </a:r>
          </a:p>
          <a:p>
            <a:r>
              <a:rPr lang="en-GB" sz="2500" dirty="0"/>
              <a:t> </a:t>
            </a:r>
            <a:r>
              <a:rPr lang="en-GB" sz="2500" dirty="0" smtClean="0"/>
              <a:t>R1 </a:t>
            </a:r>
            <a:r>
              <a:rPr lang="en-GB" sz="2500" dirty="0"/>
              <a:t>(Payment Gateway Delay): Critical risk affecting the integration timeline and overall project delivery.</a:t>
            </a:r>
          </a:p>
          <a:p>
            <a:r>
              <a:rPr lang="en-GB" sz="2500" dirty="0"/>
              <a:t> </a:t>
            </a:r>
            <a:r>
              <a:rPr lang="en-GB" sz="2500" dirty="0" smtClean="0"/>
              <a:t>R2 </a:t>
            </a:r>
            <a:r>
              <a:rPr lang="en-GB" sz="2500" dirty="0"/>
              <a:t>(Server Overload): High potential to disrupt user experience during the launch, leading to reputational damage</a:t>
            </a:r>
            <a:r>
              <a:rPr lang="en-GB" sz="2500" dirty="0" smtClean="0"/>
              <a:t>.</a:t>
            </a:r>
          </a:p>
          <a:p>
            <a:r>
              <a:rPr lang="en-GB" sz="2500" b="1" dirty="0"/>
              <a:t>3. Risk Trends:</a:t>
            </a:r>
          </a:p>
          <a:p>
            <a:r>
              <a:rPr lang="en-GB" sz="2500" dirty="0" smtClean="0"/>
              <a:t>Vendor </a:t>
            </a:r>
            <a:r>
              <a:rPr lang="en-GB" sz="2500" dirty="0"/>
              <a:t>delays are a recurring issue in similar projects, highlighting the need for better vendor management.</a:t>
            </a:r>
          </a:p>
          <a:p>
            <a:r>
              <a:rPr lang="en-GB" sz="2500" dirty="0"/>
              <a:t>Scalability risks are common in high-traffic launches but manageable with proactive measures like load testing</a:t>
            </a:r>
            <a:r>
              <a:rPr lang="en-GB" sz="2500" dirty="0" smtClean="0"/>
              <a:t>.</a:t>
            </a:r>
          </a:p>
          <a:p>
            <a:r>
              <a:rPr lang="en-GB" sz="2500" b="1" dirty="0"/>
              <a:t>4. Risk Implications:</a:t>
            </a:r>
          </a:p>
          <a:p>
            <a:r>
              <a:rPr lang="en-GB" sz="2500" dirty="0" smtClean="0"/>
              <a:t>R1</a:t>
            </a:r>
            <a:r>
              <a:rPr lang="en-GB" sz="2500" dirty="0"/>
              <a:t>: Delayed payment gateway could push back the project timeline by 2-3 weeks.</a:t>
            </a:r>
          </a:p>
          <a:p>
            <a:r>
              <a:rPr lang="en-GB" sz="2500" dirty="0" smtClean="0"/>
              <a:t>R2</a:t>
            </a:r>
            <a:r>
              <a:rPr lang="en-GB" sz="2500" dirty="0"/>
              <a:t>: Server capacity issues could result in downtime during peak traffic, affecting customer satisfaction and revenue.</a:t>
            </a:r>
          </a:p>
          <a:p>
            <a:endParaRPr lang="en-GB" sz="1700" dirty="0"/>
          </a:p>
          <a:p>
            <a:endParaRPr lang="en-GB" sz="1700" dirty="0" smtClean="0"/>
          </a:p>
          <a:p>
            <a:r>
              <a:rPr lang="en-GB" dirty="0"/>
              <a:t> </a:t>
            </a:r>
          </a:p>
          <a:p>
            <a:endParaRPr lang="en-GB" dirty="0"/>
          </a:p>
          <a:p>
            <a:r>
              <a:rPr lang="en-GB" dirty="0"/>
              <a:t> </a:t>
            </a:r>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11</a:t>
            </a:fld>
            <a:endParaRPr lang="en-US" altLang="en-US"/>
          </a:p>
        </p:txBody>
      </p:sp>
    </p:spTree>
    <p:extLst>
      <p:ext uri="{BB962C8B-B14F-4D97-AF65-F5344CB8AC3E}">
        <p14:creationId xmlns:p14="http://schemas.microsoft.com/office/powerpoint/2010/main" val="10895358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Difference: Risk Register and Risk Report</a:t>
            </a:r>
            <a:endParaRPr lang="en-GB" sz="3200" dirty="0"/>
          </a:p>
        </p:txBody>
      </p:sp>
      <p:sp>
        <p:nvSpPr>
          <p:cNvPr id="3" name="Content Placeholder 2"/>
          <p:cNvSpPr>
            <a:spLocks noGrp="1"/>
          </p:cNvSpPr>
          <p:nvPr>
            <p:ph idx="1"/>
          </p:nvPr>
        </p:nvSpPr>
        <p:spPr/>
        <p:txBody>
          <a:bodyPr/>
          <a:lstStyle/>
          <a:p>
            <a:endParaRPr lang="en-GB" dirty="0" smtClean="0"/>
          </a:p>
          <a:p>
            <a:r>
              <a:rPr lang="en-GB" dirty="0" smtClean="0"/>
              <a:t>Risk </a:t>
            </a:r>
            <a:r>
              <a:rPr lang="en-GB" dirty="0"/>
              <a:t>Register focuses </a:t>
            </a:r>
            <a:r>
              <a:rPr lang="en-GB" b="1" dirty="0"/>
              <a:t>on operational details </a:t>
            </a:r>
            <a:r>
              <a:rPr lang="en-GB" dirty="0"/>
              <a:t>such as risk triggers and potential responses, serving as a practical tool for the project team.</a:t>
            </a:r>
          </a:p>
          <a:p>
            <a:endParaRPr lang="en-GB" dirty="0" smtClean="0"/>
          </a:p>
          <a:p>
            <a:r>
              <a:rPr lang="en-GB" dirty="0" smtClean="0"/>
              <a:t>Risk </a:t>
            </a:r>
            <a:r>
              <a:rPr lang="en-GB" dirty="0"/>
              <a:t>Report provides a </a:t>
            </a:r>
            <a:r>
              <a:rPr lang="en-GB" b="1" dirty="0"/>
              <a:t>summarized, high-level analysis </a:t>
            </a:r>
            <a:r>
              <a:rPr lang="en-GB" dirty="0"/>
              <a:t>for stakeholders to understand the broader implications of risks and make strategic decisions.</a:t>
            </a:r>
          </a:p>
          <a:p>
            <a:r>
              <a:rPr lang="en-GB" dirty="0"/>
              <a:t/>
            </a:r>
            <a:br>
              <a:rPr lang="en-GB" dirty="0"/>
            </a:br>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12</a:t>
            </a:fld>
            <a:endParaRPr lang="en-US" altLang="en-US"/>
          </a:p>
        </p:txBody>
      </p:sp>
    </p:spTree>
    <p:extLst>
      <p:ext uri="{BB962C8B-B14F-4D97-AF65-F5344CB8AC3E}">
        <p14:creationId xmlns:p14="http://schemas.microsoft.com/office/powerpoint/2010/main" val="37084713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Example of Risk Register</a:t>
            </a:r>
            <a:endParaRPr lang="en-GB" sz="3200"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13</a:t>
            </a:fld>
            <a:endParaRPr lang="en-US" altLang="en-US"/>
          </a:p>
        </p:txBody>
      </p:sp>
      <p:pic>
        <p:nvPicPr>
          <p:cNvPr id="7" name="Content Placeholder 6"/>
          <p:cNvPicPr>
            <a:picLocks noGrp="1" noChangeAspect="1"/>
          </p:cNvPicPr>
          <p:nvPr>
            <p:ph idx="1"/>
          </p:nvPr>
        </p:nvPicPr>
        <p:blipFill>
          <a:blip r:embed="rId2"/>
          <a:stretch>
            <a:fillRect/>
          </a:stretch>
        </p:blipFill>
        <p:spPr>
          <a:xfrm>
            <a:off x="533400" y="1846263"/>
            <a:ext cx="8001000" cy="4478337"/>
          </a:xfrm>
          <a:prstGeom prst="rect">
            <a:avLst/>
          </a:prstGeom>
        </p:spPr>
      </p:pic>
    </p:spTree>
    <p:extLst>
      <p:ext uri="{BB962C8B-B14F-4D97-AF65-F5344CB8AC3E}">
        <p14:creationId xmlns:p14="http://schemas.microsoft.com/office/powerpoint/2010/main" val="17800741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t>3 PERFORM QUALITATIVE RISK ANALYSIS</a:t>
            </a:r>
          </a:p>
        </p:txBody>
      </p:sp>
      <p:sp>
        <p:nvSpPr>
          <p:cNvPr id="3" name="Content Placeholder 2"/>
          <p:cNvSpPr>
            <a:spLocks noGrp="1"/>
          </p:cNvSpPr>
          <p:nvPr>
            <p:ph idx="1"/>
          </p:nvPr>
        </p:nvSpPr>
        <p:spPr/>
        <p:txBody>
          <a:bodyPr/>
          <a:lstStyle/>
          <a:p>
            <a:r>
              <a:rPr lang="en-US" dirty="0" smtClean="0"/>
              <a:t>Perform </a:t>
            </a:r>
            <a:r>
              <a:rPr lang="en-US" dirty="0"/>
              <a:t>Qualitative Risk Analysis is the process of </a:t>
            </a:r>
            <a:r>
              <a:rPr lang="en-US" b="1" dirty="0"/>
              <a:t>prioritizing individual project risks</a:t>
            </a:r>
            <a:r>
              <a:rPr lang="en-US" dirty="0"/>
              <a:t> for further analysis or action </a:t>
            </a:r>
            <a:r>
              <a:rPr lang="en-US" b="1" dirty="0"/>
              <a:t>by assessing their probability of occurrence and impact as well as other characteristics. </a:t>
            </a:r>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14</a:t>
            </a:fld>
            <a:endParaRPr lang="en-US" altLang="en-US"/>
          </a:p>
        </p:txBody>
      </p:sp>
      <p:pic>
        <p:nvPicPr>
          <p:cNvPr id="7" name="Picture 6"/>
          <p:cNvPicPr>
            <a:picLocks noChangeAspect="1"/>
          </p:cNvPicPr>
          <p:nvPr/>
        </p:nvPicPr>
        <p:blipFill>
          <a:blip r:embed="rId2"/>
          <a:stretch>
            <a:fillRect/>
          </a:stretch>
        </p:blipFill>
        <p:spPr>
          <a:xfrm>
            <a:off x="914400" y="2971800"/>
            <a:ext cx="7315200" cy="3352800"/>
          </a:xfrm>
          <a:prstGeom prst="rect">
            <a:avLst/>
          </a:prstGeom>
        </p:spPr>
      </p:pic>
    </p:spTree>
    <p:extLst>
      <p:ext uri="{BB962C8B-B14F-4D97-AF65-F5344CB8AC3E}">
        <p14:creationId xmlns:p14="http://schemas.microsoft.com/office/powerpoint/2010/main" val="39366052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smtClean="0"/>
              <a:t>4 Perform Quantitative Risk Analysis</a:t>
            </a:r>
            <a:endParaRPr lang="en-GB" sz="3200" b="1" dirty="0"/>
          </a:p>
        </p:txBody>
      </p:sp>
      <p:sp>
        <p:nvSpPr>
          <p:cNvPr id="3" name="Content Placeholder 2"/>
          <p:cNvSpPr>
            <a:spLocks noGrp="1"/>
          </p:cNvSpPr>
          <p:nvPr>
            <p:ph idx="1"/>
          </p:nvPr>
        </p:nvSpPr>
        <p:spPr/>
        <p:txBody>
          <a:bodyPr/>
          <a:lstStyle/>
          <a:p>
            <a:r>
              <a:rPr lang="en-US" dirty="0"/>
              <a:t>Perform Quantitative Risk Analysis is the process of </a:t>
            </a:r>
            <a:r>
              <a:rPr lang="en-US" b="1" dirty="0"/>
              <a:t>numerically analyzing </a:t>
            </a:r>
            <a:r>
              <a:rPr lang="en-US" b="1" dirty="0" smtClean="0"/>
              <a:t>the impact </a:t>
            </a:r>
            <a:r>
              <a:rPr lang="en-US" b="1" dirty="0"/>
              <a:t>of identified individual project risks </a:t>
            </a:r>
            <a:r>
              <a:rPr lang="en-US" dirty="0" smtClean="0"/>
              <a:t>on </a:t>
            </a:r>
            <a:r>
              <a:rPr lang="en-US" dirty="0"/>
              <a:t>overall project </a:t>
            </a:r>
            <a:r>
              <a:rPr lang="en-US" dirty="0" smtClean="0"/>
              <a:t>objectives.</a:t>
            </a:r>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15</a:t>
            </a:fld>
            <a:endParaRPr lang="en-US" altLang="en-US"/>
          </a:p>
        </p:txBody>
      </p:sp>
      <p:pic>
        <p:nvPicPr>
          <p:cNvPr id="7" name="Picture 6"/>
          <p:cNvPicPr>
            <a:picLocks noChangeAspect="1"/>
          </p:cNvPicPr>
          <p:nvPr/>
        </p:nvPicPr>
        <p:blipFill>
          <a:blip r:embed="rId2"/>
          <a:stretch>
            <a:fillRect/>
          </a:stretch>
        </p:blipFill>
        <p:spPr>
          <a:xfrm>
            <a:off x="838200" y="2971800"/>
            <a:ext cx="7391400" cy="3200400"/>
          </a:xfrm>
          <a:prstGeom prst="rect">
            <a:avLst/>
          </a:prstGeom>
        </p:spPr>
      </p:pic>
    </p:spTree>
    <p:extLst>
      <p:ext uri="{BB962C8B-B14F-4D97-AF65-F5344CB8AC3E}">
        <p14:creationId xmlns:p14="http://schemas.microsoft.com/office/powerpoint/2010/main" val="10442190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2000"/>
            <a:ext cx="7543800" cy="1450757"/>
          </a:xfrm>
        </p:spPr>
        <p:txBody>
          <a:bodyPr>
            <a:normAutofit/>
          </a:bodyPr>
          <a:lstStyle/>
          <a:p>
            <a:r>
              <a:rPr lang="en-GB" sz="3600" b="1" dirty="0"/>
              <a:t>Quantitative Risk Analysis </a:t>
            </a:r>
            <a:r>
              <a:rPr lang="en-GB" b="1" dirty="0" smtClean="0"/>
              <a:t/>
            </a:r>
            <a:br>
              <a:rPr lang="en-GB" b="1" dirty="0" smtClean="0"/>
            </a:br>
            <a:endParaRPr lang="en-GB" dirty="0"/>
          </a:p>
        </p:txBody>
      </p:sp>
      <p:sp>
        <p:nvSpPr>
          <p:cNvPr id="3" name="Content Placeholder 2"/>
          <p:cNvSpPr>
            <a:spLocks noGrp="1"/>
          </p:cNvSpPr>
          <p:nvPr>
            <p:ph idx="1"/>
          </p:nvPr>
        </p:nvSpPr>
        <p:spPr>
          <a:xfrm>
            <a:off x="822959" y="1845734"/>
            <a:ext cx="7543801" cy="4402666"/>
          </a:xfrm>
        </p:spPr>
        <p:txBody>
          <a:bodyPr>
            <a:normAutofit fontScale="85000" lnSpcReduction="20000"/>
          </a:bodyPr>
          <a:lstStyle/>
          <a:p>
            <a:r>
              <a:rPr lang="en-GB" b="1" dirty="0"/>
              <a:t>Expected monetary </a:t>
            </a:r>
            <a:r>
              <a:rPr lang="en-GB" b="1" dirty="0" smtClean="0"/>
              <a:t>value:</a:t>
            </a:r>
          </a:p>
          <a:p>
            <a:pPr algn="just"/>
            <a:r>
              <a:rPr lang="en-PK" dirty="0"/>
              <a:t>Expected Monetary Value (EMV) is a technique used in quantitative risk analysis to calculate the expected financial outcome of risks by multiplying their probability by their monetary impact</a:t>
            </a:r>
            <a:r>
              <a:rPr lang="en-PK" dirty="0" smtClean="0"/>
              <a:t>.</a:t>
            </a:r>
            <a:endParaRPr lang="en-US" dirty="0" smtClean="0"/>
          </a:p>
          <a:p>
            <a:pPr algn="ctr"/>
            <a:r>
              <a:rPr lang="en-GB" b="1" dirty="0"/>
              <a:t>EMV = P * </a:t>
            </a:r>
            <a:r>
              <a:rPr lang="en-GB" b="1" dirty="0" smtClean="0"/>
              <a:t>I </a:t>
            </a:r>
          </a:p>
          <a:p>
            <a:pPr marL="457200" indent="-457200">
              <a:buFont typeface="+mj-lt"/>
              <a:buAutoNum type="arabicPeriod"/>
            </a:pPr>
            <a:r>
              <a:rPr lang="en-GB" dirty="0"/>
              <a:t>Determine the probability (P) an outcome will occur.</a:t>
            </a:r>
          </a:p>
          <a:p>
            <a:pPr marL="457200" indent="-457200">
              <a:buFont typeface="+mj-lt"/>
              <a:buAutoNum type="arabicPeriod"/>
            </a:pPr>
            <a:r>
              <a:rPr lang="en-GB" dirty="0"/>
              <a:t>Determine the monetary value or impact (I) of the </a:t>
            </a:r>
            <a:r>
              <a:rPr lang="en-GB" dirty="0" smtClean="0"/>
              <a:t>outcome.</a:t>
            </a:r>
          </a:p>
          <a:p>
            <a:pPr marL="457200" indent="-457200">
              <a:buFont typeface="+mj-lt"/>
              <a:buAutoNum type="arabicPeriod"/>
            </a:pPr>
            <a:r>
              <a:rPr lang="en-GB" dirty="0" smtClean="0"/>
              <a:t>Multiply </a:t>
            </a:r>
            <a:r>
              <a:rPr lang="en-GB" dirty="0"/>
              <a:t>P x I to calculate the EMV</a:t>
            </a:r>
            <a:r>
              <a:rPr lang="en-GB" dirty="0" smtClean="0"/>
              <a:t>.</a:t>
            </a:r>
          </a:p>
          <a:p>
            <a:pPr marL="0" indent="0">
              <a:buNone/>
            </a:pPr>
            <a:endParaRPr lang="en-GB" dirty="0" smtClean="0"/>
          </a:p>
          <a:p>
            <a:r>
              <a:rPr lang="en-GB" b="1" dirty="0" smtClean="0"/>
              <a:t>Probability:</a:t>
            </a:r>
            <a:r>
              <a:rPr lang="en-GB" dirty="0" smtClean="0"/>
              <a:t> Refers to the likelihood of a specific risk event occurring during the project’s execution. It is expressed as a percentage, ranging from 0% (no chance of occurrence) to 100% (certain to occur).</a:t>
            </a:r>
          </a:p>
          <a:p>
            <a:r>
              <a:rPr lang="en-GB" b="1" dirty="0" smtClean="0"/>
              <a:t>Impact:</a:t>
            </a:r>
            <a:r>
              <a:rPr lang="en-GB" dirty="0" smtClean="0"/>
              <a:t> Represents the financial consequences of the risk event if it materializes. It is typically quantified in terms of monetary value, such as currency units, or dollars.</a:t>
            </a:r>
          </a:p>
          <a:p>
            <a:pPr marL="0" indent="0">
              <a:buNone/>
            </a:pPr>
            <a:endParaRPr lang="en-GB" dirty="0"/>
          </a:p>
          <a:p>
            <a:pPr algn="just"/>
            <a:endParaRPr lang="en-US" b="1" dirty="0"/>
          </a:p>
          <a:p>
            <a:pPr algn="just"/>
            <a:endParaRPr lang="en-GB" dirty="0"/>
          </a:p>
          <a:p>
            <a:endParaRPr lang="en-GB"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16</a:t>
            </a:fld>
            <a:endParaRPr lang="en-US" altLang="en-US"/>
          </a:p>
        </p:txBody>
      </p:sp>
    </p:spTree>
    <p:extLst>
      <p:ext uri="{BB962C8B-B14F-4D97-AF65-F5344CB8AC3E}">
        <p14:creationId xmlns:p14="http://schemas.microsoft.com/office/powerpoint/2010/main" val="28007125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825010"/>
            <a:ext cx="7543800" cy="1450757"/>
          </a:xfrm>
        </p:spPr>
        <p:txBody>
          <a:bodyPr/>
          <a:lstStyle/>
          <a:p>
            <a:r>
              <a:rPr lang="en-GB" sz="3600" b="1" dirty="0" smtClean="0"/>
              <a:t>EMV Calculation Example</a:t>
            </a:r>
            <a:r>
              <a:rPr lang="en-GB" b="1" dirty="0"/>
              <a:t/>
            </a:r>
            <a:br>
              <a:rPr lang="en-GB" b="1" dirty="0"/>
            </a:br>
            <a:endParaRPr lang="en-GB" dirty="0"/>
          </a:p>
        </p:txBody>
      </p:sp>
      <p:pic>
        <p:nvPicPr>
          <p:cNvPr id="7" name="Content Placeholder 6"/>
          <p:cNvPicPr>
            <a:picLocks noGrp="1" noChangeAspect="1"/>
          </p:cNvPicPr>
          <p:nvPr>
            <p:ph idx="1"/>
          </p:nvPr>
        </p:nvPicPr>
        <p:blipFill rotWithShape="1">
          <a:blip r:embed="rId2"/>
          <a:srcRect l="2574"/>
          <a:stretch/>
        </p:blipFill>
        <p:spPr>
          <a:xfrm>
            <a:off x="762000" y="2275768"/>
            <a:ext cx="7848600" cy="2982032"/>
          </a:xfrm>
          <a:prstGeom prst="rect">
            <a:avLst/>
          </a:prstGeom>
        </p:spPr>
      </p:pic>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17</a:t>
            </a:fld>
            <a:endParaRPr lang="en-US" altLang="en-US"/>
          </a:p>
        </p:txBody>
      </p:sp>
    </p:spTree>
    <p:extLst>
      <p:ext uri="{BB962C8B-B14F-4D97-AF65-F5344CB8AC3E}">
        <p14:creationId xmlns:p14="http://schemas.microsoft.com/office/powerpoint/2010/main" val="31008813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3" y="914400"/>
            <a:ext cx="7543800" cy="1450757"/>
          </a:xfrm>
        </p:spPr>
        <p:txBody>
          <a:bodyPr>
            <a:normAutofit fontScale="90000"/>
          </a:bodyPr>
          <a:lstStyle/>
          <a:p>
            <a:r>
              <a:rPr lang="en-GB" b="1" dirty="0" smtClean="0"/>
              <a:t/>
            </a:r>
            <a:br>
              <a:rPr lang="en-GB" b="1" dirty="0" smtClean="0"/>
            </a:br>
            <a:r>
              <a:rPr lang="en-GB" b="1" dirty="0"/>
              <a:t/>
            </a:r>
            <a:br>
              <a:rPr lang="en-GB" b="1" dirty="0"/>
            </a:br>
            <a:r>
              <a:rPr lang="en-GB" b="1" dirty="0" smtClean="0"/>
              <a:t/>
            </a:r>
            <a:br>
              <a:rPr lang="en-GB" b="1" dirty="0" smtClean="0"/>
            </a:br>
            <a:r>
              <a:rPr lang="en-GB" sz="4000" b="1" dirty="0" smtClean="0"/>
              <a:t>EMV Calculation Example</a:t>
            </a:r>
            <a:r>
              <a:rPr lang="en-GB" b="1" dirty="0"/>
              <a:t/>
            </a:r>
            <a:br>
              <a:rPr lang="en-GB" b="1" dirty="0"/>
            </a:br>
            <a:endParaRPr lang="en-GB" dirty="0"/>
          </a:p>
        </p:txBody>
      </p:sp>
      <p:sp>
        <p:nvSpPr>
          <p:cNvPr id="3" name="Content Placeholder 2"/>
          <p:cNvSpPr>
            <a:spLocks noGrp="1"/>
          </p:cNvSpPr>
          <p:nvPr>
            <p:ph idx="1"/>
          </p:nvPr>
        </p:nvSpPr>
        <p:spPr/>
        <p:txBody>
          <a:bodyPr/>
          <a:lstStyle/>
          <a:p>
            <a:pPr marL="0" indent="0">
              <a:buNone/>
            </a:pPr>
            <a:r>
              <a:rPr lang="en-US" dirty="0" smtClean="0"/>
              <a:t> Risk 1: 15% * $300 = $45(-$45)</a:t>
            </a:r>
          </a:p>
          <a:p>
            <a:pPr marL="0" indent="0">
              <a:buNone/>
            </a:pPr>
            <a:r>
              <a:rPr lang="en-US" dirty="0" smtClean="0"/>
              <a:t> Risk 2: 8% * $500 = $40</a:t>
            </a:r>
          </a:p>
          <a:p>
            <a:r>
              <a:rPr lang="en-US" dirty="0" smtClean="0"/>
              <a:t>Risk 3: 10% * $100 = $10(-$10)</a:t>
            </a:r>
          </a:p>
          <a:p>
            <a:r>
              <a:rPr lang="en-US" b="1" dirty="0" smtClean="0"/>
              <a:t>Note that Risk 2 is opportunity. </a:t>
            </a:r>
            <a:endParaRPr lang="en-GB" b="1" dirty="0"/>
          </a:p>
          <a:p>
            <a:r>
              <a:rPr lang="en-US" dirty="0" smtClean="0"/>
              <a:t>Now add all these values for total EMV.</a:t>
            </a:r>
            <a:endParaRPr lang="en-GB" dirty="0"/>
          </a:p>
          <a:p>
            <a:r>
              <a:rPr lang="en-US" dirty="0" smtClean="0"/>
              <a:t>(-45)+40+(-10) = -15</a:t>
            </a:r>
          </a:p>
          <a:p>
            <a:r>
              <a:rPr lang="en-US" dirty="0" smtClean="0"/>
              <a:t>This $15 is the extra money that you need to add to your budget to account for all the project risks.</a:t>
            </a:r>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18</a:t>
            </a:fld>
            <a:endParaRPr lang="en-US" altLang="en-US"/>
          </a:p>
        </p:txBody>
      </p:sp>
    </p:spTree>
    <p:extLst>
      <p:ext uri="{BB962C8B-B14F-4D97-AF65-F5344CB8AC3E}">
        <p14:creationId xmlns:p14="http://schemas.microsoft.com/office/powerpoint/2010/main" val="23152674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smtClean="0"/>
              <a:t>5 </a:t>
            </a:r>
            <a:r>
              <a:rPr lang="en-GB" sz="3200" b="1" dirty="0"/>
              <a:t>PLAN RISK RESPONSES</a:t>
            </a:r>
          </a:p>
        </p:txBody>
      </p:sp>
      <p:sp>
        <p:nvSpPr>
          <p:cNvPr id="3" name="Content Placeholder 2"/>
          <p:cNvSpPr>
            <a:spLocks noGrp="1"/>
          </p:cNvSpPr>
          <p:nvPr>
            <p:ph idx="1"/>
          </p:nvPr>
        </p:nvSpPr>
        <p:spPr/>
        <p:txBody>
          <a:bodyPr/>
          <a:lstStyle/>
          <a:p>
            <a:r>
              <a:rPr lang="en-US" dirty="0"/>
              <a:t>Plan Risk Responses is the process of </a:t>
            </a:r>
            <a:r>
              <a:rPr lang="en-US" b="1" dirty="0"/>
              <a:t>developing options, selecting strategies, and agreeing on actions </a:t>
            </a:r>
            <a:r>
              <a:rPr lang="en-US" dirty="0"/>
              <a:t>to </a:t>
            </a:r>
            <a:r>
              <a:rPr lang="en-US" b="1" dirty="0"/>
              <a:t>address overall project risk exposure, </a:t>
            </a:r>
            <a:r>
              <a:rPr lang="en-US" dirty="0"/>
              <a:t>as well as to treat individual project risks</a:t>
            </a:r>
            <a:r>
              <a:rPr lang="en-US" dirty="0" smtClean="0"/>
              <a:t>.</a:t>
            </a:r>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19</a:t>
            </a:fld>
            <a:endParaRPr lang="en-US" altLang="en-US"/>
          </a:p>
        </p:txBody>
      </p:sp>
      <p:pic>
        <p:nvPicPr>
          <p:cNvPr id="7" name="Picture 6"/>
          <p:cNvPicPr>
            <a:picLocks noChangeAspect="1"/>
          </p:cNvPicPr>
          <p:nvPr/>
        </p:nvPicPr>
        <p:blipFill>
          <a:blip r:embed="rId2"/>
          <a:stretch>
            <a:fillRect/>
          </a:stretch>
        </p:blipFill>
        <p:spPr>
          <a:xfrm>
            <a:off x="762000" y="2895600"/>
            <a:ext cx="7239000" cy="3105551"/>
          </a:xfrm>
          <a:prstGeom prst="rect">
            <a:avLst/>
          </a:prstGeom>
        </p:spPr>
      </p:pic>
    </p:spTree>
    <p:extLst>
      <p:ext uri="{BB962C8B-B14F-4D97-AF65-F5344CB8AC3E}">
        <p14:creationId xmlns:p14="http://schemas.microsoft.com/office/powerpoint/2010/main" val="18551658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Strategies For Threats</a:t>
            </a:r>
            <a:endParaRPr lang="en-GB" sz="3200" b="1" dirty="0"/>
          </a:p>
        </p:txBody>
      </p:sp>
      <p:sp>
        <p:nvSpPr>
          <p:cNvPr id="3" name="Content Placeholder 2"/>
          <p:cNvSpPr>
            <a:spLocks noGrp="1"/>
          </p:cNvSpPr>
          <p:nvPr>
            <p:ph idx="1"/>
          </p:nvPr>
        </p:nvSpPr>
        <p:spPr/>
        <p:txBody>
          <a:bodyPr>
            <a:normAutofit lnSpcReduction="10000"/>
          </a:bodyPr>
          <a:lstStyle/>
          <a:p>
            <a:pPr algn="just"/>
            <a:r>
              <a:rPr lang="en-US" dirty="0"/>
              <a:t>The </a:t>
            </a:r>
            <a:r>
              <a:rPr lang="en-US" dirty="0" smtClean="0"/>
              <a:t>risk </a:t>
            </a:r>
            <a:r>
              <a:rPr lang="en-US" dirty="0"/>
              <a:t>response strategies that are used to deal with individual project risks can also be applied to overall project risk</a:t>
            </a:r>
            <a:r>
              <a:rPr lang="en-US" dirty="0" smtClean="0"/>
              <a:t>:</a:t>
            </a:r>
          </a:p>
          <a:p>
            <a:pPr algn="just"/>
            <a:r>
              <a:rPr lang="en-US" b="1" dirty="0" smtClean="0"/>
              <a:t>Avoidance: </a:t>
            </a:r>
            <a:r>
              <a:rPr lang="en-US" dirty="0" smtClean="0"/>
              <a:t>Eliminate the </a:t>
            </a:r>
            <a:r>
              <a:rPr lang="en-US" dirty="0"/>
              <a:t>t</a:t>
            </a:r>
            <a:r>
              <a:rPr lang="en-US" dirty="0" smtClean="0"/>
              <a:t>hreat by avoiding its source or changing the approach</a:t>
            </a:r>
            <a:r>
              <a:rPr lang="en-US" dirty="0" smtClean="0"/>
              <a:t>. </a:t>
            </a:r>
          </a:p>
          <a:p>
            <a:pPr algn="just"/>
            <a:r>
              <a:rPr lang="en-GB" dirty="0" smtClean="0"/>
              <a:t>A </a:t>
            </a:r>
            <a:r>
              <a:rPr lang="en-GB" dirty="0"/>
              <a:t>company identifies high political risk in a particular country and decides not to enter that market.</a:t>
            </a:r>
            <a:endParaRPr lang="en-US" dirty="0" smtClean="0"/>
          </a:p>
          <a:p>
            <a:pPr algn="just"/>
            <a:r>
              <a:rPr lang="en-US" b="1" dirty="0" smtClean="0"/>
              <a:t>Mitigate</a:t>
            </a:r>
            <a:r>
              <a:rPr lang="en-US" dirty="0" smtClean="0"/>
              <a:t>: </a:t>
            </a:r>
            <a:r>
              <a:rPr lang="en-GB" dirty="0"/>
              <a:t>Take steps to reduce the likelihood or impact of the threat</a:t>
            </a:r>
            <a:r>
              <a:rPr lang="en-GB" dirty="0" smtClean="0"/>
              <a:t>.</a:t>
            </a:r>
          </a:p>
          <a:p>
            <a:pPr algn="just"/>
            <a:r>
              <a:rPr lang="en-US" dirty="0" smtClean="0"/>
              <a:t>A </a:t>
            </a:r>
            <a:r>
              <a:rPr lang="en-US" dirty="0"/>
              <a:t>fine example of this is the introduction of the quality management system to minimize the manufacturing defects of products. </a:t>
            </a:r>
            <a:endParaRPr lang="en-US" dirty="0" smtClean="0"/>
          </a:p>
          <a:p>
            <a:pPr algn="just"/>
            <a:r>
              <a:rPr lang="en-GB" b="1" dirty="0" smtClean="0"/>
              <a:t>Risk Transfer: </a:t>
            </a:r>
            <a:r>
              <a:rPr lang="en-US" dirty="0"/>
              <a:t>If the level of overall project risk is high but the organization is unable to address it effectively, a third party may be involved to manage the risk on behalf of the organization.</a:t>
            </a:r>
            <a:endParaRPr lang="en-GB" b="1" dirty="0"/>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20</a:t>
            </a:fld>
            <a:endParaRPr lang="en-US" altLang="en-US"/>
          </a:p>
        </p:txBody>
      </p:sp>
    </p:spTree>
    <p:extLst>
      <p:ext uri="{BB962C8B-B14F-4D97-AF65-F5344CB8AC3E}">
        <p14:creationId xmlns:p14="http://schemas.microsoft.com/office/powerpoint/2010/main" val="15986043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Strategies For Threats</a:t>
            </a:r>
            <a:endParaRPr lang="en-GB" sz="3200" dirty="0"/>
          </a:p>
        </p:txBody>
      </p:sp>
      <p:sp>
        <p:nvSpPr>
          <p:cNvPr id="3" name="Content Placeholder 2"/>
          <p:cNvSpPr>
            <a:spLocks noGrp="1"/>
          </p:cNvSpPr>
          <p:nvPr>
            <p:ph idx="1"/>
          </p:nvPr>
        </p:nvSpPr>
        <p:spPr/>
        <p:txBody>
          <a:bodyPr/>
          <a:lstStyle/>
          <a:p>
            <a:pPr algn="just"/>
            <a:r>
              <a:rPr lang="en-GB" b="1" dirty="0"/>
              <a:t>Risk </a:t>
            </a:r>
            <a:r>
              <a:rPr lang="en-GB" b="1" dirty="0" smtClean="0"/>
              <a:t>Acceptance: </a:t>
            </a:r>
            <a:r>
              <a:rPr lang="en-GB" dirty="0"/>
              <a:t> Risk acceptance acknowledges the existence of a threat, but no proactive action is taken. </a:t>
            </a:r>
            <a:endParaRPr lang="en-GB" dirty="0" smtClean="0"/>
          </a:p>
          <a:p>
            <a:pPr algn="just"/>
            <a:r>
              <a:rPr lang="en-GB" dirty="0" smtClean="0"/>
              <a:t>This </a:t>
            </a:r>
            <a:r>
              <a:rPr lang="en-GB" dirty="0"/>
              <a:t>strategy </a:t>
            </a:r>
            <a:r>
              <a:rPr lang="en-GB" dirty="0" smtClean="0"/>
              <a:t>may </a:t>
            </a:r>
            <a:r>
              <a:rPr lang="en-GB" dirty="0"/>
              <a:t>be appropriate for low-priority threats, and it may also be adopted where it is not possible or cost-effective </a:t>
            </a:r>
            <a:r>
              <a:rPr lang="en-GB" dirty="0" smtClean="0"/>
              <a:t>to </a:t>
            </a:r>
            <a:r>
              <a:rPr lang="en-GB" dirty="0"/>
              <a:t>address a threat in any other way. </a:t>
            </a:r>
            <a:endParaRPr lang="en-GB" dirty="0" smtClean="0"/>
          </a:p>
          <a:p>
            <a:pPr algn="just"/>
            <a:r>
              <a:rPr lang="en-GB" dirty="0"/>
              <a:t>A small business operating in a stable market decides to accept the low risk of supply chain delays without investing in expensive backup suppliers.</a:t>
            </a:r>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21</a:t>
            </a:fld>
            <a:endParaRPr lang="en-US" altLang="en-US"/>
          </a:p>
        </p:txBody>
      </p:sp>
    </p:spTree>
    <p:extLst>
      <p:ext uri="{BB962C8B-B14F-4D97-AF65-F5344CB8AC3E}">
        <p14:creationId xmlns:p14="http://schemas.microsoft.com/office/powerpoint/2010/main" val="11270874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smtClean="0"/>
              <a:t>6 Implement Risk Responses</a:t>
            </a:r>
            <a:endParaRPr lang="en-GB" sz="3200" b="1" dirty="0"/>
          </a:p>
        </p:txBody>
      </p:sp>
      <p:sp>
        <p:nvSpPr>
          <p:cNvPr id="3" name="Content Placeholder 2"/>
          <p:cNvSpPr>
            <a:spLocks noGrp="1"/>
          </p:cNvSpPr>
          <p:nvPr>
            <p:ph idx="1"/>
          </p:nvPr>
        </p:nvSpPr>
        <p:spPr>
          <a:xfrm>
            <a:off x="914400" y="1828800"/>
            <a:ext cx="7543801" cy="4023360"/>
          </a:xfrm>
        </p:spPr>
        <p:txBody>
          <a:bodyPr/>
          <a:lstStyle/>
          <a:p>
            <a:r>
              <a:rPr lang="en-US" dirty="0"/>
              <a:t>Implement Risk Responses is the process of implementing agreed-upon risk response plans</a:t>
            </a:r>
            <a:r>
              <a:rPr lang="en-US" dirty="0" smtClean="0"/>
              <a:t>.</a:t>
            </a:r>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22</a:t>
            </a:fld>
            <a:endParaRPr lang="en-US" altLang="en-US"/>
          </a:p>
        </p:txBody>
      </p:sp>
      <p:pic>
        <p:nvPicPr>
          <p:cNvPr id="7" name="Picture 6"/>
          <p:cNvPicPr>
            <a:picLocks noChangeAspect="1"/>
          </p:cNvPicPr>
          <p:nvPr/>
        </p:nvPicPr>
        <p:blipFill>
          <a:blip r:embed="rId2"/>
          <a:stretch>
            <a:fillRect/>
          </a:stretch>
        </p:blipFill>
        <p:spPr>
          <a:xfrm>
            <a:off x="914400" y="3048000"/>
            <a:ext cx="6858000" cy="3048000"/>
          </a:xfrm>
          <a:prstGeom prst="rect">
            <a:avLst/>
          </a:prstGeom>
        </p:spPr>
      </p:pic>
    </p:spTree>
    <p:extLst>
      <p:ext uri="{BB962C8B-B14F-4D97-AF65-F5344CB8AC3E}">
        <p14:creationId xmlns:p14="http://schemas.microsoft.com/office/powerpoint/2010/main" val="14780332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t>Steps in Implementing Risk Responses </a:t>
            </a:r>
            <a:endParaRPr lang="en-GB" sz="3200"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GB" dirty="0" smtClean="0"/>
              <a:t>Assign </a:t>
            </a:r>
            <a:r>
              <a:rPr lang="en-GB" dirty="0"/>
              <a:t>Risk </a:t>
            </a:r>
            <a:r>
              <a:rPr lang="en-GB" dirty="0" smtClean="0"/>
              <a:t>Owners.</a:t>
            </a:r>
          </a:p>
          <a:p>
            <a:pPr marL="457200" indent="-457200">
              <a:buFont typeface="+mj-lt"/>
              <a:buAutoNum type="arabicPeriod"/>
            </a:pPr>
            <a:r>
              <a:rPr lang="en-GB" dirty="0"/>
              <a:t>Integrate Risk Responses into Project </a:t>
            </a:r>
            <a:r>
              <a:rPr lang="en-GB" dirty="0" smtClean="0"/>
              <a:t>Plans.</a:t>
            </a:r>
          </a:p>
          <a:p>
            <a:pPr marL="457200" indent="-457200">
              <a:buFont typeface="+mj-lt"/>
              <a:buAutoNum type="arabicPeriod"/>
            </a:pPr>
            <a:r>
              <a:rPr lang="en-GB" dirty="0"/>
              <a:t>C</a:t>
            </a:r>
            <a:r>
              <a:rPr lang="en-GB" dirty="0" smtClean="0"/>
              <a:t>ommunicate </a:t>
            </a:r>
            <a:r>
              <a:rPr lang="en-GB" dirty="0"/>
              <a:t>the Risk Response </a:t>
            </a:r>
            <a:r>
              <a:rPr lang="en-GB" dirty="0" smtClean="0"/>
              <a:t>Plan.</a:t>
            </a:r>
          </a:p>
          <a:p>
            <a:pPr marL="457200" indent="-457200">
              <a:buFont typeface="+mj-lt"/>
              <a:buAutoNum type="arabicPeriod"/>
            </a:pPr>
            <a:r>
              <a:rPr lang="en-GB" dirty="0"/>
              <a:t>Implement Risk </a:t>
            </a:r>
            <a:r>
              <a:rPr lang="en-GB" dirty="0" smtClean="0"/>
              <a:t>Responses.</a:t>
            </a:r>
          </a:p>
          <a:p>
            <a:pPr marL="457200" indent="-457200">
              <a:buFont typeface="+mj-lt"/>
              <a:buAutoNum type="arabicPeriod"/>
            </a:pPr>
            <a:r>
              <a:rPr lang="en-GB" dirty="0"/>
              <a:t>Verify that resources required for implementing responses are available and allocated appropriately.</a:t>
            </a:r>
          </a:p>
          <a:p>
            <a:pPr marL="457200" indent="-457200">
              <a:buFont typeface="+mj-lt"/>
              <a:buAutoNum type="arabicPeriod"/>
            </a:pPr>
            <a:r>
              <a:rPr lang="en-GB" dirty="0"/>
              <a:t>Maintain a record of implemented responses for accountability and future reference.</a:t>
            </a:r>
          </a:p>
          <a:p>
            <a:pPr marL="457200" indent="-457200">
              <a:buFont typeface="+mj-lt"/>
              <a:buAutoNum type="arabicPeriod"/>
            </a:pPr>
            <a:r>
              <a:rPr lang="en-GB" dirty="0"/>
              <a:t>Update Project Plans and Risk Register</a:t>
            </a:r>
          </a:p>
          <a:p>
            <a:pPr marL="457200" indent="-457200">
              <a:buFont typeface="+mj-lt"/>
              <a:buAutoNum type="arabicPeriod"/>
            </a:pPr>
            <a:endParaRPr lang="en-GB" dirty="0"/>
          </a:p>
          <a:p>
            <a:pPr marL="457200" indent="-457200">
              <a:buFont typeface="+mj-lt"/>
              <a:buAutoNum type="arabicPeriod"/>
            </a:pPr>
            <a:endParaRPr lang="en-GB" dirty="0"/>
          </a:p>
          <a:p>
            <a:pPr marL="457200" indent="-457200">
              <a:buFont typeface="+mj-lt"/>
              <a:buAutoNum type="arabicPeriod"/>
            </a:pPr>
            <a:endParaRPr lang="en-GB" dirty="0" smtClean="0"/>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23</a:t>
            </a:fld>
            <a:endParaRPr lang="en-US" altLang="en-US"/>
          </a:p>
        </p:txBody>
      </p:sp>
    </p:spTree>
    <p:extLst>
      <p:ext uri="{BB962C8B-B14F-4D97-AF65-F5344CB8AC3E}">
        <p14:creationId xmlns:p14="http://schemas.microsoft.com/office/powerpoint/2010/main" val="1457923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smtClean="0"/>
              <a:t>7 Monitor Risks</a:t>
            </a:r>
            <a:endParaRPr lang="en-GB" sz="3200" b="1" dirty="0"/>
          </a:p>
        </p:txBody>
      </p:sp>
      <p:sp>
        <p:nvSpPr>
          <p:cNvPr id="3" name="Content Placeholder 2"/>
          <p:cNvSpPr>
            <a:spLocks noGrp="1"/>
          </p:cNvSpPr>
          <p:nvPr>
            <p:ph idx="1"/>
          </p:nvPr>
        </p:nvSpPr>
        <p:spPr/>
        <p:txBody>
          <a:bodyPr/>
          <a:lstStyle/>
          <a:p>
            <a:r>
              <a:rPr lang="en-US" dirty="0"/>
              <a:t>Monitor Risks is the process of </a:t>
            </a:r>
            <a:r>
              <a:rPr lang="en-US" b="1" dirty="0"/>
              <a:t>monitoring the implementation of agreed-upon risk response plans</a:t>
            </a:r>
            <a:r>
              <a:rPr lang="en-US" dirty="0"/>
              <a:t>, </a:t>
            </a:r>
            <a:r>
              <a:rPr lang="en-US" b="1" dirty="0"/>
              <a:t>tracking identified risks</a:t>
            </a:r>
            <a:r>
              <a:rPr lang="en-US" dirty="0"/>
              <a:t>, </a:t>
            </a:r>
            <a:r>
              <a:rPr lang="en-US" b="1" dirty="0"/>
              <a:t>identifying and analyzing new risks</a:t>
            </a:r>
            <a:r>
              <a:rPr lang="en-US" dirty="0"/>
              <a:t>, and </a:t>
            </a:r>
            <a:r>
              <a:rPr lang="en-US" b="1" dirty="0"/>
              <a:t>evaluating risk process effectiveness </a:t>
            </a:r>
            <a:r>
              <a:rPr lang="en-US" dirty="0"/>
              <a:t>throughout the project. </a:t>
            </a:r>
            <a:endParaRPr lang="en-US" dirty="0" smtClean="0"/>
          </a:p>
          <a:p>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24</a:t>
            </a:fld>
            <a:endParaRPr lang="en-US" altLang="en-US"/>
          </a:p>
        </p:txBody>
      </p:sp>
      <p:pic>
        <p:nvPicPr>
          <p:cNvPr id="7" name="Picture 6"/>
          <p:cNvPicPr>
            <a:picLocks noChangeAspect="1"/>
          </p:cNvPicPr>
          <p:nvPr/>
        </p:nvPicPr>
        <p:blipFill>
          <a:blip r:embed="rId2"/>
          <a:stretch>
            <a:fillRect/>
          </a:stretch>
        </p:blipFill>
        <p:spPr>
          <a:xfrm>
            <a:off x="838200" y="3200400"/>
            <a:ext cx="7391400" cy="3105583"/>
          </a:xfrm>
          <a:prstGeom prst="rect">
            <a:avLst/>
          </a:prstGeom>
        </p:spPr>
      </p:pic>
    </p:spTree>
    <p:extLst>
      <p:ext uri="{BB962C8B-B14F-4D97-AF65-F5344CB8AC3E}">
        <p14:creationId xmlns:p14="http://schemas.microsoft.com/office/powerpoint/2010/main" val="22820778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t>Steps for Monitoring Risks in Risk Management</a:t>
            </a:r>
            <a:endParaRPr lang="en-GB" sz="3200" dirty="0"/>
          </a:p>
        </p:txBody>
      </p:sp>
      <p:sp>
        <p:nvSpPr>
          <p:cNvPr id="3" name="Content Placeholder 2"/>
          <p:cNvSpPr>
            <a:spLocks noGrp="1"/>
          </p:cNvSpPr>
          <p:nvPr>
            <p:ph idx="1"/>
          </p:nvPr>
        </p:nvSpPr>
        <p:spPr>
          <a:xfrm>
            <a:off x="822959" y="1845734"/>
            <a:ext cx="7940041" cy="4614052"/>
          </a:xfrm>
        </p:spPr>
        <p:txBody>
          <a:bodyPr>
            <a:normAutofit fontScale="77500" lnSpcReduction="20000"/>
          </a:bodyPr>
          <a:lstStyle/>
          <a:p>
            <a:pPr marL="457200" indent="-457200" algn="just">
              <a:buFont typeface="+mj-lt"/>
              <a:buAutoNum type="arabicPeriod"/>
            </a:pPr>
            <a:r>
              <a:rPr lang="en-GB" sz="2300" b="1" dirty="0" smtClean="0"/>
              <a:t>Reassess</a:t>
            </a:r>
            <a:r>
              <a:rPr lang="en-GB" sz="2300" dirty="0" smtClean="0"/>
              <a:t> </a:t>
            </a:r>
            <a:r>
              <a:rPr lang="en-GB" sz="2300" dirty="0"/>
              <a:t>the </a:t>
            </a:r>
            <a:r>
              <a:rPr lang="en-GB" sz="2300" b="1" dirty="0"/>
              <a:t>project environment </a:t>
            </a:r>
            <a:r>
              <a:rPr lang="en-GB" sz="2300" dirty="0"/>
              <a:t>to </a:t>
            </a:r>
            <a:r>
              <a:rPr lang="en-GB" sz="2300" b="1" dirty="0"/>
              <a:t>identify new risks </a:t>
            </a:r>
            <a:r>
              <a:rPr lang="en-GB" sz="2300" dirty="0"/>
              <a:t>or </a:t>
            </a:r>
            <a:r>
              <a:rPr lang="en-GB" sz="2300" b="1" dirty="0"/>
              <a:t>changes in existing </a:t>
            </a:r>
            <a:r>
              <a:rPr lang="en-GB" sz="2300" b="1" dirty="0" smtClean="0"/>
              <a:t>risks.</a:t>
            </a:r>
          </a:p>
          <a:p>
            <a:pPr marL="457200" indent="-457200" algn="just">
              <a:buFont typeface="+mj-lt"/>
              <a:buAutoNum type="arabicPeriod"/>
            </a:pPr>
            <a:r>
              <a:rPr lang="en-GB" sz="2300" dirty="0" smtClean="0"/>
              <a:t>Use </a:t>
            </a:r>
            <a:r>
              <a:rPr lang="en-GB" sz="2300" dirty="0"/>
              <a:t>the risk register to monitor the probability, impact, and status of each risk.</a:t>
            </a:r>
          </a:p>
          <a:p>
            <a:pPr lvl="1" algn="just"/>
            <a:r>
              <a:rPr lang="en-GB" sz="2300" dirty="0"/>
              <a:t> </a:t>
            </a:r>
            <a:r>
              <a:rPr lang="en-GB" sz="2300" dirty="0" smtClean="0"/>
              <a:t> </a:t>
            </a:r>
            <a:r>
              <a:rPr lang="en-GB" sz="2300" b="1" dirty="0" smtClean="0"/>
              <a:t>Evaluate </a:t>
            </a:r>
            <a:r>
              <a:rPr lang="en-GB" sz="2300" b="1" dirty="0"/>
              <a:t>whether risk responses are working as </a:t>
            </a:r>
            <a:r>
              <a:rPr lang="en-GB" sz="2300" b="1" dirty="0" smtClean="0"/>
              <a:t>intended.</a:t>
            </a:r>
          </a:p>
          <a:p>
            <a:pPr marL="457200" indent="-457200" algn="just">
              <a:buFont typeface="+mj-lt"/>
              <a:buAutoNum type="arabicPeriod"/>
            </a:pPr>
            <a:r>
              <a:rPr lang="en-GB" sz="2300" dirty="0" smtClean="0"/>
              <a:t>Maintain </a:t>
            </a:r>
            <a:r>
              <a:rPr lang="en-GB" sz="2300" dirty="0"/>
              <a:t>a </a:t>
            </a:r>
            <a:r>
              <a:rPr lang="en-GB" sz="2300" b="1" dirty="0"/>
              <a:t>risk register</a:t>
            </a:r>
            <a:r>
              <a:rPr lang="en-GB" sz="2300" dirty="0"/>
              <a:t> or </a:t>
            </a:r>
            <a:r>
              <a:rPr lang="en-GB" sz="2300" b="1" dirty="0"/>
              <a:t>risk log</a:t>
            </a:r>
            <a:r>
              <a:rPr lang="en-GB" sz="2300" dirty="0"/>
              <a:t> to document and update risks</a:t>
            </a:r>
            <a:r>
              <a:rPr lang="en-GB" sz="2300" dirty="0" smtClean="0"/>
              <a:t>.</a:t>
            </a:r>
          </a:p>
          <a:p>
            <a:pPr marL="457200" indent="-457200" algn="just">
              <a:buFont typeface="+mj-lt"/>
              <a:buAutoNum type="arabicPeriod"/>
            </a:pPr>
            <a:r>
              <a:rPr lang="en-GB" sz="2300" b="1" dirty="0"/>
              <a:t>Compare actual project outcomes with planned objectives to detect deviations.</a:t>
            </a:r>
          </a:p>
          <a:p>
            <a:pPr marL="457200" indent="-457200" algn="just">
              <a:buFont typeface="+mj-lt"/>
              <a:buAutoNum type="arabicPeriod"/>
            </a:pPr>
            <a:r>
              <a:rPr lang="en-GB" sz="2300" b="1" dirty="0"/>
              <a:t>Perform Reserve </a:t>
            </a:r>
            <a:r>
              <a:rPr lang="en-GB" sz="2300" b="1" dirty="0" smtClean="0"/>
              <a:t>Analysis: </a:t>
            </a:r>
            <a:r>
              <a:rPr lang="en-GB" sz="2300" dirty="0"/>
              <a:t>Evaluate whether contingency and management reserves are sufficient</a:t>
            </a:r>
            <a:r>
              <a:rPr lang="en-GB" sz="2300" dirty="0" smtClean="0"/>
              <a:t>.</a:t>
            </a:r>
          </a:p>
          <a:p>
            <a:pPr marL="457200" indent="-457200" algn="just">
              <a:buFont typeface="+mj-lt"/>
              <a:buAutoNum type="arabicPeriod"/>
            </a:pPr>
            <a:r>
              <a:rPr lang="en-GB" sz="2300" dirty="0"/>
              <a:t>Assess how well implemented risk responses are working</a:t>
            </a:r>
            <a:r>
              <a:rPr lang="en-GB" sz="2300" dirty="0" smtClean="0"/>
              <a:t>.</a:t>
            </a:r>
          </a:p>
          <a:p>
            <a:pPr marL="0" indent="0" algn="just">
              <a:buNone/>
            </a:pPr>
            <a:endParaRPr lang="en-GB" sz="2300" dirty="0"/>
          </a:p>
          <a:p>
            <a:pPr lvl="1" algn="just"/>
            <a:r>
              <a:rPr lang="en-GB" sz="2300" dirty="0" smtClean="0"/>
              <a:t>Gather </a:t>
            </a:r>
            <a:r>
              <a:rPr lang="en-GB" sz="2300" dirty="0"/>
              <a:t>feedback from stakeholders and team members.</a:t>
            </a:r>
          </a:p>
          <a:p>
            <a:pPr lvl="1" algn="just"/>
            <a:r>
              <a:rPr lang="en-GB" sz="2300" dirty="0" err="1"/>
              <a:t>Analyze</a:t>
            </a:r>
            <a:r>
              <a:rPr lang="en-GB" sz="2300" dirty="0"/>
              <a:t> whether risk impacts have been mitigated as planned.</a:t>
            </a:r>
          </a:p>
          <a:p>
            <a:pPr lvl="1" algn="just"/>
            <a:r>
              <a:rPr lang="en-GB" sz="2300" b="1" dirty="0"/>
              <a:t>Modify or update risk responses if they are found ineffective.</a:t>
            </a:r>
          </a:p>
          <a:p>
            <a:pPr marL="0" indent="0">
              <a:buNone/>
            </a:pPr>
            <a:endParaRPr lang="en-GB" b="1" dirty="0"/>
          </a:p>
          <a:p>
            <a:pPr marL="457200" indent="-457200">
              <a:buFont typeface="+mj-lt"/>
              <a:buAutoNum type="arabicPeriod"/>
            </a:pPr>
            <a:endParaRPr lang="en-GB" sz="1800" dirty="0"/>
          </a:p>
          <a:p>
            <a:pPr marL="201168" lvl="1" indent="0">
              <a:buNone/>
            </a:pPr>
            <a:endParaRPr lang="en-GB" dirty="0" smtClean="0"/>
          </a:p>
          <a:p>
            <a:endParaRPr lang="en-GB" sz="1800" dirty="0"/>
          </a:p>
          <a:p>
            <a:pPr marL="457200" indent="-457200">
              <a:buFont typeface="+mj-lt"/>
              <a:buAutoNum type="arabicPeriod"/>
            </a:pPr>
            <a:endParaRPr lang="en-GB"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25</a:t>
            </a:fld>
            <a:endParaRPr lang="en-US" altLang="en-US"/>
          </a:p>
        </p:txBody>
      </p:sp>
    </p:spTree>
    <p:extLst>
      <p:ext uri="{BB962C8B-B14F-4D97-AF65-F5344CB8AC3E}">
        <p14:creationId xmlns:p14="http://schemas.microsoft.com/office/powerpoint/2010/main" val="3590654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b="1" dirty="0"/>
              <a:t>7 Monitor Risks</a:t>
            </a:r>
          </a:p>
        </p:txBody>
      </p:sp>
      <p:sp>
        <p:nvSpPr>
          <p:cNvPr id="3" name="Content Placeholder 2"/>
          <p:cNvSpPr>
            <a:spLocks noGrp="1"/>
          </p:cNvSpPr>
          <p:nvPr>
            <p:ph idx="1"/>
          </p:nvPr>
        </p:nvSpPr>
        <p:spPr/>
        <p:txBody>
          <a:bodyPr/>
          <a:lstStyle/>
          <a:p>
            <a:r>
              <a:rPr lang="en-GB" b="1" dirty="0" smtClean="0"/>
              <a:t>Audits:</a:t>
            </a:r>
          </a:p>
          <a:p>
            <a:pPr algn="just"/>
            <a:r>
              <a:rPr lang="en-PK" dirty="0"/>
              <a:t>Risk audits are a type of audit that may be used to consider the </a:t>
            </a:r>
            <a:r>
              <a:rPr lang="en-PK" b="1" dirty="0"/>
              <a:t>effectiveness of the risk management process</a:t>
            </a:r>
            <a:r>
              <a:rPr lang="en-PK" b="1" dirty="0" smtClean="0"/>
              <a:t>.</a:t>
            </a:r>
            <a:endParaRPr lang="en-US" b="1" dirty="0" smtClean="0"/>
          </a:p>
          <a:p>
            <a:pPr algn="just"/>
            <a:r>
              <a:rPr lang="en-GB" dirty="0"/>
              <a:t>The project manager is responsible for ensuring that risk audits are performed at an appropriate frequency, as defined in the project’s risk management plan. </a:t>
            </a:r>
            <a:endParaRPr lang="en-GB" dirty="0" smtClean="0"/>
          </a:p>
          <a:p>
            <a:pPr algn="just"/>
            <a:r>
              <a:rPr lang="en-GB" dirty="0"/>
              <a:t>The format for the risk audit and its objectives should be clearly defined before the audit is conducted.</a:t>
            </a:r>
            <a:endParaRPr lang="en-GB" b="1" dirty="0"/>
          </a:p>
          <a:p>
            <a:endParaRPr lang="en-GB" b="1" dirty="0"/>
          </a:p>
        </p:txBody>
      </p:sp>
      <p:sp>
        <p:nvSpPr>
          <p:cNvPr id="4" name="Date Placeholder 3"/>
          <p:cNvSpPr>
            <a:spLocks noGrp="1"/>
          </p:cNvSpPr>
          <p:nvPr>
            <p:ph type="dt" sz="half" idx="10"/>
          </p:nvPr>
        </p:nvSpPr>
        <p:spPr/>
        <p:txBody>
          <a:bodyPr/>
          <a:lstStyle/>
          <a:p>
            <a:pPr>
              <a:defRPr/>
            </a:pPr>
            <a:fld id="{3C712F70-9010-439C-869A-63A03578F55B}" type="datetime1">
              <a:rPr lang="en-US" smtClean="0"/>
              <a:t>12/5/2024</a:t>
            </a:fld>
            <a:endParaRPr lang="en-US"/>
          </a:p>
        </p:txBody>
      </p:sp>
      <p:sp>
        <p:nvSpPr>
          <p:cNvPr id="5" name="Footer Placeholder 4"/>
          <p:cNvSpPr>
            <a:spLocks noGrp="1"/>
          </p:cNvSpPr>
          <p:nvPr>
            <p:ph type="ftr" sz="quarter" idx="11"/>
          </p:nvPr>
        </p:nvSpPr>
        <p:spPr/>
        <p:txBody>
          <a:bodyPr/>
          <a:lstStyle/>
          <a:p>
            <a:pPr>
              <a:defRPr/>
            </a:pPr>
            <a:r>
              <a:rPr lang="en-US" smtClean="0"/>
              <a:t>CSE494-Software Project Management</a:t>
            </a:r>
            <a:endParaRPr lang="en-US"/>
          </a:p>
        </p:txBody>
      </p:sp>
      <p:sp>
        <p:nvSpPr>
          <p:cNvPr id="6" name="Slide Number Placeholder 5"/>
          <p:cNvSpPr>
            <a:spLocks noGrp="1"/>
          </p:cNvSpPr>
          <p:nvPr>
            <p:ph type="sldNum" sz="quarter" idx="12"/>
          </p:nvPr>
        </p:nvSpPr>
        <p:spPr/>
        <p:txBody>
          <a:bodyPr/>
          <a:lstStyle/>
          <a:p>
            <a:pPr>
              <a:defRPr/>
            </a:pPr>
            <a:fld id="{4861128D-6627-4267-B434-E840C2C2B75D}" type="slidenum">
              <a:rPr lang="en-US" altLang="en-US" smtClean="0"/>
              <a:pPr>
                <a:defRPr/>
              </a:pPr>
              <a:t>26</a:t>
            </a:fld>
            <a:endParaRPr lang="en-US" altLang="en-US"/>
          </a:p>
        </p:txBody>
      </p:sp>
    </p:spTree>
    <p:extLst>
      <p:ext uri="{BB962C8B-B14F-4D97-AF65-F5344CB8AC3E}">
        <p14:creationId xmlns:p14="http://schemas.microsoft.com/office/powerpoint/2010/main" val="3212105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FC7BF-0B47-4E79-83C6-67955BC866B2}"/>
              </a:ext>
            </a:extLst>
          </p:cNvPr>
          <p:cNvSpPr>
            <a:spLocks noGrp="1"/>
          </p:cNvSpPr>
          <p:nvPr>
            <p:ph type="title"/>
          </p:nvPr>
        </p:nvSpPr>
        <p:spPr/>
        <p:txBody>
          <a:bodyPr/>
          <a:lstStyle/>
          <a:p>
            <a:r>
              <a:rPr lang="en-US" b="1" dirty="0">
                <a:latin typeface="Baskerville Old Face" panose="02020602080505020303" pitchFamily="18" charset="0"/>
              </a:rPr>
              <a:t>Reading</a:t>
            </a:r>
            <a:r>
              <a:rPr lang="en-US" dirty="0"/>
              <a:t> </a:t>
            </a:r>
            <a:r>
              <a:rPr lang="en-US" b="1" dirty="0">
                <a:latin typeface="Baskerville Old Face" panose="02020602080505020303" pitchFamily="18" charset="0"/>
              </a:rPr>
              <a:t>Assignment</a:t>
            </a:r>
          </a:p>
        </p:txBody>
      </p:sp>
      <p:sp>
        <p:nvSpPr>
          <p:cNvPr id="3" name="Content Placeholder 2">
            <a:extLst>
              <a:ext uri="{FF2B5EF4-FFF2-40B4-BE49-F238E27FC236}">
                <a16:creationId xmlns:a16="http://schemas.microsoft.com/office/drawing/2014/main" id="{00CDC546-52E5-41DA-B325-6605630D1848}"/>
              </a:ext>
            </a:extLst>
          </p:cNvPr>
          <p:cNvSpPr>
            <a:spLocks noGrp="1"/>
          </p:cNvSpPr>
          <p:nvPr>
            <p:ph idx="1"/>
          </p:nvPr>
        </p:nvSpPr>
        <p:spPr/>
        <p:txBody>
          <a:bodyPr/>
          <a:lstStyle/>
          <a:p>
            <a:endParaRPr lang="en-US" sz="1575" dirty="0"/>
          </a:p>
          <a:p>
            <a:r>
              <a:rPr lang="en-US" sz="1575" b="1" dirty="0"/>
              <a:t>Chapter 11: Project Risk Management </a:t>
            </a:r>
            <a:r>
              <a:rPr lang="en-US" dirty="0"/>
              <a:t>by PMBOK-Guide-6th-Edition-PMI</a:t>
            </a:r>
          </a:p>
          <a:p>
            <a:r>
              <a:rPr lang="en-US" dirty="0"/>
              <a:t>(Book and Lecture Slides are already uploaded on resource link.)</a:t>
            </a:r>
          </a:p>
          <a:p>
            <a:endParaRPr lang="en-US" dirty="0"/>
          </a:p>
        </p:txBody>
      </p:sp>
      <p:sp>
        <p:nvSpPr>
          <p:cNvPr id="4" name="Date Placeholder 3">
            <a:extLst>
              <a:ext uri="{FF2B5EF4-FFF2-40B4-BE49-F238E27FC236}">
                <a16:creationId xmlns:a16="http://schemas.microsoft.com/office/drawing/2014/main" id="{A5B02B09-1F9D-427A-B846-E2E1785EF80B}"/>
              </a:ext>
            </a:extLst>
          </p:cNvPr>
          <p:cNvSpPr>
            <a:spLocks noGrp="1"/>
          </p:cNvSpPr>
          <p:nvPr>
            <p:ph type="dt" sz="half" idx="10"/>
          </p:nvPr>
        </p:nvSpPr>
        <p:spPr/>
        <p:txBody>
          <a:bodyPr/>
          <a:lstStyle/>
          <a:p>
            <a:fld id="{E534BDD9-2E43-445F-839E-155E31213FE4}" type="datetime1">
              <a:rPr lang="en-US" smtClean="0"/>
              <a:t>12/5/2024</a:t>
            </a:fld>
            <a:endParaRPr lang="en-US"/>
          </a:p>
        </p:txBody>
      </p:sp>
      <p:sp>
        <p:nvSpPr>
          <p:cNvPr id="5" name="Footer Placeholder 4">
            <a:extLst>
              <a:ext uri="{FF2B5EF4-FFF2-40B4-BE49-F238E27FC236}">
                <a16:creationId xmlns:a16="http://schemas.microsoft.com/office/drawing/2014/main" id="{5956F421-BEF6-4F37-B740-BDD2531683E0}"/>
              </a:ext>
            </a:extLst>
          </p:cNvPr>
          <p:cNvSpPr>
            <a:spLocks noGrp="1"/>
          </p:cNvSpPr>
          <p:nvPr>
            <p:ph type="ftr" sz="quarter" idx="11"/>
          </p:nvPr>
        </p:nvSpPr>
        <p:spPr/>
        <p:txBody>
          <a:bodyPr/>
          <a:lstStyle/>
          <a:p>
            <a:r>
              <a:rPr lang="en-US"/>
              <a:t>CSE494-SoftwareProjectManagement</a:t>
            </a:r>
          </a:p>
        </p:txBody>
      </p:sp>
      <p:sp>
        <p:nvSpPr>
          <p:cNvPr id="6" name="Slide Number Placeholder 5">
            <a:extLst>
              <a:ext uri="{FF2B5EF4-FFF2-40B4-BE49-F238E27FC236}">
                <a16:creationId xmlns:a16="http://schemas.microsoft.com/office/drawing/2014/main" id="{BABEC7B5-5B0A-4C13-9C45-C564BA1F74C3}"/>
              </a:ext>
            </a:extLst>
          </p:cNvPr>
          <p:cNvSpPr>
            <a:spLocks noGrp="1"/>
          </p:cNvSpPr>
          <p:nvPr>
            <p:ph type="sldNum" sz="quarter" idx="12"/>
          </p:nvPr>
        </p:nvSpPr>
        <p:spPr/>
        <p:txBody>
          <a:bodyPr/>
          <a:lstStyle/>
          <a:p>
            <a:fld id="{2BA7BCB7-F020-4D66-B969-F77D7060AB52}" type="slidenum">
              <a:rPr lang="en-US" smtClean="0"/>
              <a:t>27</a:t>
            </a:fld>
            <a:endParaRPr lang="en-US"/>
          </a:p>
        </p:txBody>
      </p:sp>
    </p:spTree>
    <p:extLst>
      <p:ext uri="{BB962C8B-B14F-4D97-AF65-F5344CB8AC3E}">
        <p14:creationId xmlns:p14="http://schemas.microsoft.com/office/powerpoint/2010/main" val="547314205"/>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1234</TotalTime>
  <Words>1716</Words>
  <Application>Microsoft Office PowerPoint</Application>
  <PresentationFormat>On-screen Show (4:3)</PresentationFormat>
  <Paragraphs>252</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Baskerville Old Face</vt:lpstr>
      <vt:lpstr>Calibri</vt:lpstr>
      <vt:lpstr>Calibri Light</vt:lpstr>
      <vt:lpstr>Times New Roman</vt:lpstr>
      <vt:lpstr>Wingdings</vt:lpstr>
      <vt:lpstr>Retrospect</vt:lpstr>
      <vt:lpstr>Project Risk Management</vt:lpstr>
      <vt:lpstr>2 IDENTIFY RISKS</vt:lpstr>
      <vt:lpstr>SWOT Analysis</vt:lpstr>
      <vt:lpstr>SWOT Analysis</vt:lpstr>
      <vt:lpstr>Case Study: TechCore Solutions' E-learning Platform</vt:lpstr>
      <vt:lpstr>Case Study: TechCore Solutions' E-learning Platform</vt:lpstr>
      <vt:lpstr>Solution</vt:lpstr>
      <vt:lpstr>2 IDENTIFY RISKS</vt:lpstr>
      <vt:lpstr>Example</vt:lpstr>
      <vt:lpstr>Risk Register</vt:lpstr>
      <vt:lpstr> Risk Report</vt:lpstr>
      <vt:lpstr>Difference: Risk Register and Risk Report</vt:lpstr>
      <vt:lpstr>Example of Risk Register</vt:lpstr>
      <vt:lpstr>3 PERFORM QUALITATIVE RISK ANALYSIS</vt:lpstr>
      <vt:lpstr>4 Perform Quantitative Risk Analysis</vt:lpstr>
      <vt:lpstr>Quantitative Risk Analysis  </vt:lpstr>
      <vt:lpstr>EMV Calculation Example </vt:lpstr>
      <vt:lpstr>   EMV Calculation Example </vt:lpstr>
      <vt:lpstr>5 PLAN RISK RESPONSES</vt:lpstr>
      <vt:lpstr>Strategies For Threats</vt:lpstr>
      <vt:lpstr>Strategies For Threats</vt:lpstr>
      <vt:lpstr>6 Implement Risk Responses</vt:lpstr>
      <vt:lpstr>Steps in Implementing Risk Responses </vt:lpstr>
      <vt:lpstr>7 Monitor Risks</vt:lpstr>
      <vt:lpstr>Steps for Monitoring Risks in Risk Management</vt:lpstr>
      <vt:lpstr>7 Monitor Risks</vt:lpstr>
      <vt:lpstr>Reading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dc:title>
  <dc:creator>Fareeha Iftikhar</dc:creator>
  <cp:lastModifiedBy>Humaira Afzal</cp:lastModifiedBy>
  <cp:revision>161</cp:revision>
  <cp:lastPrinted>2024-11-25T05:12:38Z</cp:lastPrinted>
  <dcterms:created xsi:type="dcterms:W3CDTF">2020-06-02T20:16:11Z</dcterms:created>
  <dcterms:modified xsi:type="dcterms:W3CDTF">2024-12-05T04:51:19Z</dcterms:modified>
</cp:coreProperties>
</file>