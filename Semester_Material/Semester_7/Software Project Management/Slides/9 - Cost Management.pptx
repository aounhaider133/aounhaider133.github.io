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4" r:id="rId3"/>
    <p:sldId id="275" r:id="rId4"/>
    <p:sldId id="276" r:id="rId5"/>
    <p:sldId id="277" r:id="rId6"/>
    <p:sldId id="278" r:id="rId7"/>
    <p:sldId id="279" r:id="rId8"/>
    <p:sldId id="280"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72"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4" d="100"/>
          <a:sy n="64" d="100"/>
        </p:scale>
        <p:origin x="74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306E5C0-2EF4-4ADE-B45A-8AF2BA2382EF}" type="datetimeFigureOut">
              <a:rPr lang="en-GB" smtClean="0"/>
              <a:t>20/11/2024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4E6710E-6D4D-45E0-8320-6B52B3C8AC0D}"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06493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306E5C0-2EF4-4ADE-B45A-8AF2BA2382EF}" type="datetimeFigureOut">
              <a:rPr lang="en-GB" smtClean="0"/>
              <a:t>20/11/2024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4E6710E-6D4D-45E0-8320-6B52B3C8AC0D}" type="slidenum">
              <a:rPr lang="en-GB" smtClean="0"/>
              <a:t>‹#›</a:t>
            </a:fld>
            <a:endParaRPr lang="en-GB"/>
          </a:p>
        </p:txBody>
      </p:sp>
    </p:spTree>
    <p:extLst>
      <p:ext uri="{BB962C8B-B14F-4D97-AF65-F5344CB8AC3E}">
        <p14:creationId xmlns:p14="http://schemas.microsoft.com/office/powerpoint/2010/main" val="1235287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306E5C0-2EF4-4ADE-B45A-8AF2BA2382EF}" type="datetimeFigureOut">
              <a:rPr lang="en-GB" smtClean="0"/>
              <a:t>20/11/2024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4E6710E-6D4D-45E0-8320-6B52B3C8AC0D}"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8601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306E5C0-2EF4-4ADE-B45A-8AF2BA2382EF}" type="datetimeFigureOut">
              <a:rPr lang="en-GB" smtClean="0"/>
              <a:t>20/11/2024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4E6710E-6D4D-45E0-8320-6B52B3C8AC0D}" type="slidenum">
              <a:rPr lang="en-GB" smtClean="0"/>
              <a:t>‹#›</a:t>
            </a:fld>
            <a:endParaRPr lang="en-GB"/>
          </a:p>
        </p:txBody>
      </p:sp>
    </p:spTree>
    <p:extLst>
      <p:ext uri="{BB962C8B-B14F-4D97-AF65-F5344CB8AC3E}">
        <p14:creationId xmlns:p14="http://schemas.microsoft.com/office/powerpoint/2010/main" val="3951005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306E5C0-2EF4-4ADE-B45A-8AF2BA2382EF}" type="datetimeFigureOut">
              <a:rPr lang="en-GB" smtClean="0"/>
              <a:t>20/11/2024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4E6710E-6D4D-45E0-8320-6B52B3C8AC0D}" type="slidenum">
              <a:rPr lang="en-GB" smtClean="0"/>
              <a:t>‹#›</a:t>
            </a:fld>
            <a:endParaRPr lang="en-GB"/>
          </a:p>
        </p:txBody>
      </p:sp>
    </p:spTree>
    <p:extLst>
      <p:ext uri="{BB962C8B-B14F-4D97-AF65-F5344CB8AC3E}">
        <p14:creationId xmlns:p14="http://schemas.microsoft.com/office/powerpoint/2010/main" val="3302376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306E5C0-2EF4-4ADE-B45A-8AF2BA2382EF}" type="datetimeFigureOut">
              <a:rPr lang="en-GB" smtClean="0"/>
              <a:t>20/11/2024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4E6710E-6D4D-45E0-8320-6B52B3C8AC0D}" type="slidenum">
              <a:rPr lang="en-GB" smtClean="0"/>
              <a:t>‹#›</a:t>
            </a:fld>
            <a:endParaRPr lang="en-GB"/>
          </a:p>
        </p:txBody>
      </p:sp>
    </p:spTree>
    <p:extLst>
      <p:ext uri="{BB962C8B-B14F-4D97-AF65-F5344CB8AC3E}">
        <p14:creationId xmlns:p14="http://schemas.microsoft.com/office/powerpoint/2010/main" val="1557416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306E5C0-2EF4-4ADE-B45A-8AF2BA2382EF}" type="datetimeFigureOut">
              <a:rPr lang="en-GB" smtClean="0"/>
              <a:t>20/11/2024</a:t>
            </a:fld>
            <a:endParaRPr lang="en-GB"/>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GB"/>
          </a:p>
        </p:txBody>
      </p:sp>
      <p:sp>
        <p:nvSpPr>
          <p:cNvPr id="9" name="Slide Number Placeholder 8"/>
          <p:cNvSpPr>
            <a:spLocks noGrp="1"/>
          </p:cNvSpPr>
          <p:nvPr>
            <p:ph type="sldNum" sz="quarter" idx="12"/>
          </p:nvPr>
        </p:nvSpPr>
        <p:spPr/>
        <p:txBody>
          <a:bodyPr/>
          <a:lstStyle/>
          <a:p>
            <a:fld id="{44E6710E-6D4D-45E0-8320-6B52B3C8AC0D}" type="slidenum">
              <a:rPr lang="en-GB" smtClean="0"/>
              <a:t>‹#›</a:t>
            </a:fld>
            <a:endParaRPr lang="en-GB"/>
          </a:p>
        </p:txBody>
      </p:sp>
    </p:spTree>
    <p:extLst>
      <p:ext uri="{BB962C8B-B14F-4D97-AF65-F5344CB8AC3E}">
        <p14:creationId xmlns:p14="http://schemas.microsoft.com/office/powerpoint/2010/main" val="27993076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306E5C0-2EF4-4ADE-B45A-8AF2BA2382EF}" type="datetimeFigureOut">
              <a:rPr lang="en-GB" smtClean="0"/>
              <a:t>20/11/2024</a:t>
            </a:fld>
            <a:endParaRPr lang="en-GB"/>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4E6710E-6D4D-45E0-8320-6B52B3C8AC0D}" type="slidenum">
              <a:rPr lang="en-GB" smtClean="0"/>
              <a:t>‹#›</a:t>
            </a:fld>
            <a:endParaRPr lang="en-GB"/>
          </a:p>
        </p:txBody>
      </p:sp>
    </p:spTree>
    <p:extLst>
      <p:ext uri="{BB962C8B-B14F-4D97-AF65-F5344CB8AC3E}">
        <p14:creationId xmlns:p14="http://schemas.microsoft.com/office/powerpoint/2010/main" val="2575166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306E5C0-2EF4-4ADE-B45A-8AF2BA2382EF}" type="datetimeFigureOut">
              <a:rPr lang="en-GB" smtClean="0"/>
              <a:t>20/11/2024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4E6710E-6D4D-45E0-8320-6B52B3C8AC0D}" type="slidenum">
              <a:rPr lang="en-GB" smtClean="0"/>
              <a:t>‹#›</a:t>
            </a:fld>
            <a:endParaRPr lang="en-GB"/>
          </a:p>
        </p:txBody>
      </p:sp>
    </p:spTree>
    <p:extLst>
      <p:ext uri="{BB962C8B-B14F-4D97-AF65-F5344CB8AC3E}">
        <p14:creationId xmlns:p14="http://schemas.microsoft.com/office/powerpoint/2010/main" val="1481076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306E5C0-2EF4-4ADE-B45A-8AF2BA2382EF}" type="datetimeFigureOut">
              <a:rPr lang="en-GB" smtClean="0"/>
              <a:t>20/11/2024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4E6710E-6D4D-45E0-8320-6B52B3C8AC0D}" type="slidenum">
              <a:rPr lang="en-GB" smtClean="0"/>
              <a:t>‹#›</a:t>
            </a:fld>
            <a:endParaRPr lang="en-GB"/>
          </a:p>
        </p:txBody>
      </p:sp>
    </p:spTree>
    <p:extLst>
      <p:ext uri="{BB962C8B-B14F-4D97-AF65-F5344CB8AC3E}">
        <p14:creationId xmlns:p14="http://schemas.microsoft.com/office/powerpoint/2010/main" val="7685981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306E5C0-2EF4-4ADE-B45A-8AF2BA2382EF}" type="datetimeFigureOut">
              <a:rPr lang="en-GB" smtClean="0"/>
              <a:t>20/11/2024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4E6710E-6D4D-45E0-8320-6B52B3C8AC0D}" type="slidenum">
              <a:rPr lang="en-GB" smtClean="0"/>
              <a:t>‹#›</a:t>
            </a:fld>
            <a:endParaRPr lang="en-GB"/>
          </a:p>
        </p:txBody>
      </p:sp>
    </p:spTree>
    <p:extLst>
      <p:ext uri="{BB962C8B-B14F-4D97-AF65-F5344CB8AC3E}">
        <p14:creationId xmlns:p14="http://schemas.microsoft.com/office/powerpoint/2010/main" val="1813963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306E5C0-2EF4-4ADE-B45A-8AF2BA2382EF}" type="datetimeFigureOut">
              <a:rPr lang="en-GB" smtClean="0"/>
              <a:t>20/11/2024</a:t>
            </a:fld>
            <a:endParaRPr lang="en-GB"/>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GB"/>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4E6710E-6D4D-45E0-8320-6B52B3C8AC0D}" type="slidenum">
              <a:rPr lang="en-GB" smtClean="0"/>
              <a:t>‹#›</a:t>
            </a:fld>
            <a:endParaRPr lang="en-GB"/>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19291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GB" sz="5400" dirty="0"/>
              <a:t>PROJECT COST MANAGEMENT</a:t>
            </a:r>
            <a:endParaRPr lang="en-GB" sz="5400" b="1" dirty="0"/>
          </a:p>
        </p:txBody>
      </p:sp>
      <p:sp>
        <p:nvSpPr>
          <p:cNvPr id="3" name="Subtitle 2"/>
          <p:cNvSpPr>
            <a:spLocks noGrp="1"/>
          </p:cNvSpPr>
          <p:nvPr>
            <p:ph type="subTitle" idx="1"/>
          </p:nvPr>
        </p:nvSpPr>
        <p:spPr/>
        <p:txBody>
          <a:bodyPr/>
          <a:lstStyle/>
          <a:p>
            <a:r>
              <a:rPr lang="en-US" b="1" dirty="0" smtClean="0"/>
              <a:t>Cost Management – Knowledge Area</a:t>
            </a:r>
            <a:endParaRPr lang="en-GB" b="1" dirty="0"/>
          </a:p>
        </p:txBody>
      </p:sp>
    </p:spTree>
    <p:extLst>
      <p:ext uri="{BB962C8B-B14F-4D97-AF65-F5344CB8AC3E}">
        <p14:creationId xmlns:p14="http://schemas.microsoft.com/office/powerpoint/2010/main" val="129991764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Cost Management</a:t>
            </a:r>
            <a:endParaRPr lang="en-GB" dirty="0"/>
          </a:p>
        </p:txBody>
      </p:sp>
      <p:sp>
        <p:nvSpPr>
          <p:cNvPr id="3" name="Content Placeholder 2"/>
          <p:cNvSpPr>
            <a:spLocks noGrp="1"/>
          </p:cNvSpPr>
          <p:nvPr>
            <p:ph idx="1"/>
          </p:nvPr>
        </p:nvSpPr>
        <p:spPr/>
        <p:txBody>
          <a:bodyPr>
            <a:normAutofit lnSpcReduction="10000"/>
          </a:bodyPr>
          <a:lstStyle/>
          <a:p>
            <a:r>
              <a:rPr lang="en-GB" dirty="0"/>
              <a:t>Project Cost Management includes the processes involved in </a:t>
            </a:r>
            <a:r>
              <a:rPr lang="en-GB" b="1" dirty="0"/>
              <a:t>planning</a:t>
            </a:r>
            <a:r>
              <a:rPr lang="en-GB" dirty="0"/>
              <a:t>, </a:t>
            </a:r>
            <a:r>
              <a:rPr lang="en-GB" b="1" dirty="0"/>
              <a:t>estimating</a:t>
            </a:r>
            <a:r>
              <a:rPr lang="en-GB" dirty="0"/>
              <a:t>, </a:t>
            </a:r>
            <a:r>
              <a:rPr lang="en-GB" b="1" dirty="0"/>
              <a:t>budgeting</a:t>
            </a:r>
            <a:r>
              <a:rPr lang="en-GB" dirty="0"/>
              <a:t>, </a:t>
            </a:r>
            <a:r>
              <a:rPr lang="en-GB" b="1" dirty="0"/>
              <a:t>financing</a:t>
            </a:r>
            <a:r>
              <a:rPr lang="en-GB" dirty="0"/>
              <a:t>, funding, </a:t>
            </a:r>
            <a:r>
              <a:rPr lang="en-GB" b="1" dirty="0"/>
              <a:t>managing, and controlling costs </a:t>
            </a:r>
            <a:r>
              <a:rPr lang="en-GB" dirty="0"/>
              <a:t>so that the </a:t>
            </a:r>
            <a:r>
              <a:rPr lang="en-GB" b="1" dirty="0"/>
              <a:t>project can be completed within the approved budget</a:t>
            </a:r>
            <a:r>
              <a:rPr lang="en-GB" b="1" dirty="0" smtClean="0"/>
              <a:t>.</a:t>
            </a:r>
            <a:endParaRPr lang="en-GB" b="1" dirty="0"/>
          </a:p>
          <a:p>
            <a:r>
              <a:rPr lang="en-GB" dirty="0"/>
              <a:t>The Project Cost Management processes are</a:t>
            </a:r>
            <a:r>
              <a:rPr lang="en-GB" dirty="0" smtClean="0"/>
              <a:t>:</a:t>
            </a:r>
          </a:p>
          <a:p>
            <a:r>
              <a:rPr lang="en-PK" b="1" dirty="0"/>
              <a:t>Plan Cost Management</a:t>
            </a:r>
            <a:r>
              <a:rPr lang="en-PK" dirty="0"/>
              <a:t>—The</a:t>
            </a:r>
            <a:r>
              <a:rPr lang="en-PK" b="1" dirty="0"/>
              <a:t> </a:t>
            </a:r>
            <a:r>
              <a:rPr lang="en-PK" dirty="0"/>
              <a:t>process of defining how the project costs will be estimated, budgeted, managed, monitored, and controlled.</a:t>
            </a:r>
            <a:endParaRPr lang="en-GB" dirty="0"/>
          </a:p>
          <a:p>
            <a:r>
              <a:rPr lang="en-GB" b="1" dirty="0"/>
              <a:t>Estimate Costs</a:t>
            </a:r>
            <a:r>
              <a:rPr lang="en-GB" dirty="0"/>
              <a:t>—The process of developing an approximation of the monetary resources needed to complete project work</a:t>
            </a:r>
            <a:r>
              <a:rPr lang="en-GB" dirty="0" smtClean="0"/>
              <a:t>.</a:t>
            </a:r>
            <a:endParaRPr lang="en-GB" dirty="0"/>
          </a:p>
          <a:p>
            <a:r>
              <a:rPr lang="en-PK" b="1" dirty="0"/>
              <a:t>Determine Budget</a:t>
            </a:r>
            <a:r>
              <a:rPr lang="en-PK" dirty="0"/>
              <a:t>—The process of aggregating the estimated costs of individual activities or work packages to establish an authorized cost baseline</a:t>
            </a:r>
            <a:r>
              <a:rPr lang="en-PK" dirty="0" smtClean="0"/>
              <a:t>.</a:t>
            </a:r>
            <a:endParaRPr lang="en-US" dirty="0" smtClean="0"/>
          </a:p>
          <a:p>
            <a:r>
              <a:rPr lang="en-PK" b="1" dirty="0"/>
              <a:t>Control Costs</a:t>
            </a:r>
            <a:r>
              <a:rPr lang="en-PK" dirty="0"/>
              <a:t>—The process of monitoring the status of the project to update the project costs and manage changes to the cost baseline.</a:t>
            </a:r>
            <a:endParaRPr lang="en-GB" dirty="0"/>
          </a:p>
          <a:p>
            <a:endParaRPr lang="en-GB" dirty="0"/>
          </a:p>
          <a:p>
            <a:endParaRPr lang="en-GB" b="1" dirty="0"/>
          </a:p>
        </p:txBody>
      </p:sp>
    </p:spTree>
    <p:extLst>
      <p:ext uri="{BB962C8B-B14F-4D97-AF65-F5344CB8AC3E}">
        <p14:creationId xmlns:p14="http://schemas.microsoft.com/office/powerpoint/2010/main" val="135524359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11910" r="12685" b="5781"/>
          <a:stretch/>
        </p:blipFill>
        <p:spPr>
          <a:xfrm>
            <a:off x="2077278" y="149087"/>
            <a:ext cx="7772399" cy="6072809"/>
          </a:xfrm>
          <a:prstGeom prst="rect">
            <a:avLst/>
          </a:prstGeom>
        </p:spPr>
      </p:pic>
    </p:spTree>
    <p:extLst>
      <p:ext uri="{BB962C8B-B14F-4D97-AF65-F5344CB8AC3E}">
        <p14:creationId xmlns:p14="http://schemas.microsoft.com/office/powerpoint/2010/main" val="104726307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Plan Cost Management</a:t>
            </a:r>
            <a:endParaRPr lang="en-GB" dirty="0"/>
          </a:p>
        </p:txBody>
      </p:sp>
      <p:sp>
        <p:nvSpPr>
          <p:cNvPr id="3" name="Content Placeholder 2"/>
          <p:cNvSpPr>
            <a:spLocks noGrp="1"/>
          </p:cNvSpPr>
          <p:nvPr>
            <p:ph idx="1"/>
          </p:nvPr>
        </p:nvSpPr>
        <p:spPr>
          <a:xfrm>
            <a:off x="1097280" y="1845734"/>
            <a:ext cx="10058400" cy="4396040"/>
          </a:xfrm>
        </p:spPr>
        <p:txBody>
          <a:bodyPr>
            <a:normAutofit fontScale="92500" lnSpcReduction="10000"/>
          </a:bodyPr>
          <a:lstStyle/>
          <a:p>
            <a:r>
              <a:rPr lang="en-US" b="1" dirty="0" smtClean="0"/>
              <a:t>Cost Management Plan:</a:t>
            </a:r>
            <a:endParaRPr lang="en-GB" b="1" dirty="0"/>
          </a:p>
          <a:p>
            <a:r>
              <a:rPr lang="en-GB" dirty="0"/>
              <a:t>The cost management plan is a </a:t>
            </a:r>
            <a:r>
              <a:rPr lang="en-GB" b="1" dirty="0"/>
              <a:t>component of the project management plan </a:t>
            </a:r>
            <a:r>
              <a:rPr lang="en-GB" dirty="0"/>
              <a:t>and describes how the </a:t>
            </a:r>
            <a:r>
              <a:rPr lang="en-GB" b="1" dirty="0"/>
              <a:t>project costs will be planned, structured, and controlled</a:t>
            </a:r>
            <a:r>
              <a:rPr lang="en-GB" b="1" dirty="0" smtClean="0"/>
              <a:t>.</a:t>
            </a:r>
          </a:p>
          <a:p>
            <a:pPr>
              <a:buFont typeface="Arial" panose="020B0604020202020204" pitchFamily="34" charset="0"/>
              <a:buChar char="•"/>
            </a:pPr>
            <a:r>
              <a:rPr lang="en-US" b="1" dirty="0"/>
              <a:t> </a:t>
            </a:r>
            <a:r>
              <a:rPr lang="en-US" b="1" dirty="0" smtClean="0"/>
              <a:t> Units of Measures.</a:t>
            </a:r>
          </a:p>
          <a:p>
            <a:pPr>
              <a:buFont typeface="Arial" panose="020B0604020202020204" pitchFamily="34" charset="0"/>
              <a:buChar char="•"/>
            </a:pPr>
            <a:r>
              <a:rPr lang="en-US" b="1" dirty="0"/>
              <a:t> </a:t>
            </a:r>
            <a:r>
              <a:rPr lang="en-US" b="1" dirty="0" smtClean="0"/>
              <a:t> Level of Precision</a:t>
            </a:r>
          </a:p>
          <a:p>
            <a:pPr>
              <a:buFont typeface="Arial" panose="020B0604020202020204" pitchFamily="34" charset="0"/>
              <a:buChar char="•"/>
            </a:pPr>
            <a:r>
              <a:rPr lang="en-US" b="1" dirty="0"/>
              <a:t> </a:t>
            </a:r>
            <a:r>
              <a:rPr lang="en-US" b="1" dirty="0" smtClean="0"/>
              <a:t>Organization Procedures link: </a:t>
            </a:r>
            <a:r>
              <a:rPr lang="en-GB" dirty="0"/>
              <a:t>The WBS component used for the project cost accounting is called the </a:t>
            </a:r>
            <a:r>
              <a:rPr lang="en-GB" b="1" dirty="0"/>
              <a:t>control account. </a:t>
            </a:r>
            <a:r>
              <a:rPr lang="en-GB" dirty="0"/>
              <a:t>Each control account is assigned a unique code or account number(s) that links directly to the performing organization’s accounting system</a:t>
            </a:r>
            <a:r>
              <a:rPr lang="en-GB" dirty="0" smtClean="0"/>
              <a:t>.</a:t>
            </a:r>
          </a:p>
          <a:p>
            <a:pPr>
              <a:buFont typeface="Arial" panose="020B0604020202020204" pitchFamily="34" charset="0"/>
              <a:buChar char="•"/>
            </a:pPr>
            <a:r>
              <a:rPr lang="en-US" b="1" dirty="0"/>
              <a:t> </a:t>
            </a:r>
            <a:r>
              <a:rPr lang="en-US" b="1" dirty="0" smtClean="0"/>
              <a:t>Rules of Performance Measurements: </a:t>
            </a:r>
            <a:r>
              <a:rPr lang="en-GB" dirty="0"/>
              <a:t>Earned value management (EVM) rules of performance measurement are set. </a:t>
            </a:r>
            <a:endParaRPr lang="en-GB" dirty="0" smtClean="0"/>
          </a:p>
          <a:p>
            <a:pPr>
              <a:buFont typeface="Arial" panose="020B0604020202020204" pitchFamily="34" charset="0"/>
              <a:buChar char="•"/>
            </a:pPr>
            <a:r>
              <a:rPr lang="en-US" b="1" dirty="0"/>
              <a:t> </a:t>
            </a:r>
            <a:r>
              <a:rPr lang="en-US" b="1" dirty="0" smtClean="0"/>
              <a:t> Reporting formats: </a:t>
            </a:r>
            <a:r>
              <a:rPr lang="en-PK" dirty="0"/>
              <a:t>The formats and frequency for the various cost reports are de</a:t>
            </a:r>
            <a:r>
              <a:rPr lang="en-US" dirty="0"/>
              <a:t>fined</a:t>
            </a:r>
            <a:r>
              <a:rPr lang="en-US" dirty="0" smtClean="0"/>
              <a:t>.</a:t>
            </a:r>
          </a:p>
          <a:p>
            <a:pPr>
              <a:buFont typeface="Arial" panose="020B0604020202020204" pitchFamily="34" charset="0"/>
              <a:buChar char="•"/>
            </a:pPr>
            <a:r>
              <a:rPr lang="en-US" dirty="0"/>
              <a:t> </a:t>
            </a:r>
            <a:r>
              <a:rPr lang="en-US" b="1" dirty="0" smtClean="0"/>
              <a:t>Additional Details: </a:t>
            </a:r>
            <a:r>
              <a:rPr lang="en-GB" dirty="0"/>
              <a:t>Procedure to account for fluctuations in currency exchange </a:t>
            </a:r>
            <a:r>
              <a:rPr lang="en-GB" dirty="0" smtClean="0"/>
              <a:t>rates and project cost recording.</a:t>
            </a:r>
            <a:endParaRPr lang="en-GB" b="1" dirty="0" smtClean="0"/>
          </a:p>
          <a:p>
            <a:pPr>
              <a:buFont typeface="Arial" panose="020B0604020202020204" pitchFamily="34" charset="0"/>
              <a:buChar char="•"/>
            </a:pPr>
            <a:endParaRPr lang="en-GB" b="1" dirty="0"/>
          </a:p>
        </p:txBody>
      </p:sp>
    </p:spTree>
    <p:extLst>
      <p:ext uri="{BB962C8B-B14F-4D97-AF65-F5344CB8AC3E}">
        <p14:creationId xmlns:p14="http://schemas.microsoft.com/office/powerpoint/2010/main" val="372856747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Estimate Costs</a:t>
            </a:r>
            <a:endParaRPr lang="en-GB" dirty="0"/>
          </a:p>
        </p:txBody>
      </p:sp>
      <p:sp>
        <p:nvSpPr>
          <p:cNvPr id="3" name="Content Placeholder 2"/>
          <p:cNvSpPr>
            <a:spLocks noGrp="1"/>
          </p:cNvSpPr>
          <p:nvPr>
            <p:ph idx="1"/>
          </p:nvPr>
        </p:nvSpPr>
        <p:spPr/>
        <p:txBody>
          <a:bodyPr/>
          <a:lstStyle/>
          <a:p>
            <a:r>
              <a:rPr lang="en-US" b="1" dirty="0" smtClean="0"/>
              <a:t>Analogous Estimating: </a:t>
            </a:r>
            <a:r>
              <a:rPr lang="en-PK" dirty="0"/>
              <a:t>Analogous cost estimating uses values, or attributes, of a previous project that are similar to the current project</a:t>
            </a:r>
            <a:r>
              <a:rPr lang="en-PK" dirty="0" smtClean="0"/>
              <a:t>.</a:t>
            </a:r>
            <a:r>
              <a:rPr lang="en-US" dirty="0" smtClean="0"/>
              <a:t> </a:t>
            </a:r>
            <a:r>
              <a:rPr lang="en-GB" dirty="0"/>
              <a:t>Values and attributes of the projects may </a:t>
            </a:r>
            <a:r>
              <a:rPr lang="en-GB"/>
              <a:t>include </a:t>
            </a:r>
            <a:r>
              <a:rPr lang="en-GB" smtClean="0"/>
              <a:t> </a:t>
            </a:r>
            <a:r>
              <a:rPr lang="en-GB" dirty="0"/>
              <a:t>scope, cost, budget, duration, and measures of scale (e.g., size, weight</a:t>
            </a:r>
            <a:r>
              <a:rPr lang="en-GB" dirty="0" smtClean="0"/>
              <a:t>).</a:t>
            </a:r>
          </a:p>
          <a:p>
            <a:r>
              <a:rPr lang="en-US" b="1" dirty="0" smtClean="0"/>
              <a:t>Bottom up Estimating: </a:t>
            </a:r>
            <a:r>
              <a:rPr lang="en-GB" dirty="0"/>
              <a:t>Bottom-up estimating is a method of estimating a component of work. The cost of individual work packages or activities is estimated. The detailed cost is then summarized or “rolled up” to higher levels for subsequent reporting and tracking purposes</a:t>
            </a:r>
            <a:r>
              <a:rPr lang="en-GB" dirty="0" smtClean="0"/>
              <a:t>.</a:t>
            </a:r>
          </a:p>
          <a:p>
            <a:r>
              <a:rPr lang="en-US" b="1" dirty="0" smtClean="0"/>
              <a:t>Three Point Estimating:  </a:t>
            </a:r>
            <a:r>
              <a:rPr lang="en-US" dirty="0" smtClean="0"/>
              <a:t>Based on three estimates</a:t>
            </a:r>
          </a:p>
          <a:p>
            <a:r>
              <a:rPr lang="en-GB" b="1" dirty="0" smtClean="0"/>
              <a:t>Most </a:t>
            </a:r>
            <a:r>
              <a:rPr lang="en-GB" b="1" dirty="0"/>
              <a:t>likely (</a:t>
            </a:r>
            <a:r>
              <a:rPr lang="en-GB" b="1" dirty="0" err="1"/>
              <a:t>cM</a:t>
            </a:r>
            <a:r>
              <a:rPr lang="en-GB" b="1" dirty="0"/>
              <a:t>). </a:t>
            </a:r>
            <a:r>
              <a:rPr lang="en-GB" dirty="0"/>
              <a:t>The cost of the activity, based on </a:t>
            </a:r>
            <a:r>
              <a:rPr lang="en-GB" b="1" dirty="0"/>
              <a:t>realistic effort assessment </a:t>
            </a:r>
            <a:r>
              <a:rPr lang="en-GB" dirty="0"/>
              <a:t>for the required work and any predicted </a:t>
            </a:r>
            <a:r>
              <a:rPr lang="en-GB" dirty="0" smtClean="0"/>
              <a:t>expenses.</a:t>
            </a:r>
          </a:p>
          <a:p>
            <a:r>
              <a:rPr lang="en-GB" b="1" dirty="0" smtClean="0"/>
              <a:t>Optimistic </a:t>
            </a:r>
            <a:r>
              <a:rPr lang="en-GB" b="1" dirty="0"/>
              <a:t>(</a:t>
            </a:r>
            <a:r>
              <a:rPr lang="en-GB" b="1" dirty="0" err="1"/>
              <a:t>cO</a:t>
            </a:r>
            <a:r>
              <a:rPr lang="en-GB" b="1" dirty="0"/>
              <a:t>). </a:t>
            </a:r>
            <a:r>
              <a:rPr lang="en-GB" dirty="0"/>
              <a:t>The cost based on analysis of the </a:t>
            </a:r>
            <a:r>
              <a:rPr lang="en-GB" b="1" dirty="0"/>
              <a:t>best-case scenario </a:t>
            </a:r>
            <a:r>
              <a:rPr lang="en-GB" dirty="0"/>
              <a:t>for the activity</a:t>
            </a:r>
            <a:r>
              <a:rPr lang="en-GB" dirty="0" smtClean="0"/>
              <a:t>.</a:t>
            </a:r>
          </a:p>
          <a:p>
            <a:r>
              <a:rPr lang="en-US" b="1" dirty="0" err="1" smtClean="0"/>
              <a:t>Pe</a:t>
            </a:r>
            <a:r>
              <a:rPr lang="en-PK" b="1" dirty="0" smtClean="0"/>
              <a:t>ssimistic </a:t>
            </a:r>
            <a:r>
              <a:rPr lang="en-PK" b="1" dirty="0"/>
              <a:t>(cP). </a:t>
            </a:r>
            <a:r>
              <a:rPr lang="en-PK" dirty="0"/>
              <a:t>The cost based on analysis of the </a:t>
            </a:r>
            <a:r>
              <a:rPr lang="en-PK" b="1" dirty="0"/>
              <a:t>worst-case scenario </a:t>
            </a:r>
            <a:r>
              <a:rPr lang="en-PK" dirty="0"/>
              <a:t>for the activity.</a:t>
            </a:r>
            <a:endParaRPr lang="en-GB" dirty="0"/>
          </a:p>
          <a:p>
            <a:endParaRPr lang="en-US" b="1" dirty="0" smtClean="0"/>
          </a:p>
          <a:p>
            <a:endParaRPr lang="en-GB" b="1" dirty="0" smtClean="0"/>
          </a:p>
          <a:p>
            <a:endParaRPr lang="en-US" b="1" dirty="0" smtClean="0"/>
          </a:p>
          <a:p>
            <a:endParaRPr lang="en-GB" dirty="0"/>
          </a:p>
        </p:txBody>
      </p:sp>
    </p:spTree>
    <p:extLst>
      <p:ext uri="{BB962C8B-B14F-4D97-AF65-F5344CB8AC3E}">
        <p14:creationId xmlns:p14="http://schemas.microsoft.com/office/powerpoint/2010/main" val="20314828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Estimate Costs</a:t>
            </a:r>
            <a:endParaRPr lang="en-GB" dirty="0"/>
          </a:p>
        </p:txBody>
      </p:sp>
      <p:sp>
        <p:nvSpPr>
          <p:cNvPr id="3" name="Content Placeholder 2"/>
          <p:cNvSpPr>
            <a:spLocks noGrp="1"/>
          </p:cNvSpPr>
          <p:nvPr>
            <p:ph idx="1"/>
          </p:nvPr>
        </p:nvSpPr>
        <p:spPr/>
        <p:txBody>
          <a:bodyPr/>
          <a:lstStyle/>
          <a:p>
            <a:r>
              <a:rPr lang="en-GB" dirty="0"/>
              <a:t>Depending on the assumed distribution of values within the range of the three estimates, the expected cost, </a:t>
            </a:r>
            <a:r>
              <a:rPr lang="en-GB" dirty="0" err="1"/>
              <a:t>cE</a:t>
            </a:r>
            <a:r>
              <a:rPr lang="en-GB" dirty="0"/>
              <a:t>, can be calculated using a formula. </a:t>
            </a:r>
            <a:endParaRPr lang="en-GB" dirty="0" smtClean="0"/>
          </a:p>
          <a:p>
            <a:r>
              <a:rPr lang="en-GB" dirty="0" smtClean="0"/>
              <a:t>Two </a:t>
            </a:r>
            <a:r>
              <a:rPr lang="en-GB" dirty="0"/>
              <a:t>commonly used formulas are triangular and beta distributions. </a:t>
            </a:r>
            <a:endParaRPr lang="en-GB" dirty="0" smtClean="0"/>
          </a:p>
          <a:p>
            <a:r>
              <a:rPr lang="en-GB" dirty="0" smtClean="0"/>
              <a:t>The </a:t>
            </a:r>
            <a:r>
              <a:rPr lang="en-GB" dirty="0"/>
              <a:t>formulas are: </a:t>
            </a:r>
            <a:endParaRPr lang="en-GB" dirty="0" smtClean="0"/>
          </a:p>
          <a:p>
            <a:r>
              <a:rPr lang="en-GB" b="1" dirty="0" smtClean="0"/>
              <a:t>Triangular </a:t>
            </a:r>
            <a:r>
              <a:rPr lang="en-GB" b="1" dirty="0"/>
              <a:t>distribution. </a:t>
            </a:r>
            <a:r>
              <a:rPr lang="en-GB" b="1" dirty="0" err="1"/>
              <a:t>cE</a:t>
            </a:r>
            <a:r>
              <a:rPr lang="en-GB" b="1" dirty="0"/>
              <a:t> = (</a:t>
            </a:r>
            <a:r>
              <a:rPr lang="en-GB" b="1" dirty="0" err="1"/>
              <a:t>cO</a:t>
            </a:r>
            <a:r>
              <a:rPr lang="en-GB" b="1" dirty="0"/>
              <a:t> + </a:t>
            </a:r>
            <a:r>
              <a:rPr lang="en-GB" b="1" dirty="0" err="1"/>
              <a:t>cM</a:t>
            </a:r>
            <a:r>
              <a:rPr lang="en-GB" b="1" dirty="0"/>
              <a:t> + </a:t>
            </a:r>
            <a:r>
              <a:rPr lang="en-GB" b="1" dirty="0" err="1"/>
              <a:t>cP</a:t>
            </a:r>
            <a:r>
              <a:rPr lang="en-GB" b="1" dirty="0"/>
              <a:t>) / 3 </a:t>
            </a:r>
            <a:endParaRPr lang="en-GB" b="1" dirty="0" smtClean="0"/>
          </a:p>
          <a:p>
            <a:r>
              <a:rPr lang="en-GB" b="1" dirty="0" smtClean="0"/>
              <a:t>Beta </a:t>
            </a:r>
            <a:r>
              <a:rPr lang="en-GB" b="1" dirty="0"/>
              <a:t>distribution. </a:t>
            </a:r>
            <a:r>
              <a:rPr lang="en-GB" b="1" dirty="0" err="1"/>
              <a:t>cE</a:t>
            </a:r>
            <a:r>
              <a:rPr lang="en-GB" b="1" dirty="0"/>
              <a:t> = (</a:t>
            </a:r>
            <a:r>
              <a:rPr lang="en-GB" b="1" dirty="0" err="1"/>
              <a:t>cO</a:t>
            </a:r>
            <a:r>
              <a:rPr lang="en-GB" b="1" dirty="0"/>
              <a:t> + 4cM + </a:t>
            </a:r>
            <a:r>
              <a:rPr lang="en-GB" b="1" dirty="0" err="1"/>
              <a:t>cP</a:t>
            </a:r>
            <a:r>
              <a:rPr lang="en-GB" b="1" dirty="0"/>
              <a:t>) / </a:t>
            </a:r>
            <a:r>
              <a:rPr lang="en-GB" b="1" dirty="0" smtClean="0"/>
              <a:t>6</a:t>
            </a:r>
          </a:p>
          <a:p>
            <a:pPr marL="0" indent="0">
              <a:buNone/>
            </a:pPr>
            <a:r>
              <a:rPr lang="en-GB" dirty="0" smtClean="0"/>
              <a:t> </a:t>
            </a:r>
            <a:r>
              <a:rPr lang="en-GB" dirty="0"/>
              <a:t>Cost estimates based on three points with an assumed distribution provide an expected cost and clarify the range of uncertainty around the expected </a:t>
            </a:r>
            <a:r>
              <a:rPr lang="en-GB" dirty="0" smtClean="0"/>
              <a:t>cost.</a:t>
            </a:r>
            <a:endParaRPr lang="en-GB" dirty="0"/>
          </a:p>
        </p:txBody>
      </p:sp>
    </p:spTree>
    <p:extLst>
      <p:ext uri="{BB962C8B-B14F-4D97-AF65-F5344CB8AC3E}">
        <p14:creationId xmlns:p14="http://schemas.microsoft.com/office/powerpoint/2010/main" val="26207123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Determine Budget</a:t>
            </a:r>
            <a:endParaRPr lang="en-GB" dirty="0"/>
          </a:p>
        </p:txBody>
      </p:sp>
      <p:sp>
        <p:nvSpPr>
          <p:cNvPr id="3" name="Content Placeholder 2"/>
          <p:cNvSpPr>
            <a:spLocks noGrp="1"/>
          </p:cNvSpPr>
          <p:nvPr>
            <p:ph idx="1"/>
          </p:nvPr>
        </p:nvSpPr>
        <p:spPr/>
        <p:txBody>
          <a:bodyPr/>
          <a:lstStyle/>
          <a:p>
            <a:r>
              <a:rPr lang="en-US" b="1" dirty="0" smtClean="0"/>
              <a:t>Cost Baseline: </a:t>
            </a:r>
            <a:r>
              <a:rPr lang="en-GB" dirty="0"/>
              <a:t>The cost baseline is the approved version of the time-phased project </a:t>
            </a:r>
            <a:r>
              <a:rPr lang="en-GB" dirty="0" smtClean="0"/>
              <a:t>budget. </a:t>
            </a:r>
            <a:r>
              <a:rPr lang="en-PK" dirty="0"/>
              <a:t>It is used as a basis for comparison to actual results</a:t>
            </a:r>
            <a:r>
              <a:rPr lang="en-PK" dirty="0" smtClean="0"/>
              <a:t>.</a:t>
            </a:r>
            <a:endParaRPr lang="en-US" dirty="0" smtClean="0"/>
          </a:p>
          <a:p>
            <a:r>
              <a:rPr lang="en-GB" dirty="0"/>
              <a:t>The cost baseline is developed as a summation of the approved budgets for the different schedule </a:t>
            </a:r>
            <a:r>
              <a:rPr lang="en-GB" dirty="0" smtClean="0"/>
              <a:t>activities.</a:t>
            </a:r>
          </a:p>
          <a:p>
            <a:pPr marL="0" indent="0">
              <a:buNone/>
            </a:pPr>
            <a:r>
              <a:rPr lang="en-US" dirty="0"/>
              <a:t>	</a:t>
            </a:r>
            <a:r>
              <a:rPr lang="en-US" dirty="0" smtClean="0"/>
              <a:t>Work package cost estimates along with contingency </a:t>
            </a:r>
            <a:r>
              <a:rPr lang="en-US" dirty="0"/>
              <a:t>reserves/ incidental expense.</a:t>
            </a:r>
            <a:endParaRPr lang="en-US" dirty="0" smtClean="0"/>
          </a:p>
          <a:p>
            <a:pPr marL="0" indent="0">
              <a:buNone/>
            </a:pPr>
            <a:r>
              <a:rPr lang="en-US" dirty="0"/>
              <a:t> </a:t>
            </a:r>
            <a:r>
              <a:rPr lang="en-GB" dirty="0"/>
              <a:t>For projects that use earned value management, the cost baseline is referred to as the </a:t>
            </a:r>
            <a:r>
              <a:rPr lang="en-GB" b="1" dirty="0"/>
              <a:t>performance measurement baseline</a:t>
            </a:r>
            <a:r>
              <a:rPr lang="en-GB" dirty="0"/>
              <a:t>.</a:t>
            </a:r>
            <a:endParaRPr lang="en-GB" dirty="0" smtClean="0"/>
          </a:p>
          <a:p>
            <a:endParaRPr lang="en-GB" dirty="0"/>
          </a:p>
          <a:p>
            <a:endParaRPr lang="en-GB" b="1" dirty="0"/>
          </a:p>
        </p:txBody>
      </p:sp>
    </p:spTree>
    <p:extLst>
      <p:ext uri="{BB962C8B-B14F-4D97-AF65-F5344CB8AC3E}">
        <p14:creationId xmlns:p14="http://schemas.microsoft.com/office/powerpoint/2010/main" val="1899218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Control Costs</a:t>
            </a:r>
            <a:endParaRPr lang="en-GB" dirty="0"/>
          </a:p>
        </p:txBody>
      </p:sp>
      <p:sp>
        <p:nvSpPr>
          <p:cNvPr id="3" name="Content Placeholder 2"/>
          <p:cNvSpPr>
            <a:spLocks noGrp="1"/>
          </p:cNvSpPr>
          <p:nvPr>
            <p:ph idx="1"/>
          </p:nvPr>
        </p:nvSpPr>
        <p:spPr/>
        <p:txBody>
          <a:bodyPr/>
          <a:lstStyle/>
          <a:p>
            <a:r>
              <a:rPr lang="en-GB" dirty="0"/>
              <a:t>Control Costs is the process of monitoring the status of the project to update the project costs and managing changes to the cost baseline</a:t>
            </a:r>
            <a:r>
              <a:rPr lang="en-GB" dirty="0" smtClean="0"/>
              <a:t>.</a:t>
            </a:r>
          </a:p>
          <a:p>
            <a:endParaRPr lang="en-GB" dirty="0"/>
          </a:p>
        </p:txBody>
      </p:sp>
      <p:pic>
        <p:nvPicPr>
          <p:cNvPr id="4" name="Picture 3"/>
          <p:cNvPicPr>
            <a:picLocks noChangeAspect="1"/>
          </p:cNvPicPr>
          <p:nvPr/>
        </p:nvPicPr>
        <p:blipFill>
          <a:blip r:embed="rId2"/>
          <a:stretch>
            <a:fillRect/>
          </a:stretch>
        </p:blipFill>
        <p:spPr>
          <a:xfrm>
            <a:off x="2246242" y="3046000"/>
            <a:ext cx="7176053" cy="2654436"/>
          </a:xfrm>
          <a:prstGeom prst="rect">
            <a:avLst/>
          </a:prstGeom>
        </p:spPr>
      </p:pic>
    </p:spTree>
    <p:extLst>
      <p:ext uri="{BB962C8B-B14F-4D97-AF65-F5344CB8AC3E}">
        <p14:creationId xmlns:p14="http://schemas.microsoft.com/office/powerpoint/2010/main" val="21471721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Earned Value Management (EVM</a:t>
            </a:r>
            <a:r>
              <a:rPr lang="en-US" sz="4000" dirty="0" smtClean="0"/>
              <a:t>)/Analysis</a:t>
            </a:r>
            <a:endParaRPr lang="en-GB" sz="4000" dirty="0"/>
          </a:p>
        </p:txBody>
      </p:sp>
      <p:sp>
        <p:nvSpPr>
          <p:cNvPr id="3" name="Content Placeholder 2"/>
          <p:cNvSpPr>
            <a:spLocks noGrp="1"/>
          </p:cNvSpPr>
          <p:nvPr>
            <p:ph idx="1"/>
          </p:nvPr>
        </p:nvSpPr>
        <p:spPr/>
        <p:txBody>
          <a:bodyPr>
            <a:normAutofit/>
          </a:bodyPr>
          <a:lstStyle/>
          <a:p>
            <a:r>
              <a:rPr lang="en-GB" sz="2400" i="1" dirty="0"/>
              <a:t>Earned value analysis compares the </a:t>
            </a:r>
            <a:r>
              <a:rPr lang="en-GB" sz="2400" b="1" i="1" dirty="0"/>
              <a:t>performance measurement baseline </a:t>
            </a:r>
            <a:r>
              <a:rPr lang="en-GB" sz="2400" i="1" dirty="0"/>
              <a:t>to the </a:t>
            </a:r>
            <a:r>
              <a:rPr lang="en-GB" sz="2400" b="1" i="1" dirty="0"/>
              <a:t>actual schedule and cost performance</a:t>
            </a:r>
            <a:r>
              <a:rPr lang="en-GB" sz="2400" i="1" dirty="0"/>
              <a:t>. </a:t>
            </a:r>
            <a:endParaRPr lang="en-GB" sz="2400" i="1" dirty="0" smtClean="0"/>
          </a:p>
          <a:p>
            <a:r>
              <a:rPr lang="en-GB" sz="2400" i="1" dirty="0" smtClean="0"/>
              <a:t>EVM </a:t>
            </a:r>
            <a:r>
              <a:rPr lang="en-GB" sz="2400" i="1" dirty="0"/>
              <a:t>integrates the </a:t>
            </a:r>
            <a:r>
              <a:rPr lang="en-GB" sz="2400" b="1" i="1" dirty="0"/>
              <a:t>scope baseline </a:t>
            </a:r>
            <a:r>
              <a:rPr lang="en-GB" sz="2400" i="1" dirty="0"/>
              <a:t>with the </a:t>
            </a:r>
            <a:r>
              <a:rPr lang="en-GB" sz="2400" b="1" i="1" dirty="0"/>
              <a:t>cost baseline </a:t>
            </a:r>
            <a:r>
              <a:rPr lang="en-GB" sz="2400" i="1" dirty="0"/>
              <a:t>and </a:t>
            </a:r>
            <a:r>
              <a:rPr lang="en-GB" sz="2400" b="1" i="1" dirty="0"/>
              <a:t>schedule baseline </a:t>
            </a:r>
            <a:r>
              <a:rPr lang="en-GB" sz="2400" i="1" dirty="0"/>
              <a:t>to form the </a:t>
            </a:r>
            <a:r>
              <a:rPr lang="en-GB" sz="2400" b="1" i="1" dirty="0"/>
              <a:t>performance measurement baseline</a:t>
            </a:r>
            <a:r>
              <a:rPr lang="en-GB" sz="2400" i="1" dirty="0"/>
              <a:t>.</a:t>
            </a:r>
          </a:p>
        </p:txBody>
      </p:sp>
    </p:spTree>
    <p:extLst>
      <p:ext uri="{BB962C8B-B14F-4D97-AF65-F5344CB8AC3E}">
        <p14:creationId xmlns:p14="http://schemas.microsoft.com/office/powerpoint/2010/main" val="278676843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Earned Value Management Terms</a:t>
            </a:r>
            <a:endParaRPr lang="en-GB" dirty="0"/>
          </a:p>
        </p:txBody>
      </p:sp>
      <p:sp>
        <p:nvSpPr>
          <p:cNvPr id="3" name="Content Placeholder 2"/>
          <p:cNvSpPr>
            <a:spLocks noGrp="1"/>
          </p:cNvSpPr>
          <p:nvPr>
            <p:ph idx="1"/>
          </p:nvPr>
        </p:nvSpPr>
        <p:spPr/>
        <p:txBody>
          <a:bodyPr>
            <a:normAutofit/>
          </a:bodyPr>
          <a:lstStyle/>
          <a:p>
            <a:pPr algn="just"/>
            <a:r>
              <a:rPr lang="en-GB" b="1" dirty="0"/>
              <a:t>Planned Value (PV)</a:t>
            </a:r>
            <a:endParaRPr lang="en-GB" dirty="0"/>
          </a:p>
          <a:p>
            <a:pPr algn="just"/>
            <a:r>
              <a:rPr lang="en-PK" dirty="0"/>
              <a:t>Planned value (PV) is the authorized budget assigned to scheduled </a:t>
            </a:r>
            <a:r>
              <a:rPr lang="en-PK" dirty="0" smtClean="0"/>
              <a:t>work</a:t>
            </a:r>
            <a:r>
              <a:rPr lang="en-US" dirty="0" smtClean="0"/>
              <a:t> </a:t>
            </a:r>
            <a:r>
              <a:rPr lang="en-GB" dirty="0"/>
              <a:t>at a specific time</a:t>
            </a:r>
            <a:r>
              <a:rPr lang="en-PK" dirty="0" smtClean="0"/>
              <a:t>.</a:t>
            </a:r>
            <a:r>
              <a:rPr lang="en-US" dirty="0" smtClean="0"/>
              <a:t> </a:t>
            </a:r>
            <a:r>
              <a:rPr lang="en-GB" dirty="0" smtClean="0"/>
              <a:t>PV</a:t>
            </a:r>
            <a:r>
              <a:rPr lang="en-GB" dirty="0"/>
              <a:t>, also known as Budget Cost of Work Scheduled (BCWS</a:t>
            </a:r>
            <a:r>
              <a:rPr lang="en-GB" dirty="0" smtClean="0"/>
              <a:t>).</a:t>
            </a:r>
          </a:p>
          <a:p>
            <a:pPr algn="just"/>
            <a:r>
              <a:rPr lang="en-GB" dirty="0"/>
              <a:t>PV = BAC * Planned % Complete, where BAC is the Budget at Completion, and Planned % Complete is the percentage of planned work completed up to the current reporting period.</a:t>
            </a:r>
            <a:endParaRPr lang="en-US" dirty="0" smtClean="0"/>
          </a:p>
          <a:p>
            <a:pPr algn="just"/>
            <a:r>
              <a:rPr lang="en-US" b="1" dirty="0" smtClean="0"/>
              <a:t>Actual </a:t>
            </a:r>
            <a:r>
              <a:rPr lang="en-US" b="1" dirty="0"/>
              <a:t>Costs (AC)</a:t>
            </a:r>
            <a:endParaRPr lang="en-US" dirty="0"/>
          </a:p>
          <a:p>
            <a:pPr algn="just" fontAlgn="base"/>
            <a:r>
              <a:rPr lang="en-GB" dirty="0"/>
              <a:t>Actual cost (AC</a:t>
            </a:r>
            <a:r>
              <a:rPr lang="en-GB" dirty="0" smtClean="0"/>
              <a:t>) </a:t>
            </a:r>
            <a:r>
              <a:rPr lang="en-PK" dirty="0" smtClean="0"/>
              <a:t>is </a:t>
            </a:r>
            <a:r>
              <a:rPr lang="en-PK" dirty="0"/>
              <a:t>the realized cost incurred for the work performed on an activity during a specific time period.</a:t>
            </a:r>
            <a:endParaRPr lang="en-GB" dirty="0"/>
          </a:p>
          <a:p>
            <a:pPr algn="just" fontAlgn="base"/>
            <a:r>
              <a:rPr lang="en-US" dirty="0" smtClean="0"/>
              <a:t>It is also </a:t>
            </a:r>
            <a:r>
              <a:rPr lang="en-US" dirty="0"/>
              <a:t>known as actual cost of work performed (ACWP)</a:t>
            </a:r>
          </a:p>
          <a:p>
            <a:endParaRPr lang="en-GB" dirty="0"/>
          </a:p>
        </p:txBody>
      </p:sp>
    </p:spTree>
    <p:extLst>
      <p:ext uri="{BB962C8B-B14F-4D97-AF65-F5344CB8AC3E}">
        <p14:creationId xmlns:p14="http://schemas.microsoft.com/office/powerpoint/2010/main" val="28034449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Earned Value Management Terms</a:t>
            </a:r>
            <a:endParaRPr lang="en-GB" dirty="0"/>
          </a:p>
        </p:txBody>
      </p:sp>
      <p:sp>
        <p:nvSpPr>
          <p:cNvPr id="3" name="Content Placeholder 2"/>
          <p:cNvSpPr>
            <a:spLocks noGrp="1"/>
          </p:cNvSpPr>
          <p:nvPr>
            <p:ph idx="1"/>
          </p:nvPr>
        </p:nvSpPr>
        <p:spPr/>
        <p:txBody>
          <a:bodyPr/>
          <a:lstStyle/>
          <a:p>
            <a:r>
              <a:rPr lang="en-GB" b="1" dirty="0"/>
              <a:t>Earned Value (EV</a:t>
            </a:r>
            <a:r>
              <a:rPr lang="en-GB" b="1" dirty="0" smtClean="0"/>
              <a:t>)</a:t>
            </a:r>
          </a:p>
          <a:p>
            <a:r>
              <a:rPr lang="en-GB" dirty="0"/>
              <a:t>(EV) is a measure of work performed expressed in terms of the budget authorized for that work</a:t>
            </a:r>
            <a:r>
              <a:rPr lang="en-GB" dirty="0" smtClean="0"/>
              <a:t>.</a:t>
            </a:r>
            <a:r>
              <a:rPr lang="en-GB" dirty="0"/>
              <a:t> EV is the quantification of the “worth” of the work done to date</a:t>
            </a:r>
            <a:r>
              <a:rPr lang="en-GB" dirty="0" smtClean="0"/>
              <a:t>. </a:t>
            </a:r>
            <a:r>
              <a:rPr lang="en-GB" dirty="0"/>
              <a:t>Earned Value is also called Budgeted Cost of Work Performed (BCWP</a:t>
            </a:r>
            <a:r>
              <a:rPr lang="en-GB" dirty="0" smtClean="0"/>
              <a:t>).</a:t>
            </a:r>
          </a:p>
          <a:p>
            <a:r>
              <a:rPr lang="en-GB" dirty="0"/>
              <a:t>EV = BAC * Actual % Complete, where BAC is the Budget at Completion, and Actual % Complete is the percentage of actual work completed up to the current reporting period.</a:t>
            </a:r>
            <a:r>
              <a:rPr lang="en-GB" dirty="0" smtClean="0"/>
              <a:t> </a:t>
            </a:r>
          </a:p>
          <a:p>
            <a:r>
              <a:rPr lang="en-US" b="1" dirty="0" smtClean="0">
                <a:latin typeface="Baskerville Old Face" panose="02020602080505020303" pitchFamily="18" charset="0"/>
              </a:rPr>
              <a:t>Example:</a:t>
            </a:r>
          </a:p>
          <a:p>
            <a:r>
              <a:rPr lang="en-US" dirty="0"/>
              <a:t>You’ve made a plan to complete a certain amount of work and </a:t>
            </a:r>
            <a:r>
              <a:rPr lang="en-US" dirty="0" smtClean="0"/>
              <a:t>budget </a:t>
            </a:r>
            <a:r>
              <a:rPr lang="en-US" dirty="0"/>
              <a:t>accordingly. But, from experience, you know that there is bound to be some discrepancy from your estimate. At the end of 2 months, you may have planned to complete 40% of your work, but let’s say you only managed to finish 30</a:t>
            </a:r>
            <a:r>
              <a:rPr lang="en-US" dirty="0" smtClean="0"/>
              <a:t>%.</a:t>
            </a:r>
            <a:r>
              <a:rPr lang="en-US" dirty="0"/>
              <a:t> what’s the budgeted cost for this work? </a:t>
            </a:r>
            <a:endParaRPr lang="en-US" dirty="0" smtClean="0"/>
          </a:p>
          <a:p>
            <a:endParaRPr lang="en-US" dirty="0" smtClean="0"/>
          </a:p>
          <a:p>
            <a:endParaRPr lang="en-US" b="1" dirty="0">
              <a:latin typeface="Baskerville Old Face" panose="02020602080505020303" pitchFamily="18" charset="0"/>
            </a:endParaRPr>
          </a:p>
          <a:p>
            <a:endParaRPr lang="en-GB" dirty="0"/>
          </a:p>
          <a:p>
            <a:endParaRPr lang="en-GB" dirty="0"/>
          </a:p>
        </p:txBody>
      </p:sp>
    </p:spTree>
    <p:extLst>
      <p:ext uri="{BB962C8B-B14F-4D97-AF65-F5344CB8AC3E}">
        <p14:creationId xmlns:p14="http://schemas.microsoft.com/office/powerpoint/2010/main" val="40804263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Earned Value Management Terms</a:t>
            </a:r>
            <a:endParaRPr lang="en-GB" dirty="0"/>
          </a:p>
        </p:txBody>
      </p:sp>
      <p:sp>
        <p:nvSpPr>
          <p:cNvPr id="3" name="Content Placeholder 2"/>
          <p:cNvSpPr>
            <a:spLocks noGrp="1"/>
          </p:cNvSpPr>
          <p:nvPr>
            <p:ph idx="1"/>
          </p:nvPr>
        </p:nvSpPr>
        <p:spPr/>
        <p:txBody>
          <a:bodyPr>
            <a:normAutofit fontScale="92500" lnSpcReduction="10000"/>
          </a:bodyPr>
          <a:lstStyle/>
          <a:p>
            <a:r>
              <a:rPr lang="en-GB" b="1" dirty="0"/>
              <a:t>Variance Analysis</a:t>
            </a:r>
            <a:endParaRPr lang="en-GB" dirty="0"/>
          </a:p>
          <a:p>
            <a:pPr>
              <a:buFont typeface="Wingdings" panose="05000000000000000000" pitchFamily="2" charset="2"/>
              <a:buChar char="q"/>
            </a:pPr>
            <a:r>
              <a:rPr lang="en-US" dirty="0"/>
              <a:t>Planned value, actual cost, and earned value numbers are vital to variance calculations</a:t>
            </a:r>
            <a:r>
              <a:rPr lang="en-US" dirty="0" smtClean="0"/>
              <a:t>.</a:t>
            </a:r>
          </a:p>
          <a:p>
            <a:pPr>
              <a:buFont typeface="Wingdings" panose="05000000000000000000" pitchFamily="2" charset="2"/>
              <a:buChar char="q"/>
            </a:pPr>
            <a:r>
              <a:rPr lang="en-US" dirty="0" smtClean="0"/>
              <a:t> The </a:t>
            </a:r>
            <a:r>
              <a:rPr lang="en-US" dirty="0"/>
              <a:t>project manager wants to know how far off we are from the project </a:t>
            </a:r>
            <a:r>
              <a:rPr lang="en-US" dirty="0" smtClean="0"/>
              <a:t>baseline. This </a:t>
            </a:r>
            <a:r>
              <a:rPr lang="en-US" dirty="0"/>
              <a:t>can be determined through schedule and cost variance</a:t>
            </a:r>
            <a:r>
              <a:rPr lang="en-US" dirty="0" smtClean="0"/>
              <a:t>.</a:t>
            </a:r>
          </a:p>
          <a:p>
            <a:pPr marL="0" indent="0">
              <a:buNone/>
            </a:pPr>
            <a:r>
              <a:rPr lang="en-GB" b="1" dirty="0"/>
              <a:t>Schedule Variance (SV)</a:t>
            </a:r>
            <a:endParaRPr lang="en-GB" dirty="0"/>
          </a:p>
          <a:p>
            <a:pPr marL="0" indent="0">
              <a:buNone/>
            </a:pPr>
            <a:r>
              <a:rPr lang="en-US" dirty="0" smtClean="0"/>
              <a:t>Schedule </a:t>
            </a:r>
            <a:r>
              <a:rPr lang="en-US" dirty="0"/>
              <a:t>variance is a quantitative indicator of your divergence from the initial planned schedule</a:t>
            </a:r>
            <a:r>
              <a:rPr lang="en-US" dirty="0" smtClean="0"/>
              <a:t>.</a:t>
            </a:r>
          </a:p>
          <a:p>
            <a:pPr marL="0" indent="0">
              <a:buNone/>
            </a:pPr>
            <a:r>
              <a:rPr lang="en-US" dirty="0"/>
              <a:t>It is</a:t>
            </a:r>
            <a:r>
              <a:rPr lang="en-US" dirty="0">
                <a:latin typeface="Baskerville Old Face" panose="02020602080505020303" pitchFamily="18" charset="0"/>
              </a:rPr>
              <a:t> the amount by which the project is ahead or behind the planned delivery date, at a given point in time</a:t>
            </a:r>
            <a:r>
              <a:rPr lang="en-US" dirty="0" smtClean="0">
                <a:latin typeface="Baskerville Old Face" panose="02020602080505020303" pitchFamily="18" charset="0"/>
              </a:rPr>
              <a:t>.</a:t>
            </a:r>
          </a:p>
          <a:p>
            <a:pPr marL="0" indent="0">
              <a:buNone/>
            </a:pPr>
            <a:r>
              <a:rPr lang="en-US" dirty="0"/>
              <a:t>A </a:t>
            </a:r>
            <a:r>
              <a:rPr lang="en-US" b="1" dirty="0"/>
              <a:t>negative SV</a:t>
            </a:r>
            <a:r>
              <a:rPr lang="en-US" dirty="0"/>
              <a:t> indicates that we are </a:t>
            </a:r>
            <a:r>
              <a:rPr lang="en-US" b="1" dirty="0"/>
              <a:t>behind schedule</a:t>
            </a:r>
            <a:r>
              <a:rPr lang="en-US" dirty="0"/>
              <a:t>, a </a:t>
            </a:r>
            <a:r>
              <a:rPr lang="en-US" b="1" dirty="0"/>
              <a:t>positive SV indicates </a:t>
            </a:r>
            <a:r>
              <a:rPr lang="en-US" dirty="0"/>
              <a:t>that we are </a:t>
            </a:r>
            <a:r>
              <a:rPr lang="en-US" b="1" dirty="0"/>
              <a:t>ahead of schedule</a:t>
            </a:r>
            <a:r>
              <a:rPr lang="en-US" dirty="0"/>
              <a:t> and </a:t>
            </a:r>
            <a:r>
              <a:rPr lang="en-US" b="1" dirty="0"/>
              <a:t>zero means that we are exactly on schedule</a:t>
            </a:r>
            <a:r>
              <a:rPr lang="en-US" dirty="0" smtClean="0"/>
              <a:t>.</a:t>
            </a:r>
          </a:p>
          <a:p>
            <a:pPr marL="0" indent="0">
              <a:buNone/>
            </a:pPr>
            <a:r>
              <a:rPr lang="en-GB" b="1" dirty="0"/>
              <a:t>SV = EV – PV</a:t>
            </a:r>
          </a:p>
          <a:p>
            <a:pPr marL="0" indent="0">
              <a:buNone/>
            </a:pPr>
            <a:endParaRPr lang="en-GB" dirty="0"/>
          </a:p>
        </p:txBody>
      </p:sp>
    </p:spTree>
    <p:extLst>
      <p:ext uri="{BB962C8B-B14F-4D97-AF65-F5344CB8AC3E}">
        <p14:creationId xmlns:p14="http://schemas.microsoft.com/office/powerpoint/2010/main" val="10290067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Earned Value Management Terms</a:t>
            </a:r>
            <a:endParaRPr lang="en-GB" dirty="0"/>
          </a:p>
        </p:txBody>
      </p:sp>
      <p:sp>
        <p:nvSpPr>
          <p:cNvPr id="3" name="Content Placeholder 2"/>
          <p:cNvSpPr>
            <a:spLocks noGrp="1"/>
          </p:cNvSpPr>
          <p:nvPr>
            <p:ph idx="1"/>
          </p:nvPr>
        </p:nvSpPr>
        <p:spPr/>
        <p:txBody>
          <a:bodyPr/>
          <a:lstStyle/>
          <a:p>
            <a:r>
              <a:rPr lang="en-GB" b="1" dirty="0"/>
              <a:t>Cost Variance (CV)</a:t>
            </a:r>
            <a:endParaRPr lang="en-GB" dirty="0"/>
          </a:p>
          <a:p>
            <a:r>
              <a:rPr lang="en-US" dirty="0"/>
              <a:t>Cost variance is a quantitative indicator of your divergence from the initial planned budget. A negative CV indicates that we are over budget, a positive CV indicates that we are under budget and zero means that we are exactly on budget</a:t>
            </a:r>
            <a:r>
              <a:rPr lang="en-US" dirty="0" smtClean="0"/>
              <a:t>.</a:t>
            </a:r>
          </a:p>
          <a:p>
            <a:r>
              <a:rPr lang="en-GB" dirty="0"/>
              <a:t>CV = EV – </a:t>
            </a:r>
            <a:r>
              <a:rPr lang="en-GB" dirty="0" smtClean="0"/>
              <a:t>AC</a:t>
            </a:r>
          </a:p>
          <a:p>
            <a:r>
              <a:rPr lang="en-GB" b="1" dirty="0"/>
              <a:t>Performance Indexes</a:t>
            </a:r>
            <a:endParaRPr lang="en-GB" dirty="0"/>
          </a:p>
          <a:p>
            <a:r>
              <a:rPr lang="en-GB" dirty="0"/>
              <a:t>Another analysis that can be done by using </a:t>
            </a:r>
            <a:r>
              <a:rPr lang="en-GB" dirty="0" smtClean="0"/>
              <a:t>EVMS -- </a:t>
            </a:r>
            <a:r>
              <a:rPr lang="en-US" dirty="0"/>
              <a:t>S</a:t>
            </a:r>
            <a:r>
              <a:rPr lang="en-US" dirty="0" smtClean="0"/>
              <a:t>chedule and </a:t>
            </a:r>
            <a:r>
              <a:rPr lang="en-US" dirty="0"/>
              <a:t>C</a:t>
            </a:r>
            <a:r>
              <a:rPr lang="en-US" dirty="0" smtClean="0"/>
              <a:t>ost </a:t>
            </a:r>
            <a:r>
              <a:rPr lang="en-US" dirty="0"/>
              <a:t>index</a:t>
            </a:r>
            <a:r>
              <a:rPr lang="en-US" dirty="0" smtClean="0"/>
              <a:t>. </a:t>
            </a:r>
          </a:p>
          <a:p>
            <a:r>
              <a:rPr lang="en-GB" b="1" dirty="0"/>
              <a:t>Schedule Performance Index (SPI</a:t>
            </a:r>
            <a:r>
              <a:rPr lang="en-GB" b="1" dirty="0" smtClean="0"/>
              <a:t>)</a:t>
            </a:r>
            <a:r>
              <a:rPr lang="en-US" dirty="0"/>
              <a:t> </a:t>
            </a:r>
            <a:r>
              <a:rPr lang="en-US" dirty="0" smtClean="0"/>
              <a:t>It </a:t>
            </a:r>
            <a:r>
              <a:rPr lang="en-US" dirty="0"/>
              <a:t>measures how efficiently the project team is using its time</a:t>
            </a:r>
            <a:r>
              <a:rPr lang="en-US" dirty="0" smtClean="0"/>
              <a:t>.</a:t>
            </a:r>
            <a:r>
              <a:rPr lang="en-US" dirty="0"/>
              <a:t> SPI gives a sense of project performance from a schedule perspective</a:t>
            </a:r>
            <a:r>
              <a:rPr lang="en-US" dirty="0" smtClean="0"/>
              <a:t>.</a:t>
            </a:r>
            <a:r>
              <a:rPr lang="en-US" dirty="0"/>
              <a:t> </a:t>
            </a:r>
            <a:r>
              <a:rPr lang="en-US" b="1" dirty="0"/>
              <a:t>SPI = EV/PV</a:t>
            </a:r>
            <a:r>
              <a:rPr lang="en-US" dirty="0"/>
              <a:t>; SPI &gt; 1 indicates the project is ahead of schedule and SPI &lt; 1 indicates the project is behind schedule. </a:t>
            </a:r>
            <a:r>
              <a:rPr lang="en-US" dirty="0" smtClean="0">
                <a:latin typeface="Baskerville Old Face" panose="02020602080505020303" pitchFamily="18" charset="0"/>
              </a:rPr>
              <a:t> </a:t>
            </a:r>
            <a:endParaRPr lang="en-GB" dirty="0"/>
          </a:p>
          <a:p>
            <a:endParaRPr lang="en-GB" b="1" dirty="0"/>
          </a:p>
        </p:txBody>
      </p:sp>
    </p:spTree>
    <p:extLst>
      <p:ext uri="{BB962C8B-B14F-4D97-AF65-F5344CB8AC3E}">
        <p14:creationId xmlns:p14="http://schemas.microsoft.com/office/powerpoint/2010/main" val="3825611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1256" y="197151"/>
            <a:ext cx="10058400" cy="1450757"/>
          </a:xfrm>
        </p:spPr>
        <p:txBody>
          <a:bodyPr>
            <a:normAutofit/>
          </a:bodyPr>
          <a:lstStyle/>
          <a:p>
            <a:r>
              <a:rPr lang="en-US" dirty="0"/>
              <a:t>Earned Value Management Terms</a:t>
            </a:r>
            <a:endParaRPr lang="en-GB" dirty="0"/>
          </a:p>
        </p:txBody>
      </p:sp>
      <p:sp>
        <p:nvSpPr>
          <p:cNvPr id="3" name="Content Placeholder 2"/>
          <p:cNvSpPr>
            <a:spLocks noGrp="1"/>
          </p:cNvSpPr>
          <p:nvPr>
            <p:ph idx="1"/>
          </p:nvPr>
        </p:nvSpPr>
        <p:spPr/>
        <p:txBody>
          <a:bodyPr/>
          <a:lstStyle/>
          <a:p>
            <a:r>
              <a:rPr lang="en-GB" b="1" dirty="0"/>
              <a:t>Cost Performance Index (CPI)</a:t>
            </a:r>
            <a:endParaRPr lang="en-GB" dirty="0"/>
          </a:p>
          <a:p>
            <a:r>
              <a:rPr lang="en-US" dirty="0">
                <a:solidFill>
                  <a:schemeClr val="tx1"/>
                </a:solidFill>
              </a:rPr>
              <a:t>The cost performance index (CPI) is a measure of the cost efficiency of budgeted </a:t>
            </a:r>
            <a:r>
              <a:rPr lang="en-US" dirty="0" smtClean="0">
                <a:solidFill>
                  <a:schemeClr val="tx1"/>
                </a:solidFill>
              </a:rPr>
              <a:t>resources.</a:t>
            </a:r>
            <a:r>
              <a:rPr lang="en-US" dirty="0">
                <a:solidFill>
                  <a:schemeClr val="tx1"/>
                </a:solidFill>
              </a:rPr>
              <a:t> </a:t>
            </a:r>
            <a:r>
              <a:rPr lang="en-US" dirty="0" smtClean="0">
                <a:solidFill>
                  <a:schemeClr val="tx1"/>
                </a:solidFill>
              </a:rPr>
              <a:t>It gives </a:t>
            </a:r>
            <a:r>
              <a:rPr lang="en-US" dirty="0">
                <a:solidFill>
                  <a:schemeClr val="tx1"/>
                </a:solidFill>
              </a:rPr>
              <a:t>a sense of project performance from a cost perspective</a:t>
            </a:r>
            <a:r>
              <a:rPr lang="en-US" dirty="0" smtClean="0">
                <a:solidFill>
                  <a:schemeClr val="tx1"/>
                </a:solidFill>
              </a:rPr>
              <a:t>.</a:t>
            </a:r>
          </a:p>
          <a:p>
            <a:r>
              <a:rPr lang="en-US" dirty="0">
                <a:solidFill>
                  <a:schemeClr val="tx1"/>
                </a:solidFill>
              </a:rPr>
              <a:t>CPI = EV/AC; CPI &gt; 1 indicates the project is under budget and CPI &lt; 1 indicates the project is over budget.</a:t>
            </a:r>
            <a:endParaRPr lang="en-GB" dirty="0">
              <a:solidFill>
                <a:schemeClr val="tx1"/>
              </a:solidFill>
            </a:endParaRPr>
          </a:p>
        </p:txBody>
      </p:sp>
    </p:spTree>
    <p:extLst>
      <p:ext uri="{BB962C8B-B14F-4D97-AF65-F5344CB8AC3E}">
        <p14:creationId xmlns:p14="http://schemas.microsoft.com/office/powerpoint/2010/main" val="42167126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Earned Value Management Formulas</a:t>
            </a:r>
            <a:endParaRPr lang="en-GB" sz="4000" dirty="0"/>
          </a:p>
        </p:txBody>
      </p:sp>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75657" y="2571749"/>
            <a:ext cx="9695543" cy="29727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963334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endParaRPr lang="en-GB" dirty="0"/>
          </a:p>
        </p:txBody>
      </p:sp>
      <p:sp>
        <p:nvSpPr>
          <p:cNvPr id="3" name="Content Placeholder 2"/>
          <p:cNvSpPr>
            <a:spLocks noGrp="1"/>
          </p:cNvSpPr>
          <p:nvPr>
            <p:ph idx="1"/>
          </p:nvPr>
        </p:nvSpPr>
        <p:spPr/>
        <p:txBody>
          <a:bodyPr/>
          <a:lstStyle/>
          <a:p>
            <a:r>
              <a:rPr lang="en-US" dirty="0">
                <a:latin typeface="Baskerville Old Face" panose="02020602080505020303" pitchFamily="18" charset="0"/>
              </a:rPr>
              <a:t>EV = $38,000 </a:t>
            </a:r>
          </a:p>
          <a:p>
            <a:r>
              <a:rPr lang="en-US" dirty="0">
                <a:latin typeface="Baskerville Old Face" panose="02020602080505020303" pitchFamily="18" charset="0"/>
              </a:rPr>
              <a:t>AC = $48,000 </a:t>
            </a:r>
          </a:p>
          <a:p>
            <a:r>
              <a:rPr lang="en-US" b="1" dirty="0">
                <a:latin typeface="Baskerville Old Face" panose="02020602080505020303" pitchFamily="18" charset="0"/>
              </a:rPr>
              <a:t>CV?</a:t>
            </a:r>
          </a:p>
          <a:p>
            <a:r>
              <a:rPr lang="en-US" dirty="0">
                <a:latin typeface="Baskerville Old Face" panose="02020602080505020303" pitchFamily="18" charset="0"/>
              </a:rPr>
              <a:t>CV = EV – AC = $38,000 - $48,000 = -$10,000 </a:t>
            </a:r>
          </a:p>
          <a:p>
            <a:r>
              <a:rPr lang="en-US" dirty="0" smtClean="0">
                <a:latin typeface="Baskerville Old Face"/>
              </a:rPr>
              <a:t>The project </a:t>
            </a:r>
            <a:r>
              <a:rPr lang="en-US" dirty="0">
                <a:latin typeface="Baskerville Old Face"/>
              </a:rPr>
              <a:t>is </a:t>
            </a:r>
            <a:r>
              <a:rPr lang="en-US" dirty="0" smtClean="0">
                <a:latin typeface="Baskerville Old Face"/>
              </a:rPr>
              <a:t>over budget.</a:t>
            </a:r>
            <a:endParaRPr lang="en-GB" dirty="0"/>
          </a:p>
        </p:txBody>
      </p:sp>
    </p:spTree>
    <p:extLst>
      <p:ext uri="{BB962C8B-B14F-4D97-AF65-F5344CB8AC3E}">
        <p14:creationId xmlns:p14="http://schemas.microsoft.com/office/powerpoint/2010/main" val="1895017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endParaRPr lang="en-GB" dirty="0"/>
          </a:p>
        </p:txBody>
      </p:sp>
      <p:sp>
        <p:nvSpPr>
          <p:cNvPr id="3" name="Content Placeholder 2"/>
          <p:cNvSpPr>
            <a:spLocks noGrp="1"/>
          </p:cNvSpPr>
          <p:nvPr>
            <p:ph idx="1"/>
          </p:nvPr>
        </p:nvSpPr>
        <p:spPr/>
        <p:txBody>
          <a:bodyPr/>
          <a:lstStyle/>
          <a:p>
            <a:r>
              <a:rPr lang="en-US" dirty="0">
                <a:latin typeface="Baskerville Old Face" panose="02020602080505020303" pitchFamily="18" charset="0"/>
              </a:rPr>
              <a:t>PV = $42,000 </a:t>
            </a:r>
          </a:p>
          <a:p>
            <a:r>
              <a:rPr lang="en-US" dirty="0">
                <a:latin typeface="Baskerville Old Face" panose="02020602080505020303" pitchFamily="18" charset="0"/>
              </a:rPr>
              <a:t>EV = $38,000 </a:t>
            </a:r>
          </a:p>
          <a:p>
            <a:r>
              <a:rPr lang="en-US" b="1" dirty="0">
                <a:latin typeface="Baskerville Old Face" panose="02020602080505020303" pitchFamily="18" charset="0"/>
              </a:rPr>
              <a:t>SV?</a:t>
            </a:r>
          </a:p>
          <a:p>
            <a:r>
              <a:rPr lang="en-US" dirty="0">
                <a:latin typeface="Baskerville Old Face" panose="02020602080505020303" pitchFamily="18" charset="0"/>
              </a:rPr>
              <a:t>SV = EV – PV = $38,000 - $42,000 = -$4,000 </a:t>
            </a:r>
          </a:p>
          <a:p>
            <a:r>
              <a:rPr lang="en-US" dirty="0" smtClean="0">
                <a:latin typeface="Baskerville Old Face" panose="02020602080505020303" pitchFamily="18" charset="0"/>
              </a:rPr>
              <a:t>$</a:t>
            </a:r>
            <a:r>
              <a:rPr lang="en-US" dirty="0">
                <a:latin typeface="Baskerville Old Face" panose="02020602080505020303" pitchFamily="18" charset="0"/>
              </a:rPr>
              <a:t>4000 worth of work is behind </a:t>
            </a:r>
            <a:r>
              <a:rPr lang="en-US" dirty="0" smtClean="0">
                <a:latin typeface="Baskerville Old Face" panose="02020602080505020303" pitchFamily="18" charset="0"/>
              </a:rPr>
              <a:t>schedule</a:t>
            </a:r>
            <a:endParaRPr lang="en-GB" dirty="0"/>
          </a:p>
        </p:txBody>
      </p:sp>
    </p:spTree>
    <p:extLst>
      <p:ext uri="{BB962C8B-B14F-4D97-AF65-F5344CB8AC3E}">
        <p14:creationId xmlns:p14="http://schemas.microsoft.com/office/powerpoint/2010/main" val="222747744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endParaRPr lang="en-GB" dirty="0"/>
          </a:p>
        </p:txBody>
      </p:sp>
      <p:sp>
        <p:nvSpPr>
          <p:cNvPr id="3" name="Content Placeholder 2"/>
          <p:cNvSpPr>
            <a:spLocks noGrp="1"/>
          </p:cNvSpPr>
          <p:nvPr>
            <p:ph idx="1"/>
          </p:nvPr>
        </p:nvSpPr>
        <p:spPr/>
        <p:txBody>
          <a:bodyPr>
            <a:normAutofit fontScale="92500" lnSpcReduction="10000"/>
          </a:bodyPr>
          <a:lstStyle/>
          <a:p>
            <a:r>
              <a:rPr lang="en-US" dirty="0">
                <a:latin typeface="Baskerville Old Face" panose="02020602080505020303" pitchFamily="18" charset="0"/>
              </a:rPr>
              <a:t>EV = $38,000 </a:t>
            </a:r>
          </a:p>
          <a:p>
            <a:r>
              <a:rPr lang="en-US" dirty="0">
                <a:latin typeface="Baskerville Old Face" panose="02020602080505020303" pitchFamily="18" charset="0"/>
              </a:rPr>
              <a:t>AC = $48,000 </a:t>
            </a:r>
          </a:p>
          <a:p>
            <a:r>
              <a:rPr lang="en-US" b="1" dirty="0">
                <a:latin typeface="Baskerville Old Face" panose="02020602080505020303" pitchFamily="18" charset="0"/>
              </a:rPr>
              <a:t>CPI?</a:t>
            </a:r>
          </a:p>
          <a:p>
            <a:r>
              <a:rPr lang="en-US" dirty="0" smtClean="0">
                <a:latin typeface="Baskerville Old Face" panose="02020602080505020303" pitchFamily="18" charset="0"/>
              </a:rPr>
              <a:t>CPI</a:t>
            </a:r>
            <a:r>
              <a:rPr lang="en-US" dirty="0">
                <a:latin typeface="Baskerville Old Face" panose="02020602080505020303" pitchFamily="18" charset="0"/>
              </a:rPr>
              <a:t>= EV / AC = $38,000 / $48,000 = </a:t>
            </a:r>
            <a:r>
              <a:rPr lang="en-US" dirty="0" smtClean="0">
                <a:latin typeface="Baskerville Old Face" panose="02020602080505020303" pitchFamily="18" charset="0"/>
              </a:rPr>
              <a:t>0.79</a:t>
            </a:r>
          </a:p>
          <a:p>
            <a:r>
              <a:rPr lang="en-US" dirty="0" smtClean="0">
                <a:latin typeface="Baskerville Old Face" panose="02020602080505020303" pitchFamily="18" charset="0"/>
              </a:rPr>
              <a:t>PV </a:t>
            </a:r>
            <a:r>
              <a:rPr lang="en-US" dirty="0">
                <a:latin typeface="Baskerville Old Face" panose="02020602080505020303" pitchFamily="18" charset="0"/>
              </a:rPr>
              <a:t>= $42,000 </a:t>
            </a:r>
          </a:p>
          <a:p>
            <a:r>
              <a:rPr lang="en-US" dirty="0">
                <a:latin typeface="Baskerville Old Face" panose="02020602080505020303" pitchFamily="18" charset="0"/>
              </a:rPr>
              <a:t>EV = $38,000 </a:t>
            </a:r>
          </a:p>
          <a:p>
            <a:r>
              <a:rPr lang="en-US" b="1" dirty="0">
                <a:latin typeface="Baskerville Old Face" panose="02020602080505020303" pitchFamily="18" charset="0"/>
              </a:rPr>
              <a:t>SPI?</a:t>
            </a:r>
          </a:p>
          <a:p>
            <a:r>
              <a:rPr lang="en-US" dirty="0" smtClean="0">
                <a:latin typeface="Baskerville Old Face" panose="02020602080505020303" pitchFamily="18" charset="0"/>
              </a:rPr>
              <a:t>SPI</a:t>
            </a:r>
            <a:r>
              <a:rPr lang="en-US" dirty="0">
                <a:latin typeface="Baskerville Old Face" panose="02020602080505020303" pitchFamily="18" charset="0"/>
              </a:rPr>
              <a:t>= EV / PV = $38,000 / $42,000 = 0.90 </a:t>
            </a:r>
          </a:p>
          <a:p>
            <a:endParaRPr lang="en-US" sz="1400" dirty="0">
              <a:latin typeface="Baskerville Old Face" panose="02020602080505020303" pitchFamily="18" charset="0"/>
            </a:endParaRPr>
          </a:p>
          <a:p>
            <a:r>
              <a:rPr lang="en-US" dirty="0" smtClean="0">
                <a:latin typeface="Baskerville Old Face" panose="02020602080505020303" pitchFamily="18" charset="0"/>
              </a:rPr>
              <a:t> </a:t>
            </a:r>
            <a:endParaRPr lang="en-US" dirty="0">
              <a:latin typeface="Baskerville Old Face" panose="02020602080505020303" pitchFamily="18" charset="0"/>
            </a:endParaRPr>
          </a:p>
          <a:p>
            <a:endParaRPr lang="en-GB" dirty="0"/>
          </a:p>
        </p:txBody>
      </p:sp>
    </p:spTree>
    <p:extLst>
      <p:ext uri="{BB962C8B-B14F-4D97-AF65-F5344CB8AC3E}">
        <p14:creationId xmlns:p14="http://schemas.microsoft.com/office/powerpoint/2010/main" val="160379406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 1</a:t>
            </a:r>
            <a:endParaRPr lang="en-GB" dirty="0"/>
          </a:p>
        </p:txBody>
      </p:sp>
      <p:sp>
        <p:nvSpPr>
          <p:cNvPr id="5" name="Rectangle 4"/>
          <p:cNvSpPr/>
          <p:nvPr/>
        </p:nvSpPr>
        <p:spPr>
          <a:xfrm>
            <a:off x="1371599" y="2493744"/>
            <a:ext cx="9362661" cy="1277786"/>
          </a:xfrm>
          <a:prstGeom prst="rect">
            <a:avLst/>
          </a:prstGeom>
        </p:spPr>
        <p:txBody>
          <a:bodyPr wrap="square">
            <a:spAutoFit/>
          </a:bodyPr>
          <a:lstStyle/>
          <a:p>
            <a:pPr algn="just">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You are the project manager on a project. The project is expected to be completed in 10 months at a cost of $10,000, or we can say $1000 per month. After 6 months the project is 55% completed and the planned value after 6 months is $6000 and the actual expenditure after 6 months is $6750. Determine the status of project after the 6 months.</a:t>
            </a:r>
            <a:endParaRPr lang="en-GB"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6486260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Formulas</a:t>
            </a:r>
            <a:endParaRPr lang="en-GB" dirty="0"/>
          </a:p>
        </p:txBody>
      </p:sp>
      <p:pic>
        <p:nvPicPr>
          <p:cNvPr id="8" name="Content Placeholder 7"/>
          <p:cNvPicPr>
            <a:picLocks noGrp="1" noChangeAspect="1"/>
          </p:cNvPicPr>
          <p:nvPr>
            <p:ph idx="1"/>
          </p:nvPr>
        </p:nvPicPr>
        <p:blipFill>
          <a:blip r:embed="rId2"/>
          <a:stretch>
            <a:fillRect/>
          </a:stretch>
        </p:blipFill>
        <p:spPr>
          <a:xfrm>
            <a:off x="1088571" y="1846263"/>
            <a:ext cx="10159999" cy="4380366"/>
          </a:xfrm>
          <a:prstGeom prst="rect">
            <a:avLst/>
          </a:prstGeom>
        </p:spPr>
      </p:pic>
    </p:spTree>
    <p:extLst>
      <p:ext uri="{BB962C8B-B14F-4D97-AF65-F5344CB8AC3E}">
        <p14:creationId xmlns:p14="http://schemas.microsoft.com/office/powerpoint/2010/main" val="410711631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 2</a:t>
            </a:r>
            <a:endParaRPr lang="en-GB" dirty="0"/>
          </a:p>
        </p:txBody>
      </p:sp>
      <p:sp>
        <p:nvSpPr>
          <p:cNvPr id="3" name="Content Placeholder 2"/>
          <p:cNvSpPr>
            <a:spLocks noGrp="1"/>
          </p:cNvSpPr>
          <p:nvPr>
            <p:ph idx="1"/>
          </p:nvPr>
        </p:nvSpPr>
        <p:spPr/>
        <p:txBody>
          <a:bodyPr/>
          <a:lstStyle/>
          <a:p>
            <a:r>
              <a:rPr lang="en-US" dirty="0"/>
              <a:t>You are the project manager on a project that has </a:t>
            </a:r>
            <a:r>
              <a:rPr lang="en-US" dirty="0" smtClean="0"/>
              <a:t>a $800,000 </a:t>
            </a:r>
            <a:r>
              <a:rPr lang="en-US" dirty="0"/>
              <a:t>software development effort. There are two teams of programmers that will work for six month for a total of 10,000 hours. According to the project schedule your team should be done with 38% of the work. As of today, the project is 40% complete while 50% budget has been used. Calculate and share your </a:t>
            </a:r>
            <a:r>
              <a:rPr lang="en-US" dirty="0" smtClean="0"/>
              <a:t>conclusion.</a:t>
            </a:r>
            <a:endParaRPr lang="en-GB" dirty="0"/>
          </a:p>
        </p:txBody>
      </p:sp>
    </p:spTree>
    <p:extLst>
      <p:ext uri="{BB962C8B-B14F-4D97-AF65-F5344CB8AC3E}">
        <p14:creationId xmlns:p14="http://schemas.microsoft.com/office/powerpoint/2010/main" val="2948943687"/>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458</TotalTime>
  <Words>1535</Words>
  <Application>Microsoft Office PowerPoint</Application>
  <PresentationFormat>Widescreen</PresentationFormat>
  <Paragraphs>108</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Baskerville Old Face</vt:lpstr>
      <vt:lpstr>Calibri</vt:lpstr>
      <vt:lpstr>Calibri Light</vt:lpstr>
      <vt:lpstr>Times New Roman</vt:lpstr>
      <vt:lpstr>Wingdings</vt:lpstr>
      <vt:lpstr>Retrospect</vt:lpstr>
      <vt:lpstr>PROJECT COST MANAGEMENT</vt:lpstr>
      <vt:lpstr>Project Cost Management</vt:lpstr>
      <vt:lpstr>PowerPoint Presentation</vt:lpstr>
      <vt:lpstr>Plan Cost Management</vt:lpstr>
      <vt:lpstr>Estimate Costs</vt:lpstr>
      <vt:lpstr>Estimate Costs</vt:lpstr>
      <vt:lpstr>Determine Budget</vt:lpstr>
      <vt:lpstr>Control Costs</vt:lpstr>
      <vt:lpstr>Earned Value Management (EVM)/Analysis</vt:lpstr>
      <vt:lpstr>Earned Value Management Terms</vt:lpstr>
      <vt:lpstr>Earned Value Management Terms</vt:lpstr>
      <vt:lpstr>Earned Value Management Terms</vt:lpstr>
      <vt:lpstr>Earned Value Management Terms</vt:lpstr>
      <vt:lpstr>Earned Value Management Terms</vt:lpstr>
      <vt:lpstr>Earned Value Management Formulas</vt:lpstr>
      <vt:lpstr>Example</vt:lpstr>
      <vt:lpstr>Example</vt:lpstr>
      <vt:lpstr>Example</vt:lpstr>
      <vt:lpstr>Exercise 1</vt:lpstr>
      <vt:lpstr>Formulas</vt:lpstr>
      <vt:lpstr>Exercise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Earned Value Management</dc:title>
  <dc:creator>Miss</dc:creator>
  <cp:lastModifiedBy>Humaira Afzal</cp:lastModifiedBy>
  <cp:revision>65</cp:revision>
  <dcterms:created xsi:type="dcterms:W3CDTF">2024-05-08T12:54:57Z</dcterms:created>
  <dcterms:modified xsi:type="dcterms:W3CDTF">2024-11-20T04:05:32Z</dcterms:modified>
</cp:coreProperties>
</file>