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4"/>
  </p:notesMasterIdLst>
  <p:sldIdLst>
    <p:sldId id="256" r:id="rId2"/>
    <p:sldId id="401" r:id="rId3"/>
    <p:sldId id="396" r:id="rId4"/>
    <p:sldId id="304" r:id="rId5"/>
    <p:sldId id="371" r:id="rId6"/>
    <p:sldId id="373" r:id="rId7"/>
    <p:sldId id="374" r:id="rId8"/>
    <p:sldId id="375" r:id="rId9"/>
    <p:sldId id="376" r:id="rId10"/>
    <p:sldId id="377" r:id="rId11"/>
    <p:sldId id="378" r:id="rId12"/>
    <p:sldId id="379" r:id="rId13"/>
    <p:sldId id="391" r:id="rId14"/>
    <p:sldId id="393" r:id="rId15"/>
    <p:sldId id="399" r:id="rId16"/>
    <p:sldId id="387" r:id="rId17"/>
    <p:sldId id="400" r:id="rId18"/>
    <p:sldId id="394" r:id="rId19"/>
    <p:sldId id="384" r:id="rId20"/>
    <p:sldId id="385" r:id="rId21"/>
    <p:sldId id="398" r:id="rId22"/>
    <p:sldId id="37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175EF52-60E6-4210-B8C7-89A441C84A7B}">
          <p14:sldIdLst>
            <p14:sldId id="256"/>
            <p14:sldId id="401"/>
            <p14:sldId id="396"/>
            <p14:sldId id="304"/>
            <p14:sldId id="371"/>
            <p14:sldId id="373"/>
            <p14:sldId id="374"/>
            <p14:sldId id="375"/>
            <p14:sldId id="376"/>
            <p14:sldId id="377"/>
            <p14:sldId id="378"/>
            <p14:sldId id="379"/>
            <p14:sldId id="391"/>
            <p14:sldId id="393"/>
            <p14:sldId id="399"/>
            <p14:sldId id="387"/>
            <p14:sldId id="400"/>
            <p14:sldId id="394"/>
            <p14:sldId id="384"/>
            <p14:sldId id="385"/>
            <p14:sldId id="398"/>
            <p14:sldId id="3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536" y="-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69E0CA-B552-42FE-B0B1-DE115E77A953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9AEBE2-9416-4A56-A1B3-9592F26FC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49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7FEC6-A069-43EF-92F5-9AA6434132FE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648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13A6A-8EBB-4695-A5C5-F50EAE3FF391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643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F4CF3-DD21-479F-8BA1-4AF472ECE8A1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267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8EF0F-517C-4E37-814C-2DD9AAE65C33}" type="datetime1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729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22773-43D5-4383-8C17-386713762BDC}" type="datetime1">
              <a:rPr lang="en-US" smtClean="0"/>
              <a:t>10/3/2024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601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8F80-554F-4E41-99AD-5F188EF57C6C}" type="datetime1">
              <a:rPr lang="en-US" smtClean="0"/>
              <a:t>10/3/2024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29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F8A1C-5908-4071-BEDD-39AC822F1A90}" type="datetime1">
              <a:rPr lang="en-US" smtClean="0"/>
              <a:t>10/3/2024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62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F638501-7425-49E0-ABA5-B2EC380D7321}" type="datetime1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2179AE-A249-4863-8618-D1BE5737D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50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359B-B95E-4122-A476-B3542A31B605}" type="datetime1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55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9F88B-5332-43F6-BE8C-F2FBD97817B5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565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C45B9-6AF3-499A-8B45-DBFAB344F369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1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AE73DB7-97C9-4768-8BA2-338CDD666986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D2179AE-A249-4863-8618-D1BE5737D37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682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FEA5F-9BA2-4834-863E-CE18AA6927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>
                <a:latin typeface="Baskerville Old Face" panose="02020602080505020303" pitchFamily="18" charset="0"/>
              </a:rPr>
              <a:t>Project Scope Management</a:t>
            </a:r>
            <a:endParaRPr lang="en-US" sz="7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AC8CA-B014-46C2-835A-B23E8AE3D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FC2E4-5F0C-4E56-9B82-9EEA673C3CAC}" type="datetime1">
              <a:rPr lang="en-US" smtClean="0"/>
              <a:t>10/3/2024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F9EF0-11C4-4F66-A529-D24FE99D3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SoftwareProjectManagement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07690-755C-4A35-A0E8-56EA226E9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1</a:t>
            </a:fld>
            <a:endParaRPr lang="en-US"/>
          </a:p>
        </p:txBody>
      </p:sp>
      <p:sp>
        <p:nvSpPr>
          <p:cNvPr id="9" name="Subtitle 1">
            <a:extLst>
              <a:ext uri="{FF2B5EF4-FFF2-40B4-BE49-F238E27FC236}">
                <a16:creationId xmlns:a16="http://schemas.microsoft.com/office/drawing/2014/main" id="{AF18A4B9-93BA-4B32-9C99-BA97FD78D9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5504" y="4365104"/>
            <a:ext cx="7543800" cy="1792779"/>
          </a:xfrm>
        </p:spPr>
        <p:txBody>
          <a:bodyPr>
            <a:normAutofit/>
          </a:bodyPr>
          <a:lstStyle/>
          <a:p>
            <a:pPr algn="ctr"/>
            <a:endParaRPr lang="en-US" sz="1200" dirty="0" smtClean="0"/>
          </a:p>
          <a:p>
            <a:pPr algn="ctr"/>
            <a:r>
              <a:rPr lang="en-US" sz="1200" dirty="0" smtClean="0"/>
              <a:t>By</a:t>
            </a:r>
          </a:p>
          <a:p>
            <a:pPr algn="ctr"/>
            <a:r>
              <a:rPr lang="en-US" sz="1200" dirty="0" smtClean="0"/>
              <a:t>Humaira Afzal</a:t>
            </a:r>
            <a:endParaRPr lang="en-US" sz="1200" dirty="0"/>
          </a:p>
          <a:p>
            <a:pPr algn="ctr"/>
            <a:r>
              <a:rPr lang="en-US" sz="1200" dirty="0"/>
              <a:t>Lecturer CS, CUI Lahore Campus</a:t>
            </a:r>
          </a:p>
        </p:txBody>
      </p:sp>
    </p:spTree>
    <p:extLst>
      <p:ext uri="{BB962C8B-B14F-4D97-AF65-F5344CB8AC3E}">
        <p14:creationId xmlns:p14="http://schemas.microsoft.com/office/powerpoint/2010/main" val="1289373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skerville Old Face" panose="02020602080505020303" pitchFamily="18" charset="0"/>
              </a:rPr>
              <a:t>Project</a:t>
            </a:r>
            <a:r>
              <a:rPr lang="en-US" dirty="0"/>
              <a:t> </a:t>
            </a:r>
            <a:r>
              <a:rPr lang="en-US" b="1" dirty="0">
                <a:latin typeface="Baskerville Old Face" panose="02020602080505020303" pitchFamily="18" charset="0"/>
              </a:rPr>
              <a:t>Scope</a:t>
            </a:r>
            <a:r>
              <a:rPr lang="en-US" dirty="0"/>
              <a:t> </a:t>
            </a:r>
            <a:r>
              <a:rPr lang="en-US" b="1" dirty="0">
                <a:latin typeface="Baskerville Old Face" panose="02020602080505020303" pitchFamily="18" charset="0"/>
              </a:rPr>
              <a:t>Management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endParaRPr lang="en-US" i="1" spc="-5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i="1" spc="-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Management </a:t>
            </a:r>
            <a:r>
              <a:rPr lang="en-US" b="1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the processes required to ensure that the project includes all the work required</a:t>
            </a:r>
            <a:r>
              <a:rPr lang="en-US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only the work required, to complete the project successfully.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13A6A-8EBB-4695-A5C5-F50EAE3FF391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024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94BC6-AE76-4A0C-9BD4-6D548D38C1B4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b="6514"/>
          <a:stretch/>
        </p:blipFill>
        <p:spPr>
          <a:xfrm>
            <a:off x="130630" y="130629"/>
            <a:ext cx="11814628" cy="606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977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649D2-F0CE-4821-AC91-10E70DFC2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skerville Old Face" panose="02020602080505020303" pitchFamily="18" charset="0"/>
              </a:rPr>
              <a:t>Project</a:t>
            </a:r>
            <a:r>
              <a:rPr lang="en-US" dirty="0"/>
              <a:t> </a:t>
            </a:r>
            <a:r>
              <a:rPr lang="en-US" b="1" dirty="0">
                <a:latin typeface="Baskerville Old Face" panose="02020602080505020303" pitchFamily="18" charset="0"/>
              </a:rPr>
              <a:t>Scope</a:t>
            </a:r>
            <a:r>
              <a:rPr lang="en-US" dirty="0"/>
              <a:t> </a:t>
            </a:r>
            <a:r>
              <a:rPr lang="en-US" b="1" dirty="0">
                <a:latin typeface="Baskerville Old Face" panose="02020602080505020303" pitchFamily="18" charset="0"/>
              </a:rPr>
              <a:t>Management</a:t>
            </a:r>
            <a:r>
              <a:rPr lang="en-US" dirty="0"/>
              <a:t> </a:t>
            </a:r>
            <a:r>
              <a:rPr lang="en-US" b="1" dirty="0">
                <a:latin typeface="Baskerville Old Face" panose="02020602080505020303" pitchFamily="18" charset="0"/>
              </a:rPr>
              <a:t>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C4925-7E80-44C1-AFE4-4B2E63321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115203" cy="4462301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 Management processes are</a:t>
            </a:r>
            <a:r>
              <a:rPr 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0000"/>
              </a:lnSpc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Plan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Management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creating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management plan that documents how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scope will be deﬁned, validated, and controlled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2.Collect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Requirements: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determining, documenting, and managing stakeholder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needs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meet project objectives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3.Define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Scope: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a detailed description of the project and product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4.Create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WBS: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subdividing project deliverables and project work into smaller, more manageable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81313-5FA1-477F-9735-6BF648437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3A867-9465-470A-9280-1C108A4DE05F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F3BA6-6F23-4A9A-906A-509412A82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31E37-C3A9-4462-A726-DF043587D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698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649D2-F0CE-4821-AC91-10E70DFC2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skerville Old Face" panose="02020602080505020303" pitchFamily="18" charset="0"/>
              </a:rPr>
              <a:t>Project</a:t>
            </a:r>
            <a:r>
              <a:rPr lang="en-US" dirty="0"/>
              <a:t> </a:t>
            </a:r>
            <a:r>
              <a:rPr lang="en-US" b="1" dirty="0">
                <a:latin typeface="Baskerville Old Face" panose="02020602080505020303" pitchFamily="18" charset="0"/>
              </a:rPr>
              <a:t>Scope</a:t>
            </a:r>
            <a:r>
              <a:rPr lang="en-US" dirty="0"/>
              <a:t> </a:t>
            </a:r>
            <a:r>
              <a:rPr lang="en-US" b="1" dirty="0">
                <a:latin typeface="Baskerville Old Face" panose="02020602080505020303" pitchFamily="18" charset="0"/>
              </a:rPr>
              <a:t>Management</a:t>
            </a:r>
            <a:r>
              <a:rPr lang="en-US" dirty="0"/>
              <a:t> </a:t>
            </a:r>
            <a:r>
              <a:rPr lang="en-US" b="1" dirty="0">
                <a:latin typeface="Baskerville Old Face" panose="02020602080505020303" pitchFamily="18" charset="0"/>
              </a:rPr>
              <a:t>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C4925-7E80-44C1-AFE4-4B2E63321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115203" cy="454055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5.Validate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Scope: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formalizing acceptance of the completed project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Validate scope process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whether a deliverable meets its agreed requirements against the approved scope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/>
              <a:t> </a:t>
            </a:r>
            <a:r>
              <a:rPr lang="en-US" dirty="0"/>
              <a:t>T</a:t>
            </a:r>
            <a:r>
              <a:rPr lang="en-US" dirty="0" smtClean="0"/>
              <a:t>hat </a:t>
            </a:r>
            <a:r>
              <a:rPr lang="en-US" dirty="0"/>
              <a:t>is used to formally accept completed project deliverables.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 Control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Scope: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monitoring the status of the project and product scope and managing changes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scope baseline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CONCEPTS FOR PROJECT SCOPE MANAGEMENT</a:t>
            </a:r>
          </a:p>
          <a:p>
            <a:pPr algn="just">
              <a:lnSpc>
                <a:spcPct val="1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the project context, the term “scope” can refer to: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features and functions that characterize a product, service, or result.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 performed to deliver a product, service, or result with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81313-5FA1-477F-9735-6BF648437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B6AB1-E1CB-445E-8A6B-89B649A2A8A6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F3BA6-6F23-4A9A-906A-509412A82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31E37-C3A9-4462-A726-DF043587D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952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3B621-E88D-4EDE-B300-9429077372BA}" type="datetime1">
              <a:rPr lang="en-US" smtClean="0"/>
              <a:t>10/3/2024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8992" t="3947" r="7597" b="5425"/>
          <a:stretch/>
        </p:blipFill>
        <p:spPr>
          <a:xfrm>
            <a:off x="696686" y="319315"/>
            <a:ext cx="10726057" cy="573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464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 smtClean="0"/>
              <a:t>CREATE </a:t>
            </a:r>
            <a:r>
              <a:rPr lang="en-GB" sz="3600" b="1" dirty="0"/>
              <a:t>WBS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Create WBS </a:t>
            </a:r>
            <a:r>
              <a:rPr lang="en-US" dirty="0"/>
              <a:t>is the process of subdividing project deliverables and project work into smaller, more manageable </a:t>
            </a:r>
            <a:r>
              <a:rPr lang="en-US" dirty="0" smtClean="0"/>
              <a:t>components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GB" dirty="0"/>
              <a:t> </a:t>
            </a:r>
            <a:r>
              <a:rPr lang="en-GB" b="1" dirty="0"/>
              <a:t>key </a:t>
            </a:r>
            <a:r>
              <a:rPr lang="en-GB" b="1" dirty="0" smtClean="0"/>
              <a:t>beneﬁt:</a:t>
            </a:r>
          </a:p>
          <a:p>
            <a:r>
              <a:rPr lang="en-US" dirty="0"/>
              <a:t> </a:t>
            </a:r>
            <a:r>
              <a:rPr lang="en-US" dirty="0" smtClean="0"/>
              <a:t>It </a:t>
            </a:r>
            <a:r>
              <a:rPr lang="en-US" dirty="0"/>
              <a:t>provides a framework </a:t>
            </a:r>
            <a:r>
              <a:rPr lang="en-US" dirty="0" smtClean="0"/>
              <a:t>for </a:t>
            </a:r>
            <a:r>
              <a:rPr lang="en-US" dirty="0"/>
              <a:t>what has to be delivered.</a:t>
            </a:r>
            <a:endParaRPr lang="en-GB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708AF-5BDC-4C10-85AC-6A9E18D00299}" type="datetime1">
              <a:rPr lang="en-US" smtClean="0"/>
              <a:t>10/3/2024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171" y="3802743"/>
            <a:ext cx="9216572" cy="238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94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5CBC-164D-4BEC-A289-A05ECDA3B364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5" y="885371"/>
            <a:ext cx="9419772" cy="474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601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326E3-180B-4336-8C61-31E5424B1495}" type="datetime1">
              <a:rPr lang="en-US" smtClean="0"/>
              <a:t>10/3/2024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619" t="1695"/>
          <a:stretch/>
        </p:blipFill>
        <p:spPr>
          <a:xfrm>
            <a:off x="217714" y="261257"/>
            <a:ext cx="11582399" cy="577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806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/>
              <a:t>CREATE WBS: INPUTS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097279" y="1845734"/>
            <a:ext cx="10252891" cy="4337352"/>
          </a:xfrm>
        </p:spPr>
        <p:txBody>
          <a:bodyPr>
            <a:no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PROJECT MANAGEMENT 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project management plan component includes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scope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management plan documents how the WBS will be created from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 statement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PROJECT 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DOCUMENTS</a:t>
            </a:r>
          </a:p>
          <a:p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statement.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scope statement describes the work that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will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performed and the work that is excluded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documentation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Detailed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describe how individual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 the business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needs of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Environmental Factors: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Industry-speciﬁc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WBS standards 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Process Assets: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Policies, procedures, and templates for the WBS, Lessons learned from previous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335D-5427-4D64-813E-3A4A15358AD3}" type="datetime1">
              <a:rPr lang="en-US" smtClean="0"/>
              <a:t>10/3/2024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218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CREATE WBS: TOOLS AND TECHNIQUES</a:t>
            </a:r>
            <a:endParaRPr lang="en-GB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Decomposition: </a:t>
            </a:r>
            <a:r>
              <a:rPr lang="en-US" dirty="0"/>
              <a:t>Decomposition is a technique used for dividing and subdividing the project scope and project deliverables into </a:t>
            </a:r>
            <a:r>
              <a:rPr lang="en-US" dirty="0" smtClean="0"/>
              <a:t>smaller</a:t>
            </a:r>
            <a:r>
              <a:rPr lang="en-US" dirty="0"/>
              <a:t>, more manageable parts</a:t>
            </a:r>
            <a:r>
              <a:rPr lang="en-US" dirty="0" smtClean="0"/>
              <a:t>.</a:t>
            </a:r>
          </a:p>
          <a:p>
            <a:r>
              <a:rPr lang="en-US" dirty="0"/>
              <a:t>Decomposition of the total project work into work packages </a:t>
            </a:r>
            <a:r>
              <a:rPr lang="en-US" dirty="0" smtClean="0"/>
              <a:t>generally </a:t>
            </a:r>
            <a:r>
              <a:rPr lang="en-US" dirty="0"/>
              <a:t>involves the following </a:t>
            </a:r>
            <a:r>
              <a:rPr lang="en-US" dirty="0" smtClean="0"/>
              <a:t>activities. </a:t>
            </a:r>
            <a:endParaRPr lang="en-US" altLang="en-US" dirty="0" smtClean="0"/>
          </a:p>
          <a:p>
            <a:pPr lvl="1"/>
            <a:r>
              <a:rPr lang="en-GB" sz="2000" b="1" dirty="0" smtClean="0"/>
              <a:t>Define Project Scope: </a:t>
            </a:r>
            <a:r>
              <a:rPr lang="en-GB" sz="2000" dirty="0" smtClean="0"/>
              <a:t>Define the project boundaries.</a:t>
            </a:r>
            <a:r>
              <a:rPr lang="en-US" sz="2000" dirty="0" smtClean="0"/>
              <a:t> what is included and excluded?</a:t>
            </a:r>
            <a:endParaRPr lang="en-GB" sz="2000" dirty="0" smtClean="0"/>
          </a:p>
          <a:p>
            <a:pPr lvl="1"/>
            <a:r>
              <a:rPr lang="en-GB" sz="2000" b="1" dirty="0" smtClean="0"/>
              <a:t>Identify </a:t>
            </a:r>
            <a:r>
              <a:rPr lang="en-GB" sz="2000" b="1" dirty="0"/>
              <a:t>Major </a:t>
            </a:r>
            <a:r>
              <a:rPr lang="en-GB" sz="2000" b="1" dirty="0" smtClean="0"/>
              <a:t>Deliverables:</a:t>
            </a:r>
            <a:r>
              <a:rPr lang="en-GB" sz="2000" dirty="0" smtClean="0"/>
              <a:t> </a:t>
            </a:r>
            <a:r>
              <a:rPr lang="en-US" sz="2000" dirty="0" smtClean="0"/>
              <a:t>List </a:t>
            </a:r>
            <a:r>
              <a:rPr lang="en-US" sz="2000" dirty="0"/>
              <a:t>all the significant outcomes or products that the project will produce</a:t>
            </a:r>
            <a:r>
              <a:rPr lang="en-US" sz="2000" dirty="0" smtClean="0"/>
              <a:t>.</a:t>
            </a:r>
          </a:p>
          <a:p>
            <a:pPr lvl="1"/>
            <a:r>
              <a:rPr lang="en-GB" sz="2000" b="1" dirty="0"/>
              <a:t>Break Down Major </a:t>
            </a:r>
            <a:r>
              <a:rPr lang="en-GB" sz="2000" b="1" dirty="0" smtClean="0"/>
              <a:t>Deliverables: </a:t>
            </a:r>
            <a:r>
              <a:rPr lang="en-US" sz="2000" dirty="0"/>
              <a:t>For each major deliverable, break them down into smaller, more manageable tasks or sub-deliverables</a:t>
            </a:r>
            <a:r>
              <a:rPr lang="en-US" sz="2000" dirty="0" smtClean="0"/>
              <a:t>.</a:t>
            </a:r>
            <a:r>
              <a:rPr lang="en-US" sz="2000" dirty="0"/>
              <a:t> Use a hierarchical structure to organize these components.</a:t>
            </a:r>
            <a:endParaRPr lang="en-GB" sz="2000" dirty="0"/>
          </a:p>
          <a:p>
            <a:endParaRPr lang="en-US" dirty="0" smtClean="0"/>
          </a:p>
          <a:p>
            <a:endParaRPr lang="en-GB" dirty="0"/>
          </a:p>
          <a:p>
            <a:endParaRPr lang="en-GB" dirty="0"/>
          </a:p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E4303-9A06-40F8-9063-DF7DC95A845E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31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CREATE WBS: TOOLS AND TECHNIQUES</a:t>
            </a:r>
            <a:endParaRPr lang="en-GB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Keep Breaking </a:t>
            </a:r>
            <a:r>
              <a:rPr lang="en-GB" b="1" dirty="0" smtClean="0"/>
              <a:t>Down: </a:t>
            </a:r>
            <a:r>
              <a:rPr lang="en-US" dirty="0"/>
              <a:t>Continue breaking down each sub-deliverable into smaller tasks until you reach a level where the tasks are easily manageable and can be assigned to a specific team </a:t>
            </a:r>
            <a:r>
              <a:rPr lang="en-US" dirty="0" smtClean="0"/>
              <a:t>member.</a:t>
            </a:r>
          </a:p>
          <a:p>
            <a:r>
              <a:rPr lang="en-GB" b="1" dirty="0" smtClean="0"/>
              <a:t>Use </a:t>
            </a:r>
            <a:r>
              <a:rPr lang="en-GB" b="1" dirty="0"/>
              <a:t>a Hierarchical </a:t>
            </a:r>
            <a:r>
              <a:rPr lang="en-GB" b="1" dirty="0" smtClean="0"/>
              <a:t>Structure: </a:t>
            </a:r>
            <a:r>
              <a:rPr lang="en-US" dirty="0" smtClean="0"/>
              <a:t>Hierarchically organize the tasks, </a:t>
            </a:r>
            <a:r>
              <a:rPr lang="en-US" dirty="0"/>
              <a:t>starting with the top-level major deliverables and drilling down to the smallest tasks</a:t>
            </a:r>
            <a:r>
              <a:rPr lang="en-US" dirty="0" smtClean="0"/>
              <a:t>.</a:t>
            </a:r>
          </a:p>
          <a:p>
            <a:r>
              <a:rPr lang="en-GB" b="1" dirty="0"/>
              <a:t>Assign Codes and </a:t>
            </a:r>
            <a:r>
              <a:rPr lang="en-GB" b="1" dirty="0" smtClean="0"/>
              <a:t>Identifiers: </a:t>
            </a:r>
            <a:r>
              <a:rPr lang="en-US" dirty="0"/>
              <a:t>Assign unique codes or identifiers to each element in the WBS to facilitate tracking and referencing</a:t>
            </a:r>
            <a:r>
              <a:rPr lang="en-US" dirty="0" smtClean="0"/>
              <a:t>.</a:t>
            </a:r>
          </a:p>
          <a:p>
            <a:r>
              <a:rPr lang="en-GB" b="1" dirty="0"/>
              <a:t>Review and </a:t>
            </a:r>
            <a:r>
              <a:rPr lang="en-GB" b="1" dirty="0" smtClean="0"/>
              <a:t>Validate: </a:t>
            </a:r>
            <a:r>
              <a:rPr lang="en-US" dirty="0"/>
              <a:t>Review the WBS with key stakeholders to ensure that all necessary tasks are included and that there is a common understanding of the project's structure.</a:t>
            </a:r>
          </a:p>
          <a:p>
            <a:r>
              <a:rPr lang="en-US" dirty="0"/>
              <a:t>Validate the WBS against the project scope to ensure alignment with project objectives.</a:t>
            </a:r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US" dirty="0" smtClean="0"/>
          </a:p>
          <a:p>
            <a:endParaRPr lang="en-GB" dirty="0"/>
          </a:p>
          <a:p>
            <a:endParaRPr lang="en-GB" dirty="0"/>
          </a:p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2424-D815-4C89-B383-E7D16349C554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960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CREATE </a:t>
            </a:r>
            <a:r>
              <a:rPr lang="en-US" sz="3600" b="1" dirty="0" smtClean="0"/>
              <a:t>WBS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Work Package </a:t>
            </a:r>
            <a:r>
              <a:rPr lang="en-US" dirty="0" smtClean="0"/>
              <a:t>is a specific piece of work. You create a work package when you break a deliverable into separate components during the creation of WBS. We can view work packages as “mini-projects” for which cost and duration can be estimated and managed.</a:t>
            </a:r>
          </a:p>
          <a:p>
            <a:endParaRPr lang="en-US" dirty="0"/>
          </a:p>
          <a:p>
            <a:r>
              <a:rPr lang="en-US" b="1" dirty="0" smtClean="0"/>
              <a:t>Work Package Example: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E595-2CBE-4C55-A62B-965C8600EA5F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879" y="3074150"/>
            <a:ext cx="5229955" cy="257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870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CREATE WBS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Activity: </a:t>
            </a:r>
            <a:r>
              <a:rPr lang="en-US" dirty="0" smtClean="0"/>
              <a:t>A distinct, Scheduled portion of work performed during the course of the project.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b="1" dirty="0" smtClean="0"/>
              <a:t>Activity Example:</a:t>
            </a:r>
            <a:endParaRPr lang="en-GB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90CE6-6DB9-44DB-8662-FCEC509B3BDB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4622"/>
          <a:stretch/>
        </p:blipFill>
        <p:spPr>
          <a:xfrm>
            <a:off x="6096000" y="3058919"/>
            <a:ext cx="5033650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191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13A6A-8EBB-4695-A5C5-F50EAE3FF391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15</a:t>
            </a:fld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4294967295"/>
          </p:nvPr>
        </p:nvPicPr>
        <p:blipFill rotWithShape="1">
          <a:blip r:embed="rId2"/>
          <a:srcRect l="12813" r="12021" b="5181"/>
          <a:stretch/>
        </p:blipFill>
        <p:spPr>
          <a:xfrm>
            <a:off x="1436914" y="1030514"/>
            <a:ext cx="9013372" cy="451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633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CREATE </a:t>
            </a:r>
            <a:r>
              <a:rPr lang="en-US" b="1" dirty="0" smtClean="0"/>
              <a:t>WBS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WBS structure may be created through various approaches. Some of the popular methods include the </a:t>
            </a:r>
            <a:r>
              <a:rPr lang="en-US" dirty="0" smtClean="0"/>
              <a:t>top-down approach</a:t>
            </a:r>
            <a:r>
              <a:rPr lang="en-US" dirty="0"/>
              <a:t>, the use of organization-speciﬁc guidelines, and the use of WBS templates. A bottom-up approach can be used </a:t>
            </a:r>
            <a:r>
              <a:rPr lang="en-US" dirty="0" smtClean="0"/>
              <a:t>to </a:t>
            </a:r>
            <a:r>
              <a:rPr lang="en-US" dirty="0"/>
              <a:t>group subcomponents. </a:t>
            </a:r>
            <a:r>
              <a:rPr lang="en-US" b="1" dirty="0"/>
              <a:t>The WBS structure can be represented in </a:t>
            </a:r>
            <a:r>
              <a:rPr lang="en-US" b="1" dirty="0" smtClean="0"/>
              <a:t>several </a:t>
            </a:r>
            <a:r>
              <a:rPr lang="en-US" b="1" dirty="0"/>
              <a:t>forms, such as</a:t>
            </a:r>
            <a:r>
              <a:rPr lang="en-US" b="1" dirty="0" smtClean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Using </a:t>
            </a:r>
            <a:r>
              <a:rPr lang="en-US" b="1" dirty="0" smtClean="0"/>
              <a:t>phases of the project life cycle </a:t>
            </a:r>
            <a:r>
              <a:rPr lang="en-US" dirty="0" smtClean="0"/>
              <a:t>as the </a:t>
            </a:r>
            <a:r>
              <a:rPr lang="en-US" b="1" dirty="0" smtClean="0"/>
              <a:t>second level of decomposition</a:t>
            </a:r>
            <a:r>
              <a:rPr lang="en-US" dirty="0" smtClean="0"/>
              <a:t>, with the product and project deliverables inserted at the third level…</a:t>
            </a:r>
            <a:r>
              <a:rPr lang="en-US" b="1" dirty="0" smtClean="0"/>
              <a:t>Phase Oriented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Using </a:t>
            </a:r>
            <a:r>
              <a:rPr lang="en-US" b="1" dirty="0" smtClean="0"/>
              <a:t>major deliverables as the second level of decomposition…Deliverables Oriented</a:t>
            </a:r>
            <a:r>
              <a:rPr lang="en-US" dirty="0" smtClean="0"/>
              <a:t>. </a:t>
            </a:r>
          </a:p>
          <a:p>
            <a:pPr lvl="2"/>
            <a:r>
              <a:rPr lang="en-US" sz="2000" dirty="0"/>
              <a:t>Deliverable-oriented work breakdown structures list all the smaller products of work that, put together, comprise the final product. 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D229E-1350-4305-A41A-B16BF4A2A261}" type="datetime1">
              <a:rPr lang="en-US" smtClean="0"/>
              <a:t>10/3/2024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925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13A6A-8EBB-4695-A5C5-F50EAE3FF391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9682" t="3219" r="9435" b="2988"/>
          <a:stretch/>
        </p:blipFill>
        <p:spPr>
          <a:xfrm>
            <a:off x="1117600" y="261256"/>
            <a:ext cx="9579429" cy="592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673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5D5A5-D20A-434D-B583-08C05C7C5A0A}" type="datetime1">
              <a:rPr lang="en-US" smtClean="0"/>
              <a:t>10/3/2024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12045" b="42407"/>
          <a:stretch/>
        </p:blipFill>
        <p:spPr>
          <a:xfrm>
            <a:off x="754743" y="362857"/>
            <a:ext cx="10493827" cy="25254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660" t="13110" r="-660"/>
          <a:stretch/>
        </p:blipFill>
        <p:spPr>
          <a:xfrm>
            <a:off x="711202" y="3222171"/>
            <a:ext cx="10551884" cy="267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445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 smtClean="0"/>
              <a:t>CREATE </a:t>
            </a:r>
            <a:r>
              <a:rPr lang="en-GB" sz="3600" b="1" dirty="0"/>
              <a:t>WBS: OUTPUTS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1 SCOPE </a:t>
            </a:r>
            <a:r>
              <a:rPr lang="en-GB" b="1" dirty="0" smtClean="0"/>
              <a:t>BASELINE: </a:t>
            </a:r>
            <a:r>
              <a:rPr lang="en-US" dirty="0"/>
              <a:t>Components of the scope baseline include</a:t>
            </a:r>
            <a:r>
              <a:rPr lang="en-US" dirty="0" smtClean="0"/>
              <a:t>:</a:t>
            </a:r>
          </a:p>
          <a:p>
            <a:r>
              <a:rPr lang="en-US" b="1" dirty="0" smtClean="0"/>
              <a:t>Scope baseline = Project Scope Statement +Work Break Down Structure + WBS Dictionary</a:t>
            </a:r>
            <a:endParaRPr lang="en-US" b="1" dirty="0"/>
          </a:p>
          <a:p>
            <a:r>
              <a:rPr lang="en-US" b="1" dirty="0" smtClean="0"/>
              <a:t>Project </a:t>
            </a:r>
            <a:r>
              <a:rPr lang="en-US" b="1" dirty="0"/>
              <a:t>scope statement. </a:t>
            </a:r>
            <a:r>
              <a:rPr lang="en-US" dirty="0"/>
              <a:t>The project scope statement includes the description of the </a:t>
            </a:r>
            <a:r>
              <a:rPr lang="en-US" b="1" dirty="0"/>
              <a:t>project scope</a:t>
            </a:r>
            <a:r>
              <a:rPr lang="en-US" dirty="0"/>
              <a:t>, </a:t>
            </a:r>
            <a:r>
              <a:rPr lang="en-US" b="1" dirty="0"/>
              <a:t>major </a:t>
            </a:r>
            <a:r>
              <a:rPr lang="en-US" b="1" dirty="0" smtClean="0"/>
              <a:t>deliverables</a:t>
            </a:r>
            <a:r>
              <a:rPr lang="en-US" b="1" dirty="0"/>
              <a:t>, assumptions, and </a:t>
            </a:r>
            <a:r>
              <a:rPr lang="en-US" b="1" dirty="0" smtClean="0"/>
              <a:t>constraints</a:t>
            </a:r>
            <a:r>
              <a:rPr lang="en-US" dirty="0" smtClean="0"/>
              <a:t>.</a:t>
            </a:r>
          </a:p>
          <a:p>
            <a:r>
              <a:rPr lang="en-US" b="1" dirty="0"/>
              <a:t>WBS. </a:t>
            </a:r>
            <a:r>
              <a:rPr lang="en-US" dirty="0"/>
              <a:t>The WBS is a hierarchical decomposition of the total scope of work to be carried out by the project team </a:t>
            </a:r>
            <a:r>
              <a:rPr lang="en-US" dirty="0" smtClean="0"/>
              <a:t>to </a:t>
            </a:r>
            <a:r>
              <a:rPr lang="en-US" dirty="0"/>
              <a:t>accomplish the project objectives and create the required deliverables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WBS </a:t>
            </a:r>
            <a:r>
              <a:rPr lang="en-US" b="1" dirty="0"/>
              <a:t>dictionary. </a:t>
            </a:r>
            <a:r>
              <a:rPr lang="en-US" dirty="0"/>
              <a:t>The WBS dictionary is a document that provides detailed </a:t>
            </a:r>
            <a:r>
              <a:rPr lang="en-US" dirty="0" smtClean="0"/>
              <a:t>deliverables, </a:t>
            </a:r>
            <a:r>
              <a:rPr lang="en-US" dirty="0"/>
              <a:t>activity, and scheduling </a:t>
            </a:r>
            <a:r>
              <a:rPr lang="en-US" dirty="0" smtClean="0"/>
              <a:t>information </a:t>
            </a:r>
            <a:r>
              <a:rPr lang="en-US" dirty="0"/>
              <a:t>about each component in the WBS. WBS dictionary contains </a:t>
            </a:r>
            <a:r>
              <a:rPr lang="en-US" dirty="0" smtClean="0"/>
              <a:t>detailed </a:t>
            </a:r>
            <a:r>
              <a:rPr lang="en-US" dirty="0"/>
              <a:t>information </a:t>
            </a:r>
            <a:r>
              <a:rPr lang="en-US" dirty="0" smtClean="0"/>
              <a:t>on </a:t>
            </a:r>
            <a:r>
              <a:rPr lang="en-US" dirty="0"/>
              <a:t>all work packages. </a:t>
            </a:r>
            <a:r>
              <a:rPr lang="en-US" dirty="0" smtClean="0"/>
              <a:t> It Includes </a:t>
            </a:r>
          </a:p>
          <a:p>
            <a:r>
              <a:rPr lang="en-US" dirty="0"/>
              <a:t>Description of </a:t>
            </a:r>
            <a:r>
              <a:rPr lang="en-US" dirty="0" smtClean="0"/>
              <a:t>work, assumptions </a:t>
            </a:r>
            <a:r>
              <a:rPr lang="en-US" dirty="0"/>
              <a:t>and </a:t>
            </a:r>
            <a:r>
              <a:rPr lang="en-US" dirty="0" smtClean="0"/>
              <a:t>constraints, Responsible organization, schedule milestones, associated </a:t>
            </a:r>
            <a:r>
              <a:rPr lang="en-US" dirty="0"/>
              <a:t>schedule </a:t>
            </a:r>
            <a:r>
              <a:rPr lang="en-US" dirty="0" smtClean="0"/>
              <a:t>activities, resources required, cost estimates, quality requirements, acceptance criteria.</a:t>
            </a:r>
          </a:p>
          <a:p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96EE9-B4B7-4F91-97E1-AFB7593F8BFF}" type="datetime1">
              <a:rPr lang="en-US" smtClean="0"/>
              <a:t>10/3/2024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89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CREATE WBS: OUTPUTS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PROJECT DOCUMENTS UPDATES:</a:t>
            </a:r>
          </a:p>
          <a:p>
            <a:r>
              <a:rPr lang="en-US" dirty="0"/>
              <a:t>Project documents that may be updated as a result of carrying out this process include :</a:t>
            </a:r>
          </a:p>
          <a:p>
            <a:r>
              <a:rPr lang="en-US" b="1" dirty="0"/>
              <a:t>Assumption log. </a:t>
            </a:r>
            <a:r>
              <a:rPr lang="en-US" dirty="0"/>
              <a:t>The assumption log is updated with additional assumptions or constraints that were identiﬁed during the Create WBS process.</a:t>
            </a:r>
          </a:p>
          <a:p>
            <a:r>
              <a:rPr lang="en-US" b="1" dirty="0"/>
              <a:t>Requirements documentation. </a:t>
            </a:r>
            <a:r>
              <a:rPr lang="en-US" dirty="0"/>
              <a:t>Requirements documentation may be updated to include approved changes resulting from the Create WBS process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455F1-670B-4DE5-846A-122124174463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72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Task: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GB" dirty="0"/>
              <a:t>A financial services company, </a:t>
            </a:r>
            <a:r>
              <a:rPr lang="en-GB" dirty="0" err="1"/>
              <a:t>FinTech</a:t>
            </a:r>
            <a:r>
              <a:rPr lang="en-GB" dirty="0"/>
              <a:t> Innovations, has decided to develop a mobile banking application to enhance customer engagement and streamline banking services. The project aims to deliver a user-friendly app that includes features like account management, funds transfer, bill payments, and customer support. The company has a timeline of 6 months and a budget of $500,000.</a:t>
            </a:r>
          </a:p>
          <a:p>
            <a:pPr algn="just"/>
            <a:r>
              <a:rPr lang="en-GB" b="1" dirty="0"/>
              <a:t>Project Objectives</a:t>
            </a:r>
            <a:r>
              <a:rPr lang="en-GB" dirty="0"/>
              <a:t>:</a:t>
            </a:r>
          </a:p>
          <a:p>
            <a:pPr lvl="0" algn="just"/>
            <a:r>
              <a:rPr lang="en-GB" dirty="0"/>
              <a:t>To create a secure mobile application for both iOS and Android platforms.</a:t>
            </a:r>
          </a:p>
          <a:p>
            <a:pPr lvl="0" algn="just"/>
            <a:r>
              <a:rPr lang="en-GB" dirty="0"/>
              <a:t>To ensure a smooth user experience with an intuitive interface.</a:t>
            </a:r>
          </a:p>
          <a:p>
            <a:pPr lvl="0" algn="just"/>
            <a:r>
              <a:rPr lang="en-GB" dirty="0"/>
              <a:t>To integrate various banking services into one app.</a:t>
            </a:r>
          </a:p>
          <a:p>
            <a:pPr lvl="0" algn="just"/>
            <a:r>
              <a:rPr lang="en-GB" dirty="0"/>
              <a:t>To launch the app by the end of the 6-month period.</a:t>
            </a:r>
          </a:p>
          <a:p>
            <a:pPr algn="just"/>
            <a:r>
              <a:rPr lang="en-GB" b="1" dirty="0" smtClean="0"/>
              <a:t>Create </a:t>
            </a:r>
            <a:r>
              <a:rPr lang="en-GB" b="1" dirty="0"/>
              <a:t>the Work Breakdown Structure (WBS</a:t>
            </a:r>
            <a:r>
              <a:rPr lang="en-GB" b="1" dirty="0" smtClean="0"/>
              <a:t>)</a:t>
            </a:r>
            <a:endParaRPr lang="en-GB" dirty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13A6A-8EBB-4695-A5C5-F50EAE3FF391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179AE-A249-4863-8618-D1BE5737D37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23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FC7BF-0B47-4E79-83C6-67955BC86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skerville Old Face" panose="02020602080505020303" pitchFamily="18" charset="0"/>
              </a:rPr>
              <a:t>Reading</a:t>
            </a:r>
            <a:r>
              <a:rPr lang="en-US" dirty="0"/>
              <a:t> </a:t>
            </a:r>
            <a:r>
              <a:rPr lang="en-US" b="1" dirty="0">
                <a:latin typeface="Baskerville Old Face" panose="02020602080505020303" pitchFamily="18" charset="0"/>
              </a:rPr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DC546-52E5-41DA-B325-6605630D1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100" dirty="0"/>
          </a:p>
          <a:p>
            <a:r>
              <a:rPr lang="en-US" sz="2100" b="1" dirty="0"/>
              <a:t>Chapter 5: Project Scope Management </a:t>
            </a:r>
            <a:r>
              <a:rPr lang="en-US" dirty="0"/>
              <a:t>by </a:t>
            </a:r>
            <a:r>
              <a:rPr lang="en-US" dirty="0" smtClean="0"/>
              <a:t>PMBOK-Guide-6th-Edition-PMI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02B09-1F9D-427A-B846-E2E1785EF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B4B9-B84B-4E7C-8F2A-1483C31456CE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6F421-BEF6-4F37-B740-BDD253168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SoftwareProjectManagement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EC7B5-5B0A-4C13-9C45-C564BA1F7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BCB7-F020-4D66-B969-F77D7060AB5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314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2580</TotalTime>
  <Words>1260</Words>
  <Application>Microsoft Office PowerPoint</Application>
  <PresentationFormat>Widescreen</PresentationFormat>
  <Paragraphs>158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Baskerville Old Face</vt:lpstr>
      <vt:lpstr>Calibri</vt:lpstr>
      <vt:lpstr>Calibri Light</vt:lpstr>
      <vt:lpstr>Times New Roman</vt:lpstr>
      <vt:lpstr>Retrospect</vt:lpstr>
      <vt:lpstr>Project Scope Management</vt:lpstr>
      <vt:lpstr>Project Scope Management</vt:lpstr>
      <vt:lpstr>PowerPoint Presentation</vt:lpstr>
      <vt:lpstr>Project Scope Management Processes</vt:lpstr>
      <vt:lpstr>Project Scope Management Processes</vt:lpstr>
      <vt:lpstr>PowerPoint Presentation</vt:lpstr>
      <vt:lpstr>CREATE WBS</vt:lpstr>
      <vt:lpstr>PowerPoint Presentation</vt:lpstr>
      <vt:lpstr>PowerPoint Presentation</vt:lpstr>
      <vt:lpstr>CREATE WBS: INPUTS</vt:lpstr>
      <vt:lpstr>CREATE WBS: TOOLS AND TECHNIQUES</vt:lpstr>
      <vt:lpstr>CREATE WBS: TOOLS AND TECHNIQUES</vt:lpstr>
      <vt:lpstr>CREATE WBS</vt:lpstr>
      <vt:lpstr>CREATE WBS</vt:lpstr>
      <vt:lpstr>PowerPoint Presentation</vt:lpstr>
      <vt:lpstr>CREATE WBS</vt:lpstr>
      <vt:lpstr>PowerPoint Presentation</vt:lpstr>
      <vt:lpstr>PowerPoint Presentation</vt:lpstr>
      <vt:lpstr>CREATE WBS: OUTPUTS</vt:lpstr>
      <vt:lpstr>CREATE WBS: OUTPUTS</vt:lpstr>
      <vt:lpstr>Task:</vt:lpstr>
      <vt:lpstr>Reading 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Scope Management</dc:title>
  <dc:creator>Faree</dc:creator>
  <cp:lastModifiedBy>Humaira Afzal</cp:lastModifiedBy>
  <cp:revision>117</cp:revision>
  <dcterms:created xsi:type="dcterms:W3CDTF">2017-10-02T07:34:01Z</dcterms:created>
  <dcterms:modified xsi:type="dcterms:W3CDTF">2024-10-03T04:38:59Z</dcterms:modified>
</cp:coreProperties>
</file>