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4050" r:id="rId2"/>
  </p:sldMasterIdLst>
  <p:notesMasterIdLst>
    <p:notesMasterId r:id="rId44"/>
  </p:notesMasterIdLst>
  <p:handoutMasterIdLst>
    <p:handoutMasterId r:id="rId45"/>
  </p:handoutMasterIdLst>
  <p:sldIdLst>
    <p:sldId id="257" r:id="rId3"/>
    <p:sldId id="411" r:id="rId4"/>
    <p:sldId id="414" r:id="rId5"/>
    <p:sldId id="417" r:id="rId6"/>
    <p:sldId id="418" r:id="rId7"/>
    <p:sldId id="419" r:id="rId8"/>
    <p:sldId id="420" r:id="rId9"/>
    <p:sldId id="421" r:id="rId10"/>
    <p:sldId id="422" r:id="rId11"/>
    <p:sldId id="423" r:id="rId12"/>
    <p:sldId id="424" r:id="rId13"/>
    <p:sldId id="425" r:id="rId14"/>
    <p:sldId id="427" r:id="rId15"/>
    <p:sldId id="428" r:id="rId16"/>
    <p:sldId id="429" r:id="rId17"/>
    <p:sldId id="347" r:id="rId18"/>
    <p:sldId id="350" r:id="rId19"/>
    <p:sldId id="437" r:id="rId20"/>
    <p:sldId id="443" r:id="rId21"/>
    <p:sldId id="444" r:id="rId22"/>
    <p:sldId id="363" r:id="rId23"/>
    <p:sldId id="445" r:id="rId24"/>
    <p:sldId id="446" r:id="rId25"/>
    <p:sldId id="447" r:id="rId26"/>
    <p:sldId id="448" r:id="rId27"/>
    <p:sldId id="449" r:id="rId28"/>
    <p:sldId id="450" r:id="rId29"/>
    <p:sldId id="451" r:id="rId30"/>
    <p:sldId id="454" r:id="rId31"/>
    <p:sldId id="455" r:id="rId32"/>
    <p:sldId id="458" r:id="rId33"/>
    <p:sldId id="477" r:id="rId34"/>
    <p:sldId id="481" r:id="rId35"/>
    <p:sldId id="480" r:id="rId36"/>
    <p:sldId id="479" r:id="rId37"/>
    <p:sldId id="482" r:id="rId38"/>
    <p:sldId id="461" r:id="rId39"/>
    <p:sldId id="457" r:id="rId40"/>
    <p:sldId id="483" r:id="rId41"/>
    <p:sldId id="410" r:id="rId42"/>
    <p:sldId id="325" r:id="rId4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6699"/>
    <a:srgbClr val="5B53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68" autoAdjust="0"/>
    <p:restoredTop sz="84871" autoAdjust="0"/>
  </p:normalViewPr>
  <p:slideViewPr>
    <p:cSldViewPr>
      <p:cViewPr varScale="1">
        <p:scale>
          <a:sx n="54" d="100"/>
          <a:sy n="54" d="100"/>
        </p:scale>
        <p:origin x="1648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056D363C-5E2E-4FD0-BE76-39BEB4D4ED8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FontTx/>
              <a:buNone/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3650B7EB-D2F1-482C-8987-2D8FE78BAD2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FontTx/>
              <a:buNone/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9396" name="Rectangle 4">
            <a:extLst>
              <a:ext uri="{FF2B5EF4-FFF2-40B4-BE49-F238E27FC236}">
                <a16:creationId xmlns:a16="http://schemas.microsoft.com/office/drawing/2014/main" id="{527E2BDC-607F-4F94-99F0-1F75C0B5DFB5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FontTx/>
              <a:buNone/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9397" name="Rectangle 5">
            <a:extLst>
              <a:ext uri="{FF2B5EF4-FFF2-40B4-BE49-F238E27FC236}">
                <a16:creationId xmlns:a16="http://schemas.microsoft.com/office/drawing/2014/main" id="{061C0F0B-15D7-4B88-B4F8-AFF5077BB69C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anose="02020603050405020304" pitchFamily="18" charset="0"/>
              </a:defRPr>
            </a:lvl1pPr>
          </a:lstStyle>
          <a:p>
            <a:fld id="{30272D85-10B8-4A40-9E31-F1D91F7ECDF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703F6687-BD45-4583-8922-102C2FDA78E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FontTx/>
              <a:buNone/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EB1101EB-8A03-4729-9B20-1B92B9F1F24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FontTx/>
              <a:buNone/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3732" name="Rectangle 4">
            <a:extLst>
              <a:ext uri="{FF2B5EF4-FFF2-40B4-BE49-F238E27FC236}">
                <a16:creationId xmlns:a16="http://schemas.microsoft.com/office/drawing/2014/main" id="{47A1F745-CDAB-4BC2-91A8-AA95D1499524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9" name="Rectangle 5">
            <a:extLst>
              <a:ext uri="{FF2B5EF4-FFF2-40B4-BE49-F238E27FC236}">
                <a16:creationId xmlns:a16="http://schemas.microsoft.com/office/drawing/2014/main" id="{71C7E6AA-C584-400B-B9C5-BC2C17DF34F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6870" name="Rectangle 6">
            <a:extLst>
              <a:ext uri="{FF2B5EF4-FFF2-40B4-BE49-F238E27FC236}">
                <a16:creationId xmlns:a16="http://schemas.microsoft.com/office/drawing/2014/main" id="{8215D48D-0612-4966-BE5C-CFCA7768213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FontTx/>
              <a:buNone/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6871" name="Rectangle 7">
            <a:extLst>
              <a:ext uri="{FF2B5EF4-FFF2-40B4-BE49-F238E27FC236}">
                <a16:creationId xmlns:a16="http://schemas.microsoft.com/office/drawing/2014/main" id="{00694FFB-48C5-45AD-A833-047F8026D9B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anose="02020603050405020304" pitchFamily="18" charset="0"/>
              </a:defRPr>
            </a:lvl1pPr>
          </a:lstStyle>
          <a:p>
            <a:fld id="{72DF6D96-AFE7-4A14-8DD8-8FFE9C4EF611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Image Placeholder 1">
            <a:extLst>
              <a:ext uri="{FF2B5EF4-FFF2-40B4-BE49-F238E27FC236}">
                <a16:creationId xmlns:a16="http://schemas.microsoft.com/office/drawing/2014/main" id="{ED4C705D-42B6-49F5-A827-266D4C295CE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4755" name="Notes Placeholder 2">
            <a:extLst>
              <a:ext uri="{FF2B5EF4-FFF2-40B4-BE49-F238E27FC236}">
                <a16:creationId xmlns:a16="http://schemas.microsoft.com/office/drawing/2014/main" id="{4E062A7D-29BB-4505-AADD-6EBF53AA05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74756" name="Slide Number Placeholder 3">
            <a:extLst>
              <a:ext uri="{FF2B5EF4-FFF2-40B4-BE49-F238E27FC236}">
                <a16:creationId xmlns:a16="http://schemas.microsoft.com/office/drawing/2014/main" id="{D7B981C8-2858-45A7-AF58-F7597534DB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D0B1250-91DB-4906-A267-830168C15A7A}" type="slidenum">
              <a:rPr lang="en-US" altLang="en-US" sz="1200">
                <a:latin typeface="Times New Roman" panose="02020603050405020304" pitchFamily="18" charset="0"/>
              </a:rPr>
              <a:pPr eaLnBrk="1" hangingPunct="1"/>
              <a:t>1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DF6D96-AFE7-4A14-8DD8-8FFE9C4EF611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873606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DF6D96-AFE7-4A14-8DD8-8FFE9C4EF611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87403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DF6D96-AFE7-4A14-8DD8-8FFE9C4EF611}" type="slidenum">
              <a:rPr lang="en-US" altLang="en-US" smtClean="0"/>
              <a:pPr/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450448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>
            <a:extLst>
              <a:ext uri="{FF2B5EF4-FFF2-40B4-BE49-F238E27FC236}">
                <a16:creationId xmlns:a16="http://schemas.microsoft.com/office/drawing/2014/main" id="{43683C46-4B14-4CF4-82C4-92E61FF578A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9CF15C1-8B60-4C24-B6DB-0BDE3F530F2C}" type="slidenum">
              <a:rPr lang="en-US" altLang="en-US" sz="1200">
                <a:latin typeface="Times New Roman" panose="02020603050405020304" pitchFamily="18" charset="0"/>
              </a:rPr>
              <a:pPr eaLnBrk="1" hangingPunct="1"/>
              <a:t>16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99171C45-196B-493A-9347-F42D2177D50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D2C3608A-8E53-4D87-8306-0BECF667AB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DF6D96-AFE7-4A14-8DD8-8FFE9C4EF611}" type="slidenum">
              <a:rPr lang="en-US" altLang="en-US" smtClean="0"/>
              <a:pPr/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584100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A32419-859A-4C42-B887-36F2007FA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160F0F-21E5-49F5-8FA1-284E552DD968}" type="datetime1">
              <a:rPr lang="en-US" smtClean="0"/>
              <a:t>10/17/2024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0115D-212B-4609-A8D2-1DC77F702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CSE494-Software Project 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24148C-A6CB-4EAA-A7C6-3E60928A0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C8FDAE-4946-4335-951F-4AA3DF2D9E6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37312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8F5DE9-6E88-464A-899D-0A265A6FB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6BD752-A162-44A8-BC4A-31BAB54881E8}" type="datetime1">
              <a:rPr lang="en-US" smtClean="0"/>
              <a:t>10/17/2024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8197F1-CFD4-41F3-B2CD-BFEACD157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CSE494-Software Project 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1C5654-8138-4CC7-ACC1-65D28D5FD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C2405D-CE54-4116-A098-4D216FB8320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9371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47C69A-0437-4480-AE6D-6C24D7F86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A6F219-8125-4231-AD5D-747E738A6479}" type="datetime1">
              <a:rPr lang="en-US" smtClean="0"/>
              <a:t>10/17/2024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C55C18-9DE2-48F9-B44D-2A173B94A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CSE494-Software Project 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D89687-3CE5-4F75-BC7B-494BD5A8C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D3C44B-13DD-456B-93C3-BC56C4F9846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70364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10A060A-55AE-4797-AA66-A869B9A50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C87209-4351-4177-80AA-DFBAC039648F}" type="datetime1">
              <a:rPr lang="en-US" smtClean="0"/>
              <a:t>10/17/2024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D94DA0F-D52D-466F-A5AE-0D95B8EB4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CSE494-Software Project Management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676F0A7-C317-42F4-95F4-28FB35CF9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03DAAE-1470-4471-96C4-0568A57498A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290943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8F68F8C-D5F9-42B2-A022-BF24FDAAC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732ADE-2519-4426-938F-10C44B39AA38}" type="datetime1">
              <a:rPr lang="en-US" smtClean="0"/>
              <a:t>10/17/2024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08320BCE-BFFE-455B-BDB9-C70EAE528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CSE494-Software Project Management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7C066E8-0BFB-430B-BA93-7A50194CB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0CB445-6727-45D1-A260-9EC4576045E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77951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646D0E6-C105-4A57-8B01-AFCF66ADE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879946-03C6-4B6A-A81E-E00E37F8C4EF}" type="datetime1">
              <a:rPr lang="en-US" smtClean="0"/>
              <a:t>10/17/2024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72C75CB-C418-42D4-BAFB-D6324431E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CSE494-Software Project Management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A9127B2-2739-47DE-A74F-4C57F5D0E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47C8BB-1E37-461B-BADB-F5C593239BA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75553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A167957D-34A7-454A-A132-5D8968F82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D7F114-4242-49FD-BFEA-0C403CFB4E3A}" type="datetime1">
              <a:rPr lang="en-US" smtClean="0"/>
              <a:t>10/17/2024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CA7445A-5956-4903-BA6D-DE4F69927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CSE494-Software Project Management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D58EBD2-281B-41B7-B403-C5E0EE64C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823A7E-A0C8-4AC6-AF56-8E1940E65F3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54797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36E5C7D-2003-40C6-8AF5-C61E9B3DA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1EE82D-C5B0-4DDB-A7DE-BE0DBD947E9E}" type="datetime1">
              <a:rPr lang="en-US" smtClean="0"/>
              <a:t>10/17/2024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B9390B0-EBF5-45D9-85A8-9A3BCA6F3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CSE494-Software Project Management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6964AB4-B94A-4465-8F1D-D05E6FBFF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81DD87-AA88-447C-999B-B444BFA8242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29517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B8A6641-DA33-447C-A768-8A04120F6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8ED8B6-CE69-4C9B-8750-FF77CB02C607}" type="datetime1">
              <a:rPr lang="en-US" smtClean="0"/>
              <a:t>10/17/2024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A1F7C6F-4D4F-4307-B662-0EF1997EB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CSE494-Software Project Management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E0C66B3-E248-47B6-AF86-8C0EF8E88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A35303-D79A-495A-A9DD-06DB933EF84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47412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6A9F55-B271-4BE6-A9E3-FB8AF32D1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CE7AE2-DD59-4688-95B7-FD87F385AD72}" type="datetime1">
              <a:rPr lang="en-US" smtClean="0"/>
              <a:t>10/17/2024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703942-97A7-4276-A3FD-FBF210969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CSE494-Software Project 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2252B5-1496-41C6-ABCB-9F972AF12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D1C78F-1CA8-465F-84DB-D3D1DF34229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41145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A74CCE-DF13-432B-99A3-21D61303A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FBFED5-2EC3-4B90-BD76-F1130AE3B058}" type="datetime1">
              <a:rPr lang="en-US" smtClean="0"/>
              <a:t>10/17/2024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C4C13-9A35-4AFD-B1DB-BC9120D93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CSE494-Software Project 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C9CEDD-7950-4341-B11B-3E870876C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F19C64-629D-4BA1-A0A5-518AB71FB7E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47771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763B661-4702-42C7-886F-F79161887838}" type="datetime1">
              <a:rPr lang="en-US" smtClean="0"/>
              <a:t>10/17/2024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CSE494-Software Project Management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AEAE4-3596-414B-82BB-8C02EA7C1608}" type="slidenum">
              <a:rPr lang="en-US" altLang="en-US" smtClean="0"/>
              <a:pPr/>
              <a:t>‹#›</a:t>
            </a:fld>
            <a:endParaRPr lang="en-US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82391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A89B9-5D81-47EE-8C04-42BFFDCD0C63}" type="datetime1">
              <a:rPr lang="en-US" smtClean="0"/>
              <a:t>10/17/2024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CSE494-Software Project Management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40AAC-B608-4A70-8165-1D05842FA389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47949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DB4FB14-F5F7-4073-8D8F-8DCCA78C0499}" type="datetime1">
              <a:rPr lang="en-US" smtClean="0"/>
              <a:t>10/17/2024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CSE494-Software Project Management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5523D-44C3-448F-98D8-9C2BDAE2FAB8}" type="slidenum">
              <a:rPr lang="en-US" altLang="en-US" smtClean="0"/>
              <a:pPr/>
              <a:t>‹#›</a:t>
            </a:fld>
            <a:endParaRPr lang="en-US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12733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5"/>
            <a:ext cx="3703320" cy="402335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F7954F0-DFAC-4239-B350-07A18532372F}" type="datetime1">
              <a:rPr lang="en-US" smtClean="0"/>
              <a:t>10/17/2024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CSE494-Software Project Management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8AE40-56F8-42B6-B9B9-A3502DD8265F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97331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5"/>
            <a:ext cx="370332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C815649-528C-4ABE-81F2-4C4CD210464B}" type="datetime1">
              <a:rPr lang="en-US" smtClean="0"/>
              <a:t>10/17/2024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CSE494-Software Project Management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351D0-2BB0-4A0E-8896-DFDA0A3D273D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687428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BD0BAC7-BB1F-4215-86A5-9B8B4102AA7F}" type="datetime1">
              <a:rPr lang="en-US" smtClean="0"/>
              <a:t>10/17/2024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CSE494-Software Project Management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15FF9-0FAE-480D-93E4-5533FF823676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245375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F99C17A-B6EC-4440-A7F9-D6C214D6126F}" type="datetime1">
              <a:rPr lang="en-US" smtClean="0"/>
              <a:t>10/17/2024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CSE494-Software Project Management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1D65F-D501-4DF7-BD11-029B6F81E0EF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5744425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9457260A-EBAD-4B61-9E9B-467FAD5234C0}" type="datetime1">
              <a:rPr lang="en-US" smtClean="0"/>
              <a:t>10/17/2024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/>
              <a:t>CSE494-Software Project Management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5657BDA-05E2-432D-9B14-530D219D90E7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246787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CA7B1EE-F1BC-433C-8782-E070F0C68B03}" type="datetime1">
              <a:rPr lang="en-US" smtClean="0"/>
              <a:t>10/17/2024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CSE494-Software Project Management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FA673-9B8D-463E-9340-E251411A2B21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4101703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8C4235B-9FC0-4E97-9D24-F95543ABD2A4}" type="datetime1">
              <a:rPr lang="en-US" smtClean="0"/>
              <a:t>10/17/2024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CSE494-Software Project Management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F3D9A-D5C7-4862-BB91-476AB66C0A1B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09190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0AFD386-52FB-4452-8262-D5A67B25EB7B}" type="datetime1">
              <a:rPr lang="en-US" smtClean="0"/>
              <a:t>10/17/2024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CSE494-Software Project Management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EF9D9-1CB1-4E92-A309-642126C9ED43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9403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68B7D379-02F7-4482-AECB-9684D2E79F90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33AD5D2D-DAC5-4482-9ECD-609C84A58CB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03ECE3-05A4-466D-A326-87EEF0C6EA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ct val="20000"/>
              </a:spcBef>
              <a:buFontTx/>
              <a:buChar char="•"/>
              <a:defRPr sz="1200">
                <a:solidFill>
                  <a:srgbClr val="898989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8FF058A2-1770-468D-A6B2-AE561FE94C3A}" type="datetime1">
              <a:rPr lang="en-US" smtClean="0"/>
              <a:t>10/17/2024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EA3F7E-DE1B-448B-A079-45C17CEDA3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lnSpc>
                <a:spcPct val="90000"/>
              </a:lnSpc>
              <a:spcBef>
                <a:spcPct val="20000"/>
              </a:spcBef>
              <a:buFontTx/>
              <a:buChar char="•"/>
              <a:defRPr sz="1200">
                <a:solidFill>
                  <a:srgbClr val="898989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/>
              <a:t>CSE494-Software Project 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9430AD-3F5E-4284-9616-698566605F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lnSpc>
                <a:spcPct val="90000"/>
              </a:lnSpc>
              <a:spcBef>
                <a:spcPct val="20000"/>
              </a:spcBef>
              <a:buFontTx/>
              <a:buChar char="•"/>
              <a:defRPr sz="1200">
                <a:solidFill>
                  <a:srgbClr val="898989"/>
                </a:solidFill>
                <a:latin typeface="Times New Roman" panose="02020603050405020304" pitchFamily="18" charset="0"/>
              </a:defRPr>
            </a:lvl1pPr>
          </a:lstStyle>
          <a:p>
            <a:fld id="{7100180E-49B6-496E-9861-0804BCD3C57E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16" r:id="rId1"/>
    <p:sldLayoutId id="2147484017" r:id="rId2"/>
    <p:sldLayoutId id="2147484018" r:id="rId3"/>
    <p:sldLayoutId id="2147484019" r:id="rId4"/>
    <p:sldLayoutId id="2147484020" r:id="rId5"/>
    <p:sldLayoutId id="2147484021" r:id="rId6"/>
    <p:sldLayoutId id="2147484022" r:id="rId7"/>
    <p:sldLayoutId id="2147484023" r:id="rId8"/>
    <p:sldLayoutId id="2147484024" r:id="rId9"/>
    <p:sldLayoutId id="2147484025" r:id="rId10"/>
    <p:sldLayoutId id="2147484026" r:id="rId11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9144001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F86B1FE7-314E-4C38-A223-762851ED00B4}" type="datetime1">
              <a:rPr lang="en-US" smtClean="0"/>
              <a:t>10/17/2024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CSE494-Software Project Management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7100180E-49B6-496E-9861-0804BCD3C57E}" type="slidenum">
              <a:rPr lang="en-US" altLang="en-US" smtClean="0"/>
              <a:pPr/>
              <a:t>‹#›</a:t>
            </a:fld>
            <a:endParaRPr lang="en-US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9022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1" r:id="rId1"/>
    <p:sldLayoutId id="2147484052" r:id="rId2"/>
    <p:sldLayoutId id="2147484053" r:id="rId3"/>
    <p:sldLayoutId id="2147484054" r:id="rId4"/>
    <p:sldLayoutId id="2147484055" r:id="rId5"/>
    <p:sldLayoutId id="2147484056" r:id="rId6"/>
    <p:sldLayoutId id="2147484057" r:id="rId7"/>
    <p:sldLayoutId id="2147484058" r:id="rId8"/>
    <p:sldLayoutId id="2147484059" r:id="rId9"/>
    <p:sldLayoutId id="2147484060" r:id="rId10"/>
    <p:sldLayoutId id="2147484061" r:id="rId11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828B90DD-F241-45D3-B3E0-14F809D1707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143000"/>
            <a:ext cx="7772400" cy="2568575"/>
          </a:xfrm>
        </p:spPr>
        <p:txBody>
          <a:bodyPr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sz="4800" dirty="0">
                <a:effectLst>
                  <a:outerShdw blurRad="38100" dist="38100" dir="2700000" algn="tl">
                    <a:srgbClr val="FFFFFF"/>
                  </a:outerShdw>
                </a:effectLst>
                <a:latin typeface="Arial Rounded MT Bold" pitchFamily="34" charset="0"/>
              </a:rPr>
              <a:t/>
            </a:r>
            <a:br>
              <a:rPr sz="4800" dirty="0">
                <a:effectLst>
                  <a:outerShdw blurRad="38100" dist="38100" dir="2700000" algn="tl">
                    <a:srgbClr val="FFFFFF"/>
                  </a:outerShdw>
                </a:effectLst>
                <a:latin typeface="Arial Rounded MT Bold" pitchFamily="34" charset="0"/>
              </a:rPr>
            </a:br>
            <a:r>
              <a:rPr sz="4000" dirty="0">
                <a:effectLst>
                  <a:outerShdw blurRad="38100" dist="38100" dir="2700000" algn="tl">
                    <a:srgbClr val="FFFFFF"/>
                  </a:outerShdw>
                </a:effectLst>
                <a:latin typeface="Arial Rounded MT Bold" pitchFamily="34" charset="0"/>
              </a:rPr>
              <a:t>Project </a:t>
            </a:r>
            <a:r>
              <a:rPr lang="en-US" sz="4000" dirty="0">
                <a:effectLst>
                  <a:outerShdw blurRad="38100" dist="38100" dir="2700000" algn="tl">
                    <a:srgbClr val="FFFFFF"/>
                  </a:outerShdw>
                </a:effectLst>
                <a:latin typeface="Arial Rounded MT Bold" pitchFamily="34" charset="0"/>
              </a:rPr>
              <a:t>Schedule</a:t>
            </a:r>
            <a:r>
              <a:rPr sz="4000" dirty="0">
                <a:effectLst>
                  <a:outerShdw blurRad="38100" dist="38100" dir="2700000" algn="tl">
                    <a:srgbClr val="FFFFFF"/>
                  </a:outerShdw>
                </a:effectLst>
                <a:latin typeface="Arial Rounded MT Bold" pitchFamily="34" charset="0"/>
              </a:rPr>
              <a:t> </a:t>
            </a:r>
            <a:r>
              <a:rPr sz="4000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Arial Rounded MT Bold" pitchFamily="34" charset="0"/>
              </a:rPr>
              <a:t>Management</a:t>
            </a:r>
            <a:r>
              <a:rPr lang="en-US" sz="4000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Arial Rounded MT Bold" pitchFamily="34" charset="0"/>
              </a:rPr>
              <a:t> Knowledge Area</a:t>
            </a:r>
            <a:endParaRPr sz="4000" dirty="0">
              <a:effectLst>
                <a:outerShdw blurRad="38100" dist="38100" dir="2700000" algn="tl">
                  <a:srgbClr val="FFFFFF"/>
                </a:outerShdw>
              </a:effectLst>
              <a:latin typeface="Arial Rounded MT Bold" pitchFamily="34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02FA52-D958-4417-9D75-47652493A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656BEE1-0461-4BAC-AC3F-DE58FABBAF77}" type="datetime1">
              <a:rPr lang="en-US" smtClean="0"/>
              <a:t>10/17/2024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32940E-3D90-43D1-A29D-83EC880BF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CSE494-Software Project Management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3140AA-9772-4E1E-BEB9-5C75C191F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AEAE4-3596-414B-82BB-8C02EA7C1608}" type="slidenum">
              <a:rPr lang="en-US" altLang="en-US" smtClean="0"/>
              <a:pPr/>
              <a:t>1</a:t>
            </a:fld>
            <a:endParaRPr lang="en-US" altLang="en-US"/>
          </a:p>
        </p:txBody>
      </p:sp>
      <p:sp>
        <p:nvSpPr>
          <p:cNvPr id="7" name="Subtitle 1">
            <a:extLst>
              <a:ext uri="{FF2B5EF4-FFF2-40B4-BE49-F238E27FC236}">
                <a16:creationId xmlns:a16="http://schemas.microsoft.com/office/drawing/2014/main" id="{E0D0B0AE-BAD7-43FF-970B-36C07A8285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4572000"/>
            <a:ext cx="7543800" cy="1792779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Week 7</a:t>
            </a:r>
            <a:r>
              <a:rPr lang="en-US" sz="2800" dirty="0">
                <a:sym typeface="Wingdings" panose="05000000000000000000" pitchFamily="2" charset="2"/>
              </a:rPr>
              <a:t> </a:t>
            </a:r>
            <a:r>
              <a:rPr lang="en-US" sz="2800" dirty="0"/>
              <a:t>Lecture 13&amp;14</a:t>
            </a:r>
            <a:endParaRPr lang="en-US" sz="1200" dirty="0"/>
          </a:p>
          <a:p>
            <a:pPr algn="ctr"/>
            <a:r>
              <a:rPr lang="en-US" sz="1200" dirty="0"/>
              <a:t>By</a:t>
            </a:r>
          </a:p>
          <a:p>
            <a:pPr algn="ctr"/>
            <a:r>
              <a:rPr lang="en-US" sz="1200" dirty="0" smtClean="0"/>
              <a:t>Humaira Afzal</a:t>
            </a:r>
            <a:endParaRPr lang="en-US" sz="1200" dirty="0"/>
          </a:p>
          <a:p>
            <a:pPr algn="ctr"/>
            <a:r>
              <a:rPr lang="en-US" sz="1200" dirty="0"/>
              <a:t>Lecturer CS, CUI Lahore Campus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b="1" dirty="0" smtClean="0"/>
              <a:t>Project Schedule Management</a:t>
            </a:r>
            <a:endParaRPr lang="en-GB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Project Schedule Management includes the processes required to </a:t>
            </a:r>
            <a:r>
              <a:rPr lang="en-US" b="1" dirty="0"/>
              <a:t>manage the timely completion of the project. </a:t>
            </a:r>
          </a:p>
          <a:p>
            <a:r>
              <a:rPr lang="en-US" i="1" dirty="0" smtClean="0"/>
              <a:t>The Project Schedule Management processes are:</a:t>
            </a:r>
          </a:p>
          <a:p>
            <a:r>
              <a:rPr lang="en-US" b="1" dirty="0" smtClean="0"/>
              <a:t>1. Plan Schedule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2. Define Activities</a:t>
            </a:r>
          </a:p>
          <a:p>
            <a:r>
              <a:rPr lang="en-US" b="1" dirty="0" smtClean="0"/>
              <a:t>3. Sequence Activities</a:t>
            </a:r>
          </a:p>
          <a:p>
            <a:r>
              <a:rPr lang="en-US" b="1" dirty="0" smtClean="0"/>
              <a:t>4. Estimate Activity Duration</a:t>
            </a:r>
          </a:p>
          <a:p>
            <a:r>
              <a:rPr lang="en-US" b="1" dirty="0" smtClean="0"/>
              <a:t>5. Develop Schedule</a:t>
            </a:r>
          </a:p>
          <a:p>
            <a:r>
              <a:rPr lang="en-US" b="1" dirty="0" smtClean="0"/>
              <a:t>6. Control Schedule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A89B9-5D81-47EE-8C04-42BFFDCD0C63}" type="datetime1">
              <a:rPr lang="en-US" smtClean="0"/>
              <a:t>10/17/2024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CSE494-Software Project Management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40AAC-B608-4A70-8165-1D05842FA389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53323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b="1" dirty="0" smtClean="0"/>
              <a:t>Plan Schedule Management</a:t>
            </a:r>
            <a:endParaRPr lang="en-GB" sz="3600" b="1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- </a:t>
            </a:r>
            <a:r>
              <a:rPr lang="en-US" dirty="0" smtClean="0"/>
              <a:t>Occurs in the Planning Process Group.</a:t>
            </a:r>
          </a:p>
          <a:p>
            <a:r>
              <a:rPr lang="en-US" dirty="0" smtClean="0"/>
              <a:t>- Concerned with establishing procedures, policies, planning, managing, and documenting the project schedule.</a:t>
            </a:r>
          </a:p>
          <a:p>
            <a:r>
              <a:rPr lang="en-US" dirty="0" smtClean="0"/>
              <a:t>- Create the </a:t>
            </a:r>
            <a:r>
              <a:rPr lang="en-US" b="1" dirty="0" smtClean="0"/>
              <a:t>schedule management plan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endParaRPr lang="en-US" b="1" dirty="0" smtClean="0"/>
          </a:p>
          <a:p>
            <a:endParaRPr lang="en-US" b="1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F99C17A-B6EC-4440-A7F9-D6C214D6126F}" type="datetime1">
              <a:rPr lang="en-US" smtClean="0"/>
              <a:t>10/17/2024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CSE494-Software Project Management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1D65F-D501-4DF7-BD11-029B6F81E0EF}" type="slidenum">
              <a:rPr lang="en-US" altLang="en-US" smtClean="0"/>
              <a:pPr/>
              <a:t>3</a:t>
            </a:fld>
            <a:endParaRPr lang="en-US" alt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29000"/>
            <a:ext cx="7239000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136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dirty="0" smtClean="0"/>
              <a:t>Define Activities</a:t>
            </a:r>
            <a:endParaRPr lang="en-GB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- </a:t>
            </a:r>
            <a:r>
              <a:rPr lang="en-US" sz="1800" dirty="0" smtClean="0"/>
              <a:t>Planning Process Group</a:t>
            </a:r>
          </a:p>
          <a:p>
            <a:r>
              <a:rPr lang="en-US" sz="1800" dirty="0" smtClean="0"/>
              <a:t>- A process </a:t>
            </a:r>
            <a:r>
              <a:rPr lang="en-US" sz="1800" dirty="0"/>
              <a:t>of </a:t>
            </a:r>
            <a:r>
              <a:rPr lang="en-US" sz="1800" b="1" dirty="0"/>
              <a:t>identifying </a:t>
            </a:r>
            <a:r>
              <a:rPr lang="en-US" sz="1800" dirty="0"/>
              <a:t>and </a:t>
            </a:r>
            <a:r>
              <a:rPr lang="en-US" sz="1800" b="1" dirty="0"/>
              <a:t>documenting the speciﬁc actions </a:t>
            </a:r>
            <a:r>
              <a:rPr lang="en-US" sz="1800" dirty="0"/>
              <a:t>to be performed to produce </a:t>
            </a:r>
            <a:r>
              <a:rPr lang="en-US" sz="1800" dirty="0" smtClean="0"/>
              <a:t>the </a:t>
            </a:r>
            <a:r>
              <a:rPr lang="en-US" sz="1800" dirty="0"/>
              <a:t>project deliverables</a:t>
            </a:r>
            <a:r>
              <a:rPr lang="en-US" sz="1800" dirty="0" smtClean="0"/>
              <a:t>.</a:t>
            </a:r>
          </a:p>
          <a:p>
            <a:r>
              <a:rPr lang="en-US" sz="1800" dirty="0" smtClean="0"/>
              <a:t>- </a:t>
            </a:r>
            <a:r>
              <a:rPr lang="en-US" sz="1800" b="1" dirty="0" smtClean="0"/>
              <a:t>Decomposes </a:t>
            </a:r>
            <a:r>
              <a:rPr lang="en-US" sz="1800" b="1" dirty="0"/>
              <a:t>work packages into </a:t>
            </a:r>
            <a:r>
              <a:rPr lang="en-US" sz="1800" b="1" dirty="0" smtClean="0"/>
              <a:t>smaller </a:t>
            </a:r>
            <a:r>
              <a:rPr lang="en-US" sz="1800" b="1" dirty="0"/>
              <a:t>activities </a:t>
            </a:r>
            <a:r>
              <a:rPr lang="en-US" sz="1800" b="1" dirty="0" smtClean="0"/>
              <a:t>that </a:t>
            </a:r>
            <a:r>
              <a:rPr lang="en-US" sz="1800" b="1" dirty="0"/>
              <a:t>provide a basis for estimating, scheduling, executing, monitoring, and controlling the project work</a:t>
            </a:r>
            <a:r>
              <a:rPr lang="en-US" sz="1800" b="1" dirty="0" smtClean="0"/>
              <a:t>.</a:t>
            </a:r>
          </a:p>
          <a:p>
            <a:endParaRPr lang="en-US" dirty="0" smtClean="0"/>
          </a:p>
          <a:p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A89B9-5D81-47EE-8C04-42BFFDCD0C63}" type="datetime1">
              <a:rPr lang="en-US" smtClean="0"/>
              <a:t>10/17/2024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CSE494-Software Project Management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40AAC-B608-4A70-8165-1D05842FA389}" type="slidenum">
              <a:rPr lang="en-US" altLang="en-US" smtClean="0"/>
              <a:pPr/>
              <a:t>4</a:t>
            </a:fld>
            <a:endParaRPr lang="en-US" alt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505200"/>
            <a:ext cx="7924800" cy="245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103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dirty="0" smtClean="0"/>
              <a:t>Define Activities</a:t>
            </a:r>
            <a:endParaRPr lang="en-GB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 smtClean="0"/>
              <a:t>Activity List: </a:t>
            </a:r>
            <a:r>
              <a:rPr lang="en-US" dirty="0" smtClean="0"/>
              <a:t>The project activities need to be performed.</a:t>
            </a:r>
            <a:endParaRPr lang="en-US" altLang="en-US" sz="2000" dirty="0" smtClean="0"/>
          </a:p>
          <a:p>
            <a:r>
              <a:rPr lang="en-GB" b="1" dirty="0" smtClean="0"/>
              <a:t>Activity Attributes: </a:t>
            </a:r>
            <a:r>
              <a:rPr lang="en-GB" dirty="0" smtClean="0"/>
              <a:t>Details regarding the activity list.</a:t>
            </a:r>
          </a:p>
          <a:p>
            <a:r>
              <a:rPr lang="en-US" b="1" dirty="0" smtClean="0"/>
              <a:t>Milestones: </a:t>
            </a:r>
            <a:r>
              <a:rPr lang="en-US" dirty="0" smtClean="0"/>
              <a:t>Key events that occur in the project. They are not any activity and have no duration.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A89B9-5D81-47EE-8C04-42BFFDCD0C63}" type="datetime1">
              <a:rPr lang="en-US" smtClean="0"/>
              <a:t>10/17/2024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CSE494-Software Project Management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40AAC-B608-4A70-8165-1D05842FA389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8406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dirty="0" smtClean="0"/>
              <a:t>Sequence Activities</a:t>
            </a:r>
            <a:endParaRPr lang="en-GB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- Planning Process Group</a:t>
            </a:r>
          </a:p>
          <a:p>
            <a:r>
              <a:rPr lang="en-US" dirty="0" smtClean="0"/>
              <a:t>- Sequence </a:t>
            </a:r>
            <a:r>
              <a:rPr lang="en-US" dirty="0"/>
              <a:t>Activities is </a:t>
            </a:r>
            <a:r>
              <a:rPr lang="en-US" b="1" dirty="0"/>
              <a:t>the process of identifying and documenting relationships among the project activities</a:t>
            </a:r>
            <a:r>
              <a:rPr lang="en-US" b="1" dirty="0" smtClean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A89B9-5D81-47EE-8C04-42BFFDCD0C63}" type="datetime1">
              <a:rPr lang="en-US" smtClean="0"/>
              <a:t>10/17/2024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CSE494-Software Project Management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40AAC-B608-4A70-8165-1D05842FA389}" type="slidenum">
              <a:rPr lang="en-US" altLang="en-US" smtClean="0"/>
              <a:pPr/>
              <a:t>6</a:t>
            </a:fld>
            <a:endParaRPr lang="en-US" alt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895600"/>
            <a:ext cx="7924800" cy="2915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403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b="1" dirty="0" smtClean="0"/>
              <a:t>Precedence Diagramming Method</a:t>
            </a:r>
            <a:endParaRPr lang="en-GB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05000"/>
            <a:ext cx="7543801" cy="4023360"/>
          </a:xfrm>
        </p:spPr>
        <p:txBody>
          <a:bodyPr/>
          <a:lstStyle/>
          <a:p>
            <a:r>
              <a:rPr lang="en-US" b="1" dirty="0"/>
              <a:t>The precedence diagramming method (PDM) </a:t>
            </a:r>
            <a:r>
              <a:rPr lang="en-US" dirty="0"/>
              <a:t>is a technique used for constructing a </a:t>
            </a:r>
            <a:r>
              <a:rPr lang="en-US" b="1" dirty="0"/>
              <a:t>schedule model </a:t>
            </a:r>
            <a:r>
              <a:rPr lang="en-US" dirty="0"/>
              <a:t>in </a:t>
            </a:r>
            <a:r>
              <a:rPr lang="en-US" b="1" dirty="0"/>
              <a:t>which activities </a:t>
            </a:r>
            <a:r>
              <a:rPr lang="en-US" b="1" dirty="0" smtClean="0"/>
              <a:t>are </a:t>
            </a:r>
            <a:r>
              <a:rPr lang="en-US" b="1" dirty="0"/>
              <a:t>represented by nodes</a:t>
            </a:r>
            <a:r>
              <a:rPr lang="en-US" dirty="0"/>
              <a:t> and are graphically linked by one or more logical relationships to show the sequence in which </a:t>
            </a:r>
            <a:r>
              <a:rPr lang="en-US" dirty="0" smtClean="0"/>
              <a:t>the </a:t>
            </a:r>
            <a:r>
              <a:rPr lang="en-US" dirty="0"/>
              <a:t>activities are to be performed</a:t>
            </a:r>
            <a:r>
              <a:rPr lang="en-US" dirty="0" smtClean="0"/>
              <a:t>.</a:t>
            </a:r>
          </a:p>
          <a:p>
            <a:r>
              <a:rPr lang="en-US" dirty="0" smtClean="0"/>
              <a:t>A </a:t>
            </a:r>
            <a:r>
              <a:rPr lang="en-US" b="1" dirty="0"/>
              <a:t>predecessor activity </a:t>
            </a:r>
            <a:r>
              <a:rPr lang="en-US" dirty="0"/>
              <a:t>is an activity that logically </a:t>
            </a:r>
            <a:r>
              <a:rPr lang="en-US" dirty="0" smtClean="0"/>
              <a:t>comes </a:t>
            </a:r>
            <a:r>
              <a:rPr lang="en-US" dirty="0"/>
              <a:t>before a dependent activity in a </a:t>
            </a:r>
            <a:r>
              <a:rPr lang="en-US" dirty="0" smtClean="0"/>
              <a:t>schedule.</a:t>
            </a:r>
          </a:p>
          <a:p>
            <a:r>
              <a:rPr lang="en-US" dirty="0"/>
              <a:t>A </a:t>
            </a:r>
            <a:r>
              <a:rPr lang="en-US" b="1" dirty="0"/>
              <a:t>successor activity </a:t>
            </a:r>
            <a:r>
              <a:rPr lang="en-US" dirty="0"/>
              <a:t>is a dependent activity that logically comes after </a:t>
            </a:r>
            <a:r>
              <a:rPr lang="en-US" dirty="0" smtClean="0"/>
              <a:t>another </a:t>
            </a:r>
            <a:r>
              <a:rPr lang="en-US" dirty="0"/>
              <a:t>activity in a schedule.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A89B9-5D81-47EE-8C04-42BFFDCD0C63}" type="datetime1">
              <a:rPr lang="en-US" smtClean="0"/>
              <a:t>10/17/2024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CSE494-Software Project Management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40AAC-B608-4A70-8165-1D05842FA389}" type="slidenum">
              <a:rPr lang="en-US" altLang="en-US" smtClean="0"/>
              <a:pPr/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00666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b="1" dirty="0" smtClean="0"/>
              <a:t>Precedence Diagramming Method</a:t>
            </a:r>
            <a:endParaRPr lang="en-GB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05000"/>
            <a:ext cx="7543801" cy="4023360"/>
          </a:xfrm>
        </p:spPr>
        <p:txBody>
          <a:bodyPr/>
          <a:lstStyle/>
          <a:p>
            <a:r>
              <a:rPr lang="en-US" b="1" dirty="0" smtClean="0"/>
              <a:t>Finish-to-start (FS). </a:t>
            </a:r>
            <a:r>
              <a:rPr lang="en-US" dirty="0" smtClean="0"/>
              <a:t>A </a:t>
            </a:r>
            <a:r>
              <a:rPr lang="en-US" dirty="0"/>
              <a:t>logical relationship in which a successor activity cannot start </a:t>
            </a:r>
            <a:r>
              <a:rPr lang="en-US" dirty="0" smtClean="0"/>
              <a:t>until </a:t>
            </a:r>
            <a:r>
              <a:rPr lang="en-US" dirty="0"/>
              <a:t>a </a:t>
            </a:r>
            <a:r>
              <a:rPr lang="en-US" dirty="0" smtClean="0"/>
              <a:t>predecessor </a:t>
            </a:r>
            <a:r>
              <a:rPr lang="en-US" dirty="0"/>
              <a:t>activity </a:t>
            </a:r>
            <a:r>
              <a:rPr lang="en-US" dirty="0" smtClean="0"/>
              <a:t>has </a:t>
            </a:r>
            <a:r>
              <a:rPr lang="en-US" dirty="0"/>
              <a:t>ﬁnished. </a:t>
            </a:r>
            <a:endParaRPr lang="en-US" dirty="0" smtClean="0"/>
          </a:p>
          <a:p>
            <a:r>
              <a:rPr lang="en-US" b="1" dirty="0" smtClean="0"/>
              <a:t>Finish-to-finish </a:t>
            </a:r>
            <a:r>
              <a:rPr lang="en-US" b="1" dirty="0"/>
              <a:t>(FF). </a:t>
            </a:r>
            <a:r>
              <a:rPr lang="en-US" dirty="0"/>
              <a:t>A logical relationship in which a successor activity cannot ﬁnish until a predecessor activity </a:t>
            </a:r>
            <a:r>
              <a:rPr lang="en-US" dirty="0" smtClean="0"/>
              <a:t>has </a:t>
            </a:r>
            <a:r>
              <a:rPr lang="en-US" dirty="0"/>
              <a:t>ﬁnished. For example, writing a document (predecessor) is required to ﬁnish before editing the document </a:t>
            </a:r>
            <a:r>
              <a:rPr lang="en-US" dirty="0" smtClean="0"/>
              <a:t>(</a:t>
            </a:r>
            <a:r>
              <a:rPr lang="en-US" dirty="0"/>
              <a:t>successor) can ﬁnish</a:t>
            </a:r>
            <a:r>
              <a:rPr lang="en-US" dirty="0" smtClean="0"/>
              <a:t>.</a:t>
            </a:r>
          </a:p>
          <a:p>
            <a:r>
              <a:rPr lang="en-US" b="1" dirty="0"/>
              <a:t>Start-to-start (SS). </a:t>
            </a:r>
            <a:r>
              <a:rPr lang="en-US" dirty="0"/>
              <a:t>A logical relationship in which a successor activity cannot start until a predecessor activity </a:t>
            </a:r>
            <a:r>
              <a:rPr lang="en-US" dirty="0" smtClean="0"/>
              <a:t>has </a:t>
            </a:r>
            <a:r>
              <a:rPr lang="en-US" dirty="0"/>
              <a:t>started. For example, level concrete (successor) cannot begin until </a:t>
            </a:r>
            <a:r>
              <a:rPr lang="en-US" dirty="0" smtClean="0"/>
              <a:t>the pour </a:t>
            </a:r>
            <a:r>
              <a:rPr lang="en-US" dirty="0"/>
              <a:t>foundation (predecessor) begins.</a:t>
            </a:r>
          </a:p>
          <a:p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A89B9-5D81-47EE-8C04-42BFFDCD0C63}" type="datetime1">
              <a:rPr lang="en-US" smtClean="0"/>
              <a:t>10/17/2024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CSE494-Software Project Management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40AAC-B608-4A70-8165-1D05842FA389}" type="slidenum">
              <a:rPr lang="en-US" altLang="en-US" smtClean="0"/>
              <a:pPr/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12057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b="1" dirty="0" smtClean="0"/>
              <a:t>Precedence Diagramming Method</a:t>
            </a:r>
            <a:endParaRPr lang="en-GB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05000"/>
            <a:ext cx="7543801" cy="4023360"/>
          </a:xfrm>
        </p:spPr>
        <p:txBody>
          <a:bodyPr/>
          <a:lstStyle/>
          <a:p>
            <a:r>
              <a:rPr lang="en-US" b="1" dirty="0"/>
              <a:t>Start-to-finish (SF). </a:t>
            </a:r>
            <a:r>
              <a:rPr lang="en-US" dirty="0"/>
              <a:t>A logical relationship in which a successor activity cannot ﬁnish until a predecessor activity </a:t>
            </a:r>
            <a:r>
              <a:rPr lang="en-US" dirty="0" smtClean="0"/>
              <a:t>has </a:t>
            </a:r>
            <a:r>
              <a:rPr lang="en-US" dirty="0"/>
              <a:t>started. </a:t>
            </a:r>
            <a:r>
              <a:rPr lang="en-US" dirty="0" smtClean="0"/>
              <a:t>The duty </a:t>
            </a:r>
            <a:r>
              <a:rPr lang="en-US" dirty="0"/>
              <a:t>of </a:t>
            </a:r>
            <a:r>
              <a:rPr lang="en-US" dirty="0" smtClean="0"/>
              <a:t>the morning </a:t>
            </a:r>
            <a:r>
              <a:rPr lang="en-US" dirty="0"/>
              <a:t>guard cannot finish until </a:t>
            </a:r>
            <a:r>
              <a:rPr lang="en-US" dirty="0" smtClean="0"/>
              <a:t>the duty </a:t>
            </a:r>
            <a:r>
              <a:rPr lang="en-US" dirty="0"/>
              <a:t>of </a:t>
            </a:r>
            <a:r>
              <a:rPr lang="en-US" dirty="0" smtClean="0"/>
              <a:t>the evening </a:t>
            </a:r>
            <a:r>
              <a:rPr lang="en-US" dirty="0"/>
              <a:t>guard starts. </a:t>
            </a:r>
            <a:endParaRPr lang="en-US" dirty="0" smtClean="0"/>
          </a:p>
          <a:p>
            <a:r>
              <a:rPr lang="en-US" dirty="0"/>
              <a:t>In PDM, FS is the most commonly used type of precedence relationship. The SF relationship is very rarely </a:t>
            </a:r>
            <a:r>
              <a:rPr lang="en-US" dirty="0" smtClean="0"/>
              <a:t>used </a:t>
            </a:r>
            <a:r>
              <a:rPr lang="en-US" dirty="0"/>
              <a:t>but </a:t>
            </a:r>
            <a:r>
              <a:rPr lang="en-US" dirty="0" smtClean="0"/>
              <a:t>is </a:t>
            </a:r>
            <a:r>
              <a:rPr lang="en-US" dirty="0"/>
              <a:t>included to present a complete list of the PDM relationship types</a:t>
            </a:r>
            <a:r>
              <a:rPr lang="en-US" dirty="0" smtClean="0"/>
              <a:t>.</a:t>
            </a:r>
          </a:p>
          <a:p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A89B9-5D81-47EE-8C04-42BFFDCD0C63}" type="datetime1">
              <a:rPr lang="en-US" smtClean="0"/>
              <a:t>10/17/2024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CSE494-Software Project Management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40AAC-B608-4A70-8165-1D05842FA389}" type="slidenum">
              <a:rPr lang="en-US" altLang="en-US" smtClean="0"/>
              <a:pPr/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65495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A89B9-5D81-47EE-8C04-42BFFDCD0C63}" type="datetime1">
              <a:rPr lang="en-US" smtClean="0"/>
              <a:t>10/17/2024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CSE494-Software Project Management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40AAC-B608-4A70-8165-1D05842FA389}" type="slidenum">
              <a:rPr lang="en-US" altLang="en-US" smtClean="0"/>
              <a:pPr/>
              <a:t>10</a:t>
            </a:fld>
            <a:endParaRPr lang="en-US" alt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995" y="1285576"/>
            <a:ext cx="7240010" cy="4286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427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1" dirty="0" smtClean="0"/>
              <a:t>Sequence Activity Dependencies</a:t>
            </a:r>
            <a:endParaRPr lang="en-GB" sz="3200" b="1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22959" y="1845734"/>
            <a:ext cx="8016241" cy="4023360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Mandatory Dependency</a:t>
            </a:r>
          </a:p>
          <a:p>
            <a:r>
              <a:rPr lang="en-US" sz="2200" dirty="0" smtClean="0">
                <a:solidFill>
                  <a:schemeClr val="tx1"/>
                </a:solidFill>
              </a:rPr>
              <a:t>A requirement that must be considered before another requirement can be worked on; The nature of the work can include this type of dependencies. </a:t>
            </a:r>
          </a:p>
          <a:p>
            <a:r>
              <a:rPr lang="en-US" sz="2200" dirty="0" smtClean="0">
                <a:solidFill>
                  <a:schemeClr val="tx1"/>
                </a:solidFill>
              </a:rPr>
              <a:t>Mandatory </a:t>
            </a:r>
            <a:r>
              <a:rPr lang="en-US" sz="2200" dirty="0">
                <a:solidFill>
                  <a:schemeClr val="tx1"/>
                </a:solidFill>
              </a:rPr>
              <a:t>dependencies </a:t>
            </a:r>
            <a:r>
              <a:rPr lang="en-US" sz="2200" dirty="0" smtClean="0">
                <a:solidFill>
                  <a:schemeClr val="tx1"/>
                </a:solidFill>
              </a:rPr>
              <a:t>are </a:t>
            </a:r>
            <a:r>
              <a:rPr lang="en-US" sz="2200" dirty="0">
                <a:solidFill>
                  <a:schemeClr val="tx1"/>
                </a:solidFill>
              </a:rPr>
              <a:t>sometimes referred to as hard logic or hard dependencies</a:t>
            </a:r>
            <a:r>
              <a:rPr lang="en-US" sz="2200" dirty="0" smtClean="0">
                <a:solidFill>
                  <a:schemeClr val="tx1"/>
                </a:solidFill>
              </a:rPr>
              <a:t>.</a:t>
            </a:r>
          </a:p>
          <a:p>
            <a:r>
              <a:rPr lang="en-US" sz="2200" b="1" dirty="0">
                <a:solidFill>
                  <a:schemeClr val="tx1"/>
                </a:solidFill>
              </a:rPr>
              <a:t>where a prototype has to be built before it can be tested</a:t>
            </a:r>
            <a:r>
              <a:rPr lang="en-US" sz="2200" b="1" dirty="0" smtClean="0">
                <a:solidFill>
                  <a:schemeClr val="tx1"/>
                </a:solidFill>
              </a:rPr>
              <a:t>.</a:t>
            </a:r>
          </a:p>
          <a:p>
            <a:r>
              <a:rPr lang="en-US" sz="2200" b="1" dirty="0">
                <a:solidFill>
                  <a:schemeClr val="tx1"/>
                </a:solidFill>
              </a:rPr>
              <a:t>Discretionary dependencies</a:t>
            </a:r>
            <a:r>
              <a:rPr lang="en-US" sz="2200" b="1" dirty="0" smtClean="0">
                <a:solidFill>
                  <a:schemeClr val="tx1"/>
                </a:solidFill>
              </a:rPr>
              <a:t>. </a:t>
            </a:r>
          </a:p>
          <a:p>
            <a:r>
              <a:rPr lang="en-US" sz="2200" dirty="0" smtClean="0">
                <a:solidFill>
                  <a:schemeClr val="tx1"/>
                </a:solidFill>
              </a:rPr>
              <a:t>Optional dependencies that can be removed or altered at the discretion of the project team.</a:t>
            </a:r>
          </a:p>
          <a:p>
            <a:r>
              <a:rPr lang="en-US" sz="2200" dirty="0" smtClean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: Book Airline Ticket; B: Buy Travel Insurance – The project team can book an airline ticket before buying travel insurance or do it </a:t>
            </a:r>
            <a:r>
              <a:rPr lang="en-US" sz="2200" dirty="0" smtClean="0">
                <a:solidFill>
                  <a:schemeClr val="tx1"/>
                </a:solidFill>
              </a:rPr>
              <a:t>the other </a:t>
            </a:r>
            <a:r>
              <a:rPr lang="en-US" sz="2200" dirty="0">
                <a:solidFill>
                  <a:schemeClr val="tx1"/>
                </a:solidFill>
              </a:rPr>
              <a:t>way around.</a:t>
            </a:r>
          </a:p>
          <a:p>
            <a:endParaRPr lang="en-GB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F99C17A-B6EC-4440-A7F9-D6C214D6126F}" type="datetime1">
              <a:rPr lang="en-US" smtClean="0"/>
              <a:t>10/17/2024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CSE494-Software Project Management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1D65F-D501-4DF7-BD11-029B6F81E0EF}" type="slidenum">
              <a:rPr lang="en-US" altLang="en-US" smtClean="0"/>
              <a:pPr/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31504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1" dirty="0"/>
              <a:t>Sequence Activity Dependencies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22959" y="1845734"/>
            <a:ext cx="8016241" cy="4023360"/>
          </a:xfrm>
        </p:spPr>
        <p:txBody>
          <a:bodyPr>
            <a:normAutofit/>
          </a:bodyPr>
          <a:lstStyle/>
          <a:p>
            <a:r>
              <a:rPr lang="en-GB" b="1" dirty="0"/>
              <a:t>External dependencies</a:t>
            </a:r>
            <a:r>
              <a:rPr lang="en-GB" dirty="0" smtClean="0"/>
              <a:t>. Dependency that comes from outside the project such as organizational rules or government regulations.</a:t>
            </a:r>
          </a:p>
          <a:p>
            <a:r>
              <a:rPr lang="en-GB" b="1" dirty="0" smtClean="0"/>
              <a:t>Internal dependencies</a:t>
            </a:r>
            <a:r>
              <a:rPr lang="en-US" b="1" dirty="0" smtClean="0"/>
              <a:t>. </a:t>
            </a:r>
            <a:r>
              <a:rPr lang="en-US" dirty="0" smtClean="0"/>
              <a:t>The relationship between project activities may include resource availability and being able to move to the next activity.</a:t>
            </a:r>
          </a:p>
          <a:p>
            <a:endParaRPr lang="en-GB" b="1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F99C17A-B6EC-4440-A7F9-D6C214D6126F}" type="datetime1">
              <a:rPr lang="en-US" smtClean="0"/>
              <a:t>10/17/2024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CSE494-Software Project Management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1D65F-D501-4DF7-BD11-029B6F81E0EF}" type="slidenum">
              <a:rPr lang="en-US" altLang="en-US" smtClean="0"/>
              <a:pPr/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3647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/>
              <a:t>Network Diagram</a:t>
            </a:r>
            <a:endParaRPr lang="en-GB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845734"/>
            <a:ext cx="7635241" cy="4023360"/>
          </a:xfrm>
        </p:spPr>
        <p:txBody>
          <a:bodyPr>
            <a:normAutofit/>
          </a:bodyPr>
          <a:lstStyle/>
          <a:p>
            <a:r>
              <a:rPr lang="en-US" dirty="0"/>
              <a:t>A project network diagram is a </a:t>
            </a:r>
            <a:r>
              <a:rPr lang="en-US" b="1" dirty="0"/>
              <a:t>visual representation of the workflow of a project</a:t>
            </a:r>
            <a:r>
              <a:rPr lang="en-US" b="1" dirty="0" smtClean="0"/>
              <a:t>.</a:t>
            </a:r>
            <a:r>
              <a:rPr lang="en-US" b="1" dirty="0"/>
              <a:t> </a:t>
            </a:r>
            <a:r>
              <a:rPr lang="en-US" dirty="0" smtClean="0"/>
              <a:t>It demonstrates </a:t>
            </a:r>
            <a:r>
              <a:rPr lang="en-US" dirty="0"/>
              <a:t>the logical order that the activities will follow.</a:t>
            </a:r>
            <a:endParaRPr lang="en-US" dirty="0" smtClean="0"/>
          </a:p>
          <a:p>
            <a:r>
              <a:rPr lang="en-US" b="1" dirty="0"/>
              <a:t>The Critical Path Method (CPM) and the Program Evaluation and Review Technique (PERT) </a:t>
            </a:r>
            <a:r>
              <a:rPr lang="en-US" b="1" dirty="0" smtClean="0"/>
              <a:t>use </a:t>
            </a:r>
            <a:r>
              <a:rPr lang="en-US" b="1" dirty="0"/>
              <a:t>network diagrams in project management</a:t>
            </a:r>
            <a:r>
              <a:rPr lang="en-US" b="1" dirty="0" smtClean="0"/>
              <a:t>. </a:t>
            </a:r>
          </a:p>
          <a:p>
            <a:r>
              <a:rPr lang="en-US" dirty="0" smtClean="0"/>
              <a:t>Project </a:t>
            </a:r>
            <a:r>
              <a:rPr lang="en-US" dirty="0"/>
              <a:t>managers use these methods to estimate the duration of the </a:t>
            </a:r>
            <a:r>
              <a:rPr lang="en-US" dirty="0" smtClean="0"/>
              <a:t>project </a:t>
            </a:r>
            <a:r>
              <a:rPr lang="en-US" dirty="0"/>
              <a:t>and create a project schedule</a:t>
            </a:r>
            <a:r>
              <a:rPr lang="en-US" dirty="0" smtClean="0"/>
              <a:t>.</a:t>
            </a:r>
          </a:p>
          <a:p>
            <a:r>
              <a:rPr lang="en-US" dirty="0"/>
              <a:t>Project network diagrams can be divided into two types, the </a:t>
            </a:r>
            <a:r>
              <a:rPr lang="en-US" b="1" dirty="0"/>
              <a:t>arrow diagram method (ADM)</a:t>
            </a:r>
            <a:r>
              <a:rPr lang="en-US" dirty="0"/>
              <a:t> and the </a:t>
            </a:r>
            <a:r>
              <a:rPr lang="en-US" b="1" dirty="0"/>
              <a:t>precedence diagram method (PDM</a:t>
            </a:r>
            <a:r>
              <a:rPr lang="en-US" b="1" dirty="0" smtClean="0"/>
              <a:t>).</a:t>
            </a:r>
          </a:p>
          <a:p>
            <a:r>
              <a:rPr lang="en-US" dirty="0"/>
              <a:t>The main difference between an ADM and a PDM project network diagram is the way they </a:t>
            </a:r>
            <a:r>
              <a:rPr lang="en-US" dirty="0" smtClean="0"/>
              <a:t>represent the project tasks.</a:t>
            </a:r>
            <a:endParaRPr lang="en-GB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A89B9-5D81-47EE-8C04-42BFFDCD0C63}" type="datetime1">
              <a:rPr lang="en-US" smtClean="0"/>
              <a:t>10/17/2024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CSE494-Software Project Management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40AAC-B608-4A70-8165-1D05842FA389}" type="slidenum">
              <a:rPr lang="en-US" altLang="en-US" smtClean="0"/>
              <a:pPr/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1415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Network Diagram</a:t>
            </a:r>
            <a:endParaRPr lang="en-GB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a PDM diagram, tasks are represented by boxes or </a:t>
            </a:r>
            <a:r>
              <a:rPr lang="en-US" dirty="0" smtClean="0"/>
              <a:t>circles. </a:t>
            </a:r>
            <a:r>
              <a:rPr lang="en-US" dirty="0"/>
              <a:t>In an ADM diagram, tasks are represented by arrows</a:t>
            </a:r>
            <a:r>
              <a:rPr lang="en-US" dirty="0" smtClean="0"/>
              <a:t>.</a:t>
            </a:r>
          </a:p>
          <a:p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A89B9-5D81-47EE-8C04-42BFFDCD0C63}" type="datetime1">
              <a:rPr lang="en-US" smtClean="0"/>
              <a:t>10/17/2024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CSE494-Software Project Management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40AAC-B608-4A70-8165-1D05842FA389}" type="slidenum">
              <a:rPr lang="en-US" altLang="en-US" smtClean="0"/>
              <a:pPr/>
              <a:t>14</a:t>
            </a:fld>
            <a:endParaRPr lang="en-US" alt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200" y="2590800"/>
            <a:ext cx="2934109" cy="144800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4191000"/>
            <a:ext cx="3362794" cy="205768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0" y="4267200"/>
            <a:ext cx="3248478" cy="184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730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FBCA49FB-5DF4-489D-9A06-67BFB53865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774823"/>
            <a:ext cx="8305800" cy="960438"/>
          </a:xfrm>
        </p:spPr>
        <p:txBody>
          <a:bodyPr>
            <a:normAutofit/>
          </a:bodyPr>
          <a:lstStyle/>
          <a:p>
            <a:r>
              <a:rPr lang="en-US" altLang="en-US" sz="3600" b="1" dirty="0"/>
              <a:t>Arrow Diagramming Method (ADM)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90001CDC-4015-4B95-A1A2-8BB47A35A53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1845734"/>
            <a:ext cx="8000999" cy="4097866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en-US" dirty="0"/>
              <a:t>Also called activity-on-arrow (AOA) network diagrams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en-US" dirty="0"/>
              <a:t>Activities are represented by arrows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en-US" dirty="0"/>
              <a:t>Nodes or circles are the starting and ending points of activities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en-US" dirty="0" smtClean="0"/>
              <a:t>It Can </a:t>
            </a:r>
            <a:r>
              <a:rPr lang="en-US" altLang="en-US" dirty="0"/>
              <a:t>only show finish-to-start </a:t>
            </a:r>
            <a:r>
              <a:rPr lang="en-US" altLang="en-US" dirty="0" smtClean="0"/>
              <a:t>dependencies</a:t>
            </a:r>
            <a:endParaRPr lang="en-US" altLang="en-US" dirty="0"/>
          </a:p>
        </p:txBody>
      </p:sp>
      <p:sp>
        <p:nvSpPr>
          <p:cNvPr id="29701" name="Footer Placeholder 6">
            <a:extLst>
              <a:ext uri="{FF2B5EF4-FFF2-40B4-BE49-F238E27FC236}">
                <a16:creationId xmlns:a16="http://schemas.microsoft.com/office/drawing/2014/main" id="{66E762DF-9209-475E-95BF-DE23A30DB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>
                <a:solidFill>
                  <a:schemeClr val="bg1"/>
                </a:solidFill>
                <a:latin typeface="Verdana" panose="020B0604030504040204" pitchFamily="34" charset="0"/>
              </a:rPr>
              <a:t>CSE494-Software Project Management</a:t>
            </a:r>
            <a:endParaRPr lang="en-US" altLang="en-US" sz="1000" dirty="0">
              <a:solidFill>
                <a:schemeClr val="bg1"/>
              </a:solidFill>
              <a:latin typeface="Verdana" panose="020B060403050404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E8AE6-2202-45F1-92E4-9B0DB8A32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BC091CA-118E-4D3A-846A-358D40CB0CCB}" type="slidenum">
              <a:rPr lang="en-US" altLang="en-US" sz="1400">
                <a:solidFill>
                  <a:srgbClr val="FFFFFF"/>
                </a:solidFill>
              </a:rPr>
              <a:pPr eaLnBrk="1" hangingPunct="1"/>
              <a:t>15</a:t>
            </a:fld>
            <a:endParaRPr lang="en-US" altLang="en-US" sz="1400">
              <a:solidFill>
                <a:srgbClr val="FFFFFF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467077-46C6-4A2C-96BD-C0625C427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2AFAD-941A-4C34-838C-3EFCB54076DC}" type="datetime1">
              <a:rPr lang="en-US" smtClean="0"/>
              <a:t>10/17/2024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0431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9195F3F8-D2DA-4E2B-9A8C-5609B92B8A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7772400" cy="1143000"/>
          </a:xfrm>
        </p:spPr>
        <p:txBody>
          <a:bodyPr>
            <a:normAutofit/>
          </a:bodyPr>
          <a:lstStyle/>
          <a:p>
            <a:r>
              <a:rPr lang="en-US" altLang="en-US" sz="2400" b="1" dirty="0"/>
              <a:t>Sample Activity-on-Arrow (AOA) Network Diagram for Project X</a:t>
            </a:r>
          </a:p>
        </p:txBody>
      </p:sp>
      <p:sp>
        <p:nvSpPr>
          <p:cNvPr id="28677" name="Footer Placeholder 6">
            <a:extLst>
              <a:ext uri="{FF2B5EF4-FFF2-40B4-BE49-F238E27FC236}">
                <a16:creationId xmlns:a16="http://schemas.microsoft.com/office/drawing/2014/main" id="{9CB66C79-B11E-4FD9-86E3-0C6736070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762000" y="6400800"/>
            <a:ext cx="64770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100">
                <a:solidFill>
                  <a:schemeClr val="bg1"/>
                </a:solidFill>
                <a:latin typeface="Verdana" panose="020B0604030504040204" pitchFamily="34" charset="0"/>
              </a:rPr>
              <a:t>CSE494-Software Project Management</a:t>
            </a:r>
            <a:endParaRPr lang="en-US" altLang="en-US" sz="1100" dirty="0">
              <a:solidFill>
                <a:schemeClr val="bg1"/>
              </a:solidFill>
              <a:latin typeface="Verdana" panose="020B060403050404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964F24-C766-43A1-8104-358BA6102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4E82514-EAC6-4AB9-9732-810E1E10C135}" type="slidenum">
              <a:rPr lang="en-US" altLang="en-US" sz="1400">
                <a:solidFill>
                  <a:srgbClr val="FFFFFF"/>
                </a:solidFill>
              </a:rPr>
              <a:pPr eaLnBrk="1" hangingPunct="1"/>
              <a:t>16</a:t>
            </a:fld>
            <a:endParaRPr lang="en-US" altLang="en-US" sz="1400">
              <a:solidFill>
                <a:srgbClr val="FFFFFF"/>
              </a:solidFill>
            </a:endParaRPr>
          </a:p>
        </p:txBody>
      </p:sp>
      <p:pic>
        <p:nvPicPr>
          <p:cNvPr id="28675" name="Picture 4">
            <a:extLst>
              <a:ext uri="{FF2B5EF4-FFF2-40B4-BE49-F238E27FC236}">
                <a16:creationId xmlns:a16="http://schemas.microsoft.com/office/drawing/2014/main" id="{E8A36BFE-0123-47F8-AD4C-167637EE9A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295400"/>
            <a:ext cx="8526462" cy="403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25700D-1189-4D9C-BBE3-96A825BCF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0E8DCA5-B47F-4221-AAEC-30146EFC9E06}" type="datetime1">
              <a:rPr lang="en-US" smtClean="0"/>
              <a:t>10/17/2024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04EDA4E4-89A1-4900-AA7D-E04692222E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626814"/>
            <a:ext cx="9067800" cy="1143000"/>
          </a:xfrm>
        </p:spPr>
        <p:txBody>
          <a:bodyPr>
            <a:normAutofit/>
          </a:bodyPr>
          <a:lstStyle/>
          <a:p>
            <a:r>
              <a:rPr lang="en-US" altLang="en-US" sz="3600" b="1" dirty="0"/>
              <a:t>Precedence Diagramming Method (PDM)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D83AD9F9-206C-4629-B1B1-8A6C226A2E1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20290" y="1837437"/>
            <a:ext cx="8305800" cy="37338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en-US" dirty="0"/>
              <a:t>More popular than </a:t>
            </a:r>
            <a:r>
              <a:rPr lang="en-US" altLang="en-US" dirty="0" smtClean="0"/>
              <a:t>the ADM </a:t>
            </a:r>
            <a:r>
              <a:rPr lang="en-US" altLang="en-US" dirty="0"/>
              <a:t>method and </a:t>
            </a:r>
            <a:r>
              <a:rPr lang="en-US" altLang="en-US" dirty="0" smtClean="0"/>
              <a:t>is used </a:t>
            </a:r>
            <a:r>
              <a:rPr lang="en-US" altLang="en-US" dirty="0"/>
              <a:t>by project </a:t>
            </a:r>
            <a:r>
              <a:rPr lang="en-US" altLang="en-US" dirty="0" smtClean="0"/>
              <a:t>management.</a:t>
            </a:r>
            <a:endParaRPr lang="en-US" altLang="en-US" dirty="0"/>
          </a:p>
          <a:p>
            <a:pPr marL="0" indent="0" algn="just">
              <a:buNone/>
            </a:pPr>
            <a:r>
              <a:rPr lang="en-US" altLang="en-US" dirty="0"/>
              <a:t>Activities are represented by </a:t>
            </a:r>
            <a:r>
              <a:rPr lang="en-US" altLang="en-US" dirty="0" smtClean="0"/>
              <a:t>boxes.</a:t>
            </a:r>
            <a:endParaRPr lang="en-US" altLang="en-US" dirty="0"/>
          </a:p>
          <a:p>
            <a:pPr marL="0" indent="0" algn="just">
              <a:buNone/>
            </a:pPr>
            <a:r>
              <a:rPr lang="en-US" altLang="en-US" dirty="0"/>
              <a:t>Arrows show relationships between </a:t>
            </a:r>
            <a:r>
              <a:rPr lang="en-US" altLang="en-US" dirty="0" smtClean="0"/>
              <a:t>activities.</a:t>
            </a:r>
            <a:endParaRPr lang="en-US" altLang="en-US" dirty="0"/>
          </a:p>
          <a:p>
            <a:pPr marL="0" indent="0" algn="just">
              <a:buNone/>
            </a:pPr>
            <a:r>
              <a:rPr lang="en-US" altLang="en-US" dirty="0"/>
              <a:t>Better at showing different types of dependencies</a:t>
            </a:r>
          </a:p>
        </p:txBody>
      </p:sp>
      <p:sp>
        <p:nvSpPr>
          <p:cNvPr id="31749" name="Footer Placeholder 6">
            <a:extLst>
              <a:ext uri="{FF2B5EF4-FFF2-40B4-BE49-F238E27FC236}">
                <a16:creationId xmlns:a16="http://schemas.microsoft.com/office/drawing/2014/main" id="{03B0D9EF-B6CE-4BF2-ACFB-44000EE9F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>
                <a:solidFill>
                  <a:schemeClr val="bg1"/>
                </a:solidFill>
                <a:latin typeface="Verdana" panose="020B0604030504040204" pitchFamily="34" charset="0"/>
              </a:rPr>
              <a:t>CSE494-Software Project 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F40EFD-926E-45D9-B56C-3D1123FFC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EB85384-58D2-4C16-B2D3-6B487FB36088}" type="slidenum">
              <a:rPr lang="en-US" altLang="en-US" sz="1400">
                <a:solidFill>
                  <a:srgbClr val="FFFFFF"/>
                </a:solidFill>
              </a:rPr>
              <a:pPr eaLnBrk="1" hangingPunct="1"/>
              <a:t>17</a:t>
            </a:fld>
            <a:endParaRPr lang="en-US" altLang="en-US" sz="1400">
              <a:solidFill>
                <a:srgbClr val="FFFFFF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4FF220-FA9B-423E-8388-EBAD4CE40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56973-9A17-47CD-89F1-81D75FB7ACB6}" type="datetime1">
              <a:rPr lang="en-US" smtClean="0"/>
              <a:t>10/17/2024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A89B9-5D81-47EE-8C04-42BFFDCD0C63}" type="datetime1">
              <a:rPr lang="en-US" smtClean="0"/>
              <a:t>10/17/2024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CSE494-Software Project Management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40AAC-B608-4A70-8165-1D05842FA389}" type="slidenum">
              <a:rPr lang="en-US" altLang="en-US" smtClean="0"/>
              <a:pPr/>
              <a:t>18</a:t>
            </a:fld>
            <a:endParaRPr lang="en-US" altLang="en-US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457200" y="35169"/>
            <a:ext cx="8382000" cy="586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77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b="1" dirty="0" smtClean="0"/>
              <a:t> Develop Schedule</a:t>
            </a:r>
            <a:endParaRPr lang="en-GB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Using the outputs of the prior processes – Develop the project schedule with planned/estimated start and completion dates.</a:t>
            </a:r>
          </a:p>
          <a:p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A89B9-5D81-47EE-8C04-42BFFDCD0C63}" type="datetime1">
              <a:rPr lang="en-US" smtClean="0"/>
              <a:t>10/17/2024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CSE494-Software Project Management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40AAC-B608-4A70-8165-1D05842FA389}" type="slidenum">
              <a:rPr lang="en-US" altLang="en-US" smtClean="0"/>
              <a:pPr/>
              <a:t>19</a:t>
            </a:fld>
            <a:endParaRPr lang="en-US" alt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667000"/>
            <a:ext cx="8001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17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/>
              <a:t>Requirements to complete a schedule</a:t>
            </a:r>
            <a:endParaRPr lang="en-GB" sz="3600" b="1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4400" y="2057400"/>
            <a:ext cx="7467600" cy="35814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A89B9-5D81-47EE-8C04-42BFFDCD0C63}" type="datetime1">
              <a:rPr lang="en-US" smtClean="0"/>
              <a:t>10/17/2024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CSE494-Software Project Management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40AAC-B608-4A70-8165-1D05842FA389}" type="slidenum">
              <a:rPr lang="en-US" altLang="en-US" smtClean="0"/>
              <a:pPr/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76558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0D0E9585-60EA-470A-8B21-8F2A2E85BD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1030833"/>
            <a:ext cx="8305800" cy="715962"/>
          </a:xfrm>
        </p:spPr>
        <p:txBody>
          <a:bodyPr>
            <a:normAutofit/>
          </a:bodyPr>
          <a:lstStyle/>
          <a:p>
            <a:r>
              <a:rPr lang="en-US" altLang="en-US" dirty="0"/>
              <a:t>Critical Path Method (CPM)</a:t>
            </a:r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4F5A5CCD-2AEC-4C99-80E0-3AD731F73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1752600"/>
            <a:ext cx="7881938" cy="434340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endParaRPr lang="en-US" altLang="en-US" b="1" dirty="0" smtClean="0"/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en-US" b="1" dirty="0" smtClean="0"/>
              <a:t>CPM</a:t>
            </a:r>
            <a:r>
              <a:rPr lang="en-US" altLang="en-US" dirty="0" smtClean="0"/>
              <a:t> </a:t>
            </a:r>
            <a:r>
              <a:rPr lang="en-US" altLang="en-US" dirty="0"/>
              <a:t>is a </a:t>
            </a:r>
            <a:r>
              <a:rPr lang="en-US" altLang="en-US" b="1" dirty="0"/>
              <a:t>network diagramming technique </a:t>
            </a:r>
            <a:r>
              <a:rPr lang="en-US" altLang="en-US" dirty="0"/>
              <a:t>used to predict </a:t>
            </a:r>
            <a:r>
              <a:rPr lang="en-US" altLang="en-US" b="1" dirty="0" smtClean="0"/>
              <a:t>total project duration.</a:t>
            </a:r>
            <a:endParaRPr lang="en-US" altLang="en-US" b="1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en-US" dirty="0"/>
              <a:t>A </a:t>
            </a:r>
            <a:r>
              <a:rPr lang="en-US" altLang="en-US" b="1" dirty="0"/>
              <a:t>critical path</a:t>
            </a:r>
            <a:r>
              <a:rPr lang="en-US" altLang="en-US" dirty="0"/>
              <a:t> for a project is the series of activities that determines the </a:t>
            </a:r>
            <a:r>
              <a:rPr lang="en-US" altLang="en-US" b="1" i="1" dirty="0"/>
              <a:t>earliest time</a:t>
            </a:r>
            <a:r>
              <a:rPr lang="en-US" altLang="en-US" dirty="0"/>
              <a:t> by which the project can be </a:t>
            </a:r>
            <a:r>
              <a:rPr lang="en-US" altLang="en-US" dirty="0" smtClean="0"/>
              <a:t>completed.</a:t>
            </a:r>
            <a:endParaRPr lang="en-US" altLang="en-US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en-US" dirty="0"/>
              <a:t>The critical path is the </a:t>
            </a:r>
            <a:r>
              <a:rPr lang="en-US" altLang="en-US" b="1" i="1" dirty="0" smtClean="0"/>
              <a:t>path</a:t>
            </a:r>
            <a:r>
              <a:rPr lang="en-US" altLang="en-US" dirty="0" smtClean="0"/>
              <a:t> that has </a:t>
            </a:r>
            <a:r>
              <a:rPr lang="en-US" altLang="en-US" dirty="0"/>
              <a:t>the least amount of</a:t>
            </a:r>
            <a:r>
              <a:rPr lang="en-US" altLang="en-US" b="1" dirty="0"/>
              <a:t> slack or </a:t>
            </a:r>
            <a:r>
              <a:rPr lang="en-US" altLang="en-US" b="1" dirty="0" smtClean="0"/>
              <a:t>float.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US" altLang="en-US" b="1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en-US" b="1" dirty="0"/>
              <a:t>Slack </a:t>
            </a:r>
            <a:r>
              <a:rPr lang="en-US" altLang="en-US" dirty="0"/>
              <a:t>or</a:t>
            </a:r>
            <a:r>
              <a:rPr lang="en-US" altLang="en-US" b="1" dirty="0"/>
              <a:t> float</a:t>
            </a:r>
            <a:r>
              <a:rPr lang="en-US" altLang="en-US" dirty="0"/>
              <a:t> is</a:t>
            </a:r>
            <a:r>
              <a:rPr lang="en-US" altLang="en-US" b="1" dirty="0"/>
              <a:t> </a:t>
            </a:r>
            <a:r>
              <a:rPr lang="en-US" altLang="en-US" dirty="0"/>
              <a:t>the amount of time an activity may be delayed without delaying a succeeding activity or the project finish </a:t>
            </a:r>
            <a:r>
              <a:rPr lang="en-US" altLang="en-US" dirty="0" smtClean="0"/>
              <a:t>date.</a:t>
            </a:r>
            <a:endParaRPr lang="en-US" altLang="en-US" dirty="0"/>
          </a:p>
        </p:txBody>
      </p:sp>
      <p:sp>
        <p:nvSpPr>
          <p:cNvPr id="47109" name="Footer Placeholder 6">
            <a:extLst>
              <a:ext uri="{FF2B5EF4-FFF2-40B4-BE49-F238E27FC236}">
                <a16:creationId xmlns:a16="http://schemas.microsoft.com/office/drawing/2014/main" id="{D4F97486-4113-4F03-8167-6FC2636C7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>
                <a:solidFill>
                  <a:schemeClr val="bg1"/>
                </a:solidFill>
                <a:latin typeface="Verdana" panose="020B0604030504040204" pitchFamily="34" charset="0"/>
              </a:rPr>
              <a:t>CSE494-Software Project 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FB8B5E-0B8A-4EFD-A238-B697AD8BB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4EDFB64-09E8-4076-A3F6-6E062D468C87}" type="slidenum">
              <a:rPr lang="en-US" altLang="en-US" sz="1400">
                <a:solidFill>
                  <a:srgbClr val="FFFFFF"/>
                </a:solidFill>
              </a:rPr>
              <a:pPr eaLnBrk="1" hangingPunct="1"/>
              <a:t>21</a:t>
            </a:fld>
            <a:endParaRPr lang="en-US" altLang="en-US" sz="1400">
              <a:solidFill>
                <a:srgbClr val="FFFFFF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2FA462-75E5-4734-BB98-847CA9EDC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4BFA2-615B-4DFC-9278-B3B9F99745E4}" type="datetime1">
              <a:rPr lang="en-US" smtClean="0"/>
              <a:t>10/17/2024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0D0E9585-60EA-470A-8B21-8F2A2E85BD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1030833"/>
            <a:ext cx="8305800" cy="715962"/>
          </a:xfrm>
        </p:spPr>
        <p:txBody>
          <a:bodyPr>
            <a:normAutofit/>
          </a:bodyPr>
          <a:lstStyle/>
          <a:p>
            <a:r>
              <a:rPr lang="en-US" altLang="en-US" dirty="0"/>
              <a:t>Critical Path Method (CPM)</a:t>
            </a:r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4F5A5CCD-2AEC-4C99-80E0-3AD731F73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1752600"/>
            <a:ext cx="7881938" cy="434340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GB" b="1" dirty="0"/>
              <a:t>1. Activity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dirty="0"/>
              <a:t>An activity is a part of the project denoted by an arrow </a:t>
            </a:r>
            <a:r>
              <a:rPr lang="en-US" dirty="0" smtClean="0"/>
              <a:t>or a node on </a:t>
            </a:r>
            <a:r>
              <a:rPr lang="en-US" dirty="0"/>
              <a:t>the network. </a:t>
            </a:r>
            <a:endParaRPr lang="en-US" dirty="0" smtClean="0"/>
          </a:p>
          <a:p>
            <a:pPr marL="0" indent="0" algn="just">
              <a:lnSpc>
                <a:spcPct val="100000"/>
              </a:lnSpc>
              <a:buNone/>
            </a:pPr>
            <a:r>
              <a:rPr lang="en-GB" b="1" dirty="0"/>
              <a:t>2. Dummy </a:t>
            </a:r>
            <a:r>
              <a:rPr lang="en-GB" b="1" dirty="0" smtClean="0"/>
              <a:t>Activity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dirty="0"/>
              <a:t>The activity </a:t>
            </a:r>
            <a:r>
              <a:rPr lang="en-US" dirty="0" smtClean="0"/>
              <a:t>that </a:t>
            </a:r>
            <a:r>
              <a:rPr lang="en-US" dirty="0"/>
              <a:t>neither uses any resources nor any time for its completion is called </a:t>
            </a:r>
            <a:r>
              <a:rPr lang="en-US" dirty="0" smtClean="0"/>
              <a:t>a dummy </a:t>
            </a:r>
            <a:r>
              <a:rPr lang="en-US" dirty="0"/>
              <a:t>activity. It is represented by a dotted </a:t>
            </a:r>
            <a:r>
              <a:rPr lang="en-US" dirty="0" smtClean="0"/>
              <a:t>arrow.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GB" b="1" dirty="0"/>
              <a:t>3. </a:t>
            </a:r>
            <a:r>
              <a:rPr lang="en-GB" b="1" dirty="0" smtClean="0"/>
              <a:t>Event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dirty="0"/>
              <a:t>Event is the stage or point where all previous jobs merging in it are completed and the jobs bursting out are still to be completed. Event 1 is the starting point of the project.</a:t>
            </a:r>
            <a:endParaRPr lang="en-GB" b="1" dirty="0"/>
          </a:p>
          <a:p>
            <a:pPr marL="0" indent="0" algn="just">
              <a:lnSpc>
                <a:spcPct val="100000"/>
              </a:lnSpc>
              <a:buNone/>
            </a:pPr>
            <a:endParaRPr lang="en-GB" b="1" dirty="0"/>
          </a:p>
          <a:p>
            <a:pPr marL="0" indent="0" algn="just">
              <a:lnSpc>
                <a:spcPct val="100000"/>
              </a:lnSpc>
              <a:buNone/>
            </a:pPr>
            <a:endParaRPr lang="en-US" altLang="en-US" dirty="0"/>
          </a:p>
        </p:txBody>
      </p:sp>
      <p:sp>
        <p:nvSpPr>
          <p:cNvPr id="47109" name="Footer Placeholder 6">
            <a:extLst>
              <a:ext uri="{FF2B5EF4-FFF2-40B4-BE49-F238E27FC236}">
                <a16:creationId xmlns:a16="http://schemas.microsoft.com/office/drawing/2014/main" id="{D4F97486-4113-4F03-8167-6FC2636C7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>
                <a:solidFill>
                  <a:schemeClr val="bg1"/>
                </a:solidFill>
                <a:latin typeface="Verdana" panose="020B0604030504040204" pitchFamily="34" charset="0"/>
              </a:rPr>
              <a:t>CSE494-Software Project 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FB8B5E-0B8A-4EFD-A238-B697AD8BB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4EDFB64-09E8-4076-A3F6-6E062D468C87}" type="slidenum">
              <a:rPr lang="en-US" altLang="en-US" sz="1400">
                <a:solidFill>
                  <a:srgbClr val="FFFFFF"/>
                </a:solidFill>
              </a:rPr>
              <a:pPr eaLnBrk="1" hangingPunct="1"/>
              <a:t>22</a:t>
            </a:fld>
            <a:endParaRPr lang="en-US" altLang="en-US" sz="1400">
              <a:solidFill>
                <a:srgbClr val="FFFFFF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2FA462-75E5-4734-BB98-847CA9EDC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4BFA2-615B-4DFC-9278-B3B9F99745E4}" type="datetime1">
              <a:rPr lang="en-US" smtClean="0"/>
              <a:t>10/17/2024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6916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5800" y="685801"/>
            <a:ext cx="8001000" cy="5183188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A89B9-5D81-47EE-8C04-42BFFDCD0C63}" type="datetime1">
              <a:rPr lang="en-US" smtClean="0"/>
              <a:t>10/17/2024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CSE494-Software Project Management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40AAC-B608-4A70-8165-1D05842FA389}" type="slidenum">
              <a:rPr lang="en-US" altLang="en-US" smtClean="0"/>
              <a:pPr/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83099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0D0E9585-60EA-470A-8B21-8F2A2E85BD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1030833"/>
            <a:ext cx="8305800" cy="715962"/>
          </a:xfrm>
        </p:spPr>
        <p:txBody>
          <a:bodyPr>
            <a:normAutofit/>
          </a:bodyPr>
          <a:lstStyle/>
          <a:p>
            <a:r>
              <a:rPr lang="en-US" altLang="en-US" dirty="0"/>
              <a:t>Critical Path Method (CPM)</a:t>
            </a:r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4F5A5CCD-2AEC-4C99-80E0-3AD731F73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1752600"/>
            <a:ext cx="7881938" cy="434340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GB" b="1" dirty="0"/>
              <a:t>Early Start Time (E.S.T.)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dirty="0"/>
              <a:t>The earliest possible time at which an activity may </a:t>
            </a:r>
            <a:r>
              <a:rPr lang="en-US" dirty="0" smtClean="0"/>
              <a:t>start </a:t>
            </a:r>
            <a:r>
              <a:rPr lang="en-US" dirty="0"/>
              <a:t>is called early start time</a:t>
            </a:r>
            <a:r>
              <a:rPr lang="en-US" dirty="0" smtClean="0"/>
              <a:t>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GB" b="1" dirty="0"/>
              <a:t>Early Finish Time (E.F.T.)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dirty="0"/>
              <a:t>The sum of the earliest start time of an activity and the time required for its completion is called early finish time</a:t>
            </a:r>
            <a:r>
              <a:rPr lang="en-US" dirty="0" smtClean="0"/>
              <a:t>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GB" b="1" dirty="0"/>
              <a:t>Late Start Time (L.S.T</a:t>
            </a:r>
            <a:r>
              <a:rPr lang="en-GB" b="1" dirty="0" smtClean="0"/>
              <a:t>.)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dirty="0"/>
              <a:t>The latest possible time at which an activity may start without delaying the date of the project, is called late start time.</a:t>
            </a:r>
            <a:endParaRPr lang="en-GB" b="1" dirty="0"/>
          </a:p>
          <a:p>
            <a:pPr marL="0" indent="0" algn="just">
              <a:lnSpc>
                <a:spcPct val="100000"/>
              </a:lnSpc>
              <a:buNone/>
            </a:pPr>
            <a:endParaRPr lang="en-US" altLang="en-US" dirty="0"/>
          </a:p>
        </p:txBody>
      </p:sp>
      <p:sp>
        <p:nvSpPr>
          <p:cNvPr id="47109" name="Footer Placeholder 6">
            <a:extLst>
              <a:ext uri="{FF2B5EF4-FFF2-40B4-BE49-F238E27FC236}">
                <a16:creationId xmlns:a16="http://schemas.microsoft.com/office/drawing/2014/main" id="{D4F97486-4113-4F03-8167-6FC2636C7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>
                <a:solidFill>
                  <a:schemeClr val="bg1"/>
                </a:solidFill>
                <a:latin typeface="Verdana" panose="020B0604030504040204" pitchFamily="34" charset="0"/>
              </a:rPr>
              <a:t>CSE494-Software Project 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FB8B5E-0B8A-4EFD-A238-B697AD8BB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4EDFB64-09E8-4076-A3F6-6E062D468C87}" type="slidenum">
              <a:rPr lang="en-US" altLang="en-US" sz="1400">
                <a:solidFill>
                  <a:srgbClr val="FFFFFF"/>
                </a:solidFill>
              </a:rPr>
              <a:pPr eaLnBrk="1" hangingPunct="1"/>
              <a:t>24</a:t>
            </a:fld>
            <a:endParaRPr lang="en-US" altLang="en-US" sz="1400">
              <a:solidFill>
                <a:srgbClr val="FFFFFF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2FA462-75E5-4734-BB98-847CA9EDC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4BFA2-615B-4DFC-9278-B3B9F99745E4}" type="datetime1">
              <a:rPr lang="en-US" smtClean="0"/>
              <a:t>10/17/2024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8525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0D0E9585-60EA-470A-8B21-8F2A2E85BD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1030833"/>
            <a:ext cx="8305800" cy="715962"/>
          </a:xfrm>
        </p:spPr>
        <p:txBody>
          <a:bodyPr>
            <a:normAutofit/>
          </a:bodyPr>
          <a:lstStyle/>
          <a:p>
            <a:r>
              <a:rPr lang="en-US" altLang="en-US" dirty="0"/>
              <a:t>Critical Path Method (CPM)</a:t>
            </a:r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4F5A5CCD-2AEC-4C99-80E0-3AD731F73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62000" y="1752600"/>
            <a:ext cx="7805738" cy="434340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GB" b="1" dirty="0"/>
              <a:t>Late Finish Time (L.F.T</a:t>
            </a:r>
            <a:r>
              <a:rPr lang="en-GB" b="1" dirty="0" smtClean="0"/>
              <a:t>.)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dirty="0"/>
              <a:t>The sum of the late start time of an activity and the time required for its completion is called late finish time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b="1" dirty="0" smtClean="0"/>
              <a:t>Free float</a:t>
            </a:r>
            <a:r>
              <a:rPr lang="en-US" dirty="0" smtClean="0"/>
              <a:t> is the amount of time that a task can be delayed without impacting the subsequent task.</a:t>
            </a:r>
          </a:p>
          <a:p>
            <a:pPr marL="0" indent="0">
              <a:buNone/>
            </a:pPr>
            <a:r>
              <a:rPr lang="en-US" b="1" dirty="0" smtClean="0"/>
              <a:t>Total </a:t>
            </a:r>
            <a:r>
              <a:rPr lang="en-US" b="1" dirty="0"/>
              <a:t>float</a:t>
            </a:r>
            <a:r>
              <a:rPr lang="en-US" dirty="0"/>
              <a:t> is the amount of time a task or a project can be delayed without impacting the overall project completion </a:t>
            </a:r>
            <a:r>
              <a:rPr lang="en-US" dirty="0" smtClean="0"/>
              <a:t>time. </a:t>
            </a:r>
            <a:r>
              <a:rPr lang="en-US" b="1" dirty="0" smtClean="0"/>
              <a:t>Critical Path activities should be Zero float days.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Critical Path</a:t>
            </a:r>
          </a:p>
          <a:p>
            <a:r>
              <a:rPr lang="en-US" dirty="0"/>
              <a:t>The path in the network joining the critical events is called the critical path of the work.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US" b="1" dirty="0"/>
          </a:p>
          <a:p>
            <a:pPr marL="0" indent="0" algn="just">
              <a:lnSpc>
                <a:spcPct val="100000"/>
              </a:lnSpc>
              <a:buNone/>
            </a:pPr>
            <a:endParaRPr lang="en-GB" b="1" dirty="0"/>
          </a:p>
          <a:p>
            <a:pPr marL="0" indent="0" algn="just">
              <a:lnSpc>
                <a:spcPct val="100000"/>
              </a:lnSpc>
              <a:buNone/>
            </a:pPr>
            <a:endParaRPr lang="en-US" altLang="en-US" dirty="0"/>
          </a:p>
        </p:txBody>
      </p:sp>
      <p:sp>
        <p:nvSpPr>
          <p:cNvPr id="47109" name="Footer Placeholder 6">
            <a:extLst>
              <a:ext uri="{FF2B5EF4-FFF2-40B4-BE49-F238E27FC236}">
                <a16:creationId xmlns:a16="http://schemas.microsoft.com/office/drawing/2014/main" id="{D4F97486-4113-4F03-8167-6FC2636C7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>
                <a:solidFill>
                  <a:schemeClr val="bg1"/>
                </a:solidFill>
                <a:latin typeface="Verdana" panose="020B0604030504040204" pitchFamily="34" charset="0"/>
              </a:rPr>
              <a:t>CSE494-Software Project 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FB8B5E-0B8A-4EFD-A238-B697AD8BB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4EDFB64-09E8-4076-A3F6-6E062D468C87}" type="slidenum">
              <a:rPr lang="en-US" altLang="en-US" sz="1400">
                <a:solidFill>
                  <a:srgbClr val="FFFFFF"/>
                </a:solidFill>
              </a:rPr>
              <a:pPr eaLnBrk="1" hangingPunct="1"/>
              <a:t>25</a:t>
            </a:fld>
            <a:endParaRPr lang="en-US" altLang="en-US" sz="1400">
              <a:solidFill>
                <a:srgbClr val="FFFFFF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2FA462-75E5-4734-BB98-847CA9EDC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4BFA2-615B-4DFC-9278-B3B9F99745E4}" type="datetime1">
              <a:rPr lang="en-US" smtClean="0"/>
              <a:t>10/17/2024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0303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Phases and Passes of Critical Path</a:t>
            </a:r>
            <a:endParaRPr lang="en-GB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cs typeface="Calibri" panose="020F0502020204030204" pitchFamily="34" charset="0"/>
              </a:rPr>
              <a:t>There are two passes in CPM.</a:t>
            </a:r>
          </a:p>
          <a:p>
            <a:pPr marL="1628775" lvl="4" indent="-257175">
              <a:buFont typeface="+mj-lt"/>
              <a:buAutoNum type="arabicPeriod"/>
            </a:pPr>
            <a:r>
              <a:rPr lang="en-US" sz="2000" dirty="0">
                <a:cs typeface="Calibri" panose="020F0502020204030204" pitchFamily="34" charset="0"/>
              </a:rPr>
              <a:t>Forward Pass</a:t>
            </a:r>
          </a:p>
          <a:p>
            <a:pPr marL="1628775" lvl="4" indent="-257175">
              <a:buFont typeface="+mj-lt"/>
              <a:buAutoNum type="arabicPeriod"/>
            </a:pPr>
            <a:r>
              <a:rPr lang="en-US" sz="2000" dirty="0">
                <a:cs typeface="Calibri" panose="020F0502020204030204" pitchFamily="34" charset="0"/>
              </a:rPr>
              <a:t>Backward Pass</a:t>
            </a:r>
          </a:p>
          <a:p>
            <a:r>
              <a:rPr lang="en-US" dirty="0">
                <a:cs typeface="Calibri" panose="020F0502020204030204" pitchFamily="34" charset="0"/>
              </a:rPr>
              <a:t>CPM has two phases</a:t>
            </a:r>
          </a:p>
          <a:p>
            <a:pPr marL="1628775" lvl="4" indent="-257175">
              <a:buFont typeface="+mj-lt"/>
              <a:buAutoNum type="arabicPeriod"/>
            </a:pPr>
            <a:r>
              <a:rPr lang="en-US" sz="2000" dirty="0">
                <a:cs typeface="Calibri" panose="020F0502020204030204" pitchFamily="34" charset="0"/>
              </a:rPr>
              <a:t>Early Start (ES) and Early Finish (EF) </a:t>
            </a:r>
            <a:r>
              <a:rPr lang="en-US" sz="2000" dirty="0" smtClean="0">
                <a:cs typeface="Calibri" panose="020F0502020204030204" pitchFamily="34" charset="0"/>
              </a:rPr>
              <a:t>are considered </a:t>
            </a:r>
            <a:r>
              <a:rPr lang="en-US" sz="2000" dirty="0">
                <a:cs typeface="Calibri" panose="020F0502020204030204" pitchFamily="34" charset="0"/>
              </a:rPr>
              <a:t>as Forward Pass</a:t>
            </a:r>
          </a:p>
          <a:p>
            <a:pPr marL="1628775" lvl="4" indent="-257175">
              <a:buFont typeface="+mj-lt"/>
              <a:buAutoNum type="arabicPeriod"/>
            </a:pPr>
            <a:r>
              <a:rPr lang="en-US" sz="2000" dirty="0">
                <a:cs typeface="Calibri" panose="020F0502020204030204" pitchFamily="34" charset="0"/>
              </a:rPr>
              <a:t>Late Start (LS) and Late Finish (LF) </a:t>
            </a:r>
            <a:r>
              <a:rPr lang="en-US" sz="2000" dirty="0" smtClean="0">
                <a:cs typeface="Calibri" panose="020F0502020204030204" pitchFamily="34" charset="0"/>
              </a:rPr>
              <a:t>are considered </a:t>
            </a:r>
            <a:r>
              <a:rPr lang="en-US" sz="2000" dirty="0">
                <a:cs typeface="Calibri" panose="020F0502020204030204" pitchFamily="34" charset="0"/>
              </a:rPr>
              <a:t>as Backward Pass</a:t>
            </a:r>
          </a:p>
          <a:p>
            <a:pPr marL="1628775" lvl="4" indent="-257175">
              <a:buFont typeface="+mj-lt"/>
              <a:buAutoNum type="arabicPeriod"/>
            </a:pP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A89B9-5D81-47EE-8C04-42BFFDCD0C63}" type="datetime1">
              <a:rPr lang="en-US" smtClean="0"/>
              <a:t>10/17/2024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CSE494-Software Project Management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40AAC-B608-4A70-8165-1D05842FA389}" type="slidenum">
              <a:rPr lang="en-US" altLang="en-US" smtClean="0"/>
              <a:pPr/>
              <a:t>26</a:t>
            </a:fld>
            <a:endParaRPr lang="en-US" altLang="en-US"/>
          </a:p>
        </p:txBody>
      </p:sp>
      <p:graphicFrame>
        <p:nvGraphicFramePr>
          <p:cNvPr id="7" name="Table 18">
            <a:extLst>
              <a:ext uri="{FF2B5EF4-FFF2-40B4-BE49-F238E27FC236}">
                <a16:creationId xmlns:a16="http://schemas.microsoft.com/office/drawing/2014/main" id="{CC35B04E-A57E-4A16-9ABF-0698A75B6E2D}"/>
              </a:ext>
            </a:extLst>
          </p:cNvPr>
          <p:cNvGraphicFramePr>
            <a:graphicFrameLocks noGrp="1"/>
          </p:cNvGraphicFramePr>
          <p:nvPr/>
        </p:nvGraphicFramePr>
        <p:xfrm>
          <a:off x="2981739" y="5046593"/>
          <a:ext cx="2638839" cy="6553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470779">
                  <a:extLst>
                    <a:ext uri="{9D8B030D-6E8A-4147-A177-3AD203B41FA5}">
                      <a16:colId xmlns:a16="http://schemas.microsoft.com/office/drawing/2014/main" val="4060577947"/>
                    </a:ext>
                  </a:extLst>
                </a:gridCol>
                <a:gridCol w="1637385">
                  <a:extLst>
                    <a:ext uri="{9D8B030D-6E8A-4147-A177-3AD203B41FA5}">
                      <a16:colId xmlns:a16="http://schemas.microsoft.com/office/drawing/2014/main" val="1199354238"/>
                    </a:ext>
                  </a:extLst>
                </a:gridCol>
                <a:gridCol w="530675">
                  <a:extLst>
                    <a:ext uri="{9D8B030D-6E8A-4147-A177-3AD203B41FA5}">
                      <a16:colId xmlns:a16="http://schemas.microsoft.com/office/drawing/2014/main" val="2876249190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r>
                        <a:rPr lang="en-US" sz="17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Activity Name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EF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949106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lang="en-US" sz="17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Duration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LF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11899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755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 to follow for Forward Pass and Backward Pass</a:t>
            </a:r>
            <a:endParaRPr lang="en-GB" sz="32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A89B9-5D81-47EE-8C04-42BFFDCD0C63}" type="datetime1">
              <a:rPr lang="en-US" smtClean="0"/>
              <a:t>10/17/2024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CSE494-Software Project Management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40AAC-B608-4A70-8165-1D05842FA389}" type="slidenum">
              <a:rPr lang="en-US" altLang="en-US" smtClean="0"/>
              <a:pPr/>
              <a:t>27</a:t>
            </a:fld>
            <a:endParaRPr lang="en-US" alt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E2CB879-9BB1-43E6-B692-2E9F8202D4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1650" b="1" u="sng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Forward Pass</a:t>
            </a:r>
          </a:p>
          <a:p>
            <a:pPr marL="0" indent="0">
              <a:buNone/>
            </a:pPr>
            <a:r>
              <a:rPr lang="en-US" sz="165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US" sz="21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</a:t>
            </a:r>
            <a:r>
              <a:rPr lang="en-US" sz="2100" baseline="-25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21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 first node is always zero</a:t>
            </a:r>
          </a:p>
          <a:p>
            <a:pPr marL="0" indent="0">
              <a:buNone/>
            </a:pPr>
            <a:r>
              <a:rPr lang="en-US" sz="165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225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</a:t>
            </a:r>
            <a:r>
              <a:rPr lang="en-US" sz="2250" baseline="-25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</a:t>
            </a:r>
            <a:r>
              <a:rPr lang="en-US" sz="2250" baseline="-25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5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= max</a:t>
            </a:r>
            <a:r>
              <a:rPr lang="en-US" sz="2250" baseline="-25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225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225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</a:t>
            </a:r>
            <a:r>
              <a:rPr lang="en-US" sz="2250" baseline="-25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225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+ </a:t>
            </a:r>
            <a:r>
              <a:rPr lang="en-US" sz="225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lang="en-US" sz="2250" baseline="-25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ij</a:t>
            </a:r>
            <a:r>
              <a:rPr lang="en-US" sz="225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0" indent="0">
              <a:buNone/>
            </a:pPr>
            <a:r>
              <a:rPr lang="en-US" sz="225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225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EF</a:t>
            </a:r>
            <a:r>
              <a:rPr lang="en-US" sz="2250" baseline="-25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225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225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</a:t>
            </a:r>
            <a:r>
              <a:rPr lang="en-US" sz="2250" baseline="-25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225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+ D</a:t>
            </a:r>
            <a:r>
              <a:rPr lang="en-US" sz="2250" baseline="-25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</a:p>
          <a:p>
            <a:r>
              <a:rPr lang="en-US" sz="1650" b="1" u="sng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Backward Pass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Start from last node backwards, </a:t>
            </a:r>
            <a:r>
              <a:rPr lang="en-US" sz="225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LF</a:t>
            </a:r>
            <a:r>
              <a:rPr lang="en-US" sz="2250" baseline="-25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</a:t>
            </a:r>
            <a:r>
              <a:rPr lang="en-US" sz="225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225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EF</a:t>
            </a:r>
            <a:r>
              <a:rPr lang="en-US" sz="2250" baseline="-25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</a:t>
            </a:r>
            <a:r>
              <a:rPr lang="en-US" sz="1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</a:p>
          <a:p>
            <a:pPr marL="0" indent="0">
              <a:buNone/>
            </a:pPr>
            <a:r>
              <a:rPr lang="en-US" sz="21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en-US" sz="225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LS</a:t>
            </a:r>
            <a:r>
              <a:rPr lang="en-US" sz="2250" baseline="-25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</a:t>
            </a:r>
            <a:r>
              <a:rPr lang="en-US" sz="2250" baseline="-25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5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= </a:t>
            </a:r>
            <a:r>
              <a:rPr lang="en-US" sz="225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min</a:t>
            </a:r>
            <a:r>
              <a:rPr lang="en-US" sz="2250" baseline="-25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</a:t>
            </a:r>
            <a:r>
              <a:rPr lang="en-US" sz="225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225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LF</a:t>
            </a:r>
            <a:r>
              <a:rPr lang="en-US" sz="2250" baseline="-25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</a:t>
            </a:r>
            <a:r>
              <a:rPr lang="en-US" sz="225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en-US" sz="225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lang="en-US" sz="2250" baseline="-25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ij</a:t>
            </a:r>
            <a:r>
              <a:rPr lang="en-US" sz="225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0" indent="0">
              <a:buNone/>
            </a:pPr>
            <a:r>
              <a:rPr lang="en-US" sz="225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225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LS</a:t>
            </a:r>
            <a:r>
              <a:rPr lang="en-US" sz="2250" baseline="-25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</a:t>
            </a:r>
            <a:r>
              <a:rPr lang="en-US" sz="2250" baseline="-25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5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= </a:t>
            </a:r>
            <a:r>
              <a:rPr lang="en-US" sz="225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LF</a:t>
            </a:r>
            <a:r>
              <a:rPr lang="en-US" sz="2250" baseline="-25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endParaRPr lang="en-US" sz="225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25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LF</a:t>
            </a:r>
            <a:r>
              <a:rPr lang="en-US" sz="2250" baseline="-25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21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will become </a:t>
            </a:r>
            <a:r>
              <a:rPr lang="en-US" sz="21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LS</a:t>
            </a:r>
            <a:r>
              <a:rPr lang="en-US" sz="2100" baseline="-25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</a:t>
            </a:r>
            <a:r>
              <a:rPr lang="en-US" sz="21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while back tracking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2438400"/>
            <a:ext cx="2523963" cy="2542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741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/>
              <a:t>Network Diagram: PDM Vs CPM</a:t>
            </a:r>
            <a:endParaRPr lang="en-GB" sz="3600" b="1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cap="none" dirty="0" smtClean="0"/>
              <a:t>PDM: Precedence Diagramming Method</a:t>
            </a:r>
            <a:endParaRPr lang="en-GB" b="1" cap="none" dirty="0"/>
          </a:p>
        </p:txBody>
      </p:sp>
      <p:sp>
        <p:nvSpPr>
          <p:cNvPr id="9" name="Content Placeholder 8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/>
              <a:t>“AON” Activity on Node</a:t>
            </a:r>
            <a:endParaRPr lang="en-GB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b="1" cap="none" dirty="0" smtClean="0"/>
              <a:t>CPM: Critical Path Method</a:t>
            </a:r>
            <a:endParaRPr lang="en-GB" b="1" cap="none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 smtClean="0"/>
              <a:t>“AOA” Activity on Arrow”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A89B9-5D81-47EE-8C04-42BFFDCD0C63}" type="datetime1">
              <a:rPr lang="en-US" smtClean="0"/>
              <a:t>10/17/2024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CSE494-Software Project Management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40AAC-B608-4A70-8165-1D05842FA389}" type="slidenum">
              <a:rPr lang="en-US" altLang="en-US" smtClean="0"/>
              <a:pPr/>
              <a:t>28</a:t>
            </a:fld>
            <a:endParaRPr lang="en-US" alt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3124200"/>
            <a:ext cx="3200400" cy="2886478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5800" y="3200400"/>
            <a:ext cx="3962400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582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F99C17A-B6EC-4440-A7F9-D6C214D6126F}" type="datetime1">
              <a:rPr lang="en-US" smtClean="0"/>
              <a:t>10/17/2024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CSE494-Software Project Management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1D65F-D501-4DF7-BD11-029B6F81E0EF}" type="slidenum">
              <a:rPr lang="en-US" altLang="en-US" smtClean="0"/>
              <a:pPr/>
              <a:t>29</a:t>
            </a:fld>
            <a:endParaRPr lang="en-US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11202" r="12789"/>
          <a:stretch/>
        </p:blipFill>
        <p:spPr>
          <a:xfrm>
            <a:off x="0" y="0"/>
            <a:ext cx="9108831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950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F99C17A-B6EC-4440-A7F9-D6C214D6126F}" type="datetime1">
              <a:rPr lang="en-US" smtClean="0"/>
              <a:t>10/17/2024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CSE494-Software Project Management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1D65F-D501-4DF7-BD11-029B6F81E0EF}" type="slidenum">
              <a:rPr lang="en-US" altLang="en-US" smtClean="0"/>
              <a:pPr/>
              <a:t>30</a:t>
            </a:fld>
            <a:endParaRPr lang="en-US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11922" r="14087"/>
          <a:stretch/>
        </p:blipFill>
        <p:spPr>
          <a:xfrm>
            <a:off x="0" y="-152400"/>
            <a:ext cx="9020907" cy="655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985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F99C17A-B6EC-4440-A7F9-D6C214D6126F}" type="datetime1">
              <a:rPr lang="en-US" smtClean="0"/>
              <a:t>10/17/2024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CSE494-Software Project Management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1D65F-D501-4DF7-BD11-029B6F81E0EF}" type="slidenum">
              <a:rPr lang="en-US" altLang="en-US" smtClean="0"/>
              <a:pPr/>
              <a:t>31</a:t>
            </a:fld>
            <a:endParaRPr lang="en-US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194" y="1444580"/>
            <a:ext cx="8059611" cy="3968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201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 1</a:t>
            </a:r>
            <a:endParaRPr lang="en-GB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Content Placeholder 8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4"/>
          </p:nvPr>
        </p:nvSpPr>
        <p:spPr>
          <a:xfrm>
            <a:off x="4663440" y="1752600"/>
            <a:ext cx="3870960" cy="4116494"/>
          </a:xfrm>
        </p:spPr>
        <p:txBody>
          <a:bodyPr/>
          <a:lstStyle/>
          <a:p>
            <a:r>
              <a:rPr lang="en-US" dirty="0" smtClean="0"/>
              <a:t>1: Draw a Network Diagram.</a:t>
            </a:r>
            <a:r>
              <a:rPr lang="en-GB" dirty="0"/>
              <a:t> </a:t>
            </a:r>
            <a:r>
              <a:rPr lang="en-GB" dirty="0" smtClean="0"/>
              <a:t>Using </a:t>
            </a:r>
            <a:r>
              <a:rPr lang="en-GB" dirty="0"/>
              <a:t>a standard node convention to display the duration. </a:t>
            </a:r>
            <a:endParaRPr lang="en-US" dirty="0" smtClean="0"/>
          </a:p>
          <a:p>
            <a:r>
              <a:rPr lang="en-US" dirty="0" smtClean="0"/>
              <a:t>2.  Apply forward and backward pass.</a:t>
            </a:r>
          </a:p>
          <a:p>
            <a:r>
              <a:rPr lang="en-US" dirty="0" smtClean="0"/>
              <a:t>3. What is the critical path?</a:t>
            </a:r>
          </a:p>
          <a:p>
            <a:r>
              <a:rPr lang="en-US" dirty="0" smtClean="0"/>
              <a:t>4.  What is the project’s expected duration?</a:t>
            </a:r>
          </a:p>
          <a:p>
            <a:r>
              <a:rPr lang="en-US" dirty="0" smtClean="0"/>
              <a:t>5: Calculate Float?</a:t>
            </a:r>
          </a:p>
          <a:p>
            <a:endParaRPr lang="en-GB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F99C17A-B6EC-4440-A7F9-D6C214D6126F}" type="datetime1">
              <a:rPr lang="en-US" smtClean="0"/>
              <a:t>10/17/2024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CSE494-Software Project Management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1D65F-D501-4DF7-BD11-029B6F81E0EF}" type="slidenum">
              <a:rPr lang="en-US" altLang="en-US" smtClean="0"/>
              <a:pPr/>
              <a:t>32</a:t>
            </a:fld>
            <a:endParaRPr lang="en-US" altLang="en-US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762000" y="1676400"/>
            <a:ext cx="3886200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616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F99C17A-B6EC-4440-A7F9-D6C214D6126F}" type="datetime1">
              <a:rPr lang="en-US" smtClean="0"/>
              <a:t>10/17/2024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CSE494-Software Project Management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1D65F-D501-4DF7-BD11-029B6F81E0EF}" type="slidenum">
              <a:rPr lang="en-US" altLang="en-US" smtClean="0"/>
              <a:pPr/>
              <a:t>33</a:t>
            </a:fld>
            <a:endParaRPr lang="en-US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00" r="12708"/>
          <a:stretch/>
        </p:blipFill>
        <p:spPr>
          <a:xfrm>
            <a:off x="0" y="381000"/>
            <a:ext cx="8686800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045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 2</a:t>
            </a:r>
            <a:endParaRPr lang="en-GB" dirty="0"/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85800" y="1752600"/>
            <a:ext cx="3886200" cy="4114800"/>
          </a:xfrm>
          <a:prstGeom prst="rect">
            <a:avLst/>
          </a:prstGeom>
        </p:spPr>
      </p:pic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1905000"/>
            <a:ext cx="3703320" cy="3964094"/>
          </a:xfrm>
        </p:spPr>
        <p:txBody>
          <a:bodyPr/>
          <a:lstStyle/>
          <a:p>
            <a:r>
              <a:rPr lang="en-US" dirty="0"/>
              <a:t>1: Draw a Network Diagram.</a:t>
            </a:r>
            <a:r>
              <a:rPr lang="en-GB" dirty="0"/>
              <a:t> Using a standard node convention to display the duration. </a:t>
            </a:r>
            <a:endParaRPr lang="en-US" dirty="0"/>
          </a:p>
          <a:p>
            <a:r>
              <a:rPr lang="en-US" dirty="0"/>
              <a:t>2.  Apply forward and backward pass.</a:t>
            </a:r>
          </a:p>
          <a:p>
            <a:r>
              <a:rPr lang="en-US" dirty="0"/>
              <a:t>3. What is the critical path?</a:t>
            </a:r>
          </a:p>
          <a:p>
            <a:r>
              <a:rPr lang="en-US" dirty="0"/>
              <a:t>4.  What is the project’s expected duration?</a:t>
            </a:r>
          </a:p>
          <a:p>
            <a:r>
              <a:rPr lang="en-US" dirty="0"/>
              <a:t>5: Calculate Float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C815649-528C-4ABE-81F2-4C4CD210464B}" type="datetime1">
              <a:rPr lang="en-US" smtClean="0"/>
              <a:t>10/17/2024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CSE494-Software Project Management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351D0-2BB0-4A0E-8896-DFDA0A3D273D}" type="slidenum">
              <a:rPr lang="en-US" altLang="en-US" smtClean="0"/>
              <a:pPr/>
              <a:t>34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75670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C815649-528C-4ABE-81F2-4C4CD210464B}" type="datetime1">
              <a:rPr lang="en-US" smtClean="0"/>
              <a:t>10/17/2024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CSE494-Software Project Management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351D0-2BB0-4A0E-8896-DFDA0A3D273D}" type="slidenum">
              <a:rPr lang="en-US" altLang="en-US" smtClean="0"/>
              <a:pPr/>
              <a:t>35</a:t>
            </a:fld>
            <a:endParaRPr lang="en-US" alt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16" r="9808"/>
          <a:stretch/>
        </p:blipFill>
        <p:spPr>
          <a:xfrm>
            <a:off x="457200" y="762000"/>
            <a:ext cx="8153400" cy="510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080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F99C17A-B6EC-4440-A7F9-D6C214D6126F}" type="datetime1">
              <a:rPr lang="en-US" smtClean="0"/>
              <a:t>10/17/2024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CSE494-Software Project Management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1D65F-D501-4DF7-BD11-029B6F81E0EF}" type="slidenum">
              <a:rPr lang="en-US" altLang="en-US" smtClean="0"/>
              <a:pPr/>
              <a:t>36</a:t>
            </a:fld>
            <a:endParaRPr lang="en-US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10913" r="16827"/>
          <a:stretch/>
        </p:blipFill>
        <p:spPr>
          <a:xfrm>
            <a:off x="152400" y="457200"/>
            <a:ext cx="8809893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810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F99C17A-B6EC-4440-A7F9-D6C214D6126F}" type="datetime1">
              <a:rPr lang="en-US" smtClean="0"/>
              <a:t>10/17/2024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CSE494-Software Project Management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1D65F-D501-4DF7-BD11-029B6F81E0EF}" type="slidenum">
              <a:rPr lang="en-US" altLang="en-US" smtClean="0"/>
              <a:pPr/>
              <a:t>37</a:t>
            </a:fld>
            <a:endParaRPr lang="en-US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457200"/>
            <a:ext cx="8534400" cy="563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411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459786"/>
            <a:ext cx="1854203" cy="365125"/>
          </a:xfrm>
        </p:spPr>
        <p:txBody>
          <a:bodyPr/>
          <a:lstStyle/>
          <a:p>
            <a:pPr>
              <a:defRPr/>
            </a:pPr>
            <a:fld id="{EF99C17A-B6EC-4440-A7F9-D6C214D6126F}" type="datetime1">
              <a:rPr lang="en-US" smtClean="0"/>
              <a:t>10/17/2024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CSE494-Software Project Management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1D65F-D501-4DF7-BD11-029B6F81E0EF}" type="slidenum">
              <a:rPr lang="en-US" altLang="en-US" smtClean="0"/>
              <a:pPr/>
              <a:t>38</a:t>
            </a:fld>
            <a:endParaRPr lang="en-US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9904" t="1" r="66526" b="60484"/>
          <a:stretch/>
        </p:blipFill>
        <p:spPr>
          <a:xfrm>
            <a:off x="457200" y="609600"/>
            <a:ext cx="3810000" cy="4876800"/>
          </a:xfrm>
          <a:prstGeom prst="rect">
            <a:avLst/>
          </a:prstGeom>
        </p:spPr>
      </p:pic>
      <p:sp>
        <p:nvSpPr>
          <p:cNvPr id="7" name="Content Placeholder 5"/>
          <p:cNvSpPr txBox="1">
            <a:spLocks/>
          </p:cNvSpPr>
          <p:nvPr/>
        </p:nvSpPr>
        <p:spPr>
          <a:xfrm>
            <a:off x="4419600" y="838200"/>
            <a:ext cx="4114800" cy="4641273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endParaRPr lang="en-US" dirty="0" smtClean="0"/>
          </a:p>
          <a:p>
            <a:pPr fontAlgn="auto"/>
            <a:r>
              <a:rPr lang="en-US" dirty="0" smtClean="0"/>
              <a:t>1: Draw a Network Diagram.</a:t>
            </a:r>
            <a:r>
              <a:rPr lang="en-GB" dirty="0" smtClean="0"/>
              <a:t> Using a standard node convention to display the duration.  ( Activity on Node and Activity on Arrow).</a:t>
            </a:r>
            <a:endParaRPr lang="en-US" dirty="0" smtClean="0"/>
          </a:p>
          <a:p>
            <a:pPr fontAlgn="auto"/>
            <a:r>
              <a:rPr lang="en-US" dirty="0" smtClean="0"/>
              <a:t>2.  Apply forward and backward pass.</a:t>
            </a:r>
          </a:p>
          <a:p>
            <a:pPr fontAlgn="auto"/>
            <a:r>
              <a:rPr lang="en-US" dirty="0" smtClean="0"/>
              <a:t>3. What is the critical path?</a:t>
            </a:r>
          </a:p>
          <a:p>
            <a:pPr fontAlgn="auto"/>
            <a:r>
              <a:rPr lang="en-US" dirty="0" smtClean="0"/>
              <a:t>4.  What is the project’s expected duration?</a:t>
            </a:r>
          </a:p>
          <a:p>
            <a:pPr fontAlgn="auto"/>
            <a:r>
              <a:rPr lang="en-US" dirty="0" smtClean="0"/>
              <a:t>5: Calculate Float?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74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F99C17A-B6EC-4440-A7F9-D6C214D6126F}" type="datetime1">
              <a:rPr lang="en-US" smtClean="0"/>
              <a:t>10/17/2024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CSE494-Software Project Management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1D65F-D501-4DF7-BD11-029B6F81E0EF}" type="slidenum">
              <a:rPr lang="en-US" altLang="en-US" smtClean="0"/>
              <a:pPr/>
              <a:t>39</a:t>
            </a:fld>
            <a:endParaRPr lang="en-US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9904" r="13653" b="7692"/>
          <a:stretch/>
        </p:blipFill>
        <p:spPr>
          <a:xfrm>
            <a:off x="0" y="-37604"/>
            <a:ext cx="9144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527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FC7BF-0B47-4E79-83C6-67955BC86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Baskerville Old Face" panose="02020602080505020303" pitchFamily="18" charset="0"/>
              </a:rPr>
              <a:t>Reading</a:t>
            </a:r>
            <a:r>
              <a:rPr lang="en-US" dirty="0"/>
              <a:t> </a:t>
            </a:r>
            <a:r>
              <a:rPr lang="en-US" b="1" dirty="0">
                <a:latin typeface="Baskerville Old Face" panose="02020602080505020303" pitchFamily="18" charset="0"/>
              </a:rPr>
              <a:t>Assignment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DC546-52E5-41DA-B325-6605630D18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1575" dirty="0"/>
          </a:p>
          <a:p>
            <a:r>
              <a:rPr lang="en-US" sz="1575" b="1" dirty="0"/>
              <a:t>Chapter 6: Project Schedule Management </a:t>
            </a:r>
            <a:r>
              <a:rPr lang="en-US" dirty="0"/>
              <a:t>by PMBOK-Guide-6th-Edition-PMI</a:t>
            </a:r>
          </a:p>
          <a:p>
            <a:r>
              <a:rPr lang="en-US" dirty="0"/>
              <a:t>(Book and Lecture Slides are already uploaded on resource link.)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B02B09-1F9D-427A-B846-E2E1785EF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4BDD9-2E43-445F-839E-155E31213FE4}" type="datetime1">
              <a:rPr lang="en-US" smtClean="0"/>
              <a:t>10/17/2024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56F421-BEF6-4F37-B740-BDD253168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CSE494-SoftwareProjectManagement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BEC7B5-5B0A-4C13-9C45-C564BA1F7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7BCB7-F020-4D66-B969-F77D7060AB52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314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78190-D089-40B6-B158-046EC39D4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4F52B8-A1CC-4A38-93A9-E147A0844D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1435E1-1C47-40EB-AB3D-AEB8E18F9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2143D-2D2D-4CCB-9C38-A7C9AA1B811B}" type="datetime1">
              <a:rPr lang="en-US" smtClean="0"/>
              <a:t>10/17/2024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680780-159D-418C-9BDF-9477E4CB1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CSE494-SoftwareProjectManagement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80E863-2F74-4A7A-A8AE-A14783596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179AE-A249-4863-8618-D1BE5737D37F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056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10302</TotalTime>
  <Words>1596</Words>
  <Application>Microsoft Office PowerPoint</Application>
  <PresentationFormat>On-screen Show (4:3)</PresentationFormat>
  <Paragraphs>283</Paragraphs>
  <Slides>41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41</vt:i4>
      </vt:variant>
    </vt:vector>
  </HeadingPairs>
  <TitlesOfParts>
    <vt:vector size="51" baseType="lpstr">
      <vt:lpstr>Arial</vt:lpstr>
      <vt:lpstr>Arial Rounded MT Bold</vt:lpstr>
      <vt:lpstr>Baskerville Old Face</vt:lpstr>
      <vt:lpstr>Calibri</vt:lpstr>
      <vt:lpstr>Calibri Light</vt:lpstr>
      <vt:lpstr>Times New Roman</vt:lpstr>
      <vt:lpstr>Verdana</vt:lpstr>
      <vt:lpstr>Wingdings</vt:lpstr>
      <vt:lpstr>Custom Design</vt:lpstr>
      <vt:lpstr>Retrospect</vt:lpstr>
      <vt:lpstr> Project Schedule Management Knowledge Area</vt:lpstr>
      <vt:lpstr>Project Schedule Management</vt:lpstr>
      <vt:lpstr>Plan Schedule Management</vt:lpstr>
      <vt:lpstr>Define Activities</vt:lpstr>
      <vt:lpstr>Define Activities</vt:lpstr>
      <vt:lpstr>Sequence Activities</vt:lpstr>
      <vt:lpstr>Precedence Diagramming Method</vt:lpstr>
      <vt:lpstr>Precedence Diagramming Method</vt:lpstr>
      <vt:lpstr>Precedence Diagramming Method</vt:lpstr>
      <vt:lpstr>PowerPoint Presentation</vt:lpstr>
      <vt:lpstr>Sequence Activity Dependencies</vt:lpstr>
      <vt:lpstr>Sequence Activity Dependencies</vt:lpstr>
      <vt:lpstr>Network Diagram</vt:lpstr>
      <vt:lpstr>Network Diagram</vt:lpstr>
      <vt:lpstr>Arrow Diagramming Method (ADM)</vt:lpstr>
      <vt:lpstr>Sample Activity-on-Arrow (AOA) Network Diagram for Project X</vt:lpstr>
      <vt:lpstr>Precedence Diagramming Method (PDM)</vt:lpstr>
      <vt:lpstr>PowerPoint Presentation</vt:lpstr>
      <vt:lpstr> Develop Schedule</vt:lpstr>
      <vt:lpstr>Requirements to complete a schedule</vt:lpstr>
      <vt:lpstr>Critical Path Method (CPM)</vt:lpstr>
      <vt:lpstr>Critical Path Method (CPM)</vt:lpstr>
      <vt:lpstr>PowerPoint Presentation</vt:lpstr>
      <vt:lpstr>Critical Path Method (CPM)</vt:lpstr>
      <vt:lpstr>Critical Path Method (CPM)</vt:lpstr>
      <vt:lpstr>Phases and Passes of Critical Path</vt:lpstr>
      <vt:lpstr>Steps to follow for Forward Pass and Backward Pass</vt:lpstr>
      <vt:lpstr>Network Diagram: PDM Vs CPM</vt:lpstr>
      <vt:lpstr>PowerPoint Presentation</vt:lpstr>
      <vt:lpstr>PowerPoint Presentation</vt:lpstr>
      <vt:lpstr>PowerPoint Presentation</vt:lpstr>
      <vt:lpstr>Question 1</vt:lpstr>
      <vt:lpstr>PowerPoint Presentation</vt:lpstr>
      <vt:lpstr>Question 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Reading Assignment</vt:lpstr>
      <vt:lpstr>THANK YOU</vt:lpstr>
    </vt:vector>
  </TitlesOfParts>
  <Company>Augsburg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Information  Technology</dc:creator>
  <cp:lastModifiedBy>Humaira Afzal</cp:lastModifiedBy>
  <cp:revision>360</cp:revision>
  <dcterms:created xsi:type="dcterms:W3CDTF">2001-07-05T23:10:12Z</dcterms:created>
  <dcterms:modified xsi:type="dcterms:W3CDTF">2024-10-17T03:52:54Z</dcterms:modified>
</cp:coreProperties>
</file>