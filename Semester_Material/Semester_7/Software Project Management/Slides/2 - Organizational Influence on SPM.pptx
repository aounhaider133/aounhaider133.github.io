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373" r:id="rId1"/>
  </p:sldMasterIdLst>
  <p:notesMasterIdLst>
    <p:notesMasterId r:id="rId45"/>
  </p:notesMasterIdLst>
  <p:sldIdLst>
    <p:sldId id="256" r:id="rId2"/>
    <p:sldId id="565" r:id="rId3"/>
    <p:sldId id="566" r:id="rId4"/>
    <p:sldId id="567" r:id="rId5"/>
    <p:sldId id="568" r:id="rId6"/>
    <p:sldId id="594" r:id="rId7"/>
    <p:sldId id="574" r:id="rId8"/>
    <p:sldId id="575" r:id="rId9"/>
    <p:sldId id="576" r:id="rId10"/>
    <p:sldId id="577" r:id="rId11"/>
    <p:sldId id="578" r:id="rId12"/>
    <p:sldId id="590" r:id="rId13"/>
    <p:sldId id="579" r:id="rId14"/>
    <p:sldId id="580" r:id="rId15"/>
    <p:sldId id="581" r:id="rId16"/>
    <p:sldId id="582" r:id="rId17"/>
    <p:sldId id="591" r:id="rId18"/>
    <p:sldId id="592" r:id="rId19"/>
    <p:sldId id="584" r:id="rId20"/>
    <p:sldId id="593" r:id="rId21"/>
    <p:sldId id="585" r:id="rId22"/>
    <p:sldId id="586" r:id="rId23"/>
    <p:sldId id="587" r:id="rId24"/>
    <p:sldId id="588" r:id="rId25"/>
    <p:sldId id="596" r:id="rId26"/>
    <p:sldId id="607" r:id="rId27"/>
    <p:sldId id="570" r:id="rId28"/>
    <p:sldId id="571" r:id="rId29"/>
    <p:sldId id="572" r:id="rId30"/>
    <p:sldId id="573" r:id="rId31"/>
    <p:sldId id="597" r:id="rId32"/>
    <p:sldId id="598" r:id="rId33"/>
    <p:sldId id="599" r:id="rId34"/>
    <p:sldId id="600" r:id="rId35"/>
    <p:sldId id="601" r:id="rId36"/>
    <p:sldId id="602" r:id="rId37"/>
    <p:sldId id="603" r:id="rId38"/>
    <p:sldId id="604" r:id="rId39"/>
    <p:sldId id="605" r:id="rId40"/>
    <p:sldId id="606" r:id="rId41"/>
    <p:sldId id="307" r:id="rId42"/>
    <p:sldId id="595" r:id="rId43"/>
    <p:sldId id="520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7" autoAdjust="0"/>
    <p:restoredTop sz="90037" autoAdjust="0"/>
  </p:normalViewPr>
  <p:slideViewPr>
    <p:cSldViewPr>
      <p:cViewPr>
        <p:scale>
          <a:sx n="70" d="100"/>
          <a:sy n="70" d="100"/>
        </p:scale>
        <p:origin x="1148" y="-2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7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A3F81E7-869A-4B4C-BA08-8B61E38492B4}" type="datetimeFigureOut">
              <a:rPr lang="en-IE"/>
              <a:pPr>
                <a:defRPr/>
              </a:pPr>
              <a:t>17/09/2024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E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E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C5322DE-1080-4C86-A14A-742DE231B42D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4634437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jectmanagement.ie/blog/project-managers-who-are-they/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9441A44-B654-4FC6-9802-BEF8CF8E0E2E}" type="slidenum">
              <a:rPr lang="en-IE" altLang="en-US">
                <a:latin typeface="Calibri" panose="020F0502020204030204" pitchFamily="34" charset="0"/>
              </a:rPr>
              <a:pPr eaLnBrk="1" hangingPunct="1"/>
              <a:t>1</a:t>
            </a:fld>
            <a:endParaRPr lang="en-IE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EC54F-17D1-4C02-981A-0A649ED5850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87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EC54F-17D1-4C02-981A-0A649ED5850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6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EC54F-17D1-4C02-981A-0A649ED5850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86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EC54F-17D1-4C02-981A-0A649ED5850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52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EC54F-17D1-4C02-981A-0A649ED5850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00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EC54F-17D1-4C02-981A-0A649ED5850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9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EC54F-17D1-4C02-981A-0A649ED5850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3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EC54F-17D1-4C02-981A-0A649ED5850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29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EC54F-17D1-4C02-981A-0A649ED5850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3303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EC54F-17D1-4C02-981A-0A649ED5850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0475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Within an organisation, a Project Management Office (PMO) is a department that maintains project management standards. It helps </a:t>
            </a:r>
            <a:r>
              <a:rPr lang="en-GB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project managers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find the proper methods, processes, procedures, formats, templates, and information systems. 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322DE-1080-4C86-A14A-742DE231B42D}" type="slidenum">
              <a:rPr lang="en-IE" altLang="en-US" smtClean="0"/>
              <a:pPr/>
              <a:t>31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8695540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EC54F-17D1-4C02-981A-0A649ED5850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8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0431CAC-7E75-4C6F-AF63-F2D21FDAD8C7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3FD18-58CE-4B8E-9213-DD1028FE2D4F}" type="slidenum">
              <a:rPr lang="en-IE" altLang="en-US" smtClean="0"/>
              <a:pPr/>
              <a:t>‹#›</a:t>
            </a:fld>
            <a:endParaRPr lang="en-IE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913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117088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E425C7-C8B8-4138-9CDB-27C34E621748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C388-5C26-4FD6-9F85-C42A6B9C4B73}" type="slidenum">
              <a:rPr lang="en-IE" altLang="en-US" smtClean="0"/>
              <a:pPr/>
              <a:t>‹#›</a:t>
            </a:fld>
            <a:endParaRPr lang="en-IE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31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05AFD52-BBF7-4B35-B652-07BDF5EDAA04}" type="datetime1">
              <a:rPr lang="en-IE" smtClean="0"/>
              <a:t>17/09/2024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FE99F-EA72-4303-B76C-0C4041C9228E}" type="slidenum">
              <a:rPr lang="en-IE" altLang="en-US" smtClean="0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599936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7DFDA4-5047-4AB8-97B4-3E2D29837751}" type="datetime1">
              <a:rPr lang="en-IE" smtClean="0"/>
              <a:t>17/09/2024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DCE28-443B-45E7-B454-C643CBB44470}" type="slidenum">
              <a:rPr lang="en-IE" altLang="en-US" smtClean="0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78957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318AB0-5CA4-4502-91AB-529C7078A777}" type="datetime1">
              <a:rPr lang="en-IE" smtClean="0"/>
              <a:t>17/09/2024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906B-B8AA-4686-BEE0-0FE2FE8FB0FD}" type="slidenum">
              <a:rPr lang="en-IE" altLang="en-US" smtClean="0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169618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CA31BA-465A-4E43-BB37-908F782CFD8A}" type="datetime1">
              <a:rPr lang="en-IE" smtClean="0"/>
              <a:t>17/09/2024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BC991-349A-427E-B0B2-8596DFCF392D}" type="slidenum">
              <a:rPr lang="en-IE" altLang="en-US" smtClean="0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032183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4313F1B-E22C-4A64-A98B-ADF6276804C8}" type="datetime1">
              <a:rPr lang="en-IE" smtClean="0"/>
              <a:t>17/09/2024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CA2C10-594C-438E-B507-E32B30485BF5}" type="slidenum">
              <a:rPr lang="en-IE" altLang="en-US" smtClean="0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565936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E79FCEF-6F69-47AC-B103-C7E3A362AA6C}" type="datetime1">
              <a:rPr lang="en-IE" smtClean="0"/>
              <a:t>17/09/2024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68FC2-5124-4380-90B9-15E1F63BD42D}" type="slidenum">
              <a:rPr lang="en-IE" altLang="en-US" smtClean="0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48603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2FD1C69-0156-42E5-AF09-B5B1267E950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C67C7-1637-4F39-8D28-898B39D212F0}" type="slidenum">
              <a:rPr lang="en-IE" altLang="en-US" smtClean="0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456153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4AF7DA-1C16-4F1A-819B-CC6528BD0D97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5ACE0-F459-49AE-B4D7-FA2690E3453C}" type="slidenum">
              <a:rPr lang="en-IE" altLang="en-US" smtClean="0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281305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CFB0FEB-4C82-4CB2-8A1B-BB2BD647053C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606163D-9C37-4650-9C3F-892C2C4B15FC}" type="slidenum">
              <a:rPr lang="en-IE" altLang="en-US" smtClean="0"/>
              <a:pPr/>
              <a:t>‹#›</a:t>
            </a:fld>
            <a:endParaRPr lang="en-IE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81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74" r:id="rId1"/>
    <p:sldLayoutId id="2147484375" r:id="rId2"/>
    <p:sldLayoutId id="2147484376" r:id="rId3"/>
    <p:sldLayoutId id="2147484377" r:id="rId4"/>
    <p:sldLayoutId id="2147484378" r:id="rId5"/>
    <p:sldLayoutId id="2147484379" r:id="rId6"/>
    <p:sldLayoutId id="2147484380" r:id="rId7"/>
    <p:sldLayoutId id="2147484381" r:id="rId8"/>
    <p:sldLayoutId id="2147484382" r:id="rId9"/>
    <p:sldLayoutId id="2147484383" r:id="rId10"/>
    <p:sldLayoutId id="2147484384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584" y="476672"/>
            <a:ext cx="7543800" cy="2958080"/>
          </a:xfrm>
        </p:spPr>
        <p:txBody>
          <a:bodyPr/>
          <a:lstStyle/>
          <a:p>
            <a:pPr algn="ctr">
              <a:defRPr/>
            </a:pPr>
            <a:r>
              <a:rPr lang="en-US" sz="4800" b="1" dirty="0"/>
              <a:t>Organizational Influences &amp; Project Life Cycle</a:t>
            </a:r>
            <a:endParaRPr lang="en-IE" sz="4000" b="1" dirty="0"/>
          </a:p>
        </p:txBody>
      </p:sp>
      <p:sp>
        <p:nvSpPr>
          <p:cNvPr id="6" name="Subtitle 1">
            <a:extLst>
              <a:ext uri="{FF2B5EF4-FFF2-40B4-BE49-F238E27FC236}">
                <a16:creationId xmlns:a16="http://schemas.microsoft.com/office/drawing/2014/main" id="{95FF03B4-F0DC-471B-BB26-4BD35EB6B4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7584" y="4437112"/>
            <a:ext cx="7543800" cy="1792779"/>
          </a:xfrm>
        </p:spPr>
        <p:txBody>
          <a:bodyPr>
            <a:normAutofit fontScale="62500" lnSpcReduction="20000"/>
          </a:bodyPr>
          <a:lstStyle/>
          <a:p>
            <a:pPr algn="ctr"/>
            <a:r>
              <a:rPr lang="en-US" sz="5100" dirty="0"/>
              <a:t>Week 2</a:t>
            </a:r>
            <a:r>
              <a:rPr lang="en-US" sz="5100" dirty="0">
                <a:sym typeface="Wingdings" panose="05000000000000000000" pitchFamily="2" charset="2"/>
              </a:rPr>
              <a:t> </a:t>
            </a:r>
            <a:r>
              <a:rPr lang="en-US" sz="5100" dirty="0"/>
              <a:t>Lecture 3&amp;4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By</a:t>
            </a:r>
          </a:p>
          <a:p>
            <a:pPr algn="ctr"/>
            <a:r>
              <a:rPr lang="en-US" dirty="0" err="1" smtClean="0"/>
              <a:t>Humaira</a:t>
            </a:r>
            <a:r>
              <a:rPr lang="en-US" dirty="0" smtClean="0"/>
              <a:t> Afzal</a:t>
            </a:r>
            <a:endParaRPr lang="en-US" dirty="0"/>
          </a:p>
          <a:p>
            <a:pPr algn="ctr"/>
            <a:r>
              <a:rPr lang="en-US" dirty="0"/>
              <a:t>Lecturer CS, CUI Lahore 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188640"/>
            <a:ext cx="7543800" cy="145075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THE ENVIRONMENT IN WHICH PROJECTS OPERATE</a:t>
            </a:r>
            <a:endParaRPr lang="en-GB" sz="36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algn="just"/>
            <a:r>
              <a:rPr lang="en-US" sz="2200" dirty="0" smtClean="0">
                <a:solidFill>
                  <a:schemeClr val="tx1"/>
                </a:solidFill>
              </a:rPr>
              <a:t>Projects exist and operate in environments that may have an inﬂuence on them. These inﬂuences can have a favorable  or unfavorable impact on the project. </a:t>
            </a:r>
          </a:p>
          <a:p>
            <a:pPr algn="just"/>
            <a:r>
              <a:rPr lang="en-US" sz="2200" dirty="0" smtClean="0">
                <a:solidFill>
                  <a:schemeClr val="tx1"/>
                </a:solidFill>
              </a:rPr>
              <a:t>Two major categories of inﬂuences are </a:t>
            </a:r>
          </a:p>
          <a:p>
            <a:pPr algn="just"/>
            <a:endParaRPr lang="en-US" sz="2200" dirty="0" smtClean="0">
              <a:solidFill>
                <a:schemeClr val="tx1"/>
              </a:solidFill>
            </a:endParaRPr>
          </a:p>
          <a:p>
            <a:pPr lvl="1" algn="just"/>
            <a:r>
              <a:rPr lang="en-US" sz="2200" dirty="0" smtClean="0">
                <a:solidFill>
                  <a:schemeClr val="tx1"/>
                </a:solidFill>
              </a:rPr>
              <a:t> Enterprise Environmental </a:t>
            </a:r>
            <a:r>
              <a:rPr lang="en-US" sz="2200" dirty="0">
                <a:solidFill>
                  <a:schemeClr val="tx1"/>
                </a:solidFill>
              </a:rPr>
              <a:t>F</a:t>
            </a:r>
            <a:r>
              <a:rPr lang="en-US" sz="2200" dirty="0" smtClean="0">
                <a:solidFill>
                  <a:schemeClr val="tx1"/>
                </a:solidFill>
              </a:rPr>
              <a:t>actors (EEFs) </a:t>
            </a:r>
          </a:p>
          <a:p>
            <a:pPr lvl="1" algn="just"/>
            <a:r>
              <a:rPr lang="en-US" sz="2200" dirty="0" smtClean="0">
                <a:solidFill>
                  <a:schemeClr val="tx1"/>
                </a:solidFill>
              </a:rPr>
              <a:t> Organizational Process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 smtClean="0">
                <a:solidFill>
                  <a:schemeClr val="tx1"/>
                </a:solidFill>
              </a:rPr>
              <a:t>ssets (OPAs)</a:t>
            </a: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2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133355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7543800" cy="1450757"/>
          </a:xfrm>
        </p:spPr>
        <p:txBody>
          <a:bodyPr>
            <a:normAutofit/>
          </a:bodyPr>
          <a:lstStyle/>
          <a:p>
            <a:r>
              <a:rPr lang="en-GB" sz="3600" b="1" dirty="0" smtClean="0">
                <a:solidFill>
                  <a:schemeClr val="tx1"/>
                </a:solidFill>
              </a:rPr>
              <a:t>Enterprise Environmental Factors </a:t>
            </a:r>
            <a:r>
              <a:rPr lang="en-GB" sz="3600" b="1" dirty="0">
                <a:solidFill>
                  <a:schemeClr val="tx1"/>
                </a:solidFill>
              </a:rPr>
              <a:t>(EEFs)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>
                <a:solidFill>
                  <a:schemeClr val="tx1"/>
                </a:solidFill>
              </a:rPr>
              <a:t>Enterprise environmental factors (EEFs) refer to </a:t>
            </a:r>
            <a:r>
              <a:rPr lang="en-US" sz="2200" b="1" dirty="0">
                <a:solidFill>
                  <a:schemeClr val="tx1"/>
                </a:solidFill>
              </a:rPr>
              <a:t>conditions</a:t>
            </a:r>
            <a:r>
              <a:rPr lang="en-US" sz="2200" dirty="0">
                <a:solidFill>
                  <a:schemeClr val="tx1"/>
                </a:solidFill>
              </a:rPr>
              <a:t>, not under the control of the project team, that inﬂuence, </a:t>
            </a:r>
            <a:r>
              <a:rPr lang="en-US" sz="2200" dirty="0" smtClean="0">
                <a:solidFill>
                  <a:schemeClr val="tx1"/>
                </a:solidFill>
              </a:rPr>
              <a:t> constrain</a:t>
            </a:r>
            <a:r>
              <a:rPr lang="en-US" sz="2200" dirty="0">
                <a:solidFill>
                  <a:schemeClr val="tx1"/>
                </a:solidFill>
              </a:rPr>
              <a:t>, or direct the project. </a:t>
            </a:r>
            <a:endParaRPr lang="en-US" sz="2200" dirty="0" smtClean="0">
              <a:solidFill>
                <a:schemeClr val="tx1"/>
              </a:solidFill>
            </a:endParaRPr>
          </a:p>
          <a:p>
            <a:pPr algn="just"/>
            <a:r>
              <a:rPr lang="en-US" sz="2200" dirty="0" smtClean="0">
                <a:solidFill>
                  <a:schemeClr val="tx1"/>
                </a:solidFill>
              </a:rPr>
              <a:t>EEFs </a:t>
            </a:r>
            <a:r>
              <a:rPr lang="en-US" sz="2200" dirty="0">
                <a:solidFill>
                  <a:schemeClr val="tx1"/>
                </a:solidFill>
              </a:rPr>
              <a:t>are </a:t>
            </a:r>
            <a:r>
              <a:rPr lang="en-US" sz="2200" dirty="0" smtClean="0">
                <a:solidFill>
                  <a:schemeClr val="tx1"/>
                </a:solidFill>
              </a:rPr>
              <a:t>considered </a:t>
            </a:r>
            <a:r>
              <a:rPr lang="en-US" sz="2200" dirty="0">
                <a:solidFill>
                  <a:schemeClr val="tx1"/>
                </a:solidFill>
              </a:rPr>
              <a:t>as </a:t>
            </a:r>
            <a:r>
              <a:rPr lang="en-US" sz="2200" b="1" dirty="0">
                <a:solidFill>
                  <a:schemeClr val="tx1"/>
                </a:solidFill>
              </a:rPr>
              <a:t>inputs</a:t>
            </a:r>
            <a:r>
              <a:rPr lang="en-US" sz="2200" dirty="0">
                <a:solidFill>
                  <a:schemeClr val="tx1"/>
                </a:solidFill>
              </a:rPr>
              <a:t> to many project management processes, speciﬁcally for most </a:t>
            </a:r>
            <a:r>
              <a:rPr lang="en-US" sz="2200" b="1" dirty="0">
                <a:solidFill>
                  <a:schemeClr val="tx1"/>
                </a:solidFill>
              </a:rPr>
              <a:t>planning </a:t>
            </a:r>
            <a:r>
              <a:rPr lang="en-US" sz="2200" b="1" dirty="0" smtClean="0">
                <a:solidFill>
                  <a:schemeClr val="tx1"/>
                </a:solidFill>
              </a:rPr>
              <a:t>processes</a:t>
            </a:r>
            <a:r>
              <a:rPr lang="en-US" sz="2200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</a:rPr>
              <a:t>In addition, these factors may have a positive or negative </a:t>
            </a:r>
            <a:r>
              <a:rPr lang="en-US" sz="2200" dirty="0" smtClean="0">
                <a:solidFill>
                  <a:schemeClr val="tx1"/>
                </a:solidFill>
              </a:rPr>
              <a:t>inﬂuence </a:t>
            </a:r>
            <a:r>
              <a:rPr lang="en-US" sz="2200" dirty="0">
                <a:solidFill>
                  <a:schemeClr val="tx1"/>
                </a:solidFill>
              </a:rPr>
              <a:t>on the outcome</a:t>
            </a:r>
            <a:r>
              <a:rPr lang="en-US" sz="2200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</a:rPr>
              <a:t>These conditions can be </a:t>
            </a:r>
            <a:r>
              <a:rPr lang="en-US" sz="2200" b="1" dirty="0">
                <a:solidFill>
                  <a:schemeClr val="tx1"/>
                </a:solidFill>
              </a:rPr>
              <a:t>internal and/or external </a:t>
            </a:r>
            <a:r>
              <a:rPr lang="en-US" sz="2200" dirty="0">
                <a:solidFill>
                  <a:schemeClr val="tx1"/>
                </a:solidFill>
              </a:rPr>
              <a:t>to the organization. </a:t>
            </a:r>
          </a:p>
          <a:p>
            <a:pPr algn="just"/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3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944447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188640"/>
            <a:ext cx="7543800" cy="1450757"/>
          </a:xfrm>
        </p:spPr>
        <p:txBody>
          <a:bodyPr>
            <a:normAutofit/>
          </a:bodyPr>
          <a:lstStyle/>
          <a:p>
            <a:r>
              <a:rPr lang="en-GB" sz="3600" b="1" dirty="0" smtClean="0">
                <a:solidFill>
                  <a:schemeClr val="tx1"/>
                </a:solidFill>
              </a:rPr>
              <a:t>Enterprise Environmental Factors </a:t>
            </a:r>
            <a:r>
              <a:rPr lang="en-GB" sz="3600" b="1" dirty="0">
                <a:solidFill>
                  <a:schemeClr val="tx1"/>
                </a:solidFill>
              </a:rPr>
              <a:t>(EEFs)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b="1" dirty="0" smtClean="0">
                <a:solidFill>
                  <a:schemeClr val="tx1"/>
                </a:solidFill>
              </a:rPr>
              <a:t>EEFS INTERNAL TO THE ORGANIZATION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</a:rPr>
              <a:t>The following EEFs are internal to the organization</a:t>
            </a:r>
            <a:r>
              <a:rPr lang="en-US" sz="2200" dirty="0" smtClean="0">
                <a:solidFill>
                  <a:schemeClr val="tx1"/>
                </a:solidFill>
              </a:rPr>
              <a:t>:</a:t>
            </a:r>
          </a:p>
          <a:p>
            <a:pPr algn="just"/>
            <a:r>
              <a:rPr lang="en-US" sz="2200" dirty="0" smtClean="0">
                <a:solidFill>
                  <a:schemeClr val="tx1"/>
                </a:solidFill>
              </a:rPr>
              <a:t>- </a:t>
            </a:r>
            <a:r>
              <a:rPr lang="en-US" sz="2200" b="1" dirty="0" smtClean="0">
                <a:solidFill>
                  <a:schemeClr val="tx1"/>
                </a:solidFill>
              </a:rPr>
              <a:t>Organizational </a:t>
            </a:r>
            <a:r>
              <a:rPr lang="en-US" sz="2200" b="1" dirty="0">
                <a:solidFill>
                  <a:schemeClr val="tx1"/>
                </a:solidFill>
              </a:rPr>
              <a:t>culture, </a:t>
            </a:r>
            <a:r>
              <a:rPr lang="en-US" sz="2200" b="1" dirty="0">
                <a:solidFill>
                  <a:srgbClr val="C00000"/>
                </a:solidFill>
              </a:rPr>
              <a:t>structure,</a:t>
            </a:r>
            <a:r>
              <a:rPr lang="en-US" sz="2200" b="1" dirty="0">
                <a:solidFill>
                  <a:schemeClr val="tx1"/>
                </a:solidFill>
              </a:rPr>
              <a:t> and governance</a:t>
            </a:r>
            <a:r>
              <a:rPr lang="en-US" sz="2200" b="1" dirty="0" smtClean="0">
                <a:solidFill>
                  <a:schemeClr val="tx1"/>
                </a:solidFill>
              </a:rPr>
              <a:t>.</a:t>
            </a:r>
          </a:p>
          <a:p>
            <a:pPr lvl="1" algn="just"/>
            <a:r>
              <a:rPr lang="en-US" sz="2000" dirty="0">
                <a:solidFill>
                  <a:schemeClr val="tx1"/>
                </a:solidFill>
              </a:rPr>
              <a:t>Examples include vision, mission, values, beliefs, cultural </a:t>
            </a:r>
            <a:r>
              <a:rPr lang="en-US" sz="2000" dirty="0" smtClean="0">
                <a:solidFill>
                  <a:schemeClr val="tx1"/>
                </a:solidFill>
              </a:rPr>
              <a:t> norms</a:t>
            </a:r>
            <a:r>
              <a:rPr lang="en-US" sz="2000" dirty="0">
                <a:solidFill>
                  <a:schemeClr val="tx1"/>
                </a:solidFill>
              </a:rPr>
              <a:t>, leadership style, hierarchy and authority relationships, organizational style, ethics, and code of </a:t>
            </a:r>
            <a:r>
              <a:rPr lang="en-US" sz="2000" dirty="0" smtClean="0">
                <a:solidFill>
                  <a:schemeClr val="tx1"/>
                </a:solidFill>
              </a:rPr>
              <a:t>conduct.</a:t>
            </a:r>
          </a:p>
          <a:p>
            <a:pPr algn="just"/>
            <a:r>
              <a:rPr lang="en-US" sz="2200" dirty="0" smtClean="0">
                <a:solidFill>
                  <a:schemeClr val="tx1"/>
                </a:solidFill>
              </a:rPr>
              <a:t>- </a:t>
            </a:r>
            <a:r>
              <a:rPr lang="en-US" sz="2200" b="1" dirty="0" smtClean="0">
                <a:solidFill>
                  <a:schemeClr val="tx1"/>
                </a:solidFill>
              </a:rPr>
              <a:t>Geographic </a:t>
            </a:r>
            <a:r>
              <a:rPr lang="en-US" sz="2200" b="1" dirty="0">
                <a:solidFill>
                  <a:schemeClr val="tx1"/>
                </a:solidFill>
              </a:rPr>
              <a:t>distribution of facilities and resources. </a:t>
            </a:r>
            <a:endParaRPr lang="en-US" sz="2200" b="1" dirty="0" smtClean="0">
              <a:solidFill>
                <a:schemeClr val="tx1"/>
              </a:solidFill>
            </a:endParaRP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</a:rPr>
              <a:t>Examples </a:t>
            </a:r>
            <a:r>
              <a:rPr lang="en-US" sz="2000" dirty="0">
                <a:solidFill>
                  <a:schemeClr val="tx1"/>
                </a:solidFill>
              </a:rPr>
              <a:t>include factory locations, virtual </a:t>
            </a:r>
            <a:r>
              <a:rPr lang="en-US" sz="2000" dirty="0" smtClean="0">
                <a:solidFill>
                  <a:schemeClr val="tx1"/>
                </a:solidFill>
              </a:rPr>
              <a:t>teams, </a:t>
            </a:r>
            <a:r>
              <a:rPr lang="en-US" sz="2000" dirty="0">
                <a:solidFill>
                  <a:schemeClr val="tx1"/>
                </a:solidFill>
              </a:rPr>
              <a:t>and cloud computing.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4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850581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0"/>
            <a:ext cx="7543800" cy="1450757"/>
          </a:xfrm>
        </p:spPr>
        <p:txBody>
          <a:bodyPr>
            <a:normAutofit/>
          </a:bodyPr>
          <a:lstStyle/>
          <a:p>
            <a:r>
              <a:rPr lang="en-GB" sz="3600" b="1" dirty="0" smtClean="0">
                <a:solidFill>
                  <a:schemeClr val="tx1"/>
                </a:solidFill>
              </a:rPr>
              <a:t>Enterprise Environmental Factors </a:t>
            </a:r>
            <a:r>
              <a:rPr lang="en-GB" sz="3600" b="1" dirty="0">
                <a:solidFill>
                  <a:schemeClr val="tx1"/>
                </a:solidFill>
              </a:rPr>
              <a:t>(EEFs)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>
                <a:solidFill>
                  <a:schemeClr val="tx1"/>
                </a:solidFill>
              </a:rPr>
              <a:t>Infrastructure.</a:t>
            </a:r>
            <a:r>
              <a:rPr lang="en-US" dirty="0" smtClean="0">
                <a:solidFill>
                  <a:schemeClr val="tx1"/>
                </a:solidFill>
              </a:rPr>
              <a:t> Examples include existing facilities, equipment, organizational telecommunications channels…..</a:t>
            </a:r>
          </a:p>
          <a:p>
            <a:pPr algn="just"/>
            <a:r>
              <a:rPr lang="en-US" b="1" dirty="0" smtClean="0">
                <a:solidFill>
                  <a:schemeClr val="tx1"/>
                </a:solidFill>
              </a:rPr>
              <a:t>Information technology software. </a:t>
            </a:r>
            <a:r>
              <a:rPr lang="en-US" dirty="0" smtClean="0">
                <a:solidFill>
                  <a:schemeClr val="tx1"/>
                </a:solidFill>
              </a:rPr>
              <a:t>Examples include scheduling software tools, conﬁguration management systems…</a:t>
            </a:r>
          </a:p>
          <a:p>
            <a:pPr algn="just"/>
            <a:r>
              <a:rPr lang="en-US" b="1" dirty="0" smtClean="0">
                <a:solidFill>
                  <a:schemeClr val="tx1"/>
                </a:solidFill>
              </a:rPr>
              <a:t>Resource availability. </a:t>
            </a:r>
            <a:r>
              <a:rPr lang="en-US" dirty="0" smtClean="0">
                <a:solidFill>
                  <a:schemeClr val="tx1"/>
                </a:solidFill>
              </a:rPr>
              <a:t>Examples include contracting and approved providers and  subcontractors, and collaboration agreements.</a:t>
            </a:r>
          </a:p>
          <a:p>
            <a:pPr algn="just"/>
            <a:r>
              <a:rPr lang="en-US" b="1" dirty="0" smtClean="0">
                <a:solidFill>
                  <a:schemeClr val="tx1"/>
                </a:solidFill>
              </a:rPr>
              <a:t>Employee capability. </a:t>
            </a:r>
            <a:r>
              <a:rPr lang="en-US" dirty="0" smtClean="0">
                <a:solidFill>
                  <a:schemeClr val="tx1"/>
                </a:solidFill>
              </a:rPr>
              <a:t>Examples include existing human resources expertise, skills, competencies, and specialized knowledge.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5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78441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0"/>
            <a:ext cx="7543800" cy="1450757"/>
          </a:xfrm>
        </p:spPr>
        <p:txBody>
          <a:bodyPr>
            <a:normAutofit/>
          </a:bodyPr>
          <a:lstStyle/>
          <a:p>
            <a:r>
              <a:rPr lang="en-GB" sz="3600" b="1" dirty="0" smtClean="0">
                <a:solidFill>
                  <a:schemeClr val="tx1"/>
                </a:solidFill>
              </a:rPr>
              <a:t>Enterprise Environmental Factors </a:t>
            </a:r>
            <a:r>
              <a:rPr lang="en-GB" sz="3600" b="1" dirty="0">
                <a:solidFill>
                  <a:schemeClr val="tx1"/>
                </a:solidFill>
              </a:rPr>
              <a:t>(EEFs)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tx1"/>
                </a:solidFill>
              </a:rPr>
              <a:t>EEFS EXTERNAL TO THE </a:t>
            </a:r>
            <a:r>
              <a:rPr lang="en-US" b="1" dirty="0" smtClean="0">
                <a:solidFill>
                  <a:schemeClr val="tx1"/>
                </a:solidFill>
              </a:rPr>
              <a:t>ORGANIZATION: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The following EEFs are external to the organization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Marketplace conditions. </a:t>
            </a:r>
            <a:r>
              <a:rPr lang="en-US" dirty="0">
                <a:solidFill>
                  <a:schemeClr val="tx1"/>
                </a:solidFill>
              </a:rPr>
              <a:t>Examples include </a:t>
            </a:r>
            <a:r>
              <a:rPr lang="en-US" dirty="0" smtClean="0">
                <a:solidFill>
                  <a:schemeClr val="tx1"/>
                </a:solidFill>
              </a:rPr>
              <a:t>competitors information, Customer demand…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b="1" dirty="0" smtClean="0">
                <a:solidFill>
                  <a:schemeClr val="tx1"/>
                </a:solidFill>
              </a:rPr>
              <a:t>Social </a:t>
            </a:r>
            <a:r>
              <a:rPr lang="en-US" b="1" dirty="0">
                <a:solidFill>
                  <a:schemeClr val="tx1"/>
                </a:solidFill>
              </a:rPr>
              <a:t>and cultural influences and issues. </a:t>
            </a:r>
            <a:r>
              <a:rPr lang="en-US" dirty="0">
                <a:solidFill>
                  <a:schemeClr val="tx1"/>
                </a:solidFill>
              </a:rPr>
              <a:t>Examples include political climate, codes of </a:t>
            </a:r>
            <a:r>
              <a:rPr lang="en-US" dirty="0" smtClean="0">
                <a:solidFill>
                  <a:schemeClr val="tx1"/>
                </a:solidFill>
              </a:rPr>
              <a:t>conduct and ethics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US" b="1" dirty="0" smtClean="0">
                <a:solidFill>
                  <a:schemeClr val="tx1"/>
                </a:solidFill>
              </a:rPr>
              <a:t>Legal </a:t>
            </a:r>
            <a:r>
              <a:rPr lang="en-US" b="1" dirty="0">
                <a:solidFill>
                  <a:schemeClr val="tx1"/>
                </a:solidFill>
              </a:rPr>
              <a:t>restrictions. </a:t>
            </a:r>
            <a:r>
              <a:rPr lang="en-US" dirty="0">
                <a:solidFill>
                  <a:schemeClr val="tx1"/>
                </a:solidFill>
              </a:rPr>
              <a:t>Examples include country or local laws and regulations related to security, data protection, </a:t>
            </a:r>
            <a:r>
              <a:rPr lang="en-US" dirty="0" smtClean="0">
                <a:solidFill>
                  <a:schemeClr val="tx1"/>
                </a:solidFill>
              </a:rPr>
              <a:t>business </a:t>
            </a:r>
            <a:r>
              <a:rPr lang="en-US" dirty="0">
                <a:solidFill>
                  <a:schemeClr val="tx1"/>
                </a:solidFill>
              </a:rPr>
              <a:t>conduct, </a:t>
            </a:r>
            <a:r>
              <a:rPr lang="en-US" dirty="0" smtClean="0">
                <a:solidFill>
                  <a:schemeClr val="tx1"/>
                </a:solidFill>
              </a:rPr>
              <a:t>and employment</a:t>
            </a:r>
            <a:endParaRPr lang="en-GB" dirty="0">
              <a:solidFill>
                <a:schemeClr val="tx1"/>
              </a:solidFill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Physical environmental elements</a:t>
            </a:r>
            <a:r>
              <a:rPr lang="en-US" dirty="0">
                <a:solidFill>
                  <a:schemeClr val="tx1"/>
                </a:solidFill>
              </a:rPr>
              <a:t>. Examples include working conditions, weather, and constraints.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6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979293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620688"/>
            <a:ext cx="7543800" cy="1450757"/>
          </a:xfrm>
        </p:spPr>
        <p:txBody>
          <a:bodyPr/>
          <a:lstStyle/>
          <a:p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Organizational</a:t>
            </a:r>
            <a:r>
              <a:rPr lang="en-US" sz="4000" b="1" dirty="0">
                <a:latin typeface="Baskerville Old Face" panose="02020602080505020303" pitchFamily="18" charset="0"/>
              </a:rPr>
              <a:t> </a:t>
            </a:r>
            <a:r>
              <a:rPr lang="en-US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Structure</a:t>
            </a:r>
            <a:r>
              <a:rPr lang="en-US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en-US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916832"/>
            <a:ext cx="7853497" cy="4023360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A project operates within people, process and technology of an organization.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22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Organizational structure is an </a:t>
            </a:r>
            <a:r>
              <a:rPr lang="en-US" sz="2200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enterprise environmental factor</a:t>
            </a:r>
            <a:r>
              <a:rPr lang="en-US" sz="22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, which can effect the </a:t>
            </a:r>
            <a:r>
              <a:rPr lang="en-US" sz="2200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availability of resources and influence how projects are conducted.</a:t>
            </a:r>
          </a:p>
          <a:p>
            <a:pPr marL="201168" lvl="1" indent="0">
              <a:buNone/>
            </a:pPr>
            <a:endParaRPr lang="en-US" sz="22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r>
              <a:rPr lang="en-US" sz="2200" i="1" dirty="0">
                <a:solidFill>
                  <a:schemeClr val="tx1"/>
                </a:solidFill>
                <a:cs typeface="Times New Roman" panose="02020603050405020304" pitchFamily="18" charset="0"/>
              </a:rPr>
              <a:t>Organizational structure (OS) is the systematic arrangement of human resources in an organization. It outlines the roles and responsibilities of every member of the organization </a:t>
            </a:r>
            <a:r>
              <a:rPr lang="en-US" sz="2200" i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..ensuring the smooth functioning of organization.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7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226506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chemeClr val="tx1"/>
                </a:solidFill>
                <a:cs typeface="Times New Roman" panose="02020603050405020304" pitchFamily="18" charset="0"/>
              </a:rPr>
              <a:t>Different types of organizational structures include</a:t>
            </a:r>
            <a:r>
              <a:rPr lang="en-US" sz="22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sz="2200" cap="none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US" sz="2200" cap="none" dirty="0">
                <a:solidFill>
                  <a:schemeClr val="tx1"/>
                </a:solidFill>
                <a:cs typeface="Times New Roman" panose="02020603050405020304" pitchFamily="18" charset="0"/>
              </a:rPr>
              <a:t>Functional </a:t>
            </a:r>
            <a:endParaRPr lang="en-US" sz="2200" cap="none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US" sz="2200" cap="none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Projectized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Matrix</a:t>
            </a:r>
            <a:endParaRPr lang="en-US" sz="2200" cap="none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932688" lvl="2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cap="none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Weak matrix </a:t>
            </a:r>
          </a:p>
          <a:p>
            <a:pPr marL="932688" lvl="2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cap="none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Balanced matrix </a:t>
            </a:r>
          </a:p>
          <a:p>
            <a:pPr marL="932688" lvl="2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cap="none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Strong matrix  </a:t>
            </a:r>
            <a:endParaRPr lang="en-US" sz="2200" cap="none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Rectangle 1040"/>
          <p:cNvSpPr txBox="1">
            <a:spLocks noChangeArrowheads="1"/>
          </p:cNvSpPr>
          <p:nvPr/>
        </p:nvSpPr>
        <p:spPr>
          <a:xfrm>
            <a:off x="539552" y="820461"/>
            <a:ext cx="8763000" cy="1023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Organizational</a:t>
            </a:r>
            <a:r>
              <a:rPr lang="en-US" sz="4000" b="1" dirty="0">
                <a:latin typeface="Baskerville Old Face" panose="02020602080505020303" pitchFamily="18" charset="0"/>
              </a:rPr>
              <a:t> </a:t>
            </a:r>
            <a:r>
              <a:rPr lang="en-US" sz="4800" b="1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Structures</a:t>
            </a:r>
            <a:endParaRPr lang="en-US" altLang="en-US" sz="4800" b="1" spc="-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6A2F56-A918-494F-85C6-EC95EA5167A1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8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94692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620688"/>
            <a:ext cx="7543800" cy="145075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Organizational</a:t>
            </a:r>
            <a:r>
              <a:rPr lang="en-US" sz="3600" b="1" dirty="0">
                <a:latin typeface="Baskerville Old Face" panose="02020602080505020303" pitchFamily="18" charset="0"/>
              </a:rPr>
              <a:t> </a:t>
            </a: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Structures</a:t>
            </a:r>
            <a:r>
              <a:rPr lang="en-US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en-US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709481" cy="402336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Functional </a:t>
            </a:r>
            <a:r>
              <a:rPr lang="en-US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This is the most common form of an organization. </a:t>
            </a:r>
            <a:r>
              <a:rPr 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Organizational departments </a:t>
            </a:r>
            <a:r>
              <a:rPr 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are grouped by areas of specialization within different functions</a:t>
            </a:r>
            <a:r>
              <a:rPr 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Organization separated into departments according to each department respective functions. Example ..Accounting department, Marketing department,Sales,Production unit…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Each department there is a departmental manager. All of the manager work for CEO.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In this </a:t>
            </a:r>
            <a:r>
              <a:rPr 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structure, employees of each department only communicate with one another and their leaders. Generally, the heads of these specialized units will report to the top management of the company.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9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264934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290039"/>
            <a:ext cx="8382000" cy="5257800"/>
          </a:xfrm>
        </p:spPr>
        <p:txBody>
          <a:bodyPr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Rectangle 1040"/>
          <p:cNvSpPr txBox="1">
            <a:spLocks noChangeArrowheads="1"/>
          </p:cNvSpPr>
          <p:nvPr/>
        </p:nvSpPr>
        <p:spPr>
          <a:xfrm>
            <a:off x="323528" y="0"/>
            <a:ext cx="8820472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b="1" dirty="0">
              <a:latin typeface="Baskerville Old Face" panose="02020602080505020303" pitchFamily="18" charset="0"/>
            </a:endParaRPr>
          </a:p>
          <a:p>
            <a:r>
              <a:rPr lang="en-US" sz="4800" b="1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Functional</a:t>
            </a:r>
            <a:r>
              <a:rPr lang="en-US" sz="3200" b="1" dirty="0">
                <a:latin typeface="Baskerville Old Face" panose="02020602080505020303" pitchFamily="18" charset="0"/>
              </a:rPr>
              <a:t> </a:t>
            </a:r>
            <a:r>
              <a:rPr lang="en-US" sz="4800" b="1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Organization</a:t>
            </a:r>
            <a:endParaRPr lang="en-US" altLang="en-US" sz="4800" b="1" spc="-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52" y="980728"/>
            <a:ext cx="8975655" cy="5217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6708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200" b="1" dirty="0">
                <a:solidFill>
                  <a:schemeClr val="tx1"/>
                </a:solidFill>
              </a:rPr>
              <a:t>Functional Organization </a:t>
            </a:r>
            <a:endParaRPr lang="en-US" sz="22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sz="2200" cap="none" dirty="0">
                <a:solidFill>
                  <a:schemeClr val="tx1"/>
                </a:solidFill>
              </a:rPr>
              <a:t>Grouped by areas of specialization/ functions. </a:t>
            </a:r>
            <a:endParaRPr lang="en-US" sz="2200" cap="none" dirty="0" smtClean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sz="2200" b="1" cap="none" dirty="0" smtClean="0">
                <a:solidFill>
                  <a:schemeClr val="tx1"/>
                </a:solidFill>
              </a:rPr>
              <a:t>Advantages: </a:t>
            </a:r>
          </a:p>
          <a:p>
            <a:pPr marL="0" indent="0" algn="just"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It </a:t>
            </a:r>
            <a:r>
              <a:rPr lang="en-US" sz="2200" dirty="0">
                <a:solidFill>
                  <a:schemeClr val="tx1"/>
                </a:solidFill>
              </a:rPr>
              <a:t>allows employees to develop their individual skills </a:t>
            </a:r>
            <a:r>
              <a:rPr lang="en-US" sz="2200" dirty="0" smtClean="0">
                <a:solidFill>
                  <a:schemeClr val="tx1"/>
                </a:solidFill>
              </a:rPr>
              <a:t>rapidly, Employees having one supervisor with a clear chain of command, Stable organization Structure and easy to design.</a:t>
            </a:r>
          </a:p>
          <a:p>
            <a:pPr marL="0" indent="0" algn="just">
              <a:buNone/>
            </a:pPr>
            <a:r>
              <a:rPr lang="en-US" sz="2200" b="1" cap="none" dirty="0" smtClean="0">
                <a:solidFill>
                  <a:schemeClr val="tx1"/>
                </a:solidFill>
              </a:rPr>
              <a:t>Disadvantages</a:t>
            </a:r>
            <a:r>
              <a:rPr lang="en-US" sz="2200" b="1" cap="none" dirty="0">
                <a:solidFill>
                  <a:schemeClr val="tx1"/>
                </a:solidFill>
              </a:rPr>
              <a:t>: </a:t>
            </a:r>
            <a:r>
              <a:rPr lang="en-US" sz="2200" cap="none" dirty="0" smtClean="0">
                <a:solidFill>
                  <a:schemeClr val="tx1"/>
                </a:solidFill>
              </a:rPr>
              <a:t>Lack of communication among members of team, Multiple projects compete for limited resources, </a:t>
            </a:r>
            <a:r>
              <a:rPr lang="en-US" sz="2200" cap="none" dirty="0">
                <a:solidFill>
                  <a:schemeClr val="tx1"/>
                </a:solidFill>
              </a:rPr>
              <a:t>PM </a:t>
            </a:r>
            <a:r>
              <a:rPr lang="en-US" sz="2200" cap="none" dirty="0" smtClean="0">
                <a:solidFill>
                  <a:schemeClr val="tx1"/>
                </a:solidFill>
              </a:rPr>
              <a:t>has little or no </a:t>
            </a:r>
            <a:r>
              <a:rPr lang="en-US" sz="2200" cap="none" dirty="0">
                <a:solidFill>
                  <a:schemeClr val="tx1"/>
                </a:solidFill>
              </a:rPr>
              <a:t>authority.</a:t>
            </a:r>
          </a:p>
        </p:txBody>
      </p:sp>
      <p:sp>
        <p:nvSpPr>
          <p:cNvPr id="4" name="Rectangle 1040"/>
          <p:cNvSpPr txBox="1">
            <a:spLocks noChangeArrowheads="1"/>
          </p:cNvSpPr>
          <p:nvPr/>
        </p:nvSpPr>
        <p:spPr>
          <a:xfrm>
            <a:off x="611560" y="787496"/>
            <a:ext cx="8892480" cy="1023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spc="-5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Advantages</a:t>
            </a:r>
            <a:r>
              <a:rPr lang="en-US" sz="3600" b="1" dirty="0" smtClean="0">
                <a:latin typeface="Baskerville Old Face" panose="02020602080505020303" pitchFamily="18" charset="0"/>
              </a:rPr>
              <a:t>/</a:t>
            </a:r>
            <a:r>
              <a:rPr lang="en-US" sz="3600" b="1" spc="-5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Disadvantages</a:t>
            </a:r>
            <a:endParaRPr lang="en-US" altLang="en-US" sz="3600" b="1" spc="-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C003CA-BA8E-42E1-AC12-353CF0C8EE03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11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778163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836712"/>
            <a:ext cx="7543800" cy="1450757"/>
          </a:xfrm>
        </p:spPr>
        <p:txBody>
          <a:bodyPr/>
          <a:lstStyle/>
          <a:p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Organizational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Structures</a:t>
            </a:r>
            <a:r>
              <a:rPr lang="en-US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en-US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709481" cy="4023360"/>
          </a:xfrm>
        </p:spPr>
        <p:txBody>
          <a:bodyPr/>
          <a:lstStyle/>
          <a:p>
            <a:r>
              <a:rPr lang="en-US" sz="2200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Projectized :</a:t>
            </a:r>
          </a:p>
          <a:p>
            <a:r>
              <a:rPr lang="en-US" sz="2200" dirty="0" smtClean="0">
                <a:solidFill>
                  <a:schemeClr val="tx1"/>
                </a:solidFill>
              </a:rPr>
              <a:t>Organization </a:t>
            </a:r>
            <a:r>
              <a:rPr lang="en-US" sz="2200" dirty="0">
                <a:solidFill>
                  <a:schemeClr val="tx1"/>
                </a:solidFill>
              </a:rPr>
              <a:t>is by projects</a:t>
            </a:r>
            <a:r>
              <a:rPr lang="en-US" sz="2200" dirty="0" smtClean="0">
                <a:solidFill>
                  <a:schemeClr val="tx1"/>
                </a:solidFill>
              </a:rPr>
              <a:t>.</a:t>
            </a:r>
            <a:r>
              <a:rPr lang="en-US" sz="2200" dirty="0">
                <a:solidFill>
                  <a:schemeClr val="tx1"/>
                </a:solidFill>
              </a:rPr>
              <a:t> an organizational structure that focuses on projects, its process, as well as the tasks within it</a:t>
            </a:r>
            <a:r>
              <a:rPr lang="en-US" sz="2200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sz="2200" dirty="0" smtClean="0">
                <a:solidFill>
                  <a:schemeClr val="tx1"/>
                </a:solidFill>
              </a:rPr>
              <a:t>The company will be separated into different project teams. The Project Manager has authority to control his/her projects.</a:t>
            </a:r>
          </a:p>
          <a:p>
            <a:r>
              <a:rPr lang="en-US" sz="2200" dirty="0" smtClean="0">
                <a:solidFill>
                  <a:schemeClr val="tx1"/>
                </a:solidFill>
              </a:rPr>
              <a:t>The team members only work for their project managers. They are independent from other projects.</a:t>
            </a:r>
          </a:p>
          <a:p>
            <a:r>
              <a:rPr lang="en-US" sz="2200" dirty="0" smtClean="0">
                <a:solidFill>
                  <a:schemeClr val="tx1"/>
                </a:solidFill>
              </a:rPr>
              <a:t>Many IT companies use this structure.</a:t>
            </a:r>
            <a:endParaRPr lang="en-US" sz="2200" dirty="0">
              <a:solidFill>
                <a:schemeClr val="tx1"/>
              </a:solidFill>
            </a:endParaRPr>
          </a:p>
          <a:p>
            <a:endParaRPr lang="en-US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12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583012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40"/>
          <p:cNvSpPr txBox="1">
            <a:spLocks noChangeArrowheads="1"/>
          </p:cNvSpPr>
          <p:nvPr/>
        </p:nvSpPr>
        <p:spPr>
          <a:xfrm>
            <a:off x="107504" y="-27384"/>
            <a:ext cx="9036496" cy="6290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b="1" dirty="0">
              <a:latin typeface="Baskerville Old Face" panose="02020602080505020303" pitchFamily="18" charset="0"/>
            </a:endParaRPr>
          </a:p>
          <a:p>
            <a:r>
              <a:rPr lang="en-US" sz="4000" b="1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Projectized</a:t>
            </a:r>
            <a:r>
              <a:rPr lang="en-US" sz="3200" b="1" dirty="0">
                <a:latin typeface="Baskerville Old Face" panose="02020602080505020303" pitchFamily="18" charset="0"/>
              </a:rPr>
              <a:t> </a:t>
            </a:r>
            <a:r>
              <a:rPr lang="en-US" sz="4000" b="1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Organization</a:t>
            </a:r>
            <a:endParaRPr lang="en-US" altLang="en-US" sz="4000" b="1" spc="-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43" y="836096"/>
            <a:ext cx="8640514" cy="5392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4E6E76B-B663-4C7A-88F4-DC7629B4A774}" type="datetime1">
              <a:rPr lang="en-IE" smtClean="0"/>
              <a:t>17/09/2024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BC991-349A-427E-B0B2-8596DFCF392D}" type="slidenum">
              <a:rPr lang="en-IE" altLang="en-US" smtClean="0"/>
              <a:pPr/>
              <a:t>13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276326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6358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</a:rPr>
              <a:t>Projectized Organization </a:t>
            </a:r>
            <a:endParaRPr 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cap="none" dirty="0">
                <a:solidFill>
                  <a:schemeClr val="tx1"/>
                </a:solidFill>
              </a:rPr>
              <a:t>Organization is by projects. Personnel report to PM/has total power. </a:t>
            </a:r>
          </a:p>
          <a:p>
            <a:pPr marL="0" indent="0" algn="just">
              <a:buNone/>
            </a:pPr>
            <a:r>
              <a:rPr lang="en-US" b="1" cap="none" dirty="0">
                <a:solidFill>
                  <a:schemeClr val="tx1"/>
                </a:solidFill>
              </a:rPr>
              <a:t>Advantages: </a:t>
            </a:r>
            <a:r>
              <a:rPr lang="en-US" dirty="0">
                <a:solidFill>
                  <a:schemeClr val="tx1"/>
                </a:solidFill>
              </a:rPr>
              <a:t>E</a:t>
            </a:r>
            <a:r>
              <a:rPr lang="en-US" cap="none" dirty="0" smtClean="0">
                <a:solidFill>
                  <a:schemeClr val="tx1"/>
                </a:solidFill>
              </a:rPr>
              <a:t>fficient </a:t>
            </a:r>
            <a:r>
              <a:rPr lang="en-US" cap="none" dirty="0">
                <a:solidFill>
                  <a:schemeClr val="tx1"/>
                </a:solidFill>
              </a:rPr>
              <a:t>project organization - loyalty to the project - effective communications. </a:t>
            </a:r>
          </a:p>
          <a:p>
            <a:pPr marL="0" indent="0" algn="just">
              <a:buNone/>
            </a:pPr>
            <a:r>
              <a:rPr lang="en-US" b="1" cap="none" dirty="0">
                <a:solidFill>
                  <a:schemeClr val="tx1"/>
                </a:solidFill>
              </a:rPr>
              <a:t>Disadvantages: </a:t>
            </a:r>
            <a:r>
              <a:rPr lang="en-US" dirty="0">
                <a:solidFill>
                  <a:schemeClr val="tx1"/>
                </a:solidFill>
              </a:rPr>
              <a:t>Absolute authority can make project managers </a:t>
            </a:r>
            <a:r>
              <a:rPr lang="en-US" dirty="0" smtClean="0">
                <a:solidFill>
                  <a:schemeClr val="tx1"/>
                </a:solidFill>
              </a:rPr>
              <a:t>arrogant.</a:t>
            </a:r>
          </a:p>
          <a:p>
            <a:pPr marL="0" indent="0"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cost of employees and equipment can be higher because they are being hired for a shorter period. Moreover, this cost can become much higher if the project is delayed.</a:t>
            </a:r>
            <a:endParaRPr lang="en-US" cap="none" dirty="0">
              <a:solidFill>
                <a:schemeClr val="tx1"/>
              </a:solidFill>
            </a:endParaRPr>
          </a:p>
        </p:txBody>
      </p:sp>
      <p:sp>
        <p:nvSpPr>
          <p:cNvPr id="5" name="Rectangle 1040"/>
          <p:cNvSpPr txBox="1">
            <a:spLocks noChangeArrowheads="1"/>
          </p:cNvSpPr>
          <p:nvPr/>
        </p:nvSpPr>
        <p:spPr>
          <a:xfrm>
            <a:off x="611560" y="692696"/>
            <a:ext cx="8892480" cy="1023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Advantages</a:t>
            </a:r>
            <a:r>
              <a:rPr lang="en-US" sz="2800" b="1" dirty="0"/>
              <a:t>/</a:t>
            </a:r>
            <a:r>
              <a:rPr lang="en-US" sz="2800" b="1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Disadvantages</a:t>
            </a:r>
            <a:r>
              <a:rPr lang="en-US" sz="2800" b="1" dirty="0"/>
              <a:t> </a:t>
            </a:r>
            <a:endParaRPr lang="en-US" altLang="en-US" sz="2800" b="1" spc="-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634EB0-C7B6-4434-B97B-9BE570370946}" type="datetime1">
              <a:rPr lang="en-IE" smtClean="0"/>
              <a:t>17/09/2024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14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250548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F5C30-6CB0-4460-9CCF-5D5CD55B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260648"/>
            <a:ext cx="7543800" cy="145075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Matrix</a:t>
            </a:r>
            <a:r>
              <a:rPr lang="en-US" sz="3600" dirty="0"/>
              <a:t> </a:t>
            </a:r>
            <a:r>
              <a:rPr lang="en-US" sz="4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Organizational</a:t>
            </a:r>
            <a:r>
              <a:rPr lang="en-US" sz="3600" dirty="0"/>
              <a:t> </a:t>
            </a:r>
            <a:r>
              <a:rPr lang="en-US" sz="4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6B8B8-E10D-4A84-ABAE-D4ECBCFB7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916832"/>
            <a:ext cx="8352928" cy="457195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smtClean="0"/>
              <a:t>The </a:t>
            </a:r>
            <a:r>
              <a:rPr lang="en-US" dirty="0"/>
              <a:t>matrix organizational structure is a combination of two or more different kinds of organizational structures, such as project management or functional management</a:t>
            </a:r>
            <a:r>
              <a:rPr lang="en-US" dirty="0" smtClean="0"/>
              <a:t>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matrix structure is composed of both a traditional hierarchy of management, where employees are managed by a functional manager, as well as additional project managers who can manage employees across different departments. </a:t>
            </a:r>
            <a:endParaRPr lang="en-US" sz="2400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FA090-5FBD-4D61-B7F4-246DA1396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6A6864-9A94-4808-B7A0-0C64D643B21D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89F09-C7AF-473C-B459-070ABEFA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55400-15FE-4E8E-AED9-9E4FE7424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15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4142404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5468D-9BD9-4DAA-88FA-F5B0F2CF2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781489" cy="431957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This type of structure is often useful when skills need to be shared across departments to complete a task and can allow companies to utilize a wide range of talents and strengths</a:t>
            </a:r>
            <a:r>
              <a:rPr lang="en-US" sz="2200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>
              <a:solidFill>
                <a:schemeClr val="tx1"/>
              </a:solidFill>
            </a:endParaRPr>
          </a:p>
          <a:p>
            <a:pPr algn="l">
              <a:lnSpc>
                <a:spcPct val="100000"/>
              </a:lnSpc>
            </a:pPr>
            <a:r>
              <a:rPr lang="en-US" sz="2200" dirty="0">
                <a:solidFill>
                  <a:schemeClr val="tx1"/>
                </a:solidFill>
              </a:rPr>
              <a:t>There are three types of matrix organizational structures</a:t>
            </a:r>
            <a:r>
              <a:rPr lang="en-US" sz="2200" dirty="0" smtClean="0">
                <a:solidFill>
                  <a:schemeClr val="tx1"/>
                </a:solidFill>
              </a:rPr>
              <a:t>:</a:t>
            </a:r>
          </a:p>
          <a:p>
            <a:pPr algn="l">
              <a:lnSpc>
                <a:spcPct val="100000"/>
              </a:lnSpc>
            </a:pPr>
            <a:endParaRPr lang="en-US" sz="22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sz="2200" dirty="0">
                <a:solidFill>
                  <a:schemeClr val="tx1"/>
                </a:solidFill>
              </a:rPr>
              <a:t>Weak Matrix Organizational Structures 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solidFill>
                  <a:schemeClr val="tx1"/>
                </a:solidFill>
              </a:rPr>
              <a:t>Balanced Matrix Organizational Structures 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solidFill>
                  <a:schemeClr val="tx1"/>
                </a:solidFill>
              </a:rPr>
              <a:t>Strong Matrix Organizational Structures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CBAE7-C444-42F7-BF6C-C737814C8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88077F-BD6A-4CF0-8466-907D08874804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B15EB-066A-43FD-AD96-75A7B9F8E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6F3D9-EE7D-41BD-88CA-BA9BF0AC6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16</a:t>
            </a:fld>
            <a:endParaRPr lang="en-IE" alt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9F1DB40-5E2A-48BA-86C1-90E0BAE6C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188640"/>
            <a:ext cx="7781488" cy="145075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Matrix</a:t>
            </a:r>
            <a:r>
              <a:rPr lang="en-US" sz="3600" dirty="0"/>
              <a:t> </a:t>
            </a: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Organizational</a:t>
            </a:r>
            <a:r>
              <a:rPr lang="en-US" sz="3600" dirty="0"/>
              <a:t> </a:t>
            </a: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Structures</a:t>
            </a:r>
            <a:r>
              <a:rPr lang="en-US" sz="3600" dirty="0"/>
              <a:t> (Cont.)</a:t>
            </a:r>
          </a:p>
        </p:txBody>
      </p:sp>
    </p:spTree>
    <p:extLst>
      <p:ext uri="{BB962C8B-B14F-4D97-AF65-F5344CB8AC3E}">
        <p14:creationId xmlns:p14="http://schemas.microsoft.com/office/powerpoint/2010/main" val="4147281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188640"/>
            <a:ext cx="7543800" cy="145075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Matrix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Organizational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Structures</a:t>
            </a:r>
            <a:r>
              <a:rPr lang="en-US" sz="3600" b="1" dirty="0"/>
              <a:t> (Cont.)</a:t>
            </a:r>
            <a:endParaRPr lang="en-GB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A weak matrix structure </a:t>
            </a:r>
            <a:r>
              <a:rPr lang="en-US" dirty="0">
                <a:solidFill>
                  <a:schemeClr val="tx1"/>
                </a:solidFill>
              </a:rPr>
              <a:t>is most similar to a traditional hierarchical structured workplace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A </a:t>
            </a:r>
            <a:r>
              <a:rPr lang="en-US" dirty="0">
                <a:solidFill>
                  <a:schemeClr val="tx1"/>
                </a:solidFill>
              </a:rPr>
              <a:t>functional manager is the dominant decision-maker and oversees all aspects of a project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project manager is in a position of authority but ultimately reports to the functional </a:t>
            </a:r>
            <a:r>
              <a:rPr lang="en-US" dirty="0" smtClean="0">
                <a:solidFill>
                  <a:schemeClr val="tx1"/>
                </a:solidFill>
              </a:rPr>
              <a:t>manager.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As </a:t>
            </a:r>
            <a:r>
              <a:rPr lang="en-US" dirty="0">
                <a:solidFill>
                  <a:schemeClr val="tx1"/>
                </a:solidFill>
              </a:rPr>
              <a:t>an employee in this structure, you work under both the functional and project manager's guidance and direction. However, your main direction comes from your functional manager.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17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860057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27584" y="188640"/>
            <a:ext cx="7543800" cy="145075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Matrix</a:t>
            </a:r>
            <a:r>
              <a:rPr lang="en-US" sz="3600" dirty="0"/>
              <a:t> </a:t>
            </a: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Organizational</a:t>
            </a:r>
            <a:r>
              <a:rPr lang="en-US" sz="3600" dirty="0"/>
              <a:t> </a:t>
            </a: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Structures</a:t>
            </a:r>
            <a:r>
              <a:rPr lang="en-US" sz="3600" dirty="0"/>
              <a:t> (Cont.)</a:t>
            </a:r>
            <a:endParaRPr lang="en-GB" sz="36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A balanced matrix structure </a:t>
            </a:r>
            <a:r>
              <a:rPr lang="en-US" dirty="0">
                <a:solidFill>
                  <a:schemeClr val="tx1"/>
                </a:solidFill>
              </a:rPr>
              <a:t>gives more authority to the project manager than within a weak matrix structure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Both </a:t>
            </a:r>
            <a:r>
              <a:rPr lang="en-US" dirty="0">
                <a:solidFill>
                  <a:schemeClr val="tx1"/>
                </a:solidFill>
              </a:rPr>
              <a:t>the functional and project managers hold authority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As </a:t>
            </a:r>
            <a:r>
              <a:rPr lang="en-US" dirty="0">
                <a:solidFill>
                  <a:schemeClr val="tx1"/>
                </a:solidFill>
              </a:rPr>
              <a:t>an employee in this structure, you work under the guidance and direction of both managers. Your functional manager is your primary contact, but you still report to the project manager.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CA31BA-465A-4E43-BB37-908F782CFD8A}" type="datetime1">
              <a:rPr lang="en-IE" smtClean="0"/>
              <a:t>17/09/2024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BC991-349A-427E-B0B2-8596DFCF392D}" type="slidenum">
              <a:rPr lang="en-IE" altLang="en-US" smtClean="0"/>
              <a:pPr/>
              <a:t>18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141237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219200"/>
            <a:ext cx="8382000" cy="525780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1040"/>
          <p:cNvSpPr txBox="1">
            <a:spLocks noChangeArrowheads="1"/>
          </p:cNvSpPr>
          <p:nvPr/>
        </p:nvSpPr>
        <p:spPr>
          <a:xfrm>
            <a:off x="1259632" y="0"/>
            <a:ext cx="6120680" cy="9087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Balanced</a:t>
            </a:r>
            <a:r>
              <a:rPr lang="en-US" sz="2800" b="1" dirty="0">
                <a:latin typeface="Baskerville Old Face" panose="02020602080505020303" pitchFamily="18" charset="0"/>
              </a:rPr>
              <a:t> </a:t>
            </a:r>
            <a:r>
              <a:rPr lang="en-US" sz="4000" b="1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Matrix</a:t>
            </a:r>
            <a:r>
              <a:rPr lang="en-US" sz="2800" b="1" dirty="0">
                <a:latin typeface="Baskerville Old Face" panose="02020602080505020303" pitchFamily="18" charset="0"/>
              </a:rPr>
              <a:t> </a:t>
            </a:r>
            <a:r>
              <a:rPr lang="en-US" sz="4000" b="1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Organization</a:t>
            </a:r>
            <a:endParaRPr lang="en-US" altLang="en-US" sz="4000" b="1" spc="-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498" y="980728"/>
            <a:ext cx="8463974" cy="527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5627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116632"/>
            <a:ext cx="7543800" cy="145075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Matrix</a:t>
            </a:r>
            <a:r>
              <a:rPr lang="en-US" sz="3600" dirty="0"/>
              <a:t> </a:t>
            </a: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Organizational</a:t>
            </a:r>
            <a:r>
              <a:rPr lang="en-US" sz="3600" dirty="0"/>
              <a:t> </a:t>
            </a: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Structures</a:t>
            </a:r>
            <a:r>
              <a:rPr lang="en-US" sz="3600" dirty="0"/>
              <a:t> (Cont.)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A strong matrix structure </a:t>
            </a:r>
            <a:r>
              <a:rPr lang="en-US" dirty="0">
                <a:solidFill>
                  <a:schemeClr val="tx1"/>
                </a:solidFill>
              </a:rPr>
              <a:t>gives the project manager equal or greater authority than a functional manager.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project manager has primary control over resources and the distribution of tasks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As </a:t>
            </a:r>
            <a:r>
              <a:rPr lang="en-US" dirty="0">
                <a:solidFill>
                  <a:schemeClr val="tx1"/>
                </a:solidFill>
              </a:rPr>
              <a:t>an employee in this structure, your primary direction and guidance come from the project manager, with secondary direction coming from the functional manager.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20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330153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219200"/>
            <a:ext cx="8382000" cy="525780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1040"/>
          <p:cNvSpPr txBox="1">
            <a:spLocks noChangeArrowheads="1"/>
          </p:cNvSpPr>
          <p:nvPr/>
        </p:nvSpPr>
        <p:spPr>
          <a:xfrm>
            <a:off x="457200" y="0"/>
            <a:ext cx="86868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b="1" dirty="0">
              <a:latin typeface="Baskerville Old Face" panose="02020602080505020303" pitchFamily="18" charset="0"/>
            </a:endParaRPr>
          </a:p>
          <a:p>
            <a:r>
              <a:rPr lang="en-US" sz="4000" b="1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Strong</a:t>
            </a:r>
            <a:r>
              <a:rPr lang="en-US" sz="3200" b="1" dirty="0">
                <a:latin typeface="Baskerville Old Face" panose="02020602080505020303" pitchFamily="18" charset="0"/>
              </a:rPr>
              <a:t> </a:t>
            </a:r>
            <a:r>
              <a:rPr lang="en-US" sz="4000" b="1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Matrix</a:t>
            </a:r>
            <a:r>
              <a:rPr lang="en-US" sz="3200" b="1" dirty="0">
                <a:latin typeface="Baskerville Old Face" panose="02020602080505020303" pitchFamily="18" charset="0"/>
              </a:rPr>
              <a:t> </a:t>
            </a:r>
            <a:r>
              <a:rPr lang="en-US" sz="4000" b="1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Organization</a:t>
            </a:r>
            <a:endParaRPr lang="en-US" altLang="en-US" sz="4000" b="1" spc="-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07141"/>
            <a:ext cx="8686800" cy="540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5399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200" b="1" dirty="0">
                <a:solidFill>
                  <a:schemeClr val="tx1"/>
                </a:solidFill>
              </a:rPr>
              <a:t>Matrix Organization </a:t>
            </a:r>
            <a:endParaRPr lang="en-US" sz="22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/>
            <a:r>
              <a:rPr lang="en-US" sz="2200" cap="none" dirty="0">
                <a:solidFill>
                  <a:schemeClr val="tx1"/>
                </a:solidFill>
              </a:rPr>
              <a:t>Power varies between project &amp; functional managers according to its type (strong, balanced or weak) </a:t>
            </a:r>
          </a:p>
          <a:p>
            <a:pPr algn="just"/>
            <a:r>
              <a:rPr lang="en-US" sz="2200" b="1" cap="none" dirty="0" smtClean="0">
                <a:solidFill>
                  <a:schemeClr val="tx1"/>
                </a:solidFill>
              </a:rPr>
              <a:t>Advantages</a:t>
            </a:r>
            <a:r>
              <a:rPr lang="en-US" sz="2200" b="1" cap="none" dirty="0">
                <a:solidFill>
                  <a:schemeClr val="tx1"/>
                </a:solidFill>
              </a:rPr>
              <a:t>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Improved </a:t>
            </a:r>
            <a:r>
              <a:rPr lang="en-US" sz="2200" dirty="0" smtClean="0">
                <a:solidFill>
                  <a:schemeClr val="tx1"/>
                </a:solidFill>
              </a:rPr>
              <a:t>communication …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</a:rPr>
              <a:t>Encouraging </a:t>
            </a:r>
            <a:r>
              <a:rPr lang="en-US" sz="2200" dirty="0">
                <a:solidFill>
                  <a:schemeClr val="tx1"/>
                </a:solidFill>
              </a:rPr>
              <a:t>professional development. </a:t>
            </a:r>
            <a:endParaRPr lang="en-US" sz="2200" dirty="0" smtClean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sz="2200" cap="none" dirty="0" smtClean="0">
                <a:solidFill>
                  <a:schemeClr val="tx1"/>
                </a:solidFill>
              </a:rPr>
              <a:t> </a:t>
            </a:r>
            <a:endParaRPr lang="en-US" sz="2200" cap="none" dirty="0">
              <a:solidFill>
                <a:schemeClr val="tx1"/>
              </a:solidFill>
            </a:endParaRPr>
          </a:p>
        </p:txBody>
      </p:sp>
      <p:sp>
        <p:nvSpPr>
          <p:cNvPr id="5" name="Rectangle 1040"/>
          <p:cNvSpPr txBox="1">
            <a:spLocks noChangeArrowheads="1"/>
          </p:cNvSpPr>
          <p:nvPr/>
        </p:nvSpPr>
        <p:spPr>
          <a:xfrm>
            <a:off x="539552" y="404664"/>
            <a:ext cx="8640961" cy="14410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spc="-5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Advantages</a:t>
            </a:r>
            <a:r>
              <a:rPr lang="en-US" sz="3600" b="1" dirty="0" smtClean="0"/>
              <a:t>/</a:t>
            </a:r>
            <a:r>
              <a:rPr lang="en-US" sz="3600" b="1" spc="-5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Disadvantages</a:t>
            </a:r>
            <a:endParaRPr lang="en-US" altLang="en-US" sz="3600" b="1" spc="-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AB364BD-28E7-4009-926C-D02F1D848EA0}" type="datetime1">
              <a:rPr lang="en-IE" smtClean="0"/>
              <a:t>17/09/2024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22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6123043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200" b="1" dirty="0">
                <a:solidFill>
                  <a:schemeClr val="tx1"/>
                </a:solidFill>
              </a:rPr>
              <a:t>Matrix Organization </a:t>
            </a:r>
            <a:endParaRPr lang="en-US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200" b="1" dirty="0">
                <a:solidFill>
                  <a:schemeClr val="tx1"/>
                </a:solidFill>
              </a:rPr>
              <a:t>Disadvantages: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cap="none" dirty="0">
                <a:solidFill>
                  <a:schemeClr val="tx1"/>
                </a:solidFill>
              </a:rPr>
              <a:t>Different priorities between PM &amp; FM (conflicts)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cap="none" dirty="0">
                <a:solidFill>
                  <a:schemeClr val="tx1"/>
                </a:solidFill>
              </a:rPr>
              <a:t>Dual reporting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cap="none" dirty="0">
                <a:solidFill>
                  <a:schemeClr val="tx1"/>
                </a:solidFill>
              </a:rPr>
              <a:t>Complex to monitor and control </a:t>
            </a:r>
          </a:p>
        </p:txBody>
      </p:sp>
      <p:sp>
        <p:nvSpPr>
          <p:cNvPr id="5" name="Rectangle 1040"/>
          <p:cNvSpPr txBox="1">
            <a:spLocks noChangeArrowheads="1"/>
          </p:cNvSpPr>
          <p:nvPr/>
        </p:nvSpPr>
        <p:spPr>
          <a:xfrm>
            <a:off x="539552" y="344760"/>
            <a:ext cx="8604448" cy="15009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spc="-5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Advantages/Disadvantages</a:t>
            </a:r>
            <a:endParaRPr lang="en-US" altLang="en-US" sz="4000" b="1" spc="-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D476F-65EE-4F8B-A8FD-40E443001B0F}" type="datetime1">
              <a:rPr lang="en-IE" smtClean="0"/>
              <a:t>17/09/2024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23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116171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219200"/>
            <a:ext cx="8382000" cy="525780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1040"/>
          <p:cNvSpPr txBox="1">
            <a:spLocks noChangeArrowheads="1"/>
          </p:cNvSpPr>
          <p:nvPr/>
        </p:nvSpPr>
        <p:spPr>
          <a:xfrm>
            <a:off x="190500" y="177184"/>
            <a:ext cx="8763000" cy="1023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.</a:t>
            </a:r>
            <a:endParaRPr lang="en-US" sz="4000" b="1" dirty="0">
              <a:solidFill>
                <a:srgbClr val="C00000"/>
              </a:solidFill>
              <a:latin typeface="Baskerville Old Face" panose="02020602080505020303" pitchFamily="18" charset="0"/>
            </a:endParaRPr>
          </a:p>
          <a:p>
            <a:r>
              <a:rPr lang="en-US" sz="4000" b="1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Organizational</a:t>
            </a:r>
            <a:r>
              <a:rPr lang="en-US" sz="40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 </a:t>
            </a:r>
            <a:r>
              <a:rPr lang="en-US" sz="4000" b="1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Structure</a:t>
            </a:r>
            <a:r>
              <a:rPr lang="en-US" sz="4000" b="1" dirty="0">
                <a:solidFill>
                  <a:srgbClr val="C00000"/>
                </a:solidFill>
                <a:latin typeface="Baskerville Old Face" panose="02020602080505020303" pitchFamily="18" charset="0"/>
              </a:rPr>
              <a:t> </a:t>
            </a:r>
            <a:r>
              <a:rPr lang="en-US" sz="4000" b="1" spc="-5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Influences on Projects</a:t>
            </a:r>
            <a:r>
              <a:rPr lang="en-US" sz="4000" b="1" dirty="0" smtClean="0">
                <a:solidFill>
                  <a:srgbClr val="C00000"/>
                </a:solidFill>
                <a:latin typeface="Baskerville Old Face" panose="02020602080505020303" pitchFamily="18" charset="0"/>
              </a:rPr>
              <a:t> </a:t>
            </a:r>
            <a:endParaRPr lang="en-US" altLang="en-US" sz="4000" b="1" dirty="0">
              <a:solidFill>
                <a:srgbClr val="C00000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661518"/>
            <a:ext cx="9144000" cy="457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2394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FACTORS IN ORGANIZATION STRUCTURE SELECTION</a:t>
            </a:r>
            <a:endParaRPr lang="en-GB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Factors to consider in selecting an organizational </a:t>
            </a:r>
            <a:r>
              <a:rPr lang="en-US" dirty="0" smtClean="0"/>
              <a:t>structure.</a:t>
            </a:r>
          </a:p>
          <a:p>
            <a:endParaRPr lang="en-US" dirty="0" smtClean="0"/>
          </a:p>
          <a:p>
            <a:pPr lvl="1"/>
            <a:r>
              <a:rPr lang="en-US" sz="2000" dirty="0"/>
              <a:t>Degree of alignment with organizational </a:t>
            </a:r>
            <a:r>
              <a:rPr lang="en-US" sz="2000" dirty="0" smtClean="0"/>
              <a:t>objectives</a:t>
            </a:r>
          </a:p>
          <a:p>
            <a:pPr lvl="1"/>
            <a:r>
              <a:rPr lang="en-GB" sz="2000" dirty="0"/>
              <a:t>Specialization </a:t>
            </a:r>
            <a:r>
              <a:rPr lang="en-GB" sz="2000" dirty="0" smtClean="0"/>
              <a:t>capabilities</a:t>
            </a:r>
          </a:p>
          <a:p>
            <a:pPr lvl="1"/>
            <a:r>
              <a:rPr lang="en-US" sz="2000" dirty="0"/>
              <a:t>Clear line and scope of </a:t>
            </a:r>
            <a:r>
              <a:rPr lang="en-US" sz="2000" dirty="0" smtClean="0"/>
              <a:t>authority</a:t>
            </a:r>
          </a:p>
          <a:p>
            <a:pPr lvl="1"/>
            <a:r>
              <a:rPr lang="en-GB" sz="2000" dirty="0"/>
              <a:t>Responsibility </a:t>
            </a:r>
            <a:r>
              <a:rPr lang="en-GB" sz="2000" dirty="0" smtClean="0"/>
              <a:t>assignment</a:t>
            </a:r>
          </a:p>
          <a:p>
            <a:pPr lvl="1"/>
            <a:r>
              <a:rPr lang="en-GB" sz="2000" dirty="0"/>
              <a:t>Cost </a:t>
            </a:r>
            <a:r>
              <a:rPr lang="en-GB" sz="2000" dirty="0" smtClean="0"/>
              <a:t>considerations</a:t>
            </a:r>
          </a:p>
          <a:p>
            <a:pPr lvl="1"/>
            <a:r>
              <a:rPr lang="en-US" sz="2000" dirty="0"/>
              <a:t>Physical locations </a:t>
            </a:r>
            <a:r>
              <a:rPr lang="en-US" sz="2000" dirty="0" smtClean="0"/>
              <a:t>(e.g. Regional, virtual)</a:t>
            </a:r>
          </a:p>
          <a:p>
            <a:pPr lvl="1"/>
            <a:endParaRPr lang="en-US" sz="2000" dirty="0" smtClean="0"/>
          </a:p>
          <a:p>
            <a:pPr lvl="1"/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25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868373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1900" dirty="0"/>
              <a:t>You are working as a project manager in a company. You have the highest degree of authority; you are working full-time on your project, and you manage the project's budget. What is the organizational structure of your company</a:t>
            </a:r>
            <a:r>
              <a:rPr lang="en-US" sz="1900" dirty="0" smtClean="0"/>
              <a:t>?</a:t>
            </a:r>
            <a:endParaRPr lang="en-GB" sz="1900" dirty="0"/>
          </a:p>
          <a:p>
            <a:pPr lvl="4"/>
            <a:r>
              <a:rPr lang="en-US" sz="1900" dirty="0"/>
              <a:t>Projectized</a:t>
            </a:r>
            <a:endParaRPr lang="en-GB" sz="1900" dirty="0"/>
          </a:p>
          <a:p>
            <a:pPr lvl="4"/>
            <a:r>
              <a:rPr lang="en-US" sz="1900" dirty="0"/>
              <a:t>Functional</a:t>
            </a:r>
            <a:endParaRPr lang="en-GB" sz="1900" dirty="0"/>
          </a:p>
          <a:p>
            <a:pPr lvl="4"/>
            <a:r>
              <a:rPr lang="en-US" sz="1900" dirty="0"/>
              <a:t>Balanced </a:t>
            </a:r>
            <a:r>
              <a:rPr lang="en-US" sz="1900" dirty="0" smtClean="0"/>
              <a:t>Matrix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1900" dirty="0"/>
              <a:t>A project manager is trying to complete a software development project but cannot get enough attention for the project. Resources are focused on completing process-related works and the project manager has little authority to properly assign resources. What form of organization must the project manager be working in?</a:t>
            </a:r>
            <a:endParaRPr lang="en-GB" sz="1900" dirty="0"/>
          </a:p>
          <a:p>
            <a:pPr lvl="3"/>
            <a:r>
              <a:rPr lang="en-US" sz="1900" dirty="0"/>
              <a:t>A balanced matrix</a:t>
            </a:r>
            <a:endParaRPr lang="en-GB" sz="1900" dirty="0"/>
          </a:p>
          <a:p>
            <a:pPr lvl="3"/>
            <a:r>
              <a:rPr lang="en-US" sz="1900" dirty="0"/>
              <a:t>A functional organization</a:t>
            </a:r>
            <a:endParaRPr lang="en-GB" sz="1900" dirty="0"/>
          </a:p>
          <a:p>
            <a:pPr lvl="3"/>
            <a:r>
              <a:rPr lang="en-US" sz="1900" dirty="0"/>
              <a:t>Projectized</a:t>
            </a:r>
            <a:endParaRPr lang="en-GB" sz="1900" dirty="0"/>
          </a:p>
          <a:p>
            <a:pPr lvl="3"/>
            <a:r>
              <a:rPr lang="en-US" sz="1900" dirty="0"/>
              <a:t>A strong matrix</a:t>
            </a:r>
            <a:endParaRPr lang="en-GB" sz="1900" dirty="0"/>
          </a:p>
          <a:p>
            <a:pPr marL="749808" lvl="4" indent="0">
              <a:buNone/>
            </a:pP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26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926541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-3340"/>
            <a:ext cx="7543800" cy="1450757"/>
          </a:xfrm>
        </p:spPr>
        <p:txBody>
          <a:bodyPr>
            <a:normAutofit/>
          </a:bodyPr>
          <a:lstStyle/>
          <a:p>
            <a:r>
              <a:rPr lang="en-GB" sz="3600" b="1" dirty="0"/>
              <a:t>ORGANIZATIONAL PROCESS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391578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Organizational </a:t>
            </a:r>
            <a:r>
              <a:rPr lang="en-US" dirty="0">
                <a:solidFill>
                  <a:schemeClr val="tx1"/>
                </a:solidFill>
              </a:rPr>
              <a:t>process assets (OPAs) are the </a:t>
            </a:r>
            <a:r>
              <a:rPr lang="en-US" b="1" dirty="0">
                <a:solidFill>
                  <a:schemeClr val="tx1"/>
                </a:solidFill>
              </a:rPr>
              <a:t>plans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chemeClr val="tx1"/>
                </a:solidFill>
              </a:rPr>
              <a:t>processes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chemeClr val="tx1"/>
                </a:solidFill>
              </a:rPr>
              <a:t>policies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chemeClr val="tx1"/>
                </a:solidFill>
              </a:rPr>
              <a:t>procedures</a:t>
            </a:r>
            <a:r>
              <a:rPr lang="en-US" dirty="0">
                <a:solidFill>
                  <a:schemeClr val="tx1"/>
                </a:solidFill>
              </a:rPr>
              <a:t>, and </a:t>
            </a:r>
            <a:r>
              <a:rPr lang="en-US" b="1" dirty="0">
                <a:solidFill>
                  <a:schemeClr val="tx1"/>
                </a:solidFill>
              </a:rPr>
              <a:t>knowledge bases </a:t>
            </a:r>
            <a:r>
              <a:rPr lang="en-US" dirty="0">
                <a:solidFill>
                  <a:schemeClr val="tx1"/>
                </a:solidFill>
              </a:rPr>
              <a:t>speciﬁc to </a:t>
            </a:r>
            <a:r>
              <a:rPr lang="en-US" dirty="0" smtClean="0">
                <a:solidFill>
                  <a:schemeClr val="tx1"/>
                </a:solidFill>
              </a:rPr>
              <a:t>and </a:t>
            </a:r>
            <a:r>
              <a:rPr lang="en-US" dirty="0">
                <a:solidFill>
                  <a:schemeClr val="tx1"/>
                </a:solidFill>
              </a:rPr>
              <a:t>used by the performing organization. </a:t>
            </a:r>
            <a:r>
              <a:rPr lang="en-US" dirty="0" smtClean="0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assets inﬂuence the management of the project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They may </a:t>
            </a:r>
            <a:r>
              <a:rPr lang="en-US" dirty="0">
                <a:solidFill>
                  <a:schemeClr val="tx1"/>
                </a:solidFill>
              </a:rPr>
              <a:t>be grouped into two categories</a:t>
            </a:r>
            <a:r>
              <a:rPr lang="en-US" dirty="0" smtClean="0">
                <a:solidFill>
                  <a:schemeClr val="tx1"/>
                </a:solidFill>
              </a:rPr>
              <a:t>: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sz="2000" dirty="0" smtClean="0">
                <a:solidFill>
                  <a:schemeClr val="tx1"/>
                </a:solidFill>
              </a:rPr>
              <a:t>Processes</a:t>
            </a:r>
            <a:r>
              <a:rPr lang="en-US" sz="2000" dirty="0">
                <a:solidFill>
                  <a:schemeClr val="tx1"/>
                </a:solidFill>
              </a:rPr>
              <a:t>, policies, and </a:t>
            </a:r>
            <a:r>
              <a:rPr lang="en-US" sz="2000" dirty="0" smtClean="0">
                <a:solidFill>
                  <a:schemeClr val="tx1"/>
                </a:solidFill>
              </a:rPr>
              <a:t>procedures(established by PMO office)</a:t>
            </a:r>
            <a:endParaRPr lang="en-US" sz="2000" dirty="0">
              <a:solidFill>
                <a:schemeClr val="tx1"/>
              </a:solidFill>
            </a:endParaRPr>
          </a:p>
          <a:p>
            <a:pPr lvl="1"/>
            <a:r>
              <a:rPr lang="en-US" sz="2000" dirty="0" smtClean="0">
                <a:solidFill>
                  <a:schemeClr val="tx1"/>
                </a:solidFill>
              </a:rPr>
              <a:t>Organizational </a:t>
            </a:r>
            <a:r>
              <a:rPr lang="en-US" sz="2000" dirty="0">
                <a:solidFill>
                  <a:schemeClr val="tx1"/>
                </a:solidFill>
              </a:rPr>
              <a:t>knowledge </a:t>
            </a:r>
            <a:r>
              <a:rPr lang="en-US" sz="2000" dirty="0" smtClean="0">
                <a:solidFill>
                  <a:schemeClr val="tx1"/>
                </a:solidFill>
              </a:rPr>
              <a:t>bases (updated throughout the project)</a:t>
            </a:r>
          </a:p>
          <a:p>
            <a:pPr marL="201168" lvl="1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-- Inputs to many processes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27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406313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0"/>
            <a:ext cx="7543800" cy="1450757"/>
          </a:xfrm>
        </p:spPr>
        <p:txBody>
          <a:bodyPr>
            <a:normAutofit/>
          </a:bodyPr>
          <a:lstStyle/>
          <a:p>
            <a:r>
              <a:rPr lang="en-GB" sz="3600" b="1" dirty="0"/>
              <a:t>ORGANIZATIONAL PROCESS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391578"/>
          </a:xfrm>
        </p:spPr>
        <p:txBody>
          <a:bodyPr>
            <a:normAutofit/>
          </a:bodyPr>
          <a:lstStyle/>
          <a:p>
            <a:r>
              <a:rPr lang="en-US" b="1" dirty="0"/>
              <a:t>PROCESSES, POLICIES, AND PROCEDURES</a:t>
            </a:r>
          </a:p>
          <a:p>
            <a:r>
              <a:rPr lang="en-US" dirty="0"/>
              <a:t>The organization’s processes and procedures for conducting project work include but are not limited to</a:t>
            </a:r>
            <a:r>
              <a:rPr lang="en-US" dirty="0" smtClean="0"/>
              <a:t>:</a:t>
            </a:r>
          </a:p>
          <a:p>
            <a:r>
              <a:rPr lang="en-GB" b="1" dirty="0"/>
              <a:t>Initiating and Planning</a:t>
            </a:r>
            <a:r>
              <a:rPr lang="en-GB" b="1" dirty="0" smtClean="0"/>
              <a:t>:</a:t>
            </a:r>
          </a:p>
          <a:p>
            <a:r>
              <a:rPr lang="en-US" dirty="0"/>
              <a:t>Speciﬁc organizational standards such as policies (e.g., human resources policies, health and safety policies, </a:t>
            </a:r>
            <a:r>
              <a:rPr lang="en-US" dirty="0" smtClean="0"/>
              <a:t>security </a:t>
            </a:r>
            <a:r>
              <a:rPr lang="en-US" dirty="0"/>
              <a:t>and conﬁdentiality policies, quality </a:t>
            </a:r>
            <a:r>
              <a:rPr lang="en-US" dirty="0" smtClean="0"/>
              <a:t>policies, </a:t>
            </a:r>
            <a:r>
              <a:rPr lang="en-US" dirty="0"/>
              <a:t>and environmental policies</a:t>
            </a:r>
            <a:r>
              <a:rPr lang="en-US" dirty="0" smtClean="0"/>
              <a:t>)</a:t>
            </a:r>
          </a:p>
          <a:p>
            <a:r>
              <a:rPr lang="en-US" dirty="0"/>
              <a:t>project management methods, </a:t>
            </a:r>
            <a:r>
              <a:rPr lang="en-US" dirty="0" smtClean="0"/>
              <a:t>estimation </a:t>
            </a:r>
            <a:r>
              <a:rPr lang="en-US" dirty="0"/>
              <a:t>metrics, process </a:t>
            </a:r>
            <a:r>
              <a:rPr lang="en-US" dirty="0" smtClean="0"/>
              <a:t>audits…</a:t>
            </a:r>
          </a:p>
          <a:p>
            <a:r>
              <a:rPr lang="en-GB" dirty="0" smtClean="0"/>
              <a:t>Organizational Templates </a:t>
            </a:r>
            <a:r>
              <a:rPr lang="en-GB" dirty="0"/>
              <a:t>(e.g., project management plans, project documents, project registers, report formats, contract </a:t>
            </a:r>
            <a:r>
              <a:rPr lang="en-GB" dirty="0" smtClean="0"/>
              <a:t>templates…)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28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0610156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0"/>
            <a:ext cx="7543800" cy="1450757"/>
          </a:xfrm>
        </p:spPr>
        <p:txBody>
          <a:bodyPr>
            <a:normAutofit/>
          </a:bodyPr>
          <a:lstStyle/>
          <a:p>
            <a:r>
              <a:rPr lang="en-GB" sz="3600" b="1" dirty="0"/>
              <a:t>ORGANIZATIONAL PROCESS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700808"/>
            <a:ext cx="7543801" cy="4464496"/>
          </a:xfrm>
        </p:spPr>
        <p:txBody>
          <a:bodyPr>
            <a:normAutofit/>
          </a:bodyPr>
          <a:lstStyle/>
          <a:p>
            <a:endParaRPr lang="en-US" b="1" dirty="0" smtClean="0"/>
          </a:p>
          <a:p>
            <a:r>
              <a:rPr lang="en-US" b="1" dirty="0" smtClean="0"/>
              <a:t>Executing</a:t>
            </a:r>
            <a:r>
              <a:rPr lang="en-US" b="1" dirty="0"/>
              <a:t>, Monitoring, and Controlling</a:t>
            </a:r>
            <a:r>
              <a:rPr lang="en-US" b="1" dirty="0" smtClean="0"/>
              <a:t>:</a:t>
            </a:r>
          </a:p>
          <a:p>
            <a:pPr algn="just"/>
            <a:r>
              <a:rPr lang="en-US" b="1" dirty="0"/>
              <a:t>Change control </a:t>
            </a:r>
            <a:r>
              <a:rPr lang="en-US" b="1" dirty="0" smtClean="0"/>
              <a:t>procedures </a:t>
            </a:r>
            <a:r>
              <a:rPr lang="en-US" dirty="0" smtClean="0"/>
              <a:t>including </a:t>
            </a:r>
            <a:r>
              <a:rPr lang="en-US" dirty="0"/>
              <a:t>the steps by which performing organization standards, policies, plans, and </a:t>
            </a:r>
            <a:r>
              <a:rPr lang="en-US" dirty="0" smtClean="0"/>
              <a:t>procedures </a:t>
            </a:r>
            <a:r>
              <a:rPr lang="en-US" dirty="0"/>
              <a:t>or any project documents will be modiﬁed, and how any changes will be approved and validated;</a:t>
            </a:r>
            <a:endParaRPr lang="en-US" dirty="0" smtClean="0"/>
          </a:p>
          <a:p>
            <a:pPr algn="just"/>
            <a:r>
              <a:rPr lang="en-US" b="1" dirty="0" smtClean="0"/>
              <a:t>Closing</a:t>
            </a:r>
            <a:r>
              <a:rPr lang="en-US" b="1" dirty="0"/>
              <a:t>. </a:t>
            </a:r>
            <a:r>
              <a:rPr lang="en-US" dirty="0"/>
              <a:t>Project </a:t>
            </a:r>
            <a:r>
              <a:rPr lang="en-US" b="1" dirty="0"/>
              <a:t>closure </a:t>
            </a:r>
            <a:r>
              <a:rPr lang="en-US" dirty="0"/>
              <a:t>guidelines or requirements (e.g., ﬁnal project audits, project evaluations, deliverable </a:t>
            </a:r>
            <a:r>
              <a:rPr lang="en-US" dirty="0" smtClean="0"/>
              <a:t>acceptance</a:t>
            </a:r>
            <a:r>
              <a:rPr lang="en-US" dirty="0"/>
              <a:t>, contract </a:t>
            </a:r>
            <a:r>
              <a:rPr lang="en-US" dirty="0" smtClean="0"/>
              <a:t>closure….</a:t>
            </a:r>
          </a:p>
          <a:p>
            <a:pPr algn="just"/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29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2275757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0"/>
            <a:ext cx="7543800" cy="1450757"/>
          </a:xfrm>
        </p:spPr>
        <p:txBody>
          <a:bodyPr>
            <a:normAutofit/>
          </a:bodyPr>
          <a:lstStyle/>
          <a:p>
            <a:r>
              <a:rPr lang="en-GB" sz="3600" b="1" dirty="0"/>
              <a:t>ORGANIZATIONAL PROCESS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772816"/>
            <a:ext cx="7543801" cy="4464496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ORGANIZATIONAL KNOWLEDGE </a:t>
            </a:r>
            <a:r>
              <a:rPr lang="en-US" b="1" dirty="0" smtClean="0"/>
              <a:t>REPOSITORIES</a:t>
            </a:r>
          </a:p>
          <a:p>
            <a:pPr algn="just"/>
            <a:r>
              <a:rPr lang="en-US" b="1" dirty="0"/>
              <a:t>Conﬁguration management knowledge repositories </a:t>
            </a:r>
            <a:r>
              <a:rPr lang="en-US" dirty="0"/>
              <a:t>containing the versions of software and hardware components and </a:t>
            </a:r>
            <a:r>
              <a:rPr lang="en-US" dirty="0" smtClean="0"/>
              <a:t>baselines </a:t>
            </a:r>
            <a:r>
              <a:rPr lang="en-US" dirty="0"/>
              <a:t>of all performing organization standards, policies, procedures, and any </a:t>
            </a:r>
            <a:r>
              <a:rPr lang="en-US" dirty="0" smtClean="0"/>
              <a:t>project documents</a:t>
            </a:r>
          </a:p>
          <a:p>
            <a:pPr algn="just"/>
            <a:r>
              <a:rPr lang="en-US" b="1" dirty="0"/>
              <a:t>Financial data repositories </a:t>
            </a:r>
            <a:r>
              <a:rPr lang="en-US" dirty="0"/>
              <a:t>containing information such as labor hours, </a:t>
            </a:r>
            <a:r>
              <a:rPr lang="en-US" dirty="0" smtClean="0"/>
              <a:t>incurred costs</a:t>
            </a:r>
            <a:r>
              <a:rPr lang="en-US" dirty="0"/>
              <a:t>, budgets, and any project </a:t>
            </a:r>
            <a:r>
              <a:rPr lang="en-US" dirty="0" smtClean="0"/>
              <a:t>cost overruns</a:t>
            </a:r>
          </a:p>
          <a:p>
            <a:pPr algn="just"/>
            <a:r>
              <a:rPr lang="en-US" b="1" dirty="0" smtClean="0"/>
              <a:t>Historical </a:t>
            </a:r>
            <a:r>
              <a:rPr lang="en-US" b="1" dirty="0"/>
              <a:t>information and lessons learned knowledge </a:t>
            </a:r>
            <a:r>
              <a:rPr lang="en-US" b="1" dirty="0" smtClean="0"/>
              <a:t>repositories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Project ﬁles from previous projects (e.g., scope, cost, schedule, and performance measurement baselines, project </a:t>
            </a:r>
            <a:r>
              <a:rPr lang="en-US" dirty="0" smtClean="0"/>
              <a:t>calendars</a:t>
            </a:r>
            <a:r>
              <a:rPr lang="en-US" dirty="0"/>
              <a:t>, project schedule network diagrams, risk registers, risk reports, and stakeholder registers).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30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6755488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/>
              <a:t>PROJECT MANAGEMENT OFFICE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 smtClean="0"/>
          </a:p>
          <a:p>
            <a:r>
              <a:rPr lang="en-GB" dirty="0"/>
              <a:t> </a:t>
            </a:r>
            <a:r>
              <a:rPr lang="en-GB" dirty="0"/>
              <a:t>A </a:t>
            </a:r>
            <a:r>
              <a:rPr lang="en-GB" b="1" dirty="0"/>
              <a:t>project management office (PMO) </a:t>
            </a:r>
            <a:r>
              <a:rPr lang="en-GB" dirty="0"/>
              <a:t>is an organizational structure that standardizes the project-related governance processes and facilitates the sharing of resources, methodologies, tools, and techniques. </a:t>
            </a:r>
            <a:r>
              <a:rPr lang="en-US" dirty="0"/>
              <a:t> 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/>
              <a:t>responsibilities</a:t>
            </a:r>
            <a:r>
              <a:rPr lang="en-US" dirty="0"/>
              <a:t> of a PMO </a:t>
            </a:r>
            <a:r>
              <a:rPr lang="en-US" dirty="0" smtClean="0"/>
              <a:t> can </a:t>
            </a:r>
            <a:r>
              <a:rPr lang="en-US" dirty="0"/>
              <a:t>range from </a:t>
            </a:r>
            <a:r>
              <a:rPr lang="en-US" b="1" dirty="0"/>
              <a:t>providing project management support functions </a:t>
            </a:r>
            <a:r>
              <a:rPr lang="en-US" dirty="0"/>
              <a:t>to the </a:t>
            </a:r>
            <a:r>
              <a:rPr lang="en-US" b="1" dirty="0"/>
              <a:t>direct management of one or more projects</a:t>
            </a:r>
            <a:r>
              <a:rPr lang="en-US" b="1" dirty="0" smtClean="0"/>
              <a:t>.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31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6590957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/>
              <a:t>PROJECT MANAGEMENT OFFICE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are several types of PMOs in organizations. Each type varies in the degree of control and inﬂuence it has on projects within the organization, such as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r>
              <a:rPr lang="en-US" b="1" dirty="0"/>
              <a:t>Supportive. </a:t>
            </a:r>
            <a:r>
              <a:rPr lang="en-US" dirty="0"/>
              <a:t>Supportive PMOs provide a </a:t>
            </a:r>
            <a:r>
              <a:rPr lang="en-US" b="1" dirty="0"/>
              <a:t>consultative role </a:t>
            </a:r>
            <a:r>
              <a:rPr lang="en-US" dirty="0"/>
              <a:t>to projects by </a:t>
            </a:r>
            <a:r>
              <a:rPr lang="en-US" b="1" dirty="0"/>
              <a:t>supplying templates, best practices, </a:t>
            </a:r>
            <a:r>
              <a:rPr lang="en-US" b="1" dirty="0" smtClean="0"/>
              <a:t>training</a:t>
            </a:r>
            <a:r>
              <a:rPr lang="en-US" b="1" dirty="0"/>
              <a:t>, access to information, and lessons learned from other projects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type of PMO serves as a project </a:t>
            </a:r>
            <a:r>
              <a:rPr lang="en-US" dirty="0" smtClean="0"/>
              <a:t>repository</a:t>
            </a:r>
            <a:r>
              <a:rPr lang="en-US" dirty="0"/>
              <a:t>. The degree of control provided by the PMO is low.</a:t>
            </a:r>
          </a:p>
          <a:p>
            <a:r>
              <a:rPr lang="en-US" dirty="0" smtClean="0"/>
              <a:t>.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32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9982378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/>
              <a:t>PROJECT MANAGEMENT OFFICE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1" dirty="0" smtClean="0"/>
          </a:p>
          <a:p>
            <a:r>
              <a:rPr lang="en-US" b="1" dirty="0" smtClean="0"/>
              <a:t>Controlling</a:t>
            </a:r>
            <a:r>
              <a:rPr lang="en-US" b="1" dirty="0"/>
              <a:t>. </a:t>
            </a:r>
            <a:r>
              <a:rPr lang="en-US" dirty="0" smtClean="0"/>
              <a:t>Controlling </a:t>
            </a:r>
            <a:r>
              <a:rPr lang="en-US" dirty="0"/>
              <a:t>PMO checks if the project management tools, </a:t>
            </a:r>
            <a:r>
              <a:rPr lang="en-US" dirty="0" smtClean="0"/>
              <a:t>processes, </a:t>
            </a:r>
            <a:r>
              <a:rPr lang="en-US" dirty="0"/>
              <a:t>and standards are being applied in the projects, with some degree of control</a:t>
            </a:r>
            <a:r>
              <a:rPr lang="en-US" dirty="0" smtClean="0"/>
              <a:t>.</a:t>
            </a:r>
          </a:p>
          <a:p>
            <a:endParaRPr lang="en-US" b="1" dirty="0" smtClean="0"/>
          </a:p>
          <a:p>
            <a:r>
              <a:rPr lang="en-US" b="1" dirty="0" smtClean="0"/>
              <a:t>Directive</a:t>
            </a:r>
            <a:r>
              <a:rPr lang="en-US" b="1" dirty="0"/>
              <a:t>. </a:t>
            </a:r>
            <a:r>
              <a:rPr lang="en-US" dirty="0"/>
              <a:t>Directive PMOs take control of the projects by directly managing the projects. Project managers </a:t>
            </a:r>
            <a:r>
              <a:rPr lang="en-US" dirty="0" smtClean="0"/>
              <a:t>are assigned </a:t>
            </a:r>
            <a:r>
              <a:rPr lang="en-US" dirty="0"/>
              <a:t>by and report to the </a:t>
            </a:r>
            <a:r>
              <a:rPr lang="en-US" dirty="0" smtClean="0"/>
              <a:t>PMO</a:t>
            </a:r>
            <a:r>
              <a:rPr lang="en-US" dirty="0"/>
              <a:t>. The degree of control provided by the PMO is high</a:t>
            </a:r>
            <a:r>
              <a:rPr lang="en-US" dirty="0" smtClean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33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700211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/>
              <a:t>PROJECT MANAGEMENT OFFICE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 </a:t>
            </a:r>
            <a:r>
              <a:rPr lang="en-US" b="1" dirty="0"/>
              <a:t>primary function </a:t>
            </a:r>
            <a:r>
              <a:rPr lang="en-US" dirty="0"/>
              <a:t>of a PMO is to </a:t>
            </a:r>
            <a:r>
              <a:rPr lang="en-US" b="1" dirty="0"/>
              <a:t>support project managers </a:t>
            </a:r>
            <a:r>
              <a:rPr lang="en-US" dirty="0"/>
              <a:t>in a variety of ways, which may include but are not </a:t>
            </a:r>
            <a:r>
              <a:rPr lang="en-US" dirty="0" smtClean="0"/>
              <a:t> limited </a:t>
            </a:r>
            <a:r>
              <a:rPr lang="en-US" dirty="0"/>
              <a:t>to:</a:t>
            </a:r>
          </a:p>
          <a:p>
            <a:pPr lvl="1"/>
            <a:r>
              <a:rPr lang="en-US" sz="2000" dirty="0"/>
              <a:t>M</a:t>
            </a:r>
            <a:r>
              <a:rPr lang="en-US" sz="2000" dirty="0" smtClean="0"/>
              <a:t>anaging </a:t>
            </a:r>
            <a:r>
              <a:rPr lang="en-US" sz="2000" dirty="0"/>
              <a:t>shared resources across all projects administered by the </a:t>
            </a:r>
            <a:r>
              <a:rPr lang="en-US" sz="2000" dirty="0" smtClean="0"/>
              <a:t>PMO</a:t>
            </a:r>
            <a:endParaRPr lang="en-US" sz="2000" dirty="0"/>
          </a:p>
          <a:p>
            <a:pPr lvl="1"/>
            <a:r>
              <a:rPr lang="en-US" sz="2000" dirty="0"/>
              <a:t>I</a:t>
            </a:r>
            <a:r>
              <a:rPr lang="en-US" sz="2000" dirty="0" smtClean="0"/>
              <a:t>dentifying </a:t>
            </a:r>
            <a:r>
              <a:rPr lang="en-US" sz="2000" dirty="0"/>
              <a:t>and developing project management methodology, best practices, and </a:t>
            </a:r>
            <a:r>
              <a:rPr lang="en-US" sz="2000" dirty="0" smtClean="0"/>
              <a:t>standards.</a:t>
            </a:r>
            <a:endParaRPr lang="en-US" sz="2000" dirty="0"/>
          </a:p>
          <a:p>
            <a:pPr lvl="1"/>
            <a:r>
              <a:rPr lang="en-US" sz="2000" dirty="0"/>
              <a:t>C</a:t>
            </a:r>
            <a:r>
              <a:rPr lang="en-US" sz="2000" dirty="0" smtClean="0"/>
              <a:t>oaching, </a:t>
            </a:r>
            <a:r>
              <a:rPr lang="en-US" sz="2000" dirty="0"/>
              <a:t>mentoring, </a:t>
            </a:r>
            <a:r>
              <a:rPr lang="en-US" sz="2000" dirty="0" smtClean="0"/>
              <a:t>training.</a:t>
            </a:r>
            <a:endParaRPr lang="en-US" sz="2000" dirty="0"/>
          </a:p>
          <a:p>
            <a:pPr lvl="1"/>
            <a:r>
              <a:rPr lang="en-US" sz="2000" dirty="0"/>
              <a:t>M</a:t>
            </a:r>
            <a:r>
              <a:rPr lang="en-US" sz="2000" dirty="0" smtClean="0"/>
              <a:t>onitoring </a:t>
            </a:r>
            <a:r>
              <a:rPr lang="en-US" sz="2000" dirty="0"/>
              <a:t>compliance with project management standards, policies, procedures, and templates </a:t>
            </a:r>
            <a:r>
              <a:rPr lang="en-US" sz="2000" dirty="0" smtClean="0"/>
              <a:t>through project audits</a:t>
            </a:r>
            <a:endParaRPr lang="en-US" sz="2000" dirty="0"/>
          </a:p>
          <a:p>
            <a:pPr lvl="1"/>
            <a:r>
              <a:rPr lang="en-US" sz="2000" dirty="0"/>
              <a:t>D</a:t>
            </a:r>
            <a:r>
              <a:rPr lang="en-US" sz="2000" dirty="0" smtClean="0"/>
              <a:t>eveloping </a:t>
            </a:r>
            <a:r>
              <a:rPr lang="en-US" sz="2000" dirty="0"/>
              <a:t>and managing project policies, procedures, templates, and other shared documentation (organizational </a:t>
            </a:r>
            <a:r>
              <a:rPr lang="en-US" sz="2000" dirty="0" smtClean="0"/>
              <a:t>process assets)</a:t>
            </a:r>
            <a:endParaRPr lang="en-US" sz="2000" dirty="0"/>
          </a:p>
          <a:p>
            <a:pPr lvl="1"/>
            <a:r>
              <a:rPr lang="en-US" sz="2000" dirty="0" smtClean="0"/>
              <a:t>Coordinating </a:t>
            </a:r>
            <a:r>
              <a:rPr lang="en-US" sz="2000" dirty="0"/>
              <a:t>communication across projects.</a:t>
            </a:r>
            <a:endParaRPr lang="en-GB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34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4627989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764704"/>
            <a:ext cx="7543800" cy="1450757"/>
          </a:xfrm>
        </p:spPr>
        <p:txBody>
          <a:bodyPr>
            <a:normAutofit/>
          </a:bodyPr>
          <a:lstStyle/>
          <a:p>
            <a:r>
              <a:rPr lang="en-GB" sz="4000" b="1" dirty="0"/>
              <a:t>Project Team Composition</a:t>
            </a:r>
            <a:br>
              <a:rPr lang="en-GB" sz="4000" b="1" dirty="0"/>
            </a:b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 project </a:t>
            </a:r>
            <a:r>
              <a:rPr lang="en-US" dirty="0" smtClean="0"/>
              <a:t>team includes the project manager and the </a:t>
            </a:r>
            <a:r>
              <a:rPr lang="en-US" dirty="0" smtClean="0"/>
              <a:t>group of individuals who act together in performing the work of the project to achieve its objectives.</a:t>
            </a:r>
          </a:p>
          <a:p>
            <a:endParaRPr lang="en-US" dirty="0" smtClean="0"/>
          </a:p>
          <a:p>
            <a:r>
              <a:rPr lang="en-US" dirty="0" smtClean="0"/>
              <a:t>The Project team includes the project manager, project management staff, and other team members who carry out the work but who are not necessarily involved with management of the project.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b="1" dirty="0" smtClean="0"/>
              <a:t>Project team composition </a:t>
            </a:r>
            <a:r>
              <a:rPr lang="en-US" b="1" dirty="0"/>
              <a:t>refers to the structure of the team and how team members are brought together or combined into the team.</a:t>
            </a:r>
            <a:endParaRPr lang="en-GB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35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6828272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764704"/>
            <a:ext cx="7543800" cy="1450757"/>
          </a:xfrm>
        </p:spPr>
        <p:txBody>
          <a:bodyPr>
            <a:normAutofit/>
          </a:bodyPr>
          <a:lstStyle/>
          <a:p>
            <a:r>
              <a:rPr lang="en-GB" sz="4000" b="1" dirty="0"/>
              <a:t>Project Team Composition</a:t>
            </a:r>
            <a:br>
              <a:rPr lang="en-GB" sz="4000" b="1" dirty="0"/>
            </a:b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Basic Project team compositions</a:t>
            </a:r>
          </a:p>
          <a:p>
            <a:pPr algn="just"/>
            <a:r>
              <a:rPr lang="en-US" b="1" dirty="0" smtClean="0"/>
              <a:t>Dedicated:</a:t>
            </a:r>
            <a:r>
              <a:rPr lang="en-US" dirty="0" smtClean="0"/>
              <a:t> Work full time on the project.</a:t>
            </a:r>
          </a:p>
          <a:p>
            <a:pPr algn="just"/>
            <a:r>
              <a:rPr lang="en-US" b="1" dirty="0" smtClean="0"/>
              <a:t>Part-time: </a:t>
            </a:r>
            <a:r>
              <a:rPr lang="en-US" dirty="0" smtClean="0"/>
              <a:t>Some projects are established as temporary additional work.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For example, they may be a dedicated team where most of the project team members are assigned to work on the project full-time, or they may be part-time team members working on a project in addition to their regular work.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36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3219693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764704"/>
            <a:ext cx="7543800" cy="1450757"/>
          </a:xfrm>
        </p:spPr>
        <p:txBody>
          <a:bodyPr>
            <a:normAutofit/>
          </a:bodyPr>
          <a:lstStyle/>
          <a:p>
            <a:r>
              <a:rPr lang="en-GB" sz="4000" b="1" dirty="0"/>
              <a:t>Project Team Composition</a:t>
            </a:r>
            <a:br>
              <a:rPr lang="en-GB" sz="4000" b="1" dirty="0"/>
            </a:b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997513" cy="4247562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200" dirty="0"/>
              <a:t>The structure and composition of a project team are influenced by various </a:t>
            </a:r>
            <a:r>
              <a:rPr lang="en-US" sz="2200" dirty="0" smtClean="0"/>
              <a:t>factors. Here </a:t>
            </a:r>
            <a:r>
              <a:rPr lang="en-US" sz="2200" dirty="0"/>
              <a:t>are </a:t>
            </a:r>
            <a:r>
              <a:rPr lang="en-US" sz="2200" b="1" dirty="0"/>
              <a:t>some key elements to consider in project team composition</a:t>
            </a:r>
            <a:r>
              <a:rPr lang="en-US" sz="2200" b="1" dirty="0" smtClean="0"/>
              <a:t>:</a:t>
            </a:r>
          </a:p>
          <a:p>
            <a:pPr algn="just"/>
            <a:r>
              <a:rPr lang="en-US" sz="2200" b="1" dirty="0"/>
              <a:t>Project </a:t>
            </a:r>
            <a:r>
              <a:rPr lang="en-US" sz="2200" b="1" dirty="0" smtClean="0"/>
              <a:t>Manager: </a:t>
            </a:r>
            <a:r>
              <a:rPr lang="en-US" sz="2200" dirty="0" smtClean="0"/>
              <a:t>The</a:t>
            </a:r>
            <a:r>
              <a:rPr lang="en-US" sz="2200" b="1" dirty="0" smtClean="0"/>
              <a:t> </a:t>
            </a:r>
            <a:r>
              <a:rPr lang="en-US" sz="2200" dirty="0"/>
              <a:t>project manager is responsible for overall project success, planning, execution, and communication with stakeholders.</a:t>
            </a:r>
            <a:br>
              <a:rPr lang="en-US" sz="2200" dirty="0"/>
            </a:br>
            <a:r>
              <a:rPr lang="en-US" sz="2200" dirty="0"/>
              <a:t>They may be a </a:t>
            </a:r>
            <a:r>
              <a:rPr lang="en-US" sz="2200" b="1" dirty="0"/>
              <a:t>dedicated project manager </a:t>
            </a:r>
            <a:r>
              <a:rPr lang="en-US" sz="2200" dirty="0"/>
              <a:t>or a </a:t>
            </a:r>
            <a:r>
              <a:rPr lang="en-US" sz="2200" b="1" dirty="0"/>
              <a:t>functional manager </a:t>
            </a:r>
            <a:r>
              <a:rPr lang="en-US" sz="2200" dirty="0"/>
              <a:t>taking on a temporary project management role</a:t>
            </a:r>
            <a:r>
              <a:rPr lang="en-US" sz="2200" dirty="0" smtClean="0"/>
              <a:t>.</a:t>
            </a:r>
          </a:p>
          <a:p>
            <a:r>
              <a:rPr lang="en-US" sz="2200" b="1" dirty="0" smtClean="0"/>
              <a:t>Project </a:t>
            </a:r>
            <a:r>
              <a:rPr lang="en-US" sz="2200" b="1" dirty="0"/>
              <a:t>Management </a:t>
            </a:r>
            <a:r>
              <a:rPr lang="en-US" sz="2200" b="1" dirty="0" smtClean="0"/>
              <a:t>Staff</a:t>
            </a:r>
            <a:r>
              <a:rPr lang="en-US" sz="2200" b="1" dirty="0" smtClean="0"/>
              <a:t>:</a:t>
            </a:r>
            <a:r>
              <a:rPr lang="en-US" sz="2200" dirty="0" smtClean="0"/>
              <a:t> </a:t>
            </a:r>
            <a:r>
              <a:rPr lang="en-US" sz="2200" dirty="0" smtClean="0"/>
              <a:t>This </a:t>
            </a:r>
            <a:r>
              <a:rPr lang="en-US" sz="2200" dirty="0"/>
              <a:t>includes individuals responsible for specific aspects of project management, such as scheduling, budgeting, risk management, </a:t>
            </a:r>
            <a:r>
              <a:rPr lang="en-US" sz="2200" dirty="0" smtClean="0"/>
              <a:t>and administrative support.</a:t>
            </a:r>
            <a:endParaRPr lang="en-US" sz="2200" dirty="0" smtClean="0"/>
          </a:p>
          <a:p>
            <a:r>
              <a:rPr lang="en-US" sz="2200" dirty="0"/>
              <a:t/>
            </a:r>
            <a:br>
              <a:rPr lang="en-US" sz="2200" dirty="0"/>
            </a:br>
            <a:r>
              <a:rPr lang="en-US" sz="2200" b="1" dirty="0"/>
              <a:t>Project management team members support the project manager in coordinating and controlling project activities.</a:t>
            </a:r>
          </a:p>
          <a:p>
            <a:pPr algn="just"/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37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9911031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764704"/>
            <a:ext cx="7543800" cy="1450757"/>
          </a:xfrm>
        </p:spPr>
        <p:txBody>
          <a:bodyPr>
            <a:normAutofit/>
          </a:bodyPr>
          <a:lstStyle/>
          <a:p>
            <a:r>
              <a:rPr lang="en-GB" sz="4000" b="1" dirty="0"/>
              <a:t>Project Team Composition</a:t>
            </a:r>
            <a:br>
              <a:rPr lang="en-GB" sz="4000" b="1" dirty="0"/>
            </a:b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997513" cy="4247562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Team </a:t>
            </a:r>
            <a:r>
              <a:rPr lang="en-US" b="1" dirty="0" smtClean="0"/>
              <a:t>members/ Project staff </a:t>
            </a:r>
            <a:r>
              <a:rPr lang="en-US" dirty="0"/>
              <a:t>are individuals who contribute directly to project </a:t>
            </a:r>
            <a:r>
              <a:rPr lang="en-US" dirty="0" smtClean="0"/>
              <a:t>deliverables.</a:t>
            </a:r>
          </a:p>
          <a:p>
            <a:pPr algn="just"/>
            <a:r>
              <a:rPr lang="en-US" dirty="0"/>
              <a:t>Team members may be full-time or part-time, depending on the project’s size and </a:t>
            </a:r>
            <a:r>
              <a:rPr lang="en-US" dirty="0" smtClean="0"/>
              <a:t>complexity.</a:t>
            </a:r>
          </a:p>
          <a:p>
            <a:pPr algn="just"/>
            <a:r>
              <a:rPr lang="en-US" b="1" dirty="0" smtClean="0"/>
              <a:t>External </a:t>
            </a:r>
            <a:r>
              <a:rPr lang="en-US" b="1" dirty="0"/>
              <a:t>Stakeholders</a:t>
            </a:r>
            <a:r>
              <a:rPr lang="en-US" b="1" dirty="0" smtClean="0"/>
              <a:t>: </a:t>
            </a:r>
            <a:r>
              <a:rPr lang="en-US" dirty="0" smtClean="0"/>
              <a:t>In </a:t>
            </a:r>
            <a:r>
              <a:rPr lang="en-US" dirty="0"/>
              <a:t>some cases, external stakeholders, such as vendors, consultants, or clients, may be part of the project team.</a:t>
            </a:r>
          </a:p>
          <a:p>
            <a:pPr algn="just"/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38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6425856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/>
              <a:t>Project Team Composition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853497" cy="4023360"/>
          </a:xfrm>
        </p:spPr>
        <p:txBody>
          <a:bodyPr/>
          <a:lstStyle/>
          <a:p>
            <a:endParaRPr lang="en-GB" b="1" dirty="0" smtClean="0"/>
          </a:p>
          <a:p>
            <a:r>
              <a:rPr lang="en-GB" b="1" dirty="0" smtClean="0"/>
              <a:t>Skill </a:t>
            </a:r>
            <a:r>
              <a:rPr lang="en-GB" b="1" dirty="0"/>
              <a:t>Sets and Knowledge</a:t>
            </a:r>
            <a:r>
              <a:rPr lang="en-GB" b="1" dirty="0" smtClean="0"/>
              <a:t>: </a:t>
            </a:r>
            <a:r>
              <a:rPr lang="en-US" dirty="0"/>
              <a:t>The composition of the team should cover the entire skill spectrum required for project success</a:t>
            </a:r>
            <a:r>
              <a:rPr lang="en-US" dirty="0" smtClean="0"/>
              <a:t>.</a:t>
            </a:r>
          </a:p>
          <a:p>
            <a:r>
              <a:rPr lang="en-US" b="1" dirty="0"/>
              <a:t>Organizational Culture and Location</a:t>
            </a:r>
            <a:r>
              <a:rPr lang="en-US" b="1" dirty="0" smtClean="0"/>
              <a:t>: </a:t>
            </a:r>
            <a:r>
              <a:rPr lang="en-US" dirty="0" smtClean="0"/>
              <a:t>Organizational</a:t>
            </a:r>
            <a:r>
              <a:rPr lang="en-US" b="1" dirty="0" smtClean="0"/>
              <a:t> </a:t>
            </a:r>
            <a:r>
              <a:rPr lang="en-US" dirty="0"/>
              <a:t>culture and location can influence how teams are structured and how they collaborate</a:t>
            </a:r>
            <a:r>
              <a:rPr lang="en-US" dirty="0" smtClean="0"/>
              <a:t>.</a:t>
            </a:r>
          </a:p>
          <a:p>
            <a:r>
              <a:rPr lang="en-US" b="1" dirty="0"/>
              <a:t>Temporary or Matrix Structures</a:t>
            </a:r>
            <a:r>
              <a:rPr lang="en-US" b="1" dirty="0" smtClean="0"/>
              <a:t>: </a:t>
            </a:r>
            <a:r>
              <a:rPr lang="en-US" dirty="0" smtClean="0"/>
              <a:t>Project</a:t>
            </a:r>
            <a:r>
              <a:rPr lang="en-US" b="1" dirty="0" smtClean="0"/>
              <a:t> </a:t>
            </a:r>
            <a:r>
              <a:rPr lang="en-US" dirty="0"/>
              <a:t>teams can be organized as temporary entities for the duration of the project. Matrix structures involve team members reporting to both functional and project managers.</a:t>
            </a:r>
          </a:p>
          <a:p>
            <a:endParaRPr lang="en-GB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39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42092891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/>
              <a:t>Project Team Composition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r>
              <a:rPr lang="en-US" b="1" dirty="0" smtClean="0"/>
              <a:t>. Appoint </a:t>
            </a:r>
            <a:r>
              <a:rPr lang="en-US" b="1" dirty="0"/>
              <a:t>a Leader and the Initial Team and Sketch Out </a:t>
            </a:r>
            <a:r>
              <a:rPr lang="en-US" b="1" dirty="0" smtClean="0"/>
              <a:t>Project.</a:t>
            </a:r>
          </a:p>
          <a:p>
            <a:pPr lvl="1"/>
            <a:r>
              <a:rPr lang="en-US" sz="2000" dirty="0"/>
              <a:t>Bring together the people who are charged with initiating the project. </a:t>
            </a:r>
            <a:endParaRPr lang="en-US" sz="2000" dirty="0" smtClean="0"/>
          </a:p>
          <a:p>
            <a:pPr lvl="1"/>
            <a:r>
              <a:rPr lang="en-US" sz="2000" dirty="0" smtClean="0"/>
              <a:t>Sketch </a:t>
            </a:r>
            <a:r>
              <a:rPr lang="en-US" sz="2000" dirty="0"/>
              <a:t>out the scope of the project, </a:t>
            </a:r>
            <a:r>
              <a:rPr lang="en-US" sz="2000" dirty="0" smtClean="0"/>
              <a:t>targets</a:t>
            </a:r>
            <a:r>
              <a:rPr lang="en-US" sz="2000" dirty="0"/>
              <a:t>, what </a:t>
            </a:r>
            <a:r>
              <a:rPr lang="en-US" sz="2000" dirty="0" smtClean="0"/>
              <a:t>the key </a:t>
            </a:r>
            <a:r>
              <a:rPr lang="en-US" sz="2000" dirty="0"/>
              <a:t>threats might be, what strategies you might undertake, and most importantly, who the key stakeholders might be. </a:t>
            </a:r>
            <a:endParaRPr lang="en-US" sz="2000" dirty="0" smtClean="0"/>
          </a:p>
          <a:p>
            <a:pPr lvl="3"/>
            <a:r>
              <a:rPr lang="en-US" sz="2000" dirty="0" smtClean="0"/>
              <a:t>This </a:t>
            </a:r>
            <a:r>
              <a:rPr lang="en-US" sz="2000" dirty="0"/>
              <a:t>rough sketch </a:t>
            </a:r>
            <a:r>
              <a:rPr lang="en-US" sz="2000" dirty="0" smtClean="0"/>
              <a:t>gives </a:t>
            </a:r>
            <a:r>
              <a:rPr lang="en-US" sz="2000" dirty="0"/>
              <a:t>you some idea of what skills and </a:t>
            </a:r>
            <a:r>
              <a:rPr lang="en-US" sz="2000" dirty="0" smtClean="0"/>
              <a:t>organizations </a:t>
            </a:r>
            <a:r>
              <a:rPr lang="en-US" sz="2000" dirty="0"/>
              <a:t>you might need to involve in </a:t>
            </a:r>
            <a:r>
              <a:rPr lang="en-US" sz="2000" dirty="0" smtClean="0"/>
              <a:t>various </a:t>
            </a:r>
            <a:r>
              <a:rPr lang="en-US" sz="2000" dirty="0"/>
              <a:t>roles on the project team. </a:t>
            </a:r>
            <a:endParaRPr lang="en-US" sz="2000" dirty="0" smtClean="0"/>
          </a:p>
          <a:p>
            <a:pPr marL="0" indent="0">
              <a:buNone/>
            </a:pPr>
            <a:r>
              <a:rPr lang="en-GB" dirty="0" smtClean="0"/>
              <a:t>2. Select Project Team Members based on the initial </a:t>
            </a:r>
            <a:r>
              <a:rPr lang="en-GB" dirty="0" smtClean="0"/>
              <a:t>analysis.</a:t>
            </a:r>
            <a:endParaRPr lang="en-GB" dirty="0" smtClean="0"/>
          </a:p>
          <a:p>
            <a:pPr marL="0" indent="0">
              <a:buNone/>
            </a:pPr>
            <a:r>
              <a:rPr lang="en-US" dirty="0" smtClean="0"/>
              <a:t>3. Define </a:t>
            </a:r>
            <a:r>
              <a:rPr lang="en-US" dirty="0"/>
              <a:t>Roles and Team Operations </a:t>
            </a:r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40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6813616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C7BF-0B47-4E79-83C6-67955BC86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skerville Old Face" panose="02020602080505020303" pitchFamily="18" charset="0"/>
              </a:rPr>
              <a:t>Reading</a:t>
            </a:r>
            <a:r>
              <a:rPr lang="en-US" dirty="0"/>
              <a:t> </a:t>
            </a:r>
            <a:r>
              <a:rPr lang="en-US" b="1" dirty="0">
                <a:latin typeface="Baskerville Old Face" panose="02020602080505020303" pitchFamily="18" charset="0"/>
              </a:rPr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DC546-52E5-41DA-B325-6605630D1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100" dirty="0"/>
          </a:p>
          <a:p>
            <a:r>
              <a:rPr lang="en-US" sz="2100" b="1" dirty="0"/>
              <a:t>Chapter 2: The Environment in which the Project </a:t>
            </a:r>
            <a:r>
              <a:rPr lang="en-US" sz="2100" b="1" dirty="0" smtClean="0"/>
              <a:t>Operates &amp; Role of Project Manager </a:t>
            </a:r>
            <a:r>
              <a:rPr lang="en-US" dirty="0"/>
              <a:t>by PMBOK-Guide-6th-Edition-PMI</a:t>
            </a:r>
          </a:p>
          <a:p>
            <a:r>
              <a:rPr lang="en-US" dirty="0"/>
              <a:t>(Book and Lecture Slides are already uploaded on </a:t>
            </a:r>
            <a:r>
              <a:rPr lang="en-US" dirty="0" smtClean="0"/>
              <a:t>the resource </a:t>
            </a:r>
            <a:r>
              <a:rPr lang="en-US" dirty="0"/>
              <a:t>link.)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02B09-1F9D-427A-B846-E2E1785EF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3E04-10BA-42D9-BBD8-065734366FCF}" type="datetime1">
              <a:rPr lang="en-IE" smtClean="0"/>
              <a:t>17/09/2024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6F421-BEF6-4F37-B740-BDD253168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EC7B5-5B0A-4C13-9C45-C564BA1F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BCB7-F020-4D66-B969-F77D7060AB5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142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 Task: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software organization and analyze the impact of </a:t>
            </a:r>
            <a:r>
              <a:rPr lang="en-US" dirty="0" smtClean="0"/>
              <a:t>organizational </a:t>
            </a:r>
            <a:r>
              <a:rPr lang="en-US" dirty="0"/>
              <a:t>culture and </a:t>
            </a:r>
            <a:r>
              <a:rPr lang="en-US" dirty="0" smtClean="0"/>
              <a:t>structure on project management.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D8D467-3337-4E50-906B-990FD1D64E2A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42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6832575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99592" y="1219200"/>
            <a:ext cx="7482408" cy="5257800"/>
          </a:xfrm>
        </p:spPr>
        <p:txBody>
          <a:bodyPr>
            <a:noAutofit/>
          </a:bodyPr>
          <a:lstStyle/>
          <a:p>
            <a:pPr algn="l"/>
            <a:endParaRPr lang="en-US" sz="6000" dirty="0">
              <a:solidFill>
                <a:schemeClr val="tx1"/>
              </a:solidFill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6000" dirty="0">
                <a:solidFill>
                  <a:schemeClr val="tx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		 Thank You</a:t>
            </a:r>
          </a:p>
        </p:txBody>
      </p:sp>
      <p:sp>
        <p:nvSpPr>
          <p:cNvPr id="4" name="Rectangle 1040"/>
          <p:cNvSpPr txBox="1">
            <a:spLocks noChangeArrowheads="1"/>
          </p:cNvSpPr>
          <p:nvPr/>
        </p:nvSpPr>
        <p:spPr>
          <a:xfrm>
            <a:off x="2590800" y="0"/>
            <a:ext cx="6553200" cy="1023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US" sz="4000" b="1" dirty="0">
              <a:latin typeface="Baskerville Old Face" panose="02020602080505020303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3264331-E302-4CA5-9B4A-5B76381BB1D2}" type="datetime1">
              <a:rPr lang="en-IE" smtClean="0"/>
              <a:t>17/09/2024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smtClean="0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BC991-349A-427E-B0B2-8596DFCF392D}" type="slidenum">
              <a:rPr lang="en-IE" altLang="en-US" smtClean="0"/>
              <a:pPr/>
              <a:t>43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23844585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7422</TotalTime>
  <Words>2711</Words>
  <Application>Microsoft Office PowerPoint</Application>
  <PresentationFormat>On-screen Show (4:3)</PresentationFormat>
  <Paragraphs>366</Paragraphs>
  <Slides>43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Baskerville Old Face</vt:lpstr>
      <vt:lpstr>Calibri</vt:lpstr>
      <vt:lpstr>Calibri Light</vt:lpstr>
      <vt:lpstr>Times New Roman</vt:lpstr>
      <vt:lpstr>Wingdings</vt:lpstr>
      <vt:lpstr>Retrospect</vt:lpstr>
      <vt:lpstr>Organizational Influences &amp; Project Life Cycle</vt:lpstr>
      <vt:lpstr>THE ENVIRONMENT IN WHICH PROJECTS OPERATE</vt:lpstr>
      <vt:lpstr>Enterprise Environmental Factors (EEFs)</vt:lpstr>
      <vt:lpstr>Enterprise Environmental Factors (EEFs)</vt:lpstr>
      <vt:lpstr>Enterprise Environmental Factors (EEFs)</vt:lpstr>
      <vt:lpstr>Enterprise Environmental Factors (EEFs)</vt:lpstr>
      <vt:lpstr>Organizational Structure </vt:lpstr>
      <vt:lpstr>PowerPoint Presentation</vt:lpstr>
      <vt:lpstr>Organizational Structures </vt:lpstr>
      <vt:lpstr>PowerPoint Presentation</vt:lpstr>
      <vt:lpstr>PowerPoint Presentation</vt:lpstr>
      <vt:lpstr>Organizational Structures </vt:lpstr>
      <vt:lpstr>PowerPoint Presentation</vt:lpstr>
      <vt:lpstr>PowerPoint Presentation</vt:lpstr>
      <vt:lpstr>Matrix Organizational Structures</vt:lpstr>
      <vt:lpstr>Matrix Organizational Structures (Cont.)</vt:lpstr>
      <vt:lpstr>Matrix Organizational Structures (Cont.)</vt:lpstr>
      <vt:lpstr>Matrix Organizational Structures (Cont.)</vt:lpstr>
      <vt:lpstr>PowerPoint Presentation</vt:lpstr>
      <vt:lpstr>Matrix Organizational Structures (Cont.)</vt:lpstr>
      <vt:lpstr>PowerPoint Presentation</vt:lpstr>
      <vt:lpstr>PowerPoint Presentation</vt:lpstr>
      <vt:lpstr>PowerPoint Presentation</vt:lpstr>
      <vt:lpstr>PowerPoint Presentation</vt:lpstr>
      <vt:lpstr>FACTORS IN ORGANIZATION STRUCTURE SELECTION</vt:lpstr>
      <vt:lpstr>Practice</vt:lpstr>
      <vt:lpstr>ORGANIZATIONAL PROCESS ASSETS</vt:lpstr>
      <vt:lpstr>ORGANIZATIONAL PROCESS ASSETS</vt:lpstr>
      <vt:lpstr>ORGANIZATIONAL PROCESS ASSETS</vt:lpstr>
      <vt:lpstr>ORGANIZATIONAL PROCESS ASSETS</vt:lpstr>
      <vt:lpstr>PROJECT MANAGEMENT OFFICE</vt:lpstr>
      <vt:lpstr>PROJECT MANAGEMENT OFFICE</vt:lpstr>
      <vt:lpstr>PROJECT MANAGEMENT OFFICE</vt:lpstr>
      <vt:lpstr>PROJECT MANAGEMENT OFFICE</vt:lpstr>
      <vt:lpstr>Project Team Composition </vt:lpstr>
      <vt:lpstr>Project Team Composition </vt:lpstr>
      <vt:lpstr>Project Team Composition </vt:lpstr>
      <vt:lpstr>Project Team Composition </vt:lpstr>
      <vt:lpstr>Project Team Composition</vt:lpstr>
      <vt:lpstr>Project Team Composition</vt:lpstr>
      <vt:lpstr>Reading Assignment</vt:lpstr>
      <vt:lpstr>Home Task: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SE-II Lecture-1</dc:title>
  <dc:creator>SIH</dc:creator>
  <cp:lastModifiedBy>Humaira Afzal</cp:lastModifiedBy>
  <cp:revision>342</cp:revision>
  <dcterms:created xsi:type="dcterms:W3CDTF">2016-01-31T17:24:27Z</dcterms:created>
  <dcterms:modified xsi:type="dcterms:W3CDTF">2024-09-17T10:01:43Z</dcterms:modified>
</cp:coreProperties>
</file>