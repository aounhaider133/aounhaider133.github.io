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wmf" ContentType="image/x-wmf"/>
  <Default Extension="xls" ContentType="application/vnd.ms-exce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20"/>
  </p:notesMasterIdLst>
  <p:sldIdLst>
    <p:sldId id="561" r:id="rId2"/>
    <p:sldId id="504" r:id="rId3"/>
    <p:sldId id="505" r:id="rId4"/>
    <p:sldId id="506" r:id="rId5"/>
    <p:sldId id="507" r:id="rId6"/>
    <p:sldId id="508" r:id="rId7"/>
    <p:sldId id="509" r:id="rId8"/>
    <p:sldId id="510" r:id="rId9"/>
    <p:sldId id="511" r:id="rId10"/>
    <p:sldId id="437" r:id="rId11"/>
    <p:sldId id="442" r:id="rId12"/>
    <p:sldId id="443" r:id="rId13"/>
    <p:sldId id="444" r:id="rId14"/>
    <p:sldId id="446" r:id="rId15"/>
    <p:sldId id="447" r:id="rId16"/>
    <p:sldId id="448" r:id="rId17"/>
    <p:sldId id="449" r:id="rId18"/>
    <p:sldId id="512" r:id="rId19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66"/>
    <a:srgbClr val="FF3399"/>
    <a:srgbClr val="FF3300"/>
    <a:srgbClr val="0000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4229" autoAdjust="0"/>
  </p:normalViewPr>
  <p:slideViewPr>
    <p:cSldViewPr>
      <p:cViewPr varScale="1">
        <p:scale>
          <a:sx n="61" d="100"/>
          <a:sy n="61" d="100"/>
        </p:scale>
        <p:origin x="-160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0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6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921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BAC4160-D9F3-45E2-9DE0-B8B505BD6E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46023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95B799E-8931-4162-B505-68AEEEF98DB2}" type="slidenum">
              <a:rPr lang="en-US" smtClean="0">
                <a:latin typeface="Arial" pitchFamily="34" charset="0"/>
                <a:cs typeface="Arial" pitchFamily="34" charset="0"/>
              </a:rPr>
              <a:pPr/>
              <a:t>1</a:t>
            </a:fld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20349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AB0025-F80C-4454-8507-DF56B2519CB3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857AEC-EEBF-4F81-B10B-169711081BC4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D9740E-E644-4C65-859D-3297D7B88BA8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F58780-53E0-4971-8820-0F77F9B52A24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95E4031-FFC7-4D69-A1B2-EBFA0B4FF622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5579AEF-054F-471B-8445-42BFFD26F137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54502C-0FE2-4C6A-BBB3-E560A8D35991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3BA2282-913F-412A-AFAC-2D5F651F1651}" type="slidenum">
              <a:rPr lang="en-US" smtClean="0"/>
              <a:pPr/>
              <a:t>9</a:t>
            </a:fld>
            <a:endParaRPr lang="en-US" smtClean="0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51C985E-D491-4846-B4E3-3CC5D2131582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5A9EE7-E4AC-4300-A754-514C3129D0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4E1A1F-3ABD-4CEF-A482-B15E21FE08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58B5C6-2A8F-42B5-99F9-35F9B3F498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5BAAB9-4F84-40AE-B308-95384B73C7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3200C8-5B76-4616-82A2-EE151DA163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84BC93-BA4B-4474-84A5-200AE18AB8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8A281-50F0-40D6-9CF3-3E00E48EFE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97B583-639C-495F-A483-15D5E0E4D9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14A99-27F8-416E-9CB7-91D553088F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5A75F8-C3A3-43B4-80CB-23D2B6E01E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A0AFE1-0021-4963-8B77-5747897D15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152900" cy="5105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B57C20-ABA4-45C2-B5B4-462B0CD115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10100" y="1371600"/>
            <a:ext cx="4152900" cy="2476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10100" y="4000500"/>
            <a:ext cx="4152900" cy="2476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3A1FD7-7038-4DDE-AC61-55E0D58978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99CC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fld id="{7DCC2CAA-102D-45B2-908E-FFE82ECC94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3" r:id="rId1"/>
    <p:sldLayoutId id="2147484164" r:id="rId2"/>
    <p:sldLayoutId id="2147484165" r:id="rId3"/>
    <p:sldLayoutId id="2147484166" r:id="rId4"/>
    <p:sldLayoutId id="2147484167" r:id="rId5"/>
    <p:sldLayoutId id="2147484168" r:id="rId6"/>
    <p:sldLayoutId id="2147484169" r:id="rId7"/>
    <p:sldLayoutId id="2147484170" r:id="rId8"/>
    <p:sldLayoutId id="2147484171" r:id="rId9"/>
    <p:sldLayoutId id="2147484172" r:id="rId10"/>
    <p:sldLayoutId id="2147484173" r:id="rId11"/>
    <p:sldLayoutId id="2147484174" r:id="rId12"/>
    <p:sldLayoutId id="2147484175" r:id="rId13"/>
    <p:sldLayoutId id="2147484178" r:id="rId14"/>
    <p:sldLayoutId id="2147484180" r:id="rId1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Font typeface="Monotype Sorts" pitchFamily="2" charset="2"/>
        <a:buChar char="u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Font typeface="Monotype Sorts" pitchFamily="2" charset="2"/>
        <a:buChar char="w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5.bin"/><Relationship Id="rId4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8.bin"/><Relationship Id="rId5" Type="http://schemas.openxmlformats.org/officeDocument/2006/relationships/oleObject" Target="../embeddings/oleObject7.bin"/><Relationship Id="rId4" Type="http://schemas.openxmlformats.org/officeDocument/2006/relationships/oleObject" Target="../embeddings/oleObject6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Microsoft_Office_Excel_97-2003_Worksheet1.xls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Microsoft_Office_Excel_97-2003_Worksheet2.xls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9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oleObject" Target="../embeddings/oleObject10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oleObject" Target="../embeddings/oleObject13.bin"/><Relationship Id="rId4" Type="http://schemas.openxmlformats.org/officeDocument/2006/relationships/oleObject" Target="../embeddings/oleObject12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4" Type="http://schemas.openxmlformats.org/officeDocument/2006/relationships/oleObject" Target="../embeddings/oleObject15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4" Type="http://schemas.openxmlformats.org/officeDocument/2006/relationships/oleObject" Target="../embeddings/oleObject17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Excel_97-2003_Worksheet3.xls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2.vml"/><Relationship Id="rId5" Type="http://schemas.openxmlformats.org/officeDocument/2006/relationships/oleObject" Target="../embeddings/Microsoft_Office_Excel_97-2003_Worksheet5.xls"/><Relationship Id="rId4" Type="http://schemas.openxmlformats.org/officeDocument/2006/relationships/oleObject" Target="../embeddings/Microsoft_Office_Excel_97-2003_Worksheet4.xls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4"/>
          <p:cNvSpPr txBox="1">
            <a:spLocks noChangeArrowheads="1"/>
          </p:cNvSpPr>
          <p:nvPr/>
        </p:nvSpPr>
        <p:spPr bwMode="auto">
          <a:xfrm>
            <a:off x="762000" y="762000"/>
            <a:ext cx="7543800" cy="5823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4400" dirty="0"/>
              <a:t>CSC479 </a:t>
            </a:r>
          </a:p>
          <a:p>
            <a:r>
              <a:rPr lang="en-US" sz="4400" dirty="0"/>
              <a:t>Data Mining</a:t>
            </a:r>
          </a:p>
          <a:p>
            <a:endParaRPr lang="en-US" sz="2800" dirty="0"/>
          </a:p>
          <a:p>
            <a:endParaRPr lang="en-US" sz="2800" dirty="0"/>
          </a:p>
          <a:p>
            <a:pPr lvl="2"/>
            <a:r>
              <a:rPr lang="en-US" sz="3600" dirty="0" smtClean="0"/>
              <a:t>Classification Lecture </a:t>
            </a:r>
            <a:r>
              <a:rPr lang="en-US" sz="3600" dirty="0" smtClean="0"/>
              <a:t>5</a:t>
            </a:r>
            <a:endParaRPr lang="en-US" sz="3600" dirty="0" smtClean="0"/>
          </a:p>
          <a:p>
            <a:pPr lvl="2"/>
            <a:r>
              <a:rPr lang="en-US" sz="3600" b="0" dirty="0" smtClean="0"/>
              <a:t>Basic Concepts</a:t>
            </a:r>
          </a:p>
          <a:p>
            <a:pPr lvl="2"/>
            <a:r>
              <a:rPr lang="en-US" sz="3600" b="0" dirty="0" smtClean="0"/>
              <a:t>Bayesian Classification</a:t>
            </a:r>
          </a:p>
          <a:p>
            <a:pPr lvl="2"/>
            <a:r>
              <a:rPr lang="en-US" sz="3600" b="0" dirty="0" smtClean="0"/>
              <a:t>Naïve </a:t>
            </a:r>
            <a:r>
              <a:rPr lang="en-US" sz="3600" b="0" dirty="0" err="1" smtClean="0"/>
              <a:t>Bayes</a:t>
            </a:r>
            <a:r>
              <a:rPr lang="en-US" sz="3600" b="0" dirty="0" smtClean="0"/>
              <a:t> Classification</a:t>
            </a:r>
            <a:endParaRPr lang="en-US" sz="3600" b="0" dirty="0" smtClean="0"/>
          </a:p>
          <a:p>
            <a:pPr>
              <a:lnSpc>
                <a:spcPct val="90000"/>
              </a:lnSpc>
            </a:pPr>
            <a:endParaRPr lang="en-US" sz="3600" b="0" dirty="0"/>
          </a:p>
          <a:p>
            <a:r>
              <a:rPr lang="en-US" sz="2400" dirty="0"/>
              <a:t>(</a:t>
            </a:r>
            <a:r>
              <a:rPr lang="en-US" sz="2800" dirty="0"/>
              <a:t>Ch # </a:t>
            </a:r>
            <a:r>
              <a:rPr lang="en-US" sz="2800" dirty="0" smtClean="0"/>
              <a:t>8: Data Mining</a:t>
            </a:r>
            <a:r>
              <a:rPr lang="en-US" sz="2400" dirty="0" smtClean="0"/>
              <a:t>-Concepts and Techniques by Han and </a:t>
            </a:r>
            <a:r>
              <a:rPr lang="en-US" sz="2400" dirty="0" err="1" smtClean="0"/>
              <a:t>Kamber</a:t>
            </a:r>
            <a:r>
              <a:rPr lang="en-US" sz="2400" dirty="0" smtClean="0"/>
              <a:t>)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25958B32-722D-473D-B9BC-E65A24C73B79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696200" cy="685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smtClean="0"/>
              <a:t>Bayesian Classification: Why?</a:t>
            </a:r>
            <a:endParaRPr lang="en-US" sz="2400" smtClean="0"/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458200" cy="5257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sz="2400" u="sng" dirty="0" smtClean="0"/>
              <a:t>A statistical classifier</a:t>
            </a:r>
            <a:r>
              <a:rPr lang="en-US" sz="2400" dirty="0" smtClean="0"/>
              <a:t>: performs </a:t>
            </a:r>
            <a:r>
              <a:rPr lang="en-US" sz="2400" i="1" dirty="0" smtClean="0"/>
              <a:t>probabilistic prediction, i.e.,</a:t>
            </a:r>
            <a:r>
              <a:rPr lang="en-US" sz="2400" dirty="0" smtClean="0"/>
              <a:t> predicts class membership probabilities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u="sng" dirty="0" smtClean="0"/>
              <a:t>Foundation:</a:t>
            </a:r>
            <a:r>
              <a:rPr lang="en-US" sz="2400" dirty="0" smtClean="0"/>
              <a:t> Based on </a:t>
            </a:r>
            <a:r>
              <a:rPr lang="en-US" sz="2400" dirty="0" err="1" smtClean="0"/>
              <a:t>Bayes</a:t>
            </a:r>
            <a:r>
              <a:rPr lang="en-US" sz="2400" dirty="0" smtClean="0"/>
              <a:t>’ Theorem. 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u="sng" dirty="0" smtClean="0"/>
              <a:t>Performance:</a:t>
            </a:r>
            <a:r>
              <a:rPr lang="en-US" sz="2400" dirty="0" smtClean="0"/>
              <a:t> A simple Bayesian classifier, </a:t>
            </a:r>
            <a:r>
              <a:rPr lang="en-US" sz="2400" i="1" dirty="0" smtClean="0"/>
              <a:t>naïve Bayesian classifier</a:t>
            </a:r>
            <a:r>
              <a:rPr lang="en-US" sz="2400" dirty="0" smtClean="0"/>
              <a:t>, has comparable performance with decision tree and selected neural network classifiers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u="sng" dirty="0" smtClean="0"/>
              <a:t>Incremental</a:t>
            </a:r>
            <a:r>
              <a:rPr lang="en-US" sz="2400" dirty="0" smtClean="0"/>
              <a:t>: Each training example can incrementally increase/decrease the probability that a hypothesis is correct — prior knowledge can be combined with observed data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7D4ECCD-C23D-4CE7-B4D7-70ECA334B258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848600" cy="762000"/>
          </a:xfrm>
        </p:spPr>
        <p:txBody>
          <a:bodyPr/>
          <a:lstStyle/>
          <a:p>
            <a:pPr eaLnBrk="1" hangingPunct="1"/>
            <a:r>
              <a:rPr lang="en-US" smtClean="0"/>
              <a:t>Bayes’ Theorem: Basics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610600" cy="5410200"/>
          </a:xfrm>
        </p:spPr>
        <p:txBody>
          <a:bodyPr/>
          <a:lstStyle/>
          <a:p>
            <a:pPr eaLnBrk="1" hangingPunct="1"/>
            <a:r>
              <a:rPr lang="en-US" sz="2000" dirty="0" smtClean="0"/>
              <a:t>Total probability Theorem:</a:t>
            </a:r>
          </a:p>
          <a:p>
            <a:pPr eaLnBrk="1" hangingPunct="1"/>
            <a:endParaRPr lang="en-US" sz="2000" dirty="0" smtClean="0"/>
          </a:p>
          <a:p>
            <a:pPr eaLnBrk="1" hangingPunct="1"/>
            <a:r>
              <a:rPr lang="en-US" sz="2000" dirty="0" err="1" smtClean="0"/>
              <a:t>Bayes</a:t>
            </a:r>
            <a:r>
              <a:rPr lang="en-US" sz="2000" dirty="0" smtClean="0"/>
              <a:t>’ Theorem:</a:t>
            </a:r>
          </a:p>
          <a:p>
            <a:pPr eaLnBrk="1" hangingPunct="1"/>
            <a:endParaRPr lang="en-US" sz="2000" dirty="0" smtClean="0"/>
          </a:p>
          <a:p>
            <a:pPr lvl="1" eaLnBrk="1" hangingPunct="1"/>
            <a:r>
              <a:rPr lang="en-US" sz="2000" dirty="0" smtClean="0"/>
              <a:t>Let </a:t>
            </a:r>
            <a:r>
              <a:rPr lang="en-US" sz="2000" b="1" dirty="0" smtClean="0"/>
              <a:t>X</a:t>
            </a:r>
            <a:r>
              <a:rPr lang="en-US" sz="2000" dirty="0" smtClean="0"/>
              <a:t> be a data sample (“</a:t>
            </a:r>
            <a:r>
              <a:rPr lang="en-US" sz="2000" i="1" dirty="0" smtClean="0"/>
              <a:t>evidence</a:t>
            </a:r>
            <a:r>
              <a:rPr lang="en-US" sz="2000" dirty="0" smtClean="0"/>
              <a:t>”): class label is unknown</a:t>
            </a:r>
          </a:p>
          <a:p>
            <a:pPr lvl="1" eaLnBrk="1" hangingPunct="1"/>
            <a:r>
              <a:rPr lang="en-US" sz="2000" dirty="0" smtClean="0"/>
              <a:t>Let H be a </a:t>
            </a:r>
            <a:r>
              <a:rPr lang="en-US" sz="2000" i="1" dirty="0" smtClean="0"/>
              <a:t>hypothesis</a:t>
            </a:r>
            <a:r>
              <a:rPr lang="en-US" sz="2000" dirty="0" smtClean="0"/>
              <a:t> that X belongs to class C </a:t>
            </a:r>
          </a:p>
          <a:p>
            <a:pPr lvl="1" eaLnBrk="1" hangingPunct="1"/>
            <a:r>
              <a:rPr lang="en-US" sz="2000" dirty="0" smtClean="0"/>
              <a:t>Classification is to determine P(H|</a:t>
            </a:r>
            <a:r>
              <a:rPr lang="en-US" sz="2000" b="1" dirty="0" smtClean="0"/>
              <a:t>X</a:t>
            </a:r>
            <a:r>
              <a:rPr lang="en-US" sz="2000" dirty="0" smtClean="0"/>
              <a:t>), (i.e., </a:t>
            </a:r>
            <a:r>
              <a:rPr lang="en-US" sz="2000" i="1" dirty="0" smtClean="0"/>
              <a:t>posteriori probability): </a:t>
            </a:r>
            <a:r>
              <a:rPr lang="en-US" sz="2000" dirty="0" smtClean="0"/>
              <a:t> the probability that the hypothesis holds given the observed data sample </a:t>
            </a:r>
            <a:r>
              <a:rPr lang="en-US" sz="2000" b="1" dirty="0" smtClean="0"/>
              <a:t>X</a:t>
            </a:r>
          </a:p>
          <a:p>
            <a:pPr lvl="1" eaLnBrk="1" hangingPunct="1"/>
            <a:r>
              <a:rPr lang="en-US" sz="2000" dirty="0" smtClean="0"/>
              <a:t>P(H) (</a:t>
            </a:r>
            <a:r>
              <a:rPr lang="en-US" sz="2000" i="1" dirty="0" smtClean="0"/>
              <a:t>prior probability</a:t>
            </a:r>
            <a:r>
              <a:rPr lang="en-US" sz="2000" dirty="0" smtClean="0"/>
              <a:t>): the initial probability</a:t>
            </a:r>
          </a:p>
          <a:p>
            <a:pPr lvl="2" eaLnBrk="1" hangingPunct="1"/>
            <a:r>
              <a:rPr lang="en-US" sz="2000" dirty="0" smtClean="0"/>
              <a:t>E.g.,</a:t>
            </a:r>
            <a:r>
              <a:rPr lang="en-US" sz="2000" b="1" dirty="0" smtClean="0"/>
              <a:t> X</a:t>
            </a:r>
            <a:r>
              <a:rPr lang="en-US" sz="2000" dirty="0" smtClean="0"/>
              <a:t> will buy computer, regardless of age, income, …</a:t>
            </a:r>
          </a:p>
          <a:p>
            <a:pPr lvl="1" eaLnBrk="1" hangingPunct="1"/>
            <a:r>
              <a:rPr lang="en-US" sz="2000" dirty="0" smtClean="0"/>
              <a:t>P(</a:t>
            </a:r>
            <a:r>
              <a:rPr lang="en-US" sz="2000" b="1" dirty="0" smtClean="0"/>
              <a:t>X</a:t>
            </a:r>
            <a:r>
              <a:rPr lang="en-US" sz="2000" dirty="0" smtClean="0"/>
              <a:t>): probability that sample data is observed</a:t>
            </a:r>
          </a:p>
          <a:p>
            <a:pPr lvl="1" eaLnBrk="1" hangingPunct="1"/>
            <a:r>
              <a:rPr lang="en-US" sz="2000" dirty="0" smtClean="0"/>
              <a:t>P(</a:t>
            </a:r>
            <a:r>
              <a:rPr lang="en-US" sz="2000" b="1" dirty="0" smtClean="0"/>
              <a:t>X</a:t>
            </a:r>
            <a:r>
              <a:rPr lang="en-US" sz="2000" dirty="0" smtClean="0"/>
              <a:t>|H) (likelihood): the probability of observing the sample </a:t>
            </a:r>
            <a:r>
              <a:rPr lang="en-US" sz="2000" b="1" dirty="0" smtClean="0"/>
              <a:t>X</a:t>
            </a:r>
            <a:r>
              <a:rPr lang="en-US" sz="2000" dirty="0" smtClean="0"/>
              <a:t>, given that the hypothesis holds</a:t>
            </a:r>
          </a:p>
          <a:p>
            <a:pPr lvl="2" eaLnBrk="1" hangingPunct="1"/>
            <a:r>
              <a:rPr lang="en-US" sz="2000" dirty="0" smtClean="0"/>
              <a:t>E.g.,</a:t>
            </a:r>
            <a:r>
              <a:rPr lang="en-US" sz="2000" b="1" dirty="0" smtClean="0"/>
              <a:t> </a:t>
            </a:r>
            <a:r>
              <a:rPr lang="en-US" sz="2000" dirty="0" smtClean="0"/>
              <a:t>Given that</a:t>
            </a:r>
            <a:r>
              <a:rPr lang="en-US" sz="2000" b="1" dirty="0" smtClean="0"/>
              <a:t> X</a:t>
            </a:r>
            <a:r>
              <a:rPr lang="en-US" sz="2000" dirty="0" smtClean="0"/>
              <a:t> will buy computer, the prob. that X is 31..40, medium income</a:t>
            </a:r>
          </a:p>
        </p:txBody>
      </p:sp>
      <p:graphicFrame>
        <p:nvGraphicFramePr>
          <p:cNvPr id="34821" name="Object 1"/>
          <p:cNvGraphicFramePr>
            <a:graphicFrameLocks noChangeAspect="1"/>
          </p:cNvGraphicFramePr>
          <p:nvPr/>
        </p:nvGraphicFramePr>
        <p:xfrm>
          <a:off x="3657600" y="1143000"/>
          <a:ext cx="2165350" cy="600075"/>
        </p:xfrm>
        <a:graphic>
          <a:graphicData uri="http://schemas.openxmlformats.org/presentationml/2006/ole">
            <p:oleObj spid="_x0000_s297986" name="Equation" r:id="rId4" imgW="2476500" imgH="685800" progId="Equation.3">
              <p:embed/>
            </p:oleObj>
          </a:graphicData>
        </a:graphic>
      </p:graphicFrame>
      <p:graphicFrame>
        <p:nvGraphicFramePr>
          <p:cNvPr id="34822" name="Object 1"/>
          <p:cNvGraphicFramePr>
            <a:graphicFrameLocks noChangeAspect="1"/>
          </p:cNvGraphicFramePr>
          <p:nvPr/>
        </p:nvGraphicFramePr>
        <p:xfrm>
          <a:off x="2667000" y="1981200"/>
          <a:ext cx="6080125" cy="615950"/>
        </p:xfrm>
        <a:graphic>
          <a:graphicData uri="http://schemas.openxmlformats.org/presentationml/2006/ole">
            <p:oleObj spid="_x0000_s297987" name="Equation" r:id="rId5" imgW="4813300" imgH="55880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196EDF2-7845-4B30-BC85-BC48B4C963E3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"/>
          </a:xfrm>
        </p:spPr>
        <p:txBody>
          <a:bodyPr/>
          <a:lstStyle/>
          <a:p>
            <a:pPr eaLnBrk="1" hangingPunct="1"/>
            <a:r>
              <a:rPr lang="en-US" smtClean="0"/>
              <a:t>Prediction Based on Bayes’ Theorem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458200" cy="50292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sz="2400" smtClean="0"/>
              <a:t>Given training data</a:t>
            </a:r>
            <a:r>
              <a:rPr lang="en-US" sz="2400" i="1" smtClean="0"/>
              <a:t> </a:t>
            </a:r>
            <a:r>
              <a:rPr lang="en-US" sz="2400" b="1" smtClean="0"/>
              <a:t>X</a:t>
            </a:r>
            <a:r>
              <a:rPr lang="en-US" sz="2400" i="1" smtClean="0"/>
              <a:t>, posteriori probability of a hypothesis </a:t>
            </a:r>
            <a:r>
              <a:rPr lang="en-US" sz="2400" smtClean="0"/>
              <a:t>H</a:t>
            </a:r>
            <a:r>
              <a:rPr lang="en-US" sz="2400" i="1" smtClean="0"/>
              <a:t>, </a:t>
            </a:r>
            <a:r>
              <a:rPr lang="en-US" sz="2400" smtClean="0"/>
              <a:t>P(H|</a:t>
            </a:r>
            <a:r>
              <a:rPr lang="en-US" sz="2400" b="1" smtClean="0"/>
              <a:t>X</a:t>
            </a:r>
            <a:r>
              <a:rPr lang="en-US" sz="2400" smtClean="0"/>
              <a:t>)</a:t>
            </a:r>
            <a:r>
              <a:rPr lang="en-US" sz="2400" i="1" smtClean="0"/>
              <a:t>, </a:t>
            </a:r>
            <a:r>
              <a:rPr lang="en-US" sz="2400" smtClean="0"/>
              <a:t>follows the Bayes’ theorem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sz="2400" smtClean="0"/>
              <a:t>			</a:t>
            </a:r>
          </a:p>
          <a:p>
            <a:pPr eaLnBrk="1" hangingPunct="1">
              <a:lnSpc>
                <a:spcPct val="120000"/>
              </a:lnSpc>
            </a:pPr>
            <a:endParaRPr lang="en-US" sz="2400" smtClean="0"/>
          </a:p>
          <a:p>
            <a:pPr eaLnBrk="1" hangingPunct="1">
              <a:lnSpc>
                <a:spcPct val="120000"/>
              </a:lnSpc>
            </a:pPr>
            <a:r>
              <a:rPr lang="en-US" sz="2400" smtClean="0"/>
              <a:t>Informally, this can be viewed as </a:t>
            </a:r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sz="2400" smtClean="0"/>
              <a:t>		posteriori = likelihood x prior/evidence</a:t>
            </a:r>
          </a:p>
          <a:p>
            <a:pPr eaLnBrk="1" hangingPunct="1">
              <a:lnSpc>
                <a:spcPct val="120000"/>
              </a:lnSpc>
            </a:pPr>
            <a:r>
              <a:rPr lang="en-US" sz="2400" smtClean="0"/>
              <a:t>Predicts </a:t>
            </a:r>
            <a:r>
              <a:rPr lang="en-US" sz="2400" b="1" smtClean="0"/>
              <a:t>X</a:t>
            </a:r>
            <a:r>
              <a:rPr lang="en-US" sz="2400" smtClean="0"/>
              <a:t> belongs to C</a:t>
            </a:r>
            <a:r>
              <a:rPr lang="en-US" sz="2400" baseline="-25000" smtClean="0"/>
              <a:t>i</a:t>
            </a:r>
            <a:r>
              <a:rPr lang="en-US" sz="2400" smtClean="0"/>
              <a:t> iff the probability P(C</a:t>
            </a:r>
            <a:r>
              <a:rPr lang="en-US" sz="2400" baseline="-25000" smtClean="0"/>
              <a:t>i</a:t>
            </a:r>
            <a:r>
              <a:rPr lang="en-US" sz="2400" smtClean="0"/>
              <a:t>|</a:t>
            </a:r>
            <a:r>
              <a:rPr lang="en-US" sz="2400" b="1" smtClean="0"/>
              <a:t>X</a:t>
            </a:r>
            <a:r>
              <a:rPr lang="en-US" sz="2400" smtClean="0"/>
              <a:t>) is the highest among all the P(C</a:t>
            </a:r>
            <a:r>
              <a:rPr lang="en-US" sz="2400" baseline="-25000" smtClean="0"/>
              <a:t>k</a:t>
            </a:r>
            <a:r>
              <a:rPr lang="en-US" sz="2400" smtClean="0"/>
              <a:t>|X) for all the </a:t>
            </a:r>
            <a:r>
              <a:rPr lang="en-US" sz="2400" i="1" smtClean="0"/>
              <a:t>k</a:t>
            </a:r>
            <a:r>
              <a:rPr lang="en-US" sz="2400" smtClean="0"/>
              <a:t> classes</a:t>
            </a:r>
          </a:p>
          <a:p>
            <a:pPr eaLnBrk="1" hangingPunct="1">
              <a:lnSpc>
                <a:spcPct val="120000"/>
              </a:lnSpc>
            </a:pPr>
            <a:r>
              <a:rPr lang="en-US" sz="2400" smtClean="0"/>
              <a:t>Practical difficulty:  It requires initial knowledge of many probabilities, involving significant computational cost</a:t>
            </a:r>
          </a:p>
        </p:txBody>
      </p:sp>
      <p:graphicFrame>
        <p:nvGraphicFramePr>
          <p:cNvPr id="35845" name="Object 4"/>
          <p:cNvGraphicFramePr>
            <a:graphicFrameLocks noChangeAspect="1"/>
          </p:cNvGraphicFramePr>
          <p:nvPr/>
        </p:nvGraphicFramePr>
        <p:xfrm>
          <a:off x="990600" y="2438400"/>
          <a:ext cx="7585075" cy="768350"/>
        </p:xfrm>
        <a:graphic>
          <a:graphicData uri="http://schemas.openxmlformats.org/presentationml/2006/ole">
            <p:oleObj spid="_x0000_s299010" name="Equation" r:id="rId4" imgW="4813300" imgH="55880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7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EDD0A92-3D19-430C-9AAC-7366F207F33D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-228600" y="304800"/>
            <a:ext cx="9601200" cy="609600"/>
          </a:xfrm>
        </p:spPr>
        <p:txBody>
          <a:bodyPr/>
          <a:lstStyle/>
          <a:p>
            <a:pPr eaLnBrk="1" hangingPunct="1"/>
            <a:r>
              <a:rPr lang="en-US" sz="3200" smtClean="0"/>
              <a:t>Classification Is to Derive the Maximum Posteriori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219200"/>
            <a:ext cx="8458200" cy="5181600"/>
          </a:xfrm>
        </p:spPr>
        <p:txBody>
          <a:bodyPr/>
          <a:lstStyle/>
          <a:p>
            <a:pPr eaLnBrk="1" hangingPunct="1"/>
            <a:r>
              <a:rPr lang="en-US" sz="2400" smtClean="0"/>
              <a:t>Let D be a training set of tuples and their associated class labels, and each tuple is represented by an n-D attribute vector </a:t>
            </a:r>
            <a:r>
              <a:rPr lang="en-US" sz="2400" b="1" smtClean="0"/>
              <a:t>X</a:t>
            </a:r>
            <a:r>
              <a:rPr lang="en-US" sz="2400" smtClean="0"/>
              <a:t> = (x</a:t>
            </a:r>
            <a:r>
              <a:rPr lang="en-US" sz="2400" baseline="-25000" smtClean="0"/>
              <a:t>1</a:t>
            </a:r>
            <a:r>
              <a:rPr lang="en-US" sz="2400" smtClean="0"/>
              <a:t>, x</a:t>
            </a:r>
            <a:r>
              <a:rPr lang="en-US" sz="2400" baseline="-25000" smtClean="0"/>
              <a:t>2</a:t>
            </a:r>
            <a:r>
              <a:rPr lang="en-US" sz="2400" smtClean="0"/>
              <a:t>, …, x</a:t>
            </a:r>
            <a:r>
              <a:rPr lang="en-US" sz="2400" baseline="-25000" smtClean="0"/>
              <a:t>n</a:t>
            </a:r>
            <a:r>
              <a:rPr lang="en-US" sz="2400" smtClean="0"/>
              <a:t>)</a:t>
            </a:r>
          </a:p>
          <a:p>
            <a:pPr eaLnBrk="1" hangingPunct="1"/>
            <a:r>
              <a:rPr lang="en-US" sz="2400" smtClean="0"/>
              <a:t>Suppose there are </a:t>
            </a:r>
            <a:r>
              <a:rPr lang="en-US" sz="2400" i="1" smtClean="0"/>
              <a:t>m</a:t>
            </a:r>
            <a:r>
              <a:rPr lang="en-US" sz="2400" smtClean="0"/>
              <a:t> classes C</a:t>
            </a:r>
            <a:r>
              <a:rPr lang="en-US" sz="2400" baseline="-25000" smtClean="0"/>
              <a:t>1</a:t>
            </a:r>
            <a:r>
              <a:rPr lang="en-US" sz="2400" smtClean="0"/>
              <a:t>, C</a:t>
            </a:r>
            <a:r>
              <a:rPr lang="en-US" sz="2400" baseline="-25000" smtClean="0"/>
              <a:t>2</a:t>
            </a:r>
            <a:r>
              <a:rPr lang="en-US" sz="2400" smtClean="0"/>
              <a:t>, …, C</a:t>
            </a:r>
            <a:r>
              <a:rPr lang="en-US" sz="2400" baseline="-25000" smtClean="0"/>
              <a:t>m</a:t>
            </a:r>
            <a:r>
              <a:rPr lang="en-US" sz="2400" smtClean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Classification is to derive the maximum posteriori, i.e., the maximal P(C</a:t>
            </a:r>
            <a:r>
              <a:rPr lang="en-US" sz="2400" baseline="-25000" smtClean="0"/>
              <a:t>i</a:t>
            </a:r>
            <a:r>
              <a:rPr lang="en-US" sz="2400" smtClean="0"/>
              <a:t>|</a:t>
            </a:r>
            <a:r>
              <a:rPr lang="en-US" sz="2400" b="1" smtClean="0"/>
              <a:t>X</a:t>
            </a:r>
            <a:r>
              <a:rPr lang="en-US" sz="2400" smtClean="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This can be derived from Bayes’ theorem</a:t>
            </a:r>
          </a:p>
          <a:p>
            <a:pPr eaLnBrk="1" hangingPunct="1">
              <a:lnSpc>
                <a:spcPct val="90000"/>
              </a:lnSpc>
            </a:pPr>
            <a:endParaRPr lang="en-US" sz="2400" smtClean="0"/>
          </a:p>
          <a:p>
            <a:pPr eaLnBrk="1" hangingPunct="1">
              <a:lnSpc>
                <a:spcPct val="90000"/>
              </a:lnSpc>
            </a:pPr>
            <a:endParaRPr lang="en-US" sz="2400" smtClean="0"/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Since P(X) is constant for all classes, only                                        </a:t>
            </a:r>
          </a:p>
          <a:p>
            <a:pPr eaLnBrk="1" hangingPunct="1">
              <a:lnSpc>
                <a:spcPct val="90000"/>
              </a:lnSpc>
            </a:pPr>
            <a:endParaRPr lang="en-US" sz="2400" smtClean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smtClean="0"/>
              <a:t>needs to be maximized</a:t>
            </a:r>
          </a:p>
        </p:txBody>
      </p:sp>
      <p:graphicFrame>
        <p:nvGraphicFramePr>
          <p:cNvPr id="36869" name="Object 5"/>
          <p:cNvGraphicFramePr>
            <a:graphicFrameLocks noChangeAspect="1"/>
          </p:cNvGraphicFramePr>
          <p:nvPr>
            <p:ph sz="quarter" idx="2"/>
          </p:nvPr>
        </p:nvGraphicFramePr>
        <p:xfrm>
          <a:off x="4648200" y="3962400"/>
          <a:ext cx="2743200" cy="709613"/>
        </p:xfrm>
        <a:graphic>
          <a:graphicData uri="http://schemas.openxmlformats.org/presentationml/2006/ole">
            <p:oleObj spid="_x0000_s300034" name="Equation" r:id="rId4" imgW="2501900" imgH="647700" progId="Equation.3">
              <p:embed/>
            </p:oleObj>
          </a:graphicData>
        </a:graphic>
      </p:graphicFrame>
      <p:graphicFrame>
        <p:nvGraphicFramePr>
          <p:cNvPr id="36870" name="Object 7"/>
          <p:cNvGraphicFramePr>
            <a:graphicFrameLocks noChangeAspect="1"/>
          </p:cNvGraphicFramePr>
          <p:nvPr>
            <p:ph sz="quarter" idx="3"/>
          </p:nvPr>
        </p:nvGraphicFramePr>
        <p:xfrm>
          <a:off x="4191000" y="5181600"/>
          <a:ext cx="2895600" cy="446088"/>
        </p:xfrm>
        <a:graphic>
          <a:graphicData uri="http://schemas.openxmlformats.org/presentationml/2006/ole">
            <p:oleObj spid="_x0000_s300035" name="Equation" r:id="rId5" imgW="2476500" imgH="381000" progId="Equation.3">
              <p:embed/>
            </p:oleObj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7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8399CCCD-C2E7-466C-8E37-BC298C864803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8402638" cy="533400"/>
          </a:xfrm>
        </p:spPr>
        <p:txBody>
          <a:bodyPr/>
          <a:lstStyle/>
          <a:p>
            <a:pPr eaLnBrk="1" hangingPunct="1"/>
            <a:r>
              <a:rPr lang="en-US" smtClean="0"/>
              <a:t>Naïve Bayes Classifier 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295400"/>
            <a:ext cx="83820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smtClean="0"/>
              <a:t>A simplified assumption: attributes are conditionally independent (i.e., no dependence relation between attributes):</a:t>
            </a:r>
          </a:p>
          <a:p>
            <a:pPr eaLnBrk="1" hangingPunct="1">
              <a:lnSpc>
                <a:spcPct val="90000"/>
              </a:lnSpc>
            </a:pPr>
            <a:endParaRPr lang="en-US" sz="2400" smtClean="0"/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This greatly reduces the computation cost: Only counts the class distribution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If A</a:t>
            </a:r>
            <a:r>
              <a:rPr lang="en-US" sz="2400" baseline="-25000" smtClean="0"/>
              <a:t>k</a:t>
            </a:r>
            <a:r>
              <a:rPr lang="en-US" sz="2400" smtClean="0"/>
              <a:t> is categorical, P(x</a:t>
            </a:r>
            <a:r>
              <a:rPr lang="en-US" sz="2400" baseline="-25000" smtClean="0"/>
              <a:t>k</a:t>
            </a:r>
            <a:r>
              <a:rPr lang="en-US" sz="2400" smtClean="0"/>
              <a:t>|C</a:t>
            </a:r>
            <a:r>
              <a:rPr lang="en-US" sz="2400" baseline="-25000" smtClean="0"/>
              <a:t>i</a:t>
            </a:r>
            <a:r>
              <a:rPr lang="en-US" sz="2400" smtClean="0"/>
              <a:t>) is the # of tuples in C</a:t>
            </a:r>
            <a:r>
              <a:rPr lang="en-US" sz="2400" baseline="-25000" smtClean="0"/>
              <a:t>i</a:t>
            </a:r>
            <a:r>
              <a:rPr lang="en-US" sz="2400" smtClean="0"/>
              <a:t> having value x</a:t>
            </a:r>
            <a:r>
              <a:rPr lang="en-US" sz="2400" baseline="-25000" smtClean="0"/>
              <a:t>k</a:t>
            </a:r>
            <a:r>
              <a:rPr lang="en-US" sz="2400" smtClean="0"/>
              <a:t> for A</a:t>
            </a:r>
            <a:r>
              <a:rPr lang="en-US" sz="2400" baseline="-25000" smtClean="0"/>
              <a:t>k</a:t>
            </a:r>
            <a:r>
              <a:rPr lang="en-US" sz="2400" smtClean="0"/>
              <a:t> divided by |C</a:t>
            </a:r>
            <a:r>
              <a:rPr lang="en-US" sz="2400" baseline="-25000" smtClean="0"/>
              <a:t>i, D</a:t>
            </a:r>
            <a:r>
              <a:rPr lang="en-US" sz="2400" smtClean="0"/>
              <a:t>| (# of tuples of C</a:t>
            </a:r>
            <a:r>
              <a:rPr lang="en-US" sz="2400" baseline="-25000" smtClean="0"/>
              <a:t>i</a:t>
            </a:r>
            <a:r>
              <a:rPr lang="en-US" sz="2400" smtClean="0"/>
              <a:t> in D)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If A</a:t>
            </a:r>
            <a:r>
              <a:rPr lang="en-US" sz="2400" baseline="-25000" smtClean="0"/>
              <a:t>k</a:t>
            </a:r>
            <a:r>
              <a:rPr lang="en-US" sz="2400" smtClean="0"/>
              <a:t> is continous-valued, P(x</a:t>
            </a:r>
            <a:r>
              <a:rPr lang="en-US" sz="2400" baseline="-25000" smtClean="0"/>
              <a:t>k</a:t>
            </a:r>
            <a:r>
              <a:rPr lang="en-US" sz="2400" smtClean="0"/>
              <a:t>|C</a:t>
            </a:r>
            <a:r>
              <a:rPr lang="en-US" sz="2400" baseline="-25000" smtClean="0"/>
              <a:t>i</a:t>
            </a:r>
            <a:r>
              <a:rPr lang="en-US" sz="2400" smtClean="0"/>
              <a:t>) is usually computed based on Gaussian distribution with a mean </a:t>
            </a:r>
            <a:r>
              <a:rPr lang="el-GR" sz="2400" smtClean="0"/>
              <a:t>μ</a:t>
            </a:r>
            <a:r>
              <a:rPr lang="en-US" sz="2400" smtClean="0"/>
              <a:t> and standard deviation </a:t>
            </a:r>
            <a:r>
              <a:rPr lang="el-GR" sz="2400" smtClean="0"/>
              <a:t>σ</a:t>
            </a:r>
          </a:p>
          <a:p>
            <a:pPr eaLnBrk="1" hangingPunct="1">
              <a:lnSpc>
                <a:spcPct val="90000"/>
              </a:lnSpc>
            </a:pPr>
            <a:endParaRPr lang="en-US" sz="2400" smtClean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smtClean="0"/>
              <a:t>and P(x</a:t>
            </a:r>
            <a:r>
              <a:rPr lang="en-US" sz="2400" baseline="-25000" smtClean="0"/>
              <a:t>k</a:t>
            </a:r>
            <a:r>
              <a:rPr lang="en-US" sz="2400" smtClean="0"/>
              <a:t>|C</a:t>
            </a:r>
            <a:r>
              <a:rPr lang="en-US" sz="2400" baseline="-25000" smtClean="0"/>
              <a:t>i</a:t>
            </a:r>
            <a:r>
              <a:rPr lang="en-US" sz="2400" smtClean="0"/>
              <a:t>) is </a:t>
            </a:r>
          </a:p>
          <a:p>
            <a:pPr eaLnBrk="1" hangingPunct="1">
              <a:lnSpc>
                <a:spcPct val="90000"/>
              </a:lnSpc>
            </a:pPr>
            <a:endParaRPr lang="en-US" sz="2400" smtClean="0"/>
          </a:p>
        </p:txBody>
      </p:sp>
      <p:graphicFrame>
        <p:nvGraphicFramePr>
          <p:cNvPr id="37893" name="Object 10"/>
          <p:cNvGraphicFramePr>
            <a:graphicFrameLocks noGrp="1"/>
          </p:cNvGraphicFramePr>
          <p:nvPr>
            <p:ph sz="quarter" idx="2"/>
          </p:nvPr>
        </p:nvGraphicFramePr>
        <p:xfrm>
          <a:off x="2438400" y="1905000"/>
          <a:ext cx="6172200" cy="898525"/>
        </p:xfrm>
        <a:graphic>
          <a:graphicData uri="http://schemas.openxmlformats.org/presentationml/2006/ole">
            <p:oleObj spid="_x0000_s301058" name="Equation" r:id="rId4" imgW="4089400" imgH="508000" progId="Equation.3">
              <p:embed/>
            </p:oleObj>
          </a:graphicData>
        </a:graphic>
      </p:graphicFrame>
      <p:graphicFrame>
        <p:nvGraphicFramePr>
          <p:cNvPr id="37894" name="Object 12"/>
          <p:cNvGraphicFramePr>
            <a:graphicFrameLocks/>
          </p:cNvGraphicFramePr>
          <p:nvPr>
            <p:ph sz="quarter" idx="3"/>
          </p:nvPr>
        </p:nvGraphicFramePr>
        <p:xfrm>
          <a:off x="4191000" y="4953000"/>
          <a:ext cx="3276600" cy="838200"/>
        </p:xfrm>
        <a:graphic>
          <a:graphicData uri="http://schemas.openxmlformats.org/presentationml/2006/ole">
            <p:oleObj spid="_x0000_s301059" name="Equation" r:id="rId5" imgW="1663700" imgH="482600" progId="Equation.3">
              <p:embed/>
            </p:oleObj>
          </a:graphicData>
        </a:graphic>
      </p:graphicFrame>
      <p:graphicFrame>
        <p:nvGraphicFramePr>
          <p:cNvPr id="37895" name="Object 14"/>
          <p:cNvGraphicFramePr>
            <a:graphicFrameLocks/>
          </p:cNvGraphicFramePr>
          <p:nvPr/>
        </p:nvGraphicFramePr>
        <p:xfrm>
          <a:off x="4191000" y="5943600"/>
          <a:ext cx="2819400" cy="533400"/>
        </p:xfrm>
        <a:graphic>
          <a:graphicData uri="http://schemas.openxmlformats.org/presentationml/2006/ole">
            <p:oleObj spid="_x0000_s301060" name="Equation" r:id="rId6" imgW="1625600" imgH="241300" progId="Equation.3">
              <p:embed/>
            </p:oleObj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1EE62625-DE35-4D8E-BDA5-24EDEA037662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"/>
          </a:xfrm>
        </p:spPr>
        <p:txBody>
          <a:bodyPr/>
          <a:lstStyle/>
          <a:p>
            <a:pPr eaLnBrk="1" hangingPunct="1"/>
            <a:r>
              <a:rPr lang="en-US" smtClean="0"/>
              <a:t>Naïve Bayes Classifier: Training Dataset</a:t>
            </a:r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152400" y="1828800"/>
            <a:ext cx="3429000" cy="3748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sz="2400">
                <a:latin typeface="Calibri" pitchFamily="34" charset="0"/>
              </a:rPr>
              <a:t>Class:</a:t>
            </a:r>
          </a:p>
          <a:p>
            <a:pPr>
              <a:lnSpc>
                <a:spcPct val="110000"/>
              </a:lnSpc>
            </a:pPr>
            <a:r>
              <a:rPr lang="en-US" sz="2400">
                <a:latin typeface="Calibri" pitchFamily="34" charset="0"/>
              </a:rPr>
              <a:t>C1:buys_computer = ‘yes’</a:t>
            </a:r>
          </a:p>
          <a:p>
            <a:pPr>
              <a:lnSpc>
                <a:spcPct val="110000"/>
              </a:lnSpc>
            </a:pPr>
            <a:r>
              <a:rPr lang="en-US" sz="2400">
                <a:latin typeface="Calibri" pitchFamily="34" charset="0"/>
              </a:rPr>
              <a:t>C2:buys_computer = ‘no’</a:t>
            </a:r>
          </a:p>
          <a:p>
            <a:pPr>
              <a:lnSpc>
                <a:spcPct val="110000"/>
              </a:lnSpc>
            </a:pPr>
            <a:endParaRPr lang="en-US" sz="2400">
              <a:latin typeface="Calibri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2400">
                <a:latin typeface="Calibri" pitchFamily="34" charset="0"/>
              </a:rPr>
              <a:t>Data to be classified: </a:t>
            </a:r>
          </a:p>
          <a:p>
            <a:pPr>
              <a:lnSpc>
                <a:spcPct val="110000"/>
              </a:lnSpc>
            </a:pPr>
            <a:r>
              <a:rPr lang="en-US" sz="2400">
                <a:latin typeface="Calibri" pitchFamily="34" charset="0"/>
              </a:rPr>
              <a:t>X = (age &lt;=30, </a:t>
            </a:r>
          </a:p>
          <a:p>
            <a:pPr>
              <a:lnSpc>
                <a:spcPct val="110000"/>
              </a:lnSpc>
            </a:pPr>
            <a:r>
              <a:rPr lang="en-US" sz="2400">
                <a:latin typeface="Calibri" pitchFamily="34" charset="0"/>
              </a:rPr>
              <a:t>Income = medium,</a:t>
            </a:r>
          </a:p>
          <a:p>
            <a:pPr>
              <a:lnSpc>
                <a:spcPct val="110000"/>
              </a:lnSpc>
            </a:pPr>
            <a:r>
              <a:rPr lang="en-US" sz="2400">
                <a:latin typeface="Calibri" pitchFamily="34" charset="0"/>
              </a:rPr>
              <a:t>Student = yes</a:t>
            </a:r>
          </a:p>
          <a:p>
            <a:pPr>
              <a:lnSpc>
                <a:spcPct val="110000"/>
              </a:lnSpc>
            </a:pPr>
            <a:r>
              <a:rPr lang="en-US" sz="2400">
                <a:latin typeface="Calibri" pitchFamily="34" charset="0"/>
              </a:rPr>
              <a:t>Credit_rating = Fair)</a:t>
            </a:r>
          </a:p>
        </p:txBody>
      </p:sp>
      <p:graphicFrame>
        <p:nvGraphicFramePr>
          <p:cNvPr id="38917" name="Object 5"/>
          <p:cNvGraphicFramePr>
            <a:graphicFrameLocks/>
          </p:cNvGraphicFramePr>
          <p:nvPr>
            <p:ph idx="1"/>
          </p:nvPr>
        </p:nvGraphicFramePr>
        <p:xfrm>
          <a:off x="3810000" y="1295400"/>
          <a:ext cx="5110163" cy="5257800"/>
        </p:xfrm>
        <a:graphic>
          <a:graphicData uri="http://schemas.openxmlformats.org/presentationml/2006/ole">
            <p:oleObj spid="_x0000_s302082" name="Worksheet" r:id="rId4" imgW="4324438" imgH="4457652" progId="Excel.Sheet.8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771E00AB-F6C2-4361-9EA4-85678912D16D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067800" cy="609600"/>
          </a:xfrm>
        </p:spPr>
        <p:txBody>
          <a:bodyPr/>
          <a:lstStyle/>
          <a:p>
            <a:pPr eaLnBrk="1" hangingPunct="1"/>
            <a:r>
              <a:rPr lang="en-US" smtClean="0"/>
              <a:t>Naïve Bayes Classifier: An Example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52525"/>
            <a:ext cx="8686800" cy="5715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smtClean="0"/>
              <a:t>P(C</a:t>
            </a:r>
            <a:r>
              <a:rPr lang="en-US" sz="2000" baseline="-25000" smtClean="0"/>
              <a:t>i</a:t>
            </a:r>
            <a:r>
              <a:rPr lang="en-US" sz="2000" smtClean="0"/>
              <a:t>):    P(buys_computer = “yes”)  = 9/14 = 0.643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smtClean="0"/>
              <a:t>                   P(buys_computer = “no”) = 5/14= 0.357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smtClean="0"/>
              <a:t>Compute P(X|C</a:t>
            </a:r>
            <a:r>
              <a:rPr lang="en-US" sz="2000" baseline="-25000" smtClean="0"/>
              <a:t>i</a:t>
            </a:r>
            <a:r>
              <a:rPr lang="en-US" sz="2000" smtClean="0"/>
              <a:t>) for each class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smtClean="0"/>
              <a:t>     P(age = “&lt;=30” | buys_computer = “yes”)  = 2/9 = 0.222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smtClean="0"/>
              <a:t>     P(age = “&lt;= 30” | buys_computer = “no”) = 3/5 = 0.6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smtClean="0"/>
              <a:t>     P(income = “medium” | buys_computer = “yes”) = 4/9 = 0.444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smtClean="0"/>
              <a:t>     P(income = “medium” | buys_computer = “no”) = 2/5 = 0.4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smtClean="0"/>
              <a:t>     P(student = “yes” | buys_computer = “yes) = 6/9 = 0.667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smtClean="0"/>
              <a:t>     P(student = “yes” | buys_computer = “no”) = 1/5 = 0.2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smtClean="0"/>
              <a:t>     P(credit_rating = “fair” | buys_computer = “yes”) = 6/9 = 0.667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smtClean="0"/>
              <a:t>     P(credit_rating = “fair” | buys_computer = “no”) = 2/5 = 0.4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b="1" smtClean="0"/>
              <a:t> X = (age &lt;= 30 , income = medium, student = yes, credit_rating = fair)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smtClean="0"/>
              <a:t> </a:t>
            </a:r>
            <a:r>
              <a:rPr lang="en-US" sz="2000" b="1" smtClean="0"/>
              <a:t>P(X|C</a:t>
            </a:r>
            <a:r>
              <a:rPr lang="en-US" sz="2000" b="1" baseline="-25000" smtClean="0"/>
              <a:t>i</a:t>
            </a:r>
            <a:r>
              <a:rPr lang="en-US" sz="2000" b="1" smtClean="0"/>
              <a:t>) :</a:t>
            </a:r>
            <a:r>
              <a:rPr lang="en-US" sz="2000" smtClean="0"/>
              <a:t> P(X|buys_computer = “yes”) = 0.222 x 0.444 x 0.667 x 0.667 = 0.044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smtClean="0"/>
              <a:t>                P(X|buys_computer = “no”) = 0.6 x 0.4 x 0.2 x 0.4 = 0.019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b="1" smtClean="0"/>
              <a:t>P(X|C</a:t>
            </a:r>
            <a:r>
              <a:rPr lang="en-US" sz="2000" b="1" baseline="-25000" smtClean="0"/>
              <a:t>i</a:t>
            </a:r>
            <a:r>
              <a:rPr lang="en-US" sz="2000" b="1" smtClean="0"/>
              <a:t>)*P(C</a:t>
            </a:r>
            <a:r>
              <a:rPr lang="en-US" sz="2000" b="1" baseline="-25000" smtClean="0"/>
              <a:t>i</a:t>
            </a:r>
            <a:r>
              <a:rPr lang="en-US" sz="2000" b="1" smtClean="0"/>
              <a:t>) : </a:t>
            </a:r>
            <a:r>
              <a:rPr lang="en-US" sz="2000" smtClean="0"/>
              <a:t>P(X|buys_computer = “yes”) * P(buys_computer = “yes”) = 0.028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b="1" smtClean="0"/>
              <a:t>		             </a:t>
            </a:r>
            <a:r>
              <a:rPr lang="en-US" sz="2000" smtClean="0"/>
              <a:t>P(X|buys_computer = “no”) * P(buys_computer = “no”) = 0.007</a:t>
            </a:r>
            <a:endParaRPr lang="en-US" sz="2000" b="1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b="1" smtClean="0"/>
              <a:t>Therefore,  X belongs to class (“buys_computer = yes”)	</a:t>
            </a:r>
            <a:r>
              <a:rPr lang="en-US" sz="1800" b="1" smtClean="0"/>
              <a:t>	</a:t>
            </a:r>
          </a:p>
        </p:txBody>
      </p:sp>
      <p:graphicFrame>
        <p:nvGraphicFramePr>
          <p:cNvPr id="39941" name="Object 1"/>
          <p:cNvGraphicFramePr>
            <a:graphicFrameLocks/>
          </p:cNvGraphicFramePr>
          <p:nvPr/>
        </p:nvGraphicFramePr>
        <p:xfrm>
          <a:off x="7062788" y="762000"/>
          <a:ext cx="2062162" cy="1752600"/>
        </p:xfrm>
        <a:graphic>
          <a:graphicData uri="http://schemas.openxmlformats.org/presentationml/2006/ole">
            <p:oleObj spid="_x0000_s303106" name="Worksheet" r:id="rId4" imgW="4324438" imgH="4457652" progId="Excel.Sheet.8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6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48E70263-A2A6-410D-927A-895DD0EF9727}" type="slidenum">
              <a:rPr lang="en-US" smtClean="0"/>
              <a:pPr/>
              <a:t>9</a:t>
            </a:fld>
            <a:endParaRPr lang="en-US" smtClean="0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402638" cy="609600"/>
          </a:xfrm>
        </p:spPr>
        <p:txBody>
          <a:bodyPr/>
          <a:lstStyle/>
          <a:p>
            <a:pPr eaLnBrk="1" hangingPunct="1"/>
            <a:r>
              <a:rPr lang="en-US" smtClean="0"/>
              <a:t>Avoiding the Zero-Probability Problem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219200"/>
            <a:ext cx="8382000" cy="5486400"/>
          </a:xfrm>
        </p:spPr>
        <p:txBody>
          <a:bodyPr/>
          <a:lstStyle/>
          <a:p>
            <a:pPr eaLnBrk="1" hangingPunct="1"/>
            <a:r>
              <a:rPr lang="en-US" sz="2400" smtClean="0"/>
              <a:t>Naïve Bayesian prediction requires each conditional prob. be </a:t>
            </a:r>
            <a:r>
              <a:rPr lang="en-US" sz="2400" b="1" smtClean="0"/>
              <a:t>non-zero</a:t>
            </a:r>
            <a:r>
              <a:rPr lang="en-US" sz="2400" smtClean="0"/>
              <a:t>.  Otherwise, the predicted prob. will be zero</a:t>
            </a:r>
          </a:p>
          <a:p>
            <a:pPr eaLnBrk="1" hangingPunct="1"/>
            <a:endParaRPr lang="en-US" sz="2400" smtClean="0"/>
          </a:p>
          <a:p>
            <a:pPr eaLnBrk="1" hangingPunct="1">
              <a:buFont typeface="Wingdings" pitchFamily="2" charset="2"/>
              <a:buNone/>
            </a:pPr>
            <a:r>
              <a:rPr lang="en-US" sz="2400" b="1" smtClean="0"/>
              <a:t>	</a:t>
            </a:r>
          </a:p>
          <a:p>
            <a:pPr eaLnBrk="1" hangingPunct="1"/>
            <a:r>
              <a:rPr lang="en-US" sz="2400" smtClean="0"/>
              <a:t>Ex. Suppose a dataset with 1000 tuples, income=low (0), income= medium (990), and income = high (10)</a:t>
            </a:r>
          </a:p>
          <a:p>
            <a:pPr eaLnBrk="1" hangingPunct="1"/>
            <a:r>
              <a:rPr lang="en-US" sz="2400" smtClean="0"/>
              <a:t>Use </a:t>
            </a:r>
            <a:r>
              <a:rPr lang="en-US" sz="2400" b="1" smtClean="0"/>
              <a:t>Laplacian correction</a:t>
            </a:r>
            <a:r>
              <a:rPr lang="en-US" sz="2400" smtClean="0"/>
              <a:t> (or Laplacian estimator)</a:t>
            </a:r>
          </a:p>
          <a:p>
            <a:pPr lvl="1" eaLnBrk="1" hangingPunct="1"/>
            <a:r>
              <a:rPr lang="en-US" sz="2400" i="1" smtClean="0"/>
              <a:t>Adding 1 to each case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smtClean="0"/>
              <a:t>Prob(income = low) = 1/1003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smtClean="0"/>
              <a:t>Prob(income = medium) = 991/1003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smtClean="0"/>
              <a:t>Prob(income = high) = 11/1003</a:t>
            </a:r>
          </a:p>
          <a:p>
            <a:pPr lvl="1" eaLnBrk="1" hangingPunct="1"/>
            <a:r>
              <a:rPr lang="en-US" sz="2400" smtClean="0"/>
              <a:t>The “corrected” prob. estimates are close to their “uncorrected” counterparts</a:t>
            </a:r>
          </a:p>
        </p:txBody>
      </p:sp>
      <p:graphicFrame>
        <p:nvGraphicFramePr>
          <p:cNvPr id="40965" name="Object 4"/>
          <p:cNvGraphicFramePr>
            <a:graphicFrameLocks/>
          </p:cNvGraphicFramePr>
          <p:nvPr>
            <p:ph sz="half" idx="2"/>
          </p:nvPr>
        </p:nvGraphicFramePr>
        <p:xfrm>
          <a:off x="2209800" y="1981200"/>
          <a:ext cx="4038600" cy="838200"/>
        </p:xfrm>
        <a:graphic>
          <a:graphicData uri="http://schemas.openxmlformats.org/presentationml/2006/ole">
            <p:oleObj spid="_x0000_s304130" name="Equation" r:id="rId4" imgW="1765300" imgH="508000" progId="Equation.3">
              <p:embed/>
            </p:oleObj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1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686800" cy="762000"/>
          </a:xfrm>
        </p:spPr>
        <p:txBody>
          <a:bodyPr>
            <a:normAutofit/>
          </a:bodyPr>
          <a:lstStyle/>
          <a:p>
            <a:r>
              <a:rPr lang="en-US" sz="3600" dirty="0"/>
              <a:t>How to Estimate Probabilities from Data?</a:t>
            </a:r>
          </a:p>
        </p:txBody>
      </p:sp>
      <p:sp>
        <p:nvSpPr>
          <p:cNvPr id="1072131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1"/>
          </p:nvPr>
        </p:nvSpPr>
        <p:spPr>
          <a:xfrm>
            <a:off x="4343400" y="1524000"/>
            <a:ext cx="4572000" cy="5181600"/>
          </a:xfrm>
          <a:blipFill rotWithShape="1">
            <a:blip r:embed="rId3"/>
            <a:stretch>
              <a:fillRect l="-2133" t="-2824" b="-1412"/>
            </a:stretch>
          </a:blipFill>
        </p:spPr>
        <p:txBody>
          <a:bodyPr/>
          <a:lstStyle/>
          <a:p>
            <a:pPr>
              <a:buNone/>
            </a:pPr>
            <a:endParaRPr lang="en-US" dirty="0">
              <a:noFill/>
            </a:endParaRPr>
          </a:p>
        </p:txBody>
      </p:sp>
      <p:graphicFrame>
        <p:nvGraphicFramePr>
          <p:cNvPr id="10721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463811375"/>
              </p:ext>
            </p:extLst>
          </p:nvPr>
        </p:nvGraphicFramePr>
        <p:xfrm>
          <a:off x="152400" y="1981200"/>
          <a:ext cx="4389438" cy="4275138"/>
        </p:xfrm>
        <a:graphic>
          <a:graphicData uri="http://schemas.openxmlformats.org/presentationml/2006/ole">
            <p:oleObj spid="_x0000_s233474" name="VISIO" r:id="rId4" imgW="4392168" imgH="5334000" progId="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1292722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17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86800" cy="762000"/>
          </a:xfrm>
        </p:spPr>
        <p:txBody>
          <a:bodyPr>
            <a:normAutofit/>
          </a:bodyPr>
          <a:lstStyle/>
          <a:p>
            <a:r>
              <a:rPr lang="en-US" sz="3600" dirty="0"/>
              <a:t>How to Estimate Probabilities from Data?</a:t>
            </a:r>
          </a:p>
        </p:txBody>
      </p:sp>
      <p:sp>
        <p:nvSpPr>
          <p:cNvPr id="1074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95800" y="1306512"/>
            <a:ext cx="4419600" cy="5181600"/>
          </a:xfrm>
        </p:spPr>
        <p:txBody>
          <a:bodyPr/>
          <a:lstStyle/>
          <a:p>
            <a:r>
              <a:rPr lang="en-US" sz="2400" dirty="0"/>
              <a:t>Normal distribution: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1000" dirty="0"/>
          </a:p>
          <a:p>
            <a:pPr lvl="1"/>
            <a:r>
              <a:rPr lang="en-US" sz="2400" dirty="0"/>
              <a:t>One for each </a:t>
            </a:r>
            <a:r>
              <a:rPr lang="en-US" sz="2400" dirty="0" smtClean="0"/>
              <a:t>(</a:t>
            </a:r>
            <a:r>
              <a:rPr lang="en-US" sz="2400" i="1" dirty="0" err="1" smtClean="0"/>
              <a:t>a</a:t>
            </a:r>
            <a:r>
              <a:rPr lang="en-US" sz="2400" i="1" baseline="-25000" dirty="0" err="1" smtClean="0"/>
              <a:t>i</a:t>
            </a:r>
            <a:r>
              <a:rPr lang="en-US" sz="2400" dirty="0" err="1" smtClean="0"/>
              <a:t>,</a:t>
            </a:r>
            <a:r>
              <a:rPr lang="en-US" sz="2400" i="1" dirty="0" err="1" smtClean="0"/>
              <a:t>c</a:t>
            </a:r>
            <a:r>
              <a:rPr lang="en-US" sz="2400" i="1" baseline="-25000" dirty="0" err="1" smtClean="0"/>
              <a:t>i</a:t>
            </a:r>
            <a:r>
              <a:rPr lang="en-US" sz="2400" dirty="0"/>
              <a:t>) pair</a:t>
            </a:r>
          </a:p>
          <a:p>
            <a:pPr lvl="1"/>
            <a:endParaRPr lang="en-US" sz="800" dirty="0"/>
          </a:p>
          <a:p>
            <a:r>
              <a:rPr lang="en-US" sz="2400" dirty="0"/>
              <a:t>For (Income, Class=No):</a:t>
            </a:r>
          </a:p>
          <a:p>
            <a:pPr lvl="1"/>
            <a:r>
              <a:rPr lang="en-US" sz="2400" dirty="0"/>
              <a:t>If Class=No</a:t>
            </a:r>
          </a:p>
          <a:p>
            <a:pPr lvl="2"/>
            <a:r>
              <a:rPr lang="en-US" sz="2000" dirty="0"/>
              <a:t> sample mean = 110</a:t>
            </a:r>
          </a:p>
          <a:p>
            <a:pPr lvl="2"/>
            <a:r>
              <a:rPr lang="en-US" sz="2000" dirty="0"/>
              <a:t> sample variance = 2975</a:t>
            </a:r>
          </a:p>
          <a:p>
            <a:pPr lvl="1">
              <a:buFont typeface="Arial" charset="0"/>
              <a:buNone/>
            </a:pPr>
            <a:endParaRPr lang="en-US" sz="2400" dirty="0"/>
          </a:p>
        </p:txBody>
      </p:sp>
      <p:graphicFrame>
        <p:nvGraphicFramePr>
          <p:cNvPr id="10741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590078745"/>
              </p:ext>
            </p:extLst>
          </p:nvPr>
        </p:nvGraphicFramePr>
        <p:xfrm>
          <a:off x="304800" y="1382712"/>
          <a:ext cx="4195763" cy="4038600"/>
        </p:xfrm>
        <a:graphic>
          <a:graphicData uri="http://schemas.openxmlformats.org/presentationml/2006/ole">
            <p:oleObj spid="_x0000_s234498" name="VISIO" r:id="rId3" imgW="4392168" imgH="5334000" progId="">
              <p:embed/>
            </p:oleObj>
          </a:graphicData>
        </a:graphic>
      </p:graphicFrame>
      <p:graphicFrame>
        <p:nvGraphicFramePr>
          <p:cNvPr id="10741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105745795"/>
              </p:ext>
            </p:extLst>
          </p:nvPr>
        </p:nvGraphicFramePr>
        <p:xfrm>
          <a:off x="5697538" y="1812925"/>
          <a:ext cx="2598737" cy="846138"/>
        </p:xfrm>
        <a:graphic>
          <a:graphicData uri="http://schemas.openxmlformats.org/presentationml/2006/ole">
            <p:oleObj spid="_x0000_s234499" name="Equation" r:id="rId4" imgW="1943100" imgH="635000" progId="">
              <p:embed/>
            </p:oleObj>
          </a:graphicData>
        </a:graphic>
      </p:graphicFrame>
      <p:graphicFrame>
        <p:nvGraphicFramePr>
          <p:cNvPr id="10741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551274500"/>
              </p:ext>
            </p:extLst>
          </p:nvPr>
        </p:nvGraphicFramePr>
        <p:xfrm>
          <a:off x="304800" y="5661024"/>
          <a:ext cx="7785846" cy="1143000"/>
        </p:xfrm>
        <a:graphic>
          <a:graphicData uri="http://schemas.openxmlformats.org/presentationml/2006/ole">
            <p:oleObj spid="_x0000_s234500" name="Equation" r:id="rId5" imgW="3441700" imgH="508000" progId="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673201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914400"/>
          </a:xfrm>
        </p:spPr>
        <p:txBody>
          <a:bodyPr/>
          <a:lstStyle/>
          <a:p>
            <a:r>
              <a:rPr lang="en-US" sz="4000" dirty="0" smtClean="0"/>
              <a:t>Example of Naïve Bayes Classifier</a:t>
            </a:r>
            <a:endParaRPr lang="en-US" sz="40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1219200"/>
          </a:xfrm>
        </p:spPr>
        <p:txBody>
          <a:bodyPr/>
          <a:lstStyle/>
          <a:p>
            <a:r>
              <a:rPr lang="en-US" dirty="0" smtClean="0"/>
              <a:t>Creating a Naïve Bayes Classifier, essentially means to compute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counts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33400" y="2773395"/>
            <a:ext cx="3422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Total number of records: </a:t>
            </a:r>
            <a:r>
              <a:rPr lang="en-US" dirty="0" smtClean="0">
                <a:solidFill>
                  <a:srgbClr val="0070C0"/>
                </a:solidFill>
              </a:rPr>
              <a:t>N = 10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4033" y="3276600"/>
            <a:ext cx="2621230" cy="341632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Class No</a:t>
            </a:r>
            <a:r>
              <a:rPr lang="en-US" dirty="0" smtClean="0"/>
              <a:t>:</a:t>
            </a:r>
          </a:p>
          <a:p>
            <a:r>
              <a:rPr lang="en-US" dirty="0" smtClean="0"/>
              <a:t>Number of records: 7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Attribute Refund: </a:t>
            </a:r>
          </a:p>
          <a:p>
            <a:r>
              <a:rPr lang="en-US" dirty="0"/>
              <a:t>	</a:t>
            </a:r>
            <a:r>
              <a:rPr lang="en-US" dirty="0" smtClean="0"/>
              <a:t>Yes: 3 </a:t>
            </a:r>
          </a:p>
          <a:p>
            <a:r>
              <a:rPr lang="en-US" dirty="0"/>
              <a:t>	</a:t>
            </a:r>
            <a:r>
              <a:rPr lang="en-US" dirty="0" smtClean="0"/>
              <a:t>No:  4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Attribute Marital Status:</a:t>
            </a:r>
          </a:p>
          <a:p>
            <a:r>
              <a:rPr lang="en-US" dirty="0"/>
              <a:t>	</a:t>
            </a:r>
            <a:r>
              <a:rPr lang="en-US" dirty="0" smtClean="0"/>
              <a:t>Single:     2</a:t>
            </a:r>
          </a:p>
          <a:p>
            <a:r>
              <a:rPr lang="en-US" dirty="0"/>
              <a:t>	</a:t>
            </a:r>
            <a:r>
              <a:rPr lang="en-US" dirty="0" smtClean="0"/>
              <a:t>Divorced: 1</a:t>
            </a:r>
          </a:p>
          <a:p>
            <a:r>
              <a:rPr lang="en-US" dirty="0" smtClean="0"/>
              <a:t>	Married</a:t>
            </a:r>
            <a:r>
              <a:rPr lang="en-US" dirty="0"/>
              <a:t>:  </a:t>
            </a:r>
            <a:r>
              <a:rPr lang="en-US" dirty="0" smtClean="0"/>
              <a:t> 4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Attribute Income:</a:t>
            </a:r>
          </a:p>
          <a:p>
            <a:r>
              <a:rPr lang="en-US" dirty="0"/>
              <a:t>	</a:t>
            </a:r>
            <a:r>
              <a:rPr lang="en-US" dirty="0" smtClean="0"/>
              <a:t>mean:     110</a:t>
            </a:r>
          </a:p>
          <a:p>
            <a:r>
              <a:rPr lang="en-US" dirty="0"/>
              <a:t>	</a:t>
            </a:r>
            <a:r>
              <a:rPr lang="en-US" dirty="0" smtClean="0"/>
              <a:t>variance: 2975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429000" y="3276600"/>
            <a:ext cx="2621230" cy="3416320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Class Yes</a:t>
            </a:r>
            <a:r>
              <a:rPr lang="en-US" dirty="0" smtClean="0"/>
              <a:t>:</a:t>
            </a:r>
          </a:p>
          <a:p>
            <a:r>
              <a:rPr lang="en-US" dirty="0" smtClean="0"/>
              <a:t>Number of records: 3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Attribute Refund: </a:t>
            </a:r>
          </a:p>
          <a:p>
            <a:r>
              <a:rPr lang="en-US" dirty="0"/>
              <a:t>	</a:t>
            </a:r>
            <a:r>
              <a:rPr lang="en-US" dirty="0" smtClean="0"/>
              <a:t>Yes: 0 </a:t>
            </a:r>
          </a:p>
          <a:p>
            <a:r>
              <a:rPr lang="en-US" dirty="0"/>
              <a:t>	</a:t>
            </a:r>
            <a:r>
              <a:rPr lang="en-US" dirty="0" smtClean="0"/>
              <a:t>No:  3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Attribute Marital Status:</a:t>
            </a:r>
          </a:p>
          <a:p>
            <a:r>
              <a:rPr lang="en-US" dirty="0"/>
              <a:t>	</a:t>
            </a:r>
            <a:r>
              <a:rPr lang="en-US" dirty="0" smtClean="0"/>
              <a:t>Single:     2</a:t>
            </a:r>
          </a:p>
          <a:p>
            <a:r>
              <a:rPr lang="en-US" dirty="0"/>
              <a:t>	</a:t>
            </a:r>
            <a:r>
              <a:rPr lang="en-US" dirty="0" smtClean="0"/>
              <a:t>Divorced: 1</a:t>
            </a:r>
          </a:p>
          <a:p>
            <a:r>
              <a:rPr lang="en-US" dirty="0" smtClean="0"/>
              <a:t>	Married</a:t>
            </a:r>
            <a:r>
              <a:rPr lang="en-US" dirty="0"/>
              <a:t>:  </a:t>
            </a:r>
            <a:r>
              <a:rPr lang="en-US" dirty="0" smtClean="0"/>
              <a:t> 0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Attribute Income:</a:t>
            </a:r>
          </a:p>
          <a:p>
            <a:r>
              <a:rPr lang="en-US" dirty="0"/>
              <a:t>	</a:t>
            </a:r>
            <a:r>
              <a:rPr lang="en-US" dirty="0" smtClean="0"/>
              <a:t>mean:     90</a:t>
            </a:r>
          </a:p>
          <a:p>
            <a:r>
              <a:rPr lang="en-US" dirty="0"/>
              <a:t>	</a:t>
            </a:r>
            <a:r>
              <a:rPr lang="en-US" dirty="0" smtClean="0"/>
              <a:t>variance: 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75738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90600"/>
          </a:xfrm>
        </p:spPr>
        <p:txBody>
          <a:bodyPr/>
          <a:lstStyle/>
          <a:p>
            <a:r>
              <a:rPr lang="en-US" sz="4000" dirty="0"/>
              <a:t>Example of Naïve </a:t>
            </a:r>
            <a:r>
              <a:rPr lang="en-US" sz="4000" dirty="0" err="1"/>
              <a:t>Bayes</a:t>
            </a:r>
            <a:r>
              <a:rPr lang="en-US" sz="4000" dirty="0"/>
              <a:t> Classifier</a:t>
            </a:r>
          </a:p>
        </p:txBody>
      </p:sp>
      <p:graphicFrame>
        <p:nvGraphicFramePr>
          <p:cNvPr id="10752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906174622"/>
              </p:ext>
            </p:extLst>
          </p:nvPr>
        </p:nvGraphicFramePr>
        <p:xfrm>
          <a:off x="0" y="2362200"/>
          <a:ext cx="3886200" cy="4279900"/>
        </p:xfrm>
        <a:graphic>
          <a:graphicData uri="http://schemas.openxmlformats.org/presentationml/2006/ole">
            <p:oleObj spid="_x0000_s235522" name="Visio" r:id="rId3" imgW="9070380" imgH="5536811" progId="">
              <p:embed/>
            </p:oleObj>
          </a:graphicData>
        </a:graphic>
      </p:graphicFrame>
      <p:graphicFrame>
        <p:nvGraphicFramePr>
          <p:cNvPr id="10752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05686721"/>
              </p:ext>
            </p:extLst>
          </p:nvPr>
        </p:nvGraphicFramePr>
        <p:xfrm>
          <a:off x="1371600" y="1814513"/>
          <a:ext cx="5562600" cy="350390"/>
        </p:xfrm>
        <a:graphic>
          <a:graphicData uri="http://schemas.openxmlformats.org/presentationml/2006/ole">
            <p:oleObj spid="_x0000_s235523" name="Equation" r:id="rId4" imgW="5448300" imgH="342900" progId="Equation.3">
              <p:embed/>
            </p:oleObj>
          </a:graphicData>
        </a:graphic>
      </p:graphicFrame>
      <p:sp>
        <p:nvSpPr>
          <p:cNvPr id="1075205" name="Rectangle 5"/>
          <p:cNvSpPr>
            <a:spLocks noChangeArrowheads="1"/>
          </p:cNvSpPr>
          <p:nvPr/>
        </p:nvSpPr>
        <p:spPr bwMode="auto">
          <a:xfrm>
            <a:off x="3733800" y="2819400"/>
            <a:ext cx="495300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1600" b="0" dirty="0"/>
              <a:t>P(</a:t>
            </a:r>
            <a:r>
              <a:rPr lang="en-US" sz="1600" b="0" dirty="0" err="1"/>
              <a:t>X|Class</a:t>
            </a:r>
            <a:r>
              <a:rPr lang="en-US" sz="1600" b="0" dirty="0"/>
              <a:t>=No) = P(Refund=</a:t>
            </a:r>
            <a:r>
              <a:rPr lang="en-US" sz="1600" b="0" dirty="0" err="1"/>
              <a:t>No|Class</a:t>
            </a:r>
            <a:r>
              <a:rPr lang="en-US" sz="1600" b="0" dirty="0"/>
              <a:t>=No)</a:t>
            </a:r>
            <a:br>
              <a:rPr lang="en-US" sz="1600" b="0" dirty="0"/>
            </a:br>
            <a:r>
              <a:rPr lang="en-US" sz="1600" b="0" dirty="0"/>
              <a:t>		 </a:t>
            </a:r>
            <a:r>
              <a:rPr lang="en-US" sz="1600" b="0" dirty="0">
                <a:sym typeface="Symbol" pitchFamily="18" charset="2"/>
              </a:rPr>
              <a:t> P(Married| </a:t>
            </a:r>
            <a:r>
              <a:rPr lang="en-US" sz="1600" b="0" dirty="0"/>
              <a:t>Class=No)</a:t>
            </a:r>
            <a:br>
              <a:rPr lang="en-US" sz="1600" b="0" dirty="0"/>
            </a:br>
            <a:r>
              <a:rPr lang="en-US" sz="1600" b="0" dirty="0"/>
              <a:t>		 </a:t>
            </a:r>
            <a:r>
              <a:rPr lang="en-US" sz="1600" b="0" dirty="0">
                <a:sym typeface="Symbol" pitchFamily="18" charset="2"/>
              </a:rPr>
              <a:t></a:t>
            </a:r>
            <a:r>
              <a:rPr lang="en-US" sz="1600" b="0" dirty="0"/>
              <a:t> P(Income=</a:t>
            </a:r>
            <a:r>
              <a:rPr lang="en-US" sz="1600" b="0" dirty="0" err="1"/>
              <a:t>120K</a:t>
            </a:r>
            <a:r>
              <a:rPr lang="en-US" sz="1600" b="0" dirty="0"/>
              <a:t>| Class=No)</a:t>
            </a:r>
            <a:br>
              <a:rPr lang="en-US" sz="1600" b="0" dirty="0"/>
            </a:br>
            <a:r>
              <a:rPr lang="en-US" sz="1600" b="0" dirty="0"/>
              <a:t>	              = 4/7 </a:t>
            </a:r>
            <a:r>
              <a:rPr lang="en-US" sz="1600" b="0" dirty="0">
                <a:sym typeface="Symbol" pitchFamily="18" charset="2"/>
              </a:rPr>
              <a:t> 4/7  0.0072 =</a:t>
            </a:r>
            <a:r>
              <a:rPr lang="en-US" sz="1600" b="0" dirty="0">
                <a:solidFill>
                  <a:srgbClr val="0070C0"/>
                </a:solidFill>
                <a:sym typeface="Symbol" pitchFamily="18" charset="2"/>
              </a:rPr>
              <a:t> </a:t>
            </a:r>
            <a:r>
              <a:rPr lang="en-US" sz="1600" b="0" dirty="0">
                <a:solidFill>
                  <a:srgbClr val="FF0000"/>
                </a:solidFill>
                <a:sym typeface="Symbol" pitchFamily="18" charset="2"/>
              </a:rPr>
              <a:t>0.0024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endParaRPr lang="en-US" sz="800" b="0" dirty="0">
              <a:sym typeface="Symbol" pitchFamily="18" charset="2"/>
            </a:endParaRP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P(</a:t>
            </a:r>
            <a:r>
              <a:rPr lang="en-US" sz="1600" b="0" dirty="0" err="1">
                <a:solidFill>
                  <a:schemeClr val="accent6">
                    <a:lumMod val="75000"/>
                  </a:schemeClr>
                </a:solidFill>
              </a:rPr>
              <a:t>X|Class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=Yes) = P(Refund=No| Class=Yes)</a:t>
            </a:r>
            <a:b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   	                 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 P(Married|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Class=Yes)</a:t>
            </a:r>
            <a:b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   	                 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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 P(Income=</a:t>
            </a:r>
            <a:r>
              <a:rPr lang="en-US" sz="1600" b="0" dirty="0" err="1">
                <a:solidFill>
                  <a:schemeClr val="accent6">
                    <a:lumMod val="75000"/>
                  </a:schemeClr>
                </a:solidFill>
              </a:rPr>
              <a:t>120K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| Class=Yes)</a:t>
            </a:r>
            <a:b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	               = 1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 0  1.2  10</a:t>
            </a:r>
            <a:r>
              <a:rPr lang="en-US" sz="1600" b="0" baseline="3000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-9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 =</a:t>
            </a:r>
            <a:r>
              <a:rPr lang="en-US" sz="1600" b="0" dirty="0">
                <a:sym typeface="Symbol" pitchFamily="18" charset="2"/>
              </a:rPr>
              <a:t> </a:t>
            </a:r>
            <a:r>
              <a:rPr lang="en-US" sz="1600" b="0" dirty="0">
                <a:solidFill>
                  <a:srgbClr val="FF0000"/>
                </a:solidFill>
                <a:sym typeface="Symbol" pitchFamily="18" charset="2"/>
              </a:rPr>
              <a:t>0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endParaRPr lang="en-US" sz="800" b="0" dirty="0">
              <a:sym typeface="Symbol" pitchFamily="18" charset="2"/>
            </a:endParaRP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 dirty="0" smtClean="0"/>
              <a:t>P(No) = 0.3, </a:t>
            </a:r>
            <a:r>
              <a:rPr lang="en-US" sz="1800" b="0" dirty="0" smtClean="0">
                <a:solidFill>
                  <a:schemeClr val="accent6">
                    <a:lumMod val="75000"/>
                  </a:schemeClr>
                </a:solidFill>
              </a:rPr>
              <a:t>P(Yes) = 0.7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 dirty="0" smtClean="0"/>
              <a:t>Since </a:t>
            </a:r>
            <a:r>
              <a:rPr lang="en-US" sz="1800" b="0" dirty="0"/>
              <a:t>P(</a:t>
            </a:r>
            <a:r>
              <a:rPr lang="en-US" sz="1800" b="0" dirty="0" err="1"/>
              <a:t>X|No</a:t>
            </a:r>
            <a:r>
              <a:rPr lang="en-US" sz="1800" b="0" dirty="0"/>
              <a:t>)P(No) &gt; P(</a:t>
            </a:r>
            <a:r>
              <a:rPr lang="en-US" sz="1800" b="0" dirty="0" err="1"/>
              <a:t>X|Yes</a:t>
            </a:r>
            <a:r>
              <a:rPr lang="en-US" sz="1800" b="0" dirty="0"/>
              <a:t>)P(Yes)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 dirty="0"/>
              <a:t>Therefore P(</a:t>
            </a:r>
            <a:r>
              <a:rPr lang="en-US" sz="1800" b="0" dirty="0" err="1"/>
              <a:t>No|X</a:t>
            </a:r>
            <a:r>
              <a:rPr lang="en-US" sz="1800" b="0" dirty="0"/>
              <a:t>) &gt; P(</a:t>
            </a:r>
            <a:r>
              <a:rPr lang="en-US" sz="1800" b="0" dirty="0" err="1"/>
              <a:t>Yes|X</a:t>
            </a:r>
            <a:r>
              <a:rPr lang="en-US" sz="1800" b="0" dirty="0"/>
              <a:t>)</a:t>
            </a:r>
            <a:br>
              <a:rPr lang="en-US" sz="1800" b="0" dirty="0"/>
            </a:br>
            <a:r>
              <a:rPr lang="en-US" sz="1800" b="0" dirty="0"/>
              <a:t>      </a:t>
            </a:r>
            <a:r>
              <a:rPr lang="en-US" sz="2000" b="0" dirty="0">
                <a:sym typeface="Symbol" pitchFamily="18" charset="2"/>
              </a:rPr>
              <a:t>=&gt; </a:t>
            </a:r>
            <a:r>
              <a:rPr lang="en-US" sz="2000" b="0" dirty="0">
                <a:solidFill>
                  <a:srgbClr val="FF0000"/>
                </a:solidFill>
                <a:sym typeface="Symbol" pitchFamily="18" charset="2"/>
              </a:rPr>
              <a:t>Class = No</a:t>
            </a:r>
          </a:p>
        </p:txBody>
      </p:sp>
      <p:sp>
        <p:nvSpPr>
          <p:cNvPr id="1075206" name="Text Box 6"/>
          <p:cNvSpPr txBox="1">
            <a:spLocks noChangeArrowheads="1"/>
          </p:cNvSpPr>
          <p:nvPr/>
        </p:nvSpPr>
        <p:spPr bwMode="auto">
          <a:xfrm>
            <a:off x="228600" y="1447800"/>
            <a:ext cx="274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solidFill>
                  <a:srgbClr val="FF0000"/>
                </a:solidFill>
              </a:rPr>
              <a:t>Given a Test Record:</a:t>
            </a:r>
          </a:p>
        </p:txBody>
      </p:sp>
    </p:spTree>
    <p:extLst>
      <p:ext uri="{BB962C8B-B14F-4D97-AF65-F5344CB8AC3E}">
        <p14:creationId xmlns:p14="http://schemas.microsoft.com/office/powerpoint/2010/main" xmlns="" val="2997595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7772400" cy="990600"/>
          </a:xfrm>
        </p:spPr>
        <p:txBody>
          <a:bodyPr/>
          <a:lstStyle/>
          <a:p>
            <a:r>
              <a:rPr lang="en-US" sz="4000" dirty="0"/>
              <a:t>Example of Naïve </a:t>
            </a:r>
            <a:r>
              <a:rPr lang="en-US" sz="4000" dirty="0" err="1"/>
              <a:t>Bayes</a:t>
            </a:r>
            <a:r>
              <a:rPr lang="en-US" sz="4000" dirty="0"/>
              <a:t> Classifier</a:t>
            </a:r>
          </a:p>
        </p:txBody>
      </p:sp>
      <p:graphicFrame>
        <p:nvGraphicFramePr>
          <p:cNvPr id="10752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887684821"/>
              </p:ext>
            </p:extLst>
          </p:nvPr>
        </p:nvGraphicFramePr>
        <p:xfrm>
          <a:off x="0" y="2362200"/>
          <a:ext cx="3886200" cy="4279900"/>
        </p:xfrm>
        <a:graphic>
          <a:graphicData uri="http://schemas.openxmlformats.org/presentationml/2006/ole">
            <p:oleObj spid="_x0000_s237570" name="Visio" r:id="rId3" imgW="9070380" imgH="5536811" progId="">
              <p:embed/>
            </p:oleObj>
          </a:graphicData>
        </a:graphic>
      </p:graphicFrame>
      <p:graphicFrame>
        <p:nvGraphicFramePr>
          <p:cNvPr id="10752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975488217"/>
              </p:ext>
            </p:extLst>
          </p:nvPr>
        </p:nvGraphicFramePr>
        <p:xfrm>
          <a:off x="1371600" y="1814513"/>
          <a:ext cx="5562600" cy="350390"/>
        </p:xfrm>
        <a:graphic>
          <a:graphicData uri="http://schemas.openxmlformats.org/presentationml/2006/ole">
            <p:oleObj spid="_x0000_s237571" name="Equation" r:id="rId4" imgW="5448300" imgH="342900" progId="Equation.3">
              <p:embed/>
            </p:oleObj>
          </a:graphicData>
        </a:graphic>
      </p:graphicFrame>
      <p:sp>
        <p:nvSpPr>
          <p:cNvPr id="1075205" name="Rectangle 5"/>
          <p:cNvSpPr>
            <a:spLocks noChangeArrowheads="1"/>
          </p:cNvSpPr>
          <p:nvPr/>
        </p:nvSpPr>
        <p:spPr bwMode="auto">
          <a:xfrm>
            <a:off x="3733800" y="2819400"/>
            <a:ext cx="495300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1600" b="0" dirty="0"/>
              <a:t>P(</a:t>
            </a:r>
            <a:r>
              <a:rPr lang="en-US" sz="1600" b="0" dirty="0" err="1"/>
              <a:t>X|Class</a:t>
            </a:r>
            <a:r>
              <a:rPr lang="en-US" sz="1600" b="0" dirty="0"/>
              <a:t>=No) = P(Refund=</a:t>
            </a:r>
            <a:r>
              <a:rPr lang="en-US" sz="1600" b="0" dirty="0" err="1"/>
              <a:t>No|Class</a:t>
            </a:r>
            <a:r>
              <a:rPr lang="en-US" sz="1600" b="0" dirty="0"/>
              <a:t>=No)</a:t>
            </a:r>
            <a:br>
              <a:rPr lang="en-US" sz="1600" b="0" dirty="0"/>
            </a:br>
            <a:r>
              <a:rPr lang="en-US" sz="1600" b="0" dirty="0"/>
              <a:t>		 </a:t>
            </a:r>
            <a:r>
              <a:rPr lang="en-US" sz="1600" b="0" dirty="0">
                <a:sym typeface="Symbol" pitchFamily="18" charset="2"/>
              </a:rPr>
              <a:t> P(Married| </a:t>
            </a:r>
            <a:r>
              <a:rPr lang="en-US" sz="1600" b="0" dirty="0"/>
              <a:t>Class=No)</a:t>
            </a:r>
            <a:br>
              <a:rPr lang="en-US" sz="1600" b="0" dirty="0"/>
            </a:br>
            <a:r>
              <a:rPr lang="en-US" sz="1600" b="0" dirty="0"/>
              <a:t>		 </a:t>
            </a:r>
            <a:r>
              <a:rPr lang="en-US" sz="1600" b="0" dirty="0">
                <a:sym typeface="Symbol" pitchFamily="18" charset="2"/>
              </a:rPr>
              <a:t></a:t>
            </a:r>
            <a:r>
              <a:rPr lang="en-US" sz="1600" b="0" dirty="0"/>
              <a:t> P(Income=</a:t>
            </a:r>
            <a:r>
              <a:rPr lang="en-US" sz="1600" b="0" dirty="0" err="1"/>
              <a:t>120K</a:t>
            </a:r>
            <a:r>
              <a:rPr lang="en-US" sz="1600" b="0" dirty="0"/>
              <a:t>| Class=No)</a:t>
            </a:r>
            <a:br>
              <a:rPr lang="en-US" sz="1600" b="0" dirty="0"/>
            </a:br>
            <a:r>
              <a:rPr lang="en-US" sz="1600" b="0" dirty="0"/>
              <a:t>	              = </a:t>
            </a:r>
            <a:r>
              <a:rPr lang="en-US" sz="1600" dirty="0" smtClean="0"/>
              <a:t>5/9</a:t>
            </a:r>
            <a:r>
              <a:rPr lang="en-US" sz="1600" b="0" dirty="0" smtClean="0"/>
              <a:t> </a:t>
            </a:r>
            <a:r>
              <a:rPr lang="en-US" sz="1600" b="0" dirty="0">
                <a:sym typeface="Symbol" pitchFamily="18" charset="2"/>
              </a:rPr>
              <a:t> </a:t>
            </a:r>
            <a:r>
              <a:rPr lang="en-US" sz="1600" b="0" dirty="0" smtClean="0">
                <a:sym typeface="Symbol" pitchFamily="18" charset="2"/>
              </a:rPr>
              <a:t>5/10 </a:t>
            </a:r>
            <a:r>
              <a:rPr lang="en-US" sz="1600" b="0" dirty="0">
                <a:sym typeface="Symbol" pitchFamily="18" charset="2"/>
              </a:rPr>
              <a:t> 0.0072 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endParaRPr lang="en-US" sz="800" b="0" dirty="0">
              <a:sym typeface="Symbol" pitchFamily="18" charset="2"/>
            </a:endParaRP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P(</a:t>
            </a:r>
            <a:r>
              <a:rPr lang="en-US" sz="1600" b="0" dirty="0" err="1">
                <a:solidFill>
                  <a:schemeClr val="accent6">
                    <a:lumMod val="75000"/>
                  </a:schemeClr>
                </a:solidFill>
              </a:rPr>
              <a:t>X|Class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=Yes) = P(Refund=No| Class=Yes)</a:t>
            </a:r>
            <a:b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   	                 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 P(Married|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Class=Yes)</a:t>
            </a:r>
            <a:b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   	                 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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 P(Income=</a:t>
            </a:r>
            <a:r>
              <a:rPr lang="en-US" sz="1600" b="0" dirty="0" err="1">
                <a:solidFill>
                  <a:schemeClr val="accent6">
                    <a:lumMod val="75000"/>
                  </a:schemeClr>
                </a:solidFill>
              </a:rPr>
              <a:t>120K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| Class=Yes)</a:t>
            </a:r>
            <a:b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</a:rPr>
              <a:t>	               = </a:t>
            </a:r>
            <a:r>
              <a:rPr lang="en-US" sz="1600" b="0" dirty="0" smtClean="0">
                <a:solidFill>
                  <a:schemeClr val="accent6">
                    <a:lumMod val="75000"/>
                  </a:schemeClr>
                </a:solidFill>
              </a:rPr>
              <a:t>4/5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 </a:t>
            </a:r>
            <a:r>
              <a:rPr lang="en-US" sz="1600" b="0" dirty="0" smtClean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1/6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 1.2  10</a:t>
            </a:r>
            <a:r>
              <a:rPr lang="en-US" sz="1600" b="0" baseline="3000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-9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 </a:t>
            </a:r>
            <a:endParaRPr lang="en-US" sz="1600" b="0" dirty="0">
              <a:solidFill>
                <a:srgbClr val="FF0000"/>
              </a:solidFill>
              <a:sym typeface="Symbol" pitchFamily="18" charset="2"/>
            </a:endParaRP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endParaRPr lang="en-US" sz="800" b="0" dirty="0">
              <a:sym typeface="Symbol" pitchFamily="18" charset="2"/>
            </a:endParaRP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 dirty="0" smtClean="0"/>
              <a:t>P(No) = 0.7, </a:t>
            </a:r>
            <a:r>
              <a:rPr lang="en-US" sz="1800" b="0" dirty="0" smtClean="0">
                <a:solidFill>
                  <a:schemeClr val="accent6">
                    <a:lumMod val="75000"/>
                  </a:schemeClr>
                </a:solidFill>
              </a:rPr>
              <a:t>P(Yes) = 0.3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 dirty="0" smtClean="0"/>
              <a:t>Since </a:t>
            </a:r>
            <a:r>
              <a:rPr lang="en-US" sz="1800" b="0" dirty="0"/>
              <a:t>P(</a:t>
            </a:r>
            <a:r>
              <a:rPr lang="en-US" sz="1800" b="0" dirty="0" err="1"/>
              <a:t>X|No</a:t>
            </a:r>
            <a:r>
              <a:rPr lang="en-US" sz="1800" b="0" dirty="0"/>
              <a:t>)P(No) &gt; P(</a:t>
            </a:r>
            <a:r>
              <a:rPr lang="en-US" sz="1800" b="0" dirty="0" err="1"/>
              <a:t>X|Yes</a:t>
            </a:r>
            <a:r>
              <a:rPr lang="en-US" sz="1800" b="0" dirty="0"/>
              <a:t>)P(Yes)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1800" b="0" dirty="0"/>
              <a:t>Therefore P(</a:t>
            </a:r>
            <a:r>
              <a:rPr lang="en-US" sz="1800" b="0" dirty="0" err="1"/>
              <a:t>No|X</a:t>
            </a:r>
            <a:r>
              <a:rPr lang="en-US" sz="1800" b="0" dirty="0"/>
              <a:t>) &gt; P(</a:t>
            </a:r>
            <a:r>
              <a:rPr lang="en-US" sz="1800" b="0" dirty="0" err="1"/>
              <a:t>Yes|X</a:t>
            </a:r>
            <a:r>
              <a:rPr lang="en-US" sz="1800" b="0" dirty="0"/>
              <a:t>)</a:t>
            </a:r>
            <a:br>
              <a:rPr lang="en-US" sz="1800" b="0" dirty="0"/>
            </a:br>
            <a:r>
              <a:rPr lang="en-US" sz="1800" b="0" dirty="0"/>
              <a:t>      </a:t>
            </a:r>
            <a:r>
              <a:rPr lang="en-US" sz="2000" b="0" dirty="0">
                <a:sym typeface="Symbol" pitchFamily="18" charset="2"/>
              </a:rPr>
              <a:t>=&gt; </a:t>
            </a:r>
            <a:r>
              <a:rPr lang="en-US" sz="2000" b="0" dirty="0">
                <a:solidFill>
                  <a:srgbClr val="FF0000"/>
                </a:solidFill>
                <a:sym typeface="Symbol" pitchFamily="18" charset="2"/>
              </a:rPr>
              <a:t>Class = No</a:t>
            </a:r>
          </a:p>
        </p:txBody>
      </p:sp>
      <p:sp>
        <p:nvSpPr>
          <p:cNvPr id="1075206" name="Text Box 6"/>
          <p:cNvSpPr txBox="1">
            <a:spLocks noChangeArrowheads="1"/>
          </p:cNvSpPr>
          <p:nvPr/>
        </p:nvSpPr>
        <p:spPr bwMode="auto">
          <a:xfrm>
            <a:off x="228600" y="1447800"/>
            <a:ext cx="274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solidFill>
                  <a:srgbClr val="FF0000"/>
                </a:solidFill>
              </a:rPr>
              <a:t>Given a Test Record: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72200" y="1371600"/>
            <a:ext cx="2685351" cy="369332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With Laplace Smoothing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02439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914400"/>
          </a:xfrm>
        </p:spPr>
        <p:txBody>
          <a:bodyPr/>
          <a:lstStyle/>
          <a:p>
            <a:r>
              <a:rPr lang="en-US" sz="4000" dirty="0" smtClean="0"/>
              <a:t>Example of </a:t>
            </a:r>
            <a:r>
              <a:rPr lang="en-US" sz="4000" dirty="0" err="1" smtClean="0"/>
              <a:t>Laplacian</a:t>
            </a:r>
            <a:r>
              <a:rPr lang="en-US" sz="4000" dirty="0" smtClean="0"/>
              <a:t> correction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43000"/>
            <a:ext cx="8001000" cy="41148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000" dirty="0" smtClean="0"/>
              <a:t>In order to avoid probability values of zero we can add one value to each category of the attribute with zero count category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sz="2800" dirty="0" smtClean="0"/>
              <a:t>Examples 8.5: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33075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2590800"/>
            <a:ext cx="8314082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6858000" y="6400800"/>
            <a:ext cx="1600200" cy="457200"/>
          </a:xfrm>
          <a:prstGeom prst="rect">
            <a:avLst/>
          </a:prstGeom>
        </p:spPr>
        <p:txBody>
          <a:bodyPr/>
          <a:lstStyle/>
          <a:p>
            <a:fld id="{031191DA-7E96-420B-8482-F59ECD67C13C}" type="slidenum">
              <a:rPr lang="en-US"/>
              <a:pPr/>
              <a:t>16</a:t>
            </a:fld>
            <a:endParaRPr lang="en-US"/>
          </a:p>
        </p:txBody>
      </p:sp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229600" cy="990600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Naïve Bayesian classification – </a:t>
            </a:r>
            <a:r>
              <a:rPr lang="en-US" sz="3600" dirty="0" smtClean="0">
                <a:solidFill>
                  <a:schemeClr val="tx1"/>
                </a:solidFill>
              </a:rPr>
              <a:t>Example</a:t>
            </a:r>
            <a:endParaRPr lang="it-IT" sz="3600" dirty="0">
              <a:solidFill>
                <a:schemeClr val="tx1"/>
              </a:solidFill>
            </a:endParaRPr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76400"/>
            <a:ext cx="3771900" cy="4038600"/>
          </a:xfrm>
        </p:spPr>
        <p:txBody>
          <a:bodyPr/>
          <a:lstStyle/>
          <a:p>
            <a:r>
              <a:rPr lang="en-US" sz="2000" dirty="0">
                <a:solidFill>
                  <a:schemeClr val="tx2"/>
                </a:solidFill>
              </a:rPr>
              <a:t>Estimating </a:t>
            </a:r>
            <a:r>
              <a:rPr lang="en-US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P(</a:t>
            </a:r>
            <a:r>
              <a:rPr lang="en-US" sz="2000" i="1" dirty="0" err="1">
                <a:solidFill>
                  <a:schemeClr val="tx2"/>
                </a:solidFill>
              </a:rPr>
              <a:t>x</a:t>
            </a:r>
            <a:r>
              <a:rPr lang="en-US" sz="2000" i="1" baseline="-25000" dirty="0" err="1">
                <a:solidFill>
                  <a:schemeClr val="tx2"/>
                </a:solidFill>
              </a:rPr>
              <a:t>i</a:t>
            </a:r>
            <a:r>
              <a:rPr lang="en-US" sz="2000" i="1" dirty="0" err="1">
                <a:solidFill>
                  <a:schemeClr val="tx2"/>
                </a:solidFill>
              </a:rPr>
              <a:t>|C</a:t>
            </a:r>
            <a:r>
              <a:rPr lang="en-US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  <a:endParaRPr lang="en-GB" sz="20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184338" name="Group 18"/>
          <p:cNvGraphicFramePr>
            <a:graphicFrameLocks noGrp="1"/>
          </p:cNvGraphicFramePr>
          <p:nvPr/>
        </p:nvGraphicFramePr>
        <p:xfrm>
          <a:off x="5410200" y="1676401"/>
          <a:ext cx="1676400" cy="762634"/>
        </p:xfrm>
        <a:graphic>
          <a:graphicData uri="http://schemas.openxmlformats.org/drawingml/2006/table">
            <a:tbl>
              <a:tblPr/>
              <a:tblGrid>
                <a:gridCol w="1676400"/>
              </a:tblGrid>
              <a:tr h="3813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P(</a:t>
                      </a:r>
                      <a:r>
                        <a:rPr kumimoji="0" lang="en-US" sz="16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p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 = 9/14</a:t>
                      </a:r>
                      <a:endParaRPr kumimoji="0" lang="it-IT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3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P(</a:t>
                      </a:r>
                      <a:r>
                        <a:rPr kumimoji="0" lang="en-US" sz="16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</a:rPr>
                        <a:t>n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 = 5/14</a:t>
                      </a:r>
                      <a:endParaRPr kumimoji="0" lang="it-IT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4332" name="Object 12"/>
          <p:cNvGraphicFramePr>
            <a:graphicFrameLocks/>
          </p:cNvGraphicFramePr>
          <p:nvPr/>
        </p:nvGraphicFramePr>
        <p:xfrm>
          <a:off x="762000" y="2362200"/>
          <a:ext cx="3352800" cy="1905000"/>
        </p:xfrm>
        <a:graphic>
          <a:graphicData uri="http://schemas.openxmlformats.org/presentationml/2006/ole">
            <p:oleObj spid="_x0000_s238594" name="Worksheet" r:id="rId3" imgW="4480200" imgH="2472120" progId="Excel.Sheet.8">
              <p:embed/>
            </p:oleObj>
          </a:graphicData>
        </a:graphic>
      </p:graphicFrame>
      <p:graphicFrame>
        <p:nvGraphicFramePr>
          <p:cNvPr id="184333" name="Object 13"/>
          <p:cNvGraphicFramePr>
            <a:graphicFrameLocks/>
          </p:cNvGraphicFramePr>
          <p:nvPr/>
        </p:nvGraphicFramePr>
        <p:xfrm>
          <a:off x="762000" y="4648200"/>
          <a:ext cx="3352800" cy="1828800"/>
        </p:xfrm>
        <a:graphic>
          <a:graphicData uri="http://schemas.openxmlformats.org/presentationml/2006/ole">
            <p:oleObj spid="_x0000_s238595" name="Worksheet" r:id="rId4" imgW="4530960" imgH="2176920" progId="Excel.Sheet.8">
              <p:embed/>
            </p:oleObj>
          </a:graphicData>
        </a:graphic>
      </p:graphicFrame>
      <p:graphicFrame>
        <p:nvGraphicFramePr>
          <p:cNvPr id="184339" name="Object 19"/>
          <p:cNvGraphicFramePr>
            <a:graphicFrameLocks noGrp="1"/>
          </p:cNvGraphicFramePr>
          <p:nvPr>
            <p:ph sz="half" idx="2"/>
          </p:nvPr>
        </p:nvGraphicFramePr>
        <p:xfrm>
          <a:off x="4419600" y="2743200"/>
          <a:ext cx="4191000" cy="3429000"/>
        </p:xfrm>
        <a:graphic>
          <a:graphicData uri="http://schemas.openxmlformats.org/presentationml/2006/ole">
            <p:oleObj spid="_x0000_s238596" name="Worksheet" r:id="rId5" imgW="5551920" imgH="4581720" progId="Excel.Sheet.8">
              <p:embed/>
            </p:oleObj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5F217-0779-43FA-8928-753E0332E031}" type="slidenum">
              <a:rPr lang="en-US"/>
              <a:pPr/>
              <a:t>17</a:t>
            </a:fld>
            <a:endParaRPr lang="en-US"/>
          </a:p>
        </p:txBody>
      </p:sp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82000" cy="990600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Naïve Bayesian classification – Example </a:t>
            </a:r>
            <a:endParaRPr lang="it-IT" sz="3600" dirty="0">
              <a:solidFill>
                <a:schemeClr val="tx1"/>
              </a:solidFill>
            </a:endParaRPr>
          </a:p>
        </p:txBody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343400"/>
          </a:xfrm>
        </p:spPr>
        <p:txBody>
          <a:bodyPr/>
          <a:lstStyle/>
          <a:p>
            <a:r>
              <a:rPr lang="en-US" sz="2200" dirty="0"/>
              <a:t>Classifying </a:t>
            </a:r>
            <a:r>
              <a:rPr lang="en-US" sz="2200" i="1" dirty="0"/>
              <a:t>X</a:t>
            </a:r>
            <a:r>
              <a:rPr lang="en-US" sz="2200" i="1" dirty="0" smtClean="0"/>
              <a:t>:</a:t>
            </a:r>
          </a:p>
          <a:p>
            <a:pPr lvl="1"/>
            <a:r>
              <a:rPr lang="en-US" sz="2200" dirty="0" smtClean="0"/>
              <a:t>an </a:t>
            </a:r>
            <a:r>
              <a:rPr lang="en-US" sz="2200" dirty="0"/>
              <a:t>unseen sample </a:t>
            </a:r>
            <a:r>
              <a:rPr lang="en-US" sz="2200" i="1" dirty="0"/>
              <a:t>X = &lt;rain, hot, high, false</a:t>
            </a:r>
            <a:r>
              <a:rPr lang="en-US" sz="2200" i="1" dirty="0" smtClean="0"/>
              <a:t>&gt;</a:t>
            </a:r>
          </a:p>
          <a:p>
            <a:pPr lvl="1"/>
            <a:r>
              <a:rPr lang="en-US" sz="2200" b="1" dirty="0" smtClean="0"/>
              <a:t>P(</a:t>
            </a:r>
            <a:r>
              <a:rPr lang="en-US" sz="2200" i="1" dirty="0" err="1" smtClean="0"/>
              <a:t>X|p</a:t>
            </a:r>
            <a:r>
              <a:rPr lang="en-US" sz="2200" b="1" dirty="0"/>
              <a:t>)·P(</a:t>
            </a:r>
            <a:r>
              <a:rPr lang="en-US" sz="2200" i="1" dirty="0"/>
              <a:t>p</a:t>
            </a:r>
            <a:r>
              <a:rPr lang="en-US" sz="2200" b="1" dirty="0"/>
              <a:t>) = </a:t>
            </a:r>
            <a:br>
              <a:rPr lang="en-US" sz="2200" b="1" dirty="0"/>
            </a:br>
            <a:r>
              <a:rPr lang="en-US" sz="2200" b="1" dirty="0"/>
              <a:t>P(</a:t>
            </a:r>
            <a:r>
              <a:rPr lang="en-US" sz="2200" i="1" dirty="0" err="1"/>
              <a:t>rain|p</a:t>
            </a:r>
            <a:r>
              <a:rPr lang="en-US" sz="2200" b="1" dirty="0"/>
              <a:t>)·P(</a:t>
            </a:r>
            <a:r>
              <a:rPr lang="en-US" sz="2200" i="1" dirty="0" err="1"/>
              <a:t>hot|p</a:t>
            </a:r>
            <a:r>
              <a:rPr lang="en-US" sz="2200" b="1" dirty="0"/>
              <a:t>)·P(</a:t>
            </a:r>
            <a:r>
              <a:rPr lang="en-US" sz="2200" i="1" dirty="0" err="1"/>
              <a:t>high|p</a:t>
            </a:r>
            <a:r>
              <a:rPr lang="en-US" sz="2200" b="1" dirty="0"/>
              <a:t>)·P(</a:t>
            </a:r>
            <a:r>
              <a:rPr lang="en-US" sz="2200" i="1" dirty="0" err="1"/>
              <a:t>false|p</a:t>
            </a:r>
            <a:r>
              <a:rPr lang="en-US" sz="2200" b="1" dirty="0"/>
              <a:t>)·P(</a:t>
            </a:r>
            <a:r>
              <a:rPr lang="en-US" sz="2200" i="1" dirty="0"/>
              <a:t>p</a:t>
            </a:r>
            <a:r>
              <a:rPr lang="en-US" sz="2200" b="1" dirty="0"/>
              <a:t>) = </a:t>
            </a:r>
            <a:r>
              <a:rPr lang="en-US" sz="2200" dirty="0"/>
              <a:t>3/9·2/9·3/9·6/9·9/14</a:t>
            </a:r>
            <a:r>
              <a:rPr lang="en-US" sz="2200" b="1" dirty="0"/>
              <a:t> = </a:t>
            </a:r>
            <a:r>
              <a:rPr lang="it-IT" sz="2200" dirty="0" smtClean="0">
                <a:cs typeface="Arial" charset="0"/>
              </a:rPr>
              <a:t>0.010582</a:t>
            </a:r>
          </a:p>
          <a:p>
            <a:pPr lvl="1"/>
            <a:r>
              <a:rPr lang="en-US" sz="2200" b="1" dirty="0" smtClean="0"/>
              <a:t>P(</a:t>
            </a:r>
            <a:r>
              <a:rPr lang="en-US" sz="2200" i="1" dirty="0" err="1" smtClean="0"/>
              <a:t>X|n</a:t>
            </a:r>
            <a:r>
              <a:rPr lang="en-US" sz="2200" b="1" dirty="0"/>
              <a:t>)·P(</a:t>
            </a:r>
            <a:r>
              <a:rPr lang="en-US" sz="2200" i="1" dirty="0"/>
              <a:t>n</a:t>
            </a:r>
            <a:r>
              <a:rPr lang="en-US" sz="2200" b="1" dirty="0"/>
              <a:t>) = </a:t>
            </a:r>
            <a:br>
              <a:rPr lang="en-US" sz="2200" b="1" dirty="0"/>
            </a:br>
            <a:r>
              <a:rPr lang="en-US" sz="2200" b="1" dirty="0"/>
              <a:t>P(</a:t>
            </a:r>
            <a:r>
              <a:rPr lang="en-US" sz="2200" i="1" dirty="0" err="1"/>
              <a:t>rain|n</a:t>
            </a:r>
            <a:r>
              <a:rPr lang="en-US" sz="2200" b="1" dirty="0"/>
              <a:t>)·P(</a:t>
            </a:r>
            <a:r>
              <a:rPr lang="en-US" sz="2200" i="1" dirty="0" err="1"/>
              <a:t>hot|n</a:t>
            </a:r>
            <a:r>
              <a:rPr lang="en-US" sz="2200" b="1" dirty="0"/>
              <a:t>)·P(</a:t>
            </a:r>
            <a:r>
              <a:rPr lang="en-US" sz="2200" i="1" dirty="0" err="1"/>
              <a:t>high|n</a:t>
            </a:r>
            <a:r>
              <a:rPr lang="en-US" sz="2200" b="1" dirty="0"/>
              <a:t>)·P(</a:t>
            </a:r>
            <a:r>
              <a:rPr lang="en-US" sz="2200" i="1" dirty="0" err="1"/>
              <a:t>false|n</a:t>
            </a:r>
            <a:r>
              <a:rPr lang="en-US" sz="2200" b="1" dirty="0"/>
              <a:t>)·P(</a:t>
            </a:r>
            <a:r>
              <a:rPr lang="en-US" sz="2200" i="1" dirty="0"/>
              <a:t>n</a:t>
            </a:r>
            <a:r>
              <a:rPr lang="en-US" sz="2200" b="1" dirty="0"/>
              <a:t>) = </a:t>
            </a:r>
            <a:r>
              <a:rPr lang="en-US" sz="2200" dirty="0"/>
              <a:t>2/5·2/5·4/5·2/5·5/14</a:t>
            </a:r>
            <a:r>
              <a:rPr lang="en-US" sz="2200" b="1" dirty="0"/>
              <a:t> = </a:t>
            </a:r>
            <a:r>
              <a:rPr lang="it-IT" sz="2200" b="1" dirty="0" smtClean="0">
                <a:cs typeface="Arial" charset="0"/>
              </a:rPr>
              <a:t>0.018286</a:t>
            </a:r>
          </a:p>
          <a:p>
            <a:pPr lvl="1"/>
            <a:r>
              <a:rPr lang="en-US" sz="2200" dirty="0" smtClean="0"/>
              <a:t>Sample </a:t>
            </a:r>
            <a:r>
              <a:rPr lang="en-US" sz="2200" i="1" dirty="0"/>
              <a:t>X</a:t>
            </a:r>
            <a:r>
              <a:rPr lang="en-US" sz="2200" dirty="0"/>
              <a:t> is classified in class </a:t>
            </a:r>
            <a:r>
              <a:rPr lang="en-US" sz="2200" i="1" dirty="0"/>
              <a:t>n</a:t>
            </a:r>
            <a:r>
              <a:rPr lang="en-US" sz="2200" dirty="0"/>
              <a:t> (don</a:t>
            </a:r>
            <a:r>
              <a:rPr lang="en-US" sz="2200" dirty="0">
                <a:latin typeface="Comic Sans MS"/>
              </a:rPr>
              <a:t>’</a:t>
            </a:r>
            <a:r>
              <a:rPr lang="en-US" sz="2200" dirty="0"/>
              <a:t>t play</a:t>
            </a:r>
            <a:r>
              <a:rPr lang="en-US" dirty="0"/>
              <a:t>)</a:t>
            </a:r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2BE0A25-2476-484A-9668-0B8E72094E5D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9525" y="304800"/>
            <a:ext cx="9144000" cy="609600"/>
          </a:xfrm>
        </p:spPr>
        <p:txBody>
          <a:bodyPr/>
          <a:lstStyle/>
          <a:p>
            <a:pPr eaLnBrk="1" hangingPunct="1"/>
            <a:r>
              <a:rPr lang="en-US" smtClean="0"/>
              <a:t>Naïve Bayes Classifier: Comments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6106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Advantages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Easy to implement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Good results obtained in most of the cases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Disadvantages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Assumption: class conditional independence, therefore loss of accuracy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Practically, dependencies exist among variables 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 smtClean="0"/>
              <a:t>E.g.,  hospitals: patients: Profile: age, family history, etc. </a:t>
            </a:r>
          </a:p>
          <a:p>
            <a:pPr lvl="3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dirty="0" smtClean="0"/>
              <a:t> </a:t>
            </a:r>
            <a:r>
              <a:rPr lang="en-US" sz="2400" dirty="0" smtClean="0"/>
              <a:t>Symptoms: fever, cough etc., Disease: lung cancer, diabetes, etc. 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 smtClean="0"/>
              <a:t>Dependencies among these cannot be modeled by Naïve </a:t>
            </a:r>
            <a:r>
              <a:rPr lang="en-US" dirty="0" err="1" smtClean="0"/>
              <a:t>Bayes</a:t>
            </a:r>
            <a:r>
              <a:rPr lang="en-US" dirty="0" smtClean="0"/>
              <a:t> Classifier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23320</TotalTime>
  <Words>1030</Words>
  <Application>Microsoft Office PowerPoint</Application>
  <PresentationFormat>On-screen Show (4:3)</PresentationFormat>
  <Paragraphs>196</Paragraphs>
  <Slides>18</Slides>
  <Notes>10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Default Design</vt:lpstr>
      <vt:lpstr>Equation</vt:lpstr>
      <vt:lpstr>Worksheet</vt:lpstr>
      <vt:lpstr>VISIO</vt:lpstr>
      <vt:lpstr>Visio</vt:lpstr>
      <vt:lpstr>Slide 1</vt:lpstr>
      <vt:lpstr>Bayesian Classification: Why?</vt:lpstr>
      <vt:lpstr>Bayes’ Theorem: Basics</vt:lpstr>
      <vt:lpstr>Prediction Based on Bayes’ Theorem</vt:lpstr>
      <vt:lpstr>Classification Is to Derive the Maximum Posteriori</vt:lpstr>
      <vt:lpstr>Naïve Bayes Classifier </vt:lpstr>
      <vt:lpstr>Naïve Bayes Classifier: Training Dataset</vt:lpstr>
      <vt:lpstr>Naïve Bayes Classifier: An Example</vt:lpstr>
      <vt:lpstr>Avoiding the Zero-Probability Problem</vt:lpstr>
      <vt:lpstr>How to Estimate Probabilities from Data?</vt:lpstr>
      <vt:lpstr>How to Estimate Probabilities from Data?</vt:lpstr>
      <vt:lpstr>Example of Naïve Bayes Classifier</vt:lpstr>
      <vt:lpstr>Example of Naïve Bayes Classifier</vt:lpstr>
      <vt:lpstr>Example of Naïve Bayes Classifier</vt:lpstr>
      <vt:lpstr>Example of Laplacian correction</vt:lpstr>
      <vt:lpstr>Naïve Bayesian classification – Example</vt:lpstr>
      <vt:lpstr>Naïve Bayesian classification – Example </vt:lpstr>
      <vt:lpstr>Naïve Bayes Classifier: Comments</vt:lpstr>
    </vt:vector>
  </TitlesOfParts>
  <Company>RHfarm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Shariq</dc:creator>
  <cp:lastModifiedBy>pc</cp:lastModifiedBy>
  <cp:revision>496</cp:revision>
  <dcterms:created xsi:type="dcterms:W3CDTF">2006-02-06T02:43:57Z</dcterms:created>
  <dcterms:modified xsi:type="dcterms:W3CDTF">2020-07-03T12:25:51Z</dcterms:modified>
</cp:coreProperties>
</file>