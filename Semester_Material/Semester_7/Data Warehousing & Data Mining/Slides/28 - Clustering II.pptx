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13"/>
  </p:notesMasterIdLst>
  <p:sldIdLst>
    <p:sldId id="439" r:id="rId2"/>
    <p:sldId id="440" r:id="rId3"/>
    <p:sldId id="441" r:id="rId4"/>
    <p:sldId id="442" r:id="rId5"/>
    <p:sldId id="443" r:id="rId6"/>
    <p:sldId id="453" r:id="rId7"/>
    <p:sldId id="454" r:id="rId8"/>
    <p:sldId id="455" r:id="rId9"/>
    <p:sldId id="456" r:id="rId10"/>
    <p:sldId id="449" r:id="rId11"/>
    <p:sldId id="496" r:id="rId12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  <a:srgbClr val="FF3399"/>
    <a:srgbClr val="FF33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09" autoAdjust="0"/>
  </p:normalViewPr>
  <p:slideViewPr>
    <p:cSldViewPr>
      <p:cViewPr varScale="1">
        <p:scale>
          <a:sx n="63" d="100"/>
          <a:sy n="63" d="100"/>
        </p:scale>
        <p:origin x="15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BAC4160-D9F3-45E2-9DE0-B8B505BD6E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95B799E-8931-4162-B505-68AEEEF98DB2}" type="slidenum">
              <a:rPr lang="en-US" smtClean="0">
                <a:latin typeface="Arial" pitchFamily="34" charset="0"/>
                <a:cs typeface="Arial" pitchFamily="34" charset="0"/>
              </a:rPr>
              <a:pPr/>
              <a:t>1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596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5E5B69-C8DE-410B-B0D3-F957A4544C9A}" type="slidenum">
              <a:rPr lang="en-US"/>
              <a:pPr/>
              <a:t>2</a:t>
            </a:fld>
            <a:endParaRPr lang="en-US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35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56D5E1-5075-43E9-95E2-1AD7C79AB8FD}" type="slidenum">
              <a:rPr lang="en-US"/>
              <a:pPr/>
              <a:t>3</a:t>
            </a:fld>
            <a:endParaRPr lang="en-US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97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97F984-B008-4CAF-AC8E-272F7C6AD076}" type="slidenum">
              <a:rPr lang="en-US"/>
              <a:pPr/>
              <a:t>4</a:t>
            </a:fld>
            <a:endParaRPr lang="en-US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13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F1E6E0-F5EA-4446-BDF6-478AD3ADDE4C}" type="slidenum">
              <a:rPr lang="en-US"/>
              <a:pPr/>
              <a:t>5</a:t>
            </a:fld>
            <a:endParaRPr lang="en-US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1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5A9EE7-E4AC-4300-A754-514C3129D0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E1A1F-3ABD-4CEF-A482-B15E21FE08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8B5C6-2A8F-42B5-99F9-35F9B3F49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BAAB9-4F84-40AE-B308-95384B73C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3200C8-5B76-4616-82A2-EE151DA16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4BC93-BA4B-4474-84A5-200AE18AB8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8A281-50F0-40D6-9CF3-3E00E48EF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7B583-639C-495F-A483-15D5E0E4D9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14A99-27F8-416E-9CB7-91D553088F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A75F8-C3A3-43B4-80CB-23D2B6E01E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0AFE1-0021-4963-8B77-5747897D15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99CC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7DCC2CAA-102D-45B2-908E-FFE82ECC94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3" r:id="rId1"/>
    <p:sldLayoutId id="2147484164" r:id="rId2"/>
    <p:sldLayoutId id="2147484165" r:id="rId3"/>
    <p:sldLayoutId id="2147484166" r:id="rId4"/>
    <p:sldLayoutId id="2147484167" r:id="rId5"/>
    <p:sldLayoutId id="2147484168" r:id="rId6"/>
    <p:sldLayoutId id="2147484169" r:id="rId7"/>
    <p:sldLayoutId id="2147484170" r:id="rId8"/>
    <p:sldLayoutId id="2147484171" r:id="rId9"/>
    <p:sldLayoutId id="2147484172" r:id="rId10"/>
    <p:sldLayoutId id="2147484173" r:id="rId11"/>
    <p:sldLayoutId id="2147484174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w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"/>
          <p:cNvSpPr txBox="1">
            <a:spLocks noChangeArrowheads="1"/>
          </p:cNvSpPr>
          <p:nvPr/>
        </p:nvSpPr>
        <p:spPr bwMode="auto">
          <a:xfrm>
            <a:off x="762000" y="762000"/>
            <a:ext cx="7543800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400" dirty="0"/>
              <a:t>CSC479 </a:t>
            </a:r>
          </a:p>
          <a:p>
            <a:r>
              <a:rPr lang="en-US" sz="4400" dirty="0"/>
              <a:t>Data Mining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3600" dirty="0" err="1"/>
              <a:t>Hierarichical</a:t>
            </a:r>
            <a:r>
              <a:rPr lang="en-US" sz="3600" dirty="0"/>
              <a:t> Clustering</a:t>
            </a:r>
          </a:p>
          <a:p>
            <a:pPr algn="l"/>
            <a:r>
              <a:rPr lang="en-US" sz="3600" b="0" dirty="0"/>
              <a:t>	</a:t>
            </a:r>
          </a:p>
          <a:p>
            <a:r>
              <a:rPr lang="en-US" sz="3200" dirty="0"/>
              <a:t>(Ch # 10.3)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6425" y="228600"/>
            <a:ext cx="7707313" cy="830263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 sz="3600" dirty="0">
                <a:ea typeface="宋体" pitchFamily="2" charset="-122"/>
              </a:rPr>
              <a:t>Hierarchical Clustering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5939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154988" cy="4322763"/>
          </a:xfrm>
          <a:noFill/>
          <a:ln/>
        </p:spPr>
        <p:txBody>
          <a:bodyPr lIns="92075" tIns="46038" rIns="92075" bIns="46038"/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ea typeface="宋体" pitchFamily="2" charset="-122"/>
              </a:rPr>
              <a:t>Use distance matrix as clustering criteria.  This method does not require the number of clusters </a:t>
            </a:r>
            <a:r>
              <a:rPr lang="en-US" altLang="zh-CN" sz="2000" b="1" i="1" dirty="0">
                <a:ea typeface="宋体" pitchFamily="2" charset="-122"/>
              </a:rPr>
              <a:t>k</a:t>
            </a:r>
            <a:r>
              <a:rPr lang="en-US" altLang="zh-CN" sz="2000" dirty="0">
                <a:ea typeface="宋体" pitchFamily="2" charset="-122"/>
              </a:rPr>
              <a:t> as an input, but needs a termination condition</a:t>
            </a:r>
            <a:r>
              <a:rPr lang="en-US" altLang="zh-CN" sz="2800" dirty="0">
                <a:ea typeface="宋体" pitchFamily="2" charset="-122"/>
              </a:rPr>
              <a:t> </a:t>
            </a:r>
          </a:p>
        </p:txBody>
      </p:sp>
      <p:grpSp>
        <p:nvGrpSpPr>
          <p:cNvPr id="2" name="Group 1028"/>
          <p:cNvGrpSpPr>
            <a:grpSpLocks/>
          </p:cNvGrpSpPr>
          <p:nvPr/>
        </p:nvGrpSpPr>
        <p:grpSpPr bwMode="auto">
          <a:xfrm>
            <a:off x="990600" y="2819400"/>
            <a:ext cx="6956425" cy="3641725"/>
            <a:chOff x="1200" y="1776"/>
            <a:chExt cx="4382" cy="2294"/>
          </a:xfrm>
        </p:grpSpPr>
        <p:sp>
          <p:nvSpPr>
            <p:cNvPr id="59397" name="Line 1029"/>
            <p:cNvSpPr>
              <a:spLocks noChangeShapeType="1"/>
            </p:cNvSpPr>
            <p:nvPr/>
          </p:nvSpPr>
          <p:spPr bwMode="auto">
            <a:xfrm>
              <a:off x="1200" y="2112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1030"/>
            <p:cNvGrpSpPr>
              <a:grpSpLocks/>
            </p:cNvGrpSpPr>
            <p:nvPr/>
          </p:nvGrpSpPr>
          <p:grpSpPr bwMode="auto">
            <a:xfrm>
              <a:off x="1440" y="1785"/>
              <a:ext cx="480" cy="327"/>
              <a:chOff x="1104" y="1785"/>
              <a:chExt cx="480" cy="327"/>
            </a:xfrm>
          </p:grpSpPr>
          <p:sp>
            <p:nvSpPr>
              <p:cNvPr id="59399" name="Line 1031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00" name="Text Box 1032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>
                    <a:latin typeface="Times New Roman" pitchFamily="18" charset="0"/>
                    <a:ea typeface="宋体" pitchFamily="2" charset="-122"/>
                  </a:rPr>
                  <a:t>Step 0</a:t>
                </a:r>
                <a:endParaRPr lang="en-US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4" name="Group 1033"/>
            <p:cNvGrpSpPr>
              <a:grpSpLocks/>
            </p:cNvGrpSpPr>
            <p:nvPr/>
          </p:nvGrpSpPr>
          <p:grpSpPr bwMode="auto">
            <a:xfrm>
              <a:off x="1968" y="1776"/>
              <a:ext cx="480" cy="327"/>
              <a:chOff x="1104" y="1785"/>
              <a:chExt cx="480" cy="327"/>
            </a:xfrm>
          </p:grpSpPr>
          <p:sp>
            <p:nvSpPr>
              <p:cNvPr id="59402" name="Line 1034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03" name="Text Box 1035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dirty="0">
                    <a:latin typeface="Times New Roman" pitchFamily="18" charset="0"/>
                    <a:ea typeface="宋体" pitchFamily="2" charset="-122"/>
                  </a:rPr>
                  <a:t>Step 1</a:t>
                </a:r>
                <a:endParaRPr lang="en-US" altLang="zh-CN" sz="2400" dirty="0"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5" name="Group 1036"/>
            <p:cNvGrpSpPr>
              <a:grpSpLocks/>
            </p:cNvGrpSpPr>
            <p:nvPr/>
          </p:nvGrpSpPr>
          <p:grpSpPr bwMode="auto">
            <a:xfrm>
              <a:off x="2496" y="1776"/>
              <a:ext cx="480" cy="327"/>
              <a:chOff x="1104" y="1785"/>
              <a:chExt cx="480" cy="327"/>
            </a:xfrm>
          </p:grpSpPr>
          <p:sp>
            <p:nvSpPr>
              <p:cNvPr id="59405" name="Line 1037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06" name="Text Box 1038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>
                    <a:latin typeface="Times New Roman" pitchFamily="18" charset="0"/>
                    <a:ea typeface="宋体" pitchFamily="2" charset="-122"/>
                  </a:rPr>
                  <a:t>Step 2</a:t>
                </a:r>
                <a:endParaRPr lang="en-US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6" name="Group 1039"/>
            <p:cNvGrpSpPr>
              <a:grpSpLocks/>
            </p:cNvGrpSpPr>
            <p:nvPr/>
          </p:nvGrpSpPr>
          <p:grpSpPr bwMode="auto">
            <a:xfrm>
              <a:off x="2976" y="1776"/>
              <a:ext cx="480" cy="327"/>
              <a:chOff x="1104" y="1785"/>
              <a:chExt cx="480" cy="327"/>
            </a:xfrm>
          </p:grpSpPr>
          <p:sp>
            <p:nvSpPr>
              <p:cNvPr id="59408" name="Line 1040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09" name="Text Box 1041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>
                    <a:latin typeface="Times New Roman" pitchFamily="18" charset="0"/>
                    <a:ea typeface="宋体" pitchFamily="2" charset="-122"/>
                  </a:rPr>
                  <a:t>Step 3</a:t>
                </a:r>
                <a:endParaRPr lang="en-US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7" name="Group 1042"/>
            <p:cNvGrpSpPr>
              <a:grpSpLocks/>
            </p:cNvGrpSpPr>
            <p:nvPr/>
          </p:nvGrpSpPr>
          <p:grpSpPr bwMode="auto">
            <a:xfrm>
              <a:off x="3456" y="1776"/>
              <a:ext cx="480" cy="327"/>
              <a:chOff x="1104" y="1785"/>
              <a:chExt cx="480" cy="327"/>
            </a:xfrm>
          </p:grpSpPr>
          <p:sp>
            <p:nvSpPr>
              <p:cNvPr id="59411" name="Line 1043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12" name="Text Box 1044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>
                    <a:latin typeface="Times New Roman" pitchFamily="18" charset="0"/>
                    <a:ea typeface="宋体" pitchFamily="2" charset="-122"/>
                  </a:rPr>
                  <a:t>Step 4</a:t>
                </a:r>
                <a:endParaRPr lang="en-US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59413" name="Text Box 1045"/>
            <p:cNvSpPr txBox="1">
              <a:spLocks noChangeArrowheads="1"/>
            </p:cNvSpPr>
            <p:nvPr/>
          </p:nvSpPr>
          <p:spPr bwMode="auto">
            <a:xfrm>
              <a:off x="1440" y="2508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>
                  <a:latin typeface="Times New Roman" pitchFamily="18" charset="0"/>
                  <a:ea typeface="宋体" pitchFamily="2" charset="-122"/>
                </a:rPr>
                <a:t>b</a:t>
              </a:r>
            </a:p>
          </p:txBody>
        </p:sp>
        <p:sp>
          <p:nvSpPr>
            <p:cNvPr id="59414" name="Text Box 1046"/>
            <p:cNvSpPr txBox="1">
              <a:spLocks noChangeArrowheads="1"/>
            </p:cNvSpPr>
            <p:nvPr/>
          </p:nvSpPr>
          <p:spPr bwMode="auto">
            <a:xfrm>
              <a:off x="1440" y="3108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>
                  <a:latin typeface="Times New Roman" pitchFamily="18" charset="0"/>
                  <a:ea typeface="宋体" pitchFamily="2" charset="-122"/>
                </a:rPr>
                <a:t>d</a:t>
              </a:r>
            </a:p>
          </p:txBody>
        </p:sp>
        <p:sp>
          <p:nvSpPr>
            <p:cNvPr id="59415" name="Text Box 1047"/>
            <p:cNvSpPr txBox="1">
              <a:spLocks noChangeArrowheads="1"/>
            </p:cNvSpPr>
            <p:nvPr/>
          </p:nvSpPr>
          <p:spPr bwMode="auto">
            <a:xfrm>
              <a:off x="1440" y="2808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59416" name="Text Box 1048"/>
            <p:cNvSpPr txBox="1">
              <a:spLocks noChangeArrowheads="1"/>
            </p:cNvSpPr>
            <p:nvPr/>
          </p:nvSpPr>
          <p:spPr bwMode="auto">
            <a:xfrm>
              <a:off x="1440" y="3408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>
                  <a:latin typeface="Times New Roman" pitchFamily="18" charset="0"/>
                  <a:ea typeface="宋体" pitchFamily="2" charset="-122"/>
                </a:rPr>
                <a:t>e</a:t>
              </a:r>
            </a:p>
          </p:txBody>
        </p:sp>
        <p:sp>
          <p:nvSpPr>
            <p:cNvPr id="59417" name="Text Box 1049"/>
            <p:cNvSpPr txBox="1">
              <a:spLocks noChangeArrowheads="1"/>
            </p:cNvSpPr>
            <p:nvPr/>
          </p:nvSpPr>
          <p:spPr bwMode="auto">
            <a:xfrm>
              <a:off x="1440" y="2208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>
                  <a:latin typeface="Times New Roman" pitchFamily="18" charset="0"/>
                  <a:ea typeface="宋体" pitchFamily="2" charset="-122"/>
                </a:rPr>
                <a:t>a</a:t>
              </a:r>
            </a:p>
          </p:txBody>
        </p:sp>
        <p:sp>
          <p:nvSpPr>
            <p:cNvPr id="59418" name="Oval 1050"/>
            <p:cNvSpPr>
              <a:spLocks noChangeArrowheads="1"/>
            </p:cNvSpPr>
            <p:nvPr/>
          </p:nvSpPr>
          <p:spPr bwMode="auto">
            <a:xfrm>
              <a:off x="1392" y="2256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9" name="Oval 1051"/>
            <p:cNvSpPr>
              <a:spLocks noChangeArrowheads="1"/>
            </p:cNvSpPr>
            <p:nvPr/>
          </p:nvSpPr>
          <p:spPr bwMode="auto">
            <a:xfrm>
              <a:off x="1392" y="2544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0" name="Oval 1052"/>
            <p:cNvSpPr>
              <a:spLocks noChangeArrowheads="1"/>
            </p:cNvSpPr>
            <p:nvPr/>
          </p:nvSpPr>
          <p:spPr bwMode="auto">
            <a:xfrm>
              <a:off x="1392" y="2832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1" name="Oval 1053"/>
            <p:cNvSpPr>
              <a:spLocks noChangeArrowheads="1"/>
            </p:cNvSpPr>
            <p:nvPr/>
          </p:nvSpPr>
          <p:spPr bwMode="auto">
            <a:xfrm>
              <a:off x="1392" y="3120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2" name="Oval 1054"/>
            <p:cNvSpPr>
              <a:spLocks noChangeArrowheads="1"/>
            </p:cNvSpPr>
            <p:nvPr/>
          </p:nvSpPr>
          <p:spPr bwMode="auto">
            <a:xfrm>
              <a:off x="1392" y="3408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3" name="Text Box 1055"/>
            <p:cNvSpPr txBox="1">
              <a:spLocks noChangeArrowheads="1"/>
            </p:cNvSpPr>
            <p:nvPr/>
          </p:nvSpPr>
          <p:spPr bwMode="auto">
            <a:xfrm>
              <a:off x="1968" y="2304"/>
              <a:ext cx="34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>
                  <a:latin typeface="Times New Roman" pitchFamily="18" charset="0"/>
                  <a:ea typeface="宋体" pitchFamily="2" charset="-122"/>
                </a:rPr>
                <a:t>a b</a:t>
              </a:r>
            </a:p>
          </p:txBody>
        </p:sp>
        <p:sp>
          <p:nvSpPr>
            <p:cNvPr id="59424" name="Oval 1056"/>
            <p:cNvSpPr>
              <a:spLocks noChangeArrowheads="1"/>
            </p:cNvSpPr>
            <p:nvPr/>
          </p:nvSpPr>
          <p:spPr bwMode="auto">
            <a:xfrm>
              <a:off x="1872" y="2352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5" name="Text Box 1057"/>
            <p:cNvSpPr txBox="1">
              <a:spLocks noChangeArrowheads="1"/>
            </p:cNvSpPr>
            <p:nvPr/>
          </p:nvSpPr>
          <p:spPr bwMode="auto">
            <a:xfrm>
              <a:off x="2496" y="3216"/>
              <a:ext cx="34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>
                  <a:latin typeface="Times New Roman" pitchFamily="18" charset="0"/>
                  <a:ea typeface="宋体" pitchFamily="2" charset="-122"/>
                </a:rPr>
                <a:t>d e</a:t>
              </a:r>
            </a:p>
          </p:txBody>
        </p:sp>
        <p:sp>
          <p:nvSpPr>
            <p:cNvPr id="59426" name="Oval 1058"/>
            <p:cNvSpPr>
              <a:spLocks noChangeArrowheads="1"/>
            </p:cNvSpPr>
            <p:nvPr/>
          </p:nvSpPr>
          <p:spPr bwMode="auto">
            <a:xfrm>
              <a:off x="2400" y="3264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7" name="Text Box 1059"/>
            <p:cNvSpPr txBox="1">
              <a:spLocks noChangeArrowheads="1"/>
            </p:cNvSpPr>
            <p:nvPr/>
          </p:nvSpPr>
          <p:spPr bwMode="auto">
            <a:xfrm>
              <a:off x="2880" y="2928"/>
              <a:ext cx="47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>
                  <a:latin typeface="Times New Roman" pitchFamily="18" charset="0"/>
                  <a:ea typeface="宋体" pitchFamily="2" charset="-122"/>
                </a:rPr>
                <a:t>c d e</a:t>
              </a:r>
            </a:p>
          </p:txBody>
        </p:sp>
        <p:sp>
          <p:nvSpPr>
            <p:cNvPr id="59428" name="Oval 1060"/>
            <p:cNvSpPr>
              <a:spLocks noChangeArrowheads="1"/>
            </p:cNvSpPr>
            <p:nvPr/>
          </p:nvSpPr>
          <p:spPr bwMode="auto">
            <a:xfrm>
              <a:off x="2784" y="2928"/>
              <a:ext cx="624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9" name="Text Box 1061"/>
            <p:cNvSpPr txBox="1">
              <a:spLocks noChangeArrowheads="1"/>
            </p:cNvSpPr>
            <p:nvPr/>
          </p:nvSpPr>
          <p:spPr bwMode="auto">
            <a:xfrm>
              <a:off x="3216" y="2592"/>
              <a:ext cx="7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>
                  <a:latin typeface="Times New Roman" pitchFamily="18" charset="0"/>
                  <a:ea typeface="宋体" pitchFamily="2" charset="-122"/>
                </a:rPr>
                <a:t>a b c d e</a:t>
              </a:r>
            </a:p>
          </p:txBody>
        </p:sp>
        <p:sp>
          <p:nvSpPr>
            <p:cNvPr id="59430" name="Oval 1062"/>
            <p:cNvSpPr>
              <a:spLocks noChangeArrowheads="1"/>
            </p:cNvSpPr>
            <p:nvPr/>
          </p:nvSpPr>
          <p:spPr bwMode="auto">
            <a:xfrm>
              <a:off x="3120" y="2592"/>
              <a:ext cx="100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1" name="Line 1063"/>
            <p:cNvSpPr>
              <a:spLocks noChangeShapeType="1"/>
            </p:cNvSpPr>
            <p:nvPr/>
          </p:nvSpPr>
          <p:spPr bwMode="auto">
            <a:xfrm>
              <a:off x="1200" y="3753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2" name="Line 1064"/>
            <p:cNvSpPr>
              <a:spLocks noChangeShapeType="1"/>
            </p:cNvSpPr>
            <p:nvPr/>
          </p:nvSpPr>
          <p:spPr bwMode="auto">
            <a:xfrm flipH="1">
              <a:off x="1536" y="3753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3" name="Text Box 1065"/>
            <p:cNvSpPr txBox="1">
              <a:spLocks noChangeArrowheads="1"/>
            </p:cNvSpPr>
            <p:nvPr/>
          </p:nvSpPr>
          <p:spPr bwMode="auto">
            <a:xfrm>
              <a:off x="1440" y="3810"/>
              <a:ext cx="4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  <a:ea typeface="宋体" pitchFamily="2" charset="-122"/>
                </a:rPr>
                <a:t>Step 4</a:t>
              </a:r>
              <a:endParaRPr lang="en-US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9434" name="Line 1066"/>
            <p:cNvSpPr>
              <a:spLocks noChangeShapeType="1"/>
            </p:cNvSpPr>
            <p:nvPr/>
          </p:nvSpPr>
          <p:spPr bwMode="auto">
            <a:xfrm flipH="1">
              <a:off x="2064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5" name="Text Box 1067"/>
            <p:cNvSpPr txBox="1">
              <a:spLocks noChangeArrowheads="1"/>
            </p:cNvSpPr>
            <p:nvPr/>
          </p:nvSpPr>
          <p:spPr bwMode="auto">
            <a:xfrm>
              <a:off x="1968" y="3801"/>
              <a:ext cx="4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  <a:ea typeface="宋体" pitchFamily="2" charset="-122"/>
                </a:rPr>
                <a:t>Step 3</a:t>
              </a:r>
              <a:endParaRPr lang="en-US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9436" name="Line 1068"/>
            <p:cNvSpPr>
              <a:spLocks noChangeShapeType="1"/>
            </p:cNvSpPr>
            <p:nvPr/>
          </p:nvSpPr>
          <p:spPr bwMode="auto">
            <a:xfrm flipH="1">
              <a:off x="259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7" name="Text Box 1069"/>
            <p:cNvSpPr txBox="1">
              <a:spLocks noChangeArrowheads="1"/>
            </p:cNvSpPr>
            <p:nvPr/>
          </p:nvSpPr>
          <p:spPr bwMode="auto">
            <a:xfrm>
              <a:off x="2496" y="3801"/>
              <a:ext cx="4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  <a:ea typeface="宋体" pitchFamily="2" charset="-122"/>
                </a:rPr>
                <a:t>Step 2</a:t>
              </a:r>
              <a:endParaRPr lang="en-US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9438" name="Line 1070"/>
            <p:cNvSpPr>
              <a:spLocks noChangeShapeType="1"/>
            </p:cNvSpPr>
            <p:nvPr/>
          </p:nvSpPr>
          <p:spPr bwMode="auto">
            <a:xfrm flipH="1">
              <a:off x="307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9" name="Text Box 1071"/>
            <p:cNvSpPr txBox="1">
              <a:spLocks noChangeArrowheads="1"/>
            </p:cNvSpPr>
            <p:nvPr/>
          </p:nvSpPr>
          <p:spPr bwMode="auto">
            <a:xfrm>
              <a:off x="2976" y="3801"/>
              <a:ext cx="4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  <a:ea typeface="宋体" pitchFamily="2" charset="-122"/>
                </a:rPr>
                <a:t>Step 1</a:t>
              </a:r>
              <a:endParaRPr lang="en-US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9440" name="Line 1072"/>
            <p:cNvSpPr>
              <a:spLocks noChangeShapeType="1"/>
            </p:cNvSpPr>
            <p:nvPr/>
          </p:nvSpPr>
          <p:spPr bwMode="auto">
            <a:xfrm flipH="1">
              <a:off x="355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1" name="Text Box 1073"/>
            <p:cNvSpPr txBox="1">
              <a:spLocks noChangeArrowheads="1"/>
            </p:cNvSpPr>
            <p:nvPr/>
          </p:nvSpPr>
          <p:spPr bwMode="auto">
            <a:xfrm>
              <a:off x="3456" y="3801"/>
              <a:ext cx="4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  <a:ea typeface="宋体" pitchFamily="2" charset="-122"/>
                </a:rPr>
                <a:t>Step 0</a:t>
              </a:r>
              <a:endParaRPr lang="en-US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9442" name="Line 1074"/>
            <p:cNvSpPr>
              <a:spLocks noChangeShapeType="1"/>
            </p:cNvSpPr>
            <p:nvPr/>
          </p:nvSpPr>
          <p:spPr bwMode="auto">
            <a:xfrm>
              <a:off x="1680" y="2352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3" name="Line 1075"/>
            <p:cNvSpPr>
              <a:spLocks noChangeShapeType="1"/>
            </p:cNvSpPr>
            <p:nvPr/>
          </p:nvSpPr>
          <p:spPr bwMode="auto">
            <a:xfrm flipV="1">
              <a:off x="1680" y="244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4" name="Line 1076"/>
            <p:cNvSpPr>
              <a:spLocks noChangeShapeType="1"/>
            </p:cNvSpPr>
            <p:nvPr/>
          </p:nvSpPr>
          <p:spPr bwMode="auto">
            <a:xfrm>
              <a:off x="1680" y="3216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5" name="Line 1077"/>
            <p:cNvSpPr>
              <a:spLocks noChangeShapeType="1"/>
            </p:cNvSpPr>
            <p:nvPr/>
          </p:nvSpPr>
          <p:spPr bwMode="auto">
            <a:xfrm flipV="1">
              <a:off x="1680" y="3360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6" name="Line 1078"/>
            <p:cNvSpPr>
              <a:spLocks noChangeShapeType="1"/>
            </p:cNvSpPr>
            <p:nvPr/>
          </p:nvSpPr>
          <p:spPr bwMode="auto">
            <a:xfrm>
              <a:off x="1680" y="2976"/>
              <a:ext cx="110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7" name="Line 1079"/>
            <p:cNvSpPr>
              <a:spLocks noChangeShapeType="1"/>
            </p:cNvSpPr>
            <p:nvPr/>
          </p:nvSpPr>
          <p:spPr bwMode="auto">
            <a:xfrm flipV="1">
              <a:off x="2688" y="307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8" name="Line 1080"/>
            <p:cNvSpPr>
              <a:spLocks noChangeShapeType="1"/>
            </p:cNvSpPr>
            <p:nvPr/>
          </p:nvSpPr>
          <p:spPr bwMode="auto">
            <a:xfrm>
              <a:off x="2400" y="2496"/>
              <a:ext cx="7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9" name="Line 1081"/>
            <p:cNvSpPr>
              <a:spLocks noChangeShapeType="1"/>
            </p:cNvSpPr>
            <p:nvPr/>
          </p:nvSpPr>
          <p:spPr bwMode="auto">
            <a:xfrm flipV="1">
              <a:off x="3072" y="273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50" name="Text Box 1082"/>
            <p:cNvSpPr txBox="1">
              <a:spLocks noChangeArrowheads="1"/>
            </p:cNvSpPr>
            <p:nvPr/>
          </p:nvSpPr>
          <p:spPr bwMode="auto">
            <a:xfrm>
              <a:off x="4305" y="1824"/>
              <a:ext cx="1277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 b="1">
                  <a:latin typeface="Times New Roman" pitchFamily="18" charset="0"/>
                  <a:ea typeface="宋体" pitchFamily="2" charset="-122"/>
                </a:rPr>
                <a:t>agglomerative</a:t>
              </a:r>
            </a:p>
            <a:p>
              <a:pPr algn="ctr" eaLnBrk="0" hangingPunct="0"/>
              <a:r>
                <a:rPr lang="en-US" altLang="zh-CN" sz="2400" b="1">
                  <a:latin typeface="Times New Roman" pitchFamily="18" charset="0"/>
                  <a:ea typeface="宋体" pitchFamily="2" charset="-122"/>
                </a:rPr>
                <a:t>(AGNES)</a:t>
              </a:r>
            </a:p>
          </p:txBody>
        </p:sp>
        <p:sp>
          <p:nvSpPr>
            <p:cNvPr id="59451" name="Text Box 1083"/>
            <p:cNvSpPr txBox="1">
              <a:spLocks noChangeArrowheads="1"/>
            </p:cNvSpPr>
            <p:nvPr/>
          </p:nvSpPr>
          <p:spPr bwMode="auto">
            <a:xfrm>
              <a:off x="4401" y="3552"/>
              <a:ext cx="875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 b="1">
                  <a:latin typeface="Times New Roman" pitchFamily="18" charset="0"/>
                  <a:ea typeface="宋体" pitchFamily="2" charset="-122"/>
                </a:rPr>
                <a:t>divisive</a:t>
              </a:r>
            </a:p>
            <a:p>
              <a:pPr algn="ctr" eaLnBrk="0" hangingPunct="0"/>
              <a:r>
                <a:rPr lang="en-US" altLang="zh-CN" sz="2400" b="1">
                  <a:latin typeface="Times New Roman" pitchFamily="18" charset="0"/>
                  <a:ea typeface="宋体" pitchFamily="2" charset="-122"/>
                </a:rPr>
                <a:t>(DIANA)</a:t>
              </a:r>
              <a:endParaRPr lang="en-US" altLang="zh-CN" sz="2400"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ransition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Clusters are created in levels actually creating sets of clusters at each level.</a:t>
            </a:r>
          </a:p>
          <a:p>
            <a:pPr>
              <a:lnSpc>
                <a:spcPct val="90000"/>
              </a:lnSpc>
            </a:pPr>
            <a:r>
              <a:rPr lang="en-US" sz="2800" b="1" i="1">
                <a:solidFill>
                  <a:schemeClr val="tx2"/>
                </a:solidFill>
              </a:rPr>
              <a:t>Agglomerative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Initially each item in its own cluster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Iteratively clusters are merged together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Bottom Up</a:t>
            </a:r>
          </a:p>
          <a:p>
            <a:pPr>
              <a:lnSpc>
                <a:spcPct val="90000"/>
              </a:lnSpc>
            </a:pPr>
            <a:r>
              <a:rPr lang="en-US" sz="2800" b="1" i="1">
                <a:solidFill>
                  <a:schemeClr val="tx2"/>
                </a:solidFill>
              </a:rPr>
              <a:t>Divisive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Initially all items in one cluster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Large clusters are successively divided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Top Down	</a:t>
            </a:r>
          </a:p>
          <a:p>
            <a:pPr>
              <a:lnSpc>
                <a:spcPct val="90000"/>
              </a:lnSpc>
            </a:pPr>
            <a:endParaRPr 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609600"/>
          </a:xfrm>
        </p:spPr>
        <p:txBody>
          <a:bodyPr/>
          <a:lstStyle/>
          <a:p>
            <a:r>
              <a:rPr lang="en-US" sz="3200" dirty="0"/>
              <a:t>Distance Between Clusters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4648200"/>
          </a:xfrm>
        </p:spPr>
        <p:txBody>
          <a:bodyPr/>
          <a:lstStyle/>
          <a:p>
            <a:r>
              <a:rPr lang="en-US" sz="2400" b="1" i="1" dirty="0">
                <a:solidFill>
                  <a:schemeClr val="tx2"/>
                </a:solidFill>
              </a:rPr>
              <a:t>Single Link</a:t>
            </a:r>
            <a:r>
              <a:rPr lang="en-US" sz="2400" dirty="0"/>
              <a:t>: smallest distance between points. The minimum of all pair wise distances between points in the two clusters</a:t>
            </a:r>
          </a:p>
          <a:p>
            <a:pPr lvl="1"/>
            <a:r>
              <a:rPr lang="en-US" sz="2000" dirty="0"/>
              <a:t>Tends to produce long, “loose” clusters</a:t>
            </a:r>
          </a:p>
          <a:p>
            <a:r>
              <a:rPr lang="en-US" sz="2400" b="1" i="1" dirty="0">
                <a:solidFill>
                  <a:schemeClr val="tx2"/>
                </a:solidFill>
              </a:rPr>
              <a:t>Complete Link:</a:t>
            </a:r>
            <a:r>
              <a:rPr lang="en-US" sz="2400" dirty="0"/>
              <a:t> largest distance between points. The maximum of all </a:t>
            </a:r>
            <a:r>
              <a:rPr lang="en-US" sz="2400" dirty="0" err="1"/>
              <a:t>pairwise</a:t>
            </a:r>
            <a:r>
              <a:rPr lang="en-US" sz="2400" dirty="0"/>
              <a:t> distances between points in the two clusters</a:t>
            </a:r>
          </a:p>
          <a:p>
            <a:pPr lvl="1"/>
            <a:r>
              <a:rPr lang="en-US" sz="2000" dirty="0"/>
              <a:t>Tends to produce very tight clusters</a:t>
            </a:r>
          </a:p>
          <a:p>
            <a:pPr>
              <a:lnSpc>
                <a:spcPct val="90000"/>
              </a:lnSpc>
            </a:pPr>
            <a:r>
              <a:rPr lang="en-US" sz="2400" b="1" i="1" dirty="0">
                <a:solidFill>
                  <a:schemeClr val="tx2"/>
                </a:solidFill>
              </a:rPr>
              <a:t>Average Link:</a:t>
            </a:r>
            <a:r>
              <a:rPr lang="en-US" sz="2400" b="1" i="1" dirty="0"/>
              <a:t> </a:t>
            </a:r>
            <a:r>
              <a:rPr lang="en-US" sz="2400" dirty="0"/>
              <a:t>the average of all </a:t>
            </a:r>
            <a:r>
              <a:rPr lang="en-US" sz="2400" dirty="0" err="1"/>
              <a:t>pairwise</a:t>
            </a:r>
            <a:r>
              <a:rPr lang="en-US" sz="2400" dirty="0"/>
              <a:t> distances between points in the two clusters</a:t>
            </a:r>
          </a:p>
          <a:p>
            <a:pPr>
              <a:lnSpc>
                <a:spcPct val="90000"/>
              </a:lnSpc>
            </a:pPr>
            <a:r>
              <a:rPr lang="en-US" sz="2400" b="1" i="1" dirty="0" err="1">
                <a:solidFill>
                  <a:schemeClr val="tx2"/>
                </a:solidFill>
              </a:rPr>
              <a:t>Centroid</a:t>
            </a:r>
            <a:r>
              <a:rPr lang="en-US" sz="2400" b="1" i="1" dirty="0">
                <a:solidFill>
                  <a:schemeClr val="tx2"/>
                </a:solidFill>
              </a:rPr>
              <a:t> Linage:</a:t>
            </a:r>
            <a:r>
              <a:rPr lang="en-US" sz="2400" b="1" i="1" dirty="0"/>
              <a:t> </a:t>
            </a:r>
            <a:r>
              <a:rPr lang="en-US" sz="2400" dirty="0"/>
              <a:t>distance between </a:t>
            </a:r>
            <a:r>
              <a:rPr lang="en-US" sz="2400" dirty="0" err="1"/>
              <a:t>centroids</a:t>
            </a:r>
            <a:endParaRPr lang="en-US" sz="2400" dirty="0"/>
          </a:p>
        </p:txBody>
      </p:sp>
      <p:sp>
        <p:nvSpPr>
          <p:cNvPr id="7172" name="Oval 4"/>
          <p:cNvSpPr>
            <a:spLocks noChangeArrowheads="1"/>
          </p:cNvSpPr>
          <p:nvPr/>
        </p:nvSpPr>
        <p:spPr bwMode="auto">
          <a:xfrm>
            <a:off x="3429000" y="5410200"/>
            <a:ext cx="76200" cy="76200"/>
          </a:xfrm>
          <a:prstGeom prst="ellipse">
            <a:avLst/>
          </a:prstGeom>
          <a:solidFill>
            <a:schemeClr val="tx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73" name="Oval 5"/>
          <p:cNvSpPr>
            <a:spLocks noChangeArrowheads="1"/>
          </p:cNvSpPr>
          <p:nvPr/>
        </p:nvSpPr>
        <p:spPr bwMode="auto">
          <a:xfrm>
            <a:off x="3810000" y="5486400"/>
            <a:ext cx="76200" cy="76200"/>
          </a:xfrm>
          <a:prstGeom prst="ellipse">
            <a:avLst/>
          </a:prstGeom>
          <a:solidFill>
            <a:schemeClr val="tx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74" name="Oval 6"/>
          <p:cNvSpPr>
            <a:spLocks noChangeArrowheads="1"/>
          </p:cNvSpPr>
          <p:nvPr/>
        </p:nvSpPr>
        <p:spPr bwMode="auto">
          <a:xfrm>
            <a:off x="3657600" y="6248400"/>
            <a:ext cx="76200" cy="76200"/>
          </a:xfrm>
          <a:prstGeom prst="ellipse">
            <a:avLst/>
          </a:prstGeom>
          <a:solidFill>
            <a:schemeClr val="tx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75" name="Oval 7"/>
          <p:cNvSpPr>
            <a:spLocks noChangeArrowheads="1"/>
          </p:cNvSpPr>
          <p:nvPr/>
        </p:nvSpPr>
        <p:spPr bwMode="auto">
          <a:xfrm>
            <a:off x="3276600" y="5791200"/>
            <a:ext cx="76200" cy="76200"/>
          </a:xfrm>
          <a:prstGeom prst="ellipse">
            <a:avLst/>
          </a:prstGeom>
          <a:solidFill>
            <a:schemeClr val="tx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76" name="Oval 8"/>
          <p:cNvSpPr>
            <a:spLocks noChangeArrowheads="1"/>
          </p:cNvSpPr>
          <p:nvPr/>
        </p:nvSpPr>
        <p:spPr bwMode="auto">
          <a:xfrm>
            <a:off x="5334000" y="5562600"/>
            <a:ext cx="76200" cy="76200"/>
          </a:xfrm>
          <a:prstGeom prst="ellipse">
            <a:avLst/>
          </a:prstGeom>
          <a:solidFill>
            <a:schemeClr val="tx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77" name="Oval 9"/>
          <p:cNvSpPr>
            <a:spLocks noChangeArrowheads="1"/>
          </p:cNvSpPr>
          <p:nvPr/>
        </p:nvSpPr>
        <p:spPr bwMode="auto">
          <a:xfrm>
            <a:off x="4953000" y="5105400"/>
            <a:ext cx="76200" cy="76200"/>
          </a:xfrm>
          <a:prstGeom prst="ellipse">
            <a:avLst/>
          </a:prstGeom>
          <a:solidFill>
            <a:schemeClr val="tx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78" name="Oval 10"/>
          <p:cNvSpPr>
            <a:spLocks noChangeArrowheads="1"/>
          </p:cNvSpPr>
          <p:nvPr/>
        </p:nvSpPr>
        <p:spPr bwMode="auto">
          <a:xfrm>
            <a:off x="5715000" y="5029200"/>
            <a:ext cx="76200" cy="76200"/>
          </a:xfrm>
          <a:prstGeom prst="ellipse">
            <a:avLst/>
          </a:prstGeom>
          <a:solidFill>
            <a:schemeClr val="tx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79" name="Oval 11"/>
          <p:cNvSpPr>
            <a:spLocks noChangeArrowheads="1"/>
          </p:cNvSpPr>
          <p:nvPr/>
        </p:nvSpPr>
        <p:spPr bwMode="auto">
          <a:xfrm>
            <a:off x="3200400" y="5029200"/>
            <a:ext cx="914400" cy="1600200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0" name="Oval 12"/>
          <p:cNvSpPr>
            <a:spLocks noChangeArrowheads="1"/>
          </p:cNvSpPr>
          <p:nvPr/>
        </p:nvSpPr>
        <p:spPr bwMode="auto">
          <a:xfrm>
            <a:off x="4800600" y="4800600"/>
            <a:ext cx="1143000" cy="1143000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1" name="Line 13"/>
          <p:cNvSpPr>
            <a:spLocks noChangeShapeType="1"/>
          </p:cNvSpPr>
          <p:nvPr/>
        </p:nvSpPr>
        <p:spPr bwMode="auto">
          <a:xfrm flipV="1">
            <a:off x="3886200" y="5181600"/>
            <a:ext cx="1066800" cy="304800"/>
          </a:xfrm>
          <a:prstGeom prst="line">
            <a:avLst/>
          </a:prstGeom>
          <a:noFill/>
          <a:ln w="12700" cap="sq">
            <a:solidFill>
              <a:schemeClr val="accent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2" name="Line 14"/>
          <p:cNvSpPr>
            <a:spLocks noChangeShapeType="1"/>
          </p:cNvSpPr>
          <p:nvPr/>
        </p:nvSpPr>
        <p:spPr bwMode="auto">
          <a:xfrm flipV="1">
            <a:off x="3352800" y="5105400"/>
            <a:ext cx="2400300" cy="762000"/>
          </a:xfrm>
          <a:prstGeom prst="line">
            <a:avLst/>
          </a:prstGeom>
          <a:noFill/>
          <a:ln w="12700" cap="sq">
            <a:solidFill>
              <a:schemeClr val="accent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3" name="Line 15"/>
          <p:cNvSpPr>
            <a:spLocks noChangeShapeType="1"/>
          </p:cNvSpPr>
          <p:nvPr/>
        </p:nvSpPr>
        <p:spPr bwMode="auto">
          <a:xfrm flipV="1">
            <a:off x="3505200" y="5181600"/>
            <a:ext cx="1524000" cy="304800"/>
          </a:xfrm>
          <a:prstGeom prst="line">
            <a:avLst/>
          </a:prstGeom>
          <a:noFill/>
          <a:ln w="12700" cap="sq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4" name="Line 16"/>
          <p:cNvSpPr>
            <a:spLocks noChangeShapeType="1"/>
          </p:cNvSpPr>
          <p:nvPr/>
        </p:nvSpPr>
        <p:spPr bwMode="auto">
          <a:xfrm flipV="1">
            <a:off x="3429000" y="5181600"/>
            <a:ext cx="1600200" cy="685800"/>
          </a:xfrm>
          <a:prstGeom prst="line">
            <a:avLst/>
          </a:prstGeom>
          <a:noFill/>
          <a:ln w="12700" cap="sq">
            <a:solidFill>
              <a:schemeClr val="accent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5" name="Line 17"/>
          <p:cNvSpPr>
            <a:spLocks noChangeShapeType="1"/>
          </p:cNvSpPr>
          <p:nvPr/>
        </p:nvSpPr>
        <p:spPr bwMode="auto">
          <a:xfrm flipV="1">
            <a:off x="3733800" y="5181600"/>
            <a:ext cx="1295400" cy="1066800"/>
          </a:xfrm>
          <a:prstGeom prst="line">
            <a:avLst/>
          </a:prstGeom>
          <a:noFill/>
          <a:ln w="12700" cap="sq">
            <a:solidFill>
              <a:schemeClr val="accent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6" name="Line 18"/>
          <p:cNvSpPr>
            <a:spLocks noChangeShapeType="1"/>
          </p:cNvSpPr>
          <p:nvPr/>
        </p:nvSpPr>
        <p:spPr bwMode="auto">
          <a:xfrm flipH="1" flipV="1">
            <a:off x="3505200" y="5486400"/>
            <a:ext cx="1828800" cy="152400"/>
          </a:xfrm>
          <a:prstGeom prst="line">
            <a:avLst/>
          </a:prstGeom>
          <a:noFill/>
          <a:ln w="12700" cap="sq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7" name="Line 19"/>
          <p:cNvSpPr>
            <a:spLocks noChangeShapeType="1"/>
          </p:cNvSpPr>
          <p:nvPr/>
        </p:nvSpPr>
        <p:spPr bwMode="auto">
          <a:xfrm flipH="1" flipV="1">
            <a:off x="3886200" y="5562600"/>
            <a:ext cx="1447800" cy="76200"/>
          </a:xfrm>
          <a:prstGeom prst="line">
            <a:avLst/>
          </a:prstGeom>
          <a:noFill/>
          <a:ln w="12700" cap="sq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8" name="Line 20"/>
          <p:cNvSpPr>
            <a:spLocks noChangeShapeType="1"/>
          </p:cNvSpPr>
          <p:nvPr/>
        </p:nvSpPr>
        <p:spPr bwMode="auto">
          <a:xfrm flipH="1">
            <a:off x="3352800" y="5638800"/>
            <a:ext cx="1981200" cy="228600"/>
          </a:xfrm>
          <a:prstGeom prst="line">
            <a:avLst/>
          </a:prstGeom>
          <a:noFill/>
          <a:ln w="12700" cap="sq">
            <a:solidFill>
              <a:schemeClr val="accent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9" name="Line 21"/>
          <p:cNvSpPr>
            <a:spLocks noChangeShapeType="1"/>
          </p:cNvSpPr>
          <p:nvPr/>
        </p:nvSpPr>
        <p:spPr bwMode="auto">
          <a:xfrm flipH="1">
            <a:off x="3733800" y="5638800"/>
            <a:ext cx="1676400" cy="609600"/>
          </a:xfrm>
          <a:prstGeom prst="line">
            <a:avLst/>
          </a:prstGeom>
          <a:noFill/>
          <a:ln w="12700" cap="sq">
            <a:solidFill>
              <a:schemeClr val="accent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90" name="Line 22"/>
          <p:cNvSpPr>
            <a:spLocks noChangeShapeType="1"/>
          </p:cNvSpPr>
          <p:nvPr/>
        </p:nvSpPr>
        <p:spPr bwMode="auto">
          <a:xfrm flipH="1">
            <a:off x="3505200" y="5105400"/>
            <a:ext cx="2209800" cy="381000"/>
          </a:xfrm>
          <a:prstGeom prst="line">
            <a:avLst/>
          </a:prstGeom>
          <a:noFill/>
          <a:ln w="12700" cap="sq">
            <a:solidFill>
              <a:schemeClr val="accent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91" name="Line 23"/>
          <p:cNvSpPr>
            <a:spLocks noChangeShapeType="1"/>
          </p:cNvSpPr>
          <p:nvPr/>
        </p:nvSpPr>
        <p:spPr bwMode="auto">
          <a:xfrm flipH="1">
            <a:off x="3733800" y="5105400"/>
            <a:ext cx="1981200" cy="1143000"/>
          </a:xfrm>
          <a:prstGeom prst="line">
            <a:avLst/>
          </a:prstGeom>
          <a:noFill/>
          <a:ln w="12700" cap="sq">
            <a:solidFill>
              <a:schemeClr val="accent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92" name="Line 24"/>
          <p:cNvSpPr>
            <a:spLocks noChangeShapeType="1"/>
          </p:cNvSpPr>
          <p:nvPr/>
        </p:nvSpPr>
        <p:spPr bwMode="auto">
          <a:xfrm flipV="1">
            <a:off x="3810000" y="5181600"/>
            <a:ext cx="1143000" cy="304800"/>
          </a:xfrm>
          <a:prstGeom prst="line">
            <a:avLst/>
          </a:prstGeom>
          <a:noFill/>
          <a:ln w="12700" cap="sq">
            <a:solidFill>
              <a:schemeClr val="accent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3657600" y="5257800"/>
            <a:ext cx="1847850" cy="533400"/>
            <a:chOff x="144" y="3072"/>
            <a:chExt cx="1680" cy="576"/>
          </a:xfrm>
        </p:grpSpPr>
        <p:sp>
          <p:nvSpPr>
            <p:cNvPr id="7194" name="Line 26"/>
            <p:cNvSpPr>
              <a:spLocks noChangeShapeType="1"/>
            </p:cNvSpPr>
            <p:nvPr/>
          </p:nvSpPr>
          <p:spPr bwMode="auto">
            <a:xfrm flipV="1">
              <a:off x="240" y="3120"/>
              <a:ext cx="1512" cy="480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195" name="AutoShape 27"/>
            <p:cNvSpPr>
              <a:spLocks noChangeArrowheads="1"/>
            </p:cNvSpPr>
            <p:nvPr/>
          </p:nvSpPr>
          <p:spPr bwMode="auto">
            <a:xfrm>
              <a:off x="1728" y="3072"/>
              <a:ext cx="96" cy="96"/>
            </a:xfrm>
            <a:prstGeom prst="sun">
              <a:avLst>
                <a:gd name="adj" fmla="val 25000"/>
              </a:avLst>
            </a:prstGeom>
            <a:solidFill>
              <a:schemeClr val="tx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196" name="AutoShape 28"/>
            <p:cNvSpPr>
              <a:spLocks noChangeArrowheads="1"/>
            </p:cNvSpPr>
            <p:nvPr/>
          </p:nvSpPr>
          <p:spPr bwMode="auto">
            <a:xfrm>
              <a:off x="144" y="3552"/>
              <a:ext cx="96" cy="96"/>
            </a:xfrm>
            <a:prstGeom prst="sun">
              <a:avLst>
                <a:gd name="adj" fmla="val 25000"/>
              </a:avLst>
            </a:prstGeom>
            <a:solidFill>
              <a:schemeClr val="tx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7197" name="Line 29"/>
          <p:cNvSpPr>
            <a:spLocks noChangeShapeType="1"/>
          </p:cNvSpPr>
          <p:nvPr/>
        </p:nvSpPr>
        <p:spPr bwMode="auto">
          <a:xfrm flipH="1">
            <a:off x="3810000" y="5181600"/>
            <a:ext cx="1219200" cy="304800"/>
          </a:xfrm>
          <a:prstGeom prst="line">
            <a:avLst/>
          </a:prstGeom>
          <a:noFill/>
          <a:ln w="12700" cap="sq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98" name="Line 30"/>
          <p:cNvSpPr>
            <a:spLocks noChangeShapeType="1"/>
          </p:cNvSpPr>
          <p:nvPr/>
        </p:nvSpPr>
        <p:spPr bwMode="auto">
          <a:xfrm flipV="1">
            <a:off x="3352800" y="5105400"/>
            <a:ext cx="2362200" cy="762000"/>
          </a:xfrm>
          <a:prstGeom prst="line">
            <a:avLst/>
          </a:prstGeom>
          <a:noFill/>
          <a:ln w="12700" cap="sq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"/>
                                            </p:cond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3"/>
                                            </p:cond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1" grpId="0" animBg="1"/>
      <p:bldP spid="7182" grpId="0" animBg="1"/>
      <p:bldP spid="7183" grpId="0" animBg="1"/>
      <p:bldP spid="7184" grpId="0" animBg="1"/>
      <p:bldP spid="7185" grpId="0" animBg="1"/>
      <p:bldP spid="7186" grpId="0" animBg="1"/>
      <p:bldP spid="7187" grpId="0" animBg="1"/>
      <p:bldP spid="7188" grpId="0" animBg="1"/>
      <p:bldP spid="7189" grpId="0" animBg="1"/>
      <p:bldP spid="7190" grpId="0" animBg="1"/>
      <p:bldP spid="7191" grpId="0" animBg="1"/>
      <p:bldP spid="7192" grpId="0" animBg="1"/>
      <p:bldP spid="7197" grpId="0" animBg="1"/>
      <p:bldP spid="719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Linkage Rules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Link</a:t>
            </a:r>
          </a:p>
          <a:p>
            <a:r>
              <a:rPr lang="en-US" dirty="0"/>
              <a:t>Complete Link</a:t>
            </a:r>
          </a:p>
          <a:p>
            <a:r>
              <a:rPr lang="en-US" dirty="0"/>
              <a:t>Average Link</a:t>
            </a:r>
          </a:p>
          <a:p>
            <a:r>
              <a:rPr lang="en-US" dirty="0"/>
              <a:t>MST Single 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5A9EE7-E4AC-4300-A754-514C3129D00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63798" y="1"/>
            <a:ext cx="930779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5A9EE7-E4AC-4300-A754-514C3129D00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" y="914399"/>
            <a:ext cx="8086725" cy="403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4953000"/>
            <a:ext cx="762952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5A9EE7-E4AC-4300-A754-514C3129D00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1"/>
            <a:ext cx="9839325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5A9EE7-E4AC-4300-A754-514C3129D00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267825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/>
          <a:lstStyle/>
          <a:p>
            <a:r>
              <a:rPr lang="en-US" sz="4000" dirty="0"/>
              <a:t>Single Link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789" y="829561"/>
            <a:ext cx="8472612" cy="6028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64E23E2-7440-4E36-A67B-0F88C5F7E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6949AE-010D-4C18-8AED-7872085AD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7090"/>
            <a:ext cx="4093590" cy="5897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E4E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table&#10;&#10;Description automatically generated">
            <a:extLst>
              <a:ext uri="{FF2B5EF4-FFF2-40B4-BE49-F238E27FC236}">
                <a16:creationId xmlns:a16="http://schemas.microsoft.com/office/drawing/2014/main" id="{5923F972-F760-2E97-F5E1-57BCB0309D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75" y="650497"/>
            <a:ext cx="3704758" cy="557106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E54AADB-50C7-4293-94C0-27361A32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92649" y="480060"/>
            <a:ext cx="4093591" cy="5897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E4E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numbers and circles&#10;&#10;Description automatically generated with medium confidence">
            <a:extLst>
              <a:ext uri="{FF2B5EF4-FFF2-40B4-BE49-F238E27FC236}">
                <a16:creationId xmlns:a16="http://schemas.microsoft.com/office/drawing/2014/main" id="{4E068E19-25CE-0FCC-68AE-1BF1E9301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775" y="661131"/>
            <a:ext cx="3847338" cy="55357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20D818-F430-49BA-059B-D038FE85D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6D88A281-50F0-40D6-9CF3-3E00E48EFEFF}" type="slidenum">
              <a:rPr lang="en-US" smtClean="0"/>
              <a:pPr>
                <a:spcAft>
                  <a:spcPts val="600"/>
                </a:spcAft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68784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8252</TotalTime>
  <Words>236</Words>
  <Application>Microsoft Office PowerPoint</Application>
  <PresentationFormat>On-screen Show (4:3)</PresentationFormat>
  <Paragraphs>66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宋体</vt:lpstr>
      <vt:lpstr>Arial</vt:lpstr>
      <vt:lpstr>Monotype Sorts</vt:lpstr>
      <vt:lpstr>Tahoma</vt:lpstr>
      <vt:lpstr>Times New Roman</vt:lpstr>
      <vt:lpstr>Default Design</vt:lpstr>
      <vt:lpstr>PowerPoint Presentation</vt:lpstr>
      <vt:lpstr>Hierarchical Clustering</vt:lpstr>
      <vt:lpstr>Hierarchical Clustering</vt:lpstr>
      <vt:lpstr>Distance Between Clusters</vt:lpstr>
      <vt:lpstr>Linkage Rules</vt:lpstr>
      <vt:lpstr>PowerPoint Presentation</vt:lpstr>
      <vt:lpstr>PowerPoint Presentation</vt:lpstr>
      <vt:lpstr>PowerPoint Presentation</vt:lpstr>
      <vt:lpstr>PowerPoint Presentation</vt:lpstr>
      <vt:lpstr>Single Link - Example</vt:lpstr>
      <vt:lpstr>PowerPoint Presentation</vt:lpstr>
    </vt:vector>
  </TitlesOfParts>
  <Company>RHfarm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Shariq</dc:creator>
  <cp:lastModifiedBy>usman shehzaib</cp:lastModifiedBy>
  <cp:revision>559</cp:revision>
  <dcterms:created xsi:type="dcterms:W3CDTF">2006-02-06T02:43:57Z</dcterms:created>
  <dcterms:modified xsi:type="dcterms:W3CDTF">2024-12-19T10:41:32Z</dcterms:modified>
</cp:coreProperties>
</file>