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3"/>
  </p:notesMasterIdLst>
  <p:sldIdLst>
    <p:sldId id="326" r:id="rId2"/>
    <p:sldId id="328" r:id="rId3"/>
    <p:sldId id="329" r:id="rId4"/>
    <p:sldId id="331" r:id="rId5"/>
    <p:sldId id="356" r:id="rId6"/>
    <p:sldId id="425" r:id="rId7"/>
    <p:sldId id="334" r:id="rId8"/>
    <p:sldId id="337" r:id="rId9"/>
    <p:sldId id="339" r:id="rId10"/>
    <p:sldId id="340" r:id="rId11"/>
    <p:sldId id="341" r:id="rId12"/>
    <p:sldId id="352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415" r:id="rId26"/>
    <p:sldId id="416" r:id="rId27"/>
    <p:sldId id="418" r:id="rId28"/>
    <p:sldId id="419" r:id="rId29"/>
    <p:sldId id="420" r:id="rId30"/>
    <p:sldId id="422" r:id="rId31"/>
    <p:sldId id="424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>
      <p:cViewPr varScale="1">
        <p:scale>
          <a:sx n="65" d="100"/>
          <a:sy n="65" d="100"/>
        </p:scale>
        <p:origin x="15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1.wmf"/><Relationship Id="rId5" Type="http://schemas.openxmlformats.org/officeDocument/2006/relationships/image" Target="../media/image18.wmf"/><Relationship Id="rId4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BB2960FE-2674-4EE1-9764-D0B9512A0BD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5507A23-00E6-40C6-A253-9D78EC79EE8E}" type="slidenum">
              <a:rPr lang="en-US"/>
              <a:pPr/>
              <a:t>1</a:t>
            </a:fld>
            <a:endParaRPr lang="en-US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09A089-7BFF-4513-AA31-62DF900343B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BE2B93A-0B58-4ACF-9BE9-925FA80AAEE7}" type="slidenum">
              <a:rPr lang="en-US"/>
              <a:pPr/>
              <a:t>8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DFC9720-30EC-405E-B6D1-F4FBE5F4D1C2}" type="slidenum">
              <a:rPr lang="en-US"/>
              <a:pPr/>
              <a:t>9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C9AECE3-9975-4C76-8E15-5DBF6E96BDF6}" type="slidenum">
              <a:rPr lang="en-US"/>
              <a:pPr/>
              <a:t>10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D41DBB7-048A-4F90-A9BC-E19970373985}" type="slidenum">
              <a:rPr lang="en-US"/>
              <a:pPr/>
              <a:t>11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CE4C553-94EB-4942-B407-9C9E7990808D}" type="slidenum">
              <a:rPr lang="en-US"/>
              <a:pPr/>
              <a:t>12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1FAFA7F-F6C6-4BDA-AEE5-A80F88ED683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C1B6032-228C-4874-A536-0DAFB67D105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77ADF0F-B4A1-4FA0-A5C9-E12B27A1EDAD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DC58B86-3E1C-4975-BCAC-09258DBD84E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7FF2A33-7215-4938-9554-A7438F660AB2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061C062-FF93-47C2-8637-1E9B3491F613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5E7F6CA-D3B1-4782-A017-B7D485EA4DF0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DA1D43C-EF38-438D-A728-BCAE5D6957AC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9EDE3FE-3204-4FBF-A975-626C36CDF56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90D11D4-7CC4-42B8-B7CC-F75B873CAFDA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4111625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2198DA-F228-4448-8C16-EF17049AFAA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1FF485-DF26-4683-8638-91F9FCDA04B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CAB4AE-6E9D-4D0B-844B-E786CDFA01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B2DFC9-27F8-42DB-BA1B-E6651030CF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571A85-7A43-456C-8A8B-409A90E1B0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1B7600-D63E-458D-A9C7-3F8E6BB061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EDBB35-286E-4931-A68A-08C6A4B7D5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E1F36-F485-42EF-B1F9-9F0CFB77B2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28A38-9856-4920-AA3D-2FF4A8D6ED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B828F-B870-42AA-936D-1E88D0B303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F03890-A0AD-40C1-8A08-0A083F5BCC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872A4A-ED14-4FFB-B848-D699A28680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0B7C7F-CC39-4A3B-A281-14A83DFBAC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itchFamily="18" charset="0"/>
              </a:defRPr>
            </a:lvl1pPr>
          </a:lstStyle>
          <a:p>
            <a:fld id="{053A1C40-B7B8-4364-B8EC-2557C6E2E0D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  <p:sldLayoutId id="2147484112" r:id="rId14"/>
    <p:sldLayoutId id="2147484113" r:id="rId15"/>
    <p:sldLayoutId id="2147484114" r:id="rId1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7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762000" y="1219200"/>
            <a:ext cx="7543800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4400" dirty="0"/>
              <a:t> </a:t>
            </a:r>
          </a:p>
          <a:p>
            <a:pPr algn="ctr" eaLnBrk="1" hangingPunct="1"/>
            <a:r>
              <a:rPr lang="en-US" sz="4400" dirty="0"/>
              <a:t>Data Mining</a:t>
            </a:r>
            <a:endParaRPr lang="en-US" sz="2800" dirty="0"/>
          </a:p>
          <a:p>
            <a:pPr algn="ctr" eaLnBrk="1" hangingPunct="1"/>
            <a:r>
              <a:rPr lang="en-US" sz="4400" dirty="0"/>
              <a:t>Data Preprocessing</a:t>
            </a:r>
            <a:br>
              <a:rPr lang="en-US" sz="4400" dirty="0"/>
            </a:br>
            <a:r>
              <a:rPr lang="en-US" sz="3200" dirty="0"/>
              <a:t>(Ch #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38800" y="6172200"/>
            <a:ext cx="2895600" cy="457200"/>
          </a:xfrm>
          <a:noFill/>
        </p:spPr>
        <p:txBody>
          <a:bodyPr/>
          <a:lstStyle/>
          <a:p>
            <a:fld id="{BA9EC249-520B-4251-8894-E78E28B7F146}" type="slidenum">
              <a:rPr lang="en-US"/>
              <a:pPr/>
              <a:t>2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162800" cy="9144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/>
              <a:t>Data Preprocessing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8077200" cy="4953000"/>
          </a:xfrm>
          <a:noFill/>
        </p:spPr>
        <p:txBody>
          <a:bodyPr lIns="92075" tIns="46038" rIns="92075" bIns="46038"/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C00000"/>
                </a:solidFill>
              </a:rPr>
              <a:t>Why preprocess the data?</a:t>
            </a:r>
          </a:p>
          <a:p>
            <a:pPr>
              <a:lnSpc>
                <a:spcPct val="140000"/>
              </a:lnSpc>
            </a:pPr>
            <a:r>
              <a:rPr lang="en-US"/>
              <a:t>Data cleaning </a:t>
            </a:r>
          </a:p>
          <a:p>
            <a:pPr>
              <a:lnSpc>
                <a:spcPct val="140000"/>
              </a:lnSpc>
            </a:pPr>
            <a:r>
              <a:rPr lang="en-US"/>
              <a:t>Data integration </a:t>
            </a:r>
          </a:p>
          <a:p>
            <a:pPr>
              <a:lnSpc>
                <a:spcPct val="140000"/>
              </a:lnSpc>
            </a:pPr>
            <a:r>
              <a:rPr lang="en-US"/>
              <a:t>Data reduction</a:t>
            </a:r>
            <a:endParaRPr lang="en-US">
              <a:solidFill>
                <a:schemeClr val="hlink"/>
              </a:solidFill>
            </a:endParaRPr>
          </a:p>
          <a:p>
            <a:pPr>
              <a:lnSpc>
                <a:spcPct val="140000"/>
              </a:lnSpc>
            </a:pPr>
            <a:r>
              <a:rPr lang="en-US"/>
              <a:t>Data Transformation and Discretization </a:t>
            </a:r>
          </a:p>
          <a:p>
            <a:pPr>
              <a:lnSpc>
                <a:spcPct val="140000"/>
              </a:lnSpc>
            </a:pPr>
            <a:r>
              <a:rPr lang="en-US"/>
              <a:t>Summary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315200" cy="762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Why Data Preprocessing?</a:t>
            </a:r>
          </a:p>
        </p:txBody>
      </p:sp>
      <p:sp>
        <p:nvSpPr>
          <p:cNvPr id="102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058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 </a:t>
            </a:r>
            <a:r>
              <a:rPr lang="en-US" sz="2200"/>
              <a:t>Data in the real world is dirty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>
                <a:solidFill>
                  <a:srgbClr val="0070C0"/>
                </a:solidFill>
              </a:rPr>
              <a:t>incomplete</a:t>
            </a:r>
            <a:r>
              <a:rPr lang="en-US" sz="2000"/>
              <a:t>: lacking attribute values, lacking certain attributes of interest, or containing only aggregate data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>
                <a:solidFill>
                  <a:srgbClr val="0070C0"/>
                </a:solidFill>
              </a:rPr>
              <a:t>noisy</a:t>
            </a:r>
            <a:r>
              <a:rPr lang="en-US" sz="2000"/>
              <a:t>: containing errors or outliers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>
                <a:solidFill>
                  <a:srgbClr val="0070C0"/>
                </a:solidFill>
              </a:rPr>
              <a:t>inconsistent</a:t>
            </a:r>
            <a:r>
              <a:rPr lang="en-US" sz="2000"/>
              <a:t>: containing discrepancies in codes or names</a:t>
            </a:r>
          </a:p>
          <a:p>
            <a:pPr eaLnBrk="1" hangingPunct="1">
              <a:spcBef>
                <a:spcPts val="300"/>
              </a:spcBef>
            </a:pPr>
            <a:r>
              <a:rPr lang="en-US"/>
              <a:t> </a:t>
            </a:r>
            <a:r>
              <a:rPr lang="en-US" sz="2200"/>
              <a:t>Data quality is a major concern in Data Mining and Knowledge Discovery tasks.</a:t>
            </a:r>
          </a:p>
          <a:p>
            <a:pPr eaLnBrk="1" hangingPunct="1"/>
            <a:r>
              <a:rPr lang="en-US" sz="2200">
                <a:solidFill>
                  <a:srgbClr val="FF3300"/>
                </a:solidFill>
              </a:rPr>
              <a:t>Why:</a:t>
            </a:r>
            <a:r>
              <a:rPr lang="en-US" sz="2200"/>
              <a:t> At most all Data Mining algorithms induce knowledge strictly from data.</a:t>
            </a:r>
          </a:p>
          <a:p>
            <a:pPr>
              <a:lnSpc>
                <a:spcPct val="90000"/>
              </a:lnSpc>
            </a:pPr>
            <a:r>
              <a:rPr lang="en-US" sz="2200"/>
              <a:t> No quality data, no quality mining results!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/>
              <a:t>Quality decisions must be based on quality data</a:t>
            </a:r>
          </a:p>
          <a:p>
            <a:pPr>
              <a:lnSpc>
                <a:spcPct val="90000"/>
              </a:lnSpc>
            </a:pPr>
            <a:r>
              <a:rPr lang="en-US" sz="2200"/>
              <a:t> No quality data, inefficient mining process!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/>
              <a:t>Complete, noise-free, and consistent data means faster algorithms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/>
              <a:t>The </a:t>
            </a:r>
            <a:r>
              <a:rPr lang="en-US" sz="2000">
                <a:solidFill>
                  <a:srgbClr val="FF3300"/>
                </a:solidFill>
              </a:rPr>
              <a:t>quality of knowledge</a:t>
            </a:r>
            <a:r>
              <a:rPr lang="en-US" sz="2000"/>
              <a:t> extracted highly depends on the </a:t>
            </a:r>
            <a:r>
              <a:rPr lang="en-US" sz="2000">
                <a:solidFill>
                  <a:srgbClr val="FF3300"/>
                </a:solidFill>
              </a:rPr>
              <a:t>quality of data</a:t>
            </a:r>
            <a:endParaRPr lang="en-US" sz="20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600"/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1D02C4-ED46-4CC3-A5C2-473CF301B5E0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058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 </a:t>
            </a:r>
            <a:r>
              <a:rPr lang="en-US" sz="2800"/>
              <a:t>Data cleaning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Fill in missing values, smooth noisy data, identify or remove outliers, and resolve inconsistencies</a:t>
            </a:r>
          </a:p>
          <a:p>
            <a:pPr>
              <a:lnSpc>
                <a:spcPct val="90000"/>
              </a:lnSpc>
            </a:pPr>
            <a:r>
              <a:rPr lang="en-US"/>
              <a:t> </a:t>
            </a:r>
            <a:r>
              <a:rPr lang="en-US" sz="2800"/>
              <a:t>Data integration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Integration of multiple databases, data cubes, or files</a:t>
            </a:r>
          </a:p>
          <a:p>
            <a:pPr>
              <a:lnSpc>
                <a:spcPct val="90000"/>
              </a:lnSpc>
            </a:pPr>
            <a:r>
              <a:rPr lang="en-US" sz="2800"/>
              <a:t>Data reduction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Obtains reduced representation in volume but produces the same or similar analytical results</a:t>
            </a:r>
          </a:p>
          <a:p>
            <a:pPr>
              <a:lnSpc>
                <a:spcPct val="90000"/>
              </a:lnSpc>
            </a:pPr>
            <a:r>
              <a:rPr lang="en-US"/>
              <a:t> </a:t>
            </a:r>
            <a:r>
              <a:rPr lang="en-US" sz="2800"/>
              <a:t>Data transformation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Normalization and aggregation</a:t>
            </a:r>
          </a:p>
          <a:p>
            <a:pPr>
              <a:lnSpc>
                <a:spcPct val="90000"/>
              </a:lnSpc>
            </a:pPr>
            <a:r>
              <a:rPr lang="en-US" sz="2800"/>
              <a:t>Data discretization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Part of data reduction but with particular importance, especially for numerical data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6781800" cy="6858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sz="3200"/>
              <a:t>Major Tasks in Data Preprocessing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F4E21A-8D8C-482C-A8DE-58402F89FCB7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62600" y="6248400"/>
            <a:ext cx="2895600" cy="457200"/>
          </a:xfrm>
          <a:noFill/>
        </p:spPr>
        <p:txBody>
          <a:bodyPr/>
          <a:lstStyle/>
          <a:p>
            <a:fld id="{549C796B-597A-4854-BD71-32E2A6FCD9A9}" type="slidenum">
              <a:rPr lang="en-US"/>
              <a:pPr/>
              <a:t>5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162800" cy="9144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/>
              <a:t>Data Preprocessing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8077200" cy="4953000"/>
          </a:xfrm>
          <a:noFill/>
        </p:spPr>
        <p:txBody>
          <a:bodyPr lIns="92075" tIns="46038" rIns="92075" bIns="46038"/>
          <a:lstStyle/>
          <a:p>
            <a:pPr>
              <a:lnSpc>
                <a:spcPct val="140000"/>
              </a:lnSpc>
            </a:pPr>
            <a:r>
              <a:rPr lang="en-US"/>
              <a:t>Why preprocess the data?</a:t>
            </a:r>
          </a:p>
          <a:p>
            <a:pPr>
              <a:lnSpc>
                <a:spcPct val="140000"/>
              </a:lnSpc>
            </a:pPr>
            <a:r>
              <a:rPr lang="en-US">
                <a:solidFill>
                  <a:srgbClr val="C00000"/>
                </a:solidFill>
              </a:rPr>
              <a:t>Data cleaning </a:t>
            </a:r>
          </a:p>
          <a:p>
            <a:pPr>
              <a:lnSpc>
                <a:spcPct val="140000"/>
              </a:lnSpc>
            </a:pPr>
            <a:r>
              <a:rPr lang="en-US"/>
              <a:t>Data integration </a:t>
            </a:r>
          </a:p>
          <a:p>
            <a:pPr>
              <a:lnSpc>
                <a:spcPct val="140000"/>
              </a:lnSpc>
            </a:pPr>
            <a:r>
              <a:rPr lang="en-US"/>
              <a:t>Data reduction</a:t>
            </a:r>
            <a:endParaRPr lang="en-US">
              <a:solidFill>
                <a:schemeClr val="hlink"/>
              </a:solidFill>
            </a:endParaRPr>
          </a:p>
          <a:p>
            <a:pPr>
              <a:lnSpc>
                <a:spcPct val="140000"/>
              </a:lnSpc>
            </a:pPr>
            <a:r>
              <a:rPr lang="en-US"/>
              <a:t>Data Transformation and Discretization </a:t>
            </a:r>
          </a:p>
          <a:p>
            <a:pPr>
              <a:lnSpc>
                <a:spcPct val="140000"/>
              </a:lnSpc>
            </a:pPr>
            <a:r>
              <a:rPr lang="en-US"/>
              <a:t>Summary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061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02D1022-E0F4-4AB6-8BD5-A9E4B4C8138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170981"/>
                </a:solidFill>
              </a:rPr>
              <a:t>Data Cleaning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000" dirty="0"/>
              <a:t>Data in the Real World Is Dirty: Lots of potentially incorrect data, e.g., instrument faulty, human or computer error, transmission error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u="sng" dirty="0"/>
              <a:t>incomplete</a:t>
            </a:r>
            <a:r>
              <a:rPr lang="en-US" sz="2000" dirty="0"/>
              <a:t>: lacking attribute values, lacking certain attributes of interest, or containing only aggregate data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e.g., </a:t>
            </a:r>
            <a:r>
              <a:rPr lang="en-US" sz="2000" i="1" dirty="0"/>
              <a:t>Occupation</a:t>
            </a:r>
            <a:r>
              <a:rPr lang="en-US" sz="2000" dirty="0"/>
              <a:t>=“ ” (missing data)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 u="sng" dirty="0"/>
              <a:t>noisy</a:t>
            </a:r>
            <a:r>
              <a:rPr lang="en-US" sz="2000" dirty="0"/>
              <a:t>: containing noise, errors, or outliers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e.g., </a:t>
            </a:r>
            <a:r>
              <a:rPr lang="en-US" sz="2000" i="1" dirty="0"/>
              <a:t>Salary</a:t>
            </a:r>
            <a:r>
              <a:rPr lang="en-US" sz="2000" dirty="0"/>
              <a:t>=“</a:t>
            </a:r>
            <a:r>
              <a:rPr lang="en-US" sz="2000" dirty="0">
                <a:cs typeface="Tahoma" pitchFamily="34" charset="0"/>
              </a:rPr>
              <a:t>−</a:t>
            </a:r>
            <a:r>
              <a:rPr lang="en-US" sz="2000" dirty="0"/>
              <a:t>10” (an error)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 u="sng" dirty="0"/>
              <a:t>inconsistent</a:t>
            </a:r>
            <a:r>
              <a:rPr lang="en-US" sz="2000" dirty="0"/>
              <a:t>: containing discrepancies in codes or names, e.g.,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i="1" dirty="0"/>
              <a:t>Age</a:t>
            </a:r>
            <a:r>
              <a:rPr lang="en-US" sz="2000" dirty="0"/>
              <a:t>=“42”, </a:t>
            </a:r>
            <a:r>
              <a:rPr lang="en-US" sz="2000" i="1" dirty="0"/>
              <a:t>Birthday</a:t>
            </a:r>
            <a:r>
              <a:rPr lang="en-US" sz="2000" dirty="0"/>
              <a:t>=“03/07/2010”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Was rating “1, 2, 3”, now rating “A, B, C”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discrepancy between duplicate records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u="sng" dirty="0"/>
              <a:t>Intentional</a:t>
            </a:r>
            <a:r>
              <a:rPr lang="en-US" sz="2000" b="1" u="sng" dirty="0"/>
              <a:t> </a:t>
            </a:r>
            <a:r>
              <a:rPr lang="en-US" sz="2000" dirty="0"/>
              <a:t>(e.g., </a:t>
            </a:r>
            <a:r>
              <a:rPr lang="en-US" sz="2000" i="1" dirty="0"/>
              <a:t>disguised missing</a:t>
            </a:r>
            <a:r>
              <a:rPr lang="en-US" sz="2000" dirty="0"/>
              <a:t> data)</a:t>
            </a:r>
          </a:p>
          <a:p>
            <a:pPr lvl="2" eaLnBrk="1" hangingPunct="1">
              <a:lnSpc>
                <a:spcPct val="120000"/>
              </a:lnSpc>
            </a:pPr>
            <a:r>
              <a:rPr lang="en-US" sz="2000" dirty="0"/>
              <a:t>Jan. 1 as everyone’s birthday?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6172200" cy="9144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/>
              <a:t>Data Cleaning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01000" cy="4800600"/>
          </a:xfrm>
          <a:noFill/>
        </p:spPr>
        <p:txBody>
          <a:bodyPr lIns="92075" tIns="46038" rIns="92075" bIns="46038"/>
          <a:lstStyle/>
          <a:p>
            <a:pPr>
              <a:lnSpc>
                <a:spcPct val="140000"/>
              </a:lnSpc>
            </a:pPr>
            <a:r>
              <a:rPr lang="en-US"/>
              <a:t>Data cleaning tasks</a:t>
            </a:r>
          </a:p>
          <a:p>
            <a:pPr lvl="1">
              <a:lnSpc>
                <a:spcPct val="140000"/>
              </a:lnSpc>
            </a:pPr>
            <a:r>
              <a:rPr lang="en-US"/>
              <a:t>Fill in missing values</a:t>
            </a:r>
          </a:p>
          <a:p>
            <a:pPr lvl="1">
              <a:lnSpc>
                <a:spcPct val="140000"/>
              </a:lnSpc>
            </a:pPr>
            <a:r>
              <a:rPr lang="en-US"/>
              <a:t>Noisy data </a:t>
            </a:r>
          </a:p>
          <a:p>
            <a:pPr lvl="1">
              <a:lnSpc>
                <a:spcPct val="140000"/>
              </a:lnSpc>
            </a:pPr>
            <a:r>
              <a:rPr lang="en-US"/>
              <a:t>Correcting inconsistent data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1740A9-A738-464B-8015-BA70B42C40C4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52400"/>
            <a:ext cx="7848600" cy="762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sz="3600"/>
              <a:t>Methods of Treating Missing Data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66800"/>
            <a:ext cx="8001000" cy="5486400"/>
          </a:xfrm>
        </p:spPr>
        <p:txBody>
          <a:bodyPr/>
          <a:lstStyle/>
          <a:p>
            <a:pPr marL="339725" indent="-339725" eaLnBrk="1" hangingPunct="1">
              <a:defRPr/>
            </a:pPr>
            <a:r>
              <a:rPr lang="en-US" sz="1800" dirty="0">
                <a:solidFill>
                  <a:srgbClr val="FF0000"/>
                </a:solidFill>
              </a:rPr>
              <a:t>Ignoring and discarding data:- </a:t>
            </a:r>
            <a:r>
              <a:rPr lang="en-US" sz="1800" dirty="0"/>
              <a:t>There are two main ways to discard data with missing values.</a:t>
            </a:r>
          </a:p>
          <a:p>
            <a:pPr marL="744538" lvl="1" indent="-287338" eaLnBrk="1" hangingPunct="1">
              <a:defRPr/>
            </a:pPr>
            <a:r>
              <a:rPr lang="en-US" sz="1600" dirty="0"/>
              <a:t>Discard all those records which have missing data also called as </a:t>
            </a:r>
            <a:r>
              <a:rPr lang="en-US" sz="1600" dirty="0">
                <a:solidFill>
                  <a:srgbClr val="0000FF"/>
                </a:solidFill>
              </a:rPr>
              <a:t>discard case analysis</a:t>
            </a:r>
            <a:r>
              <a:rPr lang="en-US" sz="1600" dirty="0"/>
              <a:t>. Usually done when class label is missing (assuming the task is classification) </a:t>
            </a:r>
          </a:p>
          <a:p>
            <a:pPr marL="744538" lvl="1" indent="-287338" eaLnBrk="1" hangingPunct="1">
              <a:defRPr/>
            </a:pPr>
            <a:r>
              <a:rPr lang="en-US" sz="1600" dirty="0"/>
              <a:t>Discarding only those attributes which have high level of missing data.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Fill in the missing value manually: </a:t>
            </a:r>
            <a:r>
              <a:rPr lang="en-US" sz="1800" dirty="0"/>
              <a:t>tedious + infeasible?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Use a global constant to fill in the missing value: </a:t>
            </a:r>
            <a:r>
              <a:rPr lang="en-US" sz="1800" dirty="0"/>
              <a:t>e.g., “unknown”, a new class. </a:t>
            </a:r>
          </a:p>
          <a:p>
            <a:pPr marL="339725" indent="-339725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Imputation using Mean/median or Mod:- </a:t>
            </a:r>
            <a:r>
              <a:rPr lang="en-US" sz="1800" dirty="0"/>
              <a:t>One of the  most frequently used method (Statistical technique). </a:t>
            </a:r>
          </a:p>
          <a:p>
            <a:pPr lvl="1">
              <a:lnSpc>
                <a:spcPct val="140000"/>
              </a:lnSpc>
              <a:defRPr/>
            </a:pPr>
            <a:r>
              <a:rPr lang="en-US" sz="1600" dirty="0"/>
              <a:t>Use the attribute mean to fill in the missing value</a:t>
            </a:r>
          </a:p>
          <a:p>
            <a:pPr lvl="1">
              <a:lnSpc>
                <a:spcPct val="140000"/>
              </a:lnSpc>
              <a:defRPr/>
            </a:pPr>
            <a:r>
              <a:rPr lang="en-US" sz="1600" dirty="0"/>
              <a:t>Use the attribute mean for all samples belonging to the same class to fill in the missing value: smarter</a:t>
            </a:r>
          </a:p>
          <a:p>
            <a:pPr marL="744538" lvl="1" indent="-287338" eaLnBrk="1" hangingPunct="1">
              <a:defRPr/>
            </a:pPr>
            <a:r>
              <a:rPr lang="en-US" sz="1600" dirty="0"/>
              <a:t>Replace </a:t>
            </a:r>
            <a:r>
              <a:rPr lang="en-US" sz="1600" dirty="0">
                <a:solidFill>
                  <a:srgbClr val="0000FF"/>
                </a:solidFill>
              </a:rPr>
              <a:t>(numeric continuous) type</a:t>
            </a:r>
            <a:r>
              <a:rPr lang="en-US" sz="1600" dirty="0"/>
              <a:t> “attribute missing values” using mean/median. </a:t>
            </a:r>
            <a:r>
              <a:rPr lang="en-US" sz="1600" dirty="0">
                <a:solidFill>
                  <a:srgbClr val="FF3300"/>
                </a:solidFill>
              </a:rPr>
              <a:t>(Median robust against noise).</a:t>
            </a:r>
          </a:p>
          <a:p>
            <a:pPr marL="744538" lvl="1" indent="-287338" eaLnBrk="1" hangingPunct="1">
              <a:defRPr/>
            </a:pPr>
            <a:r>
              <a:rPr lang="en-US" sz="1600" dirty="0"/>
              <a:t>Replace </a:t>
            </a:r>
            <a:r>
              <a:rPr lang="en-US" sz="1600" dirty="0">
                <a:solidFill>
                  <a:srgbClr val="0000FF"/>
                </a:solidFill>
              </a:rPr>
              <a:t>(discrete)</a:t>
            </a:r>
            <a:r>
              <a:rPr lang="en-US" sz="1600" dirty="0"/>
              <a:t> type attribute missing values using MOD.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38C881-D1A0-4797-8648-8FFE5B5C9ACD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066800"/>
            <a:ext cx="8610600" cy="3581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400">
                <a:solidFill>
                  <a:srgbClr val="FF3300"/>
                </a:solidFill>
              </a:rPr>
              <a:t>K-Nearest Neighbor (k-NN) approach (Best approach):-</a:t>
            </a:r>
            <a:r>
              <a:rPr lang="en-US"/>
              <a:t> 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/>
              <a:t>k-NN imputes the missing attribute values on the basis of nearest </a:t>
            </a:r>
            <a:r>
              <a:rPr lang="en-US" sz="2400">
                <a:solidFill>
                  <a:srgbClr val="0000FF"/>
                </a:solidFill>
              </a:rPr>
              <a:t>K</a:t>
            </a:r>
            <a:r>
              <a:rPr lang="en-US" sz="2400"/>
              <a:t> neighbor. </a:t>
            </a:r>
            <a:r>
              <a:rPr lang="en-US" sz="2400">
                <a:solidFill>
                  <a:srgbClr val="0000FF"/>
                </a:solidFill>
              </a:rPr>
              <a:t>Neighbors are determined</a:t>
            </a:r>
            <a:r>
              <a:rPr lang="en-US" sz="2400"/>
              <a:t> on the basis of </a:t>
            </a:r>
            <a:r>
              <a:rPr lang="en-US" sz="2400">
                <a:solidFill>
                  <a:srgbClr val="0000FF"/>
                </a:solidFill>
              </a:rPr>
              <a:t>distance measure</a:t>
            </a:r>
            <a:r>
              <a:rPr lang="en-US" sz="2400"/>
              <a:t>.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/>
              <a:t>Once K neighbors are determined, missing value are imputed by taking mean/median or MOD of </a:t>
            </a:r>
            <a:r>
              <a:rPr lang="en-US" sz="2400">
                <a:solidFill>
                  <a:srgbClr val="0000FF"/>
                </a:solidFill>
              </a:rPr>
              <a:t>known attribute values of missing attribute</a:t>
            </a:r>
            <a:r>
              <a:rPr lang="en-US" sz="2400"/>
              <a:t>.</a:t>
            </a:r>
          </a:p>
          <a:p>
            <a:pPr marL="914400" lvl="1" indent="-457200" eaLnBrk="1" hangingPunct="1">
              <a:lnSpc>
                <a:spcPct val="90000"/>
              </a:lnSpc>
            </a:pPr>
            <a:endParaRPr lang="en-US" sz="2400"/>
          </a:p>
        </p:txBody>
      </p:sp>
      <p:sp>
        <p:nvSpPr>
          <p:cNvPr id="223236" name="Rectangle 4"/>
          <p:cNvSpPr>
            <a:spLocks noChangeArrowheads="1"/>
          </p:cNvSpPr>
          <p:nvPr/>
        </p:nvSpPr>
        <p:spPr bwMode="auto">
          <a:xfrm>
            <a:off x="304800" y="4267200"/>
            <a:ext cx="4648200" cy="2286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37" name="Oval 5"/>
          <p:cNvSpPr>
            <a:spLocks noChangeArrowheads="1"/>
          </p:cNvSpPr>
          <p:nvPr/>
        </p:nvSpPr>
        <p:spPr bwMode="auto">
          <a:xfrm>
            <a:off x="1752600" y="4648200"/>
            <a:ext cx="1524000" cy="1524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38" name="Oval 6"/>
          <p:cNvSpPr>
            <a:spLocks noChangeArrowheads="1"/>
          </p:cNvSpPr>
          <p:nvPr/>
        </p:nvSpPr>
        <p:spPr bwMode="auto">
          <a:xfrm>
            <a:off x="762000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44" name="Oval 12"/>
          <p:cNvSpPr>
            <a:spLocks noChangeArrowheads="1"/>
          </p:cNvSpPr>
          <p:nvPr/>
        </p:nvSpPr>
        <p:spPr bwMode="auto">
          <a:xfrm>
            <a:off x="2438400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45" name="Oval 13"/>
          <p:cNvSpPr>
            <a:spLocks noChangeArrowheads="1"/>
          </p:cNvSpPr>
          <p:nvPr/>
        </p:nvSpPr>
        <p:spPr bwMode="auto">
          <a:xfrm>
            <a:off x="22098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46" name="Oval 14"/>
          <p:cNvSpPr>
            <a:spLocks noChangeArrowheads="1"/>
          </p:cNvSpPr>
          <p:nvPr/>
        </p:nvSpPr>
        <p:spPr bwMode="auto">
          <a:xfrm>
            <a:off x="2590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47" name="Oval 15"/>
          <p:cNvSpPr>
            <a:spLocks noChangeArrowheads="1"/>
          </p:cNvSpPr>
          <p:nvPr/>
        </p:nvSpPr>
        <p:spPr bwMode="auto">
          <a:xfrm>
            <a:off x="20574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48" name="Oval 16"/>
          <p:cNvSpPr>
            <a:spLocks noChangeArrowheads="1"/>
          </p:cNvSpPr>
          <p:nvPr/>
        </p:nvSpPr>
        <p:spPr bwMode="auto">
          <a:xfrm>
            <a:off x="3352800" y="586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49" name="Oval 17"/>
          <p:cNvSpPr>
            <a:spLocks noChangeArrowheads="1"/>
          </p:cNvSpPr>
          <p:nvPr/>
        </p:nvSpPr>
        <p:spPr bwMode="auto">
          <a:xfrm>
            <a:off x="3657600" y="5638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50" name="Oval 18"/>
          <p:cNvSpPr>
            <a:spLocks noChangeArrowheads="1"/>
          </p:cNvSpPr>
          <p:nvPr/>
        </p:nvSpPr>
        <p:spPr bwMode="auto">
          <a:xfrm>
            <a:off x="2743200" y="4876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51" name="Text Box 19"/>
          <p:cNvSpPr txBox="1">
            <a:spLocks noChangeArrowheads="1"/>
          </p:cNvSpPr>
          <p:nvPr/>
        </p:nvSpPr>
        <p:spPr bwMode="auto">
          <a:xfrm>
            <a:off x="5867400" y="46482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>
                <a:latin typeface="Tahoma" pitchFamily="34" charset="0"/>
              </a:rPr>
              <a:t>Missing value record</a:t>
            </a:r>
            <a:endParaRPr lang="en-US" b="0">
              <a:solidFill>
                <a:schemeClr val="folHlink"/>
              </a:solidFill>
              <a:latin typeface="Tahoma" pitchFamily="34" charset="0"/>
            </a:endParaRPr>
          </a:p>
        </p:txBody>
      </p:sp>
      <p:sp>
        <p:nvSpPr>
          <p:cNvPr id="223252" name="Line 20"/>
          <p:cNvSpPr>
            <a:spLocks noChangeShapeType="1"/>
          </p:cNvSpPr>
          <p:nvPr/>
        </p:nvSpPr>
        <p:spPr bwMode="auto">
          <a:xfrm flipH="1">
            <a:off x="2895600" y="4876800"/>
            <a:ext cx="2895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3253" name="Text Box 21"/>
          <p:cNvSpPr txBox="1">
            <a:spLocks noChangeArrowheads="1"/>
          </p:cNvSpPr>
          <p:nvPr/>
        </p:nvSpPr>
        <p:spPr bwMode="auto">
          <a:xfrm>
            <a:off x="5638800" y="57912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>
                <a:latin typeface="Tahoma" pitchFamily="34" charset="0"/>
              </a:rPr>
              <a:t>Other dataset records</a:t>
            </a:r>
            <a:endParaRPr lang="en-US" b="0">
              <a:solidFill>
                <a:schemeClr val="folHlink"/>
              </a:solidFill>
              <a:latin typeface="Tahoma" pitchFamily="34" charset="0"/>
            </a:endParaRPr>
          </a:p>
        </p:txBody>
      </p:sp>
      <p:sp>
        <p:nvSpPr>
          <p:cNvPr id="223254" name="Line 22"/>
          <p:cNvSpPr>
            <a:spLocks noChangeShapeType="1"/>
          </p:cNvSpPr>
          <p:nvPr/>
        </p:nvSpPr>
        <p:spPr bwMode="auto">
          <a:xfrm flipH="1" flipV="1">
            <a:off x="3124200" y="5638800"/>
            <a:ext cx="2438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3255" name="Oval 23"/>
          <p:cNvSpPr>
            <a:spLocks noChangeArrowheads="1"/>
          </p:cNvSpPr>
          <p:nvPr/>
        </p:nvSpPr>
        <p:spPr bwMode="auto">
          <a:xfrm>
            <a:off x="1143000" y="4953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56" name="Oval 24"/>
          <p:cNvSpPr>
            <a:spLocks noChangeArrowheads="1"/>
          </p:cNvSpPr>
          <p:nvPr/>
        </p:nvSpPr>
        <p:spPr bwMode="auto">
          <a:xfrm>
            <a:off x="1143000" y="586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57" name="Oval 25"/>
          <p:cNvSpPr>
            <a:spLocks noChangeArrowheads="1"/>
          </p:cNvSpPr>
          <p:nvPr/>
        </p:nvSpPr>
        <p:spPr bwMode="auto">
          <a:xfrm>
            <a:off x="1295400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23258" name="Oval 26"/>
          <p:cNvSpPr>
            <a:spLocks noChangeArrowheads="1"/>
          </p:cNvSpPr>
          <p:nvPr/>
        </p:nvSpPr>
        <p:spPr bwMode="auto">
          <a:xfrm>
            <a:off x="14478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15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8129D8-05C0-48D5-9770-102A322EB2F4}" type="slidenum">
              <a:rPr lang="en-US"/>
              <a:pPr/>
              <a:t>9</a:t>
            </a:fld>
            <a:endParaRPr lang="en-US"/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457200" y="228600"/>
            <a:ext cx="7848600" cy="7620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Methods of Treating Missing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6" grpId="0" animBg="1"/>
      <p:bldP spid="223237" grpId="0" animBg="1"/>
      <p:bldP spid="223238" grpId="0" animBg="1"/>
      <p:bldP spid="223244" grpId="0" animBg="1"/>
      <p:bldP spid="223245" grpId="0" animBg="1"/>
      <p:bldP spid="223246" grpId="0" animBg="1"/>
      <p:bldP spid="223247" grpId="0" animBg="1"/>
      <p:bldP spid="223248" grpId="0" animBg="1"/>
      <p:bldP spid="223249" grpId="0" animBg="1"/>
      <p:bldP spid="223250" grpId="0" animBg="1"/>
      <p:bldP spid="223251" grpId="0"/>
      <p:bldP spid="223252" grpId="0" animBg="1"/>
      <p:bldP spid="223253" grpId="0"/>
      <p:bldP spid="223254" grpId="0" animBg="1"/>
      <p:bldP spid="223255" grpId="0" animBg="1"/>
      <p:bldP spid="223256" grpId="0" animBg="1"/>
      <p:bldP spid="223257" grpId="0" animBg="1"/>
      <p:bldP spid="2232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76200"/>
            <a:ext cx="8686800" cy="8382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sz="4000"/>
              <a:t>Imputation of Missing Data (Basic)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914400"/>
            <a:ext cx="8382000" cy="5486400"/>
          </a:xfrm>
        </p:spPr>
        <p:txBody>
          <a:bodyPr/>
          <a:lstStyle/>
          <a:p>
            <a:pPr eaLnBrk="1" hangingPunct="1"/>
            <a:r>
              <a:rPr lang="en-US" sz="2400" u="sng">
                <a:solidFill>
                  <a:srgbClr val="FF3300"/>
                </a:solidFill>
              </a:rPr>
              <a:t>Imputation</a:t>
            </a:r>
            <a:r>
              <a:rPr lang="en-US" sz="2400"/>
              <a:t> is a term that denotes a procedure that replaces the missing values in a dataset by some plausible values</a:t>
            </a:r>
          </a:p>
          <a:p>
            <a:pPr lvl="1" eaLnBrk="1" hangingPunct="1"/>
            <a:r>
              <a:rPr lang="en-US"/>
              <a:t>i.e. by considering relationship among correlated values among the attributes of the dataset.</a:t>
            </a:r>
          </a:p>
        </p:txBody>
      </p:sp>
      <p:graphicFrame>
        <p:nvGraphicFramePr>
          <p:cNvPr id="208970" name="Object 74"/>
          <p:cNvGraphicFramePr>
            <a:graphicFrameLocks noGrp="1"/>
          </p:cNvGraphicFramePr>
          <p:nvPr>
            <p:ph sz="half" idx="4294967295"/>
          </p:nvPr>
        </p:nvGraphicFramePr>
        <p:xfrm>
          <a:off x="228600" y="3657600"/>
          <a:ext cx="5297488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Worksheet" r:id="rId4" imgW="6515100" imgH="2438400" progId="Excel.Sheet.8">
                  <p:embed/>
                </p:oleObj>
              </mc:Choice>
              <mc:Fallback>
                <p:oleObj name="Worksheet" r:id="rId4" imgW="6515100" imgH="2438400" progId="Excel.Sheet.8">
                  <p:embed/>
                  <p:pic>
                    <p:nvPicPr>
                      <p:cNvPr id="0" name="Object 7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657600"/>
                        <a:ext cx="5297488" cy="201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75" name="Text Box 79"/>
          <p:cNvSpPr txBox="1">
            <a:spLocks noChangeArrowheads="1"/>
          </p:cNvSpPr>
          <p:nvPr/>
        </p:nvSpPr>
        <p:spPr bwMode="auto">
          <a:xfrm>
            <a:off x="5715000" y="3581400"/>
            <a:ext cx="3124200" cy="284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rebuchet MS" pitchFamily="34" charset="0"/>
              </a:rPr>
              <a:t>If we consider only </a:t>
            </a:r>
            <a:r>
              <a:rPr lang="en-US" sz="2000">
                <a:solidFill>
                  <a:srgbClr val="FF3300"/>
                </a:solidFill>
                <a:latin typeface="Trebuchet MS" pitchFamily="34" charset="0"/>
              </a:rPr>
              <a:t>{attribute#2},</a:t>
            </a:r>
            <a:r>
              <a:rPr lang="en-US" sz="2000" b="0">
                <a:latin typeface="Trebuchet MS" pitchFamily="34" charset="0"/>
              </a:rPr>
              <a:t> then value </a:t>
            </a:r>
            <a:r>
              <a:rPr lang="en-US" sz="2000">
                <a:solidFill>
                  <a:srgbClr val="FF3300"/>
                </a:solidFill>
                <a:latin typeface="Trebuchet MS" pitchFamily="34" charset="0"/>
              </a:rPr>
              <a:t>“cool”</a:t>
            </a:r>
            <a:r>
              <a:rPr lang="en-US" sz="2000" b="0">
                <a:latin typeface="Trebuchet MS" pitchFamily="34" charset="0"/>
              </a:rPr>
              <a:t> appears in 3 records.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rebuchet MS" pitchFamily="34" charset="0"/>
              </a:rPr>
              <a:t>Probability of Imputing  </a:t>
            </a:r>
            <a:r>
              <a:rPr lang="en-US" sz="2000">
                <a:solidFill>
                  <a:srgbClr val="0000FF"/>
                </a:solidFill>
                <a:latin typeface="Trebuchet MS" pitchFamily="34" charset="0"/>
              </a:rPr>
              <a:t>value (20)</a:t>
            </a:r>
            <a:r>
              <a:rPr lang="en-US" sz="2000" b="0">
                <a:latin typeface="Trebuchet MS" pitchFamily="34" charset="0"/>
              </a:rPr>
              <a:t> = 66.7%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rebuchet MS" pitchFamily="34" charset="0"/>
              </a:rPr>
              <a:t>Probability of Imputing </a:t>
            </a:r>
            <a:r>
              <a:rPr lang="en-US" sz="2000">
                <a:solidFill>
                  <a:srgbClr val="FF3300"/>
                </a:solidFill>
                <a:latin typeface="Trebuchet MS" pitchFamily="34" charset="0"/>
              </a:rPr>
              <a:t>value (30)</a:t>
            </a:r>
            <a:r>
              <a:rPr lang="en-US" sz="2000" b="0">
                <a:latin typeface="Trebuchet MS" pitchFamily="34" charset="0"/>
              </a:rPr>
              <a:t> = 33.3%</a:t>
            </a:r>
          </a:p>
        </p:txBody>
      </p:sp>
      <p:sp>
        <p:nvSpPr>
          <p:cNvPr id="208976" name="Rectangle 80"/>
          <p:cNvSpPr>
            <a:spLocks noChangeArrowheads="1"/>
          </p:cNvSpPr>
          <p:nvPr/>
        </p:nvSpPr>
        <p:spPr bwMode="auto">
          <a:xfrm>
            <a:off x="1524000" y="3962400"/>
            <a:ext cx="1219200" cy="3048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08977" name="Rectangle 81"/>
          <p:cNvSpPr>
            <a:spLocks noChangeArrowheads="1"/>
          </p:cNvSpPr>
          <p:nvPr/>
        </p:nvSpPr>
        <p:spPr bwMode="auto">
          <a:xfrm>
            <a:off x="1524000" y="5105400"/>
            <a:ext cx="1219200" cy="3048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08978" name="Rectangle 82"/>
          <p:cNvSpPr>
            <a:spLocks noChangeArrowheads="1"/>
          </p:cNvSpPr>
          <p:nvPr/>
        </p:nvSpPr>
        <p:spPr bwMode="auto">
          <a:xfrm>
            <a:off x="1524000" y="4495800"/>
            <a:ext cx="1219200" cy="3048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08979" name="AutoShape 83"/>
          <p:cNvSpPr>
            <a:spLocks noChangeArrowheads="1"/>
          </p:cNvSpPr>
          <p:nvPr/>
        </p:nvSpPr>
        <p:spPr bwMode="auto">
          <a:xfrm>
            <a:off x="1905000" y="2209800"/>
            <a:ext cx="5562600" cy="1447800"/>
          </a:xfrm>
          <a:prstGeom prst="curvedDownArrow">
            <a:avLst>
              <a:gd name="adj1" fmla="val 34116"/>
              <a:gd name="adj2" fmla="val 149984"/>
              <a:gd name="adj3" fmla="val 19625"/>
            </a:avLst>
          </a:prstGeom>
          <a:solidFill>
            <a:schemeClr val="accent1">
              <a:alpha val="3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3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C4B63A-690E-461A-B49D-1E0BF9EDA9BC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75" grpId="0" animBg="1"/>
      <p:bldP spid="208976" grpId="0" animBg="1"/>
      <p:bldP spid="208977" grpId="0" animBg="1"/>
      <p:bldP spid="208978" grpId="0" animBg="1"/>
      <p:bldP spid="2089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/>
              <a:t>Imputation of Missing Data (Basic)</a:t>
            </a:r>
          </a:p>
        </p:txBody>
      </p:sp>
      <p:graphicFrame>
        <p:nvGraphicFramePr>
          <p:cNvPr id="215044" name="Object 4"/>
          <p:cNvGraphicFramePr>
            <a:graphicFrameLocks noGrp="1"/>
          </p:cNvGraphicFramePr>
          <p:nvPr>
            <p:ph sz="half" idx="4294967295"/>
          </p:nvPr>
        </p:nvGraphicFramePr>
        <p:xfrm>
          <a:off x="234950" y="914400"/>
          <a:ext cx="525145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Worksheet" r:id="rId4" imgW="6515100" imgH="2438400" progId="Excel.Sheet.8">
                  <p:embed/>
                </p:oleObj>
              </mc:Choice>
              <mc:Fallback>
                <p:oleObj name="Worksheet" r:id="rId4" imgW="6515100" imgH="2438400" progId="Excel.Shee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914400"/>
                        <a:ext cx="525145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5" name="Text Box 5"/>
          <p:cNvSpPr txBox="1">
            <a:spLocks noChangeArrowheads="1"/>
          </p:cNvSpPr>
          <p:nvPr/>
        </p:nvSpPr>
        <p:spPr bwMode="auto">
          <a:xfrm>
            <a:off x="5715000" y="914400"/>
            <a:ext cx="3124200" cy="2540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For </a:t>
            </a:r>
            <a:r>
              <a:rPr lang="en-US" sz="2000">
                <a:solidFill>
                  <a:srgbClr val="FF3300"/>
                </a:solidFill>
                <a:latin typeface="Tahoma" pitchFamily="34" charset="0"/>
              </a:rPr>
              <a:t>{attribute#4}</a:t>
            </a:r>
            <a:r>
              <a:rPr lang="en-US" sz="2000" b="0">
                <a:latin typeface="Tahoma" pitchFamily="34" charset="0"/>
              </a:rPr>
              <a:t> the value </a:t>
            </a:r>
            <a:r>
              <a:rPr lang="en-US" sz="2000">
                <a:solidFill>
                  <a:srgbClr val="FF3300"/>
                </a:solidFill>
                <a:latin typeface="Tahoma" pitchFamily="34" charset="0"/>
              </a:rPr>
              <a:t>“true”</a:t>
            </a:r>
            <a:r>
              <a:rPr lang="en-US" sz="2000" b="0">
                <a:latin typeface="Tahoma" pitchFamily="34" charset="0"/>
              </a:rPr>
              <a:t> appears in 2 records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Probability of Imputing  </a:t>
            </a:r>
            <a:r>
              <a:rPr lang="en-US" sz="2000">
                <a:solidFill>
                  <a:srgbClr val="0000FF"/>
                </a:solidFill>
                <a:latin typeface="Tahoma" pitchFamily="34" charset="0"/>
              </a:rPr>
              <a:t>value (20)</a:t>
            </a:r>
            <a:r>
              <a:rPr lang="en-US" sz="2000" b="0">
                <a:latin typeface="Tahoma" pitchFamily="34" charset="0"/>
              </a:rPr>
              <a:t> = 50%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Probability of Imputing </a:t>
            </a:r>
            <a:r>
              <a:rPr lang="en-US" sz="2000">
                <a:solidFill>
                  <a:srgbClr val="0000FF"/>
                </a:solidFill>
                <a:latin typeface="Tahoma" pitchFamily="34" charset="0"/>
              </a:rPr>
              <a:t>value (10)</a:t>
            </a:r>
            <a:r>
              <a:rPr lang="en-US" sz="2000" b="0">
                <a:latin typeface="Tahoma" pitchFamily="34" charset="0"/>
              </a:rPr>
              <a:t> = 50%</a:t>
            </a:r>
          </a:p>
        </p:txBody>
      </p:sp>
      <p:sp>
        <p:nvSpPr>
          <p:cNvPr id="215046" name="Rectangle 6"/>
          <p:cNvSpPr>
            <a:spLocks noChangeArrowheads="1"/>
          </p:cNvSpPr>
          <p:nvPr/>
        </p:nvSpPr>
        <p:spPr bwMode="auto">
          <a:xfrm>
            <a:off x="4114800" y="1828800"/>
            <a:ext cx="1219200" cy="3810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15047" name="Rectangle 7"/>
          <p:cNvSpPr>
            <a:spLocks noChangeArrowheads="1"/>
          </p:cNvSpPr>
          <p:nvPr/>
        </p:nvSpPr>
        <p:spPr bwMode="auto">
          <a:xfrm>
            <a:off x="4114800" y="2743200"/>
            <a:ext cx="1219200" cy="3810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graphicFrame>
        <p:nvGraphicFramePr>
          <p:cNvPr id="215048" name="Object 8"/>
          <p:cNvGraphicFramePr>
            <a:graphicFrameLocks/>
          </p:cNvGraphicFramePr>
          <p:nvPr/>
        </p:nvGraphicFramePr>
        <p:xfrm>
          <a:off x="228600" y="4114800"/>
          <a:ext cx="525145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Worksheet" r:id="rId6" imgW="6515100" imgH="2438400" progId="Excel.Sheet.8">
                  <p:embed/>
                </p:oleObj>
              </mc:Choice>
              <mc:Fallback>
                <p:oleObj name="Worksheet" r:id="rId6" imgW="6515100" imgH="2438400" progId="Excel.Sheet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114800"/>
                        <a:ext cx="525145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9" name="Text Box 9"/>
          <p:cNvSpPr txBox="1">
            <a:spLocks noChangeArrowheads="1"/>
          </p:cNvSpPr>
          <p:nvPr/>
        </p:nvSpPr>
        <p:spPr bwMode="auto">
          <a:xfrm>
            <a:off x="5715000" y="4140200"/>
            <a:ext cx="3124200" cy="2082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For </a:t>
            </a:r>
            <a:r>
              <a:rPr lang="en-US" sz="2000">
                <a:solidFill>
                  <a:srgbClr val="FF3300"/>
                </a:solidFill>
                <a:latin typeface="Tahoma" pitchFamily="34" charset="0"/>
              </a:rPr>
              <a:t>{attribute#2, attribute#3}</a:t>
            </a:r>
            <a:r>
              <a:rPr lang="en-US" sz="2000" b="0">
                <a:latin typeface="Tahoma" pitchFamily="34" charset="0"/>
              </a:rPr>
              <a:t>  the value </a:t>
            </a:r>
            <a:r>
              <a:rPr lang="en-US" sz="2000">
                <a:solidFill>
                  <a:srgbClr val="FF3300"/>
                </a:solidFill>
                <a:latin typeface="Tahoma" pitchFamily="34" charset="0"/>
              </a:rPr>
              <a:t>{“cool”, “high”}</a:t>
            </a:r>
            <a:r>
              <a:rPr lang="en-US" sz="2000" b="0">
                <a:latin typeface="Tahoma" pitchFamily="34" charset="0"/>
              </a:rPr>
              <a:t> appears in only 2 records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Probability of Imputing  </a:t>
            </a:r>
            <a:r>
              <a:rPr lang="en-US" sz="2000">
                <a:solidFill>
                  <a:srgbClr val="0000FF"/>
                </a:solidFill>
                <a:latin typeface="Tahoma" pitchFamily="34" charset="0"/>
              </a:rPr>
              <a:t>value (20)</a:t>
            </a:r>
            <a:r>
              <a:rPr lang="en-US" sz="2000" b="0">
                <a:latin typeface="Tahoma" pitchFamily="34" charset="0"/>
              </a:rPr>
              <a:t> = 100%</a:t>
            </a:r>
          </a:p>
        </p:txBody>
      </p:sp>
      <p:sp>
        <p:nvSpPr>
          <p:cNvPr id="215050" name="Rectangle 10"/>
          <p:cNvSpPr>
            <a:spLocks noChangeArrowheads="1"/>
          </p:cNvSpPr>
          <p:nvPr/>
        </p:nvSpPr>
        <p:spPr bwMode="auto">
          <a:xfrm>
            <a:off x="1524000" y="5029200"/>
            <a:ext cx="2590800" cy="3810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15052" name="Rectangle 12"/>
          <p:cNvSpPr>
            <a:spLocks noChangeArrowheads="1"/>
          </p:cNvSpPr>
          <p:nvPr/>
        </p:nvSpPr>
        <p:spPr bwMode="auto">
          <a:xfrm>
            <a:off x="1524000" y="4368800"/>
            <a:ext cx="2590800" cy="381000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256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CCEF1F-1993-4DBE-872F-BFA306E3D60F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5" grpId="0" animBg="1"/>
      <p:bldP spid="215046" grpId="0" animBg="1"/>
      <p:bldP spid="215047" grpId="0" animBg="1"/>
      <p:bldP spid="215049" grpId="0" animBg="1"/>
      <p:bldP spid="215050" grpId="0" animBg="1"/>
      <p:bldP spid="2150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8382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sz="4000"/>
              <a:t>Detecting Outliers (Clustering)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066800"/>
            <a:ext cx="82296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FF3300"/>
                </a:solidFill>
              </a:rPr>
              <a:t>Outliers</a:t>
            </a:r>
            <a:r>
              <a:rPr lang="en-US" sz="2400"/>
              <a:t> may be detected by </a:t>
            </a:r>
            <a:r>
              <a:rPr lang="en-US" sz="2400">
                <a:solidFill>
                  <a:srgbClr val="FF3300"/>
                </a:solidFill>
              </a:rPr>
              <a:t>clustering</a:t>
            </a:r>
            <a:r>
              <a:rPr lang="en-US" sz="2400"/>
              <a:t>, where similar values are organized into groups or “clusters”.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/>
              <a:t>Values which falls outside of the set of clusters may be considered outliers.</a:t>
            </a:r>
          </a:p>
        </p:txBody>
      </p:sp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381000" y="3352800"/>
            <a:ext cx="4492625" cy="2971800"/>
            <a:chOff x="1028" y="1418"/>
            <a:chExt cx="3790" cy="2591"/>
          </a:xfrm>
        </p:grpSpPr>
        <p:sp>
          <p:nvSpPr>
            <p:cNvPr id="35848" name="AutoShape 5"/>
            <p:cNvSpPr>
              <a:spLocks noChangeArrowheads="1"/>
            </p:cNvSpPr>
            <p:nvPr/>
          </p:nvSpPr>
          <p:spPr bwMode="auto">
            <a:xfrm>
              <a:off x="1755" y="273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49" name="AutoShape 6"/>
            <p:cNvSpPr>
              <a:spLocks noChangeArrowheads="1"/>
            </p:cNvSpPr>
            <p:nvPr/>
          </p:nvSpPr>
          <p:spPr bwMode="auto">
            <a:xfrm>
              <a:off x="1633" y="2615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0" name="AutoShape 7"/>
            <p:cNvSpPr>
              <a:spLocks noChangeArrowheads="1"/>
            </p:cNvSpPr>
            <p:nvPr/>
          </p:nvSpPr>
          <p:spPr bwMode="auto">
            <a:xfrm>
              <a:off x="1948" y="263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1" name="AutoShape 8"/>
            <p:cNvSpPr>
              <a:spLocks noChangeArrowheads="1"/>
            </p:cNvSpPr>
            <p:nvPr/>
          </p:nvSpPr>
          <p:spPr bwMode="auto">
            <a:xfrm>
              <a:off x="1797" y="24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2" name="AutoShape 9"/>
            <p:cNvSpPr>
              <a:spLocks noChangeArrowheads="1"/>
            </p:cNvSpPr>
            <p:nvPr/>
          </p:nvSpPr>
          <p:spPr bwMode="auto">
            <a:xfrm>
              <a:off x="1575" y="27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3" name="AutoShape 10"/>
            <p:cNvSpPr>
              <a:spLocks noChangeArrowheads="1"/>
            </p:cNvSpPr>
            <p:nvPr/>
          </p:nvSpPr>
          <p:spPr bwMode="auto">
            <a:xfrm>
              <a:off x="1662" y="246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4" name="AutoShape 11"/>
            <p:cNvSpPr>
              <a:spLocks noChangeArrowheads="1"/>
            </p:cNvSpPr>
            <p:nvPr/>
          </p:nvSpPr>
          <p:spPr bwMode="auto">
            <a:xfrm>
              <a:off x="3169" y="212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5" name="AutoShape 12"/>
            <p:cNvSpPr>
              <a:spLocks noChangeArrowheads="1"/>
            </p:cNvSpPr>
            <p:nvPr/>
          </p:nvSpPr>
          <p:spPr bwMode="auto">
            <a:xfrm>
              <a:off x="3100" y="252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6" name="AutoShape 13"/>
            <p:cNvSpPr>
              <a:spLocks noChangeArrowheads="1"/>
            </p:cNvSpPr>
            <p:nvPr/>
          </p:nvSpPr>
          <p:spPr bwMode="auto">
            <a:xfrm>
              <a:off x="3333" y="229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7" name="AutoShape 14"/>
            <p:cNvSpPr>
              <a:spLocks noChangeArrowheads="1"/>
            </p:cNvSpPr>
            <p:nvPr/>
          </p:nvSpPr>
          <p:spPr bwMode="auto">
            <a:xfrm>
              <a:off x="3010" y="2339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8" name="AutoShape 15"/>
            <p:cNvSpPr>
              <a:spLocks noChangeArrowheads="1"/>
            </p:cNvSpPr>
            <p:nvPr/>
          </p:nvSpPr>
          <p:spPr bwMode="auto">
            <a:xfrm>
              <a:off x="3706" y="237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59" name="AutoShape 16"/>
            <p:cNvSpPr>
              <a:spLocks noChangeArrowheads="1"/>
            </p:cNvSpPr>
            <p:nvPr/>
          </p:nvSpPr>
          <p:spPr bwMode="auto">
            <a:xfrm>
              <a:off x="3594" y="256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0" name="Rectangle 17"/>
            <p:cNvSpPr>
              <a:spLocks noChangeArrowheads="1"/>
            </p:cNvSpPr>
            <p:nvPr/>
          </p:nvSpPr>
          <p:spPr bwMode="auto">
            <a:xfrm>
              <a:off x="1028" y="1418"/>
              <a:ext cx="3790" cy="25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1" name="AutoShape 18"/>
            <p:cNvSpPr>
              <a:spLocks noChangeArrowheads="1"/>
            </p:cNvSpPr>
            <p:nvPr/>
          </p:nvSpPr>
          <p:spPr bwMode="auto">
            <a:xfrm>
              <a:off x="1963" y="28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2" name="AutoShape 19"/>
            <p:cNvSpPr>
              <a:spLocks noChangeArrowheads="1"/>
            </p:cNvSpPr>
            <p:nvPr/>
          </p:nvSpPr>
          <p:spPr bwMode="auto">
            <a:xfrm>
              <a:off x="2359" y="285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3" name="AutoShape 20"/>
            <p:cNvSpPr>
              <a:spLocks noChangeArrowheads="1"/>
            </p:cNvSpPr>
            <p:nvPr/>
          </p:nvSpPr>
          <p:spPr bwMode="auto">
            <a:xfrm>
              <a:off x="3380" y="26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4" name="AutoShape 21"/>
            <p:cNvSpPr>
              <a:spLocks noChangeArrowheads="1"/>
            </p:cNvSpPr>
            <p:nvPr/>
          </p:nvSpPr>
          <p:spPr bwMode="auto">
            <a:xfrm>
              <a:off x="2819" y="29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5" name="AutoShape 22"/>
            <p:cNvSpPr>
              <a:spLocks noChangeArrowheads="1"/>
            </p:cNvSpPr>
            <p:nvPr/>
          </p:nvSpPr>
          <p:spPr bwMode="auto">
            <a:xfrm>
              <a:off x="2651" y="32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6" name="AutoShape 23"/>
            <p:cNvSpPr>
              <a:spLocks noChangeArrowheads="1"/>
            </p:cNvSpPr>
            <p:nvPr/>
          </p:nvSpPr>
          <p:spPr bwMode="auto">
            <a:xfrm>
              <a:off x="2746" y="311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7" name="AutoShape 24"/>
            <p:cNvSpPr>
              <a:spLocks noChangeArrowheads="1"/>
            </p:cNvSpPr>
            <p:nvPr/>
          </p:nvSpPr>
          <p:spPr bwMode="auto">
            <a:xfrm>
              <a:off x="2070" y="24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8" name="AutoShape 25"/>
            <p:cNvSpPr>
              <a:spLocks noChangeArrowheads="1"/>
            </p:cNvSpPr>
            <p:nvPr/>
          </p:nvSpPr>
          <p:spPr bwMode="auto">
            <a:xfrm>
              <a:off x="2466" y="30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69" name="AutoShape 26"/>
            <p:cNvSpPr>
              <a:spLocks noChangeArrowheads="1"/>
            </p:cNvSpPr>
            <p:nvPr/>
          </p:nvSpPr>
          <p:spPr bwMode="auto">
            <a:xfrm>
              <a:off x="2462" y="320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0" name="AutoShape 27"/>
            <p:cNvSpPr>
              <a:spLocks noChangeArrowheads="1"/>
            </p:cNvSpPr>
            <p:nvPr/>
          </p:nvSpPr>
          <p:spPr bwMode="auto">
            <a:xfrm>
              <a:off x="2082" y="224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1" name="AutoShape 28"/>
            <p:cNvSpPr>
              <a:spLocks noChangeArrowheads="1"/>
            </p:cNvSpPr>
            <p:nvPr/>
          </p:nvSpPr>
          <p:spPr bwMode="auto">
            <a:xfrm>
              <a:off x="2887" y="19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2" name="AutoShape 29"/>
            <p:cNvSpPr>
              <a:spLocks noChangeArrowheads="1"/>
            </p:cNvSpPr>
            <p:nvPr/>
          </p:nvSpPr>
          <p:spPr bwMode="auto">
            <a:xfrm>
              <a:off x="2001" y="206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3" name="AutoShape 30"/>
            <p:cNvSpPr>
              <a:spLocks noChangeArrowheads="1"/>
            </p:cNvSpPr>
            <p:nvPr/>
          </p:nvSpPr>
          <p:spPr bwMode="auto">
            <a:xfrm>
              <a:off x="2552" y="27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4" name="AutoShape 31"/>
            <p:cNvSpPr>
              <a:spLocks noChangeArrowheads="1"/>
            </p:cNvSpPr>
            <p:nvPr/>
          </p:nvSpPr>
          <p:spPr bwMode="auto">
            <a:xfrm>
              <a:off x="2656" y="290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5" name="AutoShape 32"/>
            <p:cNvSpPr>
              <a:spLocks noChangeArrowheads="1"/>
            </p:cNvSpPr>
            <p:nvPr/>
          </p:nvSpPr>
          <p:spPr bwMode="auto">
            <a:xfrm>
              <a:off x="2880" y="321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35876" name="Freeform 33"/>
            <p:cNvSpPr>
              <a:spLocks/>
            </p:cNvSpPr>
            <p:nvPr/>
          </p:nvSpPr>
          <p:spPr bwMode="auto">
            <a:xfrm>
              <a:off x="2795" y="1842"/>
              <a:ext cx="1101" cy="1077"/>
            </a:xfrm>
            <a:custGeom>
              <a:avLst/>
              <a:gdLst>
                <a:gd name="T0" fmla="*/ 1041 w 1101"/>
                <a:gd name="T1" fmla="*/ 294 h 1077"/>
                <a:gd name="T2" fmla="*/ 1077 w 1101"/>
                <a:gd name="T3" fmla="*/ 485 h 1077"/>
                <a:gd name="T4" fmla="*/ 1013 w 1101"/>
                <a:gd name="T5" fmla="*/ 930 h 1077"/>
                <a:gd name="T6" fmla="*/ 950 w 1101"/>
                <a:gd name="T7" fmla="*/ 1040 h 1077"/>
                <a:gd name="T8" fmla="*/ 850 w 1101"/>
                <a:gd name="T9" fmla="*/ 1076 h 1077"/>
                <a:gd name="T10" fmla="*/ 595 w 1101"/>
                <a:gd name="T11" fmla="*/ 1040 h 1077"/>
                <a:gd name="T12" fmla="*/ 486 w 1101"/>
                <a:gd name="T13" fmla="*/ 994 h 1077"/>
                <a:gd name="T14" fmla="*/ 459 w 1101"/>
                <a:gd name="T15" fmla="*/ 985 h 1077"/>
                <a:gd name="T16" fmla="*/ 322 w 1101"/>
                <a:gd name="T17" fmla="*/ 876 h 1077"/>
                <a:gd name="T18" fmla="*/ 232 w 1101"/>
                <a:gd name="T19" fmla="*/ 803 h 1077"/>
                <a:gd name="T20" fmla="*/ 104 w 1101"/>
                <a:gd name="T21" fmla="*/ 685 h 1077"/>
                <a:gd name="T22" fmla="*/ 4 w 1101"/>
                <a:gd name="T23" fmla="*/ 449 h 1077"/>
                <a:gd name="T24" fmla="*/ 13 w 1101"/>
                <a:gd name="T25" fmla="*/ 130 h 1077"/>
                <a:gd name="T26" fmla="*/ 186 w 1101"/>
                <a:gd name="T27" fmla="*/ 21 h 1077"/>
                <a:gd name="T28" fmla="*/ 222 w 1101"/>
                <a:gd name="T29" fmla="*/ 12 h 1077"/>
                <a:gd name="T30" fmla="*/ 422 w 1101"/>
                <a:gd name="T31" fmla="*/ 30 h 1077"/>
                <a:gd name="T32" fmla="*/ 577 w 1101"/>
                <a:gd name="T33" fmla="*/ 103 h 1077"/>
                <a:gd name="T34" fmla="*/ 695 w 1101"/>
                <a:gd name="T35" fmla="*/ 176 h 1077"/>
                <a:gd name="T36" fmla="*/ 768 w 1101"/>
                <a:gd name="T37" fmla="*/ 203 h 1077"/>
                <a:gd name="T38" fmla="*/ 1041 w 1101"/>
                <a:gd name="T39" fmla="*/ 294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Freeform 34"/>
            <p:cNvSpPr>
              <a:spLocks/>
            </p:cNvSpPr>
            <p:nvPr/>
          </p:nvSpPr>
          <p:spPr bwMode="auto">
            <a:xfrm>
              <a:off x="2291" y="2591"/>
              <a:ext cx="918" cy="965"/>
            </a:xfrm>
            <a:custGeom>
              <a:avLst/>
              <a:gdLst>
                <a:gd name="T0" fmla="*/ 227 w 918"/>
                <a:gd name="T1" fmla="*/ 818 h 965"/>
                <a:gd name="T2" fmla="*/ 191 w 918"/>
                <a:gd name="T3" fmla="*/ 782 h 965"/>
                <a:gd name="T4" fmla="*/ 118 w 918"/>
                <a:gd name="T5" fmla="*/ 737 h 965"/>
                <a:gd name="T6" fmla="*/ 81 w 918"/>
                <a:gd name="T7" fmla="*/ 700 h 965"/>
                <a:gd name="T8" fmla="*/ 45 w 918"/>
                <a:gd name="T9" fmla="*/ 646 h 965"/>
                <a:gd name="T10" fmla="*/ 0 w 918"/>
                <a:gd name="T11" fmla="*/ 464 h 965"/>
                <a:gd name="T12" fmla="*/ 9 w 918"/>
                <a:gd name="T13" fmla="*/ 200 h 965"/>
                <a:gd name="T14" fmla="*/ 81 w 918"/>
                <a:gd name="T15" fmla="*/ 136 h 965"/>
                <a:gd name="T16" fmla="*/ 291 w 918"/>
                <a:gd name="T17" fmla="*/ 0 h 965"/>
                <a:gd name="T18" fmla="*/ 391 w 918"/>
                <a:gd name="T19" fmla="*/ 18 h 965"/>
                <a:gd name="T20" fmla="*/ 491 w 918"/>
                <a:gd name="T21" fmla="*/ 55 h 965"/>
                <a:gd name="T22" fmla="*/ 691 w 918"/>
                <a:gd name="T23" fmla="*/ 164 h 965"/>
                <a:gd name="T24" fmla="*/ 718 w 918"/>
                <a:gd name="T25" fmla="*/ 218 h 965"/>
                <a:gd name="T26" fmla="*/ 745 w 918"/>
                <a:gd name="T27" fmla="*/ 246 h 965"/>
                <a:gd name="T28" fmla="*/ 809 w 918"/>
                <a:gd name="T29" fmla="*/ 346 h 965"/>
                <a:gd name="T30" fmla="*/ 845 w 918"/>
                <a:gd name="T31" fmla="*/ 427 h 965"/>
                <a:gd name="T32" fmla="*/ 863 w 918"/>
                <a:gd name="T33" fmla="*/ 518 h 965"/>
                <a:gd name="T34" fmla="*/ 890 w 918"/>
                <a:gd name="T35" fmla="*/ 609 h 965"/>
                <a:gd name="T36" fmla="*/ 918 w 918"/>
                <a:gd name="T37" fmla="*/ 773 h 965"/>
                <a:gd name="T38" fmla="*/ 827 w 918"/>
                <a:gd name="T39" fmla="*/ 927 h 965"/>
                <a:gd name="T40" fmla="*/ 754 w 918"/>
                <a:gd name="T41" fmla="*/ 946 h 965"/>
                <a:gd name="T42" fmla="*/ 718 w 918"/>
                <a:gd name="T43" fmla="*/ 955 h 965"/>
                <a:gd name="T44" fmla="*/ 354 w 918"/>
                <a:gd name="T45" fmla="*/ 937 h 965"/>
                <a:gd name="T46" fmla="*/ 245 w 918"/>
                <a:gd name="T47" fmla="*/ 864 h 965"/>
                <a:gd name="T48" fmla="*/ 227 w 918"/>
                <a:gd name="T49" fmla="*/ 818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8" name="Freeform 35"/>
            <p:cNvSpPr>
              <a:spLocks/>
            </p:cNvSpPr>
            <p:nvPr/>
          </p:nvSpPr>
          <p:spPr bwMode="auto">
            <a:xfrm>
              <a:off x="1473" y="1882"/>
              <a:ext cx="869" cy="1173"/>
            </a:xfrm>
            <a:custGeom>
              <a:avLst/>
              <a:gdLst>
                <a:gd name="T0" fmla="*/ 754 w 869"/>
                <a:gd name="T1" fmla="*/ 791 h 1173"/>
                <a:gd name="T2" fmla="*/ 699 w 869"/>
                <a:gd name="T3" fmla="*/ 945 h 1173"/>
                <a:gd name="T4" fmla="*/ 654 w 869"/>
                <a:gd name="T5" fmla="*/ 1082 h 1173"/>
                <a:gd name="T6" fmla="*/ 636 w 869"/>
                <a:gd name="T7" fmla="*/ 1136 h 1173"/>
                <a:gd name="T8" fmla="*/ 618 w 869"/>
                <a:gd name="T9" fmla="*/ 1155 h 1173"/>
                <a:gd name="T10" fmla="*/ 563 w 869"/>
                <a:gd name="T11" fmla="*/ 1173 h 1173"/>
                <a:gd name="T12" fmla="*/ 290 w 869"/>
                <a:gd name="T13" fmla="*/ 1145 h 1173"/>
                <a:gd name="T14" fmla="*/ 127 w 869"/>
                <a:gd name="T15" fmla="*/ 1073 h 1173"/>
                <a:gd name="T16" fmla="*/ 36 w 869"/>
                <a:gd name="T17" fmla="*/ 1009 h 1173"/>
                <a:gd name="T18" fmla="*/ 0 w 869"/>
                <a:gd name="T19" fmla="*/ 955 h 1173"/>
                <a:gd name="T20" fmla="*/ 81 w 869"/>
                <a:gd name="T21" fmla="*/ 500 h 1173"/>
                <a:gd name="T22" fmla="*/ 109 w 869"/>
                <a:gd name="T23" fmla="*/ 236 h 1173"/>
                <a:gd name="T24" fmla="*/ 154 w 869"/>
                <a:gd name="T25" fmla="*/ 164 h 1173"/>
                <a:gd name="T26" fmla="*/ 200 w 869"/>
                <a:gd name="T27" fmla="*/ 136 h 1173"/>
                <a:gd name="T28" fmla="*/ 309 w 869"/>
                <a:gd name="T29" fmla="*/ 73 h 1173"/>
                <a:gd name="T30" fmla="*/ 354 w 869"/>
                <a:gd name="T31" fmla="*/ 45 h 1173"/>
                <a:gd name="T32" fmla="*/ 427 w 869"/>
                <a:gd name="T33" fmla="*/ 0 h 1173"/>
                <a:gd name="T34" fmla="*/ 709 w 869"/>
                <a:gd name="T35" fmla="*/ 82 h 1173"/>
                <a:gd name="T36" fmla="*/ 809 w 869"/>
                <a:gd name="T37" fmla="*/ 200 h 1173"/>
                <a:gd name="T38" fmla="*/ 845 w 869"/>
                <a:gd name="T39" fmla="*/ 255 h 1173"/>
                <a:gd name="T40" fmla="*/ 863 w 869"/>
                <a:gd name="T41" fmla="*/ 309 h 1173"/>
                <a:gd name="T42" fmla="*/ 790 w 869"/>
                <a:gd name="T43" fmla="*/ 709 h 1173"/>
                <a:gd name="T44" fmla="*/ 754 w 869"/>
                <a:gd name="T45" fmla="*/ 791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69"/>
                <a:gd name="T70" fmla="*/ 0 h 1173"/>
                <a:gd name="T71" fmla="*/ 869 w 869"/>
                <a:gd name="T72" fmla="*/ 1173 h 117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45" name="AutoShape 36"/>
          <p:cNvSpPr>
            <a:spLocks noChangeArrowheads="1"/>
          </p:cNvSpPr>
          <p:nvPr/>
        </p:nvSpPr>
        <p:spPr bwMode="auto">
          <a:xfrm>
            <a:off x="4292600" y="5840413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35846" name="AutoShape 37"/>
          <p:cNvSpPr>
            <a:spLocks noChangeArrowheads="1"/>
          </p:cNvSpPr>
          <p:nvPr/>
        </p:nvSpPr>
        <p:spPr bwMode="auto">
          <a:xfrm>
            <a:off x="1371600" y="60198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358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B541FF-1A83-499E-B3E2-BBC15BC74EDD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162800" cy="9144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 altLang="en-US"/>
              <a:t>Data Preprocessing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8077200" cy="4953000"/>
          </a:xfrm>
          <a:noFill/>
        </p:spPr>
        <p:txBody>
          <a:bodyPr lIns="92075" tIns="46038" rIns="92075" bIns="46038"/>
          <a:lstStyle/>
          <a:p>
            <a:pPr>
              <a:lnSpc>
                <a:spcPct val="140000"/>
              </a:lnSpc>
            </a:pPr>
            <a:r>
              <a:rPr lang="en-US" altLang="en-US"/>
              <a:t>Why preprocess the data?</a:t>
            </a:r>
          </a:p>
          <a:p>
            <a:pPr>
              <a:lnSpc>
                <a:spcPct val="140000"/>
              </a:lnSpc>
            </a:pPr>
            <a:r>
              <a:rPr lang="en-US" altLang="en-US"/>
              <a:t>Data cleaning </a:t>
            </a:r>
          </a:p>
          <a:p>
            <a:pPr>
              <a:lnSpc>
                <a:spcPct val="140000"/>
              </a:lnSpc>
            </a:pPr>
            <a:r>
              <a:rPr lang="en-US" altLang="en-US">
                <a:solidFill>
                  <a:srgbClr val="C00000"/>
                </a:solidFill>
              </a:rPr>
              <a:t>Data integration </a:t>
            </a:r>
          </a:p>
          <a:p>
            <a:pPr>
              <a:lnSpc>
                <a:spcPct val="140000"/>
              </a:lnSpc>
            </a:pPr>
            <a:r>
              <a:rPr lang="en-US" altLang="en-US"/>
              <a:t>Data reduction</a:t>
            </a:r>
            <a:endParaRPr lang="en-US" altLang="en-US">
              <a:solidFill>
                <a:schemeClr val="hlink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en-US"/>
              <a:t>Data Transformation and Discretization </a:t>
            </a:r>
          </a:p>
          <a:p>
            <a:pPr>
              <a:lnSpc>
                <a:spcPct val="14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10244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5D1324AF-44B7-4C64-A6B6-47D7058791DD}" type="slidenum">
              <a:rPr lang="en-US" altLang="en-US"/>
              <a:pPr algn="r" eaLnBrk="1" hangingPunct="1"/>
              <a:t>13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6172200" cy="9144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 altLang="en-US"/>
              <a:t>Data Integration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8001000" cy="50292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/>
              <a:t>Data integration: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combines data from multiple sources into a coherent store</a:t>
            </a:r>
          </a:p>
          <a:p>
            <a:pPr marL="457200" lvl="1" indent="0">
              <a:lnSpc>
                <a:spcPct val="90000"/>
              </a:lnSpc>
              <a:buFont typeface="Monotype Sorts" pitchFamily="2" charset="2"/>
              <a:buNone/>
              <a:defRPr/>
            </a:pPr>
            <a:endParaRPr lang="en-US" altLang="en-US" sz="2400" dirty="0"/>
          </a:p>
          <a:p>
            <a:pPr marL="514350" indent="-457200">
              <a:lnSpc>
                <a:spcPct val="90000"/>
              </a:lnSpc>
              <a:defRPr/>
            </a:pPr>
            <a:r>
              <a:rPr lang="en-US" altLang="en-US" sz="2800" dirty="0"/>
              <a:t>Entity Identification Problem:</a:t>
            </a:r>
          </a:p>
          <a:p>
            <a:pPr marL="914400" lvl="1" indent="-457200">
              <a:lnSpc>
                <a:spcPct val="90000"/>
              </a:lnSpc>
              <a:defRPr/>
            </a:pPr>
            <a:r>
              <a:rPr lang="en-US" altLang="en-US" sz="2400" dirty="0"/>
              <a:t>How can we match schema and objects from different sources</a:t>
            </a:r>
          </a:p>
          <a:p>
            <a:pPr marL="914400" lvl="1" indent="-457200">
              <a:lnSpc>
                <a:spcPct val="90000"/>
              </a:lnSpc>
              <a:defRPr/>
            </a:pPr>
            <a:r>
              <a:rPr lang="en-US" altLang="en-US" sz="2400" dirty="0"/>
              <a:t>How can equivalent real world entities from multiple data sources be matched up?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11268" name="Slide Number Placeholder 5"/>
          <p:cNvSpPr txBox="1">
            <a:spLocks/>
          </p:cNvSpPr>
          <p:nvPr/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D8631BB4-57FB-4C7B-AEB2-1754AE02141C}" type="slidenum">
              <a:rPr lang="en-US" altLang="en-US"/>
              <a:pPr algn="r" eaLnBrk="1" hangingPunct="1"/>
              <a:t>14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20000" cy="762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3600"/>
              <a:t>Data Integration (Problem 1)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610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3300"/>
                </a:solidFill>
              </a:rPr>
              <a:t>Attribute naming ( in schema integration)</a:t>
            </a:r>
            <a:br>
              <a:rPr lang="en-US" altLang="en-US" b="1"/>
            </a:br>
            <a:r>
              <a:rPr lang="en-US" altLang="en-US" sz="2000"/>
              <a:t>Problem: Entity identification problem: identify real world entities from multiple data sources. Attributes are named differently across different data sources, e.g., A.cust-id </a:t>
            </a:r>
            <a:r>
              <a:rPr lang="en-US" altLang="en-US" sz="2000">
                <a:sym typeface="Symbol" pitchFamily="18" charset="2"/>
              </a:rPr>
              <a:t> B.</a:t>
            </a:r>
            <a:r>
              <a:rPr lang="en-US" altLang="en-US" sz="2000"/>
              <a:t>cust-# (integrate metadata from different sources).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762000" y="3241675"/>
            <a:ext cx="7656513" cy="3006725"/>
            <a:chOff x="480" y="1867"/>
            <a:chExt cx="4752" cy="209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72" y="2155"/>
              <a:ext cx="912" cy="384"/>
              <a:chOff x="912" y="1200"/>
              <a:chExt cx="1236" cy="576"/>
            </a:xfrm>
          </p:grpSpPr>
          <p:sp>
            <p:nvSpPr>
              <p:cNvPr id="12317" name="Rectangle 5"/>
              <p:cNvSpPr>
                <a:spLocks noChangeArrowheads="1"/>
              </p:cNvSpPr>
              <p:nvPr/>
            </p:nvSpPr>
            <p:spPr bwMode="auto">
              <a:xfrm>
                <a:off x="912" y="1200"/>
                <a:ext cx="1236" cy="192"/>
              </a:xfrm>
              <a:prstGeom prst="rect">
                <a:avLst/>
              </a:prstGeom>
              <a:solidFill>
                <a:srgbClr val="FFA64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>
                    <a:latin typeface="Courier New" pitchFamily="49" charset="0"/>
                  </a:rPr>
                  <a:t>CustomerID</a:t>
                </a:r>
              </a:p>
            </p:txBody>
          </p:sp>
          <p:sp>
            <p:nvSpPr>
              <p:cNvPr id="12318" name="Rectangle 6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  <p:sp>
            <p:nvSpPr>
              <p:cNvPr id="12319" name="Rectangle 7"/>
              <p:cNvSpPr>
                <a:spLocks noChangeArrowheads="1"/>
              </p:cNvSpPr>
              <p:nvPr/>
            </p:nvSpPr>
            <p:spPr bwMode="auto">
              <a:xfrm>
                <a:off x="912" y="1584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672" y="2635"/>
              <a:ext cx="912" cy="384"/>
              <a:chOff x="912" y="1200"/>
              <a:chExt cx="1236" cy="576"/>
            </a:xfrm>
          </p:grpSpPr>
          <p:sp>
            <p:nvSpPr>
              <p:cNvPr id="12314" name="Rectangle 9"/>
              <p:cNvSpPr>
                <a:spLocks noChangeArrowheads="1"/>
              </p:cNvSpPr>
              <p:nvPr/>
            </p:nvSpPr>
            <p:spPr bwMode="auto">
              <a:xfrm>
                <a:off x="912" y="1200"/>
                <a:ext cx="1236" cy="192"/>
              </a:xfrm>
              <a:prstGeom prst="rect">
                <a:avLst/>
              </a:prstGeom>
              <a:solidFill>
                <a:srgbClr val="FFA64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>
                    <a:latin typeface="Courier New" pitchFamily="49" charset="0"/>
                  </a:rPr>
                  <a:t>CustID</a:t>
                </a:r>
              </a:p>
            </p:txBody>
          </p:sp>
          <p:sp>
            <p:nvSpPr>
              <p:cNvPr id="12315" name="Rectangle 10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  <p:sp>
            <p:nvSpPr>
              <p:cNvPr id="12316" name="Rectangle 11"/>
              <p:cNvSpPr>
                <a:spLocks noChangeArrowheads="1"/>
              </p:cNvSpPr>
              <p:nvPr/>
            </p:nvSpPr>
            <p:spPr bwMode="auto">
              <a:xfrm>
                <a:off x="912" y="1584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</p:grpSp>
        <p:sp>
          <p:nvSpPr>
            <p:cNvPr id="12296" name="Line 12"/>
            <p:cNvSpPr>
              <a:spLocks noChangeShapeType="1"/>
            </p:cNvSpPr>
            <p:nvPr/>
          </p:nvSpPr>
          <p:spPr bwMode="auto">
            <a:xfrm flipV="1">
              <a:off x="1632" y="2635"/>
              <a:ext cx="96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Line 13"/>
            <p:cNvSpPr>
              <a:spLocks noChangeShapeType="1"/>
            </p:cNvSpPr>
            <p:nvPr/>
          </p:nvSpPr>
          <p:spPr bwMode="auto">
            <a:xfrm>
              <a:off x="1632" y="2299"/>
              <a:ext cx="86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2298" name="Picture 14" descr="HH01596_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44" y="2347"/>
              <a:ext cx="930" cy="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9" name="Line 15"/>
            <p:cNvSpPr>
              <a:spLocks noChangeShapeType="1"/>
            </p:cNvSpPr>
            <p:nvPr/>
          </p:nvSpPr>
          <p:spPr bwMode="auto">
            <a:xfrm flipV="1">
              <a:off x="3216" y="2635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4128" y="2443"/>
              <a:ext cx="912" cy="384"/>
              <a:chOff x="912" y="1200"/>
              <a:chExt cx="1236" cy="576"/>
            </a:xfrm>
          </p:grpSpPr>
          <p:sp>
            <p:nvSpPr>
              <p:cNvPr id="12311" name="Rectangle 17"/>
              <p:cNvSpPr>
                <a:spLocks noChangeArrowheads="1"/>
              </p:cNvSpPr>
              <p:nvPr/>
            </p:nvSpPr>
            <p:spPr bwMode="auto">
              <a:xfrm>
                <a:off x="912" y="1200"/>
                <a:ext cx="1236" cy="192"/>
              </a:xfrm>
              <a:prstGeom prst="rect">
                <a:avLst/>
              </a:prstGeom>
              <a:solidFill>
                <a:srgbClr val="FFA64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>
                    <a:latin typeface="Courier New" pitchFamily="49" charset="0"/>
                  </a:rPr>
                  <a:t>CustomerID</a:t>
                </a:r>
              </a:p>
            </p:txBody>
          </p:sp>
          <p:sp>
            <p:nvSpPr>
              <p:cNvPr id="12312" name="Rectangle 18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  <p:sp>
            <p:nvSpPr>
              <p:cNvPr id="12313" name="Rectangle 19"/>
              <p:cNvSpPr>
                <a:spLocks noChangeArrowheads="1"/>
              </p:cNvSpPr>
              <p:nvPr/>
            </p:nvSpPr>
            <p:spPr bwMode="auto">
              <a:xfrm>
                <a:off x="912" y="1584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</p:grpSp>
        <p:sp>
          <p:nvSpPr>
            <p:cNvPr id="12301" name="Rectangle 20"/>
            <p:cNvSpPr>
              <a:spLocks noChangeArrowheads="1"/>
            </p:cNvSpPr>
            <p:nvPr/>
          </p:nvSpPr>
          <p:spPr bwMode="auto">
            <a:xfrm>
              <a:off x="624" y="1867"/>
              <a:ext cx="1056" cy="18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altLang="en-US"/>
            </a:p>
          </p:txBody>
        </p:sp>
        <p:sp>
          <p:nvSpPr>
            <p:cNvPr id="12302" name="Rectangle 21"/>
            <p:cNvSpPr>
              <a:spLocks noChangeArrowheads="1"/>
            </p:cNvSpPr>
            <p:nvPr/>
          </p:nvSpPr>
          <p:spPr bwMode="auto">
            <a:xfrm>
              <a:off x="3792" y="1915"/>
              <a:ext cx="1440" cy="18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altLang="en-US"/>
            </a:p>
          </p:txBody>
        </p:sp>
        <p:sp>
          <p:nvSpPr>
            <p:cNvPr id="12303" name="Text Box 22"/>
            <p:cNvSpPr txBox="1">
              <a:spLocks noChangeArrowheads="1"/>
            </p:cNvSpPr>
            <p:nvPr/>
          </p:nvSpPr>
          <p:spPr bwMode="auto">
            <a:xfrm>
              <a:off x="480" y="3701"/>
              <a:ext cx="1537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n-US">
                  <a:latin typeface="Courier New" pitchFamily="49" charset="0"/>
                </a:rPr>
                <a:t>Multiple Sources</a:t>
              </a:r>
            </a:p>
          </p:txBody>
        </p:sp>
        <p:sp>
          <p:nvSpPr>
            <p:cNvPr id="12304" name="Text Box 23"/>
            <p:cNvSpPr txBox="1">
              <a:spLocks noChangeArrowheads="1"/>
            </p:cNvSpPr>
            <p:nvPr/>
          </p:nvSpPr>
          <p:spPr bwMode="auto">
            <a:xfrm>
              <a:off x="3816" y="3705"/>
              <a:ext cx="1301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>
                  <a:latin typeface="Courier New" pitchFamily="49" charset="0"/>
                </a:rPr>
                <a:t>Coherent Store</a:t>
              </a:r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672" y="3163"/>
              <a:ext cx="912" cy="384"/>
              <a:chOff x="912" y="1200"/>
              <a:chExt cx="1236" cy="576"/>
            </a:xfrm>
          </p:grpSpPr>
          <p:sp>
            <p:nvSpPr>
              <p:cNvPr id="12308" name="Rectangle 25"/>
              <p:cNvSpPr>
                <a:spLocks noChangeArrowheads="1"/>
              </p:cNvSpPr>
              <p:nvPr/>
            </p:nvSpPr>
            <p:spPr bwMode="auto">
              <a:xfrm>
                <a:off x="912" y="1200"/>
                <a:ext cx="1236" cy="192"/>
              </a:xfrm>
              <a:prstGeom prst="rect">
                <a:avLst/>
              </a:prstGeom>
              <a:solidFill>
                <a:srgbClr val="FFA64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>
                    <a:latin typeface="Courier New" pitchFamily="49" charset="0"/>
                  </a:rPr>
                  <a:t>ClientID</a:t>
                </a:r>
              </a:p>
            </p:txBody>
          </p:sp>
          <p:sp>
            <p:nvSpPr>
              <p:cNvPr id="12309" name="Rectangle 26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  <p:sp>
            <p:nvSpPr>
              <p:cNvPr id="12310" name="Rectangle 27"/>
              <p:cNvSpPr>
                <a:spLocks noChangeArrowheads="1"/>
              </p:cNvSpPr>
              <p:nvPr/>
            </p:nvSpPr>
            <p:spPr bwMode="auto">
              <a:xfrm>
                <a:off x="912" y="1584"/>
                <a:ext cx="1236" cy="19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altLang="en-US" b="0">
                    <a:latin typeface="Courier New" pitchFamily="49" charset="0"/>
                  </a:rPr>
                  <a:t>…</a:t>
                </a:r>
              </a:p>
            </p:txBody>
          </p:sp>
        </p:grpSp>
        <p:sp>
          <p:nvSpPr>
            <p:cNvPr id="12306" name="Line 28"/>
            <p:cNvSpPr>
              <a:spLocks noChangeShapeType="1"/>
            </p:cNvSpPr>
            <p:nvPr/>
          </p:nvSpPr>
          <p:spPr bwMode="auto">
            <a:xfrm flipV="1">
              <a:off x="1632" y="2731"/>
              <a:ext cx="96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Text Box 29"/>
            <p:cNvSpPr txBox="1">
              <a:spLocks noChangeArrowheads="1"/>
            </p:cNvSpPr>
            <p:nvPr/>
          </p:nvSpPr>
          <p:spPr bwMode="auto">
            <a:xfrm>
              <a:off x="2304" y="2827"/>
              <a:ext cx="120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/>
              <a:r>
                <a:rPr lang="en-US" altLang="en-US" sz="1400">
                  <a:latin typeface="Courier New" pitchFamily="49" charset="0"/>
                </a:rPr>
                <a:t>Extraction, Transformation, and Loading (ETL) tool.</a:t>
              </a:r>
            </a:p>
          </p:txBody>
        </p:sp>
      </p:grpSp>
      <p:sp>
        <p:nvSpPr>
          <p:cNvPr id="12293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A6BD209F-430C-4A44-84A7-DFB9F245009E}" type="slidenum">
              <a:rPr lang="en-US" altLang="en-US"/>
              <a:pPr algn="r"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4"/>
          <p:cNvSpPr txBox="1">
            <a:spLocks noChangeArrowheads="1"/>
          </p:cNvSpPr>
          <p:nvPr/>
        </p:nvSpPr>
        <p:spPr bwMode="auto">
          <a:xfrm>
            <a:off x="304800" y="989013"/>
            <a:ext cx="8229600" cy="136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0188" indent="-230188" eaLnBrk="1" hangingPunct="1">
              <a:lnSpc>
                <a:spcPct val="110000"/>
              </a:lnSpc>
              <a:buFontTx/>
              <a:buChar char="•"/>
            </a:pPr>
            <a:r>
              <a:rPr lang="en-US" altLang="en-US" sz="2800" b="0">
                <a:solidFill>
                  <a:srgbClr val="FF3300"/>
                </a:solidFill>
                <a:latin typeface="Tahoma" pitchFamily="34" charset="0"/>
              </a:rPr>
              <a:t>Data Encoding</a:t>
            </a:r>
            <a:br>
              <a:rPr lang="en-US" altLang="en-US" sz="2800" b="0">
                <a:solidFill>
                  <a:srgbClr val="FF3300"/>
                </a:solidFill>
                <a:latin typeface="Tahoma" pitchFamily="34" charset="0"/>
              </a:rPr>
            </a:br>
            <a:r>
              <a:rPr lang="en-US" altLang="en-US" sz="2400" b="0">
                <a:latin typeface="Tahoma" pitchFamily="34" charset="0"/>
              </a:rPr>
              <a:t>Problem: Same attribute has same values denoted in different ways</a:t>
            </a:r>
            <a:endParaRPr lang="en-US" altLang="en-US" sz="2400">
              <a:latin typeface="Tahoma" pitchFamily="34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169988" y="2979738"/>
            <a:ext cx="1447800" cy="609600"/>
            <a:chOff x="912" y="1200"/>
            <a:chExt cx="1236" cy="576"/>
          </a:xfrm>
        </p:grpSpPr>
        <p:sp>
          <p:nvSpPr>
            <p:cNvPr id="14359" name="Rectangle 17"/>
            <p:cNvSpPr>
              <a:spLocks noChangeArrowheads="1"/>
            </p:cNvSpPr>
            <p:nvPr/>
          </p:nvSpPr>
          <p:spPr bwMode="auto">
            <a:xfrm>
              <a:off x="912" y="1200"/>
              <a:ext cx="1236" cy="192"/>
            </a:xfrm>
            <a:prstGeom prst="rect">
              <a:avLst/>
            </a:prstGeom>
            <a:solidFill>
              <a:srgbClr val="FFA64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>
                  <a:latin typeface="Courier New" pitchFamily="49" charset="0"/>
                </a:rPr>
                <a:t>Gender</a:t>
              </a:r>
            </a:p>
          </p:txBody>
        </p:sp>
        <p:sp>
          <p:nvSpPr>
            <p:cNvPr id="14360" name="Rectangle 18"/>
            <p:cNvSpPr>
              <a:spLocks noChangeArrowheads="1"/>
            </p:cNvSpPr>
            <p:nvPr/>
          </p:nvSpPr>
          <p:spPr bwMode="auto">
            <a:xfrm>
              <a:off x="912" y="1392"/>
              <a:ext cx="123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Male</a:t>
              </a:r>
            </a:p>
          </p:txBody>
        </p:sp>
        <p:sp>
          <p:nvSpPr>
            <p:cNvPr id="14361" name="Rectangle 19"/>
            <p:cNvSpPr>
              <a:spLocks noChangeArrowheads="1"/>
            </p:cNvSpPr>
            <p:nvPr/>
          </p:nvSpPr>
          <p:spPr bwMode="auto">
            <a:xfrm>
              <a:off x="912" y="1584"/>
              <a:ext cx="123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Female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1169988" y="3741738"/>
            <a:ext cx="1447800" cy="609600"/>
            <a:chOff x="912" y="1200"/>
            <a:chExt cx="1236" cy="576"/>
          </a:xfrm>
        </p:grpSpPr>
        <p:sp>
          <p:nvSpPr>
            <p:cNvPr id="14356" name="Rectangle 21"/>
            <p:cNvSpPr>
              <a:spLocks noChangeArrowheads="1"/>
            </p:cNvSpPr>
            <p:nvPr/>
          </p:nvSpPr>
          <p:spPr bwMode="auto">
            <a:xfrm>
              <a:off x="912" y="1200"/>
              <a:ext cx="1236" cy="192"/>
            </a:xfrm>
            <a:prstGeom prst="rect">
              <a:avLst/>
            </a:prstGeom>
            <a:solidFill>
              <a:srgbClr val="FFA64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>
                  <a:latin typeface="Courier New" pitchFamily="49" charset="0"/>
                </a:rPr>
                <a:t>Gender</a:t>
              </a:r>
            </a:p>
          </p:txBody>
        </p:sp>
        <p:sp>
          <p:nvSpPr>
            <p:cNvPr id="14357" name="Rectangle 22"/>
            <p:cNvSpPr>
              <a:spLocks noChangeArrowheads="1"/>
            </p:cNvSpPr>
            <p:nvPr/>
          </p:nvSpPr>
          <p:spPr bwMode="auto">
            <a:xfrm>
              <a:off x="912" y="1392"/>
              <a:ext cx="123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M</a:t>
              </a:r>
            </a:p>
          </p:txBody>
        </p:sp>
        <p:sp>
          <p:nvSpPr>
            <p:cNvPr id="14358" name="Rectangle 23"/>
            <p:cNvSpPr>
              <a:spLocks noChangeArrowheads="1"/>
            </p:cNvSpPr>
            <p:nvPr/>
          </p:nvSpPr>
          <p:spPr bwMode="auto">
            <a:xfrm>
              <a:off x="912" y="1584"/>
              <a:ext cx="123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F</a:t>
              </a:r>
            </a:p>
          </p:txBody>
        </p:sp>
      </p:grpSp>
      <p:sp>
        <p:nvSpPr>
          <p:cNvPr id="14341" name="Line 24"/>
          <p:cNvSpPr>
            <a:spLocks noChangeShapeType="1"/>
          </p:cNvSpPr>
          <p:nvPr/>
        </p:nvSpPr>
        <p:spPr bwMode="auto">
          <a:xfrm flipV="1">
            <a:off x="2693988" y="3741738"/>
            <a:ext cx="1524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Line 25"/>
          <p:cNvSpPr>
            <a:spLocks noChangeShapeType="1"/>
          </p:cNvSpPr>
          <p:nvPr/>
        </p:nvSpPr>
        <p:spPr bwMode="auto">
          <a:xfrm>
            <a:off x="2693988" y="3208338"/>
            <a:ext cx="1371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4343" name="Picture 26" descr="HH01596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1788" y="3284538"/>
            <a:ext cx="1476375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Line 27"/>
          <p:cNvSpPr>
            <a:spLocks noChangeShapeType="1"/>
          </p:cNvSpPr>
          <p:nvPr/>
        </p:nvSpPr>
        <p:spPr bwMode="auto">
          <a:xfrm flipV="1">
            <a:off x="5208588" y="3741738"/>
            <a:ext cx="129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6656388" y="3436938"/>
            <a:ext cx="1447800" cy="609600"/>
            <a:chOff x="912" y="1200"/>
            <a:chExt cx="1236" cy="576"/>
          </a:xfrm>
        </p:grpSpPr>
        <p:sp>
          <p:nvSpPr>
            <p:cNvPr id="14353" name="Rectangle 29"/>
            <p:cNvSpPr>
              <a:spLocks noChangeArrowheads="1"/>
            </p:cNvSpPr>
            <p:nvPr/>
          </p:nvSpPr>
          <p:spPr bwMode="auto">
            <a:xfrm>
              <a:off x="912" y="1200"/>
              <a:ext cx="1236" cy="192"/>
            </a:xfrm>
            <a:prstGeom prst="rect">
              <a:avLst/>
            </a:prstGeom>
            <a:solidFill>
              <a:srgbClr val="FFA64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>
                  <a:latin typeface="Courier New" pitchFamily="49" charset="0"/>
                </a:rPr>
                <a:t>Gender</a:t>
              </a:r>
            </a:p>
          </p:txBody>
        </p:sp>
        <p:sp>
          <p:nvSpPr>
            <p:cNvPr id="14354" name="Rectangle 30"/>
            <p:cNvSpPr>
              <a:spLocks noChangeArrowheads="1"/>
            </p:cNvSpPr>
            <p:nvPr/>
          </p:nvSpPr>
          <p:spPr bwMode="auto">
            <a:xfrm>
              <a:off x="912" y="1392"/>
              <a:ext cx="123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Male</a:t>
              </a:r>
            </a:p>
          </p:txBody>
        </p:sp>
        <p:sp>
          <p:nvSpPr>
            <p:cNvPr id="14355" name="Rectangle 31"/>
            <p:cNvSpPr>
              <a:spLocks noChangeArrowheads="1"/>
            </p:cNvSpPr>
            <p:nvPr/>
          </p:nvSpPr>
          <p:spPr bwMode="auto">
            <a:xfrm>
              <a:off x="912" y="1584"/>
              <a:ext cx="123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Female</a:t>
              </a:r>
            </a:p>
          </p:txBody>
        </p:sp>
      </p:grpSp>
      <p:sp>
        <p:nvSpPr>
          <p:cNvPr id="14346" name="Rectangle 32"/>
          <p:cNvSpPr>
            <a:spLocks noChangeArrowheads="1"/>
          </p:cNvSpPr>
          <p:nvPr/>
        </p:nvSpPr>
        <p:spPr bwMode="auto">
          <a:xfrm>
            <a:off x="1093788" y="2743200"/>
            <a:ext cx="1600200" cy="198913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altLang="en-US"/>
          </a:p>
        </p:txBody>
      </p:sp>
      <p:sp>
        <p:nvSpPr>
          <p:cNvPr id="14347" name="Rectangle 33"/>
          <p:cNvSpPr>
            <a:spLocks noChangeArrowheads="1"/>
          </p:cNvSpPr>
          <p:nvPr/>
        </p:nvSpPr>
        <p:spPr bwMode="auto">
          <a:xfrm>
            <a:off x="6122988" y="2819400"/>
            <a:ext cx="2182812" cy="193833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altLang="en-US"/>
          </a:p>
        </p:txBody>
      </p:sp>
      <p:sp>
        <p:nvSpPr>
          <p:cNvPr id="14348" name="Text Box 34"/>
          <p:cNvSpPr txBox="1">
            <a:spLocks noChangeArrowheads="1"/>
          </p:cNvSpPr>
          <p:nvPr/>
        </p:nvSpPr>
        <p:spPr bwMode="auto">
          <a:xfrm>
            <a:off x="865188" y="4806950"/>
            <a:ext cx="236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latin typeface="Courier New" pitchFamily="49" charset="0"/>
              </a:rPr>
              <a:t>Multiple Sources</a:t>
            </a:r>
          </a:p>
        </p:txBody>
      </p:sp>
      <p:sp>
        <p:nvSpPr>
          <p:cNvPr id="14349" name="Text Box 35"/>
          <p:cNvSpPr txBox="1">
            <a:spLocks noChangeArrowheads="1"/>
          </p:cNvSpPr>
          <p:nvPr/>
        </p:nvSpPr>
        <p:spPr bwMode="auto">
          <a:xfrm>
            <a:off x="6161088" y="4814888"/>
            <a:ext cx="2095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latin typeface="Courier New" pitchFamily="49" charset="0"/>
              </a:rPr>
              <a:t>Coherent Store</a:t>
            </a:r>
          </a:p>
        </p:txBody>
      </p:sp>
      <p:sp>
        <p:nvSpPr>
          <p:cNvPr id="14350" name="Rectangle 36"/>
          <p:cNvSpPr>
            <a:spLocks noChangeArrowheads="1"/>
          </p:cNvSpPr>
          <p:nvPr/>
        </p:nvSpPr>
        <p:spPr bwMode="auto">
          <a:xfrm>
            <a:off x="457200" y="5408613"/>
            <a:ext cx="80772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000" b="0">
                <a:latin typeface="Tahoma" pitchFamily="34" charset="0"/>
              </a:rPr>
              <a:t>Similarly, Islamabad might be denoted as ‘isb’, ‘ISB’ or ‘ISBD’, may be misspelled, or be inconsistently capitalized (some programs are CASE-SENSITIVE) 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609600" y="228600"/>
            <a:ext cx="7620000" cy="7620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36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Integration (Problem 2)</a:t>
            </a:r>
          </a:p>
        </p:txBody>
      </p:sp>
      <p:sp>
        <p:nvSpPr>
          <p:cNvPr id="14352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69D48A81-2790-4760-9966-385594582462}" type="slidenum">
              <a:rPr lang="en-US" altLang="en-US"/>
              <a:pPr algn="r"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4"/>
          <p:cNvSpPr txBox="1">
            <a:spLocks noChangeArrowheads="1"/>
          </p:cNvSpPr>
          <p:nvPr/>
        </p:nvSpPr>
        <p:spPr bwMode="auto">
          <a:xfrm>
            <a:off x="914400" y="1066800"/>
            <a:ext cx="82296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0188" indent="-230188" eaLnBrk="1" hangingPunct="1">
              <a:lnSpc>
                <a:spcPct val="110000"/>
              </a:lnSpc>
              <a:buFontTx/>
              <a:buChar char="•"/>
            </a:pPr>
            <a:endParaRPr lang="en-US" altLang="en-US" sz="2400"/>
          </a:p>
        </p:txBody>
      </p:sp>
      <p:sp>
        <p:nvSpPr>
          <p:cNvPr id="13316" name="Text Box 15"/>
          <p:cNvSpPr txBox="1">
            <a:spLocks noChangeArrowheads="1"/>
          </p:cNvSpPr>
          <p:nvPr/>
        </p:nvSpPr>
        <p:spPr bwMode="auto">
          <a:xfrm>
            <a:off x="228600" y="1093788"/>
            <a:ext cx="86106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b="0" dirty="0">
                <a:solidFill>
                  <a:srgbClr val="FF3300"/>
                </a:solidFill>
                <a:latin typeface="Tahoma" pitchFamily="34" charset="0"/>
              </a:rPr>
              <a:t>Measurement Basis (data value conflicts)</a:t>
            </a:r>
            <a:br>
              <a:rPr lang="en-US" sz="2800" b="0" dirty="0">
                <a:solidFill>
                  <a:srgbClr val="FF3300"/>
                </a:solidFill>
                <a:latin typeface="Tahoma" pitchFamily="34" charset="0"/>
              </a:rPr>
            </a:br>
            <a:r>
              <a:rPr lang="en-US" sz="2400" b="0" dirty="0">
                <a:latin typeface="Tahoma" pitchFamily="34" charset="0"/>
              </a:rPr>
              <a:t>Problem: F</a:t>
            </a:r>
            <a:r>
              <a:rPr lang="en-US" sz="2400" b="0" dirty="0"/>
              <a:t>or the same real world entity, attribute values from different sources are different</a:t>
            </a:r>
          </a:p>
          <a:p>
            <a:pPr marL="0" lvl="1" eaLnBrk="1" hangingPunct="1">
              <a:lnSpc>
                <a:spcPct val="90000"/>
              </a:lnSpc>
              <a:defRPr/>
            </a:pPr>
            <a:r>
              <a:rPr lang="en-US" sz="2400" b="0" dirty="0"/>
              <a:t>possible reasons: different representations, different scales, e.g., metric vs. British units, kg </a:t>
            </a:r>
            <a:r>
              <a:rPr lang="en-US" sz="2400" b="0" dirty="0" err="1"/>
              <a:t>vs</a:t>
            </a:r>
            <a:r>
              <a:rPr lang="en-US" sz="2400" b="0" dirty="0"/>
              <a:t> lb</a:t>
            </a:r>
          </a:p>
          <a:p>
            <a:pPr marL="230188" indent="-230188" eaLnBrk="1" hangingPunct="1">
              <a:lnSpc>
                <a:spcPct val="110000"/>
              </a:lnSpc>
              <a:buFontTx/>
              <a:buChar char="•"/>
              <a:defRPr/>
            </a:pPr>
            <a:endParaRPr lang="en-US" sz="2400" dirty="0">
              <a:latin typeface="Tahoma" pitchFamily="34" charset="0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066800" y="3359150"/>
            <a:ext cx="1524000" cy="762000"/>
            <a:chOff x="912" y="2352"/>
            <a:chExt cx="1632" cy="528"/>
          </a:xfrm>
        </p:grpSpPr>
        <p:sp>
          <p:nvSpPr>
            <p:cNvPr id="16407" name="Rectangle 18"/>
            <p:cNvSpPr>
              <a:spLocks noChangeArrowheads="1"/>
            </p:cNvSpPr>
            <p:nvPr/>
          </p:nvSpPr>
          <p:spPr bwMode="auto">
            <a:xfrm>
              <a:off x="912" y="2352"/>
              <a:ext cx="1632" cy="290"/>
            </a:xfrm>
            <a:prstGeom prst="rect">
              <a:avLst/>
            </a:prstGeom>
            <a:solidFill>
              <a:srgbClr val="FFA64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70000"/>
                </a:lnSpc>
              </a:pPr>
              <a:r>
                <a:rPr lang="en-US" altLang="en-US">
                  <a:latin typeface="Courier New" pitchFamily="49" charset="0"/>
                </a:rPr>
                <a:t>Weight </a:t>
              </a:r>
              <a:br>
                <a:rPr lang="en-US" altLang="en-US">
                  <a:latin typeface="Courier New" pitchFamily="49" charset="0"/>
                </a:rPr>
              </a:br>
              <a:r>
                <a:rPr lang="en-US" altLang="en-US">
                  <a:latin typeface="Courier New" pitchFamily="49" charset="0"/>
                </a:rPr>
                <a:t>(kilograms)</a:t>
              </a:r>
            </a:p>
          </p:txBody>
        </p:sp>
        <p:sp>
          <p:nvSpPr>
            <p:cNvPr id="16408" name="Rectangle 19"/>
            <p:cNvSpPr>
              <a:spLocks noChangeArrowheads="1"/>
            </p:cNvSpPr>
            <p:nvPr/>
          </p:nvSpPr>
          <p:spPr bwMode="auto">
            <a:xfrm>
              <a:off x="912" y="2642"/>
              <a:ext cx="1632" cy="11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16409" name="Rectangle 20"/>
            <p:cNvSpPr>
              <a:spLocks noChangeArrowheads="1"/>
            </p:cNvSpPr>
            <p:nvPr/>
          </p:nvSpPr>
          <p:spPr bwMode="auto">
            <a:xfrm>
              <a:off x="912" y="2761"/>
              <a:ext cx="1632" cy="11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b="0">
                  <a:latin typeface="Courier New" pitchFamily="49" charset="0"/>
                </a:rPr>
                <a:t>10 </a:t>
              </a:r>
            </a:p>
          </p:txBody>
        </p:sp>
      </p:grpSp>
      <p:sp>
        <p:nvSpPr>
          <p:cNvPr id="16389" name="Line 21"/>
          <p:cNvSpPr>
            <a:spLocks noChangeShapeType="1"/>
          </p:cNvSpPr>
          <p:nvPr/>
        </p:nvSpPr>
        <p:spPr bwMode="auto">
          <a:xfrm flipV="1">
            <a:off x="2590800" y="4392613"/>
            <a:ext cx="1524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0" name="Line 22"/>
          <p:cNvSpPr>
            <a:spLocks noChangeShapeType="1"/>
          </p:cNvSpPr>
          <p:nvPr/>
        </p:nvSpPr>
        <p:spPr bwMode="auto">
          <a:xfrm>
            <a:off x="2590800" y="3859213"/>
            <a:ext cx="1371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6391" name="Picture 23" descr="HH01596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8600" y="3935413"/>
            <a:ext cx="1476375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2" name="Line 24"/>
          <p:cNvSpPr>
            <a:spLocks noChangeShapeType="1"/>
          </p:cNvSpPr>
          <p:nvPr/>
        </p:nvSpPr>
        <p:spPr bwMode="auto">
          <a:xfrm flipV="1">
            <a:off x="5105400" y="4392613"/>
            <a:ext cx="129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3" name="Rectangle 25"/>
          <p:cNvSpPr>
            <a:spLocks noChangeArrowheads="1"/>
          </p:cNvSpPr>
          <p:nvPr/>
        </p:nvSpPr>
        <p:spPr bwMode="auto">
          <a:xfrm>
            <a:off x="990600" y="3173413"/>
            <a:ext cx="1676400" cy="22431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altLang="en-US"/>
          </a:p>
        </p:txBody>
      </p:sp>
      <p:sp>
        <p:nvSpPr>
          <p:cNvPr id="16394" name="Rectangle 26"/>
          <p:cNvSpPr>
            <a:spLocks noChangeArrowheads="1"/>
          </p:cNvSpPr>
          <p:nvPr/>
        </p:nvSpPr>
        <p:spPr bwMode="auto">
          <a:xfrm>
            <a:off x="6019800" y="3249613"/>
            <a:ext cx="2286000" cy="20907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altLang="en-US"/>
          </a:p>
        </p:txBody>
      </p:sp>
      <p:sp>
        <p:nvSpPr>
          <p:cNvPr id="16395" name="Text Box 27"/>
          <p:cNvSpPr txBox="1">
            <a:spLocks noChangeArrowheads="1"/>
          </p:cNvSpPr>
          <p:nvPr/>
        </p:nvSpPr>
        <p:spPr bwMode="auto">
          <a:xfrm>
            <a:off x="762000" y="5416550"/>
            <a:ext cx="236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latin typeface="Courier New" pitchFamily="49" charset="0"/>
              </a:rPr>
              <a:t>Multiple Sources</a:t>
            </a:r>
          </a:p>
        </p:txBody>
      </p:sp>
      <p:sp>
        <p:nvSpPr>
          <p:cNvPr id="16396" name="Text Box 28"/>
          <p:cNvSpPr txBox="1">
            <a:spLocks noChangeArrowheads="1"/>
          </p:cNvSpPr>
          <p:nvPr/>
        </p:nvSpPr>
        <p:spPr bwMode="auto">
          <a:xfrm>
            <a:off x="6057900" y="5424488"/>
            <a:ext cx="2095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latin typeface="Courier New" pitchFamily="49" charset="0"/>
              </a:rPr>
              <a:t>Coherent Store</a:t>
            </a:r>
          </a:p>
        </p:txBody>
      </p:sp>
      <p:sp>
        <p:nvSpPr>
          <p:cNvPr id="16397" name="Rectangle 29"/>
          <p:cNvSpPr>
            <a:spLocks noChangeArrowheads="1"/>
          </p:cNvSpPr>
          <p:nvPr/>
        </p:nvSpPr>
        <p:spPr bwMode="auto">
          <a:xfrm>
            <a:off x="1066800" y="4349750"/>
            <a:ext cx="1524000" cy="460375"/>
          </a:xfrm>
          <a:prstGeom prst="rect">
            <a:avLst/>
          </a:prstGeom>
          <a:solidFill>
            <a:srgbClr val="FFA64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70000"/>
              </a:lnSpc>
            </a:pPr>
            <a:r>
              <a:rPr lang="en-US" altLang="en-US">
                <a:latin typeface="Courier New" pitchFamily="49" charset="0"/>
              </a:rPr>
              <a:t>Weight</a:t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>
                <a:latin typeface="Courier New" pitchFamily="49" charset="0"/>
              </a:rPr>
              <a:t>(pounds)</a:t>
            </a:r>
          </a:p>
        </p:txBody>
      </p:sp>
      <p:sp>
        <p:nvSpPr>
          <p:cNvPr id="16398" name="Rectangle 30"/>
          <p:cNvSpPr>
            <a:spLocks noChangeArrowheads="1"/>
          </p:cNvSpPr>
          <p:nvPr/>
        </p:nvSpPr>
        <p:spPr bwMode="auto">
          <a:xfrm>
            <a:off x="1066800" y="4810125"/>
            <a:ext cx="1524000" cy="188913"/>
          </a:xfrm>
          <a:prstGeom prst="rect">
            <a:avLst/>
          </a:prstGeom>
          <a:solidFill>
            <a:srgbClr val="FFCC99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b="0">
                <a:latin typeface="Courier New" pitchFamily="49" charset="0"/>
              </a:rPr>
              <a:t>6</a:t>
            </a:r>
          </a:p>
        </p:txBody>
      </p:sp>
      <p:sp>
        <p:nvSpPr>
          <p:cNvPr id="16399" name="Rectangle 31"/>
          <p:cNvSpPr>
            <a:spLocks noChangeArrowheads="1"/>
          </p:cNvSpPr>
          <p:nvPr/>
        </p:nvSpPr>
        <p:spPr bwMode="auto">
          <a:xfrm>
            <a:off x="1066800" y="4999038"/>
            <a:ext cx="1524000" cy="188912"/>
          </a:xfrm>
          <a:prstGeom prst="rect">
            <a:avLst/>
          </a:prstGeom>
          <a:solidFill>
            <a:srgbClr val="FFCC99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b="0">
                <a:latin typeface="Courier New" pitchFamily="49" charset="0"/>
              </a:rPr>
              <a:t>10</a:t>
            </a:r>
          </a:p>
        </p:txBody>
      </p:sp>
      <p:sp>
        <p:nvSpPr>
          <p:cNvPr id="16400" name="Rectangle 32"/>
          <p:cNvSpPr>
            <a:spLocks noChangeArrowheads="1"/>
          </p:cNvSpPr>
          <p:nvPr/>
        </p:nvSpPr>
        <p:spPr bwMode="auto">
          <a:xfrm>
            <a:off x="6477000" y="3816350"/>
            <a:ext cx="1524000" cy="419100"/>
          </a:xfrm>
          <a:prstGeom prst="rect">
            <a:avLst/>
          </a:prstGeom>
          <a:solidFill>
            <a:srgbClr val="FFA64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70000"/>
              </a:lnSpc>
            </a:pPr>
            <a:r>
              <a:rPr lang="en-US" altLang="en-US">
                <a:latin typeface="Courier New" pitchFamily="49" charset="0"/>
              </a:rPr>
              <a:t>Weight </a:t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>
                <a:latin typeface="Courier New" pitchFamily="49" charset="0"/>
              </a:rPr>
              <a:t>(kilograms)</a:t>
            </a:r>
          </a:p>
        </p:txBody>
      </p:sp>
      <p:sp>
        <p:nvSpPr>
          <p:cNvPr id="16401" name="Rectangle 33"/>
          <p:cNvSpPr>
            <a:spLocks noChangeArrowheads="1"/>
          </p:cNvSpPr>
          <p:nvPr/>
        </p:nvSpPr>
        <p:spPr bwMode="auto">
          <a:xfrm>
            <a:off x="6477000" y="4235450"/>
            <a:ext cx="1524000" cy="1714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b="0">
                <a:latin typeface="Courier New" pitchFamily="49" charset="0"/>
              </a:rPr>
              <a:t>6</a:t>
            </a:r>
          </a:p>
        </p:txBody>
      </p:sp>
      <p:sp>
        <p:nvSpPr>
          <p:cNvPr id="16402" name="Rectangle 34"/>
          <p:cNvSpPr>
            <a:spLocks noChangeArrowheads="1"/>
          </p:cNvSpPr>
          <p:nvPr/>
        </p:nvSpPr>
        <p:spPr bwMode="auto">
          <a:xfrm>
            <a:off x="6477000" y="4406900"/>
            <a:ext cx="1524000" cy="1714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b="0">
                <a:latin typeface="Courier New" pitchFamily="49" charset="0"/>
              </a:rPr>
              <a:t>10 </a:t>
            </a:r>
          </a:p>
        </p:txBody>
      </p:sp>
      <p:sp>
        <p:nvSpPr>
          <p:cNvPr id="16403" name="Rectangle 35"/>
          <p:cNvSpPr>
            <a:spLocks noChangeArrowheads="1"/>
          </p:cNvSpPr>
          <p:nvPr/>
        </p:nvSpPr>
        <p:spPr bwMode="auto">
          <a:xfrm>
            <a:off x="6477000" y="4578350"/>
            <a:ext cx="1524000" cy="171450"/>
          </a:xfrm>
          <a:prstGeom prst="rect">
            <a:avLst/>
          </a:prstGeom>
          <a:solidFill>
            <a:srgbClr val="FFCC99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b="0">
                <a:latin typeface="Courier New" pitchFamily="49" charset="0"/>
              </a:rPr>
              <a:t>2.72</a:t>
            </a:r>
          </a:p>
        </p:txBody>
      </p:sp>
      <p:sp>
        <p:nvSpPr>
          <p:cNvPr id="16404" name="Rectangle 36"/>
          <p:cNvSpPr>
            <a:spLocks noChangeArrowheads="1"/>
          </p:cNvSpPr>
          <p:nvPr/>
        </p:nvSpPr>
        <p:spPr bwMode="auto">
          <a:xfrm>
            <a:off x="6477000" y="4730750"/>
            <a:ext cx="1524000" cy="171450"/>
          </a:xfrm>
          <a:prstGeom prst="rect">
            <a:avLst/>
          </a:prstGeom>
          <a:solidFill>
            <a:srgbClr val="FFCC99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b="0">
                <a:latin typeface="Courier New" pitchFamily="49" charset="0"/>
              </a:rPr>
              <a:t>4.54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609600" y="228600"/>
            <a:ext cx="7620000" cy="7620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36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Integration (Problem 3)</a:t>
            </a:r>
          </a:p>
        </p:txBody>
      </p:sp>
      <p:sp>
        <p:nvSpPr>
          <p:cNvPr id="16406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DDB22E92-5A8B-4B28-A2EE-9A8AC0D4C0C5}" type="slidenum">
              <a:rPr lang="en-US" altLang="en-US"/>
              <a:pPr algn="r"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858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3200"/>
              <a:t>Handling Redundant Data in Data Integration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610600" cy="53340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2800" dirty="0"/>
              <a:t>Redundant data occur often when integrating multiple databases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2400" dirty="0"/>
              <a:t>The same attribute may have different names in different databases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2400" dirty="0"/>
              <a:t>One attribute may be a “derived” attribute in another table, e.g., annual revenue</a:t>
            </a:r>
          </a:p>
          <a:p>
            <a:pPr marL="457200" indent="-457200">
              <a:lnSpc>
                <a:spcPct val="110000"/>
              </a:lnSpc>
              <a:defRPr/>
            </a:pPr>
            <a:r>
              <a:rPr lang="en-US" sz="2800" dirty="0"/>
              <a:t>Careful integration of the data from multiple sources may help reduce/avoid redundancies and inconsistencies and improve mining speed and quality</a:t>
            </a:r>
          </a:p>
          <a:p>
            <a:pPr marL="457200" indent="-457200">
              <a:lnSpc>
                <a:spcPct val="110000"/>
              </a:lnSpc>
              <a:defRPr/>
            </a:pPr>
            <a:r>
              <a:rPr lang="en-US" sz="2800" dirty="0"/>
              <a:t>Redundancy can be checked using correlation Analysis.</a:t>
            </a:r>
          </a:p>
        </p:txBody>
      </p:sp>
      <p:sp>
        <p:nvSpPr>
          <p:cNvPr id="18436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A82A641B-A76A-429D-B208-622C65E30AD4}" type="slidenum">
              <a:rPr lang="en-US" altLang="en-US"/>
              <a:pPr algn="r" eaLnBrk="1" hangingPunct="1"/>
              <a:t>18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858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3200"/>
              <a:t>Correlation Analysis for Detecting Redundancy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066800"/>
            <a:ext cx="8610600" cy="54102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sz="2000" dirty="0"/>
              <a:t>For numeric attributes we can use correlation and covariance</a:t>
            </a:r>
          </a:p>
          <a:p>
            <a:pPr marL="457200" indent="-457200">
              <a:lnSpc>
                <a:spcPct val="80000"/>
              </a:lnSpc>
              <a:defRPr/>
            </a:pPr>
            <a:r>
              <a:rPr lang="en-US" sz="2000" dirty="0"/>
              <a:t>Correlation between two attributes can be checked by:-</a:t>
            </a:r>
          </a:p>
          <a:p>
            <a:pPr marL="457200" indent="-457200">
              <a:lnSpc>
                <a:spcPct val="80000"/>
              </a:lnSpc>
              <a:defRPr/>
            </a:pPr>
            <a:endParaRPr lang="en-US" sz="2000" dirty="0"/>
          </a:p>
          <a:p>
            <a:pPr marL="457200" indent="-457200">
              <a:lnSpc>
                <a:spcPct val="80000"/>
              </a:lnSpc>
              <a:defRPr/>
            </a:pPr>
            <a:endParaRPr lang="en-US" sz="1000" dirty="0"/>
          </a:p>
          <a:p>
            <a:pPr marL="457200" indent="-457200">
              <a:lnSpc>
                <a:spcPct val="80000"/>
              </a:lnSpc>
              <a:defRPr/>
            </a:pPr>
            <a:endParaRPr lang="en-US" sz="2000" dirty="0"/>
          </a:p>
          <a:p>
            <a:pPr marL="457200" indent="-4572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endParaRPr lang="en-US" sz="2000" dirty="0"/>
          </a:p>
          <a:p>
            <a:pPr marL="457200" indent="-280988"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en-US" sz="2000" dirty="0"/>
              <a:t>Resulting value &gt; 0, then A and B are positively correlated. If A increase B will also increase. If value of </a:t>
            </a:r>
            <a:r>
              <a:rPr lang="en-US" sz="2000" i="1" dirty="0"/>
              <a:t>r</a:t>
            </a:r>
            <a:r>
              <a:rPr lang="en-US" sz="2000" dirty="0"/>
              <a:t> is close to 1 either A or B can be removed</a:t>
            </a:r>
          </a:p>
          <a:p>
            <a:pPr marL="457200" indent="-280988"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en-US" sz="2000" dirty="0"/>
              <a:t>Resulting value = 0, then A and B are independent.</a:t>
            </a:r>
          </a:p>
          <a:p>
            <a:pPr marL="457200" indent="-280988"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en-US" sz="2000" dirty="0"/>
              <a:t>Resulting value &lt; 0, then A and B are negatively correlated. If the value of A increases, the value B will decreases.</a:t>
            </a:r>
          </a:p>
          <a:p>
            <a:pPr marL="457200" indent="-457200">
              <a:spcBef>
                <a:spcPts val="1200"/>
              </a:spcBef>
              <a:defRPr/>
            </a:pPr>
            <a:r>
              <a:rPr lang="en-US" sz="2000" dirty="0"/>
              <a:t>Covariance between two attributes is</a:t>
            </a:r>
          </a:p>
          <a:p>
            <a:pPr marL="457200" indent="-280988">
              <a:lnSpc>
                <a:spcPct val="80000"/>
              </a:lnSpc>
              <a:buFont typeface="Wingdings" pitchFamily="2" charset="2"/>
              <a:buAutoNum type="arabicPeriod"/>
              <a:defRPr/>
            </a:pPr>
            <a:endParaRPr lang="en-US" sz="2000" dirty="0"/>
          </a:p>
          <a:p>
            <a:pPr marL="457200" indent="-280988">
              <a:lnSpc>
                <a:spcPct val="80000"/>
              </a:lnSpc>
              <a:buFont typeface="Wingdings" pitchFamily="2" charset="2"/>
              <a:buAutoNum type="arabicPeriod"/>
              <a:defRPr/>
            </a:pPr>
            <a:endParaRPr lang="en-US" sz="2000" dirty="0"/>
          </a:p>
          <a:p>
            <a:pPr marL="519112">
              <a:lnSpc>
                <a:spcPct val="80000"/>
              </a:lnSpc>
              <a:defRPr/>
            </a:pPr>
            <a:r>
              <a:rPr lang="en-US" sz="2000" dirty="0"/>
              <a:t>Under some assumptions a covariance of 0 implies independence</a:t>
            </a:r>
          </a:p>
        </p:txBody>
      </p:sp>
      <p:graphicFrame>
        <p:nvGraphicFramePr>
          <p:cNvPr id="245763" name="Object 3"/>
          <p:cNvGraphicFramePr>
            <a:graphicFrameLocks noChangeAspect="1"/>
          </p:cNvGraphicFramePr>
          <p:nvPr/>
        </p:nvGraphicFramePr>
        <p:xfrm>
          <a:off x="1524000" y="1828800"/>
          <a:ext cx="45227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4" name="Equation" r:id="rId4" imgW="3009900" imgH="584200" progId="">
                  <p:embed/>
                </p:oleObj>
              </mc:Choice>
              <mc:Fallback>
                <p:oleObj name="Equation" r:id="rId4" imgW="3009900" imgH="5842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28800"/>
                        <a:ext cx="4522788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"/>
          <p:cNvGraphicFramePr>
            <a:graphicFrameLocks noChangeAspect="1"/>
          </p:cNvGraphicFramePr>
          <p:nvPr/>
        </p:nvGraphicFramePr>
        <p:xfrm>
          <a:off x="908050" y="5211763"/>
          <a:ext cx="50704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Equation" r:id="rId6" imgW="3594100" imgH="520700" progId="">
                  <p:embed/>
                </p:oleObj>
              </mc:Choice>
              <mc:Fallback>
                <p:oleObj name="Equation" r:id="rId6" imgW="3594100" imgH="5207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5211763"/>
                        <a:ext cx="5070475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5AA449CE-6185-4C77-9522-FB8F61A28C51}" type="slidenum">
              <a:rPr lang="en-US" altLang="en-US"/>
              <a:pPr algn="r" eaLnBrk="1" hangingPunct="1"/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858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3200"/>
              <a:t>Example: Correlation and Covariance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066800"/>
            <a:ext cx="8610600" cy="5029200"/>
          </a:xfrm>
        </p:spPr>
        <p:txBody>
          <a:bodyPr/>
          <a:lstStyle/>
          <a:p>
            <a:pPr marL="457200" indent="-457200">
              <a:lnSpc>
                <a:spcPct val="80000"/>
              </a:lnSpc>
            </a:pPr>
            <a:r>
              <a:rPr lang="en-US" altLang="en-US" sz="2000"/>
              <a:t>For the following data find correlation and covariance measures value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1828800"/>
          <a:ext cx="4953000" cy="2865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Time point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AllElctronics</a:t>
                      </a:r>
                      <a:r>
                        <a:rPr lang="en-US" sz="1800" dirty="0"/>
                        <a:t> (A)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HighTech</a:t>
                      </a:r>
                      <a:r>
                        <a:rPr lang="en-US" sz="1800" dirty="0"/>
                        <a:t> (B)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t1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54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566" name="Slide Number Placeholder 5"/>
          <p:cNvSpPr txBox="1">
            <a:spLocks/>
          </p:cNvSpPr>
          <p:nvPr/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923869DA-FA37-4E1D-B836-CD8469025EA9}" type="slidenum">
              <a:rPr lang="en-US" altLang="en-US"/>
              <a:pPr algn="r"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79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0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8" y="1190625"/>
            <a:ext cx="842962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858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3200">
                <a:sym typeface="Symbol" pitchFamily="18" charset="2"/>
              </a:rPr>
              <a:t></a:t>
            </a:r>
            <a:r>
              <a:rPr lang="en-US" altLang="en-US" sz="3200" baseline="30000">
                <a:sym typeface="Symbol" pitchFamily="18" charset="2"/>
              </a:rPr>
              <a:t>2 </a:t>
            </a:r>
            <a:r>
              <a:rPr lang="en-US" altLang="en-US" sz="3200"/>
              <a:t>Correlation Test for Nominal Data</a:t>
            </a:r>
          </a:p>
        </p:txBody>
      </p:sp>
      <p:sp>
        <p:nvSpPr>
          <p:cNvPr id="338947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304800" y="1066800"/>
            <a:ext cx="8610600" cy="5029200"/>
          </a:xfrm>
          <a:blipFill rotWithShape="0">
            <a:blip r:embed="rId4"/>
            <a:stretch>
              <a:fillRect l="-637" t="-1818" r="-1486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/>
        </p:nvGraphicFramePr>
        <p:xfrm>
          <a:off x="2854325" y="1905000"/>
          <a:ext cx="2617788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Equation" r:id="rId5" imgW="1828800" imgH="711200" progId="">
                  <p:embed/>
                </p:oleObj>
              </mc:Choice>
              <mc:Fallback>
                <p:oleObj name="Equation" r:id="rId5" imgW="1828800" imgH="7112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1905000"/>
                        <a:ext cx="2617788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2411413" y="4078288"/>
          <a:ext cx="35036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Equation" r:id="rId7" imgW="2844800" imgH="558800" progId="">
                  <p:embed/>
                </p:oleObj>
              </mc:Choice>
              <mc:Fallback>
                <p:oleObj name="Equation" r:id="rId7" imgW="2844800" imgH="5588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078288"/>
                        <a:ext cx="3503612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Slide Number Placeholder 5"/>
          <p:cNvSpPr txBox="1">
            <a:spLocks/>
          </p:cNvSpPr>
          <p:nvPr/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B0D49776-4876-4049-AE3A-270FA9DFB19F}" type="slidenum">
              <a:rPr lang="en-US" altLang="en-US"/>
              <a:pPr algn="r" eaLnBrk="1" hangingPunct="1"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762000"/>
            <a:ext cx="8610600" cy="5029200"/>
          </a:xfrm>
        </p:spPr>
        <p:txBody>
          <a:bodyPr/>
          <a:lstStyle/>
          <a:p>
            <a:pPr marL="519113">
              <a:lnSpc>
                <a:spcPct val="80000"/>
              </a:lnSpc>
            </a:pPr>
            <a:r>
              <a:rPr lang="en-US" sz="2000"/>
              <a:t>Example: For the following data find weather the two attributes are independent or not. Suppose that we have 1500 data points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47900" y="1524000"/>
          <a:ext cx="4572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675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676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7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8" y="900113"/>
            <a:ext cx="8315325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162800" cy="9144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 altLang="en-US"/>
              <a:t>Data Preprocessing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8077200" cy="4953000"/>
          </a:xfrm>
          <a:noFill/>
        </p:spPr>
        <p:txBody>
          <a:bodyPr lIns="92075" tIns="46038" rIns="92075" bIns="46038"/>
          <a:lstStyle/>
          <a:p>
            <a:pPr>
              <a:lnSpc>
                <a:spcPct val="140000"/>
              </a:lnSpc>
            </a:pPr>
            <a:r>
              <a:rPr lang="en-US" altLang="en-US"/>
              <a:t>Why preprocess the data?</a:t>
            </a:r>
          </a:p>
          <a:p>
            <a:pPr>
              <a:lnSpc>
                <a:spcPct val="140000"/>
              </a:lnSpc>
            </a:pPr>
            <a:r>
              <a:rPr lang="en-US" altLang="en-US"/>
              <a:t>Data cleaning </a:t>
            </a:r>
          </a:p>
          <a:p>
            <a:pPr>
              <a:lnSpc>
                <a:spcPct val="140000"/>
              </a:lnSpc>
            </a:pPr>
            <a:r>
              <a:rPr lang="en-US" altLang="en-US"/>
              <a:t>Data integration </a:t>
            </a:r>
          </a:p>
          <a:p>
            <a:pPr>
              <a:lnSpc>
                <a:spcPct val="140000"/>
              </a:lnSpc>
            </a:pPr>
            <a:r>
              <a:rPr lang="en-US" altLang="en-US"/>
              <a:t>Data reduction</a:t>
            </a:r>
          </a:p>
          <a:p>
            <a:pPr>
              <a:lnSpc>
                <a:spcPct val="140000"/>
              </a:lnSpc>
            </a:pPr>
            <a:r>
              <a:rPr lang="en-US" altLang="en-US">
                <a:solidFill>
                  <a:srgbClr val="C00000"/>
                </a:solidFill>
              </a:rPr>
              <a:t>Data Transformation and Discretization </a:t>
            </a:r>
          </a:p>
          <a:p>
            <a:pPr>
              <a:lnSpc>
                <a:spcPct val="14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12292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099A9B57-52F2-4EB5-8120-4A24D701F652}" type="slidenum">
              <a:rPr lang="en-US" altLang="en-US"/>
              <a:pPr algn="r" eaLnBrk="1" hangingPunct="1"/>
              <a:t>25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162800" cy="685800"/>
          </a:xfrm>
          <a:noFill/>
          <a:ln w="38100"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r>
              <a:rPr lang="en-US" altLang="en-US" sz="3600"/>
              <a:t>Data Transformation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14400"/>
            <a:ext cx="8077200" cy="4953000"/>
          </a:xfrm>
          <a:noFill/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altLang="en-US" sz="2400" dirty="0"/>
              <a:t>The data are transformed or consolidated into forms appropriate for mining processing. Different strategies includes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en-US" sz="2000" dirty="0"/>
              <a:t>Normalization – data are scaled so as to fall within a smaller rage e.g. -1.0 to 1.0 or 0.0 to 1.0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en-US" sz="2000" dirty="0"/>
              <a:t>Discretization -  Values of numeric attribute are replaced by interval labels or conceptual labels. (concept hierarchy for numeric attribute)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en-US" sz="2000" dirty="0"/>
              <a:t>Concept hierarchy generation for nominal data – nominal attribute values are generalized to higher-level concepts e.g. street is generalized to block, city or country.  </a:t>
            </a:r>
          </a:p>
        </p:txBody>
      </p:sp>
      <p:sp>
        <p:nvSpPr>
          <p:cNvPr id="13316" name="Slide Number Placeholder 5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9CA49C48-91A4-4F28-96C9-966103092D6D}" type="slidenum">
              <a:rPr lang="en-US" altLang="en-US"/>
              <a:pPr algn="r" eaLnBrk="1" hangingPunct="1"/>
              <a:t>26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486400"/>
          </a:xfrm>
        </p:spPr>
        <p:txBody>
          <a:bodyPr/>
          <a:lstStyle/>
          <a:p>
            <a:r>
              <a:rPr lang="en-US" altLang="en-US" sz="2400" b="1">
                <a:solidFill>
                  <a:srgbClr val="FF3300"/>
                </a:solidFill>
              </a:rPr>
              <a:t>min-max normalization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>
              <a:lnSpc>
                <a:spcPct val="120000"/>
              </a:lnSpc>
            </a:pPr>
            <a:r>
              <a:rPr lang="en-US" altLang="en-US"/>
              <a:t>Example:- Suppose that the </a:t>
            </a:r>
            <a:r>
              <a:rPr lang="en-US" altLang="en-US">
                <a:solidFill>
                  <a:srgbClr val="FF3300"/>
                </a:solidFill>
              </a:rPr>
              <a:t>minimum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3300"/>
                </a:solidFill>
              </a:rPr>
              <a:t>maximum</a:t>
            </a:r>
            <a:r>
              <a:rPr lang="en-US" altLang="en-US"/>
              <a:t> values for the attribute income are </a:t>
            </a:r>
            <a:r>
              <a:rPr lang="en-US" altLang="en-US">
                <a:solidFill>
                  <a:srgbClr val="FF3300"/>
                </a:solidFill>
              </a:rPr>
              <a:t>12,000 </a:t>
            </a:r>
            <a:r>
              <a:rPr lang="en-US" altLang="en-US"/>
              <a:t>and </a:t>
            </a:r>
            <a:r>
              <a:rPr lang="en-US" altLang="en-US">
                <a:solidFill>
                  <a:srgbClr val="FF3300"/>
                </a:solidFill>
              </a:rPr>
              <a:t>98,000</a:t>
            </a:r>
            <a:r>
              <a:rPr lang="en-US" altLang="en-US"/>
              <a:t>. By min-max normalization, a value of </a:t>
            </a:r>
            <a:r>
              <a:rPr lang="en-US" altLang="en-US">
                <a:solidFill>
                  <a:srgbClr val="FF3300"/>
                </a:solidFill>
              </a:rPr>
              <a:t>73,600</a:t>
            </a:r>
            <a:r>
              <a:rPr lang="en-US" altLang="en-US"/>
              <a:t> for income is transformed to</a:t>
            </a:r>
          </a:p>
          <a:p>
            <a:pPr lvl="4">
              <a:lnSpc>
                <a:spcPct val="120000"/>
              </a:lnSpc>
            </a:pPr>
            <a:r>
              <a:rPr lang="en-US" altLang="en-US"/>
              <a:t>((73,000-12,000)/(98,000-12,000)) (1.0-0) + 0 = 0.716</a:t>
            </a:r>
          </a:p>
        </p:txBody>
      </p:sp>
      <p:graphicFrame>
        <p:nvGraphicFramePr>
          <p:cNvPr id="16387" name="Object 2"/>
          <p:cNvGraphicFramePr>
            <a:graphicFrameLocks noChangeAspect="1"/>
          </p:cNvGraphicFramePr>
          <p:nvPr/>
        </p:nvGraphicFramePr>
        <p:xfrm>
          <a:off x="1143000" y="1752600"/>
          <a:ext cx="73215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Microsoft Equation 3.0" r:id="rId4" imgW="3340100" imgH="393700" progId="Equation.3">
                  <p:embed/>
                </p:oleObj>
              </mc:Choice>
              <mc:Fallback>
                <p:oleObj name="Microsoft Equation 3.0" r:id="rId4" imgW="33401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732155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3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altLang="en-US"/>
              <a:t>Data Normalization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762000"/>
          </a:xfrm>
        </p:spPr>
        <p:txBody>
          <a:bodyPr/>
          <a:lstStyle/>
          <a:p>
            <a:r>
              <a:rPr lang="en-US" altLang="en-US"/>
              <a:t>Data Normalization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914400"/>
            <a:ext cx="8686800" cy="5562600"/>
          </a:xfrm>
        </p:spPr>
        <p:txBody>
          <a:bodyPr/>
          <a:lstStyle/>
          <a:p>
            <a:r>
              <a:rPr lang="en-US" altLang="en-US" sz="2400" b="1">
                <a:solidFill>
                  <a:srgbClr val="FF3300"/>
                </a:solidFill>
              </a:rPr>
              <a:t>z-score normalization</a:t>
            </a:r>
          </a:p>
          <a:p>
            <a:pPr lvl="1"/>
            <a:r>
              <a:rPr lang="en-US" altLang="en-US"/>
              <a:t>This method of normalization is useful when the actual minimum and maximum of any attribute are unknown.</a:t>
            </a:r>
          </a:p>
          <a:p>
            <a:pPr lvl="1"/>
            <a:r>
              <a:rPr lang="en-US" altLang="en-US"/>
              <a:t>Or when outliers which dominate the min-max normalization.</a:t>
            </a:r>
          </a:p>
          <a:p>
            <a:pPr lvl="1"/>
            <a:endParaRPr lang="en-US" altLang="en-US"/>
          </a:p>
          <a:p>
            <a:pPr lvl="1"/>
            <a:endParaRPr lang="en-US" altLang="en-US" sz="2000"/>
          </a:p>
          <a:p>
            <a:r>
              <a:rPr lang="en-US" altLang="en-US" sz="2400" b="1">
                <a:solidFill>
                  <a:srgbClr val="FF3300"/>
                </a:solidFill>
              </a:rPr>
              <a:t>Decimal scaling normalization</a:t>
            </a:r>
          </a:p>
          <a:p>
            <a:endParaRPr lang="en-US" altLang="en-US" sz="2400"/>
          </a:p>
        </p:txBody>
      </p:sp>
      <p:graphicFrame>
        <p:nvGraphicFramePr>
          <p:cNvPr id="18436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44788" y="3657600"/>
          <a:ext cx="24368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name="Equation" r:id="rId4" imgW="965200" imgH="419100" progId="Equation.3">
                  <p:embed/>
                </p:oleObj>
              </mc:Choice>
              <mc:Fallback>
                <p:oleObj name="Equation" r:id="rId4" imgW="9652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3657600"/>
                        <a:ext cx="2436812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62000" y="4876800"/>
          <a:ext cx="16764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4" name="Equation" r:id="rId6" imgW="495085" imgH="393529" progId="Equation.3">
                  <p:embed/>
                </p:oleObj>
              </mc:Choice>
              <mc:Fallback>
                <p:oleObj name="Equation" r:id="rId6" imgW="495085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876800"/>
                        <a:ext cx="1676400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2514600" y="5181600"/>
            <a:ext cx="6430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000" b="0">
                <a:latin typeface="Tahoma" pitchFamily="34" charset="0"/>
              </a:rPr>
              <a:t>Where </a:t>
            </a:r>
            <a:r>
              <a:rPr lang="en-US" altLang="en-US" sz="2000" b="0" i="1">
                <a:latin typeface="Tahoma" pitchFamily="34" charset="0"/>
              </a:rPr>
              <a:t>j</a:t>
            </a:r>
            <a:r>
              <a:rPr lang="en-US" altLang="en-US" sz="2000" b="0">
                <a:latin typeface="Tahoma" pitchFamily="34" charset="0"/>
              </a:rPr>
              <a:t> is the smallest integer such that Max(|     |)&lt;1</a:t>
            </a:r>
            <a:endParaRPr lang="en-US" altLang="en-US" sz="2400" b="0">
              <a:latin typeface="Tahoma" pitchFamily="34" charset="0"/>
            </a:endParaRPr>
          </a:p>
        </p:txBody>
      </p:sp>
      <p:graphicFrame>
        <p:nvGraphicFramePr>
          <p:cNvPr id="18439" name="Object 4"/>
          <p:cNvGraphicFramePr>
            <a:graphicFrameLocks noChangeAspect="1"/>
          </p:cNvGraphicFramePr>
          <p:nvPr/>
        </p:nvGraphicFramePr>
        <p:xfrm>
          <a:off x="7924800" y="5181600"/>
          <a:ext cx="3206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Microsoft Equation 3.0" r:id="rId8" imgW="139579" imgH="177646" progId="Equation.3">
                  <p:embed/>
                </p:oleObj>
              </mc:Choice>
              <mc:Fallback>
                <p:oleObj name="Microsoft Equation 3.0" r:id="rId8" imgW="139579" imgH="1776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181600"/>
                        <a:ext cx="3206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296400" cy="1190625"/>
          </a:xfrm>
        </p:spPr>
        <p:txBody>
          <a:bodyPr/>
          <a:lstStyle/>
          <a:p>
            <a:r>
              <a:rPr lang="en-US" altLang="en-US" sz="4000"/>
              <a:t>Building mineable data sets</a:t>
            </a:r>
            <a:br>
              <a:rPr lang="en-US" altLang="en-US" sz="4000"/>
            </a:br>
            <a:r>
              <a:rPr lang="en-US" altLang="en-US" sz="4000"/>
              <a:t>Data Transformation: Normalization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77200" cy="5638800"/>
          </a:xfrm>
        </p:spPr>
        <p:txBody>
          <a:bodyPr/>
          <a:lstStyle/>
          <a:p>
            <a:pPr marL="230188" indent="-230188"/>
            <a:r>
              <a:rPr lang="en-US" altLang="en-US" sz="2400"/>
              <a:t>min-max normalization</a:t>
            </a:r>
          </a:p>
          <a:p>
            <a:pPr marL="633413" lvl="1" indent="-288925"/>
            <a:endParaRPr lang="en-US" altLang="en-US" sz="2000"/>
          </a:p>
          <a:p>
            <a:pPr marL="633413" lvl="1" indent="-288925"/>
            <a:endParaRPr lang="en-US" altLang="en-US" sz="900"/>
          </a:p>
          <a:p>
            <a:pPr marL="230188" indent="-230188"/>
            <a:r>
              <a:rPr lang="en-US" altLang="en-US" sz="2400"/>
              <a:t>z-score normalization</a:t>
            </a:r>
          </a:p>
          <a:p>
            <a:pPr marL="633413" lvl="1" indent="-288925"/>
            <a:endParaRPr lang="en-US" altLang="en-US" sz="2000"/>
          </a:p>
          <a:p>
            <a:pPr marL="633413" lvl="1" indent="-288925"/>
            <a:endParaRPr lang="en-US" altLang="en-US" sz="2000"/>
          </a:p>
          <a:p>
            <a:pPr marL="230188" indent="-230188"/>
            <a:r>
              <a:rPr lang="en-US" altLang="en-US" sz="2400"/>
              <a:t>normalization by decimal scaling</a:t>
            </a:r>
          </a:p>
          <a:p>
            <a:pPr marL="633413" lvl="1" indent="-288925"/>
            <a:endParaRPr lang="en-US" altLang="en-US" sz="2000"/>
          </a:p>
          <a:p>
            <a:pPr marL="633413" lvl="1" indent="-288925">
              <a:buFontTx/>
              <a:buNone/>
            </a:pPr>
            <a:endParaRPr lang="en-US" altLang="en-US" sz="2000"/>
          </a:p>
        </p:txBody>
      </p:sp>
      <p:graphicFrame>
        <p:nvGraphicFramePr>
          <p:cNvPr id="20484" name="Object 2"/>
          <p:cNvGraphicFramePr>
            <a:graphicFrameLocks noChangeAspect="1"/>
          </p:cNvGraphicFramePr>
          <p:nvPr/>
        </p:nvGraphicFramePr>
        <p:xfrm>
          <a:off x="1203325" y="1498600"/>
          <a:ext cx="71088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7" name="Equation" r:id="rId4" imgW="3340100" imgH="393700" progId="Equation.3">
                  <p:embed/>
                </p:oleObj>
              </mc:Choice>
              <mc:Fallback>
                <p:oleObj name="Equation" r:id="rId4" imgW="33401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1498600"/>
                        <a:ext cx="7108825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"/>
          <p:cNvGraphicFramePr>
            <a:graphicFrameLocks noChangeAspect="1"/>
          </p:cNvGraphicFramePr>
          <p:nvPr/>
        </p:nvGraphicFramePr>
        <p:xfrm>
          <a:off x="1206500" y="2514600"/>
          <a:ext cx="3048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8" name="Equation" r:id="rId6" imgW="1028700" imgH="419100" progId="Equation.3">
                  <p:embed/>
                </p:oleObj>
              </mc:Choice>
              <mc:Fallback>
                <p:oleObj name="Equation" r:id="rId6" imgW="10287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2514600"/>
                        <a:ext cx="30480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4"/>
          <p:cNvGraphicFramePr>
            <a:graphicFrameLocks noChangeAspect="1"/>
          </p:cNvGraphicFramePr>
          <p:nvPr/>
        </p:nvGraphicFramePr>
        <p:xfrm>
          <a:off x="1219200" y="3873500"/>
          <a:ext cx="1066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9" name="Equation" r:id="rId8" imgW="495085" imgH="393529" progId="Equation.3">
                  <p:embed/>
                </p:oleObj>
              </mc:Choice>
              <mc:Fallback>
                <p:oleObj name="Equation" r:id="rId8" imgW="495085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73500"/>
                        <a:ext cx="1066800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5"/>
          <p:cNvGraphicFramePr>
            <a:graphicFrameLocks noChangeAspect="1"/>
          </p:cNvGraphicFramePr>
          <p:nvPr/>
        </p:nvGraphicFramePr>
        <p:xfrm>
          <a:off x="4514850" y="27876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Equation" r:id="rId10" imgW="114151" imgH="215619" progId="Equation.3">
                  <p:embed/>
                </p:oleObj>
              </mc:Choice>
              <mc:Fallback>
                <p:oleObj name="Equation" r:id="rId10" imgW="114151" imgH="2156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787650"/>
                        <a:ext cx="112713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2514600" y="4102100"/>
            <a:ext cx="6126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000" b="0">
                <a:latin typeface="Times New Roman" pitchFamily="18" charset="0"/>
              </a:rPr>
              <a:t>Where </a:t>
            </a:r>
            <a:r>
              <a:rPr lang="en-US" altLang="en-US" sz="2000" b="0" i="1">
                <a:latin typeface="Times New Roman" pitchFamily="18" charset="0"/>
              </a:rPr>
              <a:t>j</a:t>
            </a:r>
            <a:r>
              <a:rPr lang="en-US" altLang="en-US" sz="2000" b="0">
                <a:latin typeface="Times New Roman" pitchFamily="18" charset="0"/>
              </a:rPr>
              <a:t> is the smallest integer such that Max(|     |)&lt;1</a:t>
            </a:r>
            <a:endParaRPr lang="en-US" altLang="en-US" sz="2400" b="0">
              <a:latin typeface="Times New Roman" pitchFamily="18" charset="0"/>
            </a:endParaRPr>
          </a:p>
        </p:txBody>
      </p:sp>
      <p:graphicFrame>
        <p:nvGraphicFramePr>
          <p:cNvPr id="20489" name="Object 6"/>
          <p:cNvGraphicFramePr>
            <a:graphicFrameLocks noChangeAspect="1"/>
          </p:cNvGraphicFramePr>
          <p:nvPr/>
        </p:nvGraphicFramePr>
        <p:xfrm>
          <a:off x="7315200" y="4089400"/>
          <a:ext cx="3206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name="Equation" r:id="rId12" imgW="139579" imgH="177646" progId="Equation.3">
                  <p:embed/>
                </p:oleObj>
              </mc:Choice>
              <mc:Fallback>
                <p:oleObj name="Equation" r:id="rId12" imgW="139579" imgH="1776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089400"/>
                        <a:ext cx="3206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06400" y="4772025"/>
            <a:ext cx="8470900" cy="365125"/>
            <a:chOff x="256" y="3006"/>
            <a:chExt cx="5336" cy="230"/>
          </a:xfrm>
        </p:grpSpPr>
        <p:sp>
          <p:nvSpPr>
            <p:cNvPr id="20550" name="Rectangle 11"/>
            <p:cNvSpPr>
              <a:spLocks noChangeArrowheads="1"/>
            </p:cNvSpPr>
            <p:nvPr/>
          </p:nvSpPr>
          <p:spPr bwMode="auto">
            <a:xfrm>
              <a:off x="5240" y="3006"/>
              <a:ext cx="352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34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1" name="Rectangle 12"/>
            <p:cNvSpPr>
              <a:spLocks noChangeArrowheads="1"/>
            </p:cNvSpPr>
            <p:nvPr/>
          </p:nvSpPr>
          <p:spPr bwMode="auto">
            <a:xfrm>
              <a:off x="4880" y="3006"/>
              <a:ext cx="360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27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2" name="Rectangle 13"/>
            <p:cNvSpPr>
              <a:spLocks noChangeArrowheads="1"/>
            </p:cNvSpPr>
            <p:nvPr/>
          </p:nvSpPr>
          <p:spPr bwMode="auto">
            <a:xfrm>
              <a:off x="4536" y="3006"/>
              <a:ext cx="344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24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3" name="Rectangle 14"/>
            <p:cNvSpPr>
              <a:spLocks noChangeArrowheads="1"/>
            </p:cNvSpPr>
            <p:nvPr/>
          </p:nvSpPr>
          <p:spPr bwMode="auto">
            <a:xfrm>
              <a:off x="4184" y="3006"/>
              <a:ext cx="352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23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4" name="Rectangle 15"/>
            <p:cNvSpPr>
              <a:spLocks noChangeArrowheads="1"/>
            </p:cNvSpPr>
            <p:nvPr/>
          </p:nvSpPr>
          <p:spPr bwMode="auto">
            <a:xfrm>
              <a:off x="3792" y="3006"/>
              <a:ext cx="392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22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5" name="Rectangle 16"/>
            <p:cNvSpPr>
              <a:spLocks noChangeArrowheads="1"/>
            </p:cNvSpPr>
            <p:nvPr/>
          </p:nvSpPr>
          <p:spPr bwMode="auto">
            <a:xfrm>
              <a:off x="3448" y="3006"/>
              <a:ext cx="344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21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6" name="Rectangle 17"/>
            <p:cNvSpPr>
              <a:spLocks noChangeArrowheads="1"/>
            </p:cNvSpPr>
            <p:nvPr/>
          </p:nvSpPr>
          <p:spPr bwMode="auto">
            <a:xfrm>
              <a:off x="3072" y="3006"/>
              <a:ext cx="376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19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7" name="Rectangle 18"/>
            <p:cNvSpPr>
              <a:spLocks noChangeArrowheads="1"/>
            </p:cNvSpPr>
            <p:nvPr/>
          </p:nvSpPr>
          <p:spPr bwMode="auto">
            <a:xfrm>
              <a:off x="2720" y="3006"/>
              <a:ext cx="352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18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8" name="Rectangle 19"/>
            <p:cNvSpPr>
              <a:spLocks noChangeArrowheads="1"/>
            </p:cNvSpPr>
            <p:nvPr/>
          </p:nvSpPr>
          <p:spPr bwMode="auto">
            <a:xfrm>
              <a:off x="2360" y="3006"/>
              <a:ext cx="360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59" name="Rectangle 20"/>
            <p:cNvSpPr>
              <a:spLocks noChangeArrowheads="1"/>
            </p:cNvSpPr>
            <p:nvPr/>
          </p:nvSpPr>
          <p:spPr bwMode="auto">
            <a:xfrm>
              <a:off x="1984" y="3006"/>
              <a:ext cx="376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60" name="Rectangle 21"/>
            <p:cNvSpPr>
              <a:spLocks noChangeArrowheads="1"/>
            </p:cNvSpPr>
            <p:nvPr/>
          </p:nvSpPr>
          <p:spPr bwMode="auto">
            <a:xfrm>
              <a:off x="1632" y="3006"/>
              <a:ext cx="352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61" name="Rectangle 22"/>
            <p:cNvSpPr>
              <a:spLocks noChangeArrowheads="1"/>
            </p:cNvSpPr>
            <p:nvPr/>
          </p:nvSpPr>
          <p:spPr bwMode="auto">
            <a:xfrm>
              <a:off x="1264" y="3006"/>
              <a:ext cx="368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62" name="Rectangle 23"/>
            <p:cNvSpPr>
              <a:spLocks noChangeArrowheads="1"/>
            </p:cNvSpPr>
            <p:nvPr/>
          </p:nvSpPr>
          <p:spPr bwMode="auto">
            <a:xfrm>
              <a:off x="256" y="3006"/>
              <a:ext cx="1008" cy="23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Price in </a:t>
              </a:r>
              <a:r>
                <a:rPr lang="en-US" altLang="en-US" b="0">
                  <a:latin typeface="Tahoma" pitchFamily="34" charset="0"/>
                  <a:cs typeface="Times New Roman" pitchFamily="18" charset="0"/>
                </a:rPr>
                <a:t>€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63" name="Line 24"/>
            <p:cNvSpPr>
              <a:spLocks noChangeShapeType="1"/>
            </p:cNvSpPr>
            <p:nvPr/>
          </p:nvSpPr>
          <p:spPr bwMode="auto">
            <a:xfrm>
              <a:off x="256" y="3006"/>
              <a:ext cx="53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0564" name="Line 25"/>
            <p:cNvSpPr>
              <a:spLocks noChangeShapeType="1"/>
            </p:cNvSpPr>
            <p:nvPr/>
          </p:nvSpPr>
          <p:spPr bwMode="auto">
            <a:xfrm>
              <a:off x="256" y="3236"/>
              <a:ext cx="5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04800" y="5197475"/>
            <a:ext cx="8572500" cy="365125"/>
            <a:chOff x="192" y="3236"/>
            <a:chExt cx="5400" cy="230"/>
          </a:xfrm>
        </p:grpSpPr>
        <p:sp>
          <p:nvSpPr>
            <p:cNvPr id="20536" name="Rectangle 27"/>
            <p:cNvSpPr>
              <a:spLocks noChangeArrowheads="1"/>
            </p:cNvSpPr>
            <p:nvPr/>
          </p:nvSpPr>
          <p:spPr bwMode="auto">
            <a:xfrm>
              <a:off x="5240" y="323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7" name="Rectangle 28"/>
            <p:cNvSpPr>
              <a:spLocks noChangeArrowheads="1"/>
            </p:cNvSpPr>
            <p:nvPr/>
          </p:nvSpPr>
          <p:spPr bwMode="auto">
            <a:xfrm>
              <a:off x="4880" y="3236"/>
              <a:ext cx="36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.76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8" name="Rectangle 29"/>
            <p:cNvSpPr>
              <a:spLocks noChangeArrowheads="1"/>
            </p:cNvSpPr>
            <p:nvPr/>
          </p:nvSpPr>
          <p:spPr bwMode="auto">
            <a:xfrm>
              <a:off x="4536" y="3236"/>
              <a:ext cx="34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.66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9" name="Rectangle 30"/>
            <p:cNvSpPr>
              <a:spLocks noChangeArrowheads="1"/>
            </p:cNvSpPr>
            <p:nvPr/>
          </p:nvSpPr>
          <p:spPr bwMode="auto">
            <a:xfrm>
              <a:off x="4184" y="323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.63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0" name="Rectangle 31"/>
            <p:cNvSpPr>
              <a:spLocks noChangeArrowheads="1"/>
            </p:cNvSpPr>
            <p:nvPr/>
          </p:nvSpPr>
          <p:spPr bwMode="auto">
            <a:xfrm>
              <a:off x="3792" y="3236"/>
              <a:ext cx="39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1" name="Rectangle 32"/>
            <p:cNvSpPr>
              <a:spLocks noChangeArrowheads="1"/>
            </p:cNvSpPr>
            <p:nvPr/>
          </p:nvSpPr>
          <p:spPr bwMode="auto">
            <a:xfrm>
              <a:off x="3448" y="3236"/>
              <a:ext cx="34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.56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2" name="Rectangle 33"/>
            <p:cNvSpPr>
              <a:spLocks noChangeArrowheads="1"/>
            </p:cNvSpPr>
            <p:nvPr/>
          </p:nvSpPr>
          <p:spPr bwMode="auto">
            <a:xfrm>
              <a:off x="3072" y="3236"/>
              <a:ext cx="37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.5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3" name="Rectangle 34"/>
            <p:cNvSpPr>
              <a:spLocks noChangeArrowheads="1"/>
            </p:cNvSpPr>
            <p:nvPr/>
          </p:nvSpPr>
          <p:spPr bwMode="auto">
            <a:xfrm>
              <a:off x="2720" y="323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.46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4" name="Rectangle 35"/>
            <p:cNvSpPr>
              <a:spLocks noChangeArrowheads="1"/>
            </p:cNvSpPr>
            <p:nvPr/>
          </p:nvSpPr>
          <p:spPr bwMode="auto">
            <a:xfrm>
              <a:off x="2360" y="3236"/>
              <a:ext cx="36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5" name="Rectangle 36"/>
            <p:cNvSpPr>
              <a:spLocks noChangeArrowheads="1"/>
            </p:cNvSpPr>
            <p:nvPr/>
          </p:nvSpPr>
          <p:spPr bwMode="auto">
            <a:xfrm>
              <a:off x="1984" y="3236"/>
              <a:ext cx="37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.33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6" name="Rectangle 37"/>
            <p:cNvSpPr>
              <a:spLocks noChangeArrowheads="1"/>
            </p:cNvSpPr>
            <p:nvPr/>
          </p:nvSpPr>
          <p:spPr bwMode="auto">
            <a:xfrm>
              <a:off x="1632" y="323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.06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7" name="Rectangle 38"/>
            <p:cNvSpPr>
              <a:spLocks noChangeArrowheads="1"/>
            </p:cNvSpPr>
            <p:nvPr/>
          </p:nvSpPr>
          <p:spPr bwMode="auto">
            <a:xfrm>
              <a:off x="1264" y="3236"/>
              <a:ext cx="36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0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8" name="Rectangle 39"/>
            <p:cNvSpPr>
              <a:spLocks noChangeArrowheads="1"/>
            </p:cNvSpPr>
            <p:nvPr/>
          </p:nvSpPr>
          <p:spPr bwMode="auto">
            <a:xfrm>
              <a:off x="192" y="3236"/>
              <a:ext cx="11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Min-max [0,1]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49" name="Line 40"/>
            <p:cNvSpPr>
              <a:spLocks noChangeShapeType="1"/>
            </p:cNvSpPr>
            <p:nvPr/>
          </p:nvSpPr>
          <p:spPr bwMode="auto">
            <a:xfrm>
              <a:off x="256" y="3466"/>
              <a:ext cx="5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406400" y="5502275"/>
            <a:ext cx="8470900" cy="365125"/>
            <a:chOff x="256" y="3466"/>
            <a:chExt cx="5336" cy="230"/>
          </a:xfrm>
        </p:grpSpPr>
        <p:sp>
          <p:nvSpPr>
            <p:cNvPr id="20522" name="Rectangle 42"/>
            <p:cNvSpPr>
              <a:spLocks noChangeArrowheads="1"/>
            </p:cNvSpPr>
            <p:nvPr/>
          </p:nvSpPr>
          <p:spPr bwMode="auto">
            <a:xfrm>
              <a:off x="5240" y="346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1.8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3" name="Rectangle 43"/>
            <p:cNvSpPr>
              <a:spLocks noChangeArrowheads="1"/>
            </p:cNvSpPr>
            <p:nvPr/>
          </p:nvSpPr>
          <p:spPr bwMode="auto">
            <a:xfrm>
              <a:off x="4880" y="3466"/>
              <a:ext cx="36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1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4" name="Rectangle 44"/>
            <p:cNvSpPr>
              <a:spLocks noChangeArrowheads="1"/>
            </p:cNvSpPr>
            <p:nvPr/>
          </p:nvSpPr>
          <p:spPr bwMode="auto">
            <a:xfrm>
              <a:off x="4536" y="3466"/>
              <a:ext cx="34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0.6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5" name="Rectangle 45"/>
            <p:cNvSpPr>
              <a:spLocks noChangeArrowheads="1"/>
            </p:cNvSpPr>
            <p:nvPr/>
          </p:nvSpPr>
          <p:spPr bwMode="auto">
            <a:xfrm>
              <a:off x="4184" y="346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0.5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6" name="Rectangle 46"/>
            <p:cNvSpPr>
              <a:spLocks noChangeArrowheads="1"/>
            </p:cNvSpPr>
            <p:nvPr/>
          </p:nvSpPr>
          <p:spPr bwMode="auto">
            <a:xfrm>
              <a:off x="3792" y="3466"/>
              <a:ext cx="39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0.4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7" name="Rectangle 47"/>
            <p:cNvSpPr>
              <a:spLocks noChangeArrowheads="1"/>
            </p:cNvSpPr>
            <p:nvPr/>
          </p:nvSpPr>
          <p:spPr bwMode="auto">
            <a:xfrm>
              <a:off x="3448" y="3466"/>
              <a:ext cx="34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0.2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8" name="Rectangle 48"/>
            <p:cNvSpPr>
              <a:spLocks noChangeArrowheads="1"/>
            </p:cNvSpPr>
            <p:nvPr/>
          </p:nvSpPr>
          <p:spPr bwMode="auto">
            <a:xfrm>
              <a:off x="3072" y="3466"/>
              <a:ext cx="37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0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9" name="Rectangle 49"/>
            <p:cNvSpPr>
              <a:spLocks noChangeArrowheads="1"/>
            </p:cNvSpPr>
            <p:nvPr/>
          </p:nvSpPr>
          <p:spPr bwMode="auto">
            <a:xfrm>
              <a:off x="2720" y="3466"/>
              <a:ext cx="40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-0.1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0" name="Rectangle 50"/>
            <p:cNvSpPr>
              <a:spLocks noChangeArrowheads="1"/>
            </p:cNvSpPr>
            <p:nvPr/>
          </p:nvSpPr>
          <p:spPr bwMode="auto">
            <a:xfrm>
              <a:off x="2352" y="3466"/>
              <a:ext cx="38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-0.3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1" name="Rectangle 51"/>
            <p:cNvSpPr>
              <a:spLocks noChangeArrowheads="1"/>
            </p:cNvSpPr>
            <p:nvPr/>
          </p:nvSpPr>
          <p:spPr bwMode="auto">
            <a:xfrm>
              <a:off x="1984" y="3466"/>
              <a:ext cx="37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-0.6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2" name="Rectangle 52"/>
            <p:cNvSpPr>
              <a:spLocks noChangeArrowheads="1"/>
            </p:cNvSpPr>
            <p:nvPr/>
          </p:nvSpPr>
          <p:spPr bwMode="auto">
            <a:xfrm>
              <a:off x="1584" y="3466"/>
              <a:ext cx="40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-1.6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3" name="Rectangle 53"/>
            <p:cNvSpPr>
              <a:spLocks noChangeArrowheads="1"/>
            </p:cNvSpPr>
            <p:nvPr/>
          </p:nvSpPr>
          <p:spPr bwMode="auto">
            <a:xfrm>
              <a:off x="1200" y="3466"/>
              <a:ext cx="43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-1.8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4" name="Rectangle 54"/>
            <p:cNvSpPr>
              <a:spLocks noChangeArrowheads="1"/>
            </p:cNvSpPr>
            <p:nvPr/>
          </p:nvSpPr>
          <p:spPr bwMode="auto">
            <a:xfrm>
              <a:off x="256" y="3466"/>
              <a:ext cx="100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Z-score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35" name="Line 55"/>
            <p:cNvSpPr>
              <a:spLocks noChangeShapeType="1"/>
            </p:cNvSpPr>
            <p:nvPr/>
          </p:nvSpPr>
          <p:spPr bwMode="auto">
            <a:xfrm>
              <a:off x="256" y="3696"/>
              <a:ext cx="5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406400" y="5883275"/>
            <a:ext cx="8470900" cy="365125"/>
            <a:chOff x="256" y="3696"/>
            <a:chExt cx="5336" cy="230"/>
          </a:xfrm>
        </p:grpSpPr>
        <p:sp>
          <p:nvSpPr>
            <p:cNvPr id="20508" name="Rectangle 57"/>
            <p:cNvSpPr>
              <a:spLocks noChangeArrowheads="1"/>
            </p:cNvSpPr>
            <p:nvPr/>
          </p:nvSpPr>
          <p:spPr bwMode="auto">
            <a:xfrm>
              <a:off x="5240" y="369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.34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09" name="Rectangle 58"/>
            <p:cNvSpPr>
              <a:spLocks noChangeArrowheads="1"/>
            </p:cNvSpPr>
            <p:nvPr/>
          </p:nvSpPr>
          <p:spPr bwMode="auto">
            <a:xfrm>
              <a:off x="4880" y="3696"/>
              <a:ext cx="36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.27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0" name="Rectangle 59"/>
            <p:cNvSpPr>
              <a:spLocks noChangeArrowheads="1"/>
            </p:cNvSpPr>
            <p:nvPr/>
          </p:nvSpPr>
          <p:spPr bwMode="auto">
            <a:xfrm>
              <a:off x="4536" y="3696"/>
              <a:ext cx="34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.24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1" name="Rectangle 60"/>
            <p:cNvSpPr>
              <a:spLocks noChangeArrowheads="1"/>
            </p:cNvSpPr>
            <p:nvPr/>
          </p:nvSpPr>
          <p:spPr bwMode="auto">
            <a:xfrm>
              <a:off x="4184" y="369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.23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2" name="Rectangle 61"/>
            <p:cNvSpPr>
              <a:spLocks noChangeArrowheads="1"/>
            </p:cNvSpPr>
            <p:nvPr/>
          </p:nvSpPr>
          <p:spPr bwMode="auto">
            <a:xfrm>
              <a:off x="3792" y="3696"/>
              <a:ext cx="39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.22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3" name="Rectangle 62"/>
            <p:cNvSpPr>
              <a:spLocks noChangeArrowheads="1"/>
            </p:cNvSpPr>
            <p:nvPr/>
          </p:nvSpPr>
          <p:spPr bwMode="auto">
            <a:xfrm>
              <a:off x="3448" y="3696"/>
              <a:ext cx="34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.21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4" name="Rectangle 63"/>
            <p:cNvSpPr>
              <a:spLocks noChangeArrowheads="1"/>
            </p:cNvSpPr>
            <p:nvPr/>
          </p:nvSpPr>
          <p:spPr bwMode="auto">
            <a:xfrm>
              <a:off x="3072" y="3696"/>
              <a:ext cx="37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.19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5" name="Rectangle 64"/>
            <p:cNvSpPr>
              <a:spLocks noChangeArrowheads="1"/>
            </p:cNvSpPr>
            <p:nvPr/>
          </p:nvSpPr>
          <p:spPr bwMode="auto">
            <a:xfrm>
              <a:off x="2720" y="369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.18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6" name="Rectangle 65"/>
            <p:cNvSpPr>
              <a:spLocks noChangeArrowheads="1"/>
            </p:cNvSpPr>
            <p:nvPr/>
          </p:nvSpPr>
          <p:spPr bwMode="auto">
            <a:xfrm>
              <a:off x="2360" y="3696"/>
              <a:ext cx="36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.16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7" name="Rectangle 66"/>
            <p:cNvSpPr>
              <a:spLocks noChangeArrowheads="1"/>
            </p:cNvSpPr>
            <p:nvPr/>
          </p:nvSpPr>
          <p:spPr bwMode="auto">
            <a:xfrm>
              <a:off x="1984" y="3696"/>
              <a:ext cx="37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.14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8" name="Rectangle 67"/>
            <p:cNvSpPr>
              <a:spLocks noChangeArrowheads="1"/>
            </p:cNvSpPr>
            <p:nvPr/>
          </p:nvSpPr>
          <p:spPr bwMode="auto">
            <a:xfrm>
              <a:off x="1632" y="3696"/>
              <a:ext cx="35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.06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19" name="Rectangle 68"/>
            <p:cNvSpPr>
              <a:spLocks noChangeArrowheads="1"/>
            </p:cNvSpPr>
            <p:nvPr/>
          </p:nvSpPr>
          <p:spPr bwMode="auto">
            <a:xfrm>
              <a:off x="1264" y="3696"/>
              <a:ext cx="36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.04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0" name="Rectangle 69"/>
            <p:cNvSpPr>
              <a:spLocks noChangeArrowheads="1"/>
            </p:cNvSpPr>
            <p:nvPr/>
          </p:nvSpPr>
          <p:spPr bwMode="auto">
            <a:xfrm>
              <a:off x="256" y="3696"/>
              <a:ext cx="100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en-US" b="0">
                  <a:latin typeface="Tahoma" pitchFamily="34" charset="0"/>
                </a:rPr>
                <a:t>decimal</a:t>
              </a:r>
              <a:endParaRPr lang="en-GB" altLang="en-US" b="0">
                <a:latin typeface="Tahoma" pitchFamily="34" charset="0"/>
              </a:endParaRPr>
            </a:p>
          </p:txBody>
        </p:sp>
        <p:sp>
          <p:nvSpPr>
            <p:cNvPr id="20521" name="Line 70"/>
            <p:cNvSpPr>
              <a:spLocks noChangeShapeType="1"/>
            </p:cNvSpPr>
            <p:nvPr/>
          </p:nvSpPr>
          <p:spPr bwMode="auto">
            <a:xfrm>
              <a:off x="256" y="3926"/>
              <a:ext cx="53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20494" name="Line 71"/>
          <p:cNvSpPr>
            <a:spLocks noChangeShapeType="1"/>
          </p:cNvSpPr>
          <p:nvPr/>
        </p:nvSpPr>
        <p:spPr bwMode="auto">
          <a:xfrm>
            <a:off x="406400" y="4772025"/>
            <a:ext cx="0" cy="14605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95" name="Line 72"/>
          <p:cNvSpPr>
            <a:spLocks noChangeShapeType="1"/>
          </p:cNvSpPr>
          <p:nvPr/>
        </p:nvSpPr>
        <p:spPr bwMode="auto">
          <a:xfrm>
            <a:off x="20066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96" name="Line 73"/>
          <p:cNvSpPr>
            <a:spLocks noChangeShapeType="1"/>
          </p:cNvSpPr>
          <p:nvPr/>
        </p:nvSpPr>
        <p:spPr bwMode="auto">
          <a:xfrm>
            <a:off x="25908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97" name="Line 74"/>
          <p:cNvSpPr>
            <a:spLocks noChangeShapeType="1"/>
          </p:cNvSpPr>
          <p:nvPr/>
        </p:nvSpPr>
        <p:spPr bwMode="auto">
          <a:xfrm>
            <a:off x="31496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98" name="Line 75"/>
          <p:cNvSpPr>
            <a:spLocks noChangeShapeType="1"/>
          </p:cNvSpPr>
          <p:nvPr/>
        </p:nvSpPr>
        <p:spPr bwMode="auto">
          <a:xfrm>
            <a:off x="37465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99" name="Line 76"/>
          <p:cNvSpPr>
            <a:spLocks noChangeShapeType="1"/>
          </p:cNvSpPr>
          <p:nvPr/>
        </p:nvSpPr>
        <p:spPr bwMode="auto">
          <a:xfrm>
            <a:off x="43180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0" name="Line 77"/>
          <p:cNvSpPr>
            <a:spLocks noChangeShapeType="1"/>
          </p:cNvSpPr>
          <p:nvPr/>
        </p:nvSpPr>
        <p:spPr bwMode="auto">
          <a:xfrm>
            <a:off x="48768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1" name="Line 78"/>
          <p:cNvSpPr>
            <a:spLocks noChangeShapeType="1"/>
          </p:cNvSpPr>
          <p:nvPr/>
        </p:nvSpPr>
        <p:spPr bwMode="auto">
          <a:xfrm>
            <a:off x="54737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2" name="Line 79"/>
          <p:cNvSpPr>
            <a:spLocks noChangeShapeType="1"/>
          </p:cNvSpPr>
          <p:nvPr/>
        </p:nvSpPr>
        <p:spPr bwMode="auto">
          <a:xfrm>
            <a:off x="60198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3" name="Line 80"/>
          <p:cNvSpPr>
            <a:spLocks noChangeShapeType="1"/>
          </p:cNvSpPr>
          <p:nvPr/>
        </p:nvSpPr>
        <p:spPr bwMode="auto">
          <a:xfrm>
            <a:off x="66421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4" name="Line 81"/>
          <p:cNvSpPr>
            <a:spLocks noChangeShapeType="1"/>
          </p:cNvSpPr>
          <p:nvPr/>
        </p:nvSpPr>
        <p:spPr bwMode="auto">
          <a:xfrm>
            <a:off x="72009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5" name="Line 82"/>
          <p:cNvSpPr>
            <a:spLocks noChangeShapeType="1"/>
          </p:cNvSpPr>
          <p:nvPr/>
        </p:nvSpPr>
        <p:spPr bwMode="auto">
          <a:xfrm>
            <a:off x="77470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6" name="Line 83"/>
          <p:cNvSpPr>
            <a:spLocks noChangeShapeType="1"/>
          </p:cNvSpPr>
          <p:nvPr/>
        </p:nvSpPr>
        <p:spPr bwMode="auto">
          <a:xfrm>
            <a:off x="8318500" y="4772025"/>
            <a:ext cx="0" cy="146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07" name="Line 84"/>
          <p:cNvSpPr>
            <a:spLocks noChangeShapeType="1"/>
          </p:cNvSpPr>
          <p:nvPr/>
        </p:nvSpPr>
        <p:spPr bwMode="auto">
          <a:xfrm>
            <a:off x="8877300" y="4772025"/>
            <a:ext cx="0" cy="14605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061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1B82EF4-36D0-4E11-98B2-F88A91468C0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Concept Hierarchy Generation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000" b="1"/>
              <a:t>Concept hierarchy</a:t>
            </a:r>
            <a:r>
              <a:rPr lang="en-US" sz="2000"/>
              <a:t> organizes concepts (i.e., attribute values) hierarchically and is usually associated with each dimension in a data warehouse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/>
              <a:t>Concept hierarchies facilitate </a:t>
            </a:r>
            <a:r>
              <a:rPr lang="en-US" sz="2000" u="sng"/>
              <a:t>drilling and rolling</a:t>
            </a:r>
            <a:r>
              <a:rPr lang="en-US" sz="2000"/>
              <a:t> in data warehouses to view data in multiple granularity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/>
              <a:t>Concept hierarchy formation: Recursively reduce the data by collecting and replacing low level concepts (such as numeric values for </a:t>
            </a:r>
            <a:r>
              <a:rPr lang="en-US" sz="2000" i="1"/>
              <a:t>age</a:t>
            </a:r>
            <a:r>
              <a:rPr lang="en-US" sz="2000"/>
              <a:t>) by higher level concepts (such as </a:t>
            </a:r>
            <a:r>
              <a:rPr lang="en-US" sz="2000" i="1"/>
              <a:t>youth, adult</a:t>
            </a:r>
            <a:r>
              <a:rPr lang="en-US" sz="2000"/>
              <a:t>, or </a:t>
            </a:r>
            <a:r>
              <a:rPr lang="en-US" sz="2000" i="1"/>
              <a:t>senior</a:t>
            </a:r>
            <a:r>
              <a:rPr lang="en-US" sz="200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/>
              <a:t>Concept hierarchies can be explicitly specified by domain experts and/or data warehouse designers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/>
              <a:t>Concept hierarchy can be automatically formed for both numeric and nominal data.  For numeric data, use discretization methods shown.</a:t>
            </a:r>
          </a:p>
          <a:p>
            <a:pPr eaLnBrk="1" hangingPunct="1">
              <a:lnSpc>
                <a:spcPct val="120000"/>
              </a:lnSpc>
            </a:pPr>
            <a:endParaRPr lang="en-US" sz="200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061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3DCFF8D-C18F-4DEC-866E-87803BDC6CB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sz="3200"/>
              <a:t>Automatic Concept Hierarchy Generation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077200" cy="228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Calibri" pitchFamily="34" charset="0"/>
                <a:cs typeface="Calibri" pitchFamily="34" charset="0"/>
              </a:rPr>
              <a:t>Some hierarchies can be automatically generated based on the analysis of the number of distinct values per attribute in the data set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Calibri" pitchFamily="34" charset="0"/>
                <a:cs typeface="Calibri" pitchFamily="34" charset="0"/>
              </a:rPr>
              <a:t>The attribute with the most distinct values is placed at the lowest level of the hierarchy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Calibri" pitchFamily="34" charset="0"/>
                <a:cs typeface="Calibri" pitchFamily="34" charset="0"/>
              </a:rPr>
              <a:t>Exceptions, e.g., weekday, month, quarter, year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3733800"/>
            <a:ext cx="7156450" cy="2724150"/>
            <a:chOff x="672" y="2438"/>
            <a:chExt cx="4508" cy="1716"/>
          </a:xfrm>
        </p:grpSpPr>
        <p:sp>
          <p:nvSpPr>
            <p:cNvPr id="65542" name="Oval 5"/>
            <p:cNvSpPr>
              <a:spLocks noChangeArrowheads="1"/>
            </p:cNvSpPr>
            <p:nvPr/>
          </p:nvSpPr>
          <p:spPr bwMode="auto">
            <a:xfrm>
              <a:off x="672" y="2496"/>
              <a:ext cx="2256" cy="216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Times New Roman" pitchFamily="18" charset="0"/>
                </a:rPr>
                <a:t>country</a:t>
              </a:r>
            </a:p>
          </p:txBody>
        </p:sp>
        <p:sp>
          <p:nvSpPr>
            <p:cNvPr id="65543" name="Oval 6"/>
            <p:cNvSpPr>
              <a:spLocks noChangeArrowheads="1"/>
            </p:cNvSpPr>
            <p:nvPr/>
          </p:nvSpPr>
          <p:spPr bwMode="auto">
            <a:xfrm>
              <a:off x="708" y="2952"/>
              <a:ext cx="2256" cy="216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Times New Roman" pitchFamily="18" charset="0"/>
                </a:rPr>
                <a:t>province_or_ state</a:t>
              </a:r>
            </a:p>
          </p:txBody>
        </p:sp>
        <p:sp>
          <p:nvSpPr>
            <p:cNvPr id="65544" name="Oval 7"/>
            <p:cNvSpPr>
              <a:spLocks noChangeArrowheads="1"/>
            </p:cNvSpPr>
            <p:nvPr/>
          </p:nvSpPr>
          <p:spPr bwMode="auto">
            <a:xfrm>
              <a:off x="756" y="3456"/>
              <a:ext cx="2256" cy="216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Times New Roman" pitchFamily="18" charset="0"/>
                </a:rPr>
                <a:t>city</a:t>
              </a:r>
            </a:p>
          </p:txBody>
        </p:sp>
        <p:sp>
          <p:nvSpPr>
            <p:cNvPr id="65545" name="Oval 8"/>
            <p:cNvSpPr>
              <a:spLocks noChangeArrowheads="1"/>
            </p:cNvSpPr>
            <p:nvPr/>
          </p:nvSpPr>
          <p:spPr bwMode="auto">
            <a:xfrm>
              <a:off x="744" y="3936"/>
              <a:ext cx="2256" cy="216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Times New Roman" pitchFamily="18" charset="0"/>
                </a:rPr>
                <a:t>street</a:t>
              </a:r>
            </a:p>
          </p:txBody>
        </p:sp>
        <p:sp>
          <p:nvSpPr>
            <p:cNvPr id="65546" name="Line 9"/>
            <p:cNvSpPr>
              <a:spLocks noChangeShapeType="1"/>
            </p:cNvSpPr>
            <p:nvPr/>
          </p:nvSpPr>
          <p:spPr bwMode="auto">
            <a:xfrm flipH="1">
              <a:off x="1836" y="2736"/>
              <a:ext cx="0" cy="24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7" name="Line 10"/>
            <p:cNvSpPr>
              <a:spLocks noChangeShapeType="1"/>
            </p:cNvSpPr>
            <p:nvPr/>
          </p:nvSpPr>
          <p:spPr bwMode="auto">
            <a:xfrm>
              <a:off x="1836" y="3096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8" name="Line 11"/>
            <p:cNvSpPr>
              <a:spLocks noChangeShapeType="1"/>
            </p:cNvSpPr>
            <p:nvPr/>
          </p:nvSpPr>
          <p:spPr bwMode="auto">
            <a:xfrm>
              <a:off x="1836" y="3612"/>
              <a:ext cx="0" cy="34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9" name="Text Box 12"/>
            <p:cNvSpPr txBox="1">
              <a:spLocks noChangeArrowheads="1"/>
            </p:cNvSpPr>
            <p:nvPr/>
          </p:nvSpPr>
          <p:spPr bwMode="auto">
            <a:xfrm>
              <a:off x="3542" y="2438"/>
              <a:ext cx="14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15 distinct values</a:t>
              </a:r>
            </a:p>
          </p:txBody>
        </p:sp>
        <p:sp>
          <p:nvSpPr>
            <p:cNvPr id="65550" name="Text Box 13"/>
            <p:cNvSpPr txBox="1">
              <a:spLocks noChangeArrowheads="1"/>
            </p:cNvSpPr>
            <p:nvPr/>
          </p:nvSpPr>
          <p:spPr bwMode="auto">
            <a:xfrm>
              <a:off x="3552" y="2942"/>
              <a:ext cx="15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365 distinct values</a:t>
              </a:r>
            </a:p>
          </p:txBody>
        </p:sp>
        <p:sp>
          <p:nvSpPr>
            <p:cNvPr id="65551" name="Text Box 14"/>
            <p:cNvSpPr txBox="1">
              <a:spLocks noChangeArrowheads="1"/>
            </p:cNvSpPr>
            <p:nvPr/>
          </p:nvSpPr>
          <p:spPr bwMode="auto">
            <a:xfrm>
              <a:off x="3470" y="3410"/>
              <a:ext cx="16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3567 distinct values</a:t>
              </a:r>
            </a:p>
          </p:txBody>
        </p:sp>
        <p:sp>
          <p:nvSpPr>
            <p:cNvPr id="65552" name="Text Box 15"/>
            <p:cNvSpPr txBox="1">
              <a:spLocks noChangeArrowheads="1"/>
            </p:cNvSpPr>
            <p:nvPr/>
          </p:nvSpPr>
          <p:spPr bwMode="auto">
            <a:xfrm>
              <a:off x="3290" y="3866"/>
              <a:ext cx="189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674,339 distinct values</a:t>
              </a:r>
            </a:p>
          </p:txBody>
        </p:sp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4606</TotalTime>
  <Words>1951</Words>
  <Application>Microsoft Office PowerPoint</Application>
  <PresentationFormat>On-screen Show (4:3)</PresentationFormat>
  <Paragraphs>361</Paragraphs>
  <Slides>31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Calibri</vt:lpstr>
      <vt:lpstr>Courier New</vt:lpstr>
      <vt:lpstr>Monotype Sorts</vt:lpstr>
      <vt:lpstr>Tahoma</vt:lpstr>
      <vt:lpstr>Times New Roman</vt:lpstr>
      <vt:lpstr>Trebuchet MS</vt:lpstr>
      <vt:lpstr>Wingdings</vt:lpstr>
      <vt:lpstr>Default Design</vt:lpstr>
      <vt:lpstr>Worksheet</vt:lpstr>
      <vt:lpstr>Equation</vt:lpstr>
      <vt:lpstr>Microsoft Equation 3.0</vt:lpstr>
      <vt:lpstr>PowerPoint Presentation</vt:lpstr>
      <vt:lpstr>Data Preprocessing</vt:lpstr>
      <vt:lpstr>Why Data Preprocessing?</vt:lpstr>
      <vt:lpstr>Major Tasks in Data Preprocessing</vt:lpstr>
      <vt:lpstr>Data Preprocessing</vt:lpstr>
      <vt:lpstr>Data Cleaning</vt:lpstr>
      <vt:lpstr>Data Cleaning</vt:lpstr>
      <vt:lpstr>Methods of Treating Missing Data</vt:lpstr>
      <vt:lpstr>PowerPoint Presentation</vt:lpstr>
      <vt:lpstr>Imputation of Missing Data (Basic)</vt:lpstr>
      <vt:lpstr>Imputation of Missing Data (Basic)</vt:lpstr>
      <vt:lpstr>Detecting Outliers (Clustering)</vt:lpstr>
      <vt:lpstr>Data Preprocessing</vt:lpstr>
      <vt:lpstr>Data Integration</vt:lpstr>
      <vt:lpstr>Data Integration (Problem 1)</vt:lpstr>
      <vt:lpstr>PowerPoint Presentation</vt:lpstr>
      <vt:lpstr>PowerPoint Presentation</vt:lpstr>
      <vt:lpstr>Handling Redundant Data in Data Integration</vt:lpstr>
      <vt:lpstr>Correlation Analysis for Detecting Redundancy</vt:lpstr>
      <vt:lpstr>Example: Correlation and Covariance</vt:lpstr>
      <vt:lpstr>PowerPoint Presentation</vt:lpstr>
      <vt:lpstr>2 Correlation Test for Nominal Data</vt:lpstr>
      <vt:lpstr>PowerPoint Presentation</vt:lpstr>
      <vt:lpstr>PowerPoint Presentation</vt:lpstr>
      <vt:lpstr>Data Preprocessing</vt:lpstr>
      <vt:lpstr>Data Transformation</vt:lpstr>
      <vt:lpstr>Data Normalization</vt:lpstr>
      <vt:lpstr>Data Normalization</vt:lpstr>
      <vt:lpstr>Building mineable data sets Data Transformation: Normalization</vt:lpstr>
      <vt:lpstr>Concept Hierarchy Generation</vt:lpstr>
      <vt:lpstr>Automatic Concept Hierarchy Generation</vt:lpstr>
    </vt:vector>
  </TitlesOfParts>
  <Company>RHfarm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339</cp:revision>
  <dcterms:created xsi:type="dcterms:W3CDTF">2006-02-06T02:43:57Z</dcterms:created>
  <dcterms:modified xsi:type="dcterms:W3CDTF">2020-11-18T14:36:24Z</dcterms:modified>
</cp:coreProperties>
</file>