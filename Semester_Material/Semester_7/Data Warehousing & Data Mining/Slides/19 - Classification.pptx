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23"/>
  </p:notesMasterIdLst>
  <p:sldIdLst>
    <p:sldId id="326" r:id="rId2"/>
    <p:sldId id="403" r:id="rId3"/>
    <p:sldId id="404" r:id="rId4"/>
    <p:sldId id="405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406" r:id="rId13"/>
    <p:sldId id="407" r:id="rId14"/>
    <p:sldId id="408" r:id="rId15"/>
    <p:sldId id="409" r:id="rId16"/>
    <p:sldId id="410" r:id="rId17"/>
    <p:sldId id="411" r:id="rId18"/>
    <p:sldId id="412" r:id="rId19"/>
    <p:sldId id="413" r:id="rId20"/>
    <p:sldId id="414" r:id="rId21"/>
    <p:sldId id="415" r:id="rId22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FF3399"/>
    <a:srgbClr val="FF33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909" autoAdjust="0"/>
  </p:normalViewPr>
  <p:slideViewPr>
    <p:cSldViewPr>
      <p:cViewPr varScale="1">
        <p:scale>
          <a:sx n="66" d="100"/>
          <a:sy n="66" d="100"/>
        </p:scale>
        <p:origin x="-148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BAC4160-D9F3-45E2-9DE0-B8B505BD6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4602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95B799E-8931-4162-B505-68AEEEF98DB2}" type="slidenum">
              <a:rPr lang="en-US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034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3E96FE-1CA6-4047-AE10-6BBEB88AF85B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44108"/>
            <a:ext cx="5028579" cy="4116215"/>
          </a:xfrm>
          <a:noFill/>
          <a:ln/>
        </p:spPr>
        <p:txBody>
          <a:bodyPr lIns="86029" tIns="43014" rIns="86029" bIns="43014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583049-65E0-404D-87CC-93AE5215746B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44108"/>
            <a:ext cx="5028579" cy="4116215"/>
          </a:xfrm>
          <a:noFill/>
          <a:ln/>
        </p:spPr>
        <p:txBody>
          <a:bodyPr lIns="86029" tIns="43014" rIns="86029" bIns="43014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9C6824-14E3-411F-ADBB-2B8E9D226C22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Calibri" pitchFamily="34" charset="0"/>
              <a:buNone/>
            </a:pPr>
            <a:fld id="{F259F7AF-06FE-4BDB-BD30-B97F03CDD51C}" type="slidenum">
              <a:rPr lang="en-US" smtClean="0">
                <a:latin typeface="Calibri" pitchFamily="34" charset="0"/>
                <a:ea typeface="DejaVu LGC Sans"/>
                <a:cs typeface="DejaVu LGC Sans"/>
              </a:rPr>
              <a:pPr>
                <a:buFont typeface="Calibri" pitchFamily="34" charset="0"/>
                <a:buNone/>
              </a:pPr>
              <a:t>12</a:t>
            </a:fld>
            <a:endParaRPr lang="en-US" smtClean="0">
              <a:latin typeface="Calibri" pitchFamily="34" charset="0"/>
              <a:ea typeface="DejaVu LGC Sans"/>
              <a:cs typeface="DejaVu LGC Sans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6987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A9EE7-E4AC-4300-A754-514C3129D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E1A1F-3ABD-4CEF-A482-B15E21FE0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8B5C6-2A8F-42B5-99F9-35F9B3F4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BAAB9-4F84-40AE-B308-95384B73C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00C8-5B76-4616-82A2-EE151DA16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4BC93-BA4B-4474-84A5-200AE18AB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8A281-50F0-40D6-9CF3-3E00E48EF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7B583-639C-495F-A483-15D5E0E4D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14A99-27F8-416E-9CB7-91D553088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A75F8-C3A3-43B4-80CB-23D2B6E01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0AFE1-0021-4963-8B77-5747897D1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7DCC2CAA-102D-45B2-908E-FFE82ECC9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  <p:sldLayoutId id="2147484174" r:id="rId12"/>
    <p:sldLayoutId id="2147484175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Microsoft_Office_Word_97_-_2003_Document2.doc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3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4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5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6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7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8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9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0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1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>
            <a:spLocks noChangeArrowheads="1"/>
          </p:cNvSpPr>
          <p:nvPr/>
        </p:nvSpPr>
        <p:spPr bwMode="auto">
          <a:xfrm>
            <a:off x="762000" y="762000"/>
            <a:ext cx="7543800" cy="526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400" dirty="0"/>
              <a:t>CSC479 </a:t>
            </a:r>
          </a:p>
          <a:p>
            <a:r>
              <a:rPr lang="en-US" sz="4400" dirty="0"/>
              <a:t>Data Mining</a:t>
            </a:r>
          </a:p>
          <a:p>
            <a:endParaRPr lang="en-US" sz="2800" dirty="0"/>
          </a:p>
          <a:p>
            <a:endParaRPr lang="en-US" sz="2800" dirty="0"/>
          </a:p>
          <a:p>
            <a:pPr lvl="2" algn="l"/>
            <a:r>
              <a:rPr lang="en-US" sz="3600" dirty="0" smtClean="0"/>
              <a:t>	Classification</a:t>
            </a:r>
          </a:p>
          <a:p>
            <a:pPr lvl="2" algn="l"/>
            <a:r>
              <a:rPr lang="en-US" sz="3600" dirty="0" smtClean="0"/>
              <a:t>	</a:t>
            </a:r>
            <a:r>
              <a:rPr lang="en-US" sz="3600" b="0" dirty="0" smtClean="0"/>
              <a:t>Basic Concepts</a:t>
            </a:r>
          </a:p>
          <a:p>
            <a:pPr lvl="2" algn="l"/>
            <a:r>
              <a:rPr lang="en-US" sz="3600" b="0" dirty="0" smtClean="0"/>
              <a:t>	Decision Trees</a:t>
            </a:r>
          </a:p>
          <a:p>
            <a:pPr>
              <a:lnSpc>
                <a:spcPct val="90000"/>
              </a:lnSpc>
            </a:pPr>
            <a:endParaRPr lang="en-US" sz="3600" b="0" dirty="0"/>
          </a:p>
          <a:p>
            <a:r>
              <a:rPr lang="en-US" sz="2400" dirty="0"/>
              <a:t>(</a:t>
            </a:r>
            <a:r>
              <a:rPr lang="en-US" sz="2800" dirty="0"/>
              <a:t>Ch # </a:t>
            </a:r>
            <a:r>
              <a:rPr lang="en-US" sz="2800" dirty="0" smtClean="0"/>
              <a:t>8: Data Mining</a:t>
            </a:r>
            <a:r>
              <a:rPr lang="en-US" sz="2400" dirty="0" smtClean="0"/>
              <a:t>-Concepts and Techniques by Han and </a:t>
            </a:r>
            <a:r>
              <a:rPr lang="en-US" sz="2400" dirty="0" err="1" smtClean="0"/>
              <a:t>Kamber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AF0A625-DBFC-415F-8E7C-EAE4811120BB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83638" cy="762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mtClean="0"/>
              <a:t>Supervised vs. Unsupervised Learning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58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sz="2400" smtClean="0">
                <a:solidFill>
                  <a:srgbClr val="F83F24"/>
                </a:solidFill>
              </a:rPr>
              <a:t>Supervised learning (classification)</a:t>
            </a:r>
            <a:endParaRPr lang="en-US" sz="2400" smtClean="0"/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Supervision: The training data (observations, measurements, etc.) are accompanied by </a:t>
            </a:r>
            <a:r>
              <a:rPr lang="en-US" sz="2400" b="1" smtClean="0"/>
              <a:t>labels</a:t>
            </a:r>
            <a:r>
              <a:rPr lang="en-US" sz="2400" smtClean="0"/>
              <a:t> indicating the class of the observations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New data is classified based on the training set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 smtClean="0">
                <a:solidFill>
                  <a:srgbClr val="F83F24"/>
                </a:solidFill>
              </a:rPr>
              <a:t>Unsupervised learning</a:t>
            </a:r>
            <a:r>
              <a:rPr lang="en-US" sz="2400" smtClean="0"/>
              <a:t> </a:t>
            </a:r>
            <a:r>
              <a:rPr lang="en-US" sz="2400" smtClean="0">
                <a:solidFill>
                  <a:srgbClr val="FF3300"/>
                </a:solidFill>
              </a:rPr>
              <a:t>(clustering)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The class labels of training data is unknown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Given a set of measurements, observations, etc. with the aim of establishing the existence of classes or clusters in the data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63C9FC7-36A5-4CE8-A3A9-DF5E77EEDDF9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05800" cy="5029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chemeClr val="tx2"/>
                </a:solidFill>
              </a:rPr>
              <a:t>Classification</a:t>
            </a:r>
            <a:r>
              <a:rPr lang="en-US" sz="2000" dirty="0" smtClean="0"/>
              <a:t>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predicts categorical class labels (discrete or nominal)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classifies data (constructs a model) based on the training set and the values (</a:t>
            </a:r>
            <a:r>
              <a:rPr lang="en-US" sz="2400" dirty="0" smtClean="0">
                <a:solidFill>
                  <a:schemeClr val="hlink"/>
                </a:solidFill>
              </a:rPr>
              <a:t>class labels</a:t>
            </a:r>
            <a:r>
              <a:rPr lang="en-US" sz="2400" dirty="0" smtClean="0"/>
              <a:t>) in a classifying attribute and uses it in classifying new data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chemeClr val="tx2"/>
                </a:solidFill>
              </a:rPr>
              <a:t>Numeric Prediction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models continuous-valued functions, i.e., predicts unknown or missing values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Typical applications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Credit/loan approval: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Medical diagnosis: if a tumor is cancerous or not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Fraud detection: if a transaction is fraudulent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Web page categorization: which category it is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4775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mtClean="0"/>
              <a:t>Prediction Problems: Classification vs. Numeric Prediction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0D433EC-6682-4BFE-8D44-49993B23F80F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01000" cy="685800"/>
          </a:xfrm>
        </p:spPr>
        <p:txBody>
          <a:bodyPr/>
          <a:lstStyle/>
          <a:p>
            <a:pPr eaLnBrk="1" hangingPunct="1"/>
            <a:r>
              <a:rPr lang="en-US" smtClean="0"/>
              <a:t>Classification—A Two-Step Process</a:t>
            </a:r>
            <a:r>
              <a:rPr lang="en-US" sz="2800" smtClean="0"/>
              <a:t> </a:t>
            </a:r>
            <a:endParaRPr lang="en-US" sz="320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257800"/>
          </a:xfrm>
        </p:spPr>
        <p:txBody>
          <a:bodyPr/>
          <a:lstStyle/>
          <a:p>
            <a:pPr eaLnBrk="1" hangingPunct="1"/>
            <a:r>
              <a:rPr lang="en-US" sz="2000" dirty="0" smtClean="0">
                <a:solidFill>
                  <a:schemeClr val="tx2"/>
                </a:solidFill>
              </a:rPr>
              <a:t>Model construction: describing a set of predetermined classes</a:t>
            </a:r>
          </a:p>
          <a:p>
            <a:pPr lvl="1" eaLnBrk="1" hangingPunct="1"/>
            <a:r>
              <a:rPr lang="en-US" sz="2000" dirty="0" smtClean="0">
                <a:solidFill>
                  <a:schemeClr val="tx2"/>
                </a:solidFill>
              </a:rPr>
              <a:t>Each </a:t>
            </a:r>
            <a:r>
              <a:rPr lang="en-US" sz="2000" dirty="0" err="1" smtClean="0">
                <a:solidFill>
                  <a:schemeClr val="tx2"/>
                </a:solidFill>
              </a:rPr>
              <a:t>tuple</a:t>
            </a:r>
            <a:r>
              <a:rPr lang="en-US" sz="2000" dirty="0" smtClean="0">
                <a:solidFill>
                  <a:schemeClr val="tx2"/>
                </a:solidFill>
              </a:rPr>
              <a:t>/sample is assumed to belong to a predefined class, as determined by the class label attribute</a:t>
            </a:r>
          </a:p>
          <a:p>
            <a:pPr lvl="1" eaLnBrk="1" hangingPunct="1"/>
            <a:r>
              <a:rPr lang="en-US" sz="2000" dirty="0" smtClean="0">
                <a:solidFill>
                  <a:schemeClr val="tx2"/>
                </a:solidFill>
              </a:rPr>
              <a:t>The set of </a:t>
            </a:r>
            <a:r>
              <a:rPr lang="en-US" sz="2000" dirty="0" err="1" smtClean="0">
                <a:solidFill>
                  <a:schemeClr val="tx2"/>
                </a:solidFill>
              </a:rPr>
              <a:t>tuples</a:t>
            </a:r>
            <a:r>
              <a:rPr lang="en-US" sz="2000" dirty="0" smtClean="0">
                <a:solidFill>
                  <a:schemeClr val="tx2"/>
                </a:solidFill>
              </a:rPr>
              <a:t> used for model construction is training set</a:t>
            </a:r>
          </a:p>
          <a:p>
            <a:pPr lvl="1" eaLnBrk="1" hangingPunct="1"/>
            <a:r>
              <a:rPr lang="en-US" sz="2000" dirty="0" smtClean="0">
                <a:solidFill>
                  <a:schemeClr val="tx2"/>
                </a:solidFill>
              </a:rPr>
              <a:t>The model is represented as classification rules, decision trees, or mathematical formulae</a:t>
            </a:r>
          </a:p>
          <a:p>
            <a:pPr eaLnBrk="1" hangingPunct="1"/>
            <a:r>
              <a:rPr lang="en-US" sz="2000" dirty="0" smtClean="0">
                <a:solidFill>
                  <a:schemeClr val="tx2"/>
                </a:solidFill>
              </a:rPr>
              <a:t>Model usage: for classifying future or unknown objects</a:t>
            </a:r>
          </a:p>
          <a:p>
            <a:pPr lvl="1" eaLnBrk="1" hangingPunct="1"/>
            <a:r>
              <a:rPr lang="en-US" sz="2000" dirty="0" smtClean="0">
                <a:solidFill>
                  <a:schemeClr val="tx2"/>
                </a:solidFill>
              </a:rPr>
              <a:t>Estimate accuracy of the model</a:t>
            </a:r>
          </a:p>
          <a:p>
            <a:pPr lvl="2" eaLnBrk="1" hangingPunct="1"/>
            <a:r>
              <a:rPr lang="en-US" sz="2000" dirty="0" smtClean="0">
                <a:solidFill>
                  <a:schemeClr val="tx2"/>
                </a:solidFill>
              </a:rPr>
              <a:t>The known label of test sample is compared with the classified result from the model</a:t>
            </a:r>
          </a:p>
          <a:p>
            <a:pPr lvl="2" eaLnBrk="1" hangingPunct="1"/>
            <a:r>
              <a:rPr lang="en-US" sz="2000" dirty="0" smtClean="0">
                <a:solidFill>
                  <a:schemeClr val="tx2"/>
                </a:solidFill>
              </a:rPr>
              <a:t>Accuracy rate is the percentage of test set samples that are correctly classified by the model</a:t>
            </a:r>
          </a:p>
          <a:p>
            <a:pPr lvl="2" eaLnBrk="1" hangingPunct="1"/>
            <a:r>
              <a:rPr lang="en-US" sz="2000" dirty="0" smtClean="0">
                <a:solidFill>
                  <a:schemeClr val="tx2"/>
                </a:solidFill>
              </a:rPr>
              <a:t>Test set is independent of training set</a:t>
            </a:r>
          </a:p>
          <a:p>
            <a:pPr lvl="1" eaLnBrk="1" hangingPunct="1"/>
            <a:r>
              <a:rPr lang="en-US" sz="2000" dirty="0" smtClean="0">
                <a:solidFill>
                  <a:schemeClr val="tx2"/>
                </a:solidFill>
              </a:rPr>
              <a:t>If the accuracy is acceptable, use the model to classify new data</a:t>
            </a:r>
          </a:p>
          <a:p>
            <a:pPr eaLnBrk="1" hangingPunct="1"/>
            <a:r>
              <a:rPr lang="en-US" sz="2000" dirty="0" smtClean="0">
                <a:solidFill>
                  <a:schemeClr val="tx2"/>
                </a:solidFill>
              </a:rPr>
              <a:t>Note: If </a:t>
            </a:r>
            <a:r>
              <a:rPr lang="en-US" sz="2000" i="1" dirty="0" smtClean="0">
                <a:solidFill>
                  <a:schemeClr val="tx2"/>
                </a:solidFill>
              </a:rPr>
              <a:t>the test set </a:t>
            </a:r>
            <a:r>
              <a:rPr lang="en-US" sz="2000" dirty="0" smtClean="0">
                <a:solidFill>
                  <a:schemeClr val="tx2"/>
                </a:solidFill>
              </a:rPr>
              <a:t>is used to select models, it is called validation (test) set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r>
              <a:rPr lang="en-US" dirty="0" smtClean="0"/>
              <a:t>Catching t</a:t>
            </a:r>
            <a:r>
              <a:rPr lang="en-US" dirty="0" smtClean="0">
                <a:solidFill>
                  <a:schemeClr val="tx1"/>
                </a:solidFill>
              </a:rPr>
              <a:t>ax-e</a:t>
            </a:r>
            <a:r>
              <a:rPr lang="en-US" dirty="0" smtClean="0"/>
              <a:t>vasion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096196121"/>
              </p:ext>
            </p:extLst>
          </p:nvPr>
        </p:nvGraphicFramePr>
        <p:xfrm>
          <a:off x="762000" y="1585118"/>
          <a:ext cx="3565525" cy="3687763"/>
        </p:xfrm>
        <a:graphic>
          <a:graphicData uri="http://schemas.openxmlformats.org/presentationml/2006/ole">
            <p:oleObj spid="_x0000_s107562" name="Document" r:id="rId3" imgW="5404104" imgH="5779008" progId="Word.Document.8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894828516"/>
              </p:ext>
            </p:extLst>
          </p:nvPr>
        </p:nvGraphicFramePr>
        <p:xfrm>
          <a:off x="5029200" y="3962400"/>
          <a:ext cx="3146611" cy="990600"/>
        </p:xfrm>
        <a:graphic>
          <a:graphicData uri="http://schemas.openxmlformats.org/presentationml/2006/ole">
            <p:oleObj spid="_x0000_s107563" name="Document" r:id="rId4" imgW="4660937" imgH="1576052" progId="Word.Document.8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95800" y="2209800"/>
            <a:ext cx="3142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Tax-return data for year 2011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3276600"/>
            <a:ext cx="3082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new tax return for 2012</a:t>
            </a:r>
          </a:p>
          <a:p>
            <a:r>
              <a:rPr lang="en-US" dirty="0" smtClean="0"/>
              <a:t>Is this a cheating tax return?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5715000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smtClean="0"/>
              <a:t>The data analysis task is classification, where a  model or classifier is constructed to predict class.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8976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r>
              <a:rPr lang="en-US" dirty="0" smtClean="0"/>
              <a:t>What is classification?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948490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Classification</a:t>
            </a:r>
            <a:r>
              <a:rPr lang="en-US" sz="2800" dirty="0" smtClean="0"/>
              <a:t> is the task of </a:t>
            </a:r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</a:rPr>
              <a:t>learning </a:t>
            </a:r>
            <a:r>
              <a:rPr lang="en-US" sz="2800" b="1" i="1" dirty="0" smtClean="0"/>
              <a:t>a target </a:t>
            </a:r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</a:rPr>
              <a:t>function</a:t>
            </a:r>
            <a:r>
              <a:rPr lang="en-US" sz="2800" b="1" i="1" dirty="0" smtClean="0"/>
              <a:t> </a:t>
            </a:r>
            <a:r>
              <a:rPr lang="en-US" sz="2800" b="1" i="1" dirty="0" smtClean="0">
                <a:solidFill>
                  <a:srgbClr val="0070C0"/>
                </a:solidFill>
              </a:rPr>
              <a:t>f</a:t>
            </a:r>
            <a:r>
              <a:rPr lang="en-US" sz="2800" dirty="0" smtClean="0"/>
              <a:t> that maps attribute set </a:t>
            </a:r>
            <a:r>
              <a:rPr lang="en-US" sz="2800" b="1" dirty="0" smtClean="0">
                <a:solidFill>
                  <a:srgbClr val="0070C0"/>
                </a:solidFill>
              </a:rPr>
              <a:t>x</a:t>
            </a:r>
            <a:r>
              <a:rPr lang="en-US" sz="2800" dirty="0" smtClean="0"/>
              <a:t> to one of the predefined class labels </a:t>
            </a:r>
            <a:r>
              <a:rPr lang="en-US" sz="2800" b="1" dirty="0" smtClean="0">
                <a:solidFill>
                  <a:srgbClr val="0070C0"/>
                </a:solidFill>
              </a:rPr>
              <a:t>y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71004" y="2423450"/>
            <a:ext cx="3587750" cy="4311650"/>
            <a:chOff x="288" y="951"/>
            <a:chExt cx="2260" cy="2716"/>
          </a:xfrm>
        </p:grpSpPr>
        <p:graphicFrame>
          <p:nvGraphicFramePr>
            <p:cNvPr id="6" name="Object 4"/>
            <p:cNvGraphicFramePr>
              <a:graphicFrameLocks noChangeAspect="1"/>
            </p:cNvGraphicFramePr>
            <p:nvPr/>
          </p:nvGraphicFramePr>
          <p:xfrm>
            <a:off x="288" y="1344"/>
            <a:ext cx="2246" cy="2323"/>
          </p:xfrm>
          <a:graphic>
            <a:graphicData uri="http://schemas.openxmlformats.org/presentationml/2006/ole">
              <p:oleObj spid="_x0000_s108566" name="Document" r:id="rId3" imgW="5404104" imgH="5779008" progId="Word.Document.8">
                <p:embed/>
              </p:oleObj>
            </a:graphicData>
          </a:graphic>
        </p:graphicFrame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 rot="-2416809">
              <a:off x="672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 dirty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 rot="-2416809">
              <a:off x="1104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 rot="-2416809">
              <a:off x="1632" y="951"/>
              <a:ext cx="8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continuous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 rot="-2416809">
              <a:off x="2112" y="1047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class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837449" y="3072078"/>
            <a:ext cx="52398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One of the attributes is the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class attribute</a:t>
            </a:r>
          </a:p>
          <a:p>
            <a:r>
              <a:rPr lang="en-US" sz="2000" dirty="0" smtClean="0"/>
              <a:t>	In this case: Cheat</a:t>
            </a:r>
          </a:p>
          <a:p>
            <a:endParaRPr lang="en-US" sz="2000" dirty="0" smtClean="0"/>
          </a:p>
          <a:p>
            <a:r>
              <a:rPr lang="en-US" sz="2000" dirty="0" smtClean="0"/>
              <a:t>Two </a:t>
            </a:r>
            <a:r>
              <a:rPr lang="en-US" sz="2000" dirty="0" smtClean="0">
                <a:solidFill>
                  <a:srgbClr val="0070C0"/>
                </a:solidFill>
              </a:rPr>
              <a:t>class labels </a:t>
            </a:r>
            <a:r>
              <a:rPr lang="en-US" sz="2000" dirty="0"/>
              <a:t>(or</a:t>
            </a:r>
            <a:r>
              <a:rPr lang="en-US" sz="2000" dirty="0" smtClean="0">
                <a:solidFill>
                  <a:srgbClr val="0070C0"/>
                </a:solidFill>
              </a:rPr>
              <a:t> classes</a:t>
            </a:r>
            <a:r>
              <a:rPr lang="en-US" sz="2000" dirty="0"/>
              <a:t>)</a:t>
            </a:r>
            <a:r>
              <a:rPr lang="en-US" sz="2000" dirty="0" smtClean="0"/>
              <a:t>: </a:t>
            </a:r>
            <a:r>
              <a:rPr lang="en-US" sz="2000" dirty="0" smtClean="0">
                <a:solidFill>
                  <a:srgbClr val="FF0000"/>
                </a:solidFill>
              </a:rPr>
              <a:t>Yes (1), No (0)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3733800" y="4724399"/>
            <a:ext cx="5356122" cy="1383665"/>
          </a:xfrm>
          <a:prstGeom prst="rect">
            <a:avLst/>
          </a:prstGeom>
        </p:spPr>
      </p:pic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5646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r>
              <a:rPr lang="en-US" smtClean="0"/>
              <a:t>What is classification (cont…)</a:t>
            </a:r>
            <a:endParaRPr lang="en-US" dirty="0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077200" cy="5334000"/>
          </a:xfrm>
        </p:spPr>
        <p:txBody>
          <a:bodyPr/>
          <a:lstStyle/>
          <a:p>
            <a:r>
              <a:rPr lang="en-US" dirty="0" smtClean="0"/>
              <a:t>Two Major Types of Prediction Problems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Classification</a:t>
            </a:r>
          </a:p>
          <a:p>
            <a:pPr lvl="1"/>
            <a:r>
              <a:rPr lang="en-US" dirty="0" smtClean="0"/>
              <a:t>The Model is constructed to predict class labe</a:t>
            </a:r>
            <a:r>
              <a:rPr lang="en-US" dirty="0"/>
              <a:t>l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Regression/ Numeric Prediction</a:t>
            </a:r>
          </a:p>
          <a:p>
            <a:pPr lvl="1"/>
            <a:r>
              <a:rPr lang="en-US" dirty="0" smtClean="0"/>
              <a:t>The constructed model predicts a continuous value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9280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sz="4000" dirty="0"/>
              <a:t>Examples of Classification </a:t>
            </a:r>
            <a:r>
              <a:rPr lang="en-US" sz="4000" dirty="0" smtClean="0"/>
              <a:t>Tasks</a:t>
            </a:r>
            <a:endParaRPr lang="en-US" sz="4000" dirty="0"/>
          </a:p>
        </p:txBody>
      </p:sp>
      <p:sp>
        <p:nvSpPr>
          <p:cNvPr id="91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572000"/>
          </a:xfrm>
        </p:spPr>
        <p:txBody>
          <a:bodyPr>
            <a:normAutofit fontScale="92500" lnSpcReduction="10000"/>
          </a:bodyPr>
          <a:lstStyle/>
          <a:p>
            <a:pPr lvl="4"/>
            <a:endParaRPr lang="en-US" sz="3400" dirty="0"/>
          </a:p>
          <a:p>
            <a:r>
              <a:rPr lang="en-US" sz="3400" dirty="0"/>
              <a:t>Classifying credit card </a:t>
            </a:r>
            <a:r>
              <a:rPr lang="en-US" sz="3400" dirty="0">
                <a:solidFill>
                  <a:srgbClr val="0070C0"/>
                </a:solidFill>
              </a:rPr>
              <a:t>transactions</a:t>
            </a:r>
            <a:r>
              <a:rPr lang="en-US" sz="3400" dirty="0"/>
              <a:t> </a:t>
            </a:r>
            <a:r>
              <a:rPr lang="en-US" sz="3400" dirty="0" smtClean="0"/>
              <a:t>as </a:t>
            </a:r>
            <a:r>
              <a:rPr lang="en-US" sz="3400" dirty="0">
                <a:solidFill>
                  <a:srgbClr val="00B050"/>
                </a:solidFill>
              </a:rPr>
              <a:t>legitimate</a:t>
            </a:r>
            <a:r>
              <a:rPr lang="en-US" sz="3400" dirty="0"/>
              <a:t> or </a:t>
            </a:r>
            <a:r>
              <a:rPr lang="en-US" sz="3400" dirty="0">
                <a:solidFill>
                  <a:srgbClr val="FF0000"/>
                </a:solidFill>
              </a:rPr>
              <a:t>fraudulent</a:t>
            </a:r>
          </a:p>
          <a:p>
            <a:pPr marL="1051560" lvl="4" indent="0">
              <a:buNone/>
            </a:pPr>
            <a:endParaRPr lang="en-US" sz="3400" dirty="0"/>
          </a:p>
          <a:p>
            <a:r>
              <a:rPr lang="en-US" sz="3400" dirty="0"/>
              <a:t>Categorizing </a:t>
            </a:r>
            <a:r>
              <a:rPr lang="en-US" sz="3400" dirty="0">
                <a:solidFill>
                  <a:srgbClr val="0070C0"/>
                </a:solidFill>
              </a:rPr>
              <a:t>news stories </a:t>
            </a:r>
            <a:r>
              <a:rPr lang="en-US" sz="3400" dirty="0"/>
              <a:t>as </a:t>
            </a:r>
            <a:r>
              <a:rPr lang="en-US" sz="3400" dirty="0">
                <a:solidFill>
                  <a:srgbClr val="00B050"/>
                </a:solidFill>
              </a:rPr>
              <a:t>finance</a:t>
            </a:r>
            <a:r>
              <a:rPr lang="en-US" sz="3400" dirty="0"/>
              <a:t>, </a:t>
            </a:r>
            <a:br>
              <a:rPr lang="en-US" sz="3400" dirty="0"/>
            </a:br>
            <a:r>
              <a:rPr lang="en-US" sz="3400" dirty="0">
                <a:solidFill>
                  <a:srgbClr val="FF0000"/>
                </a:solidFill>
              </a:rPr>
              <a:t>weather</a:t>
            </a:r>
            <a:r>
              <a:rPr lang="en-US" sz="3400" dirty="0"/>
              <a:t>, </a:t>
            </a:r>
            <a:r>
              <a:rPr lang="en-US" sz="3400" dirty="0">
                <a:solidFill>
                  <a:schemeClr val="accent2">
                    <a:lumMod val="75000"/>
                  </a:schemeClr>
                </a:solidFill>
              </a:rPr>
              <a:t>entertainment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7030A0"/>
                </a:solidFill>
              </a:rPr>
              <a:t>sports</a:t>
            </a:r>
            <a:r>
              <a:rPr lang="en-US" sz="3400" dirty="0"/>
              <a:t>, </a:t>
            </a:r>
            <a:r>
              <a:rPr lang="en-US" sz="3400" dirty="0" err="1" smtClean="0"/>
              <a:t>etc</a:t>
            </a:r>
            <a:endParaRPr lang="en-US" sz="3400" dirty="0" smtClean="0"/>
          </a:p>
          <a:p>
            <a:pPr lvl="1"/>
            <a:endParaRPr lang="en-US" sz="3400" dirty="0"/>
          </a:p>
          <a:p>
            <a:r>
              <a:rPr lang="en-US" sz="3400" dirty="0" smtClean="0"/>
              <a:t>Identifying </a:t>
            </a:r>
            <a:r>
              <a:rPr lang="en-US" sz="3400" dirty="0" smtClean="0">
                <a:solidFill>
                  <a:srgbClr val="FF0000"/>
                </a:solidFill>
              </a:rPr>
              <a:t>spam</a:t>
            </a:r>
            <a:r>
              <a:rPr lang="en-US" sz="3400" dirty="0" smtClean="0"/>
              <a:t> </a:t>
            </a:r>
            <a:r>
              <a:rPr lang="en-US" sz="3400" dirty="0" smtClean="0">
                <a:solidFill>
                  <a:srgbClr val="0070C0"/>
                </a:solidFill>
              </a:rPr>
              <a:t>email</a:t>
            </a:r>
            <a:r>
              <a:rPr lang="en-US" sz="3400" dirty="0" smtClean="0"/>
              <a:t>, spam web </a:t>
            </a:r>
            <a:r>
              <a:rPr lang="en-US" sz="3400" dirty="0" smtClean="0">
                <a:solidFill>
                  <a:srgbClr val="0070C0"/>
                </a:solidFill>
              </a:rPr>
              <a:t>pages</a:t>
            </a:r>
            <a:r>
              <a:rPr lang="en-US" sz="3400" dirty="0" smtClean="0"/>
              <a:t>, </a:t>
            </a:r>
            <a:r>
              <a:rPr lang="en-US" sz="3400" dirty="0" smtClean="0">
                <a:solidFill>
                  <a:srgbClr val="FF0000"/>
                </a:solidFill>
              </a:rPr>
              <a:t>adult</a:t>
            </a:r>
            <a:r>
              <a:rPr lang="en-US" sz="3400" dirty="0" smtClean="0"/>
              <a:t> </a:t>
            </a:r>
            <a:r>
              <a:rPr lang="en-US" sz="3400" dirty="0" smtClean="0">
                <a:solidFill>
                  <a:srgbClr val="0070C0"/>
                </a:solidFill>
              </a:rPr>
              <a:t>content</a:t>
            </a:r>
          </a:p>
          <a:p>
            <a:endParaRPr lang="en-US" sz="3400" dirty="0"/>
          </a:p>
          <a:p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0203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066800"/>
          </a:xfrm>
        </p:spPr>
        <p:txBody>
          <a:bodyPr/>
          <a:lstStyle/>
          <a:p>
            <a:r>
              <a:rPr lang="en-US" sz="4000" dirty="0" smtClean="0"/>
              <a:t>General approach to classification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153400" cy="4343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Training set </a:t>
            </a:r>
            <a:r>
              <a:rPr lang="en-US" dirty="0" smtClean="0"/>
              <a:t>consists of records with </a:t>
            </a:r>
            <a:r>
              <a:rPr lang="en-US" dirty="0" smtClean="0">
                <a:solidFill>
                  <a:srgbClr val="0070C0"/>
                </a:solidFill>
              </a:rPr>
              <a:t>known class labels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Training set is used to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build</a:t>
            </a:r>
            <a:r>
              <a:rPr lang="en-US" dirty="0" smtClean="0"/>
              <a:t> a classification model</a:t>
            </a:r>
          </a:p>
          <a:p>
            <a:endParaRPr lang="en-US" dirty="0" smtClean="0"/>
          </a:p>
          <a:p>
            <a:r>
              <a:rPr lang="en-US" dirty="0"/>
              <a:t>A </a:t>
            </a:r>
            <a:r>
              <a:rPr lang="en-US" dirty="0" smtClean="0">
                <a:solidFill>
                  <a:srgbClr val="0070C0"/>
                </a:solidFill>
              </a:rPr>
              <a:t>labeled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test </a:t>
            </a:r>
            <a:r>
              <a:rPr lang="en-US" dirty="0">
                <a:solidFill>
                  <a:srgbClr val="FF0000"/>
                </a:solidFill>
              </a:rPr>
              <a:t>set </a:t>
            </a:r>
            <a:r>
              <a:rPr lang="en-US" dirty="0"/>
              <a:t>of </a:t>
            </a:r>
            <a:r>
              <a:rPr lang="en-US" dirty="0">
                <a:solidFill>
                  <a:srgbClr val="0070C0"/>
                </a:solidFill>
              </a:rPr>
              <a:t>previously unseen </a:t>
            </a:r>
            <a:r>
              <a:rPr lang="en-US" dirty="0"/>
              <a:t>data records is used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evaluate</a:t>
            </a:r>
            <a:r>
              <a:rPr lang="en-US" dirty="0"/>
              <a:t> the quality of the model.</a:t>
            </a:r>
          </a:p>
          <a:p>
            <a:endParaRPr lang="en-US" dirty="0" smtClean="0"/>
          </a:p>
          <a:p>
            <a:r>
              <a:rPr lang="en-US" dirty="0" smtClean="0"/>
              <a:t>The classification model is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applied</a:t>
            </a:r>
            <a:r>
              <a:rPr lang="en-US" dirty="0" smtClean="0"/>
              <a:t> to new records with </a:t>
            </a:r>
            <a:r>
              <a:rPr lang="en-US" dirty="0" smtClean="0">
                <a:solidFill>
                  <a:srgbClr val="0070C0"/>
                </a:solidFill>
              </a:rPr>
              <a:t>unknown class labels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7779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90600"/>
          </a:xfrm>
        </p:spPr>
        <p:txBody>
          <a:bodyPr/>
          <a:lstStyle/>
          <a:p>
            <a:r>
              <a:rPr lang="en-US" dirty="0"/>
              <a:t>Illustrating Classification Task</a:t>
            </a:r>
          </a:p>
        </p:txBody>
      </p:sp>
      <p:graphicFrame>
        <p:nvGraphicFramePr>
          <p:cNvPr id="828442" name="Object 2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167100914"/>
              </p:ext>
            </p:extLst>
          </p:nvPr>
        </p:nvGraphicFramePr>
        <p:xfrm>
          <a:off x="1217613" y="1524000"/>
          <a:ext cx="6800850" cy="5181600"/>
        </p:xfrm>
        <a:graphic>
          <a:graphicData uri="http://schemas.openxmlformats.org/presentationml/2006/ole">
            <p:oleObj spid="_x0000_s109590" name="Visio" r:id="rId3" imgW="8529300" imgH="6498656" progId="">
              <p:embed/>
            </p:oleObj>
          </a:graphicData>
        </a:graphic>
      </p:graphicFrame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1976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01000" cy="1143000"/>
          </a:xfrm>
        </p:spPr>
        <p:txBody>
          <a:bodyPr/>
          <a:lstStyle/>
          <a:p>
            <a:r>
              <a:rPr lang="en-US" sz="4000" dirty="0" smtClean="0"/>
              <a:t>Evaluation of classification models</a:t>
            </a:r>
          </a:p>
        </p:txBody>
      </p:sp>
      <p:sp>
        <p:nvSpPr>
          <p:cNvPr id="1029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077200" cy="4114800"/>
          </a:xfrm>
        </p:spPr>
        <p:txBody>
          <a:bodyPr/>
          <a:lstStyle/>
          <a:p>
            <a:r>
              <a:rPr lang="en-US" dirty="0" smtClean="0"/>
              <a:t>Counts of </a:t>
            </a:r>
            <a:r>
              <a:rPr lang="en-US" dirty="0" smtClean="0">
                <a:solidFill>
                  <a:srgbClr val="0070C0"/>
                </a:solidFill>
              </a:rPr>
              <a:t>test records </a:t>
            </a:r>
            <a:r>
              <a:rPr lang="en-US" dirty="0" smtClean="0"/>
              <a:t>that are correctly (or incorrectly) predicted by the classification model</a:t>
            </a:r>
          </a:p>
          <a:p>
            <a:r>
              <a:rPr lang="en-US" b="1" dirty="0" smtClean="0"/>
              <a:t>Confusion matrix</a:t>
            </a:r>
          </a:p>
          <a:p>
            <a:endParaRPr lang="en-US" b="1" dirty="0" smtClean="0"/>
          </a:p>
          <a:p>
            <a:endParaRPr lang="en-US" b="1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44493216"/>
              </p:ext>
            </p:extLst>
          </p:nvPr>
        </p:nvGraphicFramePr>
        <p:xfrm>
          <a:off x="4953000" y="2971800"/>
          <a:ext cx="3962400" cy="1295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3350"/>
                <a:gridCol w="1263650"/>
                <a:gridCol w="1295400"/>
              </a:tblGrid>
              <a:tr h="43180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Class = 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Class</a:t>
                      </a:r>
                      <a:r>
                        <a:rPr lang="en-US" b="1" baseline="0" dirty="0" smtClean="0"/>
                        <a:t> = 0</a:t>
                      </a:r>
                      <a:endParaRPr lang="en-US" b="1" dirty="0"/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Class = 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f</a:t>
                      </a:r>
                      <a:r>
                        <a:rPr lang="en-US" b="1" baseline="-25000" dirty="0" smtClean="0">
                          <a:solidFill>
                            <a:srgbClr val="0070C0"/>
                          </a:solidFill>
                        </a:rPr>
                        <a:t>11</a:t>
                      </a:r>
                      <a:endParaRPr lang="en-US" b="1" baseline="-25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b="1" baseline="-25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b="1" baseline="-25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Class = 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b="1" baseline="-25000" dirty="0" smtClean="0">
                          <a:solidFill>
                            <a:srgbClr val="FF0000"/>
                          </a:solidFill>
                        </a:rPr>
                        <a:t>01</a:t>
                      </a:r>
                      <a:endParaRPr lang="en-US" b="1" baseline="-25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f</a:t>
                      </a:r>
                      <a:r>
                        <a:rPr lang="en-US" b="1" baseline="-25000" dirty="0" smtClean="0">
                          <a:solidFill>
                            <a:srgbClr val="0070C0"/>
                          </a:solidFill>
                        </a:rPr>
                        <a:t>00</a:t>
                      </a:r>
                      <a:endParaRPr lang="en-US" b="1" baseline="-25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" name="TextBox 5"/>
          <p:cNvSpPr txBox="1">
            <a:spLocks noChangeArrowheads="1"/>
          </p:cNvSpPr>
          <p:nvPr/>
        </p:nvSpPr>
        <p:spPr bwMode="auto">
          <a:xfrm>
            <a:off x="5791200" y="2514600"/>
            <a:ext cx="2514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Predicted Class</a:t>
            </a:r>
          </a:p>
        </p:txBody>
      </p:sp>
      <p:sp>
        <p:nvSpPr>
          <p:cNvPr id="1049" name="TextBox 6"/>
          <p:cNvSpPr txBox="1">
            <a:spLocks noChangeArrowheads="1"/>
          </p:cNvSpPr>
          <p:nvPr/>
        </p:nvSpPr>
        <p:spPr bwMode="auto">
          <a:xfrm rot="-5400000">
            <a:off x="3733800" y="3511550"/>
            <a:ext cx="191135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Actual Class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942237586"/>
              </p:ext>
            </p:extLst>
          </p:nvPr>
        </p:nvGraphicFramePr>
        <p:xfrm>
          <a:off x="762001" y="4724400"/>
          <a:ext cx="6477000" cy="838200"/>
        </p:xfrm>
        <a:graphic>
          <a:graphicData uri="http://schemas.openxmlformats.org/presentationml/2006/ole">
            <p:oleObj spid="_x0000_s110634" name="Equation" r:id="rId3" imgW="3365500" imgH="431800" progId="Equation.3">
              <p:embed/>
            </p:oleObj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190236797"/>
              </p:ext>
            </p:extLst>
          </p:nvPr>
        </p:nvGraphicFramePr>
        <p:xfrm>
          <a:off x="685800" y="5791200"/>
          <a:ext cx="6629400" cy="836613"/>
        </p:xfrm>
        <a:graphic>
          <a:graphicData uri="http://schemas.openxmlformats.org/presentationml/2006/ole">
            <p:oleObj spid="_x0000_s110635" name="Equation" r:id="rId4" imgW="3365500" imgH="431800" progId="">
              <p:embed/>
            </p:oleObj>
          </a:graphicData>
        </a:graphic>
      </p:graphicFrame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2815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16838" cy="1066800"/>
          </a:xfrm>
        </p:spPr>
        <p:txBody>
          <a:bodyPr/>
          <a:lstStyle/>
          <a:p>
            <a:r>
              <a:rPr lang="en-US" dirty="0" smtClean="0"/>
              <a:t>Decision Trees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Decision tree </a:t>
            </a:r>
          </a:p>
          <a:p>
            <a:pPr lvl="1"/>
            <a:r>
              <a:rPr lang="en-US" dirty="0" smtClean="0"/>
              <a:t>A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flow-chart-like tree </a:t>
            </a:r>
            <a:r>
              <a:rPr lang="en-US" dirty="0" smtClean="0"/>
              <a:t>structure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Internal node </a:t>
            </a:r>
            <a:r>
              <a:rPr lang="en-US" dirty="0" smtClean="0"/>
              <a:t>denotes a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test on an attribute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Branch</a:t>
            </a:r>
            <a:r>
              <a:rPr lang="en-US" dirty="0" smtClean="0"/>
              <a:t> represents an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outcome of the test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Leaf nodes </a:t>
            </a:r>
            <a:r>
              <a:rPr lang="en-US" dirty="0" smtClean="0"/>
              <a:t>represent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class labels </a:t>
            </a:r>
            <a:r>
              <a:rPr lang="en-US" dirty="0" smtClean="0"/>
              <a:t>or class distribution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144704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r>
              <a:rPr lang="en-US" dirty="0"/>
              <a:t>Example of a Decision Tree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8600" y="1644650"/>
            <a:ext cx="3587750" cy="4311650"/>
            <a:chOff x="288" y="951"/>
            <a:chExt cx="2260" cy="2716"/>
          </a:xfrm>
        </p:grpSpPr>
        <p:graphicFrame>
          <p:nvGraphicFramePr>
            <p:cNvPr id="889860" name="Object 4"/>
            <p:cNvGraphicFramePr>
              <a:graphicFrameLocks noChangeAspect="1"/>
            </p:cNvGraphicFramePr>
            <p:nvPr/>
          </p:nvGraphicFramePr>
          <p:xfrm>
            <a:off x="288" y="1344"/>
            <a:ext cx="2246" cy="2323"/>
          </p:xfrm>
          <a:graphic>
            <a:graphicData uri="http://schemas.openxmlformats.org/presentationml/2006/ole">
              <p:oleObj spid="_x0000_s138242" name="Document" r:id="rId3" imgW="5404104" imgH="5779008" progId="Word.Document.8">
                <p:embed/>
              </p:oleObj>
            </a:graphicData>
          </a:graphic>
        </p:graphicFrame>
        <p:sp>
          <p:nvSpPr>
            <p:cNvPr id="889861" name="Text Box 5"/>
            <p:cNvSpPr txBox="1">
              <a:spLocks noChangeArrowheads="1"/>
            </p:cNvSpPr>
            <p:nvPr/>
          </p:nvSpPr>
          <p:spPr bwMode="auto">
            <a:xfrm rot="-2416809">
              <a:off x="672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89862" name="Text Box 6"/>
            <p:cNvSpPr txBox="1">
              <a:spLocks noChangeArrowheads="1"/>
            </p:cNvSpPr>
            <p:nvPr/>
          </p:nvSpPr>
          <p:spPr bwMode="auto">
            <a:xfrm rot="-2416809">
              <a:off x="1104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89863" name="Text Box 7"/>
            <p:cNvSpPr txBox="1">
              <a:spLocks noChangeArrowheads="1"/>
            </p:cNvSpPr>
            <p:nvPr/>
          </p:nvSpPr>
          <p:spPr bwMode="auto">
            <a:xfrm rot="-2416809">
              <a:off x="1632" y="951"/>
              <a:ext cx="8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continuous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89864" name="Text Box 8"/>
            <p:cNvSpPr txBox="1">
              <a:spLocks noChangeArrowheads="1"/>
            </p:cNvSpPr>
            <p:nvPr/>
          </p:nvSpPr>
          <p:spPr bwMode="auto">
            <a:xfrm rot="-2416809">
              <a:off x="2112" y="1047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class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</p:grpSp>
      <p:sp>
        <p:nvSpPr>
          <p:cNvPr id="889865" name="Line 9"/>
          <p:cNvSpPr>
            <a:spLocks noChangeShapeType="1"/>
          </p:cNvSpPr>
          <p:nvPr/>
        </p:nvSpPr>
        <p:spPr bwMode="auto">
          <a:xfrm>
            <a:off x="6965950" y="4778375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66" name="Line 10"/>
          <p:cNvSpPr>
            <a:spLocks noChangeShapeType="1"/>
          </p:cNvSpPr>
          <p:nvPr/>
        </p:nvSpPr>
        <p:spPr bwMode="auto">
          <a:xfrm flipH="1">
            <a:off x="5835650" y="4778375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67" name="Line 11"/>
          <p:cNvSpPr>
            <a:spLocks noChangeShapeType="1"/>
          </p:cNvSpPr>
          <p:nvPr/>
        </p:nvSpPr>
        <p:spPr bwMode="auto">
          <a:xfrm flipH="1">
            <a:off x="6481763" y="398462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68" name="Line 12"/>
          <p:cNvSpPr>
            <a:spLocks noChangeShapeType="1"/>
          </p:cNvSpPr>
          <p:nvPr/>
        </p:nvSpPr>
        <p:spPr bwMode="auto">
          <a:xfrm>
            <a:off x="7693025" y="398462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69" name="Line 13"/>
          <p:cNvSpPr>
            <a:spLocks noChangeShapeType="1"/>
          </p:cNvSpPr>
          <p:nvPr/>
        </p:nvSpPr>
        <p:spPr bwMode="auto">
          <a:xfrm>
            <a:off x="6643688" y="32575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0" name="Line 14"/>
          <p:cNvSpPr>
            <a:spLocks noChangeShapeType="1"/>
          </p:cNvSpPr>
          <p:nvPr/>
        </p:nvSpPr>
        <p:spPr bwMode="auto">
          <a:xfrm flipH="1">
            <a:off x="5270500" y="32575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1" name="Text Box 15"/>
          <p:cNvSpPr txBox="1">
            <a:spLocks noChangeArrowheads="1"/>
          </p:cNvSpPr>
          <p:nvPr/>
        </p:nvSpPr>
        <p:spPr bwMode="auto">
          <a:xfrm>
            <a:off x="5788025" y="299402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2" name="Text Box 16"/>
          <p:cNvSpPr txBox="1">
            <a:spLocks noChangeArrowheads="1"/>
          </p:cNvSpPr>
          <p:nvPr/>
        </p:nvSpPr>
        <p:spPr bwMode="auto">
          <a:xfrm>
            <a:off x="6804025" y="3721100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3" name="Text Box 17"/>
          <p:cNvSpPr txBox="1">
            <a:spLocks noChangeArrowheads="1"/>
          </p:cNvSpPr>
          <p:nvPr/>
        </p:nvSpPr>
        <p:spPr bwMode="auto">
          <a:xfrm>
            <a:off x="6078538" y="4513263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4" name="AutoShape 18"/>
          <p:cNvSpPr>
            <a:spLocks noChangeArrowheads="1"/>
          </p:cNvSpPr>
          <p:nvPr/>
        </p:nvSpPr>
        <p:spPr bwMode="auto">
          <a:xfrm>
            <a:off x="7005638" y="5302250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5" name="Text Box 19"/>
          <p:cNvSpPr txBox="1">
            <a:spLocks noChangeArrowheads="1"/>
          </p:cNvSpPr>
          <p:nvPr/>
        </p:nvSpPr>
        <p:spPr bwMode="auto">
          <a:xfrm>
            <a:off x="6929438" y="530225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6" name="AutoShape 20"/>
          <p:cNvSpPr>
            <a:spLocks noChangeArrowheads="1"/>
          </p:cNvSpPr>
          <p:nvPr/>
        </p:nvSpPr>
        <p:spPr bwMode="auto">
          <a:xfrm>
            <a:off x="5513388" y="5319713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7" name="Text Box 21"/>
          <p:cNvSpPr txBox="1">
            <a:spLocks noChangeArrowheads="1"/>
          </p:cNvSpPr>
          <p:nvPr/>
        </p:nvSpPr>
        <p:spPr bwMode="auto">
          <a:xfrm>
            <a:off x="5610225" y="530542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8" name="AutoShape 22"/>
          <p:cNvSpPr>
            <a:spLocks noChangeArrowheads="1"/>
          </p:cNvSpPr>
          <p:nvPr/>
        </p:nvSpPr>
        <p:spPr bwMode="auto">
          <a:xfrm>
            <a:off x="4948238" y="373538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9" name="Text Box 23"/>
          <p:cNvSpPr txBox="1">
            <a:spLocks noChangeArrowheads="1"/>
          </p:cNvSpPr>
          <p:nvPr/>
        </p:nvSpPr>
        <p:spPr bwMode="auto">
          <a:xfrm>
            <a:off x="5043488" y="37211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89880" name="AutoShape 24"/>
          <p:cNvSpPr>
            <a:spLocks noChangeArrowheads="1"/>
          </p:cNvSpPr>
          <p:nvPr/>
        </p:nvSpPr>
        <p:spPr bwMode="auto">
          <a:xfrm>
            <a:off x="7843838" y="454025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81" name="Text Box 25"/>
          <p:cNvSpPr txBox="1">
            <a:spLocks noChangeArrowheads="1"/>
          </p:cNvSpPr>
          <p:nvPr/>
        </p:nvSpPr>
        <p:spPr bwMode="auto">
          <a:xfrm>
            <a:off x="7920038" y="45402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2" name="Text Box 26"/>
          <p:cNvSpPr txBox="1">
            <a:spLocks noChangeArrowheads="1"/>
          </p:cNvSpPr>
          <p:nvPr/>
        </p:nvSpPr>
        <p:spPr bwMode="auto">
          <a:xfrm>
            <a:off x="5060950" y="32575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3" name="Text Box 27"/>
          <p:cNvSpPr txBox="1">
            <a:spLocks noChangeArrowheads="1"/>
          </p:cNvSpPr>
          <p:nvPr/>
        </p:nvSpPr>
        <p:spPr bwMode="auto">
          <a:xfrm>
            <a:off x="6926263" y="32575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4" name="Text Box 28"/>
          <p:cNvSpPr txBox="1">
            <a:spLocks noChangeArrowheads="1"/>
          </p:cNvSpPr>
          <p:nvPr/>
        </p:nvSpPr>
        <p:spPr bwMode="auto">
          <a:xfrm>
            <a:off x="7908925" y="4022725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Married</a:t>
            </a:r>
            <a:r>
              <a:rPr lang="en-US" sz="1600" b="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889885" name="Text Box 29"/>
          <p:cNvSpPr txBox="1">
            <a:spLocks noChangeArrowheads="1"/>
          </p:cNvSpPr>
          <p:nvPr/>
        </p:nvSpPr>
        <p:spPr bwMode="auto">
          <a:xfrm>
            <a:off x="5692775" y="4051300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6" name="Text Box 30"/>
          <p:cNvSpPr txBox="1">
            <a:spLocks noChangeArrowheads="1"/>
          </p:cNvSpPr>
          <p:nvPr/>
        </p:nvSpPr>
        <p:spPr bwMode="auto">
          <a:xfrm>
            <a:off x="5313363" y="484346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7" name="Text Box 31"/>
          <p:cNvSpPr txBox="1">
            <a:spLocks noChangeArrowheads="1"/>
          </p:cNvSpPr>
          <p:nvPr/>
        </p:nvSpPr>
        <p:spPr bwMode="auto">
          <a:xfrm>
            <a:off x="7088188" y="484346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8" name="Text Box 32"/>
          <p:cNvSpPr txBox="1">
            <a:spLocks noChangeArrowheads="1"/>
          </p:cNvSpPr>
          <p:nvPr/>
        </p:nvSpPr>
        <p:spPr bwMode="auto">
          <a:xfrm>
            <a:off x="6427788" y="2039938"/>
            <a:ext cx="224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Splitting Attributes</a:t>
            </a:r>
          </a:p>
        </p:txBody>
      </p:sp>
      <p:sp>
        <p:nvSpPr>
          <p:cNvPr id="889889" name="Line 33"/>
          <p:cNvSpPr>
            <a:spLocks noChangeShapeType="1"/>
          </p:cNvSpPr>
          <p:nvPr/>
        </p:nvSpPr>
        <p:spPr bwMode="auto">
          <a:xfrm flipH="1">
            <a:off x="6805613" y="2420938"/>
            <a:ext cx="536575" cy="5349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90" name="AutoShape 34"/>
          <p:cNvSpPr>
            <a:spLocks noChangeArrowheads="1"/>
          </p:cNvSpPr>
          <p:nvPr/>
        </p:nvSpPr>
        <p:spPr bwMode="auto">
          <a:xfrm>
            <a:off x="3810000" y="4083050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91" name="Line 35"/>
          <p:cNvSpPr>
            <a:spLocks noChangeShapeType="1"/>
          </p:cNvSpPr>
          <p:nvPr/>
        </p:nvSpPr>
        <p:spPr bwMode="auto">
          <a:xfrm>
            <a:off x="7418388" y="2420938"/>
            <a:ext cx="76200" cy="11445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92" name="Text Box 36"/>
          <p:cNvSpPr txBox="1">
            <a:spLocks noChangeArrowheads="1"/>
          </p:cNvSpPr>
          <p:nvPr/>
        </p:nvSpPr>
        <p:spPr bwMode="auto">
          <a:xfrm>
            <a:off x="762000" y="6140450"/>
            <a:ext cx="2514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Training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93" name="Text Box 37"/>
          <p:cNvSpPr txBox="1">
            <a:spLocks noChangeArrowheads="1"/>
          </p:cNvSpPr>
          <p:nvPr/>
        </p:nvSpPr>
        <p:spPr bwMode="auto">
          <a:xfrm>
            <a:off x="5029200" y="6108700"/>
            <a:ext cx="3124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Model:  Decision Tree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8" name="Text Box 32"/>
          <p:cNvSpPr txBox="1">
            <a:spLocks noChangeArrowheads="1"/>
          </p:cNvSpPr>
          <p:nvPr/>
        </p:nvSpPr>
        <p:spPr bwMode="auto">
          <a:xfrm>
            <a:off x="7632700" y="3355067"/>
            <a:ext cx="15613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800" i="1" dirty="0" smtClean="0">
                <a:solidFill>
                  <a:srgbClr val="FF0000"/>
                </a:solidFill>
                <a:latin typeface="Arial" charset="0"/>
              </a:rPr>
              <a:t>Test outcome</a:t>
            </a:r>
            <a:endParaRPr lang="en-US" sz="1800" i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39" name="Line 33"/>
          <p:cNvSpPr>
            <a:spLocks noChangeShapeType="1"/>
          </p:cNvSpPr>
          <p:nvPr/>
        </p:nvSpPr>
        <p:spPr bwMode="auto">
          <a:xfrm flipH="1">
            <a:off x="7353300" y="3787096"/>
            <a:ext cx="892897" cy="46184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33"/>
          <p:cNvSpPr>
            <a:spLocks noChangeShapeType="1"/>
          </p:cNvSpPr>
          <p:nvPr/>
        </p:nvSpPr>
        <p:spPr bwMode="auto">
          <a:xfrm>
            <a:off x="8246195" y="3787097"/>
            <a:ext cx="1" cy="270554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7668269" y="5683250"/>
            <a:ext cx="14285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800" i="1" dirty="0" smtClean="0">
                <a:solidFill>
                  <a:srgbClr val="FF0000"/>
                </a:solidFill>
                <a:latin typeface="Arial" charset="0"/>
              </a:rPr>
              <a:t>Class labels</a:t>
            </a:r>
            <a:endParaRPr lang="en-US" sz="1800" i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42" name="Line 33"/>
          <p:cNvSpPr>
            <a:spLocks noChangeShapeType="1"/>
          </p:cNvSpPr>
          <p:nvPr/>
        </p:nvSpPr>
        <p:spPr bwMode="auto">
          <a:xfrm flipH="1" flipV="1">
            <a:off x="8177213" y="5011737"/>
            <a:ext cx="196849" cy="657226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3"/>
          <p:cNvSpPr>
            <a:spLocks noChangeShapeType="1"/>
          </p:cNvSpPr>
          <p:nvPr/>
        </p:nvSpPr>
        <p:spPr bwMode="auto">
          <a:xfrm flipH="1" flipV="1">
            <a:off x="7693024" y="5470525"/>
            <a:ext cx="681038" cy="212725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4026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990600"/>
          </a:xfrm>
        </p:spPr>
        <p:txBody>
          <a:bodyPr/>
          <a:lstStyle/>
          <a:p>
            <a:r>
              <a:rPr lang="en-US" sz="4000" dirty="0"/>
              <a:t>Another Example of Decision Tree</a:t>
            </a:r>
          </a:p>
        </p:txBody>
      </p:sp>
      <p:graphicFrame>
        <p:nvGraphicFramePr>
          <p:cNvPr id="834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792704583"/>
              </p:ext>
            </p:extLst>
          </p:nvPr>
        </p:nvGraphicFramePr>
        <p:xfrm>
          <a:off x="457200" y="2636837"/>
          <a:ext cx="3565525" cy="3687763"/>
        </p:xfrm>
        <a:graphic>
          <a:graphicData uri="http://schemas.openxmlformats.org/presentationml/2006/ole">
            <p:oleObj spid="_x0000_s139266" name="Document" r:id="rId3" imgW="5404104" imgH="5779008" progId="Word.Document.8">
              <p:embed/>
            </p:oleObj>
          </a:graphicData>
        </a:graphic>
      </p:graphicFrame>
      <p:sp>
        <p:nvSpPr>
          <p:cNvPr id="834564" name="Text Box 4"/>
          <p:cNvSpPr txBox="1">
            <a:spLocks noChangeArrowheads="1"/>
          </p:cNvSpPr>
          <p:nvPr/>
        </p:nvSpPr>
        <p:spPr bwMode="auto">
          <a:xfrm rot="-2416809">
            <a:off x="1066800" y="2012950"/>
            <a:ext cx="125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categorical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65" name="Text Box 5"/>
          <p:cNvSpPr txBox="1">
            <a:spLocks noChangeArrowheads="1"/>
          </p:cNvSpPr>
          <p:nvPr/>
        </p:nvSpPr>
        <p:spPr bwMode="auto">
          <a:xfrm rot="-2416809">
            <a:off x="1752600" y="2012950"/>
            <a:ext cx="125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dirty="0">
                <a:solidFill>
                  <a:srgbClr val="006600"/>
                </a:solidFill>
                <a:latin typeface="Arial" charset="0"/>
              </a:rPr>
              <a:t>categorical</a:t>
            </a:r>
            <a:endParaRPr lang="en-US" sz="1600" dirty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66" name="Text Box 6"/>
          <p:cNvSpPr txBox="1">
            <a:spLocks noChangeArrowheads="1"/>
          </p:cNvSpPr>
          <p:nvPr/>
        </p:nvSpPr>
        <p:spPr bwMode="auto">
          <a:xfrm rot="-2416809">
            <a:off x="2590800" y="2012950"/>
            <a:ext cx="12779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continuous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67" name="Text Box 7"/>
          <p:cNvSpPr txBox="1">
            <a:spLocks noChangeArrowheads="1"/>
          </p:cNvSpPr>
          <p:nvPr/>
        </p:nvSpPr>
        <p:spPr bwMode="auto">
          <a:xfrm rot="-2416809">
            <a:off x="3352800" y="2165350"/>
            <a:ext cx="692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class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68" name="Line 8"/>
          <p:cNvSpPr>
            <a:spLocks noChangeShapeType="1"/>
          </p:cNvSpPr>
          <p:nvPr/>
        </p:nvSpPr>
        <p:spPr bwMode="auto">
          <a:xfrm>
            <a:off x="8005763" y="4000500"/>
            <a:ext cx="242887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69" name="Line 9"/>
          <p:cNvSpPr>
            <a:spLocks noChangeShapeType="1"/>
          </p:cNvSpPr>
          <p:nvPr/>
        </p:nvSpPr>
        <p:spPr bwMode="auto">
          <a:xfrm flipH="1">
            <a:off x="6875463" y="4000500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0" name="Line 10"/>
          <p:cNvSpPr>
            <a:spLocks noChangeShapeType="1"/>
          </p:cNvSpPr>
          <p:nvPr/>
        </p:nvSpPr>
        <p:spPr bwMode="auto">
          <a:xfrm flipH="1">
            <a:off x="5881688" y="3236912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1" name="Line 11"/>
          <p:cNvSpPr>
            <a:spLocks noChangeShapeType="1"/>
          </p:cNvSpPr>
          <p:nvPr/>
        </p:nvSpPr>
        <p:spPr bwMode="auto">
          <a:xfrm>
            <a:off x="7092950" y="3236912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2" name="Line 12"/>
          <p:cNvSpPr>
            <a:spLocks noChangeShapeType="1"/>
          </p:cNvSpPr>
          <p:nvPr/>
        </p:nvSpPr>
        <p:spPr bwMode="auto">
          <a:xfrm>
            <a:off x="6043613" y="2509837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3" name="Line 13"/>
          <p:cNvSpPr>
            <a:spLocks noChangeShapeType="1"/>
          </p:cNvSpPr>
          <p:nvPr/>
        </p:nvSpPr>
        <p:spPr bwMode="auto">
          <a:xfrm flipH="1">
            <a:off x="4670425" y="2509837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4" name="Text Box 14"/>
          <p:cNvSpPr txBox="1">
            <a:spLocks noChangeArrowheads="1"/>
          </p:cNvSpPr>
          <p:nvPr/>
        </p:nvSpPr>
        <p:spPr bwMode="auto">
          <a:xfrm>
            <a:off x="5187950" y="2246312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75" name="Text Box 15"/>
          <p:cNvSpPr txBox="1">
            <a:spLocks noChangeArrowheads="1"/>
          </p:cNvSpPr>
          <p:nvPr/>
        </p:nvSpPr>
        <p:spPr bwMode="auto">
          <a:xfrm>
            <a:off x="6203950" y="2973387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76" name="Text Box 16"/>
          <p:cNvSpPr txBox="1">
            <a:spLocks noChangeArrowheads="1"/>
          </p:cNvSpPr>
          <p:nvPr/>
        </p:nvSpPr>
        <p:spPr bwMode="auto">
          <a:xfrm>
            <a:off x="7118350" y="3735387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77" name="AutoShape 17"/>
          <p:cNvSpPr>
            <a:spLocks noChangeArrowheads="1"/>
          </p:cNvSpPr>
          <p:nvPr/>
        </p:nvSpPr>
        <p:spPr bwMode="auto">
          <a:xfrm>
            <a:off x="8045450" y="4524375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8" name="Text Box 18"/>
          <p:cNvSpPr txBox="1">
            <a:spLocks noChangeArrowheads="1"/>
          </p:cNvSpPr>
          <p:nvPr/>
        </p:nvSpPr>
        <p:spPr bwMode="auto">
          <a:xfrm>
            <a:off x="7969250" y="4524375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79" name="AutoShape 19"/>
          <p:cNvSpPr>
            <a:spLocks noChangeArrowheads="1"/>
          </p:cNvSpPr>
          <p:nvPr/>
        </p:nvSpPr>
        <p:spPr bwMode="auto">
          <a:xfrm>
            <a:off x="6553200" y="4541837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0" name="Text Box 20"/>
          <p:cNvSpPr txBox="1">
            <a:spLocks noChangeArrowheads="1"/>
          </p:cNvSpPr>
          <p:nvPr/>
        </p:nvSpPr>
        <p:spPr bwMode="auto">
          <a:xfrm>
            <a:off x="6650038" y="45275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81" name="AutoShape 21"/>
          <p:cNvSpPr>
            <a:spLocks noChangeArrowheads="1"/>
          </p:cNvSpPr>
          <p:nvPr/>
        </p:nvSpPr>
        <p:spPr bwMode="auto">
          <a:xfrm>
            <a:off x="4348163" y="2987675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2" name="Text Box 22"/>
          <p:cNvSpPr txBox="1">
            <a:spLocks noChangeArrowheads="1"/>
          </p:cNvSpPr>
          <p:nvPr/>
        </p:nvSpPr>
        <p:spPr bwMode="auto">
          <a:xfrm>
            <a:off x="4443413" y="2973387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594350" y="3735387"/>
            <a:ext cx="685800" cy="381000"/>
            <a:chOff x="4927" y="2340"/>
            <a:chExt cx="432" cy="240"/>
          </a:xfrm>
        </p:grpSpPr>
        <p:sp>
          <p:nvSpPr>
            <p:cNvPr id="834583" name="AutoShape 23"/>
            <p:cNvSpPr>
              <a:spLocks noChangeArrowheads="1"/>
            </p:cNvSpPr>
            <p:nvPr/>
          </p:nvSpPr>
          <p:spPr bwMode="auto"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4584" name="Text Box 24"/>
            <p:cNvSpPr txBox="1">
              <a:spLocks noChangeArrowheads="1"/>
            </p:cNvSpPr>
            <p:nvPr/>
          </p:nvSpPr>
          <p:spPr bwMode="auto"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</p:grpSp>
      <p:sp>
        <p:nvSpPr>
          <p:cNvPr id="834585" name="Text Box 25"/>
          <p:cNvSpPr txBox="1">
            <a:spLocks noChangeArrowheads="1"/>
          </p:cNvSpPr>
          <p:nvPr/>
        </p:nvSpPr>
        <p:spPr bwMode="auto">
          <a:xfrm>
            <a:off x="5518150" y="3278187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86" name="Text Box 26"/>
          <p:cNvSpPr txBox="1">
            <a:spLocks noChangeArrowheads="1"/>
          </p:cNvSpPr>
          <p:nvPr/>
        </p:nvSpPr>
        <p:spPr bwMode="auto">
          <a:xfrm>
            <a:off x="7270750" y="3201987"/>
            <a:ext cx="442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87" name="Text Box 27"/>
          <p:cNvSpPr txBox="1">
            <a:spLocks noChangeArrowheads="1"/>
          </p:cNvSpPr>
          <p:nvPr/>
        </p:nvSpPr>
        <p:spPr bwMode="auto">
          <a:xfrm>
            <a:off x="4146550" y="2439987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Married</a:t>
            </a:r>
            <a:r>
              <a:rPr lang="en-US" sz="1600" b="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834588" name="Text Box 28"/>
          <p:cNvSpPr txBox="1">
            <a:spLocks noChangeArrowheads="1"/>
          </p:cNvSpPr>
          <p:nvPr/>
        </p:nvSpPr>
        <p:spPr bwMode="auto">
          <a:xfrm>
            <a:off x="5746750" y="2211387"/>
            <a:ext cx="13985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89" name="Text Box 29"/>
          <p:cNvSpPr txBox="1">
            <a:spLocks noChangeArrowheads="1"/>
          </p:cNvSpPr>
          <p:nvPr/>
        </p:nvSpPr>
        <p:spPr bwMode="auto">
          <a:xfrm>
            <a:off x="6353175" y="4065587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90" name="Text Box 30"/>
          <p:cNvSpPr txBox="1">
            <a:spLocks noChangeArrowheads="1"/>
          </p:cNvSpPr>
          <p:nvPr/>
        </p:nvSpPr>
        <p:spPr bwMode="auto">
          <a:xfrm>
            <a:off x="8128000" y="4065587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97" name="Text Box 37"/>
          <p:cNvSpPr txBox="1">
            <a:spLocks noChangeArrowheads="1"/>
          </p:cNvSpPr>
          <p:nvPr/>
        </p:nvSpPr>
        <p:spPr bwMode="auto">
          <a:xfrm>
            <a:off x="4343400" y="5532437"/>
            <a:ext cx="441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rgbClr val="CC3300"/>
                </a:solidFill>
              </a:rPr>
              <a:t>There could be more than one tree that fits the same data!</a:t>
            </a:r>
          </a:p>
        </p:txBody>
      </p:sp>
      <p:sp>
        <p:nvSpPr>
          <p:cNvPr id="33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5740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066800"/>
          </a:xfrm>
        </p:spPr>
        <p:txBody>
          <a:bodyPr/>
          <a:lstStyle/>
          <a:p>
            <a:r>
              <a:rPr lang="en-US" sz="4000" dirty="0"/>
              <a:t>Decision Tree Classification Task</a:t>
            </a:r>
          </a:p>
        </p:txBody>
      </p:sp>
      <p:graphicFrame>
        <p:nvGraphicFramePr>
          <p:cNvPr id="921603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062983663"/>
              </p:ext>
            </p:extLst>
          </p:nvPr>
        </p:nvGraphicFramePr>
        <p:xfrm>
          <a:off x="1093788" y="1600200"/>
          <a:ext cx="6951662" cy="5181600"/>
        </p:xfrm>
        <a:graphic>
          <a:graphicData uri="http://schemas.openxmlformats.org/presentationml/2006/ole">
            <p:oleObj spid="_x0000_s140290" name="Visio" r:id="rId3" imgW="8424875" imgH="6279741" progId="">
              <p:embed/>
            </p:oleObj>
          </a:graphicData>
        </a:graphic>
      </p:graphicFrame>
      <p:sp>
        <p:nvSpPr>
          <p:cNvPr id="921604" name="Line 4"/>
          <p:cNvSpPr>
            <a:spLocks noChangeShapeType="1"/>
          </p:cNvSpPr>
          <p:nvPr/>
        </p:nvSpPr>
        <p:spPr bwMode="auto">
          <a:xfrm flipH="1" flipV="1">
            <a:off x="6019800" y="5181600"/>
            <a:ext cx="0" cy="685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05" name="Text Box 5"/>
          <p:cNvSpPr txBox="1">
            <a:spLocks noChangeArrowheads="1"/>
          </p:cNvSpPr>
          <p:nvPr/>
        </p:nvSpPr>
        <p:spPr bwMode="auto">
          <a:xfrm>
            <a:off x="7086600" y="4572000"/>
            <a:ext cx="12192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Decision Tree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5211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990600"/>
          </a:xfrm>
        </p:spPr>
        <p:txBody>
          <a:bodyPr/>
          <a:lstStyle/>
          <a:p>
            <a:r>
              <a:rPr lang="en-US" dirty="0"/>
              <a:t>Apply Model to Test Data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800" y="2819400"/>
            <a:ext cx="4267200" cy="3298825"/>
            <a:chOff x="384" y="1584"/>
            <a:chExt cx="2451" cy="1694"/>
          </a:xfrm>
        </p:grpSpPr>
        <p:sp>
          <p:nvSpPr>
            <p:cNvPr id="890884" name="Line 4"/>
            <p:cNvSpPr>
              <a:spLocks noChangeShapeType="1"/>
            </p:cNvSpPr>
            <p:nvPr/>
          </p:nvSpPr>
          <p:spPr bwMode="auto">
            <a:xfrm>
              <a:off x="1655" y="2708"/>
              <a:ext cx="153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5" name="Line 5"/>
            <p:cNvSpPr>
              <a:spLocks noChangeShapeType="1"/>
            </p:cNvSpPr>
            <p:nvPr/>
          </p:nvSpPr>
          <p:spPr bwMode="auto">
            <a:xfrm flipH="1">
              <a:off x="943" y="2708"/>
              <a:ext cx="204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6" name="Line 6"/>
            <p:cNvSpPr>
              <a:spLocks noChangeShapeType="1"/>
            </p:cNvSpPr>
            <p:nvPr/>
          </p:nvSpPr>
          <p:spPr bwMode="auto">
            <a:xfrm flipH="1">
              <a:off x="1350" y="2208"/>
              <a:ext cx="254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7" name="Line 7"/>
            <p:cNvSpPr>
              <a:spLocks noChangeShapeType="1"/>
            </p:cNvSpPr>
            <p:nvPr/>
          </p:nvSpPr>
          <p:spPr bwMode="auto">
            <a:xfrm>
              <a:off x="2113" y="2208"/>
              <a:ext cx="305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8" name="Line 8"/>
            <p:cNvSpPr>
              <a:spLocks noChangeShapeType="1"/>
            </p:cNvSpPr>
            <p:nvPr/>
          </p:nvSpPr>
          <p:spPr bwMode="auto">
            <a:xfrm>
              <a:off x="1452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9" name="Line 9"/>
            <p:cNvSpPr>
              <a:spLocks noChangeShapeType="1"/>
            </p:cNvSpPr>
            <p:nvPr/>
          </p:nvSpPr>
          <p:spPr bwMode="auto">
            <a:xfrm flipH="1">
              <a:off x="587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90" name="Text Box 10"/>
            <p:cNvSpPr txBox="1">
              <a:spLocks noChangeArrowheads="1"/>
            </p:cNvSpPr>
            <p:nvPr/>
          </p:nvSpPr>
          <p:spPr bwMode="auto">
            <a:xfrm>
              <a:off x="913" y="1584"/>
              <a:ext cx="59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Refund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1" name="Text Box 11"/>
            <p:cNvSpPr txBox="1">
              <a:spLocks noChangeArrowheads="1"/>
            </p:cNvSpPr>
            <p:nvPr/>
          </p:nvSpPr>
          <p:spPr bwMode="auto">
            <a:xfrm>
              <a:off x="1553" y="2042"/>
              <a:ext cx="589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MarSt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2" name="Text Box 12"/>
            <p:cNvSpPr txBox="1">
              <a:spLocks noChangeArrowheads="1"/>
            </p:cNvSpPr>
            <p:nvPr/>
          </p:nvSpPr>
          <p:spPr bwMode="auto">
            <a:xfrm>
              <a:off x="1096" y="2541"/>
              <a:ext cx="61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TaxInc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3" name="AutoShape 13"/>
            <p:cNvSpPr>
              <a:spLocks noChangeArrowheads="1"/>
            </p:cNvSpPr>
            <p:nvPr/>
          </p:nvSpPr>
          <p:spPr bwMode="auto">
            <a:xfrm>
              <a:off x="1680" y="3038"/>
              <a:ext cx="395" cy="231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94" name="Text Box 14"/>
            <p:cNvSpPr txBox="1">
              <a:spLocks noChangeArrowheads="1"/>
            </p:cNvSpPr>
            <p:nvPr/>
          </p:nvSpPr>
          <p:spPr bwMode="auto">
            <a:xfrm>
              <a:off x="1632" y="3038"/>
              <a:ext cx="43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YES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5" name="AutoShape 15"/>
            <p:cNvSpPr>
              <a:spLocks noChangeArrowheads="1"/>
            </p:cNvSpPr>
            <p:nvPr/>
          </p:nvSpPr>
          <p:spPr bwMode="auto">
            <a:xfrm>
              <a:off x="740" y="3049"/>
              <a:ext cx="412" cy="22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96" name="Text Box 16"/>
            <p:cNvSpPr txBox="1">
              <a:spLocks noChangeArrowheads="1"/>
            </p:cNvSpPr>
            <p:nvPr/>
          </p:nvSpPr>
          <p:spPr bwMode="auto">
            <a:xfrm>
              <a:off x="814" y="3040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7" name="AutoShape 17"/>
            <p:cNvSpPr>
              <a:spLocks noChangeArrowheads="1"/>
            </p:cNvSpPr>
            <p:nvPr/>
          </p:nvSpPr>
          <p:spPr bwMode="auto">
            <a:xfrm>
              <a:off x="384" y="2051"/>
              <a:ext cx="432" cy="21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98" name="Text Box 18"/>
            <p:cNvSpPr txBox="1">
              <a:spLocks noChangeArrowheads="1"/>
            </p:cNvSpPr>
            <p:nvPr/>
          </p:nvSpPr>
          <p:spPr bwMode="auto">
            <a:xfrm>
              <a:off x="458" y="2042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rgbClr val="00FFFF"/>
                </a:solidFill>
                <a:latin typeface="Arial" charset="0"/>
              </a:endParaRPr>
            </a:p>
          </p:txBody>
        </p:sp>
        <p:sp>
          <p:nvSpPr>
            <p:cNvPr id="890899" name="AutoShape 19"/>
            <p:cNvSpPr>
              <a:spLocks noChangeArrowheads="1"/>
            </p:cNvSpPr>
            <p:nvPr/>
          </p:nvSpPr>
          <p:spPr bwMode="auto">
            <a:xfrm>
              <a:off x="2208" y="2558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00" name="Text Box 20"/>
            <p:cNvSpPr txBox="1">
              <a:spLocks noChangeArrowheads="1"/>
            </p:cNvSpPr>
            <p:nvPr/>
          </p:nvSpPr>
          <p:spPr bwMode="auto">
            <a:xfrm>
              <a:off x="2270" y="2558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1" name="Text Box 21"/>
            <p:cNvSpPr txBox="1">
              <a:spLocks noChangeArrowheads="1"/>
            </p:cNvSpPr>
            <p:nvPr/>
          </p:nvSpPr>
          <p:spPr bwMode="auto">
            <a:xfrm>
              <a:off x="484" y="1750"/>
              <a:ext cx="30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Yes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2" name="Text Box 22"/>
            <p:cNvSpPr txBox="1">
              <a:spLocks noChangeArrowheads="1"/>
            </p:cNvSpPr>
            <p:nvPr/>
          </p:nvSpPr>
          <p:spPr bwMode="auto">
            <a:xfrm>
              <a:off x="1654" y="1750"/>
              <a:ext cx="25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3" name="Text Box 23"/>
            <p:cNvSpPr txBox="1">
              <a:spLocks noChangeArrowheads="1"/>
            </p:cNvSpPr>
            <p:nvPr/>
          </p:nvSpPr>
          <p:spPr bwMode="auto">
            <a:xfrm>
              <a:off x="2301" y="2232"/>
              <a:ext cx="5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Married</a:t>
              </a:r>
              <a:r>
                <a:rPr lang="en-US" sz="1600" b="0">
                  <a:solidFill>
                    <a:schemeClr val="bg2"/>
                  </a:solidFill>
                  <a:latin typeface="Arial" charset="0"/>
                </a:rPr>
                <a:t> </a:t>
              </a:r>
            </a:p>
          </p:txBody>
        </p:sp>
        <p:sp>
          <p:nvSpPr>
            <p:cNvPr id="890904" name="Text Box 24"/>
            <p:cNvSpPr txBox="1">
              <a:spLocks noChangeArrowheads="1"/>
            </p:cNvSpPr>
            <p:nvPr/>
          </p:nvSpPr>
          <p:spPr bwMode="auto">
            <a:xfrm>
              <a:off x="945" y="2250"/>
              <a:ext cx="95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Single, Divorced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5" name="Text Box 25"/>
            <p:cNvSpPr txBox="1">
              <a:spLocks noChangeArrowheads="1"/>
            </p:cNvSpPr>
            <p:nvPr/>
          </p:nvSpPr>
          <p:spPr bwMode="auto">
            <a:xfrm>
              <a:off x="654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&lt; 80K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6" name="Text Box 26"/>
            <p:cNvSpPr txBox="1">
              <a:spLocks noChangeArrowheads="1"/>
            </p:cNvSpPr>
            <p:nvPr/>
          </p:nvSpPr>
          <p:spPr bwMode="auto">
            <a:xfrm>
              <a:off x="1772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&gt; 80K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</p:grpSp>
      <p:graphicFrame>
        <p:nvGraphicFramePr>
          <p:cNvPr id="8909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349028556"/>
              </p:ext>
            </p:extLst>
          </p:nvPr>
        </p:nvGraphicFramePr>
        <p:xfrm>
          <a:off x="4953000" y="2057400"/>
          <a:ext cx="3343275" cy="1133475"/>
        </p:xfrm>
        <a:graphic>
          <a:graphicData uri="http://schemas.openxmlformats.org/presentationml/2006/ole">
            <p:oleObj spid="_x0000_s141314" name="Document" r:id="rId3" imgW="4651248" imgH="1575816" progId="Word.Document.8">
              <p:embed/>
            </p:oleObj>
          </a:graphicData>
        </a:graphic>
      </p:graphicFrame>
      <p:sp>
        <p:nvSpPr>
          <p:cNvPr id="890908" name="Text Box 28"/>
          <p:cNvSpPr txBox="1">
            <a:spLocks noChangeArrowheads="1"/>
          </p:cNvSpPr>
          <p:nvPr/>
        </p:nvSpPr>
        <p:spPr bwMode="auto">
          <a:xfrm>
            <a:off x="4800600" y="16002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0909" name="Text Box 29"/>
          <p:cNvSpPr txBox="1">
            <a:spLocks noChangeArrowheads="1"/>
          </p:cNvSpPr>
          <p:nvPr/>
        </p:nvSpPr>
        <p:spPr bwMode="auto">
          <a:xfrm>
            <a:off x="990600" y="1905000"/>
            <a:ext cx="3429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 b="0">
                <a:latin typeface="Arial" charset="0"/>
              </a:rPr>
              <a:t>Start from the root of tree.</a:t>
            </a:r>
          </a:p>
        </p:txBody>
      </p:sp>
      <p:sp>
        <p:nvSpPr>
          <p:cNvPr id="890910" name="Line 30"/>
          <p:cNvSpPr>
            <a:spLocks noChangeShapeType="1"/>
          </p:cNvSpPr>
          <p:nvPr/>
        </p:nvSpPr>
        <p:spPr bwMode="auto">
          <a:xfrm>
            <a:off x="2133600" y="2286000"/>
            <a:ext cx="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4110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800" y="2819400"/>
            <a:ext cx="4267200" cy="3298825"/>
            <a:chOff x="384" y="1584"/>
            <a:chExt cx="2451" cy="1694"/>
          </a:xfrm>
        </p:grpSpPr>
        <p:sp>
          <p:nvSpPr>
            <p:cNvPr id="891908" name="Line 4"/>
            <p:cNvSpPr>
              <a:spLocks noChangeShapeType="1"/>
            </p:cNvSpPr>
            <p:nvPr/>
          </p:nvSpPr>
          <p:spPr bwMode="auto">
            <a:xfrm>
              <a:off x="1655" y="2708"/>
              <a:ext cx="153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09" name="Line 5"/>
            <p:cNvSpPr>
              <a:spLocks noChangeShapeType="1"/>
            </p:cNvSpPr>
            <p:nvPr/>
          </p:nvSpPr>
          <p:spPr bwMode="auto">
            <a:xfrm flipH="1">
              <a:off x="943" y="2708"/>
              <a:ext cx="204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0" name="Line 6"/>
            <p:cNvSpPr>
              <a:spLocks noChangeShapeType="1"/>
            </p:cNvSpPr>
            <p:nvPr/>
          </p:nvSpPr>
          <p:spPr bwMode="auto">
            <a:xfrm flipH="1">
              <a:off x="1350" y="2208"/>
              <a:ext cx="254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1" name="Line 7"/>
            <p:cNvSpPr>
              <a:spLocks noChangeShapeType="1"/>
            </p:cNvSpPr>
            <p:nvPr/>
          </p:nvSpPr>
          <p:spPr bwMode="auto">
            <a:xfrm>
              <a:off x="2113" y="2208"/>
              <a:ext cx="305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2" name="Line 8"/>
            <p:cNvSpPr>
              <a:spLocks noChangeShapeType="1"/>
            </p:cNvSpPr>
            <p:nvPr/>
          </p:nvSpPr>
          <p:spPr bwMode="auto">
            <a:xfrm>
              <a:off x="1452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3" name="Line 9"/>
            <p:cNvSpPr>
              <a:spLocks noChangeShapeType="1"/>
            </p:cNvSpPr>
            <p:nvPr/>
          </p:nvSpPr>
          <p:spPr bwMode="auto">
            <a:xfrm flipH="1">
              <a:off x="587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4" name="Text Box 10"/>
            <p:cNvSpPr txBox="1">
              <a:spLocks noChangeArrowheads="1"/>
            </p:cNvSpPr>
            <p:nvPr/>
          </p:nvSpPr>
          <p:spPr bwMode="auto">
            <a:xfrm>
              <a:off x="913" y="1584"/>
              <a:ext cx="59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Refund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15" name="Text Box 11"/>
            <p:cNvSpPr txBox="1">
              <a:spLocks noChangeArrowheads="1"/>
            </p:cNvSpPr>
            <p:nvPr/>
          </p:nvSpPr>
          <p:spPr bwMode="auto">
            <a:xfrm>
              <a:off x="1553" y="2042"/>
              <a:ext cx="589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MarSt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16" name="Text Box 12"/>
            <p:cNvSpPr txBox="1">
              <a:spLocks noChangeArrowheads="1"/>
            </p:cNvSpPr>
            <p:nvPr/>
          </p:nvSpPr>
          <p:spPr bwMode="auto">
            <a:xfrm>
              <a:off x="1096" y="2541"/>
              <a:ext cx="61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TaxInc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17" name="AutoShape 13"/>
            <p:cNvSpPr>
              <a:spLocks noChangeArrowheads="1"/>
            </p:cNvSpPr>
            <p:nvPr/>
          </p:nvSpPr>
          <p:spPr bwMode="auto">
            <a:xfrm>
              <a:off x="1680" y="3038"/>
              <a:ext cx="395" cy="231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8" name="Text Box 14"/>
            <p:cNvSpPr txBox="1">
              <a:spLocks noChangeArrowheads="1"/>
            </p:cNvSpPr>
            <p:nvPr/>
          </p:nvSpPr>
          <p:spPr bwMode="auto">
            <a:xfrm>
              <a:off x="1632" y="3038"/>
              <a:ext cx="43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YES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19" name="AutoShape 15"/>
            <p:cNvSpPr>
              <a:spLocks noChangeArrowheads="1"/>
            </p:cNvSpPr>
            <p:nvPr/>
          </p:nvSpPr>
          <p:spPr bwMode="auto">
            <a:xfrm>
              <a:off x="740" y="3049"/>
              <a:ext cx="412" cy="22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20" name="Text Box 16"/>
            <p:cNvSpPr txBox="1">
              <a:spLocks noChangeArrowheads="1"/>
            </p:cNvSpPr>
            <p:nvPr/>
          </p:nvSpPr>
          <p:spPr bwMode="auto">
            <a:xfrm>
              <a:off x="814" y="3040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1" name="AutoShape 17"/>
            <p:cNvSpPr>
              <a:spLocks noChangeArrowheads="1"/>
            </p:cNvSpPr>
            <p:nvPr/>
          </p:nvSpPr>
          <p:spPr bwMode="auto">
            <a:xfrm>
              <a:off x="384" y="2051"/>
              <a:ext cx="432" cy="21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22" name="Text Box 18"/>
            <p:cNvSpPr txBox="1">
              <a:spLocks noChangeArrowheads="1"/>
            </p:cNvSpPr>
            <p:nvPr/>
          </p:nvSpPr>
          <p:spPr bwMode="auto">
            <a:xfrm>
              <a:off x="458" y="2042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rgbClr val="00FFFF"/>
                </a:solidFill>
                <a:latin typeface="Arial" charset="0"/>
              </a:endParaRPr>
            </a:p>
          </p:txBody>
        </p:sp>
        <p:sp>
          <p:nvSpPr>
            <p:cNvPr id="891923" name="AutoShape 19"/>
            <p:cNvSpPr>
              <a:spLocks noChangeArrowheads="1"/>
            </p:cNvSpPr>
            <p:nvPr/>
          </p:nvSpPr>
          <p:spPr bwMode="auto">
            <a:xfrm>
              <a:off x="2208" y="2558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24" name="Text Box 20"/>
            <p:cNvSpPr txBox="1">
              <a:spLocks noChangeArrowheads="1"/>
            </p:cNvSpPr>
            <p:nvPr/>
          </p:nvSpPr>
          <p:spPr bwMode="auto">
            <a:xfrm>
              <a:off x="2270" y="2558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5" name="Text Box 21"/>
            <p:cNvSpPr txBox="1">
              <a:spLocks noChangeArrowheads="1"/>
            </p:cNvSpPr>
            <p:nvPr/>
          </p:nvSpPr>
          <p:spPr bwMode="auto">
            <a:xfrm>
              <a:off x="484" y="1750"/>
              <a:ext cx="30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Yes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6" name="Text Box 22"/>
            <p:cNvSpPr txBox="1">
              <a:spLocks noChangeArrowheads="1"/>
            </p:cNvSpPr>
            <p:nvPr/>
          </p:nvSpPr>
          <p:spPr bwMode="auto">
            <a:xfrm>
              <a:off x="1654" y="1750"/>
              <a:ext cx="25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7" name="Text Box 23"/>
            <p:cNvSpPr txBox="1">
              <a:spLocks noChangeArrowheads="1"/>
            </p:cNvSpPr>
            <p:nvPr/>
          </p:nvSpPr>
          <p:spPr bwMode="auto">
            <a:xfrm>
              <a:off x="2301" y="2232"/>
              <a:ext cx="5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Married</a:t>
              </a:r>
              <a:r>
                <a:rPr lang="en-US" sz="1600" b="0">
                  <a:solidFill>
                    <a:schemeClr val="bg2"/>
                  </a:solidFill>
                  <a:latin typeface="Arial" charset="0"/>
                </a:rPr>
                <a:t> </a:t>
              </a:r>
            </a:p>
          </p:txBody>
        </p:sp>
        <p:sp>
          <p:nvSpPr>
            <p:cNvPr id="891928" name="Text Box 24"/>
            <p:cNvSpPr txBox="1">
              <a:spLocks noChangeArrowheads="1"/>
            </p:cNvSpPr>
            <p:nvPr/>
          </p:nvSpPr>
          <p:spPr bwMode="auto">
            <a:xfrm>
              <a:off x="945" y="2250"/>
              <a:ext cx="95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Single, Divorced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9" name="Text Box 25"/>
            <p:cNvSpPr txBox="1">
              <a:spLocks noChangeArrowheads="1"/>
            </p:cNvSpPr>
            <p:nvPr/>
          </p:nvSpPr>
          <p:spPr bwMode="auto">
            <a:xfrm>
              <a:off x="654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&lt; 80K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30" name="Text Box 26"/>
            <p:cNvSpPr txBox="1">
              <a:spLocks noChangeArrowheads="1"/>
            </p:cNvSpPr>
            <p:nvPr/>
          </p:nvSpPr>
          <p:spPr bwMode="auto">
            <a:xfrm>
              <a:off x="1772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&gt; 80K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</p:grpSp>
      <p:graphicFrame>
        <p:nvGraphicFramePr>
          <p:cNvPr id="8919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789915661"/>
              </p:ext>
            </p:extLst>
          </p:nvPr>
        </p:nvGraphicFramePr>
        <p:xfrm>
          <a:off x="4953000" y="2057400"/>
          <a:ext cx="3343275" cy="1133475"/>
        </p:xfrm>
        <a:graphic>
          <a:graphicData uri="http://schemas.openxmlformats.org/presentationml/2006/ole">
            <p:oleObj spid="_x0000_s142338" name="Document" r:id="rId3" imgW="4651248" imgH="1575816" progId="Word.Document.8">
              <p:embed/>
            </p:oleObj>
          </a:graphicData>
        </a:graphic>
      </p:graphicFrame>
      <p:sp>
        <p:nvSpPr>
          <p:cNvPr id="891932" name="Text Box 28"/>
          <p:cNvSpPr txBox="1">
            <a:spLocks noChangeArrowheads="1"/>
          </p:cNvSpPr>
          <p:nvPr/>
        </p:nvSpPr>
        <p:spPr bwMode="auto">
          <a:xfrm>
            <a:off x="4800600" y="16002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1933" name="Line 29"/>
          <p:cNvSpPr>
            <a:spLocks noChangeShapeType="1"/>
          </p:cNvSpPr>
          <p:nvPr/>
        </p:nvSpPr>
        <p:spPr bwMode="auto">
          <a:xfrm flipH="1">
            <a:off x="2667000" y="2286000"/>
            <a:ext cx="2362200" cy="685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 bwMode="auto">
          <a:xfrm>
            <a:off x="609600" y="1524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Apply Model to Test Data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5343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1" name="Line 3"/>
          <p:cNvSpPr>
            <a:spLocks noChangeShapeType="1"/>
          </p:cNvSpPr>
          <p:nvPr/>
        </p:nvSpPr>
        <p:spPr bwMode="auto">
          <a:xfrm>
            <a:off x="2898775" y="50085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2" name="Line 4"/>
          <p:cNvSpPr>
            <a:spLocks noChangeShapeType="1"/>
          </p:cNvSpPr>
          <p:nvPr/>
        </p:nvSpPr>
        <p:spPr bwMode="auto">
          <a:xfrm flipH="1">
            <a:off x="1658938" y="50085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3" name="Line 5"/>
          <p:cNvSpPr>
            <a:spLocks noChangeShapeType="1"/>
          </p:cNvSpPr>
          <p:nvPr/>
        </p:nvSpPr>
        <p:spPr bwMode="auto">
          <a:xfrm flipH="1">
            <a:off x="2366963" y="40338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4" name="Line 6"/>
          <p:cNvSpPr>
            <a:spLocks noChangeShapeType="1"/>
          </p:cNvSpPr>
          <p:nvPr/>
        </p:nvSpPr>
        <p:spPr bwMode="auto">
          <a:xfrm>
            <a:off x="3695700" y="40338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5" name="Line 7"/>
          <p:cNvSpPr>
            <a:spLocks noChangeShapeType="1"/>
          </p:cNvSpPr>
          <p:nvPr/>
        </p:nvSpPr>
        <p:spPr bwMode="auto">
          <a:xfrm>
            <a:off x="2544763" y="31432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6" name="Line 8"/>
          <p:cNvSpPr>
            <a:spLocks noChangeShapeType="1"/>
          </p:cNvSpPr>
          <p:nvPr/>
        </p:nvSpPr>
        <p:spPr bwMode="auto">
          <a:xfrm flipH="1">
            <a:off x="1039813" y="31432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7" name="Text Box 9"/>
          <p:cNvSpPr txBox="1">
            <a:spLocks noChangeArrowheads="1"/>
          </p:cNvSpPr>
          <p:nvPr/>
        </p:nvSpPr>
        <p:spPr bwMode="auto">
          <a:xfrm>
            <a:off x="1606550" y="2819400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38" name="Text Box 10"/>
          <p:cNvSpPr txBox="1">
            <a:spLocks noChangeArrowheads="1"/>
          </p:cNvSpPr>
          <p:nvPr/>
        </p:nvSpPr>
        <p:spPr bwMode="auto">
          <a:xfrm>
            <a:off x="2720975" y="37115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39" name="Text Box 11"/>
          <p:cNvSpPr txBox="1">
            <a:spLocks noChangeArrowheads="1"/>
          </p:cNvSpPr>
          <p:nvPr/>
        </p:nvSpPr>
        <p:spPr bwMode="auto">
          <a:xfrm>
            <a:off x="1925638" y="46831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0" name="AutoShape 12"/>
          <p:cNvSpPr>
            <a:spLocks noChangeArrowheads="1"/>
          </p:cNvSpPr>
          <p:nvPr/>
        </p:nvSpPr>
        <p:spPr bwMode="auto">
          <a:xfrm>
            <a:off x="2941638" y="56515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41" name="Text Box 13"/>
          <p:cNvSpPr txBox="1">
            <a:spLocks noChangeArrowheads="1"/>
          </p:cNvSpPr>
          <p:nvPr/>
        </p:nvSpPr>
        <p:spPr bwMode="auto">
          <a:xfrm>
            <a:off x="2859088" y="5651500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2" name="AutoShape 14"/>
          <p:cNvSpPr>
            <a:spLocks noChangeArrowheads="1"/>
          </p:cNvSpPr>
          <p:nvPr/>
        </p:nvSpPr>
        <p:spPr bwMode="auto">
          <a:xfrm>
            <a:off x="1304925" y="56721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43" name="Text Box 15"/>
          <p:cNvSpPr txBox="1">
            <a:spLocks noChangeArrowheads="1"/>
          </p:cNvSpPr>
          <p:nvPr/>
        </p:nvSpPr>
        <p:spPr bwMode="auto">
          <a:xfrm>
            <a:off x="1435100" y="56546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4" name="AutoShape 16"/>
          <p:cNvSpPr>
            <a:spLocks noChangeArrowheads="1"/>
          </p:cNvSpPr>
          <p:nvPr/>
        </p:nvSpPr>
        <p:spPr bwMode="auto">
          <a:xfrm>
            <a:off x="685800" y="37290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45" name="Text Box 17"/>
          <p:cNvSpPr txBox="1">
            <a:spLocks noChangeArrowheads="1"/>
          </p:cNvSpPr>
          <p:nvPr/>
        </p:nvSpPr>
        <p:spPr bwMode="auto">
          <a:xfrm>
            <a:off x="814388" y="37115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92946" name="AutoShape 18"/>
          <p:cNvSpPr>
            <a:spLocks noChangeArrowheads="1"/>
          </p:cNvSpPr>
          <p:nvPr/>
        </p:nvSpPr>
        <p:spPr bwMode="auto">
          <a:xfrm>
            <a:off x="3860800" y="47164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47" name="Text Box 19"/>
          <p:cNvSpPr txBox="1">
            <a:spLocks noChangeArrowheads="1"/>
          </p:cNvSpPr>
          <p:nvPr/>
        </p:nvSpPr>
        <p:spPr bwMode="auto">
          <a:xfrm>
            <a:off x="3968750" y="4716463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8" name="Text Box 20"/>
          <p:cNvSpPr txBox="1">
            <a:spLocks noChangeArrowheads="1"/>
          </p:cNvSpPr>
          <p:nvPr/>
        </p:nvSpPr>
        <p:spPr bwMode="auto">
          <a:xfrm>
            <a:off x="860425" y="31432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9" name="Text Box 21"/>
          <p:cNvSpPr txBox="1">
            <a:spLocks noChangeArrowheads="1"/>
          </p:cNvSpPr>
          <p:nvPr/>
        </p:nvSpPr>
        <p:spPr bwMode="auto">
          <a:xfrm>
            <a:off x="2897188" y="31432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892950" name="Text Box 22"/>
          <p:cNvSpPr txBox="1">
            <a:spLocks noChangeArrowheads="1"/>
          </p:cNvSpPr>
          <p:nvPr/>
        </p:nvSpPr>
        <p:spPr bwMode="auto">
          <a:xfrm>
            <a:off x="4022725" y="4081463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Married</a:t>
            </a:r>
            <a:r>
              <a:rPr lang="en-US" sz="1600" b="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892951" name="Text Box 23"/>
          <p:cNvSpPr txBox="1">
            <a:spLocks noChangeArrowheads="1"/>
          </p:cNvSpPr>
          <p:nvPr/>
        </p:nvSpPr>
        <p:spPr bwMode="auto">
          <a:xfrm>
            <a:off x="1662113" y="4116388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52" name="Text Box 24"/>
          <p:cNvSpPr txBox="1">
            <a:spLocks noChangeArrowheads="1"/>
          </p:cNvSpPr>
          <p:nvPr/>
        </p:nvSpPr>
        <p:spPr bwMode="auto">
          <a:xfrm>
            <a:off x="1155700" y="50879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 dirty="0">
                <a:latin typeface="Arial" charset="0"/>
              </a:rPr>
              <a:t>&lt; </a:t>
            </a:r>
            <a:r>
              <a:rPr lang="en-US" sz="1600" b="0" dirty="0" err="1">
                <a:latin typeface="Arial" charset="0"/>
              </a:rPr>
              <a:t>80K</a:t>
            </a:r>
            <a:endParaRPr lang="en-US" sz="1600" b="0" dirty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53" name="Text Box 25"/>
          <p:cNvSpPr txBox="1">
            <a:spLocks noChangeArrowheads="1"/>
          </p:cNvSpPr>
          <p:nvPr/>
        </p:nvSpPr>
        <p:spPr bwMode="auto">
          <a:xfrm>
            <a:off x="3101975" y="50879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89295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282486551"/>
              </p:ext>
            </p:extLst>
          </p:nvPr>
        </p:nvGraphicFramePr>
        <p:xfrm>
          <a:off x="4953000" y="2057400"/>
          <a:ext cx="3343275" cy="1133475"/>
        </p:xfrm>
        <a:graphic>
          <a:graphicData uri="http://schemas.openxmlformats.org/presentationml/2006/ole">
            <p:oleObj spid="_x0000_s143362" name="Document" r:id="rId3" imgW="4651248" imgH="1575816" progId="Word.Document.8">
              <p:embed/>
            </p:oleObj>
          </a:graphicData>
        </a:graphic>
      </p:graphicFrame>
      <p:sp>
        <p:nvSpPr>
          <p:cNvPr id="892955" name="Text Box 27"/>
          <p:cNvSpPr txBox="1">
            <a:spLocks noChangeArrowheads="1"/>
          </p:cNvSpPr>
          <p:nvPr/>
        </p:nvSpPr>
        <p:spPr bwMode="auto">
          <a:xfrm>
            <a:off x="4800600" y="16002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56" name="Line 28"/>
          <p:cNvSpPr>
            <a:spLocks noChangeShapeType="1"/>
          </p:cNvSpPr>
          <p:nvPr/>
        </p:nvSpPr>
        <p:spPr bwMode="auto">
          <a:xfrm flipH="1">
            <a:off x="3352800" y="2819400"/>
            <a:ext cx="160020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990600"/>
          </a:xfrm>
        </p:spPr>
        <p:txBody>
          <a:bodyPr/>
          <a:lstStyle/>
          <a:p>
            <a:r>
              <a:rPr lang="en-US" dirty="0"/>
              <a:t>Apply Model to Test Data</a:t>
            </a:r>
          </a:p>
        </p:txBody>
      </p:sp>
      <p:sp>
        <p:nvSpPr>
          <p:cNvPr id="2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5353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5" name="Line 3"/>
          <p:cNvSpPr>
            <a:spLocks noChangeShapeType="1"/>
          </p:cNvSpPr>
          <p:nvPr/>
        </p:nvSpPr>
        <p:spPr bwMode="auto">
          <a:xfrm>
            <a:off x="2898775" y="50085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56" name="Line 4"/>
          <p:cNvSpPr>
            <a:spLocks noChangeShapeType="1"/>
          </p:cNvSpPr>
          <p:nvPr/>
        </p:nvSpPr>
        <p:spPr bwMode="auto">
          <a:xfrm flipH="1">
            <a:off x="1658938" y="50085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57" name="Line 5"/>
          <p:cNvSpPr>
            <a:spLocks noChangeShapeType="1"/>
          </p:cNvSpPr>
          <p:nvPr/>
        </p:nvSpPr>
        <p:spPr bwMode="auto">
          <a:xfrm flipH="1">
            <a:off x="2366963" y="40338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58" name="Line 6"/>
          <p:cNvSpPr>
            <a:spLocks noChangeShapeType="1"/>
          </p:cNvSpPr>
          <p:nvPr/>
        </p:nvSpPr>
        <p:spPr bwMode="auto">
          <a:xfrm>
            <a:off x="3695700" y="40338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59" name="Line 7"/>
          <p:cNvSpPr>
            <a:spLocks noChangeShapeType="1"/>
          </p:cNvSpPr>
          <p:nvPr/>
        </p:nvSpPr>
        <p:spPr bwMode="auto">
          <a:xfrm>
            <a:off x="2544763" y="31432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0" name="Line 8"/>
          <p:cNvSpPr>
            <a:spLocks noChangeShapeType="1"/>
          </p:cNvSpPr>
          <p:nvPr/>
        </p:nvSpPr>
        <p:spPr bwMode="auto">
          <a:xfrm flipH="1">
            <a:off x="1039813" y="31432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1" name="Text Box 9"/>
          <p:cNvSpPr txBox="1">
            <a:spLocks noChangeArrowheads="1"/>
          </p:cNvSpPr>
          <p:nvPr/>
        </p:nvSpPr>
        <p:spPr bwMode="auto">
          <a:xfrm>
            <a:off x="1606550" y="2819400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2" name="Text Box 10"/>
          <p:cNvSpPr txBox="1">
            <a:spLocks noChangeArrowheads="1"/>
          </p:cNvSpPr>
          <p:nvPr/>
        </p:nvSpPr>
        <p:spPr bwMode="auto">
          <a:xfrm>
            <a:off x="2720975" y="37115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3" name="Text Box 11"/>
          <p:cNvSpPr txBox="1">
            <a:spLocks noChangeArrowheads="1"/>
          </p:cNvSpPr>
          <p:nvPr/>
        </p:nvSpPr>
        <p:spPr bwMode="auto">
          <a:xfrm>
            <a:off x="1925638" y="46831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4" name="AutoShape 12"/>
          <p:cNvSpPr>
            <a:spLocks noChangeArrowheads="1"/>
          </p:cNvSpPr>
          <p:nvPr/>
        </p:nvSpPr>
        <p:spPr bwMode="auto">
          <a:xfrm>
            <a:off x="2941638" y="56515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5" name="Text Box 13"/>
          <p:cNvSpPr txBox="1">
            <a:spLocks noChangeArrowheads="1"/>
          </p:cNvSpPr>
          <p:nvPr/>
        </p:nvSpPr>
        <p:spPr bwMode="auto">
          <a:xfrm>
            <a:off x="2859088" y="5651500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6" name="AutoShape 14"/>
          <p:cNvSpPr>
            <a:spLocks noChangeArrowheads="1"/>
          </p:cNvSpPr>
          <p:nvPr/>
        </p:nvSpPr>
        <p:spPr bwMode="auto">
          <a:xfrm>
            <a:off x="1304925" y="56721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7" name="Text Box 15"/>
          <p:cNvSpPr txBox="1">
            <a:spLocks noChangeArrowheads="1"/>
          </p:cNvSpPr>
          <p:nvPr/>
        </p:nvSpPr>
        <p:spPr bwMode="auto">
          <a:xfrm>
            <a:off x="1435100" y="56546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8" name="AutoShape 16"/>
          <p:cNvSpPr>
            <a:spLocks noChangeArrowheads="1"/>
          </p:cNvSpPr>
          <p:nvPr/>
        </p:nvSpPr>
        <p:spPr bwMode="auto">
          <a:xfrm>
            <a:off x="685800" y="37290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9" name="Text Box 17"/>
          <p:cNvSpPr txBox="1">
            <a:spLocks noChangeArrowheads="1"/>
          </p:cNvSpPr>
          <p:nvPr/>
        </p:nvSpPr>
        <p:spPr bwMode="auto">
          <a:xfrm>
            <a:off x="814388" y="37115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93970" name="AutoShape 18"/>
          <p:cNvSpPr>
            <a:spLocks noChangeArrowheads="1"/>
          </p:cNvSpPr>
          <p:nvPr/>
        </p:nvSpPr>
        <p:spPr bwMode="auto">
          <a:xfrm>
            <a:off x="3860800" y="47164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71" name="Text Box 19"/>
          <p:cNvSpPr txBox="1">
            <a:spLocks noChangeArrowheads="1"/>
          </p:cNvSpPr>
          <p:nvPr/>
        </p:nvSpPr>
        <p:spPr bwMode="auto">
          <a:xfrm>
            <a:off x="3968750" y="4716463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72" name="Text Box 20"/>
          <p:cNvSpPr txBox="1">
            <a:spLocks noChangeArrowheads="1"/>
          </p:cNvSpPr>
          <p:nvPr/>
        </p:nvSpPr>
        <p:spPr bwMode="auto">
          <a:xfrm>
            <a:off x="860425" y="31432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73" name="Text Box 21"/>
          <p:cNvSpPr txBox="1">
            <a:spLocks noChangeArrowheads="1"/>
          </p:cNvSpPr>
          <p:nvPr/>
        </p:nvSpPr>
        <p:spPr bwMode="auto">
          <a:xfrm>
            <a:off x="2897188" y="31432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893974" name="Text Box 22"/>
          <p:cNvSpPr txBox="1">
            <a:spLocks noChangeArrowheads="1"/>
          </p:cNvSpPr>
          <p:nvPr/>
        </p:nvSpPr>
        <p:spPr bwMode="auto">
          <a:xfrm>
            <a:off x="4022725" y="4081463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Married</a:t>
            </a:r>
            <a:r>
              <a:rPr lang="en-US" sz="1600" b="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893975" name="Text Box 23"/>
          <p:cNvSpPr txBox="1">
            <a:spLocks noChangeArrowheads="1"/>
          </p:cNvSpPr>
          <p:nvPr/>
        </p:nvSpPr>
        <p:spPr bwMode="auto">
          <a:xfrm>
            <a:off x="1662113" y="4116388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76" name="Text Box 24"/>
          <p:cNvSpPr txBox="1">
            <a:spLocks noChangeArrowheads="1"/>
          </p:cNvSpPr>
          <p:nvPr/>
        </p:nvSpPr>
        <p:spPr bwMode="auto">
          <a:xfrm>
            <a:off x="1155700" y="50879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77" name="Text Box 25"/>
          <p:cNvSpPr txBox="1">
            <a:spLocks noChangeArrowheads="1"/>
          </p:cNvSpPr>
          <p:nvPr/>
        </p:nvSpPr>
        <p:spPr bwMode="auto">
          <a:xfrm>
            <a:off x="3101975" y="50879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89397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226245054"/>
              </p:ext>
            </p:extLst>
          </p:nvPr>
        </p:nvGraphicFramePr>
        <p:xfrm>
          <a:off x="4953000" y="2057400"/>
          <a:ext cx="3343275" cy="1133475"/>
        </p:xfrm>
        <a:graphic>
          <a:graphicData uri="http://schemas.openxmlformats.org/presentationml/2006/ole">
            <p:oleObj spid="_x0000_s144386" name="Document" r:id="rId3" imgW="4651248" imgH="1575816" progId="Word.Document.8">
              <p:embed/>
            </p:oleObj>
          </a:graphicData>
        </a:graphic>
      </p:graphicFrame>
      <p:sp>
        <p:nvSpPr>
          <p:cNvPr id="893979" name="Text Box 27"/>
          <p:cNvSpPr txBox="1">
            <a:spLocks noChangeArrowheads="1"/>
          </p:cNvSpPr>
          <p:nvPr/>
        </p:nvSpPr>
        <p:spPr bwMode="auto">
          <a:xfrm>
            <a:off x="4800600" y="16002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80" name="Line 28"/>
          <p:cNvSpPr>
            <a:spLocks noChangeShapeType="1"/>
          </p:cNvSpPr>
          <p:nvPr/>
        </p:nvSpPr>
        <p:spPr bwMode="auto">
          <a:xfrm flipH="1">
            <a:off x="3810000" y="2514600"/>
            <a:ext cx="2057400" cy="1295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990600"/>
          </a:xfrm>
        </p:spPr>
        <p:txBody>
          <a:bodyPr/>
          <a:lstStyle/>
          <a:p>
            <a:r>
              <a:rPr lang="en-US" dirty="0"/>
              <a:t>Apply Model to Test Data</a:t>
            </a:r>
          </a:p>
        </p:txBody>
      </p:sp>
      <p:sp>
        <p:nvSpPr>
          <p:cNvPr id="2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3537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9" name="Line 3"/>
          <p:cNvSpPr>
            <a:spLocks noChangeShapeType="1"/>
          </p:cNvSpPr>
          <p:nvPr/>
        </p:nvSpPr>
        <p:spPr bwMode="auto">
          <a:xfrm>
            <a:off x="2898775" y="50625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0" name="Line 4"/>
          <p:cNvSpPr>
            <a:spLocks noChangeShapeType="1"/>
          </p:cNvSpPr>
          <p:nvPr/>
        </p:nvSpPr>
        <p:spPr bwMode="auto">
          <a:xfrm flipH="1">
            <a:off x="1658938" y="50625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1" name="Line 5"/>
          <p:cNvSpPr>
            <a:spLocks noChangeShapeType="1"/>
          </p:cNvSpPr>
          <p:nvPr/>
        </p:nvSpPr>
        <p:spPr bwMode="auto">
          <a:xfrm flipH="1">
            <a:off x="2366963" y="4087813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2" name="Line 6"/>
          <p:cNvSpPr>
            <a:spLocks noChangeShapeType="1"/>
          </p:cNvSpPr>
          <p:nvPr/>
        </p:nvSpPr>
        <p:spPr bwMode="auto">
          <a:xfrm>
            <a:off x="3695700" y="4087813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3" name="Line 7"/>
          <p:cNvSpPr>
            <a:spLocks noChangeShapeType="1"/>
          </p:cNvSpPr>
          <p:nvPr/>
        </p:nvSpPr>
        <p:spPr bwMode="auto">
          <a:xfrm>
            <a:off x="2544763" y="3197225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4" name="Line 8"/>
          <p:cNvSpPr>
            <a:spLocks noChangeShapeType="1"/>
          </p:cNvSpPr>
          <p:nvPr/>
        </p:nvSpPr>
        <p:spPr bwMode="auto">
          <a:xfrm flipH="1">
            <a:off x="1039813" y="3197225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5" name="Text Box 9"/>
          <p:cNvSpPr txBox="1">
            <a:spLocks noChangeArrowheads="1"/>
          </p:cNvSpPr>
          <p:nvPr/>
        </p:nvSpPr>
        <p:spPr bwMode="auto">
          <a:xfrm>
            <a:off x="1606550" y="2873375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86" name="Text Box 10"/>
          <p:cNvSpPr txBox="1">
            <a:spLocks noChangeArrowheads="1"/>
          </p:cNvSpPr>
          <p:nvPr/>
        </p:nvSpPr>
        <p:spPr bwMode="auto">
          <a:xfrm>
            <a:off x="2720975" y="3765550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87" name="Text Box 11"/>
          <p:cNvSpPr txBox="1">
            <a:spLocks noChangeArrowheads="1"/>
          </p:cNvSpPr>
          <p:nvPr/>
        </p:nvSpPr>
        <p:spPr bwMode="auto">
          <a:xfrm>
            <a:off x="1925638" y="47371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88" name="AutoShape 12"/>
          <p:cNvSpPr>
            <a:spLocks noChangeArrowheads="1"/>
          </p:cNvSpPr>
          <p:nvPr/>
        </p:nvSpPr>
        <p:spPr bwMode="auto">
          <a:xfrm>
            <a:off x="2941638" y="5705475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9" name="Text Box 13"/>
          <p:cNvSpPr txBox="1">
            <a:spLocks noChangeArrowheads="1"/>
          </p:cNvSpPr>
          <p:nvPr/>
        </p:nvSpPr>
        <p:spPr bwMode="auto">
          <a:xfrm>
            <a:off x="2859088" y="5705475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90" name="AutoShape 14"/>
          <p:cNvSpPr>
            <a:spLocks noChangeArrowheads="1"/>
          </p:cNvSpPr>
          <p:nvPr/>
        </p:nvSpPr>
        <p:spPr bwMode="auto">
          <a:xfrm>
            <a:off x="1304925" y="5726113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91" name="Text Box 15"/>
          <p:cNvSpPr txBox="1">
            <a:spLocks noChangeArrowheads="1"/>
          </p:cNvSpPr>
          <p:nvPr/>
        </p:nvSpPr>
        <p:spPr bwMode="auto">
          <a:xfrm>
            <a:off x="1435100" y="57086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92" name="AutoShape 16"/>
          <p:cNvSpPr>
            <a:spLocks noChangeArrowheads="1"/>
          </p:cNvSpPr>
          <p:nvPr/>
        </p:nvSpPr>
        <p:spPr bwMode="auto">
          <a:xfrm>
            <a:off x="685800" y="3783013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93" name="Text Box 17"/>
          <p:cNvSpPr txBox="1">
            <a:spLocks noChangeArrowheads="1"/>
          </p:cNvSpPr>
          <p:nvPr/>
        </p:nvSpPr>
        <p:spPr bwMode="auto">
          <a:xfrm>
            <a:off x="814388" y="37655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94994" name="AutoShape 18"/>
          <p:cNvSpPr>
            <a:spLocks noChangeArrowheads="1"/>
          </p:cNvSpPr>
          <p:nvPr/>
        </p:nvSpPr>
        <p:spPr bwMode="auto">
          <a:xfrm>
            <a:off x="3860800" y="4770438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95" name="Text Box 19"/>
          <p:cNvSpPr txBox="1">
            <a:spLocks noChangeArrowheads="1"/>
          </p:cNvSpPr>
          <p:nvPr/>
        </p:nvSpPr>
        <p:spPr bwMode="auto">
          <a:xfrm>
            <a:off x="3968750" y="4770438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96" name="Text Box 20"/>
          <p:cNvSpPr txBox="1">
            <a:spLocks noChangeArrowheads="1"/>
          </p:cNvSpPr>
          <p:nvPr/>
        </p:nvSpPr>
        <p:spPr bwMode="auto">
          <a:xfrm>
            <a:off x="860425" y="3197225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97" name="Text Box 21"/>
          <p:cNvSpPr txBox="1">
            <a:spLocks noChangeArrowheads="1"/>
          </p:cNvSpPr>
          <p:nvPr/>
        </p:nvSpPr>
        <p:spPr bwMode="auto">
          <a:xfrm>
            <a:off x="2897188" y="3197225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894998" name="Text Box 22"/>
          <p:cNvSpPr txBox="1">
            <a:spLocks noChangeArrowheads="1"/>
          </p:cNvSpPr>
          <p:nvPr/>
        </p:nvSpPr>
        <p:spPr bwMode="auto">
          <a:xfrm>
            <a:off x="4022725" y="4135438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Married </a:t>
            </a:r>
          </a:p>
        </p:txBody>
      </p:sp>
      <p:sp>
        <p:nvSpPr>
          <p:cNvPr id="894999" name="Text Box 23"/>
          <p:cNvSpPr txBox="1">
            <a:spLocks noChangeArrowheads="1"/>
          </p:cNvSpPr>
          <p:nvPr/>
        </p:nvSpPr>
        <p:spPr bwMode="auto">
          <a:xfrm>
            <a:off x="1662113" y="4170363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5000" name="Text Box 24"/>
          <p:cNvSpPr txBox="1">
            <a:spLocks noChangeArrowheads="1"/>
          </p:cNvSpPr>
          <p:nvPr/>
        </p:nvSpPr>
        <p:spPr bwMode="auto">
          <a:xfrm>
            <a:off x="1155700" y="51419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5001" name="Text Box 25"/>
          <p:cNvSpPr txBox="1">
            <a:spLocks noChangeArrowheads="1"/>
          </p:cNvSpPr>
          <p:nvPr/>
        </p:nvSpPr>
        <p:spPr bwMode="auto">
          <a:xfrm>
            <a:off x="3101975" y="51419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89500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757794434"/>
              </p:ext>
            </p:extLst>
          </p:nvPr>
        </p:nvGraphicFramePr>
        <p:xfrm>
          <a:off x="4953000" y="2111375"/>
          <a:ext cx="3343275" cy="1133475"/>
        </p:xfrm>
        <a:graphic>
          <a:graphicData uri="http://schemas.openxmlformats.org/presentationml/2006/ole">
            <p:oleObj spid="_x0000_s145410" name="Document" r:id="rId3" imgW="4651248" imgH="1575816" progId="Word.Document.8">
              <p:embed/>
            </p:oleObj>
          </a:graphicData>
        </a:graphic>
      </p:graphicFrame>
      <p:sp>
        <p:nvSpPr>
          <p:cNvPr id="895003" name="Text Box 27"/>
          <p:cNvSpPr txBox="1">
            <a:spLocks noChangeArrowheads="1"/>
          </p:cNvSpPr>
          <p:nvPr/>
        </p:nvSpPr>
        <p:spPr bwMode="auto">
          <a:xfrm>
            <a:off x="4800600" y="16541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5004" name="Line 28"/>
          <p:cNvSpPr>
            <a:spLocks noChangeShapeType="1"/>
          </p:cNvSpPr>
          <p:nvPr/>
        </p:nvSpPr>
        <p:spPr bwMode="auto">
          <a:xfrm flipH="1">
            <a:off x="4648200" y="3101975"/>
            <a:ext cx="1295400" cy="990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990600"/>
          </a:xfrm>
        </p:spPr>
        <p:txBody>
          <a:bodyPr/>
          <a:lstStyle/>
          <a:p>
            <a:r>
              <a:rPr lang="en-US" dirty="0"/>
              <a:t>Apply Model to Test Data</a:t>
            </a:r>
          </a:p>
        </p:txBody>
      </p:sp>
      <p:sp>
        <p:nvSpPr>
          <p:cNvPr id="2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562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3" name="Line 3"/>
          <p:cNvSpPr>
            <a:spLocks noChangeShapeType="1"/>
          </p:cNvSpPr>
          <p:nvPr/>
        </p:nvSpPr>
        <p:spPr bwMode="auto">
          <a:xfrm>
            <a:off x="2898775" y="50085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4" name="Line 4"/>
          <p:cNvSpPr>
            <a:spLocks noChangeShapeType="1"/>
          </p:cNvSpPr>
          <p:nvPr/>
        </p:nvSpPr>
        <p:spPr bwMode="auto">
          <a:xfrm flipH="1">
            <a:off x="1658938" y="50085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5" name="Line 5"/>
          <p:cNvSpPr>
            <a:spLocks noChangeShapeType="1"/>
          </p:cNvSpPr>
          <p:nvPr/>
        </p:nvSpPr>
        <p:spPr bwMode="auto">
          <a:xfrm flipH="1">
            <a:off x="2366963" y="40338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6" name="Line 6"/>
          <p:cNvSpPr>
            <a:spLocks noChangeShapeType="1"/>
          </p:cNvSpPr>
          <p:nvPr/>
        </p:nvSpPr>
        <p:spPr bwMode="auto">
          <a:xfrm>
            <a:off x="3695700" y="4033838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7" name="Line 7"/>
          <p:cNvSpPr>
            <a:spLocks noChangeShapeType="1"/>
          </p:cNvSpPr>
          <p:nvPr/>
        </p:nvSpPr>
        <p:spPr bwMode="auto">
          <a:xfrm>
            <a:off x="2544763" y="31432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8" name="Line 8"/>
          <p:cNvSpPr>
            <a:spLocks noChangeShapeType="1"/>
          </p:cNvSpPr>
          <p:nvPr/>
        </p:nvSpPr>
        <p:spPr bwMode="auto">
          <a:xfrm flipH="1">
            <a:off x="1039813" y="31432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9" name="Text Box 9"/>
          <p:cNvSpPr txBox="1">
            <a:spLocks noChangeArrowheads="1"/>
          </p:cNvSpPr>
          <p:nvPr/>
        </p:nvSpPr>
        <p:spPr bwMode="auto">
          <a:xfrm>
            <a:off x="1606550" y="2819400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0" name="Text Box 10"/>
          <p:cNvSpPr txBox="1">
            <a:spLocks noChangeArrowheads="1"/>
          </p:cNvSpPr>
          <p:nvPr/>
        </p:nvSpPr>
        <p:spPr bwMode="auto">
          <a:xfrm>
            <a:off x="2720975" y="37115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1" name="Text Box 11"/>
          <p:cNvSpPr txBox="1">
            <a:spLocks noChangeArrowheads="1"/>
          </p:cNvSpPr>
          <p:nvPr/>
        </p:nvSpPr>
        <p:spPr bwMode="auto">
          <a:xfrm>
            <a:off x="1925638" y="46831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2" name="AutoShape 12"/>
          <p:cNvSpPr>
            <a:spLocks noChangeArrowheads="1"/>
          </p:cNvSpPr>
          <p:nvPr/>
        </p:nvSpPr>
        <p:spPr bwMode="auto">
          <a:xfrm>
            <a:off x="2941638" y="56515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13" name="Text Box 13"/>
          <p:cNvSpPr txBox="1">
            <a:spLocks noChangeArrowheads="1"/>
          </p:cNvSpPr>
          <p:nvPr/>
        </p:nvSpPr>
        <p:spPr bwMode="auto">
          <a:xfrm>
            <a:off x="2859088" y="5651500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4" name="AutoShape 14"/>
          <p:cNvSpPr>
            <a:spLocks noChangeArrowheads="1"/>
          </p:cNvSpPr>
          <p:nvPr/>
        </p:nvSpPr>
        <p:spPr bwMode="auto">
          <a:xfrm>
            <a:off x="1304925" y="56721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15" name="Text Box 15"/>
          <p:cNvSpPr txBox="1">
            <a:spLocks noChangeArrowheads="1"/>
          </p:cNvSpPr>
          <p:nvPr/>
        </p:nvSpPr>
        <p:spPr bwMode="auto">
          <a:xfrm>
            <a:off x="1435100" y="56546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6" name="AutoShape 16"/>
          <p:cNvSpPr>
            <a:spLocks noChangeArrowheads="1"/>
          </p:cNvSpPr>
          <p:nvPr/>
        </p:nvSpPr>
        <p:spPr bwMode="auto">
          <a:xfrm>
            <a:off x="685800" y="37290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17" name="Text Box 17"/>
          <p:cNvSpPr txBox="1">
            <a:spLocks noChangeArrowheads="1"/>
          </p:cNvSpPr>
          <p:nvPr/>
        </p:nvSpPr>
        <p:spPr bwMode="auto">
          <a:xfrm>
            <a:off x="814388" y="371157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96018" name="AutoShape 18"/>
          <p:cNvSpPr>
            <a:spLocks noChangeArrowheads="1"/>
          </p:cNvSpPr>
          <p:nvPr/>
        </p:nvSpPr>
        <p:spPr bwMode="auto">
          <a:xfrm>
            <a:off x="3860800" y="47164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19" name="Text Box 19"/>
          <p:cNvSpPr txBox="1">
            <a:spLocks noChangeArrowheads="1"/>
          </p:cNvSpPr>
          <p:nvPr/>
        </p:nvSpPr>
        <p:spPr bwMode="auto">
          <a:xfrm>
            <a:off x="3968750" y="4716463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0" name="Text Box 20"/>
          <p:cNvSpPr txBox="1">
            <a:spLocks noChangeArrowheads="1"/>
          </p:cNvSpPr>
          <p:nvPr/>
        </p:nvSpPr>
        <p:spPr bwMode="auto">
          <a:xfrm>
            <a:off x="860425" y="31432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1" name="Text Box 21"/>
          <p:cNvSpPr txBox="1">
            <a:spLocks noChangeArrowheads="1"/>
          </p:cNvSpPr>
          <p:nvPr/>
        </p:nvSpPr>
        <p:spPr bwMode="auto">
          <a:xfrm>
            <a:off x="2897188" y="31432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896022" name="Text Box 22"/>
          <p:cNvSpPr txBox="1">
            <a:spLocks noChangeArrowheads="1"/>
          </p:cNvSpPr>
          <p:nvPr/>
        </p:nvSpPr>
        <p:spPr bwMode="auto">
          <a:xfrm>
            <a:off x="4022725" y="4081463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Married </a:t>
            </a:r>
          </a:p>
        </p:txBody>
      </p:sp>
      <p:sp>
        <p:nvSpPr>
          <p:cNvPr id="896023" name="Text Box 23"/>
          <p:cNvSpPr txBox="1">
            <a:spLocks noChangeArrowheads="1"/>
          </p:cNvSpPr>
          <p:nvPr/>
        </p:nvSpPr>
        <p:spPr bwMode="auto">
          <a:xfrm>
            <a:off x="1662113" y="4116388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4" name="Text Box 24"/>
          <p:cNvSpPr txBox="1">
            <a:spLocks noChangeArrowheads="1"/>
          </p:cNvSpPr>
          <p:nvPr/>
        </p:nvSpPr>
        <p:spPr bwMode="auto">
          <a:xfrm>
            <a:off x="1155700" y="50879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5" name="Text Box 25"/>
          <p:cNvSpPr txBox="1">
            <a:spLocks noChangeArrowheads="1"/>
          </p:cNvSpPr>
          <p:nvPr/>
        </p:nvSpPr>
        <p:spPr bwMode="auto">
          <a:xfrm>
            <a:off x="3101975" y="5087938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89602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240248447"/>
              </p:ext>
            </p:extLst>
          </p:nvPr>
        </p:nvGraphicFramePr>
        <p:xfrm>
          <a:off x="4953000" y="2057400"/>
          <a:ext cx="3343275" cy="1133475"/>
        </p:xfrm>
        <a:graphic>
          <a:graphicData uri="http://schemas.openxmlformats.org/presentationml/2006/ole">
            <p:oleObj spid="_x0000_s146434" name="Document" r:id="rId3" imgW="4651248" imgH="1575816" progId="Word.Document.8">
              <p:embed/>
            </p:oleObj>
          </a:graphicData>
        </a:graphic>
      </p:graphicFrame>
      <p:sp>
        <p:nvSpPr>
          <p:cNvPr id="896027" name="Text Box 27"/>
          <p:cNvSpPr txBox="1">
            <a:spLocks noChangeArrowheads="1"/>
          </p:cNvSpPr>
          <p:nvPr/>
        </p:nvSpPr>
        <p:spPr bwMode="auto">
          <a:xfrm>
            <a:off x="4800600" y="1600200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8" name="Line 28"/>
          <p:cNvSpPr>
            <a:spLocks noChangeShapeType="1"/>
          </p:cNvSpPr>
          <p:nvPr/>
        </p:nvSpPr>
        <p:spPr bwMode="auto">
          <a:xfrm flipH="1">
            <a:off x="4495800" y="3048000"/>
            <a:ext cx="3124200" cy="1828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29" name="Text Box 29"/>
          <p:cNvSpPr txBox="1">
            <a:spLocks noChangeArrowheads="1"/>
          </p:cNvSpPr>
          <p:nvPr/>
        </p:nvSpPr>
        <p:spPr bwMode="auto">
          <a:xfrm>
            <a:off x="6019800" y="4038600"/>
            <a:ext cx="2667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 b="0">
                <a:latin typeface="Arial" charset="0"/>
              </a:rPr>
              <a:t>Assign Cheat to “No”</a:t>
            </a: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990600"/>
          </a:xfrm>
        </p:spPr>
        <p:txBody>
          <a:bodyPr/>
          <a:lstStyle/>
          <a:p>
            <a:r>
              <a:rPr lang="en-US" dirty="0"/>
              <a:t>Apply Model to Test Data</a:t>
            </a:r>
          </a:p>
        </p:txBody>
      </p:sp>
      <p:sp>
        <p:nvSpPr>
          <p:cNvPr id="3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435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8176</TotalTime>
  <Words>834</Words>
  <Application>Microsoft Office PowerPoint</Application>
  <PresentationFormat>On-screen Show (4:3)</PresentationFormat>
  <Paragraphs>257</Paragraphs>
  <Slides>21</Slides>
  <Notes>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Default Design</vt:lpstr>
      <vt:lpstr>Document</vt:lpstr>
      <vt:lpstr>Visio</vt:lpstr>
      <vt:lpstr>Equation</vt:lpstr>
      <vt:lpstr>Slide 1</vt:lpstr>
      <vt:lpstr>Supervised vs. Unsupervised Learning</vt:lpstr>
      <vt:lpstr>Prediction Problems: Classification vs. Numeric Prediction</vt:lpstr>
      <vt:lpstr>Classification—A Two-Step Process </vt:lpstr>
      <vt:lpstr>Catching tax-evasion</vt:lpstr>
      <vt:lpstr>What is classification?</vt:lpstr>
      <vt:lpstr>What is classification (cont…)</vt:lpstr>
      <vt:lpstr>Examples of Classification Tasks</vt:lpstr>
      <vt:lpstr>General approach to classification</vt:lpstr>
      <vt:lpstr>Illustrating Classification Task</vt:lpstr>
      <vt:lpstr>Evaluation of classification models</vt:lpstr>
      <vt:lpstr>Decision Trees</vt:lpstr>
      <vt:lpstr>Example of a Decision Tree</vt:lpstr>
      <vt:lpstr>Another Example of Decision Tree</vt:lpstr>
      <vt:lpstr>Decision Tree Classification Task</vt:lpstr>
      <vt:lpstr>Apply Model to Test Data</vt:lpstr>
      <vt:lpstr>Slide 17</vt:lpstr>
      <vt:lpstr>Apply Model to Test Data</vt:lpstr>
      <vt:lpstr>Apply Model to Test Data</vt:lpstr>
      <vt:lpstr>Apply Model to Test Data</vt:lpstr>
      <vt:lpstr>Apply Model to Test Data</vt:lpstr>
    </vt:vector>
  </TitlesOfParts>
  <Company>RHfarm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Shariq</dc:creator>
  <cp:lastModifiedBy>pc</cp:lastModifiedBy>
  <cp:revision>481</cp:revision>
  <dcterms:created xsi:type="dcterms:W3CDTF">2006-02-06T02:43:57Z</dcterms:created>
  <dcterms:modified xsi:type="dcterms:W3CDTF">2020-06-04T20:36:05Z</dcterms:modified>
</cp:coreProperties>
</file>