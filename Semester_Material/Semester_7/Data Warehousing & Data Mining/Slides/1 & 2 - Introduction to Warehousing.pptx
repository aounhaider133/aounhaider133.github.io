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28"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CF42880-7152-4A27-8CB3-8D20F0D410BD}" type="datetimeFigureOut">
              <a:rPr lang="en-US" smtClean="0"/>
              <a:t>9/22/2020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71277F5-4156-4245-A336-EF3D268E3150}"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7">
            <a:extLst>
              <a:ext uri="{FF2B5EF4-FFF2-40B4-BE49-F238E27FC236}">
                <a16:creationId xmlns="" xmlns:a16="http://schemas.microsoft.com/office/drawing/2014/main" id="{C6A15FFC-7495-4E92-B69B-CBFC60D04ED3}"/>
              </a:ext>
            </a:extLst>
          </p:cNvPr>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A77D1D5C-219F-4037-9BA0-7E433B21DFBD}" type="slidenum">
              <a:rPr lang="en-US" altLang="en-US">
                <a:latin typeface="Times New Roman" panose="02020603050405020304" pitchFamily="18" charset="0"/>
              </a:rPr>
              <a:pPr eaLnBrk="1" hangingPunct="1"/>
              <a:t>1</a:t>
            </a:fld>
            <a:endParaRPr lang="en-US" altLang="en-US">
              <a:latin typeface="Times New Roman" panose="02020603050405020304" pitchFamily="18" charset="0"/>
            </a:endParaRPr>
          </a:p>
        </p:txBody>
      </p:sp>
      <p:sp>
        <p:nvSpPr>
          <p:cNvPr id="264195" name="Rectangle 2">
            <a:extLst>
              <a:ext uri="{FF2B5EF4-FFF2-40B4-BE49-F238E27FC236}">
                <a16:creationId xmlns="" xmlns:a16="http://schemas.microsoft.com/office/drawing/2014/main" id="{BD3C3FF4-165C-4EAD-A070-C3800E0B0187}"/>
              </a:ext>
            </a:extLst>
          </p:cNvPr>
          <p:cNvSpPr>
            <a:spLocks noGrp="1" noRot="1" noChangeAspect="1" noChangeArrowheads="1" noTextEdit="1"/>
          </p:cNvSpPr>
          <p:nvPr>
            <p:ph type="sldImg"/>
          </p:nvPr>
        </p:nvSpPr>
        <p:spPr>
          <a:ln/>
        </p:spPr>
      </p:sp>
      <p:sp>
        <p:nvSpPr>
          <p:cNvPr id="264196" name="Rectangle 3">
            <a:extLst>
              <a:ext uri="{FF2B5EF4-FFF2-40B4-BE49-F238E27FC236}">
                <a16:creationId xmlns="" xmlns:a16="http://schemas.microsoft.com/office/drawing/2014/main" id="{34C1AA17-DCC5-4F68-8659-1A6DB221A6BE}"/>
              </a:ext>
            </a:extLst>
          </p:cNvPr>
          <p:cNvSpPr>
            <a:spLocks noGrp="1" noChangeArrowheads="1"/>
          </p:cNvSpPr>
          <p:nvPr>
            <p:ph type="body" idx="1"/>
          </p:nvPr>
        </p:nvSpPr>
        <p:spPr>
          <a:xfrm>
            <a:off x="686098" y="4343704"/>
            <a:ext cx="5485805" cy="4113892"/>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sv-SE" altLang="en-US">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7">
            <a:extLst>
              <a:ext uri="{FF2B5EF4-FFF2-40B4-BE49-F238E27FC236}">
                <a16:creationId xmlns="" xmlns:a16="http://schemas.microsoft.com/office/drawing/2014/main" id="{7A3242E9-0C0C-4FE0-ADF0-DE1BB98E07FB}"/>
              </a:ext>
            </a:extLst>
          </p:cNvPr>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1C8097DD-9AC3-45DA-A9BA-928F8F9CD9C6}" type="slidenum">
              <a:rPr lang="en-US" altLang="en-US">
                <a:latin typeface="Times New Roman" panose="02020603050405020304" pitchFamily="18" charset="0"/>
              </a:rPr>
              <a:pPr eaLnBrk="1" hangingPunct="1"/>
              <a:t>3</a:t>
            </a:fld>
            <a:endParaRPr lang="en-US" altLang="en-US">
              <a:latin typeface="Times New Roman" panose="02020603050405020304" pitchFamily="18" charset="0"/>
            </a:endParaRPr>
          </a:p>
        </p:txBody>
      </p:sp>
      <p:sp>
        <p:nvSpPr>
          <p:cNvPr id="265219" name="Rectangle 2">
            <a:extLst>
              <a:ext uri="{FF2B5EF4-FFF2-40B4-BE49-F238E27FC236}">
                <a16:creationId xmlns="" xmlns:a16="http://schemas.microsoft.com/office/drawing/2014/main" id="{ADC50612-FFA6-48C8-8EEA-7F6D8ABA2850}"/>
              </a:ext>
            </a:extLst>
          </p:cNvPr>
          <p:cNvSpPr>
            <a:spLocks noGrp="1" noRot="1" noChangeAspect="1" noChangeArrowheads="1" noTextEdit="1"/>
          </p:cNvSpPr>
          <p:nvPr>
            <p:ph type="sldImg"/>
          </p:nvPr>
        </p:nvSpPr>
        <p:spPr>
          <a:ln/>
        </p:spPr>
      </p:sp>
      <p:sp>
        <p:nvSpPr>
          <p:cNvPr id="265220" name="Rectangle 3">
            <a:extLst>
              <a:ext uri="{FF2B5EF4-FFF2-40B4-BE49-F238E27FC236}">
                <a16:creationId xmlns="" xmlns:a16="http://schemas.microsoft.com/office/drawing/2014/main" id="{FB88205F-547B-4E78-BCAE-4B2B2AA2732E}"/>
              </a:ext>
            </a:extLst>
          </p:cNvPr>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sv-SE" altLang="en-US">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7">
            <a:extLst>
              <a:ext uri="{FF2B5EF4-FFF2-40B4-BE49-F238E27FC236}">
                <a16:creationId xmlns="" xmlns:a16="http://schemas.microsoft.com/office/drawing/2014/main" id="{C1F04E8F-3BC5-40AC-B31D-1997A91D1CB2}"/>
              </a:ext>
            </a:extLst>
          </p:cNvPr>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CE82AA9B-0E27-40EF-BBE0-00BC4319C0A8}" type="slidenum">
              <a:rPr lang="en-US" altLang="en-US">
                <a:latin typeface="Times New Roman" panose="02020603050405020304" pitchFamily="18" charset="0"/>
              </a:rPr>
              <a:pPr eaLnBrk="1" hangingPunct="1"/>
              <a:t>4</a:t>
            </a:fld>
            <a:endParaRPr lang="en-US" altLang="en-US">
              <a:latin typeface="Times New Roman" panose="02020603050405020304" pitchFamily="18" charset="0"/>
            </a:endParaRPr>
          </a:p>
        </p:txBody>
      </p:sp>
      <p:sp>
        <p:nvSpPr>
          <p:cNvPr id="267267" name="Rectangle 2">
            <a:extLst>
              <a:ext uri="{FF2B5EF4-FFF2-40B4-BE49-F238E27FC236}">
                <a16:creationId xmlns="" xmlns:a16="http://schemas.microsoft.com/office/drawing/2014/main" id="{6D436E51-D218-4882-964F-774967676ADA}"/>
              </a:ext>
            </a:extLst>
          </p:cNvPr>
          <p:cNvSpPr>
            <a:spLocks noGrp="1" noRot="1" noChangeAspect="1" noChangeArrowheads="1" noTextEdit="1"/>
          </p:cNvSpPr>
          <p:nvPr>
            <p:ph type="sldImg"/>
          </p:nvPr>
        </p:nvSpPr>
        <p:spPr>
          <a:ln/>
        </p:spPr>
      </p:sp>
      <p:sp>
        <p:nvSpPr>
          <p:cNvPr id="267268" name="Rectangle 3">
            <a:extLst>
              <a:ext uri="{FF2B5EF4-FFF2-40B4-BE49-F238E27FC236}">
                <a16:creationId xmlns="" xmlns:a16="http://schemas.microsoft.com/office/drawing/2014/main" id="{82786519-51D0-4D12-BAC9-CF8D4086085C}"/>
              </a:ext>
            </a:extLst>
          </p:cNvPr>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sv-SE" altLang="en-US">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7">
            <a:extLst>
              <a:ext uri="{FF2B5EF4-FFF2-40B4-BE49-F238E27FC236}">
                <a16:creationId xmlns="" xmlns:a16="http://schemas.microsoft.com/office/drawing/2014/main" id="{C2F0B98F-B95A-4BE2-9F48-A548F0726CF4}"/>
              </a:ext>
            </a:extLst>
          </p:cNvPr>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5F3C0F01-36DB-48F4-8EB8-197BCC34C986}" type="slidenum">
              <a:rPr lang="en-US" altLang="en-US">
                <a:latin typeface="Times New Roman" panose="02020603050405020304" pitchFamily="18" charset="0"/>
              </a:rPr>
              <a:pPr eaLnBrk="1" hangingPunct="1"/>
              <a:t>5</a:t>
            </a:fld>
            <a:endParaRPr lang="en-US" altLang="en-US">
              <a:latin typeface="Times New Roman" panose="02020603050405020304" pitchFamily="18" charset="0"/>
            </a:endParaRPr>
          </a:p>
        </p:txBody>
      </p:sp>
      <p:sp>
        <p:nvSpPr>
          <p:cNvPr id="268291" name="Rectangle 2">
            <a:extLst>
              <a:ext uri="{FF2B5EF4-FFF2-40B4-BE49-F238E27FC236}">
                <a16:creationId xmlns="" xmlns:a16="http://schemas.microsoft.com/office/drawing/2014/main" id="{F0B77DF5-6813-4216-B9B7-B810A8BC8D73}"/>
              </a:ext>
            </a:extLst>
          </p:cNvPr>
          <p:cNvSpPr>
            <a:spLocks noGrp="1" noRot="1" noChangeAspect="1" noChangeArrowheads="1" noTextEdit="1"/>
          </p:cNvSpPr>
          <p:nvPr>
            <p:ph type="sldImg"/>
          </p:nvPr>
        </p:nvSpPr>
        <p:spPr>
          <a:ln/>
        </p:spPr>
      </p:sp>
      <p:sp>
        <p:nvSpPr>
          <p:cNvPr id="268292" name="Rectangle 3">
            <a:extLst>
              <a:ext uri="{FF2B5EF4-FFF2-40B4-BE49-F238E27FC236}">
                <a16:creationId xmlns="" xmlns:a16="http://schemas.microsoft.com/office/drawing/2014/main" id="{E5EEA1CD-A31D-4123-857A-CA4A5B2D671F}"/>
              </a:ext>
            </a:extLst>
          </p:cNvPr>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sv-SE" altLang="en-US">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7">
            <a:extLst>
              <a:ext uri="{FF2B5EF4-FFF2-40B4-BE49-F238E27FC236}">
                <a16:creationId xmlns="" xmlns:a16="http://schemas.microsoft.com/office/drawing/2014/main" id="{E6DBEFCE-F7E4-499C-86D1-6CCE4E2CBD3C}"/>
              </a:ext>
            </a:extLst>
          </p:cNvPr>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77C4576A-E6D5-4D85-B2C2-8F4F84417A95}" type="slidenum">
              <a:rPr lang="en-US" altLang="en-US">
                <a:latin typeface="Times New Roman" panose="02020603050405020304" pitchFamily="18" charset="0"/>
              </a:rPr>
              <a:pPr eaLnBrk="1" hangingPunct="1"/>
              <a:t>6</a:t>
            </a:fld>
            <a:endParaRPr lang="en-US" altLang="en-US">
              <a:latin typeface="Times New Roman" panose="02020603050405020304" pitchFamily="18" charset="0"/>
            </a:endParaRPr>
          </a:p>
        </p:txBody>
      </p:sp>
      <p:sp>
        <p:nvSpPr>
          <p:cNvPr id="269315" name="Rectangle 2">
            <a:extLst>
              <a:ext uri="{FF2B5EF4-FFF2-40B4-BE49-F238E27FC236}">
                <a16:creationId xmlns="" xmlns:a16="http://schemas.microsoft.com/office/drawing/2014/main" id="{8BCA941D-139B-4D32-877E-A874EFB753D1}"/>
              </a:ext>
            </a:extLst>
          </p:cNvPr>
          <p:cNvSpPr>
            <a:spLocks noGrp="1" noRot="1" noChangeAspect="1" noChangeArrowheads="1" noTextEdit="1"/>
          </p:cNvSpPr>
          <p:nvPr>
            <p:ph type="sldImg"/>
          </p:nvPr>
        </p:nvSpPr>
        <p:spPr>
          <a:ln/>
        </p:spPr>
      </p:sp>
      <p:sp>
        <p:nvSpPr>
          <p:cNvPr id="269316" name="Rectangle 3">
            <a:extLst>
              <a:ext uri="{FF2B5EF4-FFF2-40B4-BE49-F238E27FC236}">
                <a16:creationId xmlns="" xmlns:a16="http://schemas.microsoft.com/office/drawing/2014/main" id="{E7DF1D85-104B-4820-89B5-CADC56963A79}"/>
              </a:ext>
            </a:extLst>
          </p:cNvPr>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sv-SE" altLang="en-US">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7">
            <a:extLst>
              <a:ext uri="{FF2B5EF4-FFF2-40B4-BE49-F238E27FC236}">
                <a16:creationId xmlns="" xmlns:a16="http://schemas.microsoft.com/office/drawing/2014/main" id="{5E3860BF-C255-4AE4-B563-3CA2007FF5B4}"/>
              </a:ext>
            </a:extLst>
          </p:cNvPr>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396419DE-F382-41B1-BDD2-B5EEB16B7DC4}" type="slidenum">
              <a:rPr lang="en-US" altLang="en-US">
                <a:latin typeface="Times New Roman" panose="02020603050405020304" pitchFamily="18" charset="0"/>
              </a:rPr>
              <a:pPr eaLnBrk="1" hangingPunct="1"/>
              <a:t>7</a:t>
            </a:fld>
            <a:endParaRPr lang="en-US" altLang="en-US">
              <a:latin typeface="Times New Roman" panose="02020603050405020304" pitchFamily="18" charset="0"/>
            </a:endParaRPr>
          </a:p>
        </p:txBody>
      </p:sp>
      <p:sp>
        <p:nvSpPr>
          <p:cNvPr id="270339" name="Rectangle 2">
            <a:extLst>
              <a:ext uri="{FF2B5EF4-FFF2-40B4-BE49-F238E27FC236}">
                <a16:creationId xmlns="" xmlns:a16="http://schemas.microsoft.com/office/drawing/2014/main" id="{5866CA8E-1116-4EE1-8083-B3CDCC17674C}"/>
              </a:ext>
            </a:extLst>
          </p:cNvPr>
          <p:cNvSpPr>
            <a:spLocks noGrp="1" noRot="1" noChangeAspect="1" noChangeArrowheads="1" noTextEdit="1"/>
          </p:cNvSpPr>
          <p:nvPr>
            <p:ph type="sldImg"/>
          </p:nvPr>
        </p:nvSpPr>
        <p:spPr>
          <a:ln/>
        </p:spPr>
      </p:sp>
      <p:sp>
        <p:nvSpPr>
          <p:cNvPr id="270340" name="Rectangle 3">
            <a:extLst>
              <a:ext uri="{FF2B5EF4-FFF2-40B4-BE49-F238E27FC236}">
                <a16:creationId xmlns="" xmlns:a16="http://schemas.microsoft.com/office/drawing/2014/main" id="{D7E55ED6-2FD7-44E6-B2AB-9D2E7F666C27}"/>
              </a:ext>
            </a:extLst>
          </p:cNvPr>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sv-SE" altLang="en-US">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7">
            <a:extLst>
              <a:ext uri="{FF2B5EF4-FFF2-40B4-BE49-F238E27FC236}">
                <a16:creationId xmlns="" xmlns:a16="http://schemas.microsoft.com/office/drawing/2014/main" id="{1B15984B-0B5F-4630-96D4-C9F7678F0A96}"/>
              </a:ext>
            </a:extLst>
          </p:cNvPr>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7AFB2F2F-AEA3-44AE-BD7D-4DBF4BE94E64}" type="slidenum">
              <a:rPr lang="en-US" altLang="en-US">
                <a:latin typeface="Times New Roman" panose="02020603050405020304" pitchFamily="18" charset="0"/>
              </a:rPr>
              <a:pPr eaLnBrk="1" hangingPunct="1"/>
              <a:t>10</a:t>
            </a:fld>
            <a:endParaRPr lang="en-US" altLang="en-US">
              <a:latin typeface="Times New Roman" panose="02020603050405020304" pitchFamily="18" charset="0"/>
            </a:endParaRPr>
          </a:p>
        </p:txBody>
      </p:sp>
      <p:sp>
        <p:nvSpPr>
          <p:cNvPr id="271363" name="Rectangle 2">
            <a:extLst>
              <a:ext uri="{FF2B5EF4-FFF2-40B4-BE49-F238E27FC236}">
                <a16:creationId xmlns="" xmlns:a16="http://schemas.microsoft.com/office/drawing/2014/main" id="{D7E542A8-39D5-4A74-BE3E-D6988ECD2364}"/>
              </a:ext>
            </a:extLst>
          </p:cNvPr>
          <p:cNvSpPr>
            <a:spLocks noGrp="1" noRot="1" noChangeAspect="1" noChangeArrowheads="1" noTextEdit="1"/>
          </p:cNvSpPr>
          <p:nvPr>
            <p:ph type="sldImg"/>
          </p:nvPr>
        </p:nvSpPr>
        <p:spPr>
          <a:ln/>
        </p:spPr>
      </p:sp>
      <p:sp>
        <p:nvSpPr>
          <p:cNvPr id="271364" name="Rectangle 3">
            <a:extLst>
              <a:ext uri="{FF2B5EF4-FFF2-40B4-BE49-F238E27FC236}">
                <a16:creationId xmlns="" xmlns:a16="http://schemas.microsoft.com/office/drawing/2014/main" id="{803AACB8-A2E7-4126-ABF4-F60D67E79541}"/>
              </a:ext>
            </a:extLst>
          </p:cNvPr>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sv-SE" altLang="en-US">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7">
            <a:extLst>
              <a:ext uri="{FF2B5EF4-FFF2-40B4-BE49-F238E27FC236}">
                <a16:creationId xmlns="" xmlns:a16="http://schemas.microsoft.com/office/drawing/2014/main" id="{33504E71-5171-4749-8AD7-361817792D1A}"/>
              </a:ext>
            </a:extLst>
          </p:cNvPr>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A210BA40-0CAF-4009-A9D6-A9A82397C59A}" type="slidenum">
              <a:rPr lang="en-US" altLang="en-US">
                <a:latin typeface="Times New Roman" panose="02020603050405020304" pitchFamily="18" charset="0"/>
              </a:rPr>
              <a:pPr eaLnBrk="1" hangingPunct="1"/>
              <a:t>13</a:t>
            </a:fld>
            <a:endParaRPr lang="en-US" altLang="en-US">
              <a:latin typeface="Times New Roman" panose="02020603050405020304" pitchFamily="18" charset="0"/>
            </a:endParaRPr>
          </a:p>
        </p:txBody>
      </p:sp>
      <p:sp>
        <p:nvSpPr>
          <p:cNvPr id="272387" name="Rectangle 2">
            <a:extLst>
              <a:ext uri="{FF2B5EF4-FFF2-40B4-BE49-F238E27FC236}">
                <a16:creationId xmlns="" xmlns:a16="http://schemas.microsoft.com/office/drawing/2014/main" id="{7C618FBB-8303-4AB1-B6A9-CFFA9E328B4B}"/>
              </a:ext>
            </a:extLst>
          </p:cNvPr>
          <p:cNvSpPr>
            <a:spLocks noGrp="1" noRot="1" noChangeAspect="1" noChangeArrowheads="1" noTextEdit="1"/>
          </p:cNvSpPr>
          <p:nvPr>
            <p:ph type="sldImg"/>
          </p:nvPr>
        </p:nvSpPr>
        <p:spPr>
          <a:ln/>
        </p:spPr>
      </p:sp>
      <p:sp>
        <p:nvSpPr>
          <p:cNvPr id="272388" name="Rectangle 3">
            <a:extLst>
              <a:ext uri="{FF2B5EF4-FFF2-40B4-BE49-F238E27FC236}">
                <a16:creationId xmlns="" xmlns:a16="http://schemas.microsoft.com/office/drawing/2014/main" id="{18D00B7C-32B2-4F63-9CDA-8E4D4273BCD8}"/>
              </a:ext>
            </a:extLst>
          </p:cNvPr>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sv-SE" altLang="en-US">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7">
            <a:extLst>
              <a:ext uri="{FF2B5EF4-FFF2-40B4-BE49-F238E27FC236}">
                <a16:creationId xmlns="" xmlns:a16="http://schemas.microsoft.com/office/drawing/2014/main" id="{AAA26C5F-29B0-46EF-B89E-8BF42DD9288C}"/>
              </a:ext>
            </a:extLst>
          </p:cNvPr>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43DDFDD8-12E5-44B0-94E2-7BCF34BA2AB8}" type="slidenum">
              <a:rPr lang="en-US" altLang="en-US">
                <a:latin typeface="Times New Roman" panose="02020603050405020304" pitchFamily="18" charset="0"/>
              </a:rPr>
              <a:pPr eaLnBrk="1" hangingPunct="1"/>
              <a:t>14</a:t>
            </a:fld>
            <a:endParaRPr lang="en-US" altLang="en-US">
              <a:latin typeface="Times New Roman" panose="02020603050405020304" pitchFamily="18" charset="0"/>
            </a:endParaRPr>
          </a:p>
        </p:txBody>
      </p:sp>
      <p:sp>
        <p:nvSpPr>
          <p:cNvPr id="273411" name="Rectangle 2">
            <a:extLst>
              <a:ext uri="{FF2B5EF4-FFF2-40B4-BE49-F238E27FC236}">
                <a16:creationId xmlns="" xmlns:a16="http://schemas.microsoft.com/office/drawing/2014/main" id="{93741DB9-76D6-4EF3-8E17-9A66EC2ED666}"/>
              </a:ext>
            </a:extLst>
          </p:cNvPr>
          <p:cNvSpPr>
            <a:spLocks noGrp="1" noRot="1" noChangeAspect="1" noChangeArrowheads="1" noTextEdit="1"/>
          </p:cNvSpPr>
          <p:nvPr>
            <p:ph type="sldImg"/>
          </p:nvPr>
        </p:nvSpPr>
        <p:spPr>
          <a:ln/>
        </p:spPr>
      </p:sp>
      <p:sp>
        <p:nvSpPr>
          <p:cNvPr id="273412" name="Rectangle 3">
            <a:extLst>
              <a:ext uri="{FF2B5EF4-FFF2-40B4-BE49-F238E27FC236}">
                <a16:creationId xmlns="" xmlns:a16="http://schemas.microsoft.com/office/drawing/2014/main" id="{EBDF76E0-0A74-4A0C-8194-A6C60FD74ABD}"/>
              </a:ext>
            </a:extLst>
          </p:cNvPr>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sv-SE" altLang="en-US">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7">
            <a:extLst>
              <a:ext uri="{FF2B5EF4-FFF2-40B4-BE49-F238E27FC236}">
                <a16:creationId xmlns="" xmlns:a16="http://schemas.microsoft.com/office/drawing/2014/main" id="{E73454EE-016A-4814-AE45-B61349656419}"/>
              </a:ext>
            </a:extLst>
          </p:cNvPr>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3BFDB107-F816-4ADA-9320-4B6495D74A85}" type="slidenum">
              <a:rPr lang="en-US" altLang="en-US">
                <a:latin typeface="Times New Roman" panose="02020603050405020304" pitchFamily="18" charset="0"/>
              </a:rPr>
              <a:pPr eaLnBrk="1" hangingPunct="1"/>
              <a:t>15</a:t>
            </a:fld>
            <a:endParaRPr lang="en-US" altLang="en-US">
              <a:latin typeface="Times New Roman" panose="02020603050405020304" pitchFamily="18" charset="0"/>
            </a:endParaRPr>
          </a:p>
        </p:txBody>
      </p:sp>
      <p:sp>
        <p:nvSpPr>
          <p:cNvPr id="274435" name="Rectangle 2">
            <a:extLst>
              <a:ext uri="{FF2B5EF4-FFF2-40B4-BE49-F238E27FC236}">
                <a16:creationId xmlns="" xmlns:a16="http://schemas.microsoft.com/office/drawing/2014/main" id="{07E5A3D3-8605-4C5A-A5A6-2ADF0B01388D}"/>
              </a:ext>
            </a:extLst>
          </p:cNvPr>
          <p:cNvSpPr>
            <a:spLocks noGrp="1" noRot="1" noChangeAspect="1" noChangeArrowheads="1" noTextEdit="1"/>
          </p:cNvSpPr>
          <p:nvPr>
            <p:ph type="sldImg"/>
          </p:nvPr>
        </p:nvSpPr>
        <p:spPr>
          <a:ln/>
        </p:spPr>
      </p:sp>
      <p:sp>
        <p:nvSpPr>
          <p:cNvPr id="274436" name="Rectangle 3">
            <a:extLst>
              <a:ext uri="{FF2B5EF4-FFF2-40B4-BE49-F238E27FC236}">
                <a16:creationId xmlns="" xmlns:a16="http://schemas.microsoft.com/office/drawing/2014/main" id="{412D0E91-53BF-454F-A8CA-95371B3F9E10}"/>
              </a:ext>
            </a:extLst>
          </p:cNvPr>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sv-SE" altLang="en-US">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7">
            <a:extLst>
              <a:ext uri="{FF2B5EF4-FFF2-40B4-BE49-F238E27FC236}">
                <a16:creationId xmlns="" xmlns:a16="http://schemas.microsoft.com/office/drawing/2014/main" id="{0B3294FA-4AD8-411D-B3A1-DAA02225C61F}"/>
              </a:ext>
            </a:extLst>
          </p:cNvPr>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96EADDF4-471C-4DBE-B092-85B4B478C75E}" type="slidenum">
              <a:rPr lang="en-US" altLang="en-US">
                <a:latin typeface="Times New Roman" panose="02020603050405020304" pitchFamily="18" charset="0"/>
              </a:rPr>
              <a:pPr eaLnBrk="1" hangingPunct="1"/>
              <a:t>16</a:t>
            </a:fld>
            <a:endParaRPr lang="en-US" altLang="en-US">
              <a:latin typeface="Times New Roman" panose="02020603050405020304" pitchFamily="18" charset="0"/>
            </a:endParaRPr>
          </a:p>
        </p:txBody>
      </p:sp>
      <p:sp>
        <p:nvSpPr>
          <p:cNvPr id="275459" name="Rectangle 2">
            <a:extLst>
              <a:ext uri="{FF2B5EF4-FFF2-40B4-BE49-F238E27FC236}">
                <a16:creationId xmlns="" xmlns:a16="http://schemas.microsoft.com/office/drawing/2014/main" id="{05DFA89B-40E8-426F-83CE-39496AF08E73}"/>
              </a:ext>
            </a:extLst>
          </p:cNvPr>
          <p:cNvSpPr>
            <a:spLocks noGrp="1" noRot="1" noChangeAspect="1" noChangeArrowheads="1" noTextEdit="1"/>
          </p:cNvSpPr>
          <p:nvPr>
            <p:ph type="sldImg"/>
          </p:nvPr>
        </p:nvSpPr>
        <p:spPr>
          <a:ln/>
        </p:spPr>
      </p:sp>
      <p:sp>
        <p:nvSpPr>
          <p:cNvPr id="275460" name="Rectangle 3">
            <a:extLst>
              <a:ext uri="{FF2B5EF4-FFF2-40B4-BE49-F238E27FC236}">
                <a16:creationId xmlns="" xmlns:a16="http://schemas.microsoft.com/office/drawing/2014/main" id="{C75552B5-F1BF-40AE-8414-0B6C8154B3B8}"/>
              </a:ext>
            </a:extLst>
          </p:cNvPr>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sv-SE" altLang="en-US">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7">
            <a:extLst>
              <a:ext uri="{FF2B5EF4-FFF2-40B4-BE49-F238E27FC236}">
                <a16:creationId xmlns="" xmlns:a16="http://schemas.microsoft.com/office/drawing/2014/main" id="{AF3BA014-485D-4C2A-9E3C-28E600EACEB6}"/>
              </a:ext>
            </a:extLst>
          </p:cNvPr>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D257F72F-2EDE-4D65-9451-89C4F41E7ED6}" type="slidenum">
              <a:rPr lang="en-US" altLang="en-US">
                <a:latin typeface="Times New Roman" panose="02020603050405020304" pitchFamily="18" charset="0"/>
              </a:rPr>
              <a:pPr eaLnBrk="1" hangingPunct="1"/>
              <a:t>17</a:t>
            </a:fld>
            <a:endParaRPr lang="en-US" altLang="en-US">
              <a:latin typeface="Times New Roman" panose="02020603050405020304" pitchFamily="18" charset="0"/>
            </a:endParaRPr>
          </a:p>
        </p:txBody>
      </p:sp>
      <p:sp>
        <p:nvSpPr>
          <p:cNvPr id="276483" name="Rectangle 2">
            <a:extLst>
              <a:ext uri="{FF2B5EF4-FFF2-40B4-BE49-F238E27FC236}">
                <a16:creationId xmlns="" xmlns:a16="http://schemas.microsoft.com/office/drawing/2014/main" id="{1E0AC2F2-C9ED-4721-8B06-FC03E12B8A44}"/>
              </a:ext>
            </a:extLst>
          </p:cNvPr>
          <p:cNvSpPr>
            <a:spLocks noGrp="1" noRot="1" noChangeAspect="1" noChangeArrowheads="1" noTextEdit="1"/>
          </p:cNvSpPr>
          <p:nvPr>
            <p:ph type="sldImg"/>
          </p:nvPr>
        </p:nvSpPr>
        <p:spPr>
          <a:ln/>
        </p:spPr>
      </p:sp>
      <p:sp>
        <p:nvSpPr>
          <p:cNvPr id="276484" name="Rectangle 3">
            <a:extLst>
              <a:ext uri="{FF2B5EF4-FFF2-40B4-BE49-F238E27FC236}">
                <a16:creationId xmlns="" xmlns:a16="http://schemas.microsoft.com/office/drawing/2014/main" id="{512D411A-8DE1-40A0-9113-E6489161C0B2}"/>
              </a:ext>
            </a:extLst>
          </p:cNvPr>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sv-SE" altLang="en-US">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7">
            <a:extLst>
              <a:ext uri="{FF2B5EF4-FFF2-40B4-BE49-F238E27FC236}">
                <a16:creationId xmlns="" xmlns:a16="http://schemas.microsoft.com/office/drawing/2014/main" id="{140D57C2-14E8-43B6-B212-FD78BDE7EDD2}"/>
              </a:ext>
            </a:extLst>
          </p:cNvPr>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75379EC5-8D92-4C3E-A02E-66069070CB0C}" type="slidenum">
              <a:rPr lang="en-US" altLang="en-US">
                <a:latin typeface="Times New Roman" panose="02020603050405020304" pitchFamily="18" charset="0"/>
              </a:rPr>
              <a:pPr eaLnBrk="1" hangingPunct="1"/>
              <a:t>18</a:t>
            </a:fld>
            <a:endParaRPr lang="en-US" altLang="en-US">
              <a:latin typeface="Times New Roman" panose="02020603050405020304" pitchFamily="18" charset="0"/>
            </a:endParaRPr>
          </a:p>
        </p:txBody>
      </p:sp>
      <p:sp>
        <p:nvSpPr>
          <p:cNvPr id="277507" name="Rectangle 2">
            <a:extLst>
              <a:ext uri="{FF2B5EF4-FFF2-40B4-BE49-F238E27FC236}">
                <a16:creationId xmlns="" xmlns:a16="http://schemas.microsoft.com/office/drawing/2014/main" id="{BF3E19ED-5231-4CB8-91DB-ABC4750121AE}"/>
              </a:ext>
            </a:extLst>
          </p:cNvPr>
          <p:cNvSpPr>
            <a:spLocks noGrp="1" noRot="1" noChangeAspect="1" noChangeArrowheads="1" noTextEdit="1"/>
          </p:cNvSpPr>
          <p:nvPr>
            <p:ph type="sldImg"/>
          </p:nvPr>
        </p:nvSpPr>
        <p:spPr>
          <a:ln/>
        </p:spPr>
      </p:sp>
      <p:sp>
        <p:nvSpPr>
          <p:cNvPr id="277508" name="Rectangle 3">
            <a:extLst>
              <a:ext uri="{FF2B5EF4-FFF2-40B4-BE49-F238E27FC236}">
                <a16:creationId xmlns="" xmlns:a16="http://schemas.microsoft.com/office/drawing/2014/main" id="{6056FDF6-BE05-4739-85AF-D41D9AE95631}"/>
              </a:ext>
            </a:extLst>
          </p:cNvPr>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sv-SE" altLang="en-US">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7">
            <a:extLst>
              <a:ext uri="{FF2B5EF4-FFF2-40B4-BE49-F238E27FC236}">
                <a16:creationId xmlns="" xmlns:a16="http://schemas.microsoft.com/office/drawing/2014/main" id="{FAB23857-0A41-424C-AE2E-F7E3A683F202}"/>
              </a:ext>
            </a:extLst>
          </p:cNvPr>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0FDC735A-B9BB-4BEC-A1E6-6F9E3F162DE4}" type="slidenum">
              <a:rPr lang="en-US" altLang="en-US">
                <a:latin typeface="Times New Roman" panose="02020603050405020304" pitchFamily="18" charset="0"/>
              </a:rPr>
              <a:pPr eaLnBrk="1" hangingPunct="1"/>
              <a:t>19</a:t>
            </a:fld>
            <a:endParaRPr lang="en-US" altLang="en-US">
              <a:latin typeface="Times New Roman" panose="02020603050405020304" pitchFamily="18" charset="0"/>
            </a:endParaRPr>
          </a:p>
        </p:txBody>
      </p:sp>
      <p:sp>
        <p:nvSpPr>
          <p:cNvPr id="278531" name="Rectangle 2">
            <a:extLst>
              <a:ext uri="{FF2B5EF4-FFF2-40B4-BE49-F238E27FC236}">
                <a16:creationId xmlns="" xmlns:a16="http://schemas.microsoft.com/office/drawing/2014/main" id="{D9931B7E-1904-4A3B-A67E-EF4136B32EAE}"/>
              </a:ext>
            </a:extLst>
          </p:cNvPr>
          <p:cNvSpPr>
            <a:spLocks noGrp="1" noRot="1" noChangeAspect="1" noChangeArrowheads="1" noTextEdit="1"/>
          </p:cNvSpPr>
          <p:nvPr>
            <p:ph type="sldImg"/>
          </p:nvPr>
        </p:nvSpPr>
        <p:spPr>
          <a:ln/>
        </p:spPr>
      </p:sp>
      <p:sp>
        <p:nvSpPr>
          <p:cNvPr id="278532" name="Rectangle 3">
            <a:extLst>
              <a:ext uri="{FF2B5EF4-FFF2-40B4-BE49-F238E27FC236}">
                <a16:creationId xmlns="" xmlns:a16="http://schemas.microsoft.com/office/drawing/2014/main" id="{3D847DF5-F357-4E72-A140-9AB8C32DBF34}"/>
              </a:ext>
            </a:extLst>
          </p:cNvPr>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sv-SE" altLang="en-US">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7">
            <a:extLst>
              <a:ext uri="{FF2B5EF4-FFF2-40B4-BE49-F238E27FC236}">
                <a16:creationId xmlns="" xmlns:a16="http://schemas.microsoft.com/office/drawing/2014/main" id="{BC3E911C-1CBB-4A77-BF86-970B1B90F7C5}"/>
              </a:ext>
            </a:extLst>
          </p:cNvPr>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65005AF8-CBDE-44BA-AEFB-10BDC91B98CC}" type="slidenum">
              <a:rPr lang="en-US" altLang="en-US">
                <a:latin typeface="Times New Roman" panose="02020603050405020304" pitchFamily="18" charset="0"/>
              </a:rPr>
              <a:pPr eaLnBrk="1" hangingPunct="1"/>
              <a:t>20</a:t>
            </a:fld>
            <a:endParaRPr lang="en-US" altLang="en-US">
              <a:latin typeface="Times New Roman" panose="02020603050405020304" pitchFamily="18" charset="0"/>
            </a:endParaRPr>
          </a:p>
        </p:txBody>
      </p:sp>
      <p:sp>
        <p:nvSpPr>
          <p:cNvPr id="279555" name="Rectangle 2">
            <a:extLst>
              <a:ext uri="{FF2B5EF4-FFF2-40B4-BE49-F238E27FC236}">
                <a16:creationId xmlns="" xmlns:a16="http://schemas.microsoft.com/office/drawing/2014/main" id="{7819E86D-5B41-4A15-88F5-B0802FDB58A2}"/>
              </a:ext>
            </a:extLst>
          </p:cNvPr>
          <p:cNvSpPr>
            <a:spLocks noGrp="1" noRot="1" noChangeAspect="1" noChangeArrowheads="1" noTextEdit="1"/>
          </p:cNvSpPr>
          <p:nvPr>
            <p:ph type="sldImg"/>
          </p:nvPr>
        </p:nvSpPr>
        <p:spPr>
          <a:ln/>
        </p:spPr>
      </p:sp>
      <p:sp>
        <p:nvSpPr>
          <p:cNvPr id="279556" name="Rectangle 3">
            <a:extLst>
              <a:ext uri="{FF2B5EF4-FFF2-40B4-BE49-F238E27FC236}">
                <a16:creationId xmlns="" xmlns:a16="http://schemas.microsoft.com/office/drawing/2014/main" id="{36651020-4D99-456E-8C2C-D050C89CBD24}"/>
              </a:ext>
            </a:extLst>
          </p:cNvPr>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sv-SE" altLang="en-US">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7">
            <a:extLst>
              <a:ext uri="{FF2B5EF4-FFF2-40B4-BE49-F238E27FC236}">
                <a16:creationId xmlns="" xmlns:a16="http://schemas.microsoft.com/office/drawing/2014/main" id="{C72BC255-9031-4997-BCE3-D1FBF2200232}"/>
              </a:ext>
            </a:extLst>
          </p:cNvPr>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85DD7489-6F10-4527-8A2E-DE6ACD0AD13E}" type="slidenum">
              <a:rPr lang="en-US" altLang="en-US">
                <a:latin typeface="Times New Roman" panose="02020603050405020304" pitchFamily="18" charset="0"/>
              </a:rPr>
              <a:pPr eaLnBrk="1" hangingPunct="1"/>
              <a:t>21</a:t>
            </a:fld>
            <a:endParaRPr lang="en-US" altLang="en-US">
              <a:latin typeface="Times New Roman" panose="02020603050405020304" pitchFamily="18" charset="0"/>
            </a:endParaRPr>
          </a:p>
        </p:txBody>
      </p:sp>
      <p:sp>
        <p:nvSpPr>
          <p:cNvPr id="280579" name="Rectangle 2">
            <a:extLst>
              <a:ext uri="{FF2B5EF4-FFF2-40B4-BE49-F238E27FC236}">
                <a16:creationId xmlns="" xmlns:a16="http://schemas.microsoft.com/office/drawing/2014/main" id="{AE0B1387-994F-4DC4-90F4-F555FFF38E78}"/>
              </a:ext>
            </a:extLst>
          </p:cNvPr>
          <p:cNvSpPr>
            <a:spLocks noGrp="1" noRot="1" noChangeAspect="1" noChangeArrowheads="1" noTextEdit="1"/>
          </p:cNvSpPr>
          <p:nvPr>
            <p:ph type="sldImg"/>
          </p:nvPr>
        </p:nvSpPr>
        <p:spPr>
          <a:ln/>
        </p:spPr>
      </p:sp>
      <p:sp>
        <p:nvSpPr>
          <p:cNvPr id="280580" name="Rectangle 3">
            <a:extLst>
              <a:ext uri="{FF2B5EF4-FFF2-40B4-BE49-F238E27FC236}">
                <a16:creationId xmlns="" xmlns:a16="http://schemas.microsoft.com/office/drawing/2014/main" id="{D2055CF3-47A3-4D2B-97F5-F23C08E7D2C1}"/>
              </a:ext>
            </a:extLst>
          </p:cNvPr>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sv-SE" altLang="en-US">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7">
            <a:extLst>
              <a:ext uri="{FF2B5EF4-FFF2-40B4-BE49-F238E27FC236}">
                <a16:creationId xmlns="" xmlns:a16="http://schemas.microsoft.com/office/drawing/2014/main" id="{AFF2D57F-BA91-49BB-931C-50C36087B348}"/>
              </a:ext>
            </a:extLst>
          </p:cNvPr>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EDE4201A-CBD1-4019-8996-67BA3F89B37F}" type="slidenum">
              <a:rPr lang="en-US" altLang="en-US">
                <a:latin typeface="Times New Roman" panose="02020603050405020304" pitchFamily="18" charset="0"/>
              </a:rPr>
              <a:pPr eaLnBrk="1" hangingPunct="1"/>
              <a:t>22</a:t>
            </a:fld>
            <a:endParaRPr lang="en-US" altLang="en-US">
              <a:latin typeface="Times New Roman" panose="02020603050405020304" pitchFamily="18" charset="0"/>
            </a:endParaRPr>
          </a:p>
        </p:txBody>
      </p:sp>
      <p:sp>
        <p:nvSpPr>
          <p:cNvPr id="281603" name="Rectangle 2">
            <a:extLst>
              <a:ext uri="{FF2B5EF4-FFF2-40B4-BE49-F238E27FC236}">
                <a16:creationId xmlns="" xmlns:a16="http://schemas.microsoft.com/office/drawing/2014/main" id="{0D865325-7952-4895-94FD-5350CF62038D}"/>
              </a:ext>
            </a:extLst>
          </p:cNvPr>
          <p:cNvSpPr>
            <a:spLocks noGrp="1" noRot="1" noChangeAspect="1" noChangeArrowheads="1" noTextEdit="1"/>
          </p:cNvSpPr>
          <p:nvPr>
            <p:ph type="sldImg"/>
          </p:nvPr>
        </p:nvSpPr>
        <p:spPr>
          <a:ln/>
        </p:spPr>
      </p:sp>
      <p:sp>
        <p:nvSpPr>
          <p:cNvPr id="281604" name="Rectangle 3">
            <a:extLst>
              <a:ext uri="{FF2B5EF4-FFF2-40B4-BE49-F238E27FC236}">
                <a16:creationId xmlns="" xmlns:a16="http://schemas.microsoft.com/office/drawing/2014/main" id="{08F0D74F-F0E8-4491-92AC-68F2E6BDFF35}"/>
              </a:ext>
            </a:extLst>
          </p:cNvPr>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sv-SE" altLang="en-US">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7">
            <a:extLst>
              <a:ext uri="{FF2B5EF4-FFF2-40B4-BE49-F238E27FC236}">
                <a16:creationId xmlns="" xmlns:a16="http://schemas.microsoft.com/office/drawing/2014/main" id="{8E14CC4C-BD0C-4E04-8F41-2E5C06241CCB}"/>
              </a:ext>
            </a:extLst>
          </p:cNvPr>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20D6FB9D-7CD1-4E73-BD7C-7F75F07485D5}" type="slidenum">
              <a:rPr lang="en-US" altLang="en-US">
                <a:latin typeface="Times New Roman" panose="02020603050405020304" pitchFamily="18" charset="0"/>
              </a:rPr>
              <a:pPr eaLnBrk="1" hangingPunct="1"/>
              <a:t>23</a:t>
            </a:fld>
            <a:endParaRPr lang="en-US" altLang="en-US">
              <a:latin typeface="Times New Roman" panose="02020603050405020304" pitchFamily="18" charset="0"/>
            </a:endParaRPr>
          </a:p>
        </p:txBody>
      </p:sp>
      <p:sp>
        <p:nvSpPr>
          <p:cNvPr id="282627" name="Rectangle 2">
            <a:extLst>
              <a:ext uri="{FF2B5EF4-FFF2-40B4-BE49-F238E27FC236}">
                <a16:creationId xmlns="" xmlns:a16="http://schemas.microsoft.com/office/drawing/2014/main" id="{6EAEE2A0-0B15-4DDC-9ED6-7035A9CEE000}"/>
              </a:ext>
            </a:extLst>
          </p:cNvPr>
          <p:cNvSpPr>
            <a:spLocks noGrp="1" noRot="1" noChangeAspect="1" noChangeArrowheads="1" noTextEdit="1"/>
          </p:cNvSpPr>
          <p:nvPr>
            <p:ph type="sldImg"/>
          </p:nvPr>
        </p:nvSpPr>
        <p:spPr>
          <a:ln/>
        </p:spPr>
      </p:sp>
      <p:sp>
        <p:nvSpPr>
          <p:cNvPr id="282628" name="Rectangle 3">
            <a:extLst>
              <a:ext uri="{FF2B5EF4-FFF2-40B4-BE49-F238E27FC236}">
                <a16:creationId xmlns="" xmlns:a16="http://schemas.microsoft.com/office/drawing/2014/main" id="{D761235F-DAB2-4707-A956-39F3EB7011FD}"/>
              </a:ext>
            </a:extLst>
          </p:cNvPr>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sv-SE" altLang="en-US">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7">
            <a:extLst>
              <a:ext uri="{FF2B5EF4-FFF2-40B4-BE49-F238E27FC236}">
                <a16:creationId xmlns="" xmlns:a16="http://schemas.microsoft.com/office/drawing/2014/main" id="{BD202BF9-E99D-4BFC-BD73-4B94ED41191B}"/>
              </a:ext>
            </a:extLst>
          </p:cNvPr>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6D9FD442-3FEE-4CDD-B87E-165851398EFE}" type="slidenum">
              <a:rPr lang="en-US" altLang="en-US">
                <a:latin typeface="Times New Roman" panose="02020603050405020304" pitchFamily="18" charset="0"/>
              </a:rPr>
              <a:pPr eaLnBrk="1" hangingPunct="1"/>
              <a:t>24</a:t>
            </a:fld>
            <a:endParaRPr lang="en-US" altLang="en-US">
              <a:latin typeface="Times New Roman" panose="02020603050405020304" pitchFamily="18" charset="0"/>
            </a:endParaRPr>
          </a:p>
        </p:txBody>
      </p:sp>
      <p:sp>
        <p:nvSpPr>
          <p:cNvPr id="283651" name="Rectangle 2">
            <a:extLst>
              <a:ext uri="{FF2B5EF4-FFF2-40B4-BE49-F238E27FC236}">
                <a16:creationId xmlns="" xmlns:a16="http://schemas.microsoft.com/office/drawing/2014/main" id="{D53733A8-0315-4C4B-804B-1F959CF41E7A}"/>
              </a:ext>
            </a:extLst>
          </p:cNvPr>
          <p:cNvSpPr>
            <a:spLocks noGrp="1" noRot="1" noChangeAspect="1" noChangeArrowheads="1" noTextEdit="1"/>
          </p:cNvSpPr>
          <p:nvPr>
            <p:ph type="sldImg"/>
          </p:nvPr>
        </p:nvSpPr>
        <p:spPr>
          <a:ln/>
        </p:spPr>
      </p:sp>
      <p:sp>
        <p:nvSpPr>
          <p:cNvPr id="283652" name="Rectangle 3">
            <a:extLst>
              <a:ext uri="{FF2B5EF4-FFF2-40B4-BE49-F238E27FC236}">
                <a16:creationId xmlns="" xmlns:a16="http://schemas.microsoft.com/office/drawing/2014/main" id="{8A82CF49-37FA-43FD-8A20-44095A40DBFB}"/>
              </a:ext>
            </a:extLst>
          </p:cNvPr>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sv-SE" altLang="en-US">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7">
            <a:extLst>
              <a:ext uri="{FF2B5EF4-FFF2-40B4-BE49-F238E27FC236}">
                <a16:creationId xmlns="" xmlns:a16="http://schemas.microsoft.com/office/drawing/2014/main" id="{3C4C648E-3AE2-4133-B39A-DC486866D153}"/>
              </a:ext>
            </a:extLst>
          </p:cNvPr>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19229164-5118-44B6-9AE7-CD82E5D284CD}" type="slidenum">
              <a:rPr lang="en-US" altLang="en-US">
                <a:latin typeface="Times New Roman" panose="02020603050405020304" pitchFamily="18" charset="0"/>
              </a:rPr>
              <a:pPr eaLnBrk="1" hangingPunct="1"/>
              <a:t>25</a:t>
            </a:fld>
            <a:endParaRPr lang="en-US" altLang="en-US">
              <a:latin typeface="Times New Roman" panose="02020603050405020304" pitchFamily="18" charset="0"/>
            </a:endParaRPr>
          </a:p>
        </p:txBody>
      </p:sp>
      <p:sp>
        <p:nvSpPr>
          <p:cNvPr id="284675" name="Rectangle 2">
            <a:extLst>
              <a:ext uri="{FF2B5EF4-FFF2-40B4-BE49-F238E27FC236}">
                <a16:creationId xmlns="" xmlns:a16="http://schemas.microsoft.com/office/drawing/2014/main" id="{74315BF4-E996-4BD3-BBAD-1A3E30849BA4}"/>
              </a:ext>
            </a:extLst>
          </p:cNvPr>
          <p:cNvSpPr>
            <a:spLocks noGrp="1" noRot="1" noChangeAspect="1" noChangeArrowheads="1" noTextEdit="1"/>
          </p:cNvSpPr>
          <p:nvPr>
            <p:ph type="sldImg"/>
          </p:nvPr>
        </p:nvSpPr>
        <p:spPr>
          <a:ln/>
        </p:spPr>
      </p:sp>
      <p:sp>
        <p:nvSpPr>
          <p:cNvPr id="284676" name="Rectangle 3">
            <a:extLst>
              <a:ext uri="{FF2B5EF4-FFF2-40B4-BE49-F238E27FC236}">
                <a16:creationId xmlns="" xmlns:a16="http://schemas.microsoft.com/office/drawing/2014/main" id="{B6C62337-7B48-4D09-A576-DF6DD272691F}"/>
              </a:ext>
            </a:extLst>
          </p:cNvPr>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sv-SE" altLang="en-US">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7">
            <a:extLst>
              <a:ext uri="{FF2B5EF4-FFF2-40B4-BE49-F238E27FC236}">
                <a16:creationId xmlns="" xmlns:a16="http://schemas.microsoft.com/office/drawing/2014/main" id="{B773D95C-9F71-43DD-8632-76D2A35B238E}"/>
              </a:ext>
            </a:extLst>
          </p:cNvPr>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FDE786FB-368A-479F-9966-0C8C6C817AB1}" type="slidenum">
              <a:rPr lang="en-US" altLang="en-US">
                <a:latin typeface="Times New Roman" panose="02020603050405020304" pitchFamily="18" charset="0"/>
              </a:rPr>
              <a:pPr eaLnBrk="1" hangingPunct="1"/>
              <a:t>26</a:t>
            </a:fld>
            <a:endParaRPr lang="en-US" altLang="en-US">
              <a:latin typeface="Times New Roman" panose="02020603050405020304" pitchFamily="18" charset="0"/>
            </a:endParaRPr>
          </a:p>
        </p:txBody>
      </p:sp>
      <p:sp>
        <p:nvSpPr>
          <p:cNvPr id="285699" name="Rectangle 2">
            <a:extLst>
              <a:ext uri="{FF2B5EF4-FFF2-40B4-BE49-F238E27FC236}">
                <a16:creationId xmlns="" xmlns:a16="http://schemas.microsoft.com/office/drawing/2014/main" id="{9400B6D5-A47D-4531-9FAE-EA8E3DC1613E}"/>
              </a:ext>
            </a:extLst>
          </p:cNvPr>
          <p:cNvSpPr>
            <a:spLocks noGrp="1" noRot="1" noChangeAspect="1" noChangeArrowheads="1" noTextEdit="1"/>
          </p:cNvSpPr>
          <p:nvPr>
            <p:ph type="sldImg"/>
          </p:nvPr>
        </p:nvSpPr>
        <p:spPr>
          <a:ln/>
        </p:spPr>
      </p:sp>
      <p:sp>
        <p:nvSpPr>
          <p:cNvPr id="285700" name="Rectangle 3">
            <a:extLst>
              <a:ext uri="{FF2B5EF4-FFF2-40B4-BE49-F238E27FC236}">
                <a16:creationId xmlns="" xmlns:a16="http://schemas.microsoft.com/office/drawing/2014/main" id="{651980ED-9458-4F72-A560-390B9DC06D3B}"/>
              </a:ext>
            </a:extLst>
          </p:cNvPr>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sv-SE" altLang="en-US">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7">
            <a:extLst>
              <a:ext uri="{FF2B5EF4-FFF2-40B4-BE49-F238E27FC236}">
                <a16:creationId xmlns="" xmlns:a16="http://schemas.microsoft.com/office/drawing/2014/main" id="{BD1C2C56-C9D9-442B-9D0B-2DB825173F80}"/>
              </a:ext>
            </a:extLst>
          </p:cNvPr>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6A748921-BD85-4661-97B4-1F383838159D}" type="slidenum">
              <a:rPr lang="en-US" altLang="en-US">
                <a:latin typeface="Times New Roman" panose="02020603050405020304" pitchFamily="18" charset="0"/>
              </a:rPr>
              <a:pPr eaLnBrk="1" hangingPunct="1"/>
              <a:t>27</a:t>
            </a:fld>
            <a:endParaRPr lang="en-US" altLang="en-US">
              <a:latin typeface="Times New Roman" panose="02020603050405020304" pitchFamily="18" charset="0"/>
            </a:endParaRPr>
          </a:p>
        </p:txBody>
      </p:sp>
      <p:sp>
        <p:nvSpPr>
          <p:cNvPr id="286723" name="Rectangle 2">
            <a:extLst>
              <a:ext uri="{FF2B5EF4-FFF2-40B4-BE49-F238E27FC236}">
                <a16:creationId xmlns="" xmlns:a16="http://schemas.microsoft.com/office/drawing/2014/main" id="{36ED47CB-674B-41C3-B8C6-99116BA16CB7}"/>
              </a:ext>
            </a:extLst>
          </p:cNvPr>
          <p:cNvSpPr>
            <a:spLocks noGrp="1" noRot="1" noChangeAspect="1" noChangeArrowheads="1" noTextEdit="1"/>
          </p:cNvSpPr>
          <p:nvPr>
            <p:ph type="sldImg"/>
          </p:nvPr>
        </p:nvSpPr>
        <p:spPr>
          <a:ln/>
        </p:spPr>
      </p:sp>
      <p:sp>
        <p:nvSpPr>
          <p:cNvPr id="286724" name="Rectangle 3">
            <a:extLst>
              <a:ext uri="{FF2B5EF4-FFF2-40B4-BE49-F238E27FC236}">
                <a16:creationId xmlns="" xmlns:a16="http://schemas.microsoft.com/office/drawing/2014/main" id="{C53BBF63-C2DE-4168-AC3B-EA8197177815}"/>
              </a:ext>
            </a:extLst>
          </p:cNvPr>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sv-SE" altLang="en-US">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7">
            <a:extLst>
              <a:ext uri="{FF2B5EF4-FFF2-40B4-BE49-F238E27FC236}">
                <a16:creationId xmlns="" xmlns:a16="http://schemas.microsoft.com/office/drawing/2014/main" id="{1CDDCB94-498D-4AF8-BF56-019C96ECDB1F}"/>
              </a:ext>
            </a:extLst>
          </p:cNvPr>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98CF494D-E4F6-4E13-9943-47ACEFEC9797}" type="slidenum">
              <a:rPr lang="en-US" altLang="en-US">
                <a:latin typeface="Times New Roman" panose="02020603050405020304" pitchFamily="18" charset="0"/>
              </a:rPr>
              <a:pPr eaLnBrk="1" hangingPunct="1"/>
              <a:t>28</a:t>
            </a:fld>
            <a:endParaRPr lang="en-US" altLang="en-US">
              <a:latin typeface="Times New Roman" panose="02020603050405020304" pitchFamily="18" charset="0"/>
            </a:endParaRPr>
          </a:p>
        </p:txBody>
      </p:sp>
      <p:sp>
        <p:nvSpPr>
          <p:cNvPr id="287747" name="Rectangle 2">
            <a:extLst>
              <a:ext uri="{FF2B5EF4-FFF2-40B4-BE49-F238E27FC236}">
                <a16:creationId xmlns="" xmlns:a16="http://schemas.microsoft.com/office/drawing/2014/main" id="{B3933446-491A-46D9-AFBF-E2B2143BA271}"/>
              </a:ext>
            </a:extLst>
          </p:cNvPr>
          <p:cNvSpPr>
            <a:spLocks noGrp="1" noRot="1" noChangeAspect="1" noChangeArrowheads="1" noTextEdit="1"/>
          </p:cNvSpPr>
          <p:nvPr>
            <p:ph type="sldImg"/>
          </p:nvPr>
        </p:nvSpPr>
        <p:spPr>
          <a:ln/>
        </p:spPr>
      </p:sp>
      <p:sp>
        <p:nvSpPr>
          <p:cNvPr id="287748" name="Rectangle 3">
            <a:extLst>
              <a:ext uri="{FF2B5EF4-FFF2-40B4-BE49-F238E27FC236}">
                <a16:creationId xmlns="" xmlns:a16="http://schemas.microsoft.com/office/drawing/2014/main" id="{7DF45E58-E01B-4464-9B62-788DB8A9EF8C}"/>
              </a:ext>
            </a:extLst>
          </p:cNvPr>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sv-SE" altLang="en-US">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7">
            <a:extLst>
              <a:ext uri="{FF2B5EF4-FFF2-40B4-BE49-F238E27FC236}">
                <a16:creationId xmlns="" xmlns:a16="http://schemas.microsoft.com/office/drawing/2014/main" id="{8AE928D6-5C21-4662-A0AF-E295066150CA}"/>
              </a:ext>
            </a:extLst>
          </p:cNvPr>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9517C2CE-0802-4463-928E-65CF4D99D494}" type="slidenum">
              <a:rPr lang="en-US" altLang="en-US">
                <a:latin typeface="Times New Roman" panose="02020603050405020304" pitchFamily="18" charset="0"/>
              </a:rPr>
              <a:pPr eaLnBrk="1" hangingPunct="1"/>
              <a:t>29</a:t>
            </a:fld>
            <a:endParaRPr lang="en-US" altLang="en-US">
              <a:latin typeface="Times New Roman" panose="02020603050405020304" pitchFamily="18" charset="0"/>
            </a:endParaRPr>
          </a:p>
        </p:txBody>
      </p:sp>
      <p:sp>
        <p:nvSpPr>
          <p:cNvPr id="288771" name="Rectangle 2">
            <a:extLst>
              <a:ext uri="{FF2B5EF4-FFF2-40B4-BE49-F238E27FC236}">
                <a16:creationId xmlns="" xmlns:a16="http://schemas.microsoft.com/office/drawing/2014/main" id="{2F97705A-31DC-41CC-B589-BE177258155C}"/>
              </a:ext>
            </a:extLst>
          </p:cNvPr>
          <p:cNvSpPr>
            <a:spLocks noGrp="1" noRot="1" noChangeAspect="1" noChangeArrowheads="1" noTextEdit="1"/>
          </p:cNvSpPr>
          <p:nvPr>
            <p:ph type="sldImg"/>
          </p:nvPr>
        </p:nvSpPr>
        <p:spPr>
          <a:ln/>
        </p:spPr>
      </p:sp>
      <p:sp>
        <p:nvSpPr>
          <p:cNvPr id="288772" name="Rectangle 3">
            <a:extLst>
              <a:ext uri="{FF2B5EF4-FFF2-40B4-BE49-F238E27FC236}">
                <a16:creationId xmlns="" xmlns:a16="http://schemas.microsoft.com/office/drawing/2014/main" id="{14E19DA1-58AE-4A43-89C4-AC9AF010689B}"/>
              </a:ext>
            </a:extLst>
          </p:cNvPr>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sv-SE" altLang="en-US">
              <a:ea typeface="ＭＳ Ｐゴシック" panose="020B0600070205080204" pitchFamily="34" charset="-128"/>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9/22/2020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9/22/2020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9/22/2020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4" name="Freeform 7">
            <a:extLst>
              <a:ext uri="{FF2B5EF4-FFF2-40B4-BE49-F238E27FC236}">
                <a16:creationId xmlns="" xmlns:a16="http://schemas.microsoft.com/office/drawing/2014/main" id="{9B1D381D-1B3B-4D24-81F1-8FDED0458C21}"/>
              </a:ext>
            </a:extLst>
          </p:cNvPr>
          <p:cNvSpPr>
            <a:spLocks noChangeArrowheads="1"/>
          </p:cNvSpPr>
          <p:nvPr/>
        </p:nvSpPr>
        <p:spPr bwMode="auto">
          <a:xfrm>
            <a:off x="609600" y="1219200"/>
            <a:ext cx="7924800" cy="914400"/>
          </a:xfrm>
          <a:custGeom>
            <a:avLst/>
            <a:gdLst>
              <a:gd name="T0" fmla="*/ 0 w 1000"/>
              <a:gd name="T1" fmla="*/ 2147483647 h 1000"/>
              <a:gd name="T2" fmla="*/ 0 w 1000"/>
              <a:gd name="T3" fmla="*/ 0 h 1000"/>
              <a:gd name="T4" fmla="*/ 2147483647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 name="Line 8">
            <a:extLst>
              <a:ext uri="{FF2B5EF4-FFF2-40B4-BE49-F238E27FC236}">
                <a16:creationId xmlns="" xmlns:a16="http://schemas.microsoft.com/office/drawing/2014/main" id="{3CEB6682-9F62-4ED0-A06F-6F8ED7A91552}"/>
              </a:ext>
            </a:extLst>
          </p:cNvPr>
          <p:cNvSpPr>
            <a:spLocks noChangeShapeType="1"/>
          </p:cNvSpPr>
          <p:nvPr/>
        </p:nvSpPr>
        <p:spPr bwMode="auto">
          <a:xfrm>
            <a:off x="1981200" y="3962400"/>
            <a:ext cx="6511925" cy="0"/>
          </a:xfrm>
          <a:prstGeom prst="line">
            <a:avLst/>
          </a:prstGeom>
          <a:noFill/>
          <a:ln w="19050">
            <a:solidFill>
              <a:schemeClr val="accent1"/>
            </a:solidFill>
            <a:round/>
            <a:headEnd/>
            <a:tailEnd/>
          </a:ln>
          <a:extLst>
            <a:ext uri="{909E8E84-426E-40DD-AFC4-6F175D3DCCD1}">
              <a14:hiddenFill xmlns="" xmlns:a14="http://schemas.microsoft.com/office/drawing/2010/main">
                <a:noFill/>
              </a14:hiddenFill>
            </a:ext>
          </a:extLst>
        </p:spPr>
        <p:txBody>
          <a:bodyPr/>
          <a:lstStyle/>
          <a:p>
            <a:endParaRPr lang="en-US"/>
          </a:p>
        </p:txBody>
      </p:sp>
      <p:sp>
        <p:nvSpPr>
          <p:cNvPr id="230402" name="Rectangle 2"/>
          <p:cNvSpPr>
            <a:spLocks noGrp="1" noChangeArrowheads="1"/>
          </p:cNvSpPr>
          <p:nvPr>
            <p:ph type="ctrTitle"/>
          </p:nvPr>
        </p:nvSpPr>
        <p:spPr>
          <a:xfrm>
            <a:off x="914400" y="1524000"/>
            <a:ext cx="7623175" cy="1752600"/>
          </a:xfrm>
        </p:spPr>
        <p:txBody>
          <a:bodyPr/>
          <a:lstStyle>
            <a:lvl1pPr>
              <a:defRPr sz="5000"/>
            </a:lvl1pPr>
          </a:lstStyle>
          <a:p>
            <a:r>
              <a:rPr lang="sv-SE" altLang="en-US"/>
              <a:t>Click to edit Master title style</a:t>
            </a:r>
          </a:p>
        </p:txBody>
      </p:sp>
      <p:sp>
        <p:nvSpPr>
          <p:cNvPr id="230403"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800"/>
            </a:lvl1pPr>
          </a:lstStyle>
          <a:p>
            <a:r>
              <a:rPr lang="sv-SE" altLang="en-US"/>
              <a:t>Click to edit Master subtitle style</a:t>
            </a:r>
          </a:p>
        </p:txBody>
      </p:sp>
      <p:sp>
        <p:nvSpPr>
          <p:cNvPr id="6" name="Rectangle 4">
            <a:extLst>
              <a:ext uri="{FF2B5EF4-FFF2-40B4-BE49-F238E27FC236}">
                <a16:creationId xmlns="" xmlns:a16="http://schemas.microsoft.com/office/drawing/2014/main" id="{1968F2B1-513A-475B-A630-B0F182F9802C}"/>
              </a:ext>
            </a:extLst>
          </p:cNvPr>
          <p:cNvSpPr>
            <a:spLocks noGrp="1" noChangeArrowheads="1"/>
          </p:cNvSpPr>
          <p:nvPr>
            <p:ph type="dt" sz="half" idx="10"/>
          </p:nvPr>
        </p:nvSpPr>
        <p:spPr/>
        <p:txBody>
          <a:bodyPr/>
          <a:lstStyle>
            <a:lvl1pPr>
              <a:defRPr/>
            </a:lvl1pPr>
          </a:lstStyle>
          <a:p>
            <a:pPr>
              <a:defRPr/>
            </a:pPr>
            <a:r>
              <a:rPr lang="en-US"/>
              <a:t>Sept 03, 2012.</a:t>
            </a:r>
            <a:endParaRPr lang="sv-SE" altLang="en-US"/>
          </a:p>
        </p:txBody>
      </p:sp>
      <p:sp>
        <p:nvSpPr>
          <p:cNvPr id="7" name="Rectangle 5">
            <a:extLst>
              <a:ext uri="{FF2B5EF4-FFF2-40B4-BE49-F238E27FC236}">
                <a16:creationId xmlns="" xmlns:a16="http://schemas.microsoft.com/office/drawing/2014/main" id="{17DA6C89-E35B-4D9D-8A28-A58298719174}"/>
              </a:ext>
            </a:extLst>
          </p:cNvPr>
          <p:cNvSpPr>
            <a:spLocks noGrp="1" noChangeArrowheads="1"/>
          </p:cNvSpPr>
          <p:nvPr>
            <p:ph type="ftr" sz="quarter" idx="11"/>
          </p:nvPr>
        </p:nvSpPr>
        <p:spPr>
          <a:xfrm>
            <a:off x="3124200" y="6243638"/>
            <a:ext cx="2895600" cy="457200"/>
          </a:xfrm>
        </p:spPr>
        <p:txBody>
          <a:bodyPr/>
          <a:lstStyle>
            <a:lvl1pPr>
              <a:defRPr/>
            </a:lvl1pPr>
          </a:lstStyle>
          <a:p>
            <a:pPr>
              <a:defRPr/>
            </a:pPr>
            <a:endParaRPr lang="sv-SE" altLang="en-US"/>
          </a:p>
        </p:txBody>
      </p:sp>
      <p:sp>
        <p:nvSpPr>
          <p:cNvPr id="8" name="Rectangle 6">
            <a:extLst>
              <a:ext uri="{FF2B5EF4-FFF2-40B4-BE49-F238E27FC236}">
                <a16:creationId xmlns="" xmlns:a16="http://schemas.microsoft.com/office/drawing/2014/main" id="{D43AB61E-CFED-4DCA-903A-25B9ACA25DAB}"/>
              </a:ext>
            </a:extLst>
          </p:cNvPr>
          <p:cNvSpPr>
            <a:spLocks noGrp="1" noChangeArrowheads="1"/>
          </p:cNvSpPr>
          <p:nvPr>
            <p:ph type="sldNum" sz="quarter" idx="12"/>
          </p:nvPr>
        </p:nvSpPr>
        <p:spPr/>
        <p:txBody>
          <a:bodyPr/>
          <a:lstStyle>
            <a:lvl1pPr>
              <a:defRPr/>
            </a:lvl1pPr>
          </a:lstStyle>
          <a:p>
            <a:fld id="{CE4C9449-12C6-49F9-848C-2E111D1DF466}" type="slidenum">
              <a:rPr lang="sv-SE" altLang="en-US"/>
              <a:pPr/>
              <a:t>‹#›</a:t>
            </a:fld>
            <a:endParaRPr lang="sv-SE" altLang="en-US"/>
          </a:p>
        </p:txBody>
      </p:sp>
    </p:spTree>
    <p:extLst>
      <p:ext uri="{BB962C8B-B14F-4D97-AF65-F5344CB8AC3E}">
        <p14:creationId xmlns="" xmlns:p14="http://schemas.microsoft.com/office/powerpoint/2010/main" val="1345401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a:extLst>
              <a:ext uri="{FF2B5EF4-FFF2-40B4-BE49-F238E27FC236}">
                <a16:creationId xmlns="" xmlns:a16="http://schemas.microsoft.com/office/drawing/2014/main" id="{7F30E582-EE6E-45A3-ABC6-82D6200E0D88}"/>
              </a:ext>
            </a:extLst>
          </p:cNvPr>
          <p:cNvSpPr>
            <a:spLocks noGrp="1" noChangeArrowheads="1"/>
          </p:cNvSpPr>
          <p:nvPr>
            <p:ph type="dt" sz="half" idx="10"/>
          </p:nvPr>
        </p:nvSpPr>
        <p:spPr>
          <a:ln/>
        </p:spPr>
        <p:txBody>
          <a:bodyPr/>
          <a:lstStyle>
            <a:lvl1pPr>
              <a:defRPr/>
            </a:lvl1pPr>
          </a:lstStyle>
          <a:p>
            <a:pPr>
              <a:defRPr/>
            </a:pPr>
            <a:r>
              <a:rPr lang="en-US"/>
              <a:t>Sept 03, 2012.</a:t>
            </a:r>
            <a:endParaRPr lang="sv-SE" altLang="en-US"/>
          </a:p>
        </p:txBody>
      </p:sp>
      <p:sp>
        <p:nvSpPr>
          <p:cNvPr id="3" name="Rectangle 5">
            <a:extLst>
              <a:ext uri="{FF2B5EF4-FFF2-40B4-BE49-F238E27FC236}">
                <a16:creationId xmlns="" xmlns:a16="http://schemas.microsoft.com/office/drawing/2014/main" id="{FA37D095-BD2D-463C-94E3-35A5E92910B2}"/>
              </a:ext>
            </a:extLst>
          </p:cNvPr>
          <p:cNvSpPr>
            <a:spLocks noGrp="1" noChangeArrowheads="1"/>
          </p:cNvSpPr>
          <p:nvPr>
            <p:ph type="ftr" sz="quarter" idx="11"/>
          </p:nvPr>
        </p:nvSpPr>
        <p:spPr>
          <a:ln/>
        </p:spPr>
        <p:txBody>
          <a:bodyPr/>
          <a:lstStyle>
            <a:lvl1pPr>
              <a:defRPr/>
            </a:lvl1pPr>
          </a:lstStyle>
          <a:p>
            <a:pPr>
              <a:defRPr/>
            </a:pPr>
            <a:endParaRPr lang="sv-SE" altLang="en-US"/>
          </a:p>
        </p:txBody>
      </p:sp>
      <p:sp>
        <p:nvSpPr>
          <p:cNvPr id="4" name="Rectangle 6">
            <a:extLst>
              <a:ext uri="{FF2B5EF4-FFF2-40B4-BE49-F238E27FC236}">
                <a16:creationId xmlns="" xmlns:a16="http://schemas.microsoft.com/office/drawing/2014/main" id="{C5AE9C97-E1F3-4201-9C9A-713D765F7C34}"/>
              </a:ext>
            </a:extLst>
          </p:cNvPr>
          <p:cNvSpPr>
            <a:spLocks noGrp="1" noChangeArrowheads="1"/>
          </p:cNvSpPr>
          <p:nvPr>
            <p:ph type="sldNum" sz="quarter" idx="12"/>
          </p:nvPr>
        </p:nvSpPr>
        <p:spPr>
          <a:ln/>
        </p:spPr>
        <p:txBody>
          <a:bodyPr/>
          <a:lstStyle>
            <a:lvl1pPr>
              <a:defRPr/>
            </a:lvl1pPr>
          </a:lstStyle>
          <a:p>
            <a:fld id="{5C526493-B916-45F1-8151-12D859818F76}" type="slidenum">
              <a:rPr lang="sv-SE" altLang="en-US"/>
              <a:pPr/>
              <a:t>‹#›</a:t>
            </a:fld>
            <a:endParaRPr lang="sv-SE" altLang="en-US"/>
          </a:p>
        </p:txBody>
      </p:sp>
    </p:spTree>
    <p:extLst>
      <p:ext uri="{BB962C8B-B14F-4D97-AF65-F5344CB8AC3E}">
        <p14:creationId xmlns="" xmlns:p14="http://schemas.microsoft.com/office/powerpoint/2010/main" val="37699688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 xmlns:a16="http://schemas.microsoft.com/office/drawing/2014/main" id="{5363404C-B3C7-4892-AC60-D0C70EEFE32A}"/>
              </a:ext>
            </a:extLst>
          </p:cNvPr>
          <p:cNvSpPr>
            <a:spLocks noGrp="1" noChangeArrowheads="1"/>
          </p:cNvSpPr>
          <p:nvPr>
            <p:ph type="dt" sz="half" idx="10"/>
          </p:nvPr>
        </p:nvSpPr>
        <p:spPr>
          <a:ln/>
        </p:spPr>
        <p:txBody>
          <a:bodyPr/>
          <a:lstStyle>
            <a:lvl1pPr>
              <a:defRPr/>
            </a:lvl1pPr>
          </a:lstStyle>
          <a:p>
            <a:pPr>
              <a:defRPr/>
            </a:pPr>
            <a:r>
              <a:rPr lang="en-US"/>
              <a:t>Sept 03, 2012.</a:t>
            </a:r>
            <a:endParaRPr lang="sv-SE" altLang="en-US"/>
          </a:p>
        </p:txBody>
      </p:sp>
      <p:sp>
        <p:nvSpPr>
          <p:cNvPr id="5" name="Rectangle 5">
            <a:extLst>
              <a:ext uri="{FF2B5EF4-FFF2-40B4-BE49-F238E27FC236}">
                <a16:creationId xmlns="" xmlns:a16="http://schemas.microsoft.com/office/drawing/2014/main" id="{39F957BF-F8E2-446A-BCE8-56067E6F13F6}"/>
              </a:ext>
            </a:extLst>
          </p:cNvPr>
          <p:cNvSpPr>
            <a:spLocks noGrp="1" noChangeArrowheads="1"/>
          </p:cNvSpPr>
          <p:nvPr>
            <p:ph type="ftr" sz="quarter" idx="11"/>
          </p:nvPr>
        </p:nvSpPr>
        <p:spPr>
          <a:ln/>
        </p:spPr>
        <p:txBody>
          <a:bodyPr/>
          <a:lstStyle>
            <a:lvl1pPr>
              <a:defRPr/>
            </a:lvl1pPr>
          </a:lstStyle>
          <a:p>
            <a:pPr>
              <a:defRPr/>
            </a:pPr>
            <a:endParaRPr lang="sv-SE" altLang="en-US"/>
          </a:p>
        </p:txBody>
      </p:sp>
      <p:sp>
        <p:nvSpPr>
          <p:cNvPr id="6" name="Rectangle 6">
            <a:extLst>
              <a:ext uri="{FF2B5EF4-FFF2-40B4-BE49-F238E27FC236}">
                <a16:creationId xmlns="" xmlns:a16="http://schemas.microsoft.com/office/drawing/2014/main" id="{EB84DC2F-91FE-45F6-B131-5E0BE6C5FDB0}"/>
              </a:ext>
            </a:extLst>
          </p:cNvPr>
          <p:cNvSpPr>
            <a:spLocks noGrp="1" noChangeArrowheads="1"/>
          </p:cNvSpPr>
          <p:nvPr>
            <p:ph type="sldNum" sz="quarter" idx="12"/>
          </p:nvPr>
        </p:nvSpPr>
        <p:spPr>
          <a:ln/>
        </p:spPr>
        <p:txBody>
          <a:bodyPr/>
          <a:lstStyle>
            <a:lvl1pPr>
              <a:defRPr/>
            </a:lvl1pPr>
          </a:lstStyle>
          <a:p>
            <a:fld id="{0ABCE8A2-C98F-4ADA-B21C-AB98824232FB}" type="slidenum">
              <a:rPr lang="sv-SE" altLang="en-US"/>
              <a:pPr/>
              <a:t>‹#›</a:t>
            </a:fld>
            <a:endParaRPr lang="sv-SE" altLang="en-US"/>
          </a:p>
        </p:txBody>
      </p:sp>
    </p:spTree>
    <p:extLst>
      <p:ext uri="{BB962C8B-B14F-4D97-AF65-F5344CB8AC3E}">
        <p14:creationId xmlns="" xmlns:p14="http://schemas.microsoft.com/office/powerpoint/2010/main" val="25832691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30725"/>
          </a:xfrm>
        </p:spPr>
        <p:txBody>
          <a:bodyPr/>
          <a:lstStyle/>
          <a:p>
            <a:pPr lvl="0"/>
            <a:endParaRPr lang="en-US" noProof="0"/>
          </a:p>
        </p:txBody>
      </p:sp>
      <p:sp>
        <p:nvSpPr>
          <p:cNvPr id="4" name="Rectangle 4">
            <a:extLst>
              <a:ext uri="{FF2B5EF4-FFF2-40B4-BE49-F238E27FC236}">
                <a16:creationId xmlns="" xmlns:a16="http://schemas.microsoft.com/office/drawing/2014/main" id="{B6A477D7-046D-450F-9FF3-6550D2934AE7}"/>
              </a:ext>
            </a:extLst>
          </p:cNvPr>
          <p:cNvSpPr>
            <a:spLocks noGrp="1" noChangeArrowheads="1"/>
          </p:cNvSpPr>
          <p:nvPr>
            <p:ph type="dt" sz="half" idx="10"/>
          </p:nvPr>
        </p:nvSpPr>
        <p:spPr>
          <a:ln/>
        </p:spPr>
        <p:txBody>
          <a:bodyPr/>
          <a:lstStyle>
            <a:lvl1pPr>
              <a:defRPr/>
            </a:lvl1pPr>
          </a:lstStyle>
          <a:p>
            <a:pPr>
              <a:defRPr/>
            </a:pPr>
            <a:r>
              <a:rPr lang="en-US"/>
              <a:t>Sept 03, 2012.</a:t>
            </a:r>
            <a:endParaRPr lang="sv-SE" altLang="en-US"/>
          </a:p>
        </p:txBody>
      </p:sp>
      <p:sp>
        <p:nvSpPr>
          <p:cNvPr id="5" name="Rectangle 5">
            <a:extLst>
              <a:ext uri="{FF2B5EF4-FFF2-40B4-BE49-F238E27FC236}">
                <a16:creationId xmlns="" xmlns:a16="http://schemas.microsoft.com/office/drawing/2014/main" id="{02B2A6C2-7DD5-4A87-BA29-72B1C511A34E}"/>
              </a:ext>
            </a:extLst>
          </p:cNvPr>
          <p:cNvSpPr>
            <a:spLocks noGrp="1" noChangeArrowheads="1"/>
          </p:cNvSpPr>
          <p:nvPr>
            <p:ph type="ftr" sz="quarter" idx="11"/>
          </p:nvPr>
        </p:nvSpPr>
        <p:spPr>
          <a:ln/>
        </p:spPr>
        <p:txBody>
          <a:bodyPr/>
          <a:lstStyle>
            <a:lvl1pPr>
              <a:defRPr/>
            </a:lvl1pPr>
          </a:lstStyle>
          <a:p>
            <a:pPr>
              <a:defRPr/>
            </a:pPr>
            <a:endParaRPr lang="sv-SE" altLang="en-US"/>
          </a:p>
        </p:txBody>
      </p:sp>
      <p:sp>
        <p:nvSpPr>
          <p:cNvPr id="6" name="Rectangle 6">
            <a:extLst>
              <a:ext uri="{FF2B5EF4-FFF2-40B4-BE49-F238E27FC236}">
                <a16:creationId xmlns="" xmlns:a16="http://schemas.microsoft.com/office/drawing/2014/main" id="{3ACD0106-7060-45E0-BEB0-FB10D0EF7CD3}"/>
              </a:ext>
            </a:extLst>
          </p:cNvPr>
          <p:cNvSpPr>
            <a:spLocks noGrp="1" noChangeArrowheads="1"/>
          </p:cNvSpPr>
          <p:nvPr>
            <p:ph type="sldNum" sz="quarter" idx="12"/>
          </p:nvPr>
        </p:nvSpPr>
        <p:spPr>
          <a:ln/>
        </p:spPr>
        <p:txBody>
          <a:bodyPr/>
          <a:lstStyle>
            <a:lvl1pPr>
              <a:defRPr/>
            </a:lvl1pPr>
          </a:lstStyle>
          <a:p>
            <a:fld id="{99F57279-84D6-4CBF-9A64-F8A47EEDF222}" type="slidenum">
              <a:rPr lang="sv-SE" altLang="en-US"/>
              <a:pPr/>
              <a:t>‹#›</a:t>
            </a:fld>
            <a:endParaRPr lang="sv-SE" altLang="en-US"/>
          </a:p>
        </p:txBody>
      </p:sp>
    </p:spTree>
    <p:extLst>
      <p:ext uri="{BB962C8B-B14F-4D97-AF65-F5344CB8AC3E}">
        <p14:creationId xmlns="" xmlns:p14="http://schemas.microsoft.com/office/powerpoint/2010/main" val="650324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theme" Target="../theme/theme2.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9/22/2020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 xmlns:a16="http://schemas.microsoft.com/office/drawing/2014/main" id="{8E3573F6-FC47-4805-9729-D82D34868E28}"/>
              </a:ext>
            </a:extLst>
          </p:cNvPr>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sv-SE" altLang="en-US"/>
              <a:t>Click to edit Master title style</a:t>
            </a:r>
          </a:p>
        </p:txBody>
      </p:sp>
      <p:sp>
        <p:nvSpPr>
          <p:cNvPr id="1027" name="Rectangle 3">
            <a:extLst>
              <a:ext uri="{FF2B5EF4-FFF2-40B4-BE49-F238E27FC236}">
                <a16:creationId xmlns="" xmlns:a16="http://schemas.microsoft.com/office/drawing/2014/main" id="{F4C03710-2B8C-4E53-A024-E490EA8D1AFD}"/>
              </a:ext>
            </a:extLst>
          </p:cNvPr>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sv-SE" altLang="en-US"/>
              <a:t>Click to edit Master text styles</a:t>
            </a:r>
          </a:p>
          <a:p>
            <a:pPr lvl="1"/>
            <a:r>
              <a:rPr lang="sv-SE" altLang="en-US"/>
              <a:t>Second level</a:t>
            </a:r>
          </a:p>
          <a:p>
            <a:pPr lvl="2"/>
            <a:r>
              <a:rPr lang="sv-SE" altLang="en-US"/>
              <a:t>Third level</a:t>
            </a:r>
          </a:p>
          <a:p>
            <a:pPr lvl="3"/>
            <a:r>
              <a:rPr lang="sv-SE" altLang="en-US"/>
              <a:t>Fourth level</a:t>
            </a:r>
          </a:p>
          <a:p>
            <a:pPr lvl="4"/>
            <a:r>
              <a:rPr lang="sv-SE" altLang="en-US"/>
              <a:t>Fifth level</a:t>
            </a:r>
          </a:p>
        </p:txBody>
      </p:sp>
      <p:sp>
        <p:nvSpPr>
          <p:cNvPr id="229380" name="Rectangle 4">
            <a:extLst>
              <a:ext uri="{FF2B5EF4-FFF2-40B4-BE49-F238E27FC236}">
                <a16:creationId xmlns="" xmlns:a16="http://schemas.microsoft.com/office/drawing/2014/main" id="{F81A9147-EB13-422C-8218-0735B7C81818}"/>
              </a:ext>
            </a:extLst>
          </p:cNvPr>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mj-lt"/>
                <a:ea typeface="+mn-ea"/>
                <a:cs typeface="+mn-cs"/>
              </a:defRPr>
            </a:lvl1pPr>
          </a:lstStyle>
          <a:p>
            <a:pPr>
              <a:defRPr/>
            </a:pPr>
            <a:r>
              <a:rPr lang="en-US"/>
              <a:t>Sept 03, 2012.</a:t>
            </a:r>
            <a:endParaRPr lang="sv-SE" altLang="en-US"/>
          </a:p>
        </p:txBody>
      </p:sp>
      <p:sp>
        <p:nvSpPr>
          <p:cNvPr id="229381" name="Rectangle 5">
            <a:extLst>
              <a:ext uri="{FF2B5EF4-FFF2-40B4-BE49-F238E27FC236}">
                <a16:creationId xmlns="" xmlns:a16="http://schemas.microsoft.com/office/drawing/2014/main" id="{27ED253E-D9DE-4C62-8B0B-AEDE7A3857B1}"/>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latin typeface="+mj-lt"/>
                <a:ea typeface="+mn-ea"/>
                <a:cs typeface="+mn-cs"/>
              </a:defRPr>
            </a:lvl1pPr>
          </a:lstStyle>
          <a:p>
            <a:pPr>
              <a:defRPr/>
            </a:pPr>
            <a:endParaRPr lang="sv-SE" altLang="en-US"/>
          </a:p>
        </p:txBody>
      </p:sp>
      <p:sp>
        <p:nvSpPr>
          <p:cNvPr id="229382" name="Rectangle 6">
            <a:extLst>
              <a:ext uri="{FF2B5EF4-FFF2-40B4-BE49-F238E27FC236}">
                <a16:creationId xmlns="" xmlns:a16="http://schemas.microsoft.com/office/drawing/2014/main" id="{DE9DFDC0-A119-42A5-A7C8-02B77908BA4B}"/>
              </a:ext>
            </a:extLst>
          </p:cNvPr>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Garamond" panose="02020404030301010803" pitchFamily="18" charset="0"/>
              </a:defRPr>
            </a:lvl1pPr>
          </a:lstStyle>
          <a:p>
            <a:fld id="{30EDC7D7-D125-4FA0-81F1-296917FC55DE}" type="slidenum">
              <a:rPr lang="sv-SE" altLang="en-US"/>
              <a:pPr/>
              <a:t>‹#›</a:t>
            </a:fld>
            <a:endParaRPr lang="sv-SE" altLang="en-US"/>
          </a:p>
        </p:txBody>
      </p:sp>
      <p:sp>
        <p:nvSpPr>
          <p:cNvPr id="1031" name="Freeform 7">
            <a:extLst>
              <a:ext uri="{FF2B5EF4-FFF2-40B4-BE49-F238E27FC236}">
                <a16:creationId xmlns="" xmlns:a16="http://schemas.microsoft.com/office/drawing/2014/main" id="{0D899C56-3643-4485-B446-CA57971FC9D0}"/>
              </a:ext>
            </a:extLst>
          </p:cNvPr>
          <p:cNvSpPr>
            <a:spLocks noChangeArrowheads="1"/>
          </p:cNvSpPr>
          <p:nvPr/>
        </p:nvSpPr>
        <p:spPr bwMode="auto">
          <a:xfrm>
            <a:off x="381000" y="228600"/>
            <a:ext cx="8229600" cy="609600"/>
          </a:xfrm>
          <a:custGeom>
            <a:avLst/>
            <a:gdLst>
              <a:gd name="T0" fmla="*/ 0 w 1000"/>
              <a:gd name="T1" fmla="*/ 2147483647 h 1000"/>
              <a:gd name="T2" fmla="*/ 0 w 1000"/>
              <a:gd name="T3" fmla="*/ 0 h 1000"/>
              <a:gd name="T4" fmla="*/ 2147483647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032" name="Line 8">
            <a:extLst>
              <a:ext uri="{FF2B5EF4-FFF2-40B4-BE49-F238E27FC236}">
                <a16:creationId xmlns="" xmlns:a16="http://schemas.microsoft.com/office/drawing/2014/main" id="{E6B120C4-9017-44EC-B9AA-454979F7B174}"/>
              </a:ext>
            </a:extLst>
          </p:cNvPr>
          <p:cNvSpPr>
            <a:spLocks noChangeShapeType="1"/>
          </p:cNvSpPr>
          <p:nvPr/>
        </p:nvSpPr>
        <p:spPr bwMode="auto">
          <a:xfrm>
            <a:off x="457200" y="6172200"/>
            <a:ext cx="8229600" cy="0"/>
          </a:xfrm>
          <a:prstGeom prst="line">
            <a:avLst/>
          </a:prstGeom>
          <a:noFill/>
          <a:ln w="19050">
            <a:solidFill>
              <a:schemeClr val="accent1"/>
            </a:solidFill>
            <a:round/>
            <a:headEnd/>
            <a:tailEnd/>
          </a:ln>
          <a:extLst>
            <a:ext uri="{909E8E84-426E-40DD-AFC4-6F175D3DCCD1}">
              <a14:hiddenFill xmlns=""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hf hdr="0" ftr="0" dt="0"/>
  <p:txStyles>
    <p:titleStyle>
      <a:lvl1pPr algn="l" rtl="0" eaLnBrk="0" fontAlgn="base" hangingPunct="0">
        <a:spcBef>
          <a:spcPct val="0"/>
        </a:spcBef>
        <a:spcAft>
          <a:spcPct val="0"/>
        </a:spcAft>
        <a:defRPr sz="4200">
          <a:solidFill>
            <a:schemeClr val="tx2"/>
          </a:solidFill>
          <a:latin typeface="+mj-lt"/>
          <a:ea typeface="ＭＳ Ｐゴシック" charset="0"/>
          <a:cs typeface="+mj-cs"/>
        </a:defRPr>
      </a:lvl1pPr>
      <a:lvl2pPr algn="l" rtl="0" eaLnBrk="0" fontAlgn="base" hangingPunct="0">
        <a:spcBef>
          <a:spcPct val="0"/>
        </a:spcBef>
        <a:spcAft>
          <a:spcPct val="0"/>
        </a:spcAft>
        <a:defRPr sz="4200">
          <a:solidFill>
            <a:schemeClr val="tx2"/>
          </a:solidFill>
          <a:latin typeface="Garamond" pitchFamily="18" charset="0"/>
          <a:ea typeface="ＭＳ Ｐゴシック" charset="0"/>
          <a:cs typeface="Arial" charset="0"/>
        </a:defRPr>
      </a:lvl2pPr>
      <a:lvl3pPr algn="l" rtl="0" eaLnBrk="0" fontAlgn="base" hangingPunct="0">
        <a:spcBef>
          <a:spcPct val="0"/>
        </a:spcBef>
        <a:spcAft>
          <a:spcPct val="0"/>
        </a:spcAft>
        <a:defRPr sz="4200">
          <a:solidFill>
            <a:schemeClr val="tx2"/>
          </a:solidFill>
          <a:latin typeface="Garamond" pitchFamily="18" charset="0"/>
          <a:ea typeface="ＭＳ Ｐゴシック" charset="0"/>
          <a:cs typeface="Arial" charset="0"/>
        </a:defRPr>
      </a:lvl3pPr>
      <a:lvl4pPr algn="l" rtl="0" eaLnBrk="0" fontAlgn="base" hangingPunct="0">
        <a:spcBef>
          <a:spcPct val="0"/>
        </a:spcBef>
        <a:spcAft>
          <a:spcPct val="0"/>
        </a:spcAft>
        <a:defRPr sz="4200">
          <a:solidFill>
            <a:schemeClr val="tx2"/>
          </a:solidFill>
          <a:latin typeface="Garamond" pitchFamily="18" charset="0"/>
          <a:ea typeface="ＭＳ Ｐゴシック" charset="0"/>
          <a:cs typeface="Arial" charset="0"/>
        </a:defRPr>
      </a:lvl4pPr>
      <a:lvl5pPr algn="l" rtl="0" eaLnBrk="0" fontAlgn="base" hangingPunct="0">
        <a:spcBef>
          <a:spcPct val="0"/>
        </a:spcBef>
        <a:spcAft>
          <a:spcPct val="0"/>
        </a:spcAft>
        <a:defRPr sz="4200">
          <a:solidFill>
            <a:schemeClr val="tx2"/>
          </a:solidFill>
          <a:latin typeface="Garamond" pitchFamily="18" charset="0"/>
          <a:ea typeface="ＭＳ Ｐゴシック" charset="0"/>
          <a:cs typeface="Arial" charset="0"/>
        </a:defRPr>
      </a:lvl5pPr>
      <a:lvl6pPr marL="457200" algn="l" rtl="0" fontAlgn="base">
        <a:spcBef>
          <a:spcPct val="0"/>
        </a:spcBef>
        <a:spcAft>
          <a:spcPct val="0"/>
        </a:spcAft>
        <a:defRPr sz="4200">
          <a:solidFill>
            <a:schemeClr val="tx2"/>
          </a:solidFill>
          <a:latin typeface="Garamond" pitchFamily="18" charset="0"/>
          <a:cs typeface="Arial" charset="0"/>
        </a:defRPr>
      </a:lvl6pPr>
      <a:lvl7pPr marL="914400" algn="l" rtl="0" fontAlgn="base">
        <a:spcBef>
          <a:spcPct val="0"/>
        </a:spcBef>
        <a:spcAft>
          <a:spcPct val="0"/>
        </a:spcAft>
        <a:defRPr sz="4200">
          <a:solidFill>
            <a:schemeClr val="tx2"/>
          </a:solidFill>
          <a:latin typeface="Garamond" pitchFamily="18" charset="0"/>
          <a:cs typeface="Arial" charset="0"/>
        </a:defRPr>
      </a:lvl7pPr>
      <a:lvl8pPr marL="1371600" algn="l" rtl="0" fontAlgn="base">
        <a:spcBef>
          <a:spcPct val="0"/>
        </a:spcBef>
        <a:spcAft>
          <a:spcPct val="0"/>
        </a:spcAft>
        <a:defRPr sz="4200">
          <a:solidFill>
            <a:schemeClr val="tx2"/>
          </a:solidFill>
          <a:latin typeface="Garamond" pitchFamily="18" charset="0"/>
          <a:cs typeface="Arial" charset="0"/>
        </a:defRPr>
      </a:lvl8pPr>
      <a:lvl9pPr marL="1828800" algn="l" rtl="0" fontAlgn="base">
        <a:spcBef>
          <a:spcPct val="0"/>
        </a:spcBef>
        <a:spcAft>
          <a:spcPct val="0"/>
        </a:spcAft>
        <a:defRPr sz="4200">
          <a:solidFill>
            <a:schemeClr val="tx2"/>
          </a:solidFill>
          <a:latin typeface="Garamond" pitchFamily="18" charset="0"/>
          <a:cs typeface="Arial" charset="0"/>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ＭＳ Ｐゴシック" charset="0"/>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Arial" charset="0"/>
          <a:cs typeface="+mn-cs"/>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Arial" charset="0"/>
          <a:cs typeface="+mn-cs"/>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Arial" charset="0"/>
          <a:cs typeface="+mn-cs"/>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Arial" charset="0"/>
          <a:cs typeface="+mn-cs"/>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 xmlns:a16="http://schemas.microsoft.com/office/drawing/2014/main" id="{2F6838B0-8346-448C-AEF2-C6ED0CB38900}"/>
              </a:ext>
            </a:extLst>
          </p:cNvPr>
          <p:cNvSpPr>
            <a:spLocks noGrp="1" noChangeArrowheads="1"/>
          </p:cNvSpPr>
          <p:nvPr>
            <p:ph type="ctrTitle"/>
          </p:nvPr>
        </p:nvSpPr>
        <p:spPr>
          <a:xfrm>
            <a:off x="914400" y="1524000"/>
            <a:ext cx="7623175" cy="2286000"/>
          </a:xfrm>
        </p:spPr>
        <p:txBody>
          <a:bodyPr/>
          <a:lstStyle/>
          <a:p>
            <a:pPr algn="ctr" eaLnBrk="1" hangingPunct="1"/>
            <a:r>
              <a:rPr lang="en-US" altLang="en-US" sz="3800" dirty="0">
                <a:ea typeface="ＭＳ Ｐゴシック" panose="020B0600070205080204" pitchFamily="34" charset="-128"/>
              </a:rPr>
              <a:t> </a:t>
            </a:r>
            <a:br>
              <a:rPr lang="en-US" altLang="en-US" sz="3800" dirty="0">
                <a:ea typeface="ＭＳ Ｐゴシック" panose="020B0600070205080204" pitchFamily="34" charset="-128"/>
              </a:rPr>
            </a:br>
            <a:r>
              <a:rPr lang="en-US" altLang="en-US" sz="3800" dirty="0">
                <a:ea typeface="ＭＳ Ｐゴシック" panose="020B0600070205080204" pitchFamily="34" charset="-128"/>
              </a:rPr>
              <a:t>Data Warehousing</a:t>
            </a:r>
            <a:br>
              <a:rPr lang="en-US" altLang="en-US" sz="3800" dirty="0">
                <a:ea typeface="ＭＳ Ｐゴシック" panose="020B0600070205080204" pitchFamily="34" charset="-128"/>
              </a:rPr>
            </a:br>
            <a:r>
              <a:rPr lang="en-US" altLang="en-US" sz="3000" dirty="0" smtClean="0">
                <a:ea typeface="ＭＳ Ｐゴシック" panose="020B0600070205080204" pitchFamily="34" charset="-128"/>
              </a:rPr>
              <a:t>&amp; </a:t>
            </a:r>
            <a:br>
              <a:rPr lang="en-US" altLang="en-US" sz="3000" dirty="0" smtClean="0">
                <a:ea typeface="ＭＳ Ｐゴシック" panose="020B0600070205080204" pitchFamily="34" charset="-128"/>
              </a:rPr>
            </a:br>
            <a:r>
              <a:rPr lang="en-US" altLang="en-US" sz="3800" dirty="0" smtClean="0">
                <a:ea typeface="ＭＳ Ｐゴシック" panose="020B0600070205080204" pitchFamily="34" charset="-128"/>
              </a:rPr>
              <a:t>Data Mining(CSC496)</a:t>
            </a:r>
            <a:endParaRPr lang="sv-SE" altLang="en-US" sz="3800" dirty="0">
              <a:ea typeface="ＭＳ Ｐゴシック" panose="020B0600070205080204" pitchFamily="34" charset="-128"/>
            </a:endParaRPr>
          </a:p>
        </p:txBody>
      </p:sp>
      <p:sp>
        <p:nvSpPr>
          <p:cNvPr id="3075" name="Rectangle 3">
            <a:extLst>
              <a:ext uri="{FF2B5EF4-FFF2-40B4-BE49-F238E27FC236}">
                <a16:creationId xmlns="" xmlns:a16="http://schemas.microsoft.com/office/drawing/2014/main" id="{589BF442-A7C7-4EC8-A73E-7AC5B66772B9}"/>
              </a:ext>
            </a:extLst>
          </p:cNvPr>
          <p:cNvSpPr>
            <a:spLocks noGrp="1" noChangeArrowheads="1"/>
          </p:cNvSpPr>
          <p:nvPr>
            <p:ph type="subTitle" idx="1"/>
          </p:nvPr>
        </p:nvSpPr>
        <p:spPr>
          <a:xfrm>
            <a:off x="1371600" y="4191000"/>
            <a:ext cx="6934200" cy="1752600"/>
          </a:xfrm>
        </p:spPr>
        <p:txBody>
          <a:bodyPr/>
          <a:lstStyle/>
          <a:p>
            <a:pPr algn="ctr" eaLnBrk="1" hangingPunct="1"/>
            <a:r>
              <a:rPr lang="en-US" altLang="en-US" sz="2000" dirty="0" smtClean="0"/>
              <a:t>By</a:t>
            </a:r>
          </a:p>
          <a:p>
            <a:pPr algn="ctr" eaLnBrk="1" hangingPunct="1"/>
            <a:r>
              <a:rPr lang="en-US" altLang="en-US" sz="2000" dirty="0" smtClean="0"/>
              <a:t>Mr. Usman Shehzaib	</a:t>
            </a:r>
          </a:p>
          <a:p>
            <a:pPr algn="ctr" eaLnBrk="1" hangingPunct="1"/>
            <a:r>
              <a:rPr lang="en-US" altLang="en-US" sz="2000" dirty="0" smtClean="0"/>
              <a:t>(Assistant Professor)</a:t>
            </a:r>
          </a:p>
          <a:p>
            <a:pPr algn="ctr" eaLnBrk="1" hangingPunct="1"/>
            <a:r>
              <a:rPr lang="en-US" altLang="en-US" sz="2000" dirty="0" smtClean="0"/>
              <a:t>Department of Computer Science</a:t>
            </a:r>
          </a:p>
          <a:p>
            <a:pPr algn="ctr" eaLnBrk="1" hangingPunct="1"/>
            <a:r>
              <a:rPr lang="en-US" altLang="en-US" sz="2000" dirty="0" smtClean="0">
                <a:ea typeface="ＭＳ Ｐゴシック" panose="020B0600070205080204" pitchFamily="34" charset="-128"/>
              </a:rPr>
              <a:t>CUI Lahore Campus</a:t>
            </a:r>
            <a:endParaRPr lang="en-US" altLang="en-US" sz="2000" dirty="0">
              <a:ea typeface="ＭＳ Ｐゴシック" panose="020B0600070205080204" pitchFamily="34" charset="-128"/>
            </a:endParaRPr>
          </a:p>
        </p:txBody>
      </p:sp>
      <p:pic>
        <p:nvPicPr>
          <p:cNvPr id="6" name="Picture 5" descr="cui logo.jpg"/>
          <p:cNvPicPr>
            <a:picLocks noChangeAspect="1"/>
          </p:cNvPicPr>
          <p:nvPr/>
        </p:nvPicPr>
        <p:blipFill>
          <a:blip r:embed="rId3"/>
          <a:stretch>
            <a:fillRect/>
          </a:stretch>
        </p:blipFill>
        <p:spPr>
          <a:xfrm>
            <a:off x="7239000" y="0"/>
            <a:ext cx="995363" cy="995363"/>
          </a:xfrm>
          <a:prstGeom prst="rect">
            <a:avLst/>
          </a:prstGeom>
        </p:spPr>
      </p:pic>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3"/>
          <p:cNvSpPr txBox="1">
            <a:spLocks noChangeArrowheads="1"/>
          </p:cNvSpPr>
          <p:nvPr/>
        </p:nvSpPr>
        <p:spPr bwMode="auto">
          <a:xfrm>
            <a:off x="685800" y="1524000"/>
            <a:ext cx="7772400" cy="5016758"/>
          </a:xfrm>
          <a:prstGeom prst="rect">
            <a:avLst/>
          </a:prstGeom>
          <a:noFill/>
          <a:ln w="9525">
            <a:noFill/>
            <a:miter lim="800000"/>
            <a:headEnd/>
            <a:tailEnd/>
          </a:ln>
        </p:spPr>
        <p:txBody>
          <a:bodyPr>
            <a:spAutoFit/>
          </a:bodyPr>
          <a:lstStyle/>
          <a:p>
            <a:pPr algn="just" eaLnBrk="1" hangingPunct="1"/>
            <a:r>
              <a:rPr lang="en-GB" sz="4000" dirty="0" smtClean="0"/>
              <a:t>This course introduces the concept of data warehousing that can help in facilitating effective and timely decision making in any organization. Moreover it guides about data mining techniques that can help in identifying patterns in data. </a:t>
            </a:r>
            <a:endParaRPr lang="en-US" altLang="en-US" sz="4000" dirty="0"/>
          </a:p>
        </p:txBody>
      </p:sp>
      <p:sp>
        <p:nvSpPr>
          <p:cNvPr id="12291" name="Rectangle 6"/>
          <p:cNvSpPr>
            <a:spLocks noChangeArrowheads="1"/>
          </p:cNvSpPr>
          <p:nvPr/>
        </p:nvSpPr>
        <p:spPr bwMode="auto">
          <a:xfrm>
            <a:off x="1447800" y="381000"/>
            <a:ext cx="5715000" cy="914400"/>
          </a:xfrm>
          <a:prstGeom prst="rect">
            <a:avLst/>
          </a:prstGeom>
          <a:noFill/>
          <a:ln w="28575">
            <a:solidFill>
              <a:schemeClr val="accent1"/>
            </a:solidFill>
            <a:miter lim="800000"/>
            <a:headEnd/>
            <a:tailEnd/>
          </a:ln>
        </p:spPr>
        <p:txBody>
          <a:bodyPr lIns="92075" tIns="46038" rIns="92075" bIns="46038" anchor="ctr"/>
          <a:lstStyle/>
          <a:p>
            <a:pPr algn="ctr" eaLnBrk="1" hangingPunct="1"/>
            <a:r>
              <a:rPr lang="en-US" altLang="en-US" sz="3200"/>
              <a:t>Course Objectives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5">
            <a:extLst>
              <a:ext uri="{FF2B5EF4-FFF2-40B4-BE49-F238E27FC236}">
                <a16:creationId xmlns="" xmlns:a16="http://schemas.microsoft.com/office/drawing/2014/main" id="{4062325C-06CA-428D-BBB2-DF44BD11FF47}"/>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FCD51FDA-E10C-4F22-BA0B-A7EB46DA3808}" type="slidenum">
              <a:rPr lang="sv-SE" altLang="en-US">
                <a:latin typeface="Garamond" panose="02020404030301010803" pitchFamily="18" charset="0"/>
              </a:rPr>
              <a:pPr eaLnBrk="1" hangingPunct="1"/>
              <a:t>3</a:t>
            </a:fld>
            <a:endParaRPr lang="sv-SE" altLang="en-US">
              <a:latin typeface="Garamond" panose="02020404030301010803" pitchFamily="18" charset="0"/>
            </a:endParaRPr>
          </a:p>
        </p:txBody>
      </p:sp>
      <p:sp>
        <p:nvSpPr>
          <p:cNvPr id="4099" name="Rectangle 2">
            <a:extLst>
              <a:ext uri="{FF2B5EF4-FFF2-40B4-BE49-F238E27FC236}">
                <a16:creationId xmlns="" xmlns:a16="http://schemas.microsoft.com/office/drawing/2014/main" id="{56D6DE3B-37CB-4549-94F8-05881BAF2ED1}"/>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Course Material</a:t>
            </a:r>
            <a:endParaRPr lang="sv-SE" altLang="en-US">
              <a:ea typeface="ＭＳ Ｐゴシック" panose="020B0600070205080204" pitchFamily="34" charset="-128"/>
            </a:endParaRPr>
          </a:p>
        </p:txBody>
      </p:sp>
      <p:sp>
        <p:nvSpPr>
          <p:cNvPr id="4100" name="Rectangle 3">
            <a:extLst>
              <a:ext uri="{FF2B5EF4-FFF2-40B4-BE49-F238E27FC236}">
                <a16:creationId xmlns="" xmlns:a16="http://schemas.microsoft.com/office/drawing/2014/main" id="{8A33E052-8448-40C1-9C1B-DFA8A69ED393}"/>
              </a:ext>
            </a:extLst>
          </p:cNvPr>
          <p:cNvSpPr>
            <a:spLocks noGrp="1" noChangeArrowheads="1"/>
          </p:cNvSpPr>
          <p:nvPr>
            <p:ph type="body" idx="1"/>
          </p:nvPr>
        </p:nvSpPr>
        <p:spPr/>
        <p:txBody>
          <a:bodyPr/>
          <a:lstStyle/>
          <a:p>
            <a:r>
              <a:rPr lang="en-US" sz="2000" dirty="0" smtClean="0"/>
              <a:t>[1] </a:t>
            </a:r>
            <a:r>
              <a:rPr lang="en-US" sz="2000" dirty="0" err="1" smtClean="0"/>
              <a:t>Paulraj</a:t>
            </a:r>
            <a:r>
              <a:rPr lang="en-US" sz="2000" dirty="0" smtClean="0"/>
              <a:t>, P.: “Data Warehousing Fundamentals”, John Wiley &amp; Sons Inc., NY.  </a:t>
            </a:r>
          </a:p>
          <a:p>
            <a:r>
              <a:rPr lang="en-US" sz="2000" dirty="0" smtClean="0"/>
              <a:t>[2] Han, J. and </a:t>
            </a:r>
            <a:r>
              <a:rPr lang="en-US" sz="2000" dirty="0" err="1" smtClean="0"/>
              <a:t>Kamber</a:t>
            </a:r>
            <a:r>
              <a:rPr lang="en-US" sz="2000" dirty="0" smtClean="0"/>
              <a:t>, M. (2012) Data Mining Concepts and Techniques, 3</a:t>
            </a:r>
            <a:r>
              <a:rPr lang="en-US" sz="2000" baseline="30000" dirty="0" smtClean="0"/>
              <a:t>rd</a:t>
            </a:r>
            <a:r>
              <a:rPr lang="en-US" sz="2000" dirty="0" smtClean="0"/>
              <a:t> Edition, Morgan Kaufmann.</a:t>
            </a:r>
          </a:p>
          <a:p>
            <a:r>
              <a:rPr lang="en-US" sz="2000" dirty="0" smtClean="0"/>
              <a:t>[3] Ricardo, C. M.: “Database Systems: Principles Design and Implementation”, Macmillan </a:t>
            </a:r>
            <a:r>
              <a:rPr lang="en-US" sz="2000" dirty="0" err="1" smtClean="0"/>
              <a:t>Coll</a:t>
            </a:r>
            <a:r>
              <a:rPr lang="en-US" sz="2000" dirty="0" smtClean="0"/>
              <a:t> Div.</a:t>
            </a:r>
          </a:p>
          <a:p>
            <a:r>
              <a:rPr lang="en-US" sz="2000" dirty="0" smtClean="0"/>
              <a:t> </a:t>
            </a:r>
          </a:p>
          <a:p>
            <a:r>
              <a:rPr lang="en-US" sz="2000" dirty="0" smtClean="0"/>
              <a:t>[4] “The Data Warehouse Tool Kit” by Ralph Kimball</a:t>
            </a:r>
          </a:p>
          <a:p>
            <a:pPr eaLnBrk="1" hangingPunct="1">
              <a:lnSpc>
                <a:spcPct val="90000"/>
              </a:lnSpc>
            </a:pPr>
            <a:endParaRPr lang="en-US" altLang="en-US" sz="2000" dirty="0">
              <a:ea typeface="Arial" panose="020B0604020202020204"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5">
            <a:extLst>
              <a:ext uri="{FF2B5EF4-FFF2-40B4-BE49-F238E27FC236}">
                <a16:creationId xmlns="" xmlns:a16="http://schemas.microsoft.com/office/drawing/2014/main" id="{FA812868-3015-44B7-82F1-C74C249373B9}"/>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7B913EE6-DF78-401C-8F36-03E75ACE5698}" type="slidenum">
              <a:rPr lang="sv-SE" altLang="en-US">
                <a:latin typeface="Garamond" panose="02020404030301010803" pitchFamily="18" charset="0"/>
              </a:rPr>
              <a:pPr eaLnBrk="1" hangingPunct="1"/>
              <a:t>4</a:t>
            </a:fld>
            <a:endParaRPr lang="sv-SE" altLang="en-US">
              <a:latin typeface="Garamond" panose="02020404030301010803" pitchFamily="18" charset="0"/>
            </a:endParaRPr>
          </a:p>
        </p:txBody>
      </p:sp>
      <p:sp>
        <p:nvSpPr>
          <p:cNvPr id="6147" name="Rectangle 2">
            <a:extLst>
              <a:ext uri="{FF2B5EF4-FFF2-40B4-BE49-F238E27FC236}">
                <a16:creationId xmlns="" xmlns:a16="http://schemas.microsoft.com/office/drawing/2014/main" id="{431EEE5B-23A3-42B1-AEE3-6029103D6DBA}"/>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Course Introduction</a:t>
            </a:r>
            <a:endParaRPr lang="sv-SE" altLang="en-US">
              <a:ea typeface="ＭＳ Ｐゴシック" panose="020B0600070205080204" pitchFamily="34" charset="-128"/>
            </a:endParaRPr>
          </a:p>
        </p:txBody>
      </p:sp>
      <p:sp>
        <p:nvSpPr>
          <p:cNvPr id="193540" name="Rectangle 4">
            <a:extLst>
              <a:ext uri="{FF2B5EF4-FFF2-40B4-BE49-F238E27FC236}">
                <a16:creationId xmlns="" xmlns:a16="http://schemas.microsoft.com/office/drawing/2014/main" id="{F691639C-659F-433E-A6F2-71CFBB066111}"/>
              </a:ext>
            </a:extLst>
          </p:cNvPr>
          <p:cNvSpPr>
            <a:spLocks noChangeArrowheads="1"/>
          </p:cNvSpPr>
          <p:nvPr/>
        </p:nvSpPr>
        <p:spPr bwMode="auto">
          <a:xfrm>
            <a:off x="457200" y="2133600"/>
            <a:ext cx="8153400" cy="3733800"/>
          </a:xfrm>
          <a:prstGeom prst="rect">
            <a:avLst/>
          </a:prstGeom>
          <a:solidFill>
            <a:srgbClr val="99CC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sv-SE" altLang="en-US" b="1"/>
          </a:p>
        </p:txBody>
      </p:sp>
      <p:grpSp>
        <p:nvGrpSpPr>
          <p:cNvPr id="2" name="Group 5">
            <a:extLst>
              <a:ext uri="{FF2B5EF4-FFF2-40B4-BE49-F238E27FC236}">
                <a16:creationId xmlns="" xmlns:a16="http://schemas.microsoft.com/office/drawing/2014/main" id="{3853B057-6525-491C-8C7F-3E9C8FCE7CF6}"/>
              </a:ext>
            </a:extLst>
          </p:cNvPr>
          <p:cNvGrpSpPr>
            <a:grpSpLocks/>
          </p:cNvGrpSpPr>
          <p:nvPr/>
        </p:nvGrpSpPr>
        <p:grpSpPr bwMode="auto">
          <a:xfrm>
            <a:off x="533400" y="2260600"/>
            <a:ext cx="7772400" cy="3530600"/>
            <a:chOff x="144" y="1194"/>
            <a:chExt cx="5520" cy="2934"/>
          </a:xfrm>
        </p:grpSpPr>
        <p:sp>
          <p:nvSpPr>
            <p:cNvPr id="6155" name="Text Box 6">
              <a:extLst>
                <a:ext uri="{FF2B5EF4-FFF2-40B4-BE49-F238E27FC236}">
                  <a16:creationId xmlns="" xmlns:a16="http://schemas.microsoft.com/office/drawing/2014/main" id="{D11FD0B7-BBDA-46A3-99E2-2DED146AD5CD}"/>
                </a:ext>
              </a:extLst>
            </p:cNvPr>
            <p:cNvSpPr txBox="1">
              <a:spLocks noChangeArrowheads="1"/>
            </p:cNvSpPr>
            <p:nvPr/>
          </p:nvSpPr>
          <p:spPr bwMode="auto">
            <a:xfrm>
              <a:off x="144" y="1194"/>
              <a:ext cx="1083" cy="2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b="1" u="sng">
                  <a:solidFill>
                    <a:schemeClr val="accent2"/>
                  </a:solidFill>
                  <a:latin typeface="Times New Roman" panose="02020603050405020304" pitchFamily="18" charset="0"/>
                </a:rPr>
                <a:t>Information Sources</a:t>
              </a:r>
              <a:endParaRPr lang="en-US" altLang="en-US" sz="1200" b="1">
                <a:solidFill>
                  <a:schemeClr val="accent2"/>
                </a:solidFill>
                <a:latin typeface="Times New Roman" panose="02020603050405020304" pitchFamily="18" charset="0"/>
              </a:endParaRPr>
            </a:p>
          </p:txBody>
        </p:sp>
        <p:sp>
          <p:nvSpPr>
            <p:cNvPr id="6156" name="Text Box 7">
              <a:extLst>
                <a:ext uri="{FF2B5EF4-FFF2-40B4-BE49-F238E27FC236}">
                  <a16:creationId xmlns="" xmlns:a16="http://schemas.microsoft.com/office/drawing/2014/main" id="{665A8377-A574-4F24-94AA-54029305B561}"/>
                </a:ext>
              </a:extLst>
            </p:cNvPr>
            <p:cNvSpPr txBox="1">
              <a:spLocks noChangeArrowheads="1"/>
            </p:cNvSpPr>
            <p:nvPr/>
          </p:nvSpPr>
          <p:spPr bwMode="auto">
            <a:xfrm>
              <a:off x="1954" y="1194"/>
              <a:ext cx="930" cy="5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u="sng">
                  <a:solidFill>
                    <a:schemeClr val="accent2"/>
                  </a:solidFill>
                  <a:latin typeface="Times New Roman" panose="02020603050405020304" pitchFamily="18" charset="0"/>
                </a:rPr>
                <a:t>Data Warehouse </a:t>
              </a:r>
            </a:p>
            <a:p>
              <a:pPr algn="ctr"/>
              <a:r>
                <a:rPr lang="en-US" altLang="en-US" sz="1200" b="1" u="sng">
                  <a:solidFill>
                    <a:schemeClr val="accent2"/>
                  </a:solidFill>
                  <a:latin typeface="Times New Roman" panose="02020603050405020304" pitchFamily="18" charset="0"/>
                </a:rPr>
                <a:t>Server</a:t>
              </a:r>
            </a:p>
            <a:p>
              <a:pPr algn="ctr"/>
              <a:r>
                <a:rPr lang="en-US" altLang="en-US" sz="1200" b="1">
                  <a:solidFill>
                    <a:schemeClr val="accent2"/>
                  </a:solidFill>
                  <a:latin typeface="Times New Roman" panose="02020603050405020304" pitchFamily="18" charset="0"/>
                </a:rPr>
                <a:t>(Tier 1)</a:t>
              </a:r>
            </a:p>
          </p:txBody>
        </p:sp>
        <p:sp>
          <p:nvSpPr>
            <p:cNvPr id="6157" name="Text Box 8">
              <a:extLst>
                <a:ext uri="{FF2B5EF4-FFF2-40B4-BE49-F238E27FC236}">
                  <a16:creationId xmlns="" xmlns:a16="http://schemas.microsoft.com/office/drawing/2014/main" id="{48B86E24-7E08-44A3-9E5B-2504B8FE12F2}"/>
                </a:ext>
              </a:extLst>
            </p:cNvPr>
            <p:cNvSpPr txBox="1">
              <a:spLocks noChangeArrowheads="1"/>
            </p:cNvSpPr>
            <p:nvPr/>
          </p:nvSpPr>
          <p:spPr bwMode="auto">
            <a:xfrm>
              <a:off x="3388" y="1194"/>
              <a:ext cx="808" cy="3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u="sng">
                  <a:solidFill>
                    <a:schemeClr val="accent2"/>
                  </a:solidFill>
                  <a:latin typeface="Times New Roman" panose="02020603050405020304" pitchFamily="18" charset="0"/>
                </a:rPr>
                <a:t>OLAP Servers</a:t>
              </a:r>
            </a:p>
            <a:p>
              <a:pPr algn="ctr"/>
              <a:r>
                <a:rPr lang="en-US" altLang="en-US" sz="1200" b="1">
                  <a:solidFill>
                    <a:schemeClr val="accent2"/>
                  </a:solidFill>
                  <a:latin typeface="Times New Roman" panose="02020603050405020304" pitchFamily="18" charset="0"/>
                </a:rPr>
                <a:t>(Tier 2)</a:t>
              </a:r>
            </a:p>
          </p:txBody>
        </p:sp>
        <p:sp>
          <p:nvSpPr>
            <p:cNvPr id="6158" name="Text Box 9">
              <a:extLst>
                <a:ext uri="{FF2B5EF4-FFF2-40B4-BE49-F238E27FC236}">
                  <a16:creationId xmlns="" xmlns:a16="http://schemas.microsoft.com/office/drawing/2014/main" id="{555EC682-A084-4EDD-96FF-CB17E0D3CF90}"/>
                </a:ext>
              </a:extLst>
            </p:cNvPr>
            <p:cNvSpPr txBox="1">
              <a:spLocks noChangeArrowheads="1"/>
            </p:cNvSpPr>
            <p:nvPr/>
          </p:nvSpPr>
          <p:spPr bwMode="auto">
            <a:xfrm>
              <a:off x="4944" y="1194"/>
              <a:ext cx="483" cy="3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b="1" u="sng">
                  <a:solidFill>
                    <a:schemeClr val="accent2"/>
                  </a:solidFill>
                  <a:latin typeface="Times New Roman" panose="02020603050405020304" pitchFamily="18" charset="0"/>
                </a:rPr>
                <a:t>Clients</a:t>
              </a:r>
            </a:p>
            <a:p>
              <a:r>
                <a:rPr lang="en-US" altLang="en-US" sz="1200" b="1">
                  <a:solidFill>
                    <a:schemeClr val="accent2"/>
                  </a:solidFill>
                  <a:latin typeface="Times New Roman" panose="02020603050405020304" pitchFamily="18" charset="0"/>
                </a:rPr>
                <a:t>(Tier 3)</a:t>
              </a:r>
            </a:p>
          </p:txBody>
        </p:sp>
        <p:sp>
          <p:nvSpPr>
            <p:cNvPr id="6159" name="Oval 10">
              <a:extLst>
                <a:ext uri="{FF2B5EF4-FFF2-40B4-BE49-F238E27FC236}">
                  <a16:creationId xmlns="" xmlns:a16="http://schemas.microsoft.com/office/drawing/2014/main" id="{23902012-A8C2-4455-8249-06CB13244274}"/>
                </a:ext>
              </a:extLst>
            </p:cNvPr>
            <p:cNvSpPr>
              <a:spLocks noChangeArrowheads="1"/>
            </p:cNvSpPr>
            <p:nvPr/>
          </p:nvSpPr>
          <p:spPr bwMode="auto">
            <a:xfrm>
              <a:off x="144" y="2160"/>
              <a:ext cx="720" cy="144"/>
            </a:xfrm>
            <a:prstGeom prst="ellipse">
              <a:avLst/>
            </a:pr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6160" name="Oval 11">
              <a:extLst>
                <a:ext uri="{FF2B5EF4-FFF2-40B4-BE49-F238E27FC236}">
                  <a16:creationId xmlns="" xmlns:a16="http://schemas.microsoft.com/office/drawing/2014/main" id="{4C939BFC-9812-40FC-A094-25791B02DCE3}"/>
                </a:ext>
              </a:extLst>
            </p:cNvPr>
            <p:cNvSpPr>
              <a:spLocks noChangeArrowheads="1"/>
            </p:cNvSpPr>
            <p:nvPr/>
          </p:nvSpPr>
          <p:spPr bwMode="auto">
            <a:xfrm>
              <a:off x="192" y="2256"/>
              <a:ext cx="720" cy="144"/>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3" name="Group 12">
              <a:extLst>
                <a:ext uri="{FF2B5EF4-FFF2-40B4-BE49-F238E27FC236}">
                  <a16:creationId xmlns="" xmlns:a16="http://schemas.microsoft.com/office/drawing/2014/main" id="{6AE38E90-B78B-484A-8357-F96889C3174B}"/>
                </a:ext>
              </a:extLst>
            </p:cNvPr>
            <p:cNvGrpSpPr>
              <a:grpSpLocks/>
            </p:cNvGrpSpPr>
            <p:nvPr/>
          </p:nvGrpSpPr>
          <p:grpSpPr bwMode="auto">
            <a:xfrm>
              <a:off x="144" y="3312"/>
              <a:ext cx="379" cy="382"/>
              <a:chOff x="4467" y="3038"/>
              <a:chExt cx="379" cy="382"/>
            </a:xfrm>
          </p:grpSpPr>
          <p:sp>
            <p:nvSpPr>
              <p:cNvPr id="6259" name="Rectangle 13">
                <a:extLst>
                  <a:ext uri="{FF2B5EF4-FFF2-40B4-BE49-F238E27FC236}">
                    <a16:creationId xmlns="" xmlns:a16="http://schemas.microsoft.com/office/drawing/2014/main" id="{76D13D2B-47A5-41A8-8B3C-418E286C02D9}"/>
                  </a:ext>
                </a:extLst>
              </p:cNvPr>
              <p:cNvSpPr>
                <a:spLocks noChangeArrowheads="1"/>
              </p:cNvSpPr>
              <p:nvPr/>
            </p:nvSpPr>
            <p:spPr bwMode="auto">
              <a:xfrm>
                <a:off x="4467" y="3094"/>
                <a:ext cx="376" cy="274"/>
              </a:xfrm>
              <a:prstGeom prst="rect">
                <a:avLst/>
              </a:prstGeom>
              <a:solidFill>
                <a:schemeClr val="bg1"/>
              </a:solidFill>
              <a:ln w="9525">
                <a:solidFill>
                  <a:schemeClr val="bg1"/>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4" name="Group 14">
                <a:extLst>
                  <a:ext uri="{FF2B5EF4-FFF2-40B4-BE49-F238E27FC236}">
                    <a16:creationId xmlns="" xmlns:a16="http://schemas.microsoft.com/office/drawing/2014/main" id="{2D9AFF33-1FAF-48BB-8D6E-ED1362999704}"/>
                  </a:ext>
                </a:extLst>
              </p:cNvPr>
              <p:cNvGrpSpPr>
                <a:grpSpLocks/>
              </p:cNvGrpSpPr>
              <p:nvPr/>
            </p:nvGrpSpPr>
            <p:grpSpPr bwMode="auto">
              <a:xfrm>
                <a:off x="4468" y="3038"/>
                <a:ext cx="378" cy="382"/>
                <a:chOff x="4468" y="3038"/>
                <a:chExt cx="378" cy="382"/>
              </a:xfrm>
            </p:grpSpPr>
            <p:sp>
              <p:nvSpPr>
                <p:cNvPr id="6261" name="Line 15">
                  <a:extLst>
                    <a:ext uri="{FF2B5EF4-FFF2-40B4-BE49-F238E27FC236}">
                      <a16:creationId xmlns="" xmlns:a16="http://schemas.microsoft.com/office/drawing/2014/main" id="{F21EDECE-1FD7-48E4-A8B0-4AFD3093E63E}"/>
                    </a:ext>
                  </a:extLst>
                </p:cNvPr>
                <p:cNvSpPr>
                  <a:spLocks noChangeShapeType="1"/>
                </p:cNvSpPr>
                <p:nvPr/>
              </p:nvSpPr>
              <p:spPr bwMode="auto">
                <a:xfrm>
                  <a:off x="4468" y="3087"/>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6262" name="Line 16">
                  <a:extLst>
                    <a:ext uri="{FF2B5EF4-FFF2-40B4-BE49-F238E27FC236}">
                      <a16:creationId xmlns="" xmlns:a16="http://schemas.microsoft.com/office/drawing/2014/main" id="{C021D408-0842-45E3-9BF2-FF9226345150}"/>
                    </a:ext>
                  </a:extLst>
                </p:cNvPr>
                <p:cNvSpPr>
                  <a:spLocks noChangeShapeType="1"/>
                </p:cNvSpPr>
                <p:nvPr/>
              </p:nvSpPr>
              <p:spPr bwMode="auto">
                <a:xfrm>
                  <a:off x="4846" y="3089"/>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6263" name="Oval 17">
                  <a:extLst>
                    <a:ext uri="{FF2B5EF4-FFF2-40B4-BE49-F238E27FC236}">
                      <a16:creationId xmlns="" xmlns:a16="http://schemas.microsoft.com/office/drawing/2014/main" id="{02CCE212-71E1-43CA-AA3A-F4D3C237994E}"/>
                    </a:ext>
                  </a:extLst>
                </p:cNvPr>
                <p:cNvSpPr>
                  <a:spLocks noChangeArrowheads="1"/>
                </p:cNvSpPr>
                <p:nvPr/>
              </p:nvSpPr>
              <p:spPr bwMode="auto">
                <a:xfrm>
                  <a:off x="4469" y="3038"/>
                  <a:ext cx="376" cy="90"/>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6264" name="Oval 18">
                  <a:extLst>
                    <a:ext uri="{FF2B5EF4-FFF2-40B4-BE49-F238E27FC236}">
                      <a16:creationId xmlns="" xmlns:a16="http://schemas.microsoft.com/office/drawing/2014/main" id="{C96C0FA7-F0CD-448B-AD49-A7BB76632C05}"/>
                    </a:ext>
                  </a:extLst>
                </p:cNvPr>
                <p:cNvSpPr>
                  <a:spLocks noChangeArrowheads="1"/>
                </p:cNvSpPr>
                <p:nvPr/>
              </p:nvSpPr>
              <p:spPr bwMode="auto">
                <a:xfrm>
                  <a:off x="4469" y="3331"/>
                  <a:ext cx="376" cy="89"/>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grpSp>
          <p:nvGrpSpPr>
            <p:cNvPr id="5" name="Group 19">
              <a:extLst>
                <a:ext uri="{FF2B5EF4-FFF2-40B4-BE49-F238E27FC236}">
                  <a16:creationId xmlns="" xmlns:a16="http://schemas.microsoft.com/office/drawing/2014/main" id="{C1276542-A233-4530-A277-487A7FBD1772}"/>
                </a:ext>
              </a:extLst>
            </p:cNvPr>
            <p:cNvGrpSpPr>
              <a:grpSpLocks/>
            </p:cNvGrpSpPr>
            <p:nvPr/>
          </p:nvGrpSpPr>
          <p:grpSpPr bwMode="auto">
            <a:xfrm>
              <a:off x="240" y="3408"/>
              <a:ext cx="379" cy="382"/>
              <a:chOff x="4467" y="3038"/>
              <a:chExt cx="379" cy="382"/>
            </a:xfrm>
          </p:grpSpPr>
          <p:sp>
            <p:nvSpPr>
              <p:cNvPr id="6253" name="Rectangle 20">
                <a:extLst>
                  <a:ext uri="{FF2B5EF4-FFF2-40B4-BE49-F238E27FC236}">
                    <a16:creationId xmlns="" xmlns:a16="http://schemas.microsoft.com/office/drawing/2014/main" id="{DE4AD5C5-3E1C-4356-A723-D6E56F840D01}"/>
                  </a:ext>
                </a:extLst>
              </p:cNvPr>
              <p:cNvSpPr>
                <a:spLocks noChangeArrowheads="1"/>
              </p:cNvSpPr>
              <p:nvPr/>
            </p:nvSpPr>
            <p:spPr bwMode="auto">
              <a:xfrm>
                <a:off x="4467" y="3094"/>
                <a:ext cx="376" cy="274"/>
              </a:xfrm>
              <a:prstGeom prst="rect">
                <a:avLst/>
              </a:prstGeom>
              <a:solidFill>
                <a:schemeClr val="bg1"/>
              </a:solidFill>
              <a:ln w="9525">
                <a:solidFill>
                  <a:schemeClr val="bg1"/>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6" name="Group 21">
                <a:extLst>
                  <a:ext uri="{FF2B5EF4-FFF2-40B4-BE49-F238E27FC236}">
                    <a16:creationId xmlns="" xmlns:a16="http://schemas.microsoft.com/office/drawing/2014/main" id="{B60E677A-977A-4B03-844D-ED760FCDF27A}"/>
                  </a:ext>
                </a:extLst>
              </p:cNvPr>
              <p:cNvGrpSpPr>
                <a:grpSpLocks/>
              </p:cNvGrpSpPr>
              <p:nvPr/>
            </p:nvGrpSpPr>
            <p:grpSpPr bwMode="auto">
              <a:xfrm>
                <a:off x="4468" y="3038"/>
                <a:ext cx="378" cy="382"/>
                <a:chOff x="4468" y="3038"/>
                <a:chExt cx="378" cy="382"/>
              </a:xfrm>
            </p:grpSpPr>
            <p:sp>
              <p:nvSpPr>
                <p:cNvPr id="6255" name="Line 22">
                  <a:extLst>
                    <a:ext uri="{FF2B5EF4-FFF2-40B4-BE49-F238E27FC236}">
                      <a16:creationId xmlns="" xmlns:a16="http://schemas.microsoft.com/office/drawing/2014/main" id="{E17E257E-DF3F-4AB9-B359-7427D4137846}"/>
                    </a:ext>
                  </a:extLst>
                </p:cNvPr>
                <p:cNvSpPr>
                  <a:spLocks noChangeShapeType="1"/>
                </p:cNvSpPr>
                <p:nvPr/>
              </p:nvSpPr>
              <p:spPr bwMode="auto">
                <a:xfrm>
                  <a:off x="4468" y="3087"/>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6256" name="Line 23">
                  <a:extLst>
                    <a:ext uri="{FF2B5EF4-FFF2-40B4-BE49-F238E27FC236}">
                      <a16:creationId xmlns="" xmlns:a16="http://schemas.microsoft.com/office/drawing/2014/main" id="{1CA4097D-81A8-4FDC-AB71-62D5B33EF9A3}"/>
                    </a:ext>
                  </a:extLst>
                </p:cNvPr>
                <p:cNvSpPr>
                  <a:spLocks noChangeShapeType="1"/>
                </p:cNvSpPr>
                <p:nvPr/>
              </p:nvSpPr>
              <p:spPr bwMode="auto">
                <a:xfrm>
                  <a:off x="4846" y="3089"/>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6257" name="Oval 24">
                  <a:extLst>
                    <a:ext uri="{FF2B5EF4-FFF2-40B4-BE49-F238E27FC236}">
                      <a16:creationId xmlns="" xmlns:a16="http://schemas.microsoft.com/office/drawing/2014/main" id="{687076DB-BED0-49CB-BDA6-BE9426B1A810}"/>
                    </a:ext>
                  </a:extLst>
                </p:cNvPr>
                <p:cNvSpPr>
                  <a:spLocks noChangeArrowheads="1"/>
                </p:cNvSpPr>
                <p:nvPr/>
              </p:nvSpPr>
              <p:spPr bwMode="auto">
                <a:xfrm>
                  <a:off x="4469" y="3038"/>
                  <a:ext cx="376" cy="90"/>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6258" name="Oval 25">
                  <a:extLst>
                    <a:ext uri="{FF2B5EF4-FFF2-40B4-BE49-F238E27FC236}">
                      <a16:creationId xmlns="" xmlns:a16="http://schemas.microsoft.com/office/drawing/2014/main" id="{12F63BDE-6F09-4C74-8667-16B97C75E6D8}"/>
                    </a:ext>
                  </a:extLst>
                </p:cNvPr>
                <p:cNvSpPr>
                  <a:spLocks noChangeArrowheads="1"/>
                </p:cNvSpPr>
                <p:nvPr/>
              </p:nvSpPr>
              <p:spPr bwMode="auto">
                <a:xfrm>
                  <a:off x="4469" y="3331"/>
                  <a:ext cx="376" cy="89"/>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grpSp>
          <p:nvGrpSpPr>
            <p:cNvPr id="7" name="Group 26">
              <a:extLst>
                <a:ext uri="{FF2B5EF4-FFF2-40B4-BE49-F238E27FC236}">
                  <a16:creationId xmlns="" xmlns:a16="http://schemas.microsoft.com/office/drawing/2014/main" id="{755603A8-58C8-4B87-A4FF-CD67621F5B20}"/>
                </a:ext>
              </a:extLst>
            </p:cNvPr>
            <p:cNvGrpSpPr>
              <a:grpSpLocks/>
            </p:cNvGrpSpPr>
            <p:nvPr/>
          </p:nvGrpSpPr>
          <p:grpSpPr bwMode="auto">
            <a:xfrm>
              <a:off x="336" y="3504"/>
              <a:ext cx="379" cy="382"/>
              <a:chOff x="4467" y="3038"/>
              <a:chExt cx="379" cy="382"/>
            </a:xfrm>
          </p:grpSpPr>
          <p:sp>
            <p:nvSpPr>
              <p:cNvPr id="6247" name="Rectangle 27">
                <a:extLst>
                  <a:ext uri="{FF2B5EF4-FFF2-40B4-BE49-F238E27FC236}">
                    <a16:creationId xmlns="" xmlns:a16="http://schemas.microsoft.com/office/drawing/2014/main" id="{9F7396D7-D54C-4501-A94E-89E070E8F00A}"/>
                  </a:ext>
                </a:extLst>
              </p:cNvPr>
              <p:cNvSpPr>
                <a:spLocks noChangeArrowheads="1"/>
              </p:cNvSpPr>
              <p:nvPr/>
            </p:nvSpPr>
            <p:spPr bwMode="auto">
              <a:xfrm>
                <a:off x="4467" y="3094"/>
                <a:ext cx="376" cy="274"/>
              </a:xfrm>
              <a:prstGeom prst="rect">
                <a:avLst/>
              </a:prstGeom>
              <a:solidFill>
                <a:schemeClr val="bg1"/>
              </a:solidFill>
              <a:ln w="9525">
                <a:solidFill>
                  <a:schemeClr val="bg1"/>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8" name="Group 28">
                <a:extLst>
                  <a:ext uri="{FF2B5EF4-FFF2-40B4-BE49-F238E27FC236}">
                    <a16:creationId xmlns="" xmlns:a16="http://schemas.microsoft.com/office/drawing/2014/main" id="{60E48E24-AEE2-4768-BB25-19219C569AD6}"/>
                  </a:ext>
                </a:extLst>
              </p:cNvPr>
              <p:cNvGrpSpPr>
                <a:grpSpLocks/>
              </p:cNvGrpSpPr>
              <p:nvPr/>
            </p:nvGrpSpPr>
            <p:grpSpPr bwMode="auto">
              <a:xfrm>
                <a:off x="4468" y="3038"/>
                <a:ext cx="378" cy="382"/>
                <a:chOff x="4468" y="3038"/>
                <a:chExt cx="378" cy="382"/>
              </a:xfrm>
            </p:grpSpPr>
            <p:sp>
              <p:nvSpPr>
                <p:cNvPr id="6249" name="Line 29">
                  <a:extLst>
                    <a:ext uri="{FF2B5EF4-FFF2-40B4-BE49-F238E27FC236}">
                      <a16:creationId xmlns="" xmlns:a16="http://schemas.microsoft.com/office/drawing/2014/main" id="{49FF6DBD-A534-431D-8CC2-D4A898E87F2C}"/>
                    </a:ext>
                  </a:extLst>
                </p:cNvPr>
                <p:cNvSpPr>
                  <a:spLocks noChangeShapeType="1"/>
                </p:cNvSpPr>
                <p:nvPr/>
              </p:nvSpPr>
              <p:spPr bwMode="auto">
                <a:xfrm>
                  <a:off x="4468" y="3087"/>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6250" name="Line 30">
                  <a:extLst>
                    <a:ext uri="{FF2B5EF4-FFF2-40B4-BE49-F238E27FC236}">
                      <a16:creationId xmlns="" xmlns:a16="http://schemas.microsoft.com/office/drawing/2014/main" id="{322CE20C-B6E6-4A3C-91F6-905E0389C305}"/>
                    </a:ext>
                  </a:extLst>
                </p:cNvPr>
                <p:cNvSpPr>
                  <a:spLocks noChangeShapeType="1"/>
                </p:cNvSpPr>
                <p:nvPr/>
              </p:nvSpPr>
              <p:spPr bwMode="auto">
                <a:xfrm>
                  <a:off x="4846" y="3089"/>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6251" name="Oval 31">
                  <a:extLst>
                    <a:ext uri="{FF2B5EF4-FFF2-40B4-BE49-F238E27FC236}">
                      <a16:creationId xmlns="" xmlns:a16="http://schemas.microsoft.com/office/drawing/2014/main" id="{EE26238D-6C32-464B-9C56-EC63DA35014F}"/>
                    </a:ext>
                  </a:extLst>
                </p:cNvPr>
                <p:cNvSpPr>
                  <a:spLocks noChangeArrowheads="1"/>
                </p:cNvSpPr>
                <p:nvPr/>
              </p:nvSpPr>
              <p:spPr bwMode="auto">
                <a:xfrm>
                  <a:off x="4469" y="3038"/>
                  <a:ext cx="376" cy="90"/>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6252" name="Oval 32">
                  <a:extLst>
                    <a:ext uri="{FF2B5EF4-FFF2-40B4-BE49-F238E27FC236}">
                      <a16:creationId xmlns="" xmlns:a16="http://schemas.microsoft.com/office/drawing/2014/main" id="{C114D069-04F2-4A42-8E70-E5CFD00262F0}"/>
                    </a:ext>
                  </a:extLst>
                </p:cNvPr>
                <p:cNvSpPr>
                  <a:spLocks noChangeArrowheads="1"/>
                </p:cNvSpPr>
                <p:nvPr/>
              </p:nvSpPr>
              <p:spPr bwMode="auto">
                <a:xfrm>
                  <a:off x="4469" y="3331"/>
                  <a:ext cx="376" cy="89"/>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sp>
          <p:nvSpPr>
            <p:cNvPr id="6164" name="Text Box 33">
              <a:extLst>
                <a:ext uri="{FF2B5EF4-FFF2-40B4-BE49-F238E27FC236}">
                  <a16:creationId xmlns="" xmlns:a16="http://schemas.microsoft.com/office/drawing/2014/main" id="{3C3A8E02-11B4-483C-9B25-684FEB838F12}"/>
                </a:ext>
              </a:extLst>
            </p:cNvPr>
            <p:cNvSpPr txBox="1">
              <a:spLocks noChangeArrowheads="1"/>
            </p:cNvSpPr>
            <p:nvPr/>
          </p:nvSpPr>
          <p:spPr bwMode="auto">
            <a:xfrm>
              <a:off x="386" y="3100"/>
              <a:ext cx="692" cy="3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chemeClr val="accent2"/>
                  </a:solidFill>
                  <a:latin typeface="Times New Roman" panose="02020603050405020304" pitchFamily="18" charset="0"/>
                </a:rPr>
                <a:t>Operational</a:t>
              </a:r>
            </a:p>
            <a:p>
              <a:pPr algn="ctr"/>
              <a:r>
                <a:rPr lang="en-US" altLang="en-US" sz="1200" b="1">
                  <a:solidFill>
                    <a:schemeClr val="accent2"/>
                  </a:solidFill>
                  <a:latin typeface="Times New Roman" panose="02020603050405020304" pitchFamily="18" charset="0"/>
                </a:rPr>
                <a:t>DB’s</a:t>
              </a:r>
            </a:p>
          </p:txBody>
        </p:sp>
        <p:sp>
          <p:nvSpPr>
            <p:cNvPr id="6165" name="Text Box 34">
              <a:extLst>
                <a:ext uri="{FF2B5EF4-FFF2-40B4-BE49-F238E27FC236}">
                  <a16:creationId xmlns="" xmlns:a16="http://schemas.microsoft.com/office/drawing/2014/main" id="{9F024B8E-F16C-41A1-B204-777A3702F577}"/>
                </a:ext>
              </a:extLst>
            </p:cNvPr>
            <p:cNvSpPr txBox="1">
              <a:spLocks noChangeArrowheads="1"/>
            </p:cNvSpPr>
            <p:nvPr/>
          </p:nvSpPr>
          <p:spPr bwMode="auto">
            <a:xfrm>
              <a:off x="300" y="1797"/>
              <a:ext cx="846" cy="3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chemeClr val="accent2"/>
                  </a:solidFill>
                  <a:latin typeface="Times New Roman" panose="02020603050405020304" pitchFamily="18" charset="0"/>
                </a:rPr>
                <a:t>Semistructured</a:t>
              </a:r>
            </a:p>
            <a:p>
              <a:pPr algn="ctr"/>
              <a:r>
                <a:rPr lang="en-US" altLang="en-US" sz="1200" b="1">
                  <a:solidFill>
                    <a:schemeClr val="accent2"/>
                  </a:solidFill>
                  <a:latin typeface="Times New Roman" panose="02020603050405020304" pitchFamily="18" charset="0"/>
                </a:rPr>
                <a:t>Sources</a:t>
              </a:r>
            </a:p>
          </p:txBody>
        </p:sp>
        <p:sp>
          <p:nvSpPr>
            <p:cNvPr id="6166" name="Oval 35">
              <a:extLst>
                <a:ext uri="{FF2B5EF4-FFF2-40B4-BE49-F238E27FC236}">
                  <a16:creationId xmlns="" xmlns:a16="http://schemas.microsoft.com/office/drawing/2014/main" id="{DA4AEF17-6F64-4407-9FFB-5883A97D8030}"/>
                </a:ext>
              </a:extLst>
            </p:cNvPr>
            <p:cNvSpPr>
              <a:spLocks noChangeArrowheads="1"/>
            </p:cNvSpPr>
            <p:nvPr/>
          </p:nvSpPr>
          <p:spPr bwMode="auto">
            <a:xfrm>
              <a:off x="288" y="2352"/>
              <a:ext cx="720" cy="144"/>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6167" name="AutoShape 36">
              <a:extLst>
                <a:ext uri="{FF2B5EF4-FFF2-40B4-BE49-F238E27FC236}">
                  <a16:creationId xmlns="" xmlns:a16="http://schemas.microsoft.com/office/drawing/2014/main" id="{810EEB38-48BA-43F8-81F7-6BA3EB91A51F}"/>
                </a:ext>
              </a:extLst>
            </p:cNvPr>
            <p:cNvSpPr>
              <a:spLocks noChangeArrowheads="1"/>
            </p:cNvSpPr>
            <p:nvPr/>
          </p:nvSpPr>
          <p:spPr bwMode="auto">
            <a:xfrm>
              <a:off x="1056" y="2016"/>
              <a:ext cx="864" cy="1440"/>
            </a:xfrm>
            <a:prstGeom prst="rightArrow">
              <a:avLst>
                <a:gd name="adj1" fmla="val 47620"/>
                <a:gd name="adj2" fmla="val 43056"/>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6168" name="Text Box 37">
              <a:extLst>
                <a:ext uri="{FF2B5EF4-FFF2-40B4-BE49-F238E27FC236}">
                  <a16:creationId xmlns="" xmlns:a16="http://schemas.microsoft.com/office/drawing/2014/main" id="{DDA99EFC-60AB-4BC1-A5D0-C06C6E080652}"/>
                </a:ext>
              </a:extLst>
            </p:cNvPr>
            <p:cNvSpPr txBox="1">
              <a:spLocks noChangeArrowheads="1"/>
            </p:cNvSpPr>
            <p:nvPr/>
          </p:nvSpPr>
          <p:spPr bwMode="auto">
            <a:xfrm>
              <a:off x="1056" y="2373"/>
              <a:ext cx="575" cy="83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b="1" i="1">
                  <a:solidFill>
                    <a:schemeClr val="accent2"/>
                  </a:solidFill>
                  <a:latin typeface="Times New Roman" panose="02020603050405020304" pitchFamily="18" charset="0"/>
                </a:rPr>
                <a:t>extract</a:t>
              </a:r>
            </a:p>
            <a:p>
              <a:r>
                <a:rPr lang="en-US" altLang="en-US" sz="1200" b="1" i="1">
                  <a:solidFill>
                    <a:schemeClr val="accent2"/>
                  </a:solidFill>
                  <a:latin typeface="Times New Roman" panose="02020603050405020304" pitchFamily="18" charset="0"/>
                </a:rPr>
                <a:t>transform</a:t>
              </a:r>
            </a:p>
            <a:p>
              <a:r>
                <a:rPr lang="en-US" altLang="en-US" sz="1200" b="1" i="1">
                  <a:solidFill>
                    <a:schemeClr val="accent2"/>
                  </a:solidFill>
                  <a:latin typeface="Times New Roman" panose="02020603050405020304" pitchFamily="18" charset="0"/>
                </a:rPr>
                <a:t>load</a:t>
              </a:r>
            </a:p>
            <a:p>
              <a:r>
                <a:rPr lang="en-US" altLang="en-US" sz="1200" b="1" i="1">
                  <a:solidFill>
                    <a:schemeClr val="accent2"/>
                  </a:solidFill>
                  <a:latin typeface="Times New Roman" panose="02020603050405020304" pitchFamily="18" charset="0"/>
                </a:rPr>
                <a:t>refresh</a:t>
              </a:r>
            </a:p>
            <a:p>
              <a:r>
                <a:rPr lang="en-US" altLang="en-US" sz="1200" b="1" i="1">
                  <a:solidFill>
                    <a:schemeClr val="accent2"/>
                  </a:solidFill>
                  <a:latin typeface="Times New Roman" panose="02020603050405020304" pitchFamily="18" charset="0"/>
                </a:rPr>
                <a:t>etc.</a:t>
              </a:r>
              <a:endParaRPr lang="en-US" altLang="en-US" sz="1200" b="1">
                <a:solidFill>
                  <a:schemeClr val="accent2"/>
                </a:solidFill>
                <a:latin typeface="Times New Roman" panose="02020603050405020304" pitchFamily="18" charset="0"/>
              </a:endParaRPr>
            </a:p>
          </p:txBody>
        </p:sp>
        <p:grpSp>
          <p:nvGrpSpPr>
            <p:cNvPr id="9" name="Group 38">
              <a:extLst>
                <a:ext uri="{FF2B5EF4-FFF2-40B4-BE49-F238E27FC236}">
                  <a16:creationId xmlns="" xmlns:a16="http://schemas.microsoft.com/office/drawing/2014/main" id="{7BD962B2-EB79-476A-9E95-92D7854B2E81}"/>
                </a:ext>
              </a:extLst>
            </p:cNvPr>
            <p:cNvGrpSpPr>
              <a:grpSpLocks/>
            </p:cNvGrpSpPr>
            <p:nvPr/>
          </p:nvGrpSpPr>
          <p:grpSpPr bwMode="auto">
            <a:xfrm>
              <a:off x="2064" y="2304"/>
              <a:ext cx="672" cy="768"/>
              <a:chOff x="4467" y="3038"/>
              <a:chExt cx="379" cy="382"/>
            </a:xfrm>
          </p:grpSpPr>
          <p:sp>
            <p:nvSpPr>
              <p:cNvPr id="6241" name="Rectangle 39">
                <a:extLst>
                  <a:ext uri="{FF2B5EF4-FFF2-40B4-BE49-F238E27FC236}">
                    <a16:creationId xmlns="" xmlns:a16="http://schemas.microsoft.com/office/drawing/2014/main" id="{DD0F722B-77B1-44FB-A26C-245017BB6BAB}"/>
                  </a:ext>
                </a:extLst>
              </p:cNvPr>
              <p:cNvSpPr>
                <a:spLocks noChangeArrowheads="1"/>
              </p:cNvSpPr>
              <p:nvPr/>
            </p:nvSpPr>
            <p:spPr bwMode="auto">
              <a:xfrm>
                <a:off x="4467" y="3094"/>
                <a:ext cx="376" cy="274"/>
              </a:xfrm>
              <a:prstGeom prst="rect">
                <a:avLst/>
              </a:prstGeom>
              <a:gradFill rotWithShape="0">
                <a:gsLst>
                  <a:gs pos="0">
                    <a:srgbClr val="666666"/>
                  </a:gs>
                  <a:gs pos="50000">
                    <a:srgbClr val="DDDDDD"/>
                  </a:gs>
                  <a:gs pos="100000">
                    <a:srgbClr val="666666"/>
                  </a:gs>
                </a:gsLst>
                <a:lin ang="0" scaled="1"/>
              </a:gradFill>
              <a:ln w="9525">
                <a:solidFill>
                  <a:schemeClr val="bg1"/>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10" name="Group 40">
                <a:extLst>
                  <a:ext uri="{FF2B5EF4-FFF2-40B4-BE49-F238E27FC236}">
                    <a16:creationId xmlns="" xmlns:a16="http://schemas.microsoft.com/office/drawing/2014/main" id="{C2CCFE7A-2BD8-48B1-B6BF-9D164CB41F68}"/>
                  </a:ext>
                </a:extLst>
              </p:cNvPr>
              <p:cNvGrpSpPr>
                <a:grpSpLocks/>
              </p:cNvGrpSpPr>
              <p:nvPr/>
            </p:nvGrpSpPr>
            <p:grpSpPr bwMode="auto">
              <a:xfrm>
                <a:off x="4468" y="3038"/>
                <a:ext cx="378" cy="382"/>
                <a:chOff x="4468" y="3038"/>
                <a:chExt cx="378" cy="382"/>
              </a:xfrm>
            </p:grpSpPr>
            <p:sp>
              <p:nvSpPr>
                <p:cNvPr id="6243" name="Line 41">
                  <a:extLst>
                    <a:ext uri="{FF2B5EF4-FFF2-40B4-BE49-F238E27FC236}">
                      <a16:creationId xmlns="" xmlns:a16="http://schemas.microsoft.com/office/drawing/2014/main" id="{DC7C9F5D-E9BC-4AA9-BDD1-9BFF46FE985B}"/>
                    </a:ext>
                  </a:extLst>
                </p:cNvPr>
                <p:cNvSpPr>
                  <a:spLocks noChangeShapeType="1"/>
                </p:cNvSpPr>
                <p:nvPr/>
              </p:nvSpPr>
              <p:spPr bwMode="auto">
                <a:xfrm>
                  <a:off x="4468" y="3087"/>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6244" name="Line 42">
                  <a:extLst>
                    <a:ext uri="{FF2B5EF4-FFF2-40B4-BE49-F238E27FC236}">
                      <a16:creationId xmlns="" xmlns:a16="http://schemas.microsoft.com/office/drawing/2014/main" id="{9D4DC9B0-DDE7-47A4-AA99-ECD00A2306FF}"/>
                    </a:ext>
                  </a:extLst>
                </p:cNvPr>
                <p:cNvSpPr>
                  <a:spLocks noChangeShapeType="1"/>
                </p:cNvSpPr>
                <p:nvPr/>
              </p:nvSpPr>
              <p:spPr bwMode="auto">
                <a:xfrm>
                  <a:off x="4846" y="3089"/>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6245" name="Oval 43">
                  <a:extLst>
                    <a:ext uri="{FF2B5EF4-FFF2-40B4-BE49-F238E27FC236}">
                      <a16:creationId xmlns="" xmlns:a16="http://schemas.microsoft.com/office/drawing/2014/main" id="{DC2B0AA7-D9DB-4E84-ACE3-68C4EFCA2879}"/>
                    </a:ext>
                  </a:extLst>
                </p:cNvPr>
                <p:cNvSpPr>
                  <a:spLocks noChangeArrowheads="1"/>
                </p:cNvSpPr>
                <p:nvPr/>
              </p:nvSpPr>
              <p:spPr bwMode="auto">
                <a:xfrm>
                  <a:off x="4469" y="3038"/>
                  <a:ext cx="376" cy="90"/>
                </a:xfrm>
                <a:prstGeom prst="ellipse">
                  <a:avLst/>
                </a:prstGeom>
                <a:gradFill rotWithShape="0">
                  <a:gsLst>
                    <a:gs pos="0">
                      <a:srgbClr val="666666"/>
                    </a:gs>
                    <a:gs pos="50000">
                      <a:srgbClr val="DDDDDD"/>
                    </a:gs>
                    <a:gs pos="100000">
                      <a:srgbClr val="666666"/>
                    </a:gs>
                  </a:gsLst>
                  <a:lin ang="0" scaled="1"/>
                </a:gra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6246" name="Oval 44">
                  <a:extLst>
                    <a:ext uri="{FF2B5EF4-FFF2-40B4-BE49-F238E27FC236}">
                      <a16:creationId xmlns="" xmlns:a16="http://schemas.microsoft.com/office/drawing/2014/main" id="{B163815D-E134-4365-B2BC-2974666E82E4}"/>
                    </a:ext>
                  </a:extLst>
                </p:cNvPr>
                <p:cNvSpPr>
                  <a:spLocks noChangeArrowheads="1"/>
                </p:cNvSpPr>
                <p:nvPr/>
              </p:nvSpPr>
              <p:spPr bwMode="auto">
                <a:xfrm>
                  <a:off x="4469" y="3331"/>
                  <a:ext cx="376" cy="89"/>
                </a:xfrm>
                <a:prstGeom prst="ellipse">
                  <a:avLst/>
                </a:prstGeom>
                <a:gradFill rotWithShape="0">
                  <a:gsLst>
                    <a:gs pos="0">
                      <a:srgbClr val="666666"/>
                    </a:gs>
                    <a:gs pos="50000">
                      <a:srgbClr val="DDDDDD"/>
                    </a:gs>
                    <a:gs pos="100000">
                      <a:srgbClr val="666666"/>
                    </a:gs>
                  </a:gsLst>
                  <a:lin ang="0" scaled="1"/>
                </a:gra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grpSp>
          <p:nvGrpSpPr>
            <p:cNvPr id="11" name="Group 45">
              <a:extLst>
                <a:ext uri="{FF2B5EF4-FFF2-40B4-BE49-F238E27FC236}">
                  <a16:creationId xmlns="" xmlns:a16="http://schemas.microsoft.com/office/drawing/2014/main" id="{E496C5F1-0AD3-4B75-A0DD-9FADFB600338}"/>
                </a:ext>
              </a:extLst>
            </p:cNvPr>
            <p:cNvGrpSpPr>
              <a:grpSpLocks/>
            </p:cNvGrpSpPr>
            <p:nvPr/>
          </p:nvGrpSpPr>
          <p:grpSpPr bwMode="auto">
            <a:xfrm>
              <a:off x="1776" y="3312"/>
              <a:ext cx="379" cy="286"/>
              <a:chOff x="4467" y="3038"/>
              <a:chExt cx="379" cy="382"/>
            </a:xfrm>
          </p:grpSpPr>
          <p:sp>
            <p:nvSpPr>
              <p:cNvPr id="6235" name="Rectangle 46">
                <a:extLst>
                  <a:ext uri="{FF2B5EF4-FFF2-40B4-BE49-F238E27FC236}">
                    <a16:creationId xmlns="" xmlns:a16="http://schemas.microsoft.com/office/drawing/2014/main" id="{BD24F668-E497-40EA-9F30-0414576439C9}"/>
                  </a:ext>
                </a:extLst>
              </p:cNvPr>
              <p:cNvSpPr>
                <a:spLocks noChangeArrowheads="1"/>
              </p:cNvSpPr>
              <p:nvPr/>
            </p:nvSpPr>
            <p:spPr bwMode="auto">
              <a:xfrm>
                <a:off x="4467" y="3094"/>
                <a:ext cx="376" cy="274"/>
              </a:xfrm>
              <a:prstGeom prst="rect">
                <a:avLst/>
              </a:prstGeom>
              <a:gradFill rotWithShape="0">
                <a:gsLst>
                  <a:gs pos="0">
                    <a:srgbClr val="666666"/>
                  </a:gs>
                  <a:gs pos="50000">
                    <a:srgbClr val="DDDDDD"/>
                  </a:gs>
                  <a:gs pos="100000">
                    <a:srgbClr val="666666"/>
                  </a:gs>
                </a:gsLst>
                <a:lin ang="0" scaled="1"/>
              </a:gradFill>
              <a:ln w="9525">
                <a:solidFill>
                  <a:schemeClr val="bg1"/>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12" name="Group 47">
                <a:extLst>
                  <a:ext uri="{FF2B5EF4-FFF2-40B4-BE49-F238E27FC236}">
                    <a16:creationId xmlns="" xmlns:a16="http://schemas.microsoft.com/office/drawing/2014/main" id="{784DAA90-0AC8-4CD2-8456-9EED4EDB9A56}"/>
                  </a:ext>
                </a:extLst>
              </p:cNvPr>
              <p:cNvGrpSpPr>
                <a:grpSpLocks/>
              </p:cNvGrpSpPr>
              <p:nvPr/>
            </p:nvGrpSpPr>
            <p:grpSpPr bwMode="auto">
              <a:xfrm>
                <a:off x="4468" y="3038"/>
                <a:ext cx="378" cy="382"/>
                <a:chOff x="4468" y="3038"/>
                <a:chExt cx="378" cy="382"/>
              </a:xfrm>
            </p:grpSpPr>
            <p:sp>
              <p:nvSpPr>
                <p:cNvPr id="6237" name="Line 48">
                  <a:extLst>
                    <a:ext uri="{FF2B5EF4-FFF2-40B4-BE49-F238E27FC236}">
                      <a16:creationId xmlns="" xmlns:a16="http://schemas.microsoft.com/office/drawing/2014/main" id="{0C30610C-763D-4274-B4A1-ECF53B4BC771}"/>
                    </a:ext>
                  </a:extLst>
                </p:cNvPr>
                <p:cNvSpPr>
                  <a:spLocks noChangeShapeType="1"/>
                </p:cNvSpPr>
                <p:nvPr/>
              </p:nvSpPr>
              <p:spPr bwMode="auto">
                <a:xfrm>
                  <a:off x="4468" y="3087"/>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6238" name="Line 49">
                  <a:extLst>
                    <a:ext uri="{FF2B5EF4-FFF2-40B4-BE49-F238E27FC236}">
                      <a16:creationId xmlns="" xmlns:a16="http://schemas.microsoft.com/office/drawing/2014/main" id="{AC79E7E2-768A-4DDE-9191-C8ED5B9368D2}"/>
                    </a:ext>
                  </a:extLst>
                </p:cNvPr>
                <p:cNvSpPr>
                  <a:spLocks noChangeShapeType="1"/>
                </p:cNvSpPr>
                <p:nvPr/>
              </p:nvSpPr>
              <p:spPr bwMode="auto">
                <a:xfrm>
                  <a:off x="4846" y="3089"/>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6239" name="Oval 50">
                  <a:extLst>
                    <a:ext uri="{FF2B5EF4-FFF2-40B4-BE49-F238E27FC236}">
                      <a16:creationId xmlns="" xmlns:a16="http://schemas.microsoft.com/office/drawing/2014/main" id="{5A55B25C-AB70-4AEA-8B20-4EAB4B67C03D}"/>
                    </a:ext>
                  </a:extLst>
                </p:cNvPr>
                <p:cNvSpPr>
                  <a:spLocks noChangeArrowheads="1"/>
                </p:cNvSpPr>
                <p:nvPr/>
              </p:nvSpPr>
              <p:spPr bwMode="auto">
                <a:xfrm>
                  <a:off x="4469" y="3038"/>
                  <a:ext cx="376" cy="90"/>
                </a:xfrm>
                <a:prstGeom prst="ellipse">
                  <a:avLst/>
                </a:prstGeom>
                <a:gradFill rotWithShape="0">
                  <a:gsLst>
                    <a:gs pos="0">
                      <a:srgbClr val="666666"/>
                    </a:gs>
                    <a:gs pos="50000">
                      <a:srgbClr val="DDDDDD"/>
                    </a:gs>
                    <a:gs pos="100000">
                      <a:srgbClr val="666666"/>
                    </a:gs>
                  </a:gsLst>
                  <a:lin ang="0" scaled="1"/>
                </a:gra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6240" name="Oval 51">
                  <a:extLst>
                    <a:ext uri="{FF2B5EF4-FFF2-40B4-BE49-F238E27FC236}">
                      <a16:creationId xmlns="" xmlns:a16="http://schemas.microsoft.com/office/drawing/2014/main" id="{27A5DAE3-B5E1-46BA-99AF-32F9DDD0C766}"/>
                    </a:ext>
                  </a:extLst>
                </p:cNvPr>
                <p:cNvSpPr>
                  <a:spLocks noChangeArrowheads="1"/>
                </p:cNvSpPr>
                <p:nvPr/>
              </p:nvSpPr>
              <p:spPr bwMode="auto">
                <a:xfrm>
                  <a:off x="4469" y="3331"/>
                  <a:ext cx="376" cy="89"/>
                </a:xfrm>
                <a:prstGeom prst="ellipse">
                  <a:avLst/>
                </a:prstGeom>
                <a:gradFill rotWithShape="0">
                  <a:gsLst>
                    <a:gs pos="0">
                      <a:srgbClr val="666666"/>
                    </a:gs>
                    <a:gs pos="50000">
                      <a:srgbClr val="DDDDDD"/>
                    </a:gs>
                    <a:gs pos="100000">
                      <a:srgbClr val="666666"/>
                    </a:gs>
                  </a:gsLst>
                  <a:lin ang="0" scaled="1"/>
                </a:gra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grpSp>
          <p:nvGrpSpPr>
            <p:cNvPr id="13" name="Group 52">
              <a:extLst>
                <a:ext uri="{FF2B5EF4-FFF2-40B4-BE49-F238E27FC236}">
                  <a16:creationId xmlns="" xmlns:a16="http://schemas.microsoft.com/office/drawing/2014/main" id="{99901C3D-7FB8-4D0A-A8DE-4A1717042455}"/>
                </a:ext>
              </a:extLst>
            </p:cNvPr>
            <p:cNvGrpSpPr>
              <a:grpSpLocks/>
            </p:cNvGrpSpPr>
            <p:nvPr/>
          </p:nvGrpSpPr>
          <p:grpSpPr bwMode="auto">
            <a:xfrm>
              <a:off x="2208" y="3408"/>
              <a:ext cx="379" cy="286"/>
              <a:chOff x="4467" y="3038"/>
              <a:chExt cx="379" cy="382"/>
            </a:xfrm>
          </p:grpSpPr>
          <p:sp>
            <p:nvSpPr>
              <p:cNvPr id="6229" name="Rectangle 53">
                <a:extLst>
                  <a:ext uri="{FF2B5EF4-FFF2-40B4-BE49-F238E27FC236}">
                    <a16:creationId xmlns="" xmlns:a16="http://schemas.microsoft.com/office/drawing/2014/main" id="{882761A0-4DC0-4E8C-AE70-A6DDEA0B8982}"/>
                  </a:ext>
                </a:extLst>
              </p:cNvPr>
              <p:cNvSpPr>
                <a:spLocks noChangeArrowheads="1"/>
              </p:cNvSpPr>
              <p:nvPr/>
            </p:nvSpPr>
            <p:spPr bwMode="auto">
              <a:xfrm>
                <a:off x="4467" y="3094"/>
                <a:ext cx="376" cy="274"/>
              </a:xfrm>
              <a:prstGeom prst="rect">
                <a:avLst/>
              </a:prstGeom>
              <a:gradFill rotWithShape="0">
                <a:gsLst>
                  <a:gs pos="0">
                    <a:srgbClr val="7C7C7C"/>
                  </a:gs>
                  <a:gs pos="50000">
                    <a:srgbClr val="DDDDDD"/>
                  </a:gs>
                  <a:gs pos="100000">
                    <a:srgbClr val="7C7C7C"/>
                  </a:gs>
                </a:gsLst>
                <a:lin ang="0" scaled="1"/>
              </a:gradFill>
              <a:ln w="9525">
                <a:solidFill>
                  <a:schemeClr val="bg1"/>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14" name="Group 54">
                <a:extLst>
                  <a:ext uri="{FF2B5EF4-FFF2-40B4-BE49-F238E27FC236}">
                    <a16:creationId xmlns="" xmlns:a16="http://schemas.microsoft.com/office/drawing/2014/main" id="{7B5340C0-7E90-49E9-8D15-18D92EB6DF08}"/>
                  </a:ext>
                </a:extLst>
              </p:cNvPr>
              <p:cNvGrpSpPr>
                <a:grpSpLocks/>
              </p:cNvGrpSpPr>
              <p:nvPr/>
            </p:nvGrpSpPr>
            <p:grpSpPr bwMode="auto">
              <a:xfrm>
                <a:off x="4468" y="3038"/>
                <a:ext cx="378" cy="382"/>
                <a:chOff x="4468" y="3038"/>
                <a:chExt cx="378" cy="382"/>
              </a:xfrm>
            </p:grpSpPr>
            <p:sp>
              <p:nvSpPr>
                <p:cNvPr id="6231" name="Line 55">
                  <a:extLst>
                    <a:ext uri="{FF2B5EF4-FFF2-40B4-BE49-F238E27FC236}">
                      <a16:creationId xmlns="" xmlns:a16="http://schemas.microsoft.com/office/drawing/2014/main" id="{8CC2AF6A-5FD2-42C2-BE2F-D935D143CD17}"/>
                    </a:ext>
                  </a:extLst>
                </p:cNvPr>
                <p:cNvSpPr>
                  <a:spLocks noChangeShapeType="1"/>
                </p:cNvSpPr>
                <p:nvPr/>
              </p:nvSpPr>
              <p:spPr bwMode="auto">
                <a:xfrm>
                  <a:off x="4468" y="3087"/>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6232" name="Line 56">
                  <a:extLst>
                    <a:ext uri="{FF2B5EF4-FFF2-40B4-BE49-F238E27FC236}">
                      <a16:creationId xmlns="" xmlns:a16="http://schemas.microsoft.com/office/drawing/2014/main" id="{8C237BE5-70C5-4677-A68A-BD6C26D558CC}"/>
                    </a:ext>
                  </a:extLst>
                </p:cNvPr>
                <p:cNvSpPr>
                  <a:spLocks noChangeShapeType="1"/>
                </p:cNvSpPr>
                <p:nvPr/>
              </p:nvSpPr>
              <p:spPr bwMode="auto">
                <a:xfrm>
                  <a:off x="4846" y="3089"/>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6233" name="Oval 57">
                  <a:extLst>
                    <a:ext uri="{FF2B5EF4-FFF2-40B4-BE49-F238E27FC236}">
                      <a16:creationId xmlns="" xmlns:a16="http://schemas.microsoft.com/office/drawing/2014/main" id="{6750FC34-B29B-4073-8D8E-B3531C7EE5B3}"/>
                    </a:ext>
                  </a:extLst>
                </p:cNvPr>
                <p:cNvSpPr>
                  <a:spLocks noChangeArrowheads="1"/>
                </p:cNvSpPr>
                <p:nvPr/>
              </p:nvSpPr>
              <p:spPr bwMode="auto">
                <a:xfrm>
                  <a:off x="4469" y="3038"/>
                  <a:ext cx="376" cy="90"/>
                </a:xfrm>
                <a:prstGeom prst="ellipse">
                  <a:avLst/>
                </a:prstGeom>
                <a:gradFill rotWithShape="0">
                  <a:gsLst>
                    <a:gs pos="0">
                      <a:srgbClr val="7C7C7C"/>
                    </a:gs>
                    <a:gs pos="50000">
                      <a:srgbClr val="DDDDDD"/>
                    </a:gs>
                    <a:gs pos="100000">
                      <a:srgbClr val="7C7C7C"/>
                    </a:gs>
                  </a:gsLst>
                  <a:lin ang="0" scaled="1"/>
                </a:gra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6234" name="Oval 58">
                  <a:extLst>
                    <a:ext uri="{FF2B5EF4-FFF2-40B4-BE49-F238E27FC236}">
                      <a16:creationId xmlns="" xmlns:a16="http://schemas.microsoft.com/office/drawing/2014/main" id="{C0F5C8B3-1925-45D7-8603-3728589B895E}"/>
                    </a:ext>
                  </a:extLst>
                </p:cNvPr>
                <p:cNvSpPr>
                  <a:spLocks noChangeArrowheads="1"/>
                </p:cNvSpPr>
                <p:nvPr/>
              </p:nvSpPr>
              <p:spPr bwMode="auto">
                <a:xfrm>
                  <a:off x="4469" y="3331"/>
                  <a:ext cx="376" cy="89"/>
                </a:xfrm>
                <a:prstGeom prst="ellipse">
                  <a:avLst/>
                </a:prstGeom>
                <a:gradFill rotWithShape="0">
                  <a:gsLst>
                    <a:gs pos="0">
                      <a:srgbClr val="7C7C7C"/>
                    </a:gs>
                    <a:gs pos="50000">
                      <a:srgbClr val="DDDDDD"/>
                    </a:gs>
                    <a:gs pos="100000">
                      <a:srgbClr val="7C7C7C"/>
                    </a:gs>
                  </a:gsLst>
                  <a:lin ang="0" scaled="1"/>
                </a:gra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grpSp>
          <p:nvGrpSpPr>
            <p:cNvPr id="15" name="Group 59">
              <a:extLst>
                <a:ext uri="{FF2B5EF4-FFF2-40B4-BE49-F238E27FC236}">
                  <a16:creationId xmlns="" xmlns:a16="http://schemas.microsoft.com/office/drawing/2014/main" id="{CD94C4BD-7753-495E-8A38-BA02481F9DE1}"/>
                </a:ext>
              </a:extLst>
            </p:cNvPr>
            <p:cNvGrpSpPr>
              <a:grpSpLocks/>
            </p:cNvGrpSpPr>
            <p:nvPr/>
          </p:nvGrpSpPr>
          <p:grpSpPr bwMode="auto">
            <a:xfrm>
              <a:off x="2688" y="3312"/>
              <a:ext cx="379" cy="286"/>
              <a:chOff x="4467" y="3038"/>
              <a:chExt cx="379" cy="382"/>
            </a:xfrm>
          </p:grpSpPr>
          <p:sp>
            <p:nvSpPr>
              <p:cNvPr id="6223" name="Rectangle 60">
                <a:extLst>
                  <a:ext uri="{FF2B5EF4-FFF2-40B4-BE49-F238E27FC236}">
                    <a16:creationId xmlns="" xmlns:a16="http://schemas.microsoft.com/office/drawing/2014/main" id="{6036FA5C-7D23-4066-A4E6-E4E0947BD780}"/>
                  </a:ext>
                </a:extLst>
              </p:cNvPr>
              <p:cNvSpPr>
                <a:spLocks noChangeArrowheads="1"/>
              </p:cNvSpPr>
              <p:nvPr/>
            </p:nvSpPr>
            <p:spPr bwMode="auto">
              <a:xfrm>
                <a:off x="4467" y="3094"/>
                <a:ext cx="376" cy="274"/>
              </a:xfrm>
              <a:prstGeom prst="rect">
                <a:avLst/>
              </a:prstGeom>
              <a:gradFill rotWithShape="0">
                <a:gsLst>
                  <a:gs pos="0">
                    <a:srgbClr val="838383"/>
                  </a:gs>
                  <a:gs pos="50000">
                    <a:srgbClr val="EAEAEA"/>
                  </a:gs>
                  <a:gs pos="100000">
                    <a:srgbClr val="838383"/>
                  </a:gs>
                </a:gsLst>
                <a:lin ang="0" scaled="1"/>
              </a:gradFill>
              <a:ln w="9525">
                <a:solidFill>
                  <a:schemeClr val="bg1"/>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16" name="Group 61">
                <a:extLst>
                  <a:ext uri="{FF2B5EF4-FFF2-40B4-BE49-F238E27FC236}">
                    <a16:creationId xmlns="" xmlns:a16="http://schemas.microsoft.com/office/drawing/2014/main" id="{D97F6257-AD6C-4DC9-9D10-81B152546705}"/>
                  </a:ext>
                </a:extLst>
              </p:cNvPr>
              <p:cNvGrpSpPr>
                <a:grpSpLocks/>
              </p:cNvGrpSpPr>
              <p:nvPr/>
            </p:nvGrpSpPr>
            <p:grpSpPr bwMode="auto">
              <a:xfrm>
                <a:off x="4468" y="3038"/>
                <a:ext cx="378" cy="382"/>
                <a:chOff x="4468" y="3038"/>
                <a:chExt cx="378" cy="382"/>
              </a:xfrm>
            </p:grpSpPr>
            <p:sp>
              <p:nvSpPr>
                <p:cNvPr id="6225" name="Line 62">
                  <a:extLst>
                    <a:ext uri="{FF2B5EF4-FFF2-40B4-BE49-F238E27FC236}">
                      <a16:creationId xmlns="" xmlns:a16="http://schemas.microsoft.com/office/drawing/2014/main" id="{4BE8701E-094F-45CD-81B5-E0B095B1EB37}"/>
                    </a:ext>
                  </a:extLst>
                </p:cNvPr>
                <p:cNvSpPr>
                  <a:spLocks noChangeShapeType="1"/>
                </p:cNvSpPr>
                <p:nvPr/>
              </p:nvSpPr>
              <p:spPr bwMode="auto">
                <a:xfrm>
                  <a:off x="4468" y="3087"/>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6226" name="Line 63">
                  <a:extLst>
                    <a:ext uri="{FF2B5EF4-FFF2-40B4-BE49-F238E27FC236}">
                      <a16:creationId xmlns="" xmlns:a16="http://schemas.microsoft.com/office/drawing/2014/main" id="{82241207-A6A5-4546-A3D2-BB589D0289EF}"/>
                    </a:ext>
                  </a:extLst>
                </p:cNvPr>
                <p:cNvSpPr>
                  <a:spLocks noChangeShapeType="1"/>
                </p:cNvSpPr>
                <p:nvPr/>
              </p:nvSpPr>
              <p:spPr bwMode="auto">
                <a:xfrm>
                  <a:off x="4846" y="3089"/>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6227" name="Oval 64">
                  <a:extLst>
                    <a:ext uri="{FF2B5EF4-FFF2-40B4-BE49-F238E27FC236}">
                      <a16:creationId xmlns="" xmlns:a16="http://schemas.microsoft.com/office/drawing/2014/main" id="{B8932F0A-61D7-4256-9BE6-166316C12556}"/>
                    </a:ext>
                  </a:extLst>
                </p:cNvPr>
                <p:cNvSpPr>
                  <a:spLocks noChangeArrowheads="1"/>
                </p:cNvSpPr>
                <p:nvPr/>
              </p:nvSpPr>
              <p:spPr bwMode="auto">
                <a:xfrm>
                  <a:off x="4469" y="3038"/>
                  <a:ext cx="376" cy="90"/>
                </a:xfrm>
                <a:prstGeom prst="ellipse">
                  <a:avLst/>
                </a:prstGeom>
                <a:gradFill rotWithShape="0">
                  <a:gsLst>
                    <a:gs pos="0">
                      <a:srgbClr val="838383"/>
                    </a:gs>
                    <a:gs pos="50000">
                      <a:srgbClr val="EAEAEA"/>
                    </a:gs>
                    <a:gs pos="100000">
                      <a:srgbClr val="838383"/>
                    </a:gs>
                  </a:gsLst>
                  <a:lin ang="0" scaled="1"/>
                </a:gra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6228" name="Oval 65">
                  <a:extLst>
                    <a:ext uri="{FF2B5EF4-FFF2-40B4-BE49-F238E27FC236}">
                      <a16:creationId xmlns="" xmlns:a16="http://schemas.microsoft.com/office/drawing/2014/main" id="{9A56D29D-47DA-417B-AB42-D019C56BE2C1}"/>
                    </a:ext>
                  </a:extLst>
                </p:cNvPr>
                <p:cNvSpPr>
                  <a:spLocks noChangeArrowheads="1"/>
                </p:cNvSpPr>
                <p:nvPr/>
              </p:nvSpPr>
              <p:spPr bwMode="auto">
                <a:xfrm>
                  <a:off x="4469" y="3331"/>
                  <a:ext cx="376" cy="89"/>
                </a:xfrm>
                <a:prstGeom prst="ellipse">
                  <a:avLst/>
                </a:prstGeom>
                <a:gradFill rotWithShape="0">
                  <a:gsLst>
                    <a:gs pos="0">
                      <a:srgbClr val="838383"/>
                    </a:gs>
                    <a:gs pos="50000">
                      <a:srgbClr val="EAEAEA"/>
                    </a:gs>
                    <a:gs pos="100000">
                      <a:srgbClr val="838383"/>
                    </a:gs>
                  </a:gsLst>
                  <a:lin ang="0" scaled="1"/>
                </a:gra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sp>
          <p:nvSpPr>
            <p:cNvPr id="6173" name="AutoShape 66">
              <a:extLst>
                <a:ext uri="{FF2B5EF4-FFF2-40B4-BE49-F238E27FC236}">
                  <a16:creationId xmlns="" xmlns:a16="http://schemas.microsoft.com/office/drawing/2014/main" id="{43D5BABD-35A5-4352-8B78-DB73A23BBDA5}"/>
                </a:ext>
              </a:extLst>
            </p:cNvPr>
            <p:cNvSpPr>
              <a:spLocks noChangeArrowheads="1"/>
            </p:cNvSpPr>
            <p:nvPr/>
          </p:nvSpPr>
          <p:spPr bwMode="auto">
            <a:xfrm rot="2815000">
              <a:off x="2016" y="3072"/>
              <a:ext cx="192" cy="240"/>
            </a:xfrm>
            <a:prstGeom prst="downArrow">
              <a:avLst>
                <a:gd name="adj1" fmla="val 50000"/>
                <a:gd name="adj2" fmla="val 31250"/>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6174" name="AutoShape 67">
              <a:extLst>
                <a:ext uri="{FF2B5EF4-FFF2-40B4-BE49-F238E27FC236}">
                  <a16:creationId xmlns="" xmlns:a16="http://schemas.microsoft.com/office/drawing/2014/main" id="{BCE00186-582B-4C8A-B57D-8C201D37BAF1}"/>
                </a:ext>
              </a:extLst>
            </p:cNvPr>
            <p:cNvSpPr>
              <a:spLocks noChangeArrowheads="1"/>
            </p:cNvSpPr>
            <p:nvPr/>
          </p:nvSpPr>
          <p:spPr bwMode="auto">
            <a:xfrm>
              <a:off x="2304" y="3120"/>
              <a:ext cx="192" cy="240"/>
            </a:xfrm>
            <a:prstGeom prst="downArrow">
              <a:avLst>
                <a:gd name="adj1" fmla="val 50000"/>
                <a:gd name="adj2" fmla="val 31250"/>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6175" name="AutoShape 68">
              <a:extLst>
                <a:ext uri="{FF2B5EF4-FFF2-40B4-BE49-F238E27FC236}">
                  <a16:creationId xmlns="" xmlns:a16="http://schemas.microsoft.com/office/drawing/2014/main" id="{64303E18-E8DC-43CA-8C3C-976AA4BA608F}"/>
                </a:ext>
              </a:extLst>
            </p:cNvPr>
            <p:cNvSpPr>
              <a:spLocks noChangeArrowheads="1"/>
            </p:cNvSpPr>
            <p:nvPr/>
          </p:nvSpPr>
          <p:spPr bwMode="auto">
            <a:xfrm rot="-3021309">
              <a:off x="2592" y="3072"/>
              <a:ext cx="192" cy="240"/>
            </a:xfrm>
            <a:prstGeom prst="downArrow">
              <a:avLst>
                <a:gd name="adj1" fmla="val 50000"/>
                <a:gd name="adj2" fmla="val 31250"/>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6176" name="Text Box 69">
              <a:extLst>
                <a:ext uri="{FF2B5EF4-FFF2-40B4-BE49-F238E27FC236}">
                  <a16:creationId xmlns="" xmlns:a16="http://schemas.microsoft.com/office/drawing/2014/main" id="{5EBC67B0-76F6-4E4A-B7ED-57B278707C08}"/>
                </a:ext>
              </a:extLst>
            </p:cNvPr>
            <p:cNvSpPr txBox="1">
              <a:spLocks noChangeArrowheads="1"/>
            </p:cNvSpPr>
            <p:nvPr/>
          </p:nvSpPr>
          <p:spPr bwMode="auto">
            <a:xfrm>
              <a:off x="2028" y="3862"/>
              <a:ext cx="663" cy="2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chemeClr val="accent2"/>
                  </a:solidFill>
                  <a:latin typeface="Times New Roman" panose="02020603050405020304" pitchFamily="18" charset="0"/>
                </a:rPr>
                <a:t>Data Marts</a:t>
              </a:r>
            </a:p>
          </p:txBody>
        </p:sp>
        <p:sp>
          <p:nvSpPr>
            <p:cNvPr id="6177" name="Text Box 70">
              <a:extLst>
                <a:ext uri="{FF2B5EF4-FFF2-40B4-BE49-F238E27FC236}">
                  <a16:creationId xmlns="" xmlns:a16="http://schemas.microsoft.com/office/drawing/2014/main" id="{BC6675EE-6524-4EED-8806-379A93FB9470}"/>
                </a:ext>
              </a:extLst>
            </p:cNvPr>
            <p:cNvSpPr txBox="1">
              <a:spLocks noChangeArrowheads="1"/>
            </p:cNvSpPr>
            <p:nvPr/>
          </p:nvSpPr>
          <p:spPr bwMode="auto">
            <a:xfrm>
              <a:off x="2097" y="1990"/>
              <a:ext cx="654" cy="37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chemeClr val="accent2"/>
                  </a:solidFill>
                  <a:latin typeface="Times New Roman" panose="02020603050405020304" pitchFamily="18" charset="0"/>
                </a:rPr>
                <a:t>Data</a:t>
              </a:r>
            </a:p>
            <a:p>
              <a:pPr algn="ctr"/>
              <a:r>
                <a:rPr lang="en-US" altLang="en-US" sz="1200" b="1">
                  <a:solidFill>
                    <a:schemeClr val="accent2"/>
                  </a:solidFill>
                  <a:latin typeface="Times New Roman" panose="02020603050405020304" pitchFamily="18" charset="0"/>
                </a:rPr>
                <a:t>Warehouse</a:t>
              </a:r>
            </a:p>
          </p:txBody>
        </p:sp>
        <p:sp>
          <p:nvSpPr>
            <p:cNvPr id="6178" name="AutoShape 71">
              <a:extLst>
                <a:ext uri="{FF2B5EF4-FFF2-40B4-BE49-F238E27FC236}">
                  <a16:creationId xmlns="" xmlns:a16="http://schemas.microsoft.com/office/drawing/2014/main" id="{D727337E-124B-4A36-8D4E-2FF7DB22D001}"/>
                </a:ext>
              </a:extLst>
            </p:cNvPr>
            <p:cNvSpPr>
              <a:spLocks noChangeArrowheads="1"/>
            </p:cNvSpPr>
            <p:nvPr/>
          </p:nvSpPr>
          <p:spPr bwMode="auto">
            <a:xfrm>
              <a:off x="3456" y="3072"/>
              <a:ext cx="576" cy="576"/>
            </a:xfrm>
            <a:prstGeom prst="cube">
              <a:avLst>
                <a:gd name="adj" fmla="val 25000"/>
              </a:avLst>
            </a:prstGeom>
            <a:solidFill>
              <a:schemeClr val="folHlink"/>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6179" name="AutoShape 72">
              <a:extLst>
                <a:ext uri="{FF2B5EF4-FFF2-40B4-BE49-F238E27FC236}">
                  <a16:creationId xmlns="" xmlns:a16="http://schemas.microsoft.com/office/drawing/2014/main" id="{9DD56FB7-127E-44A3-ABF1-6CE7D20CED89}"/>
                </a:ext>
              </a:extLst>
            </p:cNvPr>
            <p:cNvSpPr>
              <a:spLocks noChangeArrowheads="1"/>
            </p:cNvSpPr>
            <p:nvPr/>
          </p:nvSpPr>
          <p:spPr bwMode="auto">
            <a:xfrm>
              <a:off x="3408" y="1824"/>
              <a:ext cx="576" cy="576"/>
            </a:xfrm>
            <a:prstGeom prst="cube">
              <a:avLst>
                <a:gd name="adj" fmla="val 25000"/>
              </a:avLst>
            </a:prstGeom>
            <a:solidFill>
              <a:schemeClr val="folHlink"/>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6180" name="Text Box 73">
              <a:extLst>
                <a:ext uri="{FF2B5EF4-FFF2-40B4-BE49-F238E27FC236}">
                  <a16:creationId xmlns="" xmlns:a16="http://schemas.microsoft.com/office/drawing/2014/main" id="{F6D9F090-5AF1-4EA3-BEE1-6A0AB3EEDAEB}"/>
                </a:ext>
              </a:extLst>
            </p:cNvPr>
            <p:cNvSpPr txBox="1">
              <a:spLocks noChangeArrowheads="1"/>
            </p:cNvSpPr>
            <p:nvPr/>
          </p:nvSpPr>
          <p:spPr bwMode="auto">
            <a:xfrm>
              <a:off x="3289" y="1632"/>
              <a:ext cx="938" cy="2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chemeClr val="accent2"/>
                  </a:solidFill>
                  <a:latin typeface="Times New Roman" panose="02020603050405020304" pitchFamily="18" charset="0"/>
                </a:rPr>
                <a:t>e.g., MOLAP</a:t>
              </a:r>
            </a:p>
          </p:txBody>
        </p:sp>
        <p:sp>
          <p:nvSpPr>
            <p:cNvPr id="6181" name="Text Box 74">
              <a:extLst>
                <a:ext uri="{FF2B5EF4-FFF2-40B4-BE49-F238E27FC236}">
                  <a16:creationId xmlns="" xmlns:a16="http://schemas.microsoft.com/office/drawing/2014/main" id="{4D28A9C0-E271-4841-A596-665C346A29BD}"/>
                </a:ext>
              </a:extLst>
            </p:cNvPr>
            <p:cNvSpPr txBox="1">
              <a:spLocks noChangeArrowheads="1"/>
            </p:cNvSpPr>
            <p:nvPr/>
          </p:nvSpPr>
          <p:spPr bwMode="auto">
            <a:xfrm>
              <a:off x="3433" y="2902"/>
              <a:ext cx="720" cy="2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chemeClr val="accent2"/>
                  </a:solidFill>
                  <a:latin typeface="Times New Roman" panose="02020603050405020304" pitchFamily="18" charset="0"/>
                </a:rPr>
                <a:t>e.g., ROLAP</a:t>
              </a:r>
            </a:p>
          </p:txBody>
        </p:sp>
        <p:sp>
          <p:nvSpPr>
            <p:cNvPr id="6182" name="Oval 75">
              <a:extLst>
                <a:ext uri="{FF2B5EF4-FFF2-40B4-BE49-F238E27FC236}">
                  <a16:creationId xmlns="" xmlns:a16="http://schemas.microsoft.com/office/drawing/2014/main" id="{C7364CEF-5DF9-499E-A184-307E441DB59A}"/>
                </a:ext>
              </a:extLst>
            </p:cNvPr>
            <p:cNvSpPr>
              <a:spLocks noChangeArrowheads="1"/>
            </p:cNvSpPr>
            <p:nvPr/>
          </p:nvSpPr>
          <p:spPr bwMode="auto">
            <a:xfrm>
              <a:off x="4608" y="1584"/>
              <a:ext cx="1056" cy="2544"/>
            </a:xfrm>
            <a:prstGeom prst="ellipse">
              <a:avLst/>
            </a:pr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6183" name="AutoShape 76">
              <a:extLst>
                <a:ext uri="{FF2B5EF4-FFF2-40B4-BE49-F238E27FC236}">
                  <a16:creationId xmlns="" xmlns:a16="http://schemas.microsoft.com/office/drawing/2014/main" id="{BE71235E-B30D-4025-A99C-4E34BE86FC33}"/>
                </a:ext>
              </a:extLst>
            </p:cNvPr>
            <p:cNvSpPr>
              <a:spLocks noChangeArrowheads="1"/>
            </p:cNvSpPr>
            <p:nvPr/>
          </p:nvSpPr>
          <p:spPr bwMode="auto">
            <a:xfrm>
              <a:off x="3216" y="2448"/>
              <a:ext cx="1296" cy="528"/>
            </a:xfrm>
            <a:prstGeom prst="rightArrow">
              <a:avLst>
                <a:gd name="adj1" fmla="val 50000"/>
                <a:gd name="adj2" fmla="val 61364"/>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6184" name="Text Box 77">
              <a:extLst>
                <a:ext uri="{FF2B5EF4-FFF2-40B4-BE49-F238E27FC236}">
                  <a16:creationId xmlns="" xmlns:a16="http://schemas.microsoft.com/office/drawing/2014/main" id="{EF6FE164-AFA9-4AE7-AD9B-7D4D615F3CDE}"/>
                </a:ext>
              </a:extLst>
            </p:cNvPr>
            <p:cNvSpPr txBox="1">
              <a:spLocks noChangeArrowheads="1"/>
            </p:cNvSpPr>
            <p:nvPr/>
          </p:nvSpPr>
          <p:spPr bwMode="auto">
            <a:xfrm>
              <a:off x="3565" y="2635"/>
              <a:ext cx="359" cy="2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i="1">
                  <a:solidFill>
                    <a:schemeClr val="accent2"/>
                  </a:solidFill>
                  <a:latin typeface="Times New Roman" panose="02020603050405020304" pitchFamily="18" charset="0"/>
                </a:rPr>
                <a:t>serve</a:t>
              </a:r>
              <a:endParaRPr lang="en-US" altLang="en-US" sz="1200" b="1">
                <a:solidFill>
                  <a:schemeClr val="accent2"/>
                </a:solidFill>
                <a:latin typeface="Times New Roman" panose="02020603050405020304" pitchFamily="18" charset="0"/>
              </a:endParaRPr>
            </a:p>
          </p:txBody>
        </p:sp>
        <p:sp>
          <p:nvSpPr>
            <p:cNvPr id="6185" name="Rectangle 78">
              <a:extLst>
                <a:ext uri="{FF2B5EF4-FFF2-40B4-BE49-F238E27FC236}">
                  <a16:creationId xmlns="" xmlns:a16="http://schemas.microsoft.com/office/drawing/2014/main" id="{59823834-F1B1-491F-B184-F7844D74DCD4}"/>
                </a:ext>
              </a:extLst>
            </p:cNvPr>
            <p:cNvSpPr>
              <a:spLocks noChangeArrowheads="1"/>
            </p:cNvSpPr>
            <p:nvPr/>
          </p:nvSpPr>
          <p:spPr bwMode="auto">
            <a:xfrm>
              <a:off x="4896" y="1920"/>
              <a:ext cx="480" cy="432"/>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6186" name="Line 79">
              <a:extLst>
                <a:ext uri="{FF2B5EF4-FFF2-40B4-BE49-F238E27FC236}">
                  <a16:creationId xmlns="" xmlns:a16="http://schemas.microsoft.com/office/drawing/2014/main" id="{EDF37790-99E5-40C9-9E45-876C4C416707}"/>
                </a:ext>
              </a:extLst>
            </p:cNvPr>
            <p:cNvSpPr>
              <a:spLocks noChangeShapeType="1"/>
            </p:cNvSpPr>
            <p:nvPr/>
          </p:nvSpPr>
          <p:spPr bwMode="auto">
            <a:xfrm>
              <a:off x="4896" y="1968"/>
              <a:ext cx="480" cy="0"/>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187" name="Line 80">
              <a:extLst>
                <a:ext uri="{FF2B5EF4-FFF2-40B4-BE49-F238E27FC236}">
                  <a16:creationId xmlns="" xmlns:a16="http://schemas.microsoft.com/office/drawing/2014/main" id="{6D452736-3CD3-4D2E-B1C6-357E53F05C7E}"/>
                </a:ext>
              </a:extLst>
            </p:cNvPr>
            <p:cNvSpPr>
              <a:spLocks noChangeShapeType="1"/>
            </p:cNvSpPr>
            <p:nvPr/>
          </p:nvSpPr>
          <p:spPr bwMode="auto">
            <a:xfrm>
              <a:off x="5136" y="1920"/>
              <a:ext cx="0" cy="43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188" name="Line 81">
              <a:extLst>
                <a:ext uri="{FF2B5EF4-FFF2-40B4-BE49-F238E27FC236}">
                  <a16:creationId xmlns="" xmlns:a16="http://schemas.microsoft.com/office/drawing/2014/main" id="{FF4585F8-3235-486A-A734-AAF7F4733105}"/>
                </a:ext>
              </a:extLst>
            </p:cNvPr>
            <p:cNvSpPr>
              <a:spLocks noChangeShapeType="1"/>
            </p:cNvSpPr>
            <p:nvPr/>
          </p:nvSpPr>
          <p:spPr bwMode="auto">
            <a:xfrm>
              <a:off x="5136" y="1920"/>
              <a:ext cx="0" cy="43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189" name="Line 82">
              <a:extLst>
                <a:ext uri="{FF2B5EF4-FFF2-40B4-BE49-F238E27FC236}">
                  <a16:creationId xmlns="" xmlns:a16="http://schemas.microsoft.com/office/drawing/2014/main" id="{6ADD3136-0E0E-4383-A628-8A15DB06385C}"/>
                </a:ext>
              </a:extLst>
            </p:cNvPr>
            <p:cNvSpPr>
              <a:spLocks noChangeShapeType="1"/>
            </p:cNvSpPr>
            <p:nvPr/>
          </p:nvSpPr>
          <p:spPr bwMode="auto">
            <a:xfrm>
              <a:off x="5136" y="1920"/>
              <a:ext cx="0" cy="43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190" name="Line 83">
              <a:extLst>
                <a:ext uri="{FF2B5EF4-FFF2-40B4-BE49-F238E27FC236}">
                  <a16:creationId xmlns="" xmlns:a16="http://schemas.microsoft.com/office/drawing/2014/main" id="{4B4D096D-E22A-4382-A1DF-A4B7187CC969}"/>
                </a:ext>
              </a:extLst>
            </p:cNvPr>
            <p:cNvSpPr>
              <a:spLocks noChangeShapeType="1"/>
            </p:cNvSpPr>
            <p:nvPr/>
          </p:nvSpPr>
          <p:spPr bwMode="auto">
            <a:xfrm>
              <a:off x="5136" y="1920"/>
              <a:ext cx="0" cy="43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191" name="Line 84">
              <a:extLst>
                <a:ext uri="{FF2B5EF4-FFF2-40B4-BE49-F238E27FC236}">
                  <a16:creationId xmlns="" xmlns:a16="http://schemas.microsoft.com/office/drawing/2014/main" id="{FA15302C-B576-4EB7-B4D6-597A9AC8D455}"/>
                </a:ext>
              </a:extLst>
            </p:cNvPr>
            <p:cNvSpPr>
              <a:spLocks noChangeShapeType="1"/>
            </p:cNvSpPr>
            <p:nvPr/>
          </p:nvSpPr>
          <p:spPr bwMode="auto">
            <a:xfrm>
              <a:off x="5136" y="1920"/>
              <a:ext cx="0" cy="43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192" name="Line 85">
              <a:extLst>
                <a:ext uri="{FF2B5EF4-FFF2-40B4-BE49-F238E27FC236}">
                  <a16:creationId xmlns="" xmlns:a16="http://schemas.microsoft.com/office/drawing/2014/main" id="{5498F287-34D7-45FD-A59E-FA7F22BD35FF}"/>
                </a:ext>
              </a:extLst>
            </p:cNvPr>
            <p:cNvSpPr>
              <a:spLocks noChangeShapeType="1"/>
            </p:cNvSpPr>
            <p:nvPr/>
          </p:nvSpPr>
          <p:spPr bwMode="auto">
            <a:xfrm>
              <a:off x="4896" y="2016"/>
              <a:ext cx="480" cy="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193" name="Line 86">
              <a:extLst>
                <a:ext uri="{FF2B5EF4-FFF2-40B4-BE49-F238E27FC236}">
                  <a16:creationId xmlns="" xmlns:a16="http://schemas.microsoft.com/office/drawing/2014/main" id="{E1EC9062-6B27-408A-8E8C-E9439890C871}"/>
                </a:ext>
              </a:extLst>
            </p:cNvPr>
            <p:cNvSpPr>
              <a:spLocks noChangeShapeType="1"/>
            </p:cNvSpPr>
            <p:nvPr/>
          </p:nvSpPr>
          <p:spPr bwMode="auto">
            <a:xfrm>
              <a:off x="4896" y="2064"/>
              <a:ext cx="480" cy="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194" name="Line 87">
              <a:extLst>
                <a:ext uri="{FF2B5EF4-FFF2-40B4-BE49-F238E27FC236}">
                  <a16:creationId xmlns="" xmlns:a16="http://schemas.microsoft.com/office/drawing/2014/main" id="{C3842566-F1D4-4124-9F32-204BDC05F148}"/>
                </a:ext>
              </a:extLst>
            </p:cNvPr>
            <p:cNvSpPr>
              <a:spLocks noChangeShapeType="1"/>
            </p:cNvSpPr>
            <p:nvPr/>
          </p:nvSpPr>
          <p:spPr bwMode="auto">
            <a:xfrm>
              <a:off x="4896" y="2112"/>
              <a:ext cx="480" cy="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195" name="Line 88">
              <a:extLst>
                <a:ext uri="{FF2B5EF4-FFF2-40B4-BE49-F238E27FC236}">
                  <a16:creationId xmlns="" xmlns:a16="http://schemas.microsoft.com/office/drawing/2014/main" id="{97F05EAA-F1EC-42A0-A6DC-17BC6308CACB}"/>
                </a:ext>
              </a:extLst>
            </p:cNvPr>
            <p:cNvSpPr>
              <a:spLocks noChangeShapeType="1"/>
            </p:cNvSpPr>
            <p:nvPr/>
          </p:nvSpPr>
          <p:spPr bwMode="auto">
            <a:xfrm>
              <a:off x="4896" y="2160"/>
              <a:ext cx="480" cy="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196" name="Line 89">
              <a:extLst>
                <a:ext uri="{FF2B5EF4-FFF2-40B4-BE49-F238E27FC236}">
                  <a16:creationId xmlns="" xmlns:a16="http://schemas.microsoft.com/office/drawing/2014/main" id="{732747F0-04B9-4693-9AF5-3E1781D8A87F}"/>
                </a:ext>
              </a:extLst>
            </p:cNvPr>
            <p:cNvSpPr>
              <a:spLocks noChangeShapeType="1"/>
            </p:cNvSpPr>
            <p:nvPr/>
          </p:nvSpPr>
          <p:spPr bwMode="auto">
            <a:xfrm>
              <a:off x="4896" y="2208"/>
              <a:ext cx="480" cy="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197" name="Line 90">
              <a:extLst>
                <a:ext uri="{FF2B5EF4-FFF2-40B4-BE49-F238E27FC236}">
                  <a16:creationId xmlns="" xmlns:a16="http://schemas.microsoft.com/office/drawing/2014/main" id="{C2F14949-0B99-4C9B-A683-5BD58BBFC502}"/>
                </a:ext>
              </a:extLst>
            </p:cNvPr>
            <p:cNvSpPr>
              <a:spLocks noChangeShapeType="1"/>
            </p:cNvSpPr>
            <p:nvPr/>
          </p:nvSpPr>
          <p:spPr bwMode="auto">
            <a:xfrm>
              <a:off x="4896" y="2256"/>
              <a:ext cx="480" cy="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198" name="Line 91">
              <a:extLst>
                <a:ext uri="{FF2B5EF4-FFF2-40B4-BE49-F238E27FC236}">
                  <a16:creationId xmlns="" xmlns:a16="http://schemas.microsoft.com/office/drawing/2014/main" id="{BF2A32B7-1AFD-4345-BD93-A9195BD276E8}"/>
                </a:ext>
              </a:extLst>
            </p:cNvPr>
            <p:cNvSpPr>
              <a:spLocks noChangeShapeType="1"/>
            </p:cNvSpPr>
            <p:nvPr/>
          </p:nvSpPr>
          <p:spPr bwMode="auto">
            <a:xfrm>
              <a:off x="4896" y="2304"/>
              <a:ext cx="480" cy="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199" name="Text Box 92">
              <a:extLst>
                <a:ext uri="{FF2B5EF4-FFF2-40B4-BE49-F238E27FC236}">
                  <a16:creationId xmlns="" xmlns:a16="http://schemas.microsoft.com/office/drawing/2014/main" id="{1EB846CA-4233-4103-8F5E-E21B3580DC55}"/>
                </a:ext>
              </a:extLst>
            </p:cNvPr>
            <p:cNvSpPr txBox="1">
              <a:spLocks noChangeArrowheads="1"/>
            </p:cNvSpPr>
            <p:nvPr/>
          </p:nvSpPr>
          <p:spPr bwMode="auto">
            <a:xfrm>
              <a:off x="4875" y="1749"/>
              <a:ext cx="521" cy="2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chemeClr val="accent2"/>
                  </a:solidFill>
                  <a:latin typeface="Times New Roman" panose="02020603050405020304" pitchFamily="18" charset="0"/>
                </a:rPr>
                <a:t>Analysis</a:t>
              </a:r>
            </a:p>
          </p:txBody>
        </p:sp>
        <p:sp>
          <p:nvSpPr>
            <p:cNvPr id="6200" name="Rectangle 93">
              <a:extLst>
                <a:ext uri="{FF2B5EF4-FFF2-40B4-BE49-F238E27FC236}">
                  <a16:creationId xmlns="" xmlns:a16="http://schemas.microsoft.com/office/drawing/2014/main" id="{BA1CA103-C134-40EF-A1E0-0815AD46481F}"/>
                </a:ext>
              </a:extLst>
            </p:cNvPr>
            <p:cNvSpPr>
              <a:spLocks noChangeArrowheads="1"/>
            </p:cNvSpPr>
            <p:nvPr/>
          </p:nvSpPr>
          <p:spPr bwMode="auto">
            <a:xfrm>
              <a:off x="4872" y="2592"/>
              <a:ext cx="528" cy="528"/>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6201" name="Rectangle 94">
              <a:extLst>
                <a:ext uri="{FF2B5EF4-FFF2-40B4-BE49-F238E27FC236}">
                  <a16:creationId xmlns="" xmlns:a16="http://schemas.microsoft.com/office/drawing/2014/main" id="{5563EEA6-4959-4381-B398-536605ED60A1}"/>
                </a:ext>
              </a:extLst>
            </p:cNvPr>
            <p:cNvSpPr>
              <a:spLocks noChangeArrowheads="1"/>
            </p:cNvSpPr>
            <p:nvPr/>
          </p:nvSpPr>
          <p:spPr bwMode="auto">
            <a:xfrm>
              <a:off x="4848" y="3408"/>
              <a:ext cx="576" cy="480"/>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6202" name="Text Box 95">
              <a:extLst>
                <a:ext uri="{FF2B5EF4-FFF2-40B4-BE49-F238E27FC236}">
                  <a16:creationId xmlns="" xmlns:a16="http://schemas.microsoft.com/office/drawing/2014/main" id="{4DF4B24C-EF2F-4A25-A1D0-53F8EFE22C41}"/>
                </a:ext>
              </a:extLst>
            </p:cNvPr>
            <p:cNvSpPr txBox="1">
              <a:spLocks noChangeArrowheads="1"/>
            </p:cNvSpPr>
            <p:nvPr/>
          </p:nvSpPr>
          <p:spPr bwMode="auto">
            <a:xfrm>
              <a:off x="4690" y="2420"/>
              <a:ext cx="926" cy="2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chemeClr val="accent2"/>
                  </a:solidFill>
                  <a:latin typeface="Times New Roman" panose="02020603050405020304" pitchFamily="18" charset="0"/>
                </a:rPr>
                <a:t>Query/Reporting</a:t>
              </a:r>
            </a:p>
          </p:txBody>
        </p:sp>
        <p:sp>
          <p:nvSpPr>
            <p:cNvPr id="6203" name="Text Box 96">
              <a:extLst>
                <a:ext uri="{FF2B5EF4-FFF2-40B4-BE49-F238E27FC236}">
                  <a16:creationId xmlns="" xmlns:a16="http://schemas.microsoft.com/office/drawing/2014/main" id="{7E4637ED-9902-41F0-9253-769DF7E26E1E}"/>
                </a:ext>
              </a:extLst>
            </p:cNvPr>
            <p:cNvSpPr txBox="1">
              <a:spLocks noChangeArrowheads="1"/>
            </p:cNvSpPr>
            <p:nvPr/>
          </p:nvSpPr>
          <p:spPr bwMode="auto">
            <a:xfrm>
              <a:off x="4794" y="3189"/>
              <a:ext cx="717" cy="2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chemeClr val="accent2"/>
                  </a:solidFill>
                  <a:latin typeface="Times New Roman" panose="02020603050405020304" pitchFamily="18" charset="0"/>
                </a:rPr>
                <a:t>Data Mining</a:t>
              </a:r>
            </a:p>
          </p:txBody>
        </p:sp>
        <p:sp>
          <p:nvSpPr>
            <p:cNvPr id="6204" name="Rectangle 97">
              <a:extLst>
                <a:ext uri="{FF2B5EF4-FFF2-40B4-BE49-F238E27FC236}">
                  <a16:creationId xmlns="" xmlns:a16="http://schemas.microsoft.com/office/drawing/2014/main" id="{BFE2635F-3815-45C9-B008-AAB763DF91A6}"/>
                </a:ext>
              </a:extLst>
            </p:cNvPr>
            <p:cNvSpPr>
              <a:spLocks noChangeArrowheads="1"/>
            </p:cNvSpPr>
            <p:nvPr/>
          </p:nvSpPr>
          <p:spPr bwMode="auto">
            <a:xfrm>
              <a:off x="4944" y="2688"/>
              <a:ext cx="48" cy="432"/>
            </a:xfrm>
            <a:prstGeom prst="rect">
              <a:avLst/>
            </a:prstGeom>
            <a:solidFill>
              <a:srgbClr val="EAEAEA"/>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6205" name="Rectangle 98">
              <a:extLst>
                <a:ext uri="{FF2B5EF4-FFF2-40B4-BE49-F238E27FC236}">
                  <a16:creationId xmlns="" xmlns:a16="http://schemas.microsoft.com/office/drawing/2014/main" id="{F833F9DD-C414-42FD-8209-0C7A81C124DC}"/>
                </a:ext>
              </a:extLst>
            </p:cNvPr>
            <p:cNvSpPr>
              <a:spLocks noChangeArrowheads="1"/>
            </p:cNvSpPr>
            <p:nvPr/>
          </p:nvSpPr>
          <p:spPr bwMode="auto">
            <a:xfrm>
              <a:off x="5088" y="2736"/>
              <a:ext cx="48" cy="384"/>
            </a:xfrm>
            <a:prstGeom prst="rect">
              <a:avLst/>
            </a:prstGeom>
            <a:solidFill>
              <a:srgbClr val="EAEAEA"/>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6206" name="Rectangle 99">
              <a:extLst>
                <a:ext uri="{FF2B5EF4-FFF2-40B4-BE49-F238E27FC236}">
                  <a16:creationId xmlns="" xmlns:a16="http://schemas.microsoft.com/office/drawing/2014/main" id="{A21115E4-F664-4C8D-B6EA-8904691A694D}"/>
                </a:ext>
              </a:extLst>
            </p:cNvPr>
            <p:cNvSpPr>
              <a:spLocks noChangeArrowheads="1"/>
            </p:cNvSpPr>
            <p:nvPr/>
          </p:nvSpPr>
          <p:spPr bwMode="auto">
            <a:xfrm>
              <a:off x="5184" y="2928"/>
              <a:ext cx="96" cy="192"/>
            </a:xfrm>
            <a:prstGeom prst="rect">
              <a:avLst/>
            </a:prstGeom>
            <a:solidFill>
              <a:srgbClr val="EAEAEA"/>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6207" name="Rectangle 100">
              <a:extLst>
                <a:ext uri="{FF2B5EF4-FFF2-40B4-BE49-F238E27FC236}">
                  <a16:creationId xmlns="" xmlns:a16="http://schemas.microsoft.com/office/drawing/2014/main" id="{882D029E-FAE6-43E4-9698-C6487E85949F}"/>
                </a:ext>
              </a:extLst>
            </p:cNvPr>
            <p:cNvSpPr>
              <a:spLocks noChangeArrowheads="1"/>
            </p:cNvSpPr>
            <p:nvPr/>
          </p:nvSpPr>
          <p:spPr bwMode="auto">
            <a:xfrm>
              <a:off x="5328" y="2784"/>
              <a:ext cx="48" cy="336"/>
            </a:xfrm>
            <a:prstGeom prst="rect">
              <a:avLst/>
            </a:prstGeom>
            <a:solidFill>
              <a:srgbClr val="EAEAEA"/>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6208" name="Line 101">
              <a:extLst>
                <a:ext uri="{FF2B5EF4-FFF2-40B4-BE49-F238E27FC236}">
                  <a16:creationId xmlns="" xmlns:a16="http://schemas.microsoft.com/office/drawing/2014/main" id="{0F1914CD-8657-46FE-954A-77F57CA9FB94}"/>
                </a:ext>
              </a:extLst>
            </p:cNvPr>
            <p:cNvSpPr>
              <a:spLocks noChangeShapeType="1"/>
            </p:cNvSpPr>
            <p:nvPr/>
          </p:nvSpPr>
          <p:spPr bwMode="auto">
            <a:xfrm>
              <a:off x="4944" y="3504"/>
              <a:ext cx="384" cy="0"/>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209" name="Line 102">
              <a:extLst>
                <a:ext uri="{FF2B5EF4-FFF2-40B4-BE49-F238E27FC236}">
                  <a16:creationId xmlns="" xmlns:a16="http://schemas.microsoft.com/office/drawing/2014/main" id="{A6B74979-B282-422C-8A94-8A15B739A42F}"/>
                </a:ext>
              </a:extLst>
            </p:cNvPr>
            <p:cNvSpPr>
              <a:spLocks noChangeShapeType="1"/>
            </p:cNvSpPr>
            <p:nvPr/>
          </p:nvSpPr>
          <p:spPr bwMode="auto">
            <a:xfrm>
              <a:off x="4944" y="3600"/>
              <a:ext cx="144" cy="0"/>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210" name="Line 103">
              <a:extLst>
                <a:ext uri="{FF2B5EF4-FFF2-40B4-BE49-F238E27FC236}">
                  <a16:creationId xmlns="" xmlns:a16="http://schemas.microsoft.com/office/drawing/2014/main" id="{7CB3BEAB-2C1A-4A92-A7CD-C79DC4A6C601}"/>
                </a:ext>
              </a:extLst>
            </p:cNvPr>
            <p:cNvSpPr>
              <a:spLocks noChangeShapeType="1"/>
            </p:cNvSpPr>
            <p:nvPr/>
          </p:nvSpPr>
          <p:spPr bwMode="auto">
            <a:xfrm>
              <a:off x="5184" y="3600"/>
              <a:ext cx="144" cy="0"/>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211" name="Line 104">
              <a:extLst>
                <a:ext uri="{FF2B5EF4-FFF2-40B4-BE49-F238E27FC236}">
                  <a16:creationId xmlns="" xmlns:a16="http://schemas.microsoft.com/office/drawing/2014/main" id="{3C4DEED8-76A7-4ADF-A762-3314A827EBD1}"/>
                </a:ext>
              </a:extLst>
            </p:cNvPr>
            <p:cNvSpPr>
              <a:spLocks noChangeShapeType="1"/>
            </p:cNvSpPr>
            <p:nvPr/>
          </p:nvSpPr>
          <p:spPr bwMode="auto">
            <a:xfrm>
              <a:off x="4944" y="3648"/>
              <a:ext cx="144" cy="0"/>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212" name="Line 105">
              <a:extLst>
                <a:ext uri="{FF2B5EF4-FFF2-40B4-BE49-F238E27FC236}">
                  <a16:creationId xmlns="" xmlns:a16="http://schemas.microsoft.com/office/drawing/2014/main" id="{89FE95A3-C6ED-4FE2-82EF-1DAC59E087A6}"/>
                </a:ext>
              </a:extLst>
            </p:cNvPr>
            <p:cNvSpPr>
              <a:spLocks noChangeShapeType="1"/>
            </p:cNvSpPr>
            <p:nvPr/>
          </p:nvSpPr>
          <p:spPr bwMode="auto">
            <a:xfrm>
              <a:off x="4944" y="3696"/>
              <a:ext cx="144" cy="0"/>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213" name="Line 106">
              <a:extLst>
                <a:ext uri="{FF2B5EF4-FFF2-40B4-BE49-F238E27FC236}">
                  <a16:creationId xmlns="" xmlns:a16="http://schemas.microsoft.com/office/drawing/2014/main" id="{5DADDEF7-80B3-4BD8-95A3-22A26B7AA937}"/>
                </a:ext>
              </a:extLst>
            </p:cNvPr>
            <p:cNvSpPr>
              <a:spLocks noChangeShapeType="1"/>
            </p:cNvSpPr>
            <p:nvPr/>
          </p:nvSpPr>
          <p:spPr bwMode="auto">
            <a:xfrm>
              <a:off x="4944" y="3744"/>
              <a:ext cx="144" cy="0"/>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214" name="Line 107">
              <a:extLst>
                <a:ext uri="{FF2B5EF4-FFF2-40B4-BE49-F238E27FC236}">
                  <a16:creationId xmlns="" xmlns:a16="http://schemas.microsoft.com/office/drawing/2014/main" id="{B5C243A9-5103-4F66-B16A-61192163FBA7}"/>
                </a:ext>
              </a:extLst>
            </p:cNvPr>
            <p:cNvSpPr>
              <a:spLocks noChangeShapeType="1"/>
            </p:cNvSpPr>
            <p:nvPr/>
          </p:nvSpPr>
          <p:spPr bwMode="auto">
            <a:xfrm>
              <a:off x="4944" y="3792"/>
              <a:ext cx="144" cy="0"/>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215" name="Line 108">
              <a:extLst>
                <a:ext uri="{FF2B5EF4-FFF2-40B4-BE49-F238E27FC236}">
                  <a16:creationId xmlns="" xmlns:a16="http://schemas.microsoft.com/office/drawing/2014/main" id="{FFC08E6D-2D98-4E6E-8BB9-4F9EEF4F34B5}"/>
                </a:ext>
              </a:extLst>
            </p:cNvPr>
            <p:cNvSpPr>
              <a:spLocks noChangeShapeType="1"/>
            </p:cNvSpPr>
            <p:nvPr/>
          </p:nvSpPr>
          <p:spPr bwMode="auto">
            <a:xfrm>
              <a:off x="5184" y="3648"/>
              <a:ext cx="144" cy="0"/>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216" name="Line 109">
              <a:extLst>
                <a:ext uri="{FF2B5EF4-FFF2-40B4-BE49-F238E27FC236}">
                  <a16:creationId xmlns="" xmlns:a16="http://schemas.microsoft.com/office/drawing/2014/main" id="{CCCC3EE8-4ADF-4AB4-AAEE-5DBF74775614}"/>
                </a:ext>
              </a:extLst>
            </p:cNvPr>
            <p:cNvSpPr>
              <a:spLocks noChangeShapeType="1"/>
            </p:cNvSpPr>
            <p:nvPr/>
          </p:nvSpPr>
          <p:spPr bwMode="auto">
            <a:xfrm>
              <a:off x="5184" y="3696"/>
              <a:ext cx="144" cy="0"/>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217" name="Line 110">
              <a:extLst>
                <a:ext uri="{FF2B5EF4-FFF2-40B4-BE49-F238E27FC236}">
                  <a16:creationId xmlns="" xmlns:a16="http://schemas.microsoft.com/office/drawing/2014/main" id="{3E95E70E-4424-423F-8F23-5D4939F69429}"/>
                </a:ext>
              </a:extLst>
            </p:cNvPr>
            <p:cNvSpPr>
              <a:spLocks noChangeShapeType="1"/>
            </p:cNvSpPr>
            <p:nvPr/>
          </p:nvSpPr>
          <p:spPr bwMode="auto">
            <a:xfrm>
              <a:off x="5184" y="3744"/>
              <a:ext cx="144" cy="0"/>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218" name="Line 111">
              <a:extLst>
                <a:ext uri="{FF2B5EF4-FFF2-40B4-BE49-F238E27FC236}">
                  <a16:creationId xmlns="" xmlns:a16="http://schemas.microsoft.com/office/drawing/2014/main" id="{E5F00652-76BA-4864-9998-9821FFED446C}"/>
                </a:ext>
              </a:extLst>
            </p:cNvPr>
            <p:cNvSpPr>
              <a:spLocks noChangeShapeType="1"/>
            </p:cNvSpPr>
            <p:nvPr/>
          </p:nvSpPr>
          <p:spPr bwMode="auto">
            <a:xfrm>
              <a:off x="5184" y="3792"/>
              <a:ext cx="144" cy="0"/>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219" name="Line 112">
              <a:extLst>
                <a:ext uri="{FF2B5EF4-FFF2-40B4-BE49-F238E27FC236}">
                  <a16:creationId xmlns="" xmlns:a16="http://schemas.microsoft.com/office/drawing/2014/main" id="{CBE06A2D-1276-4AB3-9C50-BA03622FF273}"/>
                </a:ext>
              </a:extLst>
            </p:cNvPr>
            <p:cNvSpPr>
              <a:spLocks noChangeShapeType="1"/>
            </p:cNvSpPr>
            <p:nvPr/>
          </p:nvSpPr>
          <p:spPr bwMode="auto">
            <a:xfrm flipV="1">
              <a:off x="2928" y="2160"/>
              <a:ext cx="336" cy="240"/>
            </a:xfrm>
            <a:prstGeom prst="line">
              <a:avLst/>
            </a:prstGeom>
            <a:noFill/>
            <a:ln w="9525">
              <a:solidFill>
                <a:schemeClr val="tx1"/>
              </a:solidFill>
              <a:round/>
              <a:headEnd type="triangle" w="med" len="me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6220" name="Line 113">
              <a:extLst>
                <a:ext uri="{FF2B5EF4-FFF2-40B4-BE49-F238E27FC236}">
                  <a16:creationId xmlns="" xmlns:a16="http://schemas.microsoft.com/office/drawing/2014/main" id="{B0D917C5-C967-49E3-9077-7D4E4FE793CE}"/>
                </a:ext>
              </a:extLst>
            </p:cNvPr>
            <p:cNvSpPr>
              <a:spLocks noChangeShapeType="1"/>
            </p:cNvSpPr>
            <p:nvPr/>
          </p:nvSpPr>
          <p:spPr bwMode="auto">
            <a:xfrm flipV="1">
              <a:off x="3120" y="3360"/>
              <a:ext cx="288" cy="96"/>
            </a:xfrm>
            <a:prstGeom prst="line">
              <a:avLst/>
            </a:prstGeom>
            <a:noFill/>
            <a:ln w="9525">
              <a:solidFill>
                <a:schemeClr val="tx1"/>
              </a:solidFill>
              <a:round/>
              <a:headEnd type="triangle" w="med" len="me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6221" name="AutoShape 114">
              <a:extLst>
                <a:ext uri="{FF2B5EF4-FFF2-40B4-BE49-F238E27FC236}">
                  <a16:creationId xmlns="" xmlns:a16="http://schemas.microsoft.com/office/drawing/2014/main" id="{7E97D66C-16F7-45D5-89AA-2798B1785921}"/>
                </a:ext>
              </a:extLst>
            </p:cNvPr>
            <p:cNvSpPr>
              <a:spLocks noChangeArrowheads="1"/>
            </p:cNvSpPr>
            <p:nvPr/>
          </p:nvSpPr>
          <p:spPr bwMode="auto">
            <a:xfrm>
              <a:off x="4128" y="1968"/>
              <a:ext cx="480" cy="384"/>
            </a:xfrm>
            <a:prstGeom prst="rightArrow">
              <a:avLst>
                <a:gd name="adj1" fmla="val 50000"/>
                <a:gd name="adj2" fmla="val 47454"/>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i="1">
                  <a:solidFill>
                    <a:schemeClr val="accent2"/>
                  </a:solidFill>
                  <a:latin typeface="Times New Roman" panose="02020603050405020304" pitchFamily="18" charset="0"/>
                </a:rPr>
                <a:t>serve</a:t>
              </a:r>
              <a:endParaRPr lang="en-US" altLang="en-US" sz="1200" b="1">
                <a:solidFill>
                  <a:schemeClr val="accent2"/>
                </a:solidFill>
                <a:latin typeface="Times New Roman" panose="02020603050405020304" pitchFamily="18" charset="0"/>
              </a:endParaRPr>
            </a:p>
          </p:txBody>
        </p:sp>
        <p:sp>
          <p:nvSpPr>
            <p:cNvPr id="6222" name="AutoShape 115">
              <a:extLst>
                <a:ext uri="{FF2B5EF4-FFF2-40B4-BE49-F238E27FC236}">
                  <a16:creationId xmlns="" xmlns:a16="http://schemas.microsoft.com/office/drawing/2014/main" id="{D11590E7-52F9-42FD-AEF3-78D9106AF0C6}"/>
                </a:ext>
              </a:extLst>
            </p:cNvPr>
            <p:cNvSpPr>
              <a:spLocks noChangeArrowheads="1"/>
            </p:cNvSpPr>
            <p:nvPr/>
          </p:nvSpPr>
          <p:spPr bwMode="auto">
            <a:xfrm>
              <a:off x="4128" y="3168"/>
              <a:ext cx="480" cy="384"/>
            </a:xfrm>
            <a:prstGeom prst="rightArrow">
              <a:avLst>
                <a:gd name="adj1" fmla="val 50000"/>
                <a:gd name="adj2" fmla="val 47454"/>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i="1">
                  <a:solidFill>
                    <a:schemeClr val="accent2"/>
                  </a:solidFill>
                  <a:latin typeface="Times New Roman" panose="02020603050405020304" pitchFamily="18" charset="0"/>
                </a:rPr>
                <a:t>serve</a:t>
              </a:r>
              <a:endParaRPr lang="en-US" altLang="en-US" sz="1200" b="1">
                <a:solidFill>
                  <a:schemeClr val="accent2"/>
                </a:solidFill>
                <a:latin typeface="Times New Roman" panose="02020603050405020304" pitchFamily="18" charset="0"/>
              </a:endParaRPr>
            </a:p>
          </p:txBody>
        </p:sp>
      </p:grpSp>
      <p:sp>
        <p:nvSpPr>
          <p:cNvPr id="193652" name="Oval 116">
            <a:extLst>
              <a:ext uri="{FF2B5EF4-FFF2-40B4-BE49-F238E27FC236}">
                <a16:creationId xmlns="" xmlns:a16="http://schemas.microsoft.com/office/drawing/2014/main" id="{FCC9AA46-0042-47C3-B641-CE8B3EFF0DF2}"/>
              </a:ext>
            </a:extLst>
          </p:cNvPr>
          <p:cNvSpPr>
            <a:spLocks noChangeArrowheads="1"/>
          </p:cNvSpPr>
          <p:nvPr/>
        </p:nvSpPr>
        <p:spPr bwMode="auto">
          <a:xfrm>
            <a:off x="2895600" y="3200400"/>
            <a:ext cx="1676400" cy="2362200"/>
          </a:xfrm>
          <a:prstGeom prst="ellipse">
            <a:avLst/>
          </a:prstGeom>
          <a:noFill/>
          <a:ln w="28575">
            <a:solidFill>
              <a:srgbClr val="FF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193653" name="Oval 117">
            <a:extLst>
              <a:ext uri="{FF2B5EF4-FFF2-40B4-BE49-F238E27FC236}">
                <a16:creationId xmlns="" xmlns:a16="http://schemas.microsoft.com/office/drawing/2014/main" id="{437164C4-5558-405D-8146-8E4BEF1410DD}"/>
              </a:ext>
            </a:extLst>
          </p:cNvPr>
          <p:cNvSpPr>
            <a:spLocks noChangeArrowheads="1"/>
          </p:cNvSpPr>
          <p:nvPr/>
        </p:nvSpPr>
        <p:spPr bwMode="auto">
          <a:xfrm>
            <a:off x="1447800" y="2895600"/>
            <a:ext cx="1676400" cy="2362200"/>
          </a:xfrm>
          <a:prstGeom prst="ellipse">
            <a:avLst/>
          </a:prstGeom>
          <a:noFill/>
          <a:ln w="28575">
            <a:solidFill>
              <a:srgbClr val="FF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193654" name="Oval 118">
            <a:extLst>
              <a:ext uri="{FF2B5EF4-FFF2-40B4-BE49-F238E27FC236}">
                <a16:creationId xmlns="" xmlns:a16="http://schemas.microsoft.com/office/drawing/2014/main" id="{BA5D3F4A-05AB-4F48-8A70-1775F927C5DE}"/>
              </a:ext>
            </a:extLst>
          </p:cNvPr>
          <p:cNvSpPr>
            <a:spLocks noChangeArrowheads="1"/>
          </p:cNvSpPr>
          <p:nvPr/>
        </p:nvSpPr>
        <p:spPr bwMode="auto">
          <a:xfrm>
            <a:off x="4800600" y="3962400"/>
            <a:ext cx="1524000" cy="1600200"/>
          </a:xfrm>
          <a:prstGeom prst="ellipse">
            <a:avLst/>
          </a:prstGeom>
          <a:noFill/>
          <a:ln w="28575">
            <a:solidFill>
              <a:srgbClr val="FF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193655" name="Oval 119">
            <a:extLst>
              <a:ext uri="{FF2B5EF4-FFF2-40B4-BE49-F238E27FC236}">
                <a16:creationId xmlns="" xmlns:a16="http://schemas.microsoft.com/office/drawing/2014/main" id="{0DAD461A-BB29-44C2-AC45-14CB5E0C8115}"/>
              </a:ext>
            </a:extLst>
          </p:cNvPr>
          <p:cNvSpPr>
            <a:spLocks noChangeArrowheads="1"/>
          </p:cNvSpPr>
          <p:nvPr/>
        </p:nvSpPr>
        <p:spPr bwMode="auto">
          <a:xfrm>
            <a:off x="4876800" y="2514600"/>
            <a:ext cx="1524000" cy="1600200"/>
          </a:xfrm>
          <a:prstGeom prst="ellipse">
            <a:avLst/>
          </a:prstGeom>
          <a:noFill/>
          <a:ln w="28575">
            <a:solidFill>
              <a:srgbClr val="FF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193656" name="Oval 120">
            <a:extLst>
              <a:ext uri="{FF2B5EF4-FFF2-40B4-BE49-F238E27FC236}">
                <a16:creationId xmlns="" xmlns:a16="http://schemas.microsoft.com/office/drawing/2014/main" id="{49A3B4AC-4079-4707-B4AA-F206E700A14C}"/>
              </a:ext>
            </a:extLst>
          </p:cNvPr>
          <p:cNvSpPr>
            <a:spLocks noChangeArrowheads="1"/>
          </p:cNvSpPr>
          <p:nvPr/>
        </p:nvSpPr>
        <p:spPr bwMode="auto">
          <a:xfrm>
            <a:off x="6705600" y="2590800"/>
            <a:ext cx="1676400" cy="2362200"/>
          </a:xfrm>
          <a:prstGeom prst="ellipse">
            <a:avLst/>
          </a:prstGeom>
          <a:noFill/>
          <a:ln w="28575">
            <a:solidFill>
              <a:srgbClr val="FF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354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3652"/>
                                        </p:tgtEl>
                                        <p:attrNameLst>
                                          <p:attrName>style.visibility</p:attrName>
                                        </p:attrNameLst>
                                      </p:cBhvr>
                                      <p:to>
                                        <p:strVal val="visible"/>
                                      </p:to>
                                    </p:set>
                                  </p:childTnLst>
                                  <p:subTnLst>
                                    <p:set>
                                      <p:cBhvr override="childStyle">
                                        <p:cTn dur="1" fill="hold" display="0" masterRel="nextClick" afterEffect="1"/>
                                        <p:tgtEl>
                                          <p:spTgt spid="193652"/>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3653"/>
                                        </p:tgtEl>
                                        <p:attrNameLst>
                                          <p:attrName>style.visibility</p:attrName>
                                        </p:attrNameLst>
                                      </p:cBhvr>
                                      <p:to>
                                        <p:strVal val="visible"/>
                                      </p:to>
                                    </p:set>
                                  </p:childTnLst>
                                  <p:subTnLst>
                                    <p:set>
                                      <p:cBhvr override="childStyle">
                                        <p:cTn dur="1" fill="hold" display="0" masterRel="nextClick" afterEffect="1"/>
                                        <p:tgtEl>
                                          <p:spTgt spid="193653"/>
                                        </p:tgtEl>
                                        <p:attrNameLst>
                                          <p:attrName>style.visibility</p:attrName>
                                        </p:attrNameLst>
                                      </p:cBhvr>
                                      <p:to>
                                        <p:strVal val="hidden"/>
                                      </p:to>
                                    </p:set>
                                  </p:sub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93654"/>
                                        </p:tgtEl>
                                        <p:attrNameLst>
                                          <p:attrName>style.visibility</p:attrName>
                                        </p:attrNameLst>
                                      </p:cBhvr>
                                      <p:to>
                                        <p:strVal val="visible"/>
                                      </p:to>
                                    </p:set>
                                  </p:childTnLst>
                                  <p:subTnLst>
                                    <p:set>
                                      <p:cBhvr override="childStyle">
                                        <p:cTn dur="1" fill="hold" display="0" masterRel="nextClick" afterEffect="1"/>
                                        <p:tgtEl>
                                          <p:spTgt spid="193654"/>
                                        </p:tgtEl>
                                        <p:attrNameLst>
                                          <p:attrName>style.visibility</p:attrName>
                                        </p:attrNameLst>
                                      </p:cBhvr>
                                      <p:to>
                                        <p:strVal val="hidden"/>
                                      </p:to>
                                    </p:set>
                                  </p:sub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3655"/>
                                        </p:tgtEl>
                                        <p:attrNameLst>
                                          <p:attrName>style.visibility</p:attrName>
                                        </p:attrNameLst>
                                      </p:cBhvr>
                                      <p:to>
                                        <p:strVal val="visible"/>
                                      </p:to>
                                    </p:set>
                                  </p:childTnLst>
                                  <p:subTnLst>
                                    <p:set>
                                      <p:cBhvr override="childStyle">
                                        <p:cTn dur="1" fill="hold" display="0" masterRel="nextClick" afterEffect="1"/>
                                        <p:tgtEl>
                                          <p:spTgt spid="193655"/>
                                        </p:tgtEl>
                                        <p:attrNameLst>
                                          <p:attrName>style.visibility</p:attrName>
                                        </p:attrNameLst>
                                      </p:cBhvr>
                                      <p:to>
                                        <p:strVal val="hidden"/>
                                      </p:to>
                                    </p:set>
                                  </p:sub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3656"/>
                                        </p:tgtEl>
                                        <p:attrNameLst>
                                          <p:attrName>style.visibility</p:attrName>
                                        </p:attrNameLst>
                                      </p:cBhvr>
                                      <p:to>
                                        <p:strVal val="visible"/>
                                      </p:to>
                                    </p:set>
                                  </p:childTnLst>
                                  <p:subTnLst>
                                    <p:set>
                                      <p:cBhvr override="childStyle">
                                        <p:cTn dur="1" fill="hold" display="0" masterRel="nextClick" afterEffect="1"/>
                                        <p:tgtEl>
                                          <p:spTgt spid="19365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40" grpId="0" animBg="1"/>
      <p:bldP spid="193652" grpId="0" animBg="1"/>
      <p:bldP spid="193653" grpId="0" animBg="1"/>
      <p:bldP spid="193654" grpId="0" animBg="1"/>
      <p:bldP spid="193655" grpId="0" animBg="1"/>
      <p:bldP spid="19365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a:extLst>
              <a:ext uri="{FF2B5EF4-FFF2-40B4-BE49-F238E27FC236}">
                <a16:creationId xmlns="" xmlns:a16="http://schemas.microsoft.com/office/drawing/2014/main" id="{4465BE39-CD6B-404A-9ED0-FF58BD5D1EC3}"/>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C1F9AE4E-8AD2-4A6C-96D9-7090CDF5B6D6}" type="slidenum">
              <a:rPr lang="sv-SE" altLang="en-US">
                <a:latin typeface="Garamond" panose="02020404030301010803" pitchFamily="18" charset="0"/>
              </a:rPr>
              <a:pPr eaLnBrk="1" hangingPunct="1"/>
              <a:t>5</a:t>
            </a:fld>
            <a:endParaRPr lang="sv-SE" altLang="en-US">
              <a:latin typeface="Garamond" panose="02020404030301010803" pitchFamily="18" charset="0"/>
            </a:endParaRPr>
          </a:p>
        </p:txBody>
      </p:sp>
      <p:sp>
        <p:nvSpPr>
          <p:cNvPr id="7171" name="Rectangle 3">
            <a:extLst>
              <a:ext uri="{FF2B5EF4-FFF2-40B4-BE49-F238E27FC236}">
                <a16:creationId xmlns="" xmlns:a16="http://schemas.microsoft.com/office/drawing/2014/main" id="{FDD38147-A967-4EAD-A0A2-515D7A5C5211}"/>
              </a:ext>
            </a:extLst>
          </p:cNvPr>
          <p:cNvSpPr>
            <a:spLocks noGrp="1" noChangeArrowheads="1"/>
          </p:cNvSpPr>
          <p:nvPr>
            <p:ph type="body" idx="1"/>
          </p:nvPr>
        </p:nvSpPr>
        <p:spPr>
          <a:xfrm>
            <a:off x="685800" y="1524000"/>
            <a:ext cx="7772400" cy="4572000"/>
          </a:xfrm>
        </p:spPr>
        <p:txBody>
          <a:bodyPr/>
          <a:lstStyle/>
          <a:p>
            <a:pPr eaLnBrk="1" hangingPunct="1">
              <a:lnSpc>
                <a:spcPct val="90000"/>
              </a:lnSpc>
            </a:pPr>
            <a:r>
              <a:rPr lang="en-US" altLang="en-US" sz="2100" dirty="0">
                <a:ea typeface="ＭＳ Ｐゴシック" panose="020B0600070205080204" pitchFamily="34" charset="-128"/>
              </a:rPr>
              <a:t>Operational computer systems did provide information to run day-to-day operations, and answer</a:t>
            </a:r>
            <a:r>
              <a:rPr lang="ja-JP" altLang="en-US" sz="2100">
                <a:ea typeface="ＭＳ Ｐゴシック" panose="020B0600070205080204" pitchFamily="34" charset="-128"/>
              </a:rPr>
              <a:t>’</a:t>
            </a:r>
            <a:r>
              <a:rPr lang="en-US" altLang="ja-JP" sz="2100" dirty="0">
                <a:ea typeface="ＭＳ Ｐゴシック" panose="020B0600070205080204" pitchFamily="34" charset="-128"/>
              </a:rPr>
              <a:t>s daily questions</a:t>
            </a:r>
          </a:p>
          <a:p>
            <a:pPr eaLnBrk="1" hangingPunct="1">
              <a:lnSpc>
                <a:spcPct val="90000"/>
              </a:lnSpc>
            </a:pPr>
            <a:r>
              <a:rPr lang="en-US" altLang="en-US" sz="2100" dirty="0">
                <a:ea typeface="ＭＳ Ｐゴシック" panose="020B0600070205080204" pitchFamily="34" charset="-128"/>
              </a:rPr>
              <a:t>Also called online transactional processing system (OLTP)</a:t>
            </a:r>
          </a:p>
          <a:p>
            <a:pPr eaLnBrk="1" hangingPunct="1">
              <a:lnSpc>
                <a:spcPct val="90000"/>
              </a:lnSpc>
            </a:pPr>
            <a:r>
              <a:rPr lang="en-US" altLang="en-US" sz="2100" dirty="0">
                <a:ea typeface="ＭＳ Ｐゴシック" panose="020B0600070205080204" pitchFamily="34" charset="-128"/>
              </a:rPr>
              <a:t>Data is read or manipulated with each transaction</a:t>
            </a:r>
          </a:p>
          <a:p>
            <a:pPr eaLnBrk="1" hangingPunct="1">
              <a:lnSpc>
                <a:spcPct val="90000"/>
              </a:lnSpc>
            </a:pPr>
            <a:r>
              <a:rPr lang="en-US" altLang="en-US" sz="2100" dirty="0">
                <a:ea typeface="ＭＳ Ｐゴシック" panose="020B0600070205080204" pitchFamily="34" charset="-128"/>
              </a:rPr>
              <a:t>Transactions/queries are simple, and easy to write </a:t>
            </a:r>
          </a:p>
          <a:p>
            <a:pPr eaLnBrk="1" hangingPunct="1">
              <a:lnSpc>
                <a:spcPct val="90000"/>
              </a:lnSpc>
            </a:pPr>
            <a:r>
              <a:rPr lang="en-US" altLang="en-US" sz="2100" dirty="0">
                <a:ea typeface="ＭＳ Ｐゴシック" panose="020B0600070205080204" pitchFamily="34" charset="-128"/>
              </a:rPr>
              <a:t>Usually for middle management </a:t>
            </a:r>
          </a:p>
          <a:p>
            <a:pPr eaLnBrk="1" hangingPunct="1">
              <a:lnSpc>
                <a:spcPct val="90000"/>
              </a:lnSpc>
            </a:pPr>
            <a:r>
              <a:rPr lang="en-US" altLang="en-US" sz="2100" dirty="0">
                <a:ea typeface="ＭＳ Ｐゴシック" panose="020B0600070205080204" pitchFamily="34" charset="-128"/>
              </a:rPr>
              <a:t>Examples</a:t>
            </a:r>
          </a:p>
          <a:p>
            <a:pPr lvl="1" eaLnBrk="1" hangingPunct="1">
              <a:lnSpc>
                <a:spcPct val="90000"/>
              </a:lnSpc>
            </a:pPr>
            <a:r>
              <a:rPr lang="en-US" altLang="en-US" sz="2000" dirty="0">
                <a:ea typeface="Arial" panose="020B0604020202020204" pitchFamily="34" charset="0"/>
              </a:rPr>
              <a:t>Sales systems</a:t>
            </a:r>
          </a:p>
          <a:p>
            <a:pPr lvl="1" eaLnBrk="1" hangingPunct="1">
              <a:lnSpc>
                <a:spcPct val="90000"/>
              </a:lnSpc>
            </a:pPr>
            <a:r>
              <a:rPr lang="en-US" altLang="en-US" sz="2000" dirty="0">
                <a:ea typeface="Arial" panose="020B0604020202020204" pitchFamily="34" charset="0"/>
              </a:rPr>
              <a:t>Hotel reservation systems</a:t>
            </a:r>
          </a:p>
          <a:p>
            <a:pPr lvl="1" eaLnBrk="1" hangingPunct="1">
              <a:lnSpc>
                <a:spcPct val="90000"/>
              </a:lnSpc>
            </a:pPr>
            <a:r>
              <a:rPr lang="en-US" altLang="en-US" sz="2000" dirty="0">
                <a:ea typeface="Arial" panose="020B0604020202020204" pitchFamily="34" charset="0"/>
              </a:rPr>
              <a:t>HRM Applications</a:t>
            </a:r>
          </a:p>
          <a:p>
            <a:pPr lvl="1" eaLnBrk="1" hangingPunct="1">
              <a:lnSpc>
                <a:spcPct val="90000"/>
              </a:lnSpc>
            </a:pPr>
            <a:r>
              <a:rPr lang="en-US" altLang="en-US" sz="2000" dirty="0" smtClean="0">
                <a:ea typeface="Arial" panose="020B0604020202020204" pitchFamily="34" charset="0"/>
              </a:rPr>
              <a:t>Payroll</a:t>
            </a:r>
            <a:endParaRPr lang="en-US" altLang="en-US" sz="2000" dirty="0">
              <a:ea typeface="Arial" panose="020B0604020202020204" pitchFamily="34" charset="0"/>
            </a:endParaRPr>
          </a:p>
          <a:p>
            <a:pPr lvl="1" eaLnBrk="1" hangingPunct="1">
              <a:lnSpc>
                <a:spcPct val="90000"/>
              </a:lnSpc>
            </a:pPr>
            <a:r>
              <a:rPr lang="en-US" altLang="en-US" sz="2000" dirty="0">
                <a:ea typeface="Arial" panose="020B0604020202020204" pitchFamily="34" charset="0"/>
              </a:rPr>
              <a:t>Etc.</a:t>
            </a:r>
          </a:p>
          <a:p>
            <a:pPr eaLnBrk="1" hangingPunct="1">
              <a:buFont typeface="Wingdings" panose="05000000000000000000" pitchFamily="2" charset="2"/>
              <a:buNone/>
            </a:pPr>
            <a:endParaRPr lang="en-US" altLang="en-US" sz="1700" dirty="0">
              <a:solidFill>
                <a:schemeClr val="bg2"/>
              </a:solidFill>
              <a:ea typeface="ＭＳ Ｐゴシック" panose="020B0600070205080204" pitchFamily="34" charset="-128"/>
            </a:endParaRPr>
          </a:p>
        </p:txBody>
      </p:sp>
      <p:sp>
        <p:nvSpPr>
          <p:cNvPr id="7172" name="Rectangle 4">
            <a:extLst>
              <a:ext uri="{FF2B5EF4-FFF2-40B4-BE49-F238E27FC236}">
                <a16:creationId xmlns="" xmlns:a16="http://schemas.microsoft.com/office/drawing/2014/main" id="{66296DE6-12B4-47BE-A0F9-0077997B4B86}"/>
              </a:ext>
            </a:extLst>
          </p:cNvPr>
          <p:cNvSpPr>
            <a:spLocks noGrp="1" noChangeArrowheads="1"/>
          </p:cNvSpPr>
          <p:nvPr>
            <p:ph type="title"/>
          </p:nvPr>
        </p:nvSpPr>
        <p:spPr>
          <a:xfrm>
            <a:off x="685800" y="304800"/>
            <a:ext cx="7772400" cy="1143000"/>
          </a:xfrm>
        </p:spPr>
        <p:txBody>
          <a:bodyPr anchor="ctr"/>
          <a:lstStyle/>
          <a:p>
            <a:pPr eaLnBrk="1" hangingPunct="1"/>
            <a:r>
              <a:rPr lang="en-US" altLang="en-US">
                <a:ea typeface="ＭＳ Ｐゴシック" panose="020B0600070205080204" pitchFamily="34" charset="-128"/>
              </a:rPr>
              <a:t>Operational Sources (OLTP</a:t>
            </a:r>
            <a:r>
              <a:rPr lang="ja-JP" altLang="en-US">
                <a:ea typeface="ＭＳ Ｐゴシック" panose="020B0600070205080204" pitchFamily="34" charset="-128"/>
              </a:rPr>
              <a:t>’</a:t>
            </a:r>
            <a:r>
              <a:rPr lang="en-US" altLang="ja-JP">
                <a:ea typeface="ＭＳ Ｐゴシック" panose="020B0600070205080204" pitchFamily="34" charset="-128"/>
              </a:rPr>
              <a:t>s)</a:t>
            </a:r>
            <a:endParaRPr lang="en-US" altLang="en-US">
              <a:ea typeface="ＭＳ Ｐゴシック" panose="020B0600070205080204" pitchFamily="34" charset="-128"/>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 xmlns:a16="http://schemas.microsoft.com/office/drawing/2014/main" id="{1F96F41D-A7AD-4BB5-8819-C4DF3F0F86A3}"/>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B5326951-7D7D-4457-9D00-91228AC873C2}" type="slidenum">
              <a:rPr lang="sv-SE" altLang="en-US">
                <a:latin typeface="Garamond" panose="02020404030301010803" pitchFamily="18" charset="0"/>
              </a:rPr>
              <a:pPr eaLnBrk="1" hangingPunct="1"/>
              <a:t>6</a:t>
            </a:fld>
            <a:endParaRPr lang="sv-SE" altLang="en-US">
              <a:latin typeface="Garamond" panose="02020404030301010803" pitchFamily="18" charset="0"/>
            </a:endParaRPr>
          </a:p>
        </p:txBody>
      </p:sp>
      <p:sp>
        <p:nvSpPr>
          <p:cNvPr id="8195" name="Rectangle 2">
            <a:extLst>
              <a:ext uri="{FF2B5EF4-FFF2-40B4-BE49-F238E27FC236}">
                <a16:creationId xmlns="" xmlns:a16="http://schemas.microsoft.com/office/drawing/2014/main" id="{834C7ACE-9494-4527-A1BE-47E92B36EF7A}"/>
              </a:ext>
            </a:extLst>
          </p:cNvPr>
          <p:cNvSpPr>
            <a:spLocks noGrp="1" noChangeArrowheads="1"/>
          </p:cNvSpPr>
          <p:nvPr>
            <p:ph type="title"/>
          </p:nvPr>
        </p:nvSpPr>
        <p:spPr>
          <a:xfrm>
            <a:off x="685800" y="152400"/>
            <a:ext cx="7772400" cy="1143000"/>
          </a:xfrm>
        </p:spPr>
        <p:txBody>
          <a:bodyPr/>
          <a:lstStyle/>
          <a:p>
            <a:pPr eaLnBrk="1" hangingPunct="1"/>
            <a:r>
              <a:rPr lang="en-US" altLang="en-US">
                <a:ea typeface="ＭＳ Ｐゴシック" panose="020B0600070205080204" pitchFamily="34" charset="-128"/>
              </a:rPr>
              <a:t>Typical decision queries</a:t>
            </a:r>
          </a:p>
        </p:txBody>
      </p:sp>
      <p:sp>
        <p:nvSpPr>
          <p:cNvPr id="8196" name="Rectangle 4" descr="Rectangle: Click to edit Master text styles&#10;Second level&#10;Third level&#10;Fourth level&#10;Fifth level">
            <a:extLst>
              <a:ext uri="{FF2B5EF4-FFF2-40B4-BE49-F238E27FC236}">
                <a16:creationId xmlns="" xmlns:a16="http://schemas.microsoft.com/office/drawing/2014/main" id="{81ED82D2-BC04-4BFA-978E-83164D86B615}"/>
              </a:ext>
            </a:extLst>
          </p:cNvPr>
          <p:cNvSpPr>
            <a:spLocks noGrp="1" noChangeArrowheads="1"/>
          </p:cNvSpPr>
          <p:nvPr>
            <p:ph type="body" idx="1"/>
          </p:nvPr>
        </p:nvSpPr>
        <p:spPr>
          <a:xfrm>
            <a:off x="685800" y="914400"/>
            <a:ext cx="7772400" cy="4648200"/>
          </a:xfrm>
        </p:spPr>
        <p:txBody>
          <a:bodyPr/>
          <a:lstStyle/>
          <a:p>
            <a:pPr eaLnBrk="1" hangingPunct="1">
              <a:lnSpc>
                <a:spcPct val="90000"/>
              </a:lnSpc>
            </a:pPr>
            <a:r>
              <a:rPr lang="en-US" altLang="en-US" sz="2100">
                <a:ea typeface="ＭＳ Ｐゴシック" panose="020B0600070205080204" pitchFamily="34" charset="-128"/>
              </a:rPr>
              <a:t>Data set are mounting everywhere, but not useful for decision support</a:t>
            </a:r>
          </a:p>
          <a:p>
            <a:pPr eaLnBrk="1" hangingPunct="1">
              <a:lnSpc>
                <a:spcPct val="90000"/>
              </a:lnSpc>
            </a:pPr>
            <a:r>
              <a:rPr lang="en-US" altLang="en-US" sz="2100">
                <a:ea typeface="ＭＳ Ｐゴシック" panose="020B0600070205080204" pitchFamily="34" charset="-128"/>
              </a:rPr>
              <a:t>Strategic Information = Enterprise wide essential data </a:t>
            </a:r>
          </a:p>
          <a:p>
            <a:pPr eaLnBrk="1" hangingPunct="1">
              <a:lnSpc>
                <a:spcPct val="90000"/>
              </a:lnSpc>
            </a:pPr>
            <a:r>
              <a:rPr lang="en-US" altLang="en-US" sz="2100">
                <a:ea typeface="ＭＳ Ｐゴシック" panose="020B0600070205080204" pitchFamily="34" charset="-128"/>
              </a:rPr>
              <a:t>People need timely strategic information to take appropriate decisions to get competitive advantages </a:t>
            </a:r>
          </a:p>
          <a:p>
            <a:pPr eaLnBrk="1" hangingPunct="1">
              <a:lnSpc>
                <a:spcPct val="90000"/>
              </a:lnSpc>
            </a:pPr>
            <a:r>
              <a:rPr lang="en-US" altLang="en-US" sz="2100">
                <a:ea typeface="ＭＳ Ｐゴシック" panose="020B0600070205080204" pitchFamily="34" charset="-128"/>
              </a:rPr>
              <a:t>Decision-making require complex questions from integrated data.</a:t>
            </a:r>
          </a:p>
          <a:p>
            <a:pPr eaLnBrk="1" hangingPunct="1">
              <a:lnSpc>
                <a:spcPct val="90000"/>
              </a:lnSpc>
            </a:pPr>
            <a:r>
              <a:rPr lang="en-US" altLang="en-US" sz="2100">
                <a:ea typeface="ＭＳ Ｐゴシック" panose="020B0600070205080204" pitchFamily="34" charset="-128"/>
              </a:rPr>
              <a:t>Decision makers want to know: </a:t>
            </a:r>
          </a:p>
          <a:p>
            <a:pPr lvl="1" eaLnBrk="1" hangingPunct="1">
              <a:lnSpc>
                <a:spcPct val="90000"/>
              </a:lnSpc>
            </a:pPr>
            <a:r>
              <a:rPr lang="en-US" altLang="en-US" sz="2000">
                <a:ea typeface="Arial" panose="020B0604020202020204" pitchFamily="34" charset="0"/>
              </a:rPr>
              <a:t>Where to build new oil warehouse?</a:t>
            </a:r>
          </a:p>
          <a:p>
            <a:pPr lvl="1" eaLnBrk="1" hangingPunct="1">
              <a:lnSpc>
                <a:spcPct val="90000"/>
              </a:lnSpc>
            </a:pPr>
            <a:r>
              <a:rPr lang="en-US" altLang="en-US" sz="2000">
                <a:ea typeface="Arial" panose="020B0604020202020204" pitchFamily="34" charset="0"/>
              </a:rPr>
              <a:t>Which market they should strengthen?</a:t>
            </a:r>
          </a:p>
          <a:p>
            <a:pPr lvl="1" eaLnBrk="1" hangingPunct="1">
              <a:lnSpc>
                <a:spcPct val="90000"/>
              </a:lnSpc>
            </a:pPr>
            <a:r>
              <a:rPr lang="en-US" altLang="en-US" sz="2000">
                <a:ea typeface="Arial" panose="020B0604020202020204" pitchFamily="34" charset="0"/>
              </a:rPr>
              <a:t>Which customer groups are most profitable?</a:t>
            </a:r>
          </a:p>
          <a:p>
            <a:pPr lvl="1" eaLnBrk="1" hangingPunct="1">
              <a:lnSpc>
                <a:spcPct val="90000"/>
              </a:lnSpc>
            </a:pPr>
            <a:r>
              <a:rPr lang="en-US" altLang="en-US" sz="2000">
                <a:ea typeface="Arial" panose="020B0604020202020204" pitchFamily="34" charset="0"/>
              </a:rPr>
              <a:t>How much is the total sale by month/ year/ quarter for each offices?</a:t>
            </a:r>
          </a:p>
          <a:p>
            <a:pPr lvl="1" eaLnBrk="1" hangingPunct="1">
              <a:lnSpc>
                <a:spcPct val="90000"/>
              </a:lnSpc>
            </a:pPr>
            <a:r>
              <a:rPr lang="en-US" altLang="en-US" sz="2000">
                <a:ea typeface="Arial" panose="020B0604020202020204" pitchFamily="34" charset="0"/>
              </a:rPr>
              <a:t>Is there any relation between promotion campaigns and sales growth?</a:t>
            </a:r>
          </a:p>
          <a:p>
            <a:pPr eaLnBrk="1" hangingPunct="1">
              <a:lnSpc>
                <a:spcPct val="90000"/>
              </a:lnSpc>
            </a:pPr>
            <a:r>
              <a:rPr lang="en-US" altLang="en-US" sz="2100">
                <a:ea typeface="ＭＳ Ｐゴシック" panose="020B0600070205080204" pitchFamily="34" charset="-128"/>
              </a:rPr>
              <a:t>Can OLTP answer all such questions, </a:t>
            </a:r>
            <a:r>
              <a:rPr lang="en-US" altLang="en-US" sz="2100">
                <a:ea typeface="ＭＳ Ｐゴシック" panose="020B0600070205080204" pitchFamily="34" charset="-128"/>
                <a:sym typeface="Wingdings" panose="05000000000000000000" pitchFamily="2" charset="2"/>
              </a:rPr>
              <a:t></a:t>
            </a:r>
            <a:r>
              <a:rPr lang="en-US" altLang="en-US" sz="2100">
                <a:ea typeface="ＭＳ Ｐゴシック" panose="020B0600070205080204" pitchFamily="34" charset="-128"/>
              </a:rPr>
              <a:t> efficiently?</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 xmlns:a16="http://schemas.microsoft.com/office/drawing/2014/main" id="{741FDBE9-82B9-46FD-AB0E-D72EC788F111}"/>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22168522-20C1-48D8-BA20-BF8112D15B85}" type="slidenum">
              <a:rPr lang="sv-SE" altLang="en-US">
                <a:latin typeface="Garamond" panose="02020404030301010803" pitchFamily="18" charset="0"/>
              </a:rPr>
              <a:pPr eaLnBrk="1" hangingPunct="1"/>
              <a:t>7</a:t>
            </a:fld>
            <a:endParaRPr lang="sv-SE" altLang="en-US">
              <a:latin typeface="Garamond" panose="02020404030301010803" pitchFamily="18" charset="0"/>
            </a:endParaRPr>
          </a:p>
        </p:txBody>
      </p:sp>
      <p:sp>
        <p:nvSpPr>
          <p:cNvPr id="9219" name="Rectangle 2">
            <a:extLst>
              <a:ext uri="{FF2B5EF4-FFF2-40B4-BE49-F238E27FC236}">
                <a16:creationId xmlns="" xmlns:a16="http://schemas.microsoft.com/office/drawing/2014/main" id="{0C924F49-DDB1-410C-9BDA-737227B99307}"/>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Characteristics of strategic information</a:t>
            </a:r>
          </a:p>
        </p:txBody>
      </p:sp>
      <p:sp>
        <p:nvSpPr>
          <p:cNvPr id="9220" name="Rectangle 3">
            <a:extLst>
              <a:ext uri="{FF2B5EF4-FFF2-40B4-BE49-F238E27FC236}">
                <a16:creationId xmlns="" xmlns:a16="http://schemas.microsoft.com/office/drawing/2014/main" id="{57577F05-C6DE-4E53-B26C-C4C7975C909B}"/>
              </a:ext>
            </a:extLst>
          </p:cNvPr>
          <p:cNvSpPr>
            <a:spLocks noGrp="1" noChangeArrowheads="1"/>
          </p:cNvSpPr>
          <p:nvPr>
            <p:ph type="body" idx="1"/>
          </p:nvPr>
        </p:nvSpPr>
        <p:spPr>
          <a:xfrm>
            <a:off x="685800" y="1600200"/>
            <a:ext cx="7772400" cy="4114800"/>
          </a:xfrm>
        </p:spPr>
        <p:txBody>
          <a:bodyPr/>
          <a:lstStyle/>
          <a:p>
            <a:pPr eaLnBrk="1" hangingPunct="1">
              <a:lnSpc>
                <a:spcPct val="80000"/>
              </a:lnSpc>
            </a:pPr>
            <a:r>
              <a:rPr lang="en-US" altLang="en-US" sz="2100">
                <a:ea typeface="ＭＳ Ｐゴシック" panose="020B0600070205080204" pitchFamily="34" charset="-128"/>
              </a:rPr>
              <a:t>Integrated</a:t>
            </a:r>
          </a:p>
          <a:p>
            <a:pPr lvl="1" eaLnBrk="1" hangingPunct="1">
              <a:lnSpc>
                <a:spcPct val="80000"/>
              </a:lnSpc>
            </a:pPr>
            <a:r>
              <a:rPr lang="en-US" altLang="en-US" sz="2000">
                <a:ea typeface="Arial" panose="020B0604020202020204" pitchFamily="34" charset="0"/>
              </a:rPr>
              <a:t>Must have a single, enterprise-wide view</a:t>
            </a:r>
          </a:p>
          <a:p>
            <a:pPr eaLnBrk="1" hangingPunct="1">
              <a:lnSpc>
                <a:spcPct val="80000"/>
              </a:lnSpc>
            </a:pPr>
            <a:r>
              <a:rPr lang="en-US" altLang="en-US" sz="2100">
                <a:ea typeface="ＭＳ Ｐゴシック" panose="020B0600070205080204" pitchFamily="34" charset="-128"/>
              </a:rPr>
              <a:t>Data Integrity</a:t>
            </a:r>
          </a:p>
          <a:p>
            <a:pPr lvl="1" eaLnBrk="1" hangingPunct="1">
              <a:lnSpc>
                <a:spcPct val="80000"/>
              </a:lnSpc>
            </a:pPr>
            <a:r>
              <a:rPr lang="en-US" altLang="en-US" sz="2000">
                <a:ea typeface="Arial" panose="020B0604020202020204" pitchFamily="34" charset="0"/>
              </a:rPr>
              <a:t>Information must be accurate and must conform to business rules</a:t>
            </a:r>
          </a:p>
          <a:p>
            <a:pPr eaLnBrk="1" hangingPunct="1">
              <a:lnSpc>
                <a:spcPct val="80000"/>
              </a:lnSpc>
            </a:pPr>
            <a:r>
              <a:rPr lang="en-US" altLang="en-US" sz="2100">
                <a:ea typeface="ＭＳ Ｐゴシック" panose="020B0600070205080204" pitchFamily="34" charset="-128"/>
              </a:rPr>
              <a:t>Accessible</a:t>
            </a:r>
          </a:p>
          <a:p>
            <a:pPr lvl="1" eaLnBrk="1" hangingPunct="1">
              <a:lnSpc>
                <a:spcPct val="80000"/>
              </a:lnSpc>
            </a:pPr>
            <a:r>
              <a:rPr lang="en-US" altLang="en-US" sz="2000">
                <a:ea typeface="Arial" panose="020B0604020202020204" pitchFamily="34" charset="0"/>
              </a:rPr>
              <a:t>Easily accessible with intuitive access paths and responsive for analysis  </a:t>
            </a:r>
          </a:p>
          <a:p>
            <a:pPr eaLnBrk="1" hangingPunct="1">
              <a:lnSpc>
                <a:spcPct val="80000"/>
              </a:lnSpc>
            </a:pPr>
            <a:r>
              <a:rPr lang="en-US" altLang="en-US" sz="2100">
                <a:ea typeface="ＭＳ Ｐゴシック" panose="020B0600070205080204" pitchFamily="34" charset="-128"/>
              </a:rPr>
              <a:t>Credible</a:t>
            </a:r>
          </a:p>
          <a:p>
            <a:pPr lvl="1" eaLnBrk="1" hangingPunct="1">
              <a:lnSpc>
                <a:spcPct val="80000"/>
              </a:lnSpc>
            </a:pPr>
            <a:r>
              <a:rPr lang="en-US" altLang="en-US" sz="2000">
                <a:ea typeface="Arial" panose="020B0604020202020204" pitchFamily="34" charset="0"/>
              </a:rPr>
              <a:t>Every business factor must have one and only one value</a:t>
            </a:r>
          </a:p>
          <a:p>
            <a:pPr eaLnBrk="1" hangingPunct="1">
              <a:lnSpc>
                <a:spcPct val="80000"/>
              </a:lnSpc>
            </a:pPr>
            <a:r>
              <a:rPr lang="en-US" altLang="en-US" sz="2100">
                <a:ea typeface="ＭＳ Ｐゴシック" panose="020B0600070205080204" pitchFamily="34" charset="-128"/>
              </a:rPr>
              <a:t>Timely</a:t>
            </a:r>
          </a:p>
          <a:p>
            <a:pPr lvl="1" eaLnBrk="1" hangingPunct="1">
              <a:lnSpc>
                <a:spcPct val="80000"/>
              </a:lnSpc>
            </a:pPr>
            <a:r>
              <a:rPr lang="en-US" altLang="en-US" sz="2000">
                <a:ea typeface="Arial" panose="020B0604020202020204" pitchFamily="34" charset="0"/>
              </a:rPr>
              <a:t>Information must be available within the stipulated time frame</a:t>
            </a:r>
          </a:p>
          <a:p>
            <a:pPr eaLnBrk="1" hangingPunct="1">
              <a:lnSpc>
                <a:spcPct val="80000"/>
              </a:lnSpc>
              <a:buFont typeface="Wingdings" panose="05000000000000000000" pitchFamily="2" charset="2"/>
              <a:buNone/>
            </a:pPr>
            <a:endParaRPr lang="en-US" altLang="en-US" sz="2100">
              <a:solidFill>
                <a:schemeClr val="bg2"/>
              </a:solidFill>
              <a:ea typeface="ＭＳ Ｐゴシック" panose="020B0600070205080204" pitchFamily="34" charset="-128"/>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 xmlns:a16="http://schemas.microsoft.com/office/drawing/2014/main" id="{06D31C51-0AC8-4C09-83B4-BB3CEEE6C520}"/>
              </a:ext>
            </a:extLst>
          </p:cNvPr>
          <p:cNvSpPr>
            <a:spLocks noGrp="1"/>
          </p:cNvSpPr>
          <p:nvPr>
            <p:ph type="title"/>
          </p:nvPr>
        </p:nvSpPr>
        <p:spPr/>
        <p:txBody>
          <a:bodyPr/>
          <a:lstStyle/>
          <a:p>
            <a:r>
              <a:rPr lang="en-US" altLang="en-US">
                <a:ea typeface="ＭＳ Ｐゴシック" panose="020B0600070205080204" pitchFamily="34" charset="-128"/>
              </a:rPr>
              <a:t>Information Crisis</a:t>
            </a:r>
          </a:p>
        </p:txBody>
      </p:sp>
      <p:sp>
        <p:nvSpPr>
          <p:cNvPr id="3" name="Content Placeholder 2">
            <a:extLst>
              <a:ext uri="{FF2B5EF4-FFF2-40B4-BE49-F238E27FC236}">
                <a16:creationId xmlns="" xmlns:a16="http://schemas.microsoft.com/office/drawing/2014/main" id="{65CCC670-BD22-4827-AE74-C83D1BBAE765}"/>
              </a:ext>
            </a:extLst>
          </p:cNvPr>
          <p:cNvSpPr>
            <a:spLocks noGrp="1"/>
          </p:cNvSpPr>
          <p:nvPr>
            <p:ph idx="1"/>
          </p:nvPr>
        </p:nvSpPr>
        <p:spPr/>
        <p:txBody>
          <a:bodyPr/>
          <a:lstStyle/>
          <a:p>
            <a:pPr>
              <a:defRPr/>
            </a:pPr>
            <a:r>
              <a:rPr lang="en-US" dirty="0"/>
              <a:t>It means “lack of information”</a:t>
            </a:r>
          </a:p>
          <a:p>
            <a:pPr>
              <a:defRPr/>
            </a:pPr>
            <a:r>
              <a:rPr lang="en-US" dirty="0"/>
              <a:t>Two major reasons</a:t>
            </a:r>
          </a:p>
          <a:p>
            <a:pPr lvl="1" eaLnBrk="1" hangingPunct="1">
              <a:lnSpc>
                <a:spcPct val="80000"/>
              </a:lnSpc>
              <a:defRPr/>
            </a:pPr>
            <a:r>
              <a:rPr lang="en-US" sz="2000" dirty="0"/>
              <a:t>Availability of huge data on disparate platforms and in diverse forms, Moreover, the data must be available in a format that helps in spotting trends and pattern in the data.</a:t>
            </a:r>
          </a:p>
          <a:p>
            <a:pPr marL="344487" lvl="1" indent="0" eaLnBrk="1" hangingPunct="1">
              <a:lnSpc>
                <a:spcPct val="80000"/>
              </a:lnSpc>
              <a:buFont typeface="Wingdings" panose="05000000000000000000" pitchFamily="2" charset="2"/>
              <a:buNone/>
              <a:defRPr/>
            </a:pPr>
            <a:endParaRPr lang="en-US" sz="2000" dirty="0"/>
          </a:p>
          <a:p>
            <a:pPr lvl="1" eaLnBrk="1" hangingPunct="1">
              <a:lnSpc>
                <a:spcPct val="80000"/>
              </a:lnSpc>
              <a:defRPr/>
            </a:pPr>
            <a:r>
              <a:rPr lang="en-US" sz="2000" dirty="0"/>
              <a:t>The incapability of information technology or information systems to turn this data in usable form</a:t>
            </a:r>
          </a:p>
        </p:txBody>
      </p:sp>
      <p:sp>
        <p:nvSpPr>
          <p:cNvPr id="10244" name="Slide Number Placeholder 3">
            <a:extLst>
              <a:ext uri="{FF2B5EF4-FFF2-40B4-BE49-F238E27FC236}">
                <a16:creationId xmlns="" xmlns:a16="http://schemas.microsoft.com/office/drawing/2014/main" id="{B576E17B-AEB4-4903-A651-7A97746E111E}"/>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F349415C-7888-4450-B172-1B6BCCB506AD}" type="slidenum">
              <a:rPr lang="sv-SE" altLang="en-US">
                <a:latin typeface="Garamond" panose="02020404030301010803" pitchFamily="18" charset="0"/>
              </a:rPr>
              <a:pPr eaLnBrk="1" hangingPunct="1"/>
              <a:t>8</a:t>
            </a:fld>
            <a:endParaRPr lang="sv-SE" altLang="en-US">
              <a:latin typeface="Garamond" panose="02020404030301010803"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 xmlns:a16="http://schemas.microsoft.com/office/drawing/2014/main" id="{73BD7D5B-5DD6-4E1C-B550-C8D0503E6582}"/>
              </a:ext>
            </a:extLst>
          </p:cNvPr>
          <p:cNvSpPr>
            <a:spLocks noGrp="1"/>
          </p:cNvSpPr>
          <p:nvPr>
            <p:ph type="title"/>
          </p:nvPr>
        </p:nvSpPr>
        <p:spPr>
          <a:xfrm>
            <a:off x="457200" y="152400"/>
            <a:ext cx="8229600" cy="1139825"/>
          </a:xfrm>
        </p:spPr>
        <p:txBody>
          <a:bodyPr/>
          <a:lstStyle/>
          <a:p>
            <a:r>
              <a:rPr lang="en-US" altLang="en-US">
                <a:ea typeface="ＭＳ Ｐゴシック" panose="020B0600070205080204" pitchFamily="34" charset="-128"/>
              </a:rPr>
              <a:t>History of Decision Support Systems (DSS)</a:t>
            </a:r>
          </a:p>
        </p:txBody>
      </p:sp>
      <p:sp>
        <p:nvSpPr>
          <p:cNvPr id="11267" name="Content Placeholder 2">
            <a:extLst>
              <a:ext uri="{FF2B5EF4-FFF2-40B4-BE49-F238E27FC236}">
                <a16:creationId xmlns="" xmlns:a16="http://schemas.microsoft.com/office/drawing/2014/main" id="{8F172E5B-A804-474F-A916-FFCD7CEC647E}"/>
              </a:ext>
            </a:extLst>
          </p:cNvPr>
          <p:cNvSpPr>
            <a:spLocks noGrp="1"/>
          </p:cNvSpPr>
          <p:nvPr>
            <p:ph idx="1"/>
          </p:nvPr>
        </p:nvSpPr>
        <p:spPr>
          <a:xfrm>
            <a:off x="457200" y="1295400"/>
            <a:ext cx="8229600" cy="4530725"/>
          </a:xfrm>
        </p:spPr>
        <p:txBody>
          <a:bodyPr/>
          <a:lstStyle/>
          <a:p>
            <a:r>
              <a:rPr lang="en-US" altLang="en-US" sz="2100">
                <a:ea typeface="ＭＳ Ｐゴシック" panose="020B0600070205080204" pitchFamily="34" charset="-128"/>
              </a:rPr>
              <a:t>Ad-Hoc Reports: IT created small program for each required report.</a:t>
            </a:r>
          </a:p>
          <a:p>
            <a:r>
              <a:rPr lang="en-US" altLang="en-US" sz="2100">
                <a:ea typeface="ＭＳ Ｐゴシック" panose="020B0600070205080204" pitchFamily="34" charset="-128"/>
              </a:rPr>
              <a:t>Special Extract Programs: Collection of programs written for anticipated reports.</a:t>
            </a:r>
          </a:p>
          <a:p>
            <a:r>
              <a:rPr lang="en-US" altLang="en-US" sz="2100">
                <a:ea typeface="ＭＳ Ｐゴシック" panose="020B0600070205080204" pitchFamily="34" charset="-128"/>
              </a:rPr>
              <a:t>Small Applications: Small programs with the option of taking parameters as input from the user</a:t>
            </a:r>
          </a:p>
          <a:p>
            <a:r>
              <a:rPr lang="en-US" altLang="en-US" sz="2100">
                <a:ea typeface="ＭＳ Ｐゴシック" panose="020B0600070205080204" pitchFamily="34" charset="-128"/>
              </a:rPr>
              <a:t>IT centers: Special places where users can go for asking pre-generated reports. IT people present there helped users to obtain information.</a:t>
            </a:r>
          </a:p>
          <a:p>
            <a:r>
              <a:rPr lang="en-US" altLang="en-US" sz="2100">
                <a:ea typeface="ＭＳ Ｐゴシック" panose="020B0600070205080204" pitchFamily="34" charset="-128"/>
              </a:rPr>
              <a:t>Decision Support Systems: Much sophisticated systems, menu driven, online processing, printable reports, but were made using extracted files.</a:t>
            </a:r>
          </a:p>
          <a:p>
            <a:r>
              <a:rPr lang="en-US" altLang="en-US" sz="2100">
                <a:ea typeface="ＭＳ Ｐゴシック" panose="020B0600070205080204" pitchFamily="34" charset="-128"/>
              </a:rPr>
              <a:t>Executive Information Systems: Simple reports on user desktop, but again preprogramed reports.</a:t>
            </a:r>
          </a:p>
        </p:txBody>
      </p:sp>
      <p:sp>
        <p:nvSpPr>
          <p:cNvPr id="11268" name="Slide Number Placeholder 3">
            <a:extLst>
              <a:ext uri="{FF2B5EF4-FFF2-40B4-BE49-F238E27FC236}">
                <a16:creationId xmlns="" xmlns:a16="http://schemas.microsoft.com/office/drawing/2014/main" id="{CEDF4738-7F62-44A5-AA93-8A9D54CE481A}"/>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487F8501-3E8C-452E-B11C-D989A48CE725}" type="slidenum">
              <a:rPr lang="sv-SE" altLang="en-US">
                <a:latin typeface="Garamond" panose="02020404030301010803" pitchFamily="18" charset="0"/>
              </a:rPr>
              <a:pPr eaLnBrk="1" hangingPunct="1"/>
              <a:t>9</a:t>
            </a:fld>
            <a:endParaRPr lang="sv-SE" altLang="en-US">
              <a:latin typeface="Garamond" panose="02020404030301010803"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a:extLst>
              <a:ext uri="{FF2B5EF4-FFF2-40B4-BE49-F238E27FC236}">
                <a16:creationId xmlns="" xmlns:a16="http://schemas.microsoft.com/office/drawing/2014/main" id="{BF32061F-0FB4-4B1D-8ECD-A36FBC7330A6}"/>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EBCFA742-FDF0-42A2-8A66-9C709AF2AC32}" type="slidenum">
              <a:rPr lang="sv-SE" altLang="en-US">
                <a:latin typeface="Garamond" panose="02020404030301010803" pitchFamily="18" charset="0"/>
              </a:rPr>
              <a:pPr eaLnBrk="1" hangingPunct="1"/>
              <a:t>10</a:t>
            </a:fld>
            <a:endParaRPr lang="sv-SE" altLang="en-US">
              <a:latin typeface="Garamond" panose="02020404030301010803" pitchFamily="18" charset="0"/>
            </a:endParaRPr>
          </a:p>
        </p:txBody>
      </p:sp>
      <p:sp>
        <p:nvSpPr>
          <p:cNvPr id="12291" name="Rectangle 2">
            <a:extLst>
              <a:ext uri="{FF2B5EF4-FFF2-40B4-BE49-F238E27FC236}">
                <a16:creationId xmlns="" xmlns:a16="http://schemas.microsoft.com/office/drawing/2014/main" id="{C5BF2195-98C3-443B-92FA-37F1F47626BB}"/>
              </a:ext>
            </a:extLst>
          </p:cNvPr>
          <p:cNvSpPr>
            <a:spLocks noGrp="1" noChangeArrowheads="1"/>
          </p:cNvSpPr>
          <p:nvPr>
            <p:ph type="title"/>
          </p:nvPr>
        </p:nvSpPr>
        <p:spPr>
          <a:xfrm>
            <a:off x="685800" y="304800"/>
            <a:ext cx="7772400" cy="1143000"/>
          </a:xfrm>
        </p:spPr>
        <p:txBody>
          <a:bodyPr/>
          <a:lstStyle/>
          <a:p>
            <a:pPr eaLnBrk="1" hangingPunct="1"/>
            <a:r>
              <a:rPr lang="en-US" altLang="en-US">
                <a:ea typeface="ＭＳ Ｐゴシック" panose="020B0600070205080204" pitchFamily="34" charset="-128"/>
              </a:rPr>
              <a:t>Failure of old DSS (cont.)</a:t>
            </a:r>
          </a:p>
        </p:txBody>
      </p:sp>
      <p:sp>
        <p:nvSpPr>
          <p:cNvPr id="12292" name="Rectangle 3">
            <a:extLst>
              <a:ext uri="{FF2B5EF4-FFF2-40B4-BE49-F238E27FC236}">
                <a16:creationId xmlns="" xmlns:a16="http://schemas.microsoft.com/office/drawing/2014/main" id="{88261F96-9200-4191-B7AE-EE179FF6097E}"/>
              </a:ext>
            </a:extLst>
          </p:cNvPr>
          <p:cNvSpPr>
            <a:spLocks noGrp="1" noChangeArrowheads="1"/>
          </p:cNvSpPr>
          <p:nvPr>
            <p:ph type="body" idx="1"/>
          </p:nvPr>
        </p:nvSpPr>
        <p:spPr>
          <a:xfrm>
            <a:off x="685800" y="1447800"/>
            <a:ext cx="7772400" cy="4419600"/>
          </a:xfrm>
        </p:spPr>
        <p:txBody>
          <a:bodyPr/>
          <a:lstStyle/>
          <a:p>
            <a:pPr eaLnBrk="1" hangingPunct="1">
              <a:lnSpc>
                <a:spcPct val="80000"/>
              </a:lnSpc>
            </a:pPr>
            <a:r>
              <a:rPr lang="en-US" altLang="en-US" sz="2400">
                <a:ea typeface="ＭＳ Ｐゴシック" panose="020B0600070205080204" pitchFamily="34" charset="-128"/>
              </a:rPr>
              <a:t>Inability to provide strategic information</a:t>
            </a:r>
          </a:p>
          <a:p>
            <a:pPr eaLnBrk="1" hangingPunct="1">
              <a:lnSpc>
                <a:spcPct val="80000"/>
              </a:lnSpc>
            </a:pPr>
            <a:r>
              <a:rPr lang="en-US" altLang="en-US" sz="2400">
                <a:ea typeface="ＭＳ Ｐゴシック" panose="020B0600070205080204" pitchFamily="34" charset="-128"/>
              </a:rPr>
              <a:t>IT receive too many ad hoc requests, so large over load</a:t>
            </a:r>
          </a:p>
          <a:p>
            <a:pPr eaLnBrk="1" hangingPunct="1">
              <a:lnSpc>
                <a:spcPct val="80000"/>
              </a:lnSpc>
            </a:pPr>
            <a:r>
              <a:rPr lang="en-US" altLang="en-US" sz="2400">
                <a:ea typeface="ＭＳ Ｐゴシック" panose="020B0600070205080204" pitchFamily="34" charset="-128"/>
              </a:rPr>
              <a:t>Requests are not only numerous, they change overtime</a:t>
            </a:r>
          </a:p>
          <a:p>
            <a:pPr eaLnBrk="1" hangingPunct="1">
              <a:lnSpc>
                <a:spcPct val="80000"/>
              </a:lnSpc>
            </a:pPr>
            <a:r>
              <a:rPr lang="en-US" altLang="en-US" sz="2400">
                <a:ea typeface="ＭＳ Ｐゴシック" panose="020B0600070205080204" pitchFamily="34" charset="-128"/>
              </a:rPr>
              <a:t>For more understanding more reports </a:t>
            </a:r>
          </a:p>
          <a:p>
            <a:pPr eaLnBrk="1" hangingPunct="1">
              <a:lnSpc>
                <a:spcPct val="80000"/>
              </a:lnSpc>
            </a:pPr>
            <a:r>
              <a:rPr lang="en-US" altLang="en-US" sz="2400">
                <a:ea typeface="ＭＳ Ｐゴシック" panose="020B0600070205080204" pitchFamily="34" charset="-128"/>
              </a:rPr>
              <a:t>Users are in spiral of reports</a:t>
            </a:r>
          </a:p>
          <a:p>
            <a:pPr eaLnBrk="1" hangingPunct="1">
              <a:lnSpc>
                <a:spcPct val="80000"/>
              </a:lnSpc>
            </a:pPr>
            <a:r>
              <a:rPr lang="en-US" altLang="en-US" sz="2400">
                <a:ea typeface="ＭＳ Ｐゴシック" panose="020B0600070205080204" pitchFamily="34" charset="-128"/>
              </a:rPr>
              <a:t>Users have to depend on IT for information</a:t>
            </a:r>
          </a:p>
          <a:p>
            <a:pPr eaLnBrk="1" hangingPunct="1">
              <a:lnSpc>
                <a:spcPct val="80000"/>
              </a:lnSpc>
            </a:pPr>
            <a:r>
              <a:rPr lang="en-US" altLang="en-US" sz="2400">
                <a:ea typeface="ＭＳ Ｐゴシック" panose="020B0600070205080204" pitchFamily="34" charset="-128"/>
              </a:rPr>
              <a:t>Can't provide enough performance, slow</a:t>
            </a:r>
          </a:p>
          <a:p>
            <a:pPr eaLnBrk="1" hangingPunct="1">
              <a:lnSpc>
                <a:spcPct val="80000"/>
              </a:lnSpc>
            </a:pPr>
            <a:r>
              <a:rPr lang="en-US" altLang="en-US" sz="2400">
                <a:ea typeface="ＭＳ Ｐゴシック" panose="020B0600070205080204" pitchFamily="34" charset="-128"/>
              </a:rPr>
              <a:t>Strategic information have to be flexible (not predefined strictly) and conductive (could be guided) for analysis</a:t>
            </a:r>
          </a:p>
          <a:p>
            <a:endParaRPr lang="en-US" altLang="en-US" sz="2400">
              <a:ea typeface="ＭＳ Ｐゴシック" panose="020B0600070205080204" pitchFamily="34" charset="-128"/>
            </a:endParaRPr>
          </a:p>
          <a:p>
            <a:pPr eaLnBrk="1" hangingPunct="1">
              <a:lnSpc>
                <a:spcPct val="80000"/>
              </a:lnSpc>
            </a:pPr>
            <a:endParaRPr lang="en-US" altLang="en-US" sz="2100">
              <a:ea typeface="ＭＳ Ｐゴシック" panose="020B0600070205080204" pitchFamily="34" charset="-128"/>
            </a:endParaRPr>
          </a:p>
          <a:p>
            <a:pPr eaLnBrk="1" hangingPunct="1">
              <a:lnSpc>
                <a:spcPct val="80000"/>
              </a:lnSpc>
            </a:pPr>
            <a:endParaRPr lang="en-US" altLang="en-US" sz="2100">
              <a:ea typeface="ＭＳ Ｐゴシック" panose="020B0600070205080204" pitchFamily="34" charset="-128"/>
            </a:endParaRPr>
          </a:p>
          <a:p>
            <a:pPr algn="just" eaLnBrk="1" hangingPunct="1">
              <a:lnSpc>
                <a:spcPct val="90000"/>
              </a:lnSpc>
            </a:pPr>
            <a:endParaRPr lang="en-US" altLang="en-US" sz="1900">
              <a:solidFill>
                <a:schemeClr val="bg2"/>
              </a:solidFill>
              <a:ea typeface="ＭＳ Ｐゴシック" panose="020B0600070205080204" pitchFamily="34" charset="-128"/>
            </a:endParaRPr>
          </a:p>
          <a:p>
            <a:pPr eaLnBrk="1" hangingPunct="1">
              <a:lnSpc>
                <a:spcPct val="90000"/>
              </a:lnSpc>
              <a:buFont typeface="Wingdings" panose="05000000000000000000" pitchFamily="2" charset="2"/>
              <a:buNone/>
            </a:pPr>
            <a:endParaRPr lang="en-US" altLang="en-US" sz="1900" i="1">
              <a:solidFill>
                <a:schemeClr val="bg2"/>
              </a:solidFill>
              <a:ea typeface="ＭＳ Ｐゴシック" panose="020B0600070205080204" pitchFamily="34" charset="-128"/>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 xmlns:a16="http://schemas.microsoft.com/office/drawing/2014/main" id="{B53BEA30-CB64-4BC4-917B-19B89539E392}"/>
              </a:ext>
            </a:extLst>
          </p:cNvPr>
          <p:cNvSpPr>
            <a:spLocks noGrp="1"/>
          </p:cNvSpPr>
          <p:nvPr>
            <p:ph type="title"/>
          </p:nvPr>
        </p:nvSpPr>
        <p:spPr/>
        <p:txBody>
          <a:bodyPr/>
          <a:lstStyle/>
          <a:p>
            <a:r>
              <a:rPr lang="en-US" altLang="en-US">
                <a:ea typeface="ＭＳ Ｐゴシック" panose="020B0600070205080204" pitchFamily="34" charset="-128"/>
              </a:rPr>
              <a:t>Failure of old DSS (Cont.)</a:t>
            </a:r>
          </a:p>
        </p:txBody>
      </p:sp>
      <p:sp>
        <p:nvSpPr>
          <p:cNvPr id="13315" name="Content Placeholder 2">
            <a:extLst>
              <a:ext uri="{FF2B5EF4-FFF2-40B4-BE49-F238E27FC236}">
                <a16:creationId xmlns="" xmlns:a16="http://schemas.microsoft.com/office/drawing/2014/main" id="{7CF7FB43-4B26-45B9-8BCD-B55F56511180}"/>
              </a:ext>
            </a:extLst>
          </p:cNvPr>
          <p:cNvSpPr>
            <a:spLocks noGrp="1"/>
          </p:cNvSpPr>
          <p:nvPr>
            <p:ph idx="1"/>
          </p:nvPr>
        </p:nvSpPr>
        <p:spPr>
          <a:xfrm>
            <a:off x="457200" y="1066800"/>
            <a:ext cx="8229600" cy="4530725"/>
          </a:xfrm>
        </p:spPr>
        <p:txBody>
          <a:bodyPr/>
          <a:lstStyle/>
          <a:p>
            <a:r>
              <a:rPr lang="en-US" altLang="en-US">
                <a:ea typeface="ＭＳ Ｐゴシック" panose="020B0600070205080204" pitchFamily="34" charset="-128"/>
              </a:rPr>
              <a:t>A typical spiral of user needs and IT efforts</a:t>
            </a:r>
          </a:p>
        </p:txBody>
      </p:sp>
      <p:sp>
        <p:nvSpPr>
          <p:cNvPr id="13316" name="Slide Number Placeholder 3">
            <a:extLst>
              <a:ext uri="{FF2B5EF4-FFF2-40B4-BE49-F238E27FC236}">
                <a16:creationId xmlns="" xmlns:a16="http://schemas.microsoft.com/office/drawing/2014/main" id="{89FED0F9-9594-4E04-8823-47E759299F3F}"/>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18386233-CC36-4CD6-9E15-032BE022DA21}" type="slidenum">
              <a:rPr lang="sv-SE" altLang="en-US">
                <a:latin typeface="Garamond" panose="02020404030301010803" pitchFamily="18" charset="0"/>
              </a:rPr>
              <a:pPr eaLnBrk="1" hangingPunct="1"/>
              <a:t>11</a:t>
            </a:fld>
            <a:endParaRPr lang="sv-SE" altLang="en-US">
              <a:latin typeface="Garamond" panose="02020404030301010803" pitchFamily="18" charset="0"/>
            </a:endParaRPr>
          </a:p>
        </p:txBody>
      </p:sp>
      <p:pic>
        <p:nvPicPr>
          <p:cNvPr id="13317" name="Picture 5">
            <a:extLst>
              <a:ext uri="{FF2B5EF4-FFF2-40B4-BE49-F238E27FC236}">
                <a16:creationId xmlns="" xmlns:a16="http://schemas.microsoft.com/office/drawing/2014/main" id="{A274A061-93F0-47AC-9346-3740888F1FC2}"/>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l="21417" t="15800" r="32732" b="43040"/>
          <a:stretch>
            <a:fillRect/>
          </a:stretch>
        </p:blipFill>
        <p:spPr bwMode="auto">
          <a:xfrm>
            <a:off x="1371600" y="1828800"/>
            <a:ext cx="6413500" cy="4318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 xmlns:a16="http://schemas.microsoft.com/office/drawing/2014/main" id="{6E9AB2B0-F48F-4E77-BC86-47BA1F2323D6}"/>
              </a:ext>
            </a:extLst>
          </p:cNvPr>
          <p:cNvSpPr>
            <a:spLocks noGrp="1"/>
          </p:cNvSpPr>
          <p:nvPr>
            <p:ph type="title"/>
          </p:nvPr>
        </p:nvSpPr>
        <p:spPr/>
        <p:txBody>
          <a:bodyPr/>
          <a:lstStyle/>
          <a:p>
            <a:r>
              <a:rPr lang="en-US" altLang="en-US">
                <a:ea typeface="ＭＳ Ｐゴシック" panose="020B0600070205080204" pitchFamily="34" charset="-128"/>
              </a:rPr>
              <a:t>OLTP vs. DSS</a:t>
            </a:r>
          </a:p>
        </p:txBody>
      </p:sp>
      <p:sp>
        <p:nvSpPr>
          <p:cNvPr id="14339" name="Content Placeholder 2">
            <a:extLst>
              <a:ext uri="{FF2B5EF4-FFF2-40B4-BE49-F238E27FC236}">
                <a16:creationId xmlns="" xmlns:a16="http://schemas.microsoft.com/office/drawing/2014/main" id="{C3D304DA-ACCD-4DD6-825D-BD0629D73714}"/>
              </a:ext>
            </a:extLst>
          </p:cNvPr>
          <p:cNvSpPr>
            <a:spLocks noGrp="1"/>
          </p:cNvSpPr>
          <p:nvPr>
            <p:ph idx="1"/>
          </p:nvPr>
        </p:nvSpPr>
        <p:spPr>
          <a:xfrm>
            <a:off x="457200" y="1066800"/>
            <a:ext cx="8229600" cy="4530725"/>
          </a:xfrm>
        </p:spPr>
        <p:txBody>
          <a:bodyPr/>
          <a:lstStyle/>
          <a:p>
            <a:r>
              <a:rPr lang="en-US" altLang="en-US">
                <a:ea typeface="ＭＳ Ｐゴシック" panose="020B0600070205080204" pitchFamily="34" charset="-128"/>
              </a:rPr>
              <a:t>OLTP (Get the data in)</a:t>
            </a:r>
          </a:p>
          <a:p>
            <a:endParaRPr lang="en-US" altLang="en-US">
              <a:ea typeface="ＭＳ Ｐゴシック" panose="020B0600070205080204" pitchFamily="34" charset="-128"/>
            </a:endParaRPr>
          </a:p>
          <a:p>
            <a:endParaRPr lang="en-US" altLang="en-US">
              <a:ea typeface="ＭＳ Ｐゴシック" panose="020B0600070205080204" pitchFamily="34" charset="-128"/>
            </a:endParaRPr>
          </a:p>
          <a:p>
            <a:endParaRPr lang="en-US" altLang="en-US">
              <a:ea typeface="ＭＳ Ｐゴシック" panose="020B0600070205080204" pitchFamily="34" charset="-128"/>
            </a:endParaRPr>
          </a:p>
          <a:p>
            <a:endParaRPr lang="en-US" altLang="en-US">
              <a:ea typeface="ＭＳ Ｐゴシック" panose="020B0600070205080204" pitchFamily="34" charset="-128"/>
            </a:endParaRPr>
          </a:p>
          <a:p>
            <a:r>
              <a:rPr lang="en-US" altLang="en-US">
                <a:ea typeface="ＭＳ Ｐゴシック" panose="020B0600070205080204" pitchFamily="34" charset="-128"/>
              </a:rPr>
              <a:t>DSS (Get the information out)</a:t>
            </a:r>
          </a:p>
        </p:txBody>
      </p:sp>
      <p:sp>
        <p:nvSpPr>
          <p:cNvPr id="14340" name="Slide Number Placeholder 3">
            <a:extLst>
              <a:ext uri="{FF2B5EF4-FFF2-40B4-BE49-F238E27FC236}">
                <a16:creationId xmlns="" xmlns:a16="http://schemas.microsoft.com/office/drawing/2014/main" id="{6DDC853E-5E16-4BCB-AAF9-7502395F45EE}"/>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F8B17638-04CE-494A-97F1-7D2A6DDEBA63}" type="slidenum">
              <a:rPr lang="sv-SE" altLang="en-US">
                <a:latin typeface="Garamond" panose="02020404030301010803" pitchFamily="18" charset="0"/>
              </a:rPr>
              <a:pPr eaLnBrk="1" hangingPunct="1"/>
              <a:t>12</a:t>
            </a:fld>
            <a:endParaRPr lang="sv-SE" altLang="en-US">
              <a:latin typeface="Garamond" panose="02020404030301010803" pitchFamily="18" charset="0"/>
            </a:endParaRPr>
          </a:p>
        </p:txBody>
      </p:sp>
      <p:pic>
        <p:nvPicPr>
          <p:cNvPr id="14341" name="Picture 2">
            <a:extLst>
              <a:ext uri="{FF2B5EF4-FFF2-40B4-BE49-F238E27FC236}">
                <a16:creationId xmlns="" xmlns:a16="http://schemas.microsoft.com/office/drawing/2014/main" id="{307E29AF-53C8-441A-92EB-1BF08B9EDC42}"/>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l="26857" t="47523" r="9143" b="18761"/>
          <a:stretch>
            <a:fillRect/>
          </a:stretch>
        </p:blipFill>
        <p:spPr bwMode="auto">
          <a:xfrm>
            <a:off x="1295400" y="1600200"/>
            <a:ext cx="5689600" cy="22479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4342" name="Picture 3">
            <a:extLst>
              <a:ext uri="{FF2B5EF4-FFF2-40B4-BE49-F238E27FC236}">
                <a16:creationId xmlns="" xmlns:a16="http://schemas.microsoft.com/office/drawing/2014/main" id="{21BE8ED7-2DE4-49AA-9D9C-B6920BFAB49E}"/>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l="8572" t="46190" r="27000" b="22191"/>
          <a:stretch>
            <a:fillRect/>
          </a:stretch>
        </p:blipFill>
        <p:spPr bwMode="auto">
          <a:xfrm>
            <a:off x="1371600" y="4419600"/>
            <a:ext cx="5727700" cy="2108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a:extLst>
              <a:ext uri="{FF2B5EF4-FFF2-40B4-BE49-F238E27FC236}">
                <a16:creationId xmlns="" xmlns:a16="http://schemas.microsoft.com/office/drawing/2014/main" id="{8486B63F-05A6-4587-A5C2-07779B2CE4BE}"/>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3A95BFF2-1E06-4F30-832B-17674A950047}" type="slidenum">
              <a:rPr lang="sv-SE" altLang="en-US">
                <a:latin typeface="Garamond" panose="02020404030301010803" pitchFamily="18" charset="0"/>
              </a:rPr>
              <a:pPr eaLnBrk="1" hangingPunct="1"/>
              <a:t>13</a:t>
            </a:fld>
            <a:endParaRPr lang="sv-SE" altLang="en-US">
              <a:latin typeface="Garamond" panose="02020404030301010803" pitchFamily="18" charset="0"/>
            </a:endParaRPr>
          </a:p>
        </p:txBody>
      </p:sp>
      <p:sp>
        <p:nvSpPr>
          <p:cNvPr id="15363" name="Rectangle 2">
            <a:extLst>
              <a:ext uri="{FF2B5EF4-FFF2-40B4-BE49-F238E27FC236}">
                <a16:creationId xmlns="" xmlns:a16="http://schemas.microsoft.com/office/drawing/2014/main" id="{522DD43E-79B6-4EAE-B0E0-982DAFB78B35}"/>
              </a:ext>
            </a:extLst>
          </p:cNvPr>
          <p:cNvSpPr>
            <a:spLocks noGrp="1" noChangeArrowheads="1"/>
          </p:cNvSpPr>
          <p:nvPr>
            <p:ph type="title"/>
          </p:nvPr>
        </p:nvSpPr>
        <p:spPr>
          <a:xfrm>
            <a:off x="685800" y="228600"/>
            <a:ext cx="7772400" cy="1143000"/>
          </a:xfrm>
        </p:spPr>
        <p:txBody>
          <a:bodyPr/>
          <a:lstStyle/>
          <a:p>
            <a:pPr eaLnBrk="1" hangingPunct="1"/>
            <a:r>
              <a:rPr lang="en-US" altLang="en-US">
                <a:ea typeface="ＭＳ Ｐゴシック" panose="020B0600070205080204" pitchFamily="34" charset="-128"/>
              </a:rPr>
              <a:t>OLTP vs. DSS (cont.)</a:t>
            </a:r>
          </a:p>
        </p:txBody>
      </p:sp>
      <p:graphicFrame>
        <p:nvGraphicFramePr>
          <p:cNvPr id="140379" name="Group 91">
            <a:extLst>
              <a:ext uri="{FF2B5EF4-FFF2-40B4-BE49-F238E27FC236}">
                <a16:creationId xmlns="" xmlns:a16="http://schemas.microsoft.com/office/drawing/2014/main" id="{73C4EB64-AC66-4AC3-AF8B-9760024FE0F2}"/>
              </a:ext>
            </a:extLst>
          </p:cNvPr>
          <p:cNvGraphicFramePr>
            <a:graphicFrameLocks noGrp="1"/>
          </p:cNvGraphicFramePr>
          <p:nvPr>
            <p:ph idx="1"/>
          </p:nvPr>
        </p:nvGraphicFramePr>
        <p:xfrm>
          <a:off x="533400" y="1295400"/>
          <a:ext cx="7772400" cy="3957641"/>
        </p:xfrm>
        <a:graphic>
          <a:graphicData uri="http://schemas.openxmlformats.org/drawingml/2006/table">
            <a:tbl>
              <a:tblPr/>
              <a:tblGrid>
                <a:gridCol w="2011363">
                  <a:extLst>
                    <a:ext uri="{9D8B030D-6E8A-4147-A177-3AD203B41FA5}">
                      <a16:colId xmlns="" xmlns:a16="http://schemas.microsoft.com/office/drawing/2014/main" val="20000"/>
                    </a:ext>
                  </a:extLst>
                </a:gridCol>
                <a:gridCol w="2843212">
                  <a:extLst>
                    <a:ext uri="{9D8B030D-6E8A-4147-A177-3AD203B41FA5}">
                      <a16:colId xmlns="" xmlns:a16="http://schemas.microsoft.com/office/drawing/2014/main" val="20001"/>
                    </a:ext>
                  </a:extLst>
                </a:gridCol>
                <a:gridCol w="2917825">
                  <a:extLst>
                    <a:ext uri="{9D8B030D-6E8A-4147-A177-3AD203B41FA5}">
                      <a16:colId xmlns="" xmlns:a16="http://schemas.microsoft.com/office/drawing/2014/main" val="20002"/>
                    </a:ext>
                  </a:extLst>
                </a:gridCol>
              </a:tblGrid>
              <a:tr h="320018">
                <a:tc>
                  <a:txBody>
                    <a:bodyPr/>
                    <a:lstStyle/>
                    <a:p>
                      <a:pPr marL="0" marR="0" lvl="0" indent="0" algn="ctr" defTabSz="914400" rtl="0" eaLnBrk="1" fontAlgn="b" latinLnBrk="0" hangingPunct="1">
                        <a:lnSpc>
                          <a:spcPct val="100000"/>
                        </a:lnSpc>
                        <a:spcBef>
                          <a:spcPct val="20000"/>
                        </a:spcBef>
                        <a:spcAft>
                          <a:spcPct val="0"/>
                        </a:spcAft>
                        <a:buClr>
                          <a:schemeClr val="accent1"/>
                        </a:buClr>
                        <a:buSzPct val="65000"/>
                        <a:buFont typeface="Wingdings" pitchFamily="2" charset="2"/>
                        <a:buNone/>
                        <a:tabLst/>
                      </a:pPr>
                      <a:r>
                        <a:rPr kumimoji="0" lang="en-US" sz="1500" b="1" i="0" u="none" strike="noStrike" cap="none" normalizeH="0" baseline="0">
                          <a:ln>
                            <a:noFill/>
                          </a:ln>
                          <a:solidFill>
                            <a:schemeClr val="tx1"/>
                          </a:solidFill>
                          <a:effectLst/>
                          <a:latin typeface="Arial" charset="0"/>
                          <a:cs typeface="Arial" charset="0"/>
                        </a:rPr>
                        <a:t>Trait</a:t>
                      </a: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0" marR="0" lvl="0" indent="0" algn="ctr" defTabSz="914400" rtl="0" eaLnBrk="1" fontAlgn="b" latinLnBrk="0" hangingPunct="1">
                        <a:lnSpc>
                          <a:spcPct val="80000"/>
                        </a:lnSpc>
                        <a:spcBef>
                          <a:spcPct val="20000"/>
                        </a:spcBef>
                        <a:spcAft>
                          <a:spcPct val="0"/>
                        </a:spcAft>
                        <a:buClr>
                          <a:schemeClr val="accent1"/>
                        </a:buClr>
                        <a:buSzPct val="65000"/>
                        <a:buFont typeface="Wingdings" pitchFamily="2" charset="2"/>
                        <a:buNone/>
                        <a:tabLst/>
                      </a:pPr>
                      <a:r>
                        <a:rPr kumimoji="0" lang="en-US" sz="1500" b="1" i="0" u="none" strike="noStrike" cap="none" normalizeH="0" baseline="0">
                          <a:ln>
                            <a:noFill/>
                          </a:ln>
                          <a:solidFill>
                            <a:schemeClr val="tx1"/>
                          </a:solidFill>
                          <a:effectLst/>
                          <a:latin typeface="Arial" charset="0"/>
                          <a:cs typeface="Arial" charset="0"/>
                        </a:rPr>
                        <a:t>OLTP</a:t>
                      </a: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0" marR="0" lvl="0" indent="0" algn="ctr" defTabSz="914400" rtl="0" eaLnBrk="1" fontAlgn="b" latinLnBrk="0" hangingPunct="1">
                        <a:lnSpc>
                          <a:spcPct val="100000"/>
                        </a:lnSpc>
                        <a:spcBef>
                          <a:spcPct val="20000"/>
                        </a:spcBef>
                        <a:spcAft>
                          <a:spcPct val="0"/>
                        </a:spcAft>
                        <a:buClr>
                          <a:schemeClr val="accent1"/>
                        </a:buClr>
                        <a:buSzPct val="65000"/>
                        <a:buFont typeface="Wingdings" pitchFamily="2" charset="2"/>
                        <a:buNone/>
                        <a:tabLst/>
                      </a:pPr>
                      <a:r>
                        <a:rPr kumimoji="0" lang="en-US" sz="1500" b="1" i="0" u="none" strike="noStrike" cap="none" normalizeH="0" baseline="0">
                          <a:ln>
                            <a:noFill/>
                          </a:ln>
                          <a:solidFill>
                            <a:schemeClr val="tx1"/>
                          </a:solidFill>
                          <a:effectLst/>
                          <a:latin typeface="Arial" charset="0"/>
                          <a:cs typeface="Arial" charset="0"/>
                        </a:rPr>
                        <a:t>DSS</a:t>
                      </a: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extLst>
                  <a:ext uri="{0D108BD9-81ED-4DB2-BD59-A6C34878D82A}">
                    <a16:rowId xmlns="" xmlns:a16="http://schemas.microsoft.com/office/drawing/2014/main" val="10000"/>
                  </a:ext>
                </a:extLst>
              </a:tr>
              <a:tr h="274298">
                <a:tc>
                  <a:txBody>
                    <a:bodyPr/>
                    <a:lstStyle/>
                    <a:p>
                      <a:pPr marL="342900" marR="0" lvl="0" indent="-342900" algn="l" defTabSz="914400" rtl="0" eaLnBrk="1" fontAlgn="b" latinLnBrk="0" hangingPunct="1">
                        <a:lnSpc>
                          <a:spcPct val="100000"/>
                        </a:lnSpc>
                        <a:spcBef>
                          <a:spcPct val="20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Times New Roman" pitchFamily="18" charset="0"/>
                          <a:cs typeface="Times New Roman" pitchFamily="18" charset="0"/>
                        </a:rPr>
                        <a:t>User </a:t>
                      </a:r>
                      <a:endParaRPr kumimoji="0" lang="en-US" sz="1200" b="1" i="0" u="none" strike="noStrike" cap="none" normalizeH="0" baseline="0">
                        <a:ln>
                          <a:noFill/>
                        </a:ln>
                        <a:solidFill>
                          <a:schemeClr val="tx1"/>
                        </a:solidFill>
                        <a:effectLst/>
                        <a:latin typeface="Arial" charset="0"/>
                        <a:cs typeface="Arial" charset="0"/>
                      </a:endParaRP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342900" marR="0" lvl="0" indent="-342900" algn="l" defTabSz="914400" rtl="0" eaLnBrk="1" fontAlgn="b" latinLnBrk="0" hangingPunct="1">
                        <a:lnSpc>
                          <a:spcPct val="80000"/>
                        </a:lnSpc>
                        <a:spcBef>
                          <a:spcPct val="20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Arial" charset="0"/>
                          <a:cs typeface="Arial" charset="0"/>
                        </a:rPr>
                        <a:t>Middle management</a:t>
                      </a: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342900" marR="0" lvl="0" indent="-342900" algn="l" defTabSz="914400" rtl="0" eaLnBrk="1" fontAlgn="b" latinLnBrk="0" hangingPunct="1">
                        <a:lnSpc>
                          <a:spcPct val="100000"/>
                        </a:lnSpc>
                        <a:spcBef>
                          <a:spcPct val="20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Arial" charset="0"/>
                          <a:cs typeface="Arial" charset="0"/>
                        </a:rPr>
                        <a:t>Executives, decision-makers </a:t>
                      </a: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extLst>
                  <a:ext uri="{0D108BD9-81ED-4DB2-BD59-A6C34878D82A}">
                    <a16:rowId xmlns="" xmlns:a16="http://schemas.microsoft.com/office/drawing/2014/main" val="10001"/>
                  </a:ext>
                </a:extLst>
              </a:tr>
              <a:tr h="274298">
                <a:tc>
                  <a:txBody>
                    <a:bodyPr/>
                    <a:lstStyle/>
                    <a:p>
                      <a:pPr marL="342900" marR="0" lvl="0" indent="-342900" algn="l" defTabSz="914400" rtl="0" eaLnBrk="1" fontAlgn="b" latinLnBrk="0" hangingPunct="1">
                        <a:lnSpc>
                          <a:spcPct val="100000"/>
                        </a:lnSpc>
                        <a:spcBef>
                          <a:spcPct val="20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Times New Roman" pitchFamily="18" charset="0"/>
                          <a:cs typeface="Times New Roman" pitchFamily="18" charset="0"/>
                        </a:rPr>
                        <a:t>Function </a:t>
                      </a:r>
                      <a:endParaRPr kumimoji="0" lang="en-US" sz="1200" b="1" i="0" u="none" strike="noStrike" cap="none" normalizeH="0" baseline="0">
                        <a:ln>
                          <a:noFill/>
                        </a:ln>
                        <a:solidFill>
                          <a:schemeClr val="tx1"/>
                        </a:solidFill>
                        <a:effectLst/>
                        <a:latin typeface="Arial" charset="0"/>
                        <a:cs typeface="Arial" charset="0"/>
                      </a:endParaRP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342900" marR="0" lvl="0" indent="-342900" algn="l" defTabSz="914400" rtl="0" eaLnBrk="1" fontAlgn="b" latinLnBrk="0" hangingPunct="1">
                        <a:lnSpc>
                          <a:spcPct val="80000"/>
                        </a:lnSpc>
                        <a:spcBef>
                          <a:spcPct val="20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Arial" charset="0"/>
                          <a:cs typeface="Arial" charset="0"/>
                        </a:rPr>
                        <a:t>For day-to-day operations </a:t>
                      </a: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342900" marR="0" lvl="0" indent="-342900" algn="l" defTabSz="914400" rtl="0" eaLnBrk="1" fontAlgn="b" latinLnBrk="0" hangingPunct="1">
                        <a:lnSpc>
                          <a:spcPct val="100000"/>
                        </a:lnSpc>
                        <a:spcBef>
                          <a:spcPct val="20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Arial" charset="0"/>
                          <a:cs typeface="Arial" charset="0"/>
                        </a:rPr>
                        <a:t>For analysis &amp; decision support </a:t>
                      </a: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extLst>
                  <a:ext uri="{0D108BD9-81ED-4DB2-BD59-A6C34878D82A}">
                    <a16:rowId xmlns="" xmlns:a16="http://schemas.microsoft.com/office/drawing/2014/main" val="10002"/>
                  </a:ext>
                </a:extLst>
              </a:tr>
              <a:tr h="292030">
                <a:tc>
                  <a:txBody>
                    <a:bodyPr/>
                    <a:lstStyle/>
                    <a:p>
                      <a:pPr marL="342900" marR="0" lvl="0" indent="-342900" algn="l" defTabSz="914400" rtl="0" eaLnBrk="1" fontAlgn="b" latinLnBrk="0" hangingPunct="1">
                        <a:lnSpc>
                          <a:spcPct val="100000"/>
                        </a:lnSpc>
                        <a:spcBef>
                          <a:spcPct val="20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Times New Roman" pitchFamily="18" charset="0"/>
                          <a:cs typeface="Times New Roman" pitchFamily="18" charset="0"/>
                        </a:rPr>
                        <a:t>DB (modeling)    </a:t>
                      </a:r>
                      <a:endParaRPr kumimoji="0" lang="en-US" sz="1200" b="1" i="0" u="none" strike="noStrike" cap="none" normalizeH="0" baseline="0">
                        <a:ln>
                          <a:noFill/>
                        </a:ln>
                        <a:solidFill>
                          <a:schemeClr val="tx1"/>
                        </a:solidFill>
                        <a:effectLst/>
                        <a:latin typeface="Arial" charset="0"/>
                        <a:cs typeface="Arial" charset="0"/>
                      </a:endParaRP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342900" marR="0" lvl="0" indent="-342900" algn="l" defTabSz="914400" rtl="0" eaLnBrk="1" fontAlgn="b" latinLnBrk="0" hangingPunct="1">
                        <a:lnSpc>
                          <a:spcPct val="80000"/>
                        </a:lnSpc>
                        <a:spcBef>
                          <a:spcPct val="20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Arial" charset="0"/>
                          <a:cs typeface="Arial" charset="0"/>
                        </a:rPr>
                        <a:t>E-R based, after normalization</a:t>
                      </a: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342900" marR="0" lvl="0" indent="-342900" algn="l" defTabSz="914400" rtl="0" eaLnBrk="1" fontAlgn="b" latinLnBrk="0" hangingPunct="1">
                        <a:lnSpc>
                          <a:spcPct val="100000"/>
                        </a:lnSpc>
                        <a:spcBef>
                          <a:spcPct val="45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Arial" charset="0"/>
                          <a:cs typeface="Arial" charset="0"/>
                        </a:rPr>
                        <a:t>Star oriented schemas</a:t>
                      </a: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extLst>
                  <a:ext uri="{0D108BD9-81ED-4DB2-BD59-A6C34878D82A}">
                    <a16:rowId xmlns="" xmlns:a16="http://schemas.microsoft.com/office/drawing/2014/main" val="10003"/>
                  </a:ext>
                </a:extLst>
              </a:tr>
              <a:tr h="274298">
                <a:tc>
                  <a:txBody>
                    <a:bodyPr/>
                    <a:lstStyle/>
                    <a:p>
                      <a:pPr marL="342900" marR="0" lvl="0" indent="-342900" algn="l" defTabSz="914400" rtl="0" eaLnBrk="1" fontAlgn="b" latinLnBrk="0" hangingPunct="1">
                        <a:lnSpc>
                          <a:spcPct val="100000"/>
                        </a:lnSpc>
                        <a:spcBef>
                          <a:spcPct val="20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Times New Roman" pitchFamily="18" charset="0"/>
                          <a:cs typeface="Times New Roman" pitchFamily="18" charset="0"/>
                        </a:rPr>
                        <a:t>Data </a:t>
                      </a:r>
                      <a:endParaRPr kumimoji="0" lang="en-US" sz="1200" b="1" i="0" u="none" strike="noStrike" cap="none" normalizeH="0" baseline="0">
                        <a:ln>
                          <a:noFill/>
                        </a:ln>
                        <a:solidFill>
                          <a:schemeClr val="tx1"/>
                        </a:solidFill>
                        <a:effectLst/>
                        <a:latin typeface="Arial" charset="0"/>
                        <a:cs typeface="Arial" charset="0"/>
                      </a:endParaRP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342900" marR="0" lvl="0" indent="-342900" algn="l" defTabSz="914400" rtl="0" eaLnBrk="1" fontAlgn="b" latinLnBrk="0" hangingPunct="1">
                        <a:lnSpc>
                          <a:spcPct val="80000"/>
                        </a:lnSpc>
                        <a:spcBef>
                          <a:spcPct val="20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Arial" charset="0"/>
                          <a:cs typeface="Arial" charset="0"/>
                        </a:rPr>
                        <a:t>Current, Isolated </a:t>
                      </a: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342900" marR="0" lvl="0" indent="-342900" algn="l" defTabSz="914400" rtl="0" eaLnBrk="1" fontAlgn="b" latinLnBrk="0" hangingPunct="1">
                        <a:lnSpc>
                          <a:spcPct val="100000"/>
                        </a:lnSpc>
                        <a:spcBef>
                          <a:spcPct val="20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Arial" charset="0"/>
                          <a:cs typeface="Arial" charset="0"/>
                        </a:rPr>
                        <a:t>Archived, derived, summarized</a:t>
                      </a: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extLst>
                  <a:ext uri="{0D108BD9-81ED-4DB2-BD59-A6C34878D82A}">
                    <a16:rowId xmlns="" xmlns:a16="http://schemas.microsoft.com/office/drawing/2014/main" val="10004"/>
                  </a:ext>
                </a:extLst>
              </a:tr>
              <a:tr h="274298">
                <a:tc>
                  <a:txBody>
                    <a:bodyPr/>
                    <a:lstStyle/>
                    <a:p>
                      <a:pPr marL="342900" marR="0" lvl="0" indent="-342900" algn="l" defTabSz="914400" rtl="0" eaLnBrk="1" fontAlgn="b" latinLnBrk="0" hangingPunct="1">
                        <a:lnSpc>
                          <a:spcPct val="100000"/>
                        </a:lnSpc>
                        <a:spcBef>
                          <a:spcPct val="20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Times New Roman" pitchFamily="18" charset="0"/>
                          <a:cs typeface="Times New Roman" pitchFamily="18" charset="0"/>
                        </a:rPr>
                        <a:t>Unit of work </a:t>
                      </a:r>
                      <a:endParaRPr kumimoji="0" lang="en-US" sz="1200" b="1" i="0" u="none" strike="noStrike" cap="none" normalizeH="0" baseline="0">
                        <a:ln>
                          <a:noFill/>
                        </a:ln>
                        <a:solidFill>
                          <a:schemeClr val="tx1"/>
                        </a:solidFill>
                        <a:effectLst/>
                        <a:latin typeface="Arial" charset="0"/>
                        <a:cs typeface="Arial" charset="0"/>
                      </a:endParaRP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342900" marR="0" lvl="0" indent="-342900" algn="l" defTabSz="914400" rtl="0" eaLnBrk="1" fontAlgn="b" latinLnBrk="0" hangingPunct="1">
                        <a:lnSpc>
                          <a:spcPct val="80000"/>
                        </a:lnSpc>
                        <a:spcBef>
                          <a:spcPct val="20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Arial" charset="0"/>
                          <a:cs typeface="Arial" charset="0"/>
                        </a:rPr>
                        <a:t>Transactions </a:t>
                      </a: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342900" marR="0" lvl="0" indent="-342900" algn="l" defTabSz="914400" rtl="0" eaLnBrk="1" fontAlgn="b" latinLnBrk="0" hangingPunct="1">
                        <a:lnSpc>
                          <a:spcPct val="100000"/>
                        </a:lnSpc>
                        <a:spcBef>
                          <a:spcPct val="20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Arial" charset="0"/>
                          <a:cs typeface="Arial" charset="0"/>
                        </a:rPr>
                        <a:t>Complex query </a:t>
                      </a: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extLst>
                  <a:ext uri="{0D108BD9-81ED-4DB2-BD59-A6C34878D82A}">
                    <a16:rowId xmlns="" xmlns:a16="http://schemas.microsoft.com/office/drawing/2014/main" val="10005"/>
                  </a:ext>
                </a:extLst>
              </a:tr>
              <a:tr h="274298">
                <a:tc>
                  <a:txBody>
                    <a:bodyPr/>
                    <a:lstStyle/>
                    <a:p>
                      <a:pPr marL="342900" marR="0" lvl="0" indent="-342900" algn="l" defTabSz="914400" rtl="0" eaLnBrk="1" fontAlgn="b" latinLnBrk="0" hangingPunct="1">
                        <a:lnSpc>
                          <a:spcPct val="100000"/>
                        </a:lnSpc>
                        <a:spcBef>
                          <a:spcPct val="20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Times New Roman" pitchFamily="18" charset="0"/>
                          <a:cs typeface="Times New Roman" pitchFamily="18" charset="0"/>
                        </a:rPr>
                        <a:t>Access, type </a:t>
                      </a:r>
                      <a:endParaRPr kumimoji="0" lang="en-US" sz="1200" b="1" i="0" u="none" strike="noStrike" cap="none" normalizeH="0" baseline="0">
                        <a:ln>
                          <a:noFill/>
                        </a:ln>
                        <a:solidFill>
                          <a:schemeClr val="tx1"/>
                        </a:solidFill>
                        <a:effectLst/>
                        <a:latin typeface="Arial" charset="0"/>
                        <a:cs typeface="Arial" charset="0"/>
                      </a:endParaRP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342900" marR="0" lvl="0" indent="-342900" algn="l" defTabSz="914400" rtl="0" eaLnBrk="1" fontAlgn="b" latinLnBrk="0" hangingPunct="1">
                        <a:lnSpc>
                          <a:spcPct val="80000"/>
                        </a:lnSpc>
                        <a:spcBef>
                          <a:spcPct val="20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Arial" charset="0"/>
                          <a:cs typeface="Arial" charset="0"/>
                        </a:rPr>
                        <a:t>DML, read</a:t>
                      </a: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342900" marR="0" lvl="0" indent="-342900" algn="l" defTabSz="914400" rtl="0" eaLnBrk="1" fontAlgn="b" latinLnBrk="0" hangingPunct="1">
                        <a:lnSpc>
                          <a:spcPct val="100000"/>
                        </a:lnSpc>
                        <a:spcBef>
                          <a:spcPct val="20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Arial" charset="0"/>
                          <a:cs typeface="Arial" charset="0"/>
                        </a:rPr>
                        <a:t>Read </a:t>
                      </a: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extLst>
                  <a:ext uri="{0D108BD9-81ED-4DB2-BD59-A6C34878D82A}">
                    <a16:rowId xmlns="" xmlns:a16="http://schemas.microsoft.com/office/drawing/2014/main" val="10006"/>
                  </a:ext>
                </a:extLst>
              </a:tr>
              <a:tr h="274298">
                <a:tc>
                  <a:txBody>
                    <a:bodyPr/>
                    <a:lstStyle/>
                    <a:p>
                      <a:pPr marL="342900" marR="0" lvl="0" indent="-342900" algn="l" defTabSz="914400" rtl="0" eaLnBrk="1" fontAlgn="b" latinLnBrk="0" hangingPunct="1">
                        <a:lnSpc>
                          <a:spcPct val="100000"/>
                        </a:lnSpc>
                        <a:spcBef>
                          <a:spcPct val="20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Times New Roman" pitchFamily="18" charset="0"/>
                          <a:cs typeface="Times New Roman" pitchFamily="18" charset="0"/>
                        </a:rPr>
                        <a:t>Access frequency </a:t>
                      </a:r>
                      <a:endParaRPr kumimoji="0" lang="en-US" sz="1200" b="1" i="0" u="none" strike="noStrike" cap="none" normalizeH="0" baseline="0">
                        <a:ln>
                          <a:noFill/>
                        </a:ln>
                        <a:solidFill>
                          <a:schemeClr val="tx1"/>
                        </a:solidFill>
                        <a:effectLst/>
                        <a:latin typeface="Arial" charset="0"/>
                        <a:cs typeface="Arial" charset="0"/>
                      </a:endParaRP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342900" marR="0" lvl="0" indent="-342900" algn="l" defTabSz="914400" rtl="0" eaLnBrk="1" fontAlgn="b" latinLnBrk="0" hangingPunct="1">
                        <a:lnSpc>
                          <a:spcPct val="80000"/>
                        </a:lnSpc>
                        <a:spcBef>
                          <a:spcPct val="20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Arial" charset="0"/>
                          <a:cs typeface="Arial" charset="0"/>
                        </a:rPr>
                        <a:t>Very high</a:t>
                      </a: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342900" marR="0" lvl="0" indent="-342900" algn="l" defTabSz="914400" rtl="0" eaLnBrk="1" fontAlgn="b" latinLnBrk="0" hangingPunct="1">
                        <a:lnSpc>
                          <a:spcPct val="100000"/>
                        </a:lnSpc>
                        <a:spcBef>
                          <a:spcPct val="20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Arial" charset="0"/>
                          <a:cs typeface="Arial" charset="0"/>
                        </a:rPr>
                        <a:t>Medium to Low </a:t>
                      </a: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extLst>
                  <a:ext uri="{0D108BD9-81ED-4DB2-BD59-A6C34878D82A}">
                    <a16:rowId xmlns="" xmlns:a16="http://schemas.microsoft.com/office/drawing/2014/main" val="10007"/>
                  </a:ext>
                </a:extLst>
              </a:tr>
              <a:tr h="361863">
                <a:tc>
                  <a:txBody>
                    <a:bodyPr/>
                    <a:lstStyle/>
                    <a:p>
                      <a:pPr marL="342900" marR="0" lvl="0" indent="-342900" algn="l" defTabSz="914400" rtl="0" eaLnBrk="1" fontAlgn="b" latinLnBrk="0" hangingPunct="1">
                        <a:lnSpc>
                          <a:spcPct val="100000"/>
                        </a:lnSpc>
                        <a:spcBef>
                          <a:spcPct val="20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Times New Roman" pitchFamily="18" charset="0"/>
                          <a:cs typeface="Times New Roman" pitchFamily="18" charset="0"/>
                        </a:rPr>
                        <a:t>Records accessed </a:t>
                      </a:r>
                      <a:endParaRPr kumimoji="0" lang="en-US" sz="1200" b="1" i="0" u="none" strike="noStrike" cap="none" normalizeH="0" baseline="0">
                        <a:ln>
                          <a:noFill/>
                        </a:ln>
                        <a:solidFill>
                          <a:schemeClr val="tx1"/>
                        </a:solidFill>
                        <a:effectLst/>
                        <a:latin typeface="Arial" charset="0"/>
                        <a:cs typeface="Arial" charset="0"/>
                      </a:endParaRP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342900" marR="0" lvl="0" indent="-342900" algn="l" defTabSz="914400" rtl="0" eaLnBrk="1" fontAlgn="b" latinLnBrk="0" hangingPunct="1">
                        <a:lnSpc>
                          <a:spcPct val="80000"/>
                        </a:lnSpc>
                        <a:spcBef>
                          <a:spcPct val="20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Arial" charset="0"/>
                          <a:cs typeface="Arial" charset="0"/>
                        </a:rPr>
                        <a:t>Tens to Hundreds</a:t>
                      </a: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342900" marR="0" lvl="0" indent="-342900" algn="l" defTabSz="914400" rtl="0" eaLnBrk="1" fontAlgn="b" latinLnBrk="0" hangingPunct="1">
                        <a:lnSpc>
                          <a:spcPct val="100000"/>
                        </a:lnSpc>
                        <a:spcBef>
                          <a:spcPct val="20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Arial" charset="0"/>
                          <a:cs typeface="Arial" charset="0"/>
                        </a:rPr>
                        <a:t>Thousands to Millions </a:t>
                      </a: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extLst>
                  <a:ext uri="{0D108BD9-81ED-4DB2-BD59-A6C34878D82A}">
                    <a16:rowId xmlns="" xmlns:a16="http://schemas.microsoft.com/office/drawing/2014/main" val="10008"/>
                  </a:ext>
                </a:extLst>
              </a:tr>
              <a:tr h="360276">
                <a:tc>
                  <a:txBody>
                    <a:bodyPr/>
                    <a:lstStyle/>
                    <a:p>
                      <a:pPr marL="342900" marR="0" lvl="0" indent="-342900" algn="l" defTabSz="914400" rtl="0" eaLnBrk="1" fontAlgn="b" latinLnBrk="0" hangingPunct="1">
                        <a:lnSpc>
                          <a:spcPct val="100000"/>
                        </a:lnSpc>
                        <a:spcBef>
                          <a:spcPct val="20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Times New Roman" pitchFamily="18" charset="0"/>
                          <a:cs typeface="Times New Roman" pitchFamily="18" charset="0"/>
                        </a:rPr>
                        <a:t>Quantity of users </a:t>
                      </a:r>
                      <a:endParaRPr kumimoji="0" lang="en-US" sz="1200" b="1" i="0" u="none" strike="noStrike" cap="none" normalizeH="0" baseline="0">
                        <a:ln>
                          <a:noFill/>
                        </a:ln>
                        <a:solidFill>
                          <a:schemeClr val="tx1"/>
                        </a:solidFill>
                        <a:effectLst/>
                        <a:latin typeface="Arial" charset="0"/>
                        <a:cs typeface="Arial" charset="0"/>
                      </a:endParaRP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342900" marR="0" lvl="0" indent="-342900" algn="l" defTabSz="914400" rtl="0" eaLnBrk="1" fontAlgn="b" latinLnBrk="0" hangingPunct="1">
                        <a:lnSpc>
                          <a:spcPct val="80000"/>
                        </a:lnSpc>
                        <a:spcBef>
                          <a:spcPct val="20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Arial" charset="0"/>
                          <a:cs typeface="Arial" charset="0"/>
                        </a:rPr>
                        <a:t>Thousands </a:t>
                      </a: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342900" marR="0" lvl="0" indent="-342900" algn="l" defTabSz="914400" rtl="0" eaLnBrk="1" fontAlgn="b" latinLnBrk="0" hangingPunct="1">
                        <a:lnSpc>
                          <a:spcPct val="100000"/>
                        </a:lnSpc>
                        <a:spcBef>
                          <a:spcPct val="20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Arial" charset="0"/>
                          <a:cs typeface="Arial" charset="0"/>
                        </a:rPr>
                        <a:t>Very small amount </a:t>
                      </a: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extLst>
                  <a:ext uri="{0D108BD9-81ED-4DB2-BD59-A6C34878D82A}">
                    <a16:rowId xmlns="" xmlns:a16="http://schemas.microsoft.com/office/drawing/2014/main" val="10009"/>
                  </a:ext>
                </a:extLst>
              </a:tr>
              <a:tr h="357102">
                <a:tc>
                  <a:txBody>
                    <a:bodyPr/>
                    <a:lstStyle/>
                    <a:p>
                      <a:pPr marL="342900" marR="0" lvl="0" indent="-342900" algn="l" defTabSz="914400" rtl="0" eaLnBrk="1" fontAlgn="b" latinLnBrk="0" hangingPunct="1">
                        <a:lnSpc>
                          <a:spcPct val="100000"/>
                        </a:lnSpc>
                        <a:spcBef>
                          <a:spcPct val="20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Arial" charset="0"/>
                          <a:cs typeface="Arial" charset="0"/>
                        </a:rPr>
                        <a:t>Usage</a:t>
                      </a: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342900" marR="0" lvl="0" indent="-342900" algn="l" defTabSz="914400" rtl="0" eaLnBrk="1" fontAlgn="b" latinLnBrk="0" hangingPunct="1">
                        <a:lnSpc>
                          <a:spcPct val="80000"/>
                        </a:lnSpc>
                        <a:spcBef>
                          <a:spcPct val="20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Arial" charset="0"/>
                          <a:cs typeface="Arial" charset="0"/>
                        </a:rPr>
                        <a:t>Predictable, repetitive</a:t>
                      </a: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342900" marR="0" lvl="0" indent="-342900" algn="l" defTabSz="914400" rtl="0" eaLnBrk="1" fontAlgn="b" latinLnBrk="0" hangingPunct="1">
                        <a:lnSpc>
                          <a:spcPct val="100000"/>
                        </a:lnSpc>
                        <a:spcBef>
                          <a:spcPct val="20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Arial" charset="0"/>
                          <a:cs typeface="Arial" charset="0"/>
                        </a:rPr>
                        <a:t>Ad hoc, random, heuristic based</a:t>
                      </a: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extLst>
                  <a:ext uri="{0D108BD9-81ED-4DB2-BD59-A6C34878D82A}">
                    <a16:rowId xmlns="" xmlns:a16="http://schemas.microsoft.com/office/drawing/2014/main" val="10010"/>
                  </a:ext>
                </a:extLst>
              </a:tr>
              <a:tr h="319011">
                <a:tc>
                  <a:txBody>
                    <a:bodyPr/>
                    <a:lstStyle/>
                    <a:p>
                      <a:pPr marL="342900" marR="0" lvl="0" indent="-342900" algn="l" defTabSz="914400" rtl="0" eaLnBrk="1" fontAlgn="b" latinLnBrk="0" hangingPunct="1">
                        <a:lnSpc>
                          <a:spcPct val="100000"/>
                        </a:lnSpc>
                        <a:spcBef>
                          <a:spcPct val="20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Times New Roman" pitchFamily="18" charset="0"/>
                          <a:cs typeface="Times New Roman" pitchFamily="18" charset="0"/>
                        </a:rPr>
                        <a:t>DB size</a:t>
                      </a:r>
                      <a:endParaRPr kumimoji="0" lang="en-US" sz="1200" b="1" i="0" u="none" strike="noStrike" cap="none" normalizeH="0" baseline="0">
                        <a:ln>
                          <a:noFill/>
                        </a:ln>
                        <a:solidFill>
                          <a:schemeClr val="tx1"/>
                        </a:solidFill>
                        <a:effectLst/>
                        <a:latin typeface="Arial" charset="0"/>
                        <a:cs typeface="Arial" charset="0"/>
                      </a:endParaRP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C9900"/>
                    </a:solidFill>
                  </a:tcPr>
                </a:tc>
                <a:tc>
                  <a:txBody>
                    <a:bodyPr/>
                    <a:lstStyle/>
                    <a:p>
                      <a:pPr marL="342900" marR="0" lvl="0" indent="-342900" algn="l" defTabSz="914400" rtl="0" eaLnBrk="1" fontAlgn="b" latinLnBrk="0" hangingPunct="1">
                        <a:lnSpc>
                          <a:spcPct val="80000"/>
                        </a:lnSpc>
                        <a:spcBef>
                          <a:spcPct val="20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Arial" charset="0"/>
                          <a:cs typeface="Arial" charset="0"/>
                        </a:rPr>
                        <a:t>100 MB-GB</a:t>
                      </a: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C9900"/>
                    </a:solidFill>
                  </a:tcPr>
                </a:tc>
                <a:tc>
                  <a:txBody>
                    <a:bodyPr/>
                    <a:lstStyle/>
                    <a:p>
                      <a:pPr marL="342900" marR="0" lvl="0" indent="-342900" algn="l" defTabSz="914400" rtl="0" eaLnBrk="1" fontAlgn="b" latinLnBrk="0" hangingPunct="1">
                        <a:lnSpc>
                          <a:spcPct val="100000"/>
                        </a:lnSpc>
                        <a:spcBef>
                          <a:spcPct val="20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Arial" charset="0"/>
                          <a:cs typeface="Arial" charset="0"/>
                        </a:rPr>
                        <a:t>100GB-TB</a:t>
                      </a: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C9900"/>
                    </a:solidFill>
                  </a:tcPr>
                </a:tc>
                <a:extLst>
                  <a:ext uri="{0D108BD9-81ED-4DB2-BD59-A6C34878D82A}">
                    <a16:rowId xmlns="" xmlns:a16="http://schemas.microsoft.com/office/drawing/2014/main" val="10011"/>
                  </a:ext>
                </a:extLst>
              </a:tr>
              <a:tr h="301553">
                <a:tc>
                  <a:txBody>
                    <a:bodyPr/>
                    <a:lstStyle/>
                    <a:p>
                      <a:pPr marL="342900" marR="0" lvl="0" indent="-342900" algn="l" defTabSz="914400" rtl="0" eaLnBrk="1" fontAlgn="b" latinLnBrk="0" hangingPunct="1">
                        <a:lnSpc>
                          <a:spcPct val="100000"/>
                        </a:lnSpc>
                        <a:spcBef>
                          <a:spcPct val="20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Arial" charset="0"/>
                          <a:cs typeface="Arial" charset="0"/>
                        </a:rPr>
                        <a:t>Response time</a:t>
                      </a: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342900" marR="0" lvl="0" indent="-342900" algn="l" defTabSz="914400" rtl="0" eaLnBrk="1" fontAlgn="b" latinLnBrk="0" hangingPunct="1">
                        <a:lnSpc>
                          <a:spcPct val="80000"/>
                        </a:lnSpc>
                        <a:spcBef>
                          <a:spcPct val="20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Arial" charset="0"/>
                          <a:cs typeface="Arial" charset="0"/>
                        </a:rPr>
                        <a:t>Sub-seconds</a:t>
                      </a: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342900" marR="0" lvl="0" indent="-342900" algn="l" defTabSz="914400" rtl="0" eaLnBrk="1" fontAlgn="b" latinLnBrk="0" hangingPunct="1">
                        <a:lnSpc>
                          <a:spcPct val="100000"/>
                        </a:lnSpc>
                        <a:spcBef>
                          <a:spcPct val="20000"/>
                        </a:spcBef>
                        <a:spcAft>
                          <a:spcPct val="0"/>
                        </a:spcAft>
                        <a:buClr>
                          <a:schemeClr val="accent1"/>
                        </a:buClr>
                        <a:buSzPct val="65000"/>
                        <a:buFont typeface="Wingdings" pitchFamily="2" charset="2"/>
                        <a:buNone/>
                        <a:tabLst/>
                      </a:pPr>
                      <a:r>
                        <a:rPr kumimoji="0" lang="en-US" sz="1200" b="1" i="0" u="none" strike="noStrike" cap="none" normalizeH="0" baseline="0">
                          <a:ln>
                            <a:noFill/>
                          </a:ln>
                          <a:solidFill>
                            <a:schemeClr val="tx1"/>
                          </a:solidFill>
                          <a:effectLst/>
                          <a:latin typeface="Arial" charset="0"/>
                          <a:cs typeface="Arial" charset="0"/>
                        </a:rPr>
                        <a:t>Up-to min.s</a:t>
                      </a:r>
                    </a:p>
                  </a:txBody>
                  <a:tcPr marT="45709" marB="4570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extLst>
                  <a:ext uri="{0D108BD9-81ED-4DB2-BD59-A6C34878D82A}">
                    <a16:rowId xmlns="" xmlns:a16="http://schemas.microsoft.com/office/drawing/2014/main" val="10012"/>
                  </a:ext>
                </a:extLst>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a:extLst>
              <a:ext uri="{FF2B5EF4-FFF2-40B4-BE49-F238E27FC236}">
                <a16:creationId xmlns="" xmlns:a16="http://schemas.microsoft.com/office/drawing/2014/main" id="{280F446A-E127-4CA8-BD74-0A8E7305D558}"/>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5B9C0D9A-CAA9-426E-8587-51EE73EFF915}" type="slidenum">
              <a:rPr lang="sv-SE" altLang="en-US">
                <a:latin typeface="Garamond" panose="02020404030301010803" pitchFamily="18" charset="0"/>
              </a:rPr>
              <a:pPr eaLnBrk="1" hangingPunct="1"/>
              <a:t>14</a:t>
            </a:fld>
            <a:endParaRPr lang="sv-SE" altLang="en-US">
              <a:latin typeface="Garamond" panose="02020404030301010803" pitchFamily="18" charset="0"/>
            </a:endParaRPr>
          </a:p>
        </p:txBody>
      </p:sp>
      <p:sp>
        <p:nvSpPr>
          <p:cNvPr id="16387" name="Rectangle 2">
            <a:extLst>
              <a:ext uri="{FF2B5EF4-FFF2-40B4-BE49-F238E27FC236}">
                <a16:creationId xmlns="" xmlns:a16="http://schemas.microsoft.com/office/drawing/2014/main" id="{C560FD04-D99D-4EF4-BCF0-9280955CC5AF}"/>
              </a:ext>
            </a:extLst>
          </p:cNvPr>
          <p:cNvSpPr>
            <a:spLocks noGrp="1" noChangeArrowheads="1"/>
          </p:cNvSpPr>
          <p:nvPr>
            <p:ph type="title"/>
          </p:nvPr>
        </p:nvSpPr>
        <p:spPr/>
        <p:txBody>
          <a:bodyPr/>
          <a:lstStyle/>
          <a:p>
            <a:pPr eaLnBrk="1" hangingPunct="1"/>
            <a:r>
              <a:rPr lang="en-US" altLang="en-US" sz="3400">
                <a:ea typeface="ＭＳ Ｐゴシック" panose="020B0600070205080204" pitchFamily="34" charset="-128"/>
              </a:rPr>
              <a:t>Expectations of new soln.</a:t>
            </a:r>
          </a:p>
        </p:txBody>
      </p:sp>
      <p:sp>
        <p:nvSpPr>
          <p:cNvPr id="16388" name="Rectangle 3">
            <a:extLst>
              <a:ext uri="{FF2B5EF4-FFF2-40B4-BE49-F238E27FC236}">
                <a16:creationId xmlns="" xmlns:a16="http://schemas.microsoft.com/office/drawing/2014/main" id="{09F03BBD-E3A0-4B5B-A388-B6199364057D}"/>
              </a:ext>
            </a:extLst>
          </p:cNvPr>
          <p:cNvSpPr>
            <a:spLocks noGrp="1" noChangeArrowheads="1"/>
          </p:cNvSpPr>
          <p:nvPr>
            <p:ph type="body" idx="1"/>
          </p:nvPr>
        </p:nvSpPr>
        <p:spPr/>
        <p:txBody>
          <a:bodyPr/>
          <a:lstStyle/>
          <a:p>
            <a:pPr eaLnBrk="1" hangingPunct="1"/>
            <a:r>
              <a:rPr lang="en-US" altLang="en-US" sz="1900">
                <a:ea typeface="ＭＳ Ｐゴシック" panose="020B0600070205080204" pitchFamily="34" charset="-128"/>
              </a:rPr>
              <a:t>DB designed for analytical tasks</a:t>
            </a:r>
          </a:p>
          <a:p>
            <a:pPr eaLnBrk="1" hangingPunct="1"/>
            <a:r>
              <a:rPr lang="en-US" altLang="en-US" sz="1900">
                <a:ea typeface="ＭＳ Ｐゴシック" panose="020B0600070205080204" pitchFamily="34" charset="-128"/>
              </a:rPr>
              <a:t>Data from multiple applications</a:t>
            </a:r>
          </a:p>
          <a:p>
            <a:pPr eaLnBrk="1" hangingPunct="1"/>
            <a:r>
              <a:rPr lang="en-US" altLang="en-US" sz="1900">
                <a:ea typeface="ＭＳ Ｐゴシック" panose="020B0600070205080204" pitchFamily="34" charset="-128"/>
              </a:rPr>
              <a:t>Easy to use</a:t>
            </a:r>
          </a:p>
          <a:p>
            <a:pPr eaLnBrk="1" hangingPunct="1"/>
            <a:r>
              <a:rPr lang="en-US" altLang="en-US" sz="1900">
                <a:ea typeface="ＭＳ Ｐゴシック" panose="020B0600070205080204" pitchFamily="34" charset="-128"/>
              </a:rPr>
              <a:t>Ability of what-if analysis</a:t>
            </a:r>
          </a:p>
          <a:p>
            <a:pPr eaLnBrk="1" hangingPunct="1"/>
            <a:r>
              <a:rPr lang="en-US" altLang="en-US" sz="1900">
                <a:ea typeface="ＭＳ Ｐゴシック" panose="020B0600070205080204" pitchFamily="34" charset="-128"/>
              </a:rPr>
              <a:t>Read-intensive data usage</a:t>
            </a:r>
          </a:p>
          <a:p>
            <a:pPr eaLnBrk="1" hangingPunct="1"/>
            <a:r>
              <a:rPr lang="en-US" altLang="en-US" sz="1900">
                <a:ea typeface="ＭＳ Ｐゴシック" panose="020B0600070205080204" pitchFamily="34" charset="-128"/>
              </a:rPr>
              <a:t>Direct interaction with system, without IT assistance</a:t>
            </a:r>
          </a:p>
          <a:p>
            <a:pPr eaLnBrk="1" hangingPunct="1"/>
            <a:r>
              <a:rPr lang="en-US" altLang="en-US" sz="1900">
                <a:ea typeface="ＭＳ Ｐゴシック" panose="020B0600070205080204" pitchFamily="34" charset="-128"/>
              </a:rPr>
              <a:t>Periodical updating contents &amp; stable</a:t>
            </a:r>
          </a:p>
          <a:p>
            <a:pPr eaLnBrk="1" hangingPunct="1"/>
            <a:r>
              <a:rPr lang="en-US" altLang="en-US" sz="1900">
                <a:ea typeface="ＭＳ Ｐゴシック" panose="020B0600070205080204" pitchFamily="34" charset="-128"/>
              </a:rPr>
              <a:t>Current &amp; historical data</a:t>
            </a:r>
          </a:p>
          <a:p>
            <a:pPr eaLnBrk="1" hangingPunct="1"/>
            <a:r>
              <a:rPr lang="en-US" altLang="en-US" sz="1900">
                <a:ea typeface="ＭＳ Ｐゴシック" panose="020B0600070205080204" pitchFamily="34" charset="-128"/>
              </a:rPr>
              <a:t>Ability for users to initiate reports </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 xmlns:a16="http://schemas.microsoft.com/office/drawing/2014/main" id="{EBC1610E-CDFD-4F11-A00D-DC4A5225DBEB}"/>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21AB2ABD-9075-4D1A-8D32-D4AEB8DB1EDB}" type="slidenum">
              <a:rPr lang="sv-SE" altLang="en-US">
                <a:latin typeface="Garamond" panose="02020404030301010803" pitchFamily="18" charset="0"/>
              </a:rPr>
              <a:pPr eaLnBrk="1" hangingPunct="1"/>
              <a:t>15</a:t>
            </a:fld>
            <a:endParaRPr lang="sv-SE" altLang="en-US">
              <a:latin typeface="Garamond" panose="02020404030301010803" pitchFamily="18" charset="0"/>
            </a:endParaRPr>
          </a:p>
        </p:txBody>
      </p:sp>
      <p:sp>
        <p:nvSpPr>
          <p:cNvPr id="17411" name="Rectangle 2">
            <a:extLst>
              <a:ext uri="{FF2B5EF4-FFF2-40B4-BE49-F238E27FC236}">
                <a16:creationId xmlns="" xmlns:a16="http://schemas.microsoft.com/office/drawing/2014/main" id="{23D70F2E-BBFB-4D7F-B4AE-A884242D251A}"/>
              </a:ext>
            </a:extLst>
          </p:cNvPr>
          <p:cNvSpPr>
            <a:spLocks noGrp="1" noChangeArrowheads="1"/>
          </p:cNvSpPr>
          <p:nvPr>
            <p:ph type="title"/>
          </p:nvPr>
        </p:nvSpPr>
        <p:spPr/>
        <p:txBody>
          <a:bodyPr/>
          <a:lstStyle/>
          <a:p>
            <a:pPr eaLnBrk="1" hangingPunct="1"/>
            <a:r>
              <a:rPr lang="en-US" altLang="en-US" sz="3400">
                <a:ea typeface="ＭＳ Ｐゴシック" panose="020B0600070205080204" pitchFamily="34" charset="-128"/>
              </a:rPr>
              <a:t>DW meets expectations</a:t>
            </a:r>
          </a:p>
        </p:txBody>
      </p:sp>
      <p:sp>
        <p:nvSpPr>
          <p:cNvPr id="17412" name="Rectangle 3">
            <a:extLst>
              <a:ext uri="{FF2B5EF4-FFF2-40B4-BE49-F238E27FC236}">
                <a16:creationId xmlns="" xmlns:a16="http://schemas.microsoft.com/office/drawing/2014/main" id="{D8A321D9-BF4A-4025-9AE6-A34560DD55CE}"/>
              </a:ext>
            </a:extLst>
          </p:cNvPr>
          <p:cNvSpPr>
            <a:spLocks noGrp="1" noChangeArrowheads="1"/>
          </p:cNvSpPr>
          <p:nvPr>
            <p:ph type="body" idx="1"/>
          </p:nvPr>
        </p:nvSpPr>
        <p:spPr/>
        <p:txBody>
          <a:bodyPr/>
          <a:lstStyle/>
          <a:p>
            <a:pPr eaLnBrk="1" hangingPunct="1"/>
            <a:r>
              <a:rPr lang="en-US" altLang="en-US" sz="1900">
                <a:ea typeface="ＭＳ Ｐゴシック" panose="020B0600070205080204" pitchFamily="34" charset="-128"/>
              </a:rPr>
              <a:t>Provides enterprise view</a:t>
            </a:r>
          </a:p>
          <a:p>
            <a:pPr eaLnBrk="1" hangingPunct="1"/>
            <a:r>
              <a:rPr lang="en-US" altLang="en-US" sz="1900">
                <a:ea typeface="ＭＳ Ｐゴシック" panose="020B0600070205080204" pitchFamily="34" charset="-128"/>
              </a:rPr>
              <a:t>Current &amp; historical data available</a:t>
            </a:r>
          </a:p>
          <a:p>
            <a:pPr eaLnBrk="1" hangingPunct="1"/>
            <a:r>
              <a:rPr lang="en-US" altLang="en-US" sz="1900">
                <a:ea typeface="ＭＳ Ｐゴシック" panose="020B0600070205080204" pitchFamily="34" charset="-128"/>
              </a:rPr>
              <a:t>Decision-transaction possible without affecting operational source</a:t>
            </a:r>
          </a:p>
          <a:p>
            <a:pPr eaLnBrk="1" hangingPunct="1"/>
            <a:r>
              <a:rPr lang="en-US" altLang="en-US" sz="1900">
                <a:ea typeface="ＭＳ Ｐゴシック" panose="020B0600070205080204" pitchFamily="34" charset="-128"/>
              </a:rPr>
              <a:t>Reliable source of information </a:t>
            </a:r>
          </a:p>
          <a:p>
            <a:pPr eaLnBrk="1" hangingPunct="1"/>
            <a:r>
              <a:rPr lang="en-US" altLang="en-US" sz="1900">
                <a:ea typeface="ＭＳ Ｐゴシック" panose="020B0600070205080204" pitchFamily="34" charset="-128"/>
              </a:rPr>
              <a:t>Ability for users to initiate reports</a:t>
            </a:r>
          </a:p>
          <a:p>
            <a:pPr eaLnBrk="1" hangingPunct="1"/>
            <a:r>
              <a:rPr lang="en-US" altLang="en-US" sz="1900">
                <a:ea typeface="ＭＳ Ｐゴシック" panose="020B0600070205080204" pitchFamily="34" charset="-128"/>
              </a:rPr>
              <a:t>Acts as a data source for all analytical applications </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a:extLst>
              <a:ext uri="{FF2B5EF4-FFF2-40B4-BE49-F238E27FC236}">
                <a16:creationId xmlns="" xmlns:a16="http://schemas.microsoft.com/office/drawing/2014/main" id="{D32E4355-736A-42C0-948F-CF4C2F143B90}"/>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05C06077-2702-451A-92C4-555DE931E0DC}" type="slidenum">
              <a:rPr lang="sv-SE" altLang="en-US">
                <a:latin typeface="Garamond" panose="02020404030301010803" pitchFamily="18" charset="0"/>
              </a:rPr>
              <a:pPr eaLnBrk="1" hangingPunct="1"/>
              <a:t>16</a:t>
            </a:fld>
            <a:endParaRPr lang="sv-SE" altLang="en-US">
              <a:latin typeface="Garamond" panose="02020404030301010803" pitchFamily="18" charset="0"/>
            </a:endParaRPr>
          </a:p>
        </p:txBody>
      </p:sp>
      <p:sp>
        <p:nvSpPr>
          <p:cNvPr id="18435" name="Rectangle 2">
            <a:extLst>
              <a:ext uri="{FF2B5EF4-FFF2-40B4-BE49-F238E27FC236}">
                <a16:creationId xmlns="" xmlns:a16="http://schemas.microsoft.com/office/drawing/2014/main" id="{66DEBA73-D54C-4D64-8E3F-B183A6367FEC}"/>
              </a:ext>
            </a:extLst>
          </p:cNvPr>
          <p:cNvSpPr>
            <a:spLocks noGrp="1" noChangeArrowheads="1"/>
          </p:cNvSpPr>
          <p:nvPr>
            <p:ph type="title"/>
          </p:nvPr>
        </p:nvSpPr>
        <p:spPr>
          <a:xfrm>
            <a:off x="685800" y="457200"/>
            <a:ext cx="7772400" cy="1143000"/>
          </a:xfrm>
        </p:spPr>
        <p:txBody>
          <a:bodyPr/>
          <a:lstStyle/>
          <a:p>
            <a:pPr eaLnBrk="1" hangingPunct="1"/>
            <a:r>
              <a:rPr lang="en-US" altLang="en-US" sz="3400">
                <a:ea typeface="ＭＳ Ｐゴシック" panose="020B0600070205080204" pitchFamily="34" charset="-128"/>
              </a:rPr>
              <a:t>Definition of DW</a:t>
            </a:r>
          </a:p>
        </p:txBody>
      </p:sp>
      <p:sp>
        <p:nvSpPr>
          <p:cNvPr id="18436" name="Rectangle 3">
            <a:extLst>
              <a:ext uri="{FF2B5EF4-FFF2-40B4-BE49-F238E27FC236}">
                <a16:creationId xmlns="" xmlns:a16="http://schemas.microsoft.com/office/drawing/2014/main" id="{4CBFA184-71C2-461A-8B0B-5754D08C143A}"/>
              </a:ext>
            </a:extLst>
          </p:cNvPr>
          <p:cNvSpPr>
            <a:spLocks noGrp="1" noChangeArrowheads="1"/>
          </p:cNvSpPr>
          <p:nvPr>
            <p:ph type="body" idx="1"/>
          </p:nvPr>
        </p:nvSpPr>
        <p:spPr>
          <a:xfrm>
            <a:off x="685800" y="1524000"/>
            <a:ext cx="7772400" cy="4572000"/>
          </a:xfrm>
        </p:spPr>
        <p:txBody>
          <a:bodyPr/>
          <a:lstStyle/>
          <a:p>
            <a:pPr eaLnBrk="1" hangingPunct="1">
              <a:buFont typeface="Wingdings" panose="05000000000000000000" pitchFamily="2" charset="2"/>
              <a:buNone/>
            </a:pPr>
            <a:r>
              <a:rPr lang="en-US" altLang="en-US" sz="1900">
                <a:ea typeface="ＭＳ Ｐゴシック" panose="020B0600070205080204" pitchFamily="34" charset="-128"/>
              </a:rPr>
              <a:t>Inmon defined </a:t>
            </a:r>
          </a:p>
          <a:p>
            <a:pPr algn="ctr" eaLnBrk="1" hangingPunct="1">
              <a:buFont typeface="Wingdings" panose="05000000000000000000" pitchFamily="2" charset="2"/>
              <a:buNone/>
            </a:pPr>
            <a:r>
              <a:rPr lang="ja-JP" altLang="en-US" sz="1900">
                <a:ea typeface="ＭＳ Ｐゴシック" panose="020B0600070205080204" pitchFamily="34" charset="-128"/>
              </a:rPr>
              <a:t>“</a:t>
            </a:r>
            <a:r>
              <a:rPr lang="en-US" altLang="ja-JP" sz="1900">
                <a:ea typeface="ＭＳ Ｐゴシック" panose="020B0600070205080204" pitchFamily="34" charset="-128"/>
              </a:rPr>
              <a:t>A DW is a subject-oriented, integrated, non-volatile, time-variant collection of data in favor of decision-making</a:t>
            </a:r>
            <a:r>
              <a:rPr lang="ja-JP" altLang="en-US" sz="1900">
                <a:ea typeface="ＭＳ Ｐゴシック" panose="020B0600070205080204" pitchFamily="34" charset="-128"/>
              </a:rPr>
              <a:t>”</a:t>
            </a:r>
            <a:r>
              <a:rPr lang="en-US" altLang="ja-JP" sz="1900">
                <a:ea typeface="ＭＳ Ｐゴシック" panose="020B0600070205080204" pitchFamily="34" charset="-128"/>
              </a:rPr>
              <a:t>. </a:t>
            </a:r>
          </a:p>
          <a:p>
            <a:pPr eaLnBrk="1" hangingPunct="1">
              <a:buFont typeface="Wingdings" panose="05000000000000000000" pitchFamily="2" charset="2"/>
              <a:buNone/>
            </a:pPr>
            <a:r>
              <a:rPr lang="en-US" altLang="en-US" sz="1900">
                <a:ea typeface="ＭＳ Ｐゴシック" panose="020B0600070205080204" pitchFamily="34" charset="-128"/>
              </a:rPr>
              <a:t>Kelly said </a:t>
            </a:r>
          </a:p>
          <a:p>
            <a:pPr algn="ctr" eaLnBrk="1" hangingPunct="1">
              <a:buFont typeface="Wingdings" panose="05000000000000000000" pitchFamily="2" charset="2"/>
              <a:buNone/>
            </a:pPr>
            <a:r>
              <a:rPr lang="ja-JP" altLang="en-US" sz="1900">
                <a:ea typeface="ＭＳ Ｐゴシック" panose="020B0600070205080204" pitchFamily="34" charset="-128"/>
              </a:rPr>
              <a:t>“</a:t>
            </a:r>
            <a:r>
              <a:rPr lang="en-US" altLang="ja-JP" sz="1900">
                <a:ea typeface="ＭＳ Ｐゴシック" panose="020B0600070205080204" pitchFamily="34" charset="-128"/>
              </a:rPr>
              <a:t>Separate available, integrated, time-stamped, subject-oriented, non-volatile, accessible</a:t>
            </a:r>
            <a:r>
              <a:rPr lang="ja-JP" altLang="en-US" sz="1900">
                <a:ea typeface="ＭＳ Ｐゴシック" panose="020B0600070205080204" pitchFamily="34" charset="-128"/>
              </a:rPr>
              <a:t>”</a:t>
            </a:r>
            <a:endParaRPr lang="en-US" altLang="ja-JP" sz="1900">
              <a:ea typeface="ＭＳ Ｐゴシック" panose="020B0600070205080204" pitchFamily="34" charset="-128"/>
            </a:endParaRPr>
          </a:p>
          <a:p>
            <a:pPr eaLnBrk="1" hangingPunct="1">
              <a:buFont typeface="Wingdings" panose="05000000000000000000" pitchFamily="2" charset="2"/>
              <a:buNone/>
            </a:pPr>
            <a:endParaRPr lang="en-US" altLang="en-US" sz="1900">
              <a:ea typeface="ＭＳ Ｐゴシック" panose="020B0600070205080204" pitchFamily="34" charset="-128"/>
            </a:endParaRPr>
          </a:p>
          <a:p>
            <a:pPr lvl="1" algn="ctr" eaLnBrk="1" hangingPunct="1">
              <a:buFont typeface="Wingdings" panose="05000000000000000000" pitchFamily="2" charset="2"/>
              <a:buNone/>
            </a:pPr>
            <a:r>
              <a:rPr lang="en-US" altLang="en-US" sz="2100" b="1">
                <a:ea typeface="Arial" panose="020B0604020202020204" pitchFamily="34" charset="0"/>
              </a:rPr>
              <a:t>Four properties of DW</a:t>
            </a:r>
          </a:p>
          <a:p>
            <a:pPr lvl="1" eaLnBrk="1" hangingPunct="1">
              <a:buFont typeface="Wingdings" panose="05000000000000000000" pitchFamily="2" charset="2"/>
              <a:buNone/>
            </a:pPr>
            <a:endParaRPr lang="en-US" altLang="en-US" sz="2100" b="1">
              <a:ea typeface="Arial" panose="020B0604020202020204" pitchFamily="34" charset="0"/>
            </a:endParaRPr>
          </a:p>
          <a:p>
            <a:pPr lvl="1" eaLnBrk="1" hangingPunct="1"/>
            <a:endParaRPr lang="en-US" altLang="en-US" sz="1700">
              <a:ea typeface="Arial" panose="020B0604020202020204"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 xmlns:a16="http://schemas.microsoft.com/office/drawing/2014/main" id="{261D1466-7738-4BA1-AC1B-133046247094}"/>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AF1149D6-5020-467B-978E-1EA73207B19E}" type="slidenum">
              <a:rPr lang="sv-SE" altLang="en-US">
                <a:latin typeface="Garamond" panose="02020404030301010803" pitchFamily="18" charset="0"/>
              </a:rPr>
              <a:pPr eaLnBrk="1" hangingPunct="1"/>
              <a:t>17</a:t>
            </a:fld>
            <a:endParaRPr lang="sv-SE" altLang="en-US">
              <a:latin typeface="Garamond" panose="02020404030301010803" pitchFamily="18" charset="0"/>
            </a:endParaRPr>
          </a:p>
        </p:txBody>
      </p:sp>
      <p:sp>
        <p:nvSpPr>
          <p:cNvPr id="19459" name="Rectangle 2">
            <a:extLst>
              <a:ext uri="{FF2B5EF4-FFF2-40B4-BE49-F238E27FC236}">
                <a16:creationId xmlns="" xmlns:a16="http://schemas.microsoft.com/office/drawing/2014/main" id="{69BC3065-DADA-40C3-AEA1-B98EBD8B63F3}"/>
              </a:ext>
            </a:extLst>
          </p:cNvPr>
          <p:cNvSpPr>
            <a:spLocks noGrp="1" noChangeArrowheads="1"/>
          </p:cNvSpPr>
          <p:nvPr>
            <p:ph type="title"/>
          </p:nvPr>
        </p:nvSpPr>
        <p:spPr>
          <a:xfrm>
            <a:off x="685800" y="457200"/>
            <a:ext cx="7772400" cy="1143000"/>
          </a:xfrm>
        </p:spPr>
        <p:txBody>
          <a:bodyPr/>
          <a:lstStyle/>
          <a:p>
            <a:pPr eaLnBrk="1" hangingPunct="1"/>
            <a:r>
              <a:rPr lang="en-US" altLang="en-US" sz="3400">
                <a:ea typeface="ＭＳ Ｐゴシック" panose="020B0600070205080204" pitchFamily="34" charset="-128"/>
              </a:rPr>
              <a:t>Subject-oriented</a:t>
            </a:r>
          </a:p>
        </p:txBody>
      </p:sp>
      <p:sp>
        <p:nvSpPr>
          <p:cNvPr id="19460" name="Rectangle 3">
            <a:extLst>
              <a:ext uri="{FF2B5EF4-FFF2-40B4-BE49-F238E27FC236}">
                <a16:creationId xmlns="" xmlns:a16="http://schemas.microsoft.com/office/drawing/2014/main" id="{3AA10827-95D8-464C-B255-4A8601EA5E1D}"/>
              </a:ext>
            </a:extLst>
          </p:cNvPr>
          <p:cNvSpPr>
            <a:spLocks noGrp="1" noChangeArrowheads="1"/>
          </p:cNvSpPr>
          <p:nvPr>
            <p:ph type="body" idx="1"/>
          </p:nvPr>
        </p:nvSpPr>
        <p:spPr>
          <a:xfrm>
            <a:off x="685800" y="1524000"/>
            <a:ext cx="7772400" cy="4572000"/>
          </a:xfrm>
        </p:spPr>
        <p:txBody>
          <a:bodyPr/>
          <a:lstStyle/>
          <a:p>
            <a:pPr eaLnBrk="1" hangingPunct="1"/>
            <a:r>
              <a:rPr lang="en-US" altLang="en-US" sz="1900" dirty="0">
                <a:ea typeface="ＭＳ Ｐゴシック" panose="020B0600070205080204" pitchFamily="34" charset="-128"/>
              </a:rPr>
              <a:t>In operational sources data is organized by applications, or business processes.</a:t>
            </a:r>
          </a:p>
          <a:p>
            <a:pPr eaLnBrk="1" hangingPunct="1"/>
            <a:r>
              <a:rPr lang="en-US" altLang="en-US" sz="1900" dirty="0">
                <a:ea typeface="ＭＳ Ｐゴシック" panose="020B0600070205080204" pitchFamily="34" charset="-128"/>
              </a:rPr>
              <a:t>In DW subject is the organization method</a:t>
            </a:r>
          </a:p>
          <a:p>
            <a:pPr eaLnBrk="1" hangingPunct="1"/>
            <a:r>
              <a:rPr lang="en-US" altLang="en-US" sz="1900" dirty="0">
                <a:ea typeface="ＭＳ Ｐゴシック" panose="020B0600070205080204" pitchFamily="34" charset="-128"/>
              </a:rPr>
              <a:t>Subjects vary with enterprise</a:t>
            </a:r>
          </a:p>
          <a:p>
            <a:pPr eaLnBrk="1" hangingPunct="1"/>
            <a:r>
              <a:rPr lang="en-US" altLang="en-US" sz="1900" dirty="0">
                <a:ea typeface="ＭＳ Ｐゴシック" panose="020B0600070205080204" pitchFamily="34" charset="-128"/>
              </a:rPr>
              <a:t>These are critical factors, that affect performance</a:t>
            </a:r>
          </a:p>
          <a:p>
            <a:pPr eaLnBrk="1" hangingPunct="1"/>
            <a:r>
              <a:rPr lang="en-US" altLang="en-US" sz="1900" dirty="0">
                <a:ea typeface="ＭＳ Ｐゴシック" panose="020B0600070205080204" pitchFamily="34" charset="-128"/>
              </a:rPr>
              <a:t>Example of Manufacturing Company</a:t>
            </a:r>
          </a:p>
          <a:p>
            <a:pPr lvl="1" eaLnBrk="1" hangingPunct="1"/>
            <a:r>
              <a:rPr lang="en-US" altLang="en-US" sz="1700" dirty="0">
                <a:ea typeface="Arial" panose="020B0604020202020204" pitchFamily="34" charset="0"/>
              </a:rPr>
              <a:t>Sales</a:t>
            </a:r>
          </a:p>
          <a:p>
            <a:pPr lvl="1" eaLnBrk="1" hangingPunct="1"/>
            <a:r>
              <a:rPr lang="en-US" altLang="en-US" sz="1700" dirty="0">
                <a:ea typeface="Arial" panose="020B0604020202020204" pitchFamily="34" charset="0"/>
              </a:rPr>
              <a:t>Shipment</a:t>
            </a:r>
          </a:p>
          <a:p>
            <a:pPr lvl="1" eaLnBrk="1" hangingPunct="1"/>
            <a:r>
              <a:rPr lang="en-US" altLang="en-US" sz="1700" dirty="0">
                <a:ea typeface="Arial" panose="020B0604020202020204" pitchFamily="34" charset="0"/>
              </a:rPr>
              <a:t>Inventory etc</a:t>
            </a:r>
          </a:p>
          <a:p>
            <a:pPr lvl="1" eaLnBrk="1" hangingPunct="1"/>
            <a:endParaRPr lang="en-US" altLang="en-US" sz="1700" dirty="0">
              <a:ea typeface="Arial" panose="020B0604020202020204" pitchFamily="34" charset="0"/>
            </a:endParaRPr>
          </a:p>
          <a:p>
            <a:pPr algn="ctr" eaLnBrk="1" hangingPunct="1">
              <a:buFont typeface="Wingdings" panose="05000000000000000000" pitchFamily="2" charset="2"/>
              <a:buNone/>
            </a:pPr>
            <a:endParaRPr lang="en-US" altLang="en-US" sz="1900" dirty="0">
              <a:ea typeface="ＭＳ Ｐゴシック" panose="020B0600070205080204" pitchFamily="34" charset="-128"/>
            </a:endParaRPr>
          </a:p>
          <a:p>
            <a:pPr eaLnBrk="1" hangingPunct="1">
              <a:buFont typeface="Wingdings" panose="05000000000000000000" pitchFamily="2" charset="2"/>
              <a:buNone/>
            </a:pPr>
            <a:endParaRPr lang="en-US" altLang="en-US" sz="1900" dirty="0">
              <a:ea typeface="ＭＳ Ｐゴシック" panose="020B0600070205080204" pitchFamily="34" charset="-128"/>
            </a:endParaRPr>
          </a:p>
        </p:txBody>
      </p:sp>
      <p:pic>
        <p:nvPicPr>
          <p:cNvPr id="1026" name="Picture 2"/>
          <p:cNvPicPr>
            <a:picLocks noChangeAspect="1" noChangeArrowheads="1"/>
          </p:cNvPicPr>
          <p:nvPr/>
        </p:nvPicPr>
        <p:blipFill>
          <a:blip r:embed="rId3"/>
          <a:srcRect/>
          <a:stretch>
            <a:fillRect/>
          </a:stretch>
        </p:blipFill>
        <p:spPr bwMode="auto">
          <a:xfrm>
            <a:off x="3200400" y="3581400"/>
            <a:ext cx="5767388" cy="265258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a:extLst>
              <a:ext uri="{FF2B5EF4-FFF2-40B4-BE49-F238E27FC236}">
                <a16:creationId xmlns="" xmlns:a16="http://schemas.microsoft.com/office/drawing/2014/main" id="{16C28AE9-A41E-4DBC-9B28-B5B44109FA28}"/>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1F9C0DF8-15AF-4C29-B5AE-416D3664413D}" type="slidenum">
              <a:rPr lang="sv-SE" altLang="en-US">
                <a:latin typeface="Garamond" panose="02020404030301010803" pitchFamily="18" charset="0"/>
              </a:rPr>
              <a:pPr eaLnBrk="1" hangingPunct="1"/>
              <a:t>18</a:t>
            </a:fld>
            <a:endParaRPr lang="sv-SE" altLang="en-US">
              <a:latin typeface="Garamond" panose="02020404030301010803" pitchFamily="18" charset="0"/>
            </a:endParaRPr>
          </a:p>
        </p:txBody>
      </p:sp>
      <p:sp>
        <p:nvSpPr>
          <p:cNvPr id="20483" name="Rectangle 2">
            <a:extLst>
              <a:ext uri="{FF2B5EF4-FFF2-40B4-BE49-F238E27FC236}">
                <a16:creationId xmlns="" xmlns:a16="http://schemas.microsoft.com/office/drawing/2014/main" id="{8D684537-38E3-4127-96AE-89641E3AC76B}"/>
              </a:ext>
            </a:extLst>
          </p:cNvPr>
          <p:cNvSpPr>
            <a:spLocks noGrp="1" noChangeArrowheads="1"/>
          </p:cNvSpPr>
          <p:nvPr>
            <p:ph type="title"/>
          </p:nvPr>
        </p:nvSpPr>
        <p:spPr>
          <a:xfrm>
            <a:off x="685800" y="457200"/>
            <a:ext cx="7772400" cy="1143000"/>
          </a:xfrm>
        </p:spPr>
        <p:txBody>
          <a:bodyPr/>
          <a:lstStyle/>
          <a:p>
            <a:pPr eaLnBrk="1" hangingPunct="1"/>
            <a:r>
              <a:rPr lang="en-US" altLang="en-US" sz="3400">
                <a:ea typeface="ＭＳ Ｐゴシック" panose="020B0600070205080204" pitchFamily="34" charset="-128"/>
              </a:rPr>
              <a:t>Integrated Data</a:t>
            </a:r>
          </a:p>
        </p:txBody>
      </p:sp>
      <p:sp>
        <p:nvSpPr>
          <p:cNvPr id="20484" name="Rectangle 3">
            <a:extLst>
              <a:ext uri="{FF2B5EF4-FFF2-40B4-BE49-F238E27FC236}">
                <a16:creationId xmlns="" xmlns:a16="http://schemas.microsoft.com/office/drawing/2014/main" id="{6E0F5E28-45DD-450B-8E38-4C2FC1D6B69B}"/>
              </a:ext>
            </a:extLst>
          </p:cNvPr>
          <p:cNvSpPr>
            <a:spLocks noGrp="1" noChangeArrowheads="1"/>
          </p:cNvSpPr>
          <p:nvPr>
            <p:ph type="body" idx="1"/>
          </p:nvPr>
        </p:nvSpPr>
        <p:spPr>
          <a:xfrm>
            <a:off x="685800" y="1524000"/>
            <a:ext cx="7772400" cy="4572000"/>
          </a:xfrm>
        </p:spPr>
        <p:txBody>
          <a:bodyPr/>
          <a:lstStyle/>
          <a:p>
            <a:pPr eaLnBrk="1" hangingPunct="1">
              <a:lnSpc>
                <a:spcPct val="90000"/>
              </a:lnSpc>
            </a:pPr>
            <a:r>
              <a:rPr lang="en-US" altLang="en-US" sz="1900" dirty="0">
                <a:ea typeface="ＭＳ Ｐゴシック" panose="020B0600070205080204" pitchFamily="34" charset="-128"/>
              </a:rPr>
              <a:t>Data comes from several applications</a:t>
            </a:r>
          </a:p>
          <a:p>
            <a:pPr eaLnBrk="1" hangingPunct="1">
              <a:lnSpc>
                <a:spcPct val="90000"/>
              </a:lnSpc>
            </a:pPr>
            <a:r>
              <a:rPr lang="en-US" altLang="en-US" sz="1900" dirty="0">
                <a:ea typeface="ＭＳ Ｐゴシック" panose="020B0600070205080204" pitchFamily="34" charset="-128"/>
              </a:rPr>
              <a:t>Problems of integration comes into play</a:t>
            </a:r>
          </a:p>
          <a:p>
            <a:pPr lvl="1" eaLnBrk="1" hangingPunct="1">
              <a:lnSpc>
                <a:spcPct val="90000"/>
              </a:lnSpc>
            </a:pPr>
            <a:r>
              <a:rPr lang="en-US" altLang="en-US" sz="1700" dirty="0">
                <a:ea typeface="Arial" panose="020B0604020202020204" pitchFamily="34" charset="0"/>
              </a:rPr>
              <a:t>File layout, encoding, field names, schema, data heterogeneity are the issues </a:t>
            </a:r>
          </a:p>
          <a:p>
            <a:pPr lvl="1" eaLnBrk="1" hangingPunct="1">
              <a:lnSpc>
                <a:spcPct val="90000"/>
              </a:lnSpc>
            </a:pPr>
            <a:r>
              <a:rPr lang="en-US" altLang="en-US" sz="1700" dirty="0">
                <a:ea typeface="Arial" panose="020B0604020202020204" pitchFamily="34" charset="0"/>
              </a:rPr>
              <a:t>Bank example, variance: naming convention, attributes for data item, account no, account type, size, currency </a:t>
            </a:r>
          </a:p>
          <a:p>
            <a:pPr eaLnBrk="1" hangingPunct="1">
              <a:lnSpc>
                <a:spcPct val="90000"/>
              </a:lnSpc>
            </a:pPr>
            <a:r>
              <a:rPr lang="en-US" altLang="en-US" sz="1900" dirty="0">
                <a:ea typeface="ＭＳ Ｐゴシック" panose="020B0600070205080204" pitchFamily="34" charset="-128"/>
              </a:rPr>
              <a:t>In addition to internal, external data sources </a:t>
            </a:r>
          </a:p>
          <a:p>
            <a:pPr lvl="1" eaLnBrk="1" hangingPunct="1">
              <a:lnSpc>
                <a:spcPct val="90000"/>
              </a:lnSpc>
            </a:pPr>
            <a:r>
              <a:rPr lang="en-US" altLang="en-US" sz="1700" dirty="0">
                <a:ea typeface="Arial" panose="020B0604020202020204" pitchFamily="34" charset="0"/>
              </a:rPr>
              <a:t>External companies data sharing</a:t>
            </a:r>
          </a:p>
          <a:p>
            <a:pPr lvl="1" eaLnBrk="1" hangingPunct="1">
              <a:lnSpc>
                <a:spcPct val="90000"/>
              </a:lnSpc>
            </a:pPr>
            <a:r>
              <a:rPr lang="en-US" altLang="en-US" sz="1700" dirty="0">
                <a:ea typeface="Arial" panose="020B0604020202020204" pitchFamily="34" charset="0"/>
              </a:rPr>
              <a:t>Websites</a:t>
            </a:r>
          </a:p>
          <a:p>
            <a:pPr lvl="1" eaLnBrk="1" hangingPunct="1">
              <a:lnSpc>
                <a:spcPct val="90000"/>
              </a:lnSpc>
            </a:pPr>
            <a:r>
              <a:rPr lang="en-US" altLang="en-US" sz="1700" dirty="0">
                <a:ea typeface="Arial" panose="020B0604020202020204" pitchFamily="34" charset="0"/>
              </a:rPr>
              <a:t>Others</a:t>
            </a:r>
          </a:p>
          <a:p>
            <a:pPr eaLnBrk="1" hangingPunct="1">
              <a:lnSpc>
                <a:spcPct val="90000"/>
              </a:lnSpc>
            </a:pPr>
            <a:r>
              <a:rPr lang="en-US" altLang="en-US" sz="1900" dirty="0">
                <a:ea typeface="ＭＳ Ｐゴシック" panose="020B0600070205080204" pitchFamily="34" charset="-128"/>
              </a:rPr>
              <a:t>Removal of inconsistency</a:t>
            </a:r>
          </a:p>
          <a:p>
            <a:pPr eaLnBrk="1" hangingPunct="1">
              <a:lnSpc>
                <a:spcPct val="90000"/>
              </a:lnSpc>
            </a:pPr>
            <a:r>
              <a:rPr lang="en-US" altLang="en-US" sz="1900" dirty="0">
                <a:ea typeface="ＭＳ Ｐゴシック" panose="020B0600070205080204" pitchFamily="34" charset="-128"/>
              </a:rPr>
              <a:t>So process of extraction, transformation &amp; loading</a:t>
            </a:r>
          </a:p>
          <a:p>
            <a:pPr lvl="1" eaLnBrk="1" hangingPunct="1">
              <a:lnSpc>
                <a:spcPct val="90000"/>
              </a:lnSpc>
            </a:pPr>
            <a:endParaRPr lang="en-US" altLang="en-US" sz="1700" dirty="0">
              <a:ea typeface="Arial" panose="020B0604020202020204" pitchFamily="34" charset="0"/>
            </a:endParaRPr>
          </a:p>
          <a:p>
            <a:pPr algn="ctr" eaLnBrk="1" hangingPunct="1">
              <a:lnSpc>
                <a:spcPct val="90000"/>
              </a:lnSpc>
              <a:buFont typeface="Wingdings" panose="05000000000000000000" pitchFamily="2" charset="2"/>
              <a:buNone/>
            </a:pPr>
            <a:endParaRPr lang="en-US" altLang="en-US" sz="1900" dirty="0">
              <a:ea typeface="ＭＳ Ｐゴシック" panose="020B0600070205080204" pitchFamily="34" charset="-128"/>
            </a:endParaRPr>
          </a:p>
          <a:p>
            <a:pPr eaLnBrk="1" hangingPunct="1">
              <a:lnSpc>
                <a:spcPct val="90000"/>
              </a:lnSpc>
              <a:buFont typeface="Wingdings" panose="05000000000000000000" pitchFamily="2" charset="2"/>
              <a:buNone/>
            </a:pPr>
            <a:endParaRPr lang="en-US" altLang="en-US" sz="1900" dirty="0">
              <a:ea typeface="ＭＳ Ｐゴシック" panose="020B0600070205080204" pitchFamily="34" charset="-128"/>
            </a:endParaRPr>
          </a:p>
        </p:txBody>
      </p:sp>
      <p:pic>
        <p:nvPicPr>
          <p:cNvPr id="2050" name="Picture 2"/>
          <p:cNvPicPr>
            <a:picLocks noChangeAspect="1" noChangeArrowheads="1"/>
          </p:cNvPicPr>
          <p:nvPr/>
        </p:nvPicPr>
        <p:blipFill>
          <a:blip r:embed="rId3"/>
          <a:srcRect/>
          <a:stretch>
            <a:fillRect/>
          </a:stretch>
        </p:blipFill>
        <p:spPr bwMode="auto">
          <a:xfrm>
            <a:off x="5257800" y="3962400"/>
            <a:ext cx="3424238" cy="2125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a:extLst>
              <a:ext uri="{FF2B5EF4-FFF2-40B4-BE49-F238E27FC236}">
                <a16:creationId xmlns="" xmlns:a16="http://schemas.microsoft.com/office/drawing/2014/main" id="{F4BB5AA8-0D47-481F-BED6-466123A1C573}"/>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CE715C49-15FC-46F0-AA6E-B32BABFADE24}" type="slidenum">
              <a:rPr lang="sv-SE" altLang="en-US">
                <a:latin typeface="Garamond" panose="02020404030301010803" pitchFamily="18" charset="0"/>
              </a:rPr>
              <a:pPr eaLnBrk="1" hangingPunct="1"/>
              <a:t>19</a:t>
            </a:fld>
            <a:endParaRPr lang="sv-SE" altLang="en-US">
              <a:latin typeface="Garamond" panose="02020404030301010803" pitchFamily="18" charset="0"/>
            </a:endParaRPr>
          </a:p>
        </p:txBody>
      </p:sp>
      <p:sp>
        <p:nvSpPr>
          <p:cNvPr id="21507" name="Rectangle 2">
            <a:extLst>
              <a:ext uri="{FF2B5EF4-FFF2-40B4-BE49-F238E27FC236}">
                <a16:creationId xmlns="" xmlns:a16="http://schemas.microsoft.com/office/drawing/2014/main" id="{4F02EB8D-09E5-477D-9C37-6EE5C1ACEE31}"/>
              </a:ext>
            </a:extLst>
          </p:cNvPr>
          <p:cNvSpPr>
            <a:spLocks noGrp="1" noChangeArrowheads="1"/>
          </p:cNvSpPr>
          <p:nvPr>
            <p:ph type="title"/>
          </p:nvPr>
        </p:nvSpPr>
        <p:spPr>
          <a:xfrm>
            <a:off x="685800" y="457200"/>
            <a:ext cx="7772400" cy="1143000"/>
          </a:xfrm>
        </p:spPr>
        <p:txBody>
          <a:bodyPr/>
          <a:lstStyle/>
          <a:p>
            <a:pPr eaLnBrk="1" hangingPunct="1"/>
            <a:r>
              <a:rPr lang="en-US" altLang="en-US" sz="3400">
                <a:ea typeface="ＭＳ Ｐゴシック" panose="020B0600070205080204" pitchFamily="34" charset="-128"/>
              </a:rPr>
              <a:t>Time variant</a:t>
            </a:r>
          </a:p>
        </p:txBody>
      </p:sp>
      <p:sp>
        <p:nvSpPr>
          <p:cNvPr id="21508" name="Rectangle 3">
            <a:extLst>
              <a:ext uri="{FF2B5EF4-FFF2-40B4-BE49-F238E27FC236}">
                <a16:creationId xmlns="" xmlns:a16="http://schemas.microsoft.com/office/drawing/2014/main" id="{A88D41E4-2FC8-4A50-83DE-B703F6C8516E}"/>
              </a:ext>
            </a:extLst>
          </p:cNvPr>
          <p:cNvSpPr>
            <a:spLocks noGrp="1" noChangeArrowheads="1"/>
          </p:cNvSpPr>
          <p:nvPr>
            <p:ph type="body" idx="1"/>
          </p:nvPr>
        </p:nvSpPr>
        <p:spPr>
          <a:xfrm>
            <a:off x="685800" y="1524000"/>
            <a:ext cx="7772400" cy="4572000"/>
          </a:xfrm>
        </p:spPr>
        <p:txBody>
          <a:bodyPr/>
          <a:lstStyle/>
          <a:p>
            <a:pPr eaLnBrk="1" hangingPunct="1"/>
            <a:r>
              <a:rPr lang="en-US" altLang="en-US" sz="1900">
                <a:ea typeface="ＭＳ Ｐゴシック" panose="020B0600070205080204" pitchFamily="34" charset="-128"/>
              </a:rPr>
              <a:t>Operational data has current values</a:t>
            </a:r>
          </a:p>
          <a:p>
            <a:pPr eaLnBrk="1" hangingPunct="1"/>
            <a:r>
              <a:rPr lang="en-US" altLang="en-US" sz="1900">
                <a:ea typeface="ＭＳ Ｐゴシック" panose="020B0600070205080204" pitchFamily="34" charset="-128"/>
              </a:rPr>
              <a:t>Comparative analysis is one of the best techniques for business performance evaluation </a:t>
            </a:r>
          </a:p>
          <a:p>
            <a:pPr eaLnBrk="1" hangingPunct="1"/>
            <a:r>
              <a:rPr lang="en-US" altLang="en-US" sz="1900">
                <a:ea typeface="ＭＳ Ｐゴシック" panose="020B0600070205080204" pitchFamily="34" charset="-128"/>
              </a:rPr>
              <a:t>Time is critical factor for comparative analysis</a:t>
            </a:r>
          </a:p>
          <a:p>
            <a:pPr eaLnBrk="1" hangingPunct="1"/>
            <a:r>
              <a:rPr lang="en-US" altLang="en-US" sz="1900">
                <a:ea typeface="ＭＳ Ｐゴシック" panose="020B0600070205080204" pitchFamily="34" charset="-128"/>
              </a:rPr>
              <a:t>Every data structure in DW contains time element</a:t>
            </a:r>
          </a:p>
          <a:p>
            <a:pPr eaLnBrk="1" hangingPunct="1"/>
            <a:r>
              <a:rPr lang="en-US" altLang="en-US" sz="1900">
                <a:ea typeface="ＭＳ Ｐゴシック" panose="020B0600070205080204" pitchFamily="34" charset="-128"/>
              </a:rPr>
              <a:t>In order to promote product in certain area, analyst has to know about current and historical values</a:t>
            </a:r>
          </a:p>
          <a:p>
            <a:pPr eaLnBrk="1" hangingPunct="1"/>
            <a:r>
              <a:rPr lang="en-US" altLang="en-US" sz="1900">
                <a:ea typeface="ＭＳ Ｐゴシック" panose="020B0600070205080204" pitchFamily="34" charset="-128"/>
              </a:rPr>
              <a:t>The advantages are</a:t>
            </a:r>
          </a:p>
          <a:p>
            <a:pPr lvl="1" eaLnBrk="1" hangingPunct="1"/>
            <a:r>
              <a:rPr lang="en-US" altLang="en-US" sz="1700">
                <a:ea typeface="Arial" panose="020B0604020202020204" pitchFamily="34" charset="0"/>
              </a:rPr>
              <a:t>Allows for analysis of the past</a:t>
            </a:r>
          </a:p>
          <a:p>
            <a:pPr lvl="1" eaLnBrk="1" hangingPunct="1"/>
            <a:r>
              <a:rPr lang="en-US" altLang="en-US" sz="1700">
                <a:ea typeface="Arial" panose="020B0604020202020204" pitchFamily="34" charset="0"/>
              </a:rPr>
              <a:t>Relates information to the present</a:t>
            </a:r>
          </a:p>
          <a:p>
            <a:pPr lvl="1" eaLnBrk="1" hangingPunct="1"/>
            <a:r>
              <a:rPr lang="en-US" altLang="en-US" sz="1700">
                <a:ea typeface="Arial" panose="020B0604020202020204" pitchFamily="34" charset="0"/>
              </a:rPr>
              <a:t>Enables forecasts for the future</a:t>
            </a:r>
          </a:p>
          <a:p>
            <a:pPr lvl="1" eaLnBrk="1" hangingPunct="1"/>
            <a:endParaRPr lang="en-US" altLang="en-US" sz="1700">
              <a:ea typeface="Arial" panose="020B0604020202020204" pitchFamily="34" charset="0"/>
            </a:endParaRPr>
          </a:p>
          <a:p>
            <a:pPr eaLnBrk="1" hangingPunct="1"/>
            <a:endParaRPr lang="en-US" altLang="en-US" sz="1900">
              <a:ea typeface="ＭＳ Ｐゴシック" panose="020B0600070205080204" pitchFamily="34" charset="-128"/>
            </a:endParaRPr>
          </a:p>
          <a:p>
            <a:pPr lvl="1" eaLnBrk="1" hangingPunct="1">
              <a:buFont typeface="Wingdings" panose="05000000000000000000" pitchFamily="2" charset="2"/>
              <a:buNone/>
            </a:pPr>
            <a:endParaRPr lang="en-US" altLang="en-US" sz="1700">
              <a:ea typeface="Arial" panose="020B0604020202020204" pitchFamily="34" charset="0"/>
            </a:endParaRPr>
          </a:p>
          <a:p>
            <a:pPr lvl="1" eaLnBrk="1" hangingPunct="1"/>
            <a:endParaRPr lang="en-US" altLang="en-US" sz="1700">
              <a:ea typeface="Arial" panose="020B0604020202020204" pitchFamily="34" charset="0"/>
            </a:endParaRPr>
          </a:p>
          <a:p>
            <a:pPr algn="ctr" eaLnBrk="1" hangingPunct="1">
              <a:buFont typeface="Wingdings" panose="05000000000000000000" pitchFamily="2" charset="2"/>
              <a:buNone/>
            </a:pPr>
            <a:endParaRPr lang="en-US" altLang="en-US" sz="1900">
              <a:ea typeface="ＭＳ Ｐゴシック" panose="020B0600070205080204" pitchFamily="34" charset="-128"/>
            </a:endParaRPr>
          </a:p>
          <a:p>
            <a:pPr eaLnBrk="1" hangingPunct="1">
              <a:buFont typeface="Wingdings" panose="05000000000000000000" pitchFamily="2" charset="2"/>
              <a:buNone/>
            </a:pPr>
            <a:endParaRPr lang="en-US" altLang="en-US" sz="1900">
              <a:ea typeface="ＭＳ Ｐゴシック" panose="020B0600070205080204" pitchFamily="34" charset="-128"/>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a:extLst>
              <a:ext uri="{FF2B5EF4-FFF2-40B4-BE49-F238E27FC236}">
                <a16:creationId xmlns="" xmlns:a16="http://schemas.microsoft.com/office/drawing/2014/main" id="{8FC9AE2F-F749-4B44-B6AF-898FB1C27755}"/>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A3259BF0-F8B0-44E2-8AE2-0627802DEFF0}" type="slidenum">
              <a:rPr lang="sv-SE" altLang="en-US">
                <a:latin typeface="Garamond" panose="02020404030301010803" pitchFamily="18" charset="0"/>
              </a:rPr>
              <a:pPr eaLnBrk="1" hangingPunct="1"/>
              <a:t>20</a:t>
            </a:fld>
            <a:endParaRPr lang="sv-SE" altLang="en-US">
              <a:latin typeface="Garamond" panose="02020404030301010803" pitchFamily="18" charset="0"/>
            </a:endParaRPr>
          </a:p>
        </p:txBody>
      </p:sp>
      <p:sp>
        <p:nvSpPr>
          <p:cNvPr id="22531" name="Rectangle 2">
            <a:extLst>
              <a:ext uri="{FF2B5EF4-FFF2-40B4-BE49-F238E27FC236}">
                <a16:creationId xmlns="" xmlns:a16="http://schemas.microsoft.com/office/drawing/2014/main" id="{3036AA5F-5454-4C7E-92E7-1F616970A59F}"/>
              </a:ext>
            </a:extLst>
          </p:cNvPr>
          <p:cNvSpPr>
            <a:spLocks noGrp="1" noChangeArrowheads="1"/>
          </p:cNvSpPr>
          <p:nvPr>
            <p:ph type="title"/>
          </p:nvPr>
        </p:nvSpPr>
        <p:spPr>
          <a:xfrm>
            <a:off x="685800" y="304800"/>
            <a:ext cx="7772400" cy="1143000"/>
          </a:xfrm>
        </p:spPr>
        <p:txBody>
          <a:bodyPr/>
          <a:lstStyle/>
          <a:p>
            <a:pPr eaLnBrk="1" hangingPunct="1"/>
            <a:r>
              <a:rPr lang="en-US" altLang="en-US" sz="3400">
                <a:ea typeface="ＭＳ Ｐゴシック" panose="020B0600070205080204" pitchFamily="34" charset="-128"/>
              </a:rPr>
              <a:t>Non-volatile</a:t>
            </a:r>
          </a:p>
        </p:txBody>
      </p:sp>
      <p:sp>
        <p:nvSpPr>
          <p:cNvPr id="22532" name="Rectangle 3">
            <a:extLst>
              <a:ext uri="{FF2B5EF4-FFF2-40B4-BE49-F238E27FC236}">
                <a16:creationId xmlns="" xmlns:a16="http://schemas.microsoft.com/office/drawing/2014/main" id="{48874E31-35F7-4A1A-B151-BEDF3875AB78}"/>
              </a:ext>
            </a:extLst>
          </p:cNvPr>
          <p:cNvSpPr>
            <a:spLocks noGrp="1" noChangeArrowheads="1"/>
          </p:cNvSpPr>
          <p:nvPr>
            <p:ph type="body" idx="1"/>
          </p:nvPr>
        </p:nvSpPr>
        <p:spPr>
          <a:xfrm>
            <a:off x="685800" y="1143000"/>
            <a:ext cx="7772400" cy="4572000"/>
          </a:xfrm>
        </p:spPr>
        <p:txBody>
          <a:bodyPr/>
          <a:lstStyle/>
          <a:p>
            <a:pPr eaLnBrk="1" hangingPunct="1"/>
            <a:r>
              <a:rPr lang="en-US" altLang="en-US" sz="1900" dirty="0">
                <a:ea typeface="ＭＳ Ｐゴシック" panose="020B0600070205080204" pitchFamily="34" charset="-128"/>
              </a:rPr>
              <a:t>Data from operational systems are moved into DW after specific intervals</a:t>
            </a:r>
          </a:p>
          <a:p>
            <a:pPr eaLnBrk="1" hangingPunct="1"/>
            <a:r>
              <a:rPr lang="en-US" altLang="en-US" sz="1900" dirty="0">
                <a:ea typeface="ＭＳ Ｐゴシック" panose="020B0600070205080204" pitchFamily="34" charset="-128"/>
              </a:rPr>
              <a:t>Data is persistent/ not removed i.e. non volatile</a:t>
            </a:r>
          </a:p>
          <a:p>
            <a:pPr eaLnBrk="1" hangingPunct="1"/>
            <a:r>
              <a:rPr lang="en-US" altLang="en-US" sz="1900" dirty="0">
                <a:ea typeface="ＭＳ Ｐゴシック" panose="020B0600070205080204" pitchFamily="34" charset="-128"/>
              </a:rPr>
              <a:t>Every business transaction don</a:t>
            </a:r>
            <a:r>
              <a:rPr lang="ja-JP" altLang="en-US" sz="1900">
                <a:ea typeface="ＭＳ Ｐゴシック" panose="020B0600070205080204" pitchFamily="34" charset="-128"/>
              </a:rPr>
              <a:t>’</a:t>
            </a:r>
            <a:r>
              <a:rPr lang="en-US" altLang="ja-JP" sz="1900" dirty="0">
                <a:ea typeface="ＭＳ Ｐゴシック" panose="020B0600070205080204" pitchFamily="34" charset="-128"/>
              </a:rPr>
              <a:t>t update in DW</a:t>
            </a:r>
          </a:p>
          <a:p>
            <a:pPr eaLnBrk="1" hangingPunct="1"/>
            <a:r>
              <a:rPr lang="en-US" altLang="en-US" sz="1900" dirty="0">
                <a:ea typeface="ＭＳ Ｐゴシック" panose="020B0600070205080204" pitchFamily="34" charset="-128"/>
              </a:rPr>
              <a:t>Data from DW is not deleted</a:t>
            </a:r>
          </a:p>
          <a:p>
            <a:pPr eaLnBrk="1" hangingPunct="1"/>
            <a:r>
              <a:rPr lang="en-US" altLang="en-US" sz="1900" dirty="0">
                <a:ea typeface="ＭＳ Ｐゴシック" panose="020B0600070205080204" pitchFamily="34" charset="-128"/>
              </a:rPr>
              <a:t>Data is neither changed by individual transactions</a:t>
            </a:r>
          </a:p>
          <a:p>
            <a:pPr eaLnBrk="1" hangingPunct="1"/>
            <a:endParaRPr lang="en-US" altLang="en-US" sz="1900" dirty="0">
              <a:ea typeface="ＭＳ Ｐゴシック" panose="020B0600070205080204" pitchFamily="34" charset="-128"/>
            </a:endParaRPr>
          </a:p>
          <a:p>
            <a:pPr lvl="1" eaLnBrk="1" hangingPunct="1"/>
            <a:endParaRPr lang="en-US" altLang="en-US" sz="1700" dirty="0">
              <a:ea typeface="Arial" panose="020B0604020202020204" pitchFamily="34" charset="0"/>
            </a:endParaRPr>
          </a:p>
          <a:p>
            <a:pPr algn="ctr" eaLnBrk="1" hangingPunct="1">
              <a:buFont typeface="Wingdings" panose="05000000000000000000" pitchFamily="2" charset="2"/>
              <a:buNone/>
            </a:pPr>
            <a:endParaRPr lang="en-US" altLang="en-US" sz="1900" dirty="0">
              <a:ea typeface="ＭＳ Ｐゴシック" panose="020B0600070205080204" pitchFamily="34" charset="-128"/>
            </a:endParaRPr>
          </a:p>
          <a:p>
            <a:pPr eaLnBrk="1" hangingPunct="1">
              <a:buFont typeface="Wingdings" panose="05000000000000000000" pitchFamily="2" charset="2"/>
              <a:buNone/>
            </a:pPr>
            <a:endParaRPr lang="en-US" altLang="en-US" sz="1900" dirty="0">
              <a:ea typeface="ＭＳ Ｐゴシック" panose="020B0600070205080204" pitchFamily="34" charset="-128"/>
            </a:endParaRPr>
          </a:p>
        </p:txBody>
      </p:sp>
      <p:pic>
        <p:nvPicPr>
          <p:cNvPr id="3074" name="Picture 2"/>
          <p:cNvPicPr>
            <a:picLocks noChangeAspect="1" noChangeArrowheads="1"/>
          </p:cNvPicPr>
          <p:nvPr/>
        </p:nvPicPr>
        <p:blipFill>
          <a:blip r:embed="rId3"/>
          <a:srcRect/>
          <a:stretch>
            <a:fillRect/>
          </a:stretch>
        </p:blipFill>
        <p:spPr bwMode="auto">
          <a:xfrm>
            <a:off x="4029075" y="3124200"/>
            <a:ext cx="5114925" cy="32480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a:extLst>
              <a:ext uri="{FF2B5EF4-FFF2-40B4-BE49-F238E27FC236}">
                <a16:creationId xmlns="" xmlns:a16="http://schemas.microsoft.com/office/drawing/2014/main" id="{414E2B98-2DA2-495D-BC48-A9B198C184C1}"/>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CAFEFDEC-FC53-449B-A74C-A630A8730AC4}" type="slidenum">
              <a:rPr lang="sv-SE" altLang="en-US">
                <a:latin typeface="Garamond" panose="02020404030301010803" pitchFamily="18" charset="0"/>
              </a:rPr>
              <a:pPr eaLnBrk="1" hangingPunct="1"/>
              <a:t>21</a:t>
            </a:fld>
            <a:endParaRPr lang="sv-SE" altLang="en-US">
              <a:latin typeface="Garamond" panose="02020404030301010803" pitchFamily="18" charset="0"/>
            </a:endParaRPr>
          </a:p>
        </p:txBody>
      </p:sp>
      <p:sp>
        <p:nvSpPr>
          <p:cNvPr id="23555" name="Rectangle 2">
            <a:extLst>
              <a:ext uri="{FF2B5EF4-FFF2-40B4-BE49-F238E27FC236}">
                <a16:creationId xmlns="" xmlns:a16="http://schemas.microsoft.com/office/drawing/2014/main" id="{18BAF74F-1EA4-4F3E-B059-84803B915D22}"/>
              </a:ext>
            </a:extLst>
          </p:cNvPr>
          <p:cNvSpPr>
            <a:spLocks noGrp="1" noChangeArrowheads="1"/>
          </p:cNvSpPr>
          <p:nvPr>
            <p:ph type="title"/>
          </p:nvPr>
        </p:nvSpPr>
        <p:spPr>
          <a:xfrm>
            <a:off x="685800" y="457200"/>
            <a:ext cx="7772400" cy="1143000"/>
          </a:xfrm>
        </p:spPr>
        <p:txBody>
          <a:bodyPr/>
          <a:lstStyle/>
          <a:p>
            <a:pPr eaLnBrk="1" hangingPunct="1"/>
            <a:r>
              <a:rPr lang="en-US" altLang="en-US" sz="3400">
                <a:ea typeface="ＭＳ Ｐゴシック" panose="020B0600070205080204" pitchFamily="34" charset="-128"/>
              </a:rPr>
              <a:t>Architecture of DW</a:t>
            </a:r>
          </a:p>
        </p:txBody>
      </p:sp>
      <p:sp>
        <p:nvSpPr>
          <p:cNvPr id="23556" name="Text Box 6">
            <a:extLst>
              <a:ext uri="{FF2B5EF4-FFF2-40B4-BE49-F238E27FC236}">
                <a16:creationId xmlns="" xmlns:a16="http://schemas.microsoft.com/office/drawing/2014/main" id="{EEC29286-F80D-4DB1-BCF2-FFE37807E6D3}"/>
              </a:ext>
            </a:extLst>
          </p:cNvPr>
          <p:cNvSpPr txBox="1">
            <a:spLocks noChangeArrowheads="1"/>
          </p:cNvSpPr>
          <p:nvPr/>
        </p:nvSpPr>
        <p:spPr bwMode="auto">
          <a:xfrm>
            <a:off x="533400" y="1828800"/>
            <a:ext cx="1525588" cy="274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b="1" u="sng">
                <a:solidFill>
                  <a:srgbClr val="00001E"/>
                </a:solidFill>
                <a:latin typeface="Times New Roman" panose="02020603050405020304" pitchFamily="18" charset="0"/>
              </a:rPr>
              <a:t>Information Sources</a:t>
            </a:r>
            <a:endParaRPr lang="en-US" altLang="en-US" sz="1200" b="1">
              <a:solidFill>
                <a:srgbClr val="00001E"/>
              </a:solidFill>
              <a:latin typeface="Times New Roman" panose="02020603050405020304" pitchFamily="18" charset="0"/>
            </a:endParaRPr>
          </a:p>
        </p:txBody>
      </p:sp>
      <p:sp>
        <p:nvSpPr>
          <p:cNvPr id="23557" name="Text Box 7">
            <a:extLst>
              <a:ext uri="{FF2B5EF4-FFF2-40B4-BE49-F238E27FC236}">
                <a16:creationId xmlns="" xmlns:a16="http://schemas.microsoft.com/office/drawing/2014/main" id="{80BD3524-4D06-47A8-ADE4-52C8AA806F1C}"/>
              </a:ext>
            </a:extLst>
          </p:cNvPr>
          <p:cNvSpPr txBox="1">
            <a:spLocks noChangeArrowheads="1"/>
          </p:cNvSpPr>
          <p:nvPr/>
        </p:nvSpPr>
        <p:spPr bwMode="auto">
          <a:xfrm>
            <a:off x="3081338" y="1828800"/>
            <a:ext cx="1309687" cy="6397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u="sng">
                <a:solidFill>
                  <a:srgbClr val="00001E"/>
                </a:solidFill>
                <a:latin typeface="Times New Roman" panose="02020603050405020304" pitchFamily="18" charset="0"/>
              </a:rPr>
              <a:t>Data Warehouse </a:t>
            </a:r>
          </a:p>
          <a:p>
            <a:pPr algn="ctr"/>
            <a:r>
              <a:rPr lang="en-US" altLang="en-US" sz="1200" b="1" u="sng">
                <a:solidFill>
                  <a:srgbClr val="00001E"/>
                </a:solidFill>
                <a:latin typeface="Times New Roman" panose="02020603050405020304" pitchFamily="18" charset="0"/>
              </a:rPr>
              <a:t>Server</a:t>
            </a:r>
          </a:p>
          <a:p>
            <a:pPr algn="ctr"/>
            <a:r>
              <a:rPr lang="en-US" altLang="en-US" sz="1200" b="1">
                <a:solidFill>
                  <a:srgbClr val="00001E"/>
                </a:solidFill>
                <a:latin typeface="Times New Roman" panose="02020603050405020304" pitchFamily="18" charset="0"/>
              </a:rPr>
              <a:t>(Tier 1)</a:t>
            </a:r>
          </a:p>
        </p:txBody>
      </p:sp>
      <p:sp>
        <p:nvSpPr>
          <p:cNvPr id="23558" name="Text Box 8">
            <a:extLst>
              <a:ext uri="{FF2B5EF4-FFF2-40B4-BE49-F238E27FC236}">
                <a16:creationId xmlns="" xmlns:a16="http://schemas.microsoft.com/office/drawing/2014/main" id="{5FD1EBAB-924E-419F-A914-4A417CFA1827}"/>
              </a:ext>
            </a:extLst>
          </p:cNvPr>
          <p:cNvSpPr txBox="1">
            <a:spLocks noChangeArrowheads="1"/>
          </p:cNvSpPr>
          <p:nvPr/>
        </p:nvSpPr>
        <p:spPr bwMode="auto">
          <a:xfrm>
            <a:off x="5100638" y="1828800"/>
            <a:ext cx="1138237"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u="sng">
                <a:solidFill>
                  <a:srgbClr val="00001E"/>
                </a:solidFill>
                <a:latin typeface="Times New Roman" panose="02020603050405020304" pitchFamily="18" charset="0"/>
              </a:rPr>
              <a:t>OLAP Servers</a:t>
            </a:r>
          </a:p>
          <a:p>
            <a:pPr algn="ctr"/>
            <a:r>
              <a:rPr lang="en-US" altLang="en-US" sz="1200" b="1">
                <a:solidFill>
                  <a:srgbClr val="00001E"/>
                </a:solidFill>
                <a:latin typeface="Times New Roman" panose="02020603050405020304" pitchFamily="18" charset="0"/>
              </a:rPr>
              <a:t>(Tier 2)</a:t>
            </a:r>
          </a:p>
        </p:txBody>
      </p:sp>
      <p:sp>
        <p:nvSpPr>
          <p:cNvPr id="23559" name="Text Box 9">
            <a:extLst>
              <a:ext uri="{FF2B5EF4-FFF2-40B4-BE49-F238E27FC236}">
                <a16:creationId xmlns="" xmlns:a16="http://schemas.microsoft.com/office/drawing/2014/main" id="{FFDA2D15-24AB-4E73-8E6D-E4F31D6F74EA}"/>
              </a:ext>
            </a:extLst>
          </p:cNvPr>
          <p:cNvSpPr txBox="1">
            <a:spLocks noChangeArrowheads="1"/>
          </p:cNvSpPr>
          <p:nvPr/>
        </p:nvSpPr>
        <p:spPr bwMode="auto">
          <a:xfrm>
            <a:off x="7291388" y="1828800"/>
            <a:ext cx="681037"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b="1" u="sng">
                <a:solidFill>
                  <a:srgbClr val="00001E"/>
                </a:solidFill>
                <a:latin typeface="Times New Roman" panose="02020603050405020304" pitchFamily="18" charset="0"/>
              </a:rPr>
              <a:t>Clients</a:t>
            </a:r>
          </a:p>
          <a:p>
            <a:r>
              <a:rPr lang="en-US" altLang="en-US" sz="1200" b="1">
                <a:solidFill>
                  <a:srgbClr val="00001E"/>
                </a:solidFill>
                <a:latin typeface="Times New Roman" panose="02020603050405020304" pitchFamily="18" charset="0"/>
              </a:rPr>
              <a:t>(Tier 3)</a:t>
            </a:r>
          </a:p>
        </p:txBody>
      </p:sp>
      <p:sp>
        <p:nvSpPr>
          <p:cNvPr id="23560" name="Oval 10">
            <a:extLst>
              <a:ext uri="{FF2B5EF4-FFF2-40B4-BE49-F238E27FC236}">
                <a16:creationId xmlns="" xmlns:a16="http://schemas.microsoft.com/office/drawing/2014/main" id="{817756FA-3E09-4621-8601-AA59ED46BCFC}"/>
              </a:ext>
            </a:extLst>
          </p:cNvPr>
          <p:cNvSpPr>
            <a:spLocks noChangeArrowheads="1"/>
          </p:cNvSpPr>
          <p:nvPr/>
        </p:nvSpPr>
        <p:spPr bwMode="auto">
          <a:xfrm>
            <a:off x="533400" y="2990850"/>
            <a:ext cx="1014413" cy="173038"/>
          </a:xfrm>
          <a:prstGeom prst="ellipse">
            <a:avLst/>
          </a:prstGeom>
          <a:noFill/>
          <a:ln w="9525">
            <a:solidFill>
              <a:schemeClr val="bg2"/>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3561" name="Oval 11">
            <a:extLst>
              <a:ext uri="{FF2B5EF4-FFF2-40B4-BE49-F238E27FC236}">
                <a16:creationId xmlns="" xmlns:a16="http://schemas.microsoft.com/office/drawing/2014/main" id="{6BE3A9BF-A070-45FF-B9DB-E444B8371253}"/>
              </a:ext>
            </a:extLst>
          </p:cNvPr>
          <p:cNvSpPr>
            <a:spLocks noChangeArrowheads="1"/>
          </p:cNvSpPr>
          <p:nvPr/>
        </p:nvSpPr>
        <p:spPr bwMode="auto">
          <a:xfrm>
            <a:off x="601663" y="3106738"/>
            <a:ext cx="1012825" cy="173037"/>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2" name="Group 12">
            <a:extLst>
              <a:ext uri="{FF2B5EF4-FFF2-40B4-BE49-F238E27FC236}">
                <a16:creationId xmlns="" xmlns:a16="http://schemas.microsoft.com/office/drawing/2014/main" id="{02DA8286-D394-41A7-A269-57C42DDA044F}"/>
              </a:ext>
            </a:extLst>
          </p:cNvPr>
          <p:cNvGrpSpPr>
            <a:grpSpLocks/>
          </p:cNvGrpSpPr>
          <p:nvPr/>
        </p:nvGrpSpPr>
        <p:grpSpPr bwMode="auto">
          <a:xfrm>
            <a:off x="533400" y="4376738"/>
            <a:ext cx="533400" cy="460375"/>
            <a:chOff x="4467" y="3038"/>
            <a:chExt cx="379" cy="382"/>
          </a:xfrm>
        </p:grpSpPr>
        <p:sp>
          <p:nvSpPr>
            <p:cNvPr id="23669" name="Rectangle 13">
              <a:extLst>
                <a:ext uri="{FF2B5EF4-FFF2-40B4-BE49-F238E27FC236}">
                  <a16:creationId xmlns="" xmlns:a16="http://schemas.microsoft.com/office/drawing/2014/main" id="{85BAF75A-898F-4674-9B94-68D61C9DC308}"/>
                </a:ext>
              </a:extLst>
            </p:cNvPr>
            <p:cNvSpPr>
              <a:spLocks noChangeArrowheads="1"/>
            </p:cNvSpPr>
            <p:nvPr/>
          </p:nvSpPr>
          <p:spPr bwMode="auto">
            <a:xfrm>
              <a:off x="4467" y="3094"/>
              <a:ext cx="376" cy="274"/>
            </a:xfrm>
            <a:prstGeom prst="rect">
              <a:avLst/>
            </a:prstGeom>
            <a:solidFill>
              <a:schemeClr val="bg1"/>
            </a:solidFill>
            <a:ln w="9525">
              <a:solidFill>
                <a:schemeClr val="bg1"/>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3" name="Group 14">
              <a:extLst>
                <a:ext uri="{FF2B5EF4-FFF2-40B4-BE49-F238E27FC236}">
                  <a16:creationId xmlns="" xmlns:a16="http://schemas.microsoft.com/office/drawing/2014/main" id="{0091CCA8-0300-4AD3-A24C-D433EE428F9C}"/>
                </a:ext>
              </a:extLst>
            </p:cNvPr>
            <p:cNvGrpSpPr>
              <a:grpSpLocks/>
            </p:cNvGrpSpPr>
            <p:nvPr/>
          </p:nvGrpSpPr>
          <p:grpSpPr bwMode="auto">
            <a:xfrm>
              <a:off x="4468" y="3038"/>
              <a:ext cx="378" cy="382"/>
              <a:chOff x="4468" y="3038"/>
              <a:chExt cx="378" cy="382"/>
            </a:xfrm>
          </p:grpSpPr>
          <p:sp>
            <p:nvSpPr>
              <p:cNvPr id="23671" name="Line 15">
                <a:extLst>
                  <a:ext uri="{FF2B5EF4-FFF2-40B4-BE49-F238E27FC236}">
                    <a16:creationId xmlns="" xmlns:a16="http://schemas.microsoft.com/office/drawing/2014/main" id="{A85F022E-DF7D-4274-A654-9CEB800BD9BC}"/>
                  </a:ext>
                </a:extLst>
              </p:cNvPr>
              <p:cNvSpPr>
                <a:spLocks noChangeShapeType="1"/>
              </p:cNvSpPr>
              <p:nvPr/>
            </p:nvSpPr>
            <p:spPr bwMode="auto">
              <a:xfrm>
                <a:off x="4468" y="3087"/>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3672" name="Line 16">
                <a:extLst>
                  <a:ext uri="{FF2B5EF4-FFF2-40B4-BE49-F238E27FC236}">
                    <a16:creationId xmlns="" xmlns:a16="http://schemas.microsoft.com/office/drawing/2014/main" id="{D0EF94B4-64ED-4B6E-9876-9D0720472BF1}"/>
                  </a:ext>
                </a:extLst>
              </p:cNvPr>
              <p:cNvSpPr>
                <a:spLocks noChangeShapeType="1"/>
              </p:cNvSpPr>
              <p:nvPr/>
            </p:nvSpPr>
            <p:spPr bwMode="auto">
              <a:xfrm>
                <a:off x="4846" y="3089"/>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3673" name="Oval 17">
                <a:extLst>
                  <a:ext uri="{FF2B5EF4-FFF2-40B4-BE49-F238E27FC236}">
                    <a16:creationId xmlns="" xmlns:a16="http://schemas.microsoft.com/office/drawing/2014/main" id="{E49C5586-6A3D-4D59-84F5-D2054F781679}"/>
                  </a:ext>
                </a:extLst>
              </p:cNvPr>
              <p:cNvSpPr>
                <a:spLocks noChangeArrowheads="1"/>
              </p:cNvSpPr>
              <p:nvPr/>
            </p:nvSpPr>
            <p:spPr bwMode="auto">
              <a:xfrm>
                <a:off x="4469" y="3038"/>
                <a:ext cx="376" cy="90"/>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3674" name="Oval 18">
                <a:extLst>
                  <a:ext uri="{FF2B5EF4-FFF2-40B4-BE49-F238E27FC236}">
                    <a16:creationId xmlns="" xmlns:a16="http://schemas.microsoft.com/office/drawing/2014/main" id="{553223B3-4AF0-4C40-B517-E4B6C964C8DD}"/>
                  </a:ext>
                </a:extLst>
              </p:cNvPr>
              <p:cNvSpPr>
                <a:spLocks noChangeArrowheads="1"/>
              </p:cNvSpPr>
              <p:nvPr/>
            </p:nvSpPr>
            <p:spPr bwMode="auto">
              <a:xfrm>
                <a:off x="4469" y="3331"/>
                <a:ext cx="376" cy="89"/>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grpSp>
        <p:nvGrpSpPr>
          <p:cNvPr id="4" name="Group 19">
            <a:extLst>
              <a:ext uri="{FF2B5EF4-FFF2-40B4-BE49-F238E27FC236}">
                <a16:creationId xmlns="" xmlns:a16="http://schemas.microsoft.com/office/drawing/2014/main" id="{127CF048-05E5-4933-A7A2-91180F1C6336}"/>
              </a:ext>
            </a:extLst>
          </p:cNvPr>
          <p:cNvGrpSpPr>
            <a:grpSpLocks/>
          </p:cNvGrpSpPr>
          <p:nvPr/>
        </p:nvGrpSpPr>
        <p:grpSpPr bwMode="auto">
          <a:xfrm>
            <a:off x="668338" y="4492625"/>
            <a:ext cx="533400" cy="460375"/>
            <a:chOff x="4467" y="3038"/>
            <a:chExt cx="379" cy="382"/>
          </a:xfrm>
        </p:grpSpPr>
        <p:sp>
          <p:nvSpPr>
            <p:cNvPr id="23663" name="Rectangle 20">
              <a:extLst>
                <a:ext uri="{FF2B5EF4-FFF2-40B4-BE49-F238E27FC236}">
                  <a16:creationId xmlns="" xmlns:a16="http://schemas.microsoft.com/office/drawing/2014/main" id="{42352E25-62AE-4225-BB48-0931695134F4}"/>
                </a:ext>
              </a:extLst>
            </p:cNvPr>
            <p:cNvSpPr>
              <a:spLocks noChangeArrowheads="1"/>
            </p:cNvSpPr>
            <p:nvPr/>
          </p:nvSpPr>
          <p:spPr bwMode="auto">
            <a:xfrm>
              <a:off x="4467" y="3094"/>
              <a:ext cx="376" cy="274"/>
            </a:xfrm>
            <a:prstGeom prst="rect">
              <a:avLst/>
            </a:prstGeom>
            <a:solidFill>
              <a:schemeClr val="bg1"/>
            </a:solidFill>
            <a:ln w="9525">
              <a:solidFill>
                <a:schemeClr val="bg1"/>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5" name="Group 21">
              <a:extLst>
                <a:ext uri="{FF2B5EF4-FFF2-40B4-BE49-F238E27FC236}">
                  <a16:creationId xmlns="" xmlns:a16="http://schemas.microsoft.com/office/drawing/2014/main" id="{5BDBC7E4-D85E-4A12-872B-2BC45D0048BC}"/>
                </a:ext>
              </a:extLst>
            </p:cNvPr>
            <p:cNvGrpSpPr>
              <a:grpSpLocks/>
            </p:cNvGrpSpPr>
            <p:nvPr/>
          </p:nvGrpSpPr>
          <p:grpSpPr bwMode="auto">
            <a:xfrm>
              <a:off x="4468" y="3038"/>
              <a:ext cx="378" cy="382"/>
              <a:chOff x="4468" y="3038"/>
              <a:chExt cx="378" cy="382"/>
            </a:xfrm>
          </p:grpSpPr>
          <p:sp>
            <p:nvSpPr>
              <p:cNvPr id="23665" name="Line 22">
                <a:extLst>
                  <a:ext uri="{FF2B5EF4-FFF2-40B4-BE49-F238E27FC236}">
                    <a16:creationId xmlns="" xmlns:a16="http://schemas.microsoft.com/office/drawing/2014/main" id="{035E308D-58D5-405A-A2DC-ACD49AC3C44C}"/>
                  </a:ext>
                </a:extLst>
              </p:cNvPr>
              <p:cNvSpPr>
                <a:spLocks noChangeShapeType="1"/>
              </p:cNvSpPr>
              <p:nvPr/>
            </p:nvSpPr>
            <p:spPr bwMode="auto">
              <a:xfrm>
                <a:off x="4468" y="3087"/>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3666" name="Line 23">
                <a:extLst>
                  <a:ext uri="{FF2B5EF4-FFF2-40B4-BE49-F238E27FC236}">
                    <a16:creationId xmlns="" xmlns:a16="http://schemas.microsoft.com/office/drawing/2014/main" id="{8EC0DE22-3C07-42C1-AA4F-E4C71D943E72}"/>
                  </a:ext>
                </a:extLst>
              </p:cNvPr>
              <p:cNvSpPr>
                <a:spLocks noChangeShapeType="1"/>
              </p:cNvSpPr>
              <p:nvPr/>
            </p:nvSpPr>
            <p:spPr bwMode="auto">
              <a:xfrm>
                <a:off x="4846" y="3089"/>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3667" name="Oval 24">
                <a:extLst>
                  <a:ext uri="{FF2B5EF4-FFF2-40B4-BE49-F238E27FC236}">
                    <a16:creationId xmlns="" xmlns:a16="http://schemas.microsoft.com/office/drawing/2014/main" id="{18FE42DB-428D-482F-B71B-1C84D264CFF9}"/>
                  </a:ext>
                </a:extLst>
              </p:cNvPr>
              <p:cNvSpPr>
                <a:spLocks noChangeArrowheads="1"/>
              </p:cNvSpPr>
              <p:nvPr/>
            </p:nvSpPr>
            <p:spPr bwMode="auto">
              <a:xfrm>
                <a:off x="4469" y="3038"/>
                <a:ext cx="376" cy="90"/>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3668" name="Oval 25">
                <a:extLst>
                  <a:ext uri="{FF2B5EF4-FFF2-40B4-BE49-F238E27FC236}">
                    <a16:creationId xmlns="" xmlns:a16="http://schemas.microsoft.com/office/drawing/2014/main" id="{07565236-160B-460D-B6A0-8964F93EFB3C}"/>
                  </a:ext>
                </a:extLst>
              </p:cNvPr>
              <p:cNvSpPr>
                <a:spLocks noChangeArrowheads="1"/>
              </p:cNvSpPr>
              <p:nvPr/>
            </p:nvSpPr>
            <p:spPr bwMode="auto">
              <a:xfrm>
                <a:off x="4469" y="3331"/>
                <a:ext cx="376" cy="89"/>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grpSp>
        <p:nvGrpSpPr>
          <p:cNvPr id="6" name="Group 26">
            <a:extLst>
              <a:ext uri="{FF2B5EF4-FFF2-40B4-BE49-F238E27FC236}">
                <a16:creationId xmlns="" xmlns:a16="http://schemas.microsoft.com/office/drawing/2014/main" id="{5EC24EF7-EF5F-48C1-A8CA-88CF134E650B}"/>
              </a:ext>
            </a:extLst>
          </p:cNvPr>
          <p:cNvGrpSpPr>
            <a:grpSpLocks/>
          </p:cNvGrpSpPr>
          <p:nvPr/>
        </p:nvGrpSpPr>
        <p:grpSpPr bwMode="auto">
          <a:xfrm>
            <a:off x="803275" y="4608513"/>
            <a:ext cx="533400" cy="460375"/>
            <a:chOff x="4467" y="3038"/>
            <a:chExt cx="379" cy="382"/>
          </a:xfrm>
        </p:grpSpPr>
        <p:sp>
          <p:nvSpPr>
            <p:cNvPr id="23657" name="Rectangle 27">
              <a:extLst>
                <a:ext uri="{FF2B5EF4-FFF2-40B4-BE49-F238E27FC236}">
                  <a16:creationId xmlns="" xmlns:a16="http://schemas.microsoft.com/office/drawing/2014/main" id="{C3EAD970-5C83-4A10-9C8F-4EC63EDB7021}"/>
                </a:ext>
              </a:extLst>
            </p:cNvPr>
            <p:cNvSpPr>
              <a:spLocks noChangeArrowheads="1"/>
            </p:cNvSpPr>
            <p:nvPr/>
          </p:nvSpPr>
          <p:spPr bwMode="auto">
            <a:xfrm>
              <a:off x="4467" y="3094"/>
              <a:ext cx="376" cy="274"/>
            </a:xfrm>
            <a:prstGeom prst="rect">
              <a:avLst/>
            </a:prstGeom>
            <a:solidFill>
              <a:schemeClr val="bg1"/>
            </a:solidFill>
            <a:ln w="9525">
              <a:solidFill>
                <a:schemeClr val="bg1"/>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7" name="Group 28">
              <a:extLst>
                <a:ext uri="{FF2B5EF4-FFF2-40B4-BE49-F238E27FC236}">
                  <a16:creationId xmlns="" xmlns:a16="http://schemas.microsoft.com/office/drawing/2014/main" id="{D250BE78-3D4B-4B75-B5DD-F2D4DE4D9F1D}"/>
                </a:ext>
              </a:extLst>
            </p:cNvPr>
            <p:cNvGrpSpPr>
              <a:grpSpLocks/>
            </p:cNvGrpSpPr>
            <p:nvPr/>
          </p:nvGrpSpPr>
          <p:grpSpPr bwMode="auto">
            <a:xfrm>
              <a:off x="4468" y="3038"/>
              <a:ext cx="378" cy="382"/>
              <a:chOff x="4468" y="3038"/>
              <a:chExt cx="378" cy="382"/>
            </a:xfrm>
          </p:grpSpPr>
          <p:sp>
            <p:nvSpPr>
              <p:cNvPr id="23659" name="Line 29">
                <a:extLst>
                  <a:ext uri="{FF2B5EF4-FFF2-40B4-BE49-F238E27FC236}">
                    <a16:creationId xmlns="" xmlns:a16="http://schemas.microsoft.com/office/drawing/2014/main" id="{F3533DE9-098E-4007-8DB6-FFE25697B26D}"/>
                  </a:ext>
                </a:extLst>
              </p:cNvPr>
              <p:cNvSpPr>
                <a:spLocks noChangeShapeType="1"/>
              </p:cNvSpPr>
              <p:nvPr/>
            </p:nvSpPr>
            <p:spPr bwMode="auto">
              <a:xfrm>
                <a:off x="4468" y="3087"/>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3660" name="Line 30">
                <a:extLst>
                  <a:ext uri="{FF2B5EF4-FFF2-40B4-BE49-F238E27FC236}">
                    <a16:creationId xmlns="" xmlns:a16="http://schemas.microsoft.com/office/drawing/2014/main" id="{03228852-771E-4427-8503-7650A37DC9A3}"/>
                  </a:ext>
                </a:extLst>
              </p:cNvPr>
              <p:cNvSpPr>
                <a:spLocks noChangeShapeType="1"/>
              </p:cNvSpPr>
              <p:nvPr/>
            </p:nvSpPr>
            <p:spPr bwMode="auto">
              <a:xfrm>
                <a:off x="4846" y="3089"/>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3661" name="Oval 31">
                <a:extLst>
                  <a:ext uri="{FF2B5EF4-FFF2-40B4-BE49-F238E27FC236}">
                    <a16:creationId xmlns="" xmlns:a16="http://schemas.microsoft.com/office/drawing/2014/main" id="{D1670400-8278-4918-9D00-8FD7A638380D}"/>
                  </a:ext>
                </a:extLst>
              </p:cNvPr>
              <p:cNvSpPr>
                <a:spLocks noChangeArrowheads="1"/>
              </p:cNvSpPr>
              <p:nvPr/>
            </p:nvSpPr>
            <p:spPr bwMode="auto">
              <a:xfrm>
                <a:off x="4469" y="3038"/>
                <a:ext cx="376" cy="90"/>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3662" name="Oval 32">
                <a:extLst>
                  <a:ext uri="{FF2B5EF4-FFF2-40B4-BE49-F238E27FC236}">
                    <a16:creationId xmlns="" xmlns:a16="http://schemas.microsoft.com/office/drawing/2014/main" id="{48117199-D594-4BDB-81A0-D32F956D5490}"/>
                  </a:ext>
                </a:extLst>
              </p:cNvPr>
              <p:cNvSpPr>
                <a:spLocks noChangeArrowheads="1"/>
              </p:cNvSpPr>
              <p:nvPr/>
            </p:nvSpPr>
            <p:spPr bwMode="auto">
              <a:xfrm>
                <a:off x="4469" y="3331"/>
                <a:ext cx="376" cy="89"/>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sp>
        <p:nvSpPr>
          <p:cNvPr id="23565" name="Text Box 33">
            <a:extLst>
              <a:ext uri="{FF2B5EF4-FFF2-40B4-BE49-F238E27FC236}">
                <a16:creationId xmlns="" xmlns:a16="http://schemas.microsoft.com/office/drawing/2014/main" id="{DE39F068-35F6-4E61-A3B2-7FB869502460}"/>
              </a:ext>
            </a:extLst>
          </p:cNvPr>
          <p:cNvSpPr txBox="1">
            <a:spLocks noChangeArrowheads="1"/>
          </p:cNvSpPr>
          <p:nvPr/>
        </p:nvSpPr>
        <p:spPr bwMode="auto">
          <a:xfrm>
            <a:off x="874713" y="4122738"/>
            <a:ext cx="973137"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Operational</a:t>
            </a:r>
          </a:p>
          <a:p>
            <a:pPr algn="ctr"/>
            <a:r>
              <a:rPr lang="en-US" altLang="en-US" sz="1200" b="1">
                <a:solidFill>
                  <a:srgbClr val="00001E"/>
                </a:solidFill>
                <a:latin typeface="Times New Roman" panose="02020603050405020304" pitchFamily="18" charset="0"/>
              </a:rPr>
              <a:t>DB’s</a:t>
            </a:r>
          </a:p>
        </p:txBody>
      </p:sp>
      <p:sp>
        <p:nvSpPr>
          <p:cNvPr id="23566" name="Text Box 34">
            <a:extLst>
              <a:ext uri="{FF2B5EF4-FFF2-40B4-BE49-F238E27FC236}">
                <a16:creationId xmlns="" xmlns:a16="http://schemas.microsoft.com/office/drawing/2014/main" id="{76AEB937-3999-429C-BC5F-A05B8EC08CCE}"/>
              </a:ext>
            </a:extLst>
          </p:cNvPr>
          <p:cNvSpPr txBox="1">
            <a:spLocks noChangeArrowheads="1"/>
          </p:cNvSpPr>
          <p:nvPr/>
        </p:nvSpPr>
        <p:spPr bwMode="auto">
          <a:xfrm>
            <a:off x="752475" y="2554288"/>
            <a:ext cx="1192213"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Semistructured</a:t>
            </a:r>
          </a:p>
          <a:p>
            <a:pPr algn="ctr"/>
            <a:r>
              <a:rPr lang="en-US" altLang="en-US" sz="1200" b="1">
                <a:solidFill>
                  <a:srgbClr val="00001E"/>
                </a:solidFill>
                <a:latin typeface="Times New Roman" panose="02020603050405020304" pitchFamily="18" charset="0"/>
              </a:rPr>
              <a:t>Sources</a:t>
            </a:r>
          </a:p>
        </p:txBody>
      </p:sp>
      <p:sp>
        <p:nvSpPr>
          <p:cNvPr id="23567" name="Oval 35">
            <a:extLst>
              <a:ext uri="{FF2B5EF4-FFF2-40B4-BE49-F238E27FC236}">
                <a16:creationId xmlns="" xmlns:a16="http://schemas.microsoft.com/office/drawing/2014/main" id="{DD3359E5-75A3-4411-ACA4-F12F7F68F807}"/>
              </a:ext>
            </a:extLst>
          </p:cNvPr>
          <p:cNvSpPr>
            <a:spLocks noChangeArrowheads="1"/>
          </p:cNvSpPr>
          <p:nvPr/>
        </p:nvSpPr>
        <p:spPr bwMode="auto">
          <a:xfrm>
            <a:off x="736600" y="3222625"/>
            <a:ext cx="1012825" cy="173038"/>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3568" name="AutoShape 36">
            <a:extLst>
              <a:ext uri="{FF2B5EF4-FFF2-40B4-BE49-F238E27FC236}">
                <a16:creationId xmlns="" xmlns:a16="http://schemas.microsoft.com/office/drawing/2014/main" id="{C3804B28-1EC3-44F6-9CC8-7A3486C64100}"/>
              </a:ext>
            </a:extLst>
          </p:cNvPr>
          <p:cNvSpPr>
            <a:spLocks noChangeArrowheads="1"/>
          </p:cNvSpPr>
          <p:nvPr/>
        </p:nvSpPr>
        <p:spPr bwMode="auto">
          <a:xfrm>
            <a:off x="1817688" y="2817813"/>
            <a:ext cx="1216025" cy="1733550"/>
          </a:xfrm>
          <a:prstGeom prst="rightArrow">
            <a:avLst>
              <a:gd name="adj1" fmla="val 47620"/>
              <a:gd name="adj2" fmla="val 43056"/>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3569" name="Text Box 37">
            <a:extLst>
              <a:ext uri="{FF2B5EF4-FFF2-40B4-BE49-F238E27FC236}">
                <a16:creationId xmlns="" xmlns:a16="http://schemas.microsoft.com/office/drawing/2014/main" id="{BD23C34A-46CF-4061-8FB5-376C665CF9F0}"/>
              </a:ext>
            </a:extLst>
          </p:cNvPr>
          <p:cNvSpPr txBox="1">
            <a:spLocks noChangeArrowheads="1"/>
          </p:cNvSpPr>
          <p:nvPr/>
        </p:nvSpPr>
        <p:spPr bwMode="auto">
          <a:xfrm>
            <a:off x="1817688" y="3248025"/>
            <a:ext cx="925512" cy="8223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b="1" i="1">
                <a:solidFill>
                  <a:srgbClr val="00001E"/>
                </a:solidFill>
                <a:latin typeface="Times New Roman" panose="02020603050405020304" pitchFamily="18" charset="0"/>
              </a:rPr>
              <a:t>extract</a:t>
            </a:r>
          </a:p>
          <a:p>
            <a:r>
              <a:rPr lang="en-US" altLang="en-US" sz="1200" b="1" i="1">
                <a:solidFill>
                  <a:srgbClr val="00001E"/>
                </a:solidFill>
                <a:latin typeface="Times New Roman" panose="02020603050405020304" pitchFamily="18" charset="0"/>
              </a:rPr>
              <a:t>transform</a:t>
            </a:r>
          </a:p>
          <a:p>
            <a:r>
              <a:rPr lang="en-US" altLang="en-US" sz="1200" b="1" i="1">
                <a:solidFill>
                  <a:srgbClr val="00001E"/>
                </a:solidFill>
                <a:latin typeface="Times New Roman" panose="02020603050405020304" pitchFamily="18" charset="0"/>
              </a:rPr>
              <a:t>load</a:t>
            </a:r>
          </a:p>
          <a:p>
            <a:r>
              <a:rPr lang="en-US" altLang="en-US" sz="1200" b="1" i="1">
                <a:solidFill>
                  <a:srgbClr val="00001E"/>
                </a:solidFill>
                <a:latin typeface="Times New Roman" panose="02020603050405020304" pitchFamily="18" charset="0"/>
              </a:rPr>
              <a:t>refresh </a:t>
            </a:r>
            <a:endParaRPr lang="en-US" altLang="en-US" sz="1200" b="1">
              <a:solidFill>
                <a:srgbClr val="00001E"/>
              </a:solidFill>
              <a:latin typeface="Times New Roman" panose="02020603050405020304" pitchFamily="18" charset="0"/>
            </a:endParaRPr>
          </a:p>
        </p:txBody>
      </p:sp>
      <p:grpSp>
        <p:nvGrpSpPr>
          <p:cNvPr id="8" name="Group 38">
            <a:extLst>
              <a:ext uri="{FF2B5EF4-FFF2-40B4-BE49-F238E27FC236}">
                <a16:creationId xmlns="" xmlns:a16="http://schemas.microsoft.com/office/drawing/2014/main" id="{642FDBE0-F377-4992-981A-5F08F3665366}"/>
              </a:ext>
            </a:extLst>
          </p:cNvPr>
          <p:cNvGrpSpPr>
            <a:grpSpLocks/>
          </p:cNvGrpSpPr>
          <p:nvPr/>
        </p:nvGrpSpPr>
        <p:grpSpPr bwMode="auto">
          <a:xfrm>
            <a:off x="3236913" y="3163888"/>
            <a:ext cx="946150" cy="925512"/>
            <a:chOff x="4467" y="3038"/>
            <a:chExt cx="379" cy="382"/>
          </a:xfrm>
        </p:grpSpPr>
        <p:sp>
          <p:nvSpPr>
            <p:cNvPr id="23651" name="Rectangle 39">
              <a:extLst>
                <a:ext uri="{FF2B5EF4-FFF2-40B4-BE49-F238E27FC236}">
                  <a16:creationId xmlns="" xmlns:a16="http://schemas.microsoft.com/office/drawing/2014/main" id="{0B64613F-94F0-4F86-85E3-2D5EDFD63065}"/>
                </a:ext>
              </a:extLst>
            </p:cNvPr>
            <p:cNvSpPr>
              <a:spLocks noChangeArrowheads="1"/>
            </p:cNvSpPr>
            <p:nvPr/>
          </p:nvSpPr>
          <p:spPr bwMode="auto">
            <a:xfrm>
              <a:off x="4467" y="3094"/>
              <a:ext cx="376" cy="274"/>
            </a:xfrm>
            <a:prstGeom prst="rect">
              <a:avLst/>
            </a:prstGeom>
            <a:gradFill rotWithShape="0">
              <a:gsLst>
                <a:gs pos="0">
                  <a:srgbClr val="666666"/>
                </a:gs>
                <a:gs pos="50000">
                  <a:srgbClr val="DDDDDD"/>
                </a:gs>
                <a:gs pos="100000">
                  <a:srgbClr val="666666"/>
                </a:gs>
              </a:gsLst>
              <a:lin ang="0" scaled="1"/>
            </a:gradFill>
            <a:ln w="9525">
              <a:solidFill>
                <a:schemeClr val="bg2"/>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9" name="Group 40">
              <a:extLst>
                <a:ext uri="{FF2B5EF4-FFF2-40B4-BE49-F238E27FC236}">
                  <a16:creationId xmlns="" xmlns:a16="http://schemas.microsoft.com/office/drawing/2014/main" id="{64EA2C8B-6737-4C89-8259-ACCC6E833FB2}"/>
                </a:ext>
              </a:extLst>
            </p:cNvPr>
            <p:cNvGrpSpPr>
              <a:grpSpLocks/>
            </p:cNvGrpSpPr>
            <p:nvPr/>
          </p:nvGrpSpPr>
          <p:grpSpPr bwMode="auto">
            <a:xfrm>
              <a:off x="4468" y="3038"/>
              <a:ext cx="378" cy="382"/>
              <a:chOff x="4468" y="3038"/>
              <a:chExt cx="378" cy="382"/>
            </a:xfrm>
          </p:grpSpPr>
          <p:sp>
            <p:nvSpPr>
              <p:cNvPr id="23653" name="Line 41">
                <a:extLst>
                  <a:ext uri="{FF2B5EF4-FFF2-40B4-BE49-F238E27FC236}">
                    <a16:creationId xmlns="" xmlns:a16="http://schemas.microsoft.com/office/drawing/2014/main" id="{78858BBD-6A38-4654-BD8F-6E74E99C6E9F}"/>
                  </a:ext>
                </a:extLst>
              </p:cNvPr>
              <p:cNvSpPr>
                <a:spLocks noChangeShapeType="1"/>
              </p:cNvSpPr>
              <p:nvPr/>
            </p:nvSpPr>
            <p:spPr bwMode="auto">
              <a:xfrm>
                <a:off x="4468" y="3087"/>
                <a:ext cx="0" cy="292"/>
              </a:xfrm>
              <a:prstGeom prst="line">
                <a:avLst/>
              </a:prstGeom>
              <a:noFill/>
              <a:ln w="9525">
                <a:solidFill>
                  <a:schemeClr val="bg2"/>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3654" name="Line 42">
                <a:extLst>
                  <a:ext uri="{FF2B5EF4-FFF2-40B4-BE49-F238E27FC236}">
                    <a16:creationId xmlns="" xmlns:a16="http://schemas.microsoft.com/office/drawing/2014/main" id="{820B2749-577D-44E0-93BB-A6629FFB2F7D}"/>
                  </a:ext>
                </a:extLst>
              </p:cNvPr>
              <p:cNvSpPr>
                <a:spLocks noChangeShapeType="1"/>
              </p:cNvSpPr>
              <p:nvPr/>
            </p:nvSpPr>
            <p:spPr bwMode="auto">
              <a:xfrm>
                <a:off x="4846" y="3089"/>
                <a:ext cx="0" cy="292"/>
              </a:xfrm>
              <a:prstGeom prst="line">
                <a:avLst/>
              </a:prstGeom>
              <a:noFill/>
              <a:ln w="9525">
                <a:solidFill>
                  <a:schemeClr val="bg2"/>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3655" name="Oval 43">
                <a:extLst>
                  <a:ext uri="{FF2B5EF4-FFF2-40B4-BE49-F238E27FC236}">
                    <a16:creationId xmlns="" xmlns:a16="http://schemas.microsoft.com/office/drawing/2014/main" id="{9F9155DF-F449-43CE-8DA2-E10209FD0B1E}"/>
                  </a:ext>
                </a:extLst>
              </p:cNvPr>
              <p:cNvSpPr>
                <a:spLocks noChangeArrowheads="1"/>
              </p:cNvSpPr>
              <p:nvPr/>
            </p:nvSpPr>
            <p:spPr bwMode="auto">
              <a:xfrm>
                <a:off x="4469" y="3038"/>
                <a:ext cx="376" cy="90"/>
              </a:xfrm>
              <a:prstGeom prst="ellipse">
                <a:avLst/>
              </a:prstGeom>
              <a:gradFill rotWithShape="0">
                <a:gsLst>
                  <a:gs pos="0">
                    <a:srgbClr val="666666"/>
                  </a:gs>
                  <a:gs pos="50000">
                    <a:srgbClr val="DDDDDD"/>
                  </a:gs>
                  <a:gs pos="100000">
                    <a:srgbClr val="666666"/>
                  </a:gs>
                </a:gsLst>
                <a:lin ang="0" scaled="1"/>
              </a:gradFill>
              <a:ln w="9525">
                <a:solidFill>
                  <a:schemeClr val="bg2"/>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3656" name="Oval 44">
                <a:extLst>
                  <a:ext uri="{FF2B5EF4-FFF2-40B4-BE49-F238E27FC236}">
                    <a16:creationId xmlns="" xmlns:a16="http://schemas.microsoft.com/office/drawing/2014/main" id="{7A94A573-03D9-48A9-AA32-62F0C14432EA}"/>
                  </a:ext>
                </a:extLst>
              </p:cNvPr>
              <p:cNvSpPr>
                <a:spLocks noChangeArrowheads="1"/>
              </p:cNvSpPr>
              <p:nvPr/>
            </p:nvSpPr>
            <p:spPr bwMode="auto">
              <a:xfrm>
                <a:off x="4469" y="3331"/>
                <a:ext cx="376" cy="89"/>
              </a:xfrm>
              <a:prstGeom prst="ellipse">
                <a:avLst/>
              </a:prstGeom>
              <a:gradFill rotWithShape="0">
                <a:gsLst>
                  <a:gs pos="0">
                    <a:srgbClr val="666666"/>
                  </a:gs>
                  <a:gs pos="50000">
                    <a:srgbClr val="DDDDDD"/>
                  </a:gs>
                  <a:gs pos="100000">
                    <a:srgbClr val="666666"/>
                  </a:gs>
                </a:gsLst>
                <a:lin ang="0" scaled="1"/>
              </a:gradFill>
              <a:ln w="9525">
                <a:solidFill>
                  <a:schemeClr val="bg2"/>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grpSp>
        <p:nvGrpSpPr>
          <p:cNvPr id="10" name="Group 45">
            <a:extLst>
              <a:ext uri="{FF2B5EF4-FFF2-40B4-BE49-F238E27FC236}">
                <a16:creationId xmlns="" xmlns:a16="http://schemas.microsoft.com/office/drawing/2014/main" id="{F0FE6336-993E-4B68-B3C8-9AAEC5FC1C9F}"/>
              </a:ext>
            </a:extLst>
          </p:cNvPr>
          <p:cNvGrpSpPr>
            <a:grpSpLocks/>
          </p:cNvGrpSpPr>
          <p:nvPr/>
        </p:nvGrpSpPr>
        <p:grpSpPr bwMode="auto">
          <a:xfrm>
            <a:off x="2832100" y="4376738"/>
            <a:ext cx="533400" cy="344487"/>
            <a:chOff x="4467" y="3038"/>
            <a:chExt cx="379" cy="382"/>
          </a:xfrm>
        </p:grpSpPr>
        <p:sp>
          <p:nvSpPr>
            <p:cNvPr id="23645" name="Rectangle 46">
              <a:extLst>
                <a:ext uri="{FF2B5EF4-FFF2-40B4-BE49-F238E27FC236}">
                  <a16:creationId xmlns="" xmlns:a16="http://schemas.microsoft.com/office/drawing/2014/main" id="{CA693305-3B2C-4EE4-80F3-A7B89AF8B8C0}"/>
                </a:ext>
              </a:extLst>
            </p:cNvPr>
            <p:cNvSpPr>
              <a:spLocks noChangeArrowheads="1"/>
            </p:cNvSpPr>
            <p:nvPr/>
          </p:nvSpPr>
          <p:spPr bwMode="auto">
            <a:xfrm>
              <a:off x="4467" y="3094"/>
              <a:ext cx="376" cy="274"/>
            </a:xfrm>
            <a:prstGeom prst="rect">
              <a:avLst/>
            </a:prstGeom>
            <a:gradFill rotWithShape="0">
              <a:gsLst>
                <a:gs pos="0">
                  <a:srgbClr val="666666"/>
                </a:gs>
                <a:gs pos="50000">
                  <a:srgbClr val="DDDDDD"/>
                </a:gs>
                <a:gs pos="100000">
                  <a:srgbClr val="666666"/>
                </a:gs>
              </a:gsLst>
              <a:lin ang="0" scaled="1"/>
            </a:gradFill>
            <a:ln w="9525">
              <a:solidFill>
                <a:schemeClr val="bg2"/>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11" name="Group 47">
              <a:extLst>
                <a:ext uri="{FF2B5EF4-FFF2-40B4-BE49-F238E27FC236}">
                  <a16:creationId xmlns="" xmlns:a16="http://schemas.microsoft.com/office/drawing/2014/main" id="{6D90CC5C-CC62-4A64-9557-645A59769FF7}"/>
                </a:ext>
              </a:extLst>
            </p:cNvPr>
            <p:cNvGrpSpPr>
              <a:grpSpLocks/>
            </p:cNvGrpSpPr>
            <p:nvPr/>
          </p:nvGrpSpPr>
          <p:grpSpPr bwMode="auto">
            <a:xfrm>
              <a:off x="4468" y="3038"/>
              <a:ext cx="378" cy="382"/>
              <a:chOff x="4468" y="3038"/>
              <a:chExt cx="378" cy="382"/>
            </a:xfrm>
          </p:grpSpPr>
          <p:sp>
            <p:nvSpPr>
              <p:cNvPr id="23647" name="Line 48">
                <a:extLst>
                  <a:ext uri="{FF2B5EF4-FFF2-40B4-BE49-F238E27FC236}">
                    <a16:creationId xmlns="" xmlns:a16="http://schemas.microsoft.com/office/drawing/2014/main" id="{BC4DAC38-2693-4476-A854-825AE18B0178}"/>
                  </a:ext>
                </a:extLst>
              </p:cNvPr>
              <p:cNvSpPr>
                <a:spLocks noChangeShapeType="1"/>
              </p:cNvSpPr>
              <p:nvPr/>
            </p:nvSpPr>
            <p:spPr bwMode="auto">
              <a:xfrm>
                <a:off x="4468" y="3087"/>
                <a:ext cx="0" cy="292"/>
              </a:xfrm>
              <a:prstGeom prst="line">
                <a:avLst/>
              </a:prstGeom>
              <a:noFill/>
              <a:ln w="9525">
                <a:solidFill>
                  <a:schemeClr val="bg2"/>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3648" name="Line 49">
                <a:extLst>
                  <a:ext uri="{FF2B5EF4-FFF2-40B4-BE49-F238E27FC236}">
                    <a16:creationId xmlns="" xmlns:a16="http://schemas.microsoft.com/office/drawing/2014/main" id="{B59A8A3C-2E8A-45A1-8CE3-241840B2F88E}"/>
                  </a:ext>
                </a:extLst>
              </p:cNvPr>
              <p:cNvSpPr>
                <a:spLocks noChangeShapeType="1"/>
              </p:cNvSpPr>
              <p:nvPr/>
            </p:nvSpPr>
            <p:spPr bwMode="auto">
              <a:xfrm>
                <a:off x="4846" y="3089"/>
                <a:ext cx="0" cy="292"/>
              </a:xfrm>
              <a:prstGeom prst="line">
                <a:avLst/>
              </a:prstGeom>
              <a:noFill/>
              <a:ln w="9525">
                <a:solidFill>
                  <a:schemeClr val="bg2"/>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3649" name="Oval 50">
                <a:extLst>
                  <a:ext uri="{FF2B5EF4-FFF2-40B4-BE49-F238E27FC236}">
                    <a16:creationId xmlns="" xmlns:a16="http://schemas.microsoft.com/office/drawing/2014/main" id="{C01B7D6B-47A3-45BE-AD89-5EC4F038A471}"/>
                  </a:ext>
                </a:extLst>
              </p:cNvPr>
              <p:cNvSpPr>
                <a:spLocks noChangeArrowheads="1"/>
              </p:cNvSpPr>
              <p:nvPr/>
            </p:nvSpPr>
            <p:spPr bwMode="auto">
              <a:xfrm>
                <a:off x="4469" y="3038"/>
                <a:ext cx="376" cy="90"/>
              </a:xfrm>
              <a:prstGeom prst="ellipse">
                <a:avLst/>
              </a:prstGeom>
              <a:gradFill rotWithShape="0">
                <a:gsLst>
                  <a:gs pos="0">
                    <a:srgbClr val="666666"/>
                  </a:gs>
                  <a:gs pos="50000">
                    <a:srgbClr val="DDDDDD"/>
                  </a:gs>
                  <a:gs pos="100000">
                    <a:srgbClr val="666666"/>
                  </a:gs>
                </a:gsLst>
                <a:lin ang="0" scaled="1"/>
              </a:gradFill>
              <a:ln w="9525">
                <a:solidFill>
                  <a:schemeClr val="bg2"/>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3650" name="Oval 51">
                <a:extLst>
                  <a:ext uri="{FF2B5EF4-FFF2-40B4-BE49-F238E27FC236}">
                    <a16:creationId xmlns="" xmlns:a16="http://schemas.microsoft.com/office/drawing/2014/main" id="{4E0FE1C9-14C8-445B-AFEA-A9C108BD45AF}"/>
                  </a:ext>
                </a:extLst>
              </p:cNvPr>
              <p:cNvSpPr>
                <a:spLocks noChangeArrowheads="1"/>
              </p:cNvSpPr>
              <p:nvPr/>
            </p:nvSpPr>
            <p:spPr bwMode="auto">
              <a:xfrm>
                <a:off x="4469" y="3331"/>
                <a:ext cx="376" cy="89"/>
              </a:xfrm>
              <a:prstGeom prst="ellipse">
                <a:avLst/>
              </a:prstGeom>
              <a:gradFill rotWithShape="0">
                <a:gsLst>
                  <a:gs pos="0">
                    <a:srgbClr val="666666"/>
                  </a:gs>
                  <a:gs pos="50000">
                    <a:srgbClr val="DDDDDD"/>
                  </a:gs>
                  <a:gs pos="100000">
                    <a:srgbClr val="666666"/>
                  </a:gs>
                </a:gsLst>
                <a:lin ang="0" scaled="1"/>
              </a:gradFill>
              <a:ln w="9525">
                <a:solidFill>
                  <a:schemeClr val="bg2"/>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grpSp>
        <p:nvGrpSpPr>
          <p:cNvPr id="12" name="Group 52">
            <a:extLst>
              <a:ext uri="{FF2B5EF4-FFF2-40B4-BE49-F238E27FC236}">
                <a16:creationId xmlns="" xmlns:a16="http://schemas.microsoft.com/office/drawing/2014/main" id="{46D71140-C7B5-45BE-9D07-FB13B2CAE758}"/>
              </a:ext>
            </a:extLst>
          </p:cNvPr>
          <p:cNvGrpSpPr>
            <a:grpSpLocks/>
          </p:cNvGrpSpPr>
          <p:nvPr/>
        </p:nvGrpSpPr>
        <p:grpSpPr bwMode="auto">
          <a:xfrm>
            <a:off x="3440113" y="4492625"/>
            <a:ext cx="533400" cy="344488"/>
            <a:chOff x="4467" y="3038"/>
            <a:chExt cx="379" cy="382"/>
          </a:xfrm>
        </p:grpSpPr>
        <p:sp>
          <p:nvSpPr>
            <p:cNvPr id="23639" name="Rectangle 53">
              <a:extLst>
                <a:ext uri="{FF2B5EF4-FFF2-40B4-BE49-F238E27FC236}">
                  <a16:creationId xmlns="" xmlns:a16="http://schemas.microsoft.com/office/drawing/2014/main" id="{DF943C90-CC79-45C5-BCC8-C38678DD0CF7}"/>
                </a:ext>
              </a:extLst>
            </p:cNvPr>
            <p:cNvSpPr>
              <a:spLocks noChangeArrowheads="1"/>
            </p:cNvSpPr>
            <p:nvPr/>
          </p:nvSpPr>
          <p:spPr bwMode="auto">
            <a:xfrm>
              <a:off x="4467" y="3094"/>
              <a:ext cx="376" cy="274"/>
            </a:xfrm>
            <a:prstGeom prst="rect">
              <a:avLst/>
            </a:prstGeom>
            <a:gradFill rotWithShape="0">
              <a:gsLst>
                <a:gs pos="0">
                  <a:srgbClr val="7C7C7C"/>
                </a:gs>
                <a:gs pos="50000">
                  <a:srgbClr val="DDDDDD"/>
                </a:gs>
                <a:gs pos="100000">
                  <a:srgbClr val="7C7C7C"/>
                </a:gs>
              </a:gsLst>
              <a:lin ang="0" scaled="1"/>
            </a:gradFill>
            <a:ln w="9525">
              <a:solidFill>
                <a:schemeClr val="bg2"/>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13" name="Group 54">
              <a:extLst>
                <a:ext uri="{FF2B5EF4-FFF2-40B4-BE49-F238E27FC236}">
                  <a16:creationId xmlns="" xmlns:a16="http://schemas.microsoft.com/office/drawing/2014/main" id="{9BCB4582-40BF-4C03-A50C-B5280B46FDA8}"/>
                </a:ext>
              </a:extLst>
            </p:cNvPr>
            <p:cNvGrpSpPr>
              <a:grpSpLocks/>
            </p:cNvGrpSpPr>
            <p:nvPr/>
          </p:nvGrpSpPr>
          <p:grpSpPr bwMode="auto">
            <a:xfrm>
              <a:off x="4468" y="3038"/>
              <a:ext cx="378" cy="382"/>
              <a:chOff x="4468" y="3038"/>
              <a:chExt cx="378" cy="382"/>
            </a:xfrm>
          </p:grpSpPr>
          <p:sp>
            <p:nvSpPr>
              <p:cNvPr id="23641" name="Line 55">
                <a:extLst>
                  <a:ext uri="{FF2B5EF4-FFF2-40B4-BE49-F238E27FC236}">
                    <a16:creationId xmlns="" xmlns:a16="http://schemas.microsoft.com/office/drawing/2014/main" id="{327B05F9-9384-43E2-B6F3-573F17F8B101}"/>
                  </a:ext>
                </a:extLst>
              </p:cNvPr>
              <p:cNvSpPr>
                <a:spLocks noChangeShapeType="1"/>
              </p:cNvSpPr>
              <p:nvPr/>
            </p:nvSpPr>
            <p:spPr bwMode="auto">
              <a:xfrm>
                <a:off x="4468" y="3087"/>
                <a:ext cx="0" cy="292"/>
              </a:xfrm>
              <a:prstGeom prst="line">
                <a:avLst/>
              </a:prstGeom>
              <a:noFill/>
              <a:ln w="9525">
                <a:solidFill>
                  <a:schemeClr val="bg2"/>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3642" name="Line 56">
                <a:extLst>
                  <a:ext uri="{FF2B5EF4-FFF2-40B4-BE49-F238E27FC236}">
                    <a16:creationId xmlns="" xmlns:a16="http://schemas.microsoft.com/office/drawing/2014/main" id="{92082308-F511-4CC6-8760-2DD7E42FEC1D}"/>
                  </a:ext>
                </a:extLst>
              </p:cNvPr>
              <p:cNvSpPr>
                <a:spLocks noChangeShapeType="1"/>
              </p:cNvSpPr>
              <p:nvPr/>
            </p:nvSpPr>
            <p:spPr bwMode="auto">
              <a:xfrm>
                <a:off x="4846" y="3089"/>
                <a:ext cx="0" cy="292"/>
              </a:xfrm>
              <a:prstGeom prst="line">
                <a:avLst/>
              </a:prstGeom>
              <a:noFill/>
              <a:ln w="9525">
                <a:solidFill>
                  <a:schemeClr val="bg2"/>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3643" name="Oval 57">
                <a:extLst>
                  <a:ext uri="{FF2B5EF4-FFF2-40B4-BE49-F238E27FC236}">
                    <a16:creationId xmlns="" xmlns:a16="http://schemas.microsoft.com/office/drawing/2014/main" id="{16772203-969D-438A-BE0F-850C3FA4A1DF}"/>
                  </a:ext>
                </a:extLst>
              </p:cNvPr>
              <p:cNvSpPr>
                <a:spLocks noChangeArrowheads="1"/>
              </p:cNvSpPr>
              <p:nvPr/>
            </p:nvSpPr>
            <p:spPr bwMode="auto">
              <a:xfrm>
                <a:off x="4469" y="3038"/>
                <a:ext cx="376" cy="90"/>
              </a:xfrm>
              <a:prstGeom prst="ellipse">
                <a:avLst/>
              </a:prstGeom>
              <a:gradFill rotWithShape="0">
                <a:gsLst>
                  <a:gs pos="0">
                    <a:srgbClr val="7C7C7C"/>
                  </a:gs>
                  <a:gs pos="50000">
                    <a:srgbClr val="DDDDDD"/>
                  </a:gs>
                  <a:gs pos="100000">
                    <a:srgbClr val="7C7C7C"/>
                  </a:gs>
                </a:gsLst>
                <a:lin ang="0" scaled="1"/>
              </a:gradFill>
              <a:ln w="9525">
                <a:solidFill>
                  <a:schemeClr val="bg2"/>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3644" name="Oval 58">
                <a:extLst>
                  <a:ext uri="{FF2B5EF4-FFF2-40B4-BE49-F238E27FC236}">
                    <a16:creationId xmlns="" xmlns:a16="http://schemas.microsoft.com/office/drawing/2014/main" id="{BCF08F7C-0E40-4FAB-B55D-0635EBF665AE}"/>
                  </a:ext>
                </a:extLst>
              </p:cNvPr>
              <p:cNvSpPr>
                <a:spLocks noChangeArrowheads="1"/>
              </p:cNvSpPr>
              <p:nvPr/>
            </p:nvSpPr>
            <p:spPr bwMode="auto">
              <a:xfrm>
                <a:off x="4469" y="3331"/>
                <a:ext cx="376" cy="89"/>
              </a:xfrm>
              <a:prstGeom prst="ellipse">
                <a:avLst/>
              </a:prstGeom>
              <a:gradFill rotWithShape="0">
                <a:gsLst>
                  <a:gs pos="0">
                    <a:srgbClr val="7C7C7C"/>
                  </a:gs>
                  <a:gs pos="50000">
                    <a:srgbClr val="DDDDDD"/>
                  </a:gs>
                  <a:gs pos="100000">
                    <a:srgbClr val="7C7C7C"/>
                  </a:gs>
                </a:gsLst>
                <a:lin ang="0" scaled="1"/>
              </a:gradFill>
              <a:ln w="9525">
                <a:solidFill>
                  <a:schemeClr val="bg2"/>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grpSp>
        <p:nvGrpSpPr>
          <p:cNvPr id="14" name="Group 59">
            <a:extLst>
              <a:ext uri="{FF2B5EF4-FFF2-40B4-BE49-F238E27FC236}">
                <a16:creationId xmlns="" xmlns:a16="http://schemas.microsoft.com/office/drawing/2014/main" id="{DC0A64A1-05E5-43C4-B816-5F2187D20B96}"/>
              </a:ext>
            </a:extLst>
          </p:cNvPr>
          <p:cNvGrpSpPr>
            <a:grpSpLocks/>
          </p:cNvGrpSpPr>
          <p:nvPr/>
        </p:nvGrpSpPr>
        <p:grpSpPr bwMode="auto">
          <a:xfrm>
            <a:off x="4114800" y="4376738"/>
            <a:ext cx="534988" cy="344487"/>
            <a:chOff x="4467" y="3038"/>
            <a:chExt cx="379" cy="382"/>
          </a:xfrm>
        </p:grpSpPr>
        <p:sp>
          <p:nvSpPr>
            <p:cNvPr id="23633" name="Rectangle 60">
              <a:extLst>
                <a:ext uri="{FF2B5EF4-FFF2-40B4-BE49-F238E27FC236}">
                  <a16:creationId xmlns="" xmlns:a16="http://schemas.microsoft.com/office/drawing/2014/main" id="{F82CD03E-B6CE-4750-94F1-18D926D62A52}"/>
                </a:ext>
              </a:extLst>
            </p:cNvPr>
            <p:cNvSpPr>
              <a:spLocks noChangeArrowheads="1"/>
            </p:cNvSpPr>
            <p:nvPr/>
          </p:nvSpPr>
          <p:spPr bwMode="auto">
            <a:xfrm>
              <a:off x="4467" y="3094"/>
              <a:ext cx="376" cy="274"/>
            </a:xfrm>
            <a:prstGeom prst="rect">
              <a:avLst/>
            </a:prstGeom>
            <a:gradFill rotWithShape="0">
              <a:gsLst>
                <a:gs pos="0">
                  <a:srgbClr val="838383"/>
                </a:gs>
                <a:gs pos="50000">
                  <a:srgbClr val="EAEAEA"/>
                </a:gs>
                <a:gs pos="100000">
                  <a:srgbClr val="838383"/>
                </a:gs>
              </a:gsLst>
              <a:lin ang="0" scaled="1"/>
            </a:gradFill>
            <a:ln w="9525">
              <a:solidFill>
                <a:schemeClr val="bg2"/>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15" name="Group 61">
              <a:extLst>
                <a:ext uri="{FF2B5EF4-FFF2-40B4-BE49-F238E27FC236}">
                  <a16:creationId xmlns="" xmlns:a16="http://schemas.microsoft.com/office/drawing/2014/main" id="{666228E5-5BFC-46E7-B4FB-ED6D2ACCFD0A}"/>
                </a:ext>
              </a:extLst>
            </p:cNvPr>
            <p:cNvGrpSpPr>
              <a:grpSpLocks/>
            </p:cNvGrpSpPr>
            <p:nvPr/>
          </p:nvGrpSpPr>
          <p:grpSpPr bwMode="auto">
            <a:xfrm>
              <a:off x="4468" y="3038"/>
              <a:ext cx="378" cy="382"/>
              <a:chOff x="4468" y="3038"/>
              <a:chExt cx="378" cy="382"/>
            </a:xfrm>
          </p:grpSpPr>
          <p:sp>
            <p:nvSpPr>
              <p:cNvPr id="23635" name="Line 62">
                <a:extLst>
                  <a:ext uri="{FF2B5EF4-FFF2-40B4-BE49-F238E27FC236}">
                    <a16:creationId xmlns="" xmlns:a16="http://schemas.microsoft.com/office/drawing/2014/main" id="{2164576E-8961-45B5-8DA4-890675EEEF61}"/>
                  </a:ext>
                </a:extLst>
              </p:cNvPr>
              <p:cNvSpPr>
                <a:spLocks noChangeShapeType="1"/>
              </p:cNvSpPr>
              <p:nvPr/>
            </p:nvSpPr>
            <p:spPr bwMode="auto">
              <a:xfrm>
                <a:off x="4468" y="3087"/>
                <a:ext cx="0" cy="292"/>
              </a:xfrm>
              <a:prstGeom prst="line">
                <a:avLst/>
              </a:prstGeom>
              <a:noFill/>
              <a:ln w="9525">
                <a:solidFill>
                  <a:schemeClr val="bg2"/>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3636" name="Line 63">
                <a:extLst>
                  <a:ext uri="{FF2B5EF4-FFF2-40B4-BE49-F238E27FC236}">
                    <a16:creationId xmlns="" xmlns:a16="http://schemas.microsoft.com/office/drawing/2014/main" id="{145431D2-29C6-4849-A768-747A0DB4EB61}"/>
                  </a:ext>
                </a:extLst>
              </p:cNvPr>
              <p:cNvSpPr>
                <a:spLocks noChangeShapeType="1"/>
              </p:cNvSpPr>
              <p:nvPr/>
            </p:nvSpPr>
            <p:spPr bwMode="auto">
              <a:xfrm>
                <a:off x="4846" y="3089"/>
                <a:ext cx="0" cy="292"/>
              </a:xfrm>
              <a:prstGeom prst="line">
                <a:avLst/>
              </a:prstGeom>
              <a:noFill/>
              <a:ln w="9525">
                <a:solidFill>
                  <a:schemeClr val="bg2"/>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3637" name="Oval 64">
                <a:extLst>
                  <a:ext uri="{FF2B5EF4-FFF2-40B4-BE49-F238E27FC236}">
                    <a16:creationId xmlns="" xmlns:a16="http://schemas.microsoft.com/office/drawing/2014/main" id="{AC18B1B3-3AD7-436A-ABFD-0316545C7F15}"/>
                  </a:ext>
                </a:extLst>
              </p:cNvPr>
              <p:cNvSpPr>
                <a:spLocks noChangeArrowheads="1"/>
              </p:cNvSpPr>
              <p:nvPr/>
            </p:nvSpPr>
            <p:spPr bwMode="auto">
              <a:xfrm>
                <a:off x="4469" y="3038"/>
                <a:ext cx="376" cy="90"/>
              </a:xfrm>
              <a:prstGeom prst="ellipse">
                <a:avLst/>
              </a:prstGeom>
              <a:gradFill rotWithShape="0">
                <a:gsLst>
                  <a:gs pos="0">
                    <a:srgbClr val="838383"/>
                  </a:gs>
                  <a:gs pos="50000">
                    <a:srgbClr val="EAEAEA"/>
                  </a:gs>
                  <a:gs pos="100000">
                    <a:srgbClr val="838383"/>
                  </a:gs>
                </a:gsLst>
                <a:lin ang="0" scaled="1"/>
              </a:gradFill>
              <a:ln w="9525">
                <a:solidFill>
                  <a:schemeClr val="bg2"/>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3638" name="Oval 65">
                <a:extLst>
                  <a:ext uri="{FF2B5EF4-FFF2-40B4-BE49-F238E27FC236}">
                    <a16:creationId xmlns="" xmlns:a16="http://schemas.microsoft.com/office/drawing/2014/main" id="{E873D912-EFD5-4429-A1DA-574C5D0B9C52}"/>
                  </a:ext>
                </a:extLst>
              </p:cNvPr>
              <p:cNvSpPr>
                <a:spLocks noChangeArrowheads="1"/>
              </p:cNvSpPr>
              <p:nvPr/>
            </p:nvSpPr>
            <p:spPr bwMode="auto">
              <a:xfrm>
                <a:off x="4469" y="3331"/>
                <a:ext cx="376" cy="89"/>
              </a:xfrm>
              <a:prstGeom prst="ellipse">
                <a:avLst/>
              </a:prstGeom>
              <a:gradFill rotWithShape="0">
                <a:gsLst>
                  <a:gs pos="0">
                    <a:srgbClr val="838383"/>
                  </a:gs>
                  <a:gs pos="50000">
                    <a:srgbClr val="EAEAEA"/>
                  </a:gs>
                  <a:gs pos="100000">
                    <a:srgbClr val="838383"/>
                  </a:gs>
                </a:gsLst>
                <a:lin ang="0" scaled="1"/>
              </a:gradFill>
              <a:ln w="9525">
                <a:solidFill>
                  <a:schemeClr val="bg2"/>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sp>
        <p:nvSpPr>
          <p:cNvPr id="23574" name="AutoShape 66">
            <a:extLst>
              <a:ext uri="{FF2B5EF4-FFF2-40B4-BE49-F238E27FC236}">
                <a16:creationId xmlns="" xmlns:a16="http://schemas.microsoft.com/office/drawing/2014/main" id="{BBD85976-4BAD-420F-B756-706429905A21}"/>
              </a:ext>
            </a:extLst>
          </p:cNvPr>
          <p:cNvSpPr>
            <a:spLocks noChangeArrowheads="1"/>
          </p:cNvSpPr>
          <p:nvPr/>
        </p:nvSpPr>
        <p:spPr bwMode="auto">
          <a:xfrm rot="2815000">
            <a:off x="3189288" y="4064000"/>
            <a:ext cx="230188" cy="338137"/>
          </a:xfrm>
          <a:prstGeom prst="downArrow">
            <a:avLst>
              <a:gd name="adj1" fmla="val 50000"/>
              <a:gd name="adj2" fmla="val 36724"/>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3575" name="AutoShape 67">
            <a:extLst>
              <a:ext uri="{FF2B5EF4-FFF2-40B4-BE49-F238E27FC236}">
                <a16:creationId xmlns="" xmlns:a16="http://schemas.microsoft.com/office/drawing/2014/main" id="{C53B0F6D-7C79-4269-A628-6F0FBEA4D08B}"/>
              </a:ext>
            </a:extLst>
          </p:cNvPr>
          <p:cNvSpPr>
            <a:spLocks noChangeArrowheads="1"/>
          </p:cNvSpPr>
          <p:nvPr/>
        </p:nvSpPr>
        <p:spPr bwMode="auto">
          <a:xfrm>
            <a:off x="3575050" y="4146550"/>
            <a:ext cx="269875" cy="288925"/>
          </a:xfrm>
          <a:prstGeom prst="downArrow">
            <a:avLst>
              <a:gd name="adj1" fmla="val 50000"/>
              <a:gd name="adj2" fmla="val 26765"/>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3576" name="AutoShape 68">
            <a:extLst>
              <a:ext uri="{FF2B5EF4-FFF2-40B4-BE49-F238E27FC236}">
                <a16:creationId xmlns="" xmlns:a16="http://schemas.microsoft.com/office/drawing/2014/main" id="{69508AFB-1564-434F-B5F7-F8717ECE60FE}"/>
              </a:ext>
            </a:extLst>
          </p:cNvPr>
          <p:cNvSpPr>
            <a:spLocks noChangeArrowheads="1"/>
          </p:cNvSpPr>
          <p:nvPr/>
        </p:nvSpPr>
        <p:spPr bwMode="auto">
          <a:xfrm rot="-3021309">
            <a:off x="4000500" y="4064000"/>
            <a:ext cx="230188" cy="338138"/>
          </a:xfrm>
          <a:prstGeom prst="downArrow">
            <a:avLst>
              <a:gd name="adj1" fmla="val 50000"/>
              <a:gd name="adj2" fmla="val 36724"/>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3577" name="Text Box 69">
            <a:extLst>
              <a:ext uri="{FF2B5EF4-FFF2-40B4-BE49-F238E27FC236}">
                <a16:creationId xmlns="" xmlns:a16="http://schemas.microsoft.com/office/drawing/2014/main" id="{A9D124D3-B107-4229-A6A5-5B88A9D257ED}"/>
              </a:ext>
            </a:extLst>
          </p:cNvPr>
          <p:cNvSpPr txBox="1">
            <a:spLocks noChangeArrowheads="1"/>
          </p:cNvSpPr>
          <p:nvPr/>
        </p:nvSpPr>
        <p:spPr bwMode="auto">
          <a:xfrm>
            <a:off x="3186113" y="5038725"/>
            <a:ext cx="933450" cy="274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Data Marts</a:t>
            </a:r>
          </a:p>
        </p:txBody>
      </p:sp>
      <p:sp>
        <p:nvSpPr>
          <p:cNvPr id="23578" name="Text Box 70">
            <a:extLst>
              <a:ext uri="{FF2B5EF4-FFF2-40B4-BE49-F238E27FC236}">
                <a16:creationId xmlns="" xmlns:a16="http://schemas.microsoft.com/office/drawing/2014/main" id="{6CD4AA6C-0E21-4E86-8167-5143C9FE3A6E}"/>
              </a:ext>
            </a:extLst>
          </p:cNvPr>
          <p:cNvSpPr txBox="1">
            <a:spLocks noChangeArrowheads="1"/>
          </p:cNvSpPr>
          <p:nvPr/>
        </p:nvSpPr>
        <p:spPr bwMode="auto">
          <a:xfrm>
            <a:off x="3282950" y="2786063"/>
            <a:ext cx="92075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Data</a:t>
            </a:r>
          </a:p>
          <a:p>
            <a:pPr algn="ctr"/>
            <a:r>
              <a:rPr lang="en-US" altLang="en-US" sz="1200" b="1">
                <a:solidFill>
                  <a:srgbClr val="00001E"/>
                </a:solidFill>
                <a:latin typeface="Times New Roman" panose="02020603050405020304" pitchFamily="18" charset="0"/>
              </a:rPr>
              <a:t>Warehouse</a:t>
            </a:r>
          </a:p>
        </p:txBody>
      </p:sp>
      <p:sp>
        <p:nvSpPr>
          <p:cNvPr id="23579" name="AutoShape 71">
            <a:extLst>
              <a:ext uri="{FF2B5EF4-FFF2-40B4-BE49-F238E27FC236}">
                <a16:creationId xmlns="" xmlns:a16="http://schemas.microsoft.com/office/drawing/2014/main" id="{222F51EC-241C-4A8F-9D4F-46BEA1FFE6A6}"/>
              </a:ext>
            </a:extLst>
          </p:cNvPr>
          <p:cNvSpPr>
            <a:spLocks noChangeArrowheads="1"/>
          </p:cNvSpPr>
          <p:nvPr/>
        </p:nvSpPr>
        <p:spPr bwMode="auto">
          <a:xfrm>
            <a:off x="5197475" y="4140200"/>
            <a:ext cx="809625" cy="692150"/>
          </a:xfrm>
          <a:prstGeom prst="cube">
            <a:avLst>
              <a:gd name="adj" fmla="val 25000"/>
            </a:avLst>
          </a:prstGeom>
          <a:solidFill>
            <a:schemeClr val="folHlink"/>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3580" name="AutoShape 72">
            <a:extLst>
              <a:ext uri="{FF2B5EF4-FFF2-40B4-BE49-F238E27FC236}">
                <a16:creationId xmlns="" xmlns:a16="http://schemas.microsoft.com/office/drawing/2014/main" id="{AFAF0F90-EA00-4A2F-99D2-28BF019D2EEC}"/>
              </a:ext>
            </a:extLst>
          </p:cNvPr>
          <p:cNvSpPr>
            <a:spLocks noChangeArrowheads="1"/>
          </p:cNvSpPr>
          <p:nvPr/>
        </p:nvSpPr>
        <p:spPr bwMode="auto">
          <a:xfrm>
            <a:off x="5129213" y="2587625"/>
            <a:ext cx="811212" cy="692150"/>
          </a:xfrm>
          <a:prstGeom prst="cube">
            <a:avLst>
              <a:gd name="adj" fmla="val 25000"/>
            </a:avLst>
          </a:prstGeom>
          <a:solidFill>
            <a:schemeClr val="folHlink"/>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3581" name="Text Box 73">
            <a:extLst>
              <a:ext uri="{FF2B5EF4-FFF2-40B4-BE49-F238E27FC236}">
                <a16:creationId xmlns="" xmlns:a16="http://schemas.microsoft.com/office/drawing/2014/main" id="{1D9C434F-231D-4AB0-B49E-8237FB2F7144}"/>
              </a:ext>
            </a:extLst>
          </p:cNvPr>
          <p:cNvSpPr txBox="1">
            <a:spLocks noChangeArrowheads="1"/>
          </p:cNvSpPr>
          <p:nvPr/>
        </p:nvSpPr>
        <p:spPr bwMode="auto">
          <a:xfrm>
            <a:off x="4960938" y="2355850"/>
            <a:ext cx="1320800" cy="274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e.g., MOLAP</a:t>
            </a:r>
          </a:p>
        </p:txBody>
      </p:sp>
      <p:sp>
        <p:nvSpPr>
          <p:cNvPr id="23582" name="Text Box 74">
            <a:extLst>
              <a:ext uri="{FF2B5EF4-FFF2-40B4-BE49-F238E27FC236}">
                <a16:creationId xmlns="" xmlns:a16="http://schemas.microsoft.com/office/drawing/2014/main" id="{8B8ACAA8-BC7C-4CE4-880A-CD4FB02EC597}"/>
              </a:ext>
            </a:extLst>
          </p:cNvPr>
          <p:cNvSpPr txBox="1">
            <a:spLocks noChangeArrowheads="1"/>
          </p:cNvSpPr>
          <p:nvPr/>
        </p:nvSpPr>
        <p:spPr bwMode="auto">
          <a:xfrm>
            <a:off x="5164138" y="3884613"/>
            <a:ext cx="1014412" cy="2746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e.g., ROLAP</a:t>
            </a:r>
          </a:p>
        </p:txBody>
      </p:sp>
      <p:sp>
        <p:nvSpPr>
          <p:cNvPr id="23583" name="Oval 75">
            <a:extLst>
              <a:ext uri="{FF2B5EF4-FFF2-40B4-BE49-F238E27FC236}">
                <a16:creationId xmlns="" xmlns:a16="http://schemas.microsoft.com/office/drawing/2014/main" id="{4FFF9D3F-1F6F-422D-AB60-3CB5E0CE400A}"/>
              </a:ext>
            </a:extLst>
          </p:cNvPr>
          <p:cNvSpPr>
            <a:spLocks noChangeArrowheads="1"/>
          </p:cNvSpPr>
          <p:nvPr/>
        </p:nvSpPr>
        <p:spPr bwMode="auto">
          <a:xfrm>
            <a:off x="6818313" y="2298700"/>
            <a:ext cx="1487487" cy="3060700"/>
          </a:xfrm>
          <a:prstGeom prst="ellipse">
            <a:avLst/>
          </a:prstGeom>
          <a:noFill/>
          <a:ln w="9525">
            <a:solidFill>
              <a:schemeClr val="bg2"/>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3584" name="AutoShape 76">
            <a:extLst>
              <a:ext uri="{FF2B5EF4-FFF2-40B4-BE49-F238E27FC236}">
                <a16:creationId xmlns="" xmlns:a16="http://schemas.microsoft.com/office/drawing/2014/main" id="{56E39BC4-06E1-483D-A04D-7D0D448B2388}"/>
              </a:ext>
            </a:extLst>
          </p:cNvPr>
          <p:cNvSpPr>
            <a:spLocks noChangeArrowheads="1"/>
          </p:cNvSpPr>
          <p:nvPr/>
        </p:nvSpPr>
        <p:spPr bwMode="auto">
          <a:xfrm>
            <a:off x="4859338" y="3338513"/>
            <a:ext cx="1824037" cy="635000"/>
          </a:xfrm>
          <a:prstGeom prst="rightArrow">
            <a:avLst>
              <a:gd name="adj1" fmla="val 50000"/>
              <a:gd name="adj2" fmla="val 71812"/>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3585" name="Text Box 77">
            <a:extLst>
              <a:ext uri="{FF2B5EF4-FFF2-40B4-BE49-F238E27FC236}">
                <a16:creationId xmlns="" xmlns:a16="http://schemas.microsoft.com/office/drawing/2014/main" id="{B363FEDB-9C49-4C38-87E4-D5B53C7652B0}"/>
              </a:ext>
            </a:extLst>
          </p:cNvPr>
          <p:cNvSpPr txBox="1">
            <a:spLocks noChangeArrowheads="1"/>
          </p:cNvSpPr>
          <p:nvPr/>
        </p:nvSpPr>
        <p:spPr bwMode="auto">
          <a:xfrm>
            <a:off x="5349875" y="3562350"/>
            <a:ext cx="506413" cy="274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i="1">
                <a:solidFill>
                  <a:srgbClr val="00001E"/>
                </a:solidFill>
                <a:latin typeface="Times New Roman" panose="02020603050405020304" pitchFamily="18" charset="0"/>
              </a:rPr>
              <a:t>serve</a:t>
            </a:r>
            <a:endParaRPr lang="en-US" altLang="en-US" sz="1200" b="1">
              <a:solidFill>
                <a:srgbClr val="00001E"/>
              </a:solidFill>
              <a:latin typeface="Times New Roman" panose="02020603050405020304" pitchFamily="18" charset="0"/>
            </a:endParaRPr>
          </a:p>
        </p:txBody>
      </p:sp>
      <p:sp>
        <p:nvSpPr>
          <p:cNvPr id="23586" name="Rectangle 78">
            <a:extLst>
              <a:ext uri="{FF2B5EF4-FFF2-40B4-BE49-F238E27FC236}">
                <a16:creationId xmlns="" xmlns:a16="http://schemas.microsoft.com/office/drawing/2014/main" id="{F6201419-D42B-4D90-85CC-020422A49D59}"/>
              </a:ext>
            </a:extLst>
          </p:cNvPr>
          <p:cNvSpPr>
            <a:spLocks noChangeArrowheads="1"/>
          </p:cNvSpPr>
          <p:nvPr/>
        </p:nvSpPr>
        <p:spPr bwMode="auto">
          <a:xfrm>
            <a:off x="7224713" y="2701925"/>
            <a:ext cx="676275" cy="520700"/>
          </a:xfrm>
          <a:prstGeom prst="rect">
            <a:avLst/>
          </a:prstGeom>
          <a:noFill/>
          <a:ln w="12700">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3587" name="Line 79">
            <a:extLst>
              <a:ext uri="{FF2B5EF4-FFF2-40B4-BE49-F238E27FC236}">
                <a16:creationId xmlns="" xmlns:a16="http://schemas.microsoft.com/office/drawing/2014/main" id="{84D101A9-64A7-4D03-B471-BD04B98D9B93}"/>
              </a:ext>
            </a:extLst>
          </p:cNvPr>
          <p:cNvSpPr>
            <a:spLocks noChangeShapeType="1"/>
          </p:cNvSpPr>
          <p:nvPr/>
        </p:nvSpPr>
        <p:spPr bwMode="auto">
          <a:xfrm>
            <a:off x="7224713" y="2760663"/>
            <a:ext cx="676275" cy="0"/>
          </a:xfrm>
          <a:prstGeom prst="line">
            <a:avLst/>
          </a:prstGeom>
          <a:noFill/>
          <a:ln w="1270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3588" name="Line 80">
            <a:extLst>
              <a:ext uri="{FF2B5EF4-FFF2-40B4-BE49-F238E27FC236}">
                <a16:creationId xmlns="" xmlns:a16="http://schemas.microsoft.com/office/drawing/2014/main" id="{2C3053AC-B813-4423-AC9F-EFC98674877A}"/>
              </a:ext>
            </a:extLst>
          </p:cNvPr>
          <p:cNvSpPr>
            <a:spLocks noChangeShapeType="1"/>
          </p:cNvSpPr>
          <p:nvPr/>
        </p:nvSpPr>
        <p:spPr bwMode="auto">
          <a:xfrm>
            <a:off x="7562850" y="2701925"/>
            <a:ext cx="0" cy="52070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3589" name="Line 81">
            <a:extLst>
              <a:ext uri="{FF2B5EF4-FFF2-40B4-BE49-F238E27FC236}">
                <a16:creationId xmlns="" xmlns:a16="http://schemas.microsoft.com/office/drawing/2014/main" id="{724AC355-28B6-4C39-A39C-6D9B533F80B5}"/>
              </a:ext>
            </a:extLst>
          </p:cNvPr>
          <p:cNvSpPr>
            <a:spLocks noChangeShapeType="1"/>
          </p:cNvSpPr>
          <p:nvPr/>
        </p:nvSpPr>
        <p:spPr bwMode="auto">
          <a:xfrm>
            <a:off x="7562850" y="2701925"/>
            <a:ext cx="0" cy="52070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3590" name="Line 82">
            <a:extLst>
              <a:ext uri="{FF2B5EF4-FFF2-40B4-BE49-F238E27FC236}">
                <a16:creationId xmlns="" xmlns:a16="http://schemas.microsoft.com/office/drawing/2014/main" id="{4AE64879-57FD-403D-BE7C-2B46A51A8686}"/>
              </a:ext>
            </a:extLst>
          </p:cNvPr>
          <p:cNvSpPr>
            <a:spLocks noChangeShapeType="1"/>
          </p:cNvSpPr>
          <p:nvPr/>
        </p:nvSpPr>
        <p:spPr bwMode="auto">
          <a:xfrm>
            <a:off x="7562850" y="2701925"/>
            <a:ext cx="0" cy="52070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3591" name="Line 83">
            <a:extLst>
              <a:ext uri="{FF2B5EF4-FFF2-40B4-BE49-F238E27FC236}">
                <a16:creationId xmlns="" xmlns:a16="http://schemas.microsoft.com/office/drawing/2014/main" id="{6689E42D-BB42-4B0B-8D18-21530D224F95}"/>
              </a:ext>
            </a:extLst>
          </p:cNvPr>
          <p:cNvSpPr>
            <a:spLocks noChangeShapeType="1"/>
          </p:cNvSpPr>
          <p:nvPr/>
        </p:nvSpPr>
        <p:spPr bwMode="auto">
          <a:xfrm>
            <a:off x="7562850" y="2701925"/>
            <a:ext cx="0" cy="52070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3592" name="Line 84">
            <a:extLst>
              <a:ext uri="{FF2B5EF4-FFF2-40B4-BE49-F238E27FC236}">
                <a16:creationId xmlns="" xmlns:a16="http://schemas.microsoft.com/office/drawing/2014/main" id="{F94E8DC8-84C7-4BCD-9679-A15538B71598}"/>
              </a:ext>
            </a:extLst>
          </p:cNvPr>
          <p:cNvSpPr>
            <a:spLocks noChangeShapeType="1"/>
          </p:cNvSpPr>
          <p:nvPr/>
        </p:nvSpPr>
        <p:spPr bwMode="auto">
          <a:xfrm>
            <a:off x="7562850" y="2701925"/>
            <a:ext cx="0" cy="52070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3593" name="Line 85">
            <a:extLst>
              <a:ext uri="{FF2B5EF4-FFF2-40B4-BE49-F238E27FC236}">
                <a16:creationId xmlns="" xmlns:a16="http://schemas.microsoft.com/office/drawing/2014/main" id="{713CB067-8834-4EE7-8E7E-A476DF6913F3}"/>
              </a:ext>
            </a:extLst>
          </p:cNvPr>
          <p:cNvSpPr>
            <a:spLocks noChangeShapeType="1"/>
          </p:cNvSpPr>
          <p:nvPr/>
        </p:nvSpPr>
        <p:spPr bwMode="auto">
          <a:xfrm>
            <a:off x="7224713" y="2817813"/>
            <a:ext cx="676275" cy="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3594" name="Line 86">
            <a:extLst>
              <a:ext uri="{FF2B5EF4-FFF2-40B4-BE49-F238E27FC236}">
                <a16:creationId xmlns="" xmlns:a16="http://schemas.microsoft.com/office/drawing/2014/main" id="{4E36C086-3AF4-46A3-97CA-0C40A788999E}"/>
              </a:ext>
            </a:extLst>
          </p:cNvPr>
          <p:cNvSpPr>
            <a:spLocks noChangeShapeType="1"/>
          </p:cNvSpPr>
          <p:nvPr/>
        </p:nvSpPr>
        <p:spPr bwMode="auto">
          <a:xfrm>
            <a:off x="7224713" y="2874963"/>
            <a:ext cx="676275" cy="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3595" name="Line 87">
            <a:extLst>
              <a:ext uri="{FF2B5EF4-FFF2-40B4-BE49-F238E27FC236}">
                <a16:creationId xmlns="" xmlns:a16="http://schemas.microsoft.com/office/drawing/2014/main" id="{4C6EAA45-46A8-4172-8CC8-AEB8CFDFCBE8}"/>
              </a:ext>
            </a:extLst>
          </p:cNvPr>
          <p:cNvSpPr>
            <a:spLocks noChangeShapeType="1"/>
          </p:cNvSpPr>
          <p:nvPr/>
        </p:nvSpPr>
        <p:spPr bwMode="auto">
          <a:xfrm>
            <a:off x="7224713" y="2933700"/>
            <a:ext cx="676275" cy="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3596" name="Line 88">
            <a:extLst>
              <a:ext uri="{FF2B5EF4-FFF2-40B4-BE49-F238E27FC236}">
                <a16:creationId xmlns="" xmlns:a16="http://schemas.microsoft.com/office/drawing/2014/main" id="{06DCE6E8-B494-4884-B33C-8510C267FE02}"/>
              </a:ext>
            </a:extLst>
          </p:cNvPr>
          <p:cNvSpPr>
            <a:spLocks noChangeShapeType="1"/>
          </p:cNvSpPr>
          <p:nvPr/>
        </p:nvSpPr>
        <p:spPr bwMode="auto">
          <a:xfrm>
            <a:off x="7224713" y="2990850"/>
            <a:ext cx="676275" cy="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3597" name="Line 89">
            <a:extLst>
              <a:ext uri="{FF2B5EF4-FFF2-40B4-BE49-F238E27FC236}">
                <a16:creationId xmlns="" xmlns:a16="http://schemas.microsoft.com/office/drawing/2014/main" id="{083C9648-7A50-44AE-8509-A9B151706531}"/>
              </a:ext>
            </a:extLst>
          </p:cNvPr>
          <p:cNvSpPr>
            <a:spLocks noChangeShapeType="1"/>
          </p:cNvSpPr>
          <p:nvPr/>
        </p:nvSpPr>
        <p:spPr bwMode="auto">
          <a:xfrm>
            <a:off x="7224713" y="3049588"/>
            <a:ext cx="676275" cy="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3598" name="Line 90">
            <a:extLst>
              <a:ext uri="{FF2B5EF4-FFF2-40B4-BE49-F238E27FC236}">
                <a16:creationId xmlns="" xmlns:a16="http://schemas.microsoft.com/office/drawing/2014/main" id="{2719D106-10CB-4D82-8AD1-579629A4396E}"/>
              </a:ext>
            </a:extLst>
          </p:cNvPr>
          <p:cNvSpPr>
            <a:spLocks noChangeShapeType="1"/>
          </p:cNvSpPr>
          <p:nvPr/>
        </p:nvSpPr>
        <p:spPr bwMode="auto">
          <a:xfrm>
            <a:off x="7224713" y="3106738"/>
            <a:ext cx="676275" cy="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3599" name="Line 91">
            <a:extLst>
              <a:ext uri="{FF2B5EF4-FFF2-40B4-BE49-F238E27FC236}">
                <a16:creationId xmlns="" xmlns:a16="http://schemas.microsoft.com/office/drawing/2014/main" id="{C4DBCB09-BD22-42BF-9638-C802FE799DDC}"/>
              </a:ext>
            </a:extLst>
          </p:cNvPr>
          <p:cNvSpPr>
            <a:spLocks noChangeShapeType="1"/>
          </p:cNvSpPr>
          <p:nvPr/>
        </p:nvSpPr>
        <p:spPr bwMode="auto">
          <a:xfrm>
            <a:off x="7224713" y="3163888"/>
            <a:ext cx="676275" cy="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3600" name="Text Box 92">
            <a:extLst>
              <a:ext uri="{FF2B5EF4-FFF2-40B4-BE49-F238E27FC236}">
                <a16:creationId xmlns="" xmlns:a16="http://schemas.microsoft.com/office/drawing/2014/main" id="{FC869B8E-2900-4775-BC80-E37DAC1DCAA0}"/>
              </a:ext>
            </a:extLst>
          </p:cNvPr>
          <p:cNvSpPr txBox="1">
            <a:spLocks noChangeArrowheads="1"/>
          </p:cNvSpPr>
          <p:nvPr/>
        </p:nvSpPr>
        <p:spPr bwMode="auto">
          <a:xfrm>
            <a:off x="7194550" y="2484438"/>
            <a:ext cx="733425" cy="2746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Analysis</a:t>
            </a:r>
          </a:p>
        </p:txBody>
      </p:sp>
      <p:sp>
        <p:nvSpPr>
          <p:cNvPr id="23601" name="Rectangle 93">
            <a:extLst>
              <a:ext uri="{FF2B5EF4-FFF2-40B4-BE49-F238E27FC236}">
                <a16:creationId xmlns="" xmlns:a16="http://schemas.microsoft.com/office/drawing/2014/main" id="{2A2EA199-98CB-40AF-8434-77B62F008D3D}"/>
              </a:ext>
            </a:extLst>
          </p:cNvPr>
          <p:cNvSpPr>
            <a:spLocks noChangeArrowheads="1"/>
          </p:cNvSpPr>
          <p:nvPr/>
        </p:nvSpPr>
        <p:spPr bwMode="auto">
          <a:xfrm>
            <a:off x="7191375" y="3511550"/>
            <a:ext cx="742950" cy="635000"/>
          </a:xfrm>
          <a:prstGeom prst="rect">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3602" name="Rectangle 94">
            <a:extLst>
              <a:ext uri="{FF2B5EF4-FFF2-40B4-BE49-F238E27FC236}">
                <a16:creationId xmlns="" xmlns:a16="http://schemas.microsoft.com/office/drawing/2014/main" id="{850FEEB3-07A8-4CF1-8165-98950CAAE453}"/>
              </a:ext>
            </a:extLst>
          </p:cNvPr>
          <p:cNvSpPr>
            <a:spLocks noChangeArrowheads="1"/>
          </p:cNvSpPr>
          <p:nvPr/>
        </p:nvSpPr>
        <p:spPr bwMode="auto">
          <a:xfrm>
            <a:off x="7156450" y="4492625"/>
            <a:ext cx="811213" cy="577850"/>
          </a:xfrm>
          <a:prstGeom prst="rect">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3603" name="Text Box 95">
            <a:extLst>
              <a:ext uri="{FF2B5EF4-FFF2-40B4-BE49-F238E27FC236}">
                <a16:creationId xmlns="" xmlns:a16="http://schemas.microsoft.com/office/drawing/2014/main" id="{5E369C02-CE04-48DC-9667-ABF3EAA521A3}"/>
              </a:ext>
            </a:extLst>
          </p:cNvPr>
          <p:cNvSpPr txBox="1">
            <a:spLocks noChangeArrowheads="1"/>
          </p:cNvSpPr>
          <p:nvPr/>
        </p:nvSpPr>
        <p:spPr bwMode="auto">
          <a:xfrm>
            <a:off x="6934200" y="3303588"/>
            <a:ext cx="1303338" cy="2746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Query/Reporting</a:t>
            </a:r>
          </a:p>
        </p:txBody>
      </p:sp>
      <p:sp>
        <p:nvSpPr>
          <p:cNvPr id="23604" name="Text Box 96">
            <a:extLst>
              <a:ext uri="{FF2B5EF4-FFF2-40B4-BE49-F238E27FC236}">
                <a16:creationId xmlns="" xmlns:a16="http://schemas.microsoft.com/office/drawing/2014/main" id="{5F661537-38A9-4755-AAAD-514B11182ADA}"/>
              </a:ext>
            </a:extLst>
          </p:cNvPr>
          <p:cNvSpPr txBox="1">
            <a:spLocks noChangeArrowheads="1"/>
          </p:cNvSpPr>
          <p:nvPr/>
        </p:nvSpPr>
        <p:spPr bwMode="auto">
          <a:xfrm>
            <a:off x="7080250" y="4229100"/>
            <a:ext cx="1009650" cy="274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Data Mining</a:t>
            </a:r>
          </a:p>
        </p:txBody>
      </p:sp>
      <p:sp>
        <p:nvSpPr>
          <p:cNvPr id="23605" name="Rectangle 97">
            <a:extLst>
              <a:ext uri="{FF2B5EF4-FFF2-40B4-BE49-F238E27FC236}">
                <a16:creationId xmlns="" xmlns:a16="http://schemas.microsoft.com/office/drawing/2014/main" id="{B16A3F4E-4640-4830-8E66-C3E7B6158997}"/>
              </a:ext>
            </a:extLst>
          </p:cNvPr>
          <p:cNvSpPr>
            <a:spLocks noChangeArrowheads="1"/>
          </p:cNvSpPr>
          <p:nvPr/>
        </p:nvSpPr>
        <p:spPr bwMode="auto">
          <a:xfrm>
            <a:off x="7291388" y="3625850"/>
            <a:ext cx="68262" cy="520700"/>
          </a:xfrm>
          <a:prstGeom prst="rect">
            <a:avLst/>
          </a:prstGeom>
          <a:solidFill>
            <a:srgbClr val="EAEAEA"/>
          </a:solidFill>
          <a:ln w="9525">
            <a:solidFill>
              <a:schemeClr val="bg2"/>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3606" name="Rectangle 98">
            <a:extLst>
              <a:ext uri="{FF2B5EF4-FFF2-40B4-BE49-F238E27FC236}">
                <a16:creationId xmlns="" xmlns:a16="http://schemas.microsoft.com/office/drawing/2014/main" id="{411A3CCB-7A24-46F6-AC61-DBC9858394F6}"/>
              </a:ext>
            </a:extLst>
          </p:cNvPr>
          <p:cNvSpPr>
            <a:spLocks noChangeArrowheads="1"/>
          </p:cNvSpPr>
          <p:nvPr/>
        </p:nvSpPr>
        <p:spPr bwMode="auto">
          <a:xfrm>
            <a:off x="7494588" y="3684588"/>
            <a:ext cx="68262" cy="461962"/>
          </a:xfrm>
          <a:prstGeom prst="rect">
            <a:avLst/>
          </a:prstGeom>
          <a:solidFill>
            <a:srgbClr val="EAEAEA"/>
          </a:solidFill>
          <a:ln w="9525">
            <a:solidFill>
              <a:schemeClr val="bg2"/>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3607" name="Rectangle 99">
            <a:extLst>
              <a:ext uri="{FF2B5EF4-FFF2-40B4-BE49-F238E27FC236}">
                <a16:creationId xmlns="" xmlns:a16="http://schemas.microsoft.com/office/drawing/2014/main" id="{EF3E7FB6-C2AB-474F-8836-F9F33969BDB9}"/>
              </a:ext>
            </a:extLst>
          </p:cNvPr>
          <p:cNvSpPr>
            <a:spLocks noChangeArrowheads="1"/>
          </p:cNvSpPr>
          <p:nvPr/>
        </p:nvSpPr>
        <p:spPr bwMode="auto">
          <a:xfrm>
            <a:off x="7629525" y="3914775"/>
            <a:ext cx="134938" cy="231775"/>
          </a:xfrm>
          <a:prstGeom prst="rect">
            <a:avLst/>
          </a:prstGeom>
          <a:solidFill>
            <a:srgbClr val="EAEAEA"/>
          </a:solidFill>
          <a:ln w="9525">
            <a:solidFill>
              <a:schemeClr val="bg2"/>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3608" name="Rectangle 100">
            <a:extLst>
              <a:ext uri="{FF2B5EF4-FFF2-40B4-BE49-F238E27FC236}">
                <a16:creationId xmlns="" xmlns:a16="http://schemas.microsoft.com/office/drawing/2014/main" id="{D9AA7E26-7193-4797-B360-0B6EC3205048}"/>
              </a:ext>
            </a:extLst>
          </p:cNvPr>
          <p:cNvSpPr>
            <a:spLocks noChangeArrowheads="1"/>
          </p:cNvSpPr>
          <p:nvPr/>
        </p:nvSpPr>
        <p:spPr bwMode="auto">
          <a:xfrm>
            <a:off x="7832725" y="3741738"/>
            <a:ext cx="68263" cy="404812"/>
          </a:xfrm>
          <a:prstGeom prst="rect">
            <a:avLst/>
          </a:prstGeom>
          <a:solidFill>
            <a:srgbClr val="EAEAEA"/>
          </a:solidFill>
          <a:ln w="9525">
            <a:solidFill>
              <a:schemeClr val="bg2"/>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3609" name="Line 101">
            <a:extLst>
              <a:ext uri="{FF2B5EF4-FFF2-40B4-BE49-F238E27FC236}">
                <a16:creationId xmlns="" xmlns:a16="http://schemas.microsoft.com/office/drawing/2014/main" id="{BA587BEC-A787-46E1-92A7-BEDD6D1407B9}"/>
              </a:ext>
            </a:extLst>
          </p:cNvPr>
          <p:cNvSpPr>
            <a:spLocks noChangeShapeType="1"/>
          </p:cNvSpPr>
          <p:nvPr/>
        </p:nvSpPr>
        <p:spPr bwMode="auto">
          <a:xfrm>
            <a:off x="7291388" y="4608513"/>
            <a:ext cx="541337"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3610" name="Line 102">
            <a:extLst>
              <a:ext uri="{FF2B5EF4-FFF2-40B4-BE49-F238E27FC236}">
                <a16:creationId xmlns="" xmlns:a16="http://schemas.microsoft.com/office/drawing/2014/main" id="{D6BFF351-864F-469D-A26B-0C098E338C69}"/>
              </a:ext>
            </a:extLst>
          </p:cNvPr>
          <p:cNvSpPr>
            <a:spLocks noChangeShapeType="1"/>
          </p:cNvSpPr>
          <p:nvPr/>
        </p:nvSpPr>
        <p:spPr bwMode="auto">
          <a:xfrm>
            <a:off x="7291388" y="4724400"/>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3611" name="Line 103">
            <a:extLst>
              <a:ext uri="{FF2B5EF4-FFF2-40B4-BE49-F238E27FC236}">
                <a16:creationId xmlns="" xmlns:a16="http://schemas.microsoft.com/office/drawing/2014/main" id="{053B62B5-3CDB-4CE4-9A02-B108A3E9EF44}"/>
              </a:ext>
            </a:extLst>
          </p:cNvPr>
          <p:cNvSpPr>
            <a:spLocks noChangeShapeType="1"/>
          </p:cNvSpPr>
          <p:nvPr/>
        </p:nvSpPr>
        <p:spPr bwMode="auto">
          <a:xfrm>
            <a:off x="7629525" y="4724400"/>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3612" name="Line 104">
            <a:extLst>
              <a:ext uri="{FF2B5EF4-FFF2-40B4-BE49-F238E27FC236}">
                <a16:creationId xmlns="" xmlns:a16="http://schemas.microsoft.com/office/drawing/2014/main" id="{B27F354B-B067-4B24-A057-DADA527CB21C}"/>
              </a:ext>
            </a:extLst>
          </p:cNvPr>
          <p:cNvSpPr>
            <a:spLocks noChangeShapeType="1"/>
          </p:cNvSpPr>
          <p:nvPr/>
        </p:nvSpPr>
        <p:spPr bwMode="auto">
          <a:xfrm>
            <a:off x="7291388" y="4781550"/>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3613" name="Line 105">
            <a:extLst>
              <a:ext uri="{FF2B5EF4-FFF2-40B4-BE49-F238E27FC236}">
                <a16:creationId xmlns="" xmlns:a16="http://schemas.microsoft.com/office/drawing/2014/main" id="{B5AA301B-BD49-4150-A4D2-461862DFC04A}"/>
              </a:ext>
            </a:extLst>
          </p:cNvPr>
          <p:cNvSpPr>
            <a:spLocks noChangeShapeType="1"/>
          </p:cNvSpPr>
          <p:nvPr/>
        </p:nvSpPr>
        <p:spPr bwMode="auto">
          <a:xfrm>
            <a:off x="7291388" y="4840288"/>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3614" name="Line 106">
            <a:extLst>
              <a:ext uri="{FF2B5EF4-FFF2-40B4-BE49-F238E27FC236}">
                <a16:creationId xmlns="" xmlns:a16="http://schemas.microsoft.com/office/drawing/2014/main" id="{DB08AFD3-BDC6-4996-8006-56A8C669EA49}"/>
              </a:ext>
            </a:extLst>
          </p:cNvPr>
          <p:cNvSpPr>
            <a:spLocks noChangeShapeType="1"/>
          </p:cNvSpPr>
          <p:nvPr/>
        </p:nvSpPr>
        <p:spPr bwMode="auto">
          <a:xfrm>
            <a:off x="7291388" y="4897438"/>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3615" name="Line 107">
            <a:extLst>
              <a:ext uri="{FF2B5EF4-FFF2-40B4-BE49-F238E27FC236}">
                <a16:creationId xmlns="" xmlns:a16="http://schemas.microsoft.com/office/drawing/2014/main" id="{ED924111-8888-4072-8E9B-4E7D83FD2FD9}"/>
              </a:ext>
            </a:extLst>
          </p:cNvPr>
          <p:cNvSpPr>
            <a:spLocks noChangeShapeType="1"/>
          </p:cNvSpPr>
          <p:nvPr/>
        </p:nvSpPr>
        <p:spPr bwMode="auto">
          <a:xfrm>
            <a:off x="7291388" y="4954588"/>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3616" name="Line 108">
            <a:extLst>
              <a:ext uri="{FF2B5EF4-FFF2-40B4-BE49-F238E27FC236}">
                <a16:creationId xmlns="" xmlns:a16="http://schemas.microsoft.com/office/drawing/2014/main" id="{0955993B-C9C7-4A36-8E83-78AA51CE3B27}"/>
              </a:ext>
            </a:extLst>
          </p:cNvPr>
          <p:cNvSpPr>
            <a:spLocks noChangeShapeType="1"/>
          </p:cNvSpPr>
          <p:nvPr/>
        </p:nvSpPr>
        <p:spPr bwMode="auto">
          <a:xfrm>
            <a:off x="7629525" y="4781550"/>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3617" name="Line 109">
            <a:extLst>
              <a:ext uri="{FF2B5EF4-FFF2-40B4-BE49-F238E27FC236}">
                <a16:creationId xmlns="" xmlns:a16="http://schemas.microsoft.com/office/drawing/2014/main" id="{9B8827D6-2CBE-4386-9B3E-C074FD2C63B3}"/>
              </a:ext>
            </a:extLst>
          </p:cNvPr>
          <p:cNvSpPr>
            <a:spLocks noChangeShapeType="1"/>
          </p:cNvSpPr>
          <p:nvPr/>
        </p:nvSpPr>
        <p:spPr bwMode="auto">
          <a:xfrm>
            <a:off x="7629525" y="4840288"/>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3618" name="Line 110">
            <a:extLst>
              <a:ext uri="{FF2B5EF4-FFF2-40B4-BE49-F238E27FC236}">
                <a16:creationId xmlns="" xmlns:a16="http://schemas.microsoft.com/office/drawing/2014/main" id="{38622AE3-3E88-4834-B7CB-4B81BC51ACDC}"/>
              </a:ext>
            </a:extLst>
          </p:cNvPr>
          <p:cNvSpPr>
            <a:spLocks noChangeShapeType="1"/>
          </p:cNvSpPr>
          <p:nvPr/>
        </p:nvSpPr>
        <p:spPr bwMode="auto">
          <a:xfrm>
            <a:off x="7629525" y="4897438"/>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3619" name="Line 111">
            <a:extLst>
              <a:ext uri="{FF2B5EF4-FFF2-40B4-BE49-F238E27FC236}">
                <a16:creationId xmlns="" xmlns:a16="http://schemas.microsoft.com/office/drawing/2014/main" id="{9CFF5D2A-641B-434F-BDF1-EE43173C402D}"/>
              </a:ext>
            </a:extLst>
          </p:cNvPr>
          <p:cNvSpPr>
            <a:spLocks noChangeShapeType="1"/>
          </p:cNvSpPr>
          <p:nvPr/>
        </p:nvSpPr>
        <p:spPr bwMode="auto">
          <a:xfrm>
            <a:off x="7629525" y="4954588"/>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3620" name="Line 112">
            <a:extLst>
              <a:ext uri="{FF2B5EF4-FFF2-40B4-BE49-F238E27FC236}">
                <a16:creationId xmlns="" xmlns:a16="http://schemas.microsoft.com/office/drawing/2014/main" id="{D5952016-B6F2-4DAC-ABC3-6BD599ECD9B7}"/>
              </a:ext>
            </a:extLst>
          </p:cNvPr>
          <p:cNvSpPr>
            <a:spLocks noChangeShapeType="1"/>
          </p:cNvSpPr>
          <p:nvPr/>
        </p:nvSpPr>
        <p:spPr bwMode="auto">
          <a:xfrm flipV="1">
            <a:off x="4452938" y="2990850"/>
            <a:ext cx="473075" cy="288925"/>
          </a:xfrm>
          <a:prstGeom prst="line">
            <a:avLst/>
          </a:prstGeom>
          <a:noFill/>
          <a:ln w="9525">
            <a:solidFill>
              <a:schemeClr val="bg2"/>
            </a:solidFill>
            <a:round/>
            <a:headEnd type="triangle" w="med" len="me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23621" name="Line 113">
            <a:extLst>
              <a:ext uri="{FF2B5EF4-FFF2-40B4-BE49-F238E27FC236}">
                <a16:creationId xmlns="" xmlns:a16="http://schemas.microsoft.com/office/drawing/2014/main" id="{D7DBDFFF-2F64-4F2F-B759-356B8248CD9A}"/>
              </a:ext>
            </a:extLst>
          </p:cNvPr>
          <p:cNvSpPr>
            <a:spLocks noChangeShapeType="1"/>
          </p:cNvSpPr>
          <p:nvPr/>
        </p:nvSpPr>
        <p:spPr bwMode="auto">
          <a:xfrm flipV="1">
            <a:off x="4724400" y="4435475"/>
            <a:ext cx="404813" cy="115888"/>
          </a:xfrm>
          <a:prstGeom prst="line">
            <a:avLst/>
          </a:prstGeom>
          <a:noFill/>
          <a:ln w="9525">
            <a:solidFill>
              <a:schemeClr val="bg2"/>
            </a:solidFill>
            <a:round/>
            <a:headEnd type="triangle" w="med" len="me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23622" name="AutoShape 114">
            <a:extLst>
              <a:ext uri="{FF2B5EF4-FFF2-40B4-BE49-F238E27FC236}">
                <a16:creationId xmlns="" xmlns:a16="http://schemas.microsoft.com/office/drawing/2014/main" id="{AA982A8A-8BCA-4D79-940C-BE5ECA4FC779}"/>
              </a:ext>
            </a:extLst>
          </p:cNvPr>
          <p:cNvSpPr>
            <a:spLocks noChangeArrowheads="1"/>
          </p:cNvSpPr>
          <p:nvPr/>
        </p:nvSpPr>
        <p:spPr bwMode="auto">
          <a:xfrm>
            <a:off x="6143625" y="2760663"/>
            <a:ext cx="674688" cy="461962"/>
          </a:xfrm>
          <a:prstGeom prst="rightArrow">
            <a:avLst>
              <a:gd name="adj1" fmla="val 50000"/>
              <a:gd name="adj2" fmla="val 55444"/>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i="1">
                <a:solidFill>
                  <a:srgbClr val="00001E"/>
                </a:solidFill>
                <a:latin typeface="Times New Roman" panose="02020603050405020304" pitchFamily="18" charset="0"/>
              </a:rPr>
              <a:t>serve</a:t>
            </a:r>
            <a:endParaRPr lang="en-US" altLang="en-US" sz="1200" b="1">
              <a:solidFill>
                <a:srgbClr val="00001E"/>
              </a:solidFill>
              <a:latin typeface="Times New Roman" panose="02020603050405020304" pitchFamily="18" charset="0"/>
            </a:endParaRPr>
          </a:p>
        </p:txBody>
      </p:sp>
      <p:sp>
        <p:nvSpPr>
          <p:cNvPr id="23623" name="AutoShape 115">
            <a:extLst>
              <a:ext uri="{FF2B5EF4-FFF2-40B4-BE49-F238E27FC236}">
                <a16:creationId xmlns="" xmlns:a16="http://schemas.microsoft.com/office/drawing/2014/main" id="{17399A66-2428-46F3-9EBA-788D1D217D33}"/>
              </a:ext>
            </a:extLst>
          </p:cNvPr>
          <p:cNvSpPr>
            <a:spLocks noChangeArrowheads="1"/>
          </p:cNvSpPr>
          <p:nvPr/>
        </p:nvSpPr>
        <p:spPr bwMode="auto">
          <a:xfrm>
            <a:off x="6143625" y="4203700"/>
            <a:ext cx="674688" cy="461963"/>
          </a:xfrm>
          <a:prstGeom prst="rightArrow">
            <a:avLst>
              <a:gd name="adj1" fmla="val 50000"/>
              <a:gd name="adj2" fmla="val 55444"/>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i="1">
                <a:solidFill>
                  <a:srgbClr val="00001E"/>
                </a:solidFill>
                <a:latin typeface="Times New Roman" panose="02020603050405020304" pitchFamily="18" charset="0"/>
              </a:rPr>
              <a:t>serve</a:t>
            </a:r>
            <a:endParaRPr lang="en-US" altLang="en-US" sz="1200" b="1">
              <a:solidFill>
                <a:srgbClr val="00001E"/>
              </a:solidFill>
              <a:latin typeface="Times New Roman" panose="02020603050405020304" pitchFamily="18" charset="0"/>
            </a:endParaRPr>
          </a:p>
        </p:txBody>
      </p:sp>
      <p:grpSp>
        <p:nvGrpSpPr>
          <p:cNvPr id="16" name="Group 117">
            <a:extLst>
              <a:ext uri="{FF2B5EF4-FFF2-40B4-BE49-F238E27FC236}">
                <a16:creationId xmlns="" xmlns:a16="http://schemas.microsoft.com/office/drawing/2014/main" id="{27D835F5-E4ED-41F5-B567-2CAAD9406BB6}"/>
              </a:ext>
            </a:extLst>
          </p:cNvPr>
          <p:cNvGrpSpPr>
            <a:grpSpLocks/>
          </p:cNvGrpSpPr>
          <p:nvPr/>
        </p:nvGrpSpPr>
        <p:grpSpPr bwMode="auto">
          <a:xfrm>
            <a:off x="1905000" y="4684713"/>
            <a:ext cx="533400" cy="344487"/>
            <a:chOff x="4467" y="3038"/>
            <a:chExt cx="379" cy="382"/>
          </a:xfrm>
        </p:grpSpPr>
        <p:sp>
          <p:nvSpPr>
            <p:cNvPr id="23627" name="Rectangle 118">
              <a:extLst>
                <a:ext uri="{FF2B5EF4-FFF2-40B4-BE49-F238E27FC236}">
                  <a16:creationId xmlns="" xmlns:a16="http://schemas.microsoft.com/office/drawing/2014/main" id="{F7DB435F-3851-4A79-B1B5-26A8512729C9}"/>
                </a:ext>
              </a:extLst>
            </p:cNvPr>
            <p:cNvSpPr>
              <a:spLocks noChangeArrowheads="1"/>
            </p:cNvSpPr>
            <p:nvPr/>
          </p:nvSpPr>
          <p:spPr bwMode="auto">
            <a:xfrm>
              <a:off x="4467" y="3094"/>
              <a:ext cx="376" cy="274"/>
            </a:xfrm>
            <a:prstGeom prst="rect">
              <a:avLst/>
            </a:prstGeom>
            <a:solidFill>
              <a:srgbClr val="339966"/>
            </a:solidFill>
            <a:ln w="9525">
              <a:solidFill>
                <a:srgbClr val="339966"/>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17" name="Group 119">
              <a:extLst>
                <a:ext uri="{FF2B5EF4-FFF2-40B4-BE49-F238E27FC236}">
                  <a16:creationId xmlns="" xmlns:a16="http://schemas.microsoft.com/office/drawing/2014/main" id="{5D872C61-AED4-44F9-8902-4137B0348211}"/>
                </a:ext>
              </a:extLst>
            </p:cNvPr>
            <p:cNvGrpSpPr>
              <a:grpSpLocks/>
            </p:cNvGrpSpPr>
            <p:nvPr/>
          </p:nvGrpSpPr>
          <p:grpSpPr bwMode="auto">
            <a:xfrm>
              <a:off x="4468" y="3038"/>
              <a:ext cx="378" cy="382"/>
              <a:chOff x="4468" y="3038"/>
              <a:chExt cx="378" cy="382"/>
            </a:xfrm>
          </p:grpSpPr>
          <p:sp>
            <p:nvSpPr>
              <p:cNvPr id="23629" name="Line 120">
                <a:extLst>
                  <a:ext uri="{FF2B5EF4-FFF2-40B4-BE49-F238E27FC236}">
                    <a16:creationId xmlns="" xmlns:a16="http://schemas.microsoft.com/office/drawing/2014/main" id="{84266E5B-E472-41E9-B908-0003C93D158F}"/>
                  </a:ext>
                </a:extLst>
              </p:cNvPr>
              <p:cNvSpPr>
                <a:spLocks noChangeShapeType="1"/>
              </p:cNvSpPr>
              <p:nvPr/>
            </p:nvSpPr>
            <p:spPr bwMode="auto">
              <a:xfrm>
                <a:off x="4468" y="3087"/>
                <a:ext cx="0" cy="292"/>
              </a:xfrm>
              <a:prstGeom prst="line">
                <a:avLst/>
              </a:prstGeom>
              <a:noFill/>
              <a:ln w="9525">
                <a:solidFill>
                  <a:srgbClr val="339966"/>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3630" name="Line 121">
                <a:extLst>
                  <a:ext uri="{FF2B5EF4-FFF2-40B4-BE49-F238E27FC236}">
                    <a16:creationId xmlns="" xmlns:a16="http://schemas.microsoft.com/office/drawing/2014/main" id="{9FFAA7C2-E440-4476-8E97-687926808303}"/>
                  </a:ext>
                </a:extLst>
              </p:cNvPr>
              <p:cNvSpPr>
                <a:spLocks noChangeShapeType="1"/>
              </p:cNvSpPr>
              <p:nvPr/>
            </p:nvSpPr>
            <p:spPr bwMode="auto">
              <a:xfrm>
                <a:off x="4846" y="3089"/>
                <a:ext cx="0" cy="292"/>
              </a:xfrm>
              <a:prstGeom prst="line">
                <a:avLst/>
              </a:prstGeom>
              <a:noFill/>
              <a:ln w="9525">
                <a:solidFill>
                  <a:srgbClr val="339966"/>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3631" name="Oval 122">
                <a:extLst>
                  <a:ext uri="{FF2B5EF4-FFF2-40B4-BE49-F238E27FC236}">
                    <a16:creationId xmlns="" xmlns:a16="http://schemas.microsoft.com/office/drawing/2014/main" id="{4956F3B9-5483-45B2-B21C-0EF64DA0E843}"/>
                  </a:ext>
                </a:extLst>
              </p:cNvPr>
              <p:cNvSpPr>
                <a:spLocks noChangeArrowheads="1"/>
              </p:cNvSpPr>
              <p:nvPr/>
            </p:nvSpPr>
            <p:spPr bwMode="auto">
              <a:xfrm>
                <a:off x="4469" y="3038"/>
                <a:ext cx="376" cy="90"/>
              </a:xfrm>
              <a:prstGeom prst="ellipse">
                <a:avLst/>
              </a:prstGeom>
              <a:gradFill rotWithShape="0">
                <a:gsLst>
                  <a:gs pos="0">
                    <a:srgbClr val="7C7C7C"/>
                  </a:gs>
                  <a:gs pos="50000">
                    <a:srgbClr val="DDDDDD"/>
                  </a:gs>
                  <a:gs pos="100000">
                    <a:srgbClr val="7C7C7C"/>
                  </a:gs>
                </a:gsLst>
                <a:lin ang="0" scaled="1"/>
              </a:gradFill>
              <a:ln w="9525">
                <a:solidFill>
                  <a:srgbClr val="339966"/>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3632" name="Oval 123">
                <a:extLst>
                  <a:ext uri="{FF2B5EF4-FFF2-40B4-BE49-F238E27FC236}">
                    <a16:creationId xmlns="" xmlns:a16="http://schemas.microsoft.com/office/drawing/2014/main" id="{88CE5559-7933-4221-AFDD-84BB11030FA3}"/>
                  </a:ext>
                </a:extLst>
              </p:cNvPr>
              <p:cNvSpPr>
                <a:spLocks noChangeArrowheads="1"/>
              </p:cNvSpPr>
              <p:nvPr/>
            </p:nvSpPr>
            <p:spPr bwMode="auto">
              <a:xfrm>
                <a:off x="4469" y="3331"/>
                <a:ext cx="376" cy="89"/>
              </a:xfrm>
              <a:prstGeom prst="ellipse">
                <a:avLst/>
              </a:prstGeom>
              <a:solidFill>
                <a:srgbClr val="99CC00"/>
              </a:solidFill>
              <a:ln w="9525">
                <a:solidFill>
                  <a:srgbClr val="339966"/>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sp>
        <p:nvSpPr>
          <p:cNvPr id="23625" name="Text Box 124">
            <a:extLst>
              <a:ext uri="{FF2B5EF4-FFF2-40B4-BE49-F238E27FC236}">
                <a16:creationId xmlns="" xmlns:a16="http://schemas.microsoft.com/office/drawing/2014/main" id="{C912F97B-AA3E-488B-9B35-663B9C9E1A53}"/>
              </a:ext>
            </a:extLst>
          </p:cNvPr>
          <p:cNvSpPr txBox="1">
            <a:spLocks noChangeArrowheads="1"/>
          </p:cNvSpPr>
          <p:nvPr/>
        </p:nvSpPr>
        <p:spPr bwMode="auto">
          <a:xfrm>
            <a:off x="1681163" y="5038725"/>
            <a:ext cx="1001712" cy="274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Staging area</a:t>
            </a:r>
          </a:p>
        </p:txBody>
      </p:sp>
      <p:sp>
        <p:nvSpPr>
          <p:cNvPr id="23626" name="AutoShape 125">
            <a:extLst>
              <a:ext uri="{FF2B5EF4-FFF2-40B4-BE49-F238E27FC236}">
                <a16:creationId xmlns="" xmlns:a16="http://schemas.microsoft.com/office/drawing/2014/main" id="{43251459-980C-4CEF-AA1A-F34878E83048}"/>
              </a:ext>
            </a:extLst>
          </p:cNvPr>
          <p:cNvSpPr>
            <a:spLocks noChangeArrowheads="1"/>
          </p:cNvSpPr>
          <p:nvPr/>
        </p:nvSpPr>
        <p:spPr bwMode="auto">
          <a:xfrm>
            <a:off x="2070100" y="4152900"/>
            <a:ext cx="182563" cy="457200"/>
          </a:xfrm>
          <a:prstGeom prst="downArrow">
            <a:avLst>
              <a:gd name="adj1" fmla="val 50000"/>
              <a:gd name="adj2" fmla="val 62609"/>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a:extLst>
              <a:ext uri="{FF2B5EF4-FFF2-40B4-BE49-F238E27FC236}">
                <a16:creationId xmlns="" xmlns:a16="http://schemas.microsoft.com/office/drawing/2014/main" id="{5F0D23C0-C4D1-4E93-894E-4CC526218A3B}"/>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50B99998-2083-4E5B-AA51-86FF7D3D76D9}" type="slidenum">
              <a:rPr lang="sv-SE" altLang="en-US">
                <a:latin typeface="Garamond" panose="02020404030301010803" pitchFamily="18" charset="0"/>
              </a:rPr>
              <a:pPr eaLnBrk="1" hangingPunct="1"/>
              <a:t>22</a:t>
            </a:fld>
            <a:endParaRPr lang="sv-SE" altLang="en-US">
              <a:latin typeface="Garamond" panose="02020404030301010803" pitchFamily="18" charset="0"/>
            </a:endParaRPr>
          </a:p>
        </p:txBody>
      </p:sp>
      <p:sp>
        <p:nvSpPr>
          <p:cNvPr id="24579" name="Rectangle 2">
            <a:extLst>
              <a:ext uri="{FF2B5EF4-FFF2-40B4-BE49-F238E27FC236}">
                <a16:creationId xmlns="" xmlns:a16="http://schemas.microsoft.com/office/drawing/2014/main" id="{DC42862F-2C99-47D1-9101-CF8252E633A5}"/>
              </a:ext>
            </a:extLst>
          </p:cNvPr>
          <p:cNvSpPr>
            <a:spLocks noGrp="1" noChangeArrowheads="1"/>
          </p:cNvSpPr>
          <p:nvPr>
            <p:ph type="title"/>
          </p:nvPr>
        </p:nvSpPr>
        <p:spPr>
          <a:xfrm>
            <a:off x="685800" y="457200"/>
            <a:ext cx="7772400" cy="1143000"/>
          </a:xfrm>
        </p:spPr>
        <p:txBody>
          <a:bodyPr/>
          <a:lstStyle/>
          <a:p>
            <a:pPr eaLnBrk="1" hangingPunct="1"/>
            <a:r>
              <a:rPr lang="en-US" altLang="en-US" sz="3400">
                <a:ea typeface="ＭＳ Ｐゴシック" panose="020B0600070205080204" pitchFamily="34" charset="-128"/>
              </a:rPr>
              <a:t>Components</a:t>
            </a:r>
          </a:p>
        </p:txBody>
      </p:sp>
      <p:sp>
        <p:nvSpPr>
          <p:cNvPr id="24580" name="Rectangle 7">
            <a:extLst>
              <a:ext uri="{FF2B5EF4-FFF2-40B4-BE49-F238E27FC236}">
                <a16:creationId xmlns="" xmlns:a16="http://schemas.microsoft.com/office/drawing/2014/main" id="{152F9CB1-A64A-4D8A-80B9-7393A5C64928}"/>
              </a:ext>
            </a:extLst>
          </p:cNvPr>
          <p:cNvSpPr>
            <a:spLocks noGrp="1" noChangeArrowheads="1"/>
          </p:cNvSpPr>
          <p:nvPr>
            <p:ph type="body" idx="1"/>
          </p:nvPr>
        </p:nvSpPr>
        <p:spPr>
          <a:xfrm>
            <a:off x="685800" y="1524000"/>
            <a:ext cx="7772400" cy="4572000"/>
          </a:xfrm>
        </p:spPr>
        <p:txBody>
          <a:bodyPr/>
          <a:lstStyle/>
          <a:p>
            <a:pPr marL="685800" indent="-685800" eaLnBrk="1" hangingPunct="1"/>
            <a:r>
              <a:rPr lang="en-US" altLang="en-US">
                <a:ea typeface="ＭＳ Ｐゴシック" panose="020B0600070205080204" pitchFamily="34" charset="-128"/>
              </a:rPr>
              <a:t>Major components</a:t>
            </a:r>
          </a:p>
          <a:p>
            <a:pPr marL="1066800" lvl="1" indent="-609600" eaLnBrk="1" hangingPunct="1"/>
            <a:r>
              <a:rPr lang="en-US" altLang="en-US">
                <a:ea typeface="Arial" panose="020B0604020202020204" pitchFamily="34" charset="0"/>
              </a:rPr>
              <a:t>Source data component</a:t>
            </a:r>
          </a:p>
          <a:p>
            <a:pPr marL="1066800" lvl="1" indent="-609600" eaLnBrk="1" hangingPunct="1"/>
            <a:r>
              <a:rPr lang="en-US" altLang="en-US">
                <a:ea typeface="Arial" panose="020B0604020202020204" pitchFamily="34" charset="0"/>
              </a:rPr>
              <a:t>Data staging component</a:t>
            </a:r>
          </a:p>
          <a:p>
            <a:pPr marL="1066800" lvl="1" indent="-609600" eaLnBrk="1" hangingPunct="1"/>
            <a:r>
              <a:rPr lang="en-US" altLang="en-US">
                <a:ea typeface="Arial" panose="020B0604020202020204" pitchFamily="34" charset="0"/>
              </a:rPr>
              <a:t>Data storage component</a:t>
            </a:r>
          </a:p>
          <a:p>
            <a:pPr marL="1066800" lvl="1" indent="-609600" eaLnBrk="1" hangingPunct="1"/>
            <a:r>
              <a:rPr lang="en-US" altLang="en-US">
                <a:ea typeface="Arial" panose="020B0604020202020204" pitchFamily="34" charset="0"/>
              </a:rPr>
              <a:t>Information delivery component</a:t>
            </a:r>
          </a:p>
          <a:p>
            <a:pPr marL="1066800" lvl="1" indent="-609600" eaLnBrk="1" hangingPunct="1"/>
            <a:r>
              <a:rPr lang="en-US" altLang="en-US">
                <a:ea typeface="Arial" panose="020B0604020202020204" pitchFamily="34" charset="0"/>
              </a:rPr>
              <a:t>Metadata component</a:t>
            </a:r>
          </a:p>
          <a:p>
            <a:pPr marL="1066800" lvl="1" indent="-609600" eaLnBrk="1" hangingPunct="1"/>
            <a:r>
              <a:rPr lang="en-US" altLang="en-US">
                <a:ea typeface="Arial" panose="020B0604020202020204" pitchFamily="34" charset="0"/>
              </a:rPr>
              <a:t>Management and control component</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5">
            <a:extLst>
              <a:ext uri="{FF2B5EF4-FFF2-40B4-BE49-F238E27FC236}">
                <a16:creationId xmlns="" xmlns:a16="http://schemas.microsoft.com/office/drawing/2014/main" id="{137731FF-C157-49CA-9501-7D4695CACDEA}"/>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47562800-7754-4080-9FAF-1304423D076E}" type="slidenum">
              <a:rPr lang="sv-SE" altLang="en-US">
                <a:latin typeface="Garamond" panose="02020404030301010803" pitchFamily="18" charset="0"/>
              </a:rPr>
              <a:pPr eaLnBrk="1" hangingPunct="1"/>
              <a:t>23</a:t>
            </a:fld>
            <a:endParaRPr lang="sv-SE" altLang="en-US">
              <a:latin typeface="Garamond" panose="02020404030301010803" pitchFamily="18" charset="0"/>
            </a:endParaRPr>
          </a:p>
        </p:txBody>
      </p:sp>
      <p:sp>
        <p:nvSpPr>
          <p:cNvPr id="25603" name="Rectangle 2">
            <a:extLst>
              <a:ext uri="{FF2B5EF4-FFF2-40B4-BE49-F238E27FC236}">
                <a16:creationId xmlns="" xmlns:a16="http://schemas.microsoft.com/office/drawing/2014/main" id="{B99FEAA3-08CE-4AB6-B65C-D93C1CF334DD}"/>
              </a:ext>
            </a:extLst>
          </p:cNvPr>
          <p:cNvSpPr>
            <a:spLocks noGrp="1" noChangeArrowheads="1"/>
          </p:cNvSpPr>
          <p:nvPr>
            <p:ph type="title"/>
          </p:nvPr>
        </p:nvSpPr>
        <p:spPr>
          <a:xfrm>
            <a:off x="685800" y="152400"/>
            <a:ext cx="7772400" cy="1143000"/>
          </a:xfrm>
        </p:spPr>
        <p:txBody>
          <a:bodyPr/>
          <a:lstStyle/>
          <a:p>
            <a:pPr eaLnBrk="1" hangingPunct="1"/>
            <a:r>
              <a:rPr lang="en-US" altLang="en-US" sz="3400">
                <a:ea typeface="ＭＳ Ｐゴシック" panose="020B0600070205080204" pitchFamily="34" charset="-128"/>
              </a:rPr>
              <a:t>1. Source Data Component</a:t>
            </a:r>
          </a:p>
        </p:txBody>
      </p:sp>
      <p:sp>
        <p:nvSpPr>
          <p:cNvPr id="25604" name="Rectangle 6">
            <a:extLst>
              <a:ext uri="{FF2B5EF4-FFF2-40B4-BE49-F238E27FC236}">
                <a16:creationId xmlns="" xmlns:a16="http://schemas.microsoft.com/office/drawing/2014/main" id="{F59DC2F3-BA00-432A-9FC5-0CEFA2A055DF}"/>
              </a:ext>
            </a:extLst>
          </p:cNvPr>
          <p:cNvSpPr>
            <a:spLocks noGrp="1" noChangeArrowheads="1"/>
          </p:cNvSpPr>
          <p:nvPr>
            <p:ph type="body" idx="1"/>
          </p:nvPr>
        </p:nvSpPr>
        <p:spPr>
          <a:xfrm>
            <a:off x="914400" y="762000"/>
            <a:ext cx="7467600" cy="5105400"/>
          </a:xfrm>
        </p:spPr>
        <p:txBody>
          <a:bodyPr/>
          <a:lstStyle/>
          <a:p>
            <a:pPr eaLnBrk="1" hangingPunct="1">
              <a:lnSpc>
                <a:spcPct val="80000"/>
              </a:lnSpc>
            </a:pPr>
            <a:r>
              <a:rPr lang="en-US" altLang="en-US" sz="2200">
                <a:ea typeface="ＭＳ Ｐゴシック" panose="020B0600070205080204" pitchFamily="34" charset="-128"/>
              </a:rPr>
              <a:t>Source data can be grouped into 4 components</a:t>
            </a:r>
          </a:p>
          <a:p>
            <a:pPr lvl="1" eaLnBrk="1" hangingPunct="1">
              <a:lnSpc>
                <a:spcPct val="80000"/>
              </a:lnSpc>
            </a:pPr>
            <a:r>
              <a:rPr lang="en-US" altLang="en-US" sz="1900">
                <a:ea typeface="Arial" panose="020B0604020202020204" pitchFamily="34" charset="0"/>
              </a:rPr>
              <a:t>Production data</a:t>
            </a:r>
          </a:p>
          <a:p>
            <a:pPr lvl="2" eaLnBrk="1" hangingPunct="1">
              <a:lnSpc>
                <a:spcPct val="80000"/>
              </a:lnSpc>
            </a:pPr>
            <a:r>
              <a:rPr lang="en-US" altLang="en-US" sz="1700">
                <a:ea typeface="Arial" panose="020B0604020202020204" pitchFamily="34" charset="0"/>
              </a:rPr>
              <a:t>Comes from operational systems of enterprise</a:t>
            </a:r>
          </a:p>
          <a:p>
            <a:pPr lvl="2" eaLnBrk="1" hangingPunct="1">
              <a:lnSpc>
                <a:spcPct val="80000"/>
              </a:lnSpc>
            </a:pPr>
            <a:r>
              <a:rPr lang="en-US" altLang="en-US" sz="1700">
                <a:ea typeface="Arial" panose="020B0604020202020204" pitchFamily="34" charset="0"/>
              </a:rPr>
              <a:t>Some segments are selected from it depending on requirements</a:t>
            </a:r>
          </a:p>
          <a:p>
            <a:pPr lvl="2" eaLnBrk="1" hangingPunct="1">
              <a:lnSpc>
                <a:spcPct val="80000"/>
              </a:lnSpc>
            </a:pPr>
            <a:r>
              <a:rPr lang="en-US" altLang="en-US" sz="1700">
                <a:ea typeface="Arial" panose="020B0604020202020204" pitchFamily="34" charset="0"/>
              </a:rPr>
              <a:t>Narrow scope, e.g. order details</a:t>
            </a:r>
          </a:p>
          <a:p>
            <a:pPr lvl="1" eaLnBrk="1" hangingPunct="1">
              <a:lnSpc>
                <a:spcPct val="80000"/>
              </a:lnSpc>
            </a:pPr>
            <a:r>
              <a:rPr lang="en-US" altLang="en-US" sz="1900">
                <a:ea typeface="Arial" panose="020B0604020202020204" pitchFamily="34" charset="0"/>
              </a:rPr>
              <a:t>Internal data</a:t>
            </a:r>
          </a:p>
          <a:p>
            <a:pPr lvl="2" eaLnBrk="1" hangingPunct="1">
              <a:lnSpc>
                <a:spcPct val="80000"/>
              </a:lnSpc>
            </a:pPr>
            <a:r>
              <a:rPr lang="en-US" altLang="en-US" sz="1700">
                <a:ea typeface="Arial" panose="020B0604020202020204" pitchFamily="34" charset="0"/>
              </a:rPr>
              <a:t>Private datasheet, documents, customer profiles etc.</a:t>
            </a:r>
          </a:p>
          <a:p>
            <a:pPr lvl="2" eaLnBrk="1" hangingPunct="1">
              <a:lnSpc>
                <a:spcPct val="80000"/>
              </a:lnSpc>
            </a:pPr>
            <a:r>
              <a:rPr lang="en-US" altLang="en-US" sz="1700">
                <a:ea typeface="Arial" panose="020B0604020202020204" pitchFamily="34" charset="0"/>
              </a:rPr>
              <a:t>E.g. Customer profiles for specific offering</a:t>
            </a:r>
          </a:p>
          <a:p>
            <a:pPr lvl="2" eaLnBrk="1" hangingPunct="1">
              <a:lnSpc>
                <a:spcPct val="80000"/>
              </a:lnSpc>
            </a:pPr>
            <a:r>
              <a:rPr lang="en-US" altLang="en-US" sz="1700">
                <a:ea typeface="Arial" panose="020B0604020202020204" pitchFamily="34" charset="0"/>
              </a:rPr>
              <a:t>Special strategies to transform </a:t>
            </a:r>
            <a:r>
              <a:rPr lang="ja-JP" altLang="en-US" sz="1700">
                <a:ea typeface="Arial" panose="020B0604020202020204" pitchFamily="34" charset="0"/>
              </a:rPr>
              <a:t>‘</a:t>
            </a:r>
            <a:r>
              <a:rPr lang="en-US" altLang="ja-JP" sz="1700">
                <a:ea typeface="Arial" panose="020B0604020202020204" pitchFamily="34" charset="0"/>
              </a:rPr>
              <a:t>it</a:t>
            </a:r>
            <a:r>
              <a:rPr lang="ja-JP" altLang="en-US" sz="1700">
                <a:ea typeface="Arial" panose="020B0604020202020204" pitchFamily="34" charset="0"/>
              </a:rPr>
              <a:t>’</a:t>
            </a:r>
            <a:r>
              <a:rPr lang="en-US" altLang="ja-JP" sz="1700">
                <a:ea typeface="Arial" panose="020B0604020202020204" pitchFamily="34" charset="0"/>
              </a:rPr>
              <a:t> to DW (text document)</a:t>
            </a:r>
          </a:p>
          <a:p>
            <a:pPr lvl="1" eaLnBrk="1" hangingPunct="1">
              <a:lnSpc>
                <a:spcPct val="80000"/>
              </a:lnSpc>
            </a:pPr>
            <a:r>
              <a:rPr lang="en-US" altLang="en-US" sz="1900">
                <a:ea typeface="Arial" panose="020B0604020202020204" pitchFamily="34" charset="0"/>
              </a:rPr>
              <a:t>Archived data</a:t>
            </a:r>
          </a:p>
          <a:p>
            <a:pPr lvl="2" eaLnBrk="1" hangingPunct="1">
              <a:lnSpc>
                <a:spcPct val="80000"/>
              </a:lnSpc>
            </a:pPr>
            <a:r>
              <a:rPr lang="en-US" altLang="en-US" sz="1700">
                <a:ea typeface="Arial" panose="020B0604020202020204" pitchFamily="34" charset="0"/>
              </a:rPr>
              <a:t>Old data is archived in operational systems using maybe separate archival database that might be still online, maybe stored in flat files and ever more old data on tapes. </a:t>
            </a:r>
          </a:p>
          <a:p>
            <a:pPr lvl="2" eaLnBrk="1" hangingPunct="1">
              <a:lnSpc>
                <a:spcPct val="80000"/>
              </a:lnSpc>
            </a:pPr>
            <a:r>
              <a:rPr lang="en-US" altLang="en-US" sz="1700">
                <a:ea typeface="Arial" panose="020B0604020202020204" pitchFamily="34" charset="0"/>
              </a:rPr>
              <a:t>DW have snapshots of historical data</a:t>
            </a:r>
          </a:p>
          <a:p>
            <a:pPr lvl="1" eaLnBrk="1" hangingPunct="1">
              <a:lnSpc>
                <a:spcPct val="80000"/>
              </a:lnSpc>
            </a:pPr>
            <a:r>
              <a:rPr lang="en-US" altLang="en-US" sz="1900">
                <a:ea typeface="Arial" panose="020B0604020202020204" pitchFamily="34" charset="0"/>
              </a:rPr>
              <a:t>External data</a:t>
            </a:r>
          </a:p>
          <a:p>
            <a:pPr lvl="2" eaLnBrk="1" hangingPunct="1">
              <a:lnSpc>
                <a:spcPct val="80000"/>
              </a:lnSpc>
            </a:pPr>
            <a:r>
              <a:rPr lang="en-US" altLang="en-US" sz="1700">
                <a:ea typeface="Arial" panose="020B0604020202020204" pitchFamily="34" charset="0"/>
              </a:rPr>
              <a:t>Executives depend upon external sources</a:t>
            </a:r>
          </a:p>
          <a:p>
            <a:pPr lvl="2" eaLnBrk="1" hangingPunct="1">
              <a:lnSpc>
                <a:spcPct val="80000"/>
              </a:lnSpc>
            </a:pPr>
            <a:r>
              <a:rPr lang="en-US" altLang="en-US" sz="1700">
                <a:ea typeface="Arial" panose="020B0604020202020204" pitchFamily="34" charset="0"/>
              </a:rPr>
              <a:t>E.g. market data of competitors, market indicators.</a:t>
            </a:r>
          </a:p>
          <a:p>
            <a:pPr lvl="2" eaLnBrk="1" hangingPunct="1">
              <a:lnSpc>
                <a:spcPct val="80000"/>
              </a:lnSpc>
            </a:pPr>
            <a:r>
              <a:rPr lang="en-US" altLang="en-US" sz="1700">
                <a:ea typeface="Arial" panose="020B0604020202020204" pitchFamily="34" charset="0"/>
              </a:rPr>
              <a:t>For example, car rental business would like to have information about the production schedule of car making companies to make strategic decisions</a:t>
            </a:r>
          </a:p>
          <a:p>
            <a:pPr lvl="2" eaLnBrk="1" hangingPunct="1">
              <a:lnSpc>
                <a:spcPct val="80000"/>
              </a:lnSpc>
            </a:pPr>
            <a:r>
              <a:rPr lang="en-US" altLang="en-US" sz="1700">
                <a:ea typeface="Arial" panose="020B0604020202020204" pitchFamily="34" charset="0"/>
              </a:rPr>
              <a:t>But integration require conformance with your data</a:t>
            </a:r>
          </a:p>
          <a:p>
            <a:pPr lvl="2" eaLnBrk="1" hangingPunct="1">
              <a:lnSpc>
                <a:spcPct val="80000"/>
              </a:lnSpc>
            </a:pPr>
            <a:endParaRPr lang="en-US" altLang="en-US" sz="2100">
              <a:ea typeface="Arial" panose="020B0604020202020204"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a:extLst>
              <a:ext uri="{FF2B5EF4-FFF2-40B4-BE49-F238E27FC236}">
                <a16:creationId xmlns="" xmlns:a16="http://schemas.microsoft.com/office/drawing/2014/main" id="{DC2F3658-5A39-49F8-859D-B5B4BE2BA743}"/>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1E260B78-635C-45CE-9E62-B45BB47F60B7}" type="slidenum">
              <a:rPr lang="sv-SE" altLang="en-US">
                <a:latin typeface="Garamond" panose="02020404030301010803" pitchFamily="18" charset="0"/>
              </a:rPr>
              <a:pPr eaLnBrk="1" hangingPunct="1"/>
              <a:t>24</a:t>
            </a:fld>
            <a:endParaRPr lang="sv-SE" altLang="en-US">
              <a:latin typeface="Garamond" panose="02020404030301010803" pitchFamily="18" charset="0"/>
            </a:endParaRPr>
          </a:p>
        </p:txBody>
      </p:sp>
      <p:sp>
        <p:nvSpPr>
          <p:cNvPr id="26627" name="Rectangle 2">
            <a:extLst>
              <a:ext uri="{FF2B5EF4-FFF2-40B4-BE49-F238E27FC236}">
                <a16:creationId xmlns="" xmlns:a16="http://schemas.microsoft.com/office/drawing/2014/main" id="{8E2C5DCD-5D71-4BE3-9BAA-209758BD34A7}"/>
              </a:ext>
            </a:extLst>
          </p:cNvPr>
          <p:cNvSpPr>
            <a:spLocks noGrp="1" noChangeArrowheads="1"/>
          </p:cNvSpPr>
          <p:nvPr>
            <p:ph type="title"/>
          </p:nvPr>
        </p:nvSpPr>
        <p:spPr>
          <a:xfrm>
            <a:off x="685800" y="457200"/>
            <a:ext cx="7772400" cy="1143000"/>
          </a:xfrm>
        </p:spPr>
        <p:txBody>
          <a:bodyPr/>
          <a:lstStyle/>
          <a:p>
            <a:pPr eaLnBrk="1" hangingPunct="1"/>
            <a:r>
              <a:rPr lang="en-US" altLang="en-US" sz="3400">
                <a:ea typeface="ＭＳ Ｐゴシック" panose="020B0600070205080204" pitchFamily="34" charset="-128"/>
              </a:rPr>
              <a:t>Architecture of DW</a:t>
            </a:r>
          </a:p>
        </p:txBody>
      </p:sp>
      <p:sp>
        <p:nvSpPr>
          <p:cNvPr id="26628" name="Text Box 3">
            <a:extLst>
              <a:ext uri="{FF2B5EF4-FFF2-40B4-BE49-F238E27FC236}">
                <a16:creationId xmlns="" xmlns:a16="http://schemas.microsoft.com/office/drawing/2014/main" id="{D5E396BF-5264-4ED0-B477-F22154443482}"/>
              </a:ext>
            </a:extLst>
          </p:cNvPr>
          <p:cNvSpPr txBox="1">
            <a:spLocks noChangeArrowheads="1"/>
          </p:cNvSpPr>
          <p:nvPr/>
        </p:nvSpPr>
        <p:spPr bwMode="auto">
          <a:xfrm>
            <a:off x="533400" y="1828800"/>
            <a:ext cx="1525588" cy="274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b="1" u="sng">
                <a:solidFill>
                  <a:srgbClr val="00001E"/>
                </a:solidFill>
                <a:latin typeface="Times New Roman" panose="02020603050405020304" pitchFamily="18" charset="0"/>
              </a:rPr>
              <a:t>Information Sources</a:t>
            </a:r>
            <a:endParaRPr lang="en-US" altLang="en-US" sz="1200" b="1">
              <a:solidFill>
                <a:srgbClr val="00001E"/>
              </a:solidFill>
              <a:latin typeface="Times New Roman" panose="02020603050405020304" pitchFamily="18" charset="0"/>
            </a:endParaRPr>
          </a:p>
        </p:txBody>
      </p:sp>
      <p:sp>
        <p:nvSpPr>
          <p:cNvPr id="26629" name="Text Box 4">
            <a:extLst>
              <a:ext uri="{FF2B5EF4-FFF2-40B4-BE49-F238E27FC236}">
                <a16:creationId xmlns="" xmlns:a16="http://schemas.microsoft.com/office/drawing/2014/main" id="{6BAB375D-8269-4CED-91E6-EC703E1577C6}"/>
              </a:ext>
            </a:extLst>
          </p:cNvPr>
          <p:cNvSpPr txBox="1">
            <a:spLocks noChangeArrowheads="1"/>
          </p:cNvSpPr>
          <p:nvPr/>
        </p:nvSpPr>
        <p:spPr bwMode="auto">
          <a:xfrm>
            <a:off x="3081338" y="1828800"/>
            <a:ext cx="1309687" cy="6397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u="sng">
                <a:solidFill>
                  <a:srgbClr val="00001E"/>
                </a:solidFill>
                <a:latin typeface="Times New Roman" panose="02020603050405020304" pitchFamily="18" charset="0"/>
              </a:rPr>
              <a:t>Data Warehouse </a:t>
            </a:r>
          </a:p>
          <a:p>
            <a:pPr algn="ctr"/>
            <a:r>
              <a:rPr lang="en-US" altLang="en-US" sz="1200" b="1" u="sng">
                <a:solidFill>
                  <a:srgbClr val="00001E"/>
                </a:solidFill>
                <a:latin typeface="Times New Roman" panose="02020603050405020304" pitchFamily="18" charset="0"/>
              </a:rPr>
              <a:t>Server</a:t>
            </a:r>
          </a:p>
          <a:p>
            <a:pPr algn="ctr"/>
            <a:r>
              <a:rPr lang="en-US" altLang="en-US" sz="1200" b="1">
                <a:solidFill>
                  <a:srgbClr val="00001E"/>
                </a:solidFill>
                <a:latin typeface="Times New Roman" panose="02020603050405020304" pitchFamily="18" charset="0"/>
              </a:rPr>
              <a:t>(Tier 1)</a:t>
            </a:r>
          </a:p>
        </p:txBody>
      </p:sp>
      <p:sp>
        <p:nvSpPr>
          <p:cNvPr id="26630" name="Text Box 5">
            <a:extLst>
              <a:ext uri="{FF2B5EF4-FFF2-40B4-BE49-F238E27FC236}">
                <a16:creationId xmlns="" xmlns:a16="http://schemas.microsoft.com/office/drawing/2014/main" id="{AB803E7F-3D74-4ADF-AEDB-E489CBBFD32D}"/>
              </a:ext>
            </a:extLst>
          </p:cNvPr>
          <p:cNvSpPr txBox="1">
            <a:spLocks noChangeArrowheads="1"/>
          </p:cNvSpPr>
          <p:nvPr/>
        </p:nvSpPr>
        <p:spPr bwMode="auto">
          <a:xfrm>
            <a:off x="5100638" y="1828800"/>
            <a:ext cx="1138237"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u="sng">
                <a:solidFill>
                  <a:srgbClr val="00001E"/>
                </a:solidFill>
                <a:latin typeface="Times New Roman" panose="02020603050405020304" pitchFamily="18" charset="0"/>
              </a:rPr>
              <a:t>OLAP Servers</a:t>
            </a:r>
          </a:p>
          <a:p>
            <a:pPr algn="ctr"/>
            <a:r>
              <a:rPr lang="en-US" altLang="en-US" sz="1200" b="1">
                <a:solidFill>
                  <a:srgbClr val="00001E"/>
                </a:solidFill>
                <a:latin typeface="Times New Roman" panose="02020603050405020304" pitchFamily="18" charset="0"/>
              </a:rPr>
              <a:t>(Tier 2)</a:t>
            </a:r>
          </a:p>
        </p:txBody>
      </p:sp>
      <p:sp>
        <p:nvSpPr>
          <p:cNvPr id="26631" name="Text Box 6">
            <a:extLst>
              <a:ext uri="{FF2B5EF4-FFF2-40B4-BE49-F238E27FC236}">
                <a16:creationId xmlns="" xmlns:a16="http://schemas.microsoft.com/office/drawing/2014/main" id="{1A575D3C-DBF4-40C6-9585-A1D89D406C09}"/>
              </a:ext>
            </a:extLst>
          </p:cNvPr>
          <p:cNvSpPr txBox="1">
            <a:spLocks noChangeArrowheads="1"/>
          </p:cNvSpPr>
          <p:nvPr/>
        </p:nvSpPr>
        <p:spPr bwMode="auto">
          <a:xfrm>
            <a:off x="7291388" y="1828800"/>
            <a:ext cx="681037"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b="1" u="sng">
                <a:solidFill>
                  <a:srgbClr val="00001E"/>
                </a:solidFill>
                <a:latin typeface="Times New Roman" panose="02020603050405020304" pitchFamily="18" charset="0"/>
              </a:rPr>
              <a:t>Clients</a:t>
            </a:r>
          </a:p>
          <a:p>
            <a:r>
              <a:rPr lang="en-US" altLang="en-US" sz="1200" b="1">
                <a:solidFill>
                  <a:srgbClr val="00001E"/>
                </a:solidFill>
                <a:latin typeface="Times New Roman" panose="02020603050405020304" pitchFamily="18" charset="0"/>
              </a:rPr>
              <a:t>(Tier 3)</a:t>
            </a:r>
          </a:p>
        </p:txBody>
      </p:sp>
      <p:sp>
        <p:nvSpPr>
          <p:cNvPr id="26632" name="Oval 7">
            <a:extLst>
              <a:ext uri="{FF2B5EF4-FFF2-40B4-BE49-F238E27FC236}">
                <a16:creationId xmlns="" xmlns:a16="http://schemas.microsoft.com/office/drawing/2014/main" id="{B07A5D43-B66C-4B1E-8D07-704BF3CD453D}"/>
              </a:ext>
            </a:extLst>
          </p:cNvPr>
          <p:cNvSpPr>
            <a:spLocks noChangeArrowheads="1"/>
          </p:cNvSpPr>
          <p:nvPr/>
        </p:nvSpPr>
        <p:spPr bwMode="auto">
          <a:xfrm>
            <a:off x="533400" y="2990850"/>
            <a:ext cx="1014413" cy="173038"/>
          </a:xfrm>
          <a:prstGeom prst="ellipse">
            <a:avLst/>
          </a:prstGeom>
          <a:noFill/>
          <a:ln w="9525">
            <a:solidFill>
              <a:schemeClr val="bg2"/>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6633" name="Oval 8">
            <a:extLst>
              <a:ext uri="{FF2B5EF4-FFF2-40B4-BE49-F238E27FC236}">
                <a16:creationId xmlns="" xmlns:a16="http://schemas.microsoft.com/office/drawing/2014/main" id="{4CC0B1DA-3EE5-43EB-A1F7-4262E6FBCD08}"/>
              </a:ext>
            </a:extLst>
          </p:cNvPr>
          <p:cNvSpPr>
            <a:spLocks noChangeArrowheads="1"/>
          </p:cNvSpPr>
          <p:nvPr/>
        </p:nvSpPr>
        <p:spPr bwMode="auto">
          <a:xfrm>
            <a:off x="601663" y="3106738"/>
            <a:ext cx="1012825" cy="173037"/>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2" name="Group 9">
            <a:extLst>
              <a:ext uri="{FF2B5EF4-FFF2-40B4-BE49-F238E27FC236}">
                <a16:creationId xmlns="" xmlns:a16="http://schemas.microsoft.com/office/drawing/2014/main" id="{C8BEE0CC-3844-4ED8-B965-1AE300D5FC97}"/>
              </a:ext>
            </a:extLst>
          </p:cNvPr>
          <p:cNvGrpSpPr>
            <a:grpSpLocks/>
          </p:cNvGrpSpPr>
          <p:nvPr/>
        </p:nvGrpSpPr>
        <p:grpSpPr bwMode="auto">
          <a:xfrm>
            <a:off x="533400" y="4376738"/>
            <a:ext cx="533400" cy="460375"/>
            <a:chOff x="4467" y="3038"/>
            <a:chExt cx="379" cy="382"/>
          </a:xfrm>
        </p:grpSpPr>
        <p:sp>
          <p:nvSpPr>
            <p:cNvPr id="26741" name="Rectangle 10">
              <a:extLst>
                <a:ext uri="{FF2B5EF4-FFF2-40B4-BE49-F238E27FC236}">
                  <a16:creationId xmlns="" xmlns:a16="http://schemas.microsoft.com/office/drawing/2014/main" id="{19C4D1B7-A6C2-4C15-8802-3D87B6F69FF5}"/>
                </a:ext>
              </a:extLst>
            </p:cNvPr>
            <p:cNvSpPr>
              <a:spLocks noChangeArrowheads="1"/>
            </p:cNvSpPr>
            <p:nvPr/>
          </p:nvSpPr>
          <p:spPr bwMode="auto">
            <a:xfrm>
              <a:off x="4467" y="3094"/>
              <a:ext cx="376" cy="274"/>
            </a:xfrm>
            <a:prstGeom prst="rect">
              <a:avLst/>
            </a:prstGeom>
            <a:solidFill>
              <a:schemeClr val="bg1"/>
            </a:solidFill>
            <a:ln w="9525">
              <a:solidFill>
                <a:schemeClr val="bg1"/>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3" name="Group 11">
              <a:extLst>
                <a:ext uri="{FF2B5EF4-FFF2-40B4-BE49-F238E27FC236}">
                  <a16:creationId xmlns="" xmlns:a16="http://schemas.microsoft.com/office/drawing/2014/main" id="{AA208179-7609-4EFE-B90C-DBA0D0DD0218}"/>
                </a:ext>
              </a:extLst>
            </p:cNvPr>
            <p:cNvGrpSpPr>
              <a:grpSpLocks/>
            </p:cNvGrpSpPr>
            <p:nvPr/>
          </p:nvGrpSpPr>
          <p:grpSpPr bwMode="auto">
            <a:xfrm>
              <a:off x="4468" y="3038"/>
              <a:ext cx="378" cy="382"/>
              <a:chOff x="4468" y="3038"/>
              <a:chExt cx="378" cy="382"/>
            </a:xfrm>
          </p:grpSpPr>
          <p:sp>
            <p:nvSpPr>
              <p:cNvPr id="26743" name="Line 12">
                <a:extLst>
                  <a:ext uri="{FF2B5EF4-FFF2-40B4-BE49-F238E27FC236}">
                    <a16:creationId xmlns="" xmlns:a16="http://schemas.microsoft.com/office/drawing/2014/main" id="{FFF58FC1-438B-4616-8FE9-5C8612747D01}"/>
                  </a:ext>
                </a:extLst>
              </p:cNvPr>
              <p:cNvSpPr>
                <a:spLocks noChangeShapeType="1"/>
              </p:cNvSpPr>
              <p:nvPr/>
            </p:nvSpPr>
            <p:spPr bwMode="auto">
              <a:xfrm>
                <a:off x="4468" y="3087"/>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6744" name="Line 13">
                <a:extLst>
                  <a:ext uri="{FF2B5EF4-FFF2-40B4-BE49-F238E27FC236}">
                    <a16:creationId xmlns="" xmlns:a16="http://schemas.microsoft.com/office/drawing/2014/main" id="{DEAD8046-CC43-4C6C-AC15-6C1222FBEE2F}"/>
                  </a:ext>
                </a:extLst>
              </p:cNvPr>
              <p:cNvSpPr>
                <a:spLocks noChangeShapeType="1"/>
              </p:cNvSpPr>
              <p:nvPr/>
            </p:nvSpPr>
            <p:spPr bwMode="auto">
              <a:xfrm>
                <a:off x="4846" y="3089"/>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6745" name="Oval 14">
                <a:extLst>
                  <a:ext uri="{FF2B5EF4-FFF2-40B4-BE49-F238E27FC236}">
                    <a16:creationId xmlns="" xmlns:a16="http://schemas.microsoft.com/office/drawing/2014/main" id="{518719CB-B071-4477-9733-2C597FC75639}"/>
                  </a:ext>
                </a:extLst>
              </p:cNvPr>
              <p:cNvSpPr>
                <a:spLocks noChangeArrowheads="1"/>
              </p:cNvSpPr>
              <p:nvPr/>
            </p:nvSpPr>
            <p:spPr bwMode="auto">
              <a:xfrm>
                <a:off x="4469" y="3038"/>
                <a:ext cx="376" cy="90"/>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6746" name="Oval 15">
                <a:extLst>
                  <a:ext uri="{FF2B5EF4-FFF2-40B4-BE49-F238E27FC236}">
                    <a16:creationId xmlns="" xmlns:a16="http://schemas.microsoft.com/office/drawing/2014/main" id="{4ABC9D41-57B8-46E7-B5EA-45AECC957C3E}"/>
                  </a:ext>
                </a:extLst>
              </p:cNvPr>
              <p:cNvSpPr>
                <a:spLocks noChangeArrowheads="1"/>
              </p:cNvSpPr>
              <p:nvPr/>
            </p:nvSpPr>
            <p:spPr bwMode="auto">
              <a:xfrm>
                <a:off x="4469" y="3331"/>
                <a:ext cx="376" cy="89"/>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grpSp>
        <p:nvGrpSpPr>
          <p:cNvPr id="4" name="Group 16">
            <a:extLst>
              <a:ext uri="{FF2B5EF4-FFF2-40B4-BE49-F238E27FC236}">
                <a16:creationId xmlns="" xmlns:a16="http://schemas.microsoft.com/office/drawing/2014/main" id="{BA66BD25-2C74-4D72-8458-756B5A4DB5BA}"/>
              </a:ext>
            </a:extLst>
          </p:cNvPr>
          <p:cNvGrpSpPr>
            <a:grpSpLocks/>
          </p:cNvGrpSpPr>
          <p:nvPr/>
        </p:nvGrpSpPr>
        <p:grpSpPr bwMode="auto">
          <a:xfrm>
            <a:off x="668338" y="4492625"/>
            <a:ext cx="533400" cy="460375"/>
            <a:chOff x="4467" y="3038"/>
            <a:chExt cx="379" cy="382"/>
          </a:xfrm>
        </p:grpSpPr>
        <p:sp>
          <p:nvSpPr>
            <p:cNvPr id="26735" name="Rectangle 17">
              <a:extLst>
                <a:ext uri="{FF2B5EF4-FFF2-40B4-BE49-F238E27FC236}">
                  <a16:creationId xmlns="" xmlns:a16="http://schemas.microsoft.com/office/drawing/2014/main" id="{13F492D0-9621-4998-8D9C-450B60AC7928}"/>
                </a:ext>
              </a:extLst>
            </p:cNvPr>
            <p:cNvSpPr>
              <a:spLocks noChangeArrowheads="1"/>
            </p:cNvSpPr>
            <p:nvPr/>
          </p:nvSpPr>
          <p:spPr bwMode="auto">
            <a:xfrm>
              <a:off x="4467" y="3094"/>
              <a:ext cx="376" cy="274"/>
            </a:xfrm>
            <a:prstGeom prst="rect">
              <a:avLst/>
            </a:prstGeom>
            <a:solidFill>
              <a:schemeClr val="bg1"/>
            </a:solidFill>
            <a:ln w="9525">
              <a:solidFill>
                <a:schemeClr val="bg1"/>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5" name="Group 18">
              <a:extLst>
                <a:ext uri="{FF2B5EF4-FFF2-40B4-BE49-F238E27FC236}">
                  <a16:creationId xmlns="" xmlns:a16="http://schemas.microsoft.com/office/drawing/2014/main" id="{926C126E-F615-48B3-ADBD-786CB8FA00D5}"/>
                </a:ext>
              </a:extLst>
            </p:cNvPr>
            <p:cNvGrpSpPr>
              <a:grpSpLocks/>
            </p:cNvGrpSpPr>
            <p:nvPr/>
          </p:nvGrpSpPr>
          <p:grpSpPr bwMode="auto">
            <a:xfrm>
              <a:off x="4468" y="3038"/>
              <a:ext cx="378" cy="382"/>
              <a:chOff x="4468" y="3038"/>
              <a:chExt cx="378" cy="382"/>
            </a:xfrm>
          </p:grpSpPr>
          <p:sp>
            <p:nvSpPr>
              <p:cNvPr id="26737" name="Line 19">
                <a:extLst>
                  <a:ext uri="{FF2B5EF4-FFF2-40B4-BE49-F238E27FC236}">
                    <a16:creationId xmlns="" xmlns:a16="http://schemas.microsoft.com/office/drawing/2014/main" id="{C3D1613E-397B-49A5-8FBD-5E4520B151E3}"/>
                  </a:ext>
                </a:extLst>
              </p:cNvPr>
              <p:cNvSpPr>
                <a:spLocks noChangeShapeType="1"/>
              </p:cNvSpPr>
              <p:nvPr/>
            </p:nvSpPr>
            <p:spPr bwMode="auto">
              <a:xfrm>
                <a:off x="4468" y="3087"/>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6738" name="Line 20">
                <a:extLst>
                  <a:ext uri="{FF2B5EF4-FFF2-40B4-BE49-F238E27FC236}">
                    <a16:creationId xmlns="" xmlns:a16="http://schemas.microsoft.com/office/drawing/2014/main" id="{3AC32872-36C5-42D8-8791-E89ABA84034B}"/>
                  </a:ext>
                </a:extLst>
              </p:cNvPr>
              <p:cNvSpPr>
                <a:spLocks noChangeShapeType="1"/>
              </p:cNvSpPr>
              <p:nvPr/>
            </p:nvSpPr>
            <p:spPr bwMode="auto">
              <a:xfrm>
                <a:off x="4846" y="3089"/>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6739" name="Oval 21">
                <a:extLst>
                  <a:ext uri="{FF2B5EF4-FFF2-40B4-BE49-F238E27FC236}">
                    <a16:creationId xmlns="" xmlns:a16="http://schemas.microsoft.com/office/drawing/2014/main" id="{027572BE-28B8-4CF4-8393-11B3F9FF4364}"/>
                  </a:ext>
                </a:extLst>
              </p:cNvPr>
              <p:cNvSpPr>
                <a:spLocks noChangeArrowheads="1"/>
              </p:cNvSpPr>
              <p:nvPr/>
            </p:nvSpPr>
            <p:spPr bwMode="auto">
              <a:xfrm>
                <a:off x="4469" y="3038"/>
                <a:ext cx="376" cy="90"/>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6740" name="Oval 22">
                <a:extLst>
                  <a:ext uri="{FF2B5EF4-FFF2-40B4-BE49-F238E27FC236}">
                    <a16:creationId xmlns="" xmlns:a16="http://schemas.microsoft.com/office/drawing/2014/main" id="{1F8265F2-9DDD-456C-A228-93DA6605F8FF}"/>
                  </a:ext>
                </a:extLst>
              </p:cNvPr>
              <p:cNvSpPr>
                <a:spLocks noChangeArrowheads="1"/>
              </p:cNvSpPr>
              <p:nvPr/>
            </p:nvSpPr>
            <p:spPr bwMode="auto">
              <a:xfrm>
                <a:off x="4469" y="3331"/>
                <a:ext cx="376" cy="89"/>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grpSp>
        <p:nvGrpSpPr>
          <p:cNvPr id="6" name="Group 23">
            <a:extLst>
              <a:ext uri="{FF2B5EF4-FFF2-40B4-BE49-F238E27FC236}">
                <a16:creationId xmlns="" xmlns:a16="http://schemas.microsoft.com/office/drawing/2014/main" id="{C1323B74-9627-4A05-9F77-D7FA75831ABA}"/>
              </a:ext>
            </a:extLst>
          </p:cNvPr>
          <p:cNvGrpSpPr>
            <a:grpSpLocks/>
          </p:cNvGrpSpPr>
          <p:nvPr/>
        </p:nvGrpSpPr>
        <p:grpSpPr bwMode="auto">
          <a:xfrm>
            <a:off x="803275" y="4608513"/>
            <a:ext cx="533400" cy="460375"/>
            <a:chOff x="4467" y="3038"/>
            <a:chExt cx="379" cy="382"/>
          </a:xfrm>
        </p:grpSpPr>
        <p:sp>
          <p:nvSpPr>
            <p:cNvPr id="26729" name="Rectangle 24">
              <a:extLst>
                <a:ext uri="{FF2B5EF4-FFF2-40B4-BE49-F238E27FC236}">
                  <a16:creationId xmlns="" xmlns:a16="http://schemas.microsoft.com/office/drawing/2014/main" id="{5086D4C9-6929-4DA6-BE47-07E8192F8F44}"/>
                </a:ext>
              </a:extLst>
            </p:cNvPr>
            <p:cNvSpPr>
              <a:spLocks noChangeArrowheads="1"/>
            </p:cNvSpPr>
            <p:nvPr/>
          </p:nvSpPr>
          <p:spPr bwMode="auto">
            <a:xfrm>
              <a:off x="4467" y="3094"/>
              <a:ext cx="376" cy="274"/>
            </a:xfrm>
            <a:prstGeom prst="rect">
              <a:avLst/>
            </a:prstGeom>
            <a:solidFill>
              <a:schemeClr val="bg1"/>
            </a:solidFill>
            <a:ln w="9525">
              <a:solidFill>
                <a:schemeClr val="bg1"/>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7" name="Group 25">
              <a:extLst>
                <a:ext uri="{FF2B5EF4-FFF2-40B4-BE49-F238E27FC236}">
                  <a16:creationId xmlns="" xmlns:a16="http://schemas.microsoft.com/office/drawing/2014/main" id="{084BEFE3-9FF3-43F2-86C4-8D2CDD481EEA}"/>
                </a:ext>
              </a:extLst>
            </p:cNvPr>
            <p:cNvGrpSpPr>
              <a:grpSpLocks/>
            </p:cNvGrpSpPr>
            <p:nvPr/>
          </p:nvGrpSpPr>
          <p:grpSpPr bwMode="auto">
            <a:xfrm>
              <a:off x="4468" y="3038"/>
              <a:ext cx="378" cy="382"/>
              <a:chOff x="4468" y="3038"/>
              <a:chExt cx="378" cy="382"/>
            </a:xfrm>
          </p:grpSpPr>
          <p:sp>
            <p:nvSpPr>
              <p:cNvPr id="26731" name="Line 26">
                <a:extLst>
                  <a:ext uri="{FF2B5EF4-FFF2-40B4-BE49-F238E27FC236}">
                    <a16:creationId xmlns="" xmlns:a16="http://schemas.microsoft.com/office/drawing/2014/main" id="{7B46F12F-97F4-4C90-B862-E68DE896606B}"/>
                  </a:ext>
                </a:extLst>
              </p:cNvPr>
              <p:cNvSpPr>
                <a:spLocks noChangeShapeType="1"/>
              </p:cNvSpPr>
              <p:nvPr/>
            </p:nvSpPr>
            <p:spPr bwMode="auto">
              <a:xfrm>
                <a:off x="4468" y="3087"/>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6732" name="Line 27">
                <a:extLst>
                  <a:ext uri="{FF2B5EF4-FFF2-40B4-BE49-F238E27FC236}">
                    <a16:creationId xmlns="" xmlns:a16="http://schemas.microsoft.com/office/drawing/2014/main" id="{D067943E-1BFA-4C77-943F-293F30441064}"/>
                  </a:ext>
                </a:extLst>
              </p:cNvPr>
              <p:cNvSpPr>
                <a:spLocks noChangeShapeType="1"/>
              </p:cNvSpPr>
              <p:nvPr/>
            </p:nvSpPr>
            <p:spPr bwMode="auto">
              <a:xfrm>
                <a:off x="4846" y="3089"/>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6733" name="Oval 28">
                <a:extLst>
                  <a:ext uri="{FF2B5EF4-FFF2-40B4-BE49-F238E27FC236}">
                    <a16:creationId xmlns="" xmlns:a16="http://schemas.microsoft.com/office/drawing/2014/main" id="{869007D1-84B0-4A45-94F0-C99E9FF5043E}"/>
                  </a:ext>
                </a:extLst>
              </p:cNvPr>
              <p:cNvSpPr>
                <a:spLocks noChangeArrowheads="1"/>
              </p:cNvSpPr>
              <p:nvPr/>
            </p:nvSpPr>
            <p:spPr bwMode="auto">
              <a:xfrm>
                <a:off x="4469" y="3038"/>
                <a:ext cx="376" cy="90"/>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6734" name="Oval 29">
                <a:extLst>
                  <a:ext uri="{FF2B5EF4-FFF2-40B4-BE49-F238E27FC236}">
                    <a16:creationId xmlns="" xmlns:a16="http://schemas.microsoft.com/office/drawing/2014/main" id="{BBDA931D-7EB9-4B9F-8E3E-AC74B5D3FBF6}"/>
                  </a:ext>
                </a:extLst>
              </p:cNvPr>
              <p:cNvSpPr>
                <a:spLocks noChangeArrowheads="1"/>
              </p:cNvSpPr>
              <p:nvPr/>
            </p:nvSpPr>
            <p:spPr bwMode="auto">
              <a:xfrm>
                <a:off x="4469" y="3331"/>
                <a:ext cx="376" cy="89"/>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sp>
        <p:nvSpPr>
          <p:cNvPr id="26637" name="Text Box 30">
            <a:extLst>
              <a:ext uri="{FF2B5EF4-FFF2-40B4-BE49-F238E27FC236}">
                <a16:creationId xmlns="" xmlns:a16="http://schemas.microsoft.com/office/drawing/2014/main" id="{8CA39388-BA2A-45AE-ACAC-E9CC1F20F7A1}"/>
              </a:ext>
            </a:extLst>
          </p:cNvPr>
          <p:cNvSpPr txBox="1">
            <a:spLocks noChangeArrowheads="1"/>
          </p:cNvSpPr>
          <p:nvPr/>
        </p:nvSpPr>
        <p:spPr bwMode="auto">
          <a:xfrm>
            <a:off x="874713" y="4122738"/>
            <a:ext cx="973137"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Operational</a:t>
            </a:r>
          </a:p>
          <a:p>
            <a:pPr algn="ctr"/>
            <a:r>
              <a:rPr lang="en-US" altLang="en-US" sz="1200" b="1">
                <a:solidFill>
                  <a:srgbClr val="00001E"/>
                </a:solidFill>
                <a:latin typeface="Times New Roman" panose="02020603050405020304" pitchFamily="18" charset="0"/>
              </a:rPr>
              <a:t>DB’s</a:t>
            </a:r>
          </a:p>
        </p:txBody>
      </p:sp>
      <p:sp>
        <p:nvSpPr>
          <p:cNvPr id="26638" name="Text Box 31">
            <a:extLst>
              <a:ext uri="{FF2B5EF4-FFF2-40B4-BE49-F238E27FC236}">
                <a16:creationId xmlns="" xmlns:a16="http://schemas.microsoft.com/office/drawing/2014/main" id="{634B6AE2-83DD-4BA9-BF73-9C7F70C61D4F}"/>
              </a:ext>
            </a:extLst>
          </p:cNvPr>
          <p:cNvSpPr txBox="1">
            <a:spLocks noChangeArrowheads="1"/>
          </p:cNvSpPr>
          <p:nvPr/>
        </p:nvSpPr>
        <p:spPr bwMode="auto">
          <a:xfrm>
            <a:off x="752475" y="2554288"/>
            <a:ext cx="1192213"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Semistructured</a:t>
            </a:r>
          </a:p>
          <a:p>
            <a:pPr algn="ctr"/>
            <a:r>
              <a:rPr lang="en-US" altLang="en-US" sz="1200" b="1">
                <a:solidFill>
                  <a:srgbClr val="00001E"/>
                </a:solidFill>
                <a:latin typeface="Times New Roman" panose="02020603050405020304" pitchFamily="18" charset="0"/>
              </a:rPr>
              <a:t>Sources</a:t>
            </a:r>
          </a:p>
        </p:txBody>
      </p:sp>
      <p:sp>
        <p:nvSpPr>
          <p:cNvPr id="26639" name="Oval 32">
            <a:extLst>
              <a:ext uri="{FF2B5EF4-FFF2-40B4-BE49-F238E27FC236}">
                <a16:creationId xmlns="" xmlns:a16="http://schemas.microsoft.com/office/drawing/2014/main" id="{C7F86D79-D293-4A08-AF65-399150FD7EE4}"/>
              </a:ext>
            </a:extLst>
          </p:cNvPr>
          <p:cNvSpPr>
            <a:spLocks noChangeArrowheads="1"/>
          </p:cNvSpPr>
          <p:nvPr/>
        </p:nvSpPr>
        <p:spPr bwMode="auto">
          <a:xfrm>
            <a:off x="736600" y="3222625"/>
            <a:ext cx="1012825" cy="173038"/>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6640" name="AutoShape 33">
            <a:extLst>
              <a:ext uri="{FF2B5EF4-FFF2-40B4-BE49-F238E27FC236}">
                <a16:creationId xmlns="" xmlns:a16="http://schemas.microsoft.com/office/drawing/2014/main" id="{07D7616A-C076-42E8-909B-DB8A3A5D38EB}"/>
              </a:ext>
            </a:extLst>
          </p:cNvPr>
          <p:cNvSpPr>
            <a:spLocks noChangeArrowheads="1"/>
          </p:cNvSpPr>
          <p:nvPr/>
        </p:nvSpPr>
        <p:spPr bwMode="auto">
          <a:xfrm>
            <a:off x="1817688" y="2817813"/>
            <a:ext cx="1216025" cy="1733550"/>
          </a:xfrm>
          <a:prstGeom prst="rightArrow">
            <a:avLst>
              <a:gd name="adj1" fmla="val 47620"/>
              <a:gd name="adj2" fmla="val 43056"/>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6641" name="Text Box 34">
            <a:extLst>
              <a:ext uri="{FF2B5EF4-FFF2-40B4-BE49-F238E27FC236}">
                <a16:creationId xmlns="" xmlns:a16="http://schemas.microsoft.com/office/drawing/2014/main" id="{C5DABB47-0188-4D4C-88BF-77472ED1806E}"/>
              </a:ext>
            </a:extLst>
          </p:cNvPr>
          <p:cNvSpPr txBox="1">
            <a:spLocks noChangeArrowheads="1"/>
          </p:cNvSpPr>
          <p:nvPr/>
        </p:nvSpPr>
        <p:spPr bwMode="auto">
          <a:xfrm>
            <a:off x="1817688" y="3248025"/>
            <a:ext cx="925512" cy="8223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b="1" i="1">
                <a:solidFill>
                  <a:srgbClr val="00001E"/>
                </a:solidFill>
                <a:latin typeface="Times New Roman" panose="02020603050405020304" pitchFamily="18" charset="0"/>
              </a:rPr>
              <a:t>extract</a:t>
            </a:r>
          </a:p>
          <a:p>
            <a:r>
              <a:rPr lang="en-US" altLang="en-US" sz="1200" b="1" i="1">
                <a:solidFill>
                  <a:srgbClr val="00001E"/>
                </a:solidFill>
                <a:latin typeface="Times New Roman" panose="02020603050405020304" pitchFamily="18" charset="0"/>
              </a:rPr>
              <a:t>transform</a:t>
            </a:r>
          </a:p>
          <a:p>
            <a:r>
              <a:rPr lang="en-US" altLang="en-US" sz="1200" b="1" i="1">
                <a:solidFill>
                  <a:srgbClr val="00001E"/>
                </a:solidFill>
                <a:latin typeface="Times New Roman" panose="02020603050405020304" pitchFamily="18" charset="0"/>
              </a:rPr>
              <a:t>load</a:t>
            </a:r>
          </a:p>
          <a:p>
            <a:r>
              <a:rPr lang="en-US" altLang="en-US" sz="1200" b="1" i="1">
                <a:solidFill>
                  <a:srgbClr val="00001E"/>
                </a:solidFill>
                <a:latin typeface="Times New Roman" panose="02020603050405020304" pitchFamily="18" charset="0"/>
              </a:rPr>
              <a:t>refresh </a:t>
            </a:r>
            <a:endParaRPr lang="en-US" altLang="en-US" sz="1200" b="1">
              <a:solidFill>
                <a:srgbClr val="00001E"/>
              </a:solidFill>
              <a:latin typeface="Times New Roman" panose="02020603050405020304" pitchFamily="18" charset="0"/>
            </a:endParaRPr>
          </a:p>
        </p:txBody>
      </p:sp>
      <p:grpSp>
        <p:nvGrpSpPr>
          <p:cNvPr id="8" name="Group 35">
            <a:extLst>
              <a:ext uri="{FF2B5EF4-FFF2-40B4-BE49-F238E27FC236}">
                <a16:creationId xmlns="" xmlns:a16="http://schemas.microsoft.com/office/drawing/2014/main" id="{FBF30E2A-92BC-4F21-BEBC-9458E16B18B5}"/>
              </a:ext>
            </a:extLst>
          </p:cNvPr>
          <p:cNvGrpSpPr>
            <a:grpSpLocks/>
          </p:cNvGrpSpPr>
          <p:nvPr/>
        </p:nvGrpSpPr>
        <p:grpSpPr bwMode="auto">
          <a:xfrm>
            <a:off x="3236913" y="3163888"/>
            <a:ext cx="946150" cy="925512"/>
            <a:chOff x="4467" y="3038"/>
            <a:chExt cx="379" cy="382"/>
          </a:xfrm>
        </p:grpSpPr>
        <p:sp>
          <p:nvSpPr>
            <p:cNvPr id="26723" name="Rectangle 36">
              <a:extLst>
                <a:ext uri="{FF2B5EF4-FFF2-40B4-BE49-F238E27FC236}">
                  <a16:creationId xmlns="" xmlns:a16="http://schemas.microsoft.com/office/drawing/2014/main" id="{93F343DB-577E-46D9-A052-4AAD074A2CEE}"/>
                </a:ext>
              </a:extLst>
            </p:cNvPr>
            <p:cNvSpPr>
              <a:spLocks noChangeArrowheads="1"/>
            </p:cNvSpPr>
            <p:nvPr/>
          </p:nvSpPr>
          <p:spPr bwMode="auto">
            <a:xfrm>
              <a:off x="4467" y="3094"/>
              <a:ext cx="376" cy="274"/>
            </a:xfrm>
            <a:prstGeom prst="rect">
              <a:avLst/>
            </a:prstGeom>
            <a:gradFill rotWithShape="0">
              <a:gsLst>
                <a:gs pos="0">
                  <a:srgbClr val="666666"/>
                </a:gs>
                <a:gs pos="50000">
                  <a:srgbClr val="DDDDDD"/>
                </a:gs>
                <a:gs pos="100000">
                  <a:srgbClr val="666666"/>
                </a:gs>
              </a:gsLst>
              <a:lin ang="0" scaled="1"/>
            </a:gradFill>
            <a:ln w="9525">
              <a:solidFill>
                <a:schemeClr val="bg2"/>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9" name="Group 37">
              <a:extLst>
                <a:ext uri="{FF2B5EF4-FFF2-40B4-BE49-F238E27FC236}">
                  <a16:creationId xmlns="" xmlns:a16="http://schemas.microsoft.com/office/drawing/2014/main" id="{1C50BB34-088C-4865-977F-6252CA4BB34B}"/>
                </a:ext>
              </a:extLst>
            </p:cNvPr>
            <p:cNvGrpSpPr>
              <a:grpSpLocks/>
            </p:cNvGrpSpPr>
            <p:nvPr/>
          </p:nvGrpSpPr>
          <p:grpSpPr bwMode="auto">
            <a:xfrm>
              <a:off x="4468" y="3038"/>
              <a:ext cx="378" cy="382"/>
              <a:chOff x="4468" y="3038"/>
              <a:chExt cx="378" cy="382"/>
            </a:xfrm>
          </p:grpSpPr>
          <p:sp>
            <p:nvSpPr>
              <p:cNvPr id="26725" name="Line 38">
                <a:extLst>
                  <a:ext uri="{FF2B5EF4-FFF2-40B4-BE49-F238E27FC236}">
                    <a16:creationId xmlns="" xmlns:a16="http://schemas.microsoft.com/office/drawing/2014/main" id="{E04DA322-BE93-4FB5-8EB7-79EE8E30EE55}"/>
                  </a:ext>
                </a:extLst>
              </p:cNvPr>
              <p:cNvSpPr>
                <a:spLocks noChangeShapeType="1"/>
              </p:cNvSpPr>
              <p:nvPr/>
            </p:nvSpPr>
            <p:spPr bwMode="auto">
              <a:xfrm>
                <a:off x="4468" y="3087"/>
                <a:ext cx="0" cy="292"/>
              </a:xfrm>
              <a:prstGeom prst="line">
                <a:avLst/>
              </a:prstGeom>
              <a:noFill/>
              <a:ln w="9525">
                <a:solidFill>
                  <a:schemeClr val="bg2"/>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6726" name="Line 39">
                <a:extLst>
                  <a:ext uri="{FF2B5EF4-FFF2-40B4-BE49-F238E27FC236}">
                    <a16:creationId xmlns="" xmlns:a16="http://schemas.microsoft.com/office/drawing/2014/main" id="{9C8F76AE-38F2-4ECD-84AA-0B10DEA7CC6D}"/>
                  </a:ext>
                </a:extLst>
              </p:cNvPr>
              <p:cNvSpPr>
                <a:spLocks noChangeShapeType="1"/>
              </p:cNvSpPr>
              <p:nvPr/>
            </p:nvSpPr>
            <p:spPr bwMode="auto">
              <a:xfrm>
                <a:off x="4846" y="3089"/>
                <a:ext cx="0" cy="292"/>
              </a:xfrm>
              <a:prstGeom prst="line">
                <a:avLst/>
              </a:prstGeom>
              <a:noFill/>
              <a:ln w="9525">
                <a:solidFill>
                  <a:schemeClr val="bg2"/>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6727" name="Oval 40">
                <a:extLst>
                  <a:ext uri="{FF2B5EF4-FFF2-40B4-BE49-F238E27FC236}">
                    <a16:creationId xmlns="" xmlns:a16="http://schemas.microsoft.com/office/drawing/2014/main" id="{69CE958E-6241-4392-8E11-DA63ACC18604}"/>
                  </a:ext>
                </a:extLst>
              </p:cNvPr>
              <p:cNvSpPr>
                <a:spLocks noChangeArrowheads="1"/>
              </p:cNvSpPr>
              <p:nvPr/>
            </p:nvSpPr>
            <p:spPr bwMode="auto">
              <a:xfrm>
                <a:off x="4469" y="3038"/>
                <a:ext cx="376" cy="90"/>
              </a:xfrm>
              <a:prstGeom prst="ellipse">
                <a:avLst/>
              </a:prstGeom>
              <a:gradFill rotWithShape="0">
                <a:gsLst>
                  <a:gs pos="0">
                    <a:srgbClr val="666666"/>
                  </a:gs>
                  <a:gs pos="50000">
                    <a:srgbClr val="DDDDDD"/>
                  </a:gs>
                  <a:gs pos="100000">
                    <a:srgbClr val="666666"/>
                  </a:gs>
                </a:gsLst>
                <a:lin ang="0" scaled="1"/>
              </a:gradFill>
              <a:ln w="9525">
                <a:solidFill>
                  <a:schemeClr val="bg2"/>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6728" name="Oval 41">
                <a:extLst>
                  <a:ext uri="{FF2B5EF4-FFF2-40B4-BE49-F238E27FC236}">
                    <a16:creationId xmlns="" xmlns:a16="http://schemas.microsoft.com/office/drawing/2014/main" id="{D534E507-63F2-4B82-8DA5-E0D1D082770E}"/>
                  </a:ext>
                </a:extLst>
              </p:cNvPr>
              <p:cNvSpPr>
                <a:spLocks noChangeArrowheads="1"/>
              </p:cNvSpPr>
              <p:nvPr/>
            </p:nvSpPr>
            <p:spPr bwMode="auto">
              <a:xfrm>
                <a:off x="4469" y="3331"/>
                <a:ext cx="376" cy="89"/>
              </a:xfrm>
              <a:prstGeom prst="ellipse">
                <a:avLst/>
              </a:prstGeom>
              <a:gradFill rotWithShape="0">
                <a:gsLst>
                  <a:gs pos="0">
                    <a:srgbClr val="666666"/>
                  </a:gs>
                  <a:gs pos="50000">
                    <a:srgbClr val="DDDDDD"/>
                  </a:gs>
                  <a:gs pos="100000">
                    <a:srgbClr val="666666"/>
                  </a:gs>
                </a:gsLst>
                <a:lin ang="0" scaled="1"/>
              </a:gradFill>
              <a:ln w="9525">
                <a:solidFill>
                  <a:schemeClr val="bg2"/>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grpSp>
        <p:nvGrpSpPr>
          <p:cNvPr id="10" name="Group 42">
            <a:extLst>
              <a:ext uri="{FF2B5EF4-FFF2-40B4-BE49-F238E27FC236}">
                <a16:creationId xmlns="" xmlns:a16="http://schemas.microsoft.com/office/drawing/2014/main" id="{B7FB6C9E-F12E-4854-A397-2258AC4841CD}"/>
              </a:ext>
            </a:extLst>
          </p:cNvPr>
          <p:cNvGrpSpPr>
            <a:grpSpLocks/>
          </p:cNvGrpSpPr>
          <p:nvPr/>
        </p:nvGrpSpPr>
        <p:grpSpPr bwMode="auto">
          <a:xfrm>
            <a:off x="2832100" y="4376738"/>
            <a:ext cx="533400" cy="344487"/>
            <a:chOff x="4467" y="3038"/>
            <a:chExt cx="379" cy="382"/>
          </a:xfrm>
        </p:grpSpPr>
        <p:sp>
          <p:nvSpPr>
            <p:cNvPr id="26717" name="Rectangle 43">
              <a:extLst>
                <a:ext uri="{FF2B5EF4-FFF2-40B4-BE49-F238E27FC236}">
                  <a16:creationId xmlns="" xmlns:a16="http://schemas.microsoft.com/office/drawing/2014/main" id="{F58CB008-461B-4216-85FF-12818F9FC464}"/>
                </a:ext>
              </a:extLst>
            </p:cNvPr>
            <p:cNvSpPr>
              <a:spLocks noChangeArrowheads="1"/>
            </p:cNvSpPr>
            <p:nvPr/>
          </p:nvSpPr>
          <p:spPr bwMode="auto">
            <a:xfrm>
              <a:off x="4467" y="3094"/>
              <a:ext cx="376" cy="274"/>
            </a:xfrm>
            <a:prstGeom prst="rect">
              <a:avLst/>
            </a:prstGeom>
            <a:gradFill rotWithShape="0">
              <a:gsLst>
                <a:gs pos="0">
                  <a:srgbClr val="666666"/>
                </a:gs>
                <a:gs pos="50000">
                  <a:srgbClr val="DDDDDD"/>
                </a:gs>
                <a:gs pos="100000">
                  <a:srgbClr val="666666"/>
                </a:gs>
              </a:gsLst>
              <a:lin ang="0" scaled="1"/>
            </a:gradFill>
            <a:ln w="9525">
              <a:solidFill>
                <a:schemeClr val="bg2"/>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11" name="Group 44">
              <a:extLst>
                <a:ext uri="{FF2B5EF4-FFF2-40B4-BE49-F238E27FC236}">
                  <a16:creationId xmlns="" xmlns:a16="http://schemas.microsoft.com/office/drawing/2014/main" id="{85C234A7-5E65-4C35-8219-82641C1EFF4E}"/>
                </a:ext>
              </a:extLst>
            </p:cNvPr>
            <p:cNvGrpSpPr>
              <a:grpSpLocks/>
            </p:cNvGrpSpPr>
            <p:nvPr/>
          </p:nvGrpSpPr>
          <p:grpSpPr bwMode="auto">
            <a:xfrm>
              <a:off x="4468" y="3038"/>
              <a:ext cx="378" cy="382"/>
              <a:chOff x="4468" y="3038"/>
              <a:chExt cx="378" cy="382"/>
            </a:xfrm>
          </p:grpSpPr>
          <p:sp>
            <p:nvSpPr>
              <p:cNvPr id="26719" name="Line 45">
                <a:extLst>
                  <a:ext uri="{FF2B5EF4-FFF2-40B4-BE49-F238E27FC236}">
                    <a16:creationId xmlns="" xmlns:a16="http://schemas.microsoft.com/office/drawing/2014/main" id="{0D3290A4-7413-4B6E-B0F1-8131CB2C3A7D}"/>
                  </a:ext>
                </a:extLst>
              </p:cNvPr>
              <p:cNvSpPr>
                <a:spLocks noChangeShapeType="1"/>
              </p:cNvSpPr>
              <p:nvPr/>
            </p:nvSpPr>
            <p:spPr bwMode="auto">
              <a:xfrm>
                <a:off x="4468" y="3087"/>
                <a:ext cx="0" cy="292"/>
              </a:xfrm>
              <a:prstGeom prst="line">
                <a:avLst/>
              </a:prstGeom>
              <a:noFill/>
              <a:ln w="9525">
                <a:solidFill>
                  <a:schemeClr val="bg2"/>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6720" name="Line 46">
                <a:extLst>
                  <a:ext uri="{FF2B5EF4-FFF2-40B4-BE49-F238E27FC236}">
                    <a16:creationId xmlns="" xmlns:a16="http://schemas.microsoft.com/office/drawing/2014/main" id="{2ED4D0A0-7E1A-4710-B3C6-C6F22ABF4075}"/>
                  </a:ext>
                </a:extLst>
              </p:cNvPr>
              <p:cNvSpPr>
                <a:spLocks noChangeShapeType="1"/>
              </p:cNvSpPr>
              <p:nvPr/>
            </p:nvSpPr>
            <p:spPr bwMode="auto">
              <a:xfrm>
                <a:off x="4846" y="3089"/>
                <a:ext cx="0" cy="292"/>
              </a:xfrm>
              <a:prstGeom prst="line">
                <a:avLst/>
              </a:prstGeom>
              <a:noFill/>
              <a:ln w="9525">
                <a:solidFill>
                  <a:schemeClr val="bg2"/>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6721" name="Oval 47">
                <a:extLst>
                  <a:ext uri="{FF2B5EF4-FFF2-40B4-BE49-F238E27FC236}">
                    <a16:creationId xmlns="" xmlns:a16="http://schemas.microsoft.com/office/drawing/2014/main" id="{1DEA05A8-B813-4176-8675-5CCD4989AD7C}"/>
                  </a:ext>
                </a:extLst>
              </p:cNvPr>
              <p:cNvSpPr>
                <a:spLocks noChangeArrowheads="1"/>
              </p:cNvSpPr>
              <p:nvPr/>
            </p:nvSpPr>
            <p:spPr bwMode="auto">
              <a:xfrm>
                <a:off x="4469" y="3038"/>
                <a:ext cx="376" cy="90"/>
              </a:xfrm>
              <a:prstGeom prst="ellipse">
                <a:avLst/>
              </a:prstGeom>
              <a:gradFill rotWithShape="0">
                <a:gsLst>
                  <a:gs pos="0">
                    <a:srgbClr val="666666"/>
                  </a:gs>
                  <a:gs pos="50000">
                    <a:srgbClr val="DDDDDD"/>
                  </a:gs>
                  <a:gs pos="100000">
                    <a:srgbClr val="666666"/>
                  </a:gs>
                </a:gsLst>
                <a:lin ang="0" scaled="1"/>
              </a:gradFill>
              <a:ln w="9525">
                <a:solidFill>
                  <a:schemeClr val="bg2"/>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6722" name="Oval 48">
                <a:extLst>
                  <a:ext uri="{FF2B5EF4-FFF2-40B4-BE49-F238E27FC236}">
                    <a16:creationId xmlns="" xmlns:a16="http://schemas.microsoft.com/office/drawing/2014/main" id="{12DFAAE4-F27B-4A72-BA12-F200DDCF6906}"/>
                  </a:ext>
                </a:extLst>
              </p:cNvPr>
              <p:cNvSpPr>
                <a:spLocks noChangeArrowheads="1"/>
              </p:cNvSpPr>
              <p:nvPr/>
            </p:nvSpPr>
            <p:spPr bwMode="auto">
              <a:xfrm>
                <a:off x="4469" y="3331"/>
                <a:ext cx="376" cy="89"/>
              </a:xfrm>
              <a:prstGeom prst="ellipse">
                <a:avLst/>
              </a:prstGeom>
              <a:gradFill rotWithShape="0">
                <a:gsLst>
                  <a:gs pos="0">
                    <a:srgbClr val="666666"/>
                  </a:gs>
                  <a:gs pos="50000">
                    <a:srgbClr val="DDDDDD"/>
                  </a:gs>
                  <a:gs pos="100000">
                    <a:srgbClr val="666666"/>
                  </a:gs>
                </a:gsLst>
                <a:lin ang="0" scaled="1"/>
              </a:gradFill>
              <a:ln w="9525">
                <a:solidFill>
                  <a:schemeClr val="bg2"/>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grpSp>
        <p:nvGrpSpPr>
          <p:cNvPr id="12" name="Group 49">
            <a:extLst>
              <a:ext uri="{FF2B5EF4-FFF2-40B4-BE49-F238E27FC236}">
                <a16:creationId xmlns="" xmlns:a16="http://schemas.microsoft.com/office/drawing/2014/main" id="{D17B0ACC-D172-49C5-86D2-5129EBB5761E}"/>
              </a:ext>
            </a:extLst>
          </p:cNvPr>
          <p:cNvGrpSpPr>
            <a:grpSpLocks/>
          </p:cNvGrpSpPr>
          <p:nvPr/>
        </p:nvGrpSpPr>
        <p:grpSpPr bwMode="auto">
          <a:xfrm>
            <a:off x="3440113" y="4492625"/>
            <a:ext cx="533400" cy="344488"/>
            <a:chOff x="4467" y="3038"/>
            <a:chExt cx="379" cy="382"/>
          </a:xfrm>
        </p:grpSpPr>
        <p:sp>
          <p:nvSpPr>
            <p:cNvPr id="26711" name="Rectangle 50">
              <a:extLst>
                <a:ext uri="{FF2B5EF4-FFF2-40B4-BE49-F238E27FC236}">
                  <a16:creationId xmlns="" xmlns:a16="http://schemas.microsoft.com/office/drawing/2014/main" id="{51E1B4CE-3591-42DA-89ED-C659303D4812}"/>
                </a:ext>
              </a:extLst>
            </p:cNvPr>
            <p:cNvSpPr>
              <a:spLocks noChangeArrowheads="1"/>
            </p:cNvSpPr>
            <p:nvPr/>
          </p:nvSpPr>
          <p:spPr bwMode="auto">
            <a:xfrm>
              <a:off x="4467" y="3094"/>
              <a:ext cx="376" cy="274"/>
            </a:xfrm>
            <a:prstGeom prst="rect">
              <a:avLst/>
            </a:prstGeom>
            <a:gradFill rotWithShape="0">
              <a:gsLst>
                <a:gs pos="0">
                  <a:srgbClr val="7C7C7C"/>
                </a:gs>
                <a:gs pos="50000">
                  <a:srgbClr val="DDDDDD"/>
                </a:gs>
                <a:gs pos="100000">
                  <a:srgbClr val="7C7C7C"/>
                </a:gs>
              </a:gsLst>
              <a:lin ang="0" scaled="1"/>
            </a:gradFill>
            <a:ln w="9525">
              <a:solidFill>
                <a:schemeClr val="bg2"/>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13" name="Group 51">
              <a:extLst>
                <a:ext uri="{FF2B5EF4-FFF2-40B4-BE49-F238E27FC236}">
                  <a16:creationId xmlns="" xmlns:a16="http://schemas.microsoft.com/office/drawing/2014/main" id="{E77CD6C3-56A3-4D24-BD82-714749E03A70}"/>
                </a:ext>
              </a:extLst>
            </p:cNvPr>
            <p:cNvGrpSpPr>
              <a:grpSpLocks/>
            </p:cNvGrpSpPr>
            <p:nvPr/>
          </p:nvGrpSpPr>
          <p:grpSpPr bwMode="auto">
            <a:xfrm>
              <a:off x="4468" y="3038"/>
              <a:ext cx="378" cy="382"/>
              <a:chOff x="4468" y="3038"/>
              <a:chExt cx="378" cy="382"/>
            </a:xfrm>
          </p:grpSpPr>
          <p:sp>
            <p:nvSpPr>
              <p:cNvPr id="26713" name="Line 52">
                <a:extLst>
                  <a:ext uri="{FF2B5EF4-FFF2-40B4-BE49-F238E27FC236}">
                    <a16:creationId xmlns="" xmlns:a16="http://schemas.microsoft.com/office/drawing/2014/main" id="{B1FC8891-D773-4AF1-9F3F-0B1DB6391D03}"/>
                  </a:ext>
                </a:extLst>
              </p:cNvPr>
              <p:cNvSpPr>
                <a:spLocks noChangeShapeType="1"/>
              </p:cNvSpPr>
              <p:nvPr/>
            </p:nvSpPr>
            <p:spPr bwMode="auto">
              <a:xfrm>
                <a:off x="4468" y="3087"/>
                <a:ext cx="0" cy="292"/>
              </a:xfrm>
              <a:prstGeom prst="line">
                <a:avLst/>
              </a:prstGeom>
              <a:noFill/>
              <a:ln w="9525">
                <a:solidFill>
                  <a:schemeClr val="bg2"/>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6714" name="Line 53">
                <a:extLst>
                  <a:ext uri="{FF2B5EF4-FFF2-40B4-BE49-F238E27FC236}">
                    <a16:creationId xmlns="" xmlns:a16="http://schemas.microsoft.com/office/drawing/2014/main" id="{AD59D087-35D0-45DB-9233-9FE830F5883D}"/>
                  </a:ext>
                </a:extLst>
              </p:cNvPr>
              <p:cNvSpPr>
                <a:spLocks noChangeShapeType="1"/>
              </p:cNvSpPr>
              <p:nvPr/>
            </p:nvSpPr>
            <p:spPr bwMode="auto">
              <a:xfrm>
                <a:off x="4846" y="3089"/>
                <a:ext cx="0" cy="292"/>
              </a:xfrm>
              <a:prstGeom prst="line">
                <a:avLst/>
              </a:prstGeom>
              <a:noFill/>
              <a:ln w="9525">
                <a:solidFill>
                  <a:schemeClr val="bg2"/>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6715" name="Oval 54">
                <a:extLst>
                  <a:ext uri="{FF2B5EF4-FFF2-40B4-BE49-F238E27FC236}">
                    <a16:creationId xmlns="" xmlns:a16="http://schemas.microsoft.com/office/drawing/2014/main" id="{8809FC33-BE81-4A7A-8844-8986418A2A77}"/>
                  </a:ext>
                </a:extLst>
              </p:cNvPr>
              <p:cNvSpPr>
                <a:spLocks noChangeArrowheads="1"/>
              </p:cNvSpPr>
              <p:nvPr/>
            </p:nvSpPr>
            <p:spPr bwMode="auto">
              <a:xfrm>
                <a:off x="4469" y="3038"/>
                <a:ext cx="376" cy="90"/>
              </a:xfrm>
              <a:prstGeom prst="ellipse">
                <a:avLst/>
              </a:prstGeom>
              <a:gradFill rotWithShape="0">
                <a:gsLst>
                  <a:gs pos="0">
                    <a:srgbClr val="7C7C7C"/>
                  </a:gs>
                  <a:gs pos="50000">
                    <a:srgbClr val="DDDDDD"/>
                  </a:gs>
                  <a:gs pos="100000">
                    <a:srgbClr val="7C7C7C"/>
                  </a:gs>
                </a:gsLst>
                <a:lin ang="0" scaled="1"/>
              </a:gradFill>
              <a:ln w="9525">
                <a:solidFill>
                  <a:schemeClr val="bg2"/>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6716" name="Oval 55">
                <a:extLst>
                  <a:ext uri="{FF2B5EF4-FFF2-40B4-BE49-F238E27FC236}">
                    <a16:creationId xmlns="" xmlns:a16="http://schemas.microsoft.com/office/drawing/2014/main" id="{171A26C1-622C-42E0-B60C-157A27DFB324}"/>
                  </a:ext>
                </a:extLst>
              </p:cNvPr>
              <p:cNvSpPr>
                <a:spLocks noChangeArrowheads="1"/>
              </p:cNvSpPr>
              <p:nvPr/>
            </p:nvSpPr>
            <p:spPr bwMode="auto">
              <a:xfrm>
                <a:off x="4469" y="3331"/>
                <a:ext cx="376" cy="89"/>
              </a:xfrm>
              <a:prstGeom prst="ellipse">
                <a:avLst/>
              </a:prstGeom>
              <a:gradFill rotWithShape="0">
                <a:gsLst>
                  <a:gs pos="0">
                    <a:srgbClr val="7C7C7C"/>
                  </a:gs>
                  <a:gs pos="50000">
                    <a:srgbClr val="DDDDDD"/>
                  </a:gs>
                  <a:gs pos="100000">
                    <a:srgbClr val="7C7C7C"/>
                  </a:gs>
                </a:gsLst>
                <a:lin ang="0" scaled="1"/>
              </a:gradFill>
              <a:ln w="9525">
                <a:solidFill>
                  <a:schemeClr val="bg2"/>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grpSp>
        <p:nvGrpSpPr>
          <p:cNvPr id="14" name="Group 56">
            <a:extLst>
              <a:ext uri="{FF2B5EF4-FFF2-40B4-BE49-F238E27FC236}">
                <a16:creationId xmlns="" xmlns:a16="http://schemas.microsoft.com/office/drawing/2014/main" id="{66744919-E728-47FD-BEA0-5DF7EC3F06D6}"/>
              </a:ext>
            </a:extLst>
          </p:cNvPr>
          <p:cNvGrpSpPr>
            <a:grpSpLocks/>
          </p:cNvGrpSpPr>
          <p:nvPr/>
        </p:nvGrpSpPr>
        <p:grpSpPr bwMode="auto">
          <a:xfrm>
            <a:off x="4114800" y="4376738"/>
            <a:ext cx="534988" cy="344487"/>
            <a:chOff x="4467" y="3038"/>
            <a:chExt cx="379" cy="382"/>
          </a:xfrm>
        </p:grpSpPr>
        <p:sp>
          <p:nvSpPr>
            <p:cNvPr id="26705" name="Rectangle 57">
              <a:extLst>
                <a:ext uri="{FF2B5EF4-FFF2-40B4-BE49-F238E27FC236}">
                  <a16:creationId xmlns="" xmlns:a16="http://schemas.microsoft.com/office/drawing/2014/main" id="{F1AFBFB9-FD33-48B8-8182-9D8FAD022DCC}"/>
                </a:ext>
              </a:extLst>
            </p:cNvPr>
            <p:cNvSpPr>
              <a:spLocks noChangeArrowheads="1"/>
            </p:cNvSpPr>
            <p:nvPr/>
          </p:nvSpPr>
          <p:spPr bwMode="auto">
            <a:xfrm>
              <a:off x="4467" y="3094"/>
              <a:ext cx="376" cy="274"/>
            </a:xfrm>
            <a:prstGeom prst="rect">
              <a:avLst/>
            </a:prstGeom>
            <a:gradFill rotWithShape="0">
              <a:gsLst>
                <a:gs pos="0">
                  <a:srgbClr val="838383"/>
                </a:gs>
                <a:gs pos="50000">
                  <a:srgbClr val="EAEAEA"/>
                </a:gs>
                <a:gs pos="100000">
                  <a:srgbClr val="838383"/>
                </a:gs>
              </a:gsLst>
              <a:lin ang="0" scaled="1"/>
            </a:gradFill>
            <a:ln w="9525">
              <a:solidFill>
                <a:schemeClr val="bg2"/>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15" name="Group 58">
              <a:extLst>
                <a:ext uri="{FF2B5EF4-FFF2-40B4-BE49-F238E27FC236}">
                  <a16:creationId xmlns="" xmlns:a16="http://schemas.microsoft.com/office/drawing/2014/main" id="{C7D43D74-9411-4E9F-A5AA-8D6F8F3E9F10}"/>
                </a:ext>
              </a:extLst>
            </p:cNvPr>
            <p:cNvGrpSpPr>
              <a:grpSpLocks/>
            </p:cNvGrpSpPr>
            <p:nvPr/>
          </p:nvGrpSpPr>
          <p:grpSpPr bwMode="auto">
            <a:xfrm>
              <a:off x="4468" y="3038"/>
              <a:ext cx="378" cy="382"/>
              <a:chOff x="4468" y="3038"/>
              <a:chExt cx="378" cy="382"/>
            </a:xfrm>
          </p:grpSpPr>
          <p:sp>
            <p:nvSpPr>
              <p:cNvPr id="26707" name="Line 59">
                <a:extLst>
                  <a:ext uri="{FF2B5EF4-FFF2-40B4-BE49-F238E27FC236}">
                    <a16:creationId xmlns="" xmlns:a16="http://schemas.microsoft.com/office/drawing/2014/main" id="{583E7091-6B99-453B-B799-12117868305C}"/>
                  </a:ext>
                </a:extLst>
              </p:cNvPr>
              <p:cNvSpPr>
                <a:spLocks noChangeShapeType="1"/>
              </p:cNvSpPr>
              <p:nvPr/>
            </p:nvSpPr>
            <p:spPr bwMode="auto">
              <a:xfrm>
                <a:off x="4468" y="3087"/>
                <a:ext cx="0" cy="292"/>
              </a:xfrm>
              <a:prstGeom prst="line">
                <a:avLst/>
              </a:prstGeom>
              <a:noFill/>
              <a:ln w="9525">
                <a:solidFill>
                  <a:schemeClr val="bg2"/>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6708" name="Line 60">
                <a:extLst>
                  <a:ext uri="{FF2B5EF4-FFF2-40B4-BE49-F238E27FC236}">
                    <a16:creationId xmlns="" xmlns:a16="http://schemas.microsoft.com/office/drawing/2014/main" id="{589A0E18-4421-4947-B84F-6270211D00BA}"/>
                  </a:ext>
                </a:extLst>
              </p:cNvPr>
              <p:cNvSpPr>
                <a:spLocks noChangeShapeType="1"/>
              </p:cNvSpPr>
              <p:nvPr/>
            </p:nvSpPr>
            <p:spPr bwMode="auto">
              <a:xfrm>
                <a:off x="4846" y="3089"/>
                <a:ext cx="0" cy="292"/>
              </a:xfrm>
              <a:prstGeom prst="line">
                <a:avLst/>
              </a:prstGeom>
              <a:noFill/>
              <a:ln w="9525">
                <a:solidFill>
                  <a:schemeClr val="bg2"/>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6709" name="Oval 61">
                <a:extLst>
                  <a:ext uri="{FF2B5EF4-FFF2-40B4-BE49-F238E27FC236}">
                    <a16:creationId xmlns="" xmlns:a16="http://schemas.microsoft.com/office/drawing/2014/main" id="{9C882330-B394-424D-9774-D91090577370}"/>
                  </a:ext>
                </a:extLst>
              </p:cNvPr>
              <p:cNvSpPr>
                <a:spLocks noChangeArrowheads="1"/>
              </p:cNvSpPr>
              <p:nvPr/>
            </p:nvSpPr>
            <p:spPr bwMode="auto">
              <a:xfrm>
                <a:off x="4469" y="3038"/>
                <a:ext cx="376" cy="90"/>
              </a:xfrm>
              <a:prstGeom prst="ellipse">
                <a:avLst/>
              </a:prstGeom>
              <a:gradFill rotWithShape="0">
                <a:gsLst>
                  <a:gs pos="0">
                    <a:srgbClr val="838383"/>
                  </a:gs>
                  <a:gs pos="50000">
                    <a:srgbClr val="EAEAEA"/>
                  </a:gs>
                  <a:gs pos="100000">
                    <a:srgbClr val="838383"/>
                  </a:gs>
                </a:gsLst>
                <a:lin ang="0" scaled="1"/>
              </a:gradFill>
              <a:ln w="9525">
                <a:solidFill>
                  <a:schemeClr val="bg2"/>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6710" name="Oval 62">
                <a:extLst>
                  <a:ext uri="{FF2B5EF4-FFF2-40B4-BE49-F238E27FC236}">
                    <a16:creationId xmlns="" xmlns:a16="http://schemas.microsoft.com/office/drawing/2014/main" id="{CF345C1A-14C7-42B4-B064-114831EF4CDD}"/>
                  </a:ext>
                </a:extLst>
              </p:cNvPr>
              <p:cNvSpPr>
                <a:spLocks noChangeArrowheads="1"/>
              </p:cNvSpPr>
              <p:nvPr/>
            </p:nvSpPr>
            <p:spPr bwMode="auto">
              <a:xfrm>
                <a:off x="4469" y="3331"/>
                <a:ext cx="376" cy="89"/>
              </a:xfrm>
              <a:prstGeom prst="ellipse">
                <a:avLst/>
              </a:prstGeom>
              <a:gradFill rotWithShape="0">
                <a:gsLst>
                  <a:gs pos="0">
                    <a:srgbClr val="838383"/>
                  </a:gs>
                  <a:gs pos="50000">
                    <a:srgbClr val="EAEAEA"/>
                  </a:gs>
                  <a:gs pos="100000">
                    <a:srgbClr val="838383"/>
                  </a:gs>
                </a:gsLst>
                <a:lin ang="0" scaled="1"/>
              </a:gradFill>
              <a:ln w="9525">
                <a:solidFill>
                  <a:schemeClr val="bg2"/>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sp>
        <p:nvSpPr>
          <p:cNvPr id="26646" name="AutoShape 63">
            <a:extLst>
              <a:ext uri="{FF2B5EF4-FFF2-40B4-BE49-F238E27FC236}">
                <a16:creationId xmlns="" xmlns:a16="http://schemas.microsoft.com/office/drawing/2014/main" id="{5E0E5E4F-FC91-4027-98AF-052EAA1E7695}"/>
              </a:ext>
            </a:extLst>
          </p:cNvPr>
          <p:cNvSpPr>
            <a:spLocks noChangeArrowheads="1"/>
          </p:cNvSpPr>
          <p:nvPr/>
        </p:nvSpPr>
        <p:spPr bwMode="auto">
          <a:xfrm rot="2815000">
            <a:off x="3189288" y="4064000"/>
            <a:ext cx="230188" cy="338137"/>
          </a:xfrm>
          <a:prstGeom prst="downArrow">
            <a:avLst>
              <a:gd name="adj1" fmla="val 50000"/>
              <a:gd name="adj2" fmla="val 36724"/>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6647" name="AutoShape 64">
            <a:extLst>
              <a:ext uri="{FF2B5EF4-FFF2-40B4-BE49-F238E27FC236}">
                <a16:creationId xmlns="" xmlns:a16="http://schemas.microsoft.com/office/drawing/2014/main" id="{9580340A-88D1-4291-9DC6-E8C8B71C42CC}"/>
              </a:ext>
            </a:extLst>
          </p:cNvPr>
          <p:cNvSpPr>
            <a:spLocks noChangeArrowheads="1"/>
          </p:cNvSpPr>
          <p:nvPr/>
        </p:nvSpPr>
        <p:spPr bwMode="auto">
          <a:xfrm>
            <a:off x="3575050" y="4146550"/>
            <a:ext cx="269875" cy="288925"/>
          </a:xfrm>
          <a:prstGeom prst="downArrow">
            <a:avLst>
              <a:gd name="adj1" fmla="val 50000"/>
              <a:gd name="adj2" fmla="val 26765"/>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6648" name="AutoShape 65">
            <a:extLst>
              <a:ext uri="{FF2B5EF4-FFF2-40B4-BE49-F238E27FC236}">
                <a16:creationId xmlns="" xmlns:a16="http://schemas.microsoft.com/office/drawing/2014/main" id="{190D2C01-E37F-4A73-B831-B6061A3F4932}"/>
              </a:ext>
            </a:extLst>
          </p:cNvPr>
          <p:cNvSpPr>
            <a:spLocks noChangeArrowheads="1"/>
          </p:cNvSpPr>
          <p:nvPr/>
        </p:nvSpPr>
        <p:spPr bwMode="auto">
          <a:xfrm rot="-3021309">
            <a:off x="4000500" y="4064000"/>
            <a:ext cx="230188" cy="338138"/>
          </a:xfrm>
          <a:prstGeom prst="downArrow">
            <a:avLst>
              <a:gd name="adj1" fmla="val 50000"/>
              <a:gd name="adj2" fmla="val 36724"/>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6649" name="Text Box 66">
            <a:extLst>
              <a:ext uri="{FF2B5EF4-FFF2-40B4-BE49-F238E27FC236}">
                <a16:creationId xmlns="" xmlns:a16="http://schemas.microsoft.com/office/drawing/2014/main" id="{200CA19B-03F4-49F8-827D-FE2ED8E88725}"/>
              </a:ext>
            </a:extLst>
          </p:cNvPr>
          <p:cNvSpPr txBox="1">
            <a:spLocks noChangeArrowheads="1"/>
          </p:cNvSpPr>
          <p:nvPr/>
        </p:nvSpPr>
        <p:spPr bwMode="auto">
          <a:xfrm>
            <a:off x="3186113" y="5038725"/>
            <a:ext cx="933450" cy="274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Data Marts</a:t>
            </a:r>
          </a:p>
        </p:txBody>
      </p:sp>
      <p:sp>
        <p:nvSpPr>
          <p:cNvPr id="26650" name="Text Box 67">
            <a:extLst>
              <a:ext uri="{FF2B5EF4-FFF2-40B4-BE49-F238E27FC236}">
                <a16:creationId xmlns="" xmlns:a16="http://schemas.microsoft.com/office/drawing/2014/main" id="{A2B2B0B7-B790-4AE7-B222-EAC3236E85A5}"/>
              </a:ext>
            </a:extLst>
          </p:cNvPr>
          <p:cNvSpPr txBox="1">
            <a:spLocks noChangeArrowheads="1"/>
          </p:cNvSpPr>
          <p:nvPr/>
        </p:nvSpPr>
        <p:spPr bwMode="auto">
          <a:xfrm>
            <a:off x="3282950" y="2786063"/>
            <a:ext cx="92075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Data</a:t>
            </a:r>
          </a:p>
          <a:p>
            <a:pPr algn="ctr"/>
            <a:r>
              <a:rPr lang="en-US" altLang="en-US" sz="1200" b="1">
                <a:solidFill>
                  <a:srgbClr val="00001E"/>
                </a:solidFill>
                <a:latin typeface="Times New Roman" panose="02020603050405020304" pitchFamily="18" charset="0"/>
              </a:rPr>
              <a:t>Warehouse</a:t>
            </a:r>
          </a:p>
        </p:txBody>
      </p:sp>
      <p:sp>
        <p:nvSpPr>
          <p:cNvPr id="26651" name="AutoShape 68">
            <a:extLst>
              <a:ext uri="{FF2B5EF4-FFF2-40B4-BE49-F238E27FC236}">
                <a16:creationId xmlns="" xmlns:a16="http://schemas.microsoft.com/office/drawing/2014/main" id="{2BE85113-0A07-4E31-B586-DB06E8EABCDC}"/>
              </a:ext>
            </a:extLst>
          </p:cNvPr>
          <p:cNvSpPr>
            <a:spLocks noChangeArrowheads="1"/>
          </p:cNvSpPr>
          <p:nvPr/>
        </p:nvSpPr>
        <p:spPr bwMode="auto">
          <a:xfrm>
            <a:off x="5197475" y="4140200"/>
            <a:ext cx="809625" cy="692150"/>
          </a:xfrm>
          <a:prstGeom prst="cube">
            <a:avLst>
              <a:gd name="adj" fmla="val 25000"/>
            </a:avLst>
          </a:prstGeom>
          <a:solidFill>
            <a:schemeClr val="folHlink"/>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6652" name="AutoShape 69">
            <a:extLst>
              <a:ext uri="{FF2B5EF4-FFF2-40B4-BE49-F238E27FC236}">
                <a16:creationId xmlns="" xmlns:a16="http://schemas.microsoft.com/office/drawing/2014/main" id="{B3B06E57-E9C3-43DB-B3E9-593A28861055}"/>
              </a:ext>
            </a:extLst>
          </p:cNvPr>
          <p:cNvSpPr>
            <a:spLocks noChangeArrowheads="1"/>
          </p:cNvSpPr>
          <p:nvPr/>
        </p:nvSpPr>
        <p:spPr bwMode="auto">
          <a:xfrm>
            <a:off x="5129213" y="2587625"/>
            <a:ext cx="811212" cy="692150"/>
          </a:xfrm>
          <a:prstGeom prst="cube">
            <a:avLst>
              <a:gd name="adj" fmla="val 25000"/>
            </a:avLst>
          </a:prstGeom>
          <a:solidFill>
            <a:schemeClr val="folHlink"/>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6653" name="Text Box 70">
            <a:extLst>
              <a:ext uri="{FF2B5EF4-FFF2-40B4-BE49-F238E27FC236}">
                <a16:creationId xmlns="" xmlns:a16="http://schemas.microsoft.com/office/drawing/2014/main" id="{6AAE9DAF-BA18-405E-BB4A-60061669FB47}"/>
              </a:ext>
            </a:extLst>
          </p:cNvPr>
          <p:cNvSpPr txBox="1">
            <a:spLocks noChangeArrowheads="1"/>
          </p:cNvSpPr>
          <p:nvPr/>
        </p:nvSpPr>
        <p:spPr bwMode="auto">
          <a:xfrm>
            <a:off x="4960938" y="2355850"/>
            <a:ext cx="1320800" cy="274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e.g., MOLAP</a:t>
            </a:r>
          </a:p>
        </p:txBody>
      </p:sp>
      <p:sp>
        <p:nvSpPr>
          <p:cNvPr id="26654" name="Text Box 71">
            <a:extLst>
              <a:ext uri="{FF2B5EF4-FFF2-40B4-BE49-F238E27FC236}">
                <a16:creationId xmlns="" xmlns:a16="http://schemas.microsoft.com/office/drawing/2014/main" id="{EBD7B6EE-D287-4A7A-AF76-735907346B5E}"/>
              </a:ext>
            </a:extLst>
          </p:cNvPr>
          <p:cNvSpPr txBox="1">
            <a:spLocks noChangeArrowheads="1"/>
          </p:cNvSpPr>
          <p:nvPr/>
        </p:nvSpPr>
        <p:spPr bwMode="auto">
          <a:xfrm>
            <a:off x="5164138" y="3884613"/>
            <a:ext cx="1014412" cy="2746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e.g., ROLAP</a:t>
            </a:r>
          </a:p>
        </p:txBody>
      </p:sp>
      <p:sp>
        <p:nvSpPr>
          <p:cNvPr id="26655" name="Oval 72">
            <a:extLst>
              <a:ext uri="{FF2B5EF4-FFF2-40B4-BE49-F238E27FC236}">
                <a16:creationId xmlns="" xmlns:a16="http://schemas.microsoft.com/office/drawing/2014/main" id="{501367CF-7256-40E0-81FD-0A6035DB6C51}"/>
              </a:ext>
            </a:extLst>
          </p:cNvPr>
          <p:cNvSpPr>
            <a:spLocks noChangeArrowheads="1"/>
          </p:cNvSpPr>
          <p:nvPr/>
        </p:nvSpPr>
        <p:spPr bwMode="auto">
          <a:xfrm>
            <a:off x="6818313" y="2298700"/>
            <a:ext cx="1487487" cy="3060700"/>
          </a:xfrm>
          <a:prstGeom prst="ellipse">
            <a:avLst/>
          </a:prstGeom>
          <a:noFill/>
          <a:ln w="9525">
            <a:solidFill>
              <a:schemeClr val="bg2"/>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6656" name="AutoShape 73">
            <a:extLst>
              <a:ext uri="{FF2B5EF4-FFF2-40B4-BE49-F238E27FC236}">
                <a16:creationId xmlns="" xmlns:a16="http://schemas.microsoft.com/office/drawing/2014/main" id="{9884562B-62FF-44AD-ABB9-416E9A94F911}"/>
              </a:ext>
            </a:extLst>
          </p:cNvPr>
          <p:cNvSpPr>
            <a:spLocks noChangeArrowheads="1"/>
          </p:cNvSpPr>
          <p:nvPr/>
        </p:nvSpPr>
        <p:spPr bwMode="auto">
          <a:xfrm>
            <a:off x="4859338" y="3338513"/>
            <a:ext cx="1824037" cy="635000"/>
          </a:xfrm>
          <a:prstGeom prst="rightArrow">
            <a:avLst>
              <a:gd name="adj1" fmla="val 50000"/>
              <a:gd name="adj2" fmla="val 71812"/>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6657" name="Text Box 74">
            <a:extLst>
              <a:ext uri="{FF2B5EF4-FFF2-40B4-BE49-F238E27FC236}">
                <a16:creationId xmlns="" xmlns:a16="http://schemas.microsoft.com/office/drawing/2014/main" id="{2D89FB32-1F94-491F-923E-54050540ADCE}"/>
              </a:ext>
            </a:extLst>
          </p:cNvPr>
          <p:cNvSpPr txBox="1">
            <a:spLocks noChangeArrowheads="1"/>
          </p:cNvSpPr>
          <p:nvPr/>
        </p:nvSpPr>
        <p:spPr bwMode="auto">
          <a:xfrm>
            <a:off x="5349875" y="3562350"/>
            <a:ext cx="506413" cy="274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i="1">
                <a:solidFill>
                  <a:srgbClr val="00001E"/>
                </a:solidFill>
                <a:latin typeface="Times New Roman" panose="02020603050405020304" pitchFamily="18" charset="0"/>
              </a:rPr>
              <a:t>serve</a:t>
            </a:r>
            <a:endParaRPr lang="en-US" altLang="en-US" sz="1200" b="1">
              <a:solidFill>
                <a:srgbClr val="00001E"/>
              </a:solidFill>
              <a:latin typeface="Times New Roman" panose="02020603050405020304" pitchFamily="18" charset="0"/>
            </a:endParaRPr>
          </a:p>
        </p:txBody>
      </p:sp>
      <p:sp>
        <p:nvSpPr>
          <p:cNvPr id="26658" name="Rectangle 75">
            <a:extLst>
              <a:ext uri="{FF2B5EF4-FFF2-40B4-BE49-F238E27FC236}">
                <a16:creationId xmlns="" xmlns:a16="http://schemas.microsoft.com/office/drawing/2014/main" id="{A0716BEE-F176-4E83-927E-ABB1F2DE8DA3}"/>
              </a:ext>
            </a:extLst>
          </p:cNvPr>
          <p:cNvSpPr>
            <a:spLocks noChangeArrowheads="1"/>
          </p:cNvSpPr>
          <p:nvPr/>
        </p:nvSpPr>
        <p:spPr bwMode="auto">
          <a:xfrm>
            <a:off x="7224713" y="2701925"/>
            <a:ext cx="676275" cy="520700"/>
          </a:xfrm>
          <a:prstGeom prst="rect">
            <a:avLst/>
          </a:prstGeom>
          <a:noFill/>
          <a:ln w="12700">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6659" name="Line 76">
            <a:extLst>
              <a:ext uri="{FF2B5EF4-FFF2-40B4-BE49-F238E27FC236}">
                <a16:creationId xmlns="" xmlns:a16="http://schemas.microsoft.com/office/drawing/2014/main" id="{FD9DF078-EFB1-4662-9E68-4F5E4DECC54E}"/>
              </a:ext>
            </a:extLst>
          </p:cNvPr>
          <p:cNvSpPr>
            <a:spLocks noChangeShapeType="1"/>
          </p:cNvSpPr>
          <p:nvPr/>
        </p:nvSpPr>
        <p:spPr bwMode="auto">
          <a:xfrm>
            <a:off x="7224713" y="2760663"/>
            <a:ext cx="676275" cy="0"/>
          </a:xfrm>
          <a:prstGeom prst="line">
            <a:avLst/>
          </a:prstGeom>
          <a:noFill/>
          <a:ln w="1270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6660" name="Line 77">
            <a:extLst>
              <a:ext uri="{FF2B5EF4-FFF2-40B4-BE49-F238E27FC236}">
                <a16:creationId xmlns="" xmlns:a16="http://schemas.microsoft.com/office/drawing/2014/main" id="{C001F9C6-850C-4E67-B2D5-BFC55D3F1C5F}"/>
              </a:ext>
            </a:extLst>
          </p:cNvPr>
          <p:cNvSpPr>
            <a:spLocks noChangeShapeType="1"/>
          </p:cNvSpPr>
          <p:nvPr/>
        </p:nvSpPr>
        <p:spPr bwMode="auto">
          <a:xfrm>
            <a:off x="7562850" y="2701925"/>
            <a:ext cx="0" cy="52070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6661" name="Line 78">
            <a:extLst>
              <a:ext uri="{FF2B5EF4-FFF2-40B4-BE49-F238E27FC236}">
                <a16:creationId xmlns="" xmlns:a16="http://schemas.microsoft.com/office/drawing/2014/main" id="{1858BED3-EB5C-4397-A16F-ACD2F38B716A}"/>
              </a:ext>
            </a:extLst>
          </p:cNvPr>
          <p:cNvSpPr>
            <a:spLocks noChangeShapeType="1"/>
          </p:cNvSpPr>
          <p:nvPr/>
        </p:nvSpPr>
        <p:spPr bwMode="auto">
          <a:xfrm>
            <a:off x="7562850" y="2701925"/>
            <a:ext cx="0" cy="52070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6662" name="Line 79">
            <a:extLst>
              <a:ext uri="{FF2B5EF4-FFF2-40B4-BE49-F238E27FC236}">
                <a16:creationId xmlns="" xmlns:a16="http://schemas.microsoft.com/office/drawing/2014/main" id="{805AF268-FE3A-4495-964D-3BC688EDF6D9}"/>
              </a:ext>
            </a:extLst>
          </p:cNvPr>
          <p:cNvSpPr>
            <a:spLocks noChangeShapeType="1"/>
          </p:cNvSpPr>
          <p:nvPr/>
        </p:nvSpPr>
        <p:spPr bwMode="auto">
          <a:xfrm>
            <a:off x="7562850" y="2701925"/>
            <a:ext cx="0" cy="52070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6663" name="Line 80">
            <a:extLst>
              <a:ext uri="{FF2B5EF4-FFF2-40B4-BE49-F238E27FC236}">
                <a16:creationId xmlns="" xmlns:a16="http://schemas.microsoft.com/office/drawing/2014/main" id="{8443E11F-F64D-4059-9F3F-32702E66C7A1}"/>
              </a:ext>
            </a:extLst>
          </p:cNvPr>
          <p:cNvSpPr>
            <a:spLocks noChangeShapeType="1"/>
          </p:cNvSpPr>
          <p:nvPr/>
        </p:nvSpPr>
        <p:spPr bwMode="auto">
          <a:xfrm>
            <a:off x="7562850" y="2701925"/>
            <a:ext cx="0" cy="52070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6664" name="Line 81">
            <a:extLst>
              <a:ext uri="{FF2B5EF4-FFF2-40B4-BE49-F238E27FC236}">
                <a16:creationId xmlns="" xmlns:a16="http://schemas.microsoft.com/office/drawing/2014/main" id="{C5136C58-2AC2-4FB2-A01E-5A0454AE6325}"/>
              </a:ext>
            </a:extLst>
          </p:cNvPr>
          <p:cNvSpPr>
            <a:spLocks noChangeShapeType="1"/>
          </p:cNvSpPr>
          <p:nvPr/>
        </p:nvSpPr>
        <p:spPr bwMode="auto">
          <a:xfrm>
            <a:off x="7562850" y="2701925"/>
            <a:ext cx="0" cy="52070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6665" name="Line 82">
            <a:extLst>
              <a:ext uri="{FF2B5EF4-FFF2-40B4-BE49-F238E27FC236}">
                <a16:creationId xmlns="" xmlns:a16="http://schemas.microsoft.com/office/drawing/2014/main" id="{EDE3BED4-7971-4F50-B146-34A4EE423F72}"/>
              </a:ext>
            </a:extLst>
          </p:cNvPr>
          <p:cNvSpPr>
            <a:spLocks noChangeShapeType="1"/>
          </p:cNvSpPr>
          <p:nvPr/>
        </p:nvSpPr>
        <p:spPr bwMode="auto">
          <a:xfrm>
            <a:off x="7224713" y="2817813"/>
            <a:ext cx="676275" cy="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6666" name="Line 83">
            <a:extLst>
              <a:ext uri="{FF2B5EF4-FFF2-40B4-BE49-F238E27FC236}">
                <a16:creationId xmlns="" xmlns:a16="http://schemas.microsoft.com/office/drawing/2014/main" id="{DD781C37-3C72-4A7C-BA30-4EC90C4D564D}"/>
              </a:ext>
            </a:extLst>
          </p:cNvPr>
          <p:cNvSpPr>
            <a:spLocks noChangeShapeType="1"/>
          </p:cNvSpPr>
          <p:nvPr/>
        </p:nvSpPr>
        <p:spPr bwMode="auto">
          <a:xfrm>
            <a:off x="7224713" y="2874963"/>
            <a:ext cx="676275" cy="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6667" name="Line 84">
            <a:extLst>
              <a:ext uri="{FF2B5EF4-FFF2-40B4-BE49-F238E27FC236}">
                <a16:creationId xmlns="" xmlns:a16="http://schemas.microsoft.com/office/drawing/2014/main" id="{33C1ECC1-07D7-4E8C-AC36-6BF4E55D2E66}"/>
              </a:ext>
            </a:extLst>
          </p:cNvPr>
          <p:cNvSpPr>
            <a:spLocks noChangeShapeType="1"/>
          </p:cNvSpPr>
          <p:nvPr/>
        </p:nvSpPr>
        <p:spPr bwMode="auto">
          <a:xfrm>
            <a:off x="7224713" y="2933700"/>
            <a:ext cx="676275" cy="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6668" name="Line 85">
            <a:extLst>
              <a:ext uri="{FF2B5EF4-FFF2-40B4-BE49-F238E27FC236}">
                <a16:creationId xmlns="" xmlns:a16="http://schemas.microsoft.com/office/drawing/2014/main" id="{AE916B46-589A-4C27-A90C-F9EB6C4DF4D3}"/>
              </a:ext>
            </a:extLst>
          </p:cNvPr>
          <p:cNvSpPr>
            <a:spLocks noChangeShapeType="1"/>
          </p:cNvSpPr>
          <p:nvPr/>
        </p:nvSpPr>
        <p:spPr bwMode="auto">
          <a:xfrm>
            <a:off x="7224713" y="2990850"/>
            <a:ext cx="676275" cy="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6669" name="Line 86">
            <a:extLst>
              <a:ext uri="{FF2B5EF4-FFF2-40B4-BE49-F238E27FC236}">
                <a16:creationId xmlns="" xmlns:a16="http://schemas.microsoft.com/office/drawing/2014/main" id="{9885D031-367B-4806-AF5D-96806038D4D1}"/>
              </a:ext>
            </a:extLst>
          </p:cNvPr>
          <p:cNvSpPr>
            <a:spLocks noChangeShapeType="1"/>
          </p:cNvSpPr>
          <p:nvPr/>
        </p:nvSpPr>
        <p:spPr bwMode="auto">
          <a:xfrm>
            <a:off x="7224713" y="3049588"/>
            <a:ext cx="676275" cy="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6670" name="Line 87">
            <a:extLst>
              <a:ext uri="{FF2B5EF4-FFF2-40B4-BE49-F238E27FC236}">
                <a16:creationId xmlns="" xmlns:a16="http://schemas.microsoft.com/office/drawing/2014/main" id="{AE82C15E-485F-4D4E-B230-285BE4EAD2C8}"/>
              </a:ext>
            </a:extLst>
          </p:cNvPr>
          <p:cNvSpPr>
            <a:spLocks noChangeShapeType="1"/>
          </p:cNvSpPr>
          <p:nvPr/>
        </p:nvSpPr>
        <p:spPr bwMode="auto">
          <a:xfrm>
            <a:off x="7224713" y="3106738"/>
            <a:ext cx="676275" cy="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6671" name="Line 88">
            <a:extLst>
              <a:ext uri="{FF2B5EF4-FFF2-40B4-BE49-F238E27FC236}">
                <a16:creationId xmlns="" xmlns:a16="http://schemas.microsoft.com/office/drawing/2014/main" id="{6F96D380-EC2D-46F9-84C2-3F0F960FC4D6}"/>
              </a:ext>
            </a:extLst>
          </p:cNvPr>
          <p:cNvSpPr>
            <a:spLocks noChangeShapeType="1"/>
          </p:cNvSpPr>
          <p:nvPr/>
        </p:nvSpPr>
        <p:spPr bwMode="auto">
          <a:xfrm>
            <a:off x="7224713" y="3163888"/>
            <a:ext cx="676275" cy="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6672" name="Text Box 89">
            <a:extLst>
              <a:ext uri="{FF2B5EF4-FFF2-40B4-BE49-F238E27FC236}">
                <a16:creationId xmlns="" xmlns:a16="http://schemas.microsoft.com/office/drawing/2014/main" id="{9AF6EA6E-F55D-4529-B44F-5FEEDE25200B}"/>
              </a:ext>
            </a:extLst>
          </p:cNvPr>
          <p:cNvSpPr txBox="1">
            <a:spLocks noChangeArrowheads="1"/>
          </p:cNvSpPr>
          <p:nvPr/>
        </p:nvSpPr>
        <p:spPr bwMode="auto">
          <a:xfrm>
            <a:off x="7194550" y="2484438"/>
            <a:ext cx="733425" cy="2746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Analysis</a:t>
            </a:r>
          </a:p>
        </p:txBody>
      </p:sp>
      <p:sp>
        <p:nvSpPr>
          <p:cNvPr id="26673" name="Rectangle 90">
            <a:extLst>
              <a:ext uri="{FF2B5EF4-FFF2-40B4-BE49-F238E27FC236}">
                <a16:creationId xmlns="" xmlns:a16="http://schemas.microsoft.com/office/drawing/2014/main" id="{BABF33FD-AFAC-44C6-AEF9-0E6564DA77BF}"/>
              </a:ext>
            </a:extLst>
          </p:cNvPr>
          <p:cNvSpPr>
            <a:spLocks noChangeArrowheads="1"/>
          </p:cNvSpPr>
          <p:nvPr/>
        </p:nvSpPr>
        <p:spPr bwMode="auto">
          <a:xfrm>
            <a:off x="7191375" y="3511550"/>
            <a:ext cx="742950" cy="635000"/>
          </a:xfrm>
          <a:prstGeom prst="rect">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6674" name="Rectangle 91">
            <a:extLst>
              <a:ext uri="{FF2B5EF4-FFF2-40B4-BE49-F238E27FC236}">
                <a16:creationId xmlns="" xmlns:a16="http://schemas.microsoft.com/office/drawing/2014/main" id="{5EF3749A-CFF5-4064-8E83-D7693ECEBE21}"/>
              </a:ext>
            </a:extLst>
          </p:cNvPr>
          <p:cNvSpPr>
            <a:spLocks noChangeArrowheads="1"/>
          </p:cNvSpPr>
          <p:nvPr/>
        </p:nvSpPr>
        <p:spPr bwMode="auto">
          <a:xfrm>
            <a:off x="7156450" y="4492625"/>
            <a:ext cx="811213" cy="577850"/>
          </a:xfrm>
          <a:prstGeom prst="rect">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6675" name="Text Box 92">
            <a:extLst>
              <a:ext uri="{FF2B5EF4-FFF2-40B4-BE49-F238E27FC236}">
                <a16:creationId xmlns="" xmlns:a16="http://schemas.microsoft.com/office/drawing/2014/main" id="{407612B9-1215-420B-89EB-2597B4212D1D}"/>
              </a:ext>
            </a:extLst>
          </p:cNvPr>
          <p:cNvSpPr txBox="1">
            <a:spLocks noChangeArrowheads="1"/>
          </p:cNvSpPr>
          <p:nvPr/>
        </p:nvSpPr>
        <p:spPr bwMode="auto">
          <a:xfrm>
            <a:off x="6934200" y="3303588"/>
            <a:ext cx="1303338" cy="2746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Query/Reporting</a:t>
            </a:r>
          </a:p>
        </p:txBody>
      </p:sp>
      <p:sp>
        <p:nvSpPr>
          <p:cNvPr id="26676" name="Text Box 93">
            <a:extLst>
              <a:ext uri="{FF2B5EF4-FFF2-40B4-BE49-F238E27FC236}">
                <a16:creationId xmlns="" xmlns:a16="http://schemas.microsoft.com/office/drawing/2014/main" id="{CBC62DDD-200E-40F6-B4E1-6142293B083D}"/>
              </a:ext>
            </a:extLst>
          </p:cNvPr>
          <p:cNvSpPr txBox="1">
            <a:spLocks noChangeArrowheads="1"/>
          </p:cNvSpPr>
          <p:nvPr/>
        </p:nvSpPr>
        <p:spPr bwMode="auto">
          <a:xfrm>
            <a:off x="7080250" y="4229100"/>
            <a:ext cx="1009650" cy="274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Data Mining</a:t>
            </a:r>
          </a:p>
        </p:txBody>
      </p:sp>
      <p:sp>
        <p:nvSpPr>
          <p:cNvPr id="26677" name="Rectangle 94">
            <a:extLst>
              <a:ext uri="{FF2B5EF4-FFF2-40B4-BE49-F238E27FC236}">
                <a16:creationId xmlns="" xmlns:a16="http://schemas.microsoft.com/office/drawing/2014/main" id="{6F70D680-A654-452D-BFEC-9E4286381EF0}"/>
              </a:ext>
            </a:extLst>
          </p:cNvPr>
          <p:cNvSpPr>
            <a:spLocks noChangeArrowheads="1"/>
          </p:cNvSpPr>
          <p:nvPr/>
        </p:nvSpPr>
        <p:spPr bwMode="auto">
          <a:xfrm>
            <a:off x="7291388" y="3625850"/>
            <a:ext cx="68262" cy="520700"/>
          </a:xfrm>
          <a:prstGeom prst="rect">
            <a:avLst/>
          </a:prstGeom>
          <a:solidFill>
            <a:srgbClr val="EAEAEA"/>
          </a:solidFill>
          <a:ln w="9525">
            <a:solidFill>
              <a:schemeClr val="bg2"/>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6678" name="Rectangle 95">
            <a:extLst>
              <a:ext uri="{FF2B5EF4-FFF2-40B4-BE49-F238E27FC236}">
                <a16:creationId xmlns="" xmlns:a16="http://schemas.microsoft.com/office/drawing/2014/main" id="{CF2552E0-D7C9-46F9-A181-F6F44CE3A229}"/>
              </a:ext>
            </a:extLst>
          </p:cNvPr>
          <p:cNvSpPr>
            <a:spLocks noChangeArrowheads="1"/>
          </p:cNvSpPr>
          <p:nvPr/>
        </p:nvSpPr>
        <p:spPr bwMode="auto">
          <a:xfrm>
            <a:off x="7494588" y="3684588"/>
            <a:ext cx="68262" cy="461962"/>
          </a:xfrm>
          <a:prstGeom prst="rect">
            <a:avLst/>
          </a:prstGeom>
          <a:solidFill>
            <a:srgbClr val="EAEAEA"/>
          </a:solidFill>
          <a:ln w="9525">
            <a:solidFill>
              <a:schemeClr val="bg2"/>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6679" name="Rectangle 96">
            <a:extLst>
              <a:ext uri="{FF2B5EF4-FFF2-40B4-BE49-F238E27FC236}">
                <a16:creationId xmlns="" xmlns:a16="http://schemas.microsoft.com/office/drawing/2014/main" id="{CF0F14C8-771A-4950-A6E1-E6EE5CEC08AD}"/>
              </a:ext>
            </a:extLst>
          </p:cNvPr>
          <p:cNvSpPr>
            <a:spLocks noChangeArrowheads="1"/>
          </p:cNvSpPr>
          <p:nvPr/>
        </p:nvSpPr>
        <p:spPr bwMode="auto">
          <a:xfrm>
            <a:off x="7629525" y="3914775"/>
            <a:ext cx="134938" cy="231775"/>
          </a:xfrm>
          <a:prstGeom prst="rect">
            <a:avLst/>
          </a:prstGeom>
          <a:solidFill>
            <a:srgbClr val="EAEAEA"/>
          </a:solidFill>
          <a:ln w="9525">
            <a:solidFill>
              <a:schemeClr val="bg2"/>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6680" name="Rectangle 97">
            <a:extLst>
              <a:ext uri="{FF2B5EF4-FFF2-40B4-BE49-F238E27FC236}">
                <a16:creationId xmlns="" xmlns:a16="http://schemas.microsoft.com/office/drawing/2014/main" id="{F41B52F8-8A43-44B3-9885-A2EA1843358E}"/>
              </a:ext>
            </a:extLst>
          </p:cNvPr>
          <p:cNvSpPr>
            <a:spLocks noChangeArrowheads="1"/>
          </p:cNvSpPr>
          <p:nvPr/>
        </p:nvSpPr>
        <p:spPr bwMode="auto">
          <a:xfrm>
            <a:off x="7832725" y="3741738"/>
            <a:ext cx="68263" cy="404812"/>
          </a:xfrm>
          <a:prstGeom prst="rect">
            <a:avLst/>
          </a:prstGeom>
          <a:solidFill>
            <a:srgbClr val="EAEAEA"/>
          </a:solidFill>
          <a:ln w="9525">
            <a:solidFill>
              <a:schemeClr val="bg2"/>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6681" name="Line 98">
            <a:extLst>
              <a:ext uri="{FF2B5EF4-FFF2-40B4-BE49-F238E27FC236}">
                <a16:creationId xmlns="" xmlns:a16="http://schemas.microsoft.com/office/drawing/2014/main" id="{084B2EDF-2B90-4D6E-A9D6-0FBB750B1E20}"/>
              </a:ext>
            </a:extLst>
          </p:cNvPr>
          <p:cNvSpPr>
            <a:spLocks noChangeShapeType="1"/>
          </p:cNvSpPr>
          <p:nvPr/>
        </p:nvSpPr>
        <p:spPr bwMode="auto">
          <a:xfrm>
            <a:off x="7291388" y="4608513"/>
            <a:ext cx="541337"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6682" name="Line 99">
            <a:extLst>
              <a:ext uri="{FF2B5EF4-FFF2-40B4-BE49-F238E27FC236}">
                <a16:creationId xmlns="" xmlns:a16="http://schemas.microsoft.com/office/drawing/2014/main" id="{A21BAB64-C6C3-4542-911E-948C9486D0FC}"/>
              </a:ext>
            </a:extLst>
          </p:cNvPr>
          <p:cNvSpPr>
            <a:spLocks noChangeShapeType="1"/>
          </p:cNvSpPr>
          <p:nvPr/>
        </p:nvSpPr>
        <p:spPr bwMode="auto">
          <a:xfrm>
            <a:off x="7291388" y="4724400"/>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6683" name="Line 100">
            <a:extLst>
              <a:ext uri="{FF2B5EF4-FFF2-40B4-BE49-F238E27FC236}">
                <a16:creationId xmlns="" xmlns:a16="http://schemas.microsoft.com/office/drawing/2014/main" id="{94B061D3-B824-4D11-93CD-27C445F78508}"/>
              </a:ext>
            </a:extLst>
          </p:cNvPr>
          <p:cNvSpPr>
            <a:spLocks noChangeShapeType="1"/>
          </p:cNvSpPr>
          <p:nvPr/>
        </p:nvSpPr>
        <p:spPr bwMode="auto">
          <a:xfrm>
            <a:off x="7629525" y="4724400"/>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6684" name="Line 101">
            <a:extLst>
              <a:ext uri="{FF2B5EF4-FFF2-40B4-BE49-F238E27FC236}">
                <a16:creationId xmlns="" xmlns:a16="http://schemas.microsoft.com/office/drawing/2014/main" id="{3AE3E0E3-E46A-464F-84D0-212FA1AF21E6}"/>
              </a:ext>
            </a:extLst>
          </p:cNvPr>
          <p:cNvSpPr>
            <a:spLocks noChangeShapeType="1"/>
          </p:cNvSpPr>
          <p:nvPr/>
        </p:nvSpPr>
        <p:spPr bwMode="auto">
          <a:xfrm>
            <a:off x="7291388" y="4781550"/>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6685" name="Line 102">
            <a:extLst>
              <a:ext uri="{FF2B5EF4-FFF2-40B4-BE49-F238E27FC236}">
                <a16:creationId xmlns="" xmlns:a16="http://schemas.microsoft.com/office/drawing/2014/main" id="{6E5BFB44-D684-49C0-A84B-B7F84B489988}"/>
              </a:ext>
            </a:extLst>
          </p:cNvPr>
          <p:cNvSpPr>
            <a:spLocks noChangeShapeType="1"/>
          </p:cNvSpPr>
          <p:nvPr/>
        </p:nvSpPr>
        <p:spPr bwMode="auto">
          <a:xfrm>
            <a:off x="7291388" y="4840288"/>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6686" name="Line 103">
            <a:extLst>
              <a:ext uri="{FF2B5EF4-FFF2-40B4-BE49-F238E27FC236}">
                <a16:creationId xmlns="" xmlns:a16="http://schemas.microsoft.com/office/drawing/2014/main" id="{52EA31BC-7E64-45A7-9FF7-8169A139440C}"/>
              </a:ext>
            </a:extLst>
          </p:cNvPr>
          <p:cNvSpPr>
            <a:spLocks noChangeShapeType="1"/>
          </p:cNvSpPr>
          <p:nvPr/>
        </p:nvSpPr>
        <p:spPr bwMode="auto">
          <a:xfrm>
            <a:off x="7291388" y="4897438"/>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6687" name="Line 104">
            <a:extLst>
              <a:ext uri="{FF2B5EF4-FFF2-40B4-BE49-F238E27FC236}">
                <a16:creationId xmlns="" xmlns:a16="http://schemas.microsoft.com/office/drawing/2014/main" id="{4F673496-0F92-4589-BCC6-05BE80C501EB}"/>
              </a:ext>
            </a:extLst>
          </p:cNvPr>
          <p:cNvSpPr>
            <a:spLocks noChangeShapeType="1"/>
          </p:cNvSpPr>
          <p:nvPr/>
        </p:nvSpPr>
        <p:spPr bwMode="auto">
          <a:xfrm>
            <a:off x="7291388" y="4954588"/>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6688" name="Line 105">
            <a:extLst>
              <a:ext uri="{FF2B5EF4-FFF2-40B4-BE49-F238E27FC236}">
                <a16:creationId xmlns="" xmlns:a16="http://schemas.microsoft.com/office/drawing/2014/main" id="{13EC1796-0D5B-4693-8A28-A1A1409917D3}"/>
              </a:ext>
            </a:extLst>
          </p:cNvPr>
          <p:cNvSpPr>
            <a:spLocks noChangeShapeType="1"/>
          </p:cNvSpPr>
          <p:nvPr/>
        </p:nvSpPr>
        <p:spPr bwMode="auto">
          <a:xfrm>
            <a:off x="7629525" y="4781550"/>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6689" name="Line 106">
            <a:extLst>
              <a:ext uri="{FF2B5EF4-FFF2-40B4-BE49-F238E27FC236}">
                <a16:creationId xmlns="" xmlns:a16="http://schemas.microsoft.com/office/drawing/2014/main" id="{06DBCAA3-BA14-4BC8-A9C4-1D87823CC370}"/>
              </a:ext>
            </a:extLst>
          </p:cNvPr>
          <p:cNvSpPr>
            <a:spLocks noChangeShapeType="1"/>
          </p:cNvSpPr>
          <p:nvPr/>
        </p:nvSpPr>
        <p:spPr bwMode="auto">
          <a:xfrm>
            <a:off x="7629525" y="4840288"/>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6690" name="Line 107">
            <a:extLst>
              <a:ext uri="{FF2B5EF4-FFF2-40B4-BE49-F238E27FC236}">
                <a16:creationId xmlns="" xmlns:a16="http://schemas.microsoft.com/office/drawing/2014/main" id="{468994DB-A165-4ADF-8921-084043F7D4A7}"/>
              </a:ext>
            </a:extLst>
          </p:cNvPr>
          <p:cNvSpPr>
            <a:spLocks noChangeShapeType="1"/>
          </p:cNvSpPr>
          <p:nvPr/>
        </p:nvSpPr>
        <p:spPr bwMode="auto">
          <a:xfrm>
            <a:off x="7629525" y="4897438"/>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6691" name="Line 108">
            <a:extLst>
              <a:ext uri="{FF2B5EF4-FFF2-40B4-BE49-F238E27FC236}">
                <a16:creationId xmlns="" xmlns:a16="http://schemas.microsoft.com/office/drawing/2014/main" id="{C83035FC-2387-40E8-B8C7-9EED1B26CA07}"/>
              </a:ext>
            </a:extLst>
          </p:cNvPr>
          <p:cNvSpPr>
            <a:spLocks noChangeShapeType="1"/>
          </p:cNvSpPr>
          <p:nvPr/>
        </p:nvSpPr>
        <p:spPr bwMode="auto">
          <a:xfrm>
            <a:off x="7629525" y="4954588"/>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6692" name="Line 109">
            <a:extLst>
              <a:ext uri="{FF2B5EF4-FFF2-40B4-BE49-F238E27FC236}">
                <a16:creationId xmlns="" xmlns:a16="http://schemas.microsoft.com/office/drawing/2014/main" id="{14AE4679-7C20-4C9D-AF45-F0636AAE0242}"/>
              </a:ext>
            </a:extLst>
          </p:cNvPr>
          <p:cNvSpPr>
            <a:spLocks noChangeShapeType="1"/>
          </p:cNvSpPr>
          <p:nvPr/>
        </p:nvSpPr>
        <p:spPr bwMode="auto">
          <a:xfrm flipV="1">
            <a:off x="4452938" y="2990850"/>
            <a:ext cx="473075" cy="288925"/>
          </a:xfrm>
          <a:prstGeom prst="line">
            <a:avLst/>
          </a:prstGeom>
          <a:noFill/>
          <a:ln w="9525">
            <a:solidFill>
              <a:schemeClr val="bg2"/>
            </a:solidFill>
            <a:round/>
            <a:headEnd type="triangle" w="med" len="me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26693" name="Line 110">
            <a:extLst>
              <a:ext uri="{FF2B5EF4-FFF2-40B4-BE49-F238E27FC236}">
                <a16:creationId xmlns="" xmlns:a16="http://schemas.microsoft.com/office/drawing/2014/main" id="{574692EA-AE13-4E17-9236-66E66572C199}"/>
              </a:ext>
            </a:extLst>
          </p:cNvPr>
          <p:cNvSpPr>
            <a:spLocks noChangeShapeType="1"/>
          </p:cNvSpPr>
          <p:nvPr/>
        </p:nvSpPr>
        <p:spPr bwMode="auto">
          <a:xfrm flipV="1">
            <a:off x="4724400" y="4435475"/>
            <a:ext cx="404813" cy="115888"/>
          </a:xfrm>
          <a:prstGeom prst="line">
            <a:avLst/>
          </a:prstGeom>
          <a:noFill/>
          <a:ln w="9525">
            <a:solidFill>
              <a:schemeClr val="bg2"/>
            </a:solidFill>
            <a:round/>
            <a:headEnd type="triangle" w="med" len="me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26694" name="AutoShape 111">
            <a:extLst>
              <a:ext uri="{FF2B5EF4-FFF2-40B4-BE49-F238E27FC236}">
                <a16:creationId xmlns="" xmlns:a16="http://schemas.microsoft.com/office/drawing/2014/main" id="{D569D16D-DFEE-4729-9036-48E345B53F05}"/>
              </a:ext>
            </a:extLst>
          </p:cNvPr>
          <p:cNvSpPr>
            <a:spLocks noChangeArrowheads="1"/>
          </p:cNvSpPr>
          <p:nvPr/>
        </p:nvSpPr>
        <p:spPr bwMode="auto">
          <a:xfrm>
            <a:off x="6143625" y="2760663"/>
            <a:ext cx="674688" cy="461962"/>
          </a:xfrm>
          <a:prstGeom prst="rightArrow">
            <a:avLst>
              <a:gd name="adj1" fmla="val 50000"/>
              <a:gd name="adj2" fmla="val 55444"/>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i="1">
                <a:solidFill>
                  <a:srgbClr val="00001E"/>
                </a:solidFill>
                <a:latin typeface="Times New Roman" panose="02020603050405020304" pitchFamily="18" charset="0"/>
              </a:rPr>
              <a:t>serve</a:t>
            </a:r>
            <a:endParaRPr lang="en-US" altLang="en-US" sz="1200" b="1">
              <a:solidFill>
                <a:srgbClr val="00001E"/>
              </a:solidFill>
              <a:latin typeface="Times New Roman" panose="02020603050405020304" pitchFamily="18" charset="0"/>
            </a:endParaRPr>
          </a:p>
        </p:txBody>
      </p:sp>
      <p:sp>
        <p:nvSpPr>
          <p:cNvPr id="26695" name="AutoShape 112">
            <a:extLst>
              <a:ext uri="{FF2B5EF4-FFF2-40B4-BE49-F238E27FC236}">
                <a16:creationId xmlns="" xmlns:a16="http://schemas.microsoft.com/office/drawing/2014/main" id="{8FB6523B-9EFA-4AEE-83A1-BD0DD28303E2}"/>
              </a:ext>
            </a:extLst>
          </p:cNvPr>
          <p:cNvSpPr>
            <a:spLocks noChangeArrowheads="1"/>
          </p:cNvSpPr>
          <p:nvPr/>
        </p:nvSpPr>
        <p:spPr bwMode="auto">
          <a:xfrm>
            <a:off x="6143625" y="4203700"/>
            <a:ext cx="674688" cy="461963"/>
          </a:xfrm>
          <a:prstGeom prst="rightArrow">
            <a:avLst>
              <a:gd name="adj1" fmla="val 50000"/>
              <a:gd name="adj2" fmla="val 55444"/>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i="1">
                <a:solidFill>
                  <a:srgbClr val="00001E"/>
                </a:solidFill>
                <a:latin typeface="Times New Roman" panose="02020603050405020304" pitchFamily="18" charset="0"/>
              </a:rPr>
              <a:t>serve</a:t>
            </a:r>
            <a:endParaRPr lang="en-US" altLang="en-US" sz="1200" b="1">
              <a:solidFill>
                <a:srgbClr val="00001E"/>
              </a:solidFill>
              <a:latin typeface="Times New Roman" panose="02020603050405020304" pitchFamily="18" charset="0"/>
            </a:endParaRPr>
          </a:p>
        </p:txBody>
      </p:sp>
      <p:grpSp>
        <p:nvGrpSpPr>
          <p:cNvPr id="16" name="Group 113">
            <a:extLst>
              <a:ext uri="{FF2B5EF4-FFF2-40B4-BE49-F238E27FC236}">
                <a16:creationId xmlns="" xmlns:a16="http://schemas.microsoft.com/office/drawing/2014/main" id="{63350D2E-30D3-4CB6-8D88-94395D8A3A12}"/>
              </a:ext>
            </a:extLst>
          </p:cNvPr>
          <p:cNvGrpSpPr>
            <a:grpSpLocks/>
          </p:cNvGrpSpPr>
          <p:nvPr/>
        </p:nvGrpSpPr>
        <p:grpSpPr bwMode="auto">
          <a:xfrm>
            <a:off x="1905000" y="4684713"/>
            <a:ext cx="533400" cy="344487"/>
            <a:chOff x="4467" y="3038"/>
            <a:chExt cx="379" cy="382"/>
          </a:xfrm>
        </p:grpSpPr>
        <p:sp>
          <p:nvSpPr>
            <p:cNvPr id="26699" name="Rectangle 114">
              <a:extLst>
                <a:ext uri="{FF2B5EF4-FFF2-40B4-BE49-F238E27FC236}">
                  <a16:creationId xmlns="" xmlns:a16="http://schemas.microsoft.com/office/drawing/2014/main" id="{6CCB07C3-544F-49DC-B1E5-985A5A066080}"/>
                </a:ext>
              </a:extLst>
            </p:cNvPr>
            <p:cNvSpPr>
              <a:spLocks noChangeArrowheads="1"/>
            </p:cNvSpPr>
            <p:nvPr/>
          </p:nvSpPr>
          <p:spPr bwMode="auto">
            <a:xfrm>
              <a:off x="4467" y="3094"/>
              <a:ext cx="376" cy="274"/>
            </a:xfrm>
            <a:prstGeom prst="rect">
              <a:avLst/>
            </a:prstGeom>
            <a:solidFill>
              <a:srgbClr val="339966"/>
            </a:solidFill>
            <a:ln w="9525">
              <a:solidFill>
                <a:srgbClr val="339966"/>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17" name="Group 115">
              <a:extLst>
                <a:ext uri="{FF2B5EF4-FFF2-40B4-BE49-F238E27FC236}">
                  <a16:creationId xmlns="" xmlns:a16="http://schemas.microsoft.com/office/drawing/2014/main" id="{740CE077-ADE5-4F1A-B204-2BC570A3E727}"/>
                </a:ext>
              </a:extLst>
            </p:cNvPr>
            <p:cNvGrpSpPr>
              <a:grpSpLocks/>
            </p:cNvGrpSpPr>
            <p:nvPr/>
          </p:nvGrpSpPr>
          <p:grpSpPr bwMode="auto">
            <a:xfrm>
              <a:off x="4468" y="3038"/>
              <a:ext cx="378" cy="382"/>
              <a:chOff x="4468" y="3038"/>
              <a:chExt cx="378" cy="382"/>
            </a:xfrm>
          </p:grpSpPr>
          <p:sp>
            <p:nvSpPr>
              <p:cNvPr id="26701" name="Line 116">
                <a:extLst>
                  <a:ext uri="{FF2B5EF4-FFF2-40B4-BE49-F238E27FC236}">
                    <a16:creationId xmlns="" xmlns:a16="http://schemas.microsoft.com/office/drawing/2014/main" id="{D5796DFB-3DBA-49C1-944D-87CE03079793}"/>
                  </a:ext>
                </a:extLst>
              </p:cNvPr>
              <p:cNvSpPr>
                <a:spLocks noChangeShapeType="1"/>
              </p:cNvSpPr>
              <p:nvPr/>
            </p:nvSpPr>
            <p:spPr bwMode="auto">
              <a:xfrm>
                <a:off x="4468" y="3087"/>
                <a:ext cx="0" cy="292"/>
              </a:xfrm>
              <a:prstGeom prst="line">
                <a:avLst/>
              </a:prstGeom>
              <a:noFill/>
              <a:ln w="9525">
                <a:solidFill>
                  <a:srgbClr val="339966"/>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6702" name="Line 117">
                <a:extLst>
                  <a:ext uri="{FF2B5EF4-FFF2-40B4-BE49-F238E27FC236}">
                    <a16:creationId xmlns="" xmlns:a16="http://schemas.microsoft.com/office/drawing/2014/main" id="{83B48B43-4B82-4170-BFA3-3B3CF307B268}"/>
                  </a:ext>
                </a:extLst>
              </p:cNvPr>
              <p:cNvSpPr>
                <a:spLocks noChangeShapeType="1"/>
              </p:cNvSpPr>
              <p:nvPr/>
            </p:nvSpPr>
            <p:spPr bwMode="auto">
              <a:xfrm>
                <a:off x="4846" y="3089"/>
                <a:ext cx="0" cy="292"/>
              </a:xfrm>
              <a:prstGeom prst="line">
                <a:avLst/>
              </a:prstGeom>
              <a:noFill/>
              <a:ln w="9525">
                <a:solidFill>
                  <a:srgbClr val="339966"/>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6703" name="Oval 118">
                <a:extLst>
                  <a:ext uri="{FF2B5EF4-FFF2-40B4-BE49-F238E27FC236}">
                    <a16:creationId xmlns="" xmlns:a16="http://schemas.microsoft.com/office/drawing/2014/main" id="{DCD05D4E-E549-478D-B719-78943CC0620D}"/>
                  </a:ext>
                </a:extLst>
              </p:cNvPr>
              <p:cNvSpPr>
                <a:spLocks noChangeArrowheads="1"/>
              </p:cNvSpPr>
              <p:nvPr/>
            </p:nvSpPr>
            <p:spPr bwMode="auto">
              <a:xfrm>
                <a:off x="4469" y="3038"/>
                <a:ext cx="376" cy="90"/>
              </a:xfrm>
              <a:prstGeom prst="ellipse">
                <a:avLst/>
              </a:prstGeom>
              <a:gradFill rotWithShape="0">
                <a:gsLst>
                  <a:gs pos="0">
                    <a:srgbClr val="7C7C7C"/>
                  </a:gs>
                  <a:gs pos="50000">
                    <a:srgbClr val="DDDDDD"/>
                  </a:gs>
                  <a:gs pos="100000">
                    <a:srgbClr val="7C7C7C"/>
                  </a:gs>
                </a:gsLst>
                <a:lin ang="0" scaled="1"/>
              </a:gradFill>
              <a:ln w="9525">
                <a:solidFill>
                  <a:srgbClr val="339966"/>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6704" name="Oval 119">
                <a:extLst>
                  <a:ext uri="{FF2B5EF4-FFF2-40B4-BE49-F238E27FC236}">
                    <a16:creationId xmlns="" xmlns:a16="http://schemas.microsoft.com/office/drawing/2014/main" id="{2856EA2A-2382-44DB-9FEA-0A71AC7FC1E3}"/>
                  </a:ext>
                </a:extLst>
              </p:cNvPr>
              <p:cNvSpPr>
                <a:spLocks noChangeArrowheads="1"/>
              </p:cNvSpPr>
              <p:nvPr/>
            </p:nvSpPr>
            <p:spPr bwMode="auto">
              <a:xfrm>
                <a:off x="4469" y="3331"/>
                <a:ext cx="376" cy="89"/>
              </a:xfrm>
              <a:prstGeom prst="ellipse">
                <a:avLst/>
              </a:prstGeom>
              <a:solidFill>
                <a:srgbClr val="99CC00"/>
              </a:solidFill>
              <a:ln w="9525">
                <a:solidFill>
                  <a:srgbClr val="339966"/>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sp>
        <p:nvSpPr>
          <p:cNvPr id="26697" name="Text Box 120">
            <a:extLst>
              <a:ext uri="{FF2B5EF4-FFF2-40B4-BE49-F238E27FC236}">
                <a16:creationId xmlns="" xmlns:a16="http://schemas.microsoft.com/office/drawing/2014/main" id="{85150412-D63D-4078-94F0-348355F517DF}"/>
              </a:ext>
            </a:extLst>
          </p:cNvPr>
          <p:cNvSpPr txBox="1">
            <a:spLocks noChangeArrowheads="1"/>
          </p:cNvSpPr>
          <p:nvPr/>
        </p:nvSpPr>
        <p:spPr bwMode="auto">
          <a:xfrm>
            <a:off x="1681163" y="5038725"/>
            <a:ext cx="1001712" cy="274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Staging area</a:t>
            </a:r>
          </a:p>
        </p:txBody>
      </p:sp>
      <p:sp>
        <p:nvSpPr>
          <p:cNvPr id="26698" name="AutoShape 121">
            <a:extLst>
              <a:ext uri="{FF2B5EF4-FFF2-40B4-BE49-F238E27FC236}">
                <a16:creationId xmlns="" xmlns:a16="http://schemas.microsoft.com/office/drawing/2014/main" id="{751DF6FC-AE25-4AFB-A539-D38C31CE3381}"/>
              </a:ext>
            </a:extLst>
          </p:cNvPr>
          <p:cNvSpPr>
            <a:spLocks noChangeArrowheads="1"/>
          </p:cNvSpPr>
          <p:nvPr/>
        </p:nvSpPr>
        <p:spPr bwMode="auto">
          <a:xfrm>
            <a:off x="2070100" y="4152900"/>
            <a:ext cx="182563" cy="457200"/>
          </a:xfrm>
          <a:prstGeom prst="downArrow">
            <a:avLst>
              <a:gd name="adj1" fmla="val 50000"/>
              <a:gd name="adj2" fmla="val 62609"/>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a:extLst>
              <a:ext uri="{FF2B5EF4-FFF2-40B4-BE49-F238E27FC236}">
                <a16:creationId xmlns="" xmlns:a16="http://schemas.microsoft.com/office/drawing/2014/main" id="{761B4EA9-75A6-473E-9E72-40C3C6CEEFD7}"/>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84ED1168-4A38-4F94-A115-F3E79C425DE1}" type="slidenum">
              <a:rPr lang="sv-SE" altLang="en-US">
                <a:latin typeface="Garamond" panose="02020404030301010803" pitchFamily="18" charset="0"/>
              </a:rPr>
              <a:pPr eaLnBrk="1" hangingPunct="1"/>
              <a:t>25</a:t>
            </a:fld>
            <a:endParaRPr lang="sv-SE" altLang="en-US">
              <a:latin typeface="Garamond" panose="02020404030301010803" pitchFamily="18" charset="0"/>
            </a:endParaRPr>
          </a:p>
        </p:txBody>
      </p:sp>
      <p:sp>
        <p:nvSpPr>
          <p:cNvPr id="27651" name="Rectangle 2">
            <a:extLst>
              <a:ext uri="{FF2B5EF4-FFF2-40B4-BE49-F238E27FC236}">
                <a16:creationId xmlns="" xmlns:a16="http://schemas.microsoft.com/office/drawing/2014/main" id="{C4AE7585-652C-4B62-BB34-E80B6A22FAD6}"/>
              </a:ext>
            </a:extLst>
          </p:cNvPr>
          <p:cNvSpPr>
            <a:spLocks noGrp="1" noChangeArrowheads="1"/>
          </p:cNvSpPr>
          <p:nvPr>
            <p:ph type="title"/>
          </p:nvPr>
        </p:nvSpPr>
        <p:spPr>
          <a:xfrm>
            <a:off x="685800" y="457200"/>
            <a:ext cx="7772400" cy="1143000"/>
          </a:xfrm>
        </p:spPr>
        <p:txBody>
          <a:bodyPr/>
          <a:lstStyle/>
          <a:p>
            <a:pPr eaLnBrk="1" hangingPunct="1"/>
            <a:r>
              <a:rPr lang="en-US" altLang="en-US" sz="3400">
                <a:ea typeface="ＭＳ Ｐゴシック" panose="020B0600070205080204" pitchFamily="34" charset="-128"/>
              </a:rPr>
              <a:t>2. Data Staging Component</a:t>
            </a:r>
          </a:p>
        </p:txBody>
      </p:sp>
      <p:sp>
        <p:nvSpPr>
          <p:cNvPr id="27652" name="Rectangle 3">
            <a:extLst>
              <a:ext uri="{FF2B5EF4-FFF2-40B4-BE49-F238E27FC236}">
                <a16:creationId xmlns="" xmlns:a16="http://schemas.microsoft.com/office/drawing/2014/main" id="{15A7045E-B100-4389-A8D6-21079067E7AE}"/>
              </a:ext>
            </a:extLst>
          </p:cNvPr>
          <p:cNvSpPr>
            <a:spLocks noGrp="1" noChangeArrowheads="1"/>
          </p:cNvSpPr>
          <p:nvPr>
            <p:ph type="body" idx="1"/>
          </p:nvPr>
        </p:nvSpPr>
        <p:spPr>
          <a:xfrm>
            <a:off x="914400" y="1219200"/>
            <a:ext cx="7467600" cy="5105400"/>
          </a:xfrm>
        </p:spPr>
        <p:txBody>
          <a:bodyPr/>
          <a:lstStyle/>
          <a:p>
            <a:pPr eaLnBrk="1" hangingPunct="1">
              <a:lnSpc>
                <a:spcPct val="80000"/>
              </a:lnSpc>
            </a:pPr>
            <a:r>
              <a:rPr lang="en-US" altLang="en-US" sz="2600">
                <a:ea typeface="ＭＳ Ｐゴシック" panose="020B0600070205080204" pitchFamily="34" charset="-128"/>
                <a:cs typeface="Times New Roman" panose="02020603050405020304" pitchFamily="18" charset="0"/>
              </a:rPr>
              <a:t>After data is extracted, data is to be prepared</a:t>
            </a:r>
          </a:p>
          <a:p>
            <a:pPr eaLnBrk="1" hangingPunct="1">
              <a:lnSpc>
                <a:spcPct val="80000"/>
              </a:lnSpc>
            </a:pPr>
            <a:r>
              <a:rPr lang="en-US" altLang="en-US" sz="2600">
                <a:ea typeface="ＭＳ Ｐゴシック" panose="020B0600070205080204" pitchFamily="34" charset="-128"/>
                <a:cs typeface="Times New Roman" panose="02020603050405020304" pitchFamily="18" charset="0"/>
              </a:rPr>
              <a:t>Data extracted from sources needs to be changed, converted and made ready in suitable format</a:t>
            </a:r>
          </a:p>
          <a:p>
            <a:pPr eaLnBrk="1" hangingPunct="1">
              <a:lnSpc>
                <a:spcPct val="80000"/>
              </a:lnSpc>
            </a:pPr>
            <a:r>
              <a:rPr lang="en-US" altLang="en-US" sz="2600">
                <a:ea typeface="ＭＳ Ｐゴシック" panose="020B0600070205080204" pitchFamily="34" charset="-128"/>
                <a:cs typeface="Times New Roman" panose="02020603050405020304" pitchFamily="18" charset="0"/>
              </a:rPr>
              <a:t>Three major functions to make data ready </a:t>
            </a:r>
          </a:p>
          <a:p>
            <a:pPr lvl="1" eaLnBrk="1" hangingPunct="1">
              <a:lnSpc>
                <a:spcPct val="80000"/>
              </a:lnSpc>
            </a:pPr>
            <a:r>
              <a:rPr lang="en-US" altLang="en-US" sz="2200">
                <a:ea typeface="ＭＳ Ｐゴシック" panose="020B0600070205080204" pitchFamily="34" charset="-128"/>
              </a:rPr>
              <a:t>Extract</a:t>
            </a:r>
          </a:p>
          <a:p>
            <a:pPr lvl="1" eaLnBrk="1" hangingPunct="1">
              <a:lnSpc>
                <a:spcPct val="80000"/>
              </a:lnSpc>
            </a:pPr>
            <a:r>
              <a:rPr lang="en-US" altLang="en-US" sz="2200">
                <a:ea typeface="ＭＳ Ｐゴシック" panose="020B0600070205080204" pitchFamily="34" charset="-128"/>
              </a:rPr>
              <a:t>Transform</a:t>
            </a:r>
          </a:p>
          <a:p>
            <a:pPr lvl="1" eaLnBrk="1" hangingPunct="1">
              <a:lnSpc>
                <a:spcPct val="80000"/>
              </a:lnSpc>
            </a:pPr>
            <a:r>
              <a:rPr lang="en-US" altLang="en-US" sz="2200">
                <a:ea typeface="ＭＳ Ｐゴシック" panose="020B0600070205080204" pitchFamily="34" charset="-128"/>
              </a:rPr>
              <a:t>Load</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a:extLst>
              <a:ext uri="{FF2B5EF4-FFF2-40B4-BE49-F238E27FC236}">
                <a16:creationId xmlns="" xmlns:a16="http://schemas.microsoft.com/office/drawing/2014/main" id="{D8B3A373-84B7-4019-B880-23FBE9160634}"/>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B39920BD-6910-47C7-BD9B-AB4897F2C1A9}" type="slidenum">
              <a:rPr lang="sv-SE" altLang="en-US">
                <a:latin typeface="Garamond" panose="02020404030301010803" pitchFamily="18" charset="0"/>
              </a:rPr>
              <a:pPr eaLnBrk="1" hangingPunct="1"/>
              <a:t>26</a:t>
            </a:fld>
            <a:endParaRPr lang="sv-SE" altLang="en-US">
              <a:latin typeface="Garamond" panose="02020404030301010803" pitchFamily="18" charset="0"/>
            </a:endParaRPr>
          </a:p>
        </p:txBody>
      </p:sp>
      <p:sp>
        <p:nvSpPr>
          <p:cNvPr id="28675" name="Rectangle 2">
            <a:extLst>
              <a:ext uri="{FF2B5EF4-FFF2-40B4-BE49-F238E27FC236}">
                <a16:creationId xmlns="" xmlns:a16="http://schemas.microsoft.com/office/drawing/2014/main" id="{79445DFF-D28F-45D6-883E-0D0A9624AEF4}"/>
              </a:ext>
            </a:extLst>
          </p:cNvPr>
          <p:cNvSpPr>
            <a:spLocks noGrp="1" noChangeArrowheads="1"/>
          </p:cNvSpPr>
          <p:nvPr>
            <p:ph type="title"/>
          </p:nvPr>
        </p:nvSpPr>
        <p:spPr>
          <a:xfrm>
            <a:off x="685800" y="457200"/>
            <a:ext cx="7772400" cy="1143000"/>
          </a:xfrm>
        </p:spPr>
        <p:txBody>
          <a:bodyPr/>
          <a:lstStyle/>
          <a:p>
            <a:pPr eaLnBrk="1" hangingPunct="1"/>
            <a:r>
              <a:rPr lang="en-US" altLang="en-US" sz="3400">
                <a:ea typeface="ＭＳ Ｐゴシック" panose="020B0600070205080204" pitchFamily="34" charset="-128"/>
              </a:rPr>
              <a:t>Architecture of DW</a:t>
            </a:r>
          </a:p>
        </p:txBody>
      </p:sp>
      <p:sp>
        <p:nvSpPr>
          <p:cNvPr id="28676" name="Text Box 3">
            <a:extLst>
              <a:ext uri="{FF2B5EF4-FFF2-40B4-BE49-F238E27FC236}">
                <a16:creationId xmlns="" xmlns:a16="http://schemas.microsoft.com/office/drawing/2014/main" id="{57E2FC4B-C18E-409E-AA25-FFCE90FB06B6}"/>
              </a:ext>
            </a:extLst>
          </p:cNvPr>
          <p:cNvSpPr txBox="1">
            <a:spLocks noChangeArrowheads="1"/>
          </p:cNvSpPr>
          <p:nvPr/>
        </p:nvSpPr>
        <p:spPr bwMode="auto">
          <a:xfrm>
            <a:off x="533400" y="1828800"/>
            <a:ext cx="1525588" cy="274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b="1" u="sng">
                <a:solidFill>
                  <a:srgbClr val="00001E"/>
                </a:solidFill>
                <a:latin typeface="Times New Roman" panose="02020603050405020304" pitchFamily="18" charset="0"/>
              </a:rPr>
              <a:t>Information Sources</a:t>
            </a:r>
            <a:endParaRPr lang="en-US" altLang="en-US" sz="1200" b="1">
              <a:solidFill>
                <a:srgbClr val="00001E"/>
              </a:solidFill>
              <a:latin typeface="Times New Roman" panose="02020603050405020304" pitchFamily="18" charset="0"/>
            </a:endParaRPr>
          </a:p>
        </p:txBody>
      </p:sp>
      <p:sp>
        <p:nvSpPr>
          <p:cNvPr id="28677" name="Text Box 4">
            <a:extLst>
              <a:ext uri="{FF2B5EF4-FFF2-40B4-BE49-F238E27FC236}">
                <a16:creationId xmlns="" xmlns:a16="http://schemas.microsoft.com/office/drawing/2014/main" id="{BFAFCF06-C39F-4006-8462-F5E5A1A0C6EC}"/>
              </a:ext>
            </a:extLst>
          </p:cNvPr>
          <p:cNvSpPr txBox="1">
            <a:spLocks noChangeArrowheads="1"/>
          </p:cNvSpPr>
          <p:nvPr/>
        </p:nvSpPr>
        <p:spPr bwMode="auto">
          <a:xfrm>
            <a:off x="3081338" y="1828800"/>
            <a:ext cx="1309687" cy="6397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u="sng">
                <a:solidFill>
                  <a:srgbClr val="00001E"/>
                </a:solidFill>
                <a:latin typeface="Times New Roman" panose="02020603050405020304" pitchFamily="18" charset="0"/>
              </a:rPr>
              <a:t>Data Warehouse </a:t>
            </a:r>
          </a:p>
          <a:p>
            <a:pPr algn="ctr"/>
            <a:r>
              <a:rPr lang="en-US" altLang="en-US" sz="1200" b="1" u="sng">
                <a:solidFill>
                  <a:srgbClr val="00001E"/>
                </a:solidFill>
                <a:latin typeface="Times New Roman" panose="02020603050405020304" pitchFamily="18" charset="0"/>
              </a:rPr>
              <a:t>Server</a:t>
            </a:r>
          </a:p>
          <a:p>
            <a:pPr algn="ctr"/>
            <a:r>
              <a:rPr lang="en-US" altLang="en-US" sz="1200" b="1">
                <a:solidFill>
                  <a:srgbClr val="00001E"/>
                </a:solidFill>
                <a:latin typeface="Times New Roman" panose="02020603050405020304" pitchFamily="18" charset="0"/>
              </a:rPr>
              <a:t>(Tier 1)</a:t>
            </a:r>
          </a:p>
        </p:txBody>
      </p:sp>
      <p:sp>
        <p:nvSpPr>
          <p:cNvPr id="28678" name="Text Box 5">
            <a:extLst>
              <a:ext uri="{FF2B5EF4-FFF2-40B4-BE49-F238E27FC236}">
                <a16:creationId xmlns="" xmlns:a16="http://schemas.microsoft.com/office/drawing/2014/main" id="{EE92C449-0AF0-4758-90AB-D02A81E8FE0B}"/>
              </a:ext>
            </a:extLst>
          </p:cNvPr>
          <p:cNvSpPr txBox="1">
            <a:spLocks noChangeArrowheads="1"/>
          </p:cNvSpPr>
          <p:nvPr/>
        </p:nvSpPr>
        <p:spPr bwMode="auto">
          <a:xfrm>
            <a:off x="5100638" y="1828800"/>
            <a:ext cx="1138237"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u="sng">
                <a:solidFill>
                  <a:srgbClr val="00001E"/>
                </a:solidFill>
                <a:latin typeface="Times New Roman" panose="02020603050405020304" pitchFamily="18" charset="0"/>
              </a:rPr>
              <a:t>OLAP Servers</a:t>
            </a:r>
          </a:p>
          <a:p>
            <a:pPr algn="ctr"/>
            <a:r>
              <a:rPr lang="en-US" altLang="en-US" sz="1200" b="1">
                <a:solidFill>
                  <a:srgbClr val="00001E"/>
                </a:solidFill>
                <a:latin typeface="Times New Roman" panose="02020603050405020304" pitchFamily="18" charset="0"/>
              </a:rPr>
              <a:t>(Tier 2)</a:t>
            </a:r>
          </a:p>
        </p:txBody>
      </p:sp>
      <p:sp>
        <p:nvSpPr>
          <p:cNvPr id="28679" name="Text Box 6">
            <a:extLst>
              <a:ext uri="{FF2B5EF4-FFF2-40B4-BE49-F238E27FC236}">
                <a16:creationId xmlns="" xmlns:a16="http://schemas.microsoft.com/office/drawing/2014/main" id="{7DB3BC4B-2537-45E6-A7DF-FE7DE9E9C73C}"/>
              </a:ext>
            </a:extLst>
          </p:cNvPr>
          <p:cNvSpPr txBox="1">
            <a:spLocks noChangeArrowheads="1"/>
          </p:cNvSpPr>
          <p:nvPr/>
        </p:nvSpPr>
        <p:spPr bwMode="auto">
          <a:xfrm>
            <a:off x="7291388" y="1828800"/>
            <a:ext cx="681037"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b="1" u="sng">
                <a:solidFill>
                  <a:srgbClr val="00001E"/>
                </a:solidFill>
                <a:latin typeface="Times New Roman" panose="02020603050405020304" pitchFamily="18" charset="0"/>
              </a:rPr>
              <a:t>Clients</a:t>
            </a:r>
          </a:p>
          <a:p>
            <a:r>
              <a:rPr lang="en-US" altLang="en-US" sz="1200" b="1">
                <a:solidFill>
                  <a:srgbClr val="00001E"/>
                </a:solidFill>
                <a:latin typeface="Times New Roman" panose="02020603050405020304" pitchFamily="18" charset="0"/>
              </a:rPr>
              <a:t>(Tier 3)</a:t>
            </a:r>
          </a:p>
        </p:txBody>
      </p:sp>
      <p:sp>
        <p:nvSpPr>
          <p:cNvPr id="28680" name="Oval 7">
            <a:extLst>
              <a:ext uri="{FF2B5EF4-FFF2-40B4-BE49-F238E27FC236}">
                <a16:creationId xmlns="" xmlns:a16="http://schemas.microsoft.com/office/drawing/2014/main" id="{B4832280-0E3B-45FB-A07A-C4B327FE85EC}"/>
              </a:ext>
            </a:extLst>
          </p:cNvPr>
          <p:cNvSpPr>
            <a:spLocks noChangeArrowheads="1"/>
          </p:cNvSpPr>
          <p:nvPr/>
        </p:nvSpPr>
        <p:spPr bwMode="auto">
          <a:xfrm>
            <a:off x="533400" y="2990850"/>
            <a:ext cx="1014413" cy="173038"/>
          </a:xfrm>
          <a:prstGeom prst="ellipse">
            <a:avLst/>
          </a:prstGeom>
          <a:noFill/>
          <a:ln w="9525">
            <a:solidFill>
              <a:schemeClr val="bg2"/>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8681" name="Oval 8">
            <a:extLst>
              <a:ext uri="{FF2B5EF4-FFF2-40B4-BE49-F238E27FC236}">
                <a16:creationId xmlns="" xmlns:a16="http://schemas.microsoft.com/office/drawing/2014/main" id="{FBCBB0DE-4EC9-44D6-85B1-BE903522F507}"/>
              </a:ext>
            </a:extLst>
          </p:cNvPr>
          <p:cNvSpPr>
            <a:spLocks noChangeArrowheads="1"/>
          </p:cNvSpPr>
          <p:nvPr/>
        </p:nvSpPr>
        <p:spPr bwMode="auto">
          <a:xfrm>
            <a:off x="601663" y="3106738"/>
            <a:ext cx="1012825" cy="173037"/>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2" name="Group 9">
            <a:extLst>
              <a:ext uri="{FF2B5EF4-FFF2-40B4-BE49-F238E27FC236}">
                <a16:creationId xmlns="" xmlns:a16="http://schemas.microsoft.com/office/drawing/2014/main" id="{5E74098B-6E08-49FC-A8D1-3F9F6A841084}"/>
              </a:ext>
            </a:extLst>
          </p:cNvPr>
          <p:cNvGrpSpPr>
            <a:grpSpLocks/>
          </p:cNvGrpSpPr>
          <p:nvPr/>
        </p:nvGrpSpPr>
        <p:grpSpPr bwMode="auto">
          <a:xfrm>
            <a:off x="533400" y="4376738"/>
            <a:ext cx="533400" cy="460375"/>
            <a:chOff x="4467" y="3038"/>
            <a:chExt cx="379" cy="382"/>
          </a:xfrm>
        </p:grpSpPr>
        <p:sp>
          <p:nvSpPr>
            <p:cNvPr id="28789" name="Rectangle 10">
              <a:extLst>
                <a:ext uri="{FF2B5EF4-FFF2-40B4-BE49-F238E27FC236}">
                  <a16:creationId xmlns="" xmlns:a16="http://schemas.microsoft.com/office/drawing/2014/main" id="{1A1AF9C2-0C4B-484A-A335-6B470BAB37DA}"/>
                </a:ext>
              </a:extLst>
            </p:cNvPr>
            <p:cNvSpPr>
              <a:spLocks noChangeArrowheads="1"/>
            </p:cNvSpPr>
            <p:nvPr/>
          </p:nvSpPr>
          <p:spPr bwMode="auto">
            <a:xfrm>
              <a:off x="4467" y="3094"/>
              <a:ext cx="376" cy="274"/>
            </a:xfrm>
            <a:prstGeom prst="rect">
              <a:avLst/>
            </a:prstGeom>
            <a:solidFill>
              <a:schemeClr val="bg1"/>
            </a:solidFill>
            <a:ln w="9525">
              <a:solidFill>
                <a:schemeClr val="bg1"/>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3" name="Group 11">
              <a:extLst>
                <a:ext uri="{FF2B5EF4-FFF2-40B4-BE49-F238E27FC236}">
                  <a16:creationId xmlns="" xmlns:a16="http://schemas.microsoft.com/office/drawing/2014/main" id="{2F384BED-F633-4E49-9F58-4AA9D30B2F49}"/>
                </a:ext>
              </a:extLst>
            </p:cNvPr>
            <p:cNvGrpSpPr>
              <a:grpSpLocks/>
            </p:cNvGrpSpPr>
            <p:nvPr/>
          </p:nvGrpSpPr>
          <p:grpSpPr bwMode="auto">
            <a:xfrm>
              <a:off x="4468" y="3038"/>
              <a:ext cx="378" cy="382"/>
              <a:chOff x="4468" y="3038"/>
              <a:chExt cx="378" cy="382"/>
            </a:xfrm>
          </p:grpSpPr>
          <p:sp>
            <p:nvSpPr>
              <p:cNvPr id="28791" name="Line 12">
                <a:extLst>
                  <a:ext uri="{FF2B5EF4-FFF2-40B4-BE49-F238E27FC236}">
                    <a16:creationId xmlns="" xmlns:a16="http://schemas.microsoft.com/office/drawing/2014/main" id="{E4CD9546-A6A6-4971-ABCC-12D78C2206DF}"/>
                  </a:ext>
                </a:extLst>
              </p:cNvPr>
              <p:cNvSpPr>
                <a:spLocks noChangeShapeType="1"/>
              </p:cNvSpPr>
              <p:nvPr/>
            </p:nvSpPr>
            <p:spPr bwMode="auto">
              <a:xfrm>
                <a:off x="4468" y="3087"/>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8792" name="Line 13">
                <a:extLst>
                  <a:ext uri="{FF2B5EF4-FFF2-40B4-BE49-F238E27FC236}">
                    <a16:creationId xmlns="" xmlns:a16="http://schemas.microsoft.com/office/drawing/2014/main" id="{7CFE718E-0950-4CED-AB8D-5908751528F0}"/>
                  </a:ext>
                </a:extLst>
              </p:cNvPr>
              <p:cNvSpPr>
                <a:spLocks noChangeShapeType="1"/>
              </p:cNvSpPr>
              <p:nvPr/>
            </p:nvSpPr>
            <p:spPr bwMode="auto">
              <a:xfrm>
                <a:off x="4846" y="3089"/>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8793" name="Oval 14">
                <a:extLst>
                  <a:ext uri="{FF2B5EF4-FFF2-40B4-BE49-F238E27FC236}">
                    <a16:creationId xmlns="" xmlns:a16="http://schemas.microsoft.com/office/drawing/2014/main" id="{ED81B388-C19E-45D3-A64E-93C8634AA902}"/>
                  </a:ext>
                </a:extLst>
              </p:cNvPr>
              <p:cNvSpPr>
                <a:spLocks noChangeArrowheads="1"/>
              </p:cNvSpPr>
              <p:nvPr/>
            </p:nvSpPr>
            <p:spPr bwMode="auto">
              <a:xfrm>
                <a:off x="4469" y="3038"/>
                <a:ext cx="376" cy="90"/>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8794" name="Oval 15">
                <a:extLst>
                  <a:ext uri="{FF2B5EF4-FFF2-40B4-BE49-F238E27FC236}">
                    <a16:creationId xmlns="" xmlns:a16="http://schemas.microsoft.com/office/drawing/2014/main" id="{F4D0CFC1-CD35-4E76-98A6-D7AA84017D7F}"/>
                  </a:ext>
                </a:extLst>
              </p:cNvPr>
              <p:cNvSpPr>
                <a:spLocks noChangeArrowheads="1"/>
              </p:cNvSpPr>
              <p:nvPr/>
            </p:nvSpPr>
            <p:spPr bwMode="auto">
              <a:xfrm>
                <a:off x="4469" y="3331"/>
                <a:ext cx="376" cy="89"/>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grpSp>
        <p:nvGrpSpPr>
          <p:cNvPr id="4" name="Group 16">
            <a:extLst>
              <a:ext uri="{FF2B5EF4-FFF2-40B4-BE49-F238E27FC236}">
                <a16:creationId xmlns="" xmlns:a16="http://schemas.microsoft.com/office/drawing/2014/main" id="{35BAC0BF-49DA-44B8-BD8B-3157E875E645}"/>
              </a:ext>
            </a:extLst>
          </p:cNvPr>
          <p:cNvGrpSpPr>
            <a:grpSpLocks/>
          </p:cNvGrpSpPr>
          <p:nvPr/>
        </p:nvGrpSpPr>
        <p:grpSpPr bwMode="auto">
          <a:xfrm>
            <a:off x="668338" y="4492625"/>
            <a:ext cx="533400" cy="460375"/>
            <a:chOff x="4467" y="3038"/>
            <a:chExt cx="379" cy="382"/>
          </a:xfrm>
        </p:grpSpPr>
        <p:sp>
          <p:nvSpPr>
            <p:cNvPr id="28783" name="Rectangle 17">
              <a:extLst>
                <a:ext uri="{FF2B5EF4-FFF2-40B4-BE49-F238E27FC236}">
                  <a16:creationId xmlns="" xmlns:a16="http://schemas.microsoft.com/office/drawing/2014/main" id="{B5C3A7DB-7B21-41C0-BF8B-41312D042FE9}"/>
                </a:ext>
              </a:extLst>
            </p:cNvPr>
            <p:cNvSpPr>
              <a:spLocks noChangeArrowheads="1"/>
            </p:cNvSpPr>
            <p:nvPr/>
          </p:nvSpPr>
          <p:spPr bwMode="auto">
            <a:xfrm>
              <a:off x="4467" y="3094"/>
              <a:ext cx="376" cy="274"/>
            </a:xfrm>
            <a:prstGeom prst="rect">
              <a:avLst/>
            </a:prstGeom>
            <a:solidFill>
              <a:schemeClr val="bg1"/>
            </a:solidFill>
            <a:ln w="9525">
              <a:solidFill>
                <a:schemeClr val="bg1"/>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5" name="Group 18">
              <a:extLst>
                <a:ext uri="{FF2B5EF4-FFF2-40B4-BE49-F238E27FC236}">
                  <a16:creationId xmlns="" xmlns:a16="http://schemas.microsoft.com/office/drawing/2014/main" id="{941FA916-7864-4C2F-8B02-90191D0383A8}"/>
                </a:ext>
              </a:extLst>
            </p:cNvPr>
            <p:cNvGrpSpPr>
              <a:grpSpLocks/>
            </p:cNvGrpSpPr>
            <p:nvPr/>
          </p:nvGrpSpPr>
          <p:grpSpPr bwMode="auto">
            <a:xfrm>
              <a:off x="4468" y="3038"/>
              <a:ext cx="378" cy="382"/>
              <a:chOff x="4468" y="3038"/>
              <a:chExt cx="378" cy="382"/>
            </a:xfrm>
          </p:grpSpPr>
          <p:sp>
            <p:nvSpPr>
              <p:cNvPr id="28785" name="Line 19">
                <a:extLst>
                  <a:ext uri="{FF2B5EF4-FFF2-40B4-BE49-F238E27FC236}">
                    <a16:creationId xmlns="" xmlns:a16="http://schemas.microsoft.com/office/drawing/2014/main" id="{F5975D5D-463D-42E9-8DD0-AFE9ECB5258E}"/>
                  </a:ext>
                </a:extLst>
              </p:cNvPr>
              <p:cNvSpPr>
                <a:spLocks noChangeShapeType="1"/>
              </p:cNvSpPr>
              <p:nvPr/>
            </p:nvSpPr>
            <p:spPr bwMode="auto">
              <a:xfrm>
                <a:off x="4468" y="3087"/>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8786" name="Line 20">
                <a:extLst>
                  <a:ext uri="{FF2B5EF4-FFF2-40B4-BE49-F238E27FC236}">
                    <a16:creationId xmlns="" xmlns:a16="http://schemas.microsoft.com/office/drawing/2014/main" id="{30D48E9A-0FF4-48BC-81AD-2297CA08498E}"/>
                  </a:ext>
                </a:extLst>
              </p:cNvPr>
              <p:cNvSpPr>
                <a:spLocks noChangeShapeType="1"/>
              </p:cNvSpPr>
              <p:nvPr/>
            </p:nvSpPr>
            <p:spPr bwMode="auto">
              <a:xfrm>
                <a:off x="4846" y="3089"/>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8787" name="Oval 21">
                <a:extLst>
                  <a:ext uri="{FF2B5EF4-FFF2-40B4-BE49-F238E27FC236}">
                    <a16:creationId xmlns="" xmlns:a16="http://schemas.microsoft.com/office/drawing/2014/main" id="{CA21B2EA-B484-4478-A136-2906DDF0F217}"/>
                  </a:ext>
                </a:extLst>
              </p:cNvPr>
              <p:cNvSpPr>
                <a:spLocks noChangeArrowheads="1"/>
              </p:cNvSpPr>
              <p:nvPr/>
            </p:nvSpPr>
            <p:spPr bwMode="auto">
              <a:xfrm>
                <a:off x="4469" y="3038"/>
                <a:ext cx="376" cy="90"/>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8788" name="Oval 22">
                <a:extLst>
                  <a:ext uri="{FF2B5EF4-FFF2-40B4-BE49-F238E27FC236}">
                    <a16:creationId xmlns="" xmlns:a16="http://schemas.microsoft.com/office/drawing/2014/main" id="{B5868FB8-7D30-4F68-8444-9DA702237D5B}"/>
                  </a:ext>
                </a:extLst>
              </p:cNvPr>
              <p:cNvSpPr>
                <a:spLocks noChangeArrowheads="1"/>
              </p:cNvSpPr>
              <p:nvPr/>
            </p:nvSpPr>
            <p:spPr bwMode="auto">
              <a:xfrm>
                <a:off x="4469" y="3331"/>
                <a:ext cx="376" cy="89"/>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grpSp>
        <p:nvGrpSpPr>
          <p:cNvPr id="6" name="Group 23">
            <a:extLst>
              <a:ext uri="{FF2B5EF4-FFF2-40B4-BE49-F238E27FC236}">
                <a16:creationId xmlns="" xmlns:a16="http://schemas.microsoft.com/office/drawing/2014/main" id="{0DE10ACA-4CD2-4A91-BEAE-67E68E22F5E4}"/>
              </a:ext>
            </a:extLst>
          </p:cNvPr>
          <p:cNvGrpSpPr>
            <a:grpSpLocks/>
          </p:cNvGrpSpPr>
          <p:nvPr/>
        </p:nvGrpSpPr>
        <p:grpSpPr bwMode="auto">
          <a:xfrm>
            <a:off x="803275" y="4608513"/>
            <a:ext cx="533400" cy="460375"/>
            <a:chOff x="4467" y="3038"/>
            <a:chExt cx="379" cy="382"/>
          </a:xfrm>
        </p:grpSpPr>
        <p:sp>
          <p:nvSpPr>
            <p:cNvPr id="28777" name="Rectangle 24">
              <a:extLst>
                <a:ext uri="{FF2B5EF4-FFF2-40B4-BE49-F238E27FC236}">
                  <a16:creationId xmlns="" xmlns:a16="http://schemas.microsoft.com/office/drawing/2014/main" id="{8DA3D94D-4876-4DAE-A715-D7E91C3821AB}"/>
                </a:ext>
              </a:extLst>
            </p:cNvPr>
            <p:cNvSpPr>
              <a:spLocks noChangeArrowheads="1"/>
            </p:cNvSpPr>
            <p:nvPr/>
          </p:nvSpPr>
          <p:spPr bwMode="auto">
            <a:xfrm>
              <a:off x="4467" y="3094"/>
              <a:ext cx="376" cy="274"/>
            </a:xfrm>
            <a:prstGeom prst="rect">
              <a:avLst/>
            </a:prstGeom>
            <a:solidFill>
              <a:schemeClr val="bg1"/>
            </a:solidFill>
            <a:ln w="9525">
              <a:solidFill>
                <a:schemeClr val="bg1"/>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7" name="Group 25">
              <a:extLst>
                <a:ext uri="{FF2B5EF4-FFF2-40B4-BE49-F238E27FC236}">
                  <a16:creationId xmlns="" xmlns:a16="http://schemas.microsoft.com/office/drawing/2014/main" id="{CB55123A-A702-4902-96BD-2D6869720AAB}"/>
                </a:ext>
              </a:extLst>
            </p:cNvPr>
            <p:cNvGrpSpPr>
              <a:grpSpLocks/>
            </p:cNvGrpSpPr>
            <p:nvPr/>
          </p:nvGrpSpPr>
          <p:grpSpPr bwMode="auto">
            <a:xfrm>
              <a:off x="4468" y="3038"/>
              <a:ext cx="378" cy="382"/>
              <a:chOff x="4468" y="3038"/>
              <a:chExt cx="378" cy="382"/>
            </a:xfrm>
          </p:grpSpPr>
          <p:sp>
            <p:nvSpPr>
              <p:cNvPr id="28779" name="Line 26">
                <a:extLst>
                  <a:ext uri="{FF2B5EF4-FFF2-40B4-BE49-F238E27FC236}">
                    <a16:creationId xmlns="" xmlns:a16="http://schemas.microsoft.com/office/drawing/2014/main" id="{9BC44B8A-3708-4799-B422-D2CC56F9ED85}"/>
                  </a:ext>
                </a:extLst>
              </p:cNvPr>
              <p:cNvSpPr>
                <a:spLocks noChangeShapeType="1"/>
              </p:cNvSpPr>
              <p:nvPr/>
            </p:nvSpPr>
            <p:spPr bwMode="auto">
              <a:xfrm>
                <a:off x="4468" y="3087"/>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8780" name="Line 27">
                <a:extLst>
                  <a:ext uri="{FF2B5EF4-FFF2-40B4-BE49-F238E27FC236}">
                    <a16:creationId xmlns="" xmlns:a16="http://schemas.microsoft.com/office/drawing/2014/main" id="{0AE2F9E8-A585-4FD0-8173-FB533D91EF83}"/>
                  </a:ext>
                </a:extLst>
              </p:cNvPr>
              <p:cNvSpPr>
                <a:spLocks noChangeShapeType="1"/>
              </p:cNvSpPr>
              <p:nvPr/>
            </p:nvSpPr>
            <p:spPr bwMode="auto">
              <a:xfrm>
                <a:off x="4846" y="3089"/>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8781" name="Oval 28">
                <a:extLst>
                  <a:ext uri="{FF2B5EF4-FFF2-40B4-BE49-F238E27FC236}">
                    <a16:creationId xmlns="" xmlns:a16="http://schemas.microsoft.com/office/drawing/2014/main" id="{892FD931-878B-47F7-9556-599412AE5A06}"/>
                  </a:ext>
                </a:extLst>
              </p:cNvPr>
              <p:cNvSpPr>
                <a:spLocks noChangeArrowheads="1"/>
              </p:cNvSpPr>
              <p:nvPr/>
            </p:nvSpPr>
            <p:spPr bwMode="auto">
              <a:xfrm>
                <a:off x="4469" y="3038"/>
                <a:ext cx="376" cy="90"/>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8782" name="Oval 29">
                <a:extLst>
                  <a:ext uri="{FF2B5EF4-FFF2-40B4-BE49-F238E27FC236}">
                    <a16:creationId xmlns="" xmlns:a16="http://schemas.microsoft.com/office/drawing/2014/main" id="{D91209C4-F11D-4D2D-8740-1AE000872792}"/>
                  </a:ext>
                </a:extLst>
              </p:cNvPr>
              <p:cNvSpPr>
                <a:spLocks noChangeArrowheads="1"/>
              </p:cNvSpPr>
              <p:nvPr/>
            </p:nvSpPr>
            <p:spPr bwMode="auto">
              <a:xfrm>
                <a:off x="4469" y="3331"/>
                <a:ext cx="376" cy="89"/>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sp>
        <p:nvSpPr>
          <p:cNvPr id="28685" name="Text Box 30">
            <a:extLst>
              <a:ext uri="{FF2B5EF4-FFF2-40B4-BE49-F238E27FC236}">
                <a16:creationId xmlns="" xmlns:a16="http://schemas.microsoft.com/office/drawing/2014/main" id="{B23487BB-BE1C-4971-B495-333D9E8014A5}"/>
              </a:ext>
            </a:extLst>
          </p:cNvPr>
          <p:cNvSpPr txBox="1">
            <a:spLocks noChangeArrowheads="1"/>
          </p:cNvSpPr>
          <p:nvPr/>
        </p:nvSpPr>
        <p:spPr bwMode="auto">
          <a:xfrm>
            <a:off x="874713" y="4122738"/>
            <a:ext cx="973137"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Operational</a:t>
            </a:r>
          </a:p>
          <a:p>
            <a:pPr algn="ctr"/>
            <a:r>
              <a:rPr lang="en-US" altLang="en-US" sz="1200" b="1">
                <a:solidFill>
                  <a:srgbClr val="00001E"/>
                </a:solidFill>
                <a:latin typeface="Times New Roman" panose="02020603050405020304" pitchFamily="18" charset="0"/>
              </a:rPr>
              <a:t>DB’s</a:t>
            </a:r>
          </a:p>
        </p:txBody>
      </p:sp>
      <p:sp>
        <p:nvSpPr>
          <p:cNvPr id="28686" name="Text Box 31">
            <a:extLst>
              <a:ext uri="{FF2B5EF4-FFF2-40B4-BE49-F238E27FC236}">
                <a16:creationId xmlns="" xmlns:a16="http://schemas.microsoft.com/office/drawing/2014/main" id="{E80F3379-85DC-4B46-8E17-AE98FBBBD42C}"/>
              </a:ext>
            </a:extLst>
          </p:cNvPr>
          <p:cNvSpPr txBox="1">
            <a:spLocks noChangeArrowheads="1"/>
          </p:cNvSpPr>
          <p:nvPr/>
        </p:nvSpPr>
        <p:spPr bwMode="auto">
          <a:xfrm>
            <a:off x="752475" y="2554288"/>
            <a:ext cx="1192213"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Semistructured</a:t>
            </a:r>
          </a:p>
          <a:p>
            <a:pPr algn="ctr"/>
            <a:r>
              <a:rPr lang="en-US" altLang="en-US" sz="1200" b="1">
                <a:solidFill>
                  <a:srgbClr val="00001E"/>
                </a:solidFill>
                <a:latin typeface="Times New Roman" panose="02020603050405020304" pitchFamily="18" charset="0"/>
              </a:rPr>
              <a:t>Sources</a:t>
            </a:r>
          </a:p>
        </p:txBody>
      </p:sp>
      <p:sp>
        <p:nvSpPr>
          <p:cNvPr id="28687" name="Oval 32">
            <a:extLst>
              <a:ext uri="{FF2B5EF4-FFF2-40B4-BE49-F238E27FC236}">
                <a16:creationId xmlns="" xmlns:a16="http://schemas.microsoft.com/office/drawing/2014/main" id="{653DEBB5-97C5-403B-B031-E055BC37E181}"/>
              </a:ext>
            </a:extLst>
          </p:cNvPr>
          <p:cNvSpPr>
            <a:spLocks noChangeArrowheads="1"/>
          </p:cNvSpPr>
          <p:nvPr/>
        </p:nvSpPr>
        <p:spPr bwMode="auto">
          <a:xfrm>
            <a:off x="736600" y="3222625"/>
            <a:ext cx="1012825" cy="173038"/>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8688" name="AutoShape 33">
            <a:extLst>
              <a:ext uri="{FF2B5EF4-FFF2-40B4-BE49-F238E27FC236}">
                <a16:creationId xmlns="" xmlns:a16="http://schemas.microsoft.com/office/drawing/2014/main" id="{463837FE-905F-46A6-B6BF-3B4CB1C5A117}"/>
              </a:ext>
            </a:extLst>
          </p:cNvPr>
          <p:cNvSpPr>
            <a:spLocks noChangeArrowheads="1"/>
          </p:cNvSpPr>
          <p:nvPr/>
        </p:nvSpPr>
        <p:spPr bwMode="auto">
          <a:xfrm>
            <a:off x="1817688" y="2817813"/>
            <a:ext cx="1216025" cy="1733550"/>
          </a:xfrm>
          <a:prstGeom prst="rightArrow">
            <a:avLst>
              <a:gd name="adj1" fmla="val 47620"/>
              <a:gd name="adj2" fmla="val 43056"/>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8689" name="Text Box 34">
            <a:extLst>
              <a:ext uri="{FF2B5EF4-FFF2-40B4-BE49-F238E27FC236}">
                <a16:creationId xmlns="" xmlns:a16="http://schemas.microsoft.com/office/drawing/2014/main" id="{38A0EBAF-BF66-4D5E-9858-48C16FB1A357}"/>
              </a:ext>
            </a:extLst>
          </p:cNvPr>
          <p:cNvSpPr txBox="1">
            <a:spLocks noChangeArrowheads="1"/>
          </p:cNvSpPr>
          <p:nvPr/>
        </p:nvSpPr>
        <p:spPr bwMode="auto">
          <a:xfrm>
            <a:off x="1817688" y="3248025"/>
            <a:ext cx="925512" cy="8223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b="1" i="1">
                <a:solidFill>
                  <a:srgbClr val="00001E"/>
                </a:solidFill>
                <a:latin typeface="Times New Roman" panose="02020603050405020304" pitchFamily="18" charset="0"/>
              </a:rPr>
              <a:t>extract</a:t>
            </a:r>
          </a:p>
          <a:p>
            <a:r>
              <a:rPr lang="en-US" altLang="en-US" sz="1200" b="1" i="1">
                <a:solidFill>
                  <a:srgbClr val="00001E"/>
                </a:solidFill>
                <a:latin typeface="Times New Roman" panose="02020603050405020304" pitchFamily="18" charset="0"/>
              </a:rPr>
              <a:t>transform</a:t>
            </a:r>
          </a:p>
          <a:p>
            <a:r>
              <a:rPr lang="en-US" altLang="en-US" sz="1200" b="1" i="1">
                <a:solidFill>
                  <a:srgbClr val="00001E"/>
                </a:solidFill>
                <a:latin typeface="Times New Roman" panose="02020603050405020304" pitchFamily="18" charset="0"/>
              </a:rPr>
              <a:t>load</a:t>
            </a:r>
          </a:p>
          <a:p>
            <a:r>
              <a:rPr lang="en-US" altLang="en-US" sz="1200" b="1" i="1">
                <a:solidFill>
                  <a:srgbClr val="00001E"/>
                </a:solidFill>
                <a:latin typeface="Times New Roman" panose="02020603050405020304" pitchFamily="18" charset="0"/>
              </a:rPr>
              <a:t>refresh </a:t>
            </a:r>
            <a:endParaRPr lang="en-US" altLang="en-US" sz="1200" b="1">
              <a:solidFill>
                <a:srgbClr val="00001E"/>
              </a:solidFill>
              <a:latin typeface="Times New Roman" panose="02020603050405020304" pitchFamily="18" charset="0"/>
            </a:endParaRPr>
          </a:p>
        </p:txBody>
      </p:sp>
      <p:grpSp>
        <p:nvGrpSpPr>
          <p:cNvPr id="8" name="Group 35">
            <a:extLst>
              <a:ext uri="{FF2B5EF4-FFF2-40B4-BE49-F238E27FC236}">
                <a16:creationId xmlns="" xmlns:a16="http://schemas.microsoft.com/office/drawing/2014/main" id="{5C355199-7DB7-42E5-BA8C-A9D61619E164}"/>
              </a:ext>
            </a:extLst>
          </p:cNvPr>
          <p:cNvGrpSpPr>
            <a:grpSpLocks/>
          </p:cNvGrpSpPr>
          <p:nvPr/>
        </p:nvGrpSpPr>
        <p:grpSpPr bwMode="auto">
          <a:xfrm>
            <a:off x="3236913" y="3163888"/>
            <a:ext cx="946150" cy="925512"/>
            <a:chOff x="4467" y="3038"/>
            <a:chExt cx="379" cy="382"/>
          </a:xfrm>
        </p:grpSpPr>
        <p:sp>
          <p:nvSpPr>
            <p:cNvPr id="28771" name="Rectangle 36">
              <a:extLst>
                <a:ext uri="{FF2B5EF4-FFF2-40B4-BE49-F238E27FC236}">
                  <a16:creationId xmlns="" xmlns:a16="http://schemas.microsoft.com/office/drawing/2014/main" id="{D1259A11-CA8B-48CE-841A-F31C6550EA13}"/>
                </a:ext>
              </a:extLst>
            </p:cNvPr>
            <p:cNvSpPr>
              <a:spLocks noChangeArrowheads="1"/>
            </p:cNvSpPr>
            <p:nvPr/>
          </p:nvSpPr>
          <p:spPr bwMode="auto">
            <a:xfrm>
              <a:off x="4467" y="3094"/>
              <a:ext cx="376" cy="274"/>
            </a:xfrm>
            <a:prstGeom prst="rect">
              <a:avLst/>
            </a:prstGeom>
            <a:gradFill rotWithShape="0">
              <a:gsLst>
                <a:gs pos="0">
                  <a:srgbClr val="666666"/>
                </a:gs>
                <a:gs pos="50000">
                  <a:srgbClr val="DDDDDD"/>
                </a:gs>
                <a:gs pos="100000">
                  <a:srgbClr val="666666"/>
                </a:gs>
              </a:gsLst>
              <a:lin ang="0" scaled="1"/>
            </a:gradFill>
            <a:ln w="9525">
              <a:solidFill>
                <a:schemeClr val="bg2"/>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9" name="Group 37">
              <a:extLst>
                <a:ext uri="{FF2B5EF4-FFF2-40B4-BE49-F238E27FC236}">
                  <a16:creationId xmlns="" xmlns:a16="http://schemas.microsoft.com/office/drawing/2014/main" id="{5C56EB54-D840-4DAB-BEF2-8FFA4595BFF1}"/>
                </a:ext>
              </a:extLst>
            </p:cNvPr>
            <p:cNvGrpSpPr>
              <a:grpSpLocks/>
            </p:cNvGrpSpPr>
            <p:nvPr/>
          </p:nvGrpSpPr>
          <p:grpSpPr bwMode="auto">
            <a:xfrm>
              <a:off x="4468" y="3038"/>
              <a:ext cx="378" cy="382"/>
              <a:chOff x="4468" y="3038"/>
              <a:chExt cx="378" cy="382"/>
            </a:xfrm>
          </p:grpSpPr>
          <p:sp>
            <p:nvSpPr>
              <p:cNvPr id="28773" name="Line 38">
                <a:extLst>
                  <a:ext uri="{FF2B5EF4-FFF2-40B4-BE49-F238E27FC236}">
                    <a16:creationId xmlns="" xmlns:a16="http://schemas.microsoft.com/office/drawing/2014/main" id="{A1DE6C0D-8B47-48C0-BC03-01C6CA3F73C9}"/>
                  </a:ext>
                </a:extLst>
              </p:cNvPr>
              <p:cNvSpPr>
                <a:spLocks noChangeShapeType="1"/>
              </p:cNvSpPr>
              <p:nvPr/>
            </p:nvSpPr>
            <p:spPr bwMode="auto">
              <a:xfrm>
                <a:off x="4468" y="3087"/>
                <a:ext cx="0" cy="292"/>
              </a:xfrm>
              <a:prstGeom prst="line">
                <a:avLst/>
              </a:prstGeom>
              <a:noFill/>
              <a:ln w="9525">
                <a:solidFill>
                  <a:schemeClr val="bg2"/>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8774" name="Line 39">
                <a:extLst>
                  <a:ext uri="{FF2B5EF4-FFF2-40B4-BE49-F238E27FC236}">
                    <a16:creationId xmlns="" xmlns:a16="http://schemas.microsoft.com/office/drawing/2014/main" id="{437F68D8-970D-4E5C-BEF5-7F760284EE02}"/>
                  </a:ext>
                </a:extLst>
              </p:cNvPr>
              <p:cNvSpPr>
                <a:spLocks noChangeShapeType="1"/>
              </p:cNvSpPr>
              <p:nvPr/>
            </p:nvSpPr>
            <p:spPr bwMode="auto">
              <a:xfrm>
                <a:off x="4846" y="3089"/>
                <a:ext cx="0" cy="292"/>
              </a:xfrm>
              <a:prstGeom prst="line">
                <a:avLst/>
              </a:prstGeom>
              <a:noFill/>
              <a:ln w="9525">
                <a:solidFill>
                  <a:schemeClr val="bg2"/>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8775" name="Oval 40">
                <a:extLst>
                  <a:ext uri="{FF2B5EF4-FFF2-40B4-BE49-F238E27FC236}">
                    <a16:creationId xmlns="" xmlns:a16="http://schemas.microsoft.com/office/drawing/2014/main" id="{E448BB04-E10B-4F9A-853A-41149288ADB8}"/>
                  </a:ext>
                </a:extLst>
              </p:cNvPr>
              <p:cNvSpPr>
                <a:spLocks noChangeArrowheads="1"/>
              </p:cNvSpPr>
              <p:nvPr/>
            </p:nvSpPr>
            <p:spPr bwMode="auto">
              <a:xfrm>
                <a:off x="4469" y="3038"/>
                <a:ext cx="376" cy="90"/>
              </a:xfrm>
              <a:prstGeom prst="ellipse">
                <a:avLst/>
              </a:prstGeom>
              <a:gradFill rotWithShape="0">
                <a:gsLst>
                  <a:gs pos="0">
                    <a:srgbClr val="666666"/>
                  </a:gs>
                  <a:gs pos="50000">
                    <a:srgbClr val="DDDDDD"/>
                  </a:gs>
                  <a:gs pos="100000">
                    <a:srgbClr val="666666"/>
                  </a:gs>
                </a:gsLst>
                <a:lin ang="0" scaled="1"/>
              </a:gradFill>
              <a:ln w="9525">
                <a:solidFill>
                  <a:schemeClr val="bg2"/>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8776" name="Oval 41">
                <a:extLst>
                  <a:ext uri="{FF2B5EF4-FFF2-40B4-BE49-F238E27FC236}">
                    <a16:creationId xmlns="" xmlns:a16="http://schemas.microsoft.com/office/drawing/2014/main" id="{70225386-0A78-4D41-A462-71CD83B19F52}"/>
                  </a:ext>
                </a:extLst>
              </p:cNvPr>
              <p:cNvSpPr>
                <a:spLocks noChangeArrowheads="1"/>
              </p:cNvSpPr>
              <p:nvPr/>
            </p:nvSpPr>
            <p:spPr bwMode="auto">
              <a:xfrm>
                <a:off x="4469" y="3331"/>
                <a:ext cx="376" cy="89"/>
              </a:xfrm>
              <a:prstGeom prst="ellipse">
                <a:avLst/>
              </a:prstGeom>
              <a:gradFill rotWithShape="0">
                <a:gsLst>
                  <a:gs pos="0">
                    <a:srgbClr val="666666"/>
                  </a:gs>
                  <a:gs pos="50000">
                    <a:srgbClr val="DDDDDD"/>
                  </a:gs>
                  <a:gs pos="100000">
                    <a:srgbClr val="666666"/>
                  </a:gs>
                </a:gsLst>
                <a:lin ang="0" scaled="1"/>
              </a:gradFill>
              <a:ln w="9525">
                <a:solidFill>
                  <a:schemeClr val="bg2"/>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grpSp>
        <p:nvGrpSpPr>
          <p:cNvPr id="10" name="Group 42">
            <a:extLst>
              <a:ext uri="{FF2B5EF4-FFF2-40B4-BE49-F238E27FC236}">
                <a16:creationId xmlns="" xmlns:a16="http://schemas.microsoft.com/office/drawing/2014/main" id="{9C034B67-1A67-4E2D-8698-46A3A5E42CF9}"/>
              </a:ext>
            </a:extLst>
          </p:cNvPr>
          <p:cNvGrpSpPr>
            <a:grpSpLocks/>
          </p:cNvGrpSpPr>
          <p:nvPr/>
        </p:nvGrpSpPr>
        <p:grpSpPr bwMode="auto">
          <a:xfrm>
            <a:off x="2832100" y="4376738"/>
            <a:ext cx="533400" cy="344487"/>
            <a:chOff x="4467" y="3038"/>
            <a:chExt cx="379" cy="382"/>
          </a:xfrm>
        </p:grpSpPr>
        <p:sp>
          <p:nvSpPr>
            <p:cNvPr id="28765" name="Rectangle 43">
              <a:extLst>
                <a:ext uri="{FF2B5EF4-FFF2-40B4-BE49-F238E27FC236}">
                  <a16:creationId xmlns="" xmlns:a16="http://schemas.microsoft.com/office/drawing/2014/main" id="{780D6583-172B-4632-BFC8-21B148A96EA5}"/>
                </a:ext>
              </a:extLst>
            </p:cNvPr>
            <p:cNvSpPr>
              <a:spLocks noChangeArrowheads="1"/>
            </p:cNvSpPr>
            <p:nvPr/>
          </p:nvSpPr>
          <p:spPr bwMode="auto">
            <a:xfrm>
              <a:off x="4467" y="3094"/>
              <a:ext cx="376" cy="274"/>
            </a:xfrm>
            <a:prstGeom prst="rect">
              <a:avLst/>
            </a:prstGeom>
            <a:gradFill rotWithShape="0">
              <a:gsLst>
                <a:gs pos="0">
                  <a:srgbClr val="666666"/>
                </a:gs>
                <a:gs pos="50000">
                  <a:srgbClr val="DDDDDD"/>
                </a:gs>
                <a:gs pos="100000">
                  <a:srgbClr val="666666"/>
                </a:gs>
              </a:gsLst>
              <a:lin ang="0" scaled="1"/>
            </a:gradFill>
            <a:ln w="9525">
              <a:solidFill>
                <a:schemeClr val="bg2"/>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11" name="Group 44">
              <a:extLst>
                <a:ext uri="{FF2B5EF4-FFF2-40B4-BE49-F238E27FC236}">
                  <a16:creationId xmlns="" xmlns:a16="http://schemas.microsoft.com/office/drawing/2014/main" id="{3038E955-75D5-4C62-BD54-E036FF0A6D14}"/>
                </a:ext>
              </a:extLst>
            </p:cNvPr>
            <p:cNvGrpSpPr>
              <a:grpSpLocks/>
            </p:cNvGrpSpPr>
            <p:nvPr/>
          </p:nvGrpSpPr>
          <p:grpSpPr bwMode="auto">
            <a:xfrm>
              <a:off x="4468" y="3038"/>
              <a:ext cx="378" cy="382"/>
              <a:chOff x="4468" y="3038"/>
              <a:chExt cx="378" cy="382"/>
            </a:xfrm>
          </p:grpSpPr>
          <p:sp>
            <p:nvSpPr>
              <p:cNvPr id="28767" name="Line 45">
                <a:extLst>
                  <a:ext uri="{FF2B5EF4-FFF2-40B4-BE49-F238E27FC236}">
                    <a16:creationId xmlns="" xmlns:a16="http://schemas.microsoft.com/office/drawing/2014/main" id="{C0D0968F-3D40-4D4D-B6B0-AAFF4D5AD9EB}"/>
                  </a:ext>
                </a:extLst>
              </p:cNvPr>
              <p:cNvSpPr>
                <a:spLocks noChangeShapeType="1"/>
              </p:cNvSpPr>
              <p:nvPr/>
            </p:nvSpPr>
            <p:spPr bwMode="auto">
              <a:xfrm>
                <a:off x="4468" y="3087"/>
                <a:ext cx="0" cy="292"/>
              </a:xfrm>
              <a:prstGeom prst="line">
                <a:avLst/>
              </a:prstGeom>
              <a:noFill/>
              <a:ln w="9525">
                <a:solidFill>
                  <a:schemeClr val="bg2"/>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8768" name="Line 46">
                <a:extLst>
                  <a:ext uri="{FF2B5EF4-FFF2-40B4-BE49-F238E27FC236}">
                    <a16:creationId xmlns="" xmlns:a16="http://schemas.microsoft.com/office/drawing/2014/main" id="{75BF9A59-E904-4BE9-A730-220276B4511E}"/>
                  </a:ext>
                </a:extLst>
              </p:cNvPr>
              <p:cNvSpPr>
                <a:spLocks noChangeShapeType="1"/>
              </p:cNvSpPr>
              <p:nvPr/>
            </p:nvSpPr>
            <p:spPr bwMode="auto">
              <a:xfrm>
                <a:off x="4846" y="3089"/>
                <a:ext cx="0" cy="292"/>
              </a:xfrm>
              <a:prstGeom prst="line">
                <a:avLst/>
              </a:prstGeom>
              <a:noFill/>
              <a:ln w="9525">
                <a:solidFill>
                  <a:schemeClr val="bg2"/>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8769" name="Oval 47">
                <a:extLst>
                  <a:ext uri="{FF2B5EF4-FFF2-40B4-BE49-F238E27FC236}">
                    <a16:creationId xmlns="" xmlns:a16="http://schemas.microsoft.com/office/drawing/2014/main" id="{CCB01ED3-A180-4849-97AB-227411120B65}"/>
                  </a:ext>
                </a:extLst>
              </p:cNvPr>
              <p:cNvSpPr>
                <a:spLocks noChangeArrowheads="1"/>
              </p:cNvSpPr>
              <p:nvPr/>
            </p:nvSpPr>
            <p:spPr bwMode="auto">
              <a:xfrm>
                <a:off x="4469" y="3038"/>
                <a:ext cx="376" cy="90"/>
              </a:xfrm>
              <a:prstGeom prst="ellipse">
                <a:avLst/>
              </a:prstGeom>
              <a:gradFill rotWithShape="0">
                <a:gsLst>
                  <a:gs pos="0">
                    <a:srgbClr val="666666"/>
                  </a:gs>
                  <a:gs pos="50000">
                    <a:srgbClr val="DDDDDD"/>
                  </a:gs>
                  <a:gs pos="100000">
                    <a:srgbClr val="666666"/>
                  </a:gs>
                </a:gsLst>
                <a:lin ang="0" scaled="1"/>
              </a:gradFill>
              <a:ln w="9525">
                <a:solidFill>
                  <a:schemeClr val="bg2"/>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8770" name="Oval 48">
                <a:extLst>
                  <a:ext uri="{FF2B5EF4-FFF2-40B4-BE49-F238E27FC236}">
                    <a16:creationId xmlns="" xmlns:a16="http://schemas.microsoft.com/office/drawing/2014/main" id="{D9B683C5-365E-4970-8A3B-BD384666805A}"/>
                  </a:ext>
                </a:extLst>
              </p:cNvPr>
              <p:cNvSpPr>
                <a:spLocks noChangeArrowheads="1"/>
              </p:cNvSpPr>
              <p:nvPr/>
            </p:nvSpPr>
            <p:spPr bwMode="auto">
              <a:xfrm>
                <a:off x="4469" y="3331"/>
                <a:ext cx="376" cy="89"/>
              </a:xfrm>
              <a:prstGeom prst="ellipse">
                <a:avLst/>
              </a:prstGeom>
              <a:gradFill rotWithShape="0">
                <a:gsLst>
                  <a:gs pos="0">
                    <a:srgbClr val="666666"/>
                  </a:gs>
                  <a:gs pos="50000">
                    <a:srgbClr val="DDDDDD"/>
                  </a:gs>
                  <a:gs pos="100000">
                    <a:srgbClr val="666666"/>
                  </a:gs>
                </a:gsLst>
                <a:lin ang="0" scaled="1"/>
              </a:gradFill>
              <a:ln w="9525">
                <a:solidFill>
                  <a:schemeClr val="bg2"/>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grpSp>
        <p:nvGrpSpPr>
          <p:cNvPr id="12" name="Group 49">
            <a:extLst>
              <a:ext uri="{FF2B5EF4-FFF2-40B4-BE49-F238E27FC236}">
                <a16:creationId xmlns="" xmlns:a16="http://schemas.microsoft.com/office/drawing/2014/main" id="{B42570A2-678D-4798-B651-D2AFA8544650}"/>
              </a:ext>
            </a:extLst>
          </p:cNvPr>
          <p:cNvGrpSpPr>
            <a:grpSpLocks/>
          </p:cNvGrpSpPr>
          <p:nvPr/>
        </p:nvGrpSpPr>
        <p:grpSpPr bwMode="auto">
          <a:xfrm>
            <a:off x="3440113" y="4492625"/>
            <a:ext cx="533400" cy="344488"/>
            <a:chOff x="4467" y="3038"/>
            <a:chExt cx="379" cy="382"/>
          </a:xfrm>
        </p:grpSpPr>
        <p:sp>
          <p:nvSpPr>
            <p:cNvPr id="28759" name="Rectangle 50">
              <a:extLst>
                <a:ext uri="{FF2B5EF4-FFF2-40B4-BE49-F238E27FC236}">
                  <a16:creationId xmlns="" xmlns:a16="http://schemas.microsoft.com/office/drawing/2014/main" id="{BFE68775-7661-4A6E-BAF4-740061A4D0DA}"/>
                </a:ext>
              </a:extLst>
            </p:cNvPr>
            <p:cNvSpPr>
              <a:spLocks noChangeArrowheads="1"/>
            </p:cNvSpPr>
            <p:nvPr/>
          </p:nvSpPr>
          <p:spPr bwMode="auto">
            <a:xfrm>
              <a:off x="4467" y="3094"/>
              <a:ext cx="376" cy="274"/>
            </a:xfrm>
            <a:prstGeom prst="rect">
              <a:avLst/>
            </a:prstGeom>
            <a:gradFill rotWithShape="0">
              <a:gsLst>
                <a:gs pos="0">
                  <a:srgbClr val="7C7C7C"/>
                </a:gs>
                <a:gs pos="50000">
                  <a:srgbClr val="DDDDDD"/>
                </a:gs>
                <a:gs pos="100000">
                  <a:srgbClr val="7C7C7C"/>
                </a:gs>
              </a:gsLst>
              <a:lin ang="0" scaled="1"/>
            </a:gradFill>
            <a:ln w="9525">
              <a:solidFill>
                <a:schemeClr val="bg2"/>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13" name="Group 51">
              <a:extLst>
                <a:ext uri="{FF2B5EF4-FFF2-40B4-BE49-F238E27FC236}">
                  <a16:creationId xmlns="" xmlns:a16="http://schemas.microsoft.com/office/drawing/2014/main" id="{8AB45315-875F-4270-B65A-4B8E8DE1FC80}"/>
                </a:ext>
              </a:extLst>
            </p:cNvPr>
            <p:cNvGrpSpPr>
              <a:grpSpLocks/>
            </p:cNvGrpSpPr>
            <p:nvPr/>
          </p:nvGrpSpPr>
          <p:grpSpPr bwMode="auto">
            <a:xfrm>
              <a:off x="4468" y="3038"/>
              <a:ext cx="378" cy="382"/>
              <a:chOff x="4468" y="3038"/>
              <a:chExt cx="378" cy="382"/>
            </a:xfrm>
          </p:grpSpPr>
          <p:sp>
            <p:nvSpPr>
              <p:cNvPr id="28761" name="Line 52">
                <a:extLst>
                  <a:ext uri="{FF2B5EF4-FFF2-40B4-BE49-F238E27FC236}">
                    <a16:creationId xmlns="" xmlns:a16="http://schemas.microsoft.com/office/drawing/2014/main" id="{443F78A0-EF8B-4C39-A74F-EE0DB8EB4718}"/>
                  </a:ext>
                </a:extLst>
              </p:cNvPr>
              <p:cNvSpPr>
                <a:spLocks noChangeShapeType="1"/>
              </p:cNvSpPr>
              <p:nvPr/>
            </p:nvSpPr>
            <p:spPr bwMode="auto">
              <a:xfrm>
                <a:off x="4468" y="3087"/>
                <a:ext cx="0" cy="292"/>
              </a:xfrm>
              <a:prstGeom prst="line">
                <a:avLst/>
              </a:prstGeom>
              <a:noFill/>
              <a:ln w="9525">
                <a:solidFill>
                  <a:schemeClr val="bg2"/>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8762" name="Line 53">
                <a:extLst>
                  <a:ext uri="{FF2B5EF4-FFF2-40B4-BE49-F238E27FC236}">
                    <a16:creationId xmlns="" xmlns:a16="http://schemas.microsoft.com/office/drawing/2014/main" id="{E9110336-9191-4B15-8A26-451DB43BC39F}"/>
                  </a:ext>
                </a:extLst>
              </p:cNvPr>
              <p:cNvSpPr>
                <a:spLocks noChangeShapeType="1"/>
              </p:cNvSpPr>
              <p:nvPr/>
            </p:nvSpPr>
            <p:spPr bwMode="auto">
              <a:xfrm>
                <a:off x="4846" y="3089"/>
                <a:ext cx="0" cy="292"/>
              </a:xfrm>
              <a:prstGeom prst="line">
                <a:avLst/>
              </a:prstGeom>
              <a:noFill/>
              <a:ln w="9525">
                <a:solidFill>
                  <a:schemeClr val="bg2"/>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8763" name="Oval 54">
                <a:extLst>
                  <a:ext uri="{FF2B5EF4-FFF2-40B4-BE49-F238E27FC236}">
                    <a16:creationId xmlns="" xmlns:a16="http://schemas.microsoft.com/office/drawing/2014/main" id="{38208EE1-7A9F-4826-9C54-450C610D7808}"/>
                  </a:ext>
                </a:extLst>
              </p:cNvPr>
              <p:cNvSpPr>
                <a:spLocks noChangeArrowheads="1"/>
              </p:cNvSpPr>
              <p:nvPr/>
            </p:nvSpPr>
            <p:spPr bwMode="auto">
              <a:xfrm>
                <a:off x="4469" y="3038"/>
                <a:ext cx="376" cy="90"/>
              </a:xfrm>
              <a:prstGeom prst="ellipse">
                <a:avLst/>
              </a:prstGeom>
              <a:gradFill rotWithShape="0">
                <a:gsLst>
                  <a:gs pos="0">
                    <a:srgbClr val="7C7C7C"/>
                  </a:gs>
                  <a:gs pos="50000">
                    <a:srgbClr val="DDDDDD"/>
                  </a:gs>
                  <a:gs pos="100000">
                    <a:srgbClr val="7C7C7C"/>
                  </a:gs>
                </a:gsLst>
                <a:lin ang="0" scaled="1"/>
              </a:gradFill>
              <a:ln w="9525">
                <a:solidFill>
                  <a:schemeClr val="bg2"/>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8764" name="Oval 55">
                <a:extLst>
                  <a:ext uri="{FF2B5EF4-FFF2-40B4-BE49-F238E27FC236}">
                    <a16:creationId xmlns="" xmlns:a16="http://schemas.microsoft.com/office/drawing/2014/main" id="{E2E924F1-96F4-41B9-A195-C1EE914D7FD5}"/>
                  </a:ext>
                </a:extLst>
              </p:cNvPr>
              <p:cNvSpPr>
                <a:spLocks noChangeArrowheads="1"/>
              </p:cNvSpPr>
              <p:nvPr/>
            </p:nvSpPr>
            <p:spPr bwMode="auto">
              <a:xfrm>
                <a:off x="4469" y="3331"/>
                <a:ext cx="376" cy="89"/>
              </a:xfrm>
              <a:prstGeom prst="ellipse">
                <a:avLst/>
              </a:prstGeom>
              <a:gradFill rotWithShape="0">
                <a:gsLst>
                  <a:gs pos="0">
                    <a:srgbClr val="7C7C7C"/>
                  </a:gs>
                  <a:gs pos="50000">
                    <a:srgbClr val="DDDDDD"/>
                  </a:gs>
                  <a:gs pos="100000">
                    <a:srgbClr val="7C7C7C"/>
                  </a:gs>
                </a:gsLst>
                <a:lin ang="0" scaled="1"/>
              </a:gradFill>
              <a:ln w="9525">
                <a:solidFill>
                  <a:schemeClr val="bg2"/>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grpSp>
        <p:nvGrpSpPr>
          <p:cNvPr id="14" name="Group 56">
            <a:extLst>
              <a:ext uri="{FF2B5EF4-FFF2-40B4-BE49-F238E27FC236}">
                <a16:creationId xmlns="" xmlns:a16="http://schemas.microsoft.com/office/drawing/2014/main" id="{D381DA09-D136-4BE3-8212-74845664B092}"/>
              </a:ext>
            </a:extLst>
          </p:cNvPr>
          <p:cNvGrpSpPr>
            <a:grpSpLocks/>
          </p:cNvGrpSpPr>
          <p:nvPr/>
        </p:nvGrpSpPr>
        <p:grpSpPr bwMode="auto">
          <a:xfrm>
            <a:off x="4114800" y="4376738"/>
            <a:ext cx="534988" cy="344487"/>
            <a:chOff x="4467" y="3038"/>
            <a:chExt cx="379" cy="382"/>
          </a:xfrm>
        </p:grpSpPr>
        <p:sp>
          <p:nvSpPr>
            <p:cNvPr id="28753" name="Rectangle 57">
              <a:extLst>
                <a:ext uri="{FF2B5EF4-FFF2-40B4-BE49-F238E27FC236}">
                  <a16:creationId xmlns="" xmlns:a16="http://schemas.microsoft.com/office/drawing/2014/main" id="{8BA62865-5C31-42D0-B4B4-A4EE8C92A5AD}"/>
                </a:ext>
              </a:extLst>
            </p:cNvPr>
            <p:cNvSpPr>
              <a:spLocks noChangeArrowheads="1"/>
            </p:cNvSpPr>
            <p:nvPr/>
          </p:nvSpPr>
          <p:spPr bwMode="auto">
            <a:xfrm>
              <a:off x="4467" y="3094"/>
              <a:ext cx="376" cy="274"/>
            </a:xfrm>
            <a:prstGeom prst="rect">
              <a:avLst/>
            </a:prstGeom>
            <a:gradFill rotWithShape="0">
              <a:gsLst>
                <a:gs pos="0">
                  <a:srgbClr val="838383"/>
                </a:gs>
                <a:gs pos="50000">
                  <a:srgbClr val="EAEAEA"/>
                </a:gs>
                <a:gs pos="100000">
                  <a:srgbClr val="838383"/>
                </a:gs>
              </a:gsLst>
              <a:lin ang="0" scaled="1"/>
            </a:gradFill>
            <a:ln w="9525">
              <a:solidFill>
                <a:schemeClr val="bg2"/>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15" name="Group 58">
              <a:extLst>
                <a:ext uri="{FF2B5EF4-FFF2-40B4-BE49-F238E27FC236}">
                  <a16:creationId xmlns="" xmlns:a16="http://schemas.microsoft.com/office/drawing/2014/main" id="{1AB0D73B-379F-428C-A96D-11834C00ECB6}"/>
                </a:ext>
              </a:extLst>
            </p:cNvPr>
            <p:cNvGrpSpPr>
              <a:grpSpLocks/>
            </p:cNvGrpSpPr>
            <p:nvPr/>
          </p:nvGrpSpPr>
          <p:grpSpPr bwMode="auto">
            <a:xfrm>
              <a:off x="4468" y="3038"/>
              <a:ext cx="378" cy="382"/>
              <a:chOff x="4468" y="3038"/>
              <a:chExt cx="378" cy="382"/>
            </a:xfrm>
          </p:grpSpPr>
          <p:sp>
            <p:nvSpPr>
              <p:cNvPr id="28755" name="Line 59">
                <a:extLst>
                  <a:ext uri="{FF2B5EF4-FFF2-40B4-BE49-F238E27FC236}">
                    <a16:creationId xmlns="" xmlns:a16="http://schemas.microsoft.com/office/drawing/2014/main" id="{7029A130-3BF3-4FCD-8B53-004958869FFD}"/>
                  </a:ext>
                </a:extLst>
              </p:cNvPr>
              <p:cNvSpPr>
                <a:spLocks noChangeShapeType="1"/>
              </p:cNvSpPr>
              <p:nvPr/>
            </p:nvSpPr>
            <p:spPr bwMode="auto">
              <a:xfrm>
                <a:off x="4468" y="3087"/>
                <a:ext cx="0" cy="292"/>
              </a:xfrm>
              <a:prstGeom prst="line">
                <a:avLst/>
              </a:prstGeom>
              <a:noFill/>
              <a:ln w="9525">
                <a:solidFill>
                  <a:schemeClr val="bg2"/>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8756" name="Line 60">
                <a:extLst>
                  <a:ext uri="{FF2B5EF4-FFF2-40B4-BE49-F238E27FC236}">
                    <a16:creationId xmlns="" xmlns:a16="http://schemas.microsoft.com/office/drawing/2014/main" id="{85F6A82F-B600-4B54-91C0-872FF0C08FBE}"/>
                  </a:ext>
                </a:extLst>
              </p:cNvPr>
              <p:cNvSpPr>
                <a:spLocks noChangeShapeType="1"/>
              </p:cNvSpPr>
              <p:nvPr/>
            </p:nvSpPr>
            <p:spPr bwMode="auto">
              <a:xfrm>
                <a:off x="4846" y="3089"/>
                <a:ext cx="0" cy="292"/>
              </a:xfrm>
              <a:prstGeom prst="line">
                <a:avLst/>
              </a:prstGeom>
              <a:noFill/>
              <a:ln w="9525">
                <a:solidFill>
                  <a:schemeClr val="bg2"/>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8757" name="Oval 61">
                <a:extLst>
                  <a:ext uri="{FF2B5EF4-FFF2-40B4-BE49-F238E27FC236}">
                    <a16:creationId xmlns="" xmlns:a16="http://schemas.microsoft.com/office/drawing/2014/main" id="{3E8424EA-169F-4430-86E4-1E618F17D444}"/>
                  </a:ext>
                </a:extLst>
              </p:cNvPr>
              <p:cNvSpPr>
                <a:spLocks noChangeArrowheads="1"/>
              </p:cNvSpPr>
              <p:nvPr/>
            </p:nvSpPr>
            <p:spPr bwMode="auto">
              <a:xfrm>
                <a:off x="4469" y="3038"/>
                <a:ext cx="376" cy="90"/>
              </a:xfrm>
              <a:prstGeom prst="ellipse">
                <a:avLst/>
              </a:prstGeom>
              <a:gradFill rotWithShape="0">
                <a:gsLst>
                  <a:gs pos="0">
                    <a:srgbClr val="838383"/>
                  </a:gs>
                  <a:gs pos="50000">
                    <a:srgbClr val="EAEAEA"/>
                  </a:gs>
                  <a:gs pos="100000">
                    <a:srgbClr val="838383"/>
                  </a:gs>
                </a:gsLst>
                <a:lin ang="0" scaled="1"/>
              </a:gradFill>
              <a:ln w="9525">
                <a:solidFill>
                  <a:schemeClr val="bg2"/>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8758" name="Oval 62">
                <a:extLst>
                  <a:ext uri="{FF2B5EF4-FFF2-40B4-BE49-F238E27FC236}">
                    <a16:creationId xmlns="" xmlns:a16="http://schemas.microsoft.com/office/drawing/2014/main" id="{D3AEA01F-CDB0-439F-ADBD-C4B726B1C301}"/>
                  </a:ext>
                </a:extLst>
              </p:cNvPr>
              <p:cNvSpPr>
                <a:spLocks noChangeArrowheads="1"/>
              </p:cNvSpPr>
              <p:nvPr/>
            </p:nvSpPr>
            <p:spPr bwMode="auto">
              <a:xfrm>
                <a:off x="4469" y="3331"/>
                <a:ext cx="376" cy="89"/>
              </a:xfrm>
              <a:prstGeom prst="ellipse">
                <a:avLst/>
              </a:prstGeom>
              <a:gradFill rotWithShape="0">
                <a:gsLst>
                  <a:gs pos="0">
                    <a:srgbClr val="838383"/>
                  </a:gs>
                  <a:gs pos="50000">
                    <a:srgbClr val="EAEAEA"/>
                  </a:gs>
                  <a:gs pos="100000">
                    <a:srgbClr val="838383"/>
                  </a:gs>
                </a:gsLst>
                <a:lin ang="0" scaled="1"/>
              </a:gradFill>
              <a:ln w="9525">
                <a:solidFill>
                  <a:schemeClr val="bg2"/>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sp>
        <p:nvSpPr>
          <p:cNvPr id="28694" name="AutoShape 63">
            <a:extLst>
              <a:ext uri="{FF2B5EF4-FFF2-40B4-BE49-F238E27FC236}">
                <a16:creationId xmlns="" xmlns:a16="http://schemas.microsoft.com/office/drawing/2014/main" id="{3228302F-322C-46B5-A4F7-A065C159C7F4}"/>
              </a:ext>
            </a:extLst>
          </p:cNvPr>
          <p:cNvSpPr>
            <a:spLocks noChangeArrowheads="1"/>
          </p:cNvSpPr>
          <p:nvPr/>
        </p:nvSpPr>
        <p:spPr bwMode="auto">
          <a:xfrm rot="2815000">
            <a:off x="3189288" y="4064000"/>
            <a:ext cx="230188" cy="338137"/>
          </a:xfrm>
          <a:prstGeom prst="downArrow">
            <a:avLst>
              <a:gd name="adj1" fmla="val 50000"/>
              <a:gd name="adj2" fmla="val 36724"/>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8695" name="AutoShape 64">
            <a:extLst>
              <a:ext uri="{FF2B5EF4-FFF2-40B4-BE49-F238E27FC236}">
                <a16:creationId xmlns="" xmlns:a16="http://schemas.microsoft.com/office/drawing/2014/main" id="{55A65477-75EE-45E8-A7E6-1FCF011F5EB3}"/>
              </a:ext>
            </a:extLst>
          </p:cNvPr>
          <p:cNvSpPr>
            <a:spLocks noChangeArrowheads="1"/>
          </p:cNvSpPr>
          <p:nvPr/>
        </p:nvSpPr>
        <p:spPr bwMode="auto">
          <a:xfrm>
            <a:off x="3575050" y="4146550"/>
            <a:ext cx="269875" cy="288925"/>
          </a:xfrm>
          <a:prstGeom prst="downArrow">
            <a:avLst>
              <a:gd name="adj1" fmla="val 50000"/>
              <a:gd name="adj2" fmla="val 26765"/>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8696" name="AutoShape 65">
            <a:extLst>
              <a:ext uri="{FF2B5EF4-FFF2-40B4-BE49-F238E27FC236}">
                <a16:creationId xmlns="" xmlns:a16="http://schemas.microsoft.com/office/drawing/2014/main" id="{6E1CD829-FF8F-4EF7-B777-D37A5D41C8CD}"/>
              </a:ext>
            </a:extLst>
          </p:cNvPr>
          <p:cNvSpPr>
            <a:spLocks noChangeArrowheads="1"/>
          </p:cNvSpPr>
          <p:nvPr/>
        </p:nvSpPr>
        <p:spPr bwMode="auto">
          <a:xfrm rot="-3021309">
            <a:off x="4000500" y="4064000"/>
            <a:ext cx="230188" cy="338138"/>
          </a:xfrm>
          <a:prstGeom prst="downArrow">
            <a:avLst>
              <a:gd name="adj1" fmla="val 50000"/>
              <a:gd name="adj2" fmla="val 36724"/>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8697" name="Text Box 66">
            <a:extLst>
              <a:ext uri="{FF2B5EF4-FFF2-40B4-BE49-F238E27FC236}">
                <a16:creationId xmlns="" xmlns:a16="http://schemas.microsoft.com/office/drawing/2014/main" id="{83E3813D-37A1-45E1-AF27-81837028FA7B}"/>
              </a:ext>
            </a:extLst>
          </p:cNvPr>
          <p:cNvSpPr txBox="1">
            <a:spLocks noChangeArrowheads="1"/>
          </p:cNvSpPr>
          <p:nvPr/>
        </p:nvSpPr>
        <p:spPr bwMode="auto">
          <a:xfrm>
            <a:off x="3186113" y="5038725"/>
            <a:ext cx="933450" cy="274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Data Marts</a:t>
            </a:r>
          </a:p>
        </p:txBody>
      </p:sp>
      <p:sp>
        <p:nvSpPr>
          <p:cNvPr id="28698" name="Text Box 67">
            <a:extLst>
              <a:ext uri="{FF2B5EF4-FFF2-40B4-BE49-F238E27FC236}">
                <a16:creationId xmlns="" xmlns:a16="http://schemas.microsoft.com/office/drawing/2014/main" id="{C7F43701-5FD0-415A-AC0C-EC7D2C56C68E}"/>
              </a:ext>
            </a:extLst>
          </p:cNvPr>
          <p:cNvSpPr txBox="1">
            <a:spLocks noChangeArrowheads="1"/>
          </p:cNvSpPr>
          <p:nvPr/>
        </p:nvSpPr>
        <p:spPr bwMode="auto">
          <a:xfrm>
            <a:off x="3282950" y="2786063"/>
            <a:ext cx="92075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Data</a:t>
            </a:r>
          </a:p>
          <a:p>
            <a:pPr algn="ctr"/>
            <a:r>
              <a:rPr lang="en-US" altLang="en-US" sz="1200" b="1">
                <a:solidFill>
                  <a:srgbClr val="00001E"/>
                </a:solidFill>
                <a:latin typeface="Times New Roman" panose="02020603050405020304" pitchFamily="18" charset="0"/>
              </a:rPr>
              <a:t>Warehouse</a:t>
            </a:r>
          </a:p>
        </p:txBody>
      </p:sp>
      <p:sp>
        <p:nvSpPr>
          <p:cNvPr id="28699" name="AutoShape 68">
            <a:extLst>
              <a:ext uri="{FF2B5EF4-FFF2-40B4-BE49-F238E27FC236}">
                <a16:creationId xmlns="" xmlns:a16="http://schemas.microsoft.com/office/drawing/2014/main" id="{185F59AA-5AF5-41E0-9D9B-39ABDF9AFEAF}"/>
              </a:ext>
            </a:extLst>
          </p:cNvPr>
          <p:cNvSpPr>
            <a:spLocks noChangeArrowheads="1"/>
          </p:cNvSpPr>
          <p:nvPr/>
        </p:nvSpPr>
        <p:spPr bwMode="auto">
          <a:xfrm>
            <a:off x="5197475" y="4140200"/>
            <a:ext cx="809625" cy="692150"/>
          </a:xfrm>
          <a:prstGeom prst="cube">
            <a:avLst>
              <a:gd name="adj" fmla="val 25000"/>
            </a:avLst>
          </a:prstGeom>
          <a:solidFill>
            <a:schemeClr val="folHlink"/>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8700" name="AutoShape 69">
            <a:extLst>
              <a:ext uri="{FF2B5EF4-FFF2-40B4-BE49-F238E27FC236}">
                <a16:creationId xmlns="" xmlns:a16="http://schemas.microsoft.com/office/drawing/2014/main" id="{0FDFFE21-74BC-4DCB-99BC-888589943624}"/>
              </a:ext>
            </a:extLst>
          </p:cNvPr>
          <p:cNvSpPr>
            <a:spLocks noChangeArrowheads="1"/>
          </p:cNvSpPr>
          <p:nvPr/>
        </p:nvSpPr>
        <p:spPr bwMode="auto">
          <a:xfrm>
            <a:off x="5129213" y="2587625"/>
            <a:ext cx="811212" cy="692150"/>
          </a:xfrm>
          <a:prstGeom prst="cube">
            <a:avLst>
              <a:gd name="adj" fmla="val 25000"/>
            </a:avLst>
          </a:prstGeom>
          <a:solidFill>
            <a:schemeClr val="folHlink"/>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8701" name="Text Box 70">
            <a:extLst>
              <a:ext uri="{FF2B5EF4-FFF2-40B4-BE49-F238E27FC236}">
                <a16:creationId xmlns="" xmlns:a16="http://schemas.microsoft.com/office/drawing/2014/main" id="{10EE940E-8161-4A4C-B6B6-0C5A8ABF4986}"/>
              </a:ext>
            </a:extLst>
          </p:cNvPr>
          <p:cNvSpPr txBox="1">
            <a:spLocks noChangeArrowheads="1"/>
          </p:cNvSpPr>
          <p:nvPr/>
        </p:nvSpPr>
        <p:spPr bwMode="auto">
          <a:xfrm>
            <a:off x="4960938" y="2355850"/>
            <a:ext cx="1320800" cy="274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e.g., MOLAP</a:t>
            </a:r>
          </a:p>
        </p:txBody>
      </p:sp>
      <p:sp>
        <p:nvSpPr>
          <p:cNvPr id="28702" name="Text Box 71">
            <a:extLst>
              <a:ext uri="{FF2B5EF4-FFF2-40B4-BE49-F238E27FC236}">
                <a16:creationId xmlns="" xmlns:a16="http://schemas.microsoft.com/office/drawing/2014/main" id="{954422CF-383F-4DAB-9810-16EEFB51DDBB}"/>
              </a:ext>
            </a:extLst>
          </p:cNvPr>
          <p:cNvSpPr txBox="1">
            <a:spLocks noChangeArrowheads="1"/>
          </p:cNvSpPr>
          <p:nvPr/>
        </p:nvSpPr>
        <p:spPr bwMode="auto">
          <a:xfrm>
            <a:off x="5164138" y="3884613"/>
            <a:ext cx="1014412" cy="2746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e.g., ROLAP</a:t>
            </a:r>
          </a:p>
        </p:txBody>
      </p:sp>
      <p:sp>
        <p:nvSpPr>
          <p:cNvPr id="28703" name="Oval 72">
            <a:extLst>
              <a:ext uri="{FF2B5EF4-FFF2-40B4-BE49-F238E27FC236}">
                <a16:creationId xmlns="" xmlns:a16="http://schemas.microsoft.com/office/drawing/2014/main" id="{DBA2967D-C048-4175-935D-C45636ED1660}"/>
              </a:ext>
            </a:extLst>
          </p:cNvPr>
          <p:cNvSpPr>
            <a:spLocks noChangeArrowheads="1"/>
          </p:cNvSpPr>
          <p:nvPr/>
        </p:nvSpPr>
        <p:spPr bwMode="auto">
          <a:xfrm>
            <a:off x="6818313" y="2298700"/>
            <a:ext cx="1487487" cy="3060700"/>
          </a:xfrm>
          <a:prstGeom prst="ellipse">
            <a:avLst/>
          </a:prstGeom>
          <a:noFill/>
          <a:ln w="9525">
            <a:solidFill>
              <a:schemeClr val="bg2"/>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8704" name="AutoShape 73">
            <a:extLst>
              <a:ext uri="{FF2B5EF4-FFF2-40B4-BE49-F238E27FC236}">
                <a16:creationId xmlns="" xmlns:a16="http://schemas.microsoft.com/office/drawing/2014/main" id="{711A5D96-18EA-4C5A-96CA-CC5336F7FEF6}"/>
              </a:ext>
            </a:extLst>
          </p:cNvPr>
          <p:cNvSpPr>
            <a:spLocks noChangeArrowheads="1"/>
          </p:cNvSpPr>
          <p:nvPr/>
        </p:nvSpPr>
        <p:spPr bwMode="auto">
          <a:xfrm>
            <a:off x="4859338" y="3338513"/>
            <a:ext cx="1824037" cy="635000"/>
          </a:xfrm>
          <a:prstGeom prst="rightArrow">
            <a:avLst>
              <a:gd name="adj1" fmla="val 50000"/>
              <a:gd name="adj2" fmla="val 71812"/>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8705" name="Text Box 74">
            <a:extLst>
              <a:ext uri="{FF2B5EF4-FFF2-40B4-BE49-F238E27FC236}">
                <a16:creationId xmlns="" xmlns:a16="http://schemas.microsoft.com/office/drawing/2014/main" id="{076C683B-517B-400A-8AC6-A3DBB67AA890}"/>
              </a:ext>
            </a:extLst>
          </p:cNvPr>
          <p:cNvSpPr txBox="1">
            <a:spLocks noChangeArrowheads="1"/>
          </p:cNvSpPr>
          <p:nvPr/>
        </p:nvSpPr>
        <p:spPr bwMode="auto">
          <a:xfrm>
            <a:off x="5349875" y="3562350"/>
            <a:ext cx="506413" cy="274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i="1">
                <a:solidFill>
                  <a:srgbClr val="00001E"/>
                </a:solidFill>
                <a:latin typeface="Times New Roman" panose="02020603050405020304" pitchFamily="18" charset="0"/>
              </a:rPr>
              <a:t>serve</a:t>
            </a:r>
            <a:endParaRPr lang="en-US" altLang="en-US" sz="1200" b="1">
              <a:solidFill>
                <a:srgbClr val="00001E"/>
              </a:solidFill>
              <a:latin typeface="Times New Roman" panose="02020603050405020304" pitchFamily="18" charset="0"/>
            </a:endParaRPr>
          </a:p>
        </p:txBody>
      </p:sp>
      <p:sp>
        <p:nvSpPr>
          <p:cNvPr id="28706" name="Rectangle 75">
            <a:extLst>
              <a:ext uri="{FF2B5EF4-FFF2-40B4-BE49-F238E27FC236}">
                <a16:creationId xmlns="" xmlns:a16="http://schemas.microsoft.com/office/drawing/2014/main" id="{A03520F6-BE26-49CE-A931-CD57EECF8EE5}"/>
              </a:ext>
            </a:extLst>
          </p:cNvPr>
          <p:cNvSpPr>
            <a:spLocks noChangeArrowheads="1"/>
          </p:cNvSpPr>
          <p:nvPr/>
        </p:nvSpPr>
        <p:spPr bwMode="auto">
          <a:xfrm>
            <a:off x="7224713" y="2701925"/>
            <a:ext cx="676275" cy="520700"/>
          </a:xfrm>
          <a:prstGeom prst="rect">
            <a:avLst/>
          </a:prstGeom>
          <a:noFill/>
          <a:ln w="12700">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8707" name="Line 76">
            <a:extLst>
              <a:ext uri="{FF2B5EF4-FFF2-40B4-BE49-F238E27FC236}">
                <a16:creationId xmlns="" xmlns:a16="http://schemas.microsoft.com/office/drawing/2014/main" id="{461B3CD9-2200-4518-93D8-BD34999CA1AC}"/>
              </a:ext>
            </a:extLst>
          </p:cNvPr>
          <p:cNvSpPr>
            <a:spLocks noChangeShapeType="1"/>
          </p:cNvSpPr>
          <p:nvPr/>
        </p:nvSpPr>
        <p:spPr bwMode="auto">
          <a:xfrm>
            <a:off x="7224713" y="2760663"/>
            <a:ext cx="676275" cy="0"/>
          </a:xfrm>
          <a:prstGeom prst="line">
            <a:avLst/>
          </a:prstGeom>
          <a:noFill/>
          <a:ln w="1270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8708" name="Line 77">
            <a:extLst>
              <a:ext uri="{FF2B5EF4-FFF2-40B4-BE49-F238E27FC236}">
                <a16:creationId xmlns="" xmlns:a16="http://schemas.microsoft.com/office/drawing/2014/main" id="{10728529-F66D-4165-BD10-7200B9D06758}"/>
              </a:ext>
            </a:extLst>
          </p:cNvPr>
          <p:cNvSpPr>
            <a:spLocks noChangeShapeType="1"/>
          </p:cNvSpPr>
          <p:nvPr/>
        </p:nvSpPr>
        <p:spPr bwMode="auto">
          <a:xfrm>
            <a:off x="7562850" y="2701925"/>
            <a:ext cx="0" cy="52070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8709" name="Line 78">
            <a:extLst>
              <a:ext uri="{FF2B5EF4-FFF2-40B4-BE49-F238E27FC236}">
                <a16:creationId xmlns="" xmlns:a16="http://schemas.microsoft.com/office/drawing/2014/main" id="{36044672-F685-415C-A275-76C4EA460002}"/>
              </a:ext>
            </a:extLst>
          </p:cNvPr>
          <p:cNvSpPr>
            <a:spLocks noChangeShapeType="1"/>
          </p:cNvSpPr>
          <p:nvPr/>
        </p:nvSpPr>
        <p:spPr bwMode="auto">
          <a:xfrm>
            <a:off x="7562850" y="2701925"/>
            <a:ext cx="0" cy="52070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8710" name="Line 79">
            <a:extLst>
              <a:ext uri="{FF2B5EF4-FFF2-40B4-BE49-F238E27FC236}">
                <a16:creationId xmlns="" xmlns:a16="http://schemas.microsoft.com/office/drawing/2014/main" id="{85026EF1-AC25-4279-B6B2-792E15A39EC1}"/>
              </a:ext>
            </a:extLst>
          </p:cNvPr>
          <p:cNvSpPr>
            <a:spLocks noChangeShapeType="1"/>
          </p:cNvSpPr>
          <p:nvPr/>
        </p:nvSpPr>
        <p:spPr bwMode="auto">
          <a:xfrm>
            <a:off x="7562850" y="2701925"/>
            <a:ext cx="0" cy="52070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8711" name="Line 80">
            <a:extLst>
              <a:ext uri="{FF2B5EF4-FFF2-40B4-BE49-F238E27FC236}">
                <a16:creationId xmlns="" xmlns:a16="http://schemas.microsoft.com/office/drawing/2014/main" id="{9645268F-B690-46C2-A532-CBE475C8A218}"/>
              </a:ext>
            </a:extLst>
          </p:cNvPr>
          <p:cNvSpPr>
            <a:spLocks noChangeShapeType="1"/>
          </p:cNvSpPr>
          <p:nvPr/>
        </p:nvSpPr>
        <p:spPr bwMode="auto">
          <a:xfrm>
            <a:off x="7562850" y="2701925"/>
            <a:ext cx="0" cy="52070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8712" name="Line 81">
            <a:extLst>
              <a:ext uri="{FF2B5EF4-FFF2-40B4-BE49-F238E27FC236}">
                <a16:creationId xmlns="" xmlns:a16="http://schemas.microsoft.com/office/drawing/2014/main" id="{9588618C-DF1B-47E2-821B-25E8D5186709}"/>
              </a:ext>
            </a:extLst>
          </p:cNvPr>
          <p:cNvSpPr>
            <a:spLocks noChangeShapeType="1"/>
          </p:cNvSpPr>
          <p:nvPr/>
        </p:nvSpPr>
        <p:spPr bwMode="auto">
          <a:xfrm>
            <a:off x="7562850" y="2701925"/>
            <a:ext cx="0" cy="52070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8713" name="Line 82">
            <a:extLst>
              <a:ext uri="{FF2B5EF4-FFF2-40B4-BE49-F238E27FC236}">
                <a16:creationId xmlns="" xmlns:a16="http://schemas.microsoft.com/office/drawing/2014/main" id="{7CD6CAD4-97E9-46BD-8A47-1B8ABF688B3D}"/>
              </a:ext>
            </a:extLst>
          </p:cNvPr>
          <p:cNvSpPr>
            <a:spLocks noChangeShapeType="1"/>
          </p:cNvSpPr>
          <p:nvPr/>
        </p:nvSpPr>
        <p:spPr bwMode="auto">
          <a:xfrm>
            <a:off x="7224713" y="2817813"/>
            <a:ext cx="676275" cy="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8714" name="Line 83">
            <a:extLst>
              <a:ext uri="{FF2B5EF4-FFF2-40B4-BE49-F238E27FC236}">
                <a16:creationId xmlns="" xmlns:a16="http://schemas.microsoft.com/office/drawing/2014/main" id="{C4B40A97-98A3-46E7-9D41-547836030734}"/>
              </a:ext>
            </a:extLst>
          </p:cNvPr>
          <p:cNvSpPr>
            <a:spLocks noChangeShapeType="1"/>
          </p:cNvSpPr>
          <p:nvPr/>
        </p:nvSpPr>
        <p:spPr bwMode="auto">
          <a:xfrm>
            <a:off x="7224713" y="2874963"/>
            <a:ext cx="676275" cy="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8715" name="Line 84">
            <a:extLst>
              <a:ext uri="{FF2B5EF4-FFF2-40B4-BE49-F238E27FC236}">
                <a16:creationId xmlns="" xmlns:a16="http://schemas.microsoft.com/office/drawing/2014/main" id="{3312DAE6-8AE5-4769-ABE8-1E5C33EC0F1C}"/>
              </a:ext>
            </a:extLst>
          </p:cNvPr>
          <p:cNvSpPr>
            <a:spLocks noChangeShapeType="1"/>
          </p:cNvSpPr>
          <p:nvPr/>
        </p:nvSpPr>
        <p:spPr bwMode="auto">
          <a:xfrm>
            <a:off x="7224713" y="2933700"/>
            <a:ext cx="676275" cy="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8716" name="Line 85">
            <a:extLst>
              <a:ext uri="{FF2B5EF4-FFF2-40B4-BE49-F238E27FC236}">
                <a16:creationId xmlns="" xmlns:a16="http://schemas.microsoft.com/office/drawing/2014/main" id="{EFEBDEDC-21EB-4974-8194-C9F1CB3EA692}"/>
              </a:ext>
            </a:extLst>
          </p:cNvPr>
          <p:cNvSpPr>
            <a:spLocks noChangeShapeType="1"/>
          </p:cNvSpPr>
          <p:nvPr/>
        </p:nvSpPr>
        <p:spPr bwMode="auto">
          <a:xfrm>
            <a:off x="7224713" y="2990850"/>
            <a:ext cx="676275" cy="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8717" name="Line 86">
            <a:extLst>
              <a:ext uri="{FF2B5EF4-FFF2-40B4-BE49-F238E27FC236}">
                <a16:creationId xmlns="" xmlns:a16="http://schemas.microsoft.com/office/drawing/2014/main" id="{EB103656-1212-4F26-B721-702A49EDDB0D}"/>
              </a:ext>
            </a:extLst>
          </p:cNvPr>
          <p:cNvSpPr>
            <a:spLocks noChangeShapeType="1"/>
          </p:cNvSpPr>
          <p:nvPr/>
        </p:nvSpPr>
        <p:spPr bwMode="auto">
          <a:xfrm>
            <a:off x="7224713" y="3049588"/>
            <a:ext cx="676275" cy="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8718" name="Line 87">
            <a:extLst>
              <a:ext uri="{FF2B5EF4-FFF2-40B4-BE49-F238E27FC236}">
                <a16:creationId xmlns="" xmlns:a16="http://schemas.microsoft.com/office/drawing/2014/main" id="{7153EA1B-C123-4BD9-8B08-73E70CECB284}"/>
              </a:ext>
            </a:extLst>
          </p:cNvPr>
          <p:cNvSpPr>
            <a:spLocks noChangeShapeType="1"/>
          </p:cNvSpPr>
          <p:nvPr/>
        </p:nvSpPr>
        <p:spPr bwMode="auto">
          <a:xfrm>
            <a:off x="7224713" y="3106738"/>
            <a:ext cx="676275" cy="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8719" name="Line 88">
            <a:extLst>
              <a:ext uri="{FF2B5EF4-FFF2-40B4-BE49-F238E27FC236}">
                <a16:creationId xmlns="" xmlns:a16="http://schemas.microsoft.com/office/drawing/2014/main" id="{8E2E4F83-60A8-4B7E-B85C-B961923742D2}"/>
              </a:ext>
            </a:extLst>
          </p:cNvPr>
          <p:cNvSpPr>
            <a:spLocks noChangeShapeType="1"/>
          </p:cNvSpPr>
          <p:nvPr/>
        </p:nvSpPr>
        <p:spPr bwMode="auto">
          <a:xfrm>
            <a:off x="7224713" y="3163888"/>
            <a:ext cx="676275" cy="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8720" name="Text Box 89">
            <a:extLst>
              <a:ext uri="{FF2B5EF4-FFF2-40B4-BE49-F238E27FC236}">
                <a16:creationId xmlns="" xmlns:a16="http://schemas.microsoft.com/office/drawing/2014/main" id="{CE8ED089-DD7A-42D3-B89A-4CF2402D6D94}"/>
              </a:ext>
            </a:extLst>
          </p:cNvPr>
          <p:cNvSpPr txBox="1">
            <a:spLocks noChangeArrowheads="1"/>
          </p:cNvSpPr>
          <p:nvPr/>
        </p:nvSpPr>
        <p:spPr bwMode="auto">
          <a:xfrm>
            <a:off x="7194550" y="2484438"/>
            <a:ext cx="733425" cy="2746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Analysis</a:t>
            </a:r>
          </a:p>
        </p:txBody>
      </p:sp>
      <p:sp>
        <p:nvSpPr>
          <p:cNvPr id="28721" name="Rectangle 90">
            <a:extLst>
              <a:ext uri="{FF2B5EF4-FFF2-40B4-BE49-F238E27FC236}">
                <a16:creationId xmlns="" xmlns:a16="http://schemas.microsoft.com/office/drawing/2014/main" id="{4F637265-1740-4032-B685-F53451FA346F}"/>
              </a:ext>
            </a:extLst>
          </p:cNvPr>
          <p:cNvSpPr>
            <a:spLocks noChangeArrowheads="1"/>
          </p:cNvSpPr>
          <p:nvPr/>
        </p:nvSpPr>
        <p:spPr bwMode="auto">
          <a:xfrm>
            <a:off x="7191375" y="3511550"/>
            <a:ext cx="742950" cy="635000"/>
          </a:xfrm>
          <a:prstGeom prst="rect">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8722" name="Rectangle 91">
            <a:extLst>
              <a:ext uri="{FF2B5EF4-FFF2-40B4-BE49-F238E27FC236}">
                <a16:creationId xmlns="" xmlns:a16="http://schemas.microsoft.com/office/drawing/2014/main" id="{B01B49A1-10FB-4D56-AB2D-1E8B3A2EA744}"/>
              </a:ext>
            </a:extLst>
          </p:cNvPr>
          <p:cNvSpPr>
            <a:spLocks noChangeArrowheads="1"/>
          </p:cNvSpPr>
          <p:nvPr/>
        </p:nvSpPr>
        <p:spPr bwMode="auto">
          <a:xfrm>
            <a:off x="7156450" y="4492625"/>
            <a:ext cx="811213" cy="577850"/>
          </a:xfrm>
          <a:prstGeom prst="rect">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8723" name="Text Box 92">
            <a:extLst>
              <a:ext uri="{FF2B5EF4-FFF2-40B4-BE49-F238E27FC236}">
                <a16:creationId xmlns="" xmlns:a16="http://schemas.microsoft.com/office/drawing/2014/main" id="{BDFA5437-D898-48F3-BFF8-8524A71637BE}"/>
              </a:ext>
            </a:extLst>
          </p:cNvPr>
          <p:cNvSpPr txBox="1">
            <a:spLocks noChangeArrowheads="1"/>
          </p:cNvSpPr>
          <p:nvPr/>
        </p:nvSpPr>
        <p:spPr bwMode="auto">
          <a:xfrm>
            <a:off x="6934200" y="3303588"/>
            <a:ext cx="1303338" cy="2746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Query/Reporting</a:t>
            </a:r>
          </a:p>
        </p:txBody>
      </p:sp>
      <p:sp>
        <p:nvSpPr>
          <p:cNvPr id="28724" name="Text Box 93">
            <a:extLst>
              <a:ext uri="{FF2B5EF4-FFF2-40B4-BE49-F238E27FC236}">
                <a16:creationId xmlns="" xmlns:a16="http://schemas.microsoft.com/office/drawing/2014/main" id="{22A2D6EA-9348-42C3-A529-2D11E8C6F816}"/>
              </a:ext>
            </a:extLst>
          </p:cNvPr>
          <p:cNvSpPr txBox="1">
            <a:spLocks noChangeArrowheads="1"/>
          </p:cNvSpPr>
          <p:nvPr/>
        </p:nvSpPr>
        <p:spPr bwMode="auto">
          <a:xfrm>
            <a:off x="7080250" y="4229100"/>
            <a:ext cx="1009650" cy="274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Data Mining</a:t>
            </a:r>
          </a:p>
        </p:txBody>
      </p:sp>
      <p:sp>
        <p:nvSpPr>
          <p:cNvPr id="28725" name="Rectangle 94">
            <a:extLst>
              <a:ext uri="{FF2B5EF4-FFF2-40B4-BE49-F238E27FC236}">
                <a16:creationId xmlns="" xmlns:a16="http://schemas.microsoft.com/office/drawing/2014/main" id="{7B221166-2465-453A-BC03-5F5420B534DD}"/>
              </a:ext>
            </a:extLst>
          </p:cNvPr>
          <p:cNvSpPr>
            <a:spLocks noChangeArrowheads="1"/>
          </p:cNvSpPr>
          <p:nvPr/>
        </p:nvSpPr>
        <p:spPr bwMode="auto">
          <a:xfrm>
            <a:off x="7291388" y="3625850"/>
            <a:ext cx="68262" cy="520700"/>
          </a:xfrm>
          <a:prstGeom prst="rect">
            <a:avLst/>
          </a:prstGeom>
          <a:solidFill>
            <a:srgbClr val="EAEAEA"/>
          </a:solidFill>
          <a:ln w="9525">
            <a:solidFill>
              <a:schemeClr val="bg2"/>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8726" name="Rectangle 95">
            <a:extLst>
              <a:ext uri="{FF2B5EF4-FFF2-40B4-BE49-F238E27FC236}">
                <a16:creationId xmlns="" xmlns:a16="http://schemas.microsoft.com/office/drawing/2014/main" id="{991B0754-8970-49C5-8801-CAAC56327C80}"/>
              </a:ext>
            </a:extLst>
          </p:cNvPr>
          <p:cNvSpPr>
            <a:spLocks noChangeArrowheads="1"/>
          </p:cNvSpPr>
          <p:nvPr/>
        </p:nvSpPr>
        <p:spPr bwMode="auto">
          <a:xfrm>
            <a:off x="7494588" y="3684588"/>
            <a:ext cx="68262" cy="461962"/>
          </a:xfrm>
          <a:prstGeom prst="rect">
            <a:avLst/>
          </a:prstGeom>
          <a:solidFill>
            <a:srgbClr val="EAEAEA"/>
          </a:solidFill>
          <a:ln w="9525">
            <a:solidFill>
              <a:schemeClr val="bg2"/>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8727" name="Rectangle 96">
            <a:extLst>
              <a:ext uri="{FF2B5EF4-FFF2-40B4-BE49-F238E27FC236}">
                <a16:creationId xmlns="" xmlns:a16="http://schemas.microsoft.com/office/drawing/2014/main" id="{955DE0AA-0460-4ACF-BD07-EDC1B6C72AC3}"/>
              </a:ext>
            </a:extLst>
          </p:cNvPr>
          <p:cNvSpPr>
            <a:spLocks noChangeArrowheads="1"/>
          </p:cNvSpPr>
          <p:nvPr/>
        </p:nvSpPr>
        <p:spPr bwMode="auto">
          <a:xfrm>
            <a:off x="7629525" y="3914775"/>
            <a:ext cx="134938" cy="231775"/>
          </a:xfrm>
          <a:prstGeom prst="rect">
            <a:avLst/>
          </a:prstGeom>
          <a:solidFill>
            <a:srgbClr val="EAEAEA"/>
          </a:solidFill>
          <a:ln w="9525">
            <a:solidFill>
              <a:schemeClr val="bg2"/>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8728" name="Rectangle 97">
            <a:extLst>
              <a:ext uri="{FF2B5EF4-FFF2-40B4-BE49-F238E27FC236}">
                <a16:creationId xmlns="" xmlns:a16="http://schemas.microsoft.com/office/drawing/2014/main" id="{6492CA0D-4083-49AA-94F0-1991BA41021A}"/>
              </a:ext>
            </a:extLst>
          </p:cNvPr>
          <p:cNvSpPr>
            <a:spLocks noChangeArrowheads="1"/>
          </p:cNvSpPr>
          <p:nvPr/>
        </p:nvSpPr>
        <p:spPr bwMode="auto">
          <a:xfrm>
            <a:off x="7832725" y="3741738"/>
            <a:ext cx="68263" cy="404812"/>
          </a:xfrm>
          <a:prstGeom prst="rect">
            <a:avLst/>
          </a:prstGeom>
          <a:solidFill>
            <a:srgbClr val="EAEAEA"/>
          </a:solidFill>
          <a:ln w="9525">
            <a:solidFill>
              <a:schemeClr val="bg2"/>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8729" name="Line 98">
            <a:extLst>
              <a:ext uri="{FF2B5EF4-FFF2-40B4-BE49-F238E27FC236}">
                <a16:creationId xmlns="" xmlns:a16="http://schemas.microsoft.com/office/drawing/2014/main" id="{AD0A90C5-2F3D-45D9-A2A0-A363CBCE841E}"/>
              </a:ext>
            </a:extLst>
          </p:cNvPr>
          <p:cNvSpPr>
            <a:spLocks noChangeShapeType="1"/>
          </p:cNvSpPr>
          <p:nvPr/>
        </p:nvSpPr>
        <p:spPr bwMode="auto">
          <a:xfrm>
            <a:off x="7291388" y="4608513"/>
            <a:ext cx="541337"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8730" name="Line 99">
            <a:extLst>
              <a:ext uri="{FF2B5EF4-FFF2-40B4-BE49-F238E27FC236}">
                <a16:creationId xmlns="" xmlns:a16="http://schemas.microsoft.com/office/drawing/2014/main" id="{ABDF2A13-BEC5-4453-8640-A53B078A7B2C}"/>
              </a:ext>
            </a:extLst>
          </p:cNvPr>
          <p:cNvSpPr>
            <a:spLocks noChangeShapeType="1"/>
          </p:cNvSpPr>
          <p:nvPr/>
        </p:nvSpPr>
        <p:spPr bwMode="auto">
          <a:xfrm>
            <a:off x="7291388" y="4724400"/>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8731" name="Line 100">
            <a:extLst>
              <a:ext uri="{FF2B5EF4-FFF2-40B4-BE49-F238E27FC236}">
                <a16:creationId xmlns="" xmlns:a16="http://schemas.microsoft.com/office/drawing/2014/main" id="{8B304188-A88D-489A-97F4-1B32C293A89A}"/>
              </a:ext>
            </a:extLst>
          </p:cNvPr>
          <p:cNvSpPr>
            <a:spLocks noChangeShapeType="1"/>
          </p:cNvSpPr>
          <p:nvPr/>
        </p:nvSpPr>
        <p:spPr bwMode="auto">
          <a:xfrm>
            <a:off x="7629525" y="4724400"/>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8732" name="Line 101">
            <a:extLst>
              <a:ext uri="{FF2B5EF4-FFF2-40B4-BE49-F238E27FC236}">
                <a16:creationId xmlns="" xmlns:a16="http://schemas.microsoft.com/office/drawing/2014/main" id="{C9FD1B92-6BD2-472A-BBE7-76D43143488A}"/>
              </a:ext>
            </a:extLst>
          </p:cNvPr>
          <p:cNvSpPr>
            <a:spLocks noChangeShapeType="1"/>
          </p:cNvSpPr>
          <p:nvPr/>
        </p:nvSpPr>
        <p:spPr bwMode="auto">
          <a:xfrm>
            <a:off x="7291388" y="4781550"/>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8733" name="Line 102">
            <a:extLst>
              <a:ext uri="{FF2B5EF4-FFF2-40B4-BE49-F238E27FC236}">
                <a16:creationId xmlns="" xmlns:a16="http://schemas.microsoft.com/office/drawing/2014/main" id="{7C4E5DD5-EEEE-4D49-9284-18E9D162BB25}"/>
              </a:ext>
            </a:extLst>
          </p:cNvPr>
          <p:cNvSpPr>
            <a:spLocks noChangeShapeType="1"/>
          </p:cNvSpPr>
          <p:nvPr/>
        </p:nvSpPr>
        <p:spPr bwMode="auto">
          <a:xfrm>
            <a:off x="7291388" y="4840288"/>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8734" name="Line 103">
            <a:extLst>
              <a:ext uri="{FF2B5EF4-FFF2-40B4-BE49-F238E27FC236}">
                <a16:creationId xmlns="" xmlns:a16="http://schemas.microsoft.com/office/drawing/2014/main" id="{8FE3D5C8-ECDE-45D2-87AA-795781457F98}"/>
              </a:ext>
            </a:extLst>
          </p:cNvPr>
          <p:cNvSpPr>
            <a:spLocks noChangeShapeType="1"/>
          </p:cNvSpPr>
          <p:nvPr/>
        </p:nvSpPr>
        <p:spPr bwMode="auto">
          <a:xfrm>
            <a:off x="7291388" y="4897438"/>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8735" name="Line 104">
            <a:extLst>
              <a:ext uri="{FF2B5EF4-FFF2-40B4-BE49-F238E27FC236}">
                <a16:creationId xmlns="" xmlns:a16="http://schemas.microsoft.com/office/drawing/2014/main" id="{A00808B8-693C-4A0C-B819-816D9EDDF418}"/>
              </a:ext>
            </a:extLst>
          </p:cNvPr>
          <p:cNvSpPr>
            <a:spLocks noChangeShapeType="1"/>
          </p:cNvSpPr>
          <p:nvPr/>
        </p:nvSpPr>
        <p:spPr bwMode="auto">
          <a:xfrm>
            <a:off x="7291388" y="4954588"/>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8736" name="Line 105">
            <a:extLst>
              <a:ext uri="{FF2B5EF4-FFF2-40B4-BE49-F238E27FC236}">
                <a16:creationId xmlns="" xmlns:a16="http://schemas.microsoft.com/office/drawing/2014/main" id="{6252FA66-7886-4CDE-BA05-A222D18B9E1B}"/>
              </a:ext>
            </a:extLst>
          </p:cNvPr>
          <p:cNvSpPr>
            <a:spLocks noChangeShapeType="1"/>
          </p:cNvSpPr>
          <p:nvPr/>
        </p:nvSpPr>
        <p:spPr bwMode="auto">
          <a:xfrm>
            <a:off x="7629525" y="4781550"/>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8737" name="Line 106">
            <a:extLst>
              <a:ext uri="{FF2B5EF4-FFF2-40B4-BE49-F238E27FC236}">
                <a16:creationId xmlns="" xmlns:a16="http://schemas.microsoft.com/office/drawing/2014/main" id="{1CDAD081-A5D8-4CB8-B470-AE0181DB6EEC}"/>
              </a:ext>
            </a:extLst>
          </p:cNvPr>
          <p:cNvSpPr>
            <a:spLocks noChangeShapeType="1"/>
          </p:cNvSpPr>
          <p:nvPr/>
        </p:nvSpPr>
        <p:spPr bwMode="auto">
          <a:xfrm>
            <a:off x="7629525" y="4840288"/>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8738" name="Line 107">
            <a:extLst>
              <a:ext uri="{FF2B5EF4-FFF2-40B4-BE49-F238E27FC236}">
                <a16:creationId xmlns="" xmlns:a16="http://schemas.microsoft.com/office/drawing/2014/main" id="{727A0411-472B-4FAE-AC73-60C71B0C0D57}"/>
              </a:ext>
            </a:extLst>
          </p:cNvPr>
          <p:cNvSpPr>
            <a:spLocks noChangeShapeType="1"/>
          </p:cNvSpPr>
          <p:nvPr/>
        </p:nvSpPr>
        <p:spPr bwMode="auto">
          <a:xfrm>
            <a:off x="7629525" y="4897438"/>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8739" name="Line 108">
            <a:extLst>
              <a:ext uri="{FF2B5EF4-FFF2-40B4-BE49-F238E27FC236}">
                <a16:creationId xmlns="" xmlns:a16="http://schemas.microsoft.com/office/drawing/2014/main" id="{0CD2D2BC-C3AE-4FCE-9DC8-B355415F37E2}"/>
              </a:ext>
            </a:extLst>
          </p:cNvPr>
          <p:cNvSpPr>
            <a:spLocks noChangeShapeType="1"/>
          </p:cNvSpPr>
          <p:nvPr/>
        </p:nvSpPr>
        <p:spPr bwMode="auto">
          <a:xfrm>
            <a:off x="7629525" y="4954588"/>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8740" name="Line 109">
            <a:extLst>
              <a:ext uri="{FF2B5EF4-FFF2-40B4-BE49-F238E27FC236}">
                <a16:creationId xmlns="" xmlns:a16="http://schemas.microsoft.com/office/drawing/2014/main" id="{09F30E92-D5F3-43B9-90A1-9C2FC92CD057}"/>
              </a:ext>
            </a:extLst>
          </p:cNvPr>
          <p:cNvSpPr>
            <a:spLocks noChangeShapeType="1"/>
          </p:cNvSpPr>
          <p:nvPr/>
        </p:nvSpPr>
        <p:spPr bwMode="auto">
          <a:xfrm flipV="1">
            <a:off x="4452938" y="2990850"/>
            <a:ext cx="473075" cy="288925"/>
          </a:xfrm>
          <a:prstGeom prst="line">
            <a:avLst/>
          </a:prstGeom>
          <a:noFill/>
          <a:ln w="9525">
            <a:solidFill>
              <a:schemeClr val="bg2"/>
            </a:solidFill>
            <a:round/>
            <a:headEnd type="triangle" w="med" len="me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28741" name="Line 110">
            <a:extLst>
              <a:ext uri="{FF2B5EF4-FFF2-40B4-BE49-F238E27FC236}">
                <a16:creationId xmlns="" xmlns:a16="http://schemas.microsoft.com/office/drawing/2014/main" id="{7F25520B-B3C3-4752-8967-E5804C36FB83}"/>
              </a:ext>
            </a:extLst>
          </p:cNvPr>
          <p:cNvSpPr>
            <a:spLocks noChangeShapeType="1"/>
          </p:cNvSpPr>
          <p:nvPr/>
        </p:nvSpPr>
        <p:spPr bwMode="auto">
          <a:xfrm flipV="1">
            <a:off x="4724400" y="4435475"/>
            <a:ext cx="404813" cy="115888"/>
          </a:xfrm>
          <a:prstGeom prst="line">
            <a:avLst/>
          </a:prstGeom>
          <a:noFill/>
          <a:ln w="9525">
            <a:solidFill>
              <a:schemeClr val="bg2"/>
            </a:solidFill>
            <a:round/>
            <a:headEnd type="triangle" w="med" len="me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28742" name="AutoShape 111">
            <a:extLst>
              <a:ext uri="{FF2B5EF4-FFF2-40B4-BE49-F238E27FC236}">
                <a16:creationId xmlns="" xmlns:a16="http://schemas.microsoft.com/office/drawing/2014/main" id="{A43CB102-2A42-4E2D-BCF2-592BEF565962}"/>
              </a:ext>
            </a:extLst>
          </p:cNvPr>
          <p:cNvSpPr>
            <a:spLocks noChangeArrowheads="1"/>
          </p:cNvSpPr>
          <p:nvPr/>
        </p:nvSpPr>
        <p:spPr bwMode="auto">
          <a:xfrm>
            <a:off x="6143625" y="2760663"/>
            <a:ext cx="674688" cy="461962"/>
          </a:xfrm>
          <a:prstGeom prst="rightArrow">
            <a:avLst>
              <a:gd name="adj1" fmla="val 50000"/>
              <a:gd name="adj2" fmla="val 55444"/>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i="1">
                <a:solidFill>
                  <a:srgbClr val="00001E"/>
                </a:solidFill>
                <a:latin typeface="Times New Roman" panose="02020603050405020304" pitchFamily="18" charset="0"/>
              </a:rPr>
              <a:t>serve</a:t>
            </a:r>
            <a:endParaRPr lang="en-US" altLang="en-US" sz="1200" b="1">
              <a:solidFill>
                <a:srgbClr val="00001E"/>
              </a:solidFill>
              <a:latin typeface="Times New Roman" panose="02020603050405020304" pitchFamily="18" charset="0"/>
            </a:endParaRPr>
          </a:p>
        </p:txBody>
      </p:sp>
      <p:sp>
        <p:nvSpPr>
          <p:cNvPr id="28743" name="AutoShape 112">
            <a:extLst>
              <a:ext uri="{FF2B5EF4-FFF2-40B4-BE49-F238E27FC236}">
                <a16:creationId xmlns="" xmlns:a16="http://schemas.microsoft.com/office/drawing/2014/main" id="{69AB7CFE-E577-4C4E-B2FF-8A73BF84776C}"/>
              </a:ext>
            </a:extLst>
          </p:cNvPr>
          <p:cNvSpPr>
            <a:spLocks noChangeArrowheads="1"/>
          </p:cNvSpPr>
          <p:nvPr/>
        </p:nvSpPr>
        <p:spPr bwMode="auto">
          <a:xfrm>
            <a:off x="6143625" y="4203700"/>
            <a:ext cx="674688" cy="461963"/>
          </a:xfrm>
          <a:prstGeom prst="rightArrow">
            <a:avLst>
              <a:gd name="adj1" fmla="val 50000"/>
              <a:gd name="adj2" fmla="val 55444"/>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i="1">
                <a:solidFill>
                  <a:srgbClr val="00001E"/>
                </a:solidFill>
                <a:latin typeface="Times New Roman" panose="02020603050405020304" pitchFamily="18" charset="0"/>
              </a:rPr>
              <a:t>serve</a:t>
            </a:r>
            <a:endParaRPr lang="en-US" altLang="en-US" sz="1200" b="1">
              <a:solidFill>
                <a:srgbClr val="00001E"/>
              </a:solidFill>
              <a:latin typeface="Times New Roman" panose="02020603050405020304" pitchFamily="18" charset="0"/>
            </a:endParaRPr>
          </a:p>
        </p:txBody>
      </p:sp>
      <p:grpSp>
        <p:nvGrpSpPr>
          <p:cNvPr id="16" name="Group 113">
            <a:extLst>
              <a:ext uri="{FF2B5EF4-FFF2-40B4-BE49-F238E27FC236}">
                <a16:creationId xmlns="" xmlns:a16="http://schemas.microsoft.com/office/drawing/2014/main" id="{19D4B646-B649-4C74-B168-350BDAEB0D47}"/>
              </a:ext>
            </a:extLst>
          </p:cNvPr>
          <p:cNvGrpSpPr>
            <a:grpSpLocks/>
          </p:cNvGrpSpPr>
          <p:nvPr/>
        </p:nvGrpSpPr>
        <p:grpSpPr bwMode="auto">
          <a:xfrm>
            <a:off x="1905000" y="4684713"/>
            <a:ext cx="533400" cy="344487"/>
            <a:chOff x="4467" y="3038"/>
            <a:chExt cx="379" cy="382"/>
          </a:xfrm>
        </p:grpSpPr>
        <p:sp>
          <p:nvSpPr>
            <p:cNvPr id="28747" name="Rectangle 114">
              <a:extLst>
                <a:ext uri="{FF2B5EF4-FFF2-40B4-BE49-F238E27FC236}">
                  <a16:creationId xmlns="" xmlns:a16="http://schemas.microsoft.com/office/drawing/2014/main" id="{606F756E-9496-4AFF-BAA9-D24C540C1B54}"/>
                </a:ext>
              </a:extLst>
            </p:cNvPr>
            <p:cNvSpPr>
              <a:spLocks noChangeArrowheads="1"/>
            </p:cNvSpPr>
            <p:nvPr/>
          </p:nvSpPr>
          <p:spPr bwMode="auto">
            <a:xfrm>
              <a:off x="4467" y="3094"/>
              <a:ext cx="376" cy="274"/>
            </a:xfrm>
            <a:prstGeom prst="rect">
              <a:avLst/>
            </a:prstGeom>
            <a:solidFill>
              <a:srgbClr val="339966"/>
            </a:solidFill>
            <a:ln w="9525">
              <a:solidFill>
                <a:srgbClr val="339966"/>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17" name="Group 115">
              <a:extLst>
                <a:ext uri="{FF2B5EF4-FFF2-40B4-BE49-F238E27FC236}">
                  <a16:creationId xmlns="" xmlns:a16="http://schemas.microsoft.com/office/drawing/2014/main" id="{29CE0F88-64CF-48F5-9298-B7FDEE4E5357}"/>
                </a:ext>
              </a:extLst>
            </p:cNvPr>
            <p:cNvGrpSpPr>
              <a:grpSpLocks/>
            </p:cNvGrpSpPr>
            <p:nvPr/>
          </p:nvGrpSpPr>
          <p:grpSpPr bwMode="auto">
            <a:xfrm>
              <a:off x="4468" y="3038"/>
              <a:ext cx="378" cy="382"/>
              <a:chOff x="4468" y="3038"/>
              <a:chExt cx="378" cy="382"/>
            </a:xfrm>
          </p:grpSpPr>
          <p:sp>
            <p:nvSpPr>
              <p:cNvPr id="28749" name="Line 116">
                <a:extLst>
                  <a:ext uri="{FF2B5EF4-FFF2-40B4-BE49-F238E27FC236}">
                    <a16:creationId xmlns="" xmlns:a16="http://schemas.microsoft.com/office/drawing/2014/main" id="{04BB4553-A24F-4779-AF37-86DC924E54A6}"/>
                  </a:ext>
                </a:extLst>
              </p:cNvPr>
              <p:cNvSpPr>
                <a:spLocks noChangeShapeType="1"/>
              </p:cNvSpPr>
              <p:nvPr/>
            </p:nvSpPr>
            <p:spPr bwMode="auto">
              <a:xfrm>
                <a:off x="4468" y="3087"/>
                <a:ext cx="0" cy="292"/>
              </a:xfrm>
              <a:prstGeom prst="line">
                <a:avLst/>
              </a:prstGeom>
              <a:noFill/>
              <a:ln w="9525">
                <a:solidFill>
                  <a:srgbClr val="339966"/>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8750" name="Line 117">
                <a:extLst>
                  <a:ext uri="{FF2B5EF4-FFF2-40B4-BE49-F238E27FC236}">
                    <a16:creationId xmlns="" xmlns:a16="http://schemas.microsoft.com/office/drawing/2014/main" id="{19092DC3-98C3-48C2-B13A-F7165D1E1261}"/>
                  </a:ext>
                </a:extLst>
              </p:cNvPr>
              <p:cNvSpPr>
                <a:spLocks noChangeShapeType="1"/>
              </p:cNvSpPr>
              <p:nvPr/>
            </p:nvSpPr>
            <p:spPr bwMode="auto">
              <a:xfrm>
                <a:off x="4846" y="3089"/>
                <a:ext cx="0" cy="292"/>
              </a:xfrm>
              <a:prstGeom prst="line">
                <a:avLst/>
              </a:prstGeom>
              <a:noFill/>
              <a:ln w="9525">
                <a:solidFill>
                  <a:srgbClr val="339966"/>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8751" name="Oval 118">
                <a:extLst>
                  <a:ext uri="{FF2B5EF4-FFF2-40B4-BE49-F238E27FC236}">
                    <a16:creationId xmlns="" xmlns:a16="http://schemas.microsoft.com/office/drawing/2014/main" id="{77DBAD77-2FFC-4228-B776-E1603CF03E5B}"/>
                  </a:ext>
                </a:extLst>
              </p:cNvPr>
              <p:cNvSpPr>
                <a:spLocks noChangeArrowheads="1"/>
              </p:cNvSpPr>
              <p:nvPr/>
            </p:nvSpPr>
            <p:spPr bwMode="auto">
              <a:xfrm>
                <a:off x="4469" y="3038"/>
                <a:ext cx="376" cy="90"/>
              </a:xfrm>
              <a:prstGeom prst="ellipse">
                <a:avLst/>
              </a:prstGeom>
              <a:gradFill rotWithShape="0">
                <a:gsLst>
                  <a:gs pos="0">
                    <a:srgbClr val="7C7C7C"/>
                  </a:gs>
                  <a:gs pos="50000">
                    <a:srgbClr val="DDDDDD"/>
                  </a:gs>
                  <a:gs pos="100000">
                    <a:srgbClr val="7C7C7C"/>
                  </a:gs>
                </a:gsLst>
                <a:lin ang="0" scaled="1"/>
              </a:gradFill>
              <a:ln w="9525">
                <a:solidFill>
                  <a:srgbClr val="339966"/>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8752" name="Oval 119">
                <a:extLst>
                  <a:ext uri="{FF2B5EF4-FFF2-40B4-BE49-F238E27FC236}">
                    <a16:creationId xmlns="" xmlns:a16="http://schemas.microsoft.com/office/drawing/2014/main" id="{77B2CB55-F87D-4B76-93BE-730C9672744C}"/>
                  </a:ext>
                </a:extLst>
              </p:cNvPr>
              <p:cNvSpPr>
                <a:spLocks noChangeArrowheads="1"/>
              </p:cNvSpPr>
              <p:nvPr/>
            </p:nvSpPr>
            <p:spPr bwMode="auto">
              <a:xfrm>
                <a:off x="4469" y="3331"/>
                <a:ext cx="376" cy="89"/>
              </a:xfrm>
              <a:prstGeom prst="ellipse">
                <a:avLst/>
              </a:prstGeom>
              <a:solidFill>
                <a:srgbClr val="99CC00"/>
              </a:solidFill>
              <a:ln w="9525">
                <a:solidFill>
                  <a:srgbClr val="339966"/>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sp>
        <p:nvSpPr>
          <p:cNvPr id="28745" name="Text Box 120">
            <a:extLst>
              <a:ext uri="{FF2B5EF4-FFF2-40B4-BE49-F238E27FC236}">
                <a16:creationId xmlns="" xmlns:a16="http://schemas.microsoft.com/office/drawing/2014/main" id="{69C325DC-BE09-499A-9664-C71F3312769E}"/>
              </a:ext>
            </a:extLst>
          </p:cNvPr>
          <p:cNvSpPr txBox="1">
            <a:spLocks noChangeArrowheads="1"/>
          </p:cNvSpPr>
          <p:nvPr/>
        </p:nvSpPr>
        <p:spPr bwMode="auto">
          <a:xfrm>
            <a:off x="1681163" y="5038725"/>
            <a:ext cx="1001712" cy="274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Staging area</a:t>
            </a:r>
          </a:p>
        </p:txBody>
      </p:sp>
      <p:sp>
        <p:nvSpPr>
          <p:cNvPr id="28746" name="AutoShape 121">
            <a:extLst>
              <a:ext uri="{FF2B5EF4-FFF2-40B4-BE49-F238E27FC236}">
                <a16:creationId xmlns="" xmlns:a16="http://schemas.microsoft.com/office/drawing/2014/main" id="{9C7CC012-AB46-4B78-AD7D-C10CD52BBE92}"/>
              </a:ext>
            </a:extLst>
          </p:cNvPr>
          <p:cNvSpPr>
            <a:spLocks noChangeArrowheads="1"/>
          </p:cNvSpPr>
          <p:nvPr/>
        </p:nvSpPr>
        <p:spPr bwMode="auto">
          <a:xfrm>
            <a:off x="2070100" y="4152900"/>
            <a:ext cx="182563" cy="457200"/>
          </a:xfrm>
          <a:prstGeom prst="downArrow">
            <a:avLst>
              <a:gd name="adj1" fmla="val 50000"/>
              <a:gd name="adj2" fmla="val 62609"/>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a:extLst>
              <a:ext uri="{FF2B5EF4-FFF2-40B4-BE49-F238E27FC236}">
                <a16:creationId xmlns="" xmlns:a16="http://schemas.microsoft.com/office/drawing/2014/main" id="{E261E362-DA0F-4521-9EE8-8C35982235BD}"/>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5DB7A305-4833-42B4-B128-DD2B5C97D012}" type="slidenum">
              <a:rPr lang="sv-SE" altLang="en-US">
                <a:latin typeface="Garamond" panose="02020404030301010803" pitchFamily="18" charset="0"/>
              </a:rPr>
              <a:pPr eaLnBrk="1" hangingPunct="1"/>
              <a:t>27</a:t>
            </a:fld>
            <a:endParaRPr lang="sv-SE" altLang="en-US">
              <a:latin typeface="Garamond" panose="02020404030301010803" pitchFamily="18" charset="0"/>
            </a:endParaRPr>
          </a:p>
        </p:txBody>
      </p:sp>
      <p:sp>
        <p:nvSpPr>
          <p:cNvPr id="29699" name="Rectangle 2">
            <a:extLst>
              <a:ext uri="{FF2B5EF4-FFF2-40B4-BE49-F238E27FC236}">
                <a16:creationId xmlns="" xmlns:a16="http://schemas.microsoft.com/office/drawing/2014/main" id="{53B11F24-BE13-4695-BB2E-ABDE4455431B}"/>
              </a:ext>
            </a:extLst>
          </p:cNvPr>
          <p:cNvSpPr>
            <a:spLocks noGrp="1" noChangeArrowheads="1"/>
          </p:cNvSpPr>
          <p:nvPr>
            <p:ph type="title"/>
          </p:nvPr>
        </p:nvSpPr>
        <p:spPr>
          <a:xfrm>
            <a:off x="685800" y="457200"/>
            <a:ext cx="7772400" cy="1143000"/>
          </a:xfrm>
        </p:spPr>
        <p:txBody>
          <a:bodyPr/>
          <a:lstStyle/>
          <a:p>
            <a:pPr eaLnBrk="1" hangingPunct="1"/>
            <a:r>
              <a:rPr lang="en-US" altLang="en-US" sz="3400">
                <a:ea typeface="ＭＳ Ｐゴシック" panose="020B0600070205080204" pitchFamily="34" charset="-128"/>
              </a:rPr>
              <a:t>3. Data Storage Component</a:t>
            </a:r>
          </a:p>
        </p:txBody>
      </p:sp>
      <p:sp>
        <p:nvSpPr>
          <p:cNvPr id="29700" name="Rectangle 3">
            <a:extLst>
              <a:ext uri="{FF2B5EF4-FFF2-40B4-BE49-F238E27FC236}">
                <a16:creationId xmlns="" xmlns:a16="http://schemas.microsoft.com/office/drawing/2014/main" id="{5129CDEB-F0C8-4575-B5AF-75AC32B44B21}"/>
              </a:ext>
            </a:extLst>
          </p:cNvPr>
          <p:cNvSpPr>
            <a:spLocks noGrp="1" noChangeArrowheads="1"/>
          </p:cNvSpPr>
          <p:nvPr>
            <p:ph type="body" idx="1"/>
          </p:nvPr>
        </p:nvSpPr>
        <p:spPr>
          <a:xfrm>
            <a:off x="914400" y="1219200"/>
            <a:ext cx="7467600" cy="5105400"/>
          </a:xfrm>
        </p:spPr>
        <p:txBody>
          <a:bodyPr/>
          <a:lstStyle/>
          <a:p>
            <a:pPr eaLnBrk="1" hangingPunct="1"/>
            <a:r>
              <a:rPr lang="en-US" altLang="en-US" sz="2600">
                <a:ea typeface="ＭＳ Ｐゴシック" panose="020B0600070205080204" pitchFamily="34" charset="-128"/>
                <a:cs typeface="Times New Roman" panose="02020603050405020304" pitchFamily="18" charset="0"/>
              </a:rPr>
              <a:t>Separate repository</a:t>
            </a:r>
          </a:p>
          <a:p>
            <a:pPr eaLnBrk="1" hangingPunct="1"/>
            <a:r>
              <a:rPr lang="en-US" altLang="en-US" sz="2600">
                <a:ea typeface="ＭＳ Ｐゴシック" panose="020B0600070205080204" pitchFamily="34" charset="-128"/>
                <a:cs typeface="Times New Roman" panose="02020603050405020304" pitchFamily="18" charset="0"/>
              </a:rPr>
              <a:t>Data structured for efficient processing</a:t>
            </a:r>
          </a:p>
          <a:p>
            <a:pPr eaLnBrk="1" hangingPunct="1"/>
            <a:r>
              <a:rPr lang="en-US" altLang="en-US" sz="2600">
                <a:ea typeface="ＭＳ Ｐゴシック" panose="020B0600070205080204" pitchFamily="34" charset="-128"/>
                <a:cs typeface="Times New Roman" panose="02020603050405020304" pitchFamily="18" charset="0"/>
              </a:rPr>
              <a:t>Redundancy is increased</a:t>
            </a:r>
          </a:p>
          <a:p>
            <a:pPr eaLnBrk="1" hangingPunct="1"/>
            <a:r>
              <a:rPr lang="en-US" altLang="en-US" sz="2600">
                <a:ea typeface="ＭＳ Ｐゴシック" panose="020B0600070205080204" pitchFamily="34" charset="-128"/>
                <a:cs typeface="Times New Roman" panose="02020603050405020304" pitchFamily="18" charset="0"/>
              </a:rPr>
              <a:t>Updated after specific periods</a:t>
            </a:r>
          </a:p>
          <a:p>
            <a:pPr eaLnBrk="1" hangingPunct="1"/>
            <a:r>
              <a:rPr lang="en-US" altLang="en-US" sz="2600">
                <a:ea typeface="ＭＳ Ｐゴシック" panose="020B0600070205080204" pitchFamily="34" charset="-128"/>
                <a:cs typeface="Times New Roman" panose="02020603050405020304" pitchFamily="18" charset="0"/>
              </a:rPr>
              <a:t>Only read-only</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a:extLst>
              <a:ext uri="{FF2B5EF4-FFF2-40B4-BE49-F238E27FC236}">
                <a16:creationId xmlns="" xmlns:a16="http://schemas.microsoft.com/office/drawing/2014/main" id="{9BE5E6E2-F51C-4D16-B5C2-E606137D331A}"/>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29E27823-E70B-4C14-9E9E-0B6887703B1A}" type="slidenum">
              <a:rPr lang="sv-SE" altLang="en-US">
                <a:latin typeface="Garamond" panose="02020404030301010803" pitchFamily="18" charset="0"/>
              </a:rPr>
              <a:pPr eaLnBrk="1" hangingPunct="1"/>
              <a:t>28</a:t>
            </a:fld>
            <a:endParaRPr lang="sv-SE" altLang="en-US">
              <a:latin typeface="Garamond" panose="02020404030301010803" pitchFamily="18" charset="0"/>
            </a:endParaRPr>
          </a:p>
        </p:txBody>
      </p:sp>
      <p:sp>
        <p:nvSpPr>
          <p:cNvPr id="30723" name="Rectangle 2">
            <a:extLst>
              <a:ext uri="{FF2B5EF4-FFF2-40B4-BE49-F238E27FC236}">
                <a16:creationId xmlns="" xmlns:a16="http://schemas.microsoft.com/office/drawing/2014/main" id="{D3701DE0-23C6-4AAD-81EA-2A3BD48B8A06}"/>
              </a:ext>
            </a:extLst>
          </p:cNvPr>
          <p:cNvSpPr>
            <a:spLocks noGrp="1" noChangeArrowheads="1"/>
          </p:cNvSpPr>
          <p:nvPr>
            <p:ph type="title"/>
          </p:nvPr>
        </p:nvSpPr>
        <p:spPr>
          <a:xfrm>
            <a:off x="685800" y="457200"/>
            <a:ext cx="7772400" cy="1143000"/>
          </a:xfrm>
        </p:spPr>
        <p:txBody>
          <a:bodyPr/>
          <a:lstStyle/>
          <a:p>
            <a:pPr eaLnBrk="1" hangingPunct="1"/>
            <a:r>
              <a:rPr lang="en-US" altLang="en-US" sz="3400">
                <a:ea typeface="ＭＳ Ｐゴシック" panose="020B0600070205080204" pitchFamily="34" charset="-128"/>
              </a:rPr>
              <a:t>Architecture of DW</a:t>
            </a:r>
          </a:p>
        </p:txBody>
      </p:sp>
      <p:sp>
        <p:nvSpPr>
          <p:cNvPr id="30724" name="Text Box 3">
            <a:extLst>
              <a:ext uri="{FF2B5EF4-FFF2-40B4-BE49-F238E27FC236}">
                <a16:creationId xmlns="" xmlns:a16="http://schemas.microsoft.com/office/drawing/2014/main" id="{B50CCD66-32E4-4473-80A2-EA191242AC98}"/>
              </a:ext>
            </a:extLst>
          </p:cNvPr>
          <p:cNvSpPr txBox="1">
            <a:spLocks noChangeArrowheads="1"/>
          </p:cNvSpPr>
          <p:nvPr/>
        </p:nvSpPr>
        <p:spPr bwMode="auto">
          <a:xfrm>
            <a:off x="533400" y="1828800"/>
            <a:ext cx="1525588" cy="274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b="1" u="sng">
                <a:solidFill>
                  <a:srgbClr val="00001E"/>
                </a:solidFill>
                <a:latin typeface="Times New Roman" panose="02020603050405020304" pitchFamily="18" charset="0"/>
              </a:rPr>
              <a:t>Information Sources</a:t>
            </a:r>
            <a:endParaRPr lang="en-US" altLang="en-US" sz="1200" b="1">
              <a:solidFill>
                <a:srgbClr val="00001E"/>
              </a:solidFill>
              <a:latin typeface="Times New Roman" panose="02020603050405020304" pitchFamily="18" charset="0"/>
            </a:endParaRPr>
          </a:p>
        </p:txBody>
      </p:sp>
      <p:sp>
        <p:nvSpPr>
          <p:cNvPr id="30725" name="Text Box 4">
            <a:extLst>
              <a:ext uri="{FF2B5EF4-FFF2-40B4-BE49-F238E27FC236}">
                <a16:creationId xmlns="" xmlns:a16="http://schemas.microsoft.com/office/drawing/2014/main" id="{B55042BE-D684-4380-AA5C-CD211089A71C}"/>
              </a:ext>
            </a:extLst>
          </p:cNvPr>
          <p:cNvSpPr txBox="1">
            <a:spLocks noChangeArrowheads="1"/>
          </p:cNvSpPr>
          <p:nvPr/>
        </p:nvSpPr>
        <p:spPr bwMode="auto">
          <a:xfrm>
            <a:off x="3081338" y="1828800"/>
            <a:ext cx="1309687" cy="6397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u="sng">
                <a:solidFill>
                  <a:srgbClr val="00001E"/>
                </a:solidFill>
                <a:latin typeface="Times New Roman" panose="02020603050405020304" pitchFamily="18" charset="0"/>
              </a:rPr>
              <a:t>Data Warehouse </a:t>
            </a:r>
          </a:p>
          <a:p>
            <a:pPr algn="ctr"/>
            <a:r>
              <a:rPr lang="en-US" altLang="en-US" sz="1200" b="1" u="sng">
                <a:solidFill>
                  <a:srgbClr val="00001E"/>
                </a:solidFill>
                <a:latin typeface="Times New Roman" panose="02020603050405020304" pitchFamily="18" charset="0"/>
              </a:rPr>
              <a:t>Server</a:t>
            </a:r>
          </a:p>
          <a:p>
            <a:pPr algn="ctr"/>
            <a:r>
              <a:rPr lang="en-US" altLang="en-US" sz="1200" b="1">
                <a:solidFill>
                  <a:srgbClr val="00001E"/>
                </a:solidFill>
                <a:latin typeface="Times New Roman" panose="02020603050405020304" pitchFamily="18" charset="0"/>
              </a:rPr>
              <a:t>(Tier 1)</a:t>
            </a:r>
          </a:p>
        </p:txBody>
      </p:sp>
      <p:sp>
        <p:nvSpPr>
          <p:cNvPr id="30726" name="Text Box 5">
            <a:extLst>
              <a:ext uri="{FF2B5EF4-FFF2-40B4-BE49-F238E27FC236}">
                <a16:creationId xmlns="" xmlns:a16="http://schemas.microsoft.com/office/drawing/2014/main" id="{6F16B57E-0D45-440C-AC2D-905AD0E0D469}"/>
              </a:ext>
            </a:extLst>
          </p:cNvPr>
          <p:cNvSpPr txBox="1">
            <a:spLocks noChangeArrowheads="1"/>
          </p:cNvSpPr>
          <p:nvPr/>
        </p:nvSpPr>
        <p:spPr bwMode="auto">
          <a:xfrm>
            <a:off x="5100638" y="1828800"/>
            <a:ext cx="1138237"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u="sng">
                <a:solidFill>
                  <a:srgbClr val="00001E"/>
                </a:solidFill>
                <a:latin typeface="Times New Roman" panose="02020603050405020304" pitchFamily="18" charset="0"/>
              </a:rPr>
              <a:t>OLAP Servers</a:t>
            </a:r>
          </a:p>
          <a:p>
            <a:pPr algn="ctr"/>
            <a:r>
              <a:rPr lang="en-US" altLang="en-US" sz="1200" b="1">
                <a:solidFill>
                  <a:srgbClr val="00001E"/>
                </a:solidFill>
                <a:latin typeface="Times New Roman" panose="02020603050405020304" pitchFamily="18" charset="0"/>
              </a:rPr>
              <a:t>(Tier 2)</a:t>
            </a:r>
          </a:p>
        </p:txBody>
      </p:sp>
      <p:sp>
        <p:nvSpPr>
          <p:cNvPr id="30727" name="Text Box 6">
            <a:extLst>
              <a:ext uri="{FF2B5EF4-FFF2-40B4-BE49-F238E27FC236}">
                <a16:creationId xmlns="" xmlns:a16="http://schemas.microsoft.com/office/drawing/2014/main" id="{476AC4E4-140E-4757-AC9F-A9C31C3EC8D5}"/>
              </a:ext>
            </a:extLst>
          </p:cNvPr>
          <p:cNvSpPr txBox="1">
            <a:spLocks noChangeArrowheads="1"/>
          </p:cNvSpPr>
          <p:nvPr/>
        </p:nvSpPr>
        <p:spPr bwMode="auto">
          <a:xfrm>
            <a:off x="7291388" y="1828800"/>
            <a:ext cx="681037"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b="1" u="sng">
                <a:solidFill>
                  <a:srgbClr val="00001E"/>
                </a:solidFill>
                <a:latin typeface="Times New Roman" panose="02020603050405020304" pitchFamily="18" charset="0"/>
              </a:rPr>
              <a:t>Clients</a:t>
            </a:r>
          </a:p>
          <a:p>
            <a:r>
              <a:rPr lang="en-US" altLang="en-US" sz="1200" b="1">
                <a:solidFill>
                  <a:srgbClr val="00001E"/>
                </a:solidFill>
                <a:latin typeface="Times New Roman" panose="02020603050405020304" pitchFamily="18" charset="0"/>
              </a:rPr>
              <a:t>(Tier 3)</a:t>
            </a:r>
          </a:p>
        </p:txBody>
      </p:sp>
      <p:sp>
        <p:nvSpPr>
          <p:cNvPr id="30728" name="Oval 7">
            <a:extLst>
              <a:ext uri="{FF2B5EF4-FFF2-40B4-BE49-F238E27FC236}">
                <a16:creationId xmlns="" xmlns:a16="http://schemas.microsoft.com/office/drawing/2014/main" id="{FD155EED-B7A2-43B1-B35A-F1231DDA88D1}"/>
              </a:ext>
            </a:extLst>
          </p:cNvPr>
          <p:cNvSpPr>
            <a:spLocks noChangeArrowheads="1"/>
          </p:cNvSpPr>
          <p:nvPr/>
        </p:nvSpPr>
        <p:spPr bwMode="auto">
          <a:xfrm>
            <a:off x="533400" y="2990850"/>
            <a:ext cx="1014413" cy="173038"/>
          </a:xfrm>
          <a:prstGeom prst="ellipse">
            <a:avLst/>
          </a:prstGeom>
          <a:noFill/>
          <a:ln w="9525">
            <a:solidFill>
              <a:schemeClr val="bg2"/>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0729" name="Oval 8">
            <a:extLst>
              <a:ext uri="{FF2B5EF4-FFF2-40B4-BE49-F238E27FC236}">
                <a16:creationId xmlns="" xmlns:a16="http://schemas.microsoft.com/office/drawing/2014/main" id="{60E6EEF6-A0AF-4AF6-8E94-14407E6B40C6}"/>
              </a:ext>
            </a:extLst>
          </p:cNvPr>
          <p:cNvSpPr>
            <a:spLocks noChangeArrowheads="1"/>
          </p:cNvSpPr>
          <p:nvPr/>
        </p:nvSpPr>
        <p:spPr bwMode="auto">
          <a:xfrm>
            <a:off x="601663" y="3106738"/>
            <a:ext cx="1012825" cy="173037"/>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2" name="Group 9">
            <a:extLst>
              <a:ext uri="{FF2B5EF4-FFF2-40B4-BE49-F238E27FC236}">
                <a16:creationId xmlns="" xmlns:a16="http://schemas.microsoft.com/office/drawing/2014/main" id="{A7BBE32D-077E-4A6D-B9DA-17FCFAA9A660}"/>
              </a:ext>
            </a:extLst>
          </p:cNvPr>
          <p:cNvGrpSpPr>
            <a:grpSpLocks/>
          </p:cNvGrpSpPr>
          <p:nvPr/>
        </p:nvGrpSpPr>
        <p:grpSpPr bwMode="auto">
          <a:xfrm>
            <a:off x="533400" y="4376738"/>
            <a:ext cx="533400" cy="460375"/>
            <a:chOff x="4467" y="3038"/>
            <a:chExt cx="379" cy="382"/>
          </a:xfrm>
        </p:grpSpPr>
        <p:sp>
          <p:nvSpPr>
            <p:cNvPr id="30837" name="Rectangle 10">
              <a:extLst>
                <a:ext uri="{FF2B5EF4-FFF2-40B4-BE49-F238E27FC236}">
                  <a16:creationId xmlns="" xmlns:a16="http://schemas.microsoft.com/office/drawing/2014/main" id="{95DDD85D-433A-4A83-8F26-D55810E8239C}"/>
                </a:ext>
              </a:extLst>
            </p:cNvPr>
            <p:cNvSpPr>
              <a:spLocks noChangeArrowheads="1"/>
            </p:cNvSpPr>
            <p:nvPr/>
          </p:nvSpPr>
          <p:spPr bwMode="auto">
            <a:xfrm>
              <a:off x="4467" y="3094"/>
              <a:ext cx="376" cy="274"/>
            </a:xfrm>
            <a:prstGeom prst="rect">
              <a:avLst/>
            </a:prstGeom>
            <a:solidFill>
              <a:schemeClr val="bg1"/>
            </a:solidFill>
            <a:ln w="9525">
              <a:solidFill>
                <a:schemeClr val="bg1"/>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3" name="Group 11">
              <a:extLst>
                <a:ext uri="{FF2B5EF4-FFF2-40B4-BE49-F238E27FC236}">
                  <a16:creationId xmlns="" xmlns:a16="http://schemas.microsoft.com/office/drawing/2014/main" id="{58E0DD3A-277A-45E1-955E-BE1F603F0784}"/>
                </a:ext>
              </a:extLst>
            </p:cNvPr>
            <p:cNvGrpSpPr>
              <a:grpSpLocks/>
            </p:cNvGrpSpPr>
            <p:nvPr/>
          </p:nvGrpSpPr>
          <p:grpSpPr bwMode="auto">
            <a:xfrm>
              <a:off x="4468" y="3038"/>
              <a:ext cx="378" cy="382"/>
              <a:chOff x="4468" y="3038"/>
              <a:chExt cx="378" cy="382"/>
            </a:xfrm>
          </p:grpSpPr>
          <p:sp>
            <p:nvSpPr>
              <p:cNvPr id="30839" name="Line 12">
                <a:extLst>
                  <a:ext uri="{FF2B5EF4-FFF2-40B4-BE49-F238E27FC236}">
                    <a16:creationId xmlns="" xmlns:a16="http://schemas.microsoft.com/office/drawing/2014/main" id="{C4FA554A-6E82-4F64-9FC3-17265F4CFBEE}"/>
                  </a:ext>
                </a:extLst>
              </p:cNvPr>
              <p:cNvSpPr>
                <a:spLocks noChangeShapeType="1"/>
              </p:cNvSpPr>
              <p:nvPr/>
            </p:nvSpPr>
            <p:spPr bwMode="auto">
              <a:xfrm>
                <a:off x="4468" y="3087"/>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30840" name="Line 13">
                <a:extLst>
                  <a:ext uri="{FF2B5EF4-FFF2-40B4-BE49-F238E27FC236}">
                    <a16:creationId xmlns="" xmlns:a16="http://schemas.microsoft.com/office/drawing/2014/main" id="{735AE400-D7E5-406A-8CAB-7D5DC5BEF77B}"/>
                  </a:ext>
                </a:extLst>
              </p:cNvPr>
              <p:cNvSpPr>
                <a:spLocks noChangeShapeType="1"/>
              </p:cNvSpPr>
              <p:nvPr/>
            </p:nvSpPr>
            <p:spPr bwMode="auto">
              <a:xfrm>
                <a:off x="4846" y="3089"/>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30841" name="Oval 14">
                <a:extLst>
                  <a:ext uri="{FF2B5EF4-FFF2-40B4-BE49-F238E27FC236}">
                    <a16:creationId xmlns="" xmlns:a16="http://schemas.microsoft.com/office/drawing/2014/main" id="{7F83689F-19AA-492F-A1F1-04E48B1F05FE}"/>
                  </a:ext>
                </a:extLst>
              </p:cNvPr>
              <p:cNvSpPr>
                <a:spLocks noChangeArrowheads="1"/>
              </p:cNvSpPr>
              <p:nvPr/>
            </p:nvSpPr>
            <p:spPr bwMode="auto">
              <a:xfrm>
                <a:off x="4469" y="3038"/>
                <a:ext cx="376" cy="90"/>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0842" name="Oval 15">
                <a:extLst>
                  <a:ext uri="{FF2B5EF4-FFF2-40B4-BE49-F238E27FC236}">
                    <a16:creationId xmlns="" xmlns:a16="http://schemas.microsoft.com/office/drawing/2014/main" id="{97016BEE-6DE5-43DB-B8D1-3BAF5D795456}"/>
                  </a:ext>
                </a:extLst>
              </p:cNvPr>
              <p:cNvSpPr>
                <a:spLocks noChangeArrowheads="1"/>
              </p:cNvSpPr>
              <p:nvPr/>
            </p:nvSpPr>
            <p:spPr bwMode="auto">
              <a:xfrm>
                <a:off x="4469" y="3331"/>
                <a:ext cx="376" cy="89"/>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grpSp>
        <p:nvGrpSpPr>
          <p:cNvPr id="4" name="Group 16">
            <a:extLst>
              <a:ext uri="{FF2B5EF4-FFF2-40B4-BE49-F238E27FC236}">
                <a16:creationId xmlns="" xmlns:a16="http://schemas.microsoft.com/office/drawing/2014/main" id="{37CA4CF2-5447-4D32-A51B-368654D37980}"/>
              </a:ext>
            </a:extLst>
          </p:cNvPr>
          <p:cNvGrpSpPr>
            <a:grpSpLocks/>
          </p:cNvGrpSpPr>
          <p:nvPr/>
        </p:nvGrpSpPr>
        <p:grpSpPr bwMode="auto">
          <a:xfrm>
            <a:off x="668338" y="4492625"/>
            <a:ext cx="533400" cy="460375"/>
            <a:chOff x="4467" y="3038"/>
            <a:chExt cx="379" cy="382"/>
          </a:xfrm>
        </p:grpSpPr>
        <p:sp>
          <p:nvSpPr>
            <p:cNvPr id="30831" name="Rectangle 17">
              <a:extLst>
                <a:ext uri="{FF2B5EF4-FFF2-40B4-BE49-F238E27FC236}">
                  <a16:creationId xmlns="" xmlns:a16="http://schemas.microsoft.com/office/drawing/2014/main" id="{D7AA3E0C-9CD6-44F7-ACF7-D1B9BDEEFFEB}"/>
                </a:ext>
              </a:extLst>
            </p:cNvPr>
            <p:cNvSpPr>
              <a:spLocks noChangeArrowheads="1"/>
            </p:cNvSpPr>
            <p:nvPr/>
          </p:nvSpPr>
          <p:spPr bwMode="auto">
            <a:xfrm>
              <a:off x="4467" y="3094"/>
              <a:ext cx="376" cy="274"/>
            </a:xfrm>
            <a:prstGeom prst="rect">
              <a:avLst/>
            </a:prstGeom>
            <a:solidFill>
              <a:schemeClr val="bg1"/>
            </a:solidFill>
            <a:ln w="9525">
              <a:solidFill>
                <a:schemeClr val="bg1"/>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5" name="Group 18">
              <a:extLst>
                <a:ext uri="{FF2B5EF4-FFF2-40B4-BE49-F238E27FC236}">
                  <a16:creationId xmlns="" xmlns:a16="http://schemas.microsoft.com/office/drawing/2014/main" id="{4B1232E3-0184-415C-A37A-4C340649FD81}"/>
                </a:ext>
              </a:extLst>
            </p:cNvPr>
            <p:cNvGrpSpPr>
              <a:grpSpLocks/>
            </p:cNvGrpSpPr>
            <p:nvPr/>
          </p:nvGrpSpPr>
          <p:grpSpPr bwMode="auto">
            <a:xfrm>
              <a:off x="4468" y="3038"/>
              <a:ext cx="378" cy="382"/>
              <a:chOff x="4468" y="3038"/>
              <a:chExt cx="378" cy="382"/>
            </a:xfrm>
          </p:grpSpPr>
          <p:sp>
            <p:nvSpPr>
              <p:cNvPr id="30833" name="Line 19">
                <a:extLst>
                  <a:ext uri="{FF2B5EF4-FFF2-40B4-BE49-F238E27FC236}">
                    <a16:creationId xmlns="" xmlns:a16="http://schemas.microsoft.com/office/drawing/2014/main" id="{AFC211AB-60CD-4937-AD42-24D9DF988011}"/>
                  </a:ext>
                </a:extLst>
              </p:cNvPr>
              <p:cNvSpPr>
                <a:spLocks noChangeShapeType="1"/>
              </p:cNvSpPr>
              <p:nvPr/>
            </p:nvSpPr>
            <p:spPr bwMode="auto">
              <a:xfrm>
                <a:off x="4468" y="3087"/>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30834" name="Line 20">
                <a:extLst>
                  <a:ext uri="{FF2B5EF4-FFF2-40B4-BE49-F238E27FC236}">
                    <a16:creationId xmlns="" xmlns:a16="http://schemas.microsoft.com/office/drawing/2014/main" id="{7ACE443F-89A1-40CB-AC57-B5BDE9F8F5E4}"/>
                  </a:ext>
                </a:extLst>
              </p:cNvPr>
              <p:cNvSpPr>
                <a:spLocks noChangeShapeType="1"/>
              </p:cNvSpPr>
              <p:nvPr/>
            </p:nvSpPr>
            <p:spPr bwMode="auto">
              <a:xfrm>
                <a:off x="4846" y="3089"/>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30835" name="Oval 21">
                <a:extLst>
                  <a:ext uri="{FF2B5EF4-FFF2-40B4-BE49-F238E27FC236}">
                    <a16:creationId xmlns="" xmlns:a16="http://schemas.microsoft.com/office/drawing/2014/main" id="{3E932C78-1CEC-49DA-8CB6-6907A91231FD}"/>
                  </a:ext>
                </a:extLst>
              </p:cNvPr>
              <p:cNvSpPr>
                <a:spLocks noChangeArrowheads="1"/>
              </p:cNvSpPr>
              <p:nvPr/>
            </p:nvSpPr>
            <p:spPr bwMode="auto">
              <a:xfrm>
                <a:off x="4469" y="3038"/>
                <a:ext cx="376" cy="90"/>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0836" name="Oval 22">
                <a:extLst>
                  <a:ext uri="{FF2B5EF4-FFF2-40B4-BE49-F238E27FC236}">
                    <a16:creationId xmlns="" xmlns:a16="http://schemas.microsoft.com/office/drawing/2014/main" id="{14ECF0EA-6E63-45FD-A73E-467AEDECF3CB}"/>
                  </a:ext>
                </a:extLst>
              </p:cNvPr>
              <p:cNvSpPr>
                <a:spLocks noChangeArrowheads="1"/>
              </p:cNvSpPr>
              <p:nvPr/>
            </p:nvSpPr>
            <p:spPr bwMode="auto">
              <a:xfrm>
                <a:off x="4469" y="3331"/>
                <a:ext cx="376" cy="89"/>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grpSp>
        <p:nvGrpSpPr>
          <p:cNvPr id="6" name="Group 23">
            <a:extLst>
              <a:ext uri="{FF2B5EF4-FFF2-40B4-BE49-F238E27FC236}">
                <a16:creationId xmlns="" xmlns:a16="http://schemas.microsoft.com/office/drawing/2014/main" id="{3910EC91-EBA9-438F-9793-D8B9DB2ED53D}"/>
              </a:ext>
            </a:extLst>
          </p:cNvPr>
          <p:cNvGrpSpPr>
            <a:grpSpLocks/>
          </p:cNvGrpSpPr>
          <p:nvPr/>
        </p:nvGrpSpPr>
        <p:grpSpPr bwMode="auto">
          <a:xfrm>
            <a:off x="803275" y="4608513"/>
            <a:ext cx="533400" cy="460375"/>
            <a:chOff x="4467" y="3038"/>
            <a:chExt cx="379" cy="382"/>
          </a:xfrm>
        </p:grpSpPr>
        <p:sp>
          <p:nvSpPr>
            <p:cNvPr id="30825" name="Rectangle 24">
              <a:extLst>
                <a:ext uri="{FF2B5EF4-FFF2-40B4-BE49-F238E27FC236}">
                  <a16:creationId xmlns="" xmlns:a16="http://schemas.microsoft.com/office/drawing/2014/main" id="{19F0FA5A-11B2-4093-8147-76CACC577E95}"/>
                </a:ext>
              </a:extLst>
            </p:cNvPr>
            <p:cNvSpPr>
              <a:spLocks noChangeArrowheads="1"/>
            </p:cNvSpPr>
            <p:nvPr/>
          </p:nvSpPr>
          <p:spPr bwMode="auto">
            <a:xfrm>
              <a:off x="4467" y="3094"/>
              <a:ext cx="376" cy="274"/>
            </a:xfrm>
            <a:prstGeom prst="rect">
              <a:avLst/>
            </a:prstGeom>
            <a:solidFill>
              <a:schemeClr val="bg1"/>
            </a:solidFill>
            <a:ln w="9525">
              <a:solidFill>
                <a:schemeClr val="bg1"/>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7" name="Group 25">
              <a:extLst>
                <a:ext uri="{FF2B5EF4-FFF2-40B4-BE49-F238E27FC236}">
                  <a16:creationId xmlns="" xmlns:a16="http://schemas.microsoft.com/office/drawing/2014/main" id="{5E06D8F7-E901-42F3-9121-89D3DE121E24}"/>
                </a:ext>
              </a:extLst>
            </p:cNvPr>
            <p:cNvGrpSpPr>
              <a:grpSpLocks/>
            </p:cNvGrpSpPr>
            <p:nvPr/>
          </p:nvGrpSpPr>
          <p:grpSpPr bwMode="auto">
            <a:xfrm>
              <a:off x="4468" y="3038"/>
              <a:ext cx="378" cy="382"/>
              <a:chOff x="4468" y="3038"/>
              <a:chExt cx="378" cy="382"/>
            </a:xfrm>
          </p:grpSpPr>
          <p:sp>
            <p:nvSpPr>
              <p:cNvPr id="30827" name="Line 26">
                <a:extLst>
                  <a:ext uri="{FF2B5EF4-FFF2-40B4-BE49-F238E27FC236}">
                    <a16:creationId xmlns="" xmlns:a16="http://schemas.microsoft.com/office/drawing/2014/main" id="{E90D89EA-6AE7-45A9-8058-834CFCF86E17}"/>
                  </a:ext>
                </a:extLst>
              </p:cNvPr>
              <p:cNvSpPr>
                <a:spLocks noChangeShapeType="1"/>
              </p:cNvSpPr>
              <p:nvPr/>
            </p:nvSpPr>
            <p:spPr bwMode="auto">
              <a:xfrm>
                <a:off x="4468" y="3087"/>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30828" name="Line 27">
                <a:extLst>
                  <a:ext uri="{FF2B5EF4-FFF2-40B4-BE49-F238E27FC236}">
                    <a16:creationId xmlns="" xmlns:a16="http://schemas.microsoft.com/office/drawing/2014/main" id="{E9C135D0-962B-4944-B571-E2107D148F0D}"/>
                  </a:ext>
                </a:extLst>
              </p:cNvPr>
              <p:cNvSpPr>
                <a:spLocks noChangeShapeType="1"/>
              </p:cNvSpPr>
              <p:nvPr/>
            </p:nvSpPr>
            <p:spPr bwMode="auto">
              <a:xfrm>
                <a:off x="4846" y="3089"/>
                <a:ext cx="0" cy="292"/>
              </a:xfrm>
              <a:prstGeom prst="line">
                <a:avLst/>
              </a:prstGeom>
              <a:noFill/>
              <a:ln w="9525">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30829" name="Oval 28">
                <a:extLst>
                  <a:ext uri="{FF2B5EF4-FFF2-40B4-BE49-F238E27FC236}">
                    <a16:creationId xmlns="" xmlns:a16="http://schemas.microsoft.com/office/drawing/2014/main" id="{FE201C33-41C8-414D-BDCE-13316167E544}"/>
                  </a:ext>
                </a:extLst>
              </p:cNvPr>
              <p:cNvSpPr>
                <a:spLocks noChangeArrowheads="1"/>
              </p:cNvSpPr>
              <p:nvPr/>
            </p:nvSpPr>
            <p:spPr bwMode="auto">
              <a:xfrm>
                <a:off x="4469" y="3038"/>
                <a:ext cx="376" cy="90"/>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0830" name="Oval 29">
                <a:extLst>
                  <a:ext uri="{FF2B5EF4-FFF2-40B4-BE49-F238E27FC236}">
                    <a16:creationId xmlns="" xmlns:a16="http://schemas.microsoft.com/office/drawing/2014/main" id="{81E6948B-C34A-42CA-8998-69BC2B45E42D}"/>
                  </a:ext>
                </a:extLst>
              </p:cNvPr>
              <p:cNvSpPr>
                <a:spLocks noChangeArrowheads="1"/>
              </p:cNvSpPr>
              <p:nvPr/>
            </p:nvSpPr>
            <p:spPr bwMode="auto">
              <a:xfrm>
                <a:off x="4469" y="3331"/>
                <a:ext cx="376" cy="89"/>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sp>
        <p:nvSpPr>
          <p:cNvPr id="30733" name="Text Box 30">
            <a:extLst>
              <a:ext uri="{FF2B5EF4-FFF2-40B4-BE49-F238E27FC236}">
                <a16:creationId xmlns="" xmlns:a16="http://schemas.microsoft.com/office/drawing/2014/main" id="{588014FB-1477-493D-A3B3-1DDEC5EB5DD3}"/>
              </a:ext>
            </a:extLst>
          </p:cNvPr>
          <p:cNvSpPr txBox="1">
            <a:spLocks noChangeArrowheads="1"/>
          </p:cNvSpPr>
          <p:nvPr/>
        </p:nvSpPr>
        <p:spPr bwMode="auto">
          <a:xfrm>
            <a:off x="874713" y="4122738"/>
            <a:ext cx="973137"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Operational</a:t>
            </a:r>
          </a:p>
          <a:p>
            <a:pPr algn="ctr"/>
            <a:r>
              <a:rPr lang="en-US" altLang="en-US" sz="1200" b="1">
                <a:solidFill>
                  <a:srgbClr val="00001E"/>
                </a:solidFill>
                <a:latin typeface="Times New Roman" panose="02020603050405020304" pitchFamily="18" charset="0"/>
              </a:rPr>
              <a:t>DB’s</a:t>
            </a:r>
          </a:p>
        </p:txBody>
      </p:sp>
      <p:sp>
        <p:nvSpPr>
          <p:cNvPr id="30734" name="Text Box 31">
            <a:extLst>
              <a:ext uri="{FF2B5EF4-FFF2-40B4-BE49-F238E27FC236}">
                <a16:creationId xmlns="" xmlns:a16="http://schemas.microsoft.com/office/drawing/2014/main" id="{FB251E89-E2FF-434E-A143-0574CD741221}"/>
              </a:ext>
            </a:extLst>
          </p:cNvPr>
          <p:cNvSpPr txBox="1">
            <a:spLocks noChangeArrowheads="1"/>
          </p:cNvSpPr>
          <p:nvPr/>
        </p:nvSpPr>
        <p:spPr bwMode="auto">
          <a:xfrm>
            <a:off x="752475" y="2554288"/>
            <a:ext cx="1192213"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Semistructured</a:t>
            </a:r>
          </a:p>
          <a:p>
            <a:pPr algn="ctr"/>
            <a:r>
              <a:rPr lang="en-US" altLang="en-US" sz="1200" b="1">
                <a:solidFill>
                  <a:srgbClr val="00001E"/>
                </a:solidFill>
                <a:latin typeface="Times New Roman" panose="02020603050405020304" pitchFamily="18" charset="0"/>
              </a:rPr>
              <a:t>Sources</a:t>
            </a:r>
          </a:p>
        </p:txBody>
      </p:sp>
      <p:sp>
        <p:nvSpPr>
          <p:cNvPr id="30735" name="Oval 32">
            <a:extLst>
              <a:ext uri="{FF2B5EF4-FFF2-40B4-BE49-F238E27FC236}">
                <a16:creationId xmlns="" xmlns:a16="http://schemas.microsoft.com/office/drawing/2014/main" id="{79ECCE03-262E-4293-BDA3-3B19FBCCDD85}"/>
              </a:ext>
            </a:extLst>
          </p:cNvPr>
          <p:cNvSpPr>
            <a:spLocks noChangeArrowheads="1"/>
          </p:cNvSpPr>
          <p:nvPr/>
        </p:nvSpPr>
        <p:spPr bwMode="auto">
          <a:xfrm>
            <a:off x="736600" y="3222625"/>
            <a:ext cx="1012825" cy="173038"/>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0736" name="AutoShape 33">
            <a:extLst>
              <a:ext uri="{FF2B5EF4-FFF2-40B4-BE49-F238E27FC236}">
                <a16:creationId xmlns="" xmlns:a16="http://schemas.microsoft.com/office/drawing/2014/main" id="{B99D9735-D149-4F30-BEE1-8426E81DB805}"/>
              </a:ext>
            </a:extLst>
          </p:cNvPr>
          <p:cNvSpPr>
            <a:spLocks noChangeArrowheads="1"/>
          </p:cNvSpPr>
          <p:nvPr/>
        </p:nvSpPr>
        <p:spPr bwMode="auto">
          <a:xfrm>
            <a:off x="1817688" y="2817813"/>
            <a:ext cx="1216025" cy="1733550"/>
          </a:xfrm>
          <a:prstGeom prst="rightArrow">
            <a:avLst>
              <a:gd name="adj1" fmla="val 47620"/>
              <a:gd name="adj2" fmla="val 43056"/>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0737" name="Text Box 34">
            <a:extLst>
              <a:ext uri="{FF2B5EF4-FFF2-40B4-BE49-F238E27FC236}">
                <a16:creationId xmlns="" xmlns:a16="http://schemas.microsoft.com/office/drawing/2014/main" id="{D9689375-5F89-4B47-913C-67C78216B4F4}"/>
              </a:ext>
            </a:extLst>
          </p:cNvPr>
          <p:cNvSpPr txBox="1">
            <a:spLocks noChangeArrowheads="1"/>
          </p:cNvSpPr>
          <p:nvPr/>
        </p:nvSpPr>
        <p:spPr bwMode="auto">
          <a:xfrm>
            <a:off x="1817688" y="3248025"/>
            <a:ext cx="925512" cy="8223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b="1" i="1">
                <a:solidFill>
                  <a:srgbClr val="00001E"/>
                </a:solidFill>
                <a:latin typeface="Times New Roman" panose="02020603050405020304" pitchFamily="18" charset="0"/>
              </a:rPr>
              <a:t>extract</a:t>
            </a:r>
          </a:p>
          <a:p>
            <a:r>
              <a:rPr lang="en-US" altLang="en-US" sz="1200" b="1" i="1">
                <a:solidFill>
                  <a:srgbClr val="00001E"/>
                </a:solidFill>
                <a:latin typeface="Times New Roman" panose="02020603050405020304" pitchFamily="18" charset="0"/>
              </a:rPr>
              <a:t>transform</a:t>
            </a:r>
          </a:p>
          <a:p>
            <a:r>
              <a:rPr lang="en-US" altLang="en-US" sz="1200" b="1" i="1">
                <a:solidFill>
                  <a:srgbClr val="00001E"/>
                </a:solidFill>
                <a:latin typeface="Times New Roman" panose="02020603050405020304" pitchFamily="18" charset="0"/>
              </a:rPr>
              <a:t>load</a:t>
            </a:r>
          </a:p>
          <a:p>
            <a:r>
              <a:rPr lang="en-US" altLang="en-US" sz="1200" b="1" i="1">
                <a:solidFill>
                  <a:srgbClr val="00001E"/>
                </a:solidFill>
                <a:latin typeface="Times New Roman" panose="02020603050405020304" pitchFamily="18" charset="0"/>
              </a:rPr>
              <a:t>refresh </a:t>
            </a:r>
            <a:endParaRPr lang="en-US" altLang="en-US" sz="1200" b="1">
              <a:solidFill>
                <a:srgbClr val="00001E"/>
              </a:solidFill>
              <a:latin typeface="Times New Roman" panose="02020603050405020304" pitchFamily="18" charset="0"/>
            </a:endParaRPr>
          </a:p>
        </p:txBody>
      </p:sp>
      <p:grpSp>
        <p:nvGrpSpPr>
          <p:cNvPr id="8" name="Group 35">
            <a:extLst>
              <a:ext uri="{FF2B5EF4-FFF2-40B4-BE49-F238E27FC236}">
                <a16:creationId xmlns="" xmlns:a16="http://schemas.microsoft.com/office/drawing/2014/main" id="{B2FA7D14-4BF7-43DC-92E0-617A5D0203AC}"/>
              </a:ext>
            </a:extLst>
          </p:cNvPr>
          <p:cNvGrpSpPr>
            <a:grpSpLocks/>
          </p:cNvGrpSpPr>
          <p:nvPr/>
        </p:nvGrpSpPr>
        <p:grpSpPr bwMode="auto">
          <a:xfrm>
            <a:off x="3236913" y="3163888"/>
            <a:ext cx="946150" cy="925512"/>
            <a:chOff x="4467" y="3038"/>
            <a:chExt cx="379" cy="382"/>
          </a:xfrm>
        </p:grpSpPr>
        <p:sp>
          <p:nvSpPr>
            <p:cNvPr id="30819" name="Rectangle 36">
              <a:extLst>
                <a:ext uri="{FF2B5EF4-FFF2-40B4-BE49-F238E27FC236}">
                  <a16:creationId xmlns="" xmlns:a16="http://schemas.microsoft.com/office/drawing/2014/main" id="{5F872754-C43C-46E5-A1AB-D18B2528C159}"/>
                </a:ext>
              </a:extLst>
            </p:cNvPr>
            <p:cNvSpPr>
              <a:spLocks noChangeArrowheads="1"/>
            </p:cNvSpPr>
            <p:nvPr/>
          </p:nvSpPr>
          <p:spPr bwMode="auto">
            <a:xfrm>
              <a:off x="4467" y="3094"/>
              <a:ext cx="376" cy="274"/>
            </a:xfrm>
            <a:prstGeom prst="rect">
              <a:avLst/>
            </a:prstGeom>
            <a:gradFill rotWithShape="0">
              <a:gsLst>
                <a:gs pos="0">
                  <a:srgbClr val="666666"/>
                </a:gs>
                <a:gs pos="50000">
                  <a:srgbClr val="DDDDDD"/>
                </a:gs>
                <a:gs pos="100000">
                  <a:srgbClr val="666666"/>
                </a:gs>
              </a:gsLst>
              <a:lin ang="0" scaled="1"/>
            </a:gradFill>
            <a:ln w="9525">
              <a:solidFill>
                <a:schemeClr val="bg2"/>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9" name="Group 37">
              <a:extLst>
                <a:ext uri="{FF2B5EF4-FFF2-40B4-BE49-F238E27FC236}">
                  <a16:creationId xmlns="" xmlns:a16="http://schemas.microsoft.com/office/drawing/2014/main" id="{CECBE977-7ADA-422C-ABB3-78ED7AE53509}"/>
                </a:ext>
              </a:extLst>
            </p:cNvPr>
            <p:cNvGrpSpPr>
              <a:grpSpLocks/>
            </p:cNvGrpSpPr>
            <p:nvPr/>
          </p:nvGrpSpPr>
          <p:grpSpPr bwMode="auto">
            <a:xfrm>
              <a:off x="4468" y="3038"/>
              <a:ext cx="378" cy="382"/>
              <a:chOff x="4468" y="3038"/>
              <a:chExt cx="378" cy="382"/>
            </a:xfrm>
          </p:grpSpPr>
          <p:sp>
            <p:nvSpPr>
              <p:cNvPr id="30821" name="Line 38">
                <a:extLst>
                  <a:ext uri="{FF2B5EF4-FFF2-40B4-BE49-F238E27FC236}">
                    <a16:creationId xmlns="" xmlns:a16="http://schemas.microsoft.com/office/drawing/2014/main" id="{6D1B054D-C8A7-4EC8-9EA9-C237DAE8A6FD}"/>
                  </a:ext>
                </a:extLst>
              </p:cNvPr>
              <p:cNvSpPr>
                <a:spLocks noChangeShapeType="1"/>
              </p:cNvSpPr>
              <p:nvPr/>
            </p:nvSpPr>
            <p:spPr bwMode="auto">
              <a:xfrm>
                <a:off x="4468" y="3087"/>
                <a:ext cx="0" cy="292"/>
              </a:xfrm>
              <a:prstGeom prst="line">
                <a:avLst/>
              </a:prstGeom>
              <a:noFill/>
              <a:ln w="9525">
                <a:solidFill>
                  <a:schemeClr val="bg2"/>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30822" name="Line 39">
                <a:extLst>
                  <a:ext uri="{FF2B5EF4-FFF2-40B4-BE49-F238E27FC236}">
                    <a16:creationId xmlns="" xmlns:a16="http://schemas.microsoft.com/office/drawing/2014/main" id="{0CA754B1-E539-4A77-A4B1-7AFEA64C1AAD}"/>
                  </a:ext>
                </a:extLst>
              </p:cNvPr>
              <p:cNvSpPr>
                <a:spLocks noChangeShapeType="1"/>
              </p:cNvSpPr>
              <p:nvPr/>
            </p:nvSpPr>
            <p:spPr bwMode="auto">
              <a:xfrm>
                <a:off x="4846" y="3089"/>
                <a:ext cx="0" cy="292"/>
              </a:xfrm>
              <a:prstGeom prst="line">
                <a:avLst/>
              </a:prstGeom>
              <a:noFill/>
              <a:ln w="9525">
                <a:solidFill>
                  <a:schemeClr val="bg2"/>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30823" name="Oval 40">
                <a:extLst>
                  <a:ext uri="{FF2B5EF4-FFF2-40B4-BE49-F238E27FC236}">
                    <a16:creationId xmlns="" xmlns:a16="http://schemas.microsoft.com/office/drawing/2014/main" id="{EBD24F3A-FA30-4048-B2E7-0E3A0E7256CA}"/>
                  </a:ext>
                </a:extLst>
              </p:cNvPr>
              <p:cNvSpPr>
                <a:spLocks noChangeArrowheads="1"/>
              </p:cNvSpPr>
              <p:nvPr/>
            </p:nvSpPr>
            <p:spPr bwMode="auto">
              <a:xfrm>
                <a:off x="4469" y="3038"/>
                <a:ext cx="376" cy="90"/>
              </a:xfrm>
              <a:prstGeom prst="ellipse">
                <a:avLst/>
              </a:prstGeom>
              <a:gradFill rotWithShape="0">
                <a:gsLst>
                  <a:gs pos="0">
                    <a:srgbClr val="666666"/>
                  </a:gs>
                  <a:gs pos="50000">
                    <a:srgbClr val="DDDDDD"/>
                  </a:gs>
                  <a:gs pos="100000">
                    <a:srgbClr val="666666"/>
                  </a:gs>
                </a:gsLst>
                <a:lin ang="0" scaled="1"/>
              </a:gradFill>
              <a:ln w="9525">
                <a:solidFill>
                  <a:schemeClr val="bg2"/>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0824" name="Oval 41">
                <a:extLst>
                  <a:ext uri="{FF2B5EF4-FFF2-40B4-BE49-F238E27FC236}">
                    <a16:creationId xmlns="" xmlns:a16="http://schemas.microsoft.com/office/drawing/2014/main" id="{2028FD91-9961-4372-BCA4-0B81F00660D7}"/>
                  </a:ext>
                </a:extLst>
              </p:cNvPr>
              <p:cNvSpPr>
                <a:spLocks noChangeArrowheads="1"/>
              </p:cNvSpPr>
              <p:nvPr/>
            </p:nvSpPr>
            <p:spPr bwMode="auto">
              <a:xfrm>
                <a:off x="4469" y="3331"/>
                <a:ext cx="376" cy="89"/>
              </a:xfrm>
              <a:prstGeom prst="ellipse">
                <a:avLst/>
              </a:prstGeom>
              <a:gradFill rotWithShape="0">
                <a:gsLst>
                  <a:gs pos="0">
                    <a:srgbClr val="666666"/>
                  </a:gs>
                  <a:gs pos="50000">
                    <a:srgbClr val="DDDDDD"/>
                  </a:gs>
                  <a:gs pos="100000">
                    <a:srgbClr val="666666"/>
                  </a:gs>
                </a:gsLst>
                <a:lin ang="0" scaled="1"/>
              </a:gradFill>
              <a:ln w="9525">
                <a:solidFill>
                  <a:schemeClr val="bg2"/>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grpSp>
        <p:nvGrpSpPr>
          <p:cNvPr id="10" name="Group 42">
            <a:extLst>
              <a:ext uri="{FF2B5EF4-FFF2-40B4-BE49-F238E27FC236}">
                <a16:creationId xmlns="" xmlns:a16="http://schemas.microsoft.com/office/drawing/2014/main" id="{85BB2EB4-36D3-4CBC-9F83-3ABC7CE67F26}"/>
              </a:ext>
            </a:extLst>
          </p:cNvPr>
          <p:cNvGrpSpPr>
            <a:grpSpLocks/>
          </p:cNvGrpSpPr>
          <p:nvPr/>
        </p:nvGrpSpPr>
        <p:grpSpPr bwMode="auto">
          <a:xfrm>
            <a:off x="2832100" y="4376738"/>
            <a:ext cx="533400" cy="344487"/>
            <a:chOff x="4467" y="3038"/>
            <a:chExt cx="379" cy="382"/>
          </a:xfrm>
        </p:grpSpPr>
        <p:sp>
          <p:nvSpPr>
            <p:cNvPr id="30813" name="Rectangle 43">
              <a:extLst>
                <a:ext uri="{FF2B5EF4-FFF2-40B4-BE49-F238E27FC236}">
                  <a16:creationId xmlns="" xmlns:a16="http://schemas.microsoft.com/office/drawing/2014/main" id="{11C8F2A9-D188-4275-BE97-B84282C993B9}"/>
                </a:ext>
              </a:extLst>
            </p:cNvPr>
            <p:cNvSpPr>
              <a:spLocks noChangeArrowheads="1"/>
            </p:cNvSpPr>
            <p:nvPr/>
          </p:nvSpPr>
          <p:spPr bwMode="auto">
            <a:xfrm>
              <a:off x="4467" y="3094"/>
              <a:ext cx="376" cy="274"/>
            </a:xfrm>
            <a:prstGeom prst="rect">
              <a:avLst/>
            </a:prstGeom>
            <a:gradFill rotWithShape="0">
              <a:gsLst>
                <a:gs pos="0">
                  <a:srgbClr val="666666"/>
                </a:gs>
                <a:gs pos="50000">
                  <a:srgbClr val="DDDDDD"/>
                </a:gs>
                <a:gs pos="100000">
                  <a:srgbClr val="666666"/>
                </a:gs>
              </a:gsLst>
              <a:lin ang="0" scaled="1"/>
            </a:gradFill>
            <a:ln w="9525">
              <a:solidFill>
                <a:schemeClr val="bg2"/>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11" name="Group 44">
              <a:extLst>
                <a:ext uri="{FF2B5EF4-FFF2-40B4-BE49-F238E27FC236}">
                  <a16:creationId xmlns="" xmlns:a16="http://schemas.microsoft.com/office/drawing/2014/main" id="{53F12713-6174-455F-BF7B-413710BB4D36}"/>
                </a:ext>
              </a:extLst>
            </p:cNvPr>
            <p:cNvGrpSpPr>
              <a:grpSpLocks/>
            </p:cNvGrpSpPr>
            <p:nvPr/>
          </p:nvGrpSpPr>
          <p:grpSpPr bwMode="auto">
            <a:xfrm>
              <a:off x="4468" y="3038"/>
              <a:ext cx="378" cy="382"/>
              <a:chOff x="4468" y="3038"/>
              <a:chExt cx="378" cy="382"/>
            </a:xfrm>
          </p:grpSpPr>
          <p:sp>
            <p:nvSpPr>
              <p:cNvPr id="30815" name="Line 45">
                <a:extLst>
                  <a:ext uri="{FF2B5EF4-FFF2-40B4-BE49-F238E27FC236}">
                    <a16:creationId xmlns="" xmlns:a16="http://schemas.microsoft.com/office/drawing/2014/main" id="{FF579360-C90B-484D-ABB5-5FB0905E1124}"/>
                  </a:ext>
                </a:extLst>
              </p:cNvPr>
              <p:cNvSpPr>
                <a:spLocks noChangeShapeType="1"/>
              </p:cNvSpPr>
              <p:nvPr/>
            </p:nvSpPr>
            <p:spPr bwMode="auto">
              <a:xfrm>
                <a:off x="4468" y="3087"/>
                <a:ext cx="0" cy="292"/>
              </a:xfrm>
              <a:prstGeom prst="line">
                <a:avLst/>
              </a:prstGeom>
              <a:noFill/>
              <a:ln w="9525">
                <a:solidFill>
                  <a:schemeClr val="bg2"/>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30816" name="Line 46">
                <a:extLst>
                  <a:ext uri="{FF2B5EF4-FFF2-40B4-BE49-F238E27FC236}">
                    <a16:creationId xmlns="" xmlns:a16="http://schemas.microsoft.com/office/drawing/2014/main" id="{BF364B7F-47F3-4ED5-9976-D9D8D50C8CF3}"/>
                  </a:ext>
                </a:extLst>
              </p:cNvPr>
              <p:cNvSpPr>
                <a:spLocks noChangeShapeType="1"/>
              </p:cNvSpPr>
              <p:nvPr/>
            </p:nvSpPr>
            <p:spPr bwMode="auto">
              <a:xfrm>
                <a:off x="4846" y="3089"/>
                <a:ext cx="0" cy="292"/>
              </a:xfrm>
              <a:prstGeom prst="line">
                <a:avLst/>
              </a:prstGeom>
              <a:noFill/>
              <a:ln w="9525">
                <a:solidFill>
                  <a:schemeClr val="bg2"/>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30817" name="Oval 47">
                <a:extLst>
                  <a:ext uri="{FF2B5EF4-FFF2-40B4-BE49-F238E27FC236}">
                    <a16:creationId xmlns="" xmlns:a16="http://schemas.microsoft.com/office/drawing/2014/main" id="{4782B6D6-0F46-4DDD-A87E-5374BD480D56}"/>
                  </a:ext>
                </a:extLst>
              </p:cNvPr>
              <p:cNvSpPr>
                <a:spLocks noChangeArrowheads="1"/>
              </p:cNvSpPr>
              <p:nvPr/>
            </p:nvSpPr>
            <p:spPr bwMode="auto">
              <a:xfrm>
                <a:off x="4469" y="3038"/>
                <a:ext cx="376" cy="90"/>
              </a:xfrm>
              <a:prstGeom prst="ellipse">
                <a:avLst/>
              </a:prstGeom>
              <a:gradFill rotWithShape="0">
                <a:gsLst>
                  <a:gs pos="0">
                    <a:srgbClr val="666666"/>
                  </a:gs>
                  <a:gs pos="50000">
                    <a:srgbClr val="DDDDDD"/>
                  </a:gs>
                  <a:gs pos="100000">
                    <a:srgbClr val="666666"/>
                  </a:gs>
                </a:gsLst>
                <a:lin ang="0" scaled="1"/>
              </a:gradFill>
              <a:ln w="9525">
                <a:solidFill>
                  <a:schemeClr val="bg2"/>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0818" name="Oval 48">
                <a:extLst>
                  <a:ext uri="{FF2B5EF4-FFF2-40B4-BE49-F238E27FC236}">
                    <a16:creationId xmlns="" xmlns:a16="http://schemas.microsoft.com/office/drawing/2014/main" id="{FBC5F969-1CA9-4D0D-B0D7-E435B798755D}"/>
                  </a:ext>
                </a:extLst>
              </p:cNvPr>
              <p:cNvSpPr>
                <a:spLocks noChangeArrowheads="1"/>
              </p:cNvSpPr>
              <p:nvPr/>
            </p:nvSpPr>
            <p:spPr bwMode="auto">
              <a:xfrm>
                <a:off x="4469" y="3331"/>
                <a:ext cx="376" cy="89"/>
              </a:xfrm>
              <a:prstGeom prst="ellipse">
                <a:avLst/>
              </a:prstGeom>
              <a:gradFill rotWithShape="0">
                <a:gsLst>
                  <a:gs pos="0">
                    <a:srgbClr val="666666"/>
                  </a:gs>
                  <a:gs pos="50000">
                    <a:srgbClr val="DDDDDD"/>
                  </a:gs>
                  <a:gs pos="100000">
                    <a:srgbClr val="666666"/>
                  </a:gs>
                </a:gsLst>
                <a:lin ang="0" scaled="1"/>
              </a:gradFill>
              <a:ln w="9525">
                <a:solidFill>
                  <a:schemeClr val="bg2"/>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grpSp>
        <p:nvGrpSpPr>
          <p:cNvPr id="12" name="Group 49">
            <a:extLst>
              <a:ext uri="{FF2B5EF4-FFF2-40B4-BE49-F238E27FC236}">
                <a16:creationId xmlns="" xmlns:a16="http://schemas.microsoft.com/office/drawing/2014/main" id="{C71DDE1A-8316-400F-8A09-333C0E2A7526}"/>
              </a:ext>
            </a:extLst>
          </p:cNvPr>
          <p:cNvGrpSpPr>
            <a:grpSpLocks/>
          </p:cNvGrpSpPr>
          <p:nvPr/>
        </p:nvGrpSpPr>
        <p:grpSpPr bwMode="auto">
          <a:xfrm>
            <a:off x="3440113" y="4492625"/>
            <a:ext cx="533400" cy="344488"/>
            <a:chOff x="4467" y="3038"/>
            <a:chExt cx="379" cy="382"/>
          </a:xfrm>
        </p:grpSpPr>
        <p:sp>
          <p:nvSpPr>
            <p:cNvPr id="30807" name="Rectangle 50">
              <a:extLst>
                <a:ext uri="{FF2B5EF4-FFF2-40B4-BE49-F238E27FC236}">
                  <a16:creationId xmlns="" xmlns:a16="http://schemas.microsoft.com/office/drawing/2014/main" id="{7E218F10-0E3F-4DE1-A2B1-E6F2E0B7BC77}"/>
                </a:ext>
              </a:extLst>
            </p:cNvPr>
            <p:cNvSpPr>
              <a:spLocks noChangeArrowheads="1"/>
            </p:cNvSpPr>
            <p:nvPr/>
          </p:nvSpPr>
          <p:spPr bwMode="auto">
            <a:xfrm>
              <a:off x="4467" y="3094"/>
              <a:ext cx="376" cy="274"/>
            </a:xfrm>
            <a:prstGeom prst="rect">
              <a:avLst/>
            </a:prstGeom>
            <a:gradFill rotWithShape="0">
              <a:gsLst>
                <a:gs pos="0">
                  <a:srgbClr val="7C7C7C"/>
                </a:gs>
                <a:gs pos="50000">
                  <a:srgbClr val="DDDDDD"/>
                </a:gs>
                <a:gs pos="100000">
                  <a:srgbClr val="7C7C7C"/>
                </a:gs>
              </a:gsLst>
              <a:lin ang="0" scaled="1"/>
            </a:gradFill>
            <a:ln w="9525">
              <a:solidFill>
                <a:schemeClr val="bg2"/>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13" name="Group 51">
              <a:extLst>
                <a:ext uri="{FF2B5EF4-FFF2-40B4-BE49-F238E27FC236}">
                  <a16:creationId xmlns="" xmlns:a16="http://schemas.microsoft.com/office/drawing/2014/main" id="{FB54D0A8-34BA-4DA6-BF82-03C088C5AE41}"/>
                </a:ext>
              </a:extLst>
            </p:cNvPr>
            <p:cNvGrpSpPr>
              <a:grpSpLocks/>
            </p:cNvGrpSpPr>
            <p:nvPr/>
          </p:nvGrpSpPr>
          <p:grpSpPr bwMode="auto">
            <a:xfrm>
              <a:off x="4468" y="3038"/>
              <a:ext cx="378" cy="382"/>
              <a:chOff x="4468" y="3038"/>
              <a:chExt cx="378" cy="382"/>
            </a:xfrm>
          </p:grpSpPr>
          <p:sp>
            <p:nvSpPr>
              <p:cNvPr id="30809" name="Line 52">
                <a:extLst>
                  <a:ext uri="{FF2B5EF4-FFF2-40B4-BE49-F238E27FC236}">
                    <a16:creationId xmlns="" xmlns:a16="http://schemas.microsoft.com/office/drawing/2014/main" id="{EF5A2080-5FD3-4B9E-8E69-03E30A936EDC}"/>
                  </a:ext>
                </a:extLst>
              </p:cNvPr>
              <p:cNvSpPr>
                <a:spLocks noChangeShapeType="1"/>
              </p:cNvSpPr>
              <p:nvPr/>
            </p:nvSpPr>
            <p:spPr bwMode="auto">
              <a:xfrm>
                <a:off x="4468" y="3087"/>
                <a:ext cx="0" cy="292"/>
              </a:xfrm>
              <a:prstGeom prst="line">
                <a:avLst/>
              </a:prstGeom>
              <a:noFill/>
              <a:ln w="9525">
                <a:solidFill>
                  <a:schemeClr val="bg2"/>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30810" name="Line 53">
                <a:extLst>
                  <a:ext uri="{FF2B5EF4-FFF2-40B4-BE49-F238E27FC236}">
                    <a16:creationId xmlns="" xmlns:a16="http://schemas.microsoft.com/office/drawing/2014/main" id="{8229269B-2467-4634-B089-F14A727C4807}"/>
                  </a:ext>
                </a:extLst>
              </p:cNvPr>
              <p:cNvSpPr>
                <a:spLocks noChangeShapeType="1"/>
              </p:cNvSpPr>
              <p:nvPr/>
            </p:nvSpPr>
            <p:spPr bwMode="auto">
              <a:xfrm>
                <a:off x="4846" y="3089"/>
                <a:ext cx="0" cy="292"/>
              </a:xfrm>
              <a:prstGeom prst="line">
                <a:avLst/>
              </a:prstGeom>
              <a:noFill/>
              <a:ln w="9525">
                <a:solidFill>
                  <a:schemeClr val="bg2"/>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30811" name="Oval 54">
                <a:extLst>
                  <a:ext uri="{FF2B5EF4-FFF2-40B4-BE49-F238E27FC236}">
                    <a16:creationId xmlns="" xmlns:a16="http://schemas.microsoft.com/office/drawing/2014/main" id="{4166584D-64B8-4833-85DB-3569577308FF}"/>
                  </a:ext>
                </a:extLst>
              </p:cNvPr>
              <p:cNvSpPr>
                <a:spLocks noChangeArrowheads="1"/>
              </p:cNvSpPr>
              <p:nvPr/>
            </p:nvSpPr>
            <p:spPr bwMode="auto">
              <a:xfrm>
                <a:off x="4469" y="3038"/>
                <a:ext cx="376" cy="90"/>
              </a:xfrm>
              <a:prstGeom prst="ellipse">
                <a:avLst/>
              </a:prstGeom>
              <a:gradFill rotWithShape="0">
                <a:gsLst>
                  <a:gs pos="0">
                    <a:srgbClr val="7C7C7C"/>
                  </a:gs>
                  <a:gs pos="50000">
                    <a:srgbClr val="DDDDDD"/>
                  </a:gs>
                  <a:gs pos="100000">
                    <a:srgbClr val="7C7C7C"/>
                  </a:gs>
                </a:gsLst>
                <a:lin ang="0" scaled="1"/>
              </a:gradFill>
              <a:ln w="9525">
                <a:solidFill>
                  <a:schemeClr val="bg2"/>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0812" name="Oval 55">
                <a:extLst>
                  <a:ext uri="{FF2B5EF4-FFF2-40B4-BE49-F238E27FC236}">
                    <a16:creationId xmlns="" xmlns:a16="http://schemas.microsoft.com/office/drawing/2014/main" id="{9291948D-BE4B-42E7-82B1-8B65018BB8F1}"/>
                  </a:ext>
                </a:extLst>
              </p:cNvPr>
              <p:cNvSpPr>
                <a:spLocks noChangeArrowheads="1"/>
              </p:cNvSpPr>
              <p:nvPr/>
            </p:nvSpPr>
            <p:spPr bwMode="auto">
              <a:xfrm>
                <a:off x="4469" y="3331"/>
                <a:ext cx="376" cy="89"/>
              </a:xfrm>
              <a:prstGeom prst="ellipse">
                <a:avLst/>
              </a:prstGeom>
              <a:gradFill rotWithShape="0">
                <a:gsLst>
                  <a:gs pos="0">
                    <a:srgbClr val="7C7C7C"/>
                  </a:gs>
                  <a:gs pos="50000">
                    <a:srgbClr val="DDDDDD"/>
                  </a:gs>
                  <a:gs pos="100000">
                    <a:srgbClr val="7C7C7C"/>
                  </a:gs>
                </a:gsLst>
                <a:lin ang="0" scaled="1"/>
              </a:gradFill>
              <a:ln w="9525">
                <a:solidFill>
                  <a:schemeClr val="bg2"/>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grpSp>
        <p:nvGrpSpPr>
          <p:cNvPr id="14" name="Group 56">
            <a:extLst>
              <a:ext uri="{FF2B5EF4-FFF2-40B4-BE49-F238E27FC236}">
                <a16:creationId xmlns="" xmlns:a16="http://schemas.microsoft.com/office/drawing/2014/main" id="{94F83446-F088-48E9-9253-9F86A79B5B25}"/>
              </a:ext>
            </a:extLst>
          </p:cNvPr>
          <p:cNvGrpSpPr>
            <a:grpSpLocks/>
          </p:cNvGrpSpPr>
          <p:nvPr/>
        </p:nvGrpSpPr>
        <p:grpSpPr bwMode="auto">
          <a:xfrm>
            <a:off x="4114800" y="4376738"/>
            <a:ext cx="534988" cy="344487"/>
            <a:chOff x="4467" y="3038"/>
            <a:chExt cx="379" cy="382"/>
          </a:xfrm>
        </p:grpSpPr>
        <p:sp>
          <p:nvSpPr>
            <p:cNvPr id="30801" name="Rectangle 57">
              <a:extLst>
                <a:ext uri="{FF2B5EF4-FFF2-40B4-BE49-F238E27FC236}">
                  <a16:creationId xmlns="" xmlns:a16="http://schemas.microsoft.com/office/drawing/2014/main" id="{0DB041C8-D25C-4D2F-9CEB-CA3926527690}"/>
                </a:ext>
              </a:extLst>
            </p:cNvPr>
            <p:cNvSpPr>
              <a:spLocks noChangeArrowheads="1"/>
            </p:cNvSpPr>
            <p:nvPr/>
          </p:nvSpPr>
          <p:spPr bwMode="auto">
            <a:xfrm>
              <a:off x="4467" y="3094"/>
              <a:ext cx="376" cy="274"/>
            </a:xfrm>
            <a:prstGeom prst="rect">
              <a:avLst/>
            </a:prstGeom>
            <a:gradFill rotWithShape="0">
              <a:gsLst>
                <a:gs pos="0">
                  <a:srgbClr val="838383"/>
                </a:gs>
                <a:gs pos="50000">
                  <a:srgbClr val="EAEAEA"/>
                </a:gs>
                <a:gs pos="100000">
                  <a:srgbClr val="838383"/>
                </a:gs>
              </a:gsLst>
              <a:lin ang="0" scaled="1"/>
            </a:gradFill>
            <a:ln w="9525">
              <a:solidFill>
                <a:schemeClr val="bg2"/>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15" name="Group 58">
              <a:extLst>
                <a:ext uri="{FF2B5EF4-FFF2-40B4-BE49-F238E27FC236}">
                  <a16:creationId xmlns="" xmlns:a16="http://schemas.microsoft.com/office/drawing/2014/main" id="{D3B1F1B3-6F86-47EE-A28A-5C59DC29D501}"/>
                </a:ext>
              </a:extLst>
            </p:cNvPr>
            <p:cNvGrpSpPr>
              <a:grpSpLocks/>
            </p:cNvGrpSpPr>
            <p:nvPr/>
          </p:nvGrpSpPr>
          <p:grpSpPr bwMode="auto">
            <a:xfrm>
              <a:off x="4468" y="3038"/>
              <a:ext cx="378" cy="382"/>
              <a:chOff x="4468" y="3038"/>
              <a:chExt cx="378" cy="382"/>
            </a:xfrm>
          </p:grpSpPr>
          <p:sp>
            <p:nvSpPr>
              <p:cNvPr id="30803" name="Line 59">
                <a:extLst>
                  <a:ext uri="{FF2B5EF4-FFF2-40B4-BE49-F238E27FC236}">
                    <a16:creationId xmlns="" xmlns:a16="http://schemas.microsoft.com/office/drawing/2014/main" id="{8C7A36A0-2AC1-45D4-B763-4E465F0066DE}"/>
                  </a:ext>
                </a:extLst>
              </p:cNvPr>
              <p:cNvSpPr>
                <a:spLocks noChangeShapeType="1"/>
              </p:cNvSpPr>
              <p:nvPr/>
            </p:nvSpPr>
            <p:spPr bwMode="auto">
              <a:xfrm>
                <a:off x="4468" y="3087"/>
                <a:ext cx="0" cy="292"/>
              </a:xfrm>
              <a:prstGeom prst="line">
                <a:avLst/>
              </a:prstGeom>
              <a:noFill/>
              <a:ln w="9525">
                <a:solidFill>
                  <a:schemeClr val="bg2"/>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30804" name="Line 60">
                <a:extLst>
                  <a:ext uri="{FF2B5EF4-FFF2-40B4-BE49-F238E27FC236}">
                    <a16:creationId xmlns="" xmlns:a16="http://schemas.microsoft.com/office/drawing/2014/main" id="{21967B4E-B7BD-467B-8D85-17215658AFEF}"/>
                  </a:ext>
                </a:extLst>
              </p:cNvPr>
              <p:cNvSpPr>
                <a:spLocks noChangeShapeType="1"/>
              </p:cNvSpPr>
              <p:nvPr/>
            </p:nvSpPr>
            <p:spPr bwMode="auto">
              <a:xfrm>
                <a:off x="4846" y="3089"/>
                <a:ext cx="0" cy="292"/>
              </a:xfrm>
              <a:prstGeom prst="line">
                <a:avLst/>
              </a:prstGeom>
              <a:noFill/>
              <a:ln w="9525">
                <a:solidFill>
                  <a:schemeClr val="bg2"/>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30805" name="Oval 61">
                <a:extLst>
                  <a:ext uri="{FF2B5EF4-FFF2-40B4-BE49-F238E27FC236}">
                    <a16:creationId xmlns="" xmlns:a16="http://schemas.microsoft.com/office/drawing/2014/main" id="{1D58CE38-B898-4A33-8526-9B11ECB68BF2}"/>
                  </a:ext>
                </a:extLst>
              </p:cNvPr>
              <p:cNvSpPr>
                <a:spLocks noChangeArrowheads="1"/>
              </p:cNvSpPr>
              <p:nvPr/>
            </p:nvSpPr>
            <p:spPr bwMode="auto">
              <a:xfrm>
                <a:off x="4469" y="3038"/>
                <a:ext cx="376" cy="90"/>
              </a:xfrm>
              <a:prstGeom prst="ellipse">
                <a:avLst/>
              </a:prstGeom>
              <a:gradFill rotWithShape="0">
                <a:gsLst>
                  <a:gs pos="0">
                    <a:srgbClr val="838383"/>
                  </a:gs>
                  <a:gs pos="50000">
                    <a:srgbClr val="EAEAEA"/>
                  </a:gs>
                  <a:gs pos="100000">
                    <a:srgbClr val="838383"/>
                  </a:gs>
                </a:gsLst>
                <a:lin ang="0" scaled="1"/>
              </a:gradFill>
              <a:ln w="9525">
                <a:solidFill>
                  <a:schemeClr val="bg2"/>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0806" name="Oval 62">
                <a:extLst>
                  <a:ext uri="{FF2B5EF4-FFF2-40B4-BE49-F238E27FC236}">
                    <a16:creationId xmlns="" xmlns:a16="http://schemas.microsoft.com/office/drawing/2014/main" id="{989181A2-CC95-4464-A12A-6E9EAC93890C}"/>
                  </a:ext>
                </a:extLst>
              </p:cNvPr>
              <p:cNvSpPr>
                <a:spLocks noChangeArrowheads="1"/>
              </p:cNvSpPr>
              <p:nvPr/>
            </p:nvSpPr>
            <p:spPr bwMode="auto">
              <a:xfrm>
                <a:off x="4469" y="3331"/>
                <a:ext cx="376" cy="89"/>
              </a:xfrm>
              <a:prstGeom prst="ellipse">
                <a:avLst/>
              </a:prstGeom>
              <a:gradFill rotWithShape="0">
                <a:gsLst>
                  <a:gs pos="0">
                    <a:srgbClr val="838383"/>
                  </a:gs>
                  <a:gs pos="50000">
                    <a:srgbClr val="EAEAEA"/>
                  </a:gs>
                  <a:gs pos="100000">
                    <a:srgbClr val="838383"/>
                  </a:gs>
                </a:gsLst>
                <a:lin ang="0" scaled="1"/>
              </a:gradFill>
              <a:ln w="9525">
                <a:solidFill>
                  <a:schemeClr val="bg2"/>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sp>
        <p:nvSpPr>
          <p:cNvPr id="30742" name="AutoShape 63">
            <a:extLst>
              <a:ext uri="{FF2B5EF4-FFF2-40B4-BE49-F238E27FC236}">
                <a16:creationId xmlns="" xmlns:a16="http://schemas.microsoft.com/office/drawing/2014/main" id="{0B6108FD-DDB0-4A1D-A575-F68E2099F5A4}"/>
              </a:ext>
            </a:extLst>
          </p:cNvPr>
          <p:cNvSpPr>
            <a:spLocks noChangeArrowheads="1"/>
          </p:cNvSpPr>
          <p:nvPr/>
        </p:nvSpPr>
        <p:spPr bwMode="auto">
          <a:xfrm rot="2815000">
            <a:off x="3189288" y="4064000"/>
            <a:ext cx="230188" cy="338137"/>
          </a:xfrm>
          <a:prstGeom prst="downArrow">
            <a:avLst>
              <a:gd name="adj1" fmla="val 50000"/>
              <a:gd name="adj2" fmla="val 36724"/>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0743" name="AutoShape 64">
            <a:extLst>
              <a:ext uri="{FF2B5EF4-FFF2-40B4-BE49-F238E27FC236}">
                <a16:creationId xmlns="" xmlns:a16="http://schemas.microsoft.com/office/drawing/2014/main" id="{9DEB8CF8-2140-43FC-8B5F-C6778BC049AB}"/>
              </a:ext>
            </a:extLst>
          </p:cNvPr>
          <p:cNvSpPr>
            <a:spLocks noChangeArrowheads="1"/>
          </p:cNvSpPr>
          <p:nvPr/>
        </p:nvSpPr>
        <p:spPr bwMode="auto">
          <a:xfrm>
            <a:off x="3575050" y="4146550"/>
            <a:ext cx="269875" cy="288925"/>
          </a:xfrm>
          <a:prstGeom prst="downArrow">
            <a:avLst>
              <a:gd name="adj1" fmla="val 50000"/>
              <a:gd name="adj2" fmla="val 26765"/>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0744" name="AutoShape 65">
            <a:extLst>
              <a:ext uri="{FF2B5EF4-FFF2-40B4-BE49-F238E27FC236}">
                <a16:creationId xmlns="" xmlns:a16="http://schemas.microsoft.com/office/drawing/2014/main" id="{2E8835C5-D2AE-42AF-A966-3C6400240579}"/>
              </a:ext>
            </a:extLst>
          </p:cNvPr>
          <p:cNvSpPr>
            <a:spLocks noChangeArrowheads="1"/>
          </p:cNvSpPr>
          <p:nvPr/>
        </p:nvSpPr>
        <p:spPr bwMode="auto">
          <a:xfrm rot="-3021309">
            <a:off x="4000500" y="4064000"/>
            <a:ext cx="230188" cy="338138"/>
          </a:xfrm>
          <a:prstGeom prst="downArrow">
            <a:avLst>
              <a:gd name="adj1" fmla="val 50000"/>
              <a:gd name="adj2" fmla="val 36724"/>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0745" name="Text Box 66">
            <a:extLst>
              <a:ext uri="{FF2B5EF4-FFF2-40B4-BE49-F238E27FC236}">
                <a16:creationId xmlns="" xmlns:a16="http://schemas.microsoft.com/office/drawing/2014/main" id="{F2CC180B-ED45-4E26-9E36-BD467295327C}"/>
              </a:ext>
            </a:extLst>
          </p:cNvPr>
          <p:cNvSpPr txBox="1">
            <a:spLocks noChangeArrowheads="1"/>
          </p:cNvSpPr>
          <p:nvPr/>
        </p:nvSpPr>
        <p:spPr bwMode="auto">
          <a:xfrm>
            <a:off x="3186113" y="5038725"/>
            <a:ext cx="933450" cy="274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Data Marts</a:t>
            </a:r>
          </a:p>
        </p:txBody>
      </p:sp>
      <p:sp>
        <p:nvSpPr>
          <p:cNvPr id="30746" name="Text Box 67">
            <a:extLst>
              <a:ext uri="{FF2B5EF4-FFF2-40B4-BE49-F238E27FC236}">
                <a16:creationId xmlns="" xmlns:a16="http://schemas.microsoft.com/office/drawing/2014/main" id="{61D7C316-DFA2-47FE-B7CD-6BD4AB2EA3B7}"/>
              </a:ext>
            </a:extLst>
          </p:cNvPr>
          <p:cNvSpPr txBox="1">
            <a:spLocks noChangeArrowheads="1"/>
          </p:cNvSpPr>
          <p:nvPr/>
        </p:nvSpPr>
        <p:spPr bwMode="auto">
          <a:xfrm>
            <a:off x="3282950" y="2786063"/>
            <a:ext cx="92075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Data</a:t>
            </a:r>
          </a:p>
          <a:p>
            <a:pPr algn="ctr"/>
            <a:r>
              <a:rPr lang="en-US" altLang="en-US" sz="1200" b="1">
                <a:solidFill>
                  <a:srgbClr val="00001E"/>
                </a:solidFill>
                <a:latin typeface="Times New Roman" panose="02020603050405020304" pitchFamily="18" charset="0"/>
              </a:rPr>
              <a:t>Warehouse</a:t>
            </a:r>
          </a:p>
        </p:txBody>
      </p:sp>
      <p:sp>
        <p:nvSpPr>
          <p:cNvPr id="30747" name="AutoShape 68">
            <a:extLst>
              <a:ext uri="{FF2B5EF4-FFF2-40B4-BE49-F238E27FC236}">
                <a16:creationId xmlns="" xmlns:a16="http://schemas.microsoft.com/office/drawing/2014/main" id="{D723C5A2-BC41-4495-A546-830D25CEB302}"/>
              </a:ext>
            </a:extLst>
          </p:cNvPr>
          <p:cNvSpPr>
            <a:spLocks noChangeArrowheads="1"/>
          </p:cNvSpPr>
          <p:nvPr/>
        </p:nvSpPr>
        <p:spPr bwMode="auto">
          <a:xfrm>
            <a:off x="5197475" y="4140200"/>
            <a:ext cx="809625" cy="692150"/>
          </a:xfrm>
          <a:prstGeom prst="cube">
            <a:avLst>
              <a:gd name="adj" fmla="val 25000"/>
            </a:avLst>
          </a:prstGeom>
          <a:solidFill>
            <a:schemeClr val="folHlink"/>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0748" name="AutoShape 69">
            <a:extLst>
              <a:ext uri="{FF2B5EF4-FFF2-40B4-BE49-F238E27FC236}">
                <a16:creationId xmlns="" xmlns:a16="http://schemas.microsoft.com/office/drawing/2014/main" id="{A9FC59F2-CB90-4733-AAFA-D07EC5616A18}"/>
              </a:ext>
            </a:extLst>
          </p:cNvPr>
          <p:cNvSpPr>
            <a:spLocks noChangeArrowheads="1"/>
          </p:cNvSpPr>
          <p:nvPr/>
        </p:nvSpPr>
        <p:spPr bwMode="auto">
          <a:xfrm>
            <a:off x="5129213" y="2587625"/>
            <a:ext cx="811212" cy="692150"/>
          </a:xfrm>
          <a:prstGeom prst="cube">
            <a:avLst>
              <a:gd name="adj" fmla="val 25000"/>
            </a:avLst>
          </a:prstGeom>
          <a:solidFill>
            <a:schemeClr val="folHlink"/>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0749" name="Text Box 70">
            <a:extLst>
              <a:ext uri="{FF2B5EF4-FFF2-40B4-BE49-F238E27FC236}">
                <a16:creationId xmlns="" xmlns:a16="http://schemas.microsoft.com/office/drawing/2014/main" id="{BAC825A9-A005-47C7-A334-7CE8F9CAA200}"/>
              </a:ext>
            </a:extLst>
          </p:cNvPr>
          <p:cNvSpPr txBox="1">
            <a:spLocks noChangeArrowheads="1"/>
          </p:cNvSpPr>
          <p:nvPr/>
        </p:nvSpPr>
        <p:spPr bwMode="auto">
          <a:xfrm>
            <a:off x="4960938" y="2355850"/>
            <a:ext cx="1320800" cy="274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e.g., MOLAP</a:t>
            </a:r>
          </a:p>
        </p:txBody>
      </p:sp>
      <p:sp>
        <p:nvSpPr>
          <p:cNvPr id="30750" name="Text Box 71">
            <a:extLst>
              <a:ext uri="{FF2B5EF4-FFF2-40B4-BE49-F238E27FC236}">
                <a16:creationId xmlns="" xmlns:a16="http://schemas.microsoft.com/office/drawing/2014/main" id="{4ACD496D-CE3B-4CAE-8D34-11F4F9A74820}"/>
              </a:ext>
            </a:extLst>
          </p:cNvPr>
          <p:cNvSpPr txBox="1">
            <a:spLocks noChangeArrowheads="1"/>
          </p:cNvSpPr>
          <p:nvPr/>
        </p:nvSpPr>
        <p:spPr bwMode="auto">
          <a:xfrm>
            <a:off x="5164138" y="3884613"/>
            <a:ext cx="1014412" cy="2746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e.g., ROLAP</a:t>
            </a:r>
          </a:p>
        </p:txBody>
      </p:sp>
      <p:sp>
        <p:nvSpPr>
          <p:cNvPr id="30751" name="Oval 72">
            <a:extLst>
              <a:ext uri="{FF2B5EF4-FFF2-40B4-BE49-F238E27FC236}">
                <a16:creationId xmlns="" xmlns:a16="http://schemas.microsoft.com/office/drawing/2014/main" id="{896334D1-EBF6-4A2A-BEC2-4ACA51406221}"/>
              </a:ext>
            </a:extLst>
          </p:cNvPr>
          <p:cNvSpPr>
            <a:spLocks noChangeArrowheads="1"/>
          </p:cNvSpPr>
          <p:nvPr/>
        </p:nvSpPr>
        <p:spPr bwMode="auto">
          <a:xfrm>
            <a:off x="6818313" y="2298700"/>
            <a:ext cx="1487487" cy="3060700"/>
          </a:xfrm>
          <a:prstGeom prst="ellipse">
            <a:avLst/>
          </a:prstGeom>
          <a:noFill/>
          <a:ln w="9525">
            <a:solidFill>
              <a:schemeClr val="bg2"/>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0752" name="AutoShape 73">
            <a:extLst>
              <a:ext uri="{FF2B5EF4-FFF2-40B4-BE49-F238E27FC236}">
                <a16:creationId xmlns="" xmlns:a16="http://schemas.microsoft.com/office/drawing/2014/main" id="{CA603058-C421-4585-938A-97737B3A79FD}"/>
              </a:ext>
            </a:extLst>
          </p:cNvPr>
          <p:cNvSpPr>
            <a:spLocks noChangeArrowheads="1"/>
          </p:cNvSpPr>
          <p:nvPr/>
        </p:nvSpPr>
        <p:spPr bwMode="auto">
          <a:xfrm>
            <a:off x="4859338" y="3338513"/>
            <a:ext cx="1824037" cy="635000"/>
          </a:xfrm>
          <a:prstGeom prst="rightArrow">
            <a:avLst>
              <a:gd name="adj1" fmla="val 50000"/>
              <a:gd name="adj2" fmla="val 71812"/>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0753" name="Text Box 74">
            <a:extLst>
              <a:ext uri="{FF2B5EF4-FFF2-40B4-BE49-F238E27FC236}">
                <a16:creationId xmlns="" xmlns:a16="http://schemas.microsoft.com/office/drawing/2014/main" id="{F24F004B-15D3-4CA7-B9FA-85183CE6BADB}"/>
              </a:ext>
            </a:extLst>
          </p:cNvPr>
          <p:cNvSpPr txBox="1">
            <a:spLocks noChangeArrowheads="1"/>
          </p:cNvSpPr>
          <p:nvPr/>
        </p:nvSpPr>
        <p:spPr bwMode="auto">
          <a:xfrm>
            <a:off x="5349875" y="3562350"/>
            <a:ext cx="506413" cy="274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i="1">
                <a:solidFill>
                  <a:srgbClr val="00001E"/>
                </a:solidFill>
                <a:latin typeface="Times New Roman" panose="02020603050405020304" pitchFamily="18" charset="0"/>
              </a:rPr>
              <a:t>serve</a:t>
            </a:r>
            <a:endParaRPr lang="en-US" altLang="en-US" sz="1200" b="1">
              <a:solidFill>
                <a:srgbClr val="00001E"/>
              </a:solidFill>
              <a:latin typeface="Times New Roman" panose="02020603050405020304" pitchFamily="18" charset="0"/>
            </a:endParaRPr>
          </a:p>
        </p:txBody>
      </p:sp>
      <p:sp>
        <p:nvSpPr>
          <p:cNvPr id="30754" name="Rectangle 75">
            <a:extLst>
              <a:ext uri="{FF2B5EF4-FFF2-40B4-BE49-F238E27FC236}">
                <a16:creationId xmlns="" xmlns:a16="http://schemas.microsoft.com/office/drawing/2014/main" id="{AE6963E1-B11F-4E09-A829-EADBFC97A3F9}"/>
              </a:ext>
            </a:extLst>
          </p:cNvPr>
          <p:cNvSpPr>
            <a:spLocks noChangeArrowheads="1"/>
          </p:cNvSpPr>
          <p:nvPr/>
        </p:nvSpPr>
        <p:spPr bwMode="auto">
          <a:xfrm>
            <a:off x="7224713" y="2701925"/>
            <a:ext cx="676275" cy="520700"/>
          </a:xfrm>
          <a:prstGeom prst="rect">
            <a:avLst/>
          </a:prstGeom>
          <a:noFill/>
          <a:ln w="12700">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0755" name="Line 76">
            <a:extLst>
              <a:ext uri="{FF2B5EF4-FFF2-40B4-BE49-F238E27FC236}">
                <a16:creationId xmlns="" xmlns:a16="http://schemas.microsoft.com/office/drawing/2014/main" id="{6B41C604-A014-49E4-A542-80CACD7CDD0A}"/>
              </a:ext>
            </a:extLst>
          </p:cNvPr>
          <p:cNvSpPr>
            <a:spLocks noChangeShapeType="1"/>
          </p:cNvSpPr>
          <p:nvPr/>
        </p:nvSpPr>
        <p:spPr bwMode="auto">
          <a:xfrm>
            <a:off x="7224713" y="2760663"/>
            <a:ext cx="676275" cy="0"/>
          </a:xfrm>
          <a:prstGeom prst="line">
            <a:avLst/>
          </a:prstGeom>
          <a:noFill/>
          <a:ln w="1270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30756" name="Line 77">
            <a:extLst>
              <a:ext uri="{FF2B5EF4-FFF2-40B4-BE49-F238E27FC236}">
                <a16:creationId xmlns="" xmlns:a16="http://schemas.microsoft.com/office/drawing/2014/main" id="{532E17E8-A1B8-4547-A07B-49FBF91BEBC3}"/>
              </a:ext>
            </a:extLst>
          </p:cNvPr>
          <p:cNvSpPr>
            <a:spLocks noChangeShapeType="1"/>
          </p:cNvSpPr>
          <p:nvPr/>
        </p:nvSpPr>
        <p:spPr bwMode="auto">
          <a:xfrm>
            <a:off x="7562850" y="2701925"/>
            <a:ext cx="0" cy="52070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30757" name="Line 78">
            <a:extLst>
              <a:ext uri="{FF2B5EF4-FFF2-40B4-BE49-F238E27FC236}">
                <a16:creationId xmlns="" xmlns:a16="http://schemas.microsoft.com/office/drawing/2014/main" id="{8A042C45-4197-4A6F-B9AD-82C3B14EBAF8}"/>
              </a:ext>
            </a:extLst>
          </p:cNvPr>
          <p:cNvSpPr>
            <a:spLocks noChangeShapeType="1"/>
          </p:cNvSpPr>
          <p:nvPr/>
        </p:nvSpPr>
        <p:spPr bwMode="auto">
          <a:xfrm>
            <a:off x="7562850" y="2701925"/>
            <a:ext cx="0" cy="52070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30758" name="Line 79">
            <a:extLst>
              <a:ext uri="{FF2B5EF4-FFF2-40B4-BE49-F238E27FC236}">
                <a16:creationId xmlns="" xmlns:a16="http://schemas.microsoft.com/office/drawing/2014/main" id="{66CFD9E1-2D4A-4A5D-B17D-A8389F33C42B}"/>
              </a:ext>
            </a:extLst>
          </p:cNvPr>
          <p:cNvSpPr>
            <a:spLocks noChangeShapeType="1"/>
          </p:cNvSpPr>
          <p:nvPr/>
        </p:nvSpPr>
        <p:spPr bwMode="auto">
          <a:xfrm>
            <a:off x="7562850" y="2701925"/>
            <a:ext cx="0" cy="52070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30759" name="Line 80">
            <a:extLst>
              <a:ext uri="{FF2B5EF4-FFF2-40B4-BE49-F238E27FC236}">
                <a16:creationId xmlns="" xmlns:a16="http://schemas.microsoft.com/office/drawing/2014/main" id="{ABAE07EF-ADA5-45AE-9CF9-4470ADE99704}"/>
              </a:ext>
            </a:extLst>
          </p:cNvPr>
          <p:cNvSpPr>
            <a:spLocks noChangeShapeType="1"/>
          </p:cNvSpPr>
          <p:nvPr/>
        </p:nvSpPr>
        <p:spPr bwMode="auto">
          <a:xfrm>
            <a:off x="7562850" y="2701925"/>
            <a:ext cx="0" cy="52070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30760" name="Line 81">
            <a:extLst>
              <a:ext uri="{FF2B5EF4-FFF2-40B4-BE49-F238E27FC236}">
                <a16:creationId xmlns="" xmlns:a16="http://schemas.microsoft.com/office/drawing/2014/main" id="{3876F21C-EBE9-4419-9D33-EC277DB71A49}"/>
              </a:ext>
            </a:extLst>
          </p:cNvPr>
          <p:cNvSpPr>
            <a:spLocks noChangeShapeType="1"/>
          </p:cNvSpPr>
          <p:nvPr/>
        </p:nvSpPr>
        <p:spPr bwMode="auto">
          <a:xfrm>
            <a:off x="7562850" y="2701925"/>
            <a:ext cx="0" cy="52070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30761" name="Line 82">
            <a:extLst>
              <a:ext uri="{FF2B5EF4-FFF2-40B4-BE49-F238E27FC236}">
                <a16:creationId xmlns="" xmlns:a16="http://schemas.microsoft.com/office/drawing/2014/main" id="{39F5476E-E1F4-4651-9518-61FEC152AFC2}"/>
              </a:ext>
            </a:extLst>
          </p:cNvPr>
          <p:cNvSpPr>
            <a:spLocks noChangeShapeType="1"/>
          </p:cNvSpPr>
          <p:nvPr/>
        </p:nvSpPr>
        <p:spPr bwMode="auto">
          <a:xfrm>
            <a:off x="7224713" y="2817813"/>
            <a:ext cx="676275" cy="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30762" name="Line 83">
            <a:extLst>
              <a:ext uri="{FF2B5EF4-FFF2-40B4-BE49-F238E27FC236}">
                <a16:creationId xmlns="" xmlns:a16="http://schemas.microsoft.com/office/drawing/2014/main" id="{87AE6044-1EB7-42A6-942D-CE75B718FAFD}"/>
              </a:ext>
            </a:extLst>
          </p:cNvPr>
          <p:cNvSpPr>
            <a:spLocks noChangeShapeType="1"/>
          </p:cNvSpPr>
          <p:nvPr/>
        </p:nvSpPr>
        <p:spPr bwMode="auto">
          <a:xfrm>
            <a:off x="7224713" y="2874963"/>
            <a:ext cx="676275" cy="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30763" name="Line 84">
            <a:extLst>
              <a:ext uri="{FF2B5EF4-FFF2-40B4-BE49-F238E27FC236}">
                <a16:creationId xmlns="" xmlns:a16="http://schemas.microsoft.com/office/drawing/2014/main" id="{595AF793-D89F-4405-A839-CE427402D935}"/>
              </a:ext>
            </a:extLst>
          </p:cNvPr>
          <p:cNvSpPr>
            <a:spLocks noChangeShapeType="1"/>
          </p:cNvSpPr>
          <p:nvPr/>
        </p:nvSpPr>
        <p:spPr bwMode="auto">
          <a:xfrm>
            <a:off x="7224713" y="2933700"/>
            <a:ext cx="676275" cy="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30764" name="Line 85">
            <a:extLst>
              <a:ext uri="{FF2B5EF4-FFF2-40B4-BE49-F238E27FC236}">
                <a16:creationId xmlns="" xmlns:a16="http://schemas.microsoft.com/office/drawing/2014/main" id="{2FD1DB3E-4B10-40A7-9848-3CF063789C5F}"/>
              </a:ext>
            </a:extLst>
          </p:cNvPr>
          <p:cNvSpPr>
            <a:spLocks noChangeShapeType="1"/>
          </p:cNvSpPr>
          <p:nvPr/>
        </p:nvSpPr>
        <p:spPr bwMode="auto">
          <a:xfrm>
            <a:off x="7224713" y="2990850"/>
            <a:ext cx="676275" cy="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30765" name="Line 86">
            <a:extLst>
              <a:ext uri="{FF2B5EF4-FFF2-40B4-BE49-F238E27FC236}">
                <a16:creationId xmlns="" xmlns:a16="http://schemas.microsoft.com/office/drawing/2014/main" id="{CCC7199D-F225-4967-99DD-1CA85635FB68}"/>
              </a:ext>
            </a:extLst>
          </p:cNvPr>
          <p:cNvSpPr>
            <a:spLocks noChangeShapeType="1"/>
          </p:cNvSpPr>
          <p:nvPr/>
        </p:nvSpPr>
        <p:spPr bwMode="auto">
          <a:xfrm>
            <a:off x="7224713" y="3049588"/>
            <a:ext cx="676275" cy="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30766" name="Line 87">
            <a:extLst>
              <a:ext uri="{FF2B5EF4-FFF2-40B4-BE49-F238E27FC236}">
                <a16:creationId xmlns="" xmlns:a16="http://schemas.microsoft.com/office/drawing/2014/main" id="{95C1A13E-AF60-40A9-8D52-82516C361F02}"/>
              </a:ext>
            </a:extLst>
          </p:cNvPr>
          <p:cNvSpPr>
            <a:spLocks noChangeShapeType="1"/>
          </p:cNvSpPr>
          <p:nvPr/>
        </p:nvSpPr>
        <p:spPr bwMode="auto">
          <a:xfrm>
            <a:off x="7224713" y="3106738"/>
            <a:ext cx="676275" cy="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30767" name="Line 88">
            <a:extLst>
              <a:ext uri="{FF2B5EF4-FFF2-40B4-BE49-F238E27FC236}">
                <a16:creationId xmlns="" xmlns:a16="http://schemas.microsoft.com/office/drawing/2014/main" id="{D192261D-73F0-4D17-848A-364F6E01167F}"/>
              </a:ext>
            </a:extLst>
          </p:cNvPr>
          <p:cNvSpPr>
            <a:spLocks noChangeShapeType="1"/>
          </p:cNvSpPr>
          <p:nvPr/>
        </p:nvSpPr>
        <p:spPr bwMode="auto">
          <a:xfrm>
            <a:off x="7224713" y="3163888"/>
            <a:ext cx="676275" cy="0"/>
          </a:xfrm>
          <a:prstGeom prst="line">
            <a:avLst/>
          </a:prstGeom>
          <a:noFill/>
          <a:ln w="9525">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30768" name="Text Box 89">
            <a:extLst>
              <a:ext uri="{FF2B5EF4-FFF2-40B4-BE49-F238E27FC236}">
                <a16:creationId xmlns="" xmlns:a16="http://schemas.microsoft.com/office/drawing/2014/main" id="{5B4A7EDD-D4B1-4F32-B890-813CD6FA3FEF}"/>
              </a:ext>
            </a:extLst>
          </p:cNvPr>
          <p:cNvSpPr txBox="1">
            <a:spLocks noChangeArrowheads="1"/>
          </p:cNvSpPr>
          <p:nvPr/>
        </p:nvSpPr>
        <p:spPr bwMode="auto">
          <a:xfrm>
            <a:off x="7194550" y="2484438"/>
            <a:ext cx="733425" cy="2746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Analysis</a:t>
            </a:r>
          </a:p>
        </p:txBody>
      </p:sp>
      <p:sp>
        <p:nvSpPr>
          <p:cNvPr id="30769" name="Rectangle 90">
            <a:extLst>
              <a:ext uri="{FF2B5EF4-FFF2-40B4-BE49-F238E27FC236}">
                <a16:creationId xmlns="" xmlns:a16="http://schemas.microsoft.com/office/drawing/2014/main" id="{5319A8BC-04D5-433C-B3F1-199128C3FB61}"/>
              </a:ext>
            </a:extLst>
          </p:cNvPr>
          <p:cNvSpPr>
            <a:spLocks noChangeArrowheads="1"/>
          </p:cNvSpPr>
          <p:nvPr/>
        </p:nvSpPr>
        <p:spPr bwMode="auto">
          <a:xfrm>
            <a:off x="7191375" y="3511550"/>
            <a:ext cx="742950" cy="635000"/>
          </a:xfrm>
          <a:prstGeom prst="rect">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0770" name="Rectangle 91">
            <a:extLst>
              <a:ext uri="{FF2B5EF4-FFF2-40B4-BE49-F238E27FC236}">
                <a16:creationId xmlns="" xmlns:a16="http://schemas.microsoft.com/office/drawing/2014/main" id="{72E9E7CD-9C20-46F8-A035-92197B4E39EB}"/>
              </a:ext>
            </a:extLst>
          </p:cNvPr>
          <p:cNvSpPr>
            <a:spLocks noChangeArrowheads="1"/>
          </p:cNvSpPr>
          <p:nvPr/>
        </p:nvSpPr>
        <p:spPr bwMode="auto">
          <a:xfrm>
            <a:off x="7156450" y="4492625"/>
            <a:ext cx="811213" cy="577850"/>
          </a:xfrm>
          <a:prstGeom prst="rect">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0771" name="Text Box 92">
            <a:extLst>
              <a:ext uri="{FF2B5EF4-FFF2-40B4-BE49-F238E27FC236}">
                <a16:creationId xmlns="" xmlns:a16="http://schemas.microsoft.com/office/drawing/2014/main" id="{3A9FBDE2-F2ED-443A-BB6F-CAA5E7DAE541}"/>
              </a:ext>
            </a:extLst>
          </p:cNvPr>
          <p:cNvSpPr txBox="1">
            <a:spLocks noChangeArrowheads="1"/>
          </p:cNvSpPr>
          <p:nvPr/>
        </p:nvSpPr>
        <p:spPr bwMode="auto">
          <a:xfrm>
            <a:off x="6934200" y="3303588"/>
            <a:ext cx="1303338" cy="2746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Query/Reporting</a:t>
            </a:r>
          </a:p>
        </p:txBody>
      </p:sp>
      <p:sp>
        <p:nvSpPr>
          <p:cNvPr id="30772" name="Text Box 93">
            <a:extLst>
              <a:ext uri="{FF2B5EF4-FFF2-40B4-BE49-F238E27FC236}">
                <a16:creationId xmlns="" xmlns:a16="http://schemas.microsoft.com/office/drawing/2014/main" id="{1EFBFCEB-11DC-43C0-B080-E77AE72170F5}"/>
              </a:ext>
            </a:extLst>
          </p:cNvPr>
          <p:cNvSpPr txBox="1">
            <a:spLocks noChangeArrowheads="1"/>
          </p:cNvSpPr>
          <p:nvPr/>
        </p:nvSpPr>
        <p:spPr bwMode="auto">
          <a:xfrm>
            <a:off x="7080250" y="4229100"/>
            <a:ext cx="1009650" cy="274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Data Mining</a:t>
            </a:r>
          </a:p>
        </p:txBody>
      </p:sp>
      <p:sp>
        <p:nvSpPr>
          <p:cNvPr id="30773" name="Rectangle 94">
            <a:extLst>
              <a:ext uri="{FF2B5EF4-FFF2-40B4-BE49-F238E27FC236}">
                <a16:creationId xmlns="" xmlns:a16="http://schemas.microsoft.com/office/drawing/2014/main" id="{AF82AE63-B467-4C41-AB65-85CE27708340}"/>
              </a:ext>
            </a:extLst>
          </p:cNvPr>
          <p:cNvSpPr>
            <a:spLocks noChangeArrowheads="1"/>
          </p:cNvSpPr>
          <p:nvPr/>
        </p:nvSpPr>
        <p:spPr bwMode="auto">
          <a:xfrm>
            <a:off x="7291388" y="3625850"/>
            <a:ext cx="68262" cy="520700"/>
          </a:xfrm>
          <a:prstGeom prst="rect">
            <a:avLst/>
          </a:prstGeom>
          <a:solidFill>
            <a:srgbClr val="EAEAEA"/>
          </a:solidFill>
          <a:ln w="9525">
            <a:solidFill>
              <a:schemeClr val="bg2"/>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0774" name="Rectangle 95">
            <a:extLst>
              <a:ext uri="{FF2B5EF4-FFF2-40B4-BE49-F238E27FC236}">
                <a16:creationId xmlns="" xmlns:a16="http://schemas.microsoft.com/office/drawing/2014/main" id="{E3031254-E139-4F41-857E-D49BD45E7199}"/>
              </a:ext>
            </a:extLst>
          </p:cNvPr>
          <p:cNvSpPr>
            <a:spLocks noChangeArrowheads="1"/>
          </p:cNvSpPr>
          <p:nvPr/>
        </p:nvSpPr>
        <p:spPr bwMode="auto">
          <a:xfrm>
            <a:off x="7494588" y="3684588"/>
            <a:ext cx="68262" cy="461962"/>
          </a:xfrm>
          <a:prstGeom prst="rect">
            <a:avLst/>
          </a:prstGeom>
          <a:solidFill>
            <a:srgbClr val="EAEAEA"/>
          </a:solidFill>
          <a:ln w="9525">
            <a:solidFill>
              <a:schemeClr val="bg2"/>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0775" name="Rectangle 96">
            <a:extLst>
              <a:ext uri="{FF2B5EF4-FFF2-40B4-BE49-F238E27FC236}">
                <a16:creationId xmlns="" xmlns:a16="http://schemas.microsoft.com/office/drawing/2014/main" id="{40AD4FDB-D57D-4A5D-B116-E4170EBCB97C}"/>
              </a:ext>
            </a:extLst>
          </p:cNvPr>
          <p:cNvSpPr>
            <a:spLocks noChangeArrowheads="1"/>
          </p:cNvSpPr>
          <p:nvPr/>
        </p:nvSpPr>
        <p:spPr bwMode="auto">
          <a:xfrm>
            <a:off x="7629525" y="3914775"/>
            <a:ext cx="134938" cy="231775"/>
          </a:xfrm>
          <a:prstGeom prst="rect">
            <a:avLst/>
          </a:prstGeom>
          <a:solidFill>
            <a:srgbClr val="EAEAEA"/>
          </a:solidFill>
          <a:ln w="9525">
            <a:solidFill>
              <a:schemeClr val="bg2"/>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0776" name="Rectangle 97">
            <a:extLst>
              <a:ext uri="{FF2B5EF4-FFF2-40B4-BE49-F238E27FC236}">
                <a16:creationId xmlns="" xmlns:a16="http://schemas.microsoft.com/office/drawing/2014/main" id="{F4E64E0C-3813-44C6-AF54-F2C69CF1F5A1}"/>
              </a:ext>
            </a:extLst>
          </p:cNvPr>
          <p:cNvSpPr>
            <a:spLocks noChangeArrowheads="1"/>
          </p:cNvSpPr>
          <p:nvPr/>
        </p:nvSpPr>
        <p:spPr bwMode="auto">
          <a:xfrm>
            <a:off x="7832725" y="3741738"/>
            <a:ext cx="68263" cy="404812"/>
          </a:xfrm>
          <a:prstGeom prst="rect">
            <a:avLst/>
          </a:prstGeom>
          <a:solidFill>
            <a:srgbClr val="EAEAEA"/>
          </a:solidFill>
          <a:ln w="9525">
            <a:solidFill>
              <a:schemeClr val="bg2"/>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0777" name="Line 98">
            <a:extLst>
              <a:ext uri="{FF2B5EF4-FFF2-40B4-BE49-F238E27FC236}">
                <a16:creationId xmlns="" xmlns:a16="http://schemas.microsoft.com/office/drawing/2014/main" id="{39527E9C-4AA8-44FF-AF58-8C5441EE0687}"/>
              </a:ext>
            </a:extLst>
          </p:cNvPr>
          <p:cNvSpPr>
            <a:spLocks noChangeShapeType="1"/>
          </p:cNvSpPr>
          <p:nvPr/>
        </p:nvSpPr>
        <p:spPr bwMode="auto">
          <a:xfrm>
            <a:off x="7291388" y="4608513"/>
            <a:ext cx="541337"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30778" name="Line 99">
            <a:extLst>
              <a:ext uri="{FF2B5EF4-FFF2-40B4-BE49-F238E27FC236}">
                <a16:creationId xmlns="" xmlns:a16="http://schemas.microsoft.com/office/drawing/2014/main" id="{CA8AF6F5-00F9-4101-8D21-9CD078286BA8}"/>
              </a:ext>
            </a:extLst>
          </p:cNvPr>
          <p:cNvSpPr>
            <a:spLocks noChangeShapeType="1"/>
          </p:cNvSpPr>
          <p:nvPr/>
        </p:nvSpPr>
        <p:spPr bwMode="auto">
          <a:xfrm>
            <a:off x="7291388" y="4724400"/>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30779" name="Line 100">
            <a:extLst>
              <a:ext uri="{FF2B5EF4-FFF2-40B4-BE49-F238E27FC236}">
                <a16:creationId xmlns="" xmlns:a16="http://schemas.microsoft.com/office/drawing/2014/main" id="{932D0E4B-C2ED-45C7-B392-5407A802DD7B}"/>
              </a:ext>
            </a:extLst>
          </p:cNvPr>
          <p:cNvSpPr>
            <a:spLocks noChangeShapeType="1"/>
          </p:cNvSpPr>
          <p:nvPr/>
        </p:nvSpPr>
        <p:spPr bwMode="auto">
          <a:xfrm>
            <a:off x="7629525" y="4724400"/>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30780" name="Line 101">
            <a:extLst>
              <a:ext uri="{FF2B5EF4-FFF2-40B4-BE49-F238E27FC236}">
                <a16:creationId xmlns="" xmlns:a16="http://schemas.microsoft.com/office/drawing/2014/main" id="{11188E1B-1392-4444-BD73-13E6BD6D4180}"/>
              </a:ext>
            </a:extLst>
          </p:cNvPr>
          <p:cNvSpPr>
            <a:spLocks noChangeShapeType="1"/>
          </p:cNvSpPr>
          <p:nvPr/>
        </p:nvSpPr>
        <p:spPr bwMode="auto">
          <a:xfrm>
            <a:off x="7291388" y="4781550"/>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30781" name="Line 102">
            <a:extLst>
              <a:ext uri="{FF2B5EF4-FFF2-40B4-BE49-F238E27FC236}">
                <a16:creationId xmlns="" xmlns:a16="http://schemas.microsoft.com/office/drawing/2014/main" id="{79748189-7797-47AE-9FE2-2D046EFD0B2C}"/>
              </a:ext>
            </a:extLst>
          </p:cNvPr>
          <p:cNvSpPr>
            <a:spLocks noChangeShapeType="1"/>
          </p:cNvSpPr>
          <p:nvPr/>
        </p:nvSpPr>
        <p:spPr bwMode="auto">
          <a:xfrm>
            <a:off x="7291388" y="4840288"/>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30782" name="Line 103">
            <a:extLst>
              <a:ext uri="{FF2B5EF4-FFF2-40B4-BE49-F238E27FC236}">
                <a16:creationId xmlns="" xmlns:a16="http://schemas.microsoft.com/office/drawing/2014/main" id="{D09D1AD7-9A9B-437D-9D88-015B3028F681}"/>
              </a:ext>
            </a:extLst>
          </p:cNvPr>
          <p:cNvSpPr>
            <a:spLocks noChangeShapeType="1"/>
          </p:cNvSpPr>
          <p:nvPr/>
        </p:nvSpPr>
        <p:spPr bwMode="auto">
          <a:xfrm>
            <a:off x="7291388" y="4897438"/>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30783" name="Line 104">
            <a:extLst>
              <a:ext uri="{FF2B5EF4-FFF2-40B4-BE49-F238E27FC236}">
                <a16:creationId xmlns="" xmlns:a16="http://schemas.microsoft.com/office/drawing/2014/main" id="{B8EFACAC-63D6-4171-A070-BB3ADF5EDF6D}"/>
              </a:ext>
            </a:extLst>
          </p:cNvPr>
          <p:cNvSpPr>
            <a:spLocks noChangeShapeType="1"/>
          </p:cNvSpPr>
          <p:nvPr/>
        </p:nvSpPr>
        <p:spPr bwMode="auto">
          <a:xfrm>
            <a:off x="7291388" y="4954588"/>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30784" name="Line 105">
            <a:extLst>
              <a:ext uri="{FF2B5EF4-FFF2-40B4-BE49-F238E27FC236}">
                <a16:creationId xmlns="" xmlns:a16="http://schemas.microsoft.com/office/drawing/2014/main" id="{F2DBAF44-A732-40E0-9C55-5D6FC7786B76}"/>
              </a:ext>
            </a:extLst>
          </p:cNvPr>
          <p:cNvSpPr>
            <a:spLocks noChangeShapeType="1"/>
          </p:cNvSpPr>
          <p:nvPr/>
        </p:nvSpPr>
        <p:spPr bwMode="auto">
          <a:xfrm>
            <a:off x="7629525" y="4781550"/>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30785" name="Line 106">
            <a:extLst>
              <a:ext uri="{FF2B5EF4-FFF2-40B4-BE49-F238E27FC236}">
                <a16:creationId xmlns="" xmlns:a16="http://schemas.microsoft.com/office/drawing/2014/main" id="{5F71A45C-14F5-447A-84DD-2D5EE633203E}"/>
              </a:ext>
            </a:extLst>
          </p:cNvPr>
          <p:cNvSpPr>
            <a:spLocks noChangeShapeType="1"/>
          </p:cNvSpPr>
          <p:nvPr/>
        </p:nvSpPr>
        <p:spPr bwMode="auto">
          <a:xfrm>
            <a:off x="7629525" y="4840288"/>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30786" name="Line 107">
            <a:extLst>
              <a:ext uri="{FF2B5EF4-FFF2-40B4-BE49-F238E27FC236}">
                <a16:creationId xmlns="" xmlns:a16="http://schemas.microsoft.com/office/drawing/2014/main" id="{58CC0AA2-B8D3-4CC5-8022-46FE2C92FA35}"/>
              </a:ext>
            </a:extLst>
          </p:cNvPr>
          <p:cNvSpPr>
            <a:spLocks noChangeShapeType="1"/>
          </p:cNvSpPr>
          <p:nvPr/>
        </p:nvSpPr>
        <p:spPr bwMode="auto">
          <a:xfrm>
            <a:off x="7629525" y="4897438"/>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30787" name="Line 108">
            <a:extLst>
              <a:ext uri="{FF2B5EF4-FFF2-40B4-BE49-F238E27FC236}">
                <a16:creationId xmlns="" xmlns:a16="http://schemas.microsoft.com/office/drawing/2014/main" id="{6E45B9C7-59C5-4FB9-960C-2DB737441747}"/>
              </a:ext>
            </a:extLst>
          </p:cNvPr>
          <p:cNvSpPr>
            <a:spLocks noChangeShapeType="1"/>
          </p:cNvSpPr>
          <p:nvPr/>
        </p:nvSpPr>
        <p:spPr bwMode="auto">
          <a:xfrm>
            <a:off x="7629525" y="4954588"/>
            <a:ext cx="203200" cy="0"/>
          </a:xfrm>
          <a:prstGeom prst="line">
            <a:avLst/>
          </a:prstGeom>
          <a:noFill/>
          <a:ln w="19050">
            <a:solidFill>
              <a:schemeClr val="bg2"/>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30788" name="Line 109">
            <a:extLst>
              <a:ext uri="{FF2B5EF4-FFF2-40B4-BE49-F238E27FC236}">
                <a16:creationId xmlns="" xmlns:a16="http://schemas.microsoft.com/office/drawing/2014/main" id="{4C87FE0E-37B6-4AD3-8DE5-4B2E3A8B63F2}"/>
              </a:ext>
            </a:extLst>
          </p:cNvPr>
          <p:cNvSpPr>
            <a:spLocks noChangeShapeType="1"/>
          </p:cNvSpPr>
          <p:nvPr/>
        </p:nvSpPr>
        <p:spPr bwMode="auto">
          <a:xfrm flipV="1">
            <a:off x="4452938" y="2990850"/>
            <a:ext cx="473075" cy="288925"/>
          </a:xfrm>
          <a:prstGeom prst="line">
            <a:avLst/>
          </a:prstGeom>
          <a:noFill/>
          <a:ln w="9525">
            <a:solidFill>
              <a:schemeClr val="bg2"/>
            </a:solidFill>
            <a:round/>
            <a:headEnd type="triangle" w="med" len="me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30789" name="Line 110">
            <a:extLst>
              <a:ext uri="{FF2B5EF4-FFF2-40B4-BE49-F238E27FC236}">
                <a16:creationId xmlns="" xmlns:a16="http://schemas.microsoft.com/office/drawing/2014/main" id="{2799C3B9-BDD9-462C-8DBA-52F0709C45EF}"/>
              </a:ext>
            </a:extLst>
          </p:cNvPr>
          <p:cNvSpPr>
            <a:spLocks noChangeShapeType="1"/>
          </p:cNvSpPr>
          <p:nvPr/>
        </p:nvSpPr>
        <p:spPr bwMode="auto">
          <a:xfrm flipV="1">
            <a:off x="4724400" y="4435475"/>
            <a:ext cx="404813" cy="115888"/>
          </a:xfrm>
          <a:prstGeom prst="line">
            <a:avLst/>
          </a:prstGeom>
          <a:noFill/>
          <a:ln w="9525">
            <a:solidFill>
              <a:schemeClr val="bg2"/>
            </a:solidFill>
            <a:round/>
            <a:headEnd type="triangle" w="med" len="me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30790" name="AutoShape 111">
            <a:extLst>
              <a:ext uri="{FF2B5EF4-FFF2-40B4-BE49-F238E27FC236}">
                <a16:creationId xmlns="" xmlns:a16="http://schemas.microsoft.com/office/drawing/2014/main" id="{D9391BF2-E780-42EC-8F3B-3995239973EA}"/>
              </a:ext>
            </a:extLst>
          </p:cNvPr>
          <p:cNvSpPr>
            <a:spLocks noChangeArrowheads="1"/>
          </p:cNvSpPr>
          <p:nvPr/>
        </p:nvSpPr>
        <p:spPr bwMode="auto">
          <a:xfrm>
            <a:off x="6143625" y="2760663"/>
            <a:ext cx="674688" cy="461962"/>
          </a:xfrm>
          <a:prstGeom prst="rightArrow">
            <a:avLst>
              <a:gd name="adj1" fmla="val 50000"/>
              <a:gd name="adj2" fmla="val 55444"/>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i="1">
                <a:solidFill>
                  <a:srgbClr val="00001E"/>
                </a:solidFill>
                <a:latin typeface="Times New Roman" panose="02020603050405020304" pitchFamily="18" charset="0"/>
              </a:rPr>
              <a:t>serve</a:t>
            </a:r>
            <a:endParaRPr lang="en-US" altLang="en-US" sz="1200" b="1">
              <a:solidFill>
                <a:srgbClr val="00001E"/>
              </a:solidFill>
              <a:latin typeface="Times New Roman" panose="02020603050405020304" pitchFamily="18" charset="0"/>
            </a:endParaRPr>
          </a:p>
        </p:txBody>
      </p:sp>
      <p:sp>
        <p:nvSpPr>
          <p:cNvPr id="30791" name="AutoShape 112">
            <a:extLst>
              <a:ext uri="{FF2B5EF4-FFF2-40B4-BE49-F238E27FC236}">
                <a16:creationId xmlns="" xmlns:a16="http://schemas.microsoft.com/office/drawing/2014/main" id="{A7E81BFC-42CA-4021-8F12-9E49C8567C3B}"/>
              </a:ext>
            </a:extLst>
          </p:cNvPr>
          <p:cNvSpPr>
            <a:spLocks noChangeArrowheads="1"/>
          </p:cNvSpPr>
          <p:nvPr/>
        </p:nvSpPr>
        <p:spPr bwMode="auto">
          <a:xfrm>
            <a:off x="6143625" y="4203700"/>
            <a:ext cx="674688" cy="461963"/>
          </a:xfrm>
          <a:prstGeom prst="rightArrow">
            <a:avLst>
              <a:gd name="adj1" fmla="val 50000"/>
              <a:gd name="adj2" fmla="val 55444"/>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i="1">
                <a:solidFill>
                  <a:srgbClr val="00001E"/>
                </a:solidFill>
                <a:latin typeface="Times New Roman" panose="02020603050405020304" pitchFamily="18" charset="0"/>
              </a:rPr>
              <a:t>serve</a:t>
            </a:r>
            <a:endParaRPr lang="en-US" altLang="en-US" sz="1200" b="1">
              <a:solidFill>
                <a:srgbClr val="00001E"/>
              </a:solidFill>
              <a:latin typeface="Times New Roman" panose="02020603050405020304" pitchFamily="18" charset="0"/>
            </a:endParaRPr>
          </a:p>
        </p:txBody>
      </p:sp>
      <p:grpSp>
        <p:nvGrpSpPr>
          <p:cNvPr id="16" name="Group 113">
            <a:extLst>
              <a:ext uri="{FF2B5EF4-FFF2-40B4-BE49-F238E27FC236}">
                <a16:creationId xmlns="" xmlns:a16="http://schemas.microsoft.com/office/drawing/2014/main" id="{DC1669CE-46F6-42DE-88CA-1A7E0AC8876A}"/>
              </a:ext>
            </a:extLst>
          </p:cNvPr>
          <p:cNvGrpSpPr>
            <a:grpSpLocks/>
          </p:cNvGrpSpPr>
          <p:nvPr/>
        </p:nvGrpSpPr>
        <p:grpSpPr bwMode="auto">
          <a:xfrm>
            <a:off x="1905000" y="4684713"/>
            <a:ext cx="533400" cy="344487"/>
            <a:chOff x="4467" y="3038"/>
            <a:chExt cx="379" cy="382"/>
          </a:xfrm>
        </p:grpSpPr>
        <p:sp>
          <p:nvSpPr>
            <p:cNvPr id="30795" name="Rectangle 114">
              <a:extLst>
                <a:ext uri="{FF2B5EF4-FFF2-40B4-BE49-F238E27FC236}">
                  <a16:creationId xmlns="" xmlns:a16="http://schemas.microsoft.com/office/drawing/2014/main" id="{91CBA0C6-CFFC-4AE2-852E-00BB1454E4FB}"/>
                </a:ext>
              </a:extLst>
            </p:cNvPr>
            <p:cNvSpPr>
              <a:spLocks noChangeArrowheads="1"/>
            </p:cNvSpPr>
            <p:nvPr/>
          </p:nvSpPr>
          <p:spPr bwMode="auto">
            <a:xfrm>
              <a:off x="4467" y="3094"/>
              <a:ext cx="376" cy="274"/>
            </a:xfrm>
            <a:prstGeom prst="rect">
              <a:avLst/>
            </a:prstGeom>
            <a:solidFill>
              <a:srgbClr val="339966"/>
            </a:solidFill>
            <a:ln w="9525">
              <a:solidFill>
                <a:srgbClr val="339966"/>
              </a:solidFill>
              <a:miter lim="800000"/>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17" name="Group 115">
              <a:extLst>
                <a:ext uri="{FF2B5EF4-FFF2-40B4-BE49-F238E27FC236}">
                  <a16:creationId xmlns="" xmlns:a16="http://schemas.microsoft.com/office/drawing/2014/main" id="{52D5FA57-FAAC-424A-B7D1-E275DDC3CA70}"/>
                </a:ext>
              </a:extLst>
            </p:cNvPr>
            <p:cNvGrpSpPr>
              <a:grpSpLocks/>
            </p:cNvGrpSpPr>
            <p:nvPr/>
          </p:nvGrpSpPr>
          <p:grpSpPr bwMode="auto">
            <a:xfrm>
              <a:off x="4468" y="3038"/>
              <a:ext cx="378" cy="382"/>
              <a:chOff x="4468" y="3038"/>
              <a:chExt cx="378" cy="382"/>
            </a:xfrm>
          </p:grpSpPr>
          <p:sp>
            <p:nvSpPr>
              <p:cNvPr id="30797" name="Line 116">
                <a:extLst>
                  <a:ext uri="{FF2B5EF4-FFF2-40B4-BE49-F238E27FC236}">
                    <a16:creationId xmlns="" xmlns:a16="http://schemas.microsoft.com/office/drawing/2014/main" id="{B23467A8-724E-473E-8591-31784FD21F87}"/>
                  </a:ext>
                </a:extLst>
              </p:cNvPr>
              <p:cNvSpPr>
                <a:spLocks noChangeShapeType="1"/>
              </p:cNvSpPr>
              <p:nvPr/>
            </p:nvSpPr>
            <p:spPr bwMode="auto">
              <a:xfrm>
                <a:off x="4468" y="3087"/>
                <a:ext cx="0" cy="292"/>
              </a:xfrm>
              <a:prstGeom prst="line">
                <a:avLst/>
              </a:prstGeom>
              <a:noFill/>
              <a:ln w="9525">
                <a:solidFill>
                  <a:srgbClr val="339966"/>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30798" name="Line 117">
                <a:extLst>
                  <a:ext uri="{FF2B5EF4-FFF2-40B4-BE49-F238E27FC236}">
                    <a16:creationId xmlns="" xmlns:a16="http://schemas.microsoft.com/office/drawing/2014/main" id="{6D8E4D9E-36A3-4CFF-AC12-2516A1A4E383}"/>
                  </a:ext>
                </a:extLst>
              </p:cNvPr>
              <p:cNvSpPr>
                <a:spLocks noChangeShapeType="1"/>
              </p:cNvSpPr>
              <p:nvPr/>
            </p:nvSpPr>
            <p:spPr bwMode="auto">
              <a:xfrm>
                <a:off x="4846" y="3089"/>
                <a:ext cx="0" cy="292"/>
              </a:xfrm>
              <a:prstGeom prst="line">
                <a:avLst/>
              </a:prstGeom>
              <a:noFill/>
              <a:ln w="9525">
                <a:solidFill>
                  <a:srgbClr val="339966"/>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30799" name="Oval 118">
                <a:extLst>
                  <a:ext uri="{FF2B5EF4-FFF2-40B4-BE49-F238E27FC236}">
                    <a16:creationId xmlns="" xmlns:a16="http://schemas.microsoft.com/office/drawing/2014/main" id="{EE6A2607-F8EA-4702-BFC7-7E9BB2FF8DF7}"/>
                  </a:ext>
                </a:extLst>
              </p:cNvPr>
              <p:cNvSpPr>
                <a:spLocks noChangeArrowheads="1"/>
              </p:cNvSpPr>
              <p:nvPr/>
            </p:nvSpPr>
            <p:spPr bwMode="auto">
              <a:xfrm>
                <a:off x="4469" y="3038"/>
                <a:ext cx="376" cy="90"/>
              </a:xfrm>
              <a:prstGeom prst="ellipse">
                <a:avLst/>
              </a:prstGeom>
              <a:gradFill rotWithShape="0">
                <a:gsLst>
                  <a:gs pos="0">
                    <a:srgbClr val="7C7C7C"/>
                  </a:gs>
                  <a:gs pos="50000">
                    <a:srgbClr val="DDDDDD"/>
                  </a:gs>
                  <a:gs pos="100000">
                    <a:srgbClr val="7C7C7C"/>
                  </a:gs>
                </a:gsLst>
                <a:lin ang="0" scaled="1"/>
              </a:gradFill>
              <a:ln w="9525">
                <a:solidFill>
                  <a:srgbClr val="339966"/>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0800" name="Oval 119">
                <a:extLst>
                  <a:ext uri="{FF2B5EF4-FFF2-40B4-BE49-F238E27FC236}">
                    <a16:creationId xmlns="" xmlns:a16="http://schemas.microsoft.com/office/drawing/2014/main" id="{A8201042-82C5-419F-B92F-A5F5B6200963}"/>
                  </a:ext>
                </a:extLst>
              </p:cNvPr>
              <p:cNvSpPr>
                <a:spLocks noChangeArrowheads="1"/>
              </p:cNvSpPr>
              <p:nvPr/>
            </p:nvSpPr>
            <p:spPr bwMode="auto">
              <a:xfrm>
                <a:off x="4469" y="3331"/>
                <a:ext cx="376" cy="89"/>
              </a:xfrm>
              <a:prstGeom prst="ellipse">
                <a:avLst/>
              </a:prstGeom>
              <a:solidFill>
                <a:srgbClr val="99CC00"/>
              </a:solidFill>
              <a:ln w="9525">
                <a:solidFill>
                  <a:srgbClr val="339966"/>
                </a:solidFill>
                <a:round/>
                <a:headEnd/>
                <a:tailEnd/>
              </a:ln>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grpSp>
      <p:sp>
        <p:nvSpPr>
          <p:cNvPr id="30793" name="Text Box 120">
            <a:extLst>
              <a:ext uri="{FF2B5EF4-FFF2-40B4-BE49-F238E27FC236}">
                <a16:creationId xmlns="" xmlns:a16="http://schemas.microsoft.com/office/drawing/2014/main" id="{731C5726-0959-466C-8B6F-9DF23A1DD577}"/>
              </a:ext>
            </a:extLst>
          </p:cNvPr>
          <p:cNvSpPr txBox="1">
            <a:spLocks noChangeArrowheads="1"/>
          </p:cNvSpPr>
          <p:nvPr/>
        </p:nvSpPr>
        <p:spPr bwMode="auto">
          <a:xfrm>
            <a:off x="1681163" y="5038725"/>
            <a:ext cx="1001712" cy="274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b="1">
                <a:solidFill>
                  <a:srgbClr val="00001E"/>
                </a:solidFill>
                <a:latin typeface="Times New Roman" panose="02020603050405020304" pitchFamily="18" charset="0"/>
              </a:rPr>
              <a:t>Staging area</a:t>
            </a:r>
          </a:p>
        </p:txBody>
      </p:sp>
      <p:sp>
        <p:nvSpPr>
          <p:cNvPr id="30794" name="AutoShape 121">
            <a:extLst>
              <a:ext uri="{FF2B5EF4-FFF2-40B4-BE49-F238E27FC236}">
                <a16:creationId xmlns="" xmlns:a16="http://schemas.microsoft.com/office/drawing/2014/main" id="{A160441A-3306-479F-A1ED-56DF6186D123}"/>
              </a:ext>
            </a:extLst>
          </p:cNvPr>
          <p:cNvSpPr>
            <a:spLocks noChangeArrowheads="1"/>
          </p:cNvSpPr>
          <p:nvPr/>
        </p:nvSpPr>
        <p:spPr bwMode="auto">
          <a:xfrm>
            <a:off x="2070100" y="4152900"/>
            <a:ext cx="182563" cy="457200"/>
          </a:xfrm>
          <a:prstGeom prst="downArrow">
            <a:avLst>
              <a:gd name="adj1" fmla="val 50000"/>
              <a:gd name="adj2" fmla="val 62609"/>
            </a:avLst>
          </a:prstGeom>
          <a:noFill/>
          <a:ln w="9525">
            <a:solidFill>
              <a:schemeClr val="bg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5">
            <a:extLst>
              <a:ext uri="{FF2B5EF4-FFF2-40B4-BE49-F238E27FC236}">
                <a16:creationId xmlns="" xmlns:a16="http://schemas.microsoft.com/office/drawing/2014/main" id="{CCA672DB-FAF6-472F-805E-9BA6AA36F7CE}"/>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C1D9212B-9E96-4467-AF60-D4C0AEA5F8E9}" type="slidenum">
              <a:rPr lang="sv-SE" altLang="en-US">
                <a:latin typeface="Garamond" panose="02020404030301010803" pitchFamily="18" charset="0"/>
              </a:rPr>
              <a:pPr eaLnBrk="1" hangingPunct="1"/>
              <a:t>29</a:t>
            </a:fld>
            <a:endParaRPr lang="sv-SE" altLang="en-US">
              <a:latin typeface="Garamond" panose="02020404030301010803" pitchFamily="18" charset="0"/>
            </a:endParaRPr>
          </a:p>
        </p:txBody>
      </p:sp>
      <p:sp>
        <p:nvSpPr>
          <p:cNvPr id="31747" name="Rectangle 2">
            <a:extLst>
              <a:ext uri="{FF2B5EF4-FFF2-40B4-BE49-F238E27FC236}">
                <a16:creationId xmlns="" xmlns:a16="http://schemas.microsoft.com/office/drawing/2014/main" id="{F3DF46D5-3FA7-4B26-AB64-F8E1F6FD6DAF}"/>
              </a:ext>
            </a:extLst>
          </p:cNvPr>
          <p:cNvSpPr>
            <a:spLocks noGrp="1" noChangeArrowheads="1"/>
          </p:cNvSpPr>
          <p:nvPr>
            <p:ph type="title"/>
          </p:nvPr>
        </p:nvSpPr>
        <p:spPr>
          <a:xfrm>
            <a:off x="685800" y="304800"/>
            <a:ext cx="7772400" cy="1143000"/>
          </a:xfrm>
        </p:spPr>
        <p:txBody>
          <a:bodyPr/>
          <a:lstStyle/>
          <a:p>
            <a:pPr eaLnBrk="1" hangingPunct="1"/>
            <a:r>
              <a:rPr lang="en-US" altLang="en-US" sz="3400">
                <a:ea typeface="ＭＳ Ｐゴシック" panose="020B0600070205080204" pitchFamily="34" charset="-128"/>
              </a:rPr>
              <a:t>4. Information Delivery Component</a:t>
            </a:r>
          </a:p>
        </p:txBody>
      </p:sp>
      <p:sp>
        <p:nvSpPr>
          <p:cNvPr id="31748" name="Content Placeholder 1">
            <a:extLst>
              <a:ext uri="{FF2B5EF4-FFF2-40B4-BE49-F238E27FC236}">
                <a16:creationId xmlns="" xmlns:a16="http://schemas.microsoft.com/office/drawing/2014/main" id="{BECB84C5-33E4-41F7-B587-1E304FD834DD}"/>
              </a:ext>
            </a:extLst>
          </p:cNvPr>
          <p:cNvSpPr>
            <a:spLocks noGrp="1"/>
          </p:cNvSpPr>
          <p:nvPr>
            <p:ph idx="1"/>
          </p:nvPr>
        </p:nvSpPr>
        <p:spPr>
          <a:xfrm>
            <a:off x="457200" y="879475"/>
            <a:ext cx="8229600" cy="4530725"/>
          </a:xfrm>
        </p:spPr>
        <p:txBody>
          <a:bodyPr/>
          <a:lstStyle/>
          <a:p>
            <a:r>
              <a:rPr lang="en-US" altLang="en-US" sz="2600">
                <a:ea typeface="ＭＳ Ｐゴシック" panose="020B0600070205080204" pitchFamily="34" charset="-128"/>
              </a:rPr>
              <a:t>Depending on the type of users, different methods and means of information delivery are used are used.</a:t>
            </a:r>
          </a:p>
        </p:txBody>
      </p:sp>
      <p:pic>
        <p:nvPicPr>
          <p:cNvPr id="31749" name="Picture 5">
            <a:extLst>
              <a:ext uri="{FF2B5EF4-FFF2-40B4-BE49-F238E27FC236}">
                <a16:creationId xmlns="" xmlns:a16="http://schemas.microsoft.com/office/drawing/2014/main" id="{81ED11FB-016B-42CA-86EE-F8161B378D75}"/>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l="12000" t="37187" r="29713" b="21046"/>
          <a:stretch>
            <a:fillRect/>
          </a:stretch>
        </p:blipFill>
        <p:spPr bwMode="auto">
          <a:xfrm>
            <a:off x="990600" y="2133600"/>
            <a:ext cx="7239000" cy="38909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 xmlns:a16="http://schemas.microsoft.com/office/drawing/2014/main" id="{DDEEBFE8-B336-4AB2-A36E-7E03D7F037C9}"/>
              </a:ext>
            </a:extLst>
          </p:cNvPr>
          <p:cNvSpPr>
            <a:spLocks noGrp="1"/>
          </p:cNvSpPr>
          <p:nvPr>
            <p:ph type="title"/>
          </p:nvPr>
        </p:nvSpPr>
        <p:spPr/>
        <p:txBody>
          <a:bodyPr/>
          <a:lstStyle/>
          <a:p>
            <a:r>
              <a:rPr lang="en-US" altLang="en-US">
                <a:ea typeface="ＭＳ Ｐゴシック" panose="020B0600070205080204" pitchFamily="34" charset="-128"/>
              </a:rPr>
              <a:t>Meta-data component</a:t>
            </a:r>
          </a:p>
        </p:txBody>
      </p:sp>
      <p:sp>
        <p:nvSpPr>
          <p:cNvPr id="32771" name="Content Placeholder 2">
            <a:extLst>
              <a:ext uri="{FF2B5EF4-FFF2-40B4-BE49-F238E27FC236}">
                <a16:creationId xmlns="" xmlns:a16="http://schemas.microsoft.com/office/drawing/2014/main" id="{DE214DE3-D91B-4B34-B587-D5E2C577EFD4}"/>
              </a:ext>
            </a:extLst>
          </p:cNvPr>
          <p:cNvSpPr>
            <a:spLocks noGrp="1"/>
          </p:cNvSpPr>
          <p:nvPr>
            <p:ph idx="1"/>
          </p:nvPr>
        </p:nvSpPr>
        <p:spPr>
          <a:xfrm>
            <a:off x="457200" y="1066800"/>
            <a:ext cx="8229600" cy="4530725"/>
          </a:xfrm>
        </p:spPr>
        <p:txBody>
          <a:bodyPr/>
          <a:lstStyle/>
          <a:p>
            <a:r>
              <a:rPr lang="en-US" altLang="en-US" sz="2600">
                <a:ea typeface="ＭＳ Ｐゴシック" panose="020B0600070205080204" pitchFamily="34" charset="-128"/>
              </a:rPr>
              <a:t>It is kind of information about the data in the data warehouse</a:t>
            </a:r>
          </a:p>
          <a:p>
            <a:r>
              <a:rPr lang="en-US" altLang="en-US" sz="2600">
                <a:ea typeface="ＭＳ Ｐゴシック" panose="020B0600070205080204" pitchFamily="34" charset="-128"/>
              </a:rPr>
              <a:t>Three kinds of meta-data</a:t>
            </a:r>
          </a:p>
          <a:p>
            <a:pPr lvl="1" eaLnBrk="1" hangingPunct="1">
              <a:lnSpc>
                <a:spcPct val="80000"/>
              </a:lnSpc>
            </a:pPr>
            <a:r>
              <a:rPr lang="en-US" altLang="en-US" sz="2200">
                <a:ea typeface="ＭＳ Ｐゴシック" panose="020B0600070205080204" pitchFamily="34" charset="-128"/>
              </a:rPr>
              <a:t>Operational: Contains information about the mappings between source systems and data warehouse, e.g., field length, data types</a:t>
            </a:r>
          </a:p>
          <a:p>
            <a:pPr lvl="1" eaLnBrk="1" hangingPunct="1">
              <a:lnSpc>
                <a:spcPct val="80000"/>
              </a:lnSpc>
            </a:pPr>
            <a:endParaRPr lang="en-US" altLang="en-US" sz="2200">
              <a:ea typeface="ＭＳ Ｐゴシック" panose="020B0600070205080204" pitchFamily="34" charset="-128"/>
            </a:endParaRPr>
          </a:p>
          <a:p>
            <a:pPr lvl="1" eaLnBrk="1" hangingPunct="1">
              <a:lnSpc>
                <a:spcPct val="80000"/>
              </a:lnSpc>
            </a:pPr>
            <a:r>
              <a:rPr lang="en-US" altLang="en-US" sz="2200">
                <a:ea typeface="ＭＳ Ｐゴシック" panose="020B0600070205080204" pitchFamily="34" charset="-128"/>
              </a:rPr>
              <a:t>Extraction and Transformation meta-data: For example, extraction frequencies, and extraction methods, and data transformations</a:t>
            </a:r>
          </a:p>
          <a:p>
            <a:pPr lvl="1" eaLnBrk="1" hangingPunct="1">
              <a:lnSpc>
                <a:spcPct val="80000"/>
              </a:lnSpc>
            </a:pPr>
            <a:endParaRPr lang="en-US" altLang="en-US" sz="2200">
              <a:ea typeface="ＭＳ Ｐゴシック" panose="020B0600070205080204" pitchFamily="34" charset="-128"/>
            </a:endParaRPr>
          </a:p>
          <a:p>
            <a:pPr lvl="1" eaLnBrk="1" hangingPunct="1">
              <a:lnSpc>
                <a:spcPct val="80000"/>
              </a:lnSpc>
            </a:pPr>
            <a:r>
              <a:rPr lang="en-US" altLang="en-US" sz="2200">
                <a:ea typeface="ＭＳ Ｐゴシック" panose="020B0600070205080204" pitchFamily="34" charset="-128"/>
              </a:rPr>
              <a:t>End User meta-data: Support users to navigate information using their own terminologies </a:t>
            </a:r>
          </a:p>
        </p:txBody>
      </p:sp>
      <p:sp>
        <p:nvSpPr>
          <p:cNvPr id="32772" name="Slide Number Placeholder 3">
            <a:extLst>
              <a:ext uri="{FF2B5EF4-FFF2-40B4-BE49-F238E27FC236}">
                <a16:creationId xmlns="" xmlns:a16="http://schemas.microsoft.com/office/drawing/2014/main" id="{2F061D46-445A-41E3-B3F8-84D63B132406}"/>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54B5F274-2055-4D25-AFFA-8AF935E29A59}" type="slidenum">
              <a:rPr lang="sv-SE" altLang="en-US">
                <a:latin typeface="Garamond" panose="02020404030301010803" pitchFamily="18" charset="0"/>
              </a:rPr>
              <a:pPr eaLnBrk="1" hangingPunct="1"/>
              <a:t>30</a:t>
            </a:fld>
            <a:endParaRPr lang="sv-SE" altLang="en-US">
              <a:latin typeface="Garamond" panose="02020404030301010803"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 xmlns:a16="http://schemas.microsoft.com/office/drawing/2014/main" id="{8A818976-5180-4275-A11A-FCD5565D6C8A}"/>
              </a:ext>
            </a:extLst>
          </p:cNvPr>
          <p:cNvSpPr>
            <a:spLocks noGrp="1"/>
          </p:cNvSpPr>
          <p:nvPr>
            <p:ph type="title"/>
          </p:nvPr>
        </p:nvSpPr>
        <p:spPr/>
        <p:txBody>
          <a:bodyPr/>
          <a:lstStyle/>
          <a:p>
            <a:r>
              <a:rPr lang="en-US" altLang="en-US">
                <a:ea typeface="ＭＳ Ｐゴシック" panose="020B0600070205080204" pitchFamily="34" charset="-128"/>
              </a:rPr>
              <a:t>Management and Control Component</a:t>
            </a:r>
          </a:p>
        </p:txBody>
      </p:sp>
      <p:sp>
        <p:nvSpPr>
          <p:cNvPr id="33795" name="Content Placeholder 2">
            <a:extLst>
              <a:ext uri="{FF2B5EF4-FFF2-40B4-BE49-F238E27FC236}">
                <a16:creationId xmlns="" xmlns:a16="http://schemas.microsoft.com/office/drawing/2014/main" id="{F553D775-1EDE-4ABC-BCE1-9E64B597D217}"/>
              </a:ext>
            </a:extLst>
          </p:cNvPr>
          <p:cNvSpPr>
            <a:spLocks noGrp="1"/>
          </p:cNvSpPr>
          <p:nvPr>
            <p:ph idx="1"/>
          </p:nvPr>
        </p:nvSpPr>
        <p:spPr>
          <a:xfrm>
            <a:off x="457200" y="990600"/>
            <a:ext cx="8229600" cy="4530725"/>
          </a:xfrm>
        </p:spPr>
        <p:txBody>
          <a:bodyPr/>
          <a:lstStyle/>
          <a:p>
            <a:r>
              <a:rPr lang="en-US" altLang="en-US" sz="2600">
                <a:ea typeface="ＭＳ Ｐゴシック" panose="020B0600070205080204" pitchFamily="34" charset="-128"/>
              </a:rPr>
              <a:t>It is concerned to coordinate all activities and components involved in data warehouse environment. Usually part of data warehouse DBMS.</a:t>
            </a:r>
          </a:p>
          <a:p>
            <a:endParaRPr lang="en-US" altLang="en-US" sz="2600">
              <a:ea typeface="ＭＳ Ｐゴシック" panose="020B0600070205080204" pitchFamily="34" charset="-128"/>
            </a:endParaRPr>
          </a:p>
        </p:txBody>
      </p:sp>
      <p:sp>
        <p:nvSpPr>
          <p:cNvPr id="33796" name="Slide Number Placeholder 3">
            <a:extLst>
              <a:ext uri="{FF2B5EF4-FFF2-40B4-BE49-F238E27FC236}">
                <a16:creationId xmlns="" xmlns:a16="http://schemas.microsoft.com/office/drawing/2014/main" id="{DC44BD14-4020-4B45-B089-A11BD365A895}"/>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24B0F3AB-7E4B-4982-87BA-73F286A390CC}" type="slidenum">
              <a:rPr lang="sv-SE" altLang="en-US">
                <a:latin typeface="Garamond" panose="02020404030301010803" pitchFamily="18" charset="0"/>
              </a:rPr>
              <a:pPr eaLnBrk="1" hangingPunct="1"/>
              <a:t>31</a:t>
            </a:fld>
            <a:endParaRPr lang="sv-SE" altLang="en-US">
              <a:latin typeface="Garamond" panose="02020404030301010803" pitchFamily="18" charset="0"/>
            </a:endParaRPr>
          </a:p>
        </p:txBody>
      </p:sp>
      <p:pic>
        <p:nvPicPr>
          <p:cNvPr id="33797" name="Picture 2">
            <a:extLst>
              <a:ext uri="{FF2B5EF4-FFF2-40B4-BE49-F238E27FC236}">
                <a16:creationId xmlns="" xmlns:a16="http://schemas.microsoft.com/office/drawing/2014/main" id="{23858ACB-4887-4D07-94A6-79BC288CB6AB}"/>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l="14999" t="21809" r="29285" b="24477"/>
          <a:stretch>
            <a:fillRect/>
          </a:stretch>
        </p:blipFill>
        <p:spPr bwMode="auto">
          <a:xfrm>
            <a:off x="1600200" y="2297113"/>
            <a:ext cx="6096000" cy="44084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 xmlns:a16="http://schemas.microsoft.com/office/drawing/2014/main" id="{72A953C1-3DBF-4C93-8FF8-B4D8E2B21B3A}"/>
              </a:ext>
            </a:extLst>
          </p:cNvPr>
          <p:cNvSpPr>
            <a:spLocks noGrp="1"/>
          </p:cNvSpPr>
          <p:nvPr>
            <p:ph type="title"/>
          </p:nvPr>
        </p:nvSpPr>
        <p:spPr/>
        <p:txBody>
          <a:bodyPr/>
          <a:lstStyle/>
          <a:p>
            <a:r>
              <a:rPr lang="en-US" altLang="en-US">
                <a:ea typeface="ＭＳ Ｐゴシック" panose="020B0600070205080204" pitchFamily="34" charset="-128"/>
              </a:rPr>
              <a:t>Difference between Data Warehouse and Data Marts</a:t>
            </a:r>
          </a:p>
        </p:txBody>
      </p:sp>
      <p:sp>
        <p:nvSpPr>
          <p:cNvPr id="34819" name="Content Placeholder 2">
            <a:extLst>
              <a:ext uri="{FF2B5EF4-FFF2-40B4-BE49-F238E27FC236}">
                <a16:creationId xmlns="" xmlns:a16="http://schemas.microsoft.com/office/drawing/2014/main" id="{14777619-F1F5-4784-9045-9B28938A1DDC}"/>
              </a:ext>
            </a:extLst>
          </p:cNvPr>
          <p:cNvSpPr>
            <a:spLocks noGrp="1"/>
          </p:cNvSpPr>
          <p:nvPr>
            <p:ph idx="1"/>
          </p:nvPr>
        </p:nvSpPr>
        <p:spPr/>
        <p:txBody>
          <a:bodyPr/>
          <a:lstStyle/>
          <a:p>
            <a:r>
              <a:rPr lang="en-US" altLang="en-US" sz="2600">
                <a:ea typeface="ＭＳ Ｐゴシック" panose="020B0600070205080204" pitchFamily="34" charset="-128"/>
              </a:rPr>
              <a:t>Sometimes called synonymously, however, strictly speaking there is a difference between them on the basis of their scale</a:t>
            </a:r>
          </a:p>
          <a:p>
            <a:r>
              <a:rPr lang="en-US" altLang="en-US" sz="2600">
                <a:ea typeface="ＭＳ Ｐゴシック" panose="020B0600070205080204" pitchFamily="34" charset="-128"/>
              </a:rPr>
              <a:t>Data warehouse is enterprise wide.</a:t>
            </a:r>
          </a:p>
          <a:p>
            <a:r>
              <a:rPr lang="en-US" altLang="en-US" sz="2600">
                <a:ea typeface="ＭＳ Ｐゴシック" panose="020B0600070205080204" pitchFamily="34" charset="-128"/>
              </a:rPr>
              <a:t>Data marts are local or at departmental level or targeted for particular group of users.</a:t>
            </a:r>
          </a:p>
          <a:p>
            <a:r>
              <a:rPr lang="en-US" altLang="en-US" sz="2600">
                <a:ea typeface="ＭＳ Ｐゴシック" panose="020B0600070205080204" pitchFamily="34" charset="-128"/>
              </a:rPr>
              <a:t>The main topic of discussion is whether to make data warehouse (top-down approach) first or data marts (bottom-up approach). Both approaches have their advantages and disadvantages.</a:t>
            </a:r>
          </a:p>
          <a:p>
            <a:endParaRPr lang="en-US" altLang="en-US">
              <a:ea typeface="ＭＳ Ｐゴシック" panose="020B0600070205080204" pitchFamily="34" charset="-128"/>
            </a:endParaRPr>
          </a:p>
        </p:txBody>
      </p:sp>
      <p:sp>
        <p:nvSpPr>
          <p:cNvPr id="34820" name="Slide Number Placeholder 3">
            <a:extLst>
              <a:ext uri="{FF2B5EF4-FFF2-40B4-BE49-F238E27FC236}">
                <a16:creationId xmlns="" xmlns:a16="http://schemas.microsoft.com/office/drawing/2014/main" id="{542CA70E-2DC1-4585-AE7B-1FDB676C7E08}"/>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47107DEA-5148-4644-A6B2-7A1B51570572}" type="slidenum">
              <a:rPr lang="sv-SE" altLang="en-US">
                <a:latin typeface="Garamond" panose="02020404030301010803" pitchFamily="18" charset="0"/>
              </a:rPr>
              <a:pPr eaLnBrk="1" hangingPunct="1"/>
              <a:t>32</a:t>
            </a:fld>
            <a:endParaRPr lang="sv-SE" altLang="en-US">
              <a:latin typeface="Garamond" panose="02020404030301010803"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 xmlns:a16="http://schemas.microsoft.com/office/drawing/2014/main" id="{397650D9-5C48-42A8-AD60-E595504C0823}"/>
              </a:ext>
            </a:extLst>
          </p:cNvPr>
          <p:cNvSpPr>
            <a:spLocks noGrp="1"/>
          </p:cNvSpPr>
          <p:nvPr>
            <p:ph type="title"/>
          </p:nvPr>
        </p:nvSpPr>
        <p:spPr/>
        <p:txBody>
          <a:bodyPr/>
          <a:lstStyle/>
          <a:p>
            <a:r>
              <a:rPr lang="en-US" altLang="en-US">
                <a:ea typeface="ＭＳ Ｐゴシック" panose="020B0600070205080204" pitchFamily="34" charset="-128"/>
              </a:rPr>
              <a:t>Top-down approach</a:t>
            </a:r>
          </a:p>
        </p:txBody>
      </p:sp>
      <p:sp>
        <p:nvSpPr>
          <p:cNvPr id="35843" name="Content Placeholder 2">
            <a:extLst>
              <a:ext uri="{FF2B5EF4-FFF2-40B4-BE49-F238E27FC236}">
                <a16:creationId xmlns="" xmlns:a16="http://schemas.microsoft.com/office/drawing/2014/main" id="{28AAF8A2-A132-444E-BD5B-6F11B32FAC35}"/>
              </a:ext>
            </a:extLst>
          </p:cNvPr>
          <p:cNvSpPr>
            <a:spLocks noGrp="1"/>
          </p:cNvSpPr>
          <p:nvPr>
            <p:ph idx="1"/>
          </p:nvPr>
        </p:nvSpPr>
        <p:spPr/>
        <p:txBody>
          <a:bodyPr/>
          <a:lstStyle/>
          <a:p>
            <a:r>
              <a:rPr lang="en-US" altLang="en-US">
                <a:ea typeface="ＭＳ Ｐゴシック" panose="020B0600070205080204" pitchFamily="34" charset="-128"/>
              </a:rPr>
              <a:t>Advantages:</a:t>
            </a:r>
          </a:p>
          <a:p>
            <a:pPr lvl="1" eaLnBrk="1" hangingPunct="1"/>
            <a:r>
              <a:rPr lang="en-US" altLang="en-US">
                <a:ea typeface="ＭＳ Ｐゴシック" panose="020B0600070205080204" pitchFamily="34" charset="-128"/>
              </a:rPr>
              <a:t>Single enterprise wide integrated data</a:t>
            </a:r>
          </a:p>
          <a:p>
            <a:r>
              <a:rPr lang="en-US" altLang="en-US">
                <a:ea typeface="ＭＳ Ｐゴシック" panose="020B0600070205080204" pitchFamily="34" charset="-128"/>
              </a:rPr>
              <a:t>Disadvantages: </a:t>
            </a:r>
          </a:p>
          <a:p>
            <a:pPr lvl="1" eaLnBrk="1" hangingPunct="1"/>
            <a:r>
              <a:rPr lang="en-US" altLang="en-US">
                <a:ea typeface="ＭＳ Ｐゴシック" panose="020B0600070205080204" pitchFamily="34" charset="-128"/>
              </a:rPr>
              <a:t>Takes too longer to build</a:t>
            </a:r>
          </a:p>
          <a:p>
            <a:pPr lvl="1" eaLnBrk="1" hangingPunct="1"/>
            <a:r>
              <a:rPr lang="en-US" altLang="en-US">
                <a:ea typeface="ＭＳ Ｐゴシック" panose="020B0600070205080204" pitchFamily="34" charset="-128"/>
              </a:rPr>
              <a:t>High chances of failure</a:t>
            </a:r>
          </a:p>
          <a:p>
            <a:pPr lvl="1" eaLnBrk="1" hangingPunct="1"/>
            <a:r>
              <a:rPr lang="en-US" altLang="en-US">
                <a:ea typeface="ＭＳ Ｐゴシック" panose="020B0600070205080204" pitchFamily="34" charset="-128"/>
              </a:rPr>
              <a:t>Requires experienced professionals</a:t>
            </a:r>
          </a:p>
          <a:p>
            <a:pPr lvl="1" eaLnBrk="1" hangingPunct="1"/>
            <a:r>
              <a:rPr lang="en-US" altLang="en-US">
                <a:ea typeface="ＭＳ Ｐゴシック" panose="020B0600070205080204" pitchFamily="34" charset="-128"/>
              </a:rPr>
              <a:t>Senior management is not likely to see the results immediately</a:t>
            </a:r>
          </a:p>
        </p:txBody>
      </p:sp>
      <p:sp>
        <p:nvSpPr>
          <p:cNvPr id="35844" name="Slide Number Placeholder 3">
            <a:extLst>
              <a:ext uri="{FF2B5EF4-FFF2-40B4-BE49-F238E27FC236}">
                <a16:creationId xmlns="" xmlns:a16="http://schemas.microsoft.com/office/drawing/2014/main" id="{7217E5FB-554C-45BB-AE1F-8A384EE3324D}"/>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8F1A0B6E-DD07-4D07-87EB-04304D161AC7}" type="slidenum">
              <a:rPr lang="sv-SE" altLang="en-US">
                <a:latin typeface="Garamond" panose="02020404030301010803" pitchFamily="18" charset="0"/>
              </a:rPr>
              <a:pPr eaLnBrk="1" hangingPunct="1"/>
              <a:t>33</a:t>
            </a:fld>
            <a:endParaRPr lang="sv-SE" altLang="en-US">
              <a:latin typeface="Garamond" panose="02020404030301010803"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 xmlns:a16="http://schemas.microsoft.com/office/drawing/2014/main" id="{0115ABC0-0765-4C0C-AF95-D0FB1CC3C107}"/>
              </a:ext>
            </a:extLst>
          </p:cNvPr>
          <p:cNvSpPr>
            <a:spLocks noGrp="1"/>
          </p:cNvSpPr>
          <p:nvPr>
            <p:ph type="title"/>
          </p:nvPr>
        </p:nvSpPr>
        <p:spPr/>
        <p:txBody>
          <a:bodyPr/>
          <a:lstStyle/>
          <a:p>
            <a:r>
              <a:rPr lang="en-US" altLang="en-US">
                <a:ea typeface="ＭＳ Ｐゴシック" panose="020B0600070205080204" pitchFamily="34" charset="-128"/>
              </a:rPr>
              <a:t>Bottom-up approach</a:t>
            </a:r>
          </a:p>
        </p:txBody>
      </p:sp>
      <p:sp>
        <p:nvSpPr>
          <p:cNvPr id="36867" name="Content Placeholder 2">
            <a:extLst>
              <a:ext uri="{FF2B5EF4-FFF2-40B4-BE49-F238E27FC236}">
                <a16:creationId xmlns="" xmlns:a16="http://schemas.microsoft.com/office/drawing/2014/main" id="{6CEC5DA6-9CB5-466E-AEBE-309FDD6A54DE}"/>
              </a:ext>
            </a:extLst>
          </p:cNvPr>
          <p:cNvSpPr>
            <a:spLocks noGrp="1"/>
          </p:cNvSpPr>
          <p:nvPr>
            <p:ph idx="1"/>
          </p:nvPr>
        </p:nvSpPr>
        <p:spPr>
          <a:xfrm>
            <a:off x="457200" y="1295400"/>
            <a:ext cx="8229600" cy="4530725"/>
          </a:xfrm>
        </p:spPr>
        <p:txBody>
          <a:bodyPr/>
          <a:lstStyle/>
          <a:p>
            <a:r>
              <a:rPr lang="en-US" altLang="en-US">
                <a:ea typeface="ＭＳ Ｐゴシック" panose="020B0600070205080204" pitchFamily="34" charset="-128"/>
              </a:rPr>
              <a:t>Advantages</a:t>
            </a:r>
          </a:p>
          <a:p>
            <a:pPr lvl="1" eaLnBrk="1" hangingPunct="1"/>
            <a:r>
              <a:rPr lang="en-US" altLang="en-US">
                <a:ea typeface="ＭＳ Ｐゴシック" panose="020B0600070205080204" pitchFamily="34" charset="-128"/>
              </a:rPr>
              <a:t>Faster and easier implementations</a:t>
            </a:r>
          </a:p>
          <a:p>
            <a:pPr lvl="1" eaLnBrk="1" hangingPunct="1"/>
            <a:r>
              <a:rPr lang="en-US" altLang="en-US">
                <a:ea typeface="ＭＳ Ｐゴシック" panose="020B0600070205080204" pitchFamily="34" charset="-128"/>
              </a:rPr>
              <a:t>Faster return on investment and proof of concept</a:t>
            </a:r>
          </a:p>
          <a:p>
            <a:pPr lvl="1" eaLnBrk="1" hangingPunct="1"/>
            <a:r>
              <a:rPr lang="en-US" altLang="en-US">
                <a:ea typeface="ＭＳ Ｐゴシック" panose="020B0600070205080204" pitchFamily="34" charset="-128"/>
              </a:rPr>
              <a:t>Less risk of failure</a:t>
            </a:r>
          </a:p>
          <a:p>
            <a:pPr lvl="1" eaLnBrk="1" hangingPunct="1"/>
            <a:r>
              <a:rPr lang="en-US" altLang="en-US">
                <a:ea typeface="ＭＳ Ｐゴシック" panose="020B0600070205080204" pitchFamily="34" charset="-128"/>
              </a:rPr>
              <a:t>Inherently incremental (can prioritize which data mart to build first)</a:t>
            </a:r>
          </a:p>
          <a:p>
            <a:r>
              <a:rPr lang="en-US" altLang="en-US">
                <a:ea typeface="ＭＳ Ｐゴシック" panose="020B0600070205080204" pitchFamily="34" charset="-128"/>
              </a:rPr>
              <a:t>Disadvantages:</a:t>
            </a:r>
          </a:p>
          <a:p>
            <a:pPr lvl="1" eaLnBrk="1" hangingPunct="1"/>
            <a:r>
              <a:rPr lang="en-US" altLang="en-US">
                <a:ea typeface="ＭＳ Ｐゴシック" panose="020B0600070205080204" pitchFamily="34" charset="-128"/>
              </a:rPr>
              <a:t>Narrow view of data in each data mart</a:t>
            </a:r>
          </a:p>
          <a:p>
            <a:pPr lvl="1" eaLnBrk="1" hangingPunct="1"/>
            <a:r>
              <a:rPr lang="en-US" altLang="en-US">
                <a:ea typeface="ＭＳ Ｐゴシック" panose="020B0600070205080204" pitchFamily="34" charset="-128"/>
              </a:rPr>
              <a:t>Spread redundancy in data marts</a:t>
            </a:r>
          </a:p>
          <a:p>
            <a:pPr lvl="1" eaLnBrk="1" hangingPunct="1"/>
            <a:r>
              <a:rPr lang="en-US" altLang="en-US">
                <a:ea typeface="ＭＳ Ｐゴシック" panose="020B0600070205080204" pitchFamily="34" charset="-128"/>
              </a:rPr>
              <a:t>Can cause inconsistent data </a:t>
            </a:r>
          </a:p>
        </p:txBody>
      </p:sp>
      <p:sp>
        <p:nvSpPr>
          <p:cNvPr id="36868" name="Slide Number Placeholder 3">
            <a:extLst>
              <a:ext uri="{FF2B5EF4-FFF2-40B4-BE49-F238E27FC236}">
                <a16:creationId xmlns="" xmlns:a16="http://schemas.microsoft.com/office/drawing/2014/main" id="{13ACB9B9-D506-446C-AC0D-A01920C06CCC}"/>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06A36C1C-5D76-45D8-AB0B-A993AB375958}" type="slidenum">
              <a:rPr lang="sv-SE" altLang="en-US">
                <a:latin typeface="Garamond" panose="02020404030301010803" pitchFamily="18" charset="0"/>
              </a:rPr>
              <a:pPr eaLnBrk="1" hangingPunct="1"/>
              <a:t>34</a:t>
            </a:fld>
            <a:endParaRPr lang="sv-SE" altLang="en-US">
              <a:latin typeface="Garamond" panose="02020404030301010803"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 xmlns:a16="http://schemas.microsoft.com/office/drawing/2014/main" id="{040F170C-6810-4391-B196-CBCA06605A6F}"/>
              </a:ext>
            </a:extLst>
          </p:cNvPr>
          <p:cNvSpPr>
            <a:spLocks noGrp="1"/>
          </p:cNvSpPr>
          <p:nvPr>
            <p:ph type="title"/>
          </p:nvPr>
        </p:nvSpPr>
        <p:spPr>
          <a:xfrm>
            <a:off x="533400" y="152400"/>
            <a:ext cx="8229600" cy="1139825"/>
          </a:xfrm>
        </p:spPr>
        <p:txBody>
          <a:bodyPr/>
          <a:lstStyle/>
          <a:p>
            <a:r>
              <a:rPr lang="en-US" altLang="en-US">
                <a:ea typeface="ＭＳ Ｐゴシック" panose="020B0600070205080204" pitchFamily="34" charset="-128"/>
              </a:rPr>
              <a:t>Practical approach propose by Ralph Kimball </a:t>
            </a:r>
          </a:p>
        </p:txBody>
      </p:sp>
      <p:sp>
        <p:nvSpPr>
          <p:cNvPr id="37891" name="Content Placeholder 2">
            <a:extLst>
              <a:ext uri="{FF2B5EF4-FFF2-40B4-BE49-F238E27FC236}">
                <a16:creationId xmlns="" xmlns:a16="http://schemas.microsoft.com/office/drawing/2014/main" id="{9FE72E85-6A07-4AC4-8E30-5B34BDAB3E69}"/>
              </a:ext>
            </a:extLst>
          </p:cNvPr>
          <p:cNvSpPr>
            <a:spLocks noGrp="1"/>
          </p:cNvSpPr>
          <p:nvPr>
            <p:ph idx="1"/>
          </p:nvPr>
        </p:nvSpPr>
        <p:spPr>
          <a:xfrm>
            <a:off x="457200" y="1336675"/>
            <a:ext cx="8229600" cy="4530725"/>
          </a:xfrm>
        </p:spPr>
        <p:txBody>
          <a:bodyPr/>
          <a:lstStyle/>
          <a:p>
            <a:r>
              <a:rPr lang="en-US" altLang="en-US" sz="2600">
                <a:ea typeface="ＭＳ Ｐゴシック" panose="020B0600070205080204" pitchFamily="34" charset="-128"/>
              </a:rPr>
              <a:t>Compromise between top-down and bottom-up approaches</a:t>
            </a:r>
          </a:p>
          <a:p>
            <a:pPr lvl="1" eaLnBrk="1" hangingPunct="1"/>
            <a:r>
              <a:rPr lang="en-US" altLang="en-US">
                <a:ea typeface="ＭＳ Ｐゴシック" panose="020B0600070205080204" pitchFamily="34" charset="-128"/>
              </a:rPr>
              <a:t>First define the requirements of the enterprise</a:t>
            </a:r>
          </a:p>
          <a:p>
            <a:pPr lvl="1" eaLnBrk="1" hangingPunct="1"/>
            <a:r>
              <a:rPr lang="en-US" altLang="en-US">
                <a:ea typeface="ＭＳ Ｐゴシック" panose="020B0600070205080204" pitchFamily="34" charset="-128"/>
              </a:rPr>
              <a:t>Design the architecture of the whole warehouse</a:t>
            </a:r>
          </a:p>
          <a:p>
            <a:pPr lvl="1" eaLnBrk="1" hangingPunct="1"/>
            <a:r>
              <a:rPr lang="en-US" altLang="en-US">
                <a:ea typeface="ＭＳ Ｐゴシック" panose="020B0600070205080204" pitchFamily="34" charset="-128"/>
              </a:rPr>
              <a:t>Identify data content for each data mart</a:t>
            </a:r>
          </a:p>
          <a:p>
            <a:pPr lvl="1" eaLnBrk="1" hangingPunct="1"/>
            <a:r>
              <a:rPr lang="en-US" altLang="en-US">
                <a:ea typeface="ＭＳ Ｐゴシック" panose="020B0600070205080204" pitchFamily="34" charset="-128"/>
              </a:rPr>
              <a:t>Start implementing data marts carefully</a:t>
            </a:r>
          </a:p>
          <a:p>
            <a:pPr lvl="1" eaLnBrk="1" hangingPunct="1"/>
            <a:r>
              <a:rPr lang="en-US" altLang="en-US">
                <a:ea typeface="ＭＳ Ｐゴシック" panose="020B0600070205080204" pitchFamily="34" charset="-128"/>
              </a:rPr>
              <a:t>Ensure data remain consistent in all data marts in terms of fields length, data types, and precision</a:t>
            </a:r>
          </a:p>
          <a:p>
            <a:pPr lvl="1" eaLnBrk="1" hangingPunct="1"/>
            <a:r>
              <a:rPr lang="en-US" altLang="en-US">
                <a:ea typeface="ＭＳ Ｐゴシック" panose="020B0600070205080204" pitchFamily="34" charset="-128"/>
              </a:rPr>
              <a:t>The data warehouse thus will be a union of all data marts </a:t>
            </a:r>
          </a:p>
        </p:txBody>
      </p:sp>
      <p:sp>
        <p:nvSpPr>
          <p:cNvPr id="37892" name="Slide Number Placeholder 3">
            <a:extLst>
              <a:ext uri="{FF2B5EF4-FFF2-40B4-BE49-F238E27FC236}">
                <a16:creationId xmlns="" xmlns:a16="http://schemas.microsoft.com/office/drawing/2014/main" id="{E227113A-C7DD-44B5-A9D1-CA9A61547D2A}"/>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331BE505-325E-4B23-85B7-29486EB851B3}" type="slidenum">
              <a:rPr lang="sv-SE" altLang="en-US">
                <a:latin typeface="Garamond" panose="02020404030301010803" pitchFamily="18" charset="0"/>
              </a:rPr>
              <a:pPr eaLnBrk="1" hangingPunct="1"/>
              <a:t>35</a:t>
            </a:fld>
            <a:endParaRPr lang="sv-SE" altLang="en-US">
              <a:latin typeface="Garamond" panose="02020404030301010803"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1956</Words>
  <Application>Microsoft Office PowerPoint</Application>
  <PresentationFormat>On-screen Show (4:3)</PresentationFormat>
  <Paragraphs>475</Paragraphs>
  <Slides>35</Slides>
  <Notes>24</Notes>
  <HiddenSlides>0</HiddenSlides>
  <MMClips>0</MMClips>
  <ScaleCrop>false</ScaleCrop>
  <HeadingPairs>
    <vt:vector size="4" baseType="variant">
      <vt:variant>
        <vt:lpstr>Theme</vt:lpstr>
      </vt:variant>
      <vt:variant>
        <vt:i4>2</vt:i4>
      </vt:variant>
      <vt:variant>
        <vt:lpstr>Slide Titles</vt:lpstr>
      </vt:variant>
      <vt:variant>
        <vt:i4>35</vt:i4>
      </vt:variant>
    </vt:vector>
  </HeadingPairs>
  <TitlesOfParts>
    <vt:vector size="37" baseType="lpstr">
      <vt:lpstr>Office Theme</vt:lpstr>
      <vt:lpstr>Edge</vt:lpstr>
      <vt:lpstr>  Data Warehousing &amp;  Data Mining(CSC496)</vt:lpstr>
      <vt:lpstr>Slide 2</vt:lpstr>
      <vt:lpstr>Course Material</vt:lpstr>
      <vt:lpstr>Course Introduction</vt:lpstr>
      <vt:lpstr>Operational Sources (OLTP’s)</vt:lpstr>
      <vt:lpstr>Typical decision queries</vt:lpstr>
      <vt:lpstr>Characteristics of strategic information</vt:lpstr>
      <vt:lpstr>Information Crisis</vt:lpstr>
      <vt:lpstr>History of Decision Support Systems (DSS)</vt:lpstr>
      <vt:lpstr>Failure of old DSS (cont.)</vt:lpstr>
      <vt:lpstr>Failure of old DSS (Cont.)</vt:lpstr>
      <vt:lpstr>OLTP vs. DSS</vt:lpstr>
      <vt:lpstr>OLTP vs. DSS (cont.)</vt:lpstr>
      <vt:lpstr>Expectations of new soln.</vt:lpstr>
      <vt:lpstr>DW meets expectations</vt:lpstr>
      <vt:lpstr>Definition of DW</vt:lpstr>
      <vt:lpstr>Subject-oriented</vt:lpstr>
      <vt:lpstr>Integrated Data</vt:lpstr>
      <vt:lpstr>Time variant</vt:lpstr>
      <vt:lpstr>Non-volatile</vt:lpstr>
      <vt:lpstr>Architecture of DW</vt:lpstr>
      <vt:lpstr>Components</vt:lpstr>
      <vt:lpstr>1. Source Data Component</vt:lpstr>
      <vt:lpstr>Architecture of DW</vt:lpstr>
      <vt:lpstr>2. Data Staging Component</vt:lpstr>
      <vt:lpstr>Architecture of DW</vt:lpstr>
      <vt:lpstr>3. Data Storage Component</vt:lpstr>
      <vt:lpstr>Architecture of DW</vt:lpstr>
      <vt:lpstr>4. Information Delivery Component</vt:lpstr>
      <vt:lpstr>Meta-data component</vt:lpstr>
      <vt:lpstr>Management and Control Component</vt:lpstr>
      <vt:lpstr>Difference between Data Warehouse and Data Marts</vt:lpstr>
      <vt:lpstr>Top-down approach</vt:lpstr>
      <vt:lpstr>Bottom-up approach</vt:lpstr>
      <vt:lpstr>Practical approach propose by Ralph Kimball </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Data Warehousing &amp;  Data Mining(CSC496)</dc:title>
  <dc:creator>usmanshehzaib</dc:creator>
  <cp:lastModifiedBy>pc</cp:lastModifiedBy>
  <cp:revision>1</cp:revision>
  <dcterms:created xsi:type="dcterms:W3CDTF">2006-08-16T00:00:00Z</dcterms:created>
  <dcterms:modified xsi:type="dcterms:W3CDTF">2020-09-22T14:31:43Z</dcterms:modified>
</cp:coreProperties>
</file>