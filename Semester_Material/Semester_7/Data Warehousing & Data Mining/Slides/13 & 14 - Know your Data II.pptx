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2"/>
  </p:notesMasterIdLst>
  <p:handoutMasterIdLst>
    <p:handoutMasterId r:id="rId23"/>
  </p:handoutMasterIdLst>
  <p:sldIdLst>
    <p:sldId id="764" r:id="rId2"/>
    <p:sldId id="837" r:id="rId3"/>
    <p:sldId id="1031" r:id="rId4"/>
    <p:sldId id="1058" r:id="rId5"/>
    <p:sldId id="1032" r:id="rId6"/>
    <p:sldId id="1030" r:id="rId7"/>
    <p:sldId id="874" r:id="rId8"/>
    <p:sldId id="840" r:id="rId9"/>
    <p:sldId id="864" r:id="rId10"/>
    <p:sldId id="844" r:id="rId11"/>
    <p:sldId id="1059" r:id="rId12"/>
    <p:sldId id="1060" r:id="rId13"/>
    <p:sldId id="1061" r:id="rId14"/>
    <p:sldId id="1062" r:id="rId15"/>
    <p:sldId id="1063" r:id="rId16"/>
    <p:sldId id="1064" r:id="rId17"/>
    <p:sldId id="1042" r:id="rId18"/>
    <p:sldId id="1043" r:id="rId19"/>
    <p:sldId id="1065" r:id="rId20"/>
    <p:sldId id="1066" r:id="rId21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6EA"/>
    <a:srgbClr val="FAE2F6"/>
    <a:srgbClr val="170981"/>
    <a:srgbClr val="121328"/>
    <a:srgbClr val="D7FDF9"/>
    <a:srgbClr val="003366"/>
    <a:srgbClr val="FF7C8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9" autoAdjust="0"/>
    <p:restoredTop sz="94624" autoAdjust="0"/>
  </p:normalViewPr>
  <p:slideViewPr>
    <p:cSldViewPr>
      <p:cViewPr varScale="1">
        <p:scale>
          <a:sx n="64" d="100"/>
          <a:sy n="64" d="100"/>
        </p:scale>
        <p:origin x="157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352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7F0A01-C9D5-4815-93F0-2B891661AD71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0"/>
      <dgm:spPr/>
    </dgm:pt>
    <dgm:pt modelId="{3B6ECA81-957E-4C0C-85C8-E6663035E190}">
      <dgm:prSet phldrT="[Text]" phldr="1"/>
      <dgm:spPr/>
      <dgm:t>
        <a:bodyPr/>
        <a:lstStyle/>
        <a:p>
          <a:endParaRPr lang="en-US"/>
        </a:p>
      </dgm:t>
    </dgm:pt>
    <dgm:pt modelId="{03826B7A-44C3-4DB7-8F5F-AEF039263575}" type="parTrans" cxnId="{BF0AFCB8-6B02-4AD5-BDEC-A52DA9EA076B}">
      <dgm:prSet/>
      <dgm:spPr/>
    </dgm:pt>
    <dgm:pt modelId="{A31678CE-61C5-4ACA-9CF6-282140D324DA}" type="sibTrans" cxnId="{BF0AFCB8-6B02-4AD5-BDEC-A52DA9EA076B}">
      <dgm:prSet/>
      <dgm:spPr/>
    </dgm:pt>
    <dgm:pt modelId="{AE740DFC-5C5C-4F90-80D9-A3B9A64247BC}">
      <dgm:prSet phldrT="[Text]" phldr="1"/>
      <dgm:spPr/>
      <dgm:t>
        <a:bodyPr/>
        <a:lstStyle/>
        <a:p>
          <a:endParaRPr lang="en-US"/>
        </a:p>
      </dgm:t>
    </dgm:pt>
    <dgm:pt modelId="{A6F1281A-BB56-4655-87EB-0203ED95172B}" type="parTrans" cxnId="{7B8DD2DE-1C53-43E0-8F4F-E9D8953D225F}">
      <dgm:prSet/>
      <dgm:spPr/>
    </dgm:pt>
    <dgm:pt modelId="{E38D9DA1-1A7D-4CF9-915C-629AFD95F7C0}" type="sibTrans" cxnId="{7B8DD2DE-1C53-43E0-8F4F-E9D8953D225F}">
      <dgm:prSet/>
      <dgm:spPr/>
    </dgm:pt>
    <dgm:pt modelId="{6009CB21-9A92-4A5A-AF8F-DA93DFCF5135}">
      <dgm:prSet phldrT="[Text]" phldr="1"/>
      <dgm:spPr/>
      <dgm:t>
        <a:bodyPr/>
        <a:lstStyle/>
        <a:p>
          <a:endParaRPr lang="en-US"/>
        </a:p>
      </dgm:t>
    </dgm:pt>
    <dgm:pt modelId="{0DFEF1D0-ECFC-4593-867A-24448B32730E}" type="parTrans" cxnId="{BD8F1D05-D12B-4271-8101-9420F7B4B26F}">
      <dgm:prSet/>
      <dgm:spPr/>
    </dgm:pt>
    <dgm:pt modelId="{393CCA36-C388-416A-84EC-ED4AB8C4351C}" type="sibTrans" cxnId="{BD8F1D05-D12B-4271-8101-9420F7B4B26F}">
      <dgm:prSet/>
      <dgm:spPr/>
    </dgm:pt>
    <dgm:pt modelId="{3AC8A29E-FD60-4B3E-BB44-4F129F7F88ED}" type="pres">
      <dgm:prSet presAssocID="{4D7F0A01-C9D5-4815-93F0-2B891661AD71}" presName="Name0" presStyleCnt="0">
        <dgm:presLayoutVars>
          <dgm:dir/>
          <dgm:animLvl val="lvl"/>
          <dgm:resizeHandles val="exact"/>
        </dgm:presLayoutVars>
      </dgm:prSet>
      <dgm:spPr/>
    </dgm:pt>
    <dgm:pt modelId="{83E1D7A3-9589-4A40-AF20-604554D6FDE7}" type="pres">
      <dgm:prSet presAssocID="{3B6ECA81-957E-4C0C-85C8-E6663035E190}" presName="Name8" presStyleCnt="0"/>
      <dgm:spPr/>
    </dgm:pt>
    <dgm:pt modelId="{60CBCCA8-F69A-4D87-A2B4-24500F4A1500}" type="pres">
      <dgm:prSet presAssocID="{3B6ECA81-957E-4C0C-85C8-E6663035E190}" presName="level" presStyleLbl="node1" presStyleIdx="0" presStyleCnt="3">
        <dgm:presLayoutVars>
          <dgm:chMax val="1"/>
          <dgm:bulletEnabled val="1"/>
        </dgm:presLayoutVars>
      </dgm:prSet>
      <dgm:spPr/>
    </dgm:pt>
    <dgm:pt modelId="{9BC861CD-99C9-41DC-89C6-D08B0C3DD308}" type="pres">
      <dgm:prSet presAssocID="{3B6ECA81-957E-4C0C-85C8-E6663035E19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7991733-1DFD-4722-86A2-E590B1928831}" type="pres">
      <dgm:prSet presAssocID="{AE740DFC-5C5C-4F90-80D9-A3B9A64247BC}" presName="Name8" presStyleCnt="0"/>
      <dgm:spPr/>
    </dgm:pt>
    <dgm:pt modelId="{F376A040-570F-4010-9136-113EDC1FEB23}" type="pres">
      <dgm:prSet presAssocID="{AE740DFC-5C5C-4F90-80D9-A3B9A64247BC}" presName="level" presStyleLbl="node1" presStyleIdx="1" presStyleCnt="3">
        <dgm:presLayoutVars>
          <dgm:chMax val="1"/>
          <dgm:bulletEnabled val="1"/>
        </dgm:presLayoutVars>
      </dgm:prSet>
      <dgm:spPr/>
    </dgm:pt>
    <dgm:pt modelId="{B971F52B-F2EC-48A8-8DBD-2285D886EB19}" type="pres">
      <dgm:prSet presAssocID="{AE740DFC-5C5C-4F90-80D9-A3B9A64247B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1A291DA-8DB7-4529-848F-C5D60DE6E9D8}" type="pres">
      <dgm:prSet presAssocID="{6009CB21-9A92-4A5A-AF8F-DA93DFCF5135}" presName="Name8" presStyleCnt="0"/>
      <dgm:spPr/>
    </dgm:pt>
    <dgm:pt modelId="{6BD5AA64-D886-4D86-AD63-7518D4AA723B}" type="pres">
      <dgm:prSet presAssocID="{6009CB21-9A92-4A5A-AF8F-DA93DFCF5135}" presName="level" presStyleLbl="node1" presStyleIdx="2" presStyleCnt="3">
        <dgm:presLayoutVars>
          <dgm:chMax val="1"/>
          <dgm:bulletEnabled val="1"/>
        </dgm:presLayoutVars>
      </dgm:prSet>
      <dgm:spPr/>
    </dgm:pt>
    <dgm:pt modelId="{F8D48D17-083E-4AC3-ABF2-ACB4944C8DB9}" type="pres">
      <dgm:prSet presAssocID="{6009CB21-9A92-4A5A-AF8F-DA93DFCF5135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BD8F1D05-D12B-4271-8101-9420F7B4B26F}" srcId="{4D7F0A01-C9D5-4815-93F0-2B891661AD71}" destId="{6009CB21-9A92-4A5A-AF8F-DA93DFCF5135}" srcOrd="2" destOrd="0" parTransId="{0DFEF1D0-ECFC-4593-867A-24448B32730E}" sibTransId="{393CCA36-C388-416A-84EC-ED4AB8C4351C}"/>
    <dgm:cxn modelId="{AEAF1E23-88EB-45D1-ABCF-B017FBA1CE3C}" type="presOf" srcId="{3B6ECA81-957E-4C0C-85C8-E6663035E190}" destId="{9BC861CD-99C9-41DC-89C6-D08B0C3DD308}" srcOrd="1" destOrd="0" presId="urn:microsoft.com/office/officeart/2005/8/layout/pyramid1"/>
    <dgm:cxn modelId="{E01AFE2D-51CB-40C5-B1DA-853BBC95D197}" type="presOf" srcId="{AE740DFC-5C5C-4F90-80D9-A3B9A64247BC}" destId="{F376A040-570F-4010-9136-113EDC1FEB23}" srcOrd="0" destOrd="0" presId="urn:microsoft.com/office/officeart/2005/8/layout/pyramid1"/>
    <dgm:cxn modelId="{C710713E-8999-485F-890A-5298530F9804}" type="presOf" srcId="{4D7F0A01-C9D5-4815-93F0-2B891661AD71}" destId="{3AC8A29E-FD60-4B3E-BB44-4F129F7F88ED}" srcOrd="0" destOrd="0" presId="urn:microsoft.com/office/officeart/2005/8/layout/pyramid1"/>
    <dgm:cxn modelId="{150FC850-B5F2-43F8-A888-4B740EF0AD65}" type="presOf" srcId="{6009CB21-9A92-4A5A-AF8F-DA93DFCF5135}" destId="{F8D48D17-083E-4AC3-ABF2-ACB4944C8DB9}" srcOrd="1" destOrd="0" presId="urn:microsoft.com/office/officeart/2005/8/layout/pyramid1"/>
    <dgm:cxn modelId="{74194C7F-AC1E-41C7-BA5B-3267A28FFE04}" type="presOf" srcId="{AE740DFC-5C5C-4F90-80D9-A3B9A64247BC}" destId="{B971F52B-F2EC-48A8-8DBD-2285D886EB19}" srcOrd="1" destOrd="0" presId="urn:microsoft.com/office/officeart/2005/8/layout/pyramid1"/>
    <dgm:cxn modelId="{BF0AFCB8-6B02-4AD5-BDEC-A52DA9EA076B}" srcId="{4D7F0A01-C9D5-4815-93F0-2B891661AD71}" destId="{3B6ECA81-957E-4C0C-85C8-E6663035E190}" srcOrd="0" destOrd="0" parTransId="{03826B7A-44C3-4DB7-8F5F-AEF039263575}" sibTransId="{A31678CE-61C5-4ACA-9CF6-282140D324DA}"/>
    <dgm:cxn modelId="{9C9188BD-152B-43BB-A043-10F5F9A4C52F}" type="presOf" srcId="{6009CB21-9A92-4A5A-AF8F-DA93DFCF5135}" destId="{6BD5AA64-D886-4D86-AD63-7518D4AA723B}" srcOrd="0" destOrd="0" presId="urn:microsoft.com/office/officeart/2005/8/layout/pyramid1"/>
    <dgm:cxn modelId="{7B8DD2DE-1C53-43E0-8F4F-E9D8953D225F}" srcId="{4D7F0A01-C9D5-4815-93F0-2B891661AD71}" destId="{AE740DFC-5C5C-4F90-80D9-A3B9A64247BC}" srcOrd="1" destOrd="0" parTransId="{A6F1281A-BB56-4655-87EB-0203ED95172B}" sibTransId="{E38D9DA1-1A7D-4CF9-915C-629AFD95F7C0}"/>
    <dgm:cxn modelId="{1CA747EF-8E27-4DBA-B993-0832D414AF5F}" type="presOf" srcId="{3B6ECA81-957E-4C0C-85C8-E6663035E190}" destId="{60CBCCA8-F69A-4D87-A2B4-24500F4A1500}" srcOrd="0" destOrd="0" presId="urn:microsoft.com/office/officeart/2005/8/layout/pyramid1"/>
    <dgm:cxn modelId="{BF8D9525-F805-4204-AF0D-0419C31FB755}" type="presParOf" srcId="{3AC8A29E-FD60-4B3E-BB44-4F129F7F88ED}" destId="{83E1D7A3-9589-4A40-AF20-604554D6FDE7}" srcOrd="0" destOrd="0" presId="urn:microsoft.com/office/officeart/2005/8/layout/pyramid1"/>
    <dgm:cxn modelId="{CA75531A-A12E-42E4-8952-03FE2A07DE97}" type="presParOf" srcId="{83E1D7A3-9589-4A40-AF20-604554D6FDE7}" destId="{60CBCCA8-F69A-4D87-A2B4-24500F4A1500}" srcOrd="0" destOrd="0" presId="urn:microsoft.com/office/officeart/2005/8/layout/pyramid1"/>
    <dgm:cxn modelId="{18E8F54A-1C3E-4B9F-8E25-A0CFECD922CF}" type="presParOf" srcId="{83E1D7A3-9589-4A40-AF20-604554D6FDE7}" destId="{9BC861CD-99C9-41DC-89C6-D08B0C3DD308}" srcOrd="1" destOrd="0" presId="urn:microsoft.com/office/officeart/2005/8/layout/pyramid1"/>
    <dgm:cxn modelId="{DA674239-60E4-43E5-A18A-502A1F0B6360}" type="presParOf" srcId="{3AC8A29E-FD60-4B3E-BB44-4F129F7F88ED}" destId="{D7991733-1DFD-4722-86A2-E590B1928831}" srcOrd="1" destOrd="0" presId="urn:microsoft.com/office/officeart/2005/8/layout/pyramid1"/>
    <dgm:cxn modelId="{2B1A6F08-2DB4-4FA8-801F-00ED5F2B0170}" type="presParOf" srcId="{D7991733-1DFD-4722-86A2-E590B1928831}" destId="{F376A040-570F-4010-9136-113EDC1FEB23}" srcOrd="0" destOrd="0" presId="urn:microsoft.com/office/officeart/2005/8/layout/pyramid1"/>
    <dgm:cxn modelId="{C6331C4C-B6AE-401F-A98D-5D847DB58722}" type="presParOf" srcId="{D7991733-1DFD-4722-86A2-E590B1928831}" destId="{B971F52B-F2EC-48A8-8DBD-2285D886EB19}" srcOrd="1" destOrd="0" presId="urn:microsoft.com/office/officeart/2005/8/layout/pyramid1"/>
    <dgm:cxn modelId="{205AA53C-014D-4952-9D2B-8CF33D42172E}" type="presParOf" srcId="{3AC8A29E-FD60-4B3E-BB44-4F129F7F88ED}" destId="{B1A291DA-8DB7-4529-848F-C5D60DE6E9D8}" srcOrd="2" destOrd="0" presId="urn:microsoft.com/office/officeart/2005/8/layout/pyramid1"/>
    <dgm:cxn modelId="{3EB45FCF-A1B8-474E-B003-474943D5CF83}" type="presParOf" srcId="{B1A291DA-8DB7-4529-848F-C5D60DE6E9D8}" destId="{6BD5AA64-D886-4D86-AD63-7518D4AA723B}" srcOrd="0" destOrd="0" presId="urn:microsoft.com/office/officeart/2005/8/layout/pyramid1"/>
    <dgm:cxn modelId="{ED22689B-2E8C-46E1-801F-88AB6A9F6D17}" type="presParOf" srcId="{B1A291DA-8DB7-4529-848F-C5D60DE6E9D8}" destId="{F8D48D17-083E-4AC3-ABF2-ACB4944C8DB9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BCCA8-F69A-4D87-A2B4-24500F4A1500}">
      <dsp:nvSpPr>
        <dsp:cNvPr id="0" name=""/>
        <dsp:cNvSpPr/>
      </dsp:nvSpPr>
      <dsp:spPr>
        <a:xfrm>
          <a:off x="127000" y="0"/>
          <a:ext cx="127000" cy="77787"/>
        </a:xfrm>
        <a:prstGeom prst="trapezoid">
          <a:avLst>
            <a:gd name="adj" fmla="val 8163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7000" y="0"/>
        <a:ext cx="127000" cy="77787"/>
      </dsp:txXfrm>
    </dsp:sp>
    <dsp:sp modelId="{F376A040-570F-4010-9136-113EDC1FEB23}">
      <dsp:nvSpPr>
        <dsp:cNvPr id="0" name=""/>
        <dsp:cNvSpPr/>
      </dsp:nvSpPr>
      <dsp:spPr>
        <a:xfrm>
          <a:off x="63500" y="77787"/>
          <a:ext cx="254000" cy="77787"/>
        </a:xfrm>
        <a:prstGeom prst="trapezoid">
          <a:avLst>
            <a:gd name="adj" fmla="val 8163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07950" y="77787"/>
        <a:ext cx="165100" cy="77787"/>
      </dsp:txXfrm>
    </dsp:sp>
    <dsp:sp modelId="{6BD5AA64-D886-4D86-AD63-7518D4AA723B}">
      <dsp:nvSpPr>
        <dsp:cNvPr id="0" name=""/>
        <dsp:cNvSpPr/>
      </dsp:nvSpPr>
      <dsp:spPr>
        <a:xfrm>
          <a:off x="0" y="155575"/>
          <a:ext cx="381000" cy="77787"/>
        </a:xfrm>
        <a:prstGeom prst="trapezoid">
          <a:avLst>
            <a:gd name="adj" fmla="val 8163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674" y="155575"/>
        <a:ext cx="247650" cy="77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5" Type="http://schemas.openxmlformats.org/officeDocument/2006/relationships/image" Target="../media/image20.wmf"/><Relationship Id="rId4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E6F2538-6BF4-41AA-8D6D-25FA08EC64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5388" y="692150"/>
            <a:ext cx="4619625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387850"/>
            <a:ext cx="5140325" cy="415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4321414C-6C13-464C-A6FA-6C5908E984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C2917A-41C5-4673-ADDA-4E7AC2E6B9F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3441C6-A8E8-4BEE-AC5E-3120EACBE13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160760-FB96-464D-AD44-2B7FC892CCF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946027"/>
            <a:fld id="{A3553D9E-361B-4FD2-A062-C96F9DEE0C0B}" type="slidenum">
              <a:rPr lang="en-US" altLang="en-US">
                <a:latin typeface="Times New Roman" pitchFamily="18" charset="0"/>
              </a:rPr>
              <a:pPr defTabSz="946027"/>
              <a:t>4</a:t>
            </a:fld>
            <a:endParaRPr lang="en-US" altLang="en-US" dirty="0">
              <a:latin typeface="Times New Roman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44099F-1528-4985-B5FE-99A6A33BACB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2373AA-4C3B-46FE-90EC-2BDFEFDB2F5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85DE51-DBAF-4CCE-B902-A35629D51BF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3FC785-E6E6-42DF-8767-0105153EFE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 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EC5B49-35D7-42E7-AD5D-0F9ACC75292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8088" y="700088"/>
            <a:ext cx="4598987" cy="3449637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387850"/>
            <a:ext cx="5141913" cy="4152900"/>
          </a:xfrm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280BF1-C7CE-45D4-88A5-F82ACE33678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AE9CD9C-4557-43F4-8A17-1433F988089D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32C8A95-08DF-457C-95A3-8A4D487BA416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8967122-E2F6-441D-98E4-F51574D1E0F0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BC6F5A-81AB-4616-A606-515DCD64435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34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4E8D43-613A-42F2-A390-A3A4116CE517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88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2F92A28-1D5A-4DDB-924E-90F2716A4002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01903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2C38065-A928-4D41-A552-C71B875A9C59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0173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8BFDB53-E2AC-4296-ACFC-4A8B5B9A839C}" type="datetime4">
              <a:rPr lang="en-US"/>
              <a:pPr>
                <a:defRPr/>
              </a:pPr>
              <a:t>November 19, 2020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EA5819C-B127-4B95-A1D8-6CFA842C35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031100-237F-4951-92DC-670E5EEDC5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36E9D-C886-476B-86EB-1FF2B0D37C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085490-B6A7-4E49-B42F-981CA3AFE6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CD77C-FC40-4315-9698-4A39C0471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5AD25-173F-40A0-9CE2-D452F1A497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1AA27-7141-4710-806A-2A4DA8E1CD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95E1D-89B7-4B67-B766-6907864B9E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95D87-C6B5-4DA2-A73C-09C7BA9D89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B9ABA-EA8A-47B0-BDA8-B4A5DE3235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219075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304800"/>
            <a:ext cx="641985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BB403-A06C-4BE5-894A-C0274DA4CF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73595-0436-451F-9EF8-FB73902602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673F65-1C37-4ADE-BFF3-D2725A0C97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78540-76F8-4D40-89AF-7ABC71B453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048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EA0FA-89DE-45BF-9DA2-CCEC70C85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056"/>
          <p:cNvSpPr>
            <a:spLocks noChangeArrowheads="1"/>
          </p:cNvSpPr>
          <p:nvPr/>
        </p:nvSpPr>
        <p:spPr bwMode="gray">
          <a:xfrm>
            <a:off x="304800" y="1143000"/>
            <a:ext cx="8226425" cy="46038"/>
          </a:xfrm>
          <a:prstGeom prst="rect">
            <a:avLst/>
          </a:prstGeom>
          <a:gradFill rotWithShape="0">
            <a:gsLst>
              <a:gs pos="0">
                <a:srgbClr val="008080">
                  <a:alpha val="95000"/>
                </a:srgb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kumimoji="1" lang="en-US"/>
          </a:p>
        </p:txBody>
      </p:sp>
      <p:sp>
        <p:nvSpPr>
          <p:cNvPr id="2051" name="Rectangle 2057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304800"/>
            <a:ext cx="8763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2" name="Rectangle 205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95400"/>
            <a:ext cx="8382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8781" name="Rectangle 206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8C5BA87-CABA-43E0-9CBB-46E0999612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</p:sldLayoutIdLst>
  <p:transition>
    <p:zo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9.jpeg"/><Relationship Id="rId5" Type="http://schemas.openxmlformats.org/officeDocument/2006/relationships/diagramLayout" Target="../diagrams/layout1.xml"/><Relationship Id="rId10" Type="http://schemas.openxmlformats.org/officeDocument/2006/relationships/image" Target="../media/image8.jpeg"/><Relationship Id="rId4" Type="http://schemas.openxmlformats.org/officeDocument/2006/relationships/diagramData" Target="../diagrams/data1.xml"/><Relationship Id="rId9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0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9.emf"/><Relationship Id="rId5" Type="http://schemas.openxmlformats.org/officeDocument/2006/relationships/image" Target="../media/image16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3.png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3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4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A4A5F7C-7299-4C30-8495-4C7F31C3FC8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09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2895600"/>
          </a:xfrm>
        </p:spPr>
        <p:txBody>
          <a:bodyPr/>
          <a:lstStyle/>
          <a:p>
            <a:pPr eaLnBrk="1" hangingPunct="1"/>
            <a:r>
              <a:rPr lang="en-US" sz="6000" dirty="0"/>
              <a:t>Data Mining: </a:t>
            </a:r>
            <a:br>
              <a:rPr lang="en-US" sz="6000" dirty="0"/>
            </a:br>
            <a:r>
              <a:rPr lang="en-US" sz="6000" dirty="0"/>
              <a:t> </a:t>
            </a:r>
            <a:r>
              <a:rPr lang="en-US" sz="4800" dirty="0"/>
              <a:t>Concepts and Techniques</a:t>
            </a:r>
            <a:r>
              <a:rPr lang="en-US" sz="6000" dirty="0"/>
              <a:t> </a:t>
            </a:r>
            <a:br>
              <a:rPr lang="en-US" sz="6000" dirty="0"/>
            </a:br>
            <a:br>
              <a:rPr lang="en-US" sz="6000" dirty="0"/>
            </a:br>
            <a:r>
              <a:rPr lang="en-US" sz="2800" dirty="0"/>
              <a:t>— Chapter 2 —</a:t>
            </a:r>
            <a:br>
              <a:rPr lang="en-US" sz="2800" dirty="0"/>
            </a:br>
            <a:r>
              <a:rPr lang="en-US" sz="2800" dirty="0"/>
              <a:t>Know Your Data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04E78F9-0123-4906-9FD5-42215F727B7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01000" cy="609600"/>
          </a:xfrm>
        </p:spPr>
        <p:txBody>
          <a:bodyPr/>
          <a:lstStyle/>
          <a:p>
            <a:pPr eaLnBrk="1" hangingPunct="1"/>
            <a:r>
              <a:rPr lang="en-US"/>
              <a:t>Data Matrix and Dissimilarity Matrix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3962400" cy="5181600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chemeClr val="hlink"/>
                </a:solidFill>
              </a:rPr>
              <a:t>Data matrix</a:t>
            </a:r>
          </a:p>
          <a:p>
            <a:pPr lvl="1" eaLnBrk="1" hangingPunct="1"/>
            <a:r>
              <a:rPr lang="en-US" sz="2400" dirty="0"/>
              <a:t>Object by attribute structure(n x p)</a:t>
            </a:r>
          </a:p>
          <a:p>
            <a:pPr lvl="1" eaLnBrk="1" hangingPunct="1"/>
            <a:r>
              <a:rPr lang="en-US" sz="2400" dirty="0"/>
              <a:t>n data points with p dimensions</a:t>
            </a:r>
          </a:p>
          <a:p>
            <a:pPr lvl="1" eaLnBrk="1" hangingPunct="1"/>
            <a:r>
              <a:rPr lang="en-US" sz="2400" dirty="0"/>
              <a:t>Two modes</a:t>
            </a:r>
          </a:p>
          <a:p>
            <a:pPr eaLnBrk="1" hangingPunct="1"/>
            <a:r>
              <a:rPr lang="en-US" sz="2400" dirty="0">
                <a:solidFill>
                  <a:schemeClr val="hlink"/>
                </a:solidFill>
              </a:rPr>
              <a:t>Dissimilarity matrix</a:t>
            </a:r>
          </a:p>
          <a:p>
            <a:pPr lvl="1" eaLnBrk="1" hangingPunct="1"/>
            <a:r>
              <a:rPr lang="en-US" sz="2400" dirty="0"/>
              <a:t>Object by object structure(n x n)</a:t>
            </a:r>
          </a:p>
          <a:p>
            <a:pPr lvl="1" eaLnBrk="1" hangingPunct="1"/>
            <a:r>
              <a:rPr lang="en-US" sz="2400" dirty="0"/>
              <a:t>n data points, but registers only the distance </a:t>
            </a:r>
          </a:p>
          <a:p>
            <a:pPr lvl="1" eaLnBrk="1" hangingPunct="1"/>
            <a:r>
              <a:rPr lang="en-US" sz="2400" dirty="0"/>
              <a:t>A triangular matrix</a:t>
            </a:r>
          </a:p>
          <a:p>
            <a:pPr lvl="1" eaLnBrk="1" hangingPunct="1"/>
            <a:r>
              <a:rPr lang="en-US" sz="2400" dirty="0"/>
              <a:t>Single mode</a:t>
            </a:r>
          </a:p>
        </p:txBody>
      </p:sp>
      <p:graphicFrame>
        <p:nvGraphicFramePr>
          <p:cNvPr id="54277" name="Object 4"/>
          <p:cNvGraphicFramePr>
            <a:graphicFrameLocks noChangeAspect="1"/>
          </p:cNvGraphicFramePr>
          <p:nvPr/>
        </p:nvGraphicFramePr>
        <p:xfrm>
          <a:off x="4419600" y="1752600"/>
          <a:ext cx="3124200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3" name="Equation" r:id="rId4" imgW="1778000" imgH="1244600" progId="Equation.3">
                  <p:embed/>
                </p:oleObj>
              </mc:Choice>
              <mc:Fallback>
                <p:oleObj name="Equation" r:id="rId4" imgW="1778000" imgH="1244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752600"/>
                        <a:ext cx="3124200" cy="205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8" name="Object 5"/>
          <p:cNvGraphicFramePr>
            <a:graphicFrameLocks noChangeAspect="1"/>
          </p:cNvGraphicFramePr>
          <p:nvPr/>
        </p:nvGraphicFramePr>
        <p:xfrm>
          <a:off x="4419600" y="4191000"/>
          <a:ext cx="3429000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4" name="Equation" r:id="rId6" imgW="1828800" imgH="1143000" progId="Equation.3">
                  <p:embed/>
                </p:oleObj>
              </mc:Choice>
              <mc:Fallback>
                <p:oleObj name="Equation" r:id="rId6" imgW="1828800" imgH="1143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191000"/>
                        <a:ext cx="3429000" cy="1970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F52EAA4-4E86-41F5-B894-D2E8D8D6584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7826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>
                <a:solidFill>
                  <a:srgbClr val="170981"/>
                </a:solidFill>
              </a:rPr>
              <a:t>Proximity Measure for Nominal Attributes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648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dirty="0"/>
              <a:t>Can take 2 or more states, e.g., red, yellow, blue, green (generalization of a binary attribute)</a:t>
            </a:r>
          </a:p>
          <a:p>
            <a:pPr eaLnBrk="1" hangingPunct="1">
              <a:lnSpc>
                <a:spcPct val="120000"/>
              </a:lnSpc>
            </a:pPr>
            <a:r>
              <a:rPr lang="en-US" dirty="0"/>
              <a:t>Simple matching</a:t>
            </a:r>
            <a:endParaRPr lang="en-US" i="1" dirty="0"/>
          </a:p>
          <a:p>
            <a:pPr lvl="1" eaLnBrk="1" hangingPunct="1">
              <a:lnSpc>
                <a:spcPct val="120000"/>
              </a:lnSpc>
            </a:pPr>
            <a:r>
              <a:rPr lang="en-US" i="1" dirty="0"/>
              <a:t>m</a:t>
            </a:r>
            <a:r>
              <a:rPr lang="en-US" dirty="0"/>
              <a:t>: # of matches,</a:t>
            </a:r>
            <a:r>
              <a:rPr lang="en-US" i="1" dirty="0"/>
              <a:t> p</a:t>
            </a:r>
            <a:r>
              <a:rPr lang="en-US" dirty="0"/>
              <a:t>: total # of variables</a:t>
            </a:r>
          </a:p>
          <a:p>
            <a:pPr eaLnBrk="1" hangingPunct="1">
              <a:lnSpc>
                <a:spcPct val="120000"/>
              </a:lnSpc>
            </a:pPr>
            <a:endParaRPr lang="en-US" dirty="0"/>
          </a:p>
        </p:txBody>
      </p:sp>
      <p:graphicFrame>
        <p:nvGraphicFramePr>
          <p:cNvPr id="55301" name="Object 4"/>
          <p:cNvGraphicFramePr>
            <a:graphicFrameLocks noChangeAspect="1"/>
          </p:cNvGraphicFramePr>
          <p:nvPr/>
        </p:nvGraphicFramePr>
        <p:xfrm>
          <a:off x="3124200" y="3810000"/>
          <a:ext cx="26670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9" name="Equation" r:id="rId4" imgW="1384300" imgH="469900" progId="Equation.3">
                  <p:embed/>
                </p:oleObj>
              </mc:Choice>
              <mc:Fallback>
                <p:oleObj name="Equation" r:id="rId4" imgW="13843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10000"/>
                        <a:ext cx="2667000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pPr algn="ctr"/>
            <a:fld id="{E8A259BB-C8F1-499F-88B9-D893A4F86713}" type="slidenum">
              <a:rPr lang="en-US" altLang="en-US" sz="1200">
                <a:latin typeface="Tahoma" pitchFamily="34" charset="0"/>
              </a:rPr>
              <a:pPr algn="ctr"/>
              <a:t>4</a:t>
            </a:fld>
            <a:endParaRPr lang="en-US" altLang="en-US" sz="1200">
              <a:latin typeface="Tahoma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7826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3200">
                <a:solidFill>
                  <a:srgbClr val="170981"/>
                </a:solidFill>
              </a:rPr>
              <a:t>Dissimilarity between Nominal Attributes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3276600"/>
            <a:ext cx="7543800" cy="1143000"/>
          </a:xfrm>
          <a:noFill/>
        </p:spPr>
        <p:txBody>
          <a:bodyPr lIns="92075" tIns="46038" rIns="92075" bIns="46038"/>
          <a:lstStyle/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en-US" sz="2000"/>
              <a:t>Here, we have one nominal attribute, test-1, so p=1.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en-US" sz="2000"/>
              <a:t>The dissimilarity matrix is as shown below: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endParaRPr lang="en-US" altLang="en-US" sz="2000"/>
          </a:p>
        </p:txBody>
      </p:sp>
      <p:pic>
        <p:nvPicPr>
          <p:cNvPr id="2867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1371600"/>
            <a:ext cx="2062163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81400" y="4343400"/>
            <a:ext cx="2057400" cy="210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FE6731A-860F-4946-A71C-BBB47FB4CA9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106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>
                <a:solidFill>
                  <a:srgbClr val="170981"/>
                </a:solidFill>
              </a:rPr>
              <a:t>Proximity Measure for Binary Attributes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295400"/>
            <a:ext cx="4648200" cy="38100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sz="2000" dirty="0"/>
              <a:t>A contingency table for binary data</a:t>
            </a:r>
          </a:p>
          <a:p>
            <a:pPr eaLnBrk="1" hangingPunct="1">
              <a:lnSpc>
                <a:spcPct val="130000"/>
              </a:lnSpc>
            </a:pPr>
            <a:endParaRPr lang="en-US" sz="2000" dirty="0"/>
          </a:p>
          <a:p>
            <a:pPr eaLnBrk="1" hangingPunct="1">
              <a:lnSpc>
                <a:spcPct val="130000"/>
              </a:lnSpc>
            </a:pPr>
            <a:endParaRPr lang="en-US" sz="2000" dirty="0"/>
          </a:p>
          <a:p>
            <a:pPr eaLnBrk="1" hangingPunct="1">
              <a:lnSpc>
                <a:spcPct val="130000"/>
              </a:lnSpc>
            </a:pPr>
            <a:r>
              <a:rPr lang="en-US" sz="2000" dirty="0"/>
              <a:t>Distance measure for symmetric binary variables: </a:t>
            </a:r>
          </a:p>
          <a:p>
            <a:pPr eaLnBrk="1" hangingPunct="1">
              <a:lnSpc>
                <a:spcPct val="130000"/>
              </a:lnSpc>
            </a:pPr>
            <a:endParaRPr lang="en-US" sz="2000" dirty="0"/>
          </a:p>
          <a:p>
            <a:pPr eaLnBrk="1" hangingPunct="1">
              <a:lnSpc>
                <a:spcPct val="130000"/>
              </a:lnSpc>
            </a:pPr>
            <a:r>
              <a:rPr lang="en-US" sz="2000" dirty="0"/>
              <a:t>Distance measure for asymmetric binary variables: </a:t>
            </a:r>
          </a:p>
          <a:p>
            <a:pPr eaLnBrk="1" hangingPunct="1">
              <a:lnSpc>
                <a:spcPct val="130000"/>
              </a:lnSpc>
            </a:pPr>
            <a:endParaRPr lang="en-US" sz="2000" dirty="0"/>
          </a:p>
          <a:p>
            <a:pPr eaLnBrk="1" hangingPunct="1">
              <a:lnSpc>
                <a:spcPct val="130000"/>
              </a:lnSpc>
            </a:pPr>
            <a:r>
              <a:rPr lang="en-US" sz="2000" dirty="0"/>
              <a:t>Jaccard coefficient (</a:t>
            </a:r>
            <a:r>
              <a:rPr lang="en-US" sz="2000" i="1" dirty="0">
                <a:solidFill>
                  <a:schemeClr val="hlink"/>
                </a:solidFill>
              </a:rPr>
              <a:t>similarity</a:t>
            </a:r>
            <a:r>
              <a:rPr lang="en-US" sz="2000" dirty="0"/>
              <a:t> measure for </a:t>
            </a:r>
            <a:r>
              <a:rPr lang="en-US" sz="2000" i="1" dirty="0"/>
              <a:t>asymmetric </a:t>
            </a:r>
            <a:r>
              <a:rPr lang="en-US" sz="2000" dirty="0"/>
              <a:t>binary variables): </a:t>
            </a:r>
          </a:p>
        </p:txBody>
      </p:sp>
      <p:sp>
        <p:nvSpPr>
          <p:cNvPr id="1031" name="Rectangle 15"/>
          <p:cNvSpPr>
            <a:spLocks noChangeArrowheads="1"/>
          </p:cNvSpPr>
          <p:nvPr/>
        </p:nvSpPr>
        <p:spPr bwMode="auto">
          <a:xfrm>
            <a:off x="228600" y="5181600"/>
            <a:ext cx="853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sz="2000" dirty="0"/>
          </a:p>
        </p:txBody>
      </p:sp>
      <p:pic>
        <p:nvPicPr>
          <p:cNvPr id="1032" name="Picture 18" descr="eqjaccar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5512362"/>
            <a:ext cx="43434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D4F8B09-20C1-46DF-8F73-A9BEBBC6DCEF}"/>
              </a:ext>
            </a:extLst>
          </p:cNvPr>
          <p:cNvGraphicFramePr/>
          <p:nvPr/>
        </p:nvGraphicFramePr>
        <p:xfrm>
          <a:off x="6477000" y="2413000"/>
          <a:ext cx="381000" cy="233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33" name="Picture 30" descr="eqbinarysym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760155" y="2668550"/>
            <a:ext cx="3429000" cy="74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31" descr="eqbinaryasym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047077" y="4098388"/>
            <a:ext cx="29718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36" descr="eqcontingency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029200" y="1276350"/>
            <a:ext cx="39624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7" name="Text Box 37"/>
          <p:cNvSpPr txBox="1">
            <a:spLocks noChangeArrowheads="1"/>
          </p:cNvSpPr>
          <p:nvPr/>
        </p:nvSpPr>
        <p:spPr bwMode="auto">
          <a:xfrm>
            <a:off x="4343400" y="1690688"/>
            <a:ext cx="963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Object </a:t>
            </a:r>
            <a:r>
              <a:rPr lang="en-US" sz="1800" i="1"/>
              <a:t>i</a:t>
            </a:r>
            <a:endParaRPr lang="en-US" sz="1800"/>
          </a:p>
        </p:txBody>
      </p:sp>
      <p:sp>
        <p:nvSpPr>
          <p:cNvPr id="1038" name="Text Box 38"/>
          <p:cNvSpPr txBox="1">
            <a:spLocks noChangeArrowheads="1"/>
          </p:cNvSpPr>
          <p:nvPr/>
        </p:nvSpPr>
        <p:spPr bwMode="auto">
          <a:xfrm>
            <a:off x="6705600" y="928688"/>
            <a:ext cx="9763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Object </a:t>
            </a:r>
            <a:r>
              <a:rPr lang="en-US" sz="1800" i="1"/>
              <a:t>j</a:t>
            </a:r>
            <a:endParaRPr lang="en-US" sz="1800"/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4906B88-827F-4602-ACFD-8AF86871DCB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31238" cy="838200"/>
          </a:xfrm>
        </p:spPr>
        <p:txBody>
          <a:bodyPr/>
          <a:lstStyle/>
          <a:p>
            <a:pPr eaLnBrk="1" hangingPunct="1"/>
            <a:r>
              <a:rPr lang="en-US"/>
              <a:t>Dissimilarity between Binary Variables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382000" cy="4949825"/>
          </a:xfrm>
        </p:spPr>
        <p:txBody>
          <a:bodyPr/>
          <a:lstStyle/>
          <a:p>
            <a:pPr eaLnBrk="1" hangingPunct="1"/>
            <a:r>
              <a:rPr lang="en-US" sz="2400"/>
              <a:t>Example</a:t>
            </a:r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lvl="1" eaLnBrk="1" hangingPunct="1"/>
            <a:endParaRPr lang="en-US" sz="2400"/>
          </a:p>
          <a:p>
            <a:pPr lvl="1" eaLnBrk="1" hangingPunct="1"/>
            <a:endParaRPr lang="en-US" sz="2000"/>
          </a:p>
          <a:p>
            <a:pPr lvl="1" eaLnBrk="1" hangingPunct="1"/>
            <a:r>
              <a:rPr lang="en-US" sz="2000"/>
              <a:t>Gender is a symmetric attribute</a:t>
            </a:r>
          </a:p>
          <a:p>
            <a:pPr lvl="1" eaLnBrk="1" hangingPunct="1"/>
            <a:r>
              <a:rPr lang="en-US" sz="2000"/>
              <a:t>The remaining attributes are asymmetric binary</a:t>
            </a:r>
          </a:p>
          <a:p>
            <a:pPr lvl="1" eaLnBrk="1" hangingPunct="1"/>
            <a:r>
              <a:rPr lang="en-US" sz="2000"/>
              <a:t>Let the values Y and P be 1, and the value N 0</a:t>
            </a:r>
          </a:p>
        </p:txBody>
      </p:sp>
      <p:graphicFrame>
        <p:nvGraphicFramePr>
          <p:cNvPr id="56325" name="Object 4"/>
          <p:cNvGraphicFramePr>
            <a:graphicFrameLocks noChangeAspect="1"/>
          </p:cNvGraphicFramePr>
          <p:nvPr/>
        </p:nvGraphicFramePr>
        <p:xfrm>
          <a:off x="1143000" y="1981200"/>
          <a:ext cx="693261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1" name="Document" r:id="rId4" imgW="6819900" imgH="1475232" progId="Word.Document.8">
                  <p:embed/>
                </p:oleObj>
              </mc:Choice>
              <mc:Fallback>
                <p:oleObj name="Document" r:id="rId4" imgW="6819900" imgH="147523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81200"/>
                        <a:ext cx="6932613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5"/>
          <p:cNvGraphicFramePr>
            <a:graphicFrameLocks noChangeAspect="1"/>
          </p:cNvGraphicFramePr>
          <p:nvPr/>
        </p:nvGraphicFramePr>
        <p:xfrm>
          <a:off x="2057400" y="4784725"/>
          <a:ext cx="4191000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2" name="Equation" r:id="rId6" imgW="2019300" imgH="1219200" progId="Equation.3">
                  <p:embed/>
                </p:oleObj>
              </mc:Choice>
              <mc:Fallback>
                <p:oleObj name="Equation" r:id="rId6" imgW="2019300" imgH="1219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784725"/>
                        <a:ext cx="4191000" cy="169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15C6016-2898-49BD-AF26-9D963928B10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/>
          <a:lstStyle/>
          <a:p>
            <a:pPr eaLnBrk="1" hangingPunct="1"/>
            <a:r>
              <a:rPr lang="en-US" sz="3200"/>
              <a:t>Distance on Numeric Data: Minkowski Distance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458200" cy="5029200"/>
          </a:xfrm>
        </p:spPr>
        <p:txBody>
          <a:bodyPr/>
          <a:lstStyle/>
          <a:p>
            <a:pPr marL="381000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400" i="1" dirty="0" err="1">
                <a:solidFill>
                  <a:schemeClr val="hlink"/>
                </a:solidFill>
              </a:rPr>
              <a:t>Minkowski</a:t>
            </a:r>
            <a:r>
              <a:rPr lang="en-US" sz="2400" i="1" dirty="0">
                <a:solidFill>
                  <a:schemeClr val="hlink"/>
                </a:solidFill>
              </a:rPr>
              <a:t> distance</a:t>
            </a:r>
            <a:r>
              <a:rPr lang="en-US" sz="2400" dirty="0"/>
              <a:t>: A popular distance measure</a:t>
            </a:r>
          </a:p>
          <a:p>
            <a:pPr marL="381000" indent="-381000" eaLnBrk="1" hangingPunct="1"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pPr marL="838200" lvl="1" indent="-381000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</a:pPr>
            <a:endParaRPr lang="en-US" sz="2400" dirty="0"/>
          </a:p>
          <a:p>
            <a:pPr marL="838200" lvl="1" indent="-381000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400" dirty="0"/>
              <a:t>where  </a:t>
            </a:r>
            <a:r>
              <a:rPr lang="en-US" sz="2400" i="1" dirty="0" err="1"/>
              <a:t>i</a:t>
            </a:r>
            <a:r>
              <a:rPr lang="en-US" sz="2400" dirty="0"/>
              <a:t> = (</a:t>
            </a:r>
            <a:r>
              <a:rPr lang="en-US" sz="2400" i="1" dirty="0"/>
              <a:t>x</a:t>
            </a:r>
            <a:r>
              <a:rPr lang="en-US" sz="2400" baseline="-25000" dirty="0"/>
              <a:t>i1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baseline="-25000" dirty="0"/>
              <a:t>i2</a:t>
            </a:r>
            <a:r>
              <a:rPr lang="en-US" sz="2400" dirty="0"/>
              <a:t>, …, </a:t>
            </a:r>
            <a:r>
              <a:rPr lang="en-US" sz="2400" i="1" dirty="0" err="1"/>
              <a:t>x</a:t>
            </a:r>
            <a:r>
              <a:rPr lang="en-US" sz="2400" baseline="-25000" dirty="0" err="1"/>
              <a:t>ip</a:t>
            </a:r>
            <a:r>
              <a:rPr lang="en-US" sz="2400" dirty="0"/>
              <a:t>) and</a:t>
            </a:r>
            <a:r>
              <a:rPr lang="en-US" sz="2400" i="1" dirty="0"/>
              <a:t> j</a:t>
            </a:r>
            <a:r>
              <a:rPr lang="en-US" sz="2400" dirty="0"/>
              <a:t> = (</a:t>
            </a:r>
            <a:r>
              <a:rPr lang="en-US" sz="2400" i="1" dirty="0"/>
              <a:t>x</a:t>
            </a:r>
            <a:r>
              <a:rPr lang="en-US" sz="2400" baseline="-25000" dirty="0"/>
              <a:t>j1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baseline="-25000" dirty="0"/>
              <a:t>j2</a:t>
            </a:r>
            <a:r>
              <a:rPr lang="en-US" sz="2400" dirty="0"/>
              <a:t>, …, </a:t>
            </a:r>
            <a:r>
              <a:rPr lang="en-US" sz="2400" i="1" dirty="0" err="1"/>
              <a:t>x</a:t>
            </a:r>
            <a:r>
              <a:rPr lang="en-US" sz="2400" baseline="-25000" dirty="0" err="1"/>
              <a:t>jp</a:t>
            </a:r>
            <a:r>
              <a:rPr lang="en-US" sz="2400" dirty="0"/>
              <a:t>) are two </a:t>
            </a:r>
            <a:r>
              <a:rPr lang="en-US" sz="2400" i="1" dirty="0"/>
              <a:t>p</a:t>
            </a:r>
            <a:r>
              <a:rPr lang="en-US" sz="2400" dirty="0"/>
              <a:t>-dimensional data objects, and </a:t>
            </a:r>
            <a:r>
              <a:rPr lang="en-US" sz="2400" i="1" dirty="0"/>
              <a:t>h</a:t>
            </a:r>
            <a:r>
              <a:rPr lang="en-US" sz="2400" dirty="0"/>
              <a:t> is the order (the distance so defined is also called L-</a:t>
            </a:r>
            <a:r>
              <a:rPr lang="en-US" sz="2400" i="1" dirty="0"/>
              <a:t>h</a:t>
            </a:r>
            <a:r>
              <a:rPr lang="en-US" sz="2400" dirty="0"/>
              <a:t> norm)</a:t>
            </a:r>
          </a:p>
        </p:txBody>
      </p:sp>
      <p:pic>
        <p:nvPicPr>
          <p:cNvPr id="59397" name="Picture 7" descr="eqminkowsk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828800"/>
            <a:ext cx="6400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3E3AC5C-C58E-46D4-ABF3-D885D05F32C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Special Cases of Minkowski Distance</a:t>
            </a:r>
            <a:endParaRPr lang="en-US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077200" cy="5181600"/>
          </a:xfrm>
        </p:spPr>
        <p:txBody>
          <a:bodyPr/>
          <a:lstStyle/>
          <a:p>
            <a:pPr eaLnBrk="1" hangingPunct="1"/>
            <a:r>
              <a:rPr lang="en-US" sz="2000" i="1">
                <a:latin typeface="Arial" charset="0"/>
                <a:cs typeface="Times New Roman" pitchFamily="18" charset="0"/>
              </a:rPr>
              <a:t>h</a:t>
            </a:r>
            <a:r>
              <a:rPr lang="en-US" sz="2000">
                <a:latin typeface="Arial" charset="0"/>
                <a:cs typeface="Times New Roman" pitchFamily="18" charset="0"/>
              </a:rPr>
              <a:t> = 1:  </a:t>
            </a:r>
            <a:r>
              <a:rPr lang="en-US" sz="2000">
                <a:solidFill>
                  <a:schemeClr val="hlink"/>
                </a:solidFill>
                <a:latin typeface="Arial" charset="0"/>
                <a:cs typeface="Times New Roman" pitchFamily="18" charset="0"/>
              </a:rPr>
              <a:t>Manhattan</a:t>
            </a:r>
            <a:r>
              <a:rPr lang="en-US" sz="2000">
                <a:latin typeface="Arial" charset="0"/>
                <a:cs typeface="Times New Roman" pitchFamily="18" charset="0"/>
              </a:rPr>
              <a:t> (city block, L</a:t>
            </a:r>
            <a:r>
              <a:rPr lang="en-US" sz="2000" baseline="-30000">
                <a:latin typeface="Arial" charset="0"/>
                <a:cs typeface="Times New Roman" pitchFamily="18" charset="0"/>
              </a:rPr>
              <a:t>1</a:t>
            </a:r>
            <a:r>
              <a:rPr lang="en-US" sz="2000">
                <a:latin typeface="Arial" charset="0"/>
                <a:cs typeface="Times New Roman" pitchFamily="18" charset="0"/>
              </a:rPr>
              <a:t> norm)</a:t>
            </a:r>
            <a:r>
              <a:rPr lang="en-US" sz="2000">
                <a:solidFill>
                  <a:schemeClr val="hlink"/>
                </a:solidFill>
                <a:latin typeface="Arial" charset="0"/>
                <a:cs typeface="Times New Roman" pitchFamily="18" charset="0"/>
              </a:rPr>
              <a:t> distance</a:t>
            </a:r>
            <a:r>
              <a:rPr lang="en-US" sz="2000">
                <a:latin typeface="Arial" charset="0"/>
                <a:cs typeface="Times New Roman" pitchFamily="18" charset="0"/>
              </a:rPr>
              <a:t> </a:t>
            </a:r>
          </a:p>
          <a:p>
            <a:pPr lvl="1" eaLnBrk="1" hangingPunct="1"/>
            <a:r>
              <a:rPr lang="en-US" sz="2000">
                <a:latin typeface="Arial" charset="0"/>
                <a:cs typeface="Times New Roman" pitchFamily="18" charset="0"/>
              </a:rPr>
              <a:t>E.g., the Hamming distance: the number of bits that are different between two binary vectors</a:t>
            </a:r>
          </a:p>
          <a:p>
            <a:pPr lvl="1" eaLnBrk="1" hangingPunct="1"/>
            <a:endParaRPr lang="en-US" sz="2000" b="1">
              <a:latin typeface="Arial" charset="0"/>
              <a:cs typeface="Times New Roman" pitchFamily="18" charset="0"/>
            </a:endParaRPr>
          </a:p>
          <a:p>
            <a:pPr eaLnBrk="1" hangingPunct="1"/>
            <a:endParaRPr lang="en-US" sz="2000" i="1">
              <a:latin typeface="Arial" charset="0"/>
              <a:cs typeface="Times New Roman" pitchFamily="18" charset="0"/>
            </a:endParaRPr>
          </a:p>
          <a:p>
            <a:pPr eaLnBrk="1" hangingPunct="1"/>
            <a:r>
              <a:rPr lang="en-US" sz="2000" i="1">
                <a:latin typeface="Arial" charset="0"/>
                <a:cs typeface="Times New Roman" pitchFamily="18" charset="0"/>
              </a:rPr>
              <a:t>h </a:t>
            </a:r>
            <a:r>
              <a:rPr lang="en-US" sz="2000">
                <a:latin typeface="Arial" charset="0"/>
                <a:cs typeface="Times New Roman" pitchFamily="18" charset="0"/>
              </a:rPr>
              <a:t>= 2:  (L</a:t>
            </a:r>
            <a:r>
              <a:rPr lang="en-US" sz="2000" baseline="-25000">
                <a:latin typeface="Arial" charset="0"/>
                <a:cs typeface="Times New Roman" pitchFamily="18" charset="0"/>
              </a:rPr>
              <a:t>2</a:t>
            </a:r>
            <a:r>
              <a:rPr lang="en-US" sz="2000">
                <a:latin typeface="Arial" charset="0"/>
                <a:cs typeface="Times New Roman" pitchFamily="18" charset="0"/>
              </a:rPr>
              <a:t> norm) </a:t>
            </a:r>
            <a:r>
              <a:rPr lang="en-US" sz="2000">
                <a:solidFill>
                  <a:schemeClr val="hlink"/>
                </a:solidFill>
                <a:latin typeface="Arial" charset="0"/>
                <a:cs typeface="Times New Roman" pitchFamily="18" charset="0"/>
              </a:rPr>
              <a:t>Euclidean</a:t>
            </a:r>
            <a:r>
              <a:rPr lang="en-US" sz="2000">
                <a:latin typeface="Arial" charset="0"/>
                <a:cs typeface="Times New Roman" pitchFamily="18" charset="0"/>
              </a:rPr>
              <a:t> distance</a:t>
            </a:r>
          </a:p>
          <a:p>
            <a:pPr lvl="4" eaLnBrk="1" hangingPunct="1"/>
            <a:endParaRPr lang="en-US">
              <a:latin typeface="Arial" charset="0"/>
              <a:cs typeface="Times New Roman" pitchFamily="18" charset="0"/>
            </a:endParaRPr>
          </a:p>
          <a:p>
            <a:pPr eaLnBrk="1" hangingPunct="1"/>
            <a:endParaRPr lang="en-US" sz="2000" i="1">
              <a:latin typeface="Arial" charset="0"/>
              <a:cs typeface="Times New Roman" pitchFamily="18" charset="0"/>
            </a:endParaRPr>
          </a:p>
          <a:p>
            <a:pPr eaLnBrk="1" hangingPunct="1"/>
            <a:r>
              <a:rPr lang="en-US" sz="2000" i="1">
                <a:latin typeface="Arial" charset="0"/>
                <a:cs typeface="Times New Roman" pitchFamily="18" charset="0"/>
              </a:rPr>
              <a:t>h </a:t>
            </a:r>
            <a:r>
              <a:rPr lang="en-US" sz="2000">
                <a:latin typeface="Arial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2000">
                <a:latin typeface="Arial" charset="0"/>
                <a:cs typeface="Times New Roman" pitchFamily="18" charset="0"/>
              </a:rPr>
              <a:t> </a:t>
            </a:r>
            <a:r>
              <a:rPr lang="en-US" sz="2000">
                <a:latin typeface="Arial" charset="0"/>
                <a:cs typeface="Times New Roman" pitchFamily="18" charset="0"/>
                <a:sym typeface="Symbol" pitchFamily="18" charset="2"/>
              </a:rPr>
              <a:t></a:t>
            </a:r>
            <a:r>
              <a:rPr lang="en-US" sz="2000">
                <a:latin typeface="Arial" charset="0"/>
                <a:cs typeface="Times New Roman" pitchFamily="18" charset="0"/>
              </a:rPr>
              <a:t>.  </a:t>
            </a:r>
            <a:r>
              <a:rPr lang="en-US" sz="2000">
                <a:solidFill>
                  <a:schemeClr val="hlink"/>
                </a:solidFill>
                <a:latin typeface="Arial" charset="0"/>
                <a:cs typeface="Times New Roman" pitchFamily="18" charset="0"/>
              </a:rPr>
              <a:t>“supremum”</a:t>
            </a:r>
            <a:r>
              <a:rPr lang="en-US" sz="2000">
                <a:latin typeface="Arial" charset="0"/>
                <a:cs typeface="Times New Roman" pitchFamily="18" charset="0"/>
              </a:rPr>
              <a:t> (L</a:t>
            </a:r>
            <a:r>
              <a:rPr lang="en-US" sz="2000" baseline="-30000">
                <a:latin typeface="Arial" charset="0"/>
                <a:cs typeface="Times New Roman" pitchFamily="18" charset="0"/>
              </a:rPr>
              <a:t>max </a:t>
            </a:r>
            <a:r>
              <a:rPr lang="en-US" sz="2000">
                <a:latin typeface="Arial" charset="0"/>
                <a:cs typeface="Times New Roman" pitchFamily="18" charset="0"/>
              </a:rPr>
              <a:t>norm, L</a:t>
            </a:r>
            <a:r>
              <a:rPr lang="en-US" sz="2000" baseline="-30000">
                <a:latin typeface="Arial" charset="0"/>
                <a:cs typeface="Times New Roman" pitchFamily="18" charset="0"/>
                <a:sym typeface="Symbol" pitchFamily="18" charset="2"/>
              </a:rPr>
              <a:t></a:t>
            </a:r>
            <a:r>
              <a:rPr lang="en-US" sz="2000" baseline="-30000">
                <a:latin typeface="Arial" charset="0"/>
                <a:cs typeface="Times New Roman" pitchFamily="18" charset="0"/>
              </a:rPr>
              <a:t> </a:t>
            </a:r>
            <a:r>
              <a:rPr lang="en-US" sz="2000">
                <a:latin typeface="Arial" charset="0"/>
                <a:cs typeface="Times New Roman" pitchFamily="18" charset="0"/>
              </a:rPr>
              <a:t>norm) distance. </a:t>
            </a:r>
          </a:p>
          <a:p>
            <a:pPr lvl="1" eaLnBrk="1" hangingPunct="1"/>
            <a:r>
              <a:rPr lang="en-US" sz="2000">
                <a:latin typeface="Arial" charset="0"/>
                <a:cs typeface="Times New Roman" pitchFamily="18" charset="0"/>
              </a:rPr>
              <a:t>This is the maximum difference between any component (attribute) of the vectors</a:t>
            </a:r>
          </a:p>
          <a:p>
            <a:pPr lvl="1" eaLnBrk="1" hangingPunct="1"/>
            <a:endParaRPr lang="en-US" sz="2000">
              <a:latin typeface="Arial" charset="0"/>
              <a:cs typeface="Times New Roman" pitchFamily="18" charset="0"/>
            </a:endParaRPr>
          </a:p>
        </p:txBody>
      </p:sp>
      <p:graphicFrame>
        <p:nvGraphicFramePr>
          <p:cNvPr id="60421" name="Object 4"/>
          <p:cNvGraphicFramePr>
            <a:graphicFrameLocks noChangeAspect="1"/>
          </p:cNvGraphicFramePr>
          <p:nvPr/>
        </p:nvGraphicFramePr>
        <p:xfrm>
          <a:off x="2063750" y="3455988"/>
          <a:ext cx="5005388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7" name="Equation" r:id="rId4" imgW="5003800" imgH="584200" progId="Equation.3">
                  <p:embed/>
                </p:oleObj>
              </mc:Choice>
              <mc:Fallback>
                <p:oleObj name="Equation" r:id="rId4" imgW="5003800" imgH="584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3455988"/>
                        <a:ext cx="5005388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438400" y="2514600"/>
          <a:ext cx="41148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8" name="Microsoft Equation 3.0" r:id="rId6" imgW="4292600" imgH="431800" progId="Equation.3">
                  <p:embed/>
                </p:oleObj>
              </mc:Choice>
              <mc:Fallback>
                <p:oleObj name="Microsoft Equation 3.0" r:id="rId6" imgW="42926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514600"/>
                        <a:ext cx="4114800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0423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600200" y="5410200"/>
            <a:ext cx="6019800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25FDABE-5211-4A1A-8A88-E7AAE49A075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Minkowski Distance</a:t>
            </a:r>
          </a:p>
        </p:txBody>
      </p:sp>
      <p:sp>
        <p:nvSpPr>
          <p:cNvPr id="61444" name="Text Box 3"/>
          <p:cNvSpPr txBox="1">
            <a:spLocks noChangeArrowheads="1"/>
          </p:cNvSpPr>
          <p:nvPr/>
        </p:nvSpPr>
        <p:spPr bwMode="auto">
          <a:xfrm>
            <a:off x="5334000" y="838200"/>
            <a:ext cx="28956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>
                <a:latin typeface="Arial" charset="0"/>
              </a:rPr>
              <a:t>Dissimilarity Matrices</a:t>
            </a:r>
          </a:p>
        </p:txBody>
      </p:sp>
      <p:graphicFrame>
        <p:nvGraphicFramePr>
          <p:cNvPr id="61445" name="Object 4"/>
          <p:cNvGraphicFramePr>
            <a:graphicFrameLocks noChangeAspect="1"/>
          </p:cNvGraphicFramePr>
          <p:nvPr/>
        </p:nvGraphicFramePr>
        <p:xfrm>
          <a:off x="304800" y="1219200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8" name="Worksheet" r:id="rId4" imgW="1838249" imgH="819302" progId="Excel.Sheet.8">
                  <p:embed/>
                </p:oleObj>
              </mc:Choice>
              <mc:Fallback>
                <p:oleObj name="Worksheet" r:id="rId4" imgW="1838249" imgH="819302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19200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5"/>
          <p:cNvGraphicFramePr>
            <a:graphicFrameLocks noChangeAspect="1"/>
          </p:cNvGraphicFramePr>
          <p:nvPr/>
        </p:nvGraphicFramePr>
        <p:xfrm>
          <a:off x="3810000" y="1600200"/>
          <a:ext cx="4948238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9" name="Worksheet" r:id="rId6" imgW="3057449" imgH="819302" progId="Excel.Sheet.8">
                  <p:embed/>
                </p:oleObj>
              </mc:Choice>
              <mc:Fallback>
                <p:oleObj name="Worksheet" r:id="rId6" imgW="3057449" imgH="819302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600200"/>
                        <a:ext cx="4948238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6"/>
          <p:cNvGraphicFramePr>
            <a:graphicFrameLocks noChangeAspect="1"/>
          </p:cNvGraphicFramePr>
          <p:nvPr/>
        </p:nvGraphicFramePr>
        <p:xfrm>
          <a:off x="3810000" y="3429000"/>
          <a:ext cx="4948238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0" name="Worksheet" r:id="rId8" imgW="3057449" imgH="819302" progId="Excel.Sheet.8">
                  <p:embed/>
                </p:oleObj>
              </mc:Choice>
              <mc:Fallback>
                <p:oleObj name="Worksheet" r:id="rId8" imgW="3057449" imgH="819302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429000"/>
                        <a:ext cx="4948238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8" name="Object 7"/>
          <p:cNvGraphicFramePr>
            <a:graphicFrameLocks noChangeAspect="1"/>
          </p:cNvGraphicFramePr>
          <p:nvPr/>
        </p:nvGraphicFramePr>
        <p:xfrm>
          <a:off x="3810000" y="5254625"/>
          <a:ext cx="4872038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1" name="Worksheet" r:id="rId10" imgW="3057449" imgH="838200" progId="Excel.Sheet.8">
                  <p:embed/>
                </p:oleObj>
              </mc:Choice>
              <mc:Fallback>
                <p:oleObj name="Worksheet" r:id="rId10" imgW="3057449" imgH="838200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254625"/>
                        <a:ext cx="4872038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" name="Rectangle 16"/>
          <p:cNvSpPr>
            <a:spLocks noChangeArrowheads="1"/>
          </p:cNvSpPr>
          <p:nvPr/>
        </p:nvSpPr>
        <p:spPr bwMode="auto">
          <a:xfrm>
            <a:off x="3595688" y="1066800"/>
            <a:ext cx="25765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Manhattan (L</a:t>
            </a:r>
            <a:r>
              <a:rPr lang="en-US" b="1" baseline="-25000"/>
              <a:t>1</a:t>
            </a:r>
            <a:r>
              <a:rPr lang="en-US" b="1"/>
              <a:t>)</a:t>
            </a:r>
          </a:p>
        </p:txBody>
      </p:sp>
      <p:sp>
        <p:nvSpPr>
          <p:cNvPr id="61450" name="Rectangle 17"/>
          <p:cNvSpPr>
            <a:spLocks noChangeArrowheads="1"/>
          </p:cNvSpPr>
          <p:nvPr/>
        </p:nvSpPr>
        <p:spPr bwMode="auto">
          <a:xfrm>
            <a:off x="3581400" y="2895600"/>
            <a:ext cx="2332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Euclidean (L</a:t>
            </a:r>
            <a:r>
              <a:rPr lang="en-US" b="1" baseline="-25000"/>
              <a:t>2</a:t>
            </a:r>
            <a:r>
              <a:rPr lang="en-US" b="1"/>
              <a:t>)</a:t>
            </a:r>
          </a:p>
        </p:txBody>
      </p:sp>
      <p:sp>
        <p:nvSpPr>
          <p:cNvPr id="61451" name="Rectangle 18"/>
          <p:cNvSpPr>
            <a:spLocks noChangeArrowheads="1"/>
          </p:cNvSpPr>
          <p:nvPr/>
        </p:nvSpPr>
        <p:spPr bwMode="auto">
          <a:xfrm>
            <a:off x="3657600" y="4800600"/>
            <a:ext cx="1943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Supremum </a:t>
            </a:r>
          </a:p>
        </p:txBody>
      </p:sp>
      <p:graphicFrame>
        <p:nvGraphicFramePr>
          <p:cNvPr id="61452" name="Object 19"/>
          <p:cNvGraphicFramePr>
            <a:graphicFrameLocks noChangeAspect="1"/>
          </p:cNvGraphicFramePr>
          <p:nvPr/>
        </p:nvGraphicFramePr>
        <p:xfrm>
          <a:off x="265113" y="2819400"/>
          <a:ext cx="3006725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2" name="SmartDraw" r:id="rId12" imgW="4379976" imgH="5551932" progId="">
                  <p:embed/>
                </p:oleObj>
              </mc:Choice>
              <mc:Fallback>
                <p:oleObj name="SmartDraw" r:id="rId12" imgW="4379976" imgH="5551932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3" y="2819400"/>
                        <a:ext cx="3006725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00E672E-3A5A-4CF0-B1A6-EBB9487FDA1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57200"/>
            <a:ext cx="6553200" cy="6302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>
                <a:solidFill>
                  <a:srgbClr val="170981"/>
                </a:solidFill>
              </a:rPr>
              <a:t>Ordinal Variables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458200" cy="4800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sz="2400"/>
              <a:t>An ordinal variable can be discrete or continuous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/>
              <a:t>Order is important, e.g., rank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/>
              <a:t>Can be treated like interval-scaled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/>
              <a:t>replace </a:t>
            </a:r>
            <a:r>
              <a:rPr lang="en-US" sz="2400" i="1"/>
              <a:t>x</a:t>
            </a:r>
            <a:r>
              <a:rPr lang="en-US" sz="2400" i="1" baseline="-25000"/>
              <a:t>if</a:t>
            </a:r>
            <a:r>
              <a:rPr lang="en-US" sz="2400" baseline="-25000"/>
              <a:t> </a:t>
            </a:r>
            <a:r>
              <a:rPr lang="en-US" sz="2400"/>
              <a:t> by their rank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/>
              <a:t>map the range of each variable onto [0, 1] by replacing</a:t>
            </a:r>
            <a:r>
              <a:rPr lang="en-US" sz="2400" i="1"/>
              <a:t> i</a:t>
            </a:r>
            <a:r>
              <a:rPr lang="en-US" sz="2400"/>
              <a:t>-th object in the </a:t>
            </a:r>
            <a:r>
              <a:rPr lang="en-US" sz="2400" i="1"/>
              <a:t>f</a:t>
            </a:r>
            <a:r>
              <a:rPr lang="en-US" sz="2400"/>
              <a:t>-th variable by</a:t>
            </a:r>
          </a:p>
          <a:p>
            <a:pPr lvl="1" eaLnBrk="1" hangingPunct="1">
              <a:lnSpc>
                <a:spcPct val="110000"/>
              </a:lnSpc>
            </a:pPr>
            <a:endParaRPr lang="en-US" sz="2400"/>
          </a:p>
          <a:p>
            <a:pPr lvl="1" eaLnBrk="1" hangingPunct="1">
              <a:lnSpc>
                <a:spcPct val="110000"/>
              </a:lnSpc>
            </a:pPr>
            <a:endParaRPr lang="en-US" sz="2400"/>
          </a:p>
          <a:p>
            <a:pPr lvl="1" eaLnBrk="1" hangingPunct="1">
              <a:lnSpc>
                <a:spcPct val="110000"/>
              </a:lnSpc>
            </a:pPr>
            <a:r>
              <a:rPr lang="en-US" sz="2400"/>
              <a:t>compute the dissimilarity using methods for interval-scaled variables</a:t>
            </a:r>
          </a:p>
        </p:txBody>
      </p:sp>
      <p:graphicFrame>
        <p:nvGraphicFramePr>
          <p:cNvPr id="62469" name="Object 4"/>
          <p:cNvGraphicFramePr>
            <a:graphicFrameLocks noChangeAspect="1"/>
          </p:cNvGraphicFramePr>
          <p:nvPr/>
        </p:nvGraphicFramePr>
        <p:xfrm>
          <a:off x="3352800" y="4419600"/>
          <a:ext cx="2438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5" name="Equation" r:id="rId4" imgW="1168400" imgH="711200" progId="Equation.3">
                  <p:embed/>
                </p:oleObj>
              </mc:Choice>
              <mc:Fallback>
                <p:oleObj name="Equation" r:id="rId4" imgW="11684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419600"/>
                        <a:ext cx="24384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5"/>
          <p:cNvGraphicFramePr>
            <a:graphicFrameLocks noChangeAspect="1"/>
          </p:cNvGraphicFramePr>
          <p:nvPr/>
        </p:nvGraphicFramePr>
        <p:xfrm>
          <a:off x="5105400" y="2971800"/>
          <a:ext cx="22098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6" name="Equation" r:id="rId6" imgW="1397000" imgH="368300" progId="Equation.3">
                  <p:embed/>
                </p:oleObj>
              </mc:Choice>
              <mc:Fallback>
                <p:oleObj name="Equation" r:id="rId6" imgW="1397000" imgH="368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971800"/>
                        <a:ext cx="220980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458200" cy="8382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n-US" altLang="en-US"/>
              <a:t>Distance for Ordinal variables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1143000"/>
            <a:ext cx="83820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400"/>
              <a:t>Example: Find dissimilarity matrix for test-2.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80ED1AC0-436F-442E-AD2B-2A8E9B4D53FB}" type="slidenum">
              <a:rPr lang="en-US" altLang="en-US"/>
              <a:pPr/>
              <a:t>11</a:t>
            </a:fld>
            <a:endParaRPr lang="en-US" altLang="en-US"/>
          </a:p>
        </p:txBody>
      </p:sp>
      <p:pic>
        <p:nvPicPr>
          <p:cNvPr id="2867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1676400"/>
            <a:ext cx="6770688" cy="3886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504825"/>
            <a:ext cx="8305800" cy="5410200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Suppose that we have the sample data shown earlier in Table 2.2, except that this time only the </a:t>
            </a:r>
            <a:r>
              <a:rPr lang="en-US" sz="1400" i="1" dirty="0"/>
              <a:t>object-identifier </a:t>
            </a:r>
            <a:r>
              <a:rPr lang="en-US" sz="1400" dirty="0"/>
              <a:t>and the continuous ordinal attribute, </a:t>
            </a:r>
            <a:r>
              <a:rPr lang="en-US" sz="1400" i="1" dirty="0"/>
              <a:t>test-2</a:t>
            </a:r>
            <a:r>
              <a:rPr lang="en-US" sz="1400" dirty="0"/>
              <a:t>, are available </a:t>
            </a:r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There are three states for </a:t>
            </a:r>
            <a:r>
              <a:rPr lang="en-US" sz="1400" i="1" dirty="0"/>
              <a:t>test-2</a:t>
            </a:r>
            <a:r>
              <a:rPr lang="en-US" sz="1400" dirty="0"/>
              <a:t>: </a:t>
            </a:r>
            <a:r>
              <a:rPr lang="en-US" sz="1400" i="1" dirty="0"/>
              <a:t>fair</a:t>
            </a:r>
            <a:r>
              <a:rPr lang="en-US" sz="1400" dirty="0"/>
              <a:t>, </a:t>
            </a:r>
            <a:r>
              <a:rPr lang="en-US" sz="1400" i="1" dirty="0"/>
              <a:t>good</a:t>
            </a:r>
            <a:r>
              <a:rPr lang="en-US" sz="1400" dirty="0"/>
              <a:t>, and </a:t>
            </a:r>
            <a:r>
              <a:rPr lang="en-US" sz="1400" i="1" dirty="0"/>
              <a:t>excellent</a:t>
            </a:r>
            <a:r>
              <a:rPr lang="en-US" sz="1400" dirty="0"/>
              <a:t>, that is, </a:t>
            </a:r>
            <a:r>
              <a:rPr lang="en-US" sz="1400" i="1" dirty="0"/>
              <a:t>Mf </a:t>
            </a:r>
            <a:r>
              <a:rPr lang="en-US" sz="1400" dirty="0"/>
              <a:t>= 3. For step 1, if we replace each value for </a:t>
            </a:r>
            <a:r>
              <a:rPr lang="en-US" sz="1400" i="1" dirty="0"/>
              <a:t>test-2 </a:t>
            </a:r>
            <a:r>
              <a:rPr lang="en-US" sz="1400" dirty="0"/>
              <a:t>by its rank, the four objects are assigned the ranks 3, 1, 2, and 3, respectively. </a:t>
            </a:r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Step 2 normalizes the ranking by mapping rank 1 to 0.0, rank 2 to 0.5, and rank 3 to 1.0.</a:t>
            </a:r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For step 3, we can use, say, the Euclidean distance which results in the following dissimilarity matrix:</a:t>
            </a:r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endParaRPr lang="en-US" sz="1400" dirty="0"/>
          </a:p>
          <a:p>
            <a:pPr marL="457200" indent="-457200" algn="l">
              <a:buFont typeface="Arial" panose="020B0604020202020204" pitchFamily="34" charset="0"/>
              <a:buChar char="•"/>
              <a:defRPr/>
            </a:pPr>
            <a:r>
              <a:rPr lang="en-US" sz="1400" dirty="0"/>
              <a:t>Therefore, objects 1 and 2 are the most dissimilar, as are objects 2 and 4 (i.e., d(2,1)=1.0 and d.(4,2)= 1.0). This makes intuitive sense since objects 1 and 4 are both excellent. Object 2 is fair, which is at the opposite end of the range of values for test-2.</a:t>
            </a:r>
            <a:br>
              <a:rPr lang="en-US" sz="1400" dirty="0"/>
            </a:br>
            <a:endParaRPr lang="en-US" sz="1400" dirty="0"/>
          </a:p>
          <a:p>
            <a:pPr algn="l">
              <a:defRPr/>
            </a:pPr>
            <a:br>
              <a:rPr lang="en-US" dirty="0"/>
            </a:br>
            <a:endParaRPr lang="en-US" dirty="0"/>
          </a:p>
        </p:txBody>
      </p:sp>
      <p:sp>
        <p:nvSpPr>
          <p:cNvPr id="30723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86C0566-6886-4FBB-A0ED-FB034EC643E8}" type="slidenum">
              <a:rPr lang="en-US" altLang="en-US"/>
              <a:pPr/>
              <a:t>12</a:t>
            </a:fld>
            <a:endParaRPr lang="en-US" altLang="en-US"/>
          </a:p>
        </p:txBody>
      </p:sp>
      <p:pic>
        <p:nvPicPr>
          <p:cNvPr id="26628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11900" y="4619625"/>
            <a:ext cx="20859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95638" y="2438400"/>
            <a:ext cx="3319462" cy="1905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aphicFrame>
        <p:nvGraphicFramePr>
          <p:cNvPr id="26630" name="Object 3"/>
          <p:cNvGraphicFramePr>
            <a:graphicFrameLocks noChangeAspect="1"/>
          </p:cNvGraphicFramePr>
          <p:nvPr/>
        </p:nvGraphicFramePr>
        <p:xfrm>
          <a:off x="2492375" y="4808538"/>
          <a:ext cx="17970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62" name="Equation" r:id="rId5" imgW="1244600" imgH="762000" progId="Equation.3">
                  <p:embed/>
                </p:oleObj>
              </mc:Choice>
              <mc:Fallback>
                <p:oleObj name="Equation" r:id="rId5" imgW="1244600" imgH="762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4808538"/>
                        <a:ext cx="1797050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31" name="Picture 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92188" y="3590925"/>
            <a:ext cx="124142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8" name="Rectangle 3"/>
          <p:cNvSpPr>
            <a:spLocks noChangeArrowheads="1"/>
          </p:cNvSpPr>
          <p:nvPr/>
        </p:nvSpPr>
        <p:spPr bwMode="auto">
          <a:xfrm>
            <a:off x="1954213" y="4468813"/>
            <a:ext cx="3127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/>
              <a:t>3</a:t>
            </a:r>
          </a:p>
        </p:txBody>
      </p:sp>
      <p:sp>
        <p:nvSpPr>
          <p:cNvPr id="30729" name="Rectangle 6"/>
          <p:cNvSpPr>
            <a:spLocks noChangeArrowheads="1"/>
          </p:cNvSpPr>
          <p:nvPr/>
        </p:nvSpPr>
        <p:spPr bwMode="auto">
          <a:xfrm>
            <a:off x="1936750" y="5516563"/>
            <a:ext cx="3127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/>
              <a:t>3</a:t>
            </a:r>
          </a:p>
        </p:txBody>
      </p:sp>
      <p:sp>
        <p:nvSpPr>
          <p:cNvPr id="30730" name="Rectangle 7"/>
          <p:cNvSpPr>
            <a:spLocks noChangeArrowheads="1"/>
          </p:cNvSpPr>
          <p:nvPr/>
        </p:nvSpPr>
        <p:spPr bwMode="auto">
          <a:xfrm>
            <a:off x="1954213" y="4808538"/>
            <a:ext cx="3127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30731" name="Rectangle 8"/>
          <p:cNvSpPr>
            <a:spLocks noChangeArrowheads="1"/>
          </p:cNvSpPr>
          <p:nvPr/>
        </p:nvSpPr>
        <p:spPr bwMode="auto">
          <a:xfrm>
            <a:off x="1954213" y="5159375"/>
            <a:ext cx="3127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pic>
        <p:nvPicPr>
          <p:cNvPr id="26636" name="Picture 9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700588" y="4719638"/>
            <a:ext cx="7810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7" name="Picture 12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580188" y="2971800"/>
            <a:ext cx="275272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458200" cy="8382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n-US" altLang="en-US" sz="3600"/>
              <a:t>Dissimilarity for attributes of Mixed Type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1143000"/>
            <a:ext cx="87630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Suppose the data set contains 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400" dirty="0"/>
              <a:t> attributes of mixed type. The dissimilarity between object </a:t>
            </a:r>
            <a:r>
              <a:rPr lang="en-US" altLang="en-US" sz="24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z="2400" dirty="0"/>
              <a:t> and 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en-US" sz="2400" dirty="0"/>
              <a:t> is 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400" dirty="0"/>
              <a:t>                                                            Where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400" dirty="0"/>
              <a:t>                 if  (</a:t>
            </a:r>
            <a:r>
              <a:rPr lang="en-US" altLang="en-US" sz="2400" dirty="0" err="1"/>
              <a:t>i</a:t>
            </a:r>
            <a:r>
              <a:rPr lang="en-US" altLang="en-US" sz="2400" dirty="0"/>
              <a:t>) </a:t>
            </a:r>
            <a:r>
              <a:rPr lang="en-US" altLang="en-US" sz="2400" dirty="0" err="1"/>
              <a:t>x</a:t>
            </a:r>
            <a:r>
              <a:rPr lang="en-US" altLang="en-US" sz="2400" i="1" baseline="-25000" dirty="0" err="1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/>
              <a:t>or </a:t>
            </a:r>
            <a:r>
              <a:rPr lang="en-US" altLang="en-US" sz="2400" dirty="0" err="1"/>
              <a:t>x</a:t>
            </a:r>
            <a:r>
              <a:rPr lang="en-US" altLang="en-US" sz="2400" i="1" baseline="-25000" dirty="0" err="1">
                <a:latin typeface="Times New Roman" pitchFamily="18" charset="0"/>
                <a:cs typeface="Times New Roman" pitchFamily="18" charset="0"/>
              </a:rPr>
              <a:t>jf</a:t>
            </a:r>
            <a:r>
              <a:rPr lang="en-US" altLang="en-US" sz="2400" dirty="0"/>
              <a:t> is missing  or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400" dirty="0"/>
              <a:t>                    (ii) </a:t>
            </a:r>
            <a:r>
              <a:rPr lang="en-US" altLang="en-US" sz="2400" dirty="0" err="1"/>
              <a:t>x</a:t>
            </a:r>
            <a:r>
              <a:rPr lang="en-US" altLang="en-US" sz="2400" i="1" baseline="-25000" dirty="0" err="1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altLang="en-US" sz="2400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/>
              <a:t>=</a:t>
            </a:r>
            <a:r>
              <a:rPr lang="en-US" altLang="en-US" sz="2400" dirty="0" err="1"/>
              <a:t>x</a:t>
            </a:r>
            <a:r>
              <a:rPr lang="en-US" altLang="en-US" sz="2400" i="1" baseline="-25000" dirty="0" err="1">
                <a:latin typeface="Times New Roman" pitchFamily="18" charset="0"/>
                <a:cs typeface="Times New Roman" pitchFamily="18" charset="0"/>
              </a:rPr>
              <a:t>jf</a:t>
            </a:r>
            <a:r>
              <a:rPr lang="en-US" altLang="en-US" sz="2400" i="1" baseline="-25000" dirty="0"/>
              <a:t> </a:t>
            </a:r>
            <a:r>
              <a:rPr lang="en-US" altLang="en-US" sz="2400" dirty="0"/>
              <a:t>=0 and attribute is asymmetric binary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400" dirty="0"/>
              <a:t>                    otherwise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If 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400" i="1" dirty="0"/>
              <a:t> </a:t>
            </a:r>
            <a:r>
              <a:rPr lang="en-US" altLang="en-US" sz="2400" dirty="0"/>
              <a:t>is numeric:                                          where 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en-US" sz="2400" dirty="0"/>
              <a:t> runs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spcAft>
                <a:spcPts val="600"/>
              </a:spcAft>
              <a:buFont typeface="Monotype Sorts" pitchFamily="2" charset="2"/>
              <a:buNone/>
            </a:pPr>
            <a:r>
              <a:rPr lang="en-US" altLang="en-US" sz="2400" dirty="0"/>
              <a:t>          over all the </a:t>
            </a:r>
            <a:r>
              <a:rPr lang="en-US" altLang="en-US" sz="2400" dirty="0" err="1"/>
              <a:t>nonmissing</a:t>
            </a:r>
            <a:r>
              <a:rPr lang="en-US" altLang="en-US" sz="2400" dirty="0"/>
              <a:t> objects for attribute 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4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If 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400" dirty="0"/>
              <a:t> is nominal or binary we follow previously learned methods.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endParaRPr lang="en-US" altLang="en-US" sz="2400" dirty="0"/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966AA158-4E4F-4EF4-BFC4-75165416B1A1}" type="slidenum">
              <a:rPr lang="en-US" altLang="en-US"/>
              <a:pPr/>
              <a:t>13</a:t>
            </a:fld>
            <a:endParaRPr lang="en-US" altLang="en-US"/>
          </a:p>
        </p:txBody>
      </p:sp>
      <p:graphicFrame>
        <p:nvGraphicFramePr>
          <p:cNvPr id="31749" name="Object 3"/>
          <p:cNvGraphicFramePr>
            <a:graphicFrameLocks noChangeAspect="1"/>
          </p:cNvGraphicFramePr>
          <p:nvPr/>
        </p:nvGraphicFramePr>
        <p:xfrm>
          <a:off x="1455738" y="1828800"/>
          <a:ext cx="414813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0" name="Equation" r:id="rId4" imgW="1701800" imgH="533400" progId="Equation.3">
                  <p:embed/>
                </p:oleObj>
              </mc:Choice>
              <mc:Fallback>
                <p:oleObj name="Equation" r:id="rId4" imgW="1701800" imgH="533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1828800"/>
                        <a:ext cx="4148137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3"/>
          <p:cNvGraphicFramePr>
            <a:graphicFrameLocks noChangeAspect="1"/>
          </p:cNvGraphicFramePr>
          <p:nvPr/>
        </p:nvGraphicFramePr>
        <p:xfrm>
          <a:off x="609600" y="2895600"/>
          <a:ext cx="12763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1" name="Equation" r:id="rId6" imgW="520474" imgH="266584" progId="Equation.3">
                  <p:embed/>
                </p:oleObj>
              </mc:Choice>
              <mc:Fallback>
                <p:oleObj name="Equation" r:id="rId6" imgW="520474" imgH="266584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895600"/>
                        <a:ext cx="127635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4"/>
          <p:cNvGraphicFramePr>
            <a:graphicFrameLocks noChangeAspect="1"/>
          </p:cNvGraphicFramePr>
          <p:nvPr/>
        </p:nvGraphicFramePr>
        <p:xfrm>
          <a:off x="715963" y="3733800"/>
          <a:ext cx="121443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2" name="Equation" r:id="rId8" imgW="494870" imgH="266469" progId="Equation.3">
                  <p:embed/>
                </p:oleObj>
              </mc:Choice>
              <mc:Fallback>
                <p:oleObj name="Equation" r:id="rId8" imgW="494870" imgH="26646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3733800"/>
                        <a:ext cx="121443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5"/>
          <p:cNvGraphicFramePr>
            <a:graphicFrameLocks noChangeAspect="1"/>
          </p:cNvGraphicFramePr>
          <p:nvPr/>
        </p:nvGraphicFramePr>
        <p:xfrm>
          <a:off x="2924175" y="4343400"/>
          <a:ext cx="3629025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3" name="Equation" r:id="rId10" imgW="1663700" imgH="508000" progId="Equation.3">
                  <p:embed/>
                </p:oleObj>
              </mc:Choice>
              <mc:Fallback>
                <p:oleObj name="Equation" r:id="rId10" imgW="1663700" imgH="508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4343400"/>
                        <a:ext cx="3629025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458200" cy="8382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n-US" altLang="en-US" sz="3600"/>
              <a:t>Dissimilarity for attributes of Mixed Type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1314450"/>
            <a:ext cx="87630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If </a:t>
            </a:r>
            <a:r>
              <a:rPr lang="en-US" altLang="en-US" sz="2400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400"/>
              <a:t> is ordinal: compute the ranks </a:t>
            </a:r>
            <a:r>
              <a:rPr lang="en-US" altLang="en-US" sz="2400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en-US" sz="2400" i="1" baseline="-2500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altLang="en-US" sz="2400"/>
              <a:t> and                    , and treat Z</a:t>
            </a:r>
            <a:r>
              <a:rPr lang="en-US" altLang="en-US" sz="2400" i="1" baseline="-2500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altLang="en-US" sz="2400"/>
              <a:t> as numeric.</a:t>
            </a:r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88FD3443-AAF8-4A7A-9ADB-21D006CCB4F3}" type="slidenum">
              <a:rPr lang="en-US" altLang="en-US"/>
              <a:pPr/>
              <a:t>14</a:t>
            </a:fld>
            <a:endParaRPr lang="en-US" altLang="en-US"/>
          </a:p>
        </p:txBody>
      </p:sp>
      <p:graphicFrame>
        <p:nvGraphicFramePr>
          <p:cNvPr id="33797" name="Object 3"/>
          <p:cNvGraphicFramePr>
            <a:graphicFrameLocks noChangeAspect="1"/>
          </p:cNvGraphicFramePr>
          <p:nvPr/>
        </p:nvGraphicFramePr>
        <p:xfrm>
          <a:off x="6248400" y="1219200"/>
          <a:ext cx="17970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10" name="Equation" r:id="rId4" imgW="1244600" imgH="762000" progId="Equation.3">
                  <p:embed/>
                </p:oleObj>
              </mc:Choice>
              <mc:Fallback>
                <p:oleObj name="Equation" r:id="rId4" imgW="1244600" imgH="762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219200"/>
                        <a:ext cx="1797050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79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86000" y="2228850"/>
            <a:ext cx="4513263" cy="2590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3799" name="Picture 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00088" y="5172075"/>
            <a:ext cx="1585912" cy="1328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800" name="Picture 3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048000" y="5172075"/>
            <a:ext cx="20859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24EF1260-6A1D-42AA-B482-6EC09852CE1E}" type="slidenum">
              <a:rPr lang="en-US" altLang="en-US"/>
              <a:pPr/>
              <a:t>15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0" y="4376738"/>
            <a:ext cx="2114550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4600" y="1143000"/>
            <a:ext cx="4513263" cy="2590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458200" cy="838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3600" b="0" kern="0"/>
              <a:t>Dissimilarity for attributes of Mixed Type</a:t>
            </a:r>
          </a:p>
        </p:txBody>
      </p:sp>
      <p:pic>
        <p:nvPicPr>
          <p:cNvPr id="3584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60588" y="3951288"/>
            <a:ext cx="2987675" cy="100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14600" y="5162550"/>
            <a:ext cx="18954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10075" y="5162550"/>
            <a:ext cx="1076325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99EB8F2-6570-415D-945A-AB2E9D99918E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458200" cy="838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3600" b="0" kern="0"/>
              <a:t>Dissimilarity for attributes of Mixed Type</a:t>
            </a:r>
          </a:p>
        </p:txBody>
      </p:sp>
      <p:pic>
        <p:nvPicPr>
          <p:cNvPr id="3686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143000"/>
            <a:ext cx="4513263" cy="2590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6869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3848100"/>
            <a:ext cx="1585913" cy="1328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0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00438" y="3862388"/>
            <a:ext cx="20859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1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02363" y="3862388"/>
            <a:ext cx="2114550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2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81000" y="5635625"/>
            <a:ext cx="2595563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3" name="Picture 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200400" y="5835650"/>
            <a:ext cx="26955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4" name="Picture 9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253163" y="5476875"/>
            <a:ext cx="214312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BD85EDD-03BE-449C-9385-DD1F052AF60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752475" y="304800"/>
            <a:ext cx="762635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>
                <a:solidFill>
                  <a:srgbClr val="170981"/>
                </a:solidFill>
              </a:rPr>
              <a:t> Cosine Similarity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7630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endParaRPr lang="en-US" sz="2000"/>
          </a:p>
          <a:p>
            <a:pPr eaLnBrk="1" hangingPunct="1">
              <a:lnSpc>
                <a:spcPct val="90000"/>
              </a:lnSpc>
            </a:pPr>
            <a:r>
              <a:rPr lang="en-US" sz="2000"/>
              <a:t>A </a:t>
            </a:r>
            <a:r>
              <a:rPr lang="en-US" sz="2000" b="1"/>
              <a:t>document</a:t>
            </a:r>
            <a:r>
              <a:rPr lang="en-US" sz="2000"/>
              <a:t> can be represented by thousands of attributes, each recording the </a:t>
            </a:r>
            <a:r>
              <a:rPr lang="en-US" sz="2000" i="1"/>
              <a:t>frequency</a:t>
            </a:r>
            <a:r>
              <a:rPr lang="en-US" sz="2000"/>
              <a:t> of a particular word (such as keywords) or phrase in the document.</a:t>
            </a:r>
          </a:p>
          <a:p>
            <a:pPr eaLnBrk="1" hangingPunct="1">
              <a:lnSpc>
                <a:spcPct val="90000"/>
              </a:lnSpc>
            </a:pPr>
            <a:endParaRPr lang="en-US" sz="2000"/>
          </a:p>
          <a:p>
            <a:pPr eaLnBrk="1" hangingPunct="1">
              <a:lnSpc>
                <a:spcPct val="90000"/>
              </a:lnSpc>
            </a:pPr>
            <a:endParaRPr lang="en-US" sz="2000"/>
          </a:p>
          <a:p>
            <a:pPr eaLnBrk="1" hangingPunct="1">
              <a:lnSpc>
                <a:spcPct val="90000"/>
              </a:lnSpc>
            </a:pPr>
            <a:endParaRPr lang="en-US" sz="2000"/>
          </a:p>
          <a:p>
            <a:pPr eaLnBrk="1" hangingPunct="1">
              <a:lnSpc>
                <a:spcPct val="90000"/>
              </a:lnSpc>
            </a:pPr>
            <a:endParaRPr lang="en-US" sz="2000"/>
          </a:p>
          <a:p>
            <a:pPr eaLnBrk="1" hangingPunct="1">
              <a:lnSpc>
                <a:spcPct val="90000"/>
              </a:lnSpc>
            </a:pPr>
            <a:endParaRPr lang="en-US" sz="2000"/>
          </a:p>
          <a:p>
            <a:pPr eaLnBrk="1" hangingPunct="1">
              <a:lnSpc>
                <a:spcPct val="90000"/>
              </a:lnSpc>
            </a:pPr>
            <a:r>
              <a:rPr lang="en-US" sz="2000"/>
              <a:t>Other vector objects: gene features in micro-arrays, …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Applications: information retrieval, biologic taxonomy, gene feature mapping, ...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Cosine measure: </a:t>
            </a:r>
            <a:r>
              <a:rPr lang="en-US" sz="2000">
                <a:cs typeface="Times New Roman" pitchFamily="18" charset="0"/>
              </a:rPr>
              <a:t>If 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1</a:t>
            </a:r>
            <a:r>
              <a:rPr lang="en-US" sz="2000">
                <a:cs typeface="Times New Roman" pitchFamily="18" charset="0"/>
              </a:rPr>
              <a:t> and 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2</a:t>
            </a:r>
            <a:r>
              <a:rPr lang="en-US" sz="2000">
                <a:cs typeface="Times New Roman" pitchFamily="18" charset="0"/>
              </a:rPr>
              <a:t> are two vectors (e.g., term-frequency vectors), then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cs typeface="Times New Roman" pitchFamily="18" charset="0"/>
              </a:rPr>
              <a:t>             cos(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1</a:t>
            </a:r>
            <a:r>
              <a:rPr lang="en-US" sz="2000" i="1">
                <a:cs typeface="Times New Roman" pitchFamily="18" charset="0"/>
              </a:rPr>
              <a:t>, d</a:t>
            </a:r>
            <a:r>
              <a:rPr lang="en-US" sz="2000" i="1" baseline="-30000">
                <a:cs typeface="Times New Roman" pitchFamily="18" charset="0"/>
              </a:rPr>
              <a:t>2</a:t>
            </a:r>
            <a:r>
              <a:rPr lang="en-US" sz="2000">
                <a:cs typeface="Times New Roman" pitchFamily="18" charset="0"/>
              </a:rPr>
              <a:t>) =  (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1</a:t>
            </a:r>
            <a:r>
              <a:rPr lang="en-US" sz="2000">
                <a:cs typeface="Times New Roman" pitchFamily="18" charset="0"/>
              </a:rPr>
              <a:t> </a:t>
            </a:r>
            <a:r>
              <a:rPr lang="en-US" sz="2000"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000">
                <a:cs typeface="Times New Roman" pitchFamily="18" charset="0"/>
              </a:rPr>
              <a:t> 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2</a:t>
            </a:r>
            <a:r>
              <a:rPr lang="en-US" sz="2000">
                <a:cs typeface="Times New Roman" pitchFamily="18" charset="0"/>
              </a:rPr>
              <a:t>) /||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1</a:t>
            </a:r>
            <a:r>
              <a:rPr lang="en-US" sz="2000">
                <a:cs typeface="Times New Roman" pitchFamily="18" charset="0"/>
              </a:rPr>
              <a:t>|| ||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2</a:t>
            </a:r>
            <a:r>
              <a:rPr lang="en-US" sz="2000">
                <a:cs typeface="Times New Roman" pitchFamily="18" charset="0"/>
              </a:rPr>
              <a:t>|| , 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cs typeface="Times New Roman" pitchFamily="18" charset="0"/>
              </a:rPr>
              <a:t>   where </a:t>
            </a:r>
            <a:r>
              <a:rPr lang="en-US" sz="2000"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000">
                <a:cs typeface="Times New Roman" pitchFamily="18" charset="0"/>
              </a:rPr>
              <a:t> indicates vector dot product, ||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>
                <a:cs typeface="Times New Roman" pitchFamily="18" charset="0"/>
              </a:rPr>
              <a:t>||: the length of vector </a:t>
            </a:r>
            <a:r>
              <a:rPr lang="en-US" sz="2000" i="1">
                <a:cs typeface="Times New Roman" pitchFamily="18" charset="0"/>
              </a:rPr>
              <a:t>d</a:t>
            </a:r>
          </a:p>
        </p:txBody>
      </p:sp>
      <p:pic>
        <p:nvPicPr>
          <p:cNvPr id="64517" name="Picture 4" descr="eqtab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2362200"/>
            <a:ext cx="8229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00781990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939B1BB-82A5-481F-88EE-7DB241885257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752475" y="304800"/>
            <a:ext cx="762635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>
                <a:solidFill>
                  <a:srgbClr val="170981"/>
                </a:solidFill>
              </a:rPr>
              <a:t> Example: Cosine Similarity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7630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endParaRPr lang="en-US" sz="200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>
                <a:cs typeface="Times New Roman" pitchFamily="18" charset="0"/>
              </a:rPr>
              <a:t>cos(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1</a:t>
            </a:r>
            <a:r>
              <a:rPr lang="en-US" sz="2000" i="1">
                <a:cs typeface="Times New Roman" pitchFamily="18" charset="0"/>
              </a:rPr>
              <a:t>, d</a:t>
            </a:r>
            <a:r>
              <a:rPr lang="en-US" sz="2000" i="1" baseline="-30000">
                <a:cs typeface="Times New Roman" pitchFamily="18" charset="0"/>
              </a:rPr>
              <a:t>2</a:t>
            </a:r>
            <a:r>
              <a:rPr lang="en-US" sz="2000">
                <a:cs typeface="Times New Roman" pitchFamily="18" charset="0"/>
              </a:rPr>
              <a:t>) =  (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1</a:t>
            </a:r>
            <a:r>
              <a:rPr lang="en-US" sz="2000">
                <a:cs typeface="Times New Roman" pitchFamily="18" charset="0"/>
              </a:rPr>
              <a:t> </a:t>
            </a:r>
            <a:r>
              <a:rPr lang="en-US" sz="2000"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000">
                <a:cs typeface="Times New Roman" pitchFamily="18" charset="0"/>
              </a:rPr>
              <a:t> 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2</a:t>
            </a:r>
            <a:r>
              <a:rPr lang="en-US" sz="2000">
                <a:cs typeface="Times New Roman" pitchFamily="18" charset="0"/>
              </a:rPr>
              <a:t>) /||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1</a:t>
            </a:r>
            <a:r>
              <a:rPr lang="en-US" sz="2000">
                <a:cs typeface="Times New Roman" pitchFamily="18" charset="0"/>
              </a:rPr>
              <a:t>|| ||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2</a:t>
            </a:r>
            <a:r>
              <a:rPr lang="en-US" sz="2000">
                <a:cs typeface="Times New Roman" pitchFamily="18" charset="0"/>
              </a:rPr>
              <a:t>|| , 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cs typeface="Times New Roman" pitchFamily="18" charset="0"/>
              </a:rPr>
              <a:t>   where </a:t>
            </a:r>
            <a:r>
              <a:rPr lang="en-US" sz="2000"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000">
                <a:cs typeface="Times New Roman" pitchFamily="18" charset="0"/>
              </a:rPr>
              <a:t> indicates vector dot product, ||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>
                <a:cs typeface="Times New Roman" pitchFamily="18" charset="0"/>
              </a:rPr>
              <a:t>|: the length of vector </a:t>
            </a:r>
            <a:r>
              <a:rPr lang="en-US" sz="2000" i="1">
                <a:cs typeface="Times New Roman" pitchFamily="18" charset="0"/>
              </a:rPr>
              <a:t>d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i="1"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sz="2000">
                <a:cs typeface="Times New Roman" pitchFamily="18" charset="0"/>
              </a:rPr>
              <a:t>Ex: Find the </a:t>
            </a:r>
            <a:r>
              <a:rPr lang="en-US" sz="2000" b="1">
                <a:cs typeface="Times New Roman" pitchFamily="18" charset="0"/>
              </a:rPr>
              <a:t>similarity</a:t>
            </a:r>
            <a:r>
              <a:rPr lang="en-US" sz="2000">
                <a:cs typeface="Times New Roman" pitchFamily="18" charset="0"/>
              </a:rPr>
              <a:t> between documents 1 and 2.</a:t>
            </a:r>
          </a:p>
          <a:p>
            <a:pPr algn="just" eaLnBrk="1" hangingPunct="1">
              <a:lnSpc>
                <a:spcPct val="90000"/>
              </a:lnSpc>
            </a:pPr>
            <a:endParaRPr lang="en-US" sz="2000">
              <a:cs typeface="Times New Roman" pitchFamily="18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1</a:t>
            </a:r>
            <a:r>
              <a:rPr lang="en-US" sz="2000" i="1">
                <a:cs typeface="Times New Roman" pitchFamily="18" charset="0"/>
              </a:rPr>
              <a:t> </a:t>
            </a:r>
            <a:r>
              <a:rPr lang="en-US" sz="2000" b="1">
                <a:cs typeface="Times New Roman" pitchFamily="18" charset="0"/>
              </a:rPr>
              <a:t>=  </a:t>
            </a:r>
            <a:r>
              <a:rPr lang="en-US" sz="2000">
                <a:cs typeface="Times New Roman" pitchFamily="18" charset="0"/>
              </a:rPr>
              <a:t>(5, 0, 3, 0, 2, 0, 0, 2, 0, 0)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2</a:t>
            </a:r>
            <a:r>
              <a:rPr lang="en-US" sz="2000" b="1">
                <a:cs typeface="Times New Roman" pitchFamily="18" charset="0"/>
              </a:rPr>
              <a:t> =  </a:t>
            </a:r>
            <a:r>
              <a:rPr lang="en-US" sz="2000">
                <a:cs typeface="Times New Roman" pitchFamily="18" charset="0"/>
              </a:rPr>
              <a:t>(3, 0, 2, 0, 1, 1, 0, 1, 0, 1)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>
              <a:cs typeface="Times New Roman" pitchFamily="18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1</a:t>
            </a:r>
            <a:r>
              <a:rPr lang="en-US" sz="2000">
                <a:cs typeface="Times New Roman" pitchFamily="18" charset="0"/>
                <a:sym typeface="Symbol" pitchFamily="18" charset="2"/>
              </a:rPr>
              <a:t>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2 </a:t>
            </a:r>
            <a:r>
              <a:rPr lang="en-US" sz="2000">
                <a:cs typeface="Times New Roman" pitchFamily="18" charset="0"/>
              </a:rPr>
              <a:t>= 5*3+0*0+3*2+0*0+2*1+0*1+0*1+2*1+0*0+0*1 = 25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cs typeface="Times New Roman" pitchFamily="18" charset="0"/>
              </a:rPr>
              <a:t>||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1</a:t>
            </a:r>
            <a:r>
              <a:rPr lang="en-US" sz="2000">
                <a:cs typeface="Times New Roman" pitchFamily="18" charset="0"/>
              </a:rPr>
              <a:t>||= (5*5+0*0+3*3+0*0+2*2+0*0+0*0+2*2+0*0+0*0)</a:t>
            </a:r>
            <a:r>
              <a:rPr lang="en-US" sz="2000" b="1" baseline="30000">
                <a:cs typeface="Times New Roman" pitchFamily="18" charset="0"/>
              </a:rPr>
              <a:t>0.5</a:t>
            </a:r>
            <a:r>
              <a:rPr lang="en-US" sz="2000">
                <a:cs typeface="Times New Roman" pitchFamily="18" charset="0"/>
              </a:rPr>
              <a:t>=(42)</a:t>
            </a:r>
            <a:r>
              <a:rPr lang="en-US" sz="2000" b="1" baseline="30000">
                <a:cs typeface="Times New Roman" pitchFamily="18" charset="0"/>
              </a:rPr>
              <a:t>0.5</a:t>
            </a:r>
            <a:r>
              <a:rPr lang="en-US" sz="2000">
                <a:cs typeface="Times New Roman" pitchFamily="18" charset="0"/>
              </a:rPr>
              <a:t>  = 6.481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cs typeface="Times New Roman" pitchFamily="18" charset="0"/>
              </a:rPr>
              <a:t>||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2</a:t>
            </a:r>
            <a:r>
              <a:rPr lang="en-US" sz="2000">
                <a:cs typeface="Times New Roman" pitchFamily="18" charset="0"/>
              </a:rPr>
              <a:t>||= (3*3+0*0+2*2+0*0+1*1+1*1+0*0+1*1+0*0+1*1)</a:t>
            </a:r>
            <a:r>
              <a:rPr lang="en-US" sz="2000" b="1" baseline="30000">
                <a:cs typeface="Times New Roman" pitchFamily="18" charset="0"/>
              </a:rPr>
              <a:t>0.5</a:t>
            </a:r>
            <a:r>
              <a:rPr lang="en-US" sz="2000">
                <a:cs typeface="Times New Roman" pitchFamily="18" charset="0"/>
              </a:rPr>
              <a:t>=(17)</a:t>
            </a:r>
            <a:r>
              <a:rPr lang="en-US" sz="2000" b="1" baseline="30000">
                <a:cs typeface="Times New Roman" pitchFamily="18" charset="0"/>
              </a:rPr>
              <a:t>0.5</a:t>
            </a:r>
            <a:r>
              <a:rPr lang="en-US" sz="2000">
                <a:cs typeface="Times New Roman" pitchFamily="18" charset="0"/>
              </a:rPr>
              <a:t>       = 4.12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cs typeface="Times New Roman" pitchFamily="18" charset="0"/>
              </a:rPr>
              <a:t>cos(</a:t>
            </a:r>
            <a:r>
              <a:rPr lang="en-US" sz="2000" i="1">
                <a:cs typeface="Times New Roman" pitchFamily="18" charset="0"/>
              </a:rPr>
              <a:t>d</a:t>
            </a:r>
            <a:r>
              <a:rPr lang="en-US" sz="2000" i="1" baseline="-30000">
                <a:cs typeface="Times New Roman" pitchFamily="18" charset="0"/>
              </a:rPr>
              <a:t>1</a:t>
            </a:r>
            <a:r>
              <a:rPr lang="en-US" sz="2000" i="1">
                <a:cs typeface="Times New Roman" pitchFamily="18" charset="0"/>
              </a:rPr>
              <a:t>, d</a:t>
            </a:r>
            <a:r>
              <a:rPr lang="en-US" sz="2000" i="1" baseline="-30000">
                <a:cs typeface="Times New Roman" pitchFamily="18" charset="0"/>
              </a:rPr>
              <a:t>2</a:t>
            </a:r>
            <a:r>
              <a:rPr lang="en-US" sz="2000">
                <a:cs typeface="Times New Roman" pitchFamily="18" charset="0"/>
              </a:rPr>
              <a:t> ) = 0.94</a:t>
            </a:r>
          </a:p>
        </p:txBody>
      </p:sp>
    </p:spTree>
    <p:extLst>
      <p:ext uri="{BB962C8B-B14F-4D97-AF65-F5344CB8AC3E}">
        <p14:creationId xmlns:p14="http://schemas.microsoft.com/office/powerpoint/2010/main" val="1236406490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228600"/>
            <a:ext cx="7010400" cy="838200"/>
          </a:xfrm>
          <a:ln w="38100"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n-US" altLang="en-US"/>
              <a:t>Edit Distance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7473950" cy="5334000"/>
          </a:xfrm>
        </p:spPr>
        <p:txBody>
          <a:bodyPr/>
          <a:lstStyle/>
          <a:p>
            <a:pPr eaLnBrk="1" hangingPunct="1"/>
            <a:r>
              <a:rPr lang="en-US" altLang="en-US"/>
              <a:t>The edit distance of two strings is the number of inserts and deletes of characters needed to turn one into the other.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Equivalently, d(x,y) =  |x| + |y| -2|LCS(x,y)|.</a:t>
            </a:r>
          </a:p>
          <a:p>
            <a:pPr lvl="1" eaLnBrk="1" hangingPunct="1"/>
            <a:r>
              <a:rPr lang="en-US" altLang="en-US"/>
              <a:t>LCS = </a:t>
            </a:r>
            <a:r>
              <a:rPr lang="en-US" altLang="en-US" i="1"/>
              <a:t>longest common subsequence</a:t>
            </a:r>
            <a:r>
              <a:rPr lang="en-US" altLang="en-US"/>
              <a:t> = longest string obtained both by deleting from </a:t>
            </a:r>
            <a:r>
              <a:rPr lang="en-US" altLang="en-US" i="1"/>
              <a:t>x</a:t>
            </a:r>
            <a:r>
              <a:rPr lang="en-US" altLang="en-US"/>
              <a:t>  and deleting from </a:t>
            </a:r>
            <a:r>
              <a:rPr lang="en-US" altLang="en-US" i="1"/>
              <a:t>y</a:t>
            </a:r>
            <a:r>
              <a:rPr lang="en-US" altLang="en-US"/>
              <a:t>.</a:t>
            </a:r>
          </a:p>
        </p:txBody>
      </p:sp>
      <p:sp>
        <p:nvSpPr>
          <p:cNvPr id="4096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60DC4E34-2311-4AB9-BBD1-FA2AEFF7C0D8}" type="slidenum">
              <a:rPr lang="en-US" altLang="en-US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5324516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066800"/>
            <a:ext cx="7548563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i="1" dirty="0"/>
              <a:t>x</a:t>
            </a:r>
            <a:r>
              <a:rPr lang="en-US" altLang="en-US" dirty="0"/>
              <a:t> = </a:t>
            </a:r>
            <a:r>
              <a:rPr lang="en-US" altLang="en-US" i="1" dirty="0" err="1">
                <a:solidFill>
                  <a:srgbClr val="FF3300"/>
                </a:solidFill>
              </a:rPr>
              <a:t>abcde</a:t>
            </a:r>
            <a:r>
              <a:rPr lang="en-US" altLang="en-US" i="1" dirty="0"/>
              <a:t> </a:t>
            </a:r>
            <a:r>
              <a:rPr lang="en-US" altLang="en-US" dirty="0"/>
              <a:t>; </a:t>
            </a:r>
            <a:r>
              <a:rPr lang="en-US" altLang="en-US" i="1" dirty="0"/>
              <a:t>y</a:t>
            </a:r>
            <a:r>
              <a:rPr lang="en-US" altLang="en-US" dirty="0"/>
              <a:t> = </a:t>
            </a:r>
            <a:r>
              <a:rPr lang="en-US" altLang="en-US" i="1" dirty="0" err="1">
                <a:solidFill>
                  <a:srgbClr val="FF3300"/>
                </a:solidFill>
              </a:rPr>
              <a:t>bcduve</a:t>
            </a:r>
            <a:r>
              <a:rPr lang="en-US" altLang="en-US" dirty="0"/>
              <a:t>.  EXAMPLE  MAPLE</a:t>
            </a:r>
          </a:p>
          <a:p>
            <a:pPr eaLnBrk="1" hangingPunct="1">
              <a:defRPr/>
            </a:pPr>
            <a:r>
              <a:rPr lang="en-US" altLang="en-US" dirty="0"/>
              <a:t>7 + 5 – 2 </a:t>
            </a:r>
          </a:p>
          <a:p>
            <a:pPr eaLnBrk="1" hangingPunct="1">
              <a:defRPr/>
            </a:pPr>
            <a:r>
              <a:rPr lang="en-US" altLang="en-US" dirty="0"/>
              <a:t>LCS(</a:t>
            </a:r>
            <a:r>
              <a:rPr lang="en-US" altLang="en-US" dirty="0" err="1"/>
              <a:t>x,y</a:t>
            </a:r>
            <a:r>
              <a:rPr lang="en-US" altLang="en-US" dirty="0"/>
              <a:t>) = </a:t>
            </a:r>
            <a:r>
              <a:rPr lang="en-US" altLang="en-US" i="1" dirty="0" err="1"/>
              <a:t>bcde</a:t>
            </a:r>
            <a:r>
              <a:rPr lang="en-US" altLang="en-US" dirty="0"/>
              <a:t>.</a:t>
            </a:r>
          </a:p>
          <a:p>
            <a:pPr eaLnBrk="1" hangingPunct="1">
              <a:defRPr/>
            </a:pPr>
            <a:r>
              <a:rPr lang="en-US" altLang="en-US" dirty="0"/>
              <a:t>D(</a:t>
            </a:r>
            <a:r>
              <a:rPr lang="en-US" altLang="en-US" dirty="0" err="1"/>
              <a:t>x,y</a:t>
            </a:r>
            <a:r>
              <a:rPr lang="en-US" altLang="en-US" dirty="0"/>
              <a:t>) = |x| + |y| - 2|LCS(</a:t>
            </a:r>
            <a:r>
              <a:rPr lang="en-US" altLang="en-US" dirty="0" err="1"/>
              <a:t>x,y</a:t>
            </a:r>
            <a:r>
              <a:rPr lang="en-US" altLang="en-US" dirty="0"/>
              <a:t>)| = </a:t>
            </a:r>
          </a:p>
          <a:p>
            <a:pPr marL="0" indent="0" eaLnBrk="1" hangingPunct="1">
              <a:buFont typeface="Monotype Sorts" pitchFamily="2" charset="2"/>
              <a:buNone/>
              <a:defRPr/>
            </a:pPr>
            <a:r>
              <a:rPr lang="en-US" altLang="en-US" dirty="0"/>
              <a:t>                 5  +   6  –2*4 = 3.</a:t>
            </a:r>
          </a:p>
          <a:p>
            <a:pPr eaLnBrk="1" hangingPunct="1">
              <a:defRPr/>
            </a:pPr>
            <a:endParaRPr lang="en-US" altLang="en-US" dirty="0"/>
          </a:p>
        </p:txBody>
      </p:sp>
      <p:sp>
        <p:nvSpPr>
          <p:cNvPr id="4301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A3AAA5E5-56EF-437E-A64F-A29E9BEFC82C}" type="slidenum">
              <a:rPr lang="en-US" altLang="en-US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8089288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Berlin Sans FB Demi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25621</TotalTime>
  <Words>1152</Words>
  <Application>Microsoft Office PowerPoint</Application>
  <PresentationFormat>On-screen Show (4:3)</PresentationFormat>
  <Paragraphs>186</Paragraphs>
  <Slides>20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Berlin Sans FB Demi</vt:lpstr>
      <vt:lpstr>Monotype Sorts</vt:lpstr>
      <vt:lpstr>Tahoma</vt:lpstr>
      <vt:lpstr>Times New Roman</vt:lpstr>
      <vt:lpstr>Wingdings</vt:lpstr>
      <vt:lpstr>Blends</vt:lpstr>
      <vt:lpstr>Equation</vt:lpstr>
      <vt:lpstr>Document</vt:lpstr>
      <vt:lpstr>Microsoft Equation 3.0</vt:lpstr>
      <vt:lpstr>Worksheet</vt:lpstr>
      <vt:lpstr>SmartDraw</vt:lpstr>
      <vt:lpstr>Data Mining:   Concepts and Techniques   — Chapter 2 — Know Your Data</vt:lpstr>
      <vt:lpstr>Data Matrix and Dissimilarity Matrix</vt:lpstr>
      <vt:lpstr>Proximity Measure for Nominal Attributes</vt:lpstr>
      <vt:lpstr>Dissimilarity between Nominal Attributes</vt:lpstr>
      <vt:lpstr>Proximity Measure for Binary Attributes</vt:lpstr>
      <vt:lpstr>Dissimilarity between Binary Variables</vt:lpstr>
      <vt:lpstr>Distance on Numeric Data: Minkowski Distance</vt:lpstr>
      <vt:lpstr>Special Cases of Minkowski Distance</vt:lpstr>
      <vt:lpstr>Example: Minkowski Distance</vt:lpstr>
      <vt:lpstr>Ordinal Variables</vt:lpstr>
      <vt:lpstr>Distance for Ordinal variables</vt:lpstr>
      <vt:lpstr>PowerPoint Presentation</vt:lpstr>
      <vt:lpstr>Dissimilarity for attributes of Mixed Type</vt:lpstr>
      <vt:lpstr>Dissimilarity for attributes of Mixed Type</vt:lpstr>
      <vt:lpstr>PowerPoint Presentation</vt:lpstr>
      <vt:lpstr>PowerPoint Presentation</vt:lpstr>
      <vt:lpstr> Cosine Similarity</vt:lpstr>
      <vt:lpstr> Example: Cosine Similarity</vt:lpstr>
      <vt:lpstr>Edit Distance</vt:lpstr>
      <vt:lpstr>Example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pc</cp:lastModifiedBy>
  <cp:revision>798</cp:revision>
  <cp:lastPrinted>1999-09-10T20:38:56Z</cp:lastPrinted>
  <dcterms:created xsi:type="dcterms:W3CDTF">1998-06-19T04:38:52Z</dcterms:created>
  <dcterms:modified xsi:type="dcterms:W3CDTF">2020-11-25T09:27:25Z</dcterms:modified>
</cp:coreProperties>
</file>