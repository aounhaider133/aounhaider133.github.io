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Default Extension="doc" ContentType="application/msword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notesMasterIdLst>
    <p:notesMasterId r:id="rId16"/>
  </p:notesMasterIdLst>
  <p:sldIdLst>
    <p:sldId id="561" r:id="rId2"/>
    <p:sldId id="520" r:id="rId3"/>
    <p:sldId id="521" r:id="rId4"/>
    <p:sldId id="522" r:id="rId5"/>
    <p:sldId id="523" r:id="rId6"/>
    <p:sldId id="524" r:id="rId7"/>
    <p:sldId id="525" r:id="rId8"/>
    <p:sldId id="526" r:id="rId9"/>
    <p:sldId id="527" r:id="rId10"/>
    <p:sldId id="528" r:id="rId11"/>
    <p:sldId id="529" r:id="rId12"/>
    <p:sldId id="530" r:id="rId13"/>
    <p:sldId id="531" r:id="rId14"/>
    <p:sldId id="532" r:id="rId15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66"/>
    <a:srgbClr val="FF3399"/>
    <a:srgbClr val="FF3300"/>
    <a:srgbClr val="0000F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84229" autoAdjust="0"/>
  </p:normalViewPr>
  <p:slideViewPr>
    <p:cSldViewPr>
      <p:cViewPr varScale="1">
        <p:scale>
          <a:sx n="61" d="100"/>
          <a:sy n="61" d="100"/>
        </p:scale>
        <p:origin x="-160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b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921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b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BAC4160-D9F3-45E2-9DE0-B8B505BD6E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46023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395B799E-8931-4162-B505-68AEEEF98DB2}" type="slidenum">
              <a:rPr lang="en-US" smtClean="0">
                <a:latin typeface="Arial" pitchFamily="34" charset="0"/>
                <a:cs typeface="Arial" pitchFamily="34" charset="0"/>
              </a:rPr>
              <a:pPr/>
              <a:t>1</a:t>
            </a:fld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20349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5A9EE7-E4AC-4300-A754-514C3129D0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4E1A1F-3ABD-4CEF-A482-B15E21FE08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58B5C6-2A8F-42B5-99F9-35F9B3F498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5BAAB9-4F84-40AE-B308-95384B73C7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3200C8-5B76-4616-82A2-EE151DA163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84BC93-BA4B-4474-84A5-200AE18AB8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8A281-50F0-40D6-9CF3-3E00E48EFE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97B583-639C-495F-A483-15D5E0E4D9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F14A99-27F8-416E-9CB7-91D553088F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5A75F8-C3A3-43B4-80CB-23D2B6E01E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A0AFE1-0021-4963-8B77-5747897D15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99CC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fld id="{7DCC2CAA-102D-45B2-908E-FFE82ECC94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63" r:id="rId1"/>
    <p:sldLayoutId id="2147484164" r:id="rId2"/>
    <p:sldLayoutId id="2147484165" r:id="rId3"/>
    <p:sldLayoutId id="2147484166" r:id="rId4"/>
    <p:sldLayoutId id="2147484167" r:id="rId5"/>
    <p:sldLayoutId id="2147484168" r:id="rId6"/>
    <p:sldLayoutId id="2147484169" r:id="rId7"/>
    <p:sldLayoutId id="2147484170" r:id="rId8"/>
    <p:sldLayoutId id="2147484171" r:id="rId9"/>
    <p:sldLayoutId id="2147484172" r:id="rId10"/>
    <p:sldLayoutId id="2147484173" r:id="rId11"/>
    <p:sldLayoutId id="2147484174" r:id="rId12"/>
    <p:sldLayoutId id="2147484175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CC00CC"/>
        </a:buClr>
        <a:buFont typeface="Monotype Sorts" pitchFamily="2" charset="2"/>
        <a:buChar char="u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C00CC"/>
        </a:buClr>
        <a:buFont typeface="Monotype Sorts" pitchFamily="2" charset="2"/>
        <a:buChar char="w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C00CC"/>
        </a:buClr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Office_Word_97_-_2003_Document1.doc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2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Microsoft_Office_Word_97_-_2003_Document2.doc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4"/>
          <p:cNvSpPr txBox="1">
            <a:spLocks noChangeArrowheads="1"/>
          </p:cNvSpPr>
          <p:nvPr/>
        </p:nvSpPr>
        <p:spPr bwMode="auto">
          <a:xfrm>
            <a:off x="762000" y="762000"/>
            <a:ext cx="7543800" cy="471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4400" dirty="0"/>
              <a:t>CSC479 </a:t>
            </a:r>
          </a:p>
          <a:p>
            <a:r>
              <a:rPr lang="en-US" sz="4400" dirty="0"/>
              <a:t>Data Mining</a:t>
            </a:r>
          </a:p>
          <a:p>
            <a:endParaRPr lang="en-US" sz="2800" dirty="0"/>
          </a:p>
          <a:p>
            <a:endParaRPr lang="en-US" sz="2800" dirty="0"/>
          </a:p>
          <a:p>
            <a:pPr lvl="2"/>
            <a:r>
              <a:rPr lang="en-US" sz="3600" dirty="0" smtClean="0"/>
              <a:t>Classification Lecture 6</a:t>
            </a:r>
          </a:p>
          <a:p>
            <a:pPr lvl="2"/>
            <a:r>
              <a:rPr lang="en-US" sz="3600" b="0" dirty="0" smtClean="0"/>
              <a:t>Rule Based Classification</a:t>
            </a:r>
          </a:p>
          <a:p>
            <a:pPr>
              <a:lnSpc>
                <a:spcPct val="90000"/>
              </a:lnSpc>
            </a:pPr>
            <a:endParaRPr lang="en-US" sz="3600" b="0" dirty="0"/>
          </a:p>
          <a:p>
            <a:r>
              <a:rPr lang="en-US" sz="2400" dirty="0"/>
              <a:t>(</a:t>
            </a:r>
            <a:r>
              <a:rPr lang="en-US" sz="2800" dirty="0"/>
              <a:t>Ch # </a:t>
            </a:r>
            <a:r>
              <a:rPr lang="en-US" sz="2800" dirty="0" smtClean="0"/>
              <a:t>8: Data Mining</a:t>
            </a:r>
            <a:r>
              <a:rPr lang="en-US" sz="2400" dirty="0" smtClean="0"/>
              <a:t>-Concepts and Techniques by Han and </a:t>
            </a:r>
            <a:r>
              <a:rPr lang="en-US" sz="2400" dirty="0" err="1" smtClean="0"/>
              <a:t>Kamber</a:t>
            </a:r>
            <a:r>
              <a:rPr lang="en-US" sz="2400" dirty="0" smtClean="0"/>
              <a:t>)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990600"/>
          </a:xfrm>
        </p:spPr>
        <p:txBody>
          <a:bodyPr/>
          <a:lstStyle/>
          <a:p>
            <a:r>
              <a:rPr lang="en-US" sz="3600" dirty="0"/>
              <a:t>Rule Generation from Decision Tree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600200"/>
            <a:ext cx="7772400" cy="4114800"/>
          </a:xfrm>
        </p:spPr>
        <p:txBody>
          <a:bodyPr/>
          <a:lstStyle/>
          <a:p>
            <a:r>
              <a:rPr lang="en-US" sz="2400" dirty="0"/>
              <a:t>Decision tree classifiers are popular method of classification due to </a:t>
            </a:r>
            <a:r>
              <a:rPr lang="en-US" sz="2400" dirty="0" smtClean="0"/>
              <a:t>its </a:t>
            </a:r>
            <a:r>
              <a:rPr lang="en-US" sz="2400" dirty="0"/>
              <a:t>easy understanding </a:t>
            </a:r>
          </a:p>
          <a:p>
            <a:pPr>
              <a:lnSpc>
                <a:spcPct val="90000"/>
              </a:lnSpc>
            </a:pPr>
            <a:endParaRPr lang="en-US" sz="2400" dirty="0"/>
          </a:p>
          <a:p>
            <a:r>
              <a:rPr lang="en-US" sz="2400" dirty="0"/>
              <a:t>However, decision tree can become large and difficult to interpret</a:t>
            </a:r>
          </a:p>
          <a:p>
            <a:pPr>
              <a:lnSpc>
                <a:spcPct val="90000"/>
              </a:lnSpc>
            </a:pPr>
            <a:endParaRPr lang="en-US" sz="2400" dirty="0"/>
          </a:p>
          <a:p>
            <a:r>
              <a:rPr lang="en-US" sz="2400" dirty="0"/>
              <a:t>In comparison with decision tree, the </a:t>
            </a:r>
            <a:r>
              <a:rPr lang="en-US" sz="2400" dirty="0">
                <a:solidFill>
                  <a:srgbClr val="C00000"/>
                </a:solidFill>
              </a:rPr>
              <a:t>IF-THEN</a:t>
            </a:r>
            <a:r>
              <a:rPr lang="en-US" sz="2400" dirty="0"/>
              <a:t> rules may be easier for humans to understand, particularly if the decision tree is very large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990600"/>
          </a:xfrm>
        </p:spPr>
        <p:txBody>
          <a:bodyPr/>
          <a:lstStyle/>
          <a:p>
            <a:r>
              <a:rPr lang="en-US" sz="3600" dirty="0"/>
              <a:t>Rule Generation from Decision Tree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1148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sz="2400" dirty="0"/>
              <a:t>Rules are easier to understand than large trees</a:t>
            </a:r>
          </a:p>
          <a:p>
            <a:pPr>
              <a:lnSpc>
                <a:spcPct val="120000"/>
              </a:lnSpc>
            </a:pPr>
            <a:r>
              <a:rPr lang="en-US" sz="2400" dirty="0"/>
              <a:t>One rule is created for each path from the root to a leaf</a:t>
            </a:r>
          </a:p>
          <a:p>
            <a:pPr>
              <a:lnSpc>
                <a:spcPct val="120000"/>
              </a:lnSpc>
            </a:pPr>
            <a:r>
              <a:rPr lang="en-US" sz="2400" dirty="0"/>
              <a:t>Each attribute-value pair along a path forms a </a:t>
            </a:r>
            <a:r>
              <a:rPr lang="en-US" sz="2400" dirty="0" smtClean="0"/>
              <a:t>conjunction. </a:t>
            </a:r>
            <a:r>
              <a:rPr lang="en-US" sz="2400" dirty="0"/>
              <a:t>T</a:t>
            </a:r>
            <a:r>
              <a:rPr lang="en-US" sz="2400" dirty="0" smtClean="0"/>
              <a:t>he </a:t>
            </a:r>
            <a:r>
              <a:rPr lang="en-US" sz="2400" dirty="0"/>
              <a:t>leaf holds the class prediction </a:t>
            </a:r>
          </a:p>
          <a:p>
            <a:endParaRPr lang="en-US" dirty="0"/>
          </a:p>
        </p:txBody>
      </p:sp>
      <p:pic>
        <p:nvPicPr>
          <p:cNvPr id="46109" name="Picture 2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87530" y="4038600"/>
            <a:ext cx="4488782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066800"/>
          </a:xfrm>
        </p:spPr>
        <p:txBody>
          <a:bodyPr/>
          <a:lstStyle/>
          <a:p>
            <a:r>
              <a:rPr lang="en-US" sz="3600" dirty="0"/>
              <a:t>Rule Generation from Decision Tree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924800" cy="41148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sz="2400" dirty="0"/>
              <a:t>Example: Rule extraction from our </a:t>
            </a:r>
            <a:r>
              <a:rPr lang="en-US" sz="2400" i="1" dirty="0" err="1"/>
              <a:t>buys_computer</a:t>
            </a:r>
            <a:r>
              <a:rPr lang="en-US" sz="2400" dirty="0"/>
              <a:t> decision-tree</a:t>
            </a:r>
          </a:p>
          <a:p>
            <a:pPr lvl="1">
              <a:lnSpc>
                <a:spcPct val="12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lang="en-US" sz="2000" dirty="0"/>
              <a:t>IF </a:t>
            </a:r>
            <a:r>
              <a:rPr lang="en-US" sz="2000" i="1" dirty="0"/>
              <a:t>age</a:t>
            </a:r>
            <a:r>
              <a:rPr lang="en-US" sz="2000" dirty="0"/>
              <a:t> = young AND </a:t>
            </a:r>
            <a:r>
              <a:rPr lang="en-US" sz="2000" i="1" dirty="0"/>
              <a:t>student</a:t>
            </a:r>
            <a:r>
              <a:rPr lang="en-US" sz="2000" dirty="0"/>
              <a:t> = </a:t>
            </a:r>
            <a:r>
              <a:rPr lang="en-US" sz="2000" i="1" dirty="0"/>
              <a:t>no</a:t>
            </a:r>
            <a:r>
              <a:rPr lang="en-US" sz="2000" dirty="0"/>
              <a:t>  </a:t>
            </a:r>
            <a:r>
              <a:rPr lang="en-US" sz="2000" dirty="0" smtClean="0"/>
              <a:t>THEN </a:t>
            </a:r>
            <a:r>
              <a:rPr lang="en-US" sz="2000" i="1" dirty="0" err="1"/>
              <a:t>buys_computer</a:t>
            </a:r>
            <a:r>
              <a:rPr lang="en-US" sz="2000" dirty="0"/>
              <a:t> = </a:t>
            </a:r>
            <a:r>
              <a:rPr lang="en-US" sz="2000" i="1" dirty="0"/>
              <a:t>no</a:t>
            </a:r>
            <a:endParaRPr lang="en-US" sz="2000" dirty="0"/>
          </a:p>
          <a:p>
            <a:pPr lvl="1">
              <a:lnSpc>
                <a:spcPct val="120000"/>
              </a:lnSpc>
              <a:buFont typeface="Wingdings" pitchFamily="2" charset="2"/>
              <a:buNone/>
            </a:pPr>
            <a:r>
              <a:rPr lang="en-US" sz="2000" dirty="0"/>
              <a:t>IF </a:t>
            </a:r>
            <a:r>
              <a:rPr lang="en-US" sz="2000" i="1" dirty="0"/>
              <a:t>age</a:t>
            </a:r>
            <a:r>
              <a:rPr lang="en-US" sz="2000" dirty="0"/>
              <a:t> = young AND </a:t>
            </a:r>
            <a:r>
              <a:rPr lang="en-US" sz="2000" i="1" dirty="0"/>
              <a:t>student</a:t>
            </a:r>
            <a:r>
              <a:rPr lang="en-US" sz="2000" dirty="0"/>
              <a:t> = </a:t>
            </a:r>
            <a:r>
              <a:rPr lang="en-US" sz="2000" i="1" dirty="0"/>
              <a:t>yes</a:t>
            </a:r>
            <a:r>
              <a:rPr lang="en-US" sz="2000" dirty="0"/>
              <a:t>  </a:t>
            </a:r>
            <a:r>
              <a:rPr lang="en-US" sz="2000" dirty="0" smtClean="0"/>
              <a:t>THEN </a:t>
            </a:r>
            <a:r>
              <a:rPr lang="en-US" sz="2000" i="1" dirty="0" err="1"/>
              <a:t>buys_computer</a:t>
            </a:r>
            <a:r>
              <a:rPr lang="en-US" sz="2000" dirty="0"/>
              <a:t> = </a:t>
            </a:r>
            <a:r>
              <a:rPr lang="en-US" sz="2000" i="1" dirty="0"/>
              <a:t>yes</a:t>
            </a:r>
            <a:endParaRPr lang="en-US" sz="2000" dirty="0"/>
          </a:p>
          <a:p>
            <a:pPr lvl="1">
              <a:lnSpc>
                <a:spcPct val="120000"/>
              </a:lnSpc>
              <a:buFont typeface="Wingdings" pitchFamily="2" charset="2"/>
              <a:buNone/>
            </a:pPr>
            <a:r>
              <a:rPr lang="en-US" sz="2000" dirty="0"/>
              <a:t>IF </a:t>
            </a:r>
            <a:r>
              <a:rPr lang="en-US" sz="2000" i="1" dirty="0"/>
              <a:t>age</a:t>
            </a:r>
            <a:r>
              <a:rPr lang="en-US" sz="2000" dirty="0"/>
              <a:t> = mid-age 			</a:t>
            </a:r>
            <a:r>
              <a:rPr lang="en-US" sz="2000" dirty="0" smtClean="0"/>
              <a:t>THEN </a:t>
            </a:r>
            <a:r>
              <a:rPr lang="en-US" sz="2000" i="1" dirty="0" err="1"/>
              <a:t>buys_computer</a:t>
            </a:r>
            <a:r>
              <a:rPr lang="en-US" sz="2000" dirty="0"/>
              <a:t> = </a:t>
            </a:r>
            <a:r>
              <a:rPr lang="en-US" sz="2000" i="1" dirty="0"/>
              <a:t>yes</a:t>
            </a:r>
            <a:endParaRPr lang="en-US" sz="2000" dirty="0"/>
          </a:p>
          <a:p>
            <a:pPr lvl="1">
              <a:lnSpc>
                <a:spcPct val="120000"/>
              </a:lnSpc>
              <a:buFont typeface="Wingdings" pitchFamily="2" charset="2"/>
              <a:buNone/>
            </a:pPr>
            <a:r>
              <a:rPr lang="en-US" sz="2000" dirty="0"/>
              <a:t>IF </a:t>
            </a:r>
            <a:r>
              <a:rPr lang="en-US" sz="2000" i="1" dirty="0"/>
              <a:t>age</a:t>
            </a:r>
            <a:r>
              <a:rPr lang="en-US" sz="2000" dirty="0"/>
              <a:t> = old AND </a:t>
            </a:r>
            <a:r>
              <a:rPr lang="en-US" sz="2000" i="1" dirty="0" err="1"/>
              <a:t>credit_rating</a:t>
            </a:r>
            <a:r>
              <a:rPr lang="en-US" sz="2000" dirty="0"/>
              <a:t> = </a:t>
            </a:r>
            <a:r>
              <a:rPr lang="en-US" sz="2000" i="1" dirty="0"/>
              <a:t>excellent</a:t>
            </a:r>
            <a:r>
              <a:rPr lang="en-US" sz="2000" dirty="0"/>
              <a:t>  THEN </a:t>
            </a:r>
            <a:r>
              <a:rPr lang="en-US" sz="2000" i="1" dirty="0" err="1"/>
              <a:t>buys_computer</a:t>
            </a:r>
            <a:r>
              <a:rPr lang="en-US" sz="2000" i="1" dirty="0"/>
              <a:t> </a:t>
            </a:r>
            <a:r>
              <a:rPr lang="en-US" sz="2000" dirty="0"/>
              <a:t>= </a:t>
            </a:r>
            <a:r>
              <a:rPr lang="en-US" sz="2000" i="1" dirty="0"/>
              <a:t>yes</a:t>
            </a:r>
            <a:endParaRPr lang="en-US" sz="2000" dirty="0"/>
          </a:p>
          <a:p>
            <a:pPr lvl="1">
              <a:lnSpc>
                <a:spcPct val="120000"/>
              </a:lnSpc>
              <a:buFont typeface="Wingdings" pitchFamily="2" charset="2"/>
              <a:buNone/>
            </a:pPr>
            <a:r>
              <a:rPr lang="en-US" sz="2000" dirty="0"/>
              <a:t>IF </a:t>
            </a:r>
            <a:r>
              <a:rPr lang="en-US" sz="2000" i="1" dirty="0"/>
              <a:t>age</a:t>
            </a:r>
            <a:r>
              <a:rPr lang="en-US" sz="2000" dirty="0"/>
              <a:t> = young AND </a:t>
            </a:r>
            <a:r>
              <a:rPr lang="en-US" sz="2000" i="1" dirty="0" err="1"/>
              <a:t>credit_rating</a:t>
            </a:r>
            <a:r>
              <a:rPr lang="en-US" sz="2000" dirty="0"/>
              <a:t> = </a:t>
            </a:r>
            <a:r>
              <a:rPr lang="en-US" sz="2000" i="1" dirty="0"/>
              <a:t>fair</a:t>
            </a:r>
            <a:r>
              <a:rPr lang="en-US" sz="2000" dirty="0"/>
              <a:t>     </a:t>
            </a:r>
            <a:r>
              <a:rPr lang="en-US" sz="2000" dirty="0" smtClean="0"/>
              <a:t> THEN </a:t>
            </a:r>
            <a:r>
              <a:rPr lang="en-US" sz="2000" i="1" dirty="0" err="1"/>
              <a:t>buys_computer</a:t>
            </a:r>
            <a:r>
              <a:rPr lang="en-US" sz="2000" dirty="0"/>
              <a:t> = </a:t>
            </a:r>
            <a:r>
              <a:rPr lang="en-US" sz="2000" i="1" dirty="0"/>
              <a:t>no</a:t>
            </a:r>
          </a:p>
          <a:p>
            <a:pPr>
              <a:lnSpc>
                <a:spcPct val="80000"/>
              </a:lnSpc>
            </a:pP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990600"/>
          </a:xfrm>
        </p:spPr>
        <p:txBody>
          <a:bodyPr/>
          <a:lstStyle/>
          <a:p>
            <a:r>
              <a:rPr lang="en-US" dirty="0" smtClean="0"/>
              <a:t>Rule-Based Classifier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7772400" cy="49530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Classify records by using a collection of “if…then…” rules</a:t>
            </a:r>
          </a:p>
          <a:p>
            <a:pPr lvl="4"/>
            <a:endParaRPr lang="en-US" sz="1000" dirty="0" smtClean="0"/>
          </a:p>
          <a:p>
            <a:r>
              <a:rPr lang="en-US" dirty="0" smtClean="0"/>
              <a:t>Rule:    (</a:t>
            </a:r>
            <a:r>
              <a:rPr lang="en-US" i="1" dirty="0" smtClean="0"/>
              <a:t>Condition</a:t>
            </a:r>
            <a:r>
              <a:rPr lang="en-US" dirty="0" smtClean="0"/>
              <a:t>) </a:t>
            </a:r>
            <a:r>
              <a:rPr lang="en-US" dirty="0" smtClean="0">
                <a:sym typeface="Symbol" pitchFamily="18" charset="2"/>
              </a:rPr>
              <a:t> </a:t>
            </a:r>
            <a:r>
              <a:rPr lang="en-US" i="1" dirty="0" smtClean="0">
                <a:sym typeface="Symbol" pitchFamily="18" charset="2"/>
              </a:rPr>
              <a:t>y</a:t>
            </a:r>
          </a:p>
          <a:p>
            <a:pPr lvl="1">
              <a:lnSpc>
                <a:spcPct val="120000"/>
              </a:lnSpc>
            </a:pPr>
            <a:r>
              <a:rPr lang="en-US" sz="2600" dirty="0" smtClean="0"/>
              <a:t>where </a:t>
            </a:r>
          </a:p>
          <a:p>
            <a:pPr lvl="2">
              <a:lnSpc>
                <a:spcPct val="120000"/>
              </a:lnSpc>
            </a:pPr>
            <a:r>
              <a:rPr lang="en-US" sz="2000" i="1" dirty="0" smtClean="0"/>
              <a:t> </a:t>
            </a:r>
            <a:r>
              <a:rPr lang="en-US" sz="2200" i="1" dirty="0" smtClean="0"/>
              <a:t>Condition</a:t>
            </a:r>
            <a:r>
              <a:rPr lang="en-US" sz="2200" dirty="0" smtClean="0"/>
              <a:t> is a conjunctions of attributes </a:t>
            </a:r>
          </a:p>
          <a:p>
            <a:pPr lvl="2">
              <a:lnSpc>
                <a:spcPct val="120000"/>
              </a:lnSpc>
            </a:pPr>
            <a:r>
              <a:rPr lang="en-US" sz="2200" i="1" dirty="0" smtClean="0"/>
              <a:t> y</a:t>
            </a:r>
            <a:r>
              <a:rPr lang="en-US" sz="2200" dirty="0" smtClean="0"/>
              <a:t> is the class label</a:t>
            </a:r>
          </a:p>
          <a:p>
            <a:pPr lvl="1">
              <a:lnSpc>
                <a:spcPct val="120000"/>
              </a:lnSpc>
            </a:pPr>
            <a:r>
              <a:rPr lang="en-US" sz="2600" i="1" dirty="0" smtClean="0"/>
              <a:t>LHS</a:t>
            </a:r>
            <a:r>
              <a:rPr lang="en-US" sz="2600" dirty="0" smtClean="0"/>
              <a:t>: rule antecedent or condition</a:t>
            </a:r>
          </a:p>
          <a:p>
            <a:pPr lvl="1">
              <a:lnSpc>
                <a:spcPct val="120000"/>
              </a:lnSpc>
            </a:pPr>
            <a:r>
              <a:rPr lang="en-US" sz="2600" i="1" dirty="0" smtClean="0"/>
              <a:t>RHS</a:t>
            </a:r>
            <a:r>
              <a:rPr lang="en-US" sz="2600" dirty="0" smtClean="0"/>
              <a:t>: rule consequent</a:t>
            </a:r>
          </a:p>
          <a:p>
            <a:pPr lvl="1">
              <a:lnSpc>
                <a:spcPct val="120000"/>
              </a:lnSpc>
            </a:pPr>
            <a:r>
              <a:rPr lang="en-US" sz="2600" dirty="0" smtClean="0"/>
              <a:t>Examples of classification rules:</a:t>
            </a:r>
          </a:p>
          <a:p>
            <a:pPr lvl="2">
              <a:lnSpc>
                <a:spcPct val="120000"/>
              </a:lnSpc>
            </a:pPr>
            <a:r>
              <a:rPr lang="en-US" sz="2000" dirty="0" smtClean="0"/>
              <a:t> </a:t>
            </a:r>
            <a:r>
              <a:rPr lang="en-US" sz="2200" dirty="0" smtClean="0"/>
              <a:t>(Blood Type=Warm) </a:t>
            </a:r>
            <a:r>
              <a:rPr lang="en-US" sz="2200" dirty="0" smtClean="0">
                <a:sym typeface="Symbol" pitchFamily="18" charset="2"/>
              </a:rPr>
              <a:t> </a:t>
            </a:r>
            <a:r>
              <a:rPr lang="en-US" sz="2200" dirty="0" smtClean="0"/>
              <a:t>(Lay Eggs=Yes) </a:t>
            </a:r>
            <a:r>
              <a:rPr lang="en-US" sz="2200" dirty="0" smtClean="0">
                <a:sym typeface="Symbol" pitchFamily="18" charset="2"/>
              </a:rPr>
              <a:t> Birds</a:t>
            </a:r>
          </a:p>
          <a:p>
            <a:pPr lvl="2">
              <a:lnSpc>
                <a:spcPct val="120000"/>
              </a:lnSpc>
            </a:pPr>
            <a:r>
              <a:rPr lang="en-US" sz="2200" dirty="0" smtClean="0">
                <a:sym typeface="Symbol" pitchFamily="18" charset="2"/>
              </a:rPr>
              <a:t> (Taxable Income &lt; 50K)  (Refund=Yes)  Evade=No</a:t>
            </a:r>
          </a:p>
        </p:txBody>
      </p:sp>
    </p:spTree>
    <p:extLst>
      <p:ext uri="{BB962C8B-B14F-4D97-AF65-F5344CB8AC3E}">
        <p14:creationId xmlns="" xmlns:p14="http://schemas.microsoft.com/office/powerpoint/2010/main" val="3600071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76200"/>
            <a:ext cx="7772400" cy="838200"/>
          </a:xfrm>
        </p:spPr>
        <p:txBody>
          <a:bodyPr/>
          <a:lstStyle/>
          <a:p>
            <a:r>
              <a:rPr lang="en-US" sz="3600" dirty="0" smtClean="0"/>
              <a:t>Rule-based Classifier (Example)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143000" y="4648200"/>
            <a:ext cx="6781800" cy="2209800"/>
          </a:xfrm>
        </p:spPr>
        <p:txBody>
          <a:bodyPr/>
          <a:lstStyle/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000" dirty="0" smtClean="0"/>
              <a:t>R1: (Give Birth = no) </a:t>
            </a:r>
            <a:r>
              <a:rPr lang="en-US" sz="2000" dirty="0" smtClean="0">
                <a:sym typeface="Symbol" pitchFamily="18" charset="2"/>
              </a:rPr>
              <a:t> (Can Fly = yes)  Birds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000" dirty="0" smtClean="0"/>
              <a:t>R2: (Give Birth = no) </a:t>
            </a:r>
            <a:r>
              <a:rPr lang="en-US" sz="2000" dirty="0" smtClean="0">
                <a:sym typeface="Symbol" pitchFamily="18" charset="2"/>
              </a:rPr>
              <a:t> (Live in Water = yes)  Fishes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000" dirty="0" smtClean="0"/>
              <a:t>R3: (Give Birth = yes) </a:t>
            </a:r>
            <a:r>
              <a:rPr lang="en-US" sz="2000" dirty="0" smtClean="0">
                <a:sym typeface="Symbol" pitchFamily="18" charset="2"/>
              </a:rPr>
              <a:t> (Blood Type = warm)  Mammals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000" dirty="0" smtClean="0"/>
              <a:t>R4: (Give Birth = no) </a:t>
            </a:r>
            <a:r>
              <a:rPr lang="en-US" sz="2000" dirty="0" smtClean="0">
                <a:sym typeface="Symbol" pitchFamily="18" charset="2"/>
              </a:rPr>
              <a:t> (Can Fly = no)  Reptiles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000" dirty="0" smtClean="0"/>
              <a:t>R5: (Live in Water</a:t>
            </a:r>
            <a:r>
              <a:rPr lang="en-US" sz="2000" dirty="0" smtClean="0">
                <a:sym typeface="Symbol" pitchFamily="18" charset="2"/>
              </a:rPr>
              <a:t> = sometimes)  Amphibians</a:t>
            </a:r>
            <a:endParaRPr lang="en-US" sz="1800" dirty="0" smtClean="0">
              <a:sym typeface="Symbol" pitchFamily="18" charset="2"/>
            </a:endParaRPr>
          </a:p>
        </p:txBody>
      </p:sp>
      <p:pic>
        <p:nvPicPr>
          <p:cNvPr id="4100" name="Picture 531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19200" y="838200"/>
            <a:ext cx="6095999" cy="3755479"/>
          </a:xfrm>
          <a:noFill/>
          <a:extLst>
            <a:ext uri="{91240B29-F687-4F45-9708-019B960494DF}">
              <a14:hiddenLine xmlns=""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3577927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772400" cy="838200"/>
          </a:xfrm>
        </p:spPr>
        <p:txBody>
          <a:bodyPr/>
          <a:lstStyle/>
          <a:p>
            <a:r>
              <a:rPr lang="en-US" sz="3600" dirty="0" smtClean="0"/>
              <a:t>Application of Rule-Based Classifier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9100" y="1358184"/>
            <a:ext cx="8229600" cy="4525963"/>
          </a:xfrm>
        </p:spPr>
        <p:txBody>
          <a:bodyPr/>
          <a:lstStyle/>
          <a:p>
            <a:r>
              <a:rPr lang="en-US" sz="2800" dirty="0" smtClean="0"/>
              <a:t>A rule </a:t>
            </a:r>
            <a:r>
              <a:rPr lang="en-US" sz="2800" i="1" dirty="0" smtClean="0"/>
              <a:t>r</a:t>
            </a:r>
            <a:r>
              <a:rPr lang="en-US" sz="2800" dirty="0" smtClean="0"/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covers</a:t>
            </a:r>
            <a:r>
              <a:rPr lang="en-US" sz="2800" dirty="0" smtClean="0"/>
              <a:t> an instance </a:t>
            </a:r>
            <a:r>
              <a:rPr lang="en-US" sz="2800" b="1" dirty="0" smtClean="0"/>
              <a:t>x </a:t>
            </a:r>
            <a:r>
              <a:rPr lang="en-US" sz="2800" dirty="0" smtClean="0"/>
              <a:t>if the attributes of the instance satisfy the condition of the rule</a:t>
            </a:r>
          </a:p>
        </p:txBody>
      </p:sp>
      <p:sp>
        <p:nvSpPr>
          <p:cNvPr id="5124" name="Rectangle 5"/>
          <p:cNvSpPr>
            <a:spLocks noChangeArrowheads="1"/>
          </p:cNvSpPr>
          <p:nvPr/>
        </p:nvSpPr>
        <p:spPr bwMode="auto">
          <a:xfrm>
            <a:off x="762000" y="2514600"/>
            <a:ext cx="754380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2000" b="0" dirty="0"/>
              <a:t>R1: (Give Birth = no) </a:t>
            </a:r>
            <a:r>
              <a:rPr lang="en-US" sz="2000" b="0" dirty="0">
                <a:sym typeface="Symbol" pitchFamily="18" charset="2"/>
              </a:rPr>
              <a:t> (Can Fly = yes)  Birds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2000" b="0" dirty="0"/>
              <a:t>R2: (Give Birth = no) </a:t>
            </a:r>
            <a:r>
              <a:rPr lang="en-US" sz="2000" b="0" dirty="0">
                <a:sym typeface="Symbol" pitchFamily="18" charset="2"/>
              </a:rPr>
              <a:t> (Live in Water = yes)  Fishes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2000" b="0" dirty="0"/>
              <a:t>R3: (Give Birth = yes) </a:t>
            </a:r>
            <a:r>
              <a:rPr lang="en-US" sz="2000" b="0" dirty="0">
                <a:sym typeface="Symbol" pitchFamily="18" charset="2"/>
              </a:rPr>
              <a:t> (Blood Type = warm)  Mammals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2000" b="0" dirty="0"/>
              <a:t>R4: (Give Birth = no) </a:t>
            </a:r>
            <a:r>
              <a:rPr lang="en-US" sz="2000" b="0" dirty="0">
                <a:sym typeface="Symbol" pitchFamily="18" charset="2"/>
              </a:rPr>
              <a:t> (Can Fly = no)  Reptiles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2000" b="0" dirty="0"/>
              <a:t>R5: (Live in Water</a:t>
            </a:r>
            <a:r>
              <a:rPr lang="en-US" sz="2000" b="0" dirty="0">
                <a:sym typeface="Symbol" pitchFamily="18" charset="2"/>
              </a:rPr>
              <a:t> = sometimes)  Amphibians </a:t>
            </a:r>
          </a:p>
        </p:txBody>
      </p:sp>
      <p:sp>
        <p:nvSpPr>
          <p:cNvPr id="5125" name="Rectangle 6"/>
          <p:cNvSpPr>
            <a:spLocks noChangeArrowheads="1"/>
          </p:cNvSpPr>
          <p:nvPr/>
        </p:nvSpPr>
        <p:spPr bwMode="auto">
          <a:xfrm>
            <a:off x="838200" y="5715000"/>
            <a:ext cx="73914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1800" b="0" dirty="0"/>
              <a:t>The rule R1 covers a hawk =&gt; Bird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1800" b="0" dirty="0"/>
              <a:t>The rule R3 covers the grizzly bear =&gt; Mammal</a:t>
            </a:r>
            <a:endParaRPr lang="en-US" sz="1800" b="0" dirty="0">
              <a:sym typeface="Symbol" pitchFamily="18" charset="2"/>
            </a:endParaRPr>
          </a:p>
        </p:txBody>
      </p:sp>
      <p:pic>
        <p:nvPicPr>
          <p:cNvPr id="5126" name="Picture 7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4905375"/>
            <a:ext cx="8458200" cy="733425"/>
          </a:xfrm>
          <a:noFill/>
          <a:extLst>
            <a:ext uri="{91240B29-F687-4F45-9708-019B960494DF}">
              <a14:hiddenLine xmlns=""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3408872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772400" cy="914400"/>
          </a:xfrm>
        </p:spPr>
        <p:txBody>
          <a:bodyPr/>
          <a:lstStyle/>
          <a:p>
            <a:r>
              <a:rPr lang="en-US" dirty="0" smtClean="0"/>
              <a:t>Rule Coverage and Accuracy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066800"/>
            <a:ext cx="4160837" cy="5181600"/>
          </a:xfrm>
        </p:spPr>
        <p:txBody>
          <a:bodyPr/>
          <a:lstStyle/>
          <a:p>
            <a:r>
              <a:rPr lang="en-US" dirty="0" smtClean="0"/>
              <a:t>Coverage of a rule:</a:t>
            </a:r>
          </a:p>
          <a:p>
            <a:pPr lvl="1"/>
            <a:r>
              <a:rPr lang="en-US" dirty="0" smtClean="0"/>
              <a:t>Fraction of records that satisfy the antecedent of a rule</a:t>
            </a:r>
          </a:p>
          <a:p>
            <a:pPr lvl="1"/>
            <a:endParaRPr lang="en-US" sz="2000" dirty="0" smtClean="0"/>
          </a:p>
          <a:p>
            <a:pPr lvl="1"/>
            <a:endParaRPr lang="en-US" sz="2400" dirty="0" smtClean="0"/>
          </a:p>
          <a:p>
            <a:r>
              <a:rPr lang="en-US" dirty="0" smtClean="0"/>
              <a:t>Accuracy of a rule:</a:t>
            </a:r>
          </a:p>
          <a:p>
            <a:pPr lvl="1"/>
            <a:r>
              <a:rPr lang="en-US" dirty="0" smtClean="0"/>
              <a:t>Fraction of records that satisfy both the antecedent and consequent of a rule</a:t>
            </a:r>
          </a:p>
        </p:txBody>
      </p:sp>
      <p:graphicFrame>
        <p:nvGraphicFramePr>
          <p:cNvPr id="6148" name="Object 4"/>
          <p:cNvGraphicFramePr>
            <a:graphicFrameLocks noChangeAspect="1"/>
          </p:cNvGraphicFramePr>
          <p:nvPr/>
        </p:nvGraphicFramePr>
        <p:xfrm>
          <a:off x="5029200" y="1177925"/>
          <a:ext cx="3890963" cy="4156075"/>
        </p:xfrm>
        <a:graphic>
          <a:graphicData uri="http://schemas.openxmlformats.org/presentationml/2006/ole">
            <p:oleObj spid="_x0000_s388098" name="Document" r:id="rId3" imgW="5415994" imgH="5778378" progId="Word.Document.8">
              <p:embed/>
            </p:oleObj>
          </a:graphicData>
        </a:graphic>
      </p:graphicFrame>
      <p:sp>
        <p:nvSpPr>
          <p:cNvPr id="6149" name="Text Box 5"/>
          <p:cNvSpPr txBox="1">
            <a:spLocks noChangeArrowheads="1"/>
          </p:cNvSpPr>
          <p:nvPr/>
        </p:nvSpPr>
        <p:spPr bwMode="auto">
          <a:xfrm>
            <a:off x="4419600" y="5334000"/>
            <a:ext cx="4572000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>
                <a:sym typeface="Symbol" pitchFamily="18" charset="2"/>
              </a:rPr>
              <a:t>(Status=Single)  No</a:t>
            </a:r>
          </a:p>
          <a:p>
            <a:pPr>
              <a:spcBef>
                <a:spcPct val="50000"/>
              </a:spcBef>
            </a:pPr>
            <a:r>
              <a:rPr lang="en-US" sz="2000">
                <a:sym typeface="Symbol" pitchFamily="18" charset="2"/>
              </a:rPr>
              <a:t>    Coverage = 40%,  Accuracy = 50%</a:t>
            </a:r>
          </a:p>
        </p:txBody>
      </p:sp>
      <p:pic>
        <p:nvPicPr>
          <p:cNvPr id="29389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95400" y="3048000"/>
            <a:ext cx="23241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93892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295400" y="6172200"/>
            <a:ext cx="22479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542355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001000" cy="914400"/>
          </a:xfrm>
        </p:spPr>
        <p:txBody>
          <a:bodyPr>
            <a:noAutofit/>
          </a:bodyPr>
          <a:lstStyle/>
          <a:p>
            <a:r>
              <a:rPr lang="en-US" sz="3600" dirty="0" smtClean="0"/>
              <a:t>How does Rule-based Classifier Work?</a:t>
            </a:r>
          </a:p>
        </p:txBody>
      </p:sp>
      <p:sp>
        <p:nvSpPr>
          <p:cNvPr id="7171" name="Rectangle 4"/>
          <p:cNvSpPr>
            <a:spLocks noChangeArrowheads="1"/>
          </p:cNvSpPr>
          <p:nvPr/>
        </p:nvSpPr>
        <p:spPr bwMode="auto">
          <a:xfrm>
            <a:off x="838200" y="1143000"/>
            <a:ext cx="7543800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1800" b="0"/>
              <a:t>R1: (Give Birth = no) </a:t>
            </a:r>
            <a:r>
              <a:rPr lang="en-US" sz="1800" b="0">
                <a:sym typeface="Symbol" pitchFamily="18" charset="2"/>
              </a:rPr>
              <a:t> (Can Fly = yes)  Birds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1800" b="0"/>
              <a:t>R2: (Give Birth = no) </a:t>
            </a:r>
            <a:r>
              <a:rPr lang="en-US" sz="1800" b="0">
                <a:sym typeface="Symbol" pitchFamily="18" charset="2"/>
              </a:rPr>
              <a:t> (Live in Water = yes)  Fishes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1800" b="0"/>
              <a:t>R3: (Give Birth = yes) </a:t>
            </a:r>
            <a:r>
              <a:rPr lang="en-US" sz="1800" b="0">
                <a:sym typeface="Symbol" pitchFamily="18" charset="2"/>
              </a:rPr>
              <a:t> (Blood Type = warm)  Mammals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1800" b="0"/>
              <a:t>R4: (Give Birth = no) </a:t>
            </a:r>
            <a:r>
              <a:rPr lang="en-US" sz="1800" b="0">
                <a:sym typeface="Symbol" pitchFamily="18" charset="2"/>
              </a:rPr>
              <a:t> (Can Fly = no)  Reptiles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1800" b="0"/>
              <a:t>R5: (Live in Water</a:t>
            </a:r>
            <a:r>
              <a:rPr lang="en-US" sz="1800" b="0">
                <a:sym typeface="Symbol" pitchFamily="18" charset="2"/>
              </a:rPr>
              <a:t> = sometimes)  Amphibians </a:t>
            </a:r>
          </a:p>
        </p:txBody>
      </p:sp>
      <p:sp>
        <p:nvSpPr>
          <p:cNvPr id="7172" name="Rectangle 7"/>
          <p:cNvSpPr>
            <a:spLocks noChangeArrowheads="1"/>
          </p:cNvSpPr>
          <p:nvPr/>
        </p:nvSpPr>
        <p:spPr bwMode="auto">
          <a:xfrm>
            <a:off x="685800" y="4724400"/>
            <a:ext cx="74676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1800" b="0" dirty="0"/>
              <a:t>A lemur triggers rule R3, so it is classified as a mammal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1800" b="0" dirty="0"/>
              <a:t>A turtle triggers both R4 and R5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1800" b="0" dirty="0"/>
              <a:t>A dogfish shark triggers none of the rules</a:t>
            </a:r>
            <a:endParaRPr lang="en-US" sz="1800" b="0" dirty="0">
              <a:sym typeface="Symbol" pitchFamily="18" charset="2"/>
            </a:endParaRPr>
          </a:p>
        </p:txBody>
      </p:sp>
      <p:pic>
        <p:nvPicPr>
          <p:cNvPr id="7173" name="Picture 1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3352800"/>
            <a:ext cx="8296275" cy="965200"/>
          </a:xfrm>
          <a:noFill/>
          <a:extLst>
            <a:ext uri="{91240B29-F687-4F45-9708-019B960494DF}">
              <a14:hiddenLine xmlns=""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1601274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8077200" cy="914400"/>
          </a:xfrm>
        </p:spPr>
        <p:txBody>
          <a:bodyPr>
            <a:noAutofit/>
          </a:bodyPr>
          <a:lstStyle/>
          <a:p>
            <a:r>
              <a:rPr lang="en-US" sz="3600" dirty="0" smtClean="0"/>
              <a:t>Characteristics of Rule-Based Classifier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7772400" cy="518160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 smtClean="0"/>
              <a:t>Mutually exclusive rules</a:t>
            </a:r>
          </a:p>
          <a:p>
            <a:pPr lvl="1">
              <a:lnSpc>
                <a:spcPct val="120000"/>
              </a:lnSpc>
            </a:pPr>
            <a:r>
              <a:rPr lang="en-US" dirty="0" smtClean="0"/>
              <a:t>Classifier contains </a:t>
            </a:r>
            <a:r>
              <a:rPr lang="en-US" u="sng" dirty="0" smtClean="0"/>
              <a:t>mutually exclusive rules </a:t>
            </a:r>
            <a:r>
              <a:rPr lang="en-US" dirty="0" smtClean="0"/>
              <a:t>if the rules </a:t>
            </a:r>
            <a:r>
              <a:rPr lang="en-US" u="sng" dirty="0" smtClean="0"/>
              <a:t>are independent of each other</a:t>
            </a:r>
          </a:p>
          <a:p>
            <a:pPr lvl="1">
              <a:lnSpc>
                <a:spcPct val="120000"/>
              </a:lnSpc>
            </a:pPr>
            <a:r>
              <a:rPr lang="en-US" dirty="0" smtClean="0"/>
              <a:t>Every record is covered by at most one rule</a:t>
            </a:r>
          </a:p>
          <a:p>
            <a:pPr lvl="1">
              <a:lnSpc>
                <a:spcPct val="120000"/>
              </a:lnSpc>
            </a:pPr>
            <a:r>
              <a:rPr lang="en-US" dirty="0" smtClean="0"/>
              <a:t>we can not have rules conflict because no two rules will triggered for the same </a:t>
            </a:r>
            <a:r>
              <a:rPr lang="en-US" dirty="0" err="1" smtClean="0"/>
              <a:t>tuple</a:t>
            </a:r>
            <a:endParaRPr lang="en-US" dirty="0" smtClean="0"/>
          </a:p>
          <a:p>
            <a:pPr lvl="1">
              <a:lnSpc>
                <a:spcPct val="120000"/>
              </a:lnSpc>
            </a:pPr>
            <a:endParaRPr lang="en-US" dirty="0" smtClean="0"/>
          </a:p>
          <a:p>
            <a:pPr>
              <a:lnSpc>
                <a:spcPct val="120000"/>
              </a:lnSpc>
            </a:pPr>
            <a:r>
              <a:rPr lang="en-US" dirty="0" smtClean="0"/>
              <a:t>Exhaustive rules</a:t>
            </a:r>
          </a:p>
          <a:p>
            <a:pPr lvl="1">
              <a:lnSpc>
                <a:spcPct val="120000"/>
              </a:lnSpc>
            </a:pPr>
            <a:r>
              <a:rPr lang="en-US" dirty="0" smtClean="0"/>
              <a:t>Classifier has exhaustive coverage if it accounts for every possible combination of attribute values</a:t>
            </a:r>
          </a:p>
          <a:p>
            <a:pPr lvl="1">
              <a:lnSpc>
                <a:spcPct val="120000"/>
              </a:lnSpc>
            </a:pPr>
            <a:r>
              <a:rPr lang="en-US" dirty="0" smtClean="0"/>
              <a:t>Each record is covered by at least one rule</a:t>
            </a:r>
          </a:p>
          <a:p>
            <a:pPr lvl="1">
              <a:lnSpc>
                <a:spcPct val="120000"/>
              </a:lnSpc>
            </a:pPr>
            <a:r>
              <a:rPr lang="en-US" dirty="0" smtClean="0"/>
              <a:t>T</a:t>
            </a:r>
            <a:r>
              <a:rPr lang="en-US" smtClean="0"/>
              <a:t>here </a:t>
            </a:r>
            <a:r>
              <a:rPr lang="en-US" dirty="0" smtClean="0"/>
              <a:t>is one rule for each possible attribute-value combination, so that the set of rules does not require a default rule</a:t>
            </a:r>
          </a:p>
        </p:txBody>
      </p:sp>
    </p:spTree>
    <p:extLst>
      <p:ext uri="{BB962C8B-B14F-4D97-AF65-F5344CB8AC3E}">
        <p14:creationId xmlns="" xmlns:p14="http://schemas.microsoft.com/office/powerpoint/2010/main" val="1657852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7772400" cy="990600"/>
          </a:xfrm>
        </p:spPr>
        <p:txBody>
          <a:bodyPr/>
          <a:lstStyle/>
          <a:p>
            <a:r>
              <a:rPr lang="en-US" sz="3600" dirty="0" smtClean="0"/>
              <a:t>From Decision Trees To Rules</a:t>
            </a:r>
          </a:p>
        </p:txBody>
      </p:sp>
      <p:graphicFrame>
        <p:nvGraphicFramePr>
          <p:cNvPr id="9219" name="Object 3"/>
          <p:cNvGraphicFramePr>
            <a:graphicFrameLocks noChangeAspect="1"/>
          </p:cNvGraphicFramePr>
          <p:nvPr/>
        </p:nvGraphicFramePr>
        <p:xfrm>
          <a:off x="76200" y="1905000"/>
          <a:ext cx="4060825" cy="3251200"/>
        </p:xfrm>
        <a:graphic>
          <a:graphicData uri="http://schemas.openxmlformats.org/presentationml/2006/ole">
            <p:oleObj spid="_x0000_s389122" name="VISIO" r:id="rId3" imgW="4062984" imgH="3247644" progId="">
              <p:embed/>
            </p:oleObj>
          </a:graphicData>
        </a:graphic>
      </p:graphicFrame>
      <p:graphicFrame>
        <p:nvGraphicFramePr>
          <p:cNvPr id="9220" name="Object 4"/>
          <p:cNvGraphicFramePr>
            <a:graphicFrameLocks noChangeAspect="1"/>
          </p:cNvGraphicFramePr>
          <p:nvPr/>
        </p:nvGraphicFramePr>
        <p:xfrm>
          <a:off x="5029200" y="1295400"/>
          <a:ext cx="3944938" cy="2879725"/>
        </p:xfrm>
        <a:graphic>
          <a:graphicData uri="http://schemas.openxmlformats.org/presentationml/2006/ole">
            <p:oleObj spid="_x0000_s389123" name="VISIO" r:id="rId4" imgW="5090160" imgH="3710940" progId="">
              <p:embed/>
            </p:oleObj>
          </a:graphicData>
        </a:graphic>
      </p:graphicFrame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4191000" y="2667000"/>
            <a:ext cx="609600" cy="0"/>
          </a:xfrm>
          <a:prstGeom prst="line">
            <a:avLst/>
          </a:prstGeom>
          <a:noFill/>
          <a:ln w="31750">
            <a:solidFill>
              <a:srgbClr val="CC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3810000" y="4876800"/>
            <a:ext cx="5181600" cy="1054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800"/>
              <a:t>Rules are mutually exclusive and exhaustive</a:t>
            </a:r>
          </a:p>
          <a:p>
            <a:pPr>
              <a:spcBef>
                <a:spcPct val="50000"/>
              </a:spcBef>
            </a:pPr>
            <a:r>
              <a:rPr lang="en-US" sz="1800"/>
              <a:t>Rule set contains as much information as the tree</a:t>
            </a:r>
          </a:p>
        </p:txBody>
      </p:sp>
    </p:spTree>
    <p:extLst>
      <p:ext uri="{BB962C8B-B14F-4D97-AF65-F5344CB8AC3E}">
        <p14:creationId xmlns="" xmlns:p14="http://schemas.microsoft.com/office/powerpoint/2010/main" val="604481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7772400" cy="990600"/>
          </a:xfrm>
        </p:spPr>
        <p:txBody>
          <a:bodyPr/>
          <a:lstStyle/>
          <a:p>
            <a:r>
              <a:rPr lang="en-US" dirty="0" smtClean="0"/>
              <a:t>Rules Can Be Simplified</a:t>
            </a:r>
          </a:p>
        </p:txBody>
      </p:sp>
      <p:graphicFrame>
        <p:nvGraphicFramePr>
          <p:cNvPr id="10243" name="Object 3"/>
          <p:cNvGraphicFramePr>
            <a:graphicFrameLocks noChangeAspect="1"/>
          </p:cNvGraphicFramePr>
          <p:nvPr/>
        </p:nvGraphicFramePr>
        <p:xfrm>
          <a:off x="457200" y="1447800"/>
          <a:ext cx="4060825" cy="3251200"/>
        </p:xfrm>
        <a:graphic>
          <a:graphicData uri="http://schemas.openxmlformats.org/presentationml/2006/ole">
            <p:oleObj spid="_x0000_s390146" name="VISIO" r:id="rId3" imgW="4062984" imgH="3247644" progId="">
              <p:embed/>
            </p:oleObj>
          </a:graphicData>
        </a:graphic>
      </p:graphicFrame>
      <p:graphicFrame>
        <p:nvGraphicFramePr>
          <p:cNvPr id="10244" name="Object 4"/>
          <p:cNvGraphicFramePr>
            <a:graphicFrameLocks noChangeAspect="1"/>
          </p:cNvGraphicFramePr>
          <p:nvPr/>
        </p:nvGraphicFramePr>
        <p:xfrm>
          <a:off x="4800600" y="1143000"/>
          <a:ext cx="3894138" cy="4170363"/>
        </p:xfrm>
        <a:graphic>
          <a:graphicData uri="http://schemas.openxmlformats.org/presentationml/2006/ole">
            <p:oleObj spid="_x0000_s390147" name="Document" r:id="rId4" imgW="5405628" imgH="5780532" progId="Word.Document.8">
              <p:embed/>
            </p:oleObj>
          </a:graphicData>
        </a:graphic>
      </p:graphicFrame>
      <p:sp>
        <p:nvSpPr>
          <p:cNvPr id="10245" name="Text Box 5"/>
          <p:cNvSpPr txBox="1">
            <a:spLocks noChangeArrowheads="1"/>
          </p:cNvSpPr>
          <p:nvPr/>
        </p:nvSpPr>
        <p:spPr bwMode="auto">
          <a:xfrm>
            <a:off x="533400" y="5486400"/>
            <a:ext cx="8001000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/>
              <a:t>Initial Rule:           (Refund=No) </a:t>
            </a:r>
            <a:r>
              <a:rPr lang="en-US" sz="2000" b="0">
                <a:sym typeface="Symbol" pitchFamily="18" charset="2"/>
              </a:rPr>
              <a:t> </a:t>
            </a:r>
            <a:r>
              <a:rPr lang="en-US" sz="2000">
                <a:sym typeface="Symbol" pitchFamily="18" charset="2"/>
              </a:rPr>
              <a:t>(Status=Married)  No</a:t>
            </a:r>
          </a:p>
          <a:p>
            <a:pPr>
              <a:spcBef>
                <a:spcPct val="50000"/>
              </a:spcBef>
            </a:pPr>
            <a:r>
              <a:rPr lang="en-US" sz="2000">
                <a:sym typeface="Symbol" pitchFamily="18" charset="2"/>
              </a:rPr>
              <a:t>Simplified Rule:   (Status=Married)  No</a:t>
            </a:r>
          </a:p>
        </p:txBody>
      </p:sp>
      <p:sp>
        <p:nvSpPr>
          <p:cNvPr id="10246" name="Oval 6"/>
          <p:cNvSpPr>
            <a:spLocks noChangeArrowheads="1"/>
          </p:cNvSpPr>
          <p:nvPr/>
        </p:nvSpPr>
        <p:spPr bwMode="auto">
          <a:xfrm>
            <a:off x="3200400" y="3048000"/>
            <a:ext cx="990600" cy="838200"/>
          </a:xfrm>
          <a:prstGeom prst="ellipse">
            <a:avLst/>
          </a:prstGeom>
          <a:noFill/>
          <a:ln w="31750">
            <a:solidFill>
              <a:srgbClr val="0C6D9C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80911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914400"/>
          </a:xfrm>
        </p:spPr>
        <p:txBody>
          <a:bodyPr/>
          <a:lstStyle/>
          <a:p>
            <a:r>
              <a:rPr lang="en-US" sz="4000" dirty="0" smtClean="0"/>
              <a:t>Effect of Rule Simplification</a:t>
            </a:r>
          </a:p>
        </p:txBody>
      </p:sp>
      <p:sp>
        <p:nvSpPr>
          <p:cNvPr id="963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295400"/>
            <a:ext cx="8351837" cy="5181600"/>
          </a:xfrm>
        </p:spPr>
        <p:txBody>
          <a:bodyPr/>
          <a:lstStyle/>
          <a:p>
            <a:r>
              <a:rPr lang="en-US" dirty="0" smtClean="0"/>
              <a:t>Rules are no longer mutually exclusive</a:t>
            </a:r>
          </a:p>
          <a:p>
            <a:pPr lvl="1"/>
            <a:r>
              <a:rPr lang="en-US" dirty="0" smtClean="0"/>
              <a:t>A record may trigger more than one rule </a:t>
            </a:r>
          </a:p>
          <a:p>
            <a:pPr lvl="1"/>
            <a:r>
              <a:rPr lang="en-US" dirty="0" smtClean="0"/>
              <a:t>Solution?</a:t>
            </a:r>
          </a:p>
          <a:p>
            <a:pPr lvl="2"/>
            <a:r>
              <a:rPr lang="en-US" dirty="0" smtClean="0"/>
              <a:t> Ordered rule set</a:t>
            </a:r>
          </a:p>
          <a:p>
            <a:pPr lvl="2"/>
            <a:r>
              <a:rPr lang="en-US" dirty="0" smtClean="0"/>
              <a:t> Unordered rule set – use voting schemes</a:t>
            </a:r>
          </a:p>
          <a:p>
            <a:endParaRPr lang="en-US" sz="2000" dirty="0" smtClean="0"/>
          </a:p>
          <a:p>
            <a:r>
              <a:rPr lang="en-US" dirty="0" smtClean="0"/>
              <a:t>Rules are no longer exhaustive</a:t>
            </a:r>
          </a:p>
          <a:p>
            <a:pPr lvl="1"/>
            <a:r>
              <a:rPr lang="en-US" dirty="0" smtClean="0"/>
              <a:t>A record may not trigger any rules</a:t>
            </a:r>
          </a:p>
          <a:p>
            <a:pPr lvl="1"/>
            <a:r>
              <a:rPr lang="en-US" dirty="0" smtClean="0"/>
              <a:t>Solution?</a:t>
            </a:r>
          </a:p>
          <a:p>
            <a:pPr lvl="2"/>
            <a:r>
              <a:rPr lang="en-US" dirty="0" smtClean="0"/>
              <a:t> Use a default class</a:t>
            </a:r>
          </a:p>
        </p:txBody>
      </p:sp>
    </p:spTree>
    <p:extLst>
      <p:ext uri="{BB962C8B-B14F-4D97-AF65-F5344CB8AC3E}">
        <p14:creationId xmlns="" xmlns:p14="http://schemas.microsoft.com/office/powerpoint/2010/main" val="1228011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3587" grpId="0" build="p" bldLvl="3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7924800" cy="792162"/>
          </a:xfrm>
        </p:spPr>
        <p:txBody>
          <a:bodyPr/>
          <a:lstStyle/>
          <a:p>
            <a:r>
              <a:rPr lang="en-US" sz="4000" dirty="0" smtClean="0"/>
              <a:t>Ordered Rule Set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143000"/>
            <a:ext cx="8458200" cy="2971800"/>
          </a:xfrm>
        </p:spPr>
        <p:txBody>
          <a:bodyPr>
            <a:normAutofit fontScale="92500"/>
          </a:bodyPr>
          <a:lstStyle/>
          <a:p>
            <a:r>
              <a:rPr lang="en-US" sz="3000" dirty="0" smtClean="0"/>
              <a:t>Rules are rank ordered according to their priority</a:t>
            </a:r>
          </a:p>
          <a:p>
            <a:pPr lvl="1"/>
            <a:r>
              <a:rPr lang="en-US" sz="2200" dirty="0" smtClean="0"/>
              <a:t>An ordered rule set is known as a decision list</a:t>
            </a:r>
          </a:p>
          <a:p>
            <a:r>
              <a:rPr lang="en-US" sz="3000" dirty="0" smtClean="0"/>
              <a:t>When a test record is presented to the classifier </a:t>
            </a:r>
          </a:p>
          <a:p>
            <a:pPr lvl="1"/>
            <a:r>
              <a:rPr lang="en-US" sz="2200" dirty="0" smtClean="0"/>
              <a:t>It is assigned to the class label of the highest ranked rule it has triggered</a:t>
            </a:r>
          </a:p>
          <a:p>
            <a:pPr lvl="1"/>
            <a:r>
              <a:rPr lang="en-US" sz="2200" dirty="0" smtClean="0"/>
              <a:t>If none of the rules fired, it is assigned to the default class</a:t>
            </a:r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1371600" y="3886200"/>
            <a:ext cx="6172200" cy="1828800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1800" b="0"/>
              <a:t>R1: (Give Birth = no) </a:t>
            </a:r>
            <a:r>
              <a:rPr lang="en-US" sz="1800" b="0">
                <a:sym typeface="Symbol" pitchFamily="18" charset="2"/>
              </a:rPr>
              <a:t> (Can Fly = yes)  Birds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1800" b="0"/>
              <a:t>R2: (Give Birth = no) </a:t>
            </a:r>
            <a:r>
              <a:rPr lang="en-US" sz="1800" b="0">
                <a:sym typeface="Symbol" pitchFamily="18" charset="2"/>
              </a:rPr>
              <a:t> (Live in Water = yes)  Fishes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1800" b="0"/>
              <a:t>R3: (Give Birth = yes) </a:t>
            </a:r>
            <a:r>
              <a:rPr lang="en-US" sz="1800" b="0">
                <a:sym typeface="Symbol" pitchFamily="18" charset="2"/>
              </a:rPr>
              <a:t> (Blood Type = warm)  Mammals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1800" b="0"/>
              <a:t>R4: (Give Birth = no) </a:t>
            </a:r>
            <a:r>
              <a:rPr lang="en-US" sz="1800" b="0">
                <a:sym typeface="Symbol" pitchFamily="18" charset="2"/>
              </a:rPr>
              <a:t> (Can Fly = no)  Reptiles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1800" b="0"/>
              <a:t>R5: (Live in Water</a:t>
            </a:r>
            <a:r>
              <a:rPr lang="en-US" sz="1800" b="0">
                <a:sym typeface="Symbol" pitchFamily="18" charset="2"/>
              </a:rPr>
              <a:t> = sometimes)  Amphibians </a:t>
            </a:r>
          </a:p>
        </p:txBody>
      </p:sp>
      <p:pic>
        <p:nvPicPr>
          <p:cNvPr id="12293" name="Picture 72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" y="5864225"/>
            <a:ext cx="8001000" cy="460375"/>
          </a:xfrm>
          <a:noFill/>
          <a:extLst>
            <a:ext uri="{91240B29-F687-4F45-9708-019B960494DF}">
              <a14:hiddenLine xmlns=""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12294" name="Line 74"/>
          <p:cNvSpPr>
            <a:spLocks noChangeShapeType="1"/>
          </p:cNvSpPr>
          <p:nvPr/>
        </p:nvSpPr>
        <p:spPr bwMode="auto">
          <a:xfrm flipH="1">
            <a:off x="838200" y="510540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5" name="Line 75"/>
          <p:cNvSpPr>
            <a:spLocks noChangeShapeType="1"/>
          </p:cNvSpPr>
          <p:nvPr/>
        </p:nvSpPr>
        <p:spPr bwMode="auto">
          <a:xfrm>
            <a:off x="838200" y="5105400"/>
            <a:ext cx="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6" name="Line 76"/>
          <p:cNvSpPr>
            <a:spLocks noChangeShapeType="1"/>
          </p:cNvSpPr>
          <p:nvPr/>
        </p:nvSpPr>
        <p:spPr bwMode="auto">
          <a:xfrm flipH="1">
            <a:off x="1066800" y="54864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7" name="Line 77"/>
          <p:cNvSpPr>
            <a:spLocks noChangeShapeType="1"/>
          </p:cNvSpPr>
          <p:nvPr/>
        </p:nvSpPr>
        <p:spPr bwMode="auto">
          <a:xfrm>
            <a:off x="1066800" y="5486400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69510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17438</TotalTime>
  <Words>931</Words>
  <Application>Microsoft Office PowerPoint</Application>
  <PresentationFormat>On-screen Show (4:3)</PresentationFormat>
  <Paragraphs>109</Paragraphs>
  <Slides>14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Default Design</vt:lpstr>
      <vt:lpstr>Document</vt:lpstr>
      <vt:lpstr>VISIO</vt:lpstr>
      <vt:lpstr>Slide 1</vt:lpstr>
      <vt:lpstr>Rule Generation from Decision Tree</vt:lpstr>
      <vt:lpstr>Rule Generation from Decision Tree</vt:lpstr>
      <vt:lpstr>Rule Generation from Decision Tree</vt:lpstr>
      <vt:lpstr>Rule-Based Classifier</vt:lpstr>
      <vt:lpstr>Rule-based Classifier (Example)</vt:lpstr>
      <vt:lpstr>Application of Rule-Based Classifier</vt:lpstr>
      <vt:lpstr>Rule Coverage and Accuracy</vt:lpstr>
      <vt:lpstr>How does Rule-based Classifier Work?</vt:lpstr>
      <vt:lpstr>Characteristics of Rule-Based Classifier</vt:lpstr>
      <vt:lpstr>From Decision Trees To Rules</vt:lpstr>
      <vt:lpstr>Rules Can Be Simplified</vt:lpstr>
      <vt:lpstr>Effect of Rule Simplification</vt:lpstr>
      <vt:lpstr>Ordered Rule Set</vt:lpstr>
    </vt:vector>
  </TitlesOfParts>
  <Company>RHfarm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Shariq</dc:creator>
  <cp:lastModifiedBy>pc</cp:lastModifiedBy>
  <cp:revision>496</cp:revision>
  <dcterms:created xsi:type="dcterms:W3CDTF">2006-02-06T02:43:57Z</dcterms:created>
  <dcterms:modified xsi:type="dcterms:W3CDTF">2020-07-04T12:01:35Z</dcterms:modified>
</cp:coreProperties>
</file>