
<file path=[Content_Types].xml><?xml version="1.0" encoding="utf-8"?>
<Types xmlns="http://schemas.openxmlformats.org/package/2006/content-types">
  <Default Extension="png" ContentType="image/png"/>
  <Default Extension="jpeg" ContentType="image/jpeg"/>
  <Default Extension="m4a" ContentType="audio/unknown"/>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9110" autoAdjust="0"/>
  </p:normalViewPr>
  <p:slideViewPr>
    <p:cSldViewPr>
      <p:cViewPr>
        <p:scale>
          <a:sx n="70" d="100"/>
          <a:sy n="70" d="100"/>
        </p:scale>
        <p:origin x="-1386" y="-162"/>
      </p:cViewPr>
      <p:guideLst>
        <p:guide orient="horz" pos="2160"/>
        <p:guide pos="2880"/>
      </p:guideLst>
    </p:cSldViewPr>
  </p:slideViewPr>
  <p:outlineViewPr>
    <p:cViewPr>
      <p:scale>
        <a:sx n="33" d="100"/>
        <a:sy n="33" d="100"/>
      </p:scale>
      <p:origin x="0" y="2868"/>
    </p:cViewPr>
  </p:outlineViewPr>
  <p:notesTextViewPr>
    <p:cViewPr>
      <p:scale>
        <a:sx n="1" d="1"/>
        <a:sy n="1" d="1"/>
      </p:scale>
      <p:origin x="0" y="0"/>
    </p:cViewPr>
  </p:notesText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A01772-1C00-4C9F-98F6-DA5D65E0E3EB}" type="datetimeFigureOut">
              <a:rPr lang="en-US" smtClean="0"/>
              <a:t>6/25/2020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208497-4EC4-4467-A639-CDBE6BF368E4}" type="slidenum">
              <a:rPr lang="en-US" smtClean="0"/>
              <a:t>‹#›</a:t>
            </a:fld>
            <a:endParaRPr lang="en-US"/>
          </a:p>
        </p:txBody>
      </p:sp>
    </p:spTree>
    <p:extLst>
      <p:ext uri="{BB962C8B-B14F-4D97-AF65-F5344CB8AC3E}">
        <p14:creationId xmlns:p14="http://schemas.microsoft.com/office/powerpoint/2010/main" val="1021002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AoA</a:t>
            </a:r>
            <a:r>
              <a:rPr lang="en-US" dirty="0" smtClean="0"/>
              <a:t> Students, Welcome to another lecture of our audio based lectures series. In the last lecture, we started</a:t>
            </a:r>
            <a:r>
              <a:rPr lang="en-US" baseline="0" dirty="0" smtClean="0"/>
              <a:t> discussion on </a:t>
            </a:r>
            <a:r>
              <a:rPr lang="en-US" baseline="0" dirty="0" smtClean="0"/>
              <a:t>ETL </a:t>
            </a:r>
            <a:r>
              <a:rPr lang="en-US" baseline="0" dirty="0" smtClean="0"/>
              <a:t>by elaborating topics related to data transformation and data loading</a:t>
            </a:r>
            <a:r>
              <a:rPr lang="en-US" baseline="0" dirty="0" smtClean="0"/>
              <a:t>. In today’s lecture, we will discuss about data quality management and indicators of data quality.</a:t>
            </a:r>
            <a:endParaRPr lang="en-US" dirty="0" smtClean="0"/>
          </a:p>
        </p:txBody>
      </p:sp>
      <p:sp>
        <p:nvSpPr>
          <p:cNvPr id="4" name="Slide Number Placeholder 3"/>
          <p:cNvSpPr>
            <a:spLocks noGrp="1"/>
          </p:cNvSpPr>
          <p:nvPr>
            <p:ph type="sldNum" sz="quarter" idx="10"/>
          </p:nvPr>
        </p:nvSpPr>
        <p:spPr/>
        <p:txBody>
          <a:bodyPr/>
          <a:lstStyle/>
          <a:p>
            <a:fld id="{33208497-4EC4-4467-A639-CDBE6BF368E4}" type="slidenum">
              <a:rPr lang="en-US" smtClean="0"/>
              <a:t>1</a:t>
            </a:fld>
            <a:endParaRPr lang="en-US"/>
          </a:p>
        </p:txBody>
      </p:sp>
    </p:spTree>
    <p:extLst>
      <p:ext uri="{BB962C8B-B14F-4D97-AF65-F5344CB8AC3E}">
        <p14:creationId xmlns:p14="http://schemas.microsoft.com/office/powerpoint/2010/main" val="2392993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why data quality is important?</a:t>
            </a:r>
            <a:r>
              <a:rPr lang="en-US" baseline="0" dirty="0" smtClean="0"/>
              <a:t> It is important to ensure that the data is correct to make right decisions. An incorrect data will lead to wrong decisions which can harm to achieve an organization’s goals.</a:t>
            </a:r>
          </a:p>
          <a:p>
            <a:endParaRPr lang="en-US" baseline="0" dirty="0" smtClean="0"/>
          </a:p>
          <a:p>
            <a:r>
              <a:rPr lang="en-US" baseline="0" dirty="0" smtClean="0"/>
              <a:t>In this context, imagine a user working on operational systems and that user is entering wring regions’ codes of customers. Also imagine that the relevant business has never sent an invoice using these regions codes. So the decision makers are ignorant about the wrong region codes. But what will happen if the data warehouse will use these code to help in making decisions. Off course, any decision on the basis of wrong information will also be wrong. Therefore, you need to put proper time and effort to ensure data quality.</a:t>
            </a:r>
          </a:p>
          <a:p>
            <a:endParaRPr lang="en-US" baseline="0" dirty="0" smtClean="0"/>
          </a:p>
          <a:p>
            <a:r>
              <a:rPr lang="en-US" baseline="0" dirty="0" smtClean="0"/>
              <a:t>Please move to the next slide.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2</a:t>
            </a:fld>
            <a:endParaRPr lang="en-US"/>
          </a:p>
        </p:txBody>
      </p:sp>
    </p:spTree>
    <p:extLst>
      <p:ext uri="{BB962C8B-B14F-4D97-AF65-F5344CB8AC3E}">
        <p14:creationId xmlns:p14="http://schemas.microsoft.com/office/powerpoint/2010/main" val="987189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what is data and what is meant by data quality.</a:t>
            </a:r>
          </a:p>
          <a:p>
            <a:endParaRPr lang="en-US" dirty="0" smtClean="0"/>
          </a:p>
          <a:p>
            <a:r>
              <a:rPr lang="en-US" dirty="0" smtClean="0"/>
              <a:t>The data is an abstraction/representation</a:t>
            </a:r>
            <a:r>
              <a:rPr lang="en-US" baseline="0" dirty="0" smtClean="0"/>
              <a:t>/description of something in reality. While the data quality means that the data is accurate and it must serve its purpose or user expectations. Remember, in DW we always strive to gather accurate data and we also make efforts that the collected should help in making strategic decision making. This means that our data must serve its purpose to provide strategic information to decision makers.</a:t>
            </a:r>
          </a:p>
          <a:p>
            <a:endParaRPr lang="en-US" baseline="0" dirty="0" smtClean="0"/>
          </a:p>
          <a:p>
            <a:r>
              <a:rPr lang="en-US" baseline="0" dirty="0" smtClean="0"/>
              <a:t>Please move to the next slide.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3</a:t>
            </a:fld>
            <a:endParaRPr lang="en-US"/>
          </a:p>
        </p:txBody>
      </p:sp>
    </p:spTree>
    <p:extLst>
      <p:ext uri="{BB962C8B-B14F-4D97-AF65-F5344CB8AC3E}">
        <p14:creationId xmlns:p14="http://schemas.microsoft.com/office/powerpoint/2010/main" val="4187087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While working with operational systems or DW there are various indicators of data quality</a:t>
            </a:r>
          </a:p>
          <a:p>
            <a:endParaRPr lang="en-US" dirty="0" smtClean="0"/>
          </a:p>
          <a:p>
            <a:pPr marL="228600" indent="-228600">
              <a:buAutoNum type="arabicPeriod"/>
            </a:pPr>
            <a:r>
              <a:rPr lang="en-US" dirty="0" smtClean="0"/>
              <a:t>Accuracy: The accuracy means correct information. For example,</a:t>
            </a:r>
            <a:r>
              <a:rPr lang="en-US" baseline="0" dirty="0" smtClean="0"/>
              <a:t> the stored addresses of customers is correct. We need to verify that wrong information has not been entered.</a:t>
            </a:r>
          </a:p>
          <a:p>
            <a:pPr marL="228600" indent="-228600">
              <a:buAutoNum type="arabicPeriod"/>
            </a:pPr>
            <a:r>
              <a:rPr lang="en-US" baseline="0" dirty="0" smtClean="0"/>
              <a:t>Domain Integrity: Domain integrity means that only allowable values are in your database. For example, if a field stores gender information then it can store only ‘male’ or ‘female’ as valid values. There are no other values in the field.</a:t>
            </a:r>
          </a:p>
          <a:p>
            <a:pPr marL="228600" indent="-228600">
              <a:buAutoNum type="arabicPeriod"/>
            </a:pPr>
            <a:r>
              <a:rPr lang="en-US" baseline="0" dirty="0" smtClean="0"/>
              <a:t>Data Type: If a field requires text then no numeric entries or vice versa.</a:t>
            </a:r>
          </a:p>
          <a:p>
            <a:pPr marL="228600" indent="-228600">
              <a:buAutoNum type="arabicPeriod"/>
            </a:pPr>
            <a:r>
              <a:rPr lang="en-US" baseline="0" dirty="0" smtClean="0"/>
              <a:t>Consistency: This means that the content and its form is same across all source systems. For example, product code of a product ABC in one system is 1234 then in other system it must be 1234 for that particular product.</a:t>
            </a:r>
          </a:p>
          <a:p>
            <a:pPr marL="0" indent="0">
              <a:buNone/>
            </a:pPr>
            <a:endParaRPr lang="en-US" baseline="0" dirty="0" smtClean="0"/>
          </a:p>
          <a:p>
            <a:pPr marL="0" indent="0">
              <a:buNone/>
            </a:pPr>
            <a:r>
              <a:rPr lang="en-US" baseline="0" dirty="0" smtClean="0"/>
              <a:t>Please move to the next slide.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4</a:t>
            </a:fld>
            <a:endParaRPr lang="en-US"/>
          </a:p>
        </p:txBody>
      </p:sp>
    </p:spTree>
    <p:extLst>
      <p:ext uri="{BB962C8B-B14F-4D97-AF65-F5344CB8AC3E}">
        <p14:creationId xmlns:p14="http://schemas.microsoft.com/office/powerpoint/2010/main" val="902006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5. Redundancy: This means that data is not redundant.</a:t>
            </a:r>
            <a:r>
              <a:rPr lang="en-US" baseline="0" dirty="0" smtClean="0"/>
              <a:t> If for some reason, for example efficiency, the data is redundant then it must identified and resolved accordingly for the DW.</a:t>
            </a:r>
          </a:p>
          <a:p>
            <a:endParaRPr lang="en-US" baseline="0" dirty="0" smtClean="0"/>
          </a:p>
          <a:p>
            <a:r>
              <a:rPr lang="en-US" baseline="0" dirty="0" smtClean="0"/>
              <a:t>6. Completeness: This means that there are no missing values in any field and only valid values. For example, if a record keeps details of an order then it should contain all information related to that order in its corresponding fields. Which means that there is not any missing value.</a:t>
            </a:r>
          </a:p>
          <a:p>
            <a:endParaRPr lang="en-US" baseline="0" dirty="0" smtClean="0"/>
          </a:p>
          <a:p>
            <a:r>
              <a:rPr lang="en-US" baseline="0" dirty="0" smtClean="0"/>
              <a:t>7. Conformance to Business rules: This means that values in any field are according to the business constraints. For example, the loan issued cannot be negative.</a:t>
            </a:r>
          </a:p>
          <a:p>
            <a:endParaRPr lang="en-US" baseline="0" dirty="0" smtClean="0"/>
          </a:p>
          <a:p>
            <a:r>
              <a:rPr lang="en-US" baseline="0" dirty="0" smtClean="0"/>
              <a:t>8. Well Defined Structure: The means that whenever the data item can be divided in components, it must be stored in terms of components or well structure. For example, Muhammad Ahmed Khan can be structured as first name, middle name, and last name. Similar is the cases with address where street address, zip code, city, and country information can be stored in different fields. By such structure the decision makers can retrieve more well organized information, for example, performance of a store, city, or a country.</a:t>
            </a:r>
          </a:p>
          <a:p>
            <a:endParaRPr lang="en-US" baseline="0" dirty="0" smtClean="0"/>
          </a:p>
          <a:p>
            <a:r>
              <a:rPr lang="en-US" baseline="0" dirty="0" smtClean="0"/>
              <a:t>Please move to the next slide. </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5</a:t>
            </a:fld>
            <a:endParaRPr lang="en-US"/>
          </a:p>
        </p:txBody>
      </p:sp>
    </p:spTree>
    <p:extLst>
      <p:ext uri="{BB962C8B-B14F-4D97-AF65-F5344CB8AC3E}">
        <p14:creationId xmlns:p14="http://schemas.microsoft.com/office/powerpoint/2010/main" val="341308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9. Data Anomaly: It means</a:t>
            </a:r>
            <a:r>
              <a:rPr lang="en-US" baseline="0" dirty="0" smtClean="0"/>
              <a:t> that fields must contain that value for which it was created. For example, state field cannot take the city name.</a:t>
            </a:r>
          </a:p>
          <a:p>
            <a:endParaRPr lang="en-US" baseline="0" dirty="0" smtClean="0"/>
          </a:p>
          <a:p>
            <a:r>
              <a:rPr lang="en-US" baseline="0" dirty="0" smtClean="0"/>
              <a:t>10. Proper naming convention: This means that proper naming conventions have been used to store data. Such naming conventions allows to better understanding of data and its purpose.</a:t>
            </a:r>
          </a:p>
          <a:p>
            <a:endParaRPr lang="en-US" baseline="0" dirty="0" smtClean="0"/>
          </a:p>
          <a:p>
            <a:r>
              <a:rPr lang="en-US" baseline="0" dirty="0" smtClean="0"/>
              <a:t>11. Timely: The means that data is timely updated in DW as required by its users.</a:t>
            </a:r>
          </a:p>
          <a:p>
            <a:endParaRPr lang="en-US" baseline="0" dirty="0" smtClean="0"/>
          </a:p>
          <a:p>
            <a:r>
              <a:rPr lang="en-US" baseline="0" dirty="0" smtClean="0"/>
              <a:t>12. Usefulness: This means that the data elements in DW must useful and fulfill the requirement of the users otherwise data warehouse is not of any value.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6</a:t>
            </a:fld>
            <a:endParaRPr lang="en-US"/>
          </a:p>
        </p:txBody>
      </p:sp>
    </p:spTree>
    <p:extLst>
      <p:ext uri="{BB962C8B-B14F-4D97-AF65-F5344CB8AC3E}">
        <p14:creationId xmlns:p14="http://schemas.microsoft.com/office/powerpoint/2010/main" val="1630650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13. Entity and referential integrity: Entity integrity</a:t>
            </a:r>
            <a:r>
              <a:rPr lang="en-US" baseline="0" dirty="0" smtClean="0"/>
              <a:t> means that every table must have a primary key and it must be unique and not null. If entity integrity is not enforced then a table might have duplicate records and, moreover; we will not be able to uniquely identify any record. </a:t>
            </a:r>
          </a:p>
          <a:p>
            <a:endParaRPr lang="en-US" baseline="0" dirty="0" smtClean="0"/>
          </a:p>
          <a:p>
            <a:r>
              <a:rPr lang="en-US" baseline="0" dirty="0" smtClean="0"/>
              <a:t>The referential integrity on other hand enforces parent child relationship between table. This means that you cannot have a record in child table unless you have a corresponding record in parent table. If it is not enforced, then it is quite possible that, for example, an order table (child) may have records that have no corresponding record in customer table (parent). The lack of referential integrity will allow your tables to have dirty records in your database.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7</a:t>
            </a:fld>
            <a:endParaRPr lang="en-US"/>
          </a:p>
        </p:txBody>
      </p:sp>
    </p:spTree>
    <p:extLst>
      <p:ext uri="{BB962C8B-B14F-4D97-AF65-F5344CB8AC3E}">
        <p14:creationId xmlns:p14="http://schemas.microsoft.com/office/powerpoint/2010/main" val="633923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a typeface="ＭＳ Ｐゴシック" pitchFamily="34" charset="-128"/>
              </a:rPr>
              <a:t>So how much data quality is important. Please look</a:t>
            </a:r>
            <a:r>
              <a:rPr lang="en-US" baseline="0" dirty="0" smtClean="0">
                <a:ea typeface="ＭＳ Ｐゴシック" pitchFamily="34" charset="-128"/>
              </a:rPr>
              <a:t> at t</a:t>
            </a:r>
            <a:r>
              <a:rPr lang="en-US" dirty="0" smtClean="0">
                <a:ea typeface="ＭＳ Ｐゴシック" pitchFamily="34" charset="-128"/>
              </a:rPr>
              <a:t>his figure. The</a:t>
            </a:r>
            <a:r>
              <a:rPr lang="en-US" baseline="0" dirty="0" smtClean="0">
                <a:ea typeface="ＭＳ Ｐゴシック" pitchFamily="34" charset="-128"/>
              </a:rPr>
              <a:t> figure shows the results of a survey which asked businesses about their biggest challenge in designing and using data warehouses. It can be observed that nearly half of the business ranked data quality as the biggest challenge, even more than the data modeling.</a:t>
            </a:r>
          </a:p>
          <a:p>
            <a:endParaRPr lang="en-US" baseline="0" dirty="0" smtClean="0">
              <a:ea typeface="ＭＳ Ｐゴシック" pitchFamily="34" charset="-128"/>
            </a:endParaRPr>
          </a:p>
          <a:p>
            <a:r>
              <a:rPr lang="en-US" baseline="0" dirty="0" smtClean="0">
                <a:ea typeface="ＭＳ Ｐゴシック" pitchFamily="34" charset="-128"/>
              </a:rPr>
              <a:t>I would like to conclude my lecture here. In the next lecture we will discuss the possible causes of low quality data and sources of data pollution. We will also see a list of different tools that can be used for data cleansing. So see you in next lecture, till then Allah Hafiz and stay safe. </a:t>
            </a:r>
            <a:endParaRPr lang="en-US" dirty="0" smtClean="0">
              <a:ea typeface="ＭＳ Ｐゴシック" pitchFamily="34" charset="-128"/>
            </a:endParaRPr>
          </a:p>
        </p:txBody>
      </p:sp>
      <p:sp>
        <p:nvSpPr>
          <p:cNvPr id="4" name="Slide Number Placeholder 3"/>
          <p:cNvSpPr>
            <a:spLocks noGrp="1"/>
          </p:cNvSpPr>
          <p:nvPr>
            <p:ph type="sldNum" sz="quarter" idx="10"/>
          </p:nvPr>
        </p:nvSpPr>
        <p:spPr/>
        <p:txBody>
          <a:bodyPr/>
          <a:lstStyle/>
          <a:p>
            <a:fld id="{33208497-4EC4-4467-A639-CDBE6BF368E4}" type="slidenum">
              <a:rPr lang="en-US" smtClean="0"/>
              <a:t>8</a:t>
            </a:fld>
            <a:endParaRPr lang="en-US"/>
          </a:p>
        </p:txBody>
      </p:sp>
    </p:spTree>
    <p:extLst>
      <p:ext uri="{BB962C8B-B14F-4D97-AF65-F5344CB8AC3E}">
        <p14:creationId xmlns:p14="http://schemas.microsoft.com/office/powerpoint/2010/main" val="5206938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A5704A44-75DE-406F-815A-8307C67E9C1B}" type="datetimeFigureOut">
              <a:rPr lang="en-US" smtClean="0"/>
              <a:t>6/25/2020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BE70FE0-7488-4C37-B6A5-043351AE480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A5704A44-75DE-406F-815A-8307C67E9C1B}" type="datetimeFigureOut">
              <a:rPr lang="en-US" smtClean="0"/>
              <a:t>6/25/2020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A5704A44-75DE-406F-815A-8307C67E9C1B}" type="datetimeFigureOut">
              <a:rPr lang="en-US" smtClean="0"/>
              <a:t>6/25/2020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BE70FE0-7488-4C37-B6A5-043351AE480F}"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6/25/2020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5704A44-75DE-406F-815A-8307C67E9C1B}" type="datetimeFigureOut">
              <a:rPr lang="en-US" smtClean="0"/>
              <a:t>6/25/2020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BE70FE0-7488-4C37-B6A5-043351AE480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Warehousing and Data Mining</a:t>
            </a:r>
            <a:endParaRPr lang="en-US" dirty="0"/>
          </a:p>
        </p:txBody>
      </p:sp>
      <p:sp>
        <p:nvSpPr>
          <p:cNvPr id="3" name="Subtitle 2"/>
          <p:cNvSpPr>
            <a:spLocks noGrp="1"/>
          </p:cNvSpPr>
          <p:nvPr>
            <p:ph type="subTitle" idx="1"/>
          </p:nvPr>
        </p:nvSpPr>
        <p:spPr/>
        <p:txBody>
          <a:bodyPr/>
          <a:lstStyle/>
          <a:p>
            <a:r>
              <a:rPr lang="en-US" dirty="0" smtClean="0"/>
              <a:t>Audio_Lec_03</a:t>
            </a:r>
            <a:endParaRPr lang="en-US" dirty="0"/>
          </a:p>
        </p:txBody>
      </p:sp>
      <p:pic>
        <p:nvPicPr>
          <p:cNvPr id="5" name="slide_01.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4502336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8927"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dirty="0">
                <a:ea typeface="ＭＳ Ｐゴシック" pitchFamily="34" charset="-128"/>
              </a:rPr>
              <a:t>It is important to ensure that the data is correct to make right decisions</a:t>
            </a:r>
          </a:p>
          <a:p>
            <a:r>
              <a:rPr lang="en-US" sz="2800" dirty="0">
                <a:ea typeface="ＭＳ Ｐゴシック" pitchFamily="34" charset="-128"/>
              </a:rPr>
              <a:t>Imagine the user working on operational system is entering wrong regions’ codes of customers. Imagine that the relevant business has never sent an invoice using these regions codes (so they are ignorant). But what will happen if the data warehouse will use these codes to make decisions?</a:t>
            </a:r>
          </a:p>
          <a:p>
            <a:r>
              <a:rPr lang="en-US" sz="2800" dirty="0">
                <a:ea typeface="ＭＳ Ｐゴシック" pitchFamily="34" charset="-128"/>
              </a:rPr>
              <a:t>You need to put proper time and effort to ensure data quality</a:t>
            </a:r>
          </a:p>
          <a:p>
            <a:endParaRPr lang="en-US" dirty="0"/>
          </a:p>
        </p:txBody>
      </p:sp>
      <p:sp>
        <p:nvSpPr>
          <p:cNvPr id="3" name="Title 2"/>
          <p:cNvSpPr>
            <a:spLocks noGrp="1"/>
          </p:cNvSpPr>
          <p:nvPr>
            <p:ph type="title"/>
          </p:nvPr>
        </p:nvSpPr>
        <p:spPr/>
        <p:txBody>
          <a:bodyPr/>
          <a:lstStyle/>
          <a:p>
            <a:r>
              <a:rPr lang="en-US" dirty="0">
                <a:ea typeface="ＭＳ Ｐゴシック" pitchFamily="34" charset="-128"/>
              </a:rPr>
              <a:t>Data Quality Management</a:t>
            </a:r>
            <a:endParaRPr lang="en-US" dirty="0"/>
          </a:p>
        </p:txBody>
      </p:sp>
      <p:pic>
        <p:nvPicPr>
          <p:cNvPr id="4" name="slide_02.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3683870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4239"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What is Data: An abstraction/representation/</a:t>
            </a:r>
          </a:p>
          <a:p>
            <a:pPr>
              <a:buFont typeface="Wingdings" pitchFamily="2" charset="2"/>
              <a:buNone/>
            </a:pPr>
            <a:r>
              <a:rPr lang="en-US" dirty="0">
                <a:ea typeface="ＭＳ Ｐゴシック" pitchFamily="34" charset="-128"/>
              </a:rPr>
              <a:t>description of something in reality</a:t>
            </a:r>
          </a:p>
          <a:p>
            <a:r>
              <a:rPr lang="en-US" dirty="0">
                <a:ea typeface="ＭＳ Ｐゴシック" pitchFamily="34" charset="-128"/>
              </a:rPr>
              <a:t>What is Data Quality: Accuracy + Data must serve its purpose/user expectations</a:t>
            </a:r>
          </a:p>
          <a:p>
            <a:endParaRPr lang="en-US" dirty="0"/>
          </a:p>
        </p:txBody>
      </p:sp>
      <p:sp>
        <p:nvSpPr>
          <p:cNvPr id="3" name="Title 2"/>
          <p:cNvSpPr>
            <a:spLocks noGrp="1"/>
          </p:cNvSpPr>
          <p:nvPr>
            <p:ph type="title"/>
          </p:nvPr>
        </p:nvSpPr>
        <p:spPr/>
        <p:txBody>
          <a:bodyPr/>
          <a:lstStyle/>
          <a:p>
            <a:r>
              <a:rPr lang="en-US" dirty="0">
                <a:ea typeface="ＭＳ Ｐゴシック" pitchFamily="34" charset="-128"/>
              </a:rPr>
              <a:t>Data Quality</a:t>
            </a:r>
            <a:endParaRPr lang="en-US" dirty="0"/>
          </a:p>
        </p:txBody>
      </p:sp>
      <p:pic>
        <p:nvPicPr>
          <p:cNvPr id="4" name="slide_03.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41757069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61290"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ea typeface="ＭＳ Ｐゴシック" pitchFamily="34" charset="-128"/>
              </a:rPr>
              <a:t>Accuracy: Correct information, e.g., address of the customer is correct</a:t>
            </a:r>
          </a:p>
          <a:p>
            <a:r>
              <a:rPr lang="en-US" dirty="0">
                <a:ea typeface="ＭＳ Ｐゴシック" pitchFamily="34" charset="-128"/>
              </a:rPr>
              <a:t>Domain Integrity: Allowable values, e.g., male/female</a:t>
            </a:r>
          </a:p>
          <a:p>
            <a:r>
              <a:rPr lang="en-US" dirty="0">
                <a:ea typeface="ＭＳ Ｐゴシック" pitchFamily="34" charset="-128"/>
              </a:rPr>
              <a:t>Data Type: If a field requires text then no numeric entries</a:t>
            </a:r>
          </a:p>
          <a:p>
            <a:r>
              <a:rPr lang="en-US" dirty="0">
                <a:ea typeface="ＭＳ Ｐゴシック" pitchFamily="34" charset="-128"/>
              </a:rPr>
              <a:t>Consistency: The content and its form is same across all source system, e.g., product code of a product ABC in one system is 1234 then in other system it must be 1234 for that particular product</a:t>
            </a:r>
          </a:p>
          <a:p>
            <a:endParaRPr lang="en-US" dirty="0"/>
          </a:p>
        </p:txBody>
      </p:sp>
      <p:sp>
        <p:nvSpPr>
          <p:cNvPr id="3" name="Title 2"/>
          <p:cNvSpPr>
            <a:spLocks noGrp="1"/>
          </p:cNvSpPr>
          <p:nvPr>
            <p:ph type="title"/>
          </p:nvPr>
        </p:nvSpPr>
        <p:spPr/>
        <p:txBody>
          <a:bodyPr/>
          <a:lstStyle/>
          <a:p>
            <a:r>
              <a:rPr lang="en-US" dirty="0">
                <a:ea typeface="ＭＳ Ｐゴシック" pitchFamily="34" charset="-128"/>
              </a:rPr>
              <a:t>Indicators of quality of data</a:t>
            </a:r>
            <a:endParaRPr lang="en-US" dirty="0"/>
          </a:p>
        </p:txBody>
      </p:sp>
      <p:pic>
        <p:nvPicPr>
          <p:cNvPr id="4" name="slide_04.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71215337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583"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nSpc>
                <a:spcPct val="80000"/>
              </a:lnSpc>
            </a:pPr>
            <a:r>
              <a:rPr lang="en-US" sz="2800" dirty="0">
                <a:ea typeface="ＭＳ Ｐゴシック" pitchFamily="34" charset="-128"/>
              </a:rPr>
              <a:t>Redundancy: Data is not redundant, if for some reason for example efficiency the data is redundant then it must be identified accordingly</a:t>
            </a:r>
          </a:p>
          <a:p>
            <a:pPr>
              <a:lnSpc>
                <a:spcPct val="80000"/>
              </a:lnSpc>
            </a:pPr>
            <a:r>
              <a:rPr lang="en-US" sz="2800" dirty="0">
                <a:ea typeface="ＭＳ Ｐゴシック" pitchFamily="34" charset="-128"/>
              </a:rPr>
              <a:t>Completeness: There are no missing values in any field and only valid values</a:t>
            </a:r>
          </a:p>
          <a:p>
            <a:pPr>
              <a:lnSpc>
                <a:spcPct val="80000"/>
              </a:lnSpc>
            </a:pPr>
            <a:r>
              <a:rPr lang="en-US" sz="2800" dirty="0">
                <a:ea typeface="ＭＳ Ｐゴシック" pitchFamily="34" charset="-128"/>
              </a:rPr>
              <a:t>Conformance to Business rules: Values are according to the business constraints, e.g., loan issued cannot be negative</a:t>
            </a:r>
          </a:p>
          <a:p>
            <a:pPr>
              <a:lnSpc>
                <a:spcPct val="80000"/>
              </a:lnSpc>
            </a:pPr>
            <a:r>
              <a:rPr lang="en-US" sz="2800" dirty="0">
                <a:ea typeface="ＭＳ Ｐゴシック" pitchFamily="34" charset="-128"/>
              </a:rPr>
              <a:t>Well defined structure: Whenever the data item can be divided in components it must be stored in terms of components/well structure, e.g., Muhammad Ahmed Khan can be structured as first name, middle name, last name. Similar is the case with addresses </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Indicators of quality of data (Cont.)</a:t>
            </a:r>
            <a:endParaRPr lang="en-US" dirty="0"/>
          </a:p>
        </p:txBody>
      </p:sp>
      <p:pic>
        <p:nvPicPr>
          <p:cNvPr id="4" name="slide_05.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5818754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39861"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90000"/>
              </a:lnSpc>
            </a:pPr>
            <a:r>
              <a:rPr lang="en-US" dirty="0">
                <a:ea typeface="ＭＳ Ｐゴシック" pitchFamily="34" charset="-128"/>
              </a:rPr>
              <a:t>Data Anomaly: Fields must contain that value for which it was created, e.g., State field cannot take the city name</a:t>
            </a:r>
          </a:p>
          <a:p>
            <a:pPr>
              <a:lnSpc>
                <a:spcPct val="90000"/>
              </a:lnSpc>
            </a:pPr>
            <a:r>
              <a:rPr lang="en-US" dirty="0">
                <a:ea typeface="ＭＳ Ｐゴシック" pitchFamily="34" charset="-128"/>
              </a:rPr>
              <a:t>Proper Naming convention</a:t>
            </a:r>
          </a:p>
          <a:p>
            <a:pPr>
              <a:lnSpc>
                <a:spcPct val="90000"/>
              </a:lnSpc>
            </a:pPr>
            <a:r>
              <a:rPr lang="en-US" dirty="0">
                <a:ea typeface="ＭＳ Ｐゴシック" pitchFamily="34" charset="-128"/>
              </a:rPr>
              <a:t>Timely: timely data updates as required by user</a:t>
            </a:r>
          </a:p>
          <a:p>
            <a:pPr>
              <a:lnSpc>
                <a:spcPct val="90000"/>
              </a:lnSpc>
            </a:pPr>
            <a:r>
              <a:rPr lang="en-US" dirty="0">
                <a:ea typeface="ＭＳ Ｐゴシック" pitchFamily="34" charset="-128"/>
              </a:rPr>
              <a:t>Usefulness: The data elements in data warehouse must be useful and fulfill the requirements of the users otherwise data warehouse is not of any value</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Indicators of quality of data (Cont.)</a:t>
            </a:r>
            <a:endParaRPr lang="en-US" dirty="0"/>
          </a:p>
        </p:txBody>
      </p:sp>
      <p:pic>
        <p:nvPicPr>
          <p:cNvPr id="4" name="slide_06.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8230866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80533"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Entity and Referential Integrity: Entity integrity means every table must have a primary key and it must be unique and not null. Referential integrity enforces parent child relationship between tables, you can not insert a record in child table unless you have a corresponding record in parent table</a:t>
            </a:r>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Indicators of quality of data (Cont.)</a:t>
            </a:r>
            <a:endParaRPr lang="en-US" dirty="0"/>
          </a:p>
        </p:txBody>
      </p:sp>
      <p:pic>
        <p:nvPicPr>
          <p:cNvPr id="4" name="slide_07.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48045647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1957"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lstStyle/>
          <a:p>
            <a:r>
              <a:rPr lang="en-US" sz="2400" dirty="0">
                <a:ea typeface="ＭＳ Ｐゴシック" pitchFamily="34" charset="-128"/>
              </a:rPr>
              <a:t>Businesses ranked data quality as the biggest problem during data warehouse designing and usage </a:t>
            </a:r>
          </a:p>
          <a:p>
            <a:endParaRPr lang="en-US" dirty="0"/>
          </a:p>
        </p:txBody>
      </p:sp>
      <p:sp>
        <p:nvSpPr>
          <p:cNvPr id="3" name="Title 2"/>
          <p:cNvSpPr>
            <a:spLocks noGrp="1"/>
          </p:cNvSpPr>
          <p:nvPr>
            <p:ph type="title"/>
          </p:nvPr>
        </p:nvSpPr>
        <p:spPr/>
        <p:txBody>
          <a:bodyPr/>
          <a:lstStyle/>
          <a:p>
            <a:r>
              <a:rPr lang="en-US" dirty="0">
                <a:ea typeface="ＭＳ Ｐゴシック" pitchFamily="34" charset="-128"/>
              </a:rPr>
              <a:t>Problems due to quality of data</a:t>
            </a:r>
            <a:endParaRPr lang="en-US" dirty="0"/>
          </a:p>
        </p:txBody>
      </p:sp>
      <p:pic>
        <p:nvPicPr>
          <p:cNvPr id="4" name="Picture 4"/>
          <p:cNvPicPr>
            <a:picLocks noChangeAspect="1" noChangeArrowheads="1"/>
          </p:cNvPicPr>
          <p:nvPr/>
        </p:nvPicPr>
        <p:blipFill>
          <a:blip r:embed="rId5">
            <a:extLst>
              <a:ext uri="{28A0092B-C50C-407E-A947-70E740481C1C}">
                <a14:useLocalDpi xmlns:a14="http://schemas.microsoft.com/office/drawing/2010/main" val="0"/>
              </a:ext>
            </a:extLst>
          </a:blip>
          <a:srcRect l="17857" t="20476" r="35001" b="32857"/>
          <a:stretch>
            <a:fillRect/>
          </a:stretch>
        </p:blipFill>
        <p:spPr bwMode="auto">
          <a:xfrm>
            <a:off x="1905000" y="2159534"/>
            <a:ext cx="6019800" cy="4469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slide_08.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3890788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4186"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1820</TotalTime>
  <Words>1521</Words>
  <Application>Microsoft Office PowerPoint</Application>
  <PresentationFormat>On-screen Show (4:3)</PresentationFormat>
  <Paragraphs>78</Paragraphs>
  <Slides>8</Slides>
  <Notes>8</Notes>
  <HiddenSlides>0</HiddenSlides>
  <MMClips>8</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Concourse</vt:lpstr>
      <vt:lpstr>Data Warehousing and Data Mining</vt:lpstr>
      <vt:lpstr>Data Quality Management</vt:lpstr>
      <vt:lpstr>Data Quality</vt:lpstr>
      <vt:lpstr>Indicators of quality of data</vt:lpstr>
      <vt:lpstr>Indicators of quality of data (Cont.)</vt:lpstr>
      <vt:lpstr>Indicators of quality of data (Cont.)</vt:lpstr>
      <vt:lpstr>Indicators of quality of data (Cont.)</vt:lpstr>
      <vt:lpstr>Problems due to quality of data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107</cp:revision>
  <dcterms:created xsi:type="dcterms:W3CDTF">2020-03-25T05:59:07Z</dcterms:created>
  <dcterms:modified xsi:type="dcterms:W3CDTF">2020-06-25T04:28:40Z</dcterms:modified>
</cp:coreProperties>
</file>