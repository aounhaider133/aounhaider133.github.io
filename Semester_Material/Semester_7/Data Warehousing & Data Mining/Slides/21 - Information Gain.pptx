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23"/>
  </p:notesMasterIdLst>
  <p:sldIdLst>
    <p:sldId id="432" r:id="rId2"/>
    <p:sldId id="388" r:id="rId3"/>
    <p:sldId id="387" r:id="rId4"/>
    <p:sldId id="389" r:id="rId5"/>
    <p:sldId id="390" r:id="rId6"/>
    <p:sldId id="402" r:id="rId7"/>
    <p:sldId id="391" r:id="rId8"/>
    <p:sldId id="392" r:id="rId9"/>
    <p:sldId id="393" r:id="rId10"/>
    <p:sldId id="394" r:id="rId11"/>
    <p:sldId id="395" r:id="rId12"/>
    <p:sldId id="396" r:id="rId13"/>
    <p:sldId id="397" r:id="rId14"/>
    <p:sldId id="398" r:id="rId15"/>
    <p:sldId id="399" r:id="rId16"/>
    <p:sldId id="407" r:id="rId17"/>
    <p:sldId id="430" r:id="rId18"/>
    <p:sldId id="431" r:id="rId19"/>
    <p:sldId id="409" r:id="rId20"/>
    <p:sldId id="410" r:id="rId21"/>
    <p:sldId id="411" r:id="rId22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  <a:srgbClr val="FF3399"/>
    <a:srgbClr val="FF3300"/>
    <a:srgbClr val="0000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0909" autoAdjust="0"/>
  </p:normalViewPr>
  <p:slideViewPr>
    <p:cSldViewPr>
      <p:cViewPr varScale="1">
        <p:scale>
          <a:sx n="66" d="100"/>
          <a:sy n="66" d="100"/>
        </p:scale>
        <p:origin x="-148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BAC4160-D9F3-45E2-9DE0-B8B505BD6E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46023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95B799E-8931-4162-B505-68AEEEF98DB2}" type="slidenum">
              <a:rPr lang="en-US" smtClean="0">
                <a:latin typeface="Arial" pitchFamily="34" charset="0"/>
                <a:cs typeface="Arial" pitchFamily="34" charset="0"/>
              </a:rPr>
              <a:pPr/>
              <a:t>1</a:t>
            </a:fld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20349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AC4160-D9F3-45E2-9DE0-B8B505BD6EB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96648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F39453-B91A-45B5-B083-554478219FB9}" type="slidenum">
              <a:rPr lang="en-US"/>
              <a:pPr/>
              <a:t>5</a:t>
            </a:fld>
            <a:endParaRPr lang="en-US"/>
          </a:p>
        </p:txBody>
      </p:sp>
      <p:sp>
        <p:nvSpPr>
          <p:cNvPr id="355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773255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FF1C40-913C-445C-B9DB-48A91CE656BA}" type="slidenum">
              <a:rPr lang="en-US"/>
              <a:pPr/>
              <a:t>7</a:t>
            </a:fld>
            <a:endParaRPr lang="en-US"/>
          </a:p>
        </p:txBody>
      </p:sp>
      <p:sp>
        <p:nvSpPr>
          <p:cNvPr id="35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7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043440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147C89-C2DC-4C93-8A0E-278EBC1839EF}" type="slidenum">
              <a:rPr lang="en-US"/>
              <a:pPr/>
              <a:t>8</a:t>
            </a:fld>
            <a:endParaRPr lang="en-US"/>
          </a:p>
        </p:txBody>
      </p:sp>
      <p:sp>
        <p:nvSpPr>
          <p:cNvPr id="359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76273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71279A-9571-407E-A8C9-24EE243FEC96}" type="slidenum">
              <a:rPr lang="en-US"/>
              <a:pPr/>
              <a:t>9</a:t>
            </a:fld>
            <a:endParaRPr lang="en-US"/>
          </a:p>
        </p:txBody>
      </p:sp>
      <p:sp>
        <p:nvSpPr>
          <p:cNvPr id="361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4248083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4D71CD-B911-4B37-BF3D-2EABB93819E4}" type="slidenum">
              <a:rPr lang="en-US"/>
              <a:pPr/>
              <a:t>10</a:t>
            </a:fld>
            <a:endParaRPr lang="en-US"/>
          </a:p>
        </p:txBody>
      </p:sp>
      <p:sp>
        <p:nvSpPr>
          <p:cNvPr id="363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5672889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0C3B54-5BAE-4271-B332-4AB10B8BD2A5}" type="slidenum">
              <a:rPr lang="en-US"/>
              <a:pPr/>
              <a:t>11</a:t>
            </a:fld>
            <a:endParaRPr lang="en-US"/>
          </a:p>
        </p:txBody>
      </p:sp>
      <p:sp>
        <p:nvSpPr>
          <p:cNvPr id="365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721759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E9D1E2-37F3-480A-BF13-5297D89CFE18}" type="slidenum">
              <a:rPr lang="en-US"/>
              <a:pPr/>
              <a:t>12</a:t>
            </a:fld>
            <a:endParaRPr lang="en-US"/>
          </a:p>
        </p:txBody>
      </p:sp>
      <p:sp>
        <p:nvSpPr>
          <p:cNvPr id="367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570777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D61800-A285-4BA8-9033-53B433CE5C49}" type="slidenum">
              <a:rPr lang="en-US"/>
              <a:pPr/>
              <a:t>13</a:t>
            </a:fld>
            <a:endParaRPr lang="en-US"/>
          </a:p>
        </p:txBody>
      </p:sp>
      <p:sp>
        <p:nvSpPr>
          <p:cNvPr id="369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9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9892620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7817F8-3B98-4BC6-8FED-56D1509246B5}" type="slidenum">
              <a:rPr lang="en-US"/>
              <a:pPr/>
              <a:t>14</a:t>
            </a:fld>
            <a:endParaRPr lang="en-US"/>
          </a:p>
        </p:txBody>
      </p:sp>
      <p:sp>
        <p:nvSpPr>
          <p:cNvPr id="371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1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95725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667EDD-C61C-4265-9C88-1B1CC911E63C}" type="slidenum">
              <a:rPr lang="en-US"/>
              <a:pPr/>
              <a:t>15</a:t>
            </a:fld>
            <a:endParaRPr lang="en-US"/>
          </a:p>
        </p:txBody>
      </p:sp>
      <p:sp>
        <p:nvSpPr>
          <p:cNvPr id="373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3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906554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A06330-4B0B-45BA-B36B-8D06FAFA213F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643CD6-4BC8-417F-8867-45E66E3B0618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5A9EE7-E4AC-4300-A754-514C3129D0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4E1A1F-3ABD-4CEF-A482-B15E21FE08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58B5C6-2A8F-42B5-99F9-35F9B3F498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5BAAB9-4F84-40AE-B308-95384B73C7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3200C8-5B76-4616-82A2-EE151DA16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84BC93-BA4B-4474-84A5-200AE18AB8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8A281-50F0-40D6-9CF3-3E00E48EFE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97B583-639C-495F-A483-15D5E0E4D9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14A99-27F8-416E-9CB7-91D553088F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5A75F8-C3A3-43B4-80CB-23D2B6E01E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0AFE1-0021-4963-8B77-5747897D15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3879316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B57C20-ABA4-45C2-B5B4-462B0CD115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99CC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fld id="{7DCC2CAA-102D-45B2-908E-FFE82ECC94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3" r:id="rId1"/>
    <p:sldLayoutId id="2147484164" r:id="rId2"/>
    <p:sldLayoutId id="2147484165" r:id="rId3"/>
    <p:sldLayoutId id="2147484166" r:id="rId4"/>
    <p:sldLayoutId id="2147484167" r:id="rId5"/>
    <p:sldLayoutId id="2147484168" r:id="rId6"/>
    <p:sldLayoutId id="2147484169" r:id="rId7"/>
    <p:sldLayoutId id="2147484170" r:id="rId8"/>
    <p:sldLayoutId id="2147484171" r:id="rId9"/>
    <p:sldLayoutId id="2147484172" r:id="rId10"/>
    <p:sldLayoutId id="2147484173" r:id="rId11"/>
    <p:sldLayoutId id="2147484174" r:id="rId12"/>
    <p:sldLayoutId id="2147484175" r:id="rId13"/>
    <p:sldLayoutId id="2147484177" r:id="rId14"/>
    <p:sldLayoutId id="2147484178" r:id="rId1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u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w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1.jpeg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4"/>
          <p:cNvSpPr txBox="1">
            <a:spLocks noChangeArrowheads="1"/>
          </p:cNvSpPr>
          <p:nvPr/>
        </p:nvSpPr>
        <p:spPr bwMode="auto">
          <a:xfrm>
            <a:off x="762000" y="762000"/>
            <a:ext cx="7543800" cy="5269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4400" dirty="0"/>
              <a:t>CSC479 </a:t>
            </a:r>
          </a:p>
          <a:p>
            <a:r>
              <a:rPr lang="en-US" sz="4400" dirty="0"/>
              <a:t>Data Mining</a:t>
            </a:r>
          </a:p>
          <a:p>
            <a:endParaRPr lang="en-US" sz="2800" dirty="0"/>
          </a:p>
          <a:p>
            <a:endParaRPr lang="en-US" sz="2800" dirty="0"/>
          </a:p>
          <a:p>
            <a:pPr lvl="2"/>
            <a:r>
              <a:rPr lang="en-US" sz="3600" dirty="0" smtClean="0"/>
              <a:t>Classification Lecture 3</a:t>
            </a:r>
            <a:endParaRPr lang="en-US" sz="3600" dirty="0" smtClean="0"/>
          </a:p>
          <a:p>
            <a:pPr lvl="2"/>
            <a:r>
              <a:rPr lang="en-US" sz="3600" b="0" dirty="0" smtClean="0"/>
              <a:t>Basic </a:t>
            </a:r>
            <a:r>
              <a:rPr lang="en-US" sz="3600" b="0" dirty="0" smtClean="0"/>
              <a:t>Concepts</a:t>
            </a:r>
          </a:p>
          <a:p>
            <a:pPr lvl="2"/>
            <a:r>
              <a:rPr lang="en-US" sz="3600" b="0" dirty="0" smtClean="0"/>
              <a:t>Decision </a:t>
            </a:r>
            <a:r>
              <a:rPr lang="en-US" sz="3600" b="0" dirty="0" smtClean="0"/>
              <a:t>Trees</a:t>
            </a:r>
          </a:p>
          <a:p>
            <a:pPr>
              <a:lnSpc>
                <a:spcPct val="90000"/>
              </a:lnSpc>
            </a:pPr>
            <a:endParaRPr lang="en-US" sz="3600" b="0" dirty="0"/>
          </a:p>
          <a:p>
            <a:r>
              <a:rPr lang="en-US" sz="2400" dirty="0"/>
              <a:t>(</a:t>
            </a:r>
            <a:r>
              <a:rPr lang="en-US" sz="2800" dirty="0"/>
              <a:t>Ch # </a:t>
            </a:r>
            <a:r>
              <a:rPr lang="en-US" sz="2800" dirty="0" smtClean="0"/>
              <a:t>8: Data Mining</a:t>
            </a:r>
            <a:r>
              <a:rPr lang="en-US" sz="2400" dirty="0" smtClean="0"/>
              <a:t>-Concepts and Techniques by Han and </a:t>
            </a:r>
            <a:r>
              <a:rPr lang="en-US" sz="2400" dirty="0" err="1" smtClean="0"/>
              <a:t>Kamber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239000" cy="838200"/>
          </a:xfrm>
        </p:spPr>
        <p:txBody>
          <a:bodyPr/>
          <a:lstStyle/>
          <a:p>
            <a:r>
              <a:rPr lang="en-US" dirty="0" smtClean="0"/>
              <a:t>Information Gain</a:t>
            </a:r>
          </a:p>
        </p:txBody>
      </p:sp>
      <p:sp>
        <p:nvSpPr>
          <p:cNvPr id="4100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876800"/>
          </a:xfrm>
        </p:spPr>
        <p:txBody>
          <a:bodyPr>
            <a:normAutofit/>
          </a:bodyPr>
          <a:lstStyle/>
          <a:p>
            <a:r>
              <a:rPr lang="en-US" sz="2800" b="1" i="1" dirty="0" smtClean="0">
                <a:solidFill>
                  <a:schemeClr val="accent6">
                    <a:lumMod val="75000"/>
                  </a:schemeClr>
                </a:solidFill>
              </a:rPr>
              <a:t>Gain</a:t>
            </a:r>
            <a:r>
              <a:rPr lang="en-US" sz="2800" b="1" i="1" dirty="0" smtClean="0"/>
              <a:t> of an attribute split: </a:t>
            </a:r>
            <a:r>
              <a:rPr lang="en-US" sz="2800" dirty="0" smtClean="0"/>
              <a:t>compare the impurity of the parent node with the average impurity of the child nodes </a:t>
            </a:r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Maximizing</a:t>
            </a:r>
            <a:r>
              <a:rPr lang="en-US" sz="2800" dirty="0" smtClean="0"/>
              <a:t> the </a:t>
            </a:r>
            <a:r>
              <a:rPr lang="en-US" sz="2800" dirty="0" smtClean="0">
                <a:solidFill>
                  <a:srgbClr val="0070C0"/>
                </a:solidFill>
              </a:rPr>
              <a:t>gain</a:t>
            </a:r>
            <a:r>
              <a:rPr lang="en-US" sz="2800" dirty="0" smtClean="0"/>
              <a:t> </a:t>
            </a:r>
            <a:r>
              <a:rPr lang="en-US" sz="2800" dirty="0" smtClean="0">
                <a:sym typeface="Symbol"/>
              </a:rPr>
              <a:t> 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  <a:sym typeface="Symbol"/>
              </a:rPr>
              <a:t>M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inimizing </a:t>
            </a:r>
            <a:r>
              <a:rPr lang="en-US" sz="2800" dirty="0" smtClean="0"/>
              <a:t>the weighted average </a:t>
            </a:r>
            <a:r>
              <a:rPr lang="en-US" sz="2800" dirty="0" smtClean="0">
                <a:solidFill>
                  <a:srgbClr val="0070C0"/>
                </a:solidFill>
              </a:rPr>
              <a:t>impurity</a:t>
            </a:r>
            <a:r>
              <a:rPr lang="en-US" sz="2800" dirty="0" smtClean="0"/>
              <a:t> measure of children nodes</a:t>
            </a:r>
          </a:p>
          <a:p>
            <a:endParaRPr lang="en-US" sz="2800" dirty="0"/>
          </a:p>
          <a:p>
            <a:r>
              <a:rPr lang="en-US" sz="2800" dirty="0" smtClean="0"/>
              <a:t>ID3 uses information gain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535475803"/>
              </p:ext>
            </p:extLst>
          </p:nvPr>
        </p:nvGraphicFramePr>
        <p:xfrm>
          <a:off x="1473200" y="2743200"/>
          <a:ext cx="6426200" cy="1143000"/>
        </p:xfrm>
        <a:graphic>
          <a:graphicData uri="http://schemas.openxmlformats.org/presentationml/2006/ole">
            <p:oleObj spid="_x0000_s190486" name="Equation" r:id="rId3" imgW="2374900" imgH="457200" progId="">
              <p:embed/>
            </p:oleObj>
          </a:graphicData>
        </a:graphic>
      </p:graphicFrame>
      <p:sp>
        <p:nvSpPr>
          <p:cNvPr id="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12097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1894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568926"/>
            <a:ext cx="6248399" cy="4460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94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1" y="5028872"/>
            <a:ext cx="4876799" cy="533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944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5536132"/>
            <a:ext cx="3276600" cy="559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944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810000" y="5556354"/>
            <a:ext cx="1828800" cy="539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9446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638800" y="5553075"/>
            <a:ext cx="2524125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9447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295399" y="6096000"/>
            <a:ext cx="126274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9448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57200" y="6410325"/>
            <a:ext cx="50577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381000" y="76200"/>
            <a:ext cx="7772400" cy="6096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Examples Constructing Decision Tree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381000" y="304800"/>
            <a:ext cx="7772400" cy="6096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Examples Constructing Decision Tree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381000" y="990600"/>
            <a:ext cx="7772400" cy="44196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CC"/>
              </a:buClr>
              <a:buSzTx/>
              <a:buFont typeface="Monotype Sorts" pitchFamily="2" charset="2"/>
              <a:buChar char="u"/>
              <a:tabLst/>
              <a:defRPr/>
            </a:pPr>
            <a:endParaRPr kumimoji="0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099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1143000"/>
            <a:ext cx="333375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992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0" y="1552575"/>
            <a:ext cx="3124200" cy="36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992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0" y="1981200"/>
            <a:ext cx="4038601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Content Placeholder 3"/>
          <p:cNvSpPr txBox="1">
            <a:spLocks/>
          </p:cNvSpPr>
          <p:nvPr/>
        </p:nvSpPr>
        <p:spPr>
          <a:xfrm>
            <a:off x="381000" y="2362200"/>
            <a:ext cx="7772400" cy="27432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CC"/>
              </a:buClr>
              <a:buSzTx/>
              <a:buFont typeface="Monotype Sorts" pitchFamily="2" charset="2"/>
              <a:buChar char="u"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</a:rPr>
              <a:t>So the attribute Age will be placed at root level.</a:t>
            </a:r>
            <a:endParaRPr kumimoji="0" lang="en-US" sz="2800" b="1" i="0" u="none" strike="noStrike" kern="0" cap="none" spc="0" normalizeH="0" baseline="0" noProof="0" dirty="0" smtClean="0">
              <a:ln>
                <a:noFill/>
              </a:ln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CC"/>
              </a:buClr>
              <a:buSzTx/>
              <a:buFont typeface="Monotype Sorts" pitchFamily="2" charset="2"/>
              <a:buChar char="u"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For placement at second level we find </a:t>
            </a:r>
            <a:r>
              <a:rPr kumimoji="0" lang="en-US" sz="2800" b="0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InfoGain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for</a:t>
            </a:r>
            <a:r>
              <a:rPr kumimoji="0" lang="en-US" sz="2800" b="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all the remaining attributes under every branch of the parent node. 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8" name="Text Box 4"/>
          <p:cNvSpPr txBox="1">
            <a:spLocks noChangeArrowheads="1"/>
          </p:cNvSpPr>
          <p:nvPr/>
        </p:nvSpPr>
        <p:spPr bwMode="auto">
          <a:xfrm>
            <a:off x="381000" y="1066800"/>
            <a:ext cx="81756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GB" sz="2400">
                <a:solidFill>
                  <a:srgbClr val="FF0000"/>
                </a:solidFill>
                <a:latin typeface="Tahoma" pitchFamily="34" charset="0"/>
              </a:rPr>
              <a:t>Which Attribute is the Best Classifier?: Information Gain</a:t>
            </a:r>
            <a:endParaRPr lang="en-US" sz="2400">
              <a:latin typeface="Tahoma" pitchFamily="34" charset="0"/>
            </a:endParaRPr>
          </a:p>
        </p:txBody>
      </p:sp>
      <p:pic>
        <p:nvPicPr>
          <p:cNvPr id="35430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1911350"/>
            <a:ext cx="6400800" cy="441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54310" name="Text Box 6"/>
          <p:cNvSpPr txBox="1">
            <a:spLocks noChangeArrowheads="1"/>
          </p:cNvSpPr>
          <p:nvPr/>
        </p:nvSpPr>
        <p:spPr bwMode="auto">
          <a:xfrm>
            <a:off x="762000" y="253425"/>
            <a:ext cx="75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4000" b="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DECISION TREES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62000"/>
            <a:ext cx="8211438" cy="529620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924622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Text Box 2"/>
          <p:cNvSpPr txBox="1">
            <a:spLocks noChangeArrowheads="1"/>
          </p:cNvSpPr>
          <p:nvPr/>
        </p:nvSpPr>
        <p:spPr bwMode="auto">
          <a:xfrm>
            <a:off x="457200" y="1981200"/>
            <a:ext cx="77724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400" b="0">
                <a:latin typeface="Tahoma" pitchFamily="34" charset="0"/>
                <a:cs typeface="Times New Roman" charset="0"/>
              </a:rPr>
              <a:t>The collection of examples has 9 positive values and 5 negative ones</a:t>
            </a:r>
            <a:endParaRPr lang="en-US" sz="2400" b="0" i="1">
              <a:latin typeface="Tahoma" pitchFamily="34" charset="0"/>
              <a:cs typeface="Times New Roman" charset="0"/>
            </a:endParaRPr>
          </a:p>
        </p:txBody>
      </p:sp>
      <p:sp>
        <p:nvSpPr>
          <p:cNvPr id="356356" name="Text Box 4"/>
          <p:cNvSpPr txBox="1">
            <a:spLocks noChangeArrowheads="1"/>
          </p:cNvSpPr>
          <p:nvPr/>
        </p:nvSpPr>
        <p:spPr bwMode="auto">
          <a:xfrm>
            <a:off x="381000" y="990600"/>
            <a:ext cx="81756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GB" sz="2400">
                <a:solidFill>
                  <a:srgbClr val="FF0000"/>
                </a:solidFill>
                <a:latin typeface="Tahoma" pitchFamily="34" charset="0"/>
              </a:rPr>
              <a:t>Which Attribute is the Best Classifier?: Information Gain</a:t>
            </a:r>
            <a:endParaRPr lang="en-US" sz="2400">
              <a:latin typeface="Tahoma" pitchFamily="34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200400" y="3200400"/>
            <a:ext cx="2438400" cy="382588"/>
            <a:chOff x="2501" y="2063"/>
            <a:chExt cx="1332" cy="198"/>
          </a:xfrm>
        </p:grpSpPr>
        <p:pic>
          <p:nvPicPr>
            <p:cNvPr id="356358" name="Picture 6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501" y="2063"/>
              <a:ext cx="758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56359" name="Picture 7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216" y="2064"/>
              <a:ext cx="617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356360" name="Text Box 8"/>
          <p:cNvSpPr txBox="1">
            <a:spLocks noChangeArrowheads="1"/>
          </p:cNvSpPr>
          <p:nvPr/>
        </p:nvSpPr>
        <p:spPr bwMode="auto">
          <a:xfrm>
            <a:off x="457200" y="3962400"/>
            <a:ext cx="8153400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400" b="0">
                <a:latin typeface="Tahoma" pitchFamily="34" charset="0"/>
                <a:cs typeface="Times New Roman" charset="0"/>
              </a:rPr>
              <a:t>Eight </a:t>
            </a:r>
            <a:r>
              <a:rPr lang="en-US" sz="2400" b="0">
                <a:latin typeface="Tahoma" pitchFamily="34" charset="0"/>
              </a:rPr>
              <a:t>(6 positive and 2 negative ones) </a:t>
            </a:r>
            <a:r>
              <a:rPr lang="en-US" sz="2400" b="0">
                <a:latin typeface="Tahoma" pitchFamily="34" charset="0"/>
                <a:cs typeface="Times New Roman" charset="0"/>
              </a:rPr>
              <a:t>of these examples have the attribute value </a:t>
            </a:r>
            <a:r>
              <a:rPr lang="en-US" sz="2400" b="0" i="1">
                <a:latin typeface="Tahoma" pitchFamily="34" charset="0"/>
                <a:cs typeface="Times New Roman" charset="0"/>
              </a:rPr>
              <a:t>Wind = Weak</a:t>
            </a:r>
          </a:p>
          <a:p>
            <a:pPr algn="just"/>
            <a:endParaRPr lang="en-US" sz="2400" b="0">
              <a:latin typeface="Tahoma" pitchFamily="34" charset="0"/>
              <a:cs typeface="Times New Roman" charset="0"/>
            </a:endParaRPr>
          </a:p>
          <a:p>
            <a:pPr algn="just"/>
            <a:r>
              <a:rPr lang="en-US" sz="2400" b="0">
                <a:latin typeface="Tahoma" pitchFamily="34" charset="0"/>
              </a:rPr>
              <a:t>Six (3 positive and 3 negative ones) of these examples have the attribute value </a:t>
            </a:r>
            <a:r>
              <a:rPr lang="en-US" sz="2400" b="0" i="1">
                <a:latin typeface="Tahoma" pitchFamily="34" charset="0"/>
              </a:rPr>
              <a:t>Wind = Strong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762000" y="253425"/>
            <a:ext cx="75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4000" b="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DECISION TREES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Text Box 2"/>
          <p:cNvSpPr txBox="1">
            <a:spLocks noChangeArrowheads="1"/>
          </p:cNvSpPr>
          <p:nvPr/>
        </p:nvSpPr>
        <p:spPr bwMode="auto">
          <a:xfrm>
            <a:off x="457200" y="2057400"/>
            <a:ext cx="77724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400" b="0">
                <a:latin typeface="Tahoma" pitchFamily="34" charset="0"/>
                <a:cs typeface="Times New Roman" charset="0"/>
              </a:rPr>
              <a:t>The information gain obtained by separating the examples according to the attribute </a:t>
            </a:r>
            <a:r>
              <a:rPr lang="en-US" sz="2400" b="0" i="1">
                <a:latin typeface="Tahoma" pitchFamily="34" charset="0"/>
                <a:cs typeface="Times New Roman" charset="0"/>
              </a:rPr>
              <a:t>Wind</a:t>
            </a:r>
            <a:r>
              <a:rPr lang="en-US" sz="2400" b="0">
                <a:latin typeface="Tahoma" pitchFamily="34" charset="0"/>
                <a:cs typeface="Times New Roman" charset="0"/>
              </a:rPr>
              <a:t> is calculated as:</a:t>
            </a:r>
            <a:endParaRPr lang="en-US" sz="2400" b="0" i="1">
              <a:latin typeface="Tahoma" pitchFamily="34" charset="0"/>
              <a:cs typeface="Times New Roman" charset="0"/>
            </a:endParaRPr>
          </a:p>
        </p:txBody>
      </p:sp>
      <p:sp>
        <p:nvSpPr>
          <p:cNvPr id="358404" name="Text Box 4"/>
          <p:cNvSpPr txBox="1">
            <a:spLocks noChangeArrowheads="1"/>
          </p:cNvSpPr>
          <p:nvPr/>
        </p:nvSpPr>
        <p:spPr bwMode="auto">
          <a:xfrm>
            <a:off x="381000" y="1066800"/>
            <a:ext cx="81756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GB" sz="2400">
                <a:solidFill>
                  <a:srgbClr val="FF0000"/>
                </a:solidFill>
                <a:latin typeface="Tahoma" pitchFamily="34" charset="0"/>
              </a:rPr>
              <a:t>Which Attribute is the Best Classifier?: Information Gain</a:t>
            </a:r>
            <a:endParaRPr lang="en-US" sz="2400">
              <a:latin typeface="Tahoma" pitchFamily="34" charset="0"/>
            </a:endParaRPr>
          </a:p>
        </p:txBody>
      </p:sp>
      <p:pic>
        <p:nvPicPr>
          <p:cNvPr id="35840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3276600"/>
            <a:ext cx="77724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762000" y="253425"/>
            <a:ext cx="75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4000" b="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DECISION TREES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Text Box 2"/>
          <p:cNvSpPr txBox="1">
            <a:spLocks noChangeArrowheads="1"/>
          </p:cNvSpPr>
          <p:nvPr/>
        </p:nvSpPr>
        <p:spPr bwMode="auto">
          <a:xfrm>
            <a:off x="457200" y="1905000"/>
            <a:ext cx="77724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400" b="0">
                <a:latin typeface="Tahoma" pitchFamily="34" charset="0"/>
                <a:cs typeface="Times New Roman" charset="0"/>
              </a:rPr>
              <a:t>We calculate the Info Gain for each attribute and select the attribute having the highest Info Gain</a:t>
            </a:r>
          </a:p>
        </p:txBody>
      </p:sp>
      <p:sp>
        <p:nvSpPr>
          <p:cNvPr id="360452" name="Text Box 4"/>
          <p:cNvSpPr txBox="1">
            <a:spLocks noChangeArrowheads="1"/>
          </p:cNvSpPr>
          <p:nvPr/>
        </p:nvSpPr>
        <p:spPr bwMode="auto">
          <a:xfrm>
            <a:off x="381000" y="990600"/>
            <a:ext cx="81756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GB" sz="2400">
                <a:solidFill>
                  <a:srgbClr val="FF0000"/>
                </a:solidFill>
                <a:latin typeface="Tahoma" pitchFamily="34" charset="0"/>
              </a:rPr>
              <a:t>Which Attribute is the Best Classifier?: Information Gain</a:t>
            </a:r>
            <a:endParaRPr lang="en-US" sz="2400">
              <a:latin typeface="Tahoma" pitchFamily="34" charset="0"/>
            </a:endParaRPr>
          </a:p>
        </p:txBody>
      </p:sp>
      <p:pic>
        <p:nvPicPr>
          <p:cNvPr id="3604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84250" y="2895600"/>
            <a:ext cx="32512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045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45050" y="2895600"/>
            <a:ext cx="300355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762000" y="253425"/>
            <a:ext cx="75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4000" b="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DECISION TREES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9" name="Text Box 3"/>
          <p:cNvSpPr txBox="1">
            <a:spLocks noChangeArrowheads="1"/>
          </p:cNvSpPr>
          <p:nvPr/>
        </p:nvSpPr>
        <p:spPr bwMode="auto">
          <a:xfrm>
            <a:off x="381000" y="1066800"/>
            <a:ext cx="8175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GB" sz="2400">
                <a:solidFill>
                  <a:srgbClr val="FF0000"/>
                </a:solidFill>
                <a:latin typeface="Tahoma" pitchFamily="34" charset="0"/>
              </a:rPr>
              <a:t>Example</a:t>
            </a:r>
            <a:endParaRPr lang="en-US" sz="240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362500" name="Text Box 4"/>
          <p:cNvSpPr txBox="1">
            <a:spLocks noChangeArrowheads="1"/>
          </p:cNvSpPr>
          <p:nvPr/>
        </p:nvSpPr>
        <p:spPr bwMode="auto">
          <a:xfrm>
            <a:off x="457200" y="1600200"/>
            <a:ext cx="815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400" b="0">
                <a:latin typeface="Tahoma" pitchFamily="34" charset="0"/>
                <a:cs typeface="Times New Roman" charset="0"/>
              </a:rPr>
              <a:t>Which attribute should be selected as the first test?</a:t>
            </a:r>
            <a:r>
              <a:rPr lang="en-US" sz="2400">
                <a:latin typeface="Times New Roman" charset="0"/>
                <a:cs typeface="Times New Roman" charset="0"/>
              </a:rPr>
              <a:t> </a:t>
            </a:r>
          </a:p>
        </p:txBody>
      </p:sp>
      <p:pic>
        <p:nvPicPr>
          <p:cNvPr id="36250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33600" y="2438400"/>
            <a:ext cx="4800600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62502" name="Text Box 6"/>
          <p:cNvSpPr txBox="1">
            <a:spLocks noChangeArrowheads="1"/>
          </p:cNvSpPr>
          <p:nvPr/>
        </p:nvSpPr>
        <p:spPr bwMode="auto">
          <a:xfrm>
            <a:off x="457200" y="5791200"/>
            <a:ext cx="815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400">
                <a:latin typeface="Times New Roman" charset="0"/>
                <a:cs typeface="Times New Roman" charset="0"/>
              </a:rPr>
              <a:t>“Outlook” provides the most information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762000" y="253425"/>
            <a:ext cx="75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4000" b="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DECISION TREES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5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990600"/>
            <a:ext cx="5638800" cy="451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45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57600" y="4943850"/>
            <a:ext cx="5486400" cy="168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762000" y="253425"/>
            <a:ext cx="75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4000" b="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DECISION TREES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5" name="Text Box 3"/>
          <p:cNvSpPr txBox="1">
            <a:spLocks noChangeArrowheads="1"/>
          </p:cNvSpPr>
          <p:nvPr/>
        </p:nvSpPr>
        <p:spPr bwMode="auto">
          <a:xfrm>
            <a:off x="381000" y="1066800"/>
            <a:ext cx="8175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GB" sz="2400">
                <a:solidFill>
                  <a:srgbClr val="FF0000"/>
                </a:solidFill>
                <a:latin typeface="Tahoma" pitchFamily="34" charset="0"/>
              </a:rPr>
              <a:t>Example</a:t>
            </a:r>
            <a:endParaRPr lang="en-US" sz="240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366596" name="Text Box 4"/>
          <p:cNvSpPr txBox="1">
            <a:spLocks noChangeArrowheads="1"/>
          </p:cNvSpPr>
          <p:nvPr/>
        </p:nvSpPr>
        <p:spPr bwMode="auto">
          <a:xfrm>
            <a:off x="457200" y="1600200"/>
            <a:ext cx="8153400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400" b="0">
                <a:latin typeface="Tahoma" pitchFamily="34" charset="0"/>
                <a:cs typeface="Times New Roman" charset="0"/>
              </a:rPr>
              <a:t>The process of selecting a new attribute is now repeated for each (non-terminal) descendant node, this time using only training examples associated with that node</a:t>
            </a:r>
          </a:p>
          <a:p>
            <a:pPr algn="just"/>
            <a:endParaRPr lang="en-US" sz="2400" b="0">
              <a:latin typeface="Tahoma" pitchFamily="34" charset="0"/>
              <a:cs typeface="Times New Roman" charset="0"/>
            </a:endParaRPr>
          </a:p>
          <a:p>
            <a:pPr algn="just"/>
            <a:r>
              <a:rPr lang="en-US" sz="2400" b="0">
                <a:latin typeface="Tahoma" pitchFamily="34" charset="0"/>
                <a:cs typeface="Times New Roman" charset="0"/>
              </a:rPr>
              <a:t>Attributes that have been incorporated higher in the tree are excluded, so that any given attribute can appear at most once along any path through the tree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762000" y="253425"/>
            <a:ext cx="75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4000" b="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DECISION TREES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3" name="Text Box 3"/>
          <p:cNvSpPr txBox="1">
            <a:spLocks noChangeArrowheads="1"/>
          </p:cNvSpPr>
          <p:nvPr/>
        </p:nvSpPr>
        <p:spPr bwMode="auto">
          <a:xfrm>
            <a:off x="358775" y="990600"/>
            <a:ext cx="8175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GB" sz="2400">
                <a:solidFill>
                  <a:srgbClr val="FF0000"/>
                </a:solidFill>
                <a:latin typeface="Tahoma" pitchFamily="34" charset="0"/>
              </a:rPr>
              <a:t>Example</a:t>
            </a:r>
            <a:endParaRPr lang="en-US" sz="240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368644" name="Text Box 4"/>
          <p:cNvSpPr txBox="1">
            <a:spLocks noChangeArrowheads="1"/>
          </p:cNvSpPr>
          <p:nvPr/>
        </p:nvSpPr>
        <p:spPr bwMode="auto">
          <a:xfrm>
            <a:off x="381000" y="1676400"/>
            <a:ext cx="8153400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just"/>
            <a:r>
              <a:rPr lang="en-US" sz="2400" b="0">
                <a:latin typeface="Tahoma" pitchFamily="34" charset="0"/>
                <a:cs typeface="Times New Roman" charset="0"/>
              </a:rPr>
              <a:t>This process continues for each new leaf node until either:</a:t>
            </a:r>
          </a:p>
          <a:p>
            <a:pPr marL="457200" indent="-457200" algn="just"/>
            <a:endParaRPr lang="en-US" sz="2400" b="0">
              <a:latin typeface="Tahoma" pitchFamily="34" charset="0"/>
              <a:cs typeface="Times New Roman" charset="0"/>
            </a:endParaRPr>
          </a:p>
          <a:p>
            <a:pPr marL="457200" indent="-457200" algn="just">
              <a:buFontTx/>
              <a:buAutoNum type="arabicPeriod"/>
            </a:pPr>
            <a:r>
              <a:rPr lang="en-US" sz="2400" b="0">
                <a:latin typeface="Tahoma" pitchFamily="34" charset="0"/>
                <a:cs typeface="Times New Roman" charset="0"/>
              </a:rPr>
              <a:t>Every attribute has already been included along this path through the tree</a:t>
            </a:r>
          </a:p>
          <a:p>
            <a:pPr marL="457200" indent="-457200" algn="just">
              <a:buFontTx/>
              <a:buAutoNum type="arabicPeriod"/>
            </a:pPr>
            <a:endParaRPr lang="en-US" sz="2400" b="0">
              <a:latin typeface="Tahoma" pitchFamily="34" charset="0"/>
              <a:cs typeface="Times New Roman" charset="0"/>
            </a:endParaRPr>
          </a:p>
          <a:p>
            <a:pPr marL="457200" indent="-457200" algn="just">
              <a:buFontTx/>
              <a:buAutoNum type="arabicPeriod"/>
            </a:pPr>
            <a:r>
              <a:rPr lang="en-US" sz="2400" b="0">
                <a:latin typeface="Tahoma" pitchFamily="34" charset="0"/>
                <a:cs typeface="Times New Roman" charset="0"/>
              </a:rPr>
              <a:t>The training examples associated with a leaf node have zero entropy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762000" y="253425"/>
            <a:ext cx="75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4000" b="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DECISION TREES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1" name="Text Box 3"/>
          <p:cNvSpPr txBox="1">
            <a:spLocks noChangeArrowheads="1"/>
          </p:cNvSpPr>
          <p:nvPr/>
        </p:nvSpPr>
        <p:spPr bwMode="auto">
          <a:xfrm>
            <a:off x="358775" y="990600"/>
            <a:ext cx="8175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GB" sz="2400">
                <a:solidFill>
                  <a:srgbClr val="FF0000"/>
                </a:solidFill>
                <a:latin typeface="Tahoma" pitchFamily="34" charset="0"/>
              </a:rPr>
              <a:t>Example</a:t>
            </a:r>
            <a:endParaRPr lang="en-US" sz="2400">
              <a:solidFill>
                <a:srgbClr val="FF0000"/>
              </a:solidFill>
              <a:latin typeface="Tahoma" pitchFamily="34" charset="0"/>
            </a:endParaRPr>
          </a:p>
        </p:txBody>
      </p:sp>
      <p:pic>
        <p:nvPicPr>
          <p:cNvPr id="37069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1600200"/>
            <a:ext cx="7391400" cy="454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762000" y="253425"/>
            <a:ext cx="75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4000" b="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DECISION TREES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Text Box 2"/>
          <p:cNvSpPr txBox="1">
            <a:spLocks noChangeArrowheads="1"/>
          </p:cNvSpPr>
          <p:nvPr/>
        </p:nvSpPr>
        <p:spPr bwMode="auto">
          <a:xfrm>
            <a:off x="457200" y="1600200"/>
            <a:ext cx="8305800" cy="5047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400" b="0" dirty="0">
                <a:latin typeface="Tahoma" pitchFamily="34" charset="0"/>
                <a:cs typeface="Times New Roman" charset="0"/>
              </a:rPr>
              <a:t>Next Step: Make rules from the decision tree </a:t>
            </a:r>
          </a:p>
          <a:p>
            <a:pPr algn="just"/>
            <a:r>
              <a:rPr lang="en-US" sz="2400" b="0" dirty="0">
                <a:latin typeface="Tahoma" pitchFamily="34" charset="0"/>
                <a:cs typeface="Times New Roman" charset="0"/>
              </a:rPr>
              <a:t>		</a:t>
            </a:r>
          </a:p>
          <a:p>
            <a:pPr algn="just">
              <a:spcBef>
                <a:spcPts val="600"/>
              </a:spcBef>
            </a:pPr>
            <a:r>
              <a:rPr lang="en-US" sz="2400" b="0" dirty="0">
                <a:latin typeface="Tahoma" pitchFamily="34" charset="0"/>
                <a:cs typeface="Times New Roman" charset="0"/>
              </a:rPr>
              <a:t>After making the identification tree, we trace each path from the root node to leaf node, recording the test outcomes as antecedents and the leaf node classification as the </a:t>
            </a:r>
            <a:r>
              <a:rPr lang="en-US" sz="2400" b="0" dirty="0" smtClean="0">
                <a:latin typeface="Tahoma" pitchFamily="34" charset="0"/>
                <a:cs typeface="Times New Roman" charset="0"/>
              </a:rPr>
              <a:t>consequent</a:t>
            </a:r>
          </a:p>
          <a:p>
            <a:pPr algn="just">
              <a:spcBef>
                <a:spcPts val="600"/>
              </a:spcBef>
            </a:pPr>
            <a:r>
              <a:rPr lang="en-US" sz="2400" dirty="0" smtClean="0"/>
              <a:t>Simple way: </a:t>
            </a:r>
            <a:r>
              <a:rPr lang="en-US" sz="2400" b="0" dirty="0" smtClean="0"/>
              <a:t>one rule for each leaf</a:t>
            </a:r>
            <a:endParaRPr lang="en-US" sz="2400" b="0" dirty="0">
              <a:latin typeface="Tahoma" pitchFamily="34" charset="0"/>
              <a:cs typeface="Times New Roman" charset="0"/>
            </a:endParaRPr>
          </a:p>
          <a:p>
            <a:pPr algn="just"/>
            <a:endParaRPr lang="en-US" sz="2400" b="0" dirty="0">
              <a:latin typeface="Tahoma" pitchFamily="34" charset="0"/>
              <a:cs typeface="Times New Roman" charset="0"/>
            </a:endParaRPr>
          </a:p>
          <a:p>
            <a:pPr algn="just" eaLnBrk="0" hangingPunct="0"/>
            <a:r>
              <a:rPr lang="en-US" sz="2400" b="0" dirty="0">
                <a:latin typeface="Tahoma" pitchFamily="34" charset="0"/>
              </a:rPr>
              <a:t>For our example we have:</a:t>
            </a:r>
          </a:p>
          <a:p>
            <a:pPr algn="just" eaLnBrk="0" hangingPunct="0"/>
            <a:endParaRPr lang="en-US" sz="2400" b="0" dirty="0">
              <a:latin typeface="Tahoma" pitchFamily="34" charset="0"/>
            </a:endParaRPr>
          </a:p>
          <a:p>
            <a:pPr algn="just" eaLnBrk="0" hangingPunct="0"/>
            <a:r>
              <a:rPr lang="en-US" sz="2400" b="0" dirty="0">
                <a:latin typeface="Tahoma" pitchFamily="34" charset="0"/>
              </a:rPr>
              <a:t>If the Outlook is Sunny and the Humidity is High then No</a:t>
            </a:r>
          </a:p>
          <a:p>
            <a:pPr algn="just" eaLnBrk="0" hangingPunct="0"/>
            <a:r>
              <a:rPr lang="en-US" sz="2400" b="0" dirty="0">
                <a:latin typeface="Tahoma" pitchFamily="34" charset="0"/>
              </a:rPr>
              <a:t>If the Outlook is Sunny and the Humidity is Normal then Yes</a:t>
            </a:r>
            <a:endParaRPr lang="en-US" sz="2400" b="0" dirty="0">
              <a:latin typeface="Tahoma" pitchFamily="34" charset="0"/>
              <a:cs typeface="Times New Roman" charset="0"/>
            </a:endParaRPr>
          </a:p>
          <a:p>
            <a:pPr algn="just"/>
            <a:r>
              <a:rPr lang="en-US" sz="2400" b="0" dirty="0">
                <a:latin typeface="Tahoma" pitchFamily="34" charset="0"/>
                <a:cs typeface="Times New Roman" charset="0"/>
              </a:rPr>
              <a:t>...</a:t>
            </a:r>
          </a:p>
        </p:txBody>
      </p:sp>
      <p:sp>
        <p:nvSpPr>
          <p:cNvPr id="372740" name="Text Box 4"/>
          <p:cNvSpPr txBox="1">
            <a:spLocks noChangeArrowheads="1"/>
          </p:cNvSpPr>
          <p:nvPr/>
        </p:nvSpPr>
        <p:spPr bwMode="auto">
          <a:xfrm>
            <a:off x="381000" y="1066800"/>
            <a:ext cx="8175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GB" sz="2400">
                <a:solidFill>
                  <a:srgbClr val="FF0000"/>
                </a:solidFill>
                <a:latin typeface="Tahoma" pitchFamily="34" charset="0"/>
              </a:rPr>
              <a:t>From Decision Trees to Rules</a:t>
            </a:r>
            <a:endParaRPr lang="en-US" sz="240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762000" y="253425"/>
            <a:ext cx="75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4000" b="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DECISION TREES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05200"/>
            <a:ext cx="8582025" cy="2971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762" y="1223962"/>
            <a:ext cx="5981700" cy="885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362200"/>
            <a:ext cx="6438900" cy="638175"/>
          </a:xfrm>
          <a:prstGeom prst="rect">
            <a:avLst/>
          </a:prstGeom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685800" y="228600"/>
            <a:ext cx="7772400" cy="838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r>
              <a:rPr lang="en-US" sz="3600" b="0" kern="0" dirty="0"/>
              <a:t>Gain Ratio</a:t>
            </a:r>
          </a:p>
        </p:txBody>
      </p:sp>
    </p:spTree>
    <p:extLst>
      <p:ext uri="{BB962C8B-B14F-4D97-AF65-F5344CB8AC3E}">
        <p14:creationId xmlns:p14="http://schemas.microsoft.com/office/powerpoint/2010/main" xmlns="" val="3815472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6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73444B2-D1A6-454B-B1A4-BB2079646057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19459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smtClean="0"/>
              <a:t>Gini Index (CART, IBM IntelligentMiner)</a:t>
            </a:r>
          </a:p>
        </p:txBody>
      </p:sp>
      <p:sp>
        <p:nvSpPr>
          <p:cNvPr id="19460" name="Rectangle 1027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8534400" cy="5105400"/>
          </a:xfrm>
          <a:noFill/>
        </p:spPr>
        <p:txBody>
          <a:bodyPr lIns="92075" tIns="46038" rIns="92075" bIns="46038"/>
          <a:lstStyle/>
          <a:p>
            <a:pPr eaLnBrk="1" hangingPunct="1">
              <a:spcBef>
                <a:spcPts val="600"/>
              </a:spcBef>
              <a:spcAft>
                <a:spcPts val="200"/>
              </a:spcAft>
            </a:pPr>
            <a:r>
              <a:rPr lang="en-US" sz="2400" smtClean="0"/>
              <a:t>If a data set </a:t>
            </a:r>
            <a:r>
              <a:rPr lang="en-US" sz="2400" i="1" smtClean="0"/>
              <a:t>D </a:t>
            </a:r>
            <a:r>
              <a:rPr lang="en-US" sz="2400" smtClean="0"/>
              <a:t>contains examples from </a:t>
            </a:r>
            <a:r>
              <a:rPr lang="en-US" sz="2400" i="1" smtClean="0"/>
              <a:t>n</a:t>
            </a:r>
            <a:r>
              <a:rPr lang="en-US" sz="2400" smtClean="0"/>
              <a:t> classes, gini index, </a:t>
            </a:r>
            <a:r>
              <a:rPr lang="en-US" sz="2400" i="1" smtClean="0"/>
              <a:t>gini</a:t>
            </a:r>
            <a:r>
              <a:rPr lang="en-US" sz="2400" smtClean="0"/>
              <a:t>(</a:t>
            </a:r>
            <a:r>
              <a:rPr lang="en-US" sz="2400" i="1" smtClean="0"/>
              <a:t>D</a:t>
            </a:r>
            <a:r>
              <a:rPr lang="en-US" sz="2400" smtClean="0"/>
              <a:t>) is defined as</a:t>
            </a:r>
          </a:p>
          <a:p>
            <a:pPr eaLnBrk="1" hangingPunct="1">
              <a:spcBef>
                <a:spcPts val="600"/>
              </a:spcBef>
              <a:spcAft>
                <a:spcPts val="200"/>
              </a:spcAft>
            </a:pPr>
            <a:endParaRPr lang="en-US" sz="2400" smtClean="0"/>
          </a:p>
          <a:p>
            <a:pPr eaLnBrk="1" hangingPunct="1">
              <a:spcBef>
                <a:spcPts val="600"/>
              </a:spcBef>
              <a:spcAft>
                <a:spcPts val="200"/>
              </a:spcAft>
              <a:buFont typeface="Wingdings" pitchFamily="2" charset="2"/>
              <a:buNone/>
            </a:pPr>
            <a:r>
              <a:rPr lang="en-US" sz="2400" smtClean="0"/>
              <a:t>    		where </a:t>
            </a:r>
            <a:r>
              <a:rPr lang="en-US" sz="2400" i="1" smtClean="0"/>
              <a:t>p</a:t>
            </a:r>
            <a:r>
              <a:rPr lang="en-US" sz="2400" i="1" baseline="-25000" smtClean="0"/>
              <a:t>j</a:t>
            </a:r>
            <a:r>
              <a:rPr lang="en-US" sz="2400" smtClean="0"/>
              <a:t> is the relative frequency of class </a:t>
            </a:r>
            <a:r>
              <a:rPr lang="en-US" sz="2400" i="1" smtClean="0"/>
              <a:t>j</a:t>
            </a:r>
            <a:r>
              <a:rPr lang="en-US" sz="2400" smtClean="0"/>
              <a:t> in </a:t>
            </a:r>
            <a:r>
              <a:rPr lang="en-US" sz="2400" i="1" smtClean="0"/>
              <a:t>D</a:t>
            </a:r>
          </a:p>
          <a:p>
            <a:pPr eaLnBrk="1" hangingPunct="1">
              <a:spcBef>
                <a:spcPts val="600"/>
              </a:spcBef>
              <a:spcAft>
                <a:spcPts val="200"/>
              </a:spcAft>
            </a:pPr>
            <a:r>
              <a:rPr lang="en-US" sz="2400" smtClean="0"/>
              <a:t>If a data set </a:t>
            </a:r>
            <a:r>
              <a:rPr lang="en-US" sz="2400" i="1" smtClean="0"/>
              <a:t>D</a:t>
            </a:r>
            <a:r>
              <a:rPr lang="en-US" sz="2400" smtClean="0"/>
              <a:t>  is split on A into two subsets </a:t>
            </a:r>
            <a:r>
              <a:rPr lang="en-US" sz="2400" i="1" smtClean="0"/>
              <a:t>D</a:t>
            </a:r>
            <a:r>
              <a:rPr lang="en-US" sz="2400" i="1" baseline="-25000" smtClean="0"/>
              <a:t>1</a:t>
            </a:r>
            <a:r>
              <a:rPr lang="en-US" sz="2400" smtClean="0"/>
              <a:t> and </a:t>
            </a:r>
            <a:r>
              <a:rPr lang="en-US" sz="2400" i="1" smtClean="0"/>
              <a:t>D</a:t>
            </a:r>
            <a:r>
              <a:rPr lang="en-US" sz="2400" i="1" baseline="-25000" smtClean="0"/>
              <a:t>2</a:t>
            </a:r>
            <a:r>
              <a:rPr lang="en-US" sz="2400" smtClean="0"/>
              <a:t>, the </a:t>
            </a:r>
            <a:r>
              <a:rPr lang="en-US" sz="2400" i="1" smtClean="0"/>
              <a:t>gini</a:t>
            </a:r>
            <a:r>
              <a:rPr lang="en-US" sz="2400" smtClean="0"/>
              <a:t> index </a:t>
            </a:r>
            <a:r>
              <a:rPr lang="en-US" sz="2400" i="1" smtClean="0"/>
              <a:t>gini</a:t>
            </a:r>
            <a:r>
              <a:rPr lang="en-US" sz="2400" smtClean="0"/>
              <a:t>(</a:t>
            </a:r>
            <a:r>
              <a:rPr lang="en-US" sz="2400" i="1" smtClean="0"/>
              <a:t>D</a:t>
            </a:r>
            <a:r>
              <a:rPr lang="en-US" sz="2400" smtClean="0"/>
              <a:t>) is defined as</a:t>
            </a:r>
          </a:p>
          <a:p>
            <a:pPr eaLnBrk="1" hangingPunct="1">
              <a:spcBef>
                <a:spcPts val="600"/>
              </a:spcBef>
              <a:spcAft>
                <a:spcPts val="200"/>
              </a:spcAft>
            </a:pPr>
            <a:endParaRPr lang="en-US" sz="2400" smtClean="0"/>
          </a:p>
          <a:p>
            <a:pPr eaLnBrk="1" hangingPunct="1">
              <a:spcBef>
                <a:spcPts val="600"/>
              </a:spcBef>
              <a:spcAft>
                <a:spcPts val="200"/>
              </a:spcAft>
            </a:pPr>
            <a:r>
              <a:rPr lang="en-US" sz="2400" smtClean="0"/>
              <a:t>Reduction in Impurity:</a:t>
            </a:r>
          </a:p>
          <a:p>
            <a:pPr eaLnBrk="1" hangingPunct="1">
              <a:spcBef>
                <a:spcPts val="600"/>
              </a:spcBef>
              <a:spcAft>
                <a:spcPts val="200"/>
              </a:spcAft>
            </a:pPr>
            <a:endParaRPr lang="en-US" sz="2400" smtClean="0"/>
          </a:p>
          <a:p>
            <a:pPr eaLnBrk="1" hangingPunct="1">
              <a:spcBef>
                <a:spcPts val="600"/>
              </a:spcBef>
              <a:spcAft>
                <a:spcPts val="200"/>
              </a:spcAft>
            </a:pPr>
            <a:r>
              <a:rPr lang="en-US" sz="2400" smtClean="0"/>
              <a:t>The attribute provides the smallest </a:t>
            </a:r>
            <a:r>
              <a:rPr lang="en-US" sz="2400" i="1" smtClean="0"/>
              <a:t>gini</a:t>
            </a:r>
            <a:r>
              <a:rPr lang="en-US" sz="2400" i="1" baseline="-25000" smtClean="0"/>
              <a:t>split</a:t>
            </a:r>
            <a:r>
              <a:rPr lang="en-US" sz="2400" smtClean="0"/>
              <a:t>(</a:t>
            </a:r>
            <a:r>
              <a:rPr lang="en-US" sz="2400" i="1" smtClean="0"/>
              <a:t>D</a:t>
            </a:r>
            <a:r>
              <a:rPr lang="en-US" sz="2400" smtClean="0"/>
              <a:t>) (or the largest reduction in impurity) is chosen to split the node (</a:t>
            </a:r>
            <a:r>
              <a:rPr lang="en-US" sz="2400" i="1" smtClean="0">
                <a:solidFill>
                  <a:srgbClr val="CC0000"/>
                </a:solidFill>
              </a:rPr>
              <a:t>need to enumerate all the possible splitting points for each attribute</a:t>
            </a:r>
            <a:r>
              <a:rPr lang="en-US" sz="2400" smtClean="0"/>
              <a:t>)</a:t>
            </a:r>
          </a:p>
        </p:txBody>
      </p:sp>
      <p:graphicFrame>
        <p:nvGraphicFramePr>
          <p:cNvPr id="19461" name="Object 1024"/>
          <p:cNvGraphicFramePr>
            <a:graphicFrameLocks/>
          </p:cNvGraphicFramePr>
          <p:nvPr/>
        </p:nvGraphicFramePr>
        <p:xfrm>
          <a:off x="3886200" y="1828800"/>
          <a:ext cx="2895600" cy="838200"/>
        </p:xfrm>
        <a:graphic>
          <a:graphicData uri="http://schemas.openxmlformats.org/presentationml/2006/ole">
            <p:oleObj spid="_x0000_s229378" name="Equation" r:id="rId4" imgW="1777229" imgH="761669" progId="Equation.3">
              <p:embed/>
            </p:oleObj>
          </a:graphicData>
        </a:graphic>
      </p:graphicFrame>
      <p:graphicFrame>
        <p:nvGraphicFramePr>
          <p:cNvPr id="19462" name="Object 1025"/>
          <p:cNvGraphicFramePr>
            <a:graphicFrameLocks noChangeAspect="1"/>
          </p:cNvGraphicFramePr>
          <p:nvPr/>
        </p:nvGraphicFramePr>
        <p:xfrm>
          <a:off x="3124200" y="3717925"/>
          <a:ext cx="5703888" cy="854075"/>
        </p:xfrm>
        <a:graphic>
          <a:graphicData uri="http://schemas.openxmlformats.org/presentationml/2006/ole">
            <p:oleObj spid="_x0000_s229379" name="Equation" r:id="rId5" imgW="3441700" imgH="596900" progId="Equation.3">
              <p:embed/>
            </p:oleObj>
          </a:graphicData>
        </a:graphic>
      </p:graphicFrame>
      <p:graphicFrame>
        <p:nvGraphicFramePr>
          <p:cNvPr id="19463" name="Object 1026"/>
          <p:cNvGraphicFramePr>
            <a:graphicFrameLocks noChangeAspect="1"/>
          </p:cNvGraphicFramePr>
          <p:nvPr>
            <p:ph sz="half" idx="2"/>
          </p:nvPr>
        </p:nvGraphicFramePr>
        <p:xfrm>
          <a:off x="3657600" y="4811713"/>
          <a:ext cx="4618038" cy="522287"/>
        </p:xfrm>
        <a:graphic>
          <a:graphicData uri="http://schemas.openxmlformats.org/presentationml/2006/ole">
            <p:oleObj spid="_x0000_s229380" name="Equation" r:id="rId6" imgW="2692400" imgH="304800" progId="Equation.3">
              <p:embed/>
            </p:oleObj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</p:spPr>
        <p:txBody>
          <a:bodyPr/>
          <a:lstStyle/>
          <a:p>
            <a:fld id="{F32E2EB2-48CD-4578-BE28-E57A951D0857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20483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Computation of Gini Index </a:t>
            </a:r>
          </a:p>
        </p:txBody>
      </p:sp>
      <p:sp>
        <p:nvSpPr>
          <p:cNvPr id="20484" name="Rectangle 1027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95400"/>
            <a:ext cx="8686800" cy="5486400"/>
          </a:xfrm>
        </p:spPr>
        <p:txBody>
          <a:bodyPr/>
          <a:lstStyle/>
          <a:p>
            <a:pPr eaLnBrk="1" hangingPunct="1"/>
            <a:r>
              <a:rPr lang="en-US" sz="2400" dirty="0" smtClean="0"/>
              <a:t>Ex.  D has 9 </a:t>
            </a:r>
            <a:r>
              <a:rPr lang="en-US" sz="2400" dirty="0" err="1" smtClean="0"/>
              <a:t>tuples</a:t>
            </a:r>
            <a:r>
              <a:rPr lang="en-US" sz="2400" dirty="0" smtClean="0"/>
              <a:t> in </a:t>
            </a:r>
            <a:r>
              <a:rPr lang="en-US" sz="2400" dirty="0" err="1" smtClean="0"/>
              <a:t>buys_computer</a:t>
            </a:r>
            <a:r>
              <a:rPr lang="en-US" sz="2400" dirty="0" smtClean="0"/>
              <a:t> = “yes” and 5 in “no”</a:t>
            </a:r>
          </a:p>
          <a:p>
            <a:pPr eaLnBrk="1" hangingPunct="1"/>
            <a:endParaRPr lang="en-US" sz="2400" dirty="0" smtClean="0"/>
          </a:p>
          <a:p>
            <a:pPr eaLnBrk="1" hangingPunct="1"/>
            <a:r>
              <a:rPr lang="en-US" sz="2400" dirty="0" smtClean="0"/>
              <a:t>Suppose the attribute income partitions D into 10 in D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: {low, medium} and 4 in D</a:t>
            </a:r>
            <a:r>
              <a:rPr lang="en-US" sz="2400" baseline="-25000" dirty="0" smtClean="0"/>
              <a:t>2</a:t>
            </a:r>
          </a:p>
          <a:p>
            <a:pPr eaLnBrk="1" hangingPunct="1"/>
            <a:endParaRPr lang="en-US" sz="2400" dirty="0" smtClean="0"/>
          </a:p>
          <a:p>
            <a:pPr eaLnBrk="1" hangingPunct="1"/>
            <a:endParaRPr lang="en-US" sz="2400" dirty="0" smtClean="0"/>
          </a:p>
          <a:p>
            <a:pPr eaLnBrk="1" hangingPunct="1"/>
            <a:endParaRPr lang="en-US" sz="2400" dirty="0" smtClean="0"/>
          </a:p>
          <a:p>
            <a:pPr lvl="1" eaLnBrk="1" hangingPunct="1">
              <a:buFont typeface="Wingdings" pitchFamily="2" charset="2"/>
              <a:buNone/>
            </a:pPr>
            <a:r>
              <a:rPr lang="en-US" sz="2400" dirty="0" smtClean="0"/>
              <a:t> </a:t>
            </a:r>
            <a:r>
              <a:rPr lang="en-US" sz="2400" dirty="0" err="1" smtClean="0"/>
              <a:t>Gini</a:t>
            </a:r>
            <a:r>
              <a:rPr lang="en-US" sz="2400" baseline="-25000" dirty="0" smtClean="0"/>
              <a:t>{</a:t>
            </a:r>
            <a:r>
              <a:rPr lang="en-US" sz="2400" baseline="-25000" dirty="0" err="1" smtClean="0"/>
              <a:t>low,high</a:t>
            </a:r>
            <a:r>
              <a:rPr lang="en-US" sz="2400" baseline="-25000" dirty="0" smtClean="0"/>
              <a:t>}</a:t>
            </a:r>
            <a:r>
              <a:rPr lang="en-US" sz="2400" dirty="0" smtClean="0"/>
              <a:t> is 0.458; </a:t>
            </a:r>
            <a:r>
              <a:rPr lang="en-US" sz="2400" dirty="0" err="1" smtClean="0"/>
              <a:t>Gini</a:t>
            </a:r>
            <a:r>
              <a:rPr lang="en-US" sz="2400" baseline="-25000" dirty="0" smtClean="0"/>
              <a:t>{</a:t>
            </a:r>
            <a:r>
              <a:rPr lang="en-US" sz="2400" baseline="-25000" dirty="0" err="1" smtClean="0"/>
              <a:t>medium,high</a:t>
            </a:r>
            <a:r>
              <a:rPr lang="en-US" sz="2400" baseline="-25000" dirty="0" smtClean="0"/>
              <a:t>}</a:t>
            </a:r>
            <a:r>
              <a:rPr lang="en-US" sz="2400" dirty="0" smtClean="0"/>
              <a:t> is 0.450.  Thus, split on the {</a:t>
            </a:r>
            <a:r>
              <a:rPr lang="en-US" sz="2400" dirty="0" err="1" smtClean="0"/>
              <a:t>low,medium</a:t>
            </a:r>
            <a:r>
              <a:rPr lang="en-US" sz="2400" dirty="0" smtClean="0"/>
              <a:t>} (and {high}) since it has the lowest </a:t>
            </a:r>
            <a:r>
              <a:rPr lang="en-US" sz="2400" dirty="0" err="1" smtClean="0"/>
              <a:t>Gini</a:t>
            </a:r>
            <a:r>
              <a:rPr lang="en-US" sz="2400" dirty="0" smtClean="0"/>
              <a:t> index</a:t>
            </a:r>
          </a:p>
          <a:p>
            <a:pPr eaLnBrk="1" hangingPunct="1"/>
            <a:r>
              <a:rPr lang="en-US" sz="2400" dirty="0" smtClean="0"/>
              <a:t>All attributes are assumed continuous-valued</a:t>
            </a:r>
          </a:p>
          <a:p>
            <a:pPr eaLnBrk="1" hangingPunct="1"/>
            <a:r>
              <a:rPr lang="en-US" sz="2400" dirty="0" smtClean="0"/>
              <a:t>May need other tools, e.g., clustering, to get the possible split values</a:t>
            </a:r>
          </a:p>
        </p:txBody>
      </p:sp>
      <p:graphicFrame>
        <p:nvGraphicFramePr>
          <p:cNvPr id="20485" name="Object 2"/>
          <p:cNvGraphicFramePr>
            <a:graphicFrameLocks noChangeAspect="1"/>
          </p:cNvGraphicFramePr>
          <p:nvPr>
            <p:ph sz="quarter" idx="2"/>
          </p:nvPr>
        </p:nvGraphicFramePr>
        <p:xfrm>
          <a:off x="3810000" y="1600200"/>
          <a:ext cx="3581400" cy="787400"/>
        </p:xfrm>
        <a:graphic>
          <a:graphicData uri="http://schemas.openxmlformats.org/presentationml/2006/ole">
            <p:oleObj spid="_x0000_s230402" name="Equation" r:id="rId4" imgW="2222500" imgH="469900" progId="Equation.3">
              <p:embed/>
            </p:oleObj>
          </a:graphicData>
        </a:graphic>
      </p:graphicFrame>
      <p:graphicFrame>
        <p:nvGraphicFramePr>
          <p:cNvPr id="20486" name="Object 3"/>
          <p:cNvGraphicFramePr>
            <a:graphicFrameLocks noChangeAspect="1"/>
          </p:cNvGraphicFramePr>
          <p:nvPr/>
        </p:nvGraphicFramePr>
        <p:xfrm>
          <a:off x="3562350" y="2514600"/>
          <a:ext cx="5040313" cy="652463"/>
        </p:xfrm>
        <a:graphic>
          <a:graphicData uri="http://schemas.openxmlformats.org/presentationml/2006/ole">
            <p:oleObj spid="_x0000_s230403" name="Equation" r:id="rId5" imgW="3340100" imgH="431800" progId="Equation.3">
              <p:embed/>
            </p:oleObj>
          </a:graphicData>
        </a:graphic>
      </p:graphicFrame>
      <p:pic>
        <p:nvPicPr>
          <p:cNvPr id="20487" name="Picture 14" descr="8gini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114800" y="3124200"/>
            <a:ext cx="44196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04885"/>
            <a:ext cx="7772400" cy="1143000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23889" y="5310115"/>
            <a:ext cx="4237489" cy="757269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23889" y="1767559"/>
            <a:ext cx="2686038" cy="9001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23889" y="2868661"/>
            <a:ext cx="7554613" cy="185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46281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481198" y="1524000"/>
            <a:ext cx="9642783" cy="433981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10249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81000" y="626012"/>
            <a:ext cx="7164299" cy="2723271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5663" y="3500677"/>
            <a:ext cx="7792537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94904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8253</TotalTime>
  <Words>526</Words>
  <Application>Microsoft Office PowerPoint</Application>
  <PresentationFormat>On-screen Show (4:3)</PresentationFormat>
  <Paragraphs>120</Paragraphs>
  <Slides>21</Slides>
  <Notes>14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Default Design</vt:lpstr>
      <vt:lpstr>Equation</vt:lpstr>
      <vt:lpstr>Slide 1</vt:lpstr>
      <vt:lpstr>Information Gain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Gini Index (CART, IBM IntelligentMiner)</vt:lpstr>
      <vt:lpstr>Computation of Gini Index </vt:lpstr>
      <vt:lpstr>Slide 19</vt:lpstr>
      <vt:lpstr>Slide 20</vt:lpstr>
      <vt:lpstr>Slide 21</vt:lpstr>
    </vt:vector>
  </TitlesOfParts>
  <Company>RHfarm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Shariq</dc:creator>
  <cp:lastModifiedBy>pc</cp:lastModifiedBy>
  <cp:revision>481</cp:revision>
  <dcterms:created xsi:type="dcterms:W3CDTF">2006-02-06T02:43:57Z</dcterms:created>
  <dcterms:modified xsi:type="dcterms:W3CDTF">2020-06-25T11:51:36Z</dcterms:modified>
</cp:coreProperties>
</file>