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Default Extension="doc" ContentType="application/msword"/>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Layouts/slideLayout15.xml" ContentType="application/vnd.openxmlformats-officedocument.presentationml.slideLayout+xml"/>
  <Default Extension="wmf" ContentType="image/x-wmf"/>
  <Default Extension="xls" ContentType="application/vnd.ms-excel"/>
  <Override PartName="/ppt/notesSlides/notesSlide18.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59"/>
  </p:notesMasterIdLst>
  <p:sldIdLst>
    <p:sldId id="326" r:id="rId2"/>
    <p:sldId id="359" r:id="rId3"/>
    <p:sldId id="360" r:id="rId4"/>
    <p:sldId id="361" r:id="rId5"/>
    <p:sldId id="362" r:id="rId6"/>
    <p:sldId id="365" r:id="rId7"/>
    <p:sldId id="366" r:id="rId8"/>
    <p:sldId id="367" r:id="rId9"/>
    <p:sldId id="369" r:id="rId10"/>
    <p:sldId id="387" r:id="rId11"/>
    <p:sldId id="388" r:id="rId12"/>
    <p:sldId id="389" r:id="rId13"/>
    <p:sldId id="390" r:id="rId14"/>
    <p:sldId id="391" r:id="rId15"/>
    <p:sldId id="404" r:id="rId16"/>
    <p:sldId id="405" r:id="rId17"/>
    <p:sldId id="406" r:id="rId18"/>
    <p:sldId id="407" r:id="rId19"/>
    <p:sldId id="408" r:id="rId20"/>
    <p:sldId id="409" r:id="rId21"/>
    <p:sldId id="410" r:id="rId22"/>
    <p:sldId id="411" r:id="rId23"/>
    <p:sldId id="412" r:id="rId24"/>
    <p:sldId id="413" r:id="rId25"/>
    <p:sldId id="414" r:id="rId26"/>
    <p:sldId id="415" r:id="rId27"/>
    <p:sldId id="416" r:id="rId28"/>
    <p:sldId id="417" r:id="rId29"/>
    <p:sldId id="418" r:id="rId30"/>
    <p:sldId id="419" r:id="rId31"/>
    <p:sldId id="420" r:id="rId32"/>
    <p:sldId id="424" r:id="rId33"/>
    <p:sldId id="425" r:id="rId34"/>
    <p:sldId id="428" r:id="rId35"/>
    <p:sldId id="429" r:id="rId36"/>
    <p:sldId id="430" r:id="rId37"/>
    <p:sldId id="431" r:id="rId38"/>
    <p:sldId id="457" r:id="rId39"/>
    <p:sldId id="433" r:id="rId40"/>
    <p:sldId id="437" r:id="rId41"/>
    <p:sldId id="438" r:id="rId42"/>
    <p:sldId id="441" r:id="rId43"/>
    <p:sldId id="442" r:id="rId44"/>
    <p:sldId id="443" r:id="rId45"/>
    <p:sldId id="444" r:id="rId46"/>
    <p:sldId id="445" r:id="rId47"/>
    <p:sldId id="446" r:id="rId48"/>
    <p:sldId id="447" r:id="rId49"/>
    <p:sldId id="448" r:id="rId50"/>
    <p:sldId id="449" r:id="rId51"/>
    <p:sldId id="450" r:id="rId52"/>
    <p:sldId id="451" r:id="rId53"/>
    <p:sldId id="452" r:id="rId54"/>
    <p:sldId id="453" r:id="rId55"/>
    <p:sldId id="454" r:id="rId56"/>
    <p:sldId id="455" r:id="rId57"/>
    <p:sldId id="456" r:id="rId58"/>
  </p:sldIdLst>
  <p:sldSz cx="9144000" cy="6858000" type="screen4x3"/>
  <p:notesSz cx="6858000" cy="9144000"/>
  <p:defaultTextStyle>
    <a:defPPr>
      <a:defRPr lang="en-US"/>
    </a:defPPr>
    <a:lvl1pPr algn="ctr" rtl="0" fontAlgn="base">
      <a:spcBef>
        <a:spcPct val="0"/>
      </a:spcBef>
      <a:spcAft>
        <a:spcPct val="0"/>
      </a:spcAft>
      <a:defRPr b="1" kern="1200">
        <a:solidFill>
          <a:schemeClr val="tx1"/>
        </a:solidFill>
        <a:latin typeface="Arial" pitchFamily="34" charset="0"/>
        <a:ea typeface="+mn-ea"/>
        <a:cs typeface="Arial" pitchFamily="34" charset="0"/>
      </a:defRPr>
    </a:lvl1pPr>
    <a:lvl2pPr marL="457200" algn="ctr" rtl="0" fontAlgn="base">
      <a:spcBef>
        <a:spcPct val="0"/>
      </a:spcBef>
      <a:spcAft>
        <a:spcPct val="0"/>
      </a:spcAft>
      <a:defRPr b="1" kern="1200">
        <a:solidFill>
          <a:schemeClr val="tx1"/>
        </a:solidFill>
        <a:latin typeface="Arial" pitchFamily="34" charset="0"/>
        <a:ea typeface="+mn-ea"/>
        <a:cs typeface="Arial" pitchFamily="34" charset="0"/>
      </a:defRPr>
    </a:lvl2pPr>
    <a:lvl3pPr marL="914400" algn="ctr" rtl="0" fontAlgn="base">
      <a:spcBef>
        <a:spcPct val="0"/>
      </a:spcBef>
      <a:spcAft>
        <a:spcPct val="0"/>
      </a:spcAft>
      <a:defRPr b="1" kern="1200">
        <a:solidFill>
          <a:schemeClr val="tx1"/>
        </a:solidFill>
        <a:latin typeface="Arial" pitchFamily="34" charset="0"/>
        <a:ea typeface="+mn-ea"/>
        <a:cs typeface="Arial" pitchFamily="34" charset="0"/>
      </a:defRPr>
    </a:lvl3pPr>
    <a:lvl4pPr marL="1371600" algn="ctr" rtl="0" fontAlgn="base">
      <a:spcBef>
        <a:spcPct val="0"/>
      </a:spcBef>
      <a:spcAft>
        <a:spcPct val="0"/>
      </a:spcAft>
      <a:defRPr b="1" kern="1200">
        <a:solidFill>
          <a:schemeClr val="tx1"/>
        </a:solidFill>
        <a:latin typeface="Arial" pitchFamily="34" charset="0"/>
        <a:ea typeface="+mn-ea"/>
        <a:cs typeface="Arial" pitchFamily="34" charset="0"/>
      </a:defRPr>
    </a:lvl4pPr>
    <a:lvl5pPr marL="1828800" algn="ctr" rtl="0" fontAlgn="base">
      <a:spcBef>
        <a:spcPct val="0"/>
      </a:spcBef>
      <a:spcAft>
        <a:spcPct val="0"/>
      </a:spcAft>
      <a:defRPr b="1" kern="1200">
        <a:solidFill>
          <a:schemeClr val="tx1"/>
        </a:solidFill>
        <a:latin typeface="Arial" pitchFamily="34" charset="0"/>
        <a:ea typeface="+mn-ea"/>
        <a:cs typeface="Arial" pitchFamily="34" charset="0"/>
      </a:defRPr>
    </a:lvl5pPr>
    <a:lvl6pPr marL="2286000" algn="l" defTabSz="914400" rtl="0" eaLnBrk="1" latinLnBrk="0" hangingPunct="1">
      <a:defRPr b="1" kern="1200">
        <a:solidFill>
          <a:schemeClr val="tx1"/>
        </a:solidFill>
        <a:latin typeface="Arial" pitchFamily="34" charset="0"/>
        <a:ea typeface="+mn-ea"/>
        <a:cs typeface="Arial" pitchFamily="34" charset="0"/>
      </a:defRPr>
    </a:lvl6pPr>
    <a:lvl7pPr marL="2743200" algn="l" defTabSz="914400" rtl="0" eaLnBrk="1" latinLnBrk="0" hangingPunct="1">
      <a:defRPr b="1" kern="1200">
        <a:solidFill>
          <a:schemeClr val="tx1"/>
        </a:solidFill>
        <a:latin typeface="Arial" pitchFamily="34" charset="0"/>
        <a:ea typeface="+mn-ea"/>
        <a:cs typeface="Arial" pitchFamily="34" charset="0"/>
      </a:defRPr>
    </a:lvl7pPr>
    <a:lvl8pPr marL="3200400" algn="l" defTabSz="914400" rtl="0" eaLnBrk="1" latinLnBrk="0" hangingPunct="1">
      <a:defRPr b="1" kern="1200">
        <a:solidFill>
          <a:schemeClr val="tx1"/>
        </a:solidFill>
        <a:latin typeface="Arial" pitchFamily="34" charset="0"/>
        <a:ea typeface="+mn-ea"/>
        <a:cs typeface="Arial" pitchFamily="34" charset="0"/>
      </a:defRPr>
    </a:lvl8pPr>
    <a:lvl9pPr marL="3657600" algn="l" defTabSz="914400" rtl="0" eaLnBrk="1" latinLnBrk="0" hangingPunct="1">
      <a:defRPr b="1" kern="1200">
        <a:solidFill>
          <a:schemeClr val="tx1"/>
        </a:solidFill>
        <a:latin typeface="Arial" pitchFamily="34" charset="0"/>
        <a:ea typeface="+mn-ea"/>
        <a:cs typeface="Arial" pitchFamily="34"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66"/>
    <a:srgbClr val="FF3399"/>
    <a:srgbClr val="FF3300"/>
    <a:srgbClr val="0000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0909" autoAdjust="0"/>
  </p:normalViewPr>
  <p:slideViewPr>
    <p:cSldViewPr>
      <p:cViewPr varScale="1">
        <p:scale>
          <a:sx n="66" d="100"/>
          <a:sy n="66" d="100"/>
        </p:scale>
        <p:origin x="-1488"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59.emf"/><Relationship Id="rId3" Type="http://schemas.openxmlformats.org/officeDocument/2006/relationships/image" Target="../media/image54.emf"/><Relationship Id="rId7" Type="http://schemas.openxmlformats.org/officeDocument/2006/relationships/image" Target="../media/image58.emf"/><Relationship Id="rId2" Type="http://schemas.openxmlformats.org/officeDocument/2006/relationships/image" Target="../media/image53.emf"/><Relationship Id="rId1" Type="http://schemas.openxmlformats.org/officeDocument/2006/relationships/image" Target="../media/image52.emf"/><Relationship Id="rId6" Type="http://schemas.openxmlformats.org/officeDocument/2006/relationships/image" Target="../media/image57.emf"/><Relationship Id="rId5" Type="http://schemas.openxmlformats.org/officeDocument/2006/relationships/image" Target="../media/image56.emf"/><Relationship Id="rId4" Type="http://schemas.openxmlformats.org/officeDocument/2006/relationships/image" Target="../media/image5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b="0">
                <a:latin typeface="Arial" charset="0"/>
                <a:cs typeface="Arial" charset="0"/>
              </a:defRPr>
            </a:lvl1pPr>
          </a:lstStyle>
          <a:p>
            <a:pPr>
              <a:defRPr/>
            </a:pPr>
            <a:endParaRPr lang="en-US"/>
          </a:p>
        </p:txBody>
      </p:sp>
      <p:sp>
        <p:nvSpPr>
          <p:cNvPr id="92163" name="Rectangle 3"/>
          <p:cNvSpPr>
            <a:spLocks noGrp="1" noChangeArrowheads="1"/>
          </p:cNvSpPr>
          <p:nvPr>
            <p:ph type="dt"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b="0">
                <a:latin typeface="Arial" charset="0"/>
                <a:cs typeface="Arial" charset="0"/>
              </a:defRPr>
            </a:lvl1pPr>
          </a:lstStyle>
          <a:p>
            <a:pPr>
              <a:defRPr/>
            </a:pPr>
            <a:endParaRPr lang="en-US"/>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92165" name="Rectangle 5"/>
          <p:cNvSpPr>
            <a:spLocks noGrp="1" noChangeArrowheads="1"/>
          </p:cNvSpPr>
          <p:nvPr>
            <p:ph type="body" sz="quarter" idx="3"/>
          </p:nvPr>
        </p:nvSpPr>
        <p:spPr bwMode="auto">
          <a:xfrm>
            <a:off x="685800" y="4343400"/>
            <a:ext cx="54864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2166" name="Rectangle 6"/>
          <p:cNvSpPr>
            <a:spLocks noGrp="1" noChangeArrowheads="1"/>
          </p:cNvSpPr>
          <p:nvPr>
            <p:ph type="ftr" sz="quarter" idx="4"/>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b="0">
                <a:latin typeface="Arial" charset="0"/>
                <a:cs typeface="Arial" charset="0"/>
              </a:defRPr>
            </a:lvl1pPr>
          </a:lstStyle>
          <a:p>
            <a:pPr>
              <a:defRPr/>
            </a:pPr>
            <a:endParaRPr lang="en-US"/>
          </a:p>
        </p:txBody>
      </p:sp>
      <p:sp>
        <p:nvSpPr>
          <p:cNvPr id="92167" name="Rectangle 7"/>
          <p:cNvSpPr>
            <a:spLocks noGrp="1" noChangeArrowheads="1"/>
          </p:cNvSpPr>
          <p:nvPr>
            <p:ph type="sldNum" sz="quarter" idx="5"/>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b="0">
                <a:latin typeface="Arial" charset="0"/>
                <a:cs typeface="Arial" charset="0"/>
              </a:defRPr>
            </a:lvl1pPr>
          </a:lstStyle>
          <a:p>
            <a:pPr>
              <a:defRPr/>
            </a:pPr>
            <a:fld id="{4BAC4160-D9F3-45E2-9DE0-B8B505BD6EB4}" type="slidenum">
              <a:rPr lang="en-US"/>
              <a:pPr>
                <a:defRPr/>
              </a:pPr>
              <a:t>‹#›</a:t>
            </a:fld>
            <a:endParaRPr lang="en-US"/>
          </a:p>
        </p:txBody>
      </p:sp>
    </p:spTree>
    <p:extLst>
      <p:ext uri="{BB962C8B-B14F-4D97-AF65-F5344CB8AC3E}">
        <p14:creationId xmlns="" xmlns:p14="http://schemas.microsoft.com/office/powerpoint/2010/main" val="11435133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mnemstudio.org/clustering-k-means-example-1.htm"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miter lim="800000"/>
            <a:headEnd/>
            <a:tailEnd/>
          </a:ln>
        </p:spPr>
        <p:txBody>
          <a:bodyPr/>
          <a:lstStyle/>
          <a:p>
            <a:fld id="{395B799E-8931-4162-B505-68AEEEF98DB2}" type="slidenum">
              <a:rPr lang="en-US" smtClean="0">
                <a:latin typeface="Arial" pitchFamily="34" charset="0"/>
                <a:cs typeface="Arial" pitchFamily="34" charset="0"/>
              </a:rPr>
              <a:pPr/>
              <a:t>1</a:t>
            </a:fld>
            <a:endParaRPr lang="en-US" smtClean="0">
              <a:latin typeface="Arial" pitchFamily="34" charset="0"/>
              <a:cs typeface="Arial"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endParaRPr lang="en-US" smtClean="0">
              <a:latin typeface="Arial" pitchFamily="34" charset="0"/>
            </a:endParaRPr>
          </a:p>
        </p:txBody>
      </p:sp>
    </p:spTree>
    <p:extLst>
      <p:ext uri="{BB962C8B-B14F-4D97-AF65-F5344CB8AC3E}">
        <p14:creationId xmlns="" xmlns:p14="http://schemas.microsoft.com/office/powerpoint/2010/main" val="2224378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ECE71D-2F85-49E3-9307-7C6199EA4892}" type="slidenum">
              <a:rPr lang="en-US"/>
              <a:pPr/>
              <a:t>2</a:t>
            </a:fld>
            <a:endParaRPr lang="en-US"/>
          </a:p>
        </p:txBody>
      </p:sp>
      <p:sp>
        <p:nvSpPr>
          <p:cNvPr id="499714" name="Rectangle 2"/>
          <p:cNvSpPr>
            <a:spLocks noGrp="1" noRot="1" noChangeAspect="1" noChangeArrowheads="1" noTextEdit="1"/>
          </p:cNvSpPr>
          <p:nvPr>
            <p:ph type="sldImg"/>
          </p:nvPr>
        </p:nvSpPr>
        <p:spPr>
          <a:ln/>
        </p:spPr>
      </p:sp>
      <p:sp>
        <p:nvSpPr>
          <p:cNvPr id="499715" name="Rectangle 3"/>
          <p:cNvSpPr>
            <a:spLocks noGrp="1" noChangeArrowheads="1"/>
          </p:cNvSpPr>
          <p:nvPr>
            <p:ph type="body" idx="1"/>
          </p:nvPr>
        </p:nvSpPr>
        <p:spPr/>
        <p:txBody>
          <a:bodyPr/>
          <a:lstStyle/>
          <a:p>
            <a:endParaRPr lang="en-US"/>
          </a:p>
        </p:txBody>
      </p:sp>
    </p:spTree>
    <p:extLst>
      <p:ext uri="{BB962C8B-B14F-4D97-AF65-F5344CB8AC3E}">
        <p14:creationId xmlns="" xmlns:p14="http://schemas.microsoft.com/office/powerpoint/2010/main" val="1645964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C5BC51-84BE-4853-8367-A56B3B65C84E}" type="slidenum">
              <a:rPr lang="en-US"/>
              <a:pPr/>
              <a:t>3</a:t>
            </a:fld>
            <a:endParaRPr lang="en-US"/>
          </a:p>
        </p:txBody>
      </p:sp>
      <p:sp>
        <p:nvSpPr>
          <p:cNvPr id="505858" name="Rectangle 2"/>
          <p:cNvSpPr>
            <a:spLocks noGrp="1" noRot="1" noChangeAspect="1" noChangeArrowheads="1" noTextEdit="1"/>
          </p:cNvSpPr>
          <p:nvPr>
            <p:ph type="sldImg"/>
          </p:nvPr>
        </p:nvSpPr>
        <p:spPr>
          <a:ln/>
        </p:spPr>
      </p:sp>
      <p:sp>
        <p:nvSpPr>
          <p:cNvPr id="505859" name="Rectangle 3"/>
          <p:cNvSpPr>
            <a:spLocks noGrp="1" noChangeArrowheads="1"/>
          </p:cNvSpPr>
          <p:nvPr>
            <p:ph type="body" idx="1"/>
          </p:nvPr>
        </p:nvSpPr>
        <p:spPr/>
        <p:txBody>
          <a:bodyPr/>
          <a:lstStyle/>
          <a:p>
            <a:endParaRPr lang="en-US"/>
          </a:p>
        </p:txBody>
      </p:sp>
    </p:spTree>
    <p:extLst>
      <p:ext uri="{BB962C8B-B14F-4D97-AF65-F5344CB8AC3E}">
        <p14:creationId xmlns="" xmlns:p14="http://schemas.microsoft.com/office/powerpoint/2010/main" val="2141363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53E7FB-C9D9-42FA-A49C-F517502D3957}" type="slidenum">
              <a:rPr lang="en-US"/>
              <a:pPr/>
              <a:t>4</a:t>
            </a:fld>
            <a:endParaRPr lang="en-US"/>
          </a:p>
        </p:txBody>
      </p:sp>
      <p:sp>
        <p:nvSpPr>
          <p:cNvPr id="507906" name="Rectangle 2"/>
          <p:cNvSpPr>
            <a:spLocks noGrp="1" noRot="1" noChangeAspect="1" noChangeArrowheads="1" noTextEdit="1"/>
          </p:cNvSpPr>
          <p:nvPr>
            <p:ph type="sldImg"/>
          </p:nvPr>
        </p:nvSpPr>
        <p:spPr>
          <a:ln/>
        </p:spPr>
      </p:sp>
      <p:sp>
        <p:nvSpPr>
          <p:cNvPr id="507907" name="Rectangle 3"/>
          <p:cNvSpPr>
            <a:spLocks noGrp="1" noChangeArrowheads="1"/>
          </p:cNvSpPr>
          <p:nvPr>
            <p:ph type="body" idx="1"/>
          </p:nvPr>
        </p:nvSpPr>
        <p:spPr/>
        <p:txBody>
          <a:bodyPr/>
          <a:lstStyle/>
          <a:p>
            <a:endParaRPr lang="en-US"/>
          </a:p>
        </p:txBody>
      </p:sp>
    </p:spTree>
    <p:extLst>
      <p:ext uri="{BB962C8B-B14F-4D97-AF65-F5344CB8AC3E}">
        <p14:creationId xmlns="" xmlns:p14="http://schemas.microsoft.com/office/powerpoint/2010/main" val="2670784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F18D9B-A74B-4442-BD0A-90507435C2D2}" type="slidenum">
              <a:rPr lang="en-US"/>
              <a:pPr/>
              <a:t>5</a:t>
            </a:fld>
            <a:endParaRPr lang="en-US"/>
          </a:p>
        </p:txBody>
      </p:sp>
      <p:sp>
        <p:nvSpPr>
          <p:cNvPr id="509954" name="Rectangle 2"/>
          <p:cNvSpPr>
            <a:spLocks noGrp="1" noRot="1" noChangeAspect="1" noChangeArrowheads="1" noTextEdit="1"/>
          </p:cNvSpPr>
          <p:nvPr>
            <p:ph type="sldImg"/>
          </p:nvPr>
        </p:nvSpPr>
        <p:spPr>
          <a:ln/>
        </p:spPr>
      </p:sp>
      <p:sp>
        <p:nvSpPr>
          <p:cNvPr id="509955" name="Rectangle 3"/>
          <p:cNvSpPr>
            <a:spLocks noGrp="1" noChangeArrowheads="1"/>
          </p:cNvSpPr>
          <p:nvPr>
            <p:ph type="body" idx="1"/>
          </p:nvPr>
        </p:nvSpPr>
        <p:spPr/>
        <p:txBody>
          <a:bodyPr/>
          <a:lstStyle/>
          <a:p>
            <a:endParaRPr lang="en-US"/>
          </a:p>
        </p:txBody>
      </p:sp>
    </p:spTree>
    <p:extLst>
      <p:ext uri="{BB962C8B-B14F-4D97-AF65-F5344CB8AC3E}">
        <p14:creationId xmlns="" xmlns:p14="http://schemas.microsoft.com/office/powerpoint/2010/main" val="2196485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11FCE7-43A3-492F-B0CD-B38133B9AD02}" type="slidenum">
              <a:rPr lang="en-US"/>
              <a:pPr/>
              <a:t>6</a:t>
            </a:fld>
            <a:endParaRPr lang="en-US"/>
          </a:p>
        </p:txBody>
      </p:sp>
      <p:sp>
        <p:nvSpPr>
          <p:cNvPr id="516098" name="Rectangle 2"/>
          <p:cNvSpPr>
            <a:spLocks noGrp="1" noRot="1" noChangeAspect="1" noChangeArrowheads="1" noTextEdit="1"/>
          </p:cNvSpPr>
          <p:nvPr>
            <p:ph type="sldImg"/>
          </p:nvPr>
        </p:nvSpPr>
        <p:spPr>
          <a:ln/>
        </p:spPr>
      </p:sp>
      <p:sp>
        <p:nvSpPr>
          <p:cNvPr id="516099" name="Rectangle 3"/>
          <p:cNvSpPr>
            <a:spLocks noGrp="1" noChangeArrowheads="1"/>
          </p:cNvSpPr>
          <p:nvPr>
            <p:ph type="body" idx="1"/>
          </p:nvPr>
        </p:nvSpPr>
        <p:spPr/>
        <p:txBody>
          <a:bodyPr/>
          <a:lstStyle/>
          <a:p>
            <a:endParaRPr lang="en-US"/>
          </a:p>
        </p:txBody>
      </p:sp>
    </p:spTree>
    <p:extLst>
      <p:ext uri="{BB962C8B-B14F-4D97-AF65-F5344CB8AC3E}">
        <p14:creationId xmlns="" xmlns:p14="http://schemas.microsoft.com/office/powerpoint/2010/main" val="3431990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6662FD-4FA5-4A16-977F-4C194BE1E9CB}" type="slidenum">
              <a:rPr lang="en-US"/>
              <a:pPr/>
              <a:t>7</a:t>
            </a:fld>
            <a:endParaRPr lang="en-US"/>
          </a:p>
        </p:txBody>
      </p:sp>
      <p:sp>
        <p:nvSpPr>
          <p:cNvPr id="518146" name="Rectangle 2"/>
          <p:cNvSpPr>
            <a:spLocks noGrp="1" noRot="1" noChangeAspect="1" noChangeArrowheads="1" noTextEdit="1"/>
          </p:cNvSpPr>
          <p:nvPr>
            <p:ph type="sldImg"/>
          </p:nvPr>
        </p:nvSpPr>
        <p:spPr>
          <a:ln/>
        </p:spPr>
      </p:sp>
      <p:sp>
        <p:nvSpPr>
          <p:cNvPr id="518147" name="Rectangle 3"/>
          <p:cNvSpPr>
            <a:spLocks noGrp="1" noChangeArrowheads="1"/>
          </p:cNvSpPr>
          <p:nvPr>
            <p:ph type="body" idx="1"/>
          </p:nvPr>
        </p:nvSpPr>
        <p:spPr/>
        <p:txBody>
          <a:bodyPr/>
          <a:lstStyle/>
          <a:p>
            <a:endParaRPr lang="en-US"/>
          </a:p>
        </p:txBody>
      </p:sp>
    </p:spTree>
    <p:extLst>
      <p:ext uri="{BB962C8B-B14F-4D97-AF65-F5344CB8AC3E}">
        <p14:creationId xmlns="" xmlns:p14="http://schemas.microsoft.com/office/powerpoint/2010/main" val="964131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3F11C8-E96E-48B4-ADCA-F91D54C153A9}" type="slidenum">
              <a:rPr lang="en-US"/>
              <a:pPr/>
              <a:t>8</a:t>
            </a:fld>
            <a:endParaRPr lang="en-US"/>
          </a:p>
        </p:txBody>
      </p:sp>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en-US"/>
          </a:p>
        </p:txBody>
      </p:sp>
    </p:spTree>
    <p:extLst>
      <p:ext uri="{BB962C8B-B14F-4D97-AF65-F5344CB8AC3E}">
        <p14:creationId xmlns="" xmlns:p14="http://schemas.microsoft.com/office/powerpoint/2010/main" val="2953077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BA1AE8C2-2E58-4ECE-892D-9619A598F24F}" type="slidenum">
              <a:rPr lang="en-US"/>
              <a:pPr/>
              <a:t>10</a:t>
            </a:fld>
            <a:endParaRPr lang="en-US"/>
          </a:p>
        </p:txBody>
      </p:sp>
    </p:spTree>
    <p:extLst>
      <p:ext uri="{BB962C8B-B14F-4D97-AF65-F5344CB8AC3E}">
        <p14:creationId xmlns="" xmlns:p14="http://schemas.microsoft.com/office/powerpoint/2010/main" val="4097505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http://mnemstudio.org/clustering-k-means-example-1.htm</a:t>
            </a:r>
            <a:endParaRPr lang="en-US" dirty="0"/>
          </a:p>
        </p:txBody>
      </p:sp>
      <p:sp>
        <p:nvSpPr>
          <p:cNvPr id="4" name="Slide Number Placeholder 3"/>
          <p:cNvSpPr>
            <a:spLocks noGrp="1"/>
          </p:cNvSpPr>
          <p:nvPr>
            <p:ph type="sldNum" sz="quarter" idx="10"/>
          </p:nvPr>
        </p:nvSpPr>
        <p:spPr/>
        <p:txBody>
          <a:bodyPr/>
          <a:lstStyle/>
          <a:p>
            <a:pPr>
              <a:defRPr/>
            </a:pPr>
            <a:fld id="{4BAC4160-D9F3-45E2-9DE0-B8B505BD6EB4}" type="slidenum">
              <a:rPr lang="en-US" smtClean="0"/>
              <a:pPr>
                <a:defRPr/>
              </a:pPr>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C25D5D-0E46-41B1-BF30-442C6D9AD221}" type="slidenum">
              <a:rPr lang="zh-CN" altLang="en-US"/>
              <a:pPr/>
              <a:t>40</a:t>
            </a:fld>
            <a:endParaRPr lang="en-US" altLang="zh-CN"/>
          </a:p>
        </p:txBody>
      </p:sp>
      <p:sp>
        <p:nvSpPr>
          <p:cNvPr id="1555458" name="Rectangle 2"/>
          <p:cNvSpPr>
            <a:spLocks noGrp="1" noRot="1" noChangeAspect="1" noChangeArrowheads="1" noTextEdit="1"/>
          </p:cNvSpPr>
          <p:nvPr>
            <p:ph type="sldImg"/>
          </p:nvPr>
        </p:nvSpPr>
        <p:spPr>
          <a:ln/>
        </p:spPr>
      </p:sp>
      <p:sp>
        <p:nvSpPr>
          <p:cNvPr id="1555459" name="Rectangle 3"/>
          <p:cNvSpPr>
            <a:spLocks noGrp="1" noChangeArrowheads="1"/>
          </p:cNvSpPr>
          <p:nvPr>
            <p:ph type="body" idx="1"/>
          </p:nvPr>
        </p:nvSpPr>
        <p:spPr/>
        <p:txBody>
          <a:bodyPr/>
          <a:lstStyle/>
          <a:p>
            <a:pPr>
              <a:lnSpc>
                <a:spcPct val="90000"/>
              </a:lnSpc>
            </a:pPr>
            <a:endParaRPr lang="en-US"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6DF79D-CB81-4DFE-B627-7C5C9129EF71}" type="slidenum">
              <a:rPr lang="zh-CN" altLang="en-US"/>
              <a:pPr/>
              <a:t>41</a:t>
            </a:fld>
            <a:endParaRPr lang="en-US" altLang="zh-CN"/>
          </a:p>
        </p:txBody>
      </p:sp>
      <p:sp>
        <p:nvSpPr>
          <p:cNvPr id="1556482" name="Rectangle 2"/>
          <p:cNvSpPr>
            <a:spLocks noGrp="1" noRot="1" noChangeAspect="1" noChangeArrowheads="1" noTextEdit="1"/>
          </p:cNvSpPr>
          <p:nvPr>
            <p:ph type="sldImg"/>
          </p:nvPr>
        </p:nvSpPr>
        <p:spPr>
          <a:ln/>
        </p:spPr>
      </p:sp>
      <p:sp>
        <p:nvSpPr>
          <p:cNvPr id="1556483" name="Rectangle 3"/>
          <p:cNvSpPr>
            <a:spLocks noGrp="1" noChangeArrowheads="1"/>
          </p:cNvSpPr>
          <p:nvPr>
            <p:ph type="body" idx="1"/>
          </p:nvPr>
        </p:nvSpPr>
        <p:spPr/>
        <p:txBody>
          <a:bodyPr/>
          <a:lstStyle/>
          <a:p>
            <a:pPr>
              <a:lnSpc>
                <a:spcPct val="90000"/>
              </a:lnSpc>
            </a:pP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4D2150-73F9-4393-AEF4-DB1917E5B372}" type="slidenum">
              <a:rPr lang="zh-CN" altLang="en-US"/>
              <a:pPr/>
              <a:t>42</a:t>
            </a:fld>
            <a:endParaRPr lang="en-US" altLang="zh-CN"/>
          </a:p>
        </p:txBody>
      </p:sp>
      <p:sp>
        <p:nvSpPr>
          <p:cNvPr id="1557506" name="Rectangle 2"/>
          <p:cNvSpPr>
            <a:spLocks noGrp="1" noRot="1" noChangeAspect="1" noChangeArrowheads="1" noTextEdit="1"/>
          </p:cNvSpPr>
          <p:nvPr>
            <p:ph type="sldImg"/>
          </p:nvPr>
        </p:nvSpPr>
        <p:spPr>
          <a:ln/>
        </p:spPr>
      </p:sp>
      <p:sp>
        <p:nvSpPr>
          <p:cNvPr id="1557507" name="Rectangle 3"/>
          <p:cNvSpPr>
            <a:spLocks noGrp="1" noChangeArrowheads="1"/>
          </p:cNvSpPr>
          <p:nvPr>
            <p:ph type="body" idx="1"/>
          </p:nvPr>
        </p:nvSpPr>
        <p:spPr/>
        <p:txBody>
          <a:bodyPr/>
          <a:lstStyle/>
          <a:p>
            <a:pPr>
              <a:lnSpc>
                <a:spcPct val="90000"/>
              </a:lnSpc>
            </a:pPr>
            <a:endParaRPr lang="en-US"/>
          </a:p>
        </p:txBody>
      </p:sp>
    </p:spTree>
    <p:extLst>
      <p:ext uri="{BB962C8B-B14F-4D97-AF65-F5344CB8AC3E}">
        <p14:creationId xmlns="" xmlns:p14="http://schemas.microsoft.com/office/powerpoint/2010/main" val="2848265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C1C203-100B-410A-8FB1-EC7C0499C3A4}" type="slidenum">
              <a:rPr lang="zh-CN" altLang="en-US"/>
              <a:pPr/>
              <a:t>43</a:t>
            </a:fld>
            <a:endParaRPr lang="en-US" altLang="zh-CN"/>
          </a:p>
        </p:txBody>
      </p:sp>
      <p:sp>
        <p:nvSpPr>
          <p:cNvPr id="1558530" name="Rectangle 2"/>
          <p:cNvSpPr>
            <a:spLocks noGrp="1" noRot="1" noChangeAspect="1" noChangeArrowheads="1" noTextEdit="1"/>
          </p:cNvSpPr>
          <p:nvPr>
            <p:ph type="sldImg"/>
          </p:nvPr>
        </p:nvSpPr>
        <p:spPr>
          <a:ln/>
        </p:spPr>
      </p:sp>
      <p:sp>
        <p:nvSpPr>
          <p:cNvPr id="1558531" name="Rectangle 3"/>
          <p:cNvSpPr>
            <a:spLocks noGrp="1" noChangeArrowheads="1"/>
          </p:cNvSpPr>
          <p:nvPr>
            <p:ph type="body" idx="1"/>
          </p:nvPr>
        </p:nvSpPr>
        <p:spPr/>
        <p:txBody>
          <a:bodyPr/>
          <a:lstStyle/>
          <a:p>
            <a:pPr>
              <a:lnSpc>
                <a:spcPct val="90000"/>
              </a:lnSpc>
            </a:pPr>
            <a:endParaRPr lang="en-US"/>
          </a:p>
        </p:txBody>
      </p:sp>
    </p:spTree>
    <p:extLst>
      <p:ext uri="{BB962C8B-B14F-4D97-AF65-F5344CB8AC3E}">
        <p14:creationId xmlns="" xmlns:p14="http://schemas.microsoft.com/office/powerpoint/2010/main" val="3578265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EBF9D4-AAA7-41DF-B46F-96A3A97D3384}" type="slidenum">
              <a:rPr lang="zh-CN" altLang="en-US"/>
              <a:pPr/>
              <a:t>44</a:t>
            </a:fld>
            <a:endParaRPr lang="en-US" altLang="zh-CN"/>
          </a:p>
        </p:txBody>
      </p:sp>
      <p:sp>
        <p:nvSpPr>
          <p:cNvPr id="1560578" name="Rectangle 2"/>
          <p:cNvSpPr>
            <a:spLocks noGrp="1" noRot="1" noChangeAspect="1" noChangeArrowheads="1" noTextEdit="1"/>
          </p:cNvSpPr>
          <p:nvPr>
            <p:ph type="sldImg"/>
          </p:nvPr>
        </p:nvSpPr>
        <p:spPr>
          <a:ln/>
        </p:spPr>
      </p:sp>
      <p:sp>
        <p:nvSpPr>
          <p:cNvPr id="1560579" name="Rectangle 3"/>
          <p:cNvSpPr>
            <a:spLocks noGrp="1" noChangeArrowheads="1"/>
          </p:cNvSpPr>
          <p:nvPr>
            <p:ph type="body" idx="1"/>
          </p:nvPr>
        </p:nvSpPr>
        <p:spPr/>
        <p:txBody>
          <a:bodyPr/>
          <a:lstStyle/>
          <a:p>
            <a:pPr>
              <a:lnSpc>
                <a:spcPct val="80000"/>
              </a:lnSpc>
            </a:pPr>
            <a:endParaRPr lang="en-US" sz="1000"/>
          </a:p>
        </p:txBody>
      </p:sp>
    </p:spTree>
    <p:extLst>
      <p:ext uri="{BB962C8B-B14F-4D97-AF65-F5344CB8AC3E}">
        <p14:creationId xmlns="" xmlns:p14="http://schemas.microsoft.com/office/powerpoint/2010/main" val="1087915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F5AB3E-608C-48A8-B14A-168642DCF052}" type="slidenum">
              <a:rPr lang="zh-CN" altLang="en-US"/>
              <a:pPr/>
              <a:t>45</a:t>
            </a:fld>
            <a:endParaRPr lang="en-US" altLang="zh-CN"/>
          </a:p>
        </p:txBody>
      </p:sp>
      <p:sp>
        <p:nvSpPr>
          <p:cNvPr id="1561602" name="Rectangle 2"/>
          <p:cNvSpPr>
            <a:spLocks noGrp="1" noRot="1" noChangeAspect="1" noChangeArrowheads="1" noTextEdit="1"/>
          </p:cNvSpPr>
          <p:nvPr>
            <p:ph type="sldImg"/>
          </p:nvPr>
        </p:nvSpPr>
        <p:spPr>
          <a:ln/>
        </p:spPr>
      </p:sp>
      <p:sp>
        <p:nvSpPr>
          <p:cNvPr id="1561603" name="Rectangle 3"/>
          <p:cNvSpPr>
            <a:spLocks noGrp="1" noChangeArrowheads="1"/>
          </p:cNvSpPr>
          <p:nvPr>
            <p:ph type="body" idx="1"/>
          </p:nvPr>
        </p:nvSpPr>
        <p:spPr/>
        <p:txBody>
          <a:bodyPr/>
          <a:lstStyle/>
          <a:p>
            <a:pPr>
              <a:lnSpc>
                <a:spcPct val="80000"/>
              </a:lnSpc>
            </a:pPr>
            <a:endParaRPr lang="en-US" sz="800" dirty="0"/>
          </a:p>
        </p:txBody>
      </p:sp>
    </p:spTree>
    <p:extLst>
      <p:ext uri="{BB962C8B-B14F-4D97-AF65-F5344CB8AC3E}">
        <p14:creationId xmlns="" xmlns:p14="http://schemas.microsoft.com/office/powerpoint/2010/main" val="22404918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8673FE-568E-48E3-8385-DD5B38C10D1B}" type="slidenum">
              <a:rPr lang="zh-CN" altLang="en-US"/>
              <a:pPr/>
              <a:t>46</a:t>
            </a:fld>
            <a:endParaRPr lang="en-US" altLang="zh-CN"/>
          </a:p>
        </p:txBody>
      </p:sp>
      <p:sp>
        <p:nvSpPr>
          <p:cNvPr id="1594370" name="Rectangle 2"/>
          <p:cNvSpPr>
            <a:spLocks noGrp="1" noRot="1" noChangeAspect="1" noChangeArrowheads="1" noTextEdit="1"/>
          </p:cNvSpPr>
          <p:nvPr>
            <p:ph type="sldImg"/>
          </p:nvPr>
        </p:nvSpPr>
        <p:spPr>
          <a:ln/>
        </p:spPr>
      </p:sp>
      <p:sp>
        <p:nvSpPr>
          <p:cNvPr id="1594371" name="Rectangle 3"/>
          <p:cNvSpPr>
            <a:spLocks noGrp="1" noChangeArrowheads="1"/>
          </p:cNvSpPr>
          <p:nvPr>
            <p:ph type="body" idx="1"/>
          </p:nvPr>
        </p:nvSpPr>
        <p:spPr/>
        <p:txBody>
          <a:bodyPr/>
          <a:lstStyle/>
          <a:p>
            <a:pPr>
              <a:lnSpc>
                <a:spcPct val="80000"/>
              </a:lnSpc>
            </a:pPr>
            <a:endParaRPr lang="en-US" sz="900"/>
          </a:p>
        </p:txBody>
      </p:sp>
    </p:spTree>
    <p:extLst>
      <p:ext uri="{BB962C8B-B14F-4D97-AF65-F5344CB8AC3E}">
        <p14:creationId xmlns="" xmlns:p14="http://schemas.microsoft.com/office/powerpoint/2010/main" val="1013593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91CB3F-4AB2-4CB9-8B03-078B54FCFCCE}" type="slidenum">
              <a:rPr lang="zh-CN" altLang="en-US"/>
              <a:pPr/>
              <a:t>57</a:t>
            </a:fld>
            <a:endParaRPr lang="en-US" altLang="zh-CN"/>
          </a:p>
        </p:txBody>
      </p:sp>
      <p:sp>
        <p:nvSpPr>
          <p:cNvPr id="1598466" name="Rectangle 2"/>
          <p:cNvSpPr>
            <a:spLocks noGrp="1" noRot="1" noChangeAspect="1" noChangeArrowheads="1" noTextEdit="1"/>
          </p:cNvSpPr>
          <p:nvPr>
            <p:ph type="sldImg"/>
          </p:nvPr>
        </p:nvSpPr>
        <p:spPr>
          <a:ln/>
        </p:spPr>
      </p:sp>
      <p:sp>
        <p:nvSpPr>
          <p:cNvPr id="1598467" name="Rectangle 3"/>
          <p:cNvSpPr>
            <a:spLocks noGrp="1" noChangeArrowheads="1"/>
          </p:cNvSpPr>
          <p:nvPr>
            <p:ph type="body" idx="1"/>
          </p:nvPr>
        </p:nvSpPr>
        <p:spPr/>
        <p:txBody>
          <a:bodyPr/>
          <a:lstStyle/>
          <a:p>
            <a:pPr>
              <a:lnSpc>
                <a:spcPct val="80000"/>
              </a:lnSpc>
            </a:pPr>
            <a:endParaRPr lang="en-US" sz="900"/>
          </a:p>
        </p:txBody>
      </p:sp>
    </p:spTree>
    <p:extLst>
      <p:ext uri="{BB962C8B-B14F-4D97-AF65-F5344CB8AC3E}">
        <p14:creationId xmlns="" xmlns:p14="http://schemas.microsoft.com/office/powerpoint/2010/main" val="84594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45A9EE7-E4AC-4300-A754-514C3129D00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24E1A1F-3ABD-4CEF-A482-B15E21FE085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558B5C6-2A8F-42B5-99F9-35F9B3F4988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65BAAB9-4F84-40AE-B308-95384B73C72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83200C8-5B76-4616-82A2-EE151DA163E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984BC93-BA4B-4474-84A5-200AE18AB89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D88A281-50F0-40D6-9CF3-3E00E48EFEF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997B583-639C-495F-A483-15D5E0E4D90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DF14A99-27F8-416E-9CB7-91D553088F0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5A75F8-C3A3-43B4-80CB-23D2B6E01E6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AA0AFE1-0021-4963-8B77-5747897D15AD}"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itle 3"/>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SG"/>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quarter" idx="2"/>
          </p:nvPr>
        </p:nvSpPr>
        <p:spPr>
          <a:xfrm>
            <a:off x="4648200" y="1719263"/>
            <a:ext cx="4038600" cy="2128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Content Placeholder 4"/>
          <p:cNvSpPr>
            <a:spLocks noGrp="1"/>
          </p:cNvSpPr>
          <p:nvPr>
            <p:ph sz="quarter" idx="3"/>
          </p:nvPr>
        </p:nvSpPr>
        <p:spPr>
          <a:xfrm>
            <a:off x="4648200" y="4000500"/>
            <a:ext cx="4038600" cy="21304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7"/>
          <p:cNvSpPr>
            <a:spLocks noGrp="1" noChangeArrowheads="1"/>
          </p:cNvSpPr>
          <p:nvPr>
            <p:ph type="sldNum" sz="quarter" idx="12"/>
          </p:nvPr>
        </p:nvSpPr>
        <p:spPr>
          <a:ln/>
        </p:spPr>
        <p:txBody>
          <a:bodyPr/>
          <a:lstStyle>
            <a:lvl1pPr>
              <a:defRPr/>
            </a:lvl1pPr>
          </a:lstStyle>
          <a:p>
            <a:pPr>
              <a:defRPr/>
            </a:pPr>
            <a:fld id="{33DB3D97-2FA3-4496-A021-7F27AE2B2AF6}" type="slidenum">
              <a:rPr lang="en-US" altLang="en-US"/>
              <a:pPr>
                <a:defRPr/>
              </a:pPr>
              <a:t>‹#›</a:t>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SG"/>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27D52E3F-C9EF-4F94-AEAE-AC0F6877F90A}" type="slidenum">
              <a:rPr lang="en-US" altLang="en-US"/>
              <a:pPr>
                <a:defRPr/>
              </a:pPr>
              <a:t>‹#›</a:t>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SG"/>
          </a:p>
        </p:txBody>
      </p:sp>
      <p:sp>
        <p:nvSpPr>
          <p:cNvPr id="3" name="Table Placeholder 2"/>
          <p:cNvSpPr>
            <a:spLocks noGrp="1"/>
          </p:cNvSpPr>
          <p:nvPr>
            <p:ph type="tbl" idx="1"/>
          </p:nvPr>
        </p:nvSpPr>
        <p:spPr>
          <a:xfrm>
            <a:off x="457200" y="1719263"/>
            <a:ext cx="8229600" cy="4411662"/>
          </a:xfrm>
        </p:spPr>
        <p:txBody>
          <a:bodyPr/>
          <a:lstStyle/>
          <a:p>
            <a:pPr lvl="0"/>
            <a:endParaRPr lang="en-SG" noProof="0" smtClean="0"/>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D54EA901-E2D6-4D24-A4F3-312733485DF7}" type="slidenum">
              <a:rPr lang="en-US" altLang="en-US"/>
              <a:pPr>
                <a:defRPr/>
              </a:pPr>
              <a:t>‹#›</a:t>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52425" y="342900"/>
            <a:ext cx="8442325" cy="5981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381000" y="6323013"/>
            <a:ext cx="1905000" cy="457200"/>
          </a:xfrm>
        </p:spPr>
        <p:txBody>
          <a:bodyPr/>
          <a:lstStyle>
            <a:lvl1pPr>
              <a:defRPr/>
            </a:lvl1pPr>
          </a:lstStyle>
          <a:p>
            <a:endParaRPr lang="en-US" altLang="zh-CN"/>
          </a:p>
        </p:txBody>
      </p:sp>
      <p:sp>
        <p:nvSpPr>
          <p:cNvPr id="4" name="Footer Placeholder 3"/>
          <p:cNvSpPr>
            <a:spLocks noGrp="1"/>
          </p:cNvSpPr>
          <p:nvPr>
            <p:ph type="ftr" sz="quarter" idx="11"/>
          </p:nvPr>
        </p:nvSpPr>
        <p:spPr>
          <a:xfrm>
            <a:off x="3124200" y="6323013"/>
            <a:ext cx="2895600" cy="457200"/>
          </a:xfrm>
        </p:spPr>
        <p:txBody>
          <a:bodyPr/>
          <a:lstStyle>
            <a:lvl1pPr>
              <a:defRPr/>
            </a:lvl1pPr>
          </a:lstStyle>
          <a:p>
            <a:endParaRPr lang="en-US" altLang="zh-CN"/>
          </a:p>
        </p:txBody>
      </p:sp>
      <p:sp>
        <p:nvSpPr>
          <p:cNvPr id="5" name="Slide Number Placeholder 4"/>
          <p:cNvSpPr>
            <a:spLocks noGrp="1"/>
          </p:cNvSpPr>
          <p:nvPr>
            <p:ph type="sldNum" sz="quarter" idx="12"/>
          </p:nvPr>
        </p:nvSpPr>
        <p:spPr>
          <a:xfrm>
            <a:off x="6858000" y="6323013"/>
            <a:ext cx="1905000" cy="457200"/>
          </a:xfrm>
        </p:spPr>
        <p:txBody>
          <a:bodyPr/>
          <a:lstStyle>
            <a:lvl1pPr>
              <a:defRPr/>
            </a:lvl1pPr>
          </a:lstStyle>
          <a:p>
            <a:fld id="{FEBEDFF6-4494-494E-A4AF-F7D9B820EAE3}" type="slidenum">
              <a:rPr lang="zh-CN" altLang="en-US"/>
              <a:pPr/>
              <a:t>‹#›</a:t>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99CCFF"/>
            </a:gs>
          </a:gsLst>
          <a:lin ang="2700000" scaled="1"/>
        </a:gra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71"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cs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pitchFamily="18" charset="0"/>
                <a:cs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itchFamily="18" charset="0"/>
                <a:cs typeface="Arial" charset="0"/>
              </a:defRPr>
            </a:lvl1pPr>
          </a:lstStyle>
          <a:p>
            <a:pPr>
              <a:defRPr/>
            </a:pPr>
            <a:fld id="{7DCC2CAA-102D-45B2-908E-FFE82ECC949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163" r:id="rId1"/>
    <p:sldLayoutId id="2147484164" r:id="rId2"/>
    <p:sldLayoutId id="2147484165" r:id="rId3"/>
    <p:sldLayoutId id="2147484166" r:id="rId4"/>
    <p:sldLayoutId id="2147484167" r:id="rId5"/>
    <p:sldLayoutId id="2147484168" r:id="rId6"/>
    <p:sldLayoutId id="2147484169" r:id="rId7"/>
    <p:sldLayoutId id="2147484170"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itchFamily="34" charset="0"/>
        </a:defRPr>
      </a:lvl2pPr>
      <a:lvl3pPr algn="ctr" rtl="0" eaLnBrk="0" fontAlgn="base" hangingPunct="0">
        <a:spcBef>
          <a:spcPct val="0"/>
        </a:spcBef>
        <a:spcAft>
          <a:spcPct val="0"/>
        </a:spcAft>
        <a:defRPr sz="4400">
          <a:solidFill>
            <a:schemeClr val="tx2"/>
          </a:solidFill>
          <a:latin typeface="Tahoma" pitchFamily="34" charset="0"/>
        </a:defRPr>
      </a:lvl3pPr>
      <a:lvl4pPr algn="ctr" rtl="0" eaLnBrk="0" fontAlgn="base" hangingPunct="0">
        <a:spcBef>
          <a:spcPct val="0"/>
        </a:spcBef>
        <a:spcAft>
          <a:spcPct val="0"/>
        </a:spcAft>
        <a:defRPr sz="4400">
          <a:solidFill>
            <a:schemeClr val="tx2"/>
          </a:solidFill>
          <a:latin typeface="Tahoma" pitchFamily="34" charset="0"/>
        </a:defRPr>
      </a:lvl4pPr>
      <a:lvl5pPr algn="ctr" rtl="0" eaLnBrk="0" fontAlgn="base" hangingPunct="0">
        <a:spcBef>
          <a:spcPct val="0"/>
        </a:spcBef>
        <a:spcAft>
          <a:spcPct val="0"/>
        </a:spcAft>
        <a:defRPr sz="4400">
          <a:solidFill>
            <a:schemeClr val="tx2"/>
          </a:solidFill>
          <a:latin typeface="Tahoma" pitchFamily="34" charset="0"/>
        </a:defRPr>
      </a:lvl5pPr>
      <a:lvl6pPr marL="457200" algn="ctr" rtl="0" eaLnBrk="0" fontAlgn="base" hangingPunct="0">
        <a:spcBef>
          <a:spcPct val="0"/>
        </a:spcBef>
        <a:spcAft>
          <a:spcPct val="0"/>
        </a:spcAft>
        <a:defRPr sz="4400">
          <a:solidFill>
            <a:schemeClr val="tx2"/>
          </a:solidFill>
          <a:latin typeface="Tahoma" pitchFamily="34" charset="0"/>
        </a:defRPr>
      </a:lvl6pPr>
      <a:lvl7pPr marL="914400" algn="ctr" rtl="0" eaLnBrk="0" fontAlgn="base" hangingPunct="0">
        <a:spcBef>
          <a:spcPct val="0"/>
        </a:spcBef>
        <a:spcAft>
          <a:spcPct val="0"/>
        </a:spcAft>
        <a:defRPr sz="4400">
          <a:solidFill>
            <a:schemeClr val="tx2"/>
          </a:solidFill>
          <a:latin typeface="Tahoma" pitchFamily="34" charset="0"/>
        </a:defRPr>
      </a:lvl7pPr>
      <a:lvl8pPr marL="1371600" algn="ctr" rtl="0" eaLnBrk="0" fontAlgn="base" hangingPunct="0">
        <a:spcBef>
          <a:spcPct val="0"/>
        </a:spcBef>
        <a:spcAft>
          <a:spcPct val="0"/>
        </a:spcAft>
        <a:defRPr sz="4400">
          <a:solidFill>
            <a:schemeClr val="tx2"/>
          </a:solidFill>
          <a:latin typeface="Tahoma" pitchFamily="34" charset="0"/>
        </a:defRPr>
      </a:lvl8pPr>
      <a:lvl9pPr marL="1828800" algn="ctr" rtl="0" eaLnBrk="0" fontAlgn="base" hangingPunct="0">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rgbClr val="CC00CC"/>
        </a:buClr>
        <a:buFont typeface="Monotype Sorts"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CC"/>
        </a:buClr>
        <a:buFont typeface="Monotype Sorts" pitchFamily="2" charset="2"/>
        <a:buChar char="w"/>
        <a:defRPr sz="2800">
          <a:solidFill>
            <a:schemeClr val="tx1"/>
          </a:solidFill>
          <a:latin typeface="+mn-lt"/>
        </a:defRPr>
      </a:lvl2pPr>
      <a:lvl3pPr marL="1143000" indent="-228600" algn="l" rtl="0" eaLnBrk="0" fontAlgn="base" hangingPunct="0">
        <a:spcBef>
          <a:spcPct val="20000"/>
        </a:spcBef>
        <a:spcAft>
          <a:spcPct val="0"/>
        </a:spcAft>
        <a:buClr>
          <a:srgbClr val="CC00CC"/>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4.xml"/><Relationship Id="rId1" Type="http://schemas.openxmlformats.org/officeDocument/2006/relationships/vmlDrawing" Target="../drawings/vmlDrawing5.v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hyperlink" Target="http://people.revoledu.com/kardi/tutorial/Similarity/EuclideanDistance.html" TargetMode="Externa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4.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file:///C:\Documents%20and%20Settings\Debashree\My%20Documents\SEMINAR\k-means%20clustering\K-Means%20Clustering%20Numerical%20Example_files\NumericalExample_clip_image032.gif" TargetMode="External"/><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Microsoft_Office_Excel_97-2003_Worksheet1.xls"/></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Microsoft_Office_Excel_97-2003_Worksheet2.xls"/></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9.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Microsoft_Office_Word_97_-_2003_Document7.doc"/><Relationship Id="rId3" Type="http://schemas.openxmlformats.org/officeDocument/2006/relationships/notesSlide" Target="../notesSlides/notesSlide17.xml"/><Relationship Id="rId7" Type="http://schemas.openxmlformats.org/officeDocument/2006/relationships/oleObject" Target="../embeddings/Microsoft_Office_Excel_97-2003_Worksheet6.xls"/><Relationship Id="rId2" Type="http://schemas.openxmlformats.org/officeDocument/2006/relationships/slideLayout" Target="../slideLayouts/slideLayout16.xml"/><Relationship Id="rId1" Type="http://schemas.openxmlformats.org/officeDocument/2006/relationships/vmlDrawing" Target="../drawings/vmlDrawing10.vml"/><Relationship Id="rId6" Type="http://schemas.openxmlformats.org/officeDocument/2006/relationships/oleObject" Target="../embeddings/Microsoft_Office_Excel_97-2003_Worksheet5.xls"/><Relationship Id="rId11" Type="http://schemas.openxmlformats.org/officeDocument/2006/relationships/oleObject" Target="../embeddings/Microsoft_Office_Word_97_-_2003_Document10.doc"/><Relationship Id="rId5" Type="http://schemas.openxmlformats.org/officeDocument/2006/relationships/oleObject" Target="../embeddings/Microsoft_Office_Word_97_-_2003_Document4.doc"/><Relationship Id="rId10" Type="http://schemas.openxmlformats.org/officeDocument/2006/relationships/oleObject" Target="../embeddings/Microsoft_Office_Word_97_-_2003_Document9.doc"/><Relationship Id="rId4" Type="http://schemas.openxmlformats.org/officeDocument/2006/relationships/oleObject" Target="../embeddings/Microsoft_Office_Excel_97-2003_Worksheet3.xls"/><Relationship Id="rId9" Type="http://schemas.openxmlformats.org/officeDocument/2006/relationships/oleObject" Target="../embeddings/Microsoft_Office_Excel_97-2003_Worksheet8.xls"/></Relationships>
</file>

<file path=ppt/slides/_rels/slide4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p:cNvSpPr txBox="1">
            <a:spLocks noChangeArrowheads="1"/>
          </p:cNvSpPr>
          <p:nvPr/>
        </p:nvSpPr>
        <p:spPr bwMode="auto">
          <a:xfrm>
            <a:off x="762000" y="762000"/>
            <a:ext cx="7543800" cy="3908762"/>
          </a:xfrm>
          <a:prstGeom prst="rect">
            <a:avLst/>
          </a:prstGeom>
          <a:noFill/>
          <a:ln w="9525">
            <a:noFill/>
            <a:miter lim="800000"/>
            <a:headEnd/>
            <a:tailEnd/>
          </a:ln>
        </p:spPr>
        <p:txBody>
          <a:bodyPr>
            <a:spAutoFit/>
          </a:bodyPr>
          <a:lstStyle/>
          <a:p>
            <a:r>
              <a:rPr lang="en-US" sz="4400" dirty="0"/>
              <a:t>CSC479 </a:t>
            </a:r>
          </a:p>
          <a:p>
            <a:r>
              <a:rPr lang="en-US" sz="4400" dirty="0"/>
              <a:t>Data Mining</a:t>
            </a:r>
          </a:p>
          <a:p>
            <a:endParaRPr lang="en-US" sz="2800" dirty="0"/>
          </a:p>
          <a:p>
            <a:endParaRPr lang="en-US" sz="2800" dirty="0"/>
          </a:p>
          <a:p>
            <a:r>
              <a:rPr lang="en-US" sz="3600" dirty="0" smtClean="0"/>
              <a:t>Clustering</a:t>
            </a:r>
          </a:p>
          <a:p>
            <a:pPr algn="l"/>
            <a:r>
              <a:rPr lang="en-US" sz="3600" b="0" dirty="0" smtClean="0"/>
              <a:t>	</a:t>
            </a:r>
            <a:endParaRPr lang="en-US" sz="3600" b="0" dirty="0"/>
          </a:p>
          <a:p>
            <a:r>
              <a:rPr lang="en-US" sz="3200" dirty="0"/>
              <a:t>(Ch # </a:t>
            </a:r>
            <a:r>
              <a:rPr lang="en-US" sz="3200" dirty="0" smtClean="0"/>
              <a:t>10)</a:t>
            </a:r>
            <a:endParaRPr 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FEBD784-8713-4B22-9AD7-36F90A55F01D}" type="slidenum">
              <a:rPr lang="en-US"/>
              <a:pPr/>
              <a:t>2</a:t>
            </a:fld>
            <a:endParaRPr lang="en-US"/>
          </a:p>
        </p:txBody>
      </p:sp>
      <p:sp>
        <p:nvSpPr>
          <p:cNvPr id="498690" name="Rectangle 2"/>
          <p:cNvSpPr>
            <a:spLocks noGrp="1" noChangeArrowheads="1"/>
          </p:cNvSpPr>
          <p:nvPr>
            <p:ph type="title"/>
          </p:nvPr>
        </p:nvSpPr>
        <p:spPr>
          <a:xfrm>
            <a:off x="762000" y="228600"/>
            <a:ext cx="7772400" cy="914400"/>
          </a:xfrm>
        </p:spPr>
        <p:txBody>
          <a:bodyPr/>
          <a:lstStyle/>
          <a:p>
            <a:r>
              <a:rPr lang="en-US" dirty="0"/>
              <a:t>The Problem of Clustering</a:t>
            </a:r>
          </a:p>
        </p:txBody>
      </p:sp>
      <p:sp>
        <p:nvSpPr>
          <p:cNvPr id="498691" name="Rectangle 3"/>
          <p:cNvSpPr>
            <a:spLocks noGrp="1" noChangeArrowheads="1"/>
          </p:cNvSpPr>
          <p:nvPr>
            <p:ph type="body" idx="1"/>
          </p:nvPr>
        </p:nvSpPr>
        <p:spPr>
          <a:xfrm>
            <a:off x="228600" y="1066800"/>
            <a:ext cx="8610600" cy="5334000"/>
          </a:xfrm>
        </p:spPr>
        <p:txBody>
          <a:bodyPr/>
          <a:lstStyle/>
          <a:p>
            <a:r>
              <a:rPr lang="en-US" dirty="0"/>
              <a:t>Given a set of points, with a notion of distance between points, group the points into some number of </a:t>
            </a:r>
            <a:r>
              <a:rPr lang="en-US" i="1" dirty="0"/>
              <a:t>clusters</a:t>
            </a:r>
            <a:r>
              <a:rPr lang="en-US" dirty="0"/>
              <a:t>, so that members of a cluster are in some sense as nearby as possible.</a:t>
            </a:r>
          </a:p>
          <a:p>
            <a:r>
              <a:rPr lang="en-US" dirty="0" smtClean="0"/>
              <a:t>Clustering </a:t>
            </a:r>
            <a:r>
              <a:rPr lang="en-US" dirty="0"/>
              <a:t>is </a:t>
            </a:r>
            <a:r>
              <a:rPr lang="en-US" dirty="0">
                <a:solidFill>
                  <a:srgbClr val="FF0000"/>
                </a:solidFill>
              </a:rPr>
              <a:t>unsupervised classification</a:t>
            </a:r>
            <a:r>
              <a:rPr lang="en-US" dirty="0"/>
              <a:t>: no predefined classes.</a:t>
            </a:r>
          </a:p>
          <a:p>
            <a:r>
              <a:rPr lang="en-US" dirty="0" smtClean="0"/>
              <a:t>Formally</a:t>
            </a:r>
            <a:r>
              <a:rPr lang="en-US" dirty="0"/>
              <a:t>, Clustering is the process of grouping data points such as intra-cluster distance is minimized and inter-cluster distance is maximized.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37D06792-6823-4AE7-B84B-4373D5DDDEF2}" type="slidenum">
              <a:rPr lang="en-US"/>
              <a:pPr/>
              <a:t>3</a:t>
            </a:fld>
            <a:endParaRPr lang="en-US"/>
          </a:p>
        </p:txBody>
      </p:sp>
      <p:sp>
        <p:nvSpPr>
          <p:cNvPr id="504834" name="Rectangle 2"/>
          <p:cNvSpPr>
            <a:spLocks noGrp="1" noChangeArrowheads="1"/>
          </p:cNvSpPr>
          <p:nvPr>
            <p:ph type="title"/>
          </p:nvPr>
        </p:nvSpPr>
        <p:spPr>
          <a:xfrm>
            <a:off x="381000" y="152400"/>
            <a:ext cx="8280400" cy="552450"/>
          </a:xfrm>
        </p:spPr>
        <p:txBody>
          <a:bodyPr/>
          <a:lstStyle/>
          <a:p>
            <a:r>
              <a:rPr lang="en-US"/>
              <a:t>Types of Clustering</a:t>
            </a:r>
          </a:p>
        </p:txBody>
      </p:sp>
      <p:sp>
        <p:nvSpPr>
          <p:cNvPr id="504835" name="Rectangle 3"/>
          <p:cNvSpPr>
            <a:spLocks noGrp="1" noChangeArrowheads="1"/>
          </p:cNvSpPr>
          <p:nvPr>
            <p:ph type="body" idx="1"/>
          </p:nvPr>
        </p:nvSpPr>
        <p:spPr>
          <a:xfrm>
            <a:off x="465138" y="914400"/>
            <a:ext cx="8283575" cy="5407025"/>
          </a:xfrm>
        </p:spPr>
        <p:txBody>
          <a:bodyPr/>
          <a:lstStyle/>
          <a:p>
            <a:pPr>
              <a:lnSpc>
                <a:spcPct val="90000"/>
              </a:lnSpc>
            </a:pPr>
            <a:r>
              <a:rPr lang="en-US" sz="3200" smtClean="0"/>
              <a:t>Important </a:t>
            </a:r>
            <a:r>
              <a:rPr lang="en-US" sz="3200" dirty="0"/>
              <a:t>distinction between hierarchical and </a:t>
            </a:r>
            <a:r>
              <a:rPr lang="en-US" sz="3200" dirty="0" err="1"/>
              <a:t>partitional</a:t>
            </a:r>
            <a:r>
              <a:rPr lang="en-US" sz="3200" dirty="0"/>
              <a:t> sets of clusters </a:t>
            </a:r>
          </a:p>
          <a:p>
            <a:pPr>
              <a:lnSpc>
                <a:spcPct val="90000"/>
              </a:lnSpc>
            </a:pPr>
            <a:endParaRPr lang="en-US" sz="1400" dirty="0"/>
          </a:p>
          <a:p>
            <a:pPr lvl="1">
              <a:lnSpc>
                <a:spcPct val="90000"/>
              </a:lnSpc>
            </a:pPr>
            <a:r>
              <a:rPr lang="en-US" sz="2800" dirty="0" err="1"/>
              <a:t>Partitional</a:t>
            </a:r>
            <a:r>
              <a:rPr lang="en-US" sz="2800" dirty="0"/>
              <a:t> Clustering</a:t>
            </a:r>
          </a:p>
          <a:p>
            <a:pPr lvl="2">
              <a:lnSpc>
                <a:spcPct val="90000"/>
              </a:lnSpc>
            </a:pPr>
            <a:r>
              <a:rPr lang="en-US" dirty="0"/>
              <a:t>A division </a:t>
            </a:r>
            <a:r>
              <a:rPr lang="en-US" dirty="0" smtClean="0"/>
              <a:t>of data </a:t>
            </a:r>
            <a:r>
              <a:rPr lang="en-US" dirty="0"/>
              <a:t>objects into non-overlapping subsets (clusters) such that each data object is in exactly one subset</a:t>
            </a:r>
          </a:p>
          <a:p>
            <a:pPr lvl="2">
              <a:lnSpc>
                <a:spcPct val="90000"/>
              </a:lnSpc>
            </a:pPr>
            <a:endParaRPr lang="en-US" sz="1000" dirty="0"/>
          </a:p>
          <a:p>
            <a:pPr lvl="1">
              <a:lnSpc>
                <a:spcPct val="90000"/>
              </a:lnSpc>
            </a:pPr>
            <a:r>
              <a:rPr lang="en-US" sz="2800" dirty="0"/>
              <a:t>Hierarchical clustering</a:t>
            </a:r>
          </a:p>
          <a:p>
            <a:pPr lvl="2">
              <a:lnSpc>
                <a:spcPct val="90000"/>
              </a:lnSpc>
            </a:pPr>
            <a:r>
              <a:rPr lang="en-US" dirty="0"/>
              <a:t>A set of nested clusters organized as a hierarchical tree </a:t>
            </a:r>
          </a:p>
          <a:p>
            <a:pPr>
              <a:lnSpc>
                <a:spcPct val="90000"/>
              </a:lnSpc>
            </a:pPr>
            <a:r>
              <a:rPr lang="en-US" dirty="0" smtClean="0"/>
              <a:t>Other </a:t>
            </a:r>
            <a:r>
              <a:rPr lang="en-US" dirty="0"/>
              <a:t>distinctions – </a:t>
            </a:r>
            <a:r>
              <a:rPr lang="en-US" i="1" dirty="0"/>
              <a:t>coming slides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3"/>
          <p:cNvSpPr>
            <a:spLocks noGrp="1"/>
          </p:cNvSpPr>
          <p:nvPr>
            <p:ph type="sldNum" sz="quarter" idx="10"/>
          </p:nvPr>
        </p:nvSpPr>
        <p:spPr/>
        <p:txBody>
          <a:bodyPr/>
          <a:lstStyle/>
          <a:p>
            <a:fld id="{D9D85987-9265-4A75-92C9-99CD69583B0B}" type="slidenum">
              <a:rPr lang="en-US"/>
              <a:pPr/>
              <a:t>4</a:t>
            </a:fld>
            <a:endParaRPr lang="en-US"/>
          </a:p>
        </p:txBody>
      </p:sp>
      <p:sp>
        <p:nvSpPr>
          <p:cNvPr id="506882" name="Rectangle 2"/>
          <p:cNvSpPr>
            <a:spLocks noGrp="1" noChangeArrowheads="1"/>
          </p:cNvSpPr>
          <p:nvPr>
            <p:ph type="title"/>
          </p:nvPr>
        </p:nvSpPr>
        <p:spPr>
          <a:xfrm>
            <a:off x="381000" y="152400"/>
            <a:ext cx="8280400" cy="552450"/>
          </a:xfrm>
        </p:spPr>
        <p:txBody>
          <a:bodyPr/>
          <a:lstStyle/>
          <a:p>
            <a:r>
              <a:rPr lang="en-US"/>
              <a:t>Partitional Clustering</a:t>
            </a:r>
          </a:p>
        </p:txBody>
      </p:sp>
      <p:sp>
        <p:nvSpPr>
          <p:cNvPr id="506883" name="Freeform 3"/>
          <p:cNvSpPr>
            <a:spLocks/>
          </p:cNvSpPr>
          <p:nvPr/>
        </p:nvSpPr>
        <p:spPr bwMode="auto">
          <a:xfrm>
            <a:off x="1254125" y="2517775"/>
            <a:ext cx="96838" cy="101600"/>
          </a:xfrm>
          <a:custGeom>
            <a:avLst/>
            <a:gdLst/>
            <a:ahLst/>
            <a:cxnLst>
              <a:cxn ang="0">
                <a:pos x="61" y="30"/>
              </a:cxn>
              <a:cxn ang="0">
                <a:pos x="55" y="49"/>
              </a:cxn>
              <a:cxn ang="0">
                <a:pos x="43" y="61"/>
              </a:cxn>
              <a:cxn ang="0">
                <a:pos x="24" y="64"/>
              </a:cxn>
              <a:cxn ang="0">
                <a:pos x="9" y="55"/>
              </a:cxn>
              <a:cxn ang="0">
                <a:pos x="0" y="39"/>
              </a:cxn>
              <a:cxn ang="0">
                <a:pos x="0" y="24"/>
              </a:cxn>
              <a:cxn ang="0">
                <a:pos x="9" y="9"/>
              </a:cxn>
              <a:cxn ang="0">
                <a:pos x="24" y="0"/>
              </a:cxn>
              <a:cxn ang="0">
                <a:pos x="43" y="3"/>
              </a:cxn>
              <a:cxn ang="0">
                <a:pos x="55" y="15"/>
              </a:cxn>
              <a:cxn ang="0">
                <a:pos x="61" y="30"/>
              </a:cxn>
            </a:cxnLst>
            <a:rect l="0" t="0" r="r" b="b"/>
            <a:pathLst>
              <a:path w="61" h="64">
                <a:moveTo>
                  <a:pt x="61" y="30"/>
                </a:moveTo>
                <a:lnTo>
                  <a:pt x="55" y="49"/>
                </a:lnTo>
                <a:lnTo>
                  <a:pt x="43" y="61"/>
                </a:lnTo>
                <a:lnTo>
                  <a:pt x="24" y="64"/>
                </a:lnTo>
                <a:lnTo>
                  <a:pt x="9" y="55"/>
                </a:lnTo>
                <a:lnTo>
                  <a:pt x="0" y="39"/>
                </a:lnTo>
                <a:lnTo>
                  <a:pt x="0" y="24"/>
                </a:lnTo>
                <a:lnTo>
                  <a:pt x="9" y="9"/>
                </a:lnTo>
                <a:lnTo>
                  <a:pt x="24" y="0"/>
                </a:lnTo>
                <a:lnTo>
                  <a:pt x="43" y="3"/>
                </a:lnTo>
                <a:lnTo>
                  <a:pt x="55" y="15"/>
                </a:lnTo>
                <a:lnTo>
                  <a:pt x="61" y="30"/>
                </a:lnTo>
                <a:close/>
              </a:path>
            </a:pathLst>
          </a:custGeom>
          <a:solidFill>
            <a:srgbClr val="000000"/>
          </a:solidFill>
          <a:ln w="4763">
            <a:solidFill>
              <a:srgbClr val="000000"/>
            </a:solidFill>
            <a:prstDash val="solid"/>
            <a:round/>
            <a:headEnd/>
            <a:tailEnd/>
          </a:ln>
        </p:spPr>
        <p:txBody>
          <a:bodyPr/>
          <a:lstStyle/>
          <a:p>
            <a:endParaRPr lang="en-US"/>
          </a:p>
        </p:txBody>
      </p:sp>
      <p:sp>
        <p:nvSpPr>
          <p:cNvPr id="506884" name="Freeform 4"/>
          <p:cNvSpPr>
            <a:spLocks/>
          </p:cNvSpPr>
          <p:nvPr/>
        </p:nvSpPr>
        <p:spPr bwMode="auto">
          <a:xfrm>
            <a:off x="1254125" y="2716213"/>
            <a:ext cx="96838" cy="98425"/>
          </a:xfrm>
          <a:custGeom>
            <a:avLst/>
            <a:gdLst/>
            <a:ahLst/>
            <a:cxnLst>
              <a:cxn ang="0">
                <a:pos x="61" y="31"/>
              </a:cxn>
              <a:cxn ang="0">
                <a:pos x="55" y="49"/>
              </a:cxn>
              <a:cxn ang="0">
                <a:pos x="43" y="62"/>
              </a:cxn>
              <a:cxn ang="0">
                <a:pos x="24" y="62"/>
              </a:cxn>
              <a:cxn ang="0">
                <a:pos x="9" y="55"/>
              </a:cxn>
              <a:cxn ang="0">
                <a:pos x="0" y="40"/>
              </a:cxn>
              <a:cxn ang="0">
                <a:pos x="0" y="22"/>
              </a:cxn>
              <a:cxn ang="0">
                <a:pos x="9" y="9"/>
              </a:cxn>
              <a:cxn ang="0">
                <a:pos x="24" y="0"/>
              </a:cxn>
              <a:cxn ang="0">
                <a:pos x="43" y="3"/>
              </a:cxn>
              <a:cxn ang="0">
                <a:pos x="55" y="16"/>
              </a:cxn>
              <a:cxn ang="0">
                <a:pos x="61" y="31"/>
              </a:cxn>
            </a:cxnLst>
            <a:rect l="0" t="0" r="r" b="b"/>
            <a:pathLst>
              <a:path w="61" h="62">
                <a:moveTo>
                  <a:pt x="61" y="31"/>
                </a:moveTo>
                <a:lnTo>
                  <a:pt x="55" y="49"/>
                </a:lnTo>
                <a:lnTo>
                  <a:pt x="43" y="62"/>
                </a:lnTo>
                <a:lnTo>
                  <a:pt x="24" y="62"/>
                </a:lnTo>
                <a:lnTo>
                  <a:pt x="9" y="55"/>
                </a:lnTo>
                <a:lnTo>
                  <a:pt x="0" y="40"/>
                </a:lnTo>
                <a:lnTo>
                  <a:pt x="0" y="22"/>
                </a:lnTo>
                <a:lnTo>
                  <a:pt x="9" y="9"/>
                </a:lnTo>
                <a:lnTo>
                  <a:pt x="24" y="0"/>
                </a:lnTo>
                <a:lnTo>
                  <a:pt x="43" y="3"/>
                </a:lnTo>
                <a:lnTo>
                  <a:pt x="55" y="16"/>
                </a:lnTo>
                <a:lnTo>
                  <a:pt x="61" y="31"/>
                </a:lnTo>
                <a:close/>
              </a:path>
            </a:pathLst>
          </a:custGeom>
          <a:solidFill>
            <a:srgbClr val="000000"/>
          </a:solidFill>
          <a:ln w="4763">
            <a:solidFill>
              <a:srgbClr val="000000"/>
            </a:solidFill>
            <a:prstDash val="solid"/>
            <a:round/>
            <a:headEnd/>
            <a:tailEnd/>
          </a:ln>
        </p:spPr>
        <p:txBody>
          <a:bodyPr/>
          <a:lstStyle/>
          <a:p>
            <a:endParaRPr lang="en-US"/>
          </a:p>
        </p:txBody>
      </p:sp>
      <p:sp>
        <p:nvSpPr>
          <p:cNvPr id="506885" name="Freeform 5"/>
          <p:cNvSpPr>
            <a:spLocks/>
          </p:cNvSpPr>
          <p:nvPr/>
        </p:nvSpPr>
        <p:spPr bwMode="auto">
          <a:xfrm>
            <a:off x="1951038" y="4711700"/>
            <a:ext cx="96837" cy="98425"/>
          </a:xfrm>
          <a:custGeom>
            <a:avLst/>
            <a:gdLst/>
            <a:ahLst/>
            <a:cxnLst>
              <a:cxn ang="0">
                <a:pos x="61" y="31"/>
              </a:cxn>
              <a:cxn ang="0">
                <a:pos x="55" y="46"/>
              </a:cxn>
              <a:cxn ang="0">
                <a:pos x="43" y="59"/>
              </a:cxn>
              <a:cxn ang="0">
                <a:pos x="24" y="62"/>
              </a:cxn>
              <a:cxn ang="0">
                <a:pos x="9" y="53"/>
              </a:cxn>
              <a:cxn ang="0">
                <a:pos x="0" y="40"/>
              </a:cxn>
              <a:cxn ang="0">
                <a:pos x="0" y="22"/>
              </a:cxn>
              <a:cxn ang="0">
                <a:pos x="9" y="7"/>
              </a:cxn>
              <a:cxn ang="0">
                <a:pos x="24" y="0"/>
              </a:cxn>
              <a:cxn ang="0">
                <a:pos x="43" y="0"/>
              </a:cxn>
              <a:cxn ang="0">
                <a:pos x="55" y="13"/>
              </a:cxn>
              <a:cxn ang="0">
                <a:pos x="61" y="31"/>
              </a:cxn>
            </a:cxnLst>
            <a:rect l="0" t="0" r="r" b="b"/>
            <a:pathLst>
              <a:path w="61" h="62">
                <a:moveTo>
                  <a:pt x="61" y="31"/>
                </a:moveTo>
                <a:lnTo>
                  <a:pt x="55" y="46"/>
                </a:lnTo>
                <a:lnTo>
                  <a:pt x="43" y="59"/>
                </a:lnTo>
                <a:lnTo>
                  <a:pt x="24" y="62"/>
                </a:lnTo>
                <a:lnTo>
                  <a:pt x="9" y="53"/>
                </a:lnTo>
                <a:lnTo>
                  <a:pt x="0" y="40"/>
                </a:lnTo>
                <a:lnTo>
                  <a:pt x="0" y="22"/>
                </a:lnTo>
                <a:lnTo>
                  <a:pt x="9" y="7"/>
                </a:lnTo>
                <a:lnTo>
                  <a:pt x="24" y="0"/>
                </a:lnTo>
                <a:lnTo>
                  <a:pt x="43" y="0"/>
                </a:lnTo>
                <a:lnTo>
                  <a:pt x="55" y="13"/>
                </a:lnTo>
                <a:lnTo>
                  <a:pt x="61" y="31"/>
                </a:lnTo>
                <a:close/>
              </a:path>
            </a:pathLst>
          </a:custGeom>
          <a:solidFill>
            <a:srgbClr val="000000"/>
          </a:solidFill>
          <a:ln w="4763">
            <a:solidFill>
              <a:srgbClr val="000000"/>
            </a:solidFill>
            <a:prstDash val="solid"/>
            <a:round/>
            <a:headEnd/>
            <a:tailEnd/>
          </a:ln>
        </p:spPr>
        <p:txBody>
          <a:bodyPr/>
          <a:lstStyle/>
          <a:p>
            <a:endParaRPr lang="en-US"/>
          </a:p>
        </p:txBody>
      </p:sp>
      <p:sp>
        <p:nvSpPr>
          <p:cNvPr id="506886" name="Freeform 6"/>
          <p:cNvSpPr>
            <a:spLocks/>
          </p:cNvSpPr>
          <p:nvPr/>
        </p:nvSpPr>
        <p:spPr bwMode="auto">
          <a:xfrm>
            <a:off x="1550988" y="2619375"/>
            <a:ext cx="96837" cy="96838"/>
          </a:xfrm>
          <a:custGeom>
            <a:avLst/>
            <a:gdLst/>
            <a:ahLst/>
            <a:cxnLst>
              <a:cxn ang="0">
                <a:pos x="61" y="31"/>
              </a:cxn>
              <a:cxn ang="0">
                <a:pos x="58" y="46"/>
              </a:cxn>
              <a:cxn ang="0">
                <a:pos x="43" y="58"/>
              </a:cxn>
              <a:cxn ang="0">
                <a:pos x="25" y="61"/>
              </a:cxn>
              <a:cxn ang="0">
                <a:pos x="9" y="55"/>
              </a:cxn>
              <a:cxn ang="0">
                <a:pos x="0" y="40"/>
              </a:cxn>
              <a:cxn ang="0">
                <a:pos x="0" y="21"/>
              </a:cxn>
              <a:cxn ang="0">
                <a:pos x="9" y="6"/>
              </a:cxn>
              <a:cxn ang="0">
                <a:pos x="25" y="0"/>
              </a:cxn>
              <a:cxn ang="0">
                <a:pos x="43" y="3"/>
              </a:cxn>
              <a:cxn ang="0">
                <a:pos x="58" y="12"/>
              </a:cxn>
              <a:cxn ang="0">
                <a:pos x="61" y="31"/>
              </a:cxn>
            </a:cxnLst>
            <a:rect l="0" t="0" r="r" b="b"/>
            <a:pathLst>
              <a:path w="61" h="61">
                <a:moveTo>
                  <a:pt x="61" y="31"/>
                </a:moveTo>
                <a:lnTo>
                  <a:pt x="58" y="46"/>
                </a:lnTo>
                <a:lnTo>
                  <a:pt x="43" y="58"/>
                </a:lnTo>
                <a:lnTo>
                  <a:pt x="25" y="61"/>
                </a:lnTo>
                <a:lnTo>
                  <a:pt x="9" y="55"/>
                </a:lnTo>
                <a:lnTo>
                  <a:pt x="0" y="40"/>
                </a:lnTo>
                <a:lnTo>
                  <a:pt x="0" y="21"/>
                </a:lnTo>
                <a:lnTo>
                  <a:pt x="9" y="6"/>
                </a:lnTo>
                <a:lnTo>
                  <a:pt x="25" y="0"/>
                </a:lnTo>
                <a:lnTo>
                  <a:pt x="43" y="3"/>
                </a:lnTo>
                <a:lnTo>
                  <a:pt x="58" y="12"/>
                </a:lnTo>
                <a:lnTo>
                  <a:pt x="61" y="31"/>
                </a:lnTo>
                <a:close/>
              </a:path>
            </a:pathLst>
          </a:custGeom>
          <a:solidFill>
            <a:srgbClr val="000000"/>
          </a:solidFill>
          <a:ln w="4763">
            <a:solidFill>
              <a:srgbClr val="000000"/>
            </a:solidFill>
            <a:prstDash val="solid"/>
            <a:round/>
            <a:headEnd/>
            <a:tailEnd/>
          </a:ln>
        </p:spPr>
        <p:txBody>
          <a:bodyPr/>
          <a:lstStyle/>
          <a:p>
            <a:endParaRPr lang="en-US"/>
          </a:p>
        </p:txBody>
      </p:sp>
      <p:sp>
        <p:nvSpPr>
          <p:cNvPr id="506887" name="Freeform 7"/>
          <p:cNvSpPr>
            <a:spLocks/>
          </p:cNvSpPr>
          <p:nvPr/>
        </p:nvSpPr>
        <p:spPr bwMode="auto">
          <a:xfrm>
            <a:off x="1951038" y="3914775"/>
            <a:ext cx="96837" cy="96838"/>
          </a:xfrm>
          <a:custGeom>
            <a:avLst/>
            <a:gdLst/>
            <a:ahLst/>
            <a:cxnLst>
              <a:cxn ang="0">
                <a:pos x="61" y="30"/>
              </a:cxn>
              <a:cxn ang="0">
                <a:pos x="55" y="46"/>
              </a:cxn>
              <a:cxn ang="0">
                <a:pos x="43" y="58"/>
              </a:cxn>
              <a:cxn ang="0">
                <a:pos x="24" y="61"/>
              </a:cxn>
              <a:cxn ang="0">
                <a:pos x="9" y="55"/>
              </a:cxn>
              <a:cxn ang="0">
                <a:pos x="0" y="39"/>
              </a:cxn>
              <a:cxn ang="0">
                <a:pos x="0" y="21"/>
              </a:cxn>
              <a:cxn ang="0">
                <a:pos x="9" y="6"/>
              </a:cxn>
              <a:cxn ang="0">
                <a:pos x="24" y="0"/>
              </a:cxn>
              <a:cxn ang="0">
                <a:pos x="43" y="3"/>
              </a:cxn>
              <a:cxn ang="0">
                <a:pos x="55" y="12"/>
              </a:cxn>
              <a:cxn ang="0">
                <a:pos x="61" y="30"/>
              </a:cxn>
            </a:cxnLst>
            <a:rect l="0" t="0" r="r" b="b"/>
            <a:pathLst>
              <a:path w="61" h="61">
                <a:moveTo>
                  <a:pt x="61" y="30"/>
                </a:moveTo>
                <a:lnTo>
                  <a:pt x="55" y="46"/>
                </a:lnTo>
                <a:lnTo>
                  <a:pt x="43" y="58"/>
                </a:lnTo>
                <a:lnTo>
                  <a:pt x="24" y="61"/>
                </a:lnTo>
                <a:lnTo>
                  <a:pt x="9" y="55"/>
                </a:lnTo>
                <a:lnTo>
                  <a:pt x="0" y="39"/>
                </a:lnTo>
                <a:lnTo>
                  <a:pt x="0" y="21"/>
                </a:lnTo>
                <a:lnTo>
                  <a:pt x="9" y="6"/>
                </a:lnTo>
                <a:lnTo>
                  <a:pt x="24" y="0"/>
                </a:lnTo>
                <a:lnTo>
                  <a:pt x="43" y="3"/>
                </a:lnTo>
                <a:lnTo>
                  <a:pt x="55" y="12"/>
                </a:lnTo>
                <a:lnTo>
                  <a:pt x="61" y="30"/>
                </a:lnTo>
                <a:close/>
              </a:path>
            </a:pathLst>
          </a:custGeom>
          <a:solidFill>
            <a:srgbClr val="000000"/>
          </a:solidFill>
          <a:ln w="4763">
            <a:solidFill>
              <a:srgbClr val="000000"/>
            </a:solidFill>
            <a:prstDash val="solid"/>
            <a:round/>
            <a:headEnd/>
            <a:tailEnd/>
          </a:ln>
        </p:spPr>
        <p:txBody>
          <a:bodyPr/>
          <a:lstStyle/>
          <a:p>
            <a:endParaRPr lang="en-US"/>
          </a:p>
        </p:txBody>
      </p:sp>
      <p:sp>
        <p:nvSpPr>
          <p:cNvPr id="506888" name="Freeform 8"/>
          <p:cNvSpPr>
            <a:spLocks/>
          </p:cNvSpPr>
          <p:nvPr/>
        </p:nvSpPr>
        <p:spPr bwMode="auto">
          <a:xfrm>
            <a:off x="2120900" y="1825625"/>
            <a:ext cx="98425" cy="98425"/>
          </a:xfrm>
          <a:custGeom>
            <a:avLst/>
            <a:gdLst/>
            <a:ahLst/>
            <a:cxnLst>
              <a:cxn ang="0">
                <a:pos x="62" y="31"/>
              </a:cxn>
              <a:cxn ang="0">
                <a:pos x="56" y="46"/>
              </a:cxn>
              <a:cxn ang="0">
                <a:pos x="43" y="58"/>
              </a:cxn>
              <a:cxn ang="0">
                <a:pos x="25" y="62"/>
              </a:cxn>
              <a:cxn ang="0">
                <a:pos x="9" y="55"/>
              </a:cxn>
              <a:cxn ang="0">
                <a:pos x="0" y="40"/>
              </a:cxn>
              <a:cxn ang="0">
                <a:pos x="0" y="22"/>
              </a:cxn>
              <a:cxn ang="0">
                <a:pos x="9" y="6"/>
              </a:cxn>
              <a:cxn ang="0">
                <a:pos x="25" y="0"/>
              </a:cxn>
              <a:cxn ang="0">
                <a:pos x="43" y="3"/>
              </a:cxn>
              <a:cxn ang="0">
                <a:pos x="56" y="12"/>
              </a:cxn>
              <a:cxn ang="0">
                <a:pos x="62" y="31"/>
              </a:cxn>
            </a:cxnLst>
            <a:rect l="0" t="0" r="r" b="b"/>
            <a:pathLst>
              <a:path w="62" h="62">
                <a:moveTo>
                  <a:pt x="62" y="31"/>
                </a:moveTo>
                <a:lnTo>
                  <a:pt x="56" y="46"/>
                </a:lnTo>
                <a:lnTo>
                  <a:pt x="43" y="58"/>
                </a:lnTo>
                <a:lnTo>
                  <a:pt x="25" y="62"/>
                </a:lnTo>
                <a:lnTo>
                  <a:pt x="9" y="55"/>
                </a:lnTo>
                <a:lnTo>
                  <a:pt x="0" y="40"/>
                </a:lnTo>
                <a:lnTo>
                  <a:pt x="0" y="22"/>
                </a:lnTo>
                <a:lnTo>
                  <a:pt x="9" y="6"/>
                </a:lnTo>
                <a:lnTo>
                  <a:pt x="25" y="0"/>
                </a:lnTo>
                <a:lnTo>
                  <a:pt x="43" y="3"/>
                </a:lnTo>
                <a:lnTo>
                  <a:pt x="56" y="12"/>
                </a:lnTo>
                <a:lnTo>
                  <a:pt x="62" y="31"/>
                </a:lnTo>
                <a:close/>
              </a:path>
            </a:pathLst>
          </a:custGeom>
          <a:solidFill>
            <a:srgbClr val="000000"/>
          </a:solidFill>
          <a:ln w="4763">
            <a:solidFill>
              <a:srgbClr val="000000"/>
            </a:solidFill>
            <a:prstDash val="solid"/>
            <a:round/>
            <a:headEnd/>
            <a:tailEnd/>
          </a:ln>
        </p:spPr>
        <p:txBody>
          <a:bodyPr/>
          <a:lstStyle/>
          <a:p>
            <a:endParaRPr lang="en-US"/>
          </a:p>
        </p:txBody>
      </p:sp>
      <p:sp>
        <p:nvSpPr>
          <p:cNvPr id="506889" name="Freeform 9"/>
          <p:cNvSpPr>
            <a:spLocks/>
          </p:cNvSpPr>
          <p:nvPr/>
        </p:nvSpPr>
        <p:spPr bwMode="auto">
          <a:xfrm>
            <a:off x="2351088" y="2020888"/>
            <a:ext cx="96837" cy="96837"/>
          </a:xfrm>
          <a:custGeom>
            <a:avLst/>
            <a:gdLst/>
            <a:ahLst/>
            <a:cxnLst>
              <a:cxn ang="0">
                <a:pos x="61" y="31"/>
              </a:cxn>
              <a:cxn ang="0">
                <a:pos x="55" y="49"/>
              </a:cxn>
              <a:cxn ang="0">
                <a:pos x="43" y="58"/>
              </a:cxn>
              <a:cxn ang="0">
                <a:pos x="24" y="61"/>
              </a:cxn>
              <a:cxn ang="0">
                <a:pos x="9" y="55"/>
              </a:cxn>
              <a:cxn ang="0">
                <a:pos x="0" y="40"/>
              </a:cxn>
              <a:cxn ang="0">
                <a:pos x="0" y="21"/>
              </a:cxn>
              <a:cxn ang="0">
                <a:pos x="9" y="6"/>
              </a:cxn>
              <a:cxn ang="0">
                <a:pos x="24" y="0"/>
              </a:cxn>
              <a:cxn ang="0">
                <a:pos x="43" y="3"/>
              </a:cxn>
              <a:cxn ang="0">
                <a:pos x="55" y="15"/>
              </a:cxn>
              <a:cxn ang="0">
                <a:pos x="61" y="31"/>
              </a:cxn>
            </a:cxnLst>
            <a:rect l="0" t="0" r="r" b="b"/>
            <a:pathLst>
              <a:path w="61" h="61">
                <a:moveTo>
                  <a:pt x="61" y="31"/>
                </a:moveTo>
                <a:lnTo>
                  <a:pt x="55" y="49"/>
                </a:lnTo>
                <a:lnTo>
                  <a:pt x="43" y="58"/>
                </a:lnTo>
                <a:lnTo>
                  <a:pt x="24" y="61"/>
                </a:lnTo>
                <a:lnTo>
                  <a:pt x="9" y="55"/>
                </a:lnTo>
                <a:lnTo>
                  <a:pt x="0" y="40"/>
                </a:lnTo>
                <a:lnTo>
                  <a:pt x="0" y="21"/>
                </a:lnTo>
                <a:lnTo>
                  <a:pt x="9" y="6"/>
                </a:lnTo>
                <a:lnTo>
                  <a:pt x="24" y="0"/>
                </a:lnTo>
                <a:lnTo>
                  <a:pt x="43" y="3"/>
                </a:lnTo>
                <a:lnTo>
                  <a:pt x="55" y="15"/>
                </a:lnTo>
                <a:lnTo>
                  <a:pt x="61" y="31"/>
                </a:lnTo>
                <a:close/>
              </a:path>
            </a:pathLst>
          </a:custGeom>
          <a:solidFill>
            <a:srgbClr val="000000"/>
          </a:solidFill>
          <a:ln w="4763">
            <a:solidFill>
              <a:srgbClr val="000000"/>
            </a:solidFill>
            <a:prstDash val="solid"/>
            <a:round/>
            <a:headEnd/>
            <a:tailEnd/>
          </a:ln>
        </p:spPr>
        <p:txBody>
          <a:bodyPr/>
          <a:lstStyle/>
          <a:p>
            <a:endParaRPr lang="en-US"/>
          </a:p>
        </p:txBody>
      </p:sp>
      <p:sp>
        <p:nvSpPr>
          <p:cNvPr id="506890" name="Freeform 10"/>
          <p:cNvSpPr>
            <a:spLocks/>
          </p:cNvSpPr>
          <p:nvPr/>
        </p:nvSpPr>
        <p:spPr bwMode="auto">
          <a:xfrm>
            <a:off x="2447925" y="2317750"/>
            <a:ext cx="96838" cy="101600"/>
          </a:xfrm>
          <a:custGeom>
            <a:avLst/>
            <a:gdLst/>
            <a:ahLst/>
            <a:cxnLst>
              <a:cxn ang="0">
                <a:pos x="61" y="31"/>
              </a:cxn>
              <a:cxn ang="0">
                <a:pos x="58" y="49"/>
              </a:cxn>
              <a:cxn ang="0">
                <a:pos x="43" y="61"/>
              </a:cxn>
              <a:cxn ang="0">
                <a:pos x="28" y="64"/>
              </a:cxn>
              <a:cxn ang="0">
                <a:pos x="9" y="55"/>
              </a:cxn>
              <a:cxn ang="0">
                <a:pos x="0" y="40"/>
              </a:cxn>
              <a:cxn ang="0">
                <a:pos x="0" y="24"/>
              </a:cxn>
              <a:cxn ang="0">
                <a:pos x="9" y="9"/>
              </a:cxn>
              <a:cxn ang="0">
                <a:pos x="28" y="0"/>
              </a:cxn>
              <a:cxn ang="0">
                <a:pos x="43" y="3"/>
              </a:cxn>
              <a:cxn ang="0">
                <a:pos x="58" y="15"/>
              </a:cxn>
              <a:cxn ang="0">
                <a:pos x="61" y="31"/>
              </a:cxn>
            </a:cxnLst>
            <a:rect l="0" t="0" r="r" b="b"/>
            <a:pathLst>
              <a:path w="61" h="64">
                <a:moveTo>
                  <a:pt x="61" y="31"/>
                </a:moveTo>
                <a:lnTo>
                  <a:pt x="58" y="49"/>
                </a:lnTo>
                <a:lnTo>
                  <a:pt x="43" y="61"/>
                </a:lnTo>
                <a:lnTo>
                  <a:pt x="28" y="64"/>
                </a:lnTo>
                <a:lnTo>
                  <a:pt x="9" y="55"/>
                </a:lnTo>
                <a:lnTo>
                  <a:pt x="0" y="40"/>
                </a:lnTo>
                <a:lnTo>
                  <a:pt x="0" y="24"/>
                </a:lnTo>
                <a:lnTo>
                  <a:pt x="9" y="9"/>
                </a:lnTo>
                <a:lnTo>
                  <a:pt x="28" y="0"/>
                </a:lnTo>
                <a:lnTo>
                  <a:pt x="43" y="3"/>
                </a:lnTo>
                <a:lnTo>
                  <a:pt x="58" y="15"/>
                </a:lnTo>
                <a:lnTo>
                  <a:pt x="61" y="31"/>
                </a:lnTo>
                <a:close/>
              </a:path>
            </a:pathLst>
          </a:custGeom>
          <a:solidFill>
            <a:srgbClr val="000000"/>
          </a:solidFill>
          <a:ln w="4763">
            <a:solidFill>
              <a:srgbClr val="000000"/>
            </a:solidFill>
            <a:prstDash val="solid"/>
            <a:round/>
            <a:headEnd/>
            <a:tailEnd/>
          </a:ln>
        </p:spPr>
        <p:txBody>
          <a:bodyPr/>
          <a:lstStyle/>
          <a:p>
            <a:endParaRPr lang="en-US"/>
          </a:p>
        </p:txBody>
      </p:sp>
      <p:sp>
        <p:nvSpPr>
          <p:cNvPr id="506891" name="Freeform 11"/>
          <p:cNvSpPr>
            <a:spLocks/>
          </p:cNvSpPr>
          <p:nvPr/>
        </p:nvSpPr>
        <p:spPr bwMode="auto">
          <a:xfrm>
            <a:off x="2847975" y="2317750"/>
            <a:ext cx="96838" cy="101600"/>
          </a:xfrm>
          <a:custGeom>
            <a:avLst/>
            <a:gdLst/>
            <a:ahLst/>
            <a:cxnLst>
              <a:cxn ang="0">
                <a:pos x="61" y="31"/>
              </a:cxn>
              <a:cxn ang="0">
                <a:pos x="58" y="49"/>
              </a:cxn>
              <a:cxn ang="0">
                <a:pos x="43" y="61"/>
              </a:cxn>
              <a:cxn ang="0">
                <a:pos x="27" y="64"/>
              </a:cxn>
              <a:cxn ang="0">
                <a:pos x="9" y="55"/>
              </a:cxn>
              <a:cxn ang="0">
                <a:pos x="0" y="40"/>
              </a:cxn>
              <a:cxn ang="0">
                <a:pos x="0" y="24"/>
              </a:cxn>
              <a:cxn ang="0">
                <a:pos x="9" y="9"/>
              </a:cxn>
              <a:cxn ang="0">
                <a:pos x="27" y="0"/>
              </a:cxn>
              <a:cxn ang="0">
                <a:pos x="43" y="3"/>
              </a:cxn>
              <a:cxn ang="0">
                <a:pos x="58" y="15"/>
              </a:cxn>
              <a:cxn ang="0">
                <a:pos x="61" y="31"/>
              </a:cxn>
            </a:cxnLst>
            <a:rect l="0" t="0" r="r" b="b"/>
            <a:pathLst>
              <a:path w="61" h="64">
                <a:moveTo>
                  <a:pt x="61" y="31"/>
                </a:moveTo>
                <a:lnTo>
                  <a:pt x="58" y="49"/>
                </a:lnTo>
                <a:lnTo>
                  <a:pt x="43" y="61"/>
                </a:lnTo>
                <a:lnTo>
                  <a:pt x="27" y="64"/>
                </a:lnTo>
                <a:lnTo>
                  <a:pt x="9" y="55"/>
                </a:lnTo>
                <a:lnTo>
                  <a:pt x="0" y="40"/>
                </a:lnTo>
                <a:lnTo>
                  <a:pt x="0" y="24"/>
                </a:lnTo>
                <a:lnTo>
                  <a:pt x="9" y="9"/>
                </a:lnTo>
                <a:lnTo>
                  <a:pt x="27" y="0"/>
                </a:lnTo>
                <a:lnTo>
                  <a:pt x="43" y="3"/>
                </a:lnTo>
                <a:lnTo>
                  <a:pt x="58" y="15"/>
                </a:lnTo>
                <a:lnTo>
                  <a:pt x="61" y="31"/>
                </a:lnTo>
                <a:close/>
              </a:path>
            </a:pathLst>
          </a:custGeom>
          <a:solidFill>
            <a:srgbClr val="000000"/>
          </a:solidFill>
          <a:ln w="4763">
            <a:solidFill>
              <a:srgbClr val="000000"/>
            </a:solidFill>
            <a:prstDash val="solid"/>
            <a:round/>
            <a:headEnd/>
            <a:tailEnd/>
          </a:ln>
        </p:spPr>
        <p:txBody>
          <a:bodyPr/>
          <a:lstStyle/>
          <a:p>
            <a:endParaRPr lang="en-US"/>
          </a:p>
        </p:txBody>
      </p:sp>
      <p:sp>
        <p:nvSpPr>
          <p:cNvPr id="506892" name="Freeform 12"/>
          <p:cNvSpPr>
            <a:spLocks/>
          </p:cNvSpPr>
          <p:nvPr/>
        </p:nvSpPr>
        <p:spPr bwMode="auto">
          <a:xfrm>
            <a:off x="2647950" y="2117725"/>
            <a:ext cx="96838" cy="103188"/>
          </a:xfrm>
          <a:custGeom>
            <a:avLst/>
            <a:gdLst/>
            <a:ahLst/>
            <a:cxnLst>
              <a:cxn ang="0">
                <a:pos x="61" y="34"/>
              </a:cxn>
              <a:cxn ang="0">
                <a:pos x="58" y="49"/>
              </a:cxn>
              <a:cxn ang="0">
                <a:pos x="43" y="61"/>
              </a:cxn>
              <a:cxn ang="0">
                <a:pos x="28" y="65"/>
              </a:cxn>
              <a:cxn ang="0">
                <a:pos x="9" y="55"/>
              </a:cxn>
              <a:cxn ang="0">
                <a:pos x="0" y="40"/>
              </a:cxn>
              <a:cxn ang="0">
                <a:pos x="0" y="25"/>
              </a:cxn>
              <a:cxn ang="0">
                <a:pos x="9" y="9"/>
              </a:cxn>
              <a:cxn ang="0">
                <a:pos x="28" y="0"/>
              </a:cxn>
              <a:cxn ang="0">
                <a:pos x="43" y="3"/>
              </a:cxn>
              <a:cxn ang="0">
                <a:pos x="58" y="16"/>
              </a:cxn>
              <a:cxn ang="0">
                <a:pos x="61" y="34"/>
              </a:cxn>
            </a:cxnLst>
            <a:rect l="0" t="0" r="r" b="b"/>
            <a:pathLst>
              <a:path w="61" h="65">
                <a:moveTo>
                  <a:pt x="61" y="34"/>
                </a:moveTo>
                <a:lnTo>
                  <a:pt x="58" y="49"/>
                </a:lnTo>
                <a:lnTo>
                  <a:pt x="43" y="61"/>
                </a:lnTo>
                <a:lnTo>
                  <a:pt x="28" y="65"/>
                </a:lnTo>
                <a:lnTo>
                  <a:pt x="9" y="55"/>
                </a:lnTo>
                <a:lnTo>
                  <a:pt x="0" y="40"/>
                </a:lnTo>
                <a:lnTo>
                  <a:pt x="0" y="25"/>
                </a:lnTo>
                <a:lnTo>
                  <a:pt x="9" y="9"/>
                </a:lnTo>
                <a:lnTo>
                  <a:pt x="28" y="0"/>
                </a:lnTo>
                <a:lnTo>
                  <a:pt x="43" y="3"/>
                </a:lnTo>
                <a:lnTo>
                  <a:pt x="58" y="16"/>
                </a:lnTo>
                <a:lnTo>
                  <a:pt x="61" y="34"/>
                </a:lnTo>
                <a:close/>
              </a:path>
            </a:pathLst>
          </a:custGeom>
          <a:solidFill>
            <a:srgbClr val="000000"/>
          </a:solidFill>
          <a:ln w="4763">
            <a:solidFill>
              <a:srgbClr val="000000"/>
            </a:solidFill>
            <a:prstDash val="solid"/>
            <a:round/>
            <a:headEnd/>
            <a:tailEnd/>
          </a:ln>
        </p:spPr>
        <p:txBody>
          <a:bodyPr/>
          <a:lstStyle/>
          <a:p>
            <a:endParaRPr lang="en-US"/>
          </a:p>
        </p:txBody>
      </p:sp>
      <p:sp>
        <p:nvSpPr>
          <p:cNvPr id="506893" name="Freeform 13"/>
          <p:cNvSpPr>
            <a:spLocks/>
          </p:cNvSpPr>
          <p:nvPr/>
        </p:nvSpPr>
        <p:spPr bwMode="auto">
          <a:xfrm>
            <a:off x="2647950" y="1724025"/>
            <a:ext cx="96838" cy="96838"/>
          </a:xfrm>
          <a:custGeom>
            <a:avLst/>
            <a:gdLst/>
            <a:ahLst/>
            <a:cxnLst>
              <a:cxn ang="0">
                <a:pos x="61" y="30"/>
              </a:cxn>
              <a:cxn ang="0">
                <a:pos x="58" y="49"/>
              </a:cxn>
              <a:cxn ang="0">
                <a:pos x="43" y="61"/>
              </a:cxn>
              <a:cxn ang="0">
                <a:pos x="28" y="61"/>
              </a:cxn>
              <a:cxn ang="0">
                <a:pos x="9" y="55"/>
              </a:cxn>
              <a:cxn ang="0">
                <a:pos x="0" y="40"/>
              </a:cxn>
              <a:cxn ang="0">
                <a:pos x="0" y="21"/>
              </a:cxn>
              <a:cxn ang="0">
                <a:pos x="9" y="9"/>
              </a:cxn>
              <a:cxn ang="0">
                <a:pos x="28" y="0"/>
              </a:cxn>
              <a:cxn ang="0">
                <a:pos x="43" y="3"/>
              </a:cxn>
              <a:cxn ang="0">
                <a:pos x="58" y="15"/>
              </a:cxn>
              <a:cxn ang="0">
                <a:pos x="61" y="30"/>
              </a:cxn>
            </a:cxnLst>
            <a:rect l="0" t="0" r="r" b="b"/>
            <a:pathLst>
              <a:path w="61" h="61">
                <a:moveTo>
                  <a:pt x="61" y="30"/>
                </a:moveTo>
                <a:lnTo>
                  <a:pt x="58" y="49"/>
                </a:lnTo>
                <a:lnTo>
                  <a:pt x="43" y="61"/>
                </a:lnTo>
                <a:lnTo>
                  <a:pt x="28" y="61"/>
                </a:lnTo>
                <a:lnTo>
                  <a:pt x="9" y="55"/>
                </a:lnTo>
                <a:lnTo>
                  <a:pt x="0" y="40"/>
                </a:lnTo>
                <a:lnTo>
                  <a:pt x="0" y="21"/>
                </a:lnTo>
                <a:lnTo>
                  <a:pt x="9" y="9"/>
                </a:lnTo>
                <a:lnTo>
                  <a:pt x="28" y="0"/>
                </a:lnTo>
                <a:lnTo>
                  <a:pt x="43" y="3"/>
                </a:lnTo>
                <a:lnTo>
                  <a:pt x="58" y="15"/>
                </a:lnTo>
                <a:lnTo>
                  <a:pt x="61" y="30"/>
                </a:lnTo>
                <a:close/>
              </a:path>
            </a:pathLst>
          </a:custGeom>
          <a:solidFill>
            <a:srgbClr val="000000"/>
          </a:solidFill>
          <a:ln w="4763">
            <a:solidFill>
              <a:srgbClr val="000000"/>
            </a:solidFill>
            <a:prstDash val="solid"/>
            <a:round/>
            <a:headEnd/>
            <a:tailEnd/>
          </a:ln>
        </p:spPr>
        <p:txBody>
          <a:bodyPr/>
          <a:lstStyle/>
          <a:p>
            <a:endParaRPr lang="en-US"/>
          </a:p>
        </p:txBody>
      </p:sp>
      <p:sp>
        <p:nvSpPr>
          <p:cNvPr id="506894" name="Freeform 14"/>
          <p:cNvSpPr>
            <a:spLocks/>
          </p:cNvSpPr>
          <p:nvPr/>
        </p:nvSpPr>
        <p:spPr bwMode="auto">
          <a:xfrm>
            <a:off x="3344863" y="4711700"/>
            <a:ext cx="103187" cy="98425"/>
          </a:xfrm>
          <a:custGeom>
            <a:avLst/>
            <a:gdLst/>
            <a:ahLst/>
            <a:cxnLst>
              <a:cxn ang="0">
                <a:pos x="65" y="31"/>
              </a:cxn>
              <a:cxn ang="0">
                <a:pos x="58" y="46"/>
              </a:cxn>
              <a:cxn ang="0">
                <a:pos x="46" y="59"/>
              </a:cxn>
              <a:cxn ang="0">
                <a:pos x="28" y="62"/>
              </a:cxn>
              <a:cxn ang="0">
                <a:pos x="12" y="53"/>
              </a:cxn>
              <a:cxn ang="0">
                <a:pos x="0" y="40"/>
              </a:cxn>
              <a:cxn ang="0">
                <a:pos x="0" y="22"/>
              </a:cxn>
              <a:cxn ang="0">
                <a:pos x="12" y="7"/>
              </a:cxn>
              <a:cxn ang="0">
                <a:pos x="28" y="0"/>
              </a:cxn>
              <a:cxn ang="0">
                <a:pos x="46" y="0"/>
              </a:cxn>
              <a:cxn ang="0">
                <a:pos x="58" y="13"/>
              </a:cxn>
              <a:cxn ang="0">
                <a:pos x="65" y="31"/>
              </a:cxn>
            </a:cxnLst>
            <a:rect l="0" t="0" r="r" b="b"/>
            <a:pathLst>
              <a:path w="65" h="62">
                <a:moveTo>
                  <a:pt x="65" y="31"/>
                </a:moveTo>
                <a:lnTo>
                  <a:pt x="58" y="46"/>
                </a:lnTo>
                <a:lnTo>
                  <a:pt x="46" y="59"/>
                </a:lnTo>
                <a:lnTo>
                  <a:pt x="28" y="62"/>
                </a:lnTo>
                <a:lnTo>
                  <a:pt x="12" y="53"/>
                </a:lnTo>
                <a:lnTo>
                  <a:pt x="0" y="40"/>
                </a:lnTo>
                <a:lnTo>
                  <a:pt x="0" y="22"/>
                </a:lnTo>
                <a:lnTo>
                  <a:pt x="12" y="7"/>
                </a:lnTo>
                <a:lnTo>
                  <a:pt x="28" y="0"/>
                </a:lnTo>
                <a:lnTo>
                  <a:pt x="46" y="0"/>
                </a:lnTo>
                <a:lnTo>
                  <a:pt x="58" y="13"/>
                </a:lnTo>
                <a:lnTo>
                  <a:pt x="65" y="31"/>
                </a:lnTo>
                <a:close/>
              </a:path>
            </a:pathLst>
          </a:custGeom>
          <a:solidFill>
            <a:srgbClr val="000000"/>
          </a:solidFill>
          <a:ln w="4763">
            <a:solidFill>
              <a:srgbClr val="000000"/>
            </a:solidFill>
            <a:prstDash val="solid"/>
            <a:round/>
            <a:headEnd/>
            <a:tailEnd/>
          </a:ln>
        </p:spPr>
        <p:txBody>
          <a:bodyPr/>
          <a:lstStyle/>
          <a:p>
            <a:endParaRPr lang="en-US"/>
          </a:p>
        </p:txBody>
      </p:sp>
      <p:sp>
        <p:nvSpPr>
          <p:cNvPr id="506895" name="Freeform 15"/>
          <p:cNvSpPr>
            <a:spLocks/>
          </p:cNvSpPr>
          <p:nvPr/>
        </p:nvSpPr>
        <p:spPr bwMode="auto">
          <a:xfrm>
            <a:off x="1550988" y="2220913"/>
            <a:ext cx="96837" cy="96837"/>
          </a:xfrm>
          <a:custGeom>
            <a:avLst/>
            <a:gdLst/>
            <a:ahLst/>
            <a:cxnLst>
              <a:cxn ang="0">
                <a:pos x="61" y="30"/>
              </a:cxn>
              <a:cxn ang="0">
                <a:pos x="58" y="49"/>
              </a:cxn>
              <a:cxn ang="0">
                <a:pos x="43" y="58"/>
              </a:cxn>
              <a:cxn ang="0">
                <a:pos x="25" y="61"/>
              </a:cxn>
              <a:cxn ang="0">
                <a:pos x="9" y="55"/>
              </a:cxn>
              <a:cxn ang="0">
                <a:pos x="0" y="39"/>
              </a:cxn>
              <a:cxn ang="0">
                <a:pos x="0" y="21"/>
              </a:cxn>
              <a:cxn ang="0">
                <a:pos x="9" y="6"/>
              </a:cxn>
              <a:cxn ang="0">
                <a:pos x="25" y="0"/>
              </a:cxn>
              <a:cxn ang="0">
                <a:pos x="43" y="3"/>
              </a:cxn>
              <a:cxn ang="0">
                <a:pos x="58" y="12"/>
              </a:cxn>
              <a:cxn ang="0">
                <a:pos x="61" y="30"/>
              </a:cxn>
            </a:cxnLst>
            <a:rect l="0" t="0" r="r" b="b"/>
            <a:pathLst>
              <a:path w="61" h="61">
                <a:moveTo>
                  <a:pt x="61" y="30"/>
                </a:moveTo>
                <a:lnTo>
                  <a:pt x="58" y="49"/>
                </a:lnTo>
                <a:lnTo>
                  <a:pt x="43" y="58"/>
                </a:lnTo>
                <a:lnTo>
                  <a:pt x="25" y="61"/>
                </a:lnTo>
                <a:lnTo>
                  <a:pt x="9" y="55"/>
                </a:lnTo>
                <a:lnTo>
                  <a:pt x="0" y="39"/>
                </a:lnTo>
                <a:lnTo>
                  <a:pt x="0" y="21"/>
                </a:lnTo>
                <a:lnTo>
                  <a:pt x="9" y="6"/>
                </a:lnTo>
                <a:lnTo>
                  <a:pt x="25" y="0"/>
                </a:lnTo>
                <a:lnTo>
                  <a:pt x="43" y="3"/>
                </a:lnTo>
                <a:lnTo>
                  <a:pt x="58" y="12"/>
                </a:lnTo>
                <a:lnTo>
                  <a:pt x="61" y="30"/>
                </a:lnTo>
                <a:close/>
              </a:path>
            </a:pathLst>
          </a:custGeom>
          <a:solidFill>
            <a:srgbClr val="000000"/>
          </a:solidFill>
          <a:ln w="4763">
            <a:solidFill>
              <a:srgbClr val="000000"/>
            </a:solidFill>
            <a:prstDash val="solid"/>
            <a:round/>
            <a:headEnd/>
            <a:tailEnd/>
          </a:ln>
        </p:spPr>
        <p:txBody>
          <a:bodyPr/>
          <a:lstStyle/>
          <a:p>
            <a:endParaRPr lang="en-US"/>
          </a:p>
        </p:txBody>
      </p:sp>
      <p:sp>
        <p:nvSpPr>
          <p:cNvPr id="506896" name="Freeform 16"/>
          <p:cNvSpPr>
            <a:spLocks/>
          </p:cNvSpPr>
          <p:nvPr/>
        </p:nvSpPr>
        <p:spPr bwMode="auto">
          <a:xfrm>
            <a:off x="1223963" y="4410075"/>
            <a:ext cx="98425" cy="98425"/>
          </a:xfrm>
          <a:custGeom>
            <a:avLst/>
            <a:gdLst/>
            <a:ahLst/>
            <a:cxnLst>
              <a:cxn ang="0">
                <a:pos x="62" y="31"/>
              </a:cxn>
              <a:cxn ang="0">
                <a:pos x="56" y="49"/>
              </a:cxn>
              <a:cxn ang="0">
                <a:pos x="43" y="62"/>
              </a:cxn>
              <a:cxn ang="0">
                <a:pos x="25" y="62"/>
              </a:cxn>
              <a:cxn ang="0">
                <a:pos x="9" y="55"/>
              </a:cxn>
              <a:cxn ang="0">
                <a:pos x="0" y="40"/>
              </a:cxn>
              <a:cxn ang="0">
                <a:pos x="0" y="22"/>
              </a:cxn>
              <a:cxn ang="0">
                <a:pos x="9" y="10"/>
              </a:cxn>
              <a:cxn ang="0">
                <a:pos x="25" y="0"/>
              </a:cxn>
              <a:cxn ang="0">
                <a:pos x="43" y="3"/>
              </a:cxn>
              <a:cxn ang="0">
                <a:pos x="56" y="16"/>
              </a:cxn>
              <a:cxn ang="0">
                <a:pos x="62" y="31"/>
              </a:cxn>
            </a:cxnLst>
            <a:rect l="0" t="0" r="r" b="b"/>
            <a:pathLst>
              <a:path w="62" h="62">
                <a:moveTo>
                  <a:pt x="62" y="31"/>
                </a:moveTo>
                <a:lnTo>
                  <a:pt x="56" y="49"/>
                </a:lnTo>
                <a:lnTo>
                  <a:pt x="43" y="62"/>
                </a:lnTo>
                <a:lnTo>
                  <a:pt x="25" y="62"/>
                </a:lnTo>
                <a:lnTo>
                  <a:pt x="9" y="55"/>
                </a:lnTo>
                <a:lnTo>
                  <a:pt x="0" y="40"/>
                </a:lnTo>
                <a:lnTo>
                  <a:pt x="0" y="22"/>
                </a:lnTo>
                <a:lnTo>
                  <a:pt x="9" y="10"/>
                </a:lnTo>
                <a:lnTo>
                  <a:pt x="25" y="0"/>
                </a:lnTo>
                <a:lnTo>
                  <a:pt x="43" y="3"/>
                </a:lnTo>
                <a:lnTo>
                  <a:pt x="56" y="16"/>
                </a:lnTo>
                <a:lnTo>
                  <a:pt x="62" y="31"/>
                </a:lnTo>
                <a:close/>
              </a:path>
            </a:pathLst>
          </a:custGeom>
          <a:solidFill>
            <a:srgbClr val="000000"/>
          </a:solidFill>
          <a:ln w="4763">
            <a:solidFill>
              <a:srgbClr val="000000"/>
            </a:solidFill>
            <a:prstDash val="solid"/>
            <a:round/>
            <a:headEnd/>
            <a:tailEnd/>
          </a:ln>
        </p:spPr>
        <p:txBody>
          <a:bodyPr/>
          <a:lstStyle/>
          <a:p>
            <a:endParaRPr lang="en-US"/>
          </a:p>
        </p:txBody>
      </p:sp>
      <p:sp>
        <p:nvSpPr>
          <p:cNvPr id="506897" name="Freeform 17"/>
          <p:cNvSpPr>
            <a:spLocks/>
          </p:cNvSpPr>
          <p:nvPr/>
        </p:nvSpPr>
        <p:spPr bwMode="auto">
          <a:xfrm>
            <a:off x="1254125" y="5008563"/>
            <a:ext cx="96838" cy="98425"/>
          </a:xfrm>
          <a:custGeom>
            <a:avLst/>
            <a:gdLst/>
            <a:ahLst/>
            <a:cxnLst>
              <a:cxn ang="0">
                <a:pos x="61" y="31"/>
              </a:cxn>
              <a:cxn ang="0">
                <a:pos x="55" y="49"/>
              </a:cxn>
              <a:cxn ang="0">
                <a:pos x="43" y="59"/>
              </a:cxn>
              <a:cxn ang="0">
                <a:pos x="24" y="62"/>
              </a:cxn>
              <a:cxn ang="0">
                <a:pos x="9" y="56"/>
              </a:cxn>
              <a:cxn ang="0">
                <a:pos x="0" y="40"/>
              </a:cxn>
              <a:cxn ang="0">
                <a:pos x="0" y="22"/>
              </a:cxn>
              <a:cxn ang="0">
                <a:pos x="9" y="7"/>
              </a:cxn>
              <a:cxn ang="0">
                <a:pos x="24" y="0"/>
              </a:cxn>
              <a:cxn ang="0">
                <a:pos x="43" y="3"/>
              </a:cxn>
              <a:cxn ang="0">
                <a:pos x="55" y="16"/>
              </a:cxn>
              <a:cxn ang="0">
                <a:pos x="61" y="31"/>
              </a:cxn>
            </a:cxnLst>
            <a:rect l="0" t="0" r="r" b="b"/>
            <a:pathLst>
              <a:path w="61" h="62">
                <a:moveTo>
                  <a:pt x="61" y="31"/>
                </a:moveTo>
                <a:lnTo>
                  <a:pt x="55" y="49"/>
                </a:lnTo>
                <a:lnTo>
                  <a:pt x="43" y="59"/>
                </a:lnTo>
                <a:lnTo>
                  <a:pt x="24" y="62"/>
                </a:lnTo>
                <a:lnTo>
                  <a:pt x="9" y="56"/>
                </a:lnTo>
                <a:lnTo>
                  <a:pt x="0" y="40"/>
                </a:lnTo>
                <a:lnTo>
                  <a:pt x="0" y="22"/>
                </a:lnTo>
                <a:lnTo>
                  <a:pt x="9" y="7"/>
                </a:lnTo>
                <a:lnTo>
                  <a:pt x="24" y="0"/>
                </a:lnTo>
                <a:lnTo>
                  <a:pt x="43" y="3"/>
                </a:lnTo>
                <a:lnTo>
                  <a:pt x="55" y="16"/>
                </a:lnTo>
                <a:lnTo>
                  <a:pt x="61" y="31"/>
                </a:lnTo>
                <a:close/>
              </a:path>
            </a:pathLst>
          </a:custGeom>
          <a:solidFill>
            <a:srgbClr val="000000"/>
          </a:solidFill>
          <a:ln w="4763">
            <a:solidFill>
              <a:srgbClr val="000000"/>
            </a:solidFill>
            <a:prstDash val="solid"/>
            <a:round/>
            <a:headEnd/>
            <a:tailEnd/>
          </a:ln>
        </p:spPr>
        <p:txBody>
          <a:bodyPr/>
          <a:lstStyle/>
          <a:p>
            <a:endParaRPr lang="en-US"/>
          </a:p>
        </p:txBody>
      </p:sp>
      <p:sp>
        <p:nvSpPr>
          <p:cNvPr id="506898" name="Freeform 18"/>
          <p:cNvSpPr>
            <a:spLocks/>
          </p:cNvSpPr>
          <p:nvPr/>
        </p:nvSpPr>
        <p:spPr bwMode="auto">
          <a:xfrm>
            <a:off x="1720850" y="1990725"/>
            <a:ext cx="98425" cy="98425"/>
          </a:xfrm>
          <a:custGeom>
            <a:avLst/>
            <a:gdLst/>
            <a:ahLst/>
            <a:cxnLst>
              <a:cxn ang="0">
                <a:pos x="62" y="31"/>
              </a:cxn>
              <a:cxn ang="0">
                <a:pos x="56" y="46"/>
              </a:cxn>
              <a:cxn ang="0">
                <a:pos x="43" y="59"/>
              </a:cxn>
              <a:cxn ang="0">
                <a:pos x="25" y="62"/>
              </a:cxn>
              <a:cxn ang="0">
                <a:pos x="10" y="56"/>
              </a:cxn>
              <a:cxn ang="0">
                <a:pos x="0" y="40"/>
              </a:cxn>
              <a:cxn ang="0">
                <a:pos x="0" y="22"/>
              </a:cxn>
              <a:cxn ang="0">
                <a:pos x="10" y="7"/>
              </a:cxn>
              <a:cxn ang="0">
                <a:pos x="25" y="0"/>
              </a:cxn>
              <a:cxn ang="0">
                <a:pos x="43" y="4"/>
              </a:cxn>
              <a:cxn ang="0">
                <a:pos x="56" y="13"/>
              </a:cxn>
              <a:cxn ang="0">
                <a:pos x="62" y="31"/>
              </a:cxn>
            </a:cxnLst>
            <a:rect l="0" t="0" r="r" b="b"/>
            <a:pathLst>
              <a:path w="62" h="62">
                <a:moveTo>
                  <a:pt x="62" y="31"/>
                </a:moveTo>
                <a:lnTo>
                  <a:pt x="56" y="46"/>
                </a:lnTo>
                <a:lnTo>
                  <a:pt x="43" y="59"/>
                </a:lnTo>
                <a:lnTo>
                  <a:pt x="25" y="62"/>
                </a:lnTo>
                <a:lnTo>
                  <a:pt x="10" y="56"/>
                </a:lnTo>
                <a:lnTo>
                  <a:pt x="0" y="40"/>
                </a:lnTo>
                <a:lnTo>
                  <a:pt x="0" y="22"/>
                </a:lnTo>
                <a:lnTo>
                  <a:pt x="10" y="7"/>
                </a:lnTo>
                <a:lnTo>
                  <a:pt x="25" y="0"/>
                </a:lnTo>
                <a:lnTo>
                  <a:pt x="43" y="4"/>
                </a:lnTo>
                <a:lnTo>
                  <a:pt x="56" y="13"/>
                </a:lnTo>
                <a:lnTo>
                  <a:pt x="62" y="31"/>
                </a:lnTo>
                <a:close/>
              </a:path>
            </a:pathLst>
          </a:custGeom>
          <a:solidFill>
            <a:srgbClr val="000000"/>
          </a:solidFill>
          <a:ln w="4763">
            <a:solidFill>
              <a:srgbClr val="000000"/>
            </a:solidFill>
            <a:prstDash val="solid"/>
            <a:round/>
            <a:headEnd/>
            <a:tailEnd/>
          </a:ln>
        </p:spPr>
        <p:txBody>
          <a:bodyPr/>
          <a:lstStyle/>
          <a:p>
            <a:endParaRPr lang="en-US"/>
          </a:p>
        </p:txBody>
      </p:sp>
      <p:sp>
        <p:nvSpPr>
          <p:cNvPr id="506899" name="Text Box 19"/>
          <p:cNvSpPr txBox="1">
            <a:spLocks noChangeArrowheads="1"/>
          </p:cNvSpPr>
          <p:nvPr/>
        </p:nvSpPr>
        <p:spPr bwMode="auto">
          <a:xfrm>
            <a:off x="990600" y="5562600"/>
            <a:ext cx="2362200" cy="366713"/>
          </a:xfrm>
          <a:prstGeom prst="rect">
            <a:avLst/>
          </a:prstGeom>
          <a:noFill/>
          <a:ln w="12700">
            <a:noFill/>
            <a:miter lim="800000"/>
            <a:headEnd/>
            <a:tailEnd/>
          </a:ln>
          <a:effectLst/>
        </p:spPr>
        <p:txBody>
          <a:bodyPr>
            <a:spAutoFit/>
          </a:bodyPr>
          <a:lstStyle/>
          <a:p>
            <a:pPr algn="l" eaLnBrk="0" hangingPunct="0">
              <a:spcBef>
                <a:spcPct val="50000"/>
              </a:spcBef>
            </a:pPr>
            <a:r>
              <a:rPr lang="en-US" sz="1800"/>
              <a:t>Original Points</a:t>
            </a:r>
          </a:p>
        </p:txBody>
      </p:sp>
      <p:grpSp>
        <p:nvGrpSpPr>
          <p:cNvPr id="2" name="Group 20"/>
          <p:cNvGrpSpPr>
            <a:grpSpLocks/>
          </p:cNvGrpSpPr>
          <p:nvPr/>
        </p:nvGrpSpPr>
        <p:grpSpPr bwMode="auto">
          <a:xfrm>
            <a:off x="4724400" y="1295400"/>
            <a:ext cx="3581400" cy="4633913"/>
            <a:chOff x="2976" y="816"/>
            <a:chExt cx="2256" cy="2919"/>
          </a:xfrm>
        </p:grpSpPr>
        <p:graphicFrame>
          <p:nvGraphicFramePr>
            <p:cNvPr id="506901" name="Object 21"/>
            <p:cNvGraphicFramePr>
              <a:graphicFrameLocks noChangeAspect="1"/>
            </p:cNvGraphicFramePr>
            <p:nvPr/>
          </p:nvGraphicFramePr>
          <p:xfrm>
            <a:off x="2976" y="816"/>
            <a:ext cx="2125" cy="2876"/>
          </p:xfrm>
          <a:graphic>
            <a:graphicData uri="http://schemas.openxmlformats.org/presentationml/2006/ole">
              <p:oleObj spid="_x0000_s377859" name="VISIO" r:id="rId4" imgW="1547102" imgH="2097084" progId="">
                <p:embed/>
              </p:oleObj>
            </a:graphicData>
          </a:graphic>
        </p:graphicFrame>
        <p:sp>
          <p:nvSpPr>
            <p:cNvPr id="506902" name="Text Box 22"/>
            <p:cNvSpPr txBox="1">
              <a:spLocks noChangeArrowheads="1"/>
            </p:cNvSpPr>
            <p:nvPr/>
          </p:nvSpPr>
          <p:spPr bwMode="auto">
            <a:xfrm>
              <a:off x="3456" y="3504"/>
              <a:ext cx="1776" cy="231"/>
            </a:xfrm>
            <a:prstGeom prst="rect">
              <a:avLst/>
            </a:prstGeom>
            <a:noFill/>
            <a:ln w="12700">
              <a:noFill/>
              <a:miter lim="800000"/>
              <a:headEnd/>
              <a:tailEnd/>
            </a:ln>
            <a:effectLst/>
          </p:spPr>
          <p:txBody>
            <a:bodyPr>
              <a:spAutoFit/>
            </a:bodyPr>
            <a:lstStyle/>
            <a:p>
              <a:pPr algn="l" eaLnBrk="0" hangingPunct="0">
                <a:spcBef>
                  <a:spcPct val="50000"/>
                </a:spcBef>
              </a:pPr>
              <a:r>
                <a:rPr lang="en-US" sz="1800"/>
                <a:t>A Partitional  Clustering</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AFC8F8FF-C2B3-4740-9F50-7786D7D3E963}" type="slidenum">
              <a:rPr lang="en-US"/>
              <a:pPr/>
              <a:t>5</a:t>
            </a:fld>
            <a:endParaRPr lang="en-US"/>
          </a:p>
        </p:txBody>
      </p:sp>
      <p:sp>
        <p:nvSpPr>
          <p:cNvPr id="508930" name="Rectangle 2"/>
          <p:cNvSpPr>
            <a:spLocks noGrp="1" noChangeArrowheads="1"/>
          </p:cNvSpPr>
          <p:nvPr>
            <p:ph type="title"/>
          </p:nvPr>
        </p:nvSpPr>
        <p:spPr>
          <a:xfrm>
            <a:off x="381000" y="152400"/>
            <a:ext cx="8280400" cy="552450"/>
          </a:xfrm>
        </p:spPr>
        <p:txBody>
          <a:bodyPr/>
          <a:lstStyle/>
          <a:p>
            <a:r>
              <a:rPr lang="en-US"/>
              <a:t>Hierarchical Clustering</a:t>
            </a:r>
          </a:p>
        </p:txBody>
      </p:sp>
      <p:graphicFrame>
        <p:nvGraphicFramePr>
          <p:cNvPr id="508932" name="Object 4"/>
          <p:cNvGraphicFramePr>
            <a:graphicFrameLocks noChangeAspect="1"/>
          </p:cNvGraphicFramePr>
          <p:nvPr/>
        </p:nvGraphicFramePr>
        <p:xfrm>
          <a:off x="914400" y="1295400"/>
          <a:ext cx="4495800" cy="2921000"/>
        </p:xfrm>
        <a:graphic>
          <a:graphicData uri="http://schemas.openxmlformats.org/presentationml/2006/ole">
            <p:oleObj spid="_x0000_s378884" name="VISIO" r:id="rId4" imgW="2756614" imgH="1795265" progId="">
              <p:embed/>
            </p:oleObj>
          </a:graphicData>
        </a:graphic>
      </p:graphicFrame>
      <p:graphicFrame>
        <p:nvGraphicFramePr>
          <p:cNvPr id="508933" name="Object 5"/>
          <p:cNvGraphicFramePr>
            <a:graphicFrameLocks noChangeAspect="1"/>
          </p:cNvGraphicFramePr>
          <p:nvPr/>
        </p:nvGraphicFramePr>
        <p:xfrm>
          <a:off x="5400675" y="1066800"/>
          <a:ext cx="2957513" cy="3810000"/>
        </p:xfrm>
        <a:graphic>
          <a:graphicData uri="http://schemas.openxmlformats.org/presentationml/2006/ole">
            <p:oleObj spid="_x0000_s378885" name="VISIO" r:id="rId5" imgW="1379425" imgH="1779615" progId="">
              <p:embed/>
            </p:oleObj>
          </a:graphicData>
        </a:graphic>
      </p:graphicFrame>
      <p:sp>
        <p:nvSpPr>
          <p:cNvPr id="508935" name="Text Box 7"/>
          <p:cNvSpPr txBox="1">
            <a:spLocks noChangeArrowheads="1"/>
          </p:cNvSpPr>
          <p:nvPr/>
        </p:nvSpPr>
        <p:spPr bwMode="auto">
          <a:xfrm>
            <a:off x="1295400" y="4800600"/>
            <a:ext cx="3352800" cy="304800"/>
          </a:xfrm>
          <a:prstGeom prst="rect">
            <a:avLst/>
          </a:prstGeom>
          <a:noFill/>
          <a:ln w="12700">
            <a:noFill/>
            <a:miter lim="800000"/>
            <a:headEnd/>
            <a:tailEnd/>
          </a:ln>
          <a:effectLst/>
        </p:spPr>
        <p:txBody>
          <a:bodyPr>
            <a:spAutoFit/>
          </a:bodyPr>
          <a:lstStyle/>
          <a:p>
            <a:pPr algn="l" eaLnBrk="0" hangingPunct="0">
              <a:spcBef>
                <a:spcPct val="50000"/>
              </a:spcBef>
            </a:pPr>
            <a:r>
              <a:rPr lang="en-US" sz="1400"/>
              <a:t>Traditional Hierarchical Clustering</a:t>
            </a:r>
          </a:p>
        </p:txBody>
      </p:sp>
      <p:sp>
        <p:nvSpPr>
          <p:cNvPr id="508938" name="Text Box 10"/>
          <p:cNvSpPr txBox="1">
            <a:spLocks noChangeArrowheads="1"/>
          </p:cNvSpPr>
          <p:nvPr/>
        </p:nvSpPr>
        <p:spPr bwMode="auto">
          <a:xfrm>
            <a:off x="5867400" y="4876800"/>
            <a:ext cx="2286000" cy="304800"/>
          </a:xfrm>
          <a:prstGeom prst="rect">
            <a:avLst/>
          </a:prstGeom>
          <a:noFill/>
          <a:ln w="12700">
            <a:noFill/>
            <a:miter lim="800000"/>
            <a:headEnd/>
            <a:tailEnd/>
          </a:ln>
          <a:effectLst/>
        </p:spPr>
        <p:txBody>
          <a:bodyPr>
            <a:spAutoFit/>
          </a:bodyPr>
          <a:lstStyle/>
          <a:p>
            <a:pPr algn="l" eaLnBrk="0" hangingPunct="0">
              <a:spcBef>
                <a:spcPct val="50000"/>
              </a:spcBef>
            </a:pPr>
            <a:r>
              <a:rPr lang="en-US" sz="1400"/>
              <a:t>Traditional Dendrogram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fld id="{0D65B0A7-7C05-4458-92A1-0EAFA2F0A7EB}" type="slidenum">
              <a:rPr lang="en-US"/>
              <a:pPr/>
              <a:t>6</a:t>
            </a:fld>
            <a:endParaRPr lang="en-US"/>
          </a:p>
        </p:txBody>
      </p:sp>
      <p:sp>
        <p:nvSpPr>
          <p:cNvPr id="515074" name="Rectangle 2"/>
          <p:cNvSpPr>
            <a:spLocks noChangeArrowheads="1"/>
          </p:cNvSpPr>
          <p:nvPr/>
        </p:nvSpPr>
        <p:spPr bwMode="auto">
          <a:xfrm>
            <a:off x="457200" y="2667000"/>
            <a:ext cx="7924800" cy="3581400"/>
          </a:xfrm>
          <a:prstGeom prst="rect">
            <a:avLst/>
          </a:prstGeom>
          <a:solidFill>
            <a:schemeClr val="bg1"/>
          </a:solidFill>
          <a:ln w="9525" algn="ctr">
            <a:solidFill>
              <a:schemeClr val="tx1"/>
            </a:solidFill>
            <a:miter lim="800000"/>
            <a:headEnd/>
            <a:tailEnd/>
          </a:ln>
          <a:effectLst/>
        </p:spPr>
        <p:txBody>
          <a:bodyPr wrap="none" anchor="ctr"/>
          <a:lstStyle/>
          <a:p>
            <a:endParaRPr lang="en-US"/>
          </a:p>
        </p:txBody>
      </p:sp>
      <p:sp>
        <p:nvSpPr>
          <p:cNvPr id="515075" name="Rectangle 3"/>
          <p:cNvSpPr>
            <a:spLocks noGrp="1" noChangeArrowheads="1"/>
          </p:cNvSpPr>
          <p:nvPr>
            <p:ph type="title"/>
          </p:nvPr>
        </p:nvSpPr>
        <p:spPr>
          <a:xfrm>
            <a:off x="381000" y="152400"/>
            <a:ext cx="8280400" cy="552450"/>
          </a:xfrm>
        </p:spPr>
        <p:txBody>
          <a:bodyPr/>
          <a:lstStyle/>
          <a:p>
            <a:r>
              <a:rPr lang="en-US" sz="3200" dirty="0"/>
              <a:t>Types of Clusters: Well-Separated</a:t>
            </a:r>
          </a:p>
        </p:txBody>
      </p:sp>
      <p:sp>
        <p:nvSpPr>
          <p:cNvPr id="515076" name="Rectangle 4"/>
          <p:cNvSpPr>
            <a:spLocks noGrp="1" noChangeArrowheads="1"/>
          </p:cNvSpPr>
          <p:nvPr>
            <p:ph type="body" idx="1"/>
          </p:nvPr>
        </p:nvSpPr>
        <p:spPr>
          <a:xfrm>
            <a:off x="465138" y="914400"/>
            <a:ext cx="8283575" cy="5407025"/>
          </a:xfrm>
        </p:spPr>
        <p:txBody>
          <a:bodyPr/>
          <a:lstStyle/>
          <a:p>
            <a:pPr>
              <a:lnSpc>
                <a:spcPct val="90000"/>
              </a:lnSpc>
            </a:pPr>
            <a:r>
              <a:rPr lang="en-US" dirty="0"/>
              <a:t>Well-Separated Clusters: </a:t>
            </a:r>
          </a:p>
          <a:p>
            <a:pPr lvl="1">
              <a:lnSpc>
                <a:spcPct val="90000"/>
              </a:lnSpc>
            </a:pPr>
            <a:r>
              <a:rPr lang="en-US" sz="2000" dirty="0"/>
              <a:t>A cluster is a set of points such that any point in a cluster is closer (or more similar) to every other point in the cluster than to any point not in the cluster. </a:t>
            </a:r>
          </a:p>
          <a:p>
            <a:pPr>
              <a:lnSpc>
                <a:spcPct val="90000"/>
              </a:lnSpc>
            </a:pPr>
            <a:endParaRPr lang="en-US" sz="2400" dirty="0"/>
          </a:p>
        </p:txBody>
      </p:sp>
      <p:sp>
        <p:nvSpPr>
          <p:cNvPr id="515077" name="Oval 5"/>
          <p:cNvSpPr>
            <a:spLocks noChangeAspect="1" noChangeArrowheads="1"/>
          </p:cNvSpPr>
          <p:nvPr/>
        </p:nvSpPr>
        <p:spPr bwMode="auto">
          <a:xfrm>
            <a:off x="1447800" y="4570413"/>
            <a:ext cx="1143000" cy="1143000"/>
          </a:xfrm>
          <a:prstGeom prst="ellipse">
            <a:avLst/>
          </a:prstGeom>
          <a:solidFill>
            <a:srgbClr val="00CCFF"/>
          </a:solidFill>
          <a:ln w="9525">
            <a:noFill/>
            <a:round/>
            <a:headEnd/>
            <a:tailEnd/>
          </a:ln>
          <a:effectLst/>
        </p:spPr>
        <p:txBody>
          <a:bodyPr/>
          <a:lstStyle/>
          <a:p>
            <a:endParaRPr lang="en-US"/>
          </a:p>
        </p:txBody>
      </p:sp>
      <p:sp>
        <p:nvSpPr>
          <p:cNvPr id="515078" name="Oval 6"/>
          <p:cNvSpPr>
            <a:spLocks noChangeAspect="1" noChangeArrowheads="1"/>
          </p:cNvSpPr>
          <p:nvPr/>
        </p:nvSpPr>
        <p:spPr bwMode="auto">
          <a:xfrm>
            <a:off x="6018213" y="4570413"/>
            <a:ext cx="1143000" cy="1143000"/>
          </a:xfrm>
          <a:prstGeom prst="ellipse">
            <a:avLst/>
          </a:prstGeom>
          <a:solidFill>
            <a:srgbClr val="00FF00"/>
          </a:solidFill>
          <a:ln w="9525">
            <a:noFill/>
            <a:round/>
            <a:headEnd/>
            <a:tailEnd/>
          </a:ln>
          <a:effectLst/>
        </p:spPr>
        <p:txBody>
          <a:bodyPr/>
          <a:lstStyle/>
          <a:p>
            <a:endParaRPr lang="en-US"/>
          </a:p>
        </p:txBody>
      </p:sp>
      <p:sp>
        <p:nvSpPr>
          <p:cNvPr id="515079" name="Oval 7"/>
          <p:cNvSpPr>
            <a:spLocks noChangeAspect="1" noChangeArrowheads="1"/>
          </p:cNvSpPr>
          <p:nvPr/>
        </p:nvSpPr>
        <p:spPr bwMode="auto">
          <a:xfrm>
            <a:off x="3506788" y="2971800"/>
            <a:ext cx="1143000" cy="1143000"/>
          </a:xfrm>
          <a:prstGeom prst="ellipse">
            <a:avLst/>
          </a:prstGeom>
          <a:solidFill>
            <a:srgbClr val="FF0000"/>
          </a:solidFill>
          <a:ln w="9525">
            <a:noFill/>
            <a:round/>
            <a:headEnd/>
            <a:tailEnd/>
          </a:ln>
          <a:effectLst/>
        </p:spPr>
        <p:txBody>
          <a:bodyPr/>
          <a:lstStyle/>
          <a:p>
            <a:endParaRPr lang="en-US"/>
          </a:p>
        </p:txBody>
      </p:sp>
      <p:sp>
        <p:nvSpPr>
          <p:cNvPr id="515080" name="Text Box 8"/>
          <p:cNvSpPr txBox="1">
            <a:spLocks noChangeArrowheads="1"/>
          </p:cNvSpPr>
          <p:nvPr/>
        </p:nvSpPr>
        <p:spPr bwMode="auto">
          <a:xfrm>
            <a:off x="2971800" y="5791200"/>
            <a:ext cx="3200400" cy="366713"/>
          </a:xfrm>
          <a:prstGeom prst="rect">
            <a:avLst/>
          </a:prstGeom>
          <a:noFill/>
          <a:ln w="12700">
            <a:noFill/>
            <a:miter lim="800000"/>
            <a:headEnd/>
            <a:tailEnd/>
          </a:ln>
          <a:effectLst/>
        </p:spPr>
        <p:txBody>
          <a:bodyPr>
            <a:spAutoFit/>
          </a:bodyPr>
          <a:lstStyle/>
          <a:p>
            <a:pPr algn="l" eaLnBrk="0" hangingPunct="0">
              <a:spcBef>
                <a:spcPct val="50000"/>
              </a:spcBef>
            </a:pPr>
            <a:r>
              <a:rPr lang="en-US" sz="1800"/>
              <a:t>3 well-separated clusters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fld id="{586F9783-03B7-4D3D-82C2-4C46FA37BB4C}" type="slidenum">
              <a:rPr lang="en-US"/>
              <a:pPr/>
              <a:t>7</a:t>
            </a:fld>
            <a:endParaRPr lang="en-US"/>
          </a:p>
        </p:txBody>
      </p:sp>
      <p:sp>
        <p:nvSpPr>
          <p:cNvPr id="517122" name="Rectangle 2"/>
          <p:cNvSpPr>
            <a:spLocks noGrp="1" noChangeArrowheads="1"/>
          </p:cNvSpPr>
          <p:nvPr>
            <p:ph type="title"/>
          </p:nvPr>
        </p:nvSpPr>
        <p:spPr>
          <a:xfrm>
            <a:off x="381000" y="152400"/>
            <a:ext cx="8280400" cy="552450"/>
          </a:xfrm>
        </p:spPr>
        <p:txBody>
          <a:bodyPr/>
          <a:lstStyle/>
          <a:p>
            <a:r>
              <a:rPr lang="en-US" sz="2800"/>
              <a:t>Types of Clusters: Center-Based</a:t>
            </a:r>
          </a:p>
        </p:txBody>
      </p:sp>
      <p:sp>
        <p:nvSpPr>
          <p:cNvPr id="517123" name="Rectangle 3"/>
          <p:cNvSpPr>
            <a:spLocks noGrp="1" noChangeArrowheads="1"/>
          </p:cNvSpPr>
          <p:nvPr>
            <p:ph type="body" idx="1"/>
          </p:nvPr>
        </p:nvSpPr>
        <p:spPr>
          <a:xfrm>
            <a:off x="465138" y="914400"/>
            <a:ext cx="8283575" cy="5407025"/>
          </a:xfrm>
        </p:spPr>
        <p:txBody>
          <a:bodyPr/>
          <a:lstStyle/>
          <a:p>
            <a:pPr>
              <a:lnSpc>
                <a:spcPct val="90000"/>
              </a:lnSpc>
            </a:pPr>
            <a:r>
              <a:rPr lang="en-US"/>
              <a:t>Center-based</a:t>
            </a:r>
          </a:p>
          <a:p>
            <a:pPr lvl="1">
              <a:lnSpc>
                <a:spcPct val="90000"/>
              </a:lnSpc>
            </a:pPr>
            <a:r>
              <a:rPr lang="en-US" sz="2000"/>
              <a:t> A cluster is a set of objects such that an object in a cluster is closer (more similar) to the “center” of a cluster, than to the center of any other cluster  </a:t>
            </a:r>
          </a:p>
          <a:p>
            <a:pPr lvl="1">
              <a:lnSpc>
                <a:spcPct val="90000"/>
              </a:lnSpc>
            </a:pPr>
            <a:r>
              <a:rPr lang="en-US" sz="2000"/>
              <a:t>The center of a cluster is often a centroid, the average of all the points in the cluster, or a medoid, the most “representative” point of a cluster </a:t>
            </a:r>
          </a:p>
          <a:p>
            <a:pPr>
              <a:lnSpc>
                <a:spcPct val="90000"/>
              </a:lnSpc>
            </a:pPr>
            <a:endParaRPr lang="en-US"/>
          </a:p>
        </p:txBody>
      </p:sp>
      <p:sp>
        <p:nvSpPr>
          <p:cNvPr id="517124" name="Oval 4"/>
          <p:cNvSpPr>
            <a:spLocks noChangeAspect="1" noChangeArrowheads="1"/>
          </p:cNvSpPr>
          <p:nvPr/>
        </p:nvSpPr>
        <p:spPr bwMode="auto">
          <a:xfrm>
            <a:off x="1143000" y="4191000"/>
            <a:ext cx="1371600" cy="1371600"/>
          </a:xfrm>
          <a:prstGeom prst="ellipse">
            <a:avLst/>
          </a:prstGeom>
          <a:solidFill>
            <a:srgbClr val="FF0000"/>
          </a:solidFill>
          <a:ln w="9525">
            <a:noFill/>
            <a:round/>
            <a:headEnd/>
            <a:tailEnd/>
          </a:ln>
          <a:effectLst/>
        </p:spPr>
        <p:txBody>
          <a:bodyPr/>
          <a:lstStyle/>
          <a:p>
            <a:endParaRPr lang="en-US"/>
          </a:p>
        </p:txBody>
      </p:sp>
      <p:sp>
        <p:nvSpPr>
          <p:cNvPr id="517125" name="Oval 5"/>
          <p:cNvSpPr>
            <a:spLocks noChangeAspect="1" noChangeArrowheads="1"/>
          </p:cNvSpPr>
          <p:nvPr/>
        </p:nvSpPr>
        <p:spPr bwMode="auto">
          <a:xfrm>
            <a:off x="2514600" y="4191000"/>
            <a:ext cx="1371600" cy="1371600"/>
          </a:xfrm>
          <a:prstGeom prst="ellipse">
            <a:avLst/>
          </a:prstGeom>
          <a:solidFill>
            <a:srgbClr val="3366FF"/>
          </a:solidFill>
          <a:ln w="9525">
            <a:noFill/>
            <a:round/>
            <a:headEnd/>
            <a:tailEnd/>
          </a:ln>
          <a:effectLst/>
        </p:spPr>
        <p:txBody>
          <a:bodyPr/>
          <a:lstStyle/>
          <a:p>
            <a:endParaRPr lang="en-US"/>
          </a:p>
        </p:txBody>
      </p:sp>
      <p:sp>
        <p:nvSpPr>
          <p:cNvPr id="517126" name="Oval 6"/>
          <p:cNvSpPr>
            <a:spLocks noChangeAspect="1" noChangeArrowheads="1"/>
          </p:cNvSpPr>
          <p:nvPr/>
        </p:nvSpPr>
        <p:spPr bwMode="auto">
          <a:xfrm>
            <a:off x="5322888" y="4329113"/>
            <a:ext cx="1166812" cy="1100137"/>
          </a:xfrm>
          <a:prstGeom prst="ellipse">
            <a:avLst/>
          </a:prstGeom>
          <a:solidFill>
            <a:srgbClr val="00FF00"/>
          </a:solidFill>
          <a:ln w="9525">
            <a:noFill/>
            <a:round/>
            <a:headEnd/>
            <a:tailEnd/>
          </a:ln>
          <a:effectLst/>
        </p:spPr>
        <p:txBody>
          <a:bodyPr/>
          <a:lstStyle/>
          <a:p>
            <a:endParaRPr lang="en-US"/>
          </a:p>
        </p:txBody>
      </p:sp>
      <p:sp>
        <p:nvSpPr>
          <p:cNvPr id="517127" name="Oval 7"/>
          <p:cNvSpPr>
            <a:spLocks noChangeAspect="1" noChangeArrowheads="1"/>
          </p:cNvSpPr>
          <p:nvPr/>
        </p:nvSpPr>
        <p:spPr bwMode="auto">
          <a:xfrm>
            <a:off x="6694488" y="4329113"/>
            <a:ext cx="1166812" cy="1100137"/>
          </a:xfrm>
          <a:prstGeom prst="ellipse">
            <a:avLst/>
          </a:prstGeom>
          <a:solidFill>
            <a:srgbClr val="FFCC00"/>
          </a:solidFill>
          <a:ln w="9525">
            <a:noFill/>
            <a:round/>
            <a:headEnd/>
            <a:tailEnd/>
          </a:ln>
          <a:effectLst/>
        </p:spPr>
        <p:txBody>
          <a:bodyPr/>
          <a:lstStyle/>
          <a:p>
            <a:endParaRPr lang="en-US"/>
          </a:p>
        </p:txBody>
      </p:sp>
      <p:sp>
        <p:nvSpPr>
          <p:cNvPr id="517128" name="Text Box 8"/>
          <p:cNvSpPr txBox="1">
            <a:spLocks noChangeArrowheads="1"/>
          </p:cNvSpPr>
          <p:nvPr/>
        </p:nvSpPr>
        <p:spPr bwMode="auto">
          <a:xfrm>
            <a:off x="2971800" y="5791200"/>
            <a:ext cx="3200400" cy="366713"/>
          </a:xfrm>
          <a:prstGeom prst="rect">
            <a:avLst/>
          </a:prstGeom>
          <a:noFill/>
          <a:ln w="12700">
            <a:noFill/>
            <a:miter lim="800000"/>
            <a:headEnd/>
            <a:tailEnd/>
          </a:ln>
          <a:effectLst/>
        </p:spPr>
        <p:txBody>
          <a:bodyPr>
            <a:spAutoFit/>
          </a:bodyPr>
          <a:lstStyle/>
          <a:p>
            <a:pPr algn="l" eaLnBrk="0" hangingPunct="0">
              <a:spcBef>
                <a:spcPct val="50000"/>
              </a:spcBef>
            </a:pPr>
            <a:r>
              <a:rPr lang="en-US" sz="1800"/>
              <a:t>4 center-based clusters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3"/>
          <p:cNvSpPr>
            <a:spLocks noGrp="1"/>
          </p:cNvSpPr>
          <p:nvPr>
            <p:ph type="sldNum" sz="quarter" idx="10"/>
          </p:nvPr>
        </p:nvSpPr>
        <p:spPr/>
        <p:txBody>
          <a:bodyPr/>
          <a:lstStyle/>
          <a:p>
            <a:fld id="{D9E932B9-6A37-4334-97B2-8974C4676F8D}" type="slidenum">
              <a:rPr lang="en-US"/>
              <a:pPr/>
              <a:t>8</a:t>
            </a:fld>
            <a:endParaRPr lang="en-US"/>
          </a:p>
        </p:txBody>
      </p:sp>
      <p:sp>
        <p:nvSpPr>
          <p:cNvPr id="519170" name="Rectangle 2"/>
          <p:cNvSpPr>
            <a:spLocks noGrp="1" noChangeArrowheads="1"/>
          </p:cNvSpPr>
          <p:nvPr>
            <p:ph type="title"/>
          </p:nvPr>
        </p:nvSpPr>
        <p:spPr>
          <a:xfrm>
            <a:off x="381000" y="152400"/>
            <a:ext cx="8280400" cy="552450"/>
          </a:xfrm>
        </p:spPr>
        <p:txBody>
          <a:bodyPr/>
          <a:lstStyle/>
          <a:p>
            <a:r>
              <a:rPr lang="en-US" sz="2800"/>
              <a:t>Types of Clusters: Density-Based</a:t>
            </a:r>
          </a:p>
        </p:txBody>
      </p:sp>
      <p:sp>
        <p:nvSpPr>
          <p:cNvPr id="519171" name="Rectangle 3"/>
          <p:cNvSpPr>
            <a:spLocks noGrp="1" noChangeArrowheads="1"/>
          </p:cNvSpPr>
          <p:nvPr>
            <p:ph type="body" idx="1"/>
          </p:nvPr>
        </p:nvSpPr>
        <p:spPr>
          <a:xfrm>
            <a:off x="465138" y="914400"/>
            <a:ext cx="8283575" cy="5407025"/>
          </a:xfrm>
        </p:spPr>
        <p:txBody>
          <a:bodyPr/>
          <a:lstStyle/>
          <a:p>
            <a:pPr>
              <a:lnSpc>
                <a:spcPct val="90000"/>
              </a:lnSpc>
            </a:pPr>
            <a:r>
              <a:rPr lang="en-US"/>
              <a:t>Density-based</a:t>
            </a:r>
          </a:p>
          <a:p>
            <a:pPr lvl="1">
              <a:lnSpc>
                <a:spcPct val="90000"/>
              </a:lnSpc>
            </a:pPr>
            <a:r>
              <a:rPr lang="en-US" sz="2000"/>
              <a:t>A cluster is a dense region of points, which is separated by low-density regions, from other regions of high density. </a:t>
            </a:r>
          </a:p>
          <a:p>
            <a:pPr lvl="1">
              <a:lnSpc>
                <a:spcPct val="90000"/>
              </a:lnSpc>
            </a:pPr>
            <a:r>
              <a:rPr lang="en-US" sz="2000"/>
              <a:t>Used when the clusters are irregular or intertwined, and when noise and outliers are present. </a:t>
            </a:r>
          </a:p>
        </p:txBody>
      </p:sp>
      <p:grpSp>
        <p:nvGrpSpPr>
          <p:cNvPr id="2" name="Group 4"/>
          <p:cNvGrpSpPr>
            <a:grpSpLocks/>
          </p:cNvGrpSpPr>
          <p:nvPr/>
        </p:nvGrpSpPr>
        <p:grpSpPr bwMode="auto">
          <a:xfrm>
            <a:off x="304800" y="3657600"/>
            <a:ext cx="8610600" cy="1676400"/>
            <a:chOff x="1056" y="3072"/>
            <a:chExt cx="3840" cy="720"/>
          </a:xfrm>
        </p:grpSpPr>
        <p:sp>
          <p:nvSpPr>
            <p:cNvPr id="519173" name="Rectangle 5"/>
            <p:cNvSpPr>
              <a:spLocks noChangeArrowheads="1"/>
            </p:cNvSpPr>
            <p:nvPr/>
          </p:nvSpPr>
          <p:spPr bwMode="auto">
            <a:xfrm>
              <a:off x="1056" y="3072"/>
              <a:ext cx="3840" cy="720"/>
            </a:xfrm>
            <a:prstGeom prst="rect">
              <a:avLst/>
            </a:prstGeom>
            <a:pattFill prst="pct10">
              <a:fgClr>
                <a:schemeClr val="tx1"/>
              </a:fgClr>
              <a:bgClr>
                <a:srgbClr val="FFFFFF"/>
              </a:bgClr>
            </a:pattFill>
            <a:ln w="12700">
              <a:noFill/>
              <a:miter lim="800000"/>
              <a:headEnd/>
              <a:tailEnd/>
            </a:ln>
            <a:effectLst/>
          </p:spPr>
          <p:txBody>
            <a:bodyPr wrap="none" anchor="ctr"/>
            <a:lstStyle/>
            <a:p>
              <a:endParaRPr lang="en-US"/>
            </a:p>
          </p:txBody>
        </p:sp>
        <p:sp>
          <p:nvSpPr>
            <p:cNvPr id="519174" name="Oval 6"/>
            <p:cNvSpPr>
              <a:spLocks noChangeAspect="1" noChangeArrowheads="1"/>
            </p:cNvSpPr>
            <p:nvPr/>
          </p:nvSpPr>
          <p:spPr bwMode="auto">
            <a:xfrm>
              <a:off x="1599" y="3374"/>
              <a:ext cx="134" cy="134"/>
            </a:xfrm>
            <a:prstGeom prst="ellipse">
              <a:avLst/>
            </a:prstGeom>
            <a:solidFill>
              <a:srgbClr val="333399"/>
            </a:solidFill>
            <a:ln w="9525">
              <a:noFill/>
              <a:round/>
              <a:headEnd/>
              <a:tailEnd/>
            </a:ln>
            <a:effectLst/>
          </p:spPr>
          <p:txBody>
            <a:bodyPr/>
            <a:lstStyle/>
            <a:p>
              <a:endParaRPr lang="en-US"/>
            </a:p>
          </p:txBody>
        </p:sp>
        <p:sp>
          <p:nvSpPr>
            <p:cNvPr id="519175" name="AutoShape 7"/>
            <p:cNvSpPr>
              <a:spLocks noChangeAspect="1" noChangeArrowheads="1"/>
            </p:cNvSpPr>
            <p:nvPr/>
          </p:nvSpPr>
          <p:spPr bwMode="auto">
            <a:xfrm rot="-5400000">
              <a:off x="1370" y="3006"/>
              <a:ext cx="525" cy="866"/>
            </a:xfrm>
            <a:custGeom>
              <a:avLst/>
              <a:gdLst>
                <a:gd name="G0" fmla="+- 5892 0 0"/>
                <a:gd name="G1" fmla="+- 9924669 0 0"/>
                <a:gd name="G2" fmla="+- 0 0 9924669"/>
                <a:gd name="T0" fmla="*/ 0 256 1"/>
                <a:gd name="T1" fmla="*/ 180 256 1"/>
                <a:gd name="G3" fmla="+- 9924669 T0 T1"/>
                <a:gd name="T2" fmla="*/ 0 256 1"/>
                <a:gd name="T3" fmla="*/ 90 256 1"/>
                <a:gd name="G4" fmla="+- 9924669 T2 T3"/>
                <a:gd name="G5" fmla="*/ G4 2 1"/>
                <a:gd name="T4" fmla="*/ 90 256 1"/>
                <a:gd name="T5" fmla="*/ 0 256 1"/>
                <a:gd name="G6" fmla="+- 9924669 T4 T5"/>
                <a:gd name="G7" fmla="*/ G6 2 1"/>
                <a:gd name="G8" fmla="abs 992466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892"/>
                <a:gd name="G18" fmla="*/ 5892 1 2"/>
                <a:gd name="G19" fmla="+- G18 5400 0"/>
                <a:gd name="G20" fmla="cos G19 9924669"/>
                <a:gd name="G21" fmla="sin G19 9924669"/>
                <a:gd name="G22" fmla="+- G20 10800 0"/>
                <a:gd name="G23" fmla="+- G21 10800 0"/>
                <a:gd name="G24" fmla="+- 10800 0 G20"/>
                <a:gd name="G25" fmla="+- 5892 10800 0"/>
                <a:gd name="G26" fmla="?: G9 G17 G25"/>
                <a:gd name="G27" fmla="?: G9 0 21600"/>
                <a:gd name="G28" fmla="cos 10800 9924669"/>
                <a:gd name="G29" fmla="sin 10800 9924669"/>
                <a:gd name="G30" fmla="sin 5892 9924669"/>
                <a:gd name="G31" fmla="+- G28 10800 0"/>
                <a:gd name="G32" fmla="+- G29 10800 0"/>
                <a:gd name="G33" fmla="+- G30 10800 0"/>
                <a:gd name="G34" fmla="?: G4 0 G31"/>
                <a:gd name="G35" fmla="?: 9924669 G34 0"/>
                <a:gd name="G36" fmla="?: G6 G35 G31"/>
                <a:gd name="G37" fmla="+- 21600 0 G36"/>
                <a:gd name="G38" fmla="?: G4 0 G33"/>
                <a:gd name="G39" fmla="?: 9924669 G38 G32"/>
                <a:gd name="G40" fmla="?: G6 G39 0"/>
                <a:gd name="G41" fmla="?: G4 G32 21600"/>
                <a:gd name="G42" fmla="?: G6 G41 G33"/>
                <a:gd name="T12" fmla="*/ 10800 w 21600"/>
                <a:gd name="T13" fmla="*/ 0 h 21600"/>
                <a:gd name="T14" fmla="*/ 3469 w 21600"/>
                <a:gd name="T15" fmla="*/ 14790 h 21600"/>
                <a:gd name="T16" fmla="*/ 10800 w 21600"/>
                <a:gd name="T17" fmla="*/ 4908 h 21600"/>
                <a:gd name="T18" fmla="*/ 18131 w 21600"/>
                <a:gd name="T19" fmla="*/ 1479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625" y="13616"/>
                  </a:moveTo>
                  <a:cubicBezTo>
                    <a:pt x="5154" y="12752"/>
                    <a:pt x="4908" y="11784"/>
                    <a:pt x="4908" y="10800"/>
                  </a:cubicBezTo>
                  <a:cubicBezTo>
                    <a:pt x="4908" y="7545"/>
                    <a:pt x="7545" y="4908"/>
                    <a:pt x="10800" y="4908"/>
                  </a:cubicBezTo>
                  <a:cubicBezTo>
                    <a:pt x="14054" y="4908"/>
                    <a:pt x="16692" y="7545"/>
                    <a:pt x="16692" y="10800"/>
                  </a:cubicBezTo>
                  <a:cubicBezTo>
                    <a:pt x="16692" y="11784"/>
                    <a:pt x="16445" y="12752"/>
                    <a:pt x="15974" y="13616"/>
                  </a:cubicBezTo>
                  <a:lnTo>
                    <a:pt x="20285" y="15963"/>
                  </a:lnTo>
                  <a:cubicBezTo>
                    <a:pt x="21148" y="14379"/>
                    <a:pt x="21600" y="12603"/>
                    <a:pt x="21600" y="10800"/>
                  </a:cubicBezTo>
                  <a:cubicBezTo>
                    <a:pt x="21600" y="4835"/>
                    <a:pt x="16764" y="0"/>
                    <a:pt x="10800" y="0"/>
                  </a:cubicBezTo>
                  <a:cubicBezTo>
                    <a:pt x="4835" y="0"/>
                    <a:pt x="0" y="4835"/>
                    <a:pt x="0" y="10800"/>
                  </a:cubicBezTo>
                  <a:cubicBezTo>
                    <a:pt x="-1" y="12603"/>
                    <a:pt x="451" y="14379"/>
                    <a:pt x="1314" y="15963"/>
                  </a:cubicBezTo>
                  <a:close/>
                </a:path>
              </a:pathLst>
            </a:custGeom>
            <a:solidFill>
              <a:schemeClr val="accent1"/>
            </a:solidFill>
            <a:ln w="9525">
              <a:noFill/>
              <a:miter lim="800000"/>
              <a:headEnd/>
              <a:tailEnd/>
            </a:ln>
            <a:effectLst/>
          </p:spPr>
          <p:txBody>
            <a:bodyPr/>
            <a:lstStyle/>
            <a:p>
              <a:endParaRPr lang="en-US"/>
            </a:p>
          </p:txBody>
        </p:sp>
        <p:sp>
          <p:nvSpPr>
            <p:cNvPr id="519176" name="Oval 8"/>
            <p:cNvSpPr>
              <a:spLocks noChangeAspect="1" noChangeArrowheads="1"/>
            </p:cNvSpPr>
            <p:nvPr/>
          </p:nvSpPr>
          <p:spPr bwMode="auto">
            <a:xfrm>
              <a:off x="1932" y="3374"/>
              <a:ext cx="134" cy="134"/>
            </a:xfrm>
            <a:prstGeom prst="ellipse">
              <a:avLst/>
            </a:prstGeom>
            <a:solidFill>
              <a:srgbClr val="00CCFF"/>
            </a:solidFill>
            <a:ln w="9525">
              <a:noFill/>
              <a:round/>
              <a:headEnd/>
              <a:tailEnd/>
            </a:ln>
            <a:effectLst/>
          </p:spPr>
          <p:txBody>
            <a:bodyPr/>
            <a:lstStyle/>
            <a:p>
              <a:endParaRPr lang="en-US"/>
            </a:p>
          </p:txBody>
        </p:sp>
        <p:sp>
          <p:nvSpPr>
            <p:cNvPr id="519177" name="Oval 9"/>
            <p:cNvSpPr>
              <a:spLocks noChangeAspect="1" noChangeArrowheads="1"/>
            </p:cNvSpPr>
            <p:nvPr/>
          </p:nvSpPr>
          <p:spPr bwMode="auto">
            <a:xfrm>
              <a:off x="3664" y="3257"/>
              <a:ext cx="376" cy="355"/>
            </a:xfrm>
            <a:prstGeom prst="ellipse">
              <a:avLst/>
            </a:prstGeom>
            <a:solidFill>
              <a:srgbClr val="00FF00"/>
            </a:solidFill>
            <a:ln w="9525">
              <a:noFill/>
              <a:round/>
              <a:headEnd/>
              <a:tailEnd/>
            </a:ln>
            <a:effectLst/>
          </p:spPr>
          <p:txBody>
            <a:bodyPr/>
            <a:lstStyle/>
            <a:p>
              <a:endParaRPr lang="en-US"/>
            </a:p>
          </p:txBody>
        </p:sp>
        <p:sp>
          <p:nvSpPr>
            <p:cNvPr id="519178" name="Oval 10"/>
            <p:cNvSpPr>
              <a:spLocks noChangeAspect="1" noChangeArrowheads="1"/>
            </p:cNvSpPr>
            <p:nvPr/>
          </p:nvSpPr>
          <p:spPr bwMode="auto">
            <a:xfrm>
              <a:off x="4108" y="3257"/>
              <a:ext cx="376" cy="355"/>
            </a:xfrm>
            <a:prstGeom prst="ellipse">
              <a:avLst/>
            </a:prstGeom>
            <a:solidFill>
              <a:srgbClr val="FFCC00"/>
            </a:solidFill>
            <a:ln w="9525">
              <a:noFill/>
              <a:round/>
              <a:headEnd/>
              <a:tailEnd/>
            </a:ln>
            <a:effectLst/>
          </p:spPr>
          <p:txBody>
            <a:bodyPr/>
            <a:lstStyle/>
            <a:p>
              <a:endParaRPr lang="en-US"/>
            </a:p>
          </p:txBody>
        </p:sp>
        <p:sp>
          <p:nvSpPr>
            <p:cNvPr id="519179" name="Oval 11"/>
            <p:cNvSpPr>
              <a:spLocks noChangeAspect="1" noChangeArrowheads="1"/>
            </p:cNvSpPr>
            <p:nvPr/>
          </p:nvSpPr>
          <p:spPr bwMode="auto">
            <a:xfrm>
              <a:off x="2420" y="3168"/>
              <a:ext cx="444" cy="444"/>
            </a:xfrm>
            <a:prstGeom prst="ellipse">
              <a:avLst/>
            </a:prstGeom>
            <a:solidFill>
              <a:srgbClr val="3366FF"/>
            </a:solidFill>
            <a:ln w="9525">
              <a:noFill/>
              <a:round/>
              <a:headEnd/>
              <a:tailEnd/>
            </a:ln>
            <a:effectLst/>
          </p:spPr>
          <p:txBody>
            <a:bodyPr/>
            <a:lstStyle/>
            <a:p>
              <a:endParaRPr lang="en-US"/>
            </a:p>
          </p:txBody>
        </p:sp>
        <p:sp>
          <p:nvSpPr>
            <p:cNvPr id="519180" name="Oval 12"/>
            <p:cNvSpPr>
              <a:spLocks noChangeAspect="1" noChangeArrowheads="1"/>
            </p:cNvSpPr>
            <p:nvPr/>
          </p:nvSpPr>
          <p:spPr bwMode="auto">
            <a:xfrm>
              <a:off x="2819" y="3168"/>
              <a:ext cx="444" cy="444"/>
            </a:xfrm>
            <a:prstGeom prst="ellipse">
              <a:avLst/>
            </a:prstGeom>
            <a:solidFill>
              <a:srgbClr val="3366FF"/>
            </a:solidFill>
            <a:ln w="9525">
              <a:noFill/>
              <a:round/>
              <a:headEnd/>
              <a:tailEnd/>
            </a:ln>
            <a:effectLst/>
          </p:spPr>
          <p:txBody>
            <a:bodyPr/>
            <a:lstStyle/>
            <a:p>
              <a:endParaRPr lang="en-US"/>
            </a:p>
          </p:txBody>
        </p:sp>
      </p:grpSp>
      <p:sp>
        <p:nvSpPr>
          <p:cNvPr id="519181" name="Text Box 13"/>
          <p:cNvSpPr txBox="1">
            <a:spLocks noChangeArrowheads="1"/>
          </p:cNvSpPr>
          <p:nvPr/>
        </p:nvSpPr>
        <p:spPr bwMode="auto">
          <a:xfrm>
            <a:off x="2971800" y="5791200"/>
            <a:ext cx="3200400" cy="366713"/>
          </a:xfrm>
          <a:prstGeom prst="rect">
            <a:avLst/>
          </a:prstGeom>
          <a:noFill/>
          <a:ln w="12700">
            <a:noFill/>
            <a:miter lim="800000"/>
            <a:headEnd/>
            <a:tailEnd/>
          </a:ln>
          <a:effectLst/>
        </p:spPr>
        <p:txBody>
          <a:bodyPr>
            <a:spAutoFit/>
          </a:bodyPr>
          <a:lstStyle/>
          <a:p>
            <a:pPr algn="l" eaLnBrk="0" hangingPunct="0">
              <a:spcBef>
                <a:spcPct val="50000"/>
              </a:spcBef>
            </a:pPr>
            <a:r>
              <a:rPr lang="en-US" sz="1800"/>
              <a:t>6 density-based clusters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3E902CFF-4F01-42D5-9E93-EF620CE39C3C}" type="slidenum">
              <a:rPr lang="en-US"/>
              <a:pPr/>
              <a:t>9</a:t>
            </a:fld>
            <a:endParaRPr lang="en-US"/>
          </a:p>
        </p:txBody>
      </p:sp>
      <p:sp>
        <p:nvSpPr>
          <p:cNvPr id="497666" name="Rectangle 2"/>
          <p:cNvSpPr>
            <a:spLocks noGrp="1" noChangeArrowheads="1"/>
          </p:cNvSpPr>
          <p:nvPr>
            <p:ph type="title"/>
          </p:nvPr>
        </p:nvSpPr>
        <p:spPr>
          <a:xfrm>
            <a:off x="533400" y="304800"/>
            <a:ext cx="7772400" cy="914400"/>
          </a:xfrm>
        </p:spPr>
        <p:txBody>
          <a:bodyPr/>
          <a:lstStyle/>
          <a:p>
            <a:r>
              <a:rPr lang="en-US" dirty="0"/>
              <a:t>Data Structures Used</a:t>
            </a:r>
            <a:endParaRPr lang="en-GB" dirty="0"/>
          </a:p>
        </p:txBody>
      </p:sp>
      <p:sp>
        <p:nvSpPr>
          <p:cNvPr id="497667" name="Rectangle 3"/>
          <p:cNvSpPr>
            <a:spLocks noGrp="1" noChangeArrowheads="1"/>
          </p:cNvSpPr>
          <p:nvPr>
            <p:ph type="body" idx="1"/>
          </p:nvPr>
        </p:nvSpPr>
        <p:spPr/>
        <p:txBody>
          <a:bodyPr/>
          <a:lstStyle/>
          <a:p>
            <a:r>
              <a:rPr lang="en-US" dirty="0"/>
              <a:t>Data matrix</a:t>
            </a:r>
          </a:p>
          <a:p>
            <a:pPr lvl="1"/>
            <a:endParaRPr lang="en-US" dirty="0"/>
          </a:p>
          <a:p>
            <a:pPr lvl="1"/>
            <a:endParaRPr lang="en-US" dirty="0"/>
          </a:p>
          <a:p>
            <a:pPr lvl="1"/>
            <a:endParaRPr lang="en-US" dirty="0"/>
          </a:p>
          <a:p>
            <a:r>
              <a:rPr lang="en-US" dirty="0"/>
              <a:t>Similarity </a:t>
            </a:r>
            <a:r>
              <a:rPr lang="en-US" dirty="0" smtClean="0"/>
              <a:t>matrix</a:t>
            </a:r>
            <a:endParaRPr lang="en-US" dirty="0"/>
          </a:p>
        </p:txBody>
      </p:sp>
      <p:graphicFrame>
        <p:nvGraphicFramePr>
          <p:cNvPr id="497668" name="Object 4"/>
          <p:cNvGraphicFramePr>
            <a:graphicFrameLocks noChangeAspect="1"/>
          </p:cNvGraphicFramePr>
          <p:nvPr/>
        </p:nvGraphicFramePr>
        <p:xfrm>
          <a:off x="4800600" y="1524000"/>
          <a:ext cx="3124200" cy="2058988"/>
        </p:xfrm>
        <a:graphic>
          <a:graphicData uri="http://schemas.openxmlformats.org/presentationml/2006/ole">
            <p:oleObj spid="_x0000_s379908" name="Equation" r:id="rId3" imgW="1778000" imgH="1244600" progId="Equation.3">
              <p:embed/>
            </p:oleObj>
          </a:graphicData>
        </a:graphic>
      </p:graphicFrame>
      <p:graphicFrame>
        <p:nvGraphicFramePr>
          <p:cNvPr id="497669" name="Object 5"/>
          <p:cNvGraphicFramePr>
            <a:graphicFrameLocks noChangeAspect="1"/>
          </p:cNvGraphicFramePr>
          <p:nvPr/>
        </p:nvGraphicFramePr>
        <p:xfrm>
          <a:off x="4800600" y="3962400"/>
          <a:ext cx="3429000" cy="1970088"/>
        </p:xfrm>
        <a:graphic>
          <a:graphicData uri="http://schemas.openxmlformats.org/presentationml/2006/ole">
            <p:oleObj spid="_x0000_s379909" name="Equation" r:id="rId4" imgW="1828800" imgH="11430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97666"/>
                                        </p:tgtEl>
                                        <p:attrNameLst>
                                          <p:attrName>style.visibility</p:attrName>
                                        </p:attrNameLst>
                                      </p:cBhvr>
                                      <p:to>
                                        <p:strVal val="visible"/>
                                      </p:to>
                                    </p:set>
                                    <p:anim calcmode="lin" valueType="num">
                                      <p:cBhvr additive="base">
                                        <p:cTn id="7" dur="500" fill="hold"/>
                                        <p:tgtEl>
                                          <p:spTgt spid="497666"/>
                                        </p:tgtEl>
                                        <p:attrNameLst>
                                          <p:attrName>ppt_x</p:attrName>
                                        </p:attrNameLst>
                                      </p:cBhvr>
                                      <p:tavLst>
                                        <p:tav tm="0">
                                          <p:val>
                                            <p:strVal val="0-#ppt_w/2"/>
                                          </p:val>
                                        </p:tav>
                                        <p:tav tm="100000">
                                          <p:val>
                                            <p:strVal val="#ppt_x"/>
                                          </p:val>
                                        </p:tav>
                                      </p:tavLst>
                                    </p:anim>
                                    <p:anim calcmode="lin" valueType="num">
                                      <p:cBhvr additive="base">
                                        <p:cTn id="8" dur="500" fill="hold"/>
                                        <p:tgtEl>
                                          <p:spTgt spid="4976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97667"/>
                                        </p:tgtEl>
                                        <p:attrNameLst>
                                          <p:attrName>style.visibility</p:attrName>
                                        </p:attrNameLst>
                                      </p:cBhvr>
                                      <p:to>
                                        <p:strVal val="visible"/>
                                      </p:to>
                                    </p:set>
                                    <p:anim calcmode="lin" valueType="num">
                                      <p:cBhvr>
                                        <p:cTn id="13" dur="500" fill="hold"/>
                                        <p:tgtEl>
                                          <p:spTgt spid="497667"/>
                                        </p:tgtEl>
                                        <p:attrNameLst>
                                          <p:attrName>ppt_w</p:attrName>
                                        </p:attrNameLst>
                                      </p:cBhvr>
                                      <p:tavLst>
                                        <p:tav tm="0">
                                          <p:val>
                                            <p:fltVal val="0"/>
                                          </p:val>
                                        </p:tav>
                                        <p:tav tm="100000">
                                          <p:val>
                                            <p:strVal val="#ppt_w"/>
                                          </p:val>
                                        </p:tav>
                                      </p:tavLst>
                                    </p:anim>
                                    <p:anim calcmode="lin" valueType="num">
                                      <p:cBhvr>
                                        <p:cTn id="14" dur="500" fill="hold"/>
                                        <p:tgtEl>
                                          <p:spTgt spid="497667"/>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3" presetClass="entr" presetSubtype="16" fill="hold" nodeType="afterEffect">
                                  <p:stCondLst>
                                    <p:cond delay="0"/>
                                  </p:stCondLst>
                                  <p:childTnLst>
                                    <p:set>
                                      <p:cBhvr>
                                        <p:cTn id="17" dur="1" fill="hold">
                                          <p:stCondLst>
                                            <p:cond delay="0"/>
                                          </p:stCondLst>
                                        </p:cTn>
                                        <p:tgtEl>
                                          <p:spTgt spid="497668"/>
                                        </p:tgtEl>
                                        <p:attrNameLst>
                                          <p:attrName>style.visibility</p:attrName>
                                        </p:attrNameLst>
                                      </p:cBhvr>
                                      <p:to>
                                        <p:strVal val="visible"/>
                                      </p:to>
                                    </p:set>
                                    <p:anim calcmode="lin" valueType="num">
                                      <p:cBhvr>
                                        <p:cTn id="18" dur="500" fill="hold"/>
                                        <p:tgtEl>
                                          <p:spTgt spid="497668"/>
                                        </p:tgtEl>
                                        <p:attrNameLst>
                                          <p:attrName>ppt_w</p:attrName>
                                        </p:attrNameLst>
                                      </p:cBhvr>
                                      <p:tavLst>
                                        <p:tav tm="0">
                                          <p:val>
                                            <p:fltVal val="0"/>
                                          </p:val>
                                        </p:tav>
                                        <p:tav tm="100000">
                                          <p:val>
                                            <p:strVal val="#ppt_w"/>
                                          </p:val>
                                        </p:tav>
                                      </p:tavLst>
                                    </p:anim>
                                    <p:anim calcmode="lin" valueType="num">
                                      <p:cBhvr>
                                        <p:cTn id="19" dur="500" fill="hold"/>
                                        <p:tgtEl>
                                          <p:spTgt spid="497668"/>
                                        </p:tgtEl>
                                        <p:attrNameLst>
                                          <p:attrName>ppt_h</p:attrName>
                                        </p:attrNameLst>
                                      </p:cBhvr>
                                      <p:tavLst>
                                        <p:tav tm="0">
                                          <p:val>
                                            <p:fltVal val="0"/>
                                          </p:val>
                                        </p:tav>
                                        <p:tav tm="100000">
                                          <p:val>
                                            <p:strVal val="#ppt_h"/>
                                          </p:val>
                                        </p:tav>
                                      </p:tavLst>
                                    </p:anim>
                                  </p:childTnLst>
                                </p:cTn>
                              </p:par>
                            </p:childTnLst>
                          </p:cTn>
                        </p:par>
                        <p:par>
                          <p:cTn id="20" fill="hold">
                            <p:stCondLst>
                              <p:cond delay="1000"/>
                            </p:stCondLst>
                            <p:childTnLst>
                              <p:par>
                                <p:cTn id="21" presetID="23" presetClass="entr" presetSubtype="16" fill="hold" nodeType="afterEffect">
                                  <p:stCondLst>
                                    <p:cond delay="0"/>
                                  </p:stCondLst>
                                  <p:childTnLst>
                                    <p:set>
                                      <p:cBhvr>
                                        <p:cTn id="22" dur="1" fill="hold">
                                          <p:stCondLst>
                                            <p:cond delay="0"/>
                                          </p:stCondLst>
                                        </p:cTn>
                                        <p:tgtEl>
                                          <p:spTgt spid="497669"/>
                                        </p:tgtEl>
                                        <p:attrNameLst>
                                          <p:attrName>style.visibility</p:attrName>
                                        </p:attrNameLst>
                                      </p:cBhvr>
                                      <p:to>
                                        <p:strVal val="visible"/>
                                      </p:to>
                                    </p:set>
                                    <p:anim calcmode="lin" valueType="num">
                                      <p:cBhvr>
                                        <p:cTn id="23" dur="500" fill="hold"/>
                                        <p:tgtEl>
                                          <p:spTgt spid="497669"/>
                                        </p:tgtEl>
                                        <p:attrNameLst>
                                          <p:attrName>ppt_w</p:attrName>
                                        </p:attrNameLst>
                                      </p:cBhvr>
                                      <p:tavLst>
                                        <p:tav tm="0">
                                          <p:val>
                                            <p:fltVal val="0"/>
                                          </p:val>
                                        </p:tav>
                                        <p:tav tm="100000">
                                          <p:val>
                                            <p:strVal val="#ppt_w"/>
                                          </p:val>
                                        </p:tav>
                                      </p:tavLst>
                                    </p:anim>
                                    <p:anim calcmode="lin" valueType="num">
                                      <p:cBhvr>
                                        <p:cTn id="24" dur="500" fill="hold"/>
                                        <p:tgtEl>
                                          <p:spTgt spid="49766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6" grpId="0" autoUpdateAnimBg="0"/>
      <p:bldP spid="49766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0" y="76200"/>
            <a:ext cx="9144000" cy="685800"/>
          </a:xfrm>
          <a:noFill/>
          <a:ln/>
        </p:spPr>
        <p:txBody>
          <a:bodyPr lIns="92075" tIns="46038" rIns="92075" bIns="46038"/>
          <a:lstStyle/>
          <a:p>
            <a:r>
              <a:rPr lang="en-US" sz="3200" dirty="0"/>
              <a:t>Partitioning (</a:t>
            </a:r>
            <a:r>
              <a:rPr lang="en-US" sz="3200" dirty="0" err="1"/>
              <a:t>Centeroid</a:t>
            </a:r>
            <a:r>
              <a:rPr lang="en-US" sz="3200" dirty="0"/>
              <a:t>-Based) Algorithms</a:t>
            </a:r>
            <a:endParaRPr lang="en-US" sz="3200" b="1" dirty="0"/>
          </a:p>
        </p:txBody>
      </p:sp>
      <p:sp>
        <p:nvSpPr>
          <p:cNvPr id="459779" name="Rectangle 3"/>
          <p:cNvSpPr>
            <a:spLocks noGrp="1" noChangeArrowheads="1"/>
          </p:cNvSpPr>
          <p:nvPr>
            <p:ph type="body" idx="1"/>
          </p:nvPr>
        </p:nvSpPr>
        <p:spPr>
          <a:xfrm>
            <a:off x="304800" y="762000"/>
            <a:ext cx="8383588" cy="5410200"/>
          </a:xfrm>
          <a:noFill/>
          <a:ln/>
        </p:spPr>
        <p:txBody>
          <a:bodyPr lIns="92075" tIns="46038" rIns="92075" bIns="46038"/>
          <a:lstStyle/>
          <a:p>
            <a:pPr>
              <a:lnSpc>
                <a:spcPct val="110000"/>
              </a:lnSpc>
            </a:pPr>
            <a:r>
              <a:rPr lang="en-US" sz="2800" dirty="0"/>
              <a:t>Construct a partition of a database </a:t>
            </a:r>
            <a:r>
              <a:rPr lang="en-US" sz="2800" b="1" i="1" dirty="0"/>
              <a:t>D</a:t>
            </a:r>
            <a:r>
              <a:rPr lang="en-US" sz="2800" dirty="0"/>
              <a:t> of </a:t>
            </a:r>
            <a:r>
              <a:rPr lang="en-US" sz="2800" b="1" i="1" dirty="0"/>
              <a:t>n</a:t>
            </a:r>
            <a:r>
              <a:rPr lang="en-US" sz="2800" dirty="0"/>
              <a:t> objects into a set of </a:t>
            </a:r>
            <a:r>
              <a:rPr lang="en-US" sz="2800" b="1" i="1" dirty="0"/>
              <a:t>k</a:t>
            </a:r>
            <a:r>
              <a:rPr lang="en-US" sz="2800" dirty="0"/>
              <a:t> clusters</a:t>
            </a:r>
          </a:p>
          <a:p>
            <a:pPr>
              <a:lnSpc>
                <a:spcPct val="110000"/>
              </a:lnSpc>
            </a:pPr>
            <a:r>
              <a:rPr lang="en-US" sz="2800" dirty="0"/>
              <a:t>Given a </a:t>
            </a:r>
            <a:r>
              <a:rPr lang="en-US" sz="2800" i="1" dirty="0"/>
              <a:t>k</a:t>
            </a:r>
            <a:r>
              <a:rPr lang="en-US" sz="2800" dirty="0"/>
              <a:t>, find a partition of </a:t>
            </a:r>
            <a:r>
              <a:rPr lang="en-US" sz="2800" i="1" dirty="0"/>
              <a:t>k clusters </a:t>
            </a:r>
            <a:r>
              <a:rPr lang="en-US" sz="2800" dirty="0"/>
              <a:t>that optimizes the chosen partitioning criterion</a:t>
            </a:r>
          </a:p>
          <a:p>
            <a:pPr lvl="1">
              <a:lnSpc>
                <a:spcPct val="110000"/>
              </a:lnSpc>
            </a:pPr>
            <a:endParaRPr lang="en-US" sz="600" i="1" u="sng" dirty="0"/>
          </a:p>
          <a:p>
            <a:pPr lvl="1">
              <a:lnSpc>
                <a:spcPct val="110000"/>
              </a:lnSpc>
            </a:pPr>
            <a:r>
              <a:rPr lang="en-US" sz="2400" i="1" u="sng" dirty="0"/>
              <a:t>k-means</a:t>
            </a:r>
            <a:r>
              <a:rPr lang="en-US" sz="2400" dirty="0"/>
              <a:t> (MacQueen’67)</a:t>
            </a:r>
          </a:p>
          <a:p>
            <a:pPr lvl="2">
              <a:lnSpc>
                <a:spcPct val="110000"/>
              </a:lnSpc>
            </a:pPr>
            <a:r>
              <a:rPr lang="en-US" sz="2200" dirty="0"/>
              <a:t>Each cluster is represented by the center of the cluster</a:t>
            </a:r>
          </a:p>
          <a:p>
            <a:pPr lvl="2">
              <a:lnSpc>
                <a:spcPct val="110000"/>
              </a:lnSpc>
            </a:pPr>
            <a:r>
              <a:rPr lang="en-US" sz="2200" dirty="0"/>
              <a:t>A Euclidean Distance based method, mostly used for interval/ratio scaled data</a:t>
            </a:r>
          </a:p>
          <a:p>
            <a:pPr lvl="1">
              <a:lnSpc>
                <a:spcPct val="110000"/>
              </a:lnSpc>
            </a:pPr>
            <a:endParaRPr lang="en-US" sz="900" i="1" u="sng" dirty="0"/>
          </a:p>
          <a:p>
            <a:pPr lvl="1">
              <a:lnSpc>
                <a:spcPct val="110000"/>
              </a:lnSpc>
            </a:pPr>
            <a:r>
              <a:rPr lang="en-US" sz="2400" i="1" u="sng" dirty="0"/>
              <a:t>k-</a:t>
            </a:r>
            <a:r>
              <a:rPr lang="en-US" sz="2400" i="1" u="sng" dirty="0" err="1"/>
              <a:t>medoids</a:t>
            </a:r>
            <a:endParaRPr lang="en-US" sz="2400" dirty="0"/>
          </a:p>
          <a:p>
            <a:pPr lvl="2">
              <a:lnSpc>
                <a:spcPct val="110000"/>
              </a:lnSpc>
            </a:pPr>
            <a:r>
              <a:rPr lang="en-US" sz="2200" dirty="0"/>
              <a:t>Each cluster is represented by one of the objects in the cluster</a:t>
            </a:r>
          </a:p>
          <a:p>
            <a:pPr lvl="2">
              <a:lnSpc>
                <a:spcPct val="110000"/>
              </a:lnSpc>
            </a:pPr>
            <a:r>
              <a:rPr lang="en-US" sz="2200" dirty="0"/>
              <a:t>For categorical data   </a:t>
            </a:r>
          </a:p>
        </p:txBody>
      </p:sp>
    </p:spTree>
  </p:cSld>
  <p:clrMapOvr>
    <a:masterClrMapping/>
  </p:clrMapOvr>
  <p:transition>
    <p:strips dir="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D35B6F1C-1F4A-4136-A2B1-A0F9DCABB752}" type="slidenum">
              <a:rPr lang="en-US"/>
              <a:pPr/>
              <a:t>11</a:t>
            </a:fld>
            <a:endParaRPr lang="en-US"/>
          </a:p>
        </p:txBody>
      </p:sp>
      <p:sp>
        <p:nvSpPr>
          <p:cNvPr id="450562" name="Rectangle 2"/>
          <p:cNvSpPr>
            <a:spLocks noGrp="1" noChangeArrowheads="1"/>
          </p:cNvSpPr>
          <p:nvPr>
            <p:ph type="title"/>
          </p:nvPr>
        </p:nvSpPr>
        <p:spPr>
          <a:xfrm>
            <a:off x="381000" y="152400"/>
            <a:ext cx="8280400" cy="552450"/>
          </a:xfrm>
        </p:spPr>
        <p:txBody>
          <a:bodyPr/>
          <a:lstStyle/>
          <a:p>
            <a:r>
              <a:rPr lang="en-US" sz="2800"/>
              <a:t>K-means Clustering</a:t>
            </a:r>
          </a:p>
        </p:txBody>
      </p:sp>
      <p:sp>
        <p:nvSpPr>
          <p:cNvPr id="450563" name="Rectangle 3"/>
          <p:cNvSpPr>
            <a:spLocks noGrp="1" noChangeArrowheads="1"/>
          </p:cNvSpPr>
          <p:nvPr>
            <p:ph type="body" idx="1"/>
          </p:nvPr>
        </p:nvSpPr>
        <p:spPr>
          <a:xfrm>
            <a:off x="465138" y="914400"/>
            <a:ext cx="8283575" cy="1033463"/>
          </a:xfrm>
        </p:spPr>
        <p:txBody>
          <a:bodyPr/>
          <a:lstStyle/>
          <a:p>
            <a:pPr marL="533400" indent="-533400">
              <a:lnSpc>
                <a:spcPct val="90000"/>
              </a:lnSpc>
            </a:pPr>
            <a:r>
              <a:rPr lang="en-US" sz="2600"/>
              <a:t>Partitional clustering approach </a:t>
            </a:r>
          </a:p>
          <a:p>
            <a:pPr marL="533400" indent="-533400">
              <a:lnSpc>
                <a:spcPct val="90000"/>
              </a:lnSpc>
            </a:pPr>
            <a:r>
              <a:rPr lang="en-US" sz="2600"/>
              <a:t>Each cluster is associated with a </a:t>
            </a:r>
            <a:r>
              <a:rPr lang="en-US" sz="2600">
                <a:solidFill>
                  <a:srgbClr val="FF0000"/>
                </a:solidFill>
              </a:rPr>
              <a:t>centroid</a:t>
            </a:r>
            <a:r>
              <a:rPr lang="en-US" sz="2600"/>
              <a:t> (center point) </a:t>
            </a:r>
          </a:p>
          <a:p>
            <a:pPr marL="533400" indent="-533400">
              <a:lnSpc>
                <a:spcPct val="90000"/>
              </a:lnSpc>
            </a:pPr>
            <a:r>
              <a:rPr lang="en-US" sz="2600"/>
              <a:t>Each point is assigned to the cluster with the closest centroid</a:t>
            </a:r>
          </a:p>
          <a:p>
            <a:pPr marL="533400" indent="-533400">
              <a:lnSpc>
                <a:spcPct val="90000"/>
              </a:lnSpc>
            </a:pPr>
            <a:r>
              <a:rPr lang="en-US" sz="2600"/>
              <a:t>Number of clusters, K, must be specified</a:t>
            </a:r>
          </a:p>
          <a:p>
            <a:pPr marL="533400" indent="-533400">
              <a:lnSpc>
                <a:spcPct val="90000"/>
              </a:lnSpc>
            </a:pPr>
            <a:r>
              <a:rPr lang="en-US" sz="2600"/>
              <a:t>The basic algorithm is very simple</a:t>
            </a:r>
          </a:p>
        </p:txBody>
      </p:sp>
      <p:graphicFrame>
        <p:nvGraphicFramePr>
          <p:cNvPr id="450564" name="Object 4"/>
          <p:cNvGraphicFramePr>
            <a:graphicFrameLocks noChangeAspect="1"/>
          </p:cNvGraphicFramePr>
          <p:nvPr/>
        </p:nvGraphicFramePr>
        <p:xfrm>
          <a:off x="457200" y="4038600"/>
          <a:ext cx="8305800" cy="2303463"/>
        </p:xfrm>
        <a:graphic>
          <a:graphicData uri="http://schemas.openxmlformats.org/presentationml/2006/ole">
            <p:oleObj spid="_x0000_s387075" name="Bitmap Image" r:id="rId3" imgW="12231807" imgH="3971429" progId="PBrush">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lide Number Placeholder 3"/>
          <p:cNvSpPr>
            <a:spLocks noGrp="1"/>
          </p:cNvSpPr>
          <p:nvPr>
            <p:ph type="sldNum" sz="quarter" idx="10"/>
          </p:nvPr>
        </p:nvSpPr>
        <p:spPr/>
        <p:txBody>
          <a:bodyPr/>
          <a:lstStyle/>
          <a:p>
            <a:fld id="{3D05DF85-BB76-4742-BB55-E8DF016430EB}" type="slidenum">
              <a:rPr lang="en-US"/>
              <a:pPr/>
              <a:t>12</a:t>
            </a:fld>
            <a:endParaRPr lang="en-US"/>
          </a:p>
        </p:txBody>
      </p:sp>
      <p:sp>
        <p:nvSpPr>
          <p:cNvPr id="451586" name="Rectangle 2"/>
          <p:cNvSpPr>
            <a:spLocks noGrp="1" noChangeArrowheads="1"/>
          </p:cNvSpPr>
          <p:nvPr>
            <p:ph type="title"/>
          </p:nvPr>
        </p:nvSpPr>
        <p:spPr>
          <a:xfrm>
            <a:off x="381000" y="152400"/>
            <a:ext cx="8280400" cy="552450"/>
          </a:xfrm>
        </p:spPr>
        <p:txBody>
          <a:bodyPr/>
          <a:lstStyle/>
          <a:p>
            <a:r>
              <a:rPr lang="en-US"/>
              <a:t>Clustering Example</a:t>
            </a:r>
          </a:p>
        </p:txBody>
      </p:sp>
      <p:sp>
        <p:nvSpPr>
          <p:cNvPr id="451587" name="Text Box 3"/>
          <p:cNvSpPr txBox="1">
            <a:spLocks noChangeArrowheads="1"/>
          </p:cNvSpPr>
          <p:nvPr/>
        </p:nvSpPr>
        <p:spPr bwMode="auto">
          <a:xfrm>
            <a:off x="609600" y="4419600"/>
            <a:ext cx="8001000" cy="304800"/>
          </a:xfrm>
          <a:prstGeom prst="rect">
            <a:avLst/>
          </a:prstGeom>
          <a:noFill/>
          <a:ln w="12700">
            <a:noFill/>
            <a:miter lim="800000"/>
            <a:headEnd/>
            <a:tailEnd/>
          </a:ln>
          <a:effectLst/>
        </p:spPr>
        <p:txBody>
          <a:bodyPr>
            <a:spAutoFit/>
          </a:bodyPr>
          <a:lstStyle/>
          <a:p>
            <a:pPr algn="l" eaLnBrk="0" hangingPunct="0">
              <a:spcBef>
                <a:spcPct val="50000"/>
              </a:spcBef>
            </a:pPr>
            <a:endParaRPr lang="en-US" sz="1400"/>
          </a:p>
        </p:txBody>
      </p:sp>
      <p:sp>
        <p:nvSpPr>
          <p:cNvPr id="451588" name="AutoShape 4"/>
          <p:cNvSpPr>
            <a:spLocks noChangeAspect="1" noChangeArrowheads="1" noTextEdit="1"/>
          </p:cNvSpPr>
          <p:nvPr/>
        </p:nvSpPr>
        <p:spPr bwMode="auto">
          <a:xfrm>
            <a:off x="1806575" y="1354138"/>
            <a:ext cx="5529263" cy="4148137"/>
          </a:xfrm>
          <a:prstGeom prst="rect">
            <a:avLst/>
          </a:prstGeom>
          <a:noFill/>
          <a:ln w="9525">
            <a:noFill/>
            <a:miter lim="800000"/>
            <a:headEnd/>
            <a:tailEnd/>
          </a:ln>
        </p:spPr>
        <p:txBody>
          <a:bodyPr/>
          <a:lstStyle/>
          <a:p>
            <a:endParaRPr lang="en-US"/>
          </a:p>
        </p:txBody>
      </p:sp>
      <p:sp>
        <p:nvSpPr>
          <p:cNvPr id="451589" name="Rectangle 5"/>
          <p:cNvSpPr>
            <a:spLocks noChangeArrowheads="1"/>
          </p:cNvSpPr>
          <p:nvPr/>
        </p:nvSpPr>
        <p:spPr bwMode="auto">
          <a:xfrm>
            <a:off x="1806575" y="1354138"/>
            <a:ext cx="5537200" cy="4164012"/>
          </a:xfrm>
          <a:prstGeom prst="rect">
            <a:avLst/>
          </a:prstGeom>
          <a:solidFill>
            <a:srgbClr val="FFFFFF"/>
          </a:solidFill>
          <a:ln w="9525">
            <a:noFill/>
            <a:miter lim="800000"/>
            <a:headEnd/>
            <a:tailEnd/>
          </a:ln>
        </p:spPr>
        <p:txBody>
          <a:bodyPr/>
          <a:lstStyle/>
          <a:p>
            <a:endParaRPr lang="en-US"/>
          </a:p>
        </p:txBody>
      </p:sp>
      <p:sp>
        <p:nvSpPr>
          <p:cNvPr id="451590" name="Rectangle 6"/>
          <p:cNvSpPr>
            <a:spLocks noChangeArrowheads="1"/>
          </p:cNvSpPr>
          <p:nvPr/>
        </p:nvSpPr>
        <p:spPr bwMode="auto">
          <a:xfrm>
            <a:off x="2514600" y="1676400"/>
            <a:ext cx="4270375" cy="3365500"/>
          </a:xfrm>
          <a:prstGeom prst="rect">
            <a:avLst/>
          </a:prstGeom>
          <a:solidFill>
            <a:srgbClr val="FFFFFF"/>
          </a:solidFill>
          <a:ln w="9525">
            <a:noFill/>
            <a:miter lim="800000"/>
            <a:headEnd/>
            <a:tailEnd/>
          </a:ln>
        </p:spPr>
        <p:txBody>
          <a:bodyPr/>
          <a:lstStyle/>
          <a:p>
            <a:endParaRPr lang="en-US"/>
          </a:p>
        </p:txBody>
      </p:sp>
      <p:sp>
        <p:nvSpPr>
          <p:cNvPr id="451591" name="Rectangle 7"/>
          <p:cNvSpPr>
            <a:spLocks noChangeArrowheads="1"/>
          </p:cNvSpPr>
          <p:nvPr/>
        </p:nvSpPr>
        <p:spPr bwMode="auto">
          <a:xfrm>
            <a:off x="2522538" y="1666875"/>
            <a:ext cx="4270375" cy="3365500"/>
          </a:xfrm>
          <a:prstGeom prst="rect">
            <a:avLst/>
          </a:prstGeom>
          <a:noFill/>
          <a:ln w="0">
            <a:solidFill>
              <a:srgbClr val="FFFFFF"/>
            </a:solidFill>
            <a:miter lim="800000"/>
            <a:headEnd/>
            <a:tailEnd/>
          </a:ln>
        </p:spPr>
        <p:txBody>
          <a:bodyPr/>
          <a:lstStyle/>
          <a:p>
            <a:endParaRPr lang="en-US"/>
          </a:p>
        </p:txBody>
      </p:sp>
      <p:sp>
        <p:nvSpPr>
          <p:cNvPr id="451592" name="Line 8"/>
          <p:cNvSpPr>
            <a:spLocks noChangeShapeType="1"/>
          </p:cNvSpPr>
          <p:nvPr/>
        </p:nvSpPr>
        <p:spPr bwMode="auto">
          <a:xfrm>
            <a:off x="2522538" y="5032375"/>
            <a:ext cx="4270375" cy="1588"/>
          </a:xfrm>
          <a:prstGeom prst="line">
            <a:avLst/>
          </a:prstGeom>
          <a:noFill/>
          <a:ln w="0">
            <a:solidFill>
              <a:srgbClr val="000000"/>
            </a:solidFill>
            <a:round/>
            <a:headEnd/>
            <a:tailEnd/>
          </a:ln>
        </p:spPr>
        <p:txBody>
          <a:bodyPr/>
          <a:lstStyle/>
          <a:p>
            <a:endParaRPr lang="en-US"/>
          </a:p>
        </p:txBody>
      </p:sp>
      <p:sp>
        <p:nvSpPr>
          <p:cNvPr id="451593" name="Line 9"/>
          <p:cNvSpPr>
            <a:spLocks noChangeShapeType="1"/>
          </p:cNvSpPr>
          <p:nvPr/>
        </p:nvSpPr>
        <p:spPr bwMode="auto">
          <a:xfrm flipV="1">
            <a:off x="2522538" y="1666875"/>
            <a:ext cx="1587" cy="3365500"/>
          </a:xfrm>
          <a:prstGeom prst="line">
            <a:avLst/>
          </a:prstGeom>
          <a:noFill/>
          <a:ln w="0">
            <a:solidFill>
              <a:srgbClr val="000000"/>
            </a:solidFill>
            <a:round/>
            <a:headEnd/>
            <a:tailEnd/>
          </a:ln>
        </p:spPr>
        <p:txBody>
          <a:bodyPr/>
          <a:lstStyle/>
          <a:p>
            <a:endParaRPr lang="en-US"/>
          </a:p>
        </p:txBody>
      </p:sp>
      <p:sp>
        <p:nvSpPr>
          <p:cNvPr id="451594" name="Line 10"/>
          <p:cNvSpPr>
            <a:spLocks noChangeShapeType="1"/>
          </p:cNvSpPr>
          <p:nvPr/>
        </p:nvSpPr>
        <p:spPr bwMode="auto">
          <a:xfrm flipV="1">
            <a:off x="2768600" y="4992688"/>
            <a:ext cx="1588" cy="39687"/>
          </a:xfrm>
          <a:prstGeom prst="line">
            <a:avLst/>
          </a:prstGeom>
          <a:noFill/>
          <a:ln w="0">
            <a:solidFill>
              <a:srgbClr val="000000"/>
            </a:solidFill>
            <a:round/>
            <a:headEnd/>
            <a:tailEnd/>
          </a:ln>
        </p:spPr>
        <p:txBody>
          <a:bodyPr/>
          <a:lstStyle/>
          <a:p>
            <a:endParaRPr lang="en-US"/>
          </a:p>
        </p:txBody>
      </p:sp>
      <p:sp>
        <p:nvSpPr>
          <p:cNvPr id="451595" name="Rectangle 11"/>
          <p:cNvSpPr>
            <a:spLocks noChangeArrowheads="1"/>
          </p:cNvSpPr>
          <p:nvPr/>
        </p:nvSpPr>
        <p:spPr bwMode="auto">
          <a:xfrm>
            <a:off x="2695575" y="5073650"/>
            <a:ext cx="123825"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-2</a:t>
            </a:r>
            <a:endParaRPr lang="en-US" sz="1400"/>
          </a:p>
        </p:txBody>
      </p:sp>
      <p:sp>
        <p:nvSpPr>
          <p:cNvPr id="451596" name="Line 12"/>
          <p:cNvSpPr>
            <a:spLocks noChangeShapeType="1"/>
          </p:cNvSpPr>
          <p:nvPr/>
        </p:nvSpPr>
        <p:spPr bwMode="auto">
          <a:xfrm flipV="1">
            <a:off x="3254375" y="4992688"/>
            <a:ext cx="1588" cy="39687"/>
          </a:xfrm>
          <a:prstGeom prst="line">
            <a:avLst/>
          </a:prstGeom>
          <a:noFill/>
          <a:ln w="0">
            <a:solidFill>
              <a:srgbClr val="000000"/>
            </a:solidFill>
            <a:round/>
            <a:headEnd/>
            <a:tailEnd/>
          </a:ln>
        </p:spPr>
        <p:txBody>
          <a:bodyPr/>
          <a:lstStyle/>
          <a:p>
            <a:endParaRPr lang="en-US"/>
          </a:p>
        </p:txBody>
      </p:sp>
      <p:sp>
        <p:nvSpPr>
          <p:cNvPr id="451597" name="Rectangle 13"/>
          <p:cNvSpPr>
            <a:spLocks noChangeArrowheads="1"/>
          </p:cNvSpPr>
          <p:nvPr/>
        </p:nvSpPr>
        <p:spPr bwMode="auto">
          <a:xfrm>
            <a:off x="3122613" y="5073650"/>
            <a:ext cx="239712"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-1.5</a:t>
            </a:r>
            <a:endParaRPr lang="en-US" sz="1400"/>
          </a:p>
        </p:txBody>
      </p:sp>
      <p:sp>
        <p:nvSpPr>
          <p:cNvPr id="451598" name="Line 14"/>
          <p:cNvSpPr>
            <a:spLocks noChangeShapeType="1"/>
          </p:cNvSpPr>
          <p:nvPr/>
        </p:nvSpPr>
        <p:spPr bwMode="auto">
          <a:xfrm flipV="1">
            <a:off x="3740150" y="4992688"/>
            <a:ext cx="1588" cy="39687"/>
          </a:xfrm>
          <a:prstGeom prst="line">
            <a:avLst/>
          </a:prstGeom>
          <a:noFill/>
          <a:ln w="0">
            <a:solidFill>
              <a:srgbClr val="000000"/>
            </a:solidFill>
            <a:round/>
            <a:headEnd/>
            <a:tailEnd/>
          </a:ln>
        </p:spPr>
        <p:txBody>
          <a:bodyPr/>
          <a:lstStyle/>
          <a:p>
            <a:endParaRPr lang="en-US"/>
          </a:p>
        </p:txBody>
      </p:sp>
      <p:sp>
        <p:nvSpPr>
          <p:cNvPr id="451599" name="Rectangle 15"/>
          <p:cNvSpPr>
            <a:spLocks noChangeArrowheads="1"/>
          </p:cNvSpPr>
          <p:nvPr/>
        </p:nvSpPr>
        <p:spPr bwMode="auto">
          <a:xfrm>
            <a:off x="3665538" y="5073650"/>
            <a:ext cx="123825"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-1</a:t>
            </a:r>
            <a:endParaRPr lang="en-US" sz="1400"/>
          </a:p>
        </p:txBody>
      </p:sp>
      <p:sp>
        <p:nvSpPr>
          <p:cNvPr id="451600" name="Line 16"/>
          <p:cNvSpPr>
            <a:spLocks noChangeShapeType="1"/>
          </p:cNvSpPr>
          <p:nvPr/>
        </p:nvSpPr>
        <p:spPr bwMode="auto">
          <a:xfrm flipV="1">
            <a:off x="4217988" y="4992688"/>
            <a:ext cx="1587" cy="39687"/>
          </a:xfrm>
          <a:prstGeom prst="line">
            <a:avLst/>
          </a:prstGeom>
          <a:noFill/>
          <a:ln w="0">
            <a:solidFill>
              <a:srgbClr val="000000"/>
            </a:solidFill>
            <a:round/>
            <a:headEnd/>
            <a:tailEnd/>
          </a:ln>
        </p:spPr>
        <p:txBody>
          <a:bodyPr/>
          <a:lstStyle/>
          <a:p>
            <a:endParaRPr lang="en-US"/>
          </a:p>
        </p:txBody>
      </p:sp>
      <p:sp>
        <p:nvSpPr>
          <p:cNvPr id="451601" name="Rectangle 17"/>
          <p:cNvSpPr>
            <a:spLocks noChangeArrowheads="1"/>
          </p:cNvSpPr>
          <p:nvPr/>
        </p:nvSpPr>
        <p:spPr bwMode="auto">
          <a:xfrm>
            <a:off x="4086225" y="5073650"/>
            <a:ext cx="239713"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-0.5</a:t>
            </a:r>
            <a:endParaRPr lang="en-US" sz="1400"/>
          </a:p>
        </p:txBody>
      </p:sp>
      <p:sp>
        <p:nvSpPr>
          <p:cNvPr id="451602" name="Line 18"/>
          <p:cNvSpPr>
            <a:spLocks noChangeShapeType="1"/>
          </p:cNvSpPr>
          <p:nvPr/>
        </p:nvSpPr>
        <p:spPr bwMode="auto">
          <a:xfrm flipV="1">
            <a:off x="4702175" y="4992688"/>
            <a:ext cx="1588" cy="39687"/>
          </a:xfrm>
          <a:prstGeom prst="line">
            <a:avLst/>
          </a:prstGeom>
          <a:noFill/>
          <a:ln w="0">
            <a:solidFill>
              <a:srgbClr val="000000"/>
            </a:solidFill>
            <a:round/>
            <a:headEnd/>
            <a:tailEnd/>
          </a:ln>
        </p:spPr>
        <p:txBody>
          <a:bodyPr/>
          <a:lstStyle/>
          <a:p>
            <a:endParaRPr lang="en-US"/>
          </a:p>
        </p:txBody>
      </p:sp>
      <p:sp>
        <p:nvSpPr>
          <p:cNvPr id="451603" name="Rectangle 19"/>
          <p:cNvSpPr>
            <a:spLocks noChangeArrowheads="1"/>
          </p:cNvSpPr>
          <p:nvPr/>
        </p:nvSpPr>
        <p:spPr bwMode="auto">
          <a:xfrm>
            <a:off x="4670425" y="5073650"/>
            <a:ext cx="77788"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0</a:t>
            </a:r>
            <a:endParaRPr lang="en-US" sz="1400"/>
          </a:p>
        </p:txBody>
      </p:sp>
      <p:sp>
        <p:nvSpPr>
          <p:cNvPr id="451604" name="Line 20"/>
          <p:cNvSpPr>
            <a:spLocks noChangeShapeType="1"/>
          </p:cNvSpPr>
          <p:nvPr/>
        </p:nvSpPr>
        <p:spPr bwMode="auto">
          <a:xfrm flipV="1">
            <a:off x="5187950" y="4992688"/>
            <a:ext cx="1588" cy="39687"/>
          </a:xfrm>
          <a:prstGeom prst="line">
            <a:avLst/>
          </a:prstGeom>
          <a:noFill/>
          <a:ln w="0">
            <a:solidFill>
              <a:srgbClr val="000000"/>
            </a:solidFill>
            <a:round/>
            <a:headEnd/>
            <a:tailEnd/>
          </a:ln>
        </p:spPr>
        <p:txBody>
          <a:bodyPr/>
          <a:lstStyle/>
          <a:p>
            <a:endParaRPr lang="en-US"/>
          </a:p>
        </p:txBody>
      </p:sp>
      <p:sp>
        <p:nvSpPr>
          <p:cNvPr id="451605" name="Rectangle 21"/>
          <p:cNvSpPr>
            <a:spLocks noChangeArrowheads="1"/>
          </p:cNvSpPr>
          <p:nvPr/>
        </p:nvSpPr>
        <p:spPr bwMode="auto">
          <a:xfrm>
            <a:off x="5089525" y="5073650"/>
            <a:ext cx="193675"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0.5</a:t>
            </a:r>
            <a:endParaRPr lang="en-US" sz="1400"/>
          </a:p>
        </p:txBody>
      </p:sp>
      <p:sp>
        <p:nvSpPr>
          <p:cNvPr id="451606" name="Line 22"/>
          <p:cNvSpPr>
            <a:spLocks noChangeShapeType="1"/>
          </p:cNvSpPr>
          <p:nvPr/>
        </p:nvSpPr>
        <p:spPr bwMode="auto">
          <a:xfrm flipV="1">
            <a:off x="5673725" y="4992688"/>
            <a:ext cx="1588" cy="39687"/>
          </a:xfrm>
          <a:prstGeom prst="line">
            <a:avLst/>
          </a:prstGeom>
          <a:noFill/>
          <a:ln w="0">
            <a:solidFill>
              <a:srgbClr val="000000"/>
            </a:solidFill>
            <a:round/>
            <a:headEnd/>
            <a:tailEnd/>
          </a:ln>
        </p:spPr>
        <p:txBody>
          <a:bodyPr/>
          <a:lstStyle/>
          <a:p>
            <a:endParaRPr lang="en-US"/>
          </a:p>
        </p:txBody>
      </p:sp>
      <p:sp>
        <p:nvSpPr>
          <p:cNvPr id="451607" name="Rectangle 23"/>
          <p:cNvSpPr>
            <a:spLocks noChangeArrowheads="1"/>
          </p:cNvSpPr>
          <p:nvPr/>
        </p:nvSpPr>
        <p:spPr bwMode="auto">
          <a:xfrm>
            <a:off x="5640388" y="5073650"/>
            <a:ext cx="77787"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1</a:t>
            </a:r>
            <a:endParaRPr lang="en-US" sz="1400"/>
          </a:p>
        </p:txBody>
      </p:sp>
      <p:sp>
        <p:nvSpPr>
          <p:cNvPr id="451608" name="Line 24"/>
          <p:cNvSpPr>
            <a:spLocks noChangeShapeType="1"/>
          </p:cNvSpPr>
          <p:nvPr/>
        </p:nvSpPr>
        <p:spPr bwMode="auto">
          <a:xfrm flipV="1">
            <a:off x="6159500" y="4992688"/>
            <a:ext cx="1588" cy="39687"/>
          </a:xfrm>
          <a:prstGeom prst="line">
            <a:avLst/>
          </a:prstGeom>
          <a:noFill/>
          <a:ln w="0">
            <a:solidFill>
              <a:srgbClr val="000000"/>
            </a:solidFill>
            <a:round/>
            <a:headEnd/>
            <a:tailEnd/>
          </a:ln>
        </p:spPr>
        <p:txBody>
          <a:bodyPr/>
          <a:lstStyle/>
          <a:p>
            <a:endParaRPr lang="en-US"/>
          </a:p>
        </p:txBody>
      </p:sp>
      <p:sp>
        <p:nvSpPr>
          <p:cNvPr id="451609" name="Rectangle 25"/>
          <p:cNvSpPr>
            <a:spLocks noChangeArrowheads="1"/>
          </p:cNvSpPr>
          <p:nvPr/>
        </p:nvSpPr>
        <p:spPr bwMode="auto">
          <a:xfrm>
            <a:off x="6061075" y="5073650"/>
            <a:ext cx="193675"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1.5</a:t>
            </a:r>
            <a:endParaRPr lang="en-US" sz="1400"/>
          </a:p>
        </p:txBody>
      </p:sp>
      <p:sp>
        <p:nvSpPr>
          <p:cNvPr id="451610" name="Line 26"/>
          <p:cNvSpPr>
            <a:spLocks noChangeShapeType="1"/>
          </p:cNvSpPr>
          <p:nvPr/>
        </p:nvSpPr>
        <p:spPr bwMode="auto">
          <a:xfrm flipV="1">
            <a:off x="6645275" y="4953000"/>
            <a:ext cx="3175" cy="79375"/>
          </a:xfrm>
          <a:prstGeom prst="line">
            <a:avLst/>
          </a:prstGeom>
          <a:noFill/>
          <a:ln w="0">
            <a:solidFill>
              <a:schemeClr val="tx1"/>
            </a:solidFill>
            <a:round/>
            <a:headEnd/>
            <a:tailEnd/>
          </a:ln>
        </p:spPr>
        <p:txBody>
          <a:bodyPr/>
          <a:lstStyle/>
          <a:p>
            <a:endParaRPr lang="en-US"/>
          </a:p>
        </p:txBody>
      </p:sp>
      <p:sp>
        <p:nvSpPr>
          <p:cNvPr id="451611" name="Rectangle 27"/>
          <p:cNvSpPr>
            <a:spLocks noChangeArrowheads="1"/>
          </p:cNvSpPr>
          <p:nvPr/>
        </p:nvSpPr>
        <p:spPr bwMode="auto">
          <a:xfrm>
            <a:off x="6604000" y="5073650"/>
            <a:ext cx="77788"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2</a:t>
            </a:r>
            <a:endParaRPr lang="en-US" sz="1400"/>
          </a:p>
        </p:txBody>
      </p:sp>
      <p:sp>
        <p:nvSpPr>
          <p:cNvPr id="451612" name="Line 28"/>
          <p:cNvSpPr>
            <a:spLocks noChangeShapeType="1"/>
          </p:cNvSpPr>
          <p:nvPr/>
        </p:nvSpPr>
        <p:spPr bwMode="auto">
          <a:xfrm>
            <a:off x="2522538" y="4589463"/>
            <a:ext cx="41275" cy="1587"/>
          </a:xfrm>
          <a:prstGeom prst="line">
            <a:avLst/>
          </a:prstGeom>
          <a:noFill/>
          <a:ln w="0">
            <a:solidFill>
              <a:srgbClr val="000000"/>
            </a:solidFill>
            <a:round/>
            <a:headEnd/>
            <a:tailEnd/>
          </a:ln>
        </p:spPr>
        <p:txBody>
          <a:bodyPr/>
          <a:lstStyle/>
          <a:p>
            <a:endParaRPr lang="en-US"/>
          </a:p>
        </p:txBody>
      </p:sp>
      <p:sp>
        <p:nvSpPr>
          <p:cNvPr id="451613" name="Rectangle 29"/>
          <p:cNvSpPr>
            <a:spLocks noChangeArrowheads="1"/>
          </p:cNvSpPr>
          <p:nvPr/>
        </p:nvSpPr>
        <p:spPr bwMode="auto">
          <a:xfrm>
            <a:off x="2398713" y="4514850"/>
            <a:ext cx="77787"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0</a:t>
            </a:r>
            <a:endParaRPr lang="en-US" sz="1400"/>
          </a:p>
        </p:txBody>
      </p:sp>
      <p:sp>
        <p:nvSpPr>
          <p:cNvPr id="451614" name="Line 30"/>
          <p:cNvSpPr>
            <a:spLocks noChangeShapeType="1"/>
          </p:cNvSpPr>
          <p:nvPr/>
        </p:nvSpPr>
        <p:spPr bwMode="auto">
          <a:xfrm>
            <a:off x="2522538" y="4111625"/>
            <a:ext cx="41275" cy="1588"/>
          </a:xfrm>
          <a:prstGeom prst="line">
            <a:avLst/>
          </a:prstGeom>
          <a:noFill/>
          <a:ln w="0">
            <a:solidFill>
              <a:srgbClr val="000000"/>
            </a:solidFill>
            <a:round/>
            <a:headEnd/>
            <a:tailEnd/>
          </a:ln>
        </p:spPr>
        <p:txBody>
          <a:bodyPr/>
          <a:lstStyle/>
          <a:p>
            <a:endParaRPr lang="en-US"/>
          </a:p>
        </p:txBody>
      </p:sp>
      <p:sp>
        <p:nvSpPr>
          <p:cNvPr id="451615" name="Rectangle 31"/>
          <p:cNvSpPr>
            <a:spLocks noChangeArrowheads="1"/>
          </p:cNvSpPr>
          <p:nvPr/>
        </p:nvSpPr>
        <p:spPr bwMode="auto">
          <a:xfrm>
            <a:off x="2292350" y="4037013"/>
            <a:ext cx="193675"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0.5</a:t>
            </a:r>
            <a:endParaRPr lang="en-US" sz="1400"/>
          </a:p>
        </p:txBody>
      </p:sp>
      <p:sp>
        <p:nvSpPr>
          <p:cNvPr id="451616" name="Line 32"/>
          <p:cNvSpPr>
            <a:spLocks noChangeShapeType="1"/>
          </p:cNvSpPr>
          <p:nvPr/>
        </p:nvSpPr>
        <p:spPr bwMode="auto">
          <a:xfrm>
            <a:off x="2522538" y="3625850"/>
            <a:ext cx="41275" cy="1588"/>
          </a:xfrm>
          <a:prstGeom prst="line">
            <a:avLst/>
          </a:prstGeom>
          <a:noFill/>
          <a:ln w="0">
            <a:solidFill>
              <a:srgbClr val="000000"/>
            </a:solidFill>
            <a:round/>
            <a:headEnd/>
            <a:tailEnd/>
          </a:ln>
        </p:spPr>
        <p:txBody>
          <a:bodyPr/>
          <a:lstStyle/>
          <a:p>
            <a:endParaRPr lang="en-US"/>
          </a:p>
        </p:txBody>
      </p:sp>
      <p:sp>
        <p:nvSpPr>
          <p:cNvPr id="451617" name="Rectangle 33"/>
          <p:cNvSpPr>
            <a:spLocks noChangeArrowheads="1"/>
          </p:cNvSpPr>
          <p:nvPr/>
        </p:nvSpPr>
        <p:spPr bwMode="auto">
          <a:xfrm>
            <a:off x="2398713" y="3551238"/>
            <a:ext cx="77787"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1</a:t>
            </a:r>
            <a:endParaRPr lang="en-US" sz="1400"/>
          </a:p>
        </p:txBody>
      </p:sp>
      <p:sp>
        <p:nvSpPr>
          <p:cNvPr id="451618" name="Line 34"/>
          <p:cNvSpPr>
            <a:spLocks noChangeShapeType="1"/>
          </p:cNvSpPr>
          <p:nvPr/>
        </p:nvSpPr>
        <p:spPr bwMode="auto">
          <a:xfrm>
            <a:off x="2522538" y="3140075"/>
            <a:ext cx="41275" cy="1588"/>
          </a:xfrm>
          <a:prstGeom prst="line">
            <a:avLst/>
          </a:prstGeom>
          <a:noFill/>
          <a:ln w="0">
            <a:solidFill>
              <a:srgbClr val="000000"/>
            </a:solidFill>
            <a:round/>
            <a:headEnd/>
            <a:tailEnd/>
          </a:ln>
        </p:spPr>
        <p:txBody>
          <a:bodyPr/>
          <a:lstStyle/>
          <a:p>
            <a:endParaRPr lang="en-US"/>
          </a:p>
        </p:txBody>
      </p:sp>
      <p:sp>
        <p:nvSpPr>
          <p:cNvPr id="451619" name="Rectangle 35"/>
          <p:cNvSpPr>
            <a:spLocks noChangeArrowheads="1"/>
          </p:cNvSpPr>
          <p:nvPr/>
        </p:nvSpPr>
        <p:spPr bwMode="auto">
          <a:xfrm>
            <a:off x="2292350" y="3065463"/>
            <a:ext cx="193675"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1.5</a:t>
            </a:r>
            <a:endParaRPr lang="en-US" sz="1400"/>
          </a:p>
        </p:txBody>
      </p:sp>
      <p:sp>
        <p:nvSpPr>
          <p:cNvPr id="451620" name="Line 36"/>
          <p:cNvSpPr>
            <a:spLocks noChangeShapeType="1"/>
          </p:cNvSpPr>
          <p:nvPr/>
        </p:nvSpPr>
        <p:spPr bwMode="auto">
          <a:xfrm>
            <a:off x="2522538" y="2654300"/>
            <a:ext cx="41275" cy="1588"/>
          </a:xfrm>
          <a:prstGeom prst="line">
            <a:avLst/>
          </a:prstGeom>
          <a:noFill/>
          <a:ln w="0">
            <a:solidFill>
              <a:srgbClr val="000000"/>
            </a:solidFill>
            <a:round/>
            <a:headEnd/>
            <a:tailEnd/>
          </a:ln>
        </p:spPr>
        <p:txBody>
          <a:bodyPr/>
          <a:lstStyle/>
          <a:p>
            <a:endParaRPr lang="en-US"/>
          </a:p>
        </p:txBody>
      </p:sp>
      <p:sp>
        <p:nvSpPr>
          <p:cNvPr id="451621" name="Rectangle 37"/>
          <p:cNvSpPr>
            <a:spLocks noChangeArrowheads="1"/>
          </p:cNvSpPr>
          <p:nvPr/>
        </p:nvSpPr>
        <p:spPr bwMode="auto">
          <a:xfrm>
            <a:off x="2398713" y="2579688"/>
            <a:ext cx="77787"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2</a:t>
            </a:r>
            <a:endParaRPr lang="en-US" sz="1400"/>
          </a:p>
        </p:txBody>
      </p:sp>
      <p:sp>
        <p:nvSpPr>
          <p:cNvPr id="451622" name="Line 38"/>
          <p:cNvSpPr>
            <a:spLocks noChangeShapeType="1"/>
          </p:cNvSpPr>
          <p:nvPr/>
        </p:nvSpPr>
        <p:spPr bwMode="auto">
          <a:xfrm>
            <a:off x="2522538" y="2168525"/>
            <a:ext cx="41275" cy="1588"/>
          </a:xfrm>
          <a:prstGeom prst="line">
            <a:avLst/>
          </a:prstGeom>
          <a:noFill/>
          <a:ln w="0">
            <a:solidFill>
              <a:srgbClr val="000000"/>
            </a:solidFill>
            <a:round/>
            <a:headEnd/>
            <a:tailEnd/>
          </a:ln>
        </p:spPr>
        <p:txBody>
          <a:bodyPr/>
          <a:lstStyle/>
          <a:p>
            <a:endParaRPr lang="en-US"/>
          </a:p>
        </p:txBody>
      </p:sp>
      <p:sp>
        <p:nvSpPr>
          <p:cNvPr id="451623" name="Rectangle 39"/>
          <p:cNvSpPr>
            <a:spLocks noChangeArrowheads="1"/>
          </p:cNvSpPr>
          <p:nvPr/>
        </p:nvSpPr>
        <p:spPr bwMode="auto">
          <a:xfrm>
            <a:off x="2292350" y="2095500"/>
            <a:ext cx="193675"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2.5</a:t>
            </a:r>
            <a:endParaRPr lang="en-US" sz="1400"/>
          </a:p>
        </p:txBody>
      </p:sp>
      <p:sp>
        <p:nvSpPr>
          <p:cNvPr id="451624" name="Line 40"/>
          <p:cNvSpPr>
            <a:spLocks noChangeShapeType="1"/>
          </p:cNvSpPr>
          <p:nvPr/>
        </p:nvSpPr>
        <p:spPr bwMode="auto">
          <a:xfrm>
            <a:off x="2522538" y="1682750"/>
            <a:ext cx="41275" cy="1588"/>
          </a:xfrm>
          <a:prstGeom prst="line">
            <a:avLst/>
          </a:prstGeom>
          <a:noFill/>
          <a:ln w="0">
            <a:solidFill>
              <a:srgbClr val="000000"/>
            </a:solidFill>
            <a:round/>
            <a:headEnd/>
            <a:tailEnd/>
          </a:ln>
        </p:spPr>
        <p:txBody>
          <a:bodyPr/>
          <a:lstStyle/>
          <a:p>
            <a:endParaRPr lang="en-US"/>
          </a:p>
        </p:txBody>
      </p:sp>
      <p:sp>
        <p:nvSpPr>
          <p:cNvPr id="451625" name="Rectangle 41"/>
          <p:cNvSpPr>
            <a:spLocks noChangeArrowheads="1"/>
          </p:cNvSpPr>
          <p:nvPr/>
        </p:nvSpPr>
        <p:spPr bwMode="auto">
          <a:xfrm>
            <a:off x="2398713" y="1609725"/>
            <a:ext cx="77787" cy="168275"/>
          </a:xfrm>
          <a:prstGeom prst="rect">
            <a:avLst/>
          </a:prstGeom>
          <a:noFill/>
          <a:ln w="9525">
            <a:noFill/>
            <a:miter lim="800000"/>
            <a:headEnd/>
            <a:tailEnd/>
          </a:ln>
        </p:spPr>
        <p:txBody>
          <a:bodyPr wrap="none" lIns="0" tIns="0" rIns="0" bIns="0">
            <a:spAutoFit/>
          </a:bodyPr>
          <a:lstStyle/>
          <a:p>
            <a:pPr algn="l" eaLnBrk="0" hangingPunct="0"/>
            <a:r>
              <a:rPr lang="en-US" sz="1100" b="0">
                <a:solidFill>
                  <a:srgbClr val="000000"/>
                </a:solidFill>
                <a:latin typeface="Helvetica" pitchFamily="34" charset="0"/>
              </a:rPr>
              <a:t>3</a:t>
            </a:r>
            <a:endParaRPr lang="en-US" sz="1400"/>
          </a:p>
        </p:txBody>
      </p:sp>
      <p:sp>
        <p:nvSpPr>
          <p:cNvPr id="451626" name="Oval 42"/>
          <p:cNvSpPr>
            <a:spLocks noChangeArrowheads="1"/>
          </p:cNvSpPr>
          <p:nvPr/>
        </p:nvSpPr>
        <p:spPr bwMode="auto">
          <a:xfrm>
            <a:off x="3698875" y="4992688"/>
            <a:ext cx="90488" cy="90487"/>
          </a:xfrm>
          <a:prstGeom prst="ellipse">
            <a:avLst/>
          </a:prstGeom>
          <a:noFill/>
          <a:ln w="9525">
            <a:noFill/>
            <a:round/>
            <a:headEnd/>
            <a:tailEnd/>
          </a:ln>
        </p:spPr>
        <p:txBody>
          <a:bodyPr/>
          <a:lstStyle/>
          <a:p>
            <a:endParaRPr lang="en-US"/>
          </a:p>
        </p:txBody>
      </p:sp>
      <p:sp>
        <p:nvSpPr>
          <p:cNvPr id="451627" name="Oval 43"/>
          <p:cNvSpPr>
            <a:spLocks noChangeArrowheads="1"/>
          </p:cNvSpPr>
          <p:nvPr/>
        </p:nvSpPr>
        <p:spPr bwMode="auto">
          <a:xfrm>
            <a:off x="3698875" y="4992688"/>
            <a:ext cx="90488" cy="90487"/>
          </a:xfrm>
          <a:prstGeom prst="ellipse">
            <a:avLst/>
          </a:prstGeom>
          <a:noFill/>
          <a:ln w="0">
            <a:solidFill>
              <a:srgbClr val="8FFF7F"/>
            </a:solidFill>
            <a:round/>
            <a:headEnd/>
            <a:tailEnd/>
          </a:ln>
        </p:spPr>
        <p:txBody>
          <a:bodyPr/>
          <a:lstStyle/>
          <a:p>
            <a:endParaRPr lang="en-US"/>
          </a:p>
        </p:txBody>
      </p:sp>
      <p:sp>
        <p:nvSpPr>
          <p:cNvPr id="451628" name="Oval 44"/>
          <p:cNvSpPr>
            <a:spLocks noChangeArrowheads="1"/>
          </p:cNvSpPr>
          <p:nvPr/>
        </p:nvSpPr>
        <p:spPr bwMode="auto">
          <a:xfrm>
            <a:off x="3624263" y="4564063"/>
            <a:ext cx="100012" cy="90487"/>
          </a:xfrm>
          <a:prstGeom prst="ellipse">
            <a:avLst/>
          </a:prstGeom>
          <a:solidFill>
            <a:schemeClr val="tx1"/>
          </a:solidFill>
          <a:ln w="9525">
            <a:solidFill>
              <a:schemeClr val="tx1"/>
            </a:solidFill>
            <a:round/>
            <a:headEnd/>
            <a:tailEnd/>
          </a:ln>
        </p:spPr>
        <p:txBody>
          <a:bodyPr/>
          <a:lstStyle/>
          <a:p>
            <a:endParaRPr lang="en-US"/>
          </a:p>
        </p:txBody>
      </p:sp>
      <p:sp>
        <p:nvSpPr>
          <p:cNvPr id="451629" name="Oval 45"/>
          <p:cNvSpPr>
            <a:spLocks noChangeArrowheads="1"/>
          </p:cNvSpPr>
          <p:nvPr/>
        </p:nvSpPr>
        <p:spPr bwMode="auto">
          <a:xfrm>
            <a:off x="3624263" y="4564063"/>
            <a:ext cx="100012" cy="90487"/>
          </a:xfrm>
          <a:prstGeom prst="ellipse">
            <a:avLst/>
          </a:prstGeom>
          <a:solidFill>
            <a:schemeClr val="tx1"/>
          </a:solidFill>
          <a:ln w="0">
            <a:solidFill>
              <a:schemeClr val="tx1"/>
            </a:solidFill>
            <a:round/>
            <a:headEnd/>
            <a:tailEnd/>
          </a:ln>
        </p:spPr>
        <p:txBody>
          <a:bodyPr/>
          <a:lstStyle/>
          <a:p>
            <a:endParaRPr lang="en-US"/>
          </a:p>
        </p:txBody>
      </p:sp>
      <p:sp>
        <p:nvSpPr>
          <p:cNvPr id="451630" name="Oval 46"/>
          <p:cNvSpPr>
            <a:spLocks noChangeArrowheads="1"/>
          </p:cNvSpPr>
          <p:nvPr/>
        </p:nvSpPr>
        <p:spPr bwMode="auto">
          <a:xfrm>
            <a:off x="3484563" y="4679950"/>
            <a:ext cx="90487" cy="98425"/>
          </a:xfrm>
          <a:prstGeom prst="ellipse">
            <a:avLst/>
          </a:prstGeom>
          <a:solidFill>
            <a:schemeClr val="tx1"/>
          </a:solidFill>
          <a:ln w="9525">
            <a:solidFill>
              <a:schemeClr val="tx1"/>
            </a:solidFill>
            <a:round/>
            <a:headEnd/>
            <a:tailEnd/>
          </a:ln>
        </p:spPr>
        <p:txBody>
          <a:bodyPr/>
          <a:lstStyle/>
          <a:p>
            <a:endParaRPr lang="en-US"/>
          </a:p>
        </p:txBody>
      </p:sp>
      <p:sp>
        <p:nvSpPr>
          <p:cNvPr id="451631" name="Oval 47"/>
          <p:cNvSpPr>
            <a:spLocks noChangeArrowheads="1"/>
          </p:cNvSpPr>
          <p:nvPr/>
        </p:nvSpPr>
        <p:spPr bwMode="auto">
          <a:xfrm>
            <a:off x="3484563" y="4679950"/>
            <a:ext cx="90487" cy="98425"/>
          </a:xfrm>
          <a:prstGeom prst="ellipse">
            <a:avLst/>
          </a:prstGeom>
          <a:solidFill>
            <a:schemeClr val="tx1"/>
          </a:solidFill>
          <a:ln w="0">
            <a:solidFill>
              <a:schemeClr val="tx1"/>
            </a:solidFill>
            <a:round/>
            <a:headEnd/>
            <a:tailEnd/>
          </a:ln>
        </p:spPr>
        <p:txBody>
          <a:bodyPr/>
          <a:lstStyle/>
          <a:p>
            <a:endParaRPr lang="en-US"/>
          </a:p>
        </p:txBody>
      </p:sp>
      <p:sp>
        <p:nvSpPr>
          <p:cNvPr id="451632" name="Oval 48"/>
          <p:cNvSpPr>
            <a:spLocks noChangeArrowheads="1"/>
          </p:cNvSpPr>
          <p:nvPr/>
        </p:nvSpPr>
        <p:spPr bwMode="auto">
          <a:xfrm>
            <a:off x="3336925" y="4457700"/>
            <a:ext cx="98425" cy="90488"/>
          </a:xfrm>
          <a:prstGeom prst="ellipse">
            <a:avLst/>
          </a:prstGeom>
          <a:solidFill>
            <a:schemeClr val="tx1"/>
          </a:solidFill>
          <a:ln w="9525">
            <a:solidFill>
              <a:schemeClr val="tx1"/>
            </a:solidFill>
            <a:round/>
            <a:headEnd/>
            <a:tailEnd/>
          </a:ln>
        </p:spPr>
        <p:txBody>
          <a:bodyPr/>
          <a:lstStyle/>
          <a:p>
            <a:endParaRPr lang="en-US"/>
          </a:p>
        </p:txBody>
      </p:sp>
      <p:sp>
        <p:nvSpPr>
          <p:cNvPr id="451633" name="Oval 49"/>
          <p:cNvSpPr>
            <a:spLocks noChangeArrowheads="1"/>
          </p:cNvSpPr>
          <p:nvPr/>
        </p:nvSpPr>
        <p:spPr bwMode="auto">
          <a:xfrm>
            <a:off x="3336925" y="4457700"/>
            <a:ext cx="98425" cy="90488"/>
          </a:xfrm>
          <a:prstGeom prst="ellipse">
            <a:avLst/>
          </a:prstGeom>
          <a:solidFill>
            <a:schemeClr val="tx1"/>
          </a:solidFill>
          <a:ln w="0">
            <a:solidFill>
              <a:schemeClr val="tx1"/>
            </a:solidFill>
            <a:round/>
            <a:headEnd/>
            <a:tailEnd/>
          </a:ln>
        </p:spPr>
        <p:txBody>
          <a:bodyPr/>
          <a:lstStyle/>
          <a:p>
            <a:endParaRPr lang="en-US"/>
          </a:p>
        </p:txBody>
      </p:sp>
      <p:sp>
        <p:nvSpPr>
          <p:cNvPr id="451634" name="Oval 50"/>
          <p:cNvSpPr>
            <a:spLocks noChangeArrowheads="1"/>
          </p:cNvSpPr>
          <p:nvPr/>
        </p:nvSpPr>
        <p:spPr bwMode="auto">
          <a:xfrm>
            <a:off x="3846513" y="4465638"/>
            <a:ext cx="100012" cy="90487"/>
          </a:xfrm>
          <a:prstGeom prst="ellipse">
            <a:avLst/>
          </a:prstGeom>
          <a:solidFill>
            <a:schemeClr val="tx1"/>
          </a:solidFill>
          <a:ln w="9525">
            <a:solidFill>
              <a:schemeClr val="tx1"/>
            </a:solidFill>
            <a:round/>
            <a:headEnd/>
            <a:tailEnd/>
          </a:ln>
        </p:spPr>
        <p:txBody>
          <a:bodyPr/>
          <a:lstStyle/>
          <a:p>
            <a:endParaRPr lang="en-US"/>
          </a:p>
        </p:txBody>
      </p:sp>
      <p:sp>
        <p:nvSpPr>
          <p:cNvPr id="451635" name="Oval 51"/>
          <p:cNvSpPr>
            <a:spLocks noChangeArrowheads="1"/>
          </p:cNvSpPr>
          <p:nvPr/>
        </p:nvSpPr>
        <p:spPr bwMode="auto">
          <a:xfrm>
            <a:off x="3846513" y="4465638"/>
            <a:ext cx="100012" cy="90487"/>
          </a:xfrm>
          <a:prstGeom prst="ellipse">
            <a:avLst/>
          </a:prstGeom>
          <a:solidFill>
            <a:schemeClr val="tx1"/>
          </a:solidFill>
          <a:ln w="0">
            <a:solidFill>
              <a:schemeClr val="tx1"/>
            </a:solidFill>
            <a:round/>
            <a:headEnd/>
            <a:tailEnd/>
          </a:ln>
        </p:spPr>
        <p:txBody>
          <a:bodyPr/>
          <a:lstStyle/>
          <a:p>
            <a:endParaRPr lang="en-US"/>
          </a:p>
        </p:txBody>
      </p:sp>
      <p:sp>
        <p:nvSpPr>
          <p:cNvPr id="451636" name="Oval 52"/>
          <p:cNvSpPr>
            <a:spLocks noChangeArrowheads="1"/>
          </p:cNvSpPr>
          <p:nvPr/>
        </p:nvSpPr>
        <p:spPr bwMode="auto">
          <a:xfrm>
            <a:off x="3575050" y="4225925"/>
            <a:ext cx="100013" cy="90488"/>
          </a:xfrm>
          <a:prstGeom prst="ellipse">
            <a:avLst/>
          </a:prstGeom>
          <a:solidFill>
            <a:schemeClr val="tx1"/>
          </a:solidFill>
          <a:ln w="9525">
            <a:solidFill>
              <a:schemeClr val="tx1"/>
            </a:solidFill>
            <a:round/>
            <a:headEnd/>
            <a:tailEnd/>
          </a:ln>
        </p:spPr>
        <p:txBody>
          <a:bodyPr/>
          <a:lstStyle/>
          <a:p>
            <a:endParaRPr lang="en-US"/>
          </a:p>
        </p:txBody>
      </p:sp>
      <p:sp>
        <p:nvSpPr>
          <p:cNvPr id="451637" name="Oval 53"/>
          <p:cNvSpPr>
            <a:spLocks noChangeArrowheads="1"/>
          </p:cNvSpPr>
          <p:nvPr/>
        </p:nvSpPr>
        <p:spPr bwMode="auto">
          <a:xfrm>
            <a:off x="3575050" y="4225925"/>
            <a:ext cx="100013" cy="90488"/>
          </a:xfrm>
          <a:prstGeom prst="ellipse">
            <a:avLst/>
          </a:prstGeom>
          <a:solidFill>
            <a:schemeClr val="tx1"/>
          </a:solidFill>
          <a:ln w="0">
            <a:solidFill>
              <a:schemeClr val="tx1"/>
            </a:solidFill>
            <a:round/>
            <a:headEnd/>
            <a:tailEnd/>
          </a:ln>
        </p:spPr>
        <p:txBody>
          <a:bodyPr/>
          <a:lstStyle/>
          <a:p>
            <a:endParaRPr lang="en-US"/>
          </a:p>
        </p:txBody>
      </p:sp>
      <p:sp>
        <p:nvSpPr>
          <p:cNvPr id="451638" name="Oval 54"/>
          <p:cNvSpPr>
            <a:spLocks noChangeArrowheads="1"/>
          </p:cNvSpPr>
          <p:nvPr/>
        </p:nvSpPr>
        <p:spPr bwMode="auto">
          <a:xfrm>
            <a:off x="3633788" y="4579938"/>
            <a:ext cx="98425" cy="90487"/>
          </a:xfrm>
          <a:prstGeom prst="ellipse">
            <a:avLst/>
          </a:prstGeom>
          <a:solidFill>
            <a:schemeClr val="tx1"/>
          </a:solidFill>
          <a:ln w="9525">
            <a:solidFill>
              <a:schemeClr val="tx1"/>
            </a:solidFill>
            <a:round/>
            <a:headEnd/>
            <a:tailEnd/>
          </a:ln>
        </p:spPr>
        <p:txBody>
          <a:bodyPr/>
          <a:lstStyle/>
          <a:p>
            <a:endParaRPr lang="en-US"/>
          </a:p>
        </p:txBody>
      </p:sp>
      <p:sp>
        <p:nvSpPr>
          <p:cNvPr id="451639" name="Oval 55"/>
          <p:cNvSpPr>
            <a:spLocks noChangeArrowheads="1"/>
          </p:cNvSpPr>
          <p:nvPr/>
        </p:nvSpPr>
        <p:spPr bwMode="auto">
          <a:xfrm>
            <a:off x="3633788" y="4579938"/>
            <a:ext cx="98425" cy="90487"/>
          </a:xfrm>
          <a:prstGeom prst="ellipse">
            <a:avLst/>
          </a:prstGeom>
          <a:solidFill>
            <a:schemeClr val="tx1"/>
          </a:solidFill>
          <a:ln w="0">
            <a:solidFill>
              <a:schemeClr val="tx1"/>
            </a:solidFill>
            <a:round/>
            <a:headEnd/>
            <a:tailEnd/>
          </a:ln>
        </p:spPr>
        <p:txBody>
          <a:bodyPr/>
          <a:lstStyle/>
          <a:p>
            <a:endParaRPr lang="en-US"/>
          </a:p>
        </p:txBody>
      </p:sp>
      <p:sp>
        <p:nvSpPr>
          <p:cNvPr id="451640" name="Oval 56"/>
          <p:cNvSpPr>
            <a:spLocks noChangeArrowheads="1"/>
          </p:cNvSpPr>
          <p:nvPr/>
        </p:nvSpPr>
        <p:spPr bwMode="auto">
          <a:xfrm>
            <a:off x="3773488" y="4160838"/>
            <a:ext cx="90487" cy="98425"/>
          </a:xfrm>
          <a:prstGeom prst="ellipse">
            <a:avLst/>
          </a:prstGeom>
          <a:solidFill>
            <a:schemeClr val="tx1"/>
          </a:solidFill>
          <a:ln w="9525">
            <a:solidFill>
              <a:schemeClr val="tx1"/>
            </a:solidFill>
            <a:round/>
            <a:headEnd/>
            <a:tailEnd/>
          </a:ln>
        </p:spPr>
        <p:txBody>
          <a:bodyPr/>
          <a:lstStyle/>
          <a:p>
            <a:endParaRPr lang="en-US"/>
          </a:p>
        </p:txBody>
      </p:sp>
      <p:sp>
        <p:nvSpPr>
          <p:cNvPr id="451641" name="Oval 57"/>
          <p:cNvSpPr>
            <a:spLocks noChangeArrowheads="1"/>
          </p:cNvSpPr>
          <p:nvPr/>
        </p:nvSpPr>
        <p:spPr bwMode="auto">
          <a:xfrm>
            <a:off x="3773488" y="4160838"/>
            <a:ext cx="90487" cy="98425"/>
          </a:xfrm>
          <a:prstGeom prst="ellipse">
            <a:avLst/>
          </a:prstGeom>
          <a:solidFill>
            <a:schemeClr val="tx1"/>
          </a:solidFill>
          <a:ln w="0">
            <a:solidFill>
              <a:schemeClr val="tx1"/>
            </a:solidFill>
            <a:round/>
            <a:headEnd/>
            <a:tailEnd/>
          </a:ln>
        </p:spPr>
        <p:txBody>
          <a:bodyPr/>
          <a:lstStyle/>
          <a:p>
            <a:endParaRPr lang="en-US"/>
          </a:p>
        </p:txBody>
      </p:sp>
      <p:sp>
        <p:nvSpPr>
          <p:cNvPr id="451642" name="Oval 58"/>
          <p:cNvSpPr>
            <a:spLocks noChangeArrowheads="1"/>
          </p:cNvSpPr>
          <p:nvPr/>
        </p:nvSpPr>
        <p:spPr bwMode="auto">
          <a:xfrm>
            <a:off x="3452813" y="4646613"/>
            <a:ext cx="90487" cy="98425"/>
          </a:xfrm>
          <a:prstGeom prst="ellipse">
            <a:avLst/>
          </a:prstGeom>
          <a:solidFill>
            <a:schemeClr val="tx1"/>
          </a:solidFill>
          <a:ln w="9525">
            <a:solidFill>
              <a:schemeClr val="tx1"/>
            </a:solidFill>
            <a:round/>
            <a:headEnd/>
            <a:tailEnd/>
          </a:ln>
        </p:spPr>
        <p:txBody>
          <a:bodyPr/>
          <a:lstStyle/>
          <a:p>
            <a:endParaRPr lang="en-US"/>
          </a:p>
        </p:txBody>
      </p:sp>
      <p:sp>
        <p:nvSpPr>
          <p:cNvPr id="451643" name="Oval 59"/>
          <p:cNvSpPr>
            <a:spLocks noChangeArrowheads="1"/>
          </p:cNvSpPr>
          <p:nvPr/>
        </p:nvSpPr>
        <p:spPr bwMode="auto">
          <a:xfrm>
            <a:off x="3452813" y="4646613"/>
            <a:ext cx="90487" cy="98425"/>
          </a:xfrm>
          <a:prstGeom prst="ellipse">
            <a:avLst/>
          </a:prstGeom>
          <a:solidFill>
            <a:schemeClr val="tx1"/>
          </a:solidFill>
          <a:ln w="0">
            <a:solidFill>
              <a:schemeClr val="tx1"/>
            </a:solidFill>
            <a:round/>
            <a:headEnd/>
            <a:tailEnd/>
          </a:ln>
        </p:spPr>
        <p:txBody>
          <a:bodyPr/>
          <a:lstStyle/>
          <a:p>
            <a:endParaRPr lang="en-US"/>
          </a:p>
        </p:txBody>
      </p:sp>
      <p:sp>
        <p:nvSpPr>
          <p:cNvPr id="451644" name="Oval 60"/>
          <p:cNvSpPr>
            <a:spLocks noChangeArrowheads="1"/>
          </p:cNvSpPr>
          <p:nvPr/>
        </p:nvSpPr>
        <p:spPr bwMode="auto">
          <a:xfrm>
            <a:off x="3863975" y="4497388"/>
            <a:ext cx="98425" cy="92075"/>
          </a:xfrm>
          <a:prstGeom prst="ellipse">
            <a:avLst/>
          </a:prstGeom>
          <a:solidFill>
            <a:schemeClr val="tx1"/>
          </a:solidFill>
          <a:ln w="9525">
            <a:solidFill>
              <a:schemeClr val="tx1"/>
            </a:solidFill>
            <a:round/>
            <a:headEnd/>
            <a:tailEnd/>
          </a:ln>
        </p:spPr>
        <p:txBody>
          <a:bodyPr/>
          <a:lstStyle/>
          <a:p>
            <a:endParaRPr lang="en-US"/>
          </a:p>
        </p:txBody>
      </p:sp>
      <p:sp>
        <p:nvSpPr>
          <p:cNvPr id="451645" name="Oval 61"/>
          <p:cNvSpPr>
            <a:spLocks noChangeArrowheads="1"/>
          </p:cNvSpPr>
          <p:nvPr/>
        </p:nvSpPr>
        <p:spPr bwMode="auto">
          <a:xfrm>
            <a:off x="3863975" y="4497388"/>
            <a:ext cx="98425" cy="92075"/>
          </a:xfrm>
          <a:prstGeom prst="ellipse">
            <a:avLst/>
          </a:prstGeom>
          <a:solidFill>
            <a:schemeClr val="tx1"/>
          </a:solidFill>
          <a:ln w="0">
            <a:solidFill>
              <a:schemeClr val="tx1"/>
            </a:solidFill>
            <a:round/>
            <a:headEnd/>
            <a:tailEnd/>
          </a:ln>
        </p:spPr>
        <p:txBody>
          <a:bodyPr/>
          <a:lstStyle/>
          <a:p>
            <a:endParaRPr lang="en-US"/>
          </a:p>
        </p:txBody>
      </p:sp>
      <p:sp>
        <p:nvSpPr>
          <p:cNvPr id="451646" name="Oval 62"/>
          <p:cNvSpPr>
            <a:spLocks noChangeArrowheads="1"/>
          </p:cNvSpPr>
          <p:nvPr/>
        </p:nvSpPr>
        <p:spPr bwMode="auto">
          <a:xfrm>
            <a:off x="3624263" y="4341813"/>
            <a:ext cx="100012" cy="90487"/>
          </a:xfrm>
          <a:prstGeom prst="ellipse">
            <a:avLst/>
          </a:prstGeom>
          <a:solidFill>
            <a:schemeClr val="tx1"/>
          </a:solidFill>
          <a:ln w="9525">
            <a:solidFill>
              <a:schemeClr val="tx1"/>
            </a:solidFill>
            <a:round/>
            <a:headEnd/>
            <a:tailEnd/>
          </a:ln>
        </p:spPr>
        <p:txBody>
          <a:bodyPr/>
          <a:lstStyle/>
          <a:p>
            <a:endParaRPr lang="en-US"/>
          </a:p>
        </p:txBody>
      </p:sp>
      <p:sp>
        <p:nvSpPr>
          <p:cNvPr id="451647" name="Oval 63"/>
          <p:cNvSpPr>
            <a:spLocks noChangeArrowheads="1"/>
          </p:cNvSpPr>
          <p:nvPr/>
        </p:nvSpPr>
        <p:spPr bwMode="auto">
          <a:xfrm>
            <a:off x="3624263" y="4341813"/>
            <a:ext cx="100012" cy="90487"/>
          </a:xfrm>
          <a:prstGeom prst="ellipse">
            <a:avLst/>
          </a:prstGeom>
          <a:solidFill>
            <a:schemeClr val="tx1"/>
          </a:solidFill>
          <a:ln w="0">
            <a:solidFill>
              <a:schemeClr val="tx1"/>
            </a:solidFill>
            <a:round/>
            <a:headEnd/>
            <a:tailEnd/>
          </a:ln>
        </p:spPr>
        <p:txBody>
          <a:bodyPr/>
          <a:lstStyle/>
          <a:p>
            <a:endParaRPr lang="en-US"/>
          </a:p>
        </p:txBody>
      </p:sp>
      <p:sp>
        <p:nvSpPr>
          <p:cNvPr id="451648" name="Oval 64"/>
          <p:cNvSpPr>
            <a:spLocks noChangeArrowheads="1"/>
          </p:cNvSpPr>
          <p:nvPr/>
        </p:nvSpPr>
        <p:spPr bwMode="auto">
          <a:xfrm>
            <a:off x="3608388" y="4613275"/>
            <a:ext cx="98425" cy="98425"/>
          </a:xfrm>
          <a:prstGeom prst="ellipse">
            <a:avLst/>
          </a:prstGeom>
          <a:solidFill>
            <a:schemeClr val="tx1"/>
          </a:solidFill>
          <a:ln w="9525">
            <a:solidFill>
              <a:schemeClr val="tx1"/>
            </a:solidFill>
            <a:round/>
            <a:headEnd/>
            <a:tailEnd/>
          </a:ln>
        </p:spPr>
        <p:txBody>
          <a:bodyPr/>
          <a:lstStyle/>
          <a:p>
            <a:endParaRPr lang="en-US"/>
          </a:p>
        </p:txBody>
      </p:sp>
      <p:sp>
        <p:nvSpPr>
          <p:cNvPr id="451649" name="Oval 65"/>
          <p:cNvSpPr>
            <a:spLocks noChangeArrowheads="1"/>
          </p:cNvSpPr>
          <p:nvPr/>
        </p:nvSpPr>
        <p:spPr bwMode="auto">
          <a:xfrm>
            <a:off x="3608388" y="4613275"/>
            <a:ext cx="98425" cy="98425"/>
          </a:xfrm>
          <a:prstGeom prst="ellipse">
            <a:avLst/>
          </a:prstGeom>
          <a:solidFill>
            <a:schemeClr val="tx1"/>
          </a:solidFill>
          <a:ln w="0">
            <a:solidFill>
              <a:schemeClr val="tx1"/>
            </a:solidFill>
            <a:round/>
            <a:headEnd/>
            <a:tailEnd/>
          </a:ln>
        </p:spPr>
        <p:txBody>
          <a:bodyPr/>
          <a:lstStyle/>
          <a:p>
            <a:endParaRPr lang="en-US"/>
          </a:p>
        </p:txBody>
      </p:sp>
      <p:sp>
        <p:nvSpPr>
          <p:cNvPr id="451650" name="Oval 66"/>
          <p:cNvSpPr>
            <a:spLocks noChangeArrowheads="1"/>
          </p:cNvSpPr>
          <p:nvPr/>
        </p:nvSpPr>
        <p:spPr bwMode="auto">
          <a:xfrm>
            <a:off x="4102100" y="4514850"/>
            <a:ext cx="98425" cy="90488"/>
          </a:xfrm>
          <a:prstGeom prst="ellipse">
            <a:avLst/>
          </a:prstGeom>
          <a:solidFill>
            <a:schemeClr val="tx1"/>
          </a:solidFill>
          <a:ln w="9525">
            <a:solidFill>
              <a:schemeClr val="tx1"/>
            </a:solidFill>
            <a:round/>
            <a:headEnd/>
            <a:tailEnd/>
          </a:ln>
        </p:spPr>
        <p:txBody>
          <a:bodyPr/>
          <a:lstStyle/>
          <a:p>
            <a:endParaRPr lang="en-US"/>
          </a:p>
        </p:txBody>
      </p:sp>
      <p:sp>
        <p:nvSpPr>
          <p:cNvPr id="451651" name="Oval 67"/>
          <p:cNvSpPr>
            <a:spLocks noChangeArrowheads="1"/>
          </p:cNvSpPr>
          <p:nvPr/>
        </p:nvSpPr>
        <p:spPr bwMode="auto">
          <a:xfrm>
            <a:off x="4102100" y="4514850"/>
            <a:ext cx="98425" cy="90488"/>
          </a:xfrm>
          <a:prstGeom prst="ellipse">
            <a:avLst/>
          </a:prstGeom>
          <a:solidFill>
            <a:schemeClr val="tx1"/>
          </a:solidFill>
          <a:ln w="0">
            <a:solidFill>
              <a:schemeClr val="tx1"/>
            </a:solidFill>
            <a:round/>
            <a:headEnd/>
            <a:tailEnd/>
          </a:ln>
        </p:spPr>
        <p:txBody>
          <a:bodyPr/>
          <a:lstStyle/>
          <a:p>
            <a:endParaRPr lang="en-US"/>
          </a:p>
        </p:txBody>
      </p:sp>
      <p:sp>
        <p:nvSpPr>
          <p:cNvPr id="451652" name="Oval 68"/>
          <p:cNvSpPr>
            <a:spLocks noChangeArrowheads="1"/>
          </p:cNvSpPr>
          <p:nvPr/>
        </p:nvSpPr>
        <p:spPr bwMode="auto">
          <a:xfrm>
            <a:off x="3551238" y="4662488"/>
            <a:ext cx="90487" cy="98425"/>
          </a:xfrm>
          <a:prstGeom prst="ellipse">
            <a:avLst/>
          </a:prstGeom>
          <a:solidFill>
            <a:schemeClr val="tx1"/>
          </a:solidFill>
          <a:ln w="9525">
            <a:solidFill>
              <a:schemeClr val="tx1"/>
            </a:solidFill>
            <a:round/>
            <a:headEnd/>
            <a:tailEnd/>
          </a:ln>
        </p:spPr>
        <p:txBody>
          <a:bodyPr/>
          <a:lstStyle/>
          <a:p>
            <a:endParaRPr lang="en-US"/>
          </a:p>
        </p:txBody>
      </p:sp>
      <p:sp>
        <p:nvSpPr>
          <p:cNvPr id="451653" name="Oval 69"/>
          <p:cNvSpPr>
            <a:spLocks noChangeArrowheads="1"/>
          </p:cNvSpPr>
          <p:nvPr/>
        </p:nvSpPr>
        <p:spPr bwMode="auto">
          <a:xfrm>
            <a:off x="3551238" y="4662488"/>
            <a:ext cx="90487" cy="98425"/>
          </a:xfrm>
          <a:prstGeom prst="ellipse">
            <a:avLst/>
          </a:prstGeom>
          <a:solidFill>
            <a:schemeClr val="tx1"/>
          </a:solidFill>
          <a:ln w="0">
            <a:solidFill>
              <a:schemeClr val="tx1"/>
            </a:solidFill>
            <a:round/>
            <a:headEnd/>
            <a:tailEnd/>
          </a:ln>
        </p:spPr>
        <p:txBody>
          <a:bodyPr/>
          <a:lstStyle/>
          <a:p>
            <a:endParaRPr lang="en-US"/>
          </a:p>
        </p:txBody>
      </p:sp>
      <p:sp>
        <p:nvSpPr>
          <p:cNvPr id="451654" name="Oval 70"/>
          <p:cNvSpPr>
            <a:spLocks noChangeArrowheads="1"/>
          </p:cNvSpPr>
          <p:nvPr/>
        </p:nvSpPr>
        <p:spPr bwMode="auto">
          <a:xfrm>
            <a:off x="3683000" y="4548188"/>
            <a:ext cx="90488" cy="90487"/>
          </a:xfrm>
          <a:prstGeom prst="ellipse">
            <a:avLst/>
          </a:prstGeom>
          <a:solidFill>
            <a:schemeClr val="tx1"/>
          </a:solidFill>
          <a:ln w="9525">
            <a:solidFill>
              <a:schemeClr val="tx1"/>
            </a:solidFill>
            <a:round/>
            <a:headEnd/>
            <a:tailEnd/>
          </a:ln>
        </p:spPr>
        <p:txBody>
          <a:bodyPr/>
          <a:lstStyle/>
          <a:p>
            <a:endParaRPr lang="en-US"/>
          </a:p>
        </p:txBody>
      </p:sp>
      <p:sp>
        <p:nvSpPr>
          <p:cNvPr id="451655" name="Oval 71"/>
          <p:cNvSpPr>
            <a:spLocks noChangeArrowheads="1"/>
          </p:cNvSpPr>
          <p:nvPr/>
        </p:nvSpPr>
        <p:spPr bwMode="auto">
          <a:xfrm>
            <a:off x="3683000" y="4548188"/>
            <a:ext cx="90488" cy="90487"/>
          </a:xfrm>
          <a:prstGeom prst="ellipse">
            <a:avLst/>
          </a:prstGeom>
          <a:solidFill>
            <a:schemeClr val="tx1"/>
          </a:solidFill>
          <a:ln w="0">
            <a:solidFill>
              <a:schemeClr val="tx1"/>
            </a:solidFill>
            <a:round/>
            <a:headEnd/>
            <a:tailEnd/>
          </a:ln>
        </p:spPr>
        <p:txBody>
          <a:bodyPr/>
          <a:lstStyle/>
          <a:p>
            <a:endParaRPr lang="en-US"/>
          </a:p>
        </p:txBody>
      </p:sp>
      <p:sp>
        <p:nvSpPr>
          <p:cNvPr id="451656" name="Oval 72"/>
          <p:cNvSpPr>
            <a:spLocks noChangeArrowheads="1"/>
          </p:cNvSpPr>
          <p:nvPr/>
        </p:nvSpPr>
        <p:spPr bwMode="auto">
          <a:xfrm>
            <a:off x="3814763" y="4579938"/>
            <a:ext cx="90487" cy="90487"/>
          </a:xfrm>
          <a:prstGeom prst="ellipse">
            <a:avLst/>
          </a:prstGeom>
          <a:solidFill>
            <a:schemeClr val="tx1"/>
          </a:solidFill>
          <a:ln w="9525">
            <a:solidFill>
              <a:schemeClr val="tx1"/>
            </a:solidFill>
            <a:round/>
            <a:headEnd/>
            <a:tailEnd/>
          </a:ln>
        </p:spPr>
        <p:txBody>
          <a:bodyPr/>
          <a:lstStyle/>
          <a:p>
            <a:endParaRPr lang="en-US"/>
          </a:p>
        </p:txBody>
      </p:sp>
      <p:sp>
        <p:nvSpPr>
          <p:cNvPr id="451657" name="Oval 73"/>
          <p:cNvSpPr>
            <a:spLocks noChangeArrowheads="1"/>
          </p:cNvSpPr>
          <p:nvPr/>
        </p:nvSpPr>
        <p:spPr bwMode="auto">
          <a:xfrm>
            <a:off x="3814763" y="4579938"/>
            <a:ext cx="90487" cy="90487"/>
          </a:xfrm>
          <a:prstGeom prst="ellipse">
            <a:avLst/>
          </a:prstGeom>
          <a:solidFill>
            <a:schemeClr val="tx1"/>
          </a:solidFill>
          <a:ln w="0">
            <a:solidFill>
              <a:schemeClr val="tx1"/>
            </a:solidFill>
            <a:round/>
            <a:headEnd/>
            <a:tailEnd/>
          </a:ln>
        </p:spPr>
        <p:txBody>
          <a:bodyPr/>
          <a:lstStyle/>
          <a:p>
            <a:endParaRPr lang="en-US"/>
          </a:p>
        </p:txBody>
      </p:sp>
      <p:sp>
        <p:nvSpPr>
          <p:cNvPr id="451658" name="Oval 74"/>
          <p:cNvSpPr>
            <a:spLocks noChangeArrowheads="1"/>
          </p:cNvSpPr>
          <p:nvPr/>
        </p:nvSpPr>
        <p:spPr bwMode="auto">
          <a:xfrm>
            <a:off x="3846513" y="4719638"/>
            <a:ext cx="100012" cy="92075"/>
          </a:xfrm>
          <a:prstGeom prst="ellipse">
            <a:avLst/>
          </a:prstGeom>
          <a:solidFill>
            <a:schemeClr val="tx1"/>
          </a:solidFill>
          <a:ln w="9525">
            <a:solidFill>
              <a:schemeClr val="tx1"/>
            </a:solidFill>
            <a:round/>
            <a:headEnd/>
            <a:tailEnd/>
          </a:ln>
        </p:spPr>
        <p:txBody>
          <a:bodyPr/>
          <a:lstStyle/>
          <a:p>
            <a:endParaRPr lang="en-US"/>
          </a:p>
        </p:txBody>
      </p:sp>
      <p:sp>
        <p:nvSpPr>
          <p:cNvPr id="451659" name="Oval 75"/>
          <p:cNvSpPr>
            <a:spLocks noChangeArrowheads="1"/>
          </p:cNvSpPr>
          <p:nvPr/>
        </p:nvSpPr>
        <p:spPr bwMode="auto">
          <a:xfrm>
            <a:off x="3846513" y="4719638"/>
            <a:ext cx="100012" cy="92075"/>
          </a:xfrm>
          <a:prstGeom prst="ellipse">
            <a:avLst/>
          </a:prstGeom>
          <a:solidFill>
            <a:schemeClr val="tx1"/>
          </a:solidFill>
          <a:ln w="0">
            <a:solidFill>
              <a:schemeClr val="tx1"/>
            </a:solidFill>
            <a:round/>
            <a:headEnd/>
            <a:tailEnd/>
          </a:ln>
        </p:spPr>
        <p:txBody>
          <a:bodyPr/>
          <a:lstStyle/>
          <a:p>
            <a:endParaRPr lang="en-US"/>
          </a:p>
        </p:txBody>
      </p:sp>
      <p:sp>
        <p:nvSpPr>
          <p:cNvPr id="451660" name="Oval 76"/>
          <p:cNvSpPr>
            <a:spLocks noChangeArrowheads="1"/>
          </p:cNvSpPr>
          <p:nvPr/>
        </p:nvSpPr>
        <p:spPr bwMode="auto">
          <a:xfrm>
            <a:off x="3740150" y="4341813"/>
            <a:ext cx="90488" cy="90487"/>
          </a:xfrm>
          <a:prstGeom prst="ellipse">
            <a:avLst/>
          </a:prstGeom>
          <a:solidFill>
            <a:schemeClr val="tx1"/>
          </a:solidFill>
          <a:ln w="9525">
            <a:solidFill>
              <a:schemeClr val="tx1"/>
            </a:solidFill>
            <a:round/>
            <a:headEnd/>
            <a:tailEnd/>
          </a:ln>
        </p:spPr>
        <p:txBody>
          <a:bodyPr/>
          <a:lstStyle/>
          <a:p>
            <a:endParaRPr lang="en-US"/>
          </a:p>
        </p:txBody>
      </p:sp>
      <p:sp>
        <p:nvSpPr>
          <p:cNvPr id="451661" name="Oval 77"/>
          <p:cNvSpPr>
            <a:spLocks noChangeArrowheads="1"/>
          </p:cNvSpPr>
          <p:nvPr/>
        </p:nvSpPr>
        <p:spPr bwMode="auto">
          <a:xfrm>
            <a:off x="3740150" y="4341813"/>
            <a:ext cx="90488" cy="90487"/>
          </a:xfrm>
          <a:prstGeom prst="ellipse">
            <a:avLst/>
          </a:prstGeom>
          <a:solidFill>
            <a:schemeClr val="tx1"/>
          </a:solidFill>
          <a:ln w="0">
            <a:solidFill>
              <a:schemeClr val="tx1"/>
            </a:solidFill>
            <a:round/>
            <a:headEnd/>
            <a:tailEnd/>
          </a:ln>
        </p:spPr>
        <p:txBody>
          <a:bodyPr/>
          <a:lstStyle/>
          <a:p>
            <a:endParaRPr lang="en-US"/>
          </a:p>
        </p:txBody>
      </p:sp>
      <p:sp>
        <p:nvSpPr>
          <p:cNvPr id="451662" name="Oval 78"/>
          <p:cNvSpPr>
            <a:spLocks noChangeArrowheads="1"/>
          </p:cNvSpPr>
          <p:nvPr/>
        </p:nvSpPr>
        <p:spPr bwMode="auto">
          <a:xfrm>
            <a:off x="3641725" y="4375150"/>
            <a:ext cx="98425" cy="98425"/>
          </a:xfrm>
          <a:prstGeom prst="ellipse">
            <a:avLst/>
          </a:prstGeom>
          <a:solidFill>
            <a:schemeClr val="tx1"/>
          </a:solidFill>
          <a:ln w="9525">
            <a:solidFill>
              <a:schemeClr val="tx1"/>
            </a:solidFill>
            <a:round/>
            <a:headEnd/>
            <a:tailEnd/>
          </a:ln>
        </p:spPr>
        <p:txBody>
          <a:bodyPr/>
          <a:lstStyle/>
          <a:p>
            <a:endParaRPr lang="en-US"/>
          </a:p>
        </p:txBody>
      </p:sp>
      <p:sp>
        <p:nvSpPr>
          <p:cNvPr id="451663" name="Oval 79"/>
          <p:cNvSpPr>
            <a:spLocks noChangeArrowheads="1"/>
          </p:cNvSpPr>
          <p:nvPr/>
        </p:nvSpPr>
        <p:spPr bwMode="auto">
          <a:xfrm>
            <a:off x="3641725" y="4375150"/>
            <a:ext cx="98425" cy="98425"/>
          </a:xfrm>
          <a:prstGeom prst="ellipse">
            <a:avLst/>
          </a:prstGeom>
          <a:solidFill>
            <a:schemeClr val="tx1"/>
          </a:solidFill>
          <a:ln w="0">
            <a:solidFill>
              <a:schemeClr val="tx1"/>
            </a:solidFill>
            <a:round/>
            <a:headEnd/>
            <a:tailEnd/>
          </a:ln>
        </p:spPr>
        <p:txBody>
          <a:bodyPr/>
          <a:lstStyle/>
          <a:p>
            <a:endParaRPr lang="en-US"/>
          </a:p>
        </p:txBody>
      </p:sp>
      <p:sp>
        <p:nvSpPr>
          <p:cNvPr id="451664" name="Oval 80"/>
          <p:cNvSpPr>
            <a:spLocks noChangeArrowheads="1"/>
          </p:cNvSpPr>
          <p:nvPr/>
        </p:nvSpPr>
        <p:spPr bwMode="auto">
          <a:xfrm>
            <a:off x="3724275" y="4538663"/>
            <a:ext cx="90488" cy="90487"/>
          </a:xfrm>
          <a:prstGeom prst="ellipse">
            <a:avLst/>
          </a:prstGeom>
          <a:solidFill>
            <a:schemeClr val="tx1"/>
          </a:solidFill>
          <a:ln w="9525">
            <a:solidFill>
              <a:schemeClr val="tx1"/>
            </a:solidFill>
            <a:round/>
            <a:headEnd/>
            <a:tailEnd/>
          </a:ln>
        </p:spPr>
        <p:txBody>
          <a:bodyPr/>
          <a:lstStyle/>
          <a:p>
            <a:endParaRPr lang="en-US"/>
          </a:p>
        </p:txBody>
      </p:sp>
      <p:sp>
        <p:nvSpPr>
          <p:cNvPr id="451665" name="Oval 81"/>
          <p:cNvSpPr>
            <a:spLocks noChangeArrowheads="1"/>
          </p:cNvSpPr>
          <p:nvPr/>
        </p:nvSpPr>
        <p:spPr bwMode="auto">
          <a:xfrm>
            <a:off x="3724275" y="4538663"/>
            <a:ext cx="90488" cy="90487"/>
          </a:xfrm>
          <a:prstGeom prst="ellipse">
            <a:avLst/>
          </a:prstGeom>
          <a:solidFill>
            <a:schemeClr val="tx1"/>
          </a:solidFill>
          <a:ln w="0">
            <a:solidFill>
              <a:schemeClr val="tx1"/>
            </a:solidFill>
            <a:round/>
            <a:headEnd/>
            <a:tailEnd/>
          </a:ln>
        </p:spPr>
        <p:txBody>
          <a:bodyPr/>
          <a:lstStyle/>
          <a:p>
            <a:endParaRPr lang="en-US"/>
          </a:p>
        </p:txBody>
      </p:sp>
      <p:sp>
        <p:nvSpPr>
          <p:cNvPr id="451666" name="Oval 82"/>
          <p:cNvSpPr>
            <a:spLocks noChangeArrowheads="1"/>
          </p:cNvSpPr>
          <p:nvPr/>
        </p:nvSpPr>
        <p:spPr bwMode="auto">
          <a:xfrm>
            <a:off x="3559175" y="4621213"/>
            <a:ext cx="90488" cy="98425"/>
          </a:xfrm>
          <a:prstGeom prst="ellipse">
            <a:avLst/>
          </a:prstGeom>
          <a:solidFill>
            <a:schemeClr val="tx1"/>
          </a:solidFill>
          <a:ln w="9525">
            <a:solidFill>
              <a:schemeClr val="tx1"/>
            </a:solidFill>
            <a:round/>
            <a:headEnd/>
            <a:tailEnd/>
          </a:ln>
        </p:spPr>
        <p:txBody>
          <a:bodyPr/>
          <a:lstStyle/>
          <a:p>
            <a:endParaRPr lang="en-US"/>
          </a:p>
        </p:txBody>
      </p:sp>
      <p:sp>
        <p:nvSpPr>
          <p:cNvPr id="451667" name="Oval 83"/>
          <p:cNvSpPr>
            <a:spLocks noChangeArrowheads="1"/>
          </p:cNvSpPr>
          <p:nvPr/>
        </p:nvSpPr>
        <p:spPr bwMode="auto">
          <a:xfrm>
            <a:off x="3559175" y="4621213"/>
            <a:ext cx="90488" cy="98425"/>
          </a:xfrm>
          <a:prstGeom prst="ellipse">
            <a:avLst/>
          </a:prstGeom>
          <a:solidFill>
            <a:schemeClr val="tx1"/>
          </a:solidFill>
          <a:ln w="0">
            <a:solidFill>
              <a:schemeClr val="tx1"/>
            </a:solidFill>
            <a:round/>
            <a:headEnd/>
            <a:tailEnd/>
          </a:ln>
        </p:spPr>
        <p:txBody>
          <a:bodyPr/>
          <a:lstStyle/>
          <a:p>
            <a:endParaRPr lang="en-US"/>
          </a:p>
        </p:txBody>
      </p:sp>
      <p:sp>
        <p:nvSpPr>
          <p:cNvPr id="451668" name="Oval 84"/>
          <p:cNvSpPr>
            <a:spLocks noChangeArrowheads="1"/>
          </p:cNvSpPr>
          <p:nvPr/>
        </p:nvSpPr>
        <p:spPr bwMode="auto">
          <a:xfrm>
            <a:off x="3846513" y="4737100"/>
            <a:ext cx="100012" cy="90488"/>
          </a:xfrm>
          <a:prstGeom prst="ellipse">
            <a:avLst/>
          </a:prstGeom>
          <a:solidFill>
            <a:schemeClr val="tx1"/>
          </a:solidFill>
          <a:ln w="9525">
            <a:solidFill>
              <a:schemeClr val="tx1"/>
            </a:solidFill>
            <a:round/>
            <a:headEnd/>
            <a:tailEnd/>
          </a:ln>
        </p:spPr>
        <p:txBody>
          <a:bodyPr/>
          <a:lstStyle/>
          <a:p>
            <a:endParaRPr lang="en-US"/>
          </a:p>
        </p:txBody>
      </p:sp>
      <p:sp>
        <p:nvSpPr>
          <p:cNvPr id="451669" name="Oval 85"/>
          <p:cNvSpPr>
            <a:spLocks noChangeArrowheads="1"/>
          </p:cNvSpPr>
          <p:nvPr/>
        </p:nvSpPr>
        <p:spPr bwMode="auto">
          <a:xfrm>
            <a:off x="3846513" y="4737100"/>
            <a:ext cx="100012" cy="90488"/>
          </a:xfrm>
          <a:prstGeom prst="ellipse">
            <a:avLst/>
          </a:prstGeom>
          <a:solidFill>
            <a:schemeClr val="tx1"/>
          </a:solidFill>
          <a:ln w="0">
            <a:solidFill>
              <a:schemeClr val="tx1"/>
            </a:solidFill>
            <a:round/>
            <a:headEnd/>
            <a:tailEnd/>
          </a:ln>
        </p:spPr>
        <p:txBody>
          <a:bodyPr/>
          <a:lstStyle/>
          <a:p>
            <a:endParaRPr lang="en-US"/>
          </a:p>
        </p:txBody>
      </p:sp>
      <p:sp>
        <p:nvSpPr>
          <p:cNvPr id="451670" name="Oval 86"/>
          <p:cNvSpPr>
            <a:spLocks noChangeArrowheads="1"/>
          </p:cNvSpPr>
          <p:nvPr/>
        </p:nvSpPr>
        <p:spPr bwMode="auto">
          <a:xfrm>
            <a:off x="3484563" y="4538663"/>
            <a:ext cx="90487" cy="90487"/>
          </a:xfrm>
          <a:prstGeom prst="ellipse">
            <a:avLst/>
          </a:prstGeom>
          <a:solidFill>
            <a:schemeClr val="tx1"/>
          </a:solidFill>
          <a:ln w="9525">
            <a:solidFill>
              <a:schemeClr val="tx1"/>
            </a:solidFill>
            <a:round/>
            <a:headEnd/>
            <a:tailEnd/>
          </a:ln>
        </p:spPr>
        <p:txBody>
          <a:bodyPr/>
          <a:lstStyle/>
          <a:p>
            <a:endParaRPr lang="en-US"/>
          </a:p>
        </p:txBody>
      </p:sp>
      <p:sp>
        <p:nvSpPr>
          <p:cNvPr id="451671" name="Oval 87"/>
          <p:cNvSpPr>
            <a:spLocks noChangeArrowheads="1"/>
          </p:cNvSpPr>
          <p:nvPr/>
        </p:nvSpPr>
        <p:spPr bwMode="auto">
          <a:xfrm>
            <a:off x="3484563" y="4538663"/>
            <a:ext cx="90487" cy="90487"/>
          </a:xfrm>
          <a:prstGeom prst="ellipse">
            <a:avLst/>
          </a:prstGeom>
          <a:solidFill>
            <a:schemeClr val="tx1"/>
          </a:solidFill>
          <a:ln w="0">
            <a:solidFill>
              <a:schemeClr val="tx1"/>
            </a:solidFill>
            <a:round/>
            <a:headEnd/>
            <a:tailEnd/>
          </a:ln>
        </p:spPr>
        <p:txBody>
          <a:bodyPr/>
          <a:lstStyle/>
          <a:p>
            <a:endParaRPr lang="en-US"/>
          </a:p>
        </p:txBody>
      </p:sp>
      <p:sp>
        <p:nvSpPr>
          <p:cNvPr id="451672" name="Oval 88"/>
          <p:cNvSpPr>
            <a:spLocks noChangeArrowheads="1"/>
          </p:cNvSpPr>
          <p:nvPr/>
        </p:nvSpPr>
        <p:spPr bwMode="auto">
          <a:xfrm>
            <a:off x="3987800" y="3954463"/>
            <a:ext cx="90488" cy="90487"/>
          </a:xfrm>
          <a:prstGeom prst="ellipse">
            <a:avLst/>
          </a:prstGeom>
          <a:solidFill>
            <a:schemeClr val="tx1"/>
          </a:solidFill>
          <a:ln w="9525">
            <a:solidFill>
              <a:schemeClr val="tx1"/>
            </a:solidFill>
            <a:round/>
            <a:headEnd/>
            <a:tailEnd/>
          </a:ln>
        </p:spPr>
        <p:txBody>
          <a:bodyPr/>
          <a:lstStyle/>
          <a:p>
            <a:endParaRPr lang="en-US"/>
          </a:p>
        </p:txBody>
      </p:sp>
      <p:sp>
        <p:nvSpPr>
          <p:cNvPr id="451673" name="Oval 89"/>
          <p:cNvSpPr>
            <a:spLocks noChangeArrowheads="1"/>
          </p:cNvSpPr>
          <p:nvPr/>
        </p:nvSpPr>
        <p:spPr bwMode="auto">
          <a:xfrm>
            <a:off x="3987800" y="3954463"/>
            <a:ext cx="90488" cy="90487"/>
          </a:xfrm>
          <a:prstGeom prst="ellipse">
            <a:avLst/>
          </a:prstGeom>
          <a:solidFill>
            <a:schemeClr val="tx1"/>
          </a:solidFill>
          <a:ln w="0">
            <a:solidFill>
              <a:schemeClr val="tx1"/>
            </a:solidFill>
            <a:round/>
            <a:headEnd/>
            <a:tailEnd/>
          </a:ln>
        </p:spPr>
        <p:txBody>
          <a:bodyPr/>
          <a:lstStyle/>
          <a:p>
            <a:endParaRPr lang="en-US"/>
          </a:p>
        </p:txBody>
      </p:sp>
      <p:sp>
        <p:nvSpPr>
          <p:cNvPr id="451674" name="Oval 90"/>
          <p:cNvSpPr>
            <a:spLocks noChangeArrowheads="1"/>
          </p:cNvSpPr>
          <p:nvPr/>
        </p:nvSpPr>
        <p:spPr bwMode="auto">
          <a:xfrm>
            <a:off x="3887788" y="4719638"/>
            <a:ext cx="100012" cy="92075"/>
          </a:xfrm>
          <a:prstGeom prst="ellipse">
            <a:avLst/>
          </a:prstGeom>
          <a:solidFill>
            <a:schemeClr val="tx1"/>
          </a:solidFill>
          <a:ln w="9525">
            <a:solidFill>
              <a:schemeClr val="tx1"/>
            </a:solidFill>
            <a:round/>
            <a:headEnd/>
            <a:tailEnd/>
          </a:ln>
        </p:spPr>
        <p:txBody>
          <a:bodyPr/>
          <a:lstStyle/>
          <a:p>
            <a:endParaRPr lang="en-US"/>
          </a:p>
        </p:txBody>
      </p:sp>
      <p:sp>
        <p:nvSpPr>
          <p:cNvPr id="451675" name="Oval 91"/>
          <p:cNvSpPr>
            <a:spLocks noChangeArrowheads="1"/>
          </p:cNvSpPr>
          <p:nvPr/>
        </p:nvSpPr>
        <p:spPr bwMode="auto">
          <a:xfrm>
            <a:off x="3887788" y="4719638"/>
            <a:ext cx="100012" cy="92075"/>
          </a:xfrm>
          <a:prstGeom prst="ellipse">
            <a:avLst/>
          </a:prstGeom>
          <a:solidFill>
            <a:schemeClr val="tx1"/>
          </a:solidFill>
          <a:ln w="0">
            <a:solidFill>
              <a:schemeClr val="tx1"/>
            </a:solidFill>
            <a:round/>
            <a:headEnd/>
            <a:tailEnd/>
          </a:ln>
        </p:spPr>
        <p:txBody>
          <a:bodyPr/>
          <a:lstStyle/>
          <a:p>
            <a:endParaRPr lang="en-US"/>
          </a:p>
        </p:txBody>
      </p:sp>
      <p:sp>
        <p:nvSpPr>
          <p:cNvPr id="451676" name="Freeform 92"/>
          <p:cNvSpPr>
            <a:spLocks/>
          </p:cNvSpPr>
          <p:nvPr/>
        </p:nvSpPr>
        <p:spPr bwMode="auto">
          <a:xfrm>
            <a:off x="4933950" y="2530475"/>
            <a:ext cx="80963" cy="100013"/>
          </a:xfrm>
          <a:custGeom>
            <a:avLst/>
            <a:gdLst/>
            <a:ahLst/>
            <a:cxnLst>
              <a:cxn ang="0">
                <a:pos x="25" y="63"/>
              </a:cxn>
              <a:cxn ang="0">
                <a:pos x="51" y="31"/>
              </a:cxn>
              <a:cxn ang="0">
                <a:pos x="25" y="0"/>
              </a:cxn>
              <a:cxn ang="0">
                <a:pos x="0" y="31"/>
              </a:cxn>
              <a:cxn ang="0">
                <a:pos x="25" y="63"/>
              </a:cxn>
            </a:cxnLst>
            <a:rect l="0" t="0" r="r" b="b"/>
            <a:pathLst>
              <a:path w="51" h="63">
                <a:moveTo>
                  <a:pt x="25" y="63"/>
                </a:moveTo>
                <a:lnTo>
                  <a:pt x="51" y="31"/>
                </a:lnTo>
                <a:lnTo>
                  <a:pt x="25" y="0"/>
                </a:lnTo>
                <a:lnTo>
                  <a:pt x="0" y="31"/>
                </a:lnTo>
                <a:lnTo>
                  <a:pt x="25" y="63"/>
                </a:lnTo>
                <a:close/>
              </a:path>
            </a:pathLst>
          </a:custGeom>
          <a:solidFill>
            <a:schemeClr val="tx1"/>
          </a:solidFill>
          <a:ln w="0">
            <a:solidFill>
              <a:schemeClr val="tx1"/>
            </a:solidFill>
            <a:prstDash val="solid"/>
            <a:round/>
            <a:headEnd/>
            <a:tailEnd/>
          </a:ln>
        </p:spPr>
        <p:txBody>
          <a:bodyPr/>
          <a:lstStyle/>
          <a:p>
            <a:endParaRPr lang="en-US"/>
          </a:p>
        </p:txBody>
      </p:sp>
      <p:sp>
        <p:nvSpPr>
          <p:cNvPr id="451677" name="Freeform 93"/>
          <p:cNvSpPr>
            <a:spLocks/>
          </p:cNvSpPr>
          <p:nvPr/>
        </p:nvSpPr>
        <p:spPr bwMode="auto">
          <a:xfrm>
            <a:off x="4267200" y="2801938"/>
            <a:ext cx="82550" cy="100012"/>
          </a:xfrm>
          <a:custGeom>
            <a:avLst/>
            <a:gdLst/>
            <a:ahLst/>
            <a:cxnLst>
              <a:cxn ang="0">
                <a:pos x="26" y="63"/>
              </a:cxn>
              <a:cxn ang="0">
                <a:pos x="52" y="32"/>
              </a:cxn>
              <a:cxn ang="0">
                <a:pos x="26" y="0"/>
              </a:cxn>
              <a:cxn ang="0">
                <a:pos x="0" y="32"/>
              </a:cxn>
              <a:cxn ang="0">
                <a:pos x="26" y="63"/>
              </a:cxn>
            </a:cxnLst>
            <a:rect l="0" t="0" r="r" b="b"/>
            <a:pathLst>
              <a:path w="52" h="63">
                <a:moveTo>
                  <a:pt x="26" y="63"/>
                </a:moveTo>
                <a:lnTo>
                  <a:pt x="52" y="32"/>
                </a:lnTo>
                <a:lnTo>
                  <a:pt x="26" y="0"/>
                </a:lnTo>
                <a:lnTo>
                  <a:pt x="0" y="32"/>
                </a:lnTo>
                <a:lnTo>
                  <a:pt x="26" y="63"/>
                </a:lnTo>
                <a:close/>
              </a:path>
            </a:pathLst>
          </a:custGeom>
          <a:solidFill>
            <a:schemeClr val="tx1"/>
          </a:solidFill>
          <a:ln w="0">
            <a:solidFill>
              <a:schemeClr val="tx1"/>
            </a:solidFill>
            <a:prstDash val="solid"/>
            <a:round/>
            <a:headEnd/>
            <a:tailEnd/>
          </a:ln>
        </p:spPr>
        <p:txBody>
          <a:bodyPr/>
          <a:lstStyle/>
          <a:p>
            <a:endParaRPr lang="en-US"/>
          </a:p>
        </p:txBody>
      </p:sp>
      <p:sp>
        <p:nvSpPr>
          <p:cNvPr id="451678" name="Freeform 94"/>
          <p:cNvSpPr>
            <a:spLocks/>
          </p:cNvSpPr>
          <p:nvPr/>
        </p:nvSpPr>
        <p:spPr bwMode="auto">
          <a:xfrm>
            <a:off x="4587875" y="1881188"/>
            <a:ext cx="90488" cy="106362"/>
          </a:xfrm>
          <a:custGeom>
            <a:avLst/>
            <a:gdLst/>
            <a:ahLst/>
            <a:cxnLst>
              <a:cxn ang="0">
                <a:pos x="26" y="67"/>
              </a:cxn>
              <a:cxn ang="0">
                <a:pos x="57" y="31"/>
              </a:cxn>
              <a:cxn ang="0">
                <a:pos x="26" y="0"/>
              </a:cxn>
              <a:cxn ang="0">
                <a:pos x="0" y="31"/>
              </a:cxn>
              <a:cxn ang="0">
                <a:pos x="26" y="67"/>
              </a:cxn>
            </a:cxnLst>
            <a:rect l="0" t="0" r="r" b="b"/>
            <a:pathLst>
              <a:path w="57" h="67">
                <a:moveTo>
                  <a:pt x="26" y="67"/>
                </a:moveTo>
                <a:lnTo>
                  <a:pt x="57"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679" name="Freeform 95"/>
          <p:cNvSpPr>
            <a:spLocks/>
          </p:cNvSpPr>
          <p:nvPr/>
        </p:nvSpPr>
        <p:spPr bwMode="auto">
          <a:xfrm>
            <a:off x="4670425" y="2736850"/>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680" name="Freeform 96"/>
          <p:cNvSpPr>
            <a:spLocks/>
          </p:cNvSpPr>
          <p:nvPr/>
        </p:nvSpPr>
        <p:spPr bwMode="auto">
          <a:xfrm>
            <a:off x="4102100" y="2498725"/>
            <a:ext cx="90488" cy="98425"/>
          </a:xfrm>
          <a:custGeom>
            <a:avLst/>
            <a:gdLst/>
            <a:ahLst/>
            <a:cxnLst>
              <a:cxn ang="0">
                <a:pos x="26" y="62"/>
              </a:cxn>
              <a:cxn ang="0">
                <a:pos x="57" y="31"/>
              </a:cxn>
              <a:cxn ang="0">
                <a:pos x="26" y="0"/>
              </a:cxn>
              <a:cxn ang="0">
                <a:pos x="0" y="31"/>
              </a:cxn>
              <a:cxn ang="0">
                <a:pos x="26" y="62"/>
              </a:cxn>
            </a:cxnLst>
            <a:rect l="0" t="0" r="r" b="b"/>
            <a:pathLst>
              <a:path w="57" h="62">
                <a:moveTo>
                  <a:pt x="26" y="62"/>
                </a:moveTo>
                <a:lnTo>
                  <a:pt x="57"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681" name="Freeform 97"/>
          <p:cNvSpPr>
            <a:spLocks/>
          </p:cNvSpPr>
          <p:nvPr/>
        </p:nvSpPr>
        <p:spPr bwMode="auto">
          <a:xfrm>
            <a:off x="4965700" y="3114675"/>
            <a:ext cx="82550" cy="107950"/>
          </a:xfrm>
          <a:custGeom>
            <a:avLst/>
            <a:gdLst/>
            <a:ahLst/>
            <a:cxnLst>
              <a:cxn ang="0">
                <a:pos x="26" y="68"/>
              </a:cxn>
              <a:cxn ang="0">
                <a:pos x="52" y="32"/>
              </a:cxn>
              <a:cxn ang="0">
                <a:pos x="26" y="0"/>
              </a:cxn>
              <a:cxn ang="0">
                <a:pos x="0" y="32"/>
              </a:cxn>
              <a:cxn ang="0">
                <a:pos x="26" y="68"/>
              </a:cxn>
            </a:cxnLst>
            <a:rect l="0" t="0" r="r" b="b"/>
            <a:pathLst>
              <a:path w="52" h="68">
                <a:moveTo>
                  <a:pt x="26" y="68"/>
                </a:moveTo>
                <a:lnTo>
                  <a:pt x="52" y="32"/>
                </a:lnTo>
                <a:lnTo>
                  <a:pt x="26" y="0"/>
                </a:lnTo>
                <a:lnTo>
                  <a:pt x="0" y="32"/>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682" name="Freeform 98"/>
          <p:cNvSpPr>
            <a:spLocks/>
          </p:cNvSpPr>
          <p:nvPr/>
        </p:nvSpPr>
        <p:spPr bwMode="auto">
          <a:xfrm>
            <a:off x="4332288" y="2909888"/>
            <a:ext cx="90487" cy="106362"/>
          </a:xfrm>
          <a:custGeom>
            <a:avLst/>
            <a:gdLst/>
            <a:ahLst/>
            <a:cxnLst>
              <a:cxn ang="0">
                <a:pos x="26" y="67"/>
              </a:cxn>
              <a:cxn ang="0">
                <a:pos x="57" y="36"/>
              </a:cxn>
              <a:cxn ang="0">
                <a:pos x="26" y="0"/>
              </a:cxn>
              <a:cxn ang="0">
                <a:pos x="0" y="36"/>
              </a:cxn>
              <a:cxn ang="0">
                <a:pos x="26" y="67"/>
              </a:cxn>
            </a:cxnLst>
            <a:rect l="0" t="0" r="r" b="b"/>
            <a:pathLst>
              <a:path w="57" h="67">
                <a:moveTo>
                  <a:pt x="26" y="67"/>
                </a:moveTo>
                <a:lnTo>
                  <a:pt x="57"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683" name="Freeform 99"/>
          <p:cNvSpPr>
            <a:spLocks/>
          </p:cNvSpPr>
          <p:nvPr/>
        </p:nvSpPr>
        <p:spPr bwMode="auto">
          <a:xfrm>
            <a:off x="3714750" y="2662238"/>
            <a:ext cx="82550" cy="107950"/>
          </a:xfrm>
          <a:custGeom>
            <a:avLst/>
            <a:gdLst/>
            <a:ahLst/>
            <a:cxnLst>
              <a:cxn ang="0">
                <a:pos x="26" y="68"/>
              </a:cxn>
              <a:cxn ang="0">
                <a:pos x="52" y="37"/>
              </a:cxn>
              <a:cxn ang="0">
                <a:pos x="26" y="0"/>
              </a:cxn>
              <a:cxn ang="0">
                <a:pos x="0" y="37"/>
              </a:cxn>
              <a:cxn ang="0">
                <a:pos x="26" y="68"/>
              </a:cxn>
            </a:cxnLst>
            <a:rect l="0" t="0" r="r" b="b"/>
            <a:pathLst>
              <a:path w="52" h="68">
                <a:moveTo>
                  <a:pt x="26" y="68"/>
                </a:moveTo>
                <a:lnTo>
                  <a:pt x="52" y="37"/>
                </a:lnTo>
                <a:lnTo>
                  <a:pt x="26" y="0"/>
                </a:lnTo>
                <a:lnTo>
                  <a:pt x="0" y="37"/>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684" name="Freeform 100"/>
          <p:cNvSpPr>
            <a:spLocks/>
          </p:cNvSpPr>
          <p:nvPr/>
        </p:nvSpPr>
        <p:spPr bwMode="auto">
          <a:xfrm>
            <a:off x="4792663" y="2185988"/>
            <a:ext cx="82550" cy="106362"/>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685" name="Freeform 101"/>
          <p:cNvSpPr>
            <a:spLocks/>
          </p:cNvSpPr>
          <p:nvPr/>
        </p:nvSpPr>
        <p:spPr bwMode="auto">
          <a:xfrm>
            <a:off x="5097463" y="2933700"/>
            <a:ext cx="90487" cy="107950"/>
          </a:xfrm>
          <a:custGeom>
            <a:avLst/>
            <a:gdLst/>
            <a:ahLst/>
            <a:cxnLst>
              <a:cxn ang="0">
                <a:pos x="31" y="68"/>
              </a:cxn>
              <a:cxn ang="0">
                <a:pos x="57" y="37"/>
              </a:cxn>
              <a:cxn ang="0">
                <a:pos x="31" y="0"/>
              </a:cxn>
              <a:cxn ang="0">
                <a:pos x="0" y="37"/>
              </a:cxn>
              <a:cxn ang="0">
                <a:pos x="31" y="68"/>
              </a:cxn>
            </a:cxnLst>
            <a:rect l="0" t="0" r="r" b="b"/>
            <a:pathLst>
              <a:path w="57" h="68">
                <a:moveTo>
                  <a:pt x="31" y="68"/>
                </a:moveTo>
                <a:lnTo>
                  <a:pt x="57" y="37"/>
                </a:lnTo>
                <a:lnTo>
                  <a:pt x="31" y="0"/>
                </a:lnTo>
                <a:lnTo>
                  <a:pt x="0" y="37"/>
                </a:lnTo>
                <a:lnTo>
                  <a:pt x="31" y="68"/>
                </a:lnTo>
                <a:close/>
              </a:path>
            </a:pathLst>
          </a:custGeom>
          <a:solidFill>
            <a:schemeClr val="tx1"/>
          </a:solidFill>
          <a:ln w="0">
            <a:solidFill>
              <a:schemeClr val="tx1"/>
            </a:solidFill>
            <a:prstDash val="solid"/>
            <a:round/>
            <a:headEnd/>
            <a:tailEnd/>
          </a:ln>
        </p:spPr>
        <p:txBody>
          <a:bodyPr/>
          <a:lstStyle/>
          <a:p>
            <a:endParaRPr lang="en-US"/>
          </a:p>
        </p:txBody>
      </p:sp>
      <p:sp>
        <p:nvSpPr>
          <p:cNvPr id="451686" name="Freeform 102"/>
          <p:cNvSpPr>
            <a:spLocks/>
          </p:cNvSpPr>
          <p:nvPr/>
        </p:nvSpPr>
        <p:spPr bwMode="auto">
          <a:xfrm>
            <a:off x="5229225" y="2860675"/>
            <a:ext cx="82550" cy="106363"/>
          </a:xfrm>
          <a:custGeom>
            <a:avLst/>
            <a:gdLst/>
            <a:ahLst/>
            <a:cxnLst>
              <a:cxn ang="0">
                <a:pos x="26" y="67"/>
              </a:cxn>
              <a:cxn ang="0">
                <a:pos x="52" y="31"/>
              </a:cxn>
              <a:cxn ang="0">
                <a:pos x="26" y="0"/>
              </a:cxn>
              <a:cxn ang="0">
                <a:pos x="0" y="31"/>
              </a:cxn>
              <a:cxn ang="0">
                <a:pos x="26" y="67"/>
              </a:cxn>
            </a:cxnLst>
            <a:rect l="0" t="0" r="r" b="b"/>
            <a:pathLst>
              <a:path w="52" h="67">
                <a:moveTo>
                  <a:pt x="26" y="67"/>
                </a:moveTo>
                <a:lnTo>
                  <a:pt x="52"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687" name="Freeform 103"/>
          <p:cNvSpPr>
            <a:spLocks/>
          </p:cNvSpPr>
          <p:nvPr/>
        </p:nvSpPr>
        <p:spPr bwMode="auto">
          <a:xfrm>
            <a:off x="4389438" y="2127250"/>
            <a:ext cx="90487" cy="107950"/>
          </a:xfrm>
          <a:custGeom>
            <a:avLst/>
            <a:gdLst/>
            <a:ahLst/>
            <a:cxnLst>
              <a:cxn ang="0">
                <a:pos x="32" y="68"/>
              </a:cxn>
              <a:cxn ang="0">
                <a:pos x="57" y="31"/>
              </a:cxn>
              <a:cxn ang="0">
                <a:pos x="32" y="0"/>
              </a:cxn>
              <a:cxn ang="0">
                <a:pos x="0" y="31"/>
              </a:cxn>
              <a:cxn ang="0">
                <a:pos x="32" y="68"/>
              </a:cxn>
            </a:cxnLst>
            <a:rect l="0" t="0" r="r" b="b"/>
            <a:pathLst>
              <a:path w="57" h="68">
                <a:moveTo>
                  <a:pt x="32" y="68"/>
                </a:moveTo>
                <a:lnTo>
                  <a:pt x="57" y="31"/>
                </a:lnTo>
                <a:lnTo>
                  <a:pt x="32" y="0"/>
                </a:lnTo>
                <a:lnTo>
                  <a:pt x="0" y="31"/>
                </a:lnTo>
                <a:lnTo>
                  <a:pt x="32" y="68"/>
                </a:lnTo>
                <a:close/>
              </a:path>
            </a:pathLst>
          </a:custGeom>
          <a:solidFill>
            <a:schemeClr val="tx1"/>
          </a:solidFill>
          <a:ln w="0">
            <a:solidFill>
              <a:schemeClr val="tx1"/>
            </a:solidFill>
            <a:prstDash val="solid"/>
            <a:round/>
            <a:headEnd/>
            <a:tailEnd/>
          </a:ln>
        </p:spPr>
        <p:txBody>
          <a:bodyPr/>
          <a:lstStyle/>
          <a:p>
            <a:endParaRPr lang="en-US"/>
          </a:p>
        </p:txBody>
      </p:sp>
      <p:sp>
        <p:nvSpPr>
          <p:cNvPr id="451688" name="Freeform 104"/>
          <p:cNvSpPr>
            <a:spLocks/>
          </p:cNvSpPr>
          <p:nvPr/>
        </p:nvSpPr>
        <p:spPr bwMode="auto">
          <a:xfrm>
            <a:off x="4324350" y="2597150"/>
            <a:ext cx="90488" cy="98425"/>
          </a:xfrm>
          <a:custGeom>
            <a:avLst/>
            <a:gdLst/>
            <a:ahLst/>
            <a:cxnLst>
              <a:cxn ang="0">
                <a:pos x="26" y="62"/>
              </a:cxn>
              <a:cxn ang="0">
                <a:pos x="57" y="31"/>
              </a:cxn>
              <a:cxn ang="0">
                <a:pos x="26" y="0"/>
              </a:cxn>
              <a:cxn ang="0">
                <a:pos x="0" y="31"/>
              </a:cxn>
              <a:cxn ang="0">
                <a:pos x="26" y="62"/>
              </a:cxn>
            </a:cxnLst>
            <a:rect l="0" t="0" r="r" b="b"/>
            <a:pathLst>
              <a:path w="57" h="62">
                <a:moveTo>
                  <a:pt x="26" y="62"/>
                </a:moveTo>
                <a:lnTo>
                  <a:pt x="57"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689" name="Freeform 105"/>
          <p:cNvSpPr>
            <a:spLocks/>
          </p:cNvSpPr>
          <p:nvPr/>
        </p:nvSpPr>
        <p:spPr bwMode="auto">
          <a:xfrm>
            <a:off x="5229225" y="2654300"/>
            <a:ext cx="82550" cy="107950"/>
          </a:xfrm>
          <a:custGeom>
            <a:avLst/>
            <a:gdLst/>
            <a:ahLst/>
            <a:cxnLst>
              <a:cxn ang="0">
                <a:pos x="26" y="68"/>
              </a:cxn>
              <a:cxn ang="0">
                <a:pos x="52" y="31"/>
              </a:cxn>
              <a:cxn ang="0">
                <a:pos x="26" y="0"/>
              </a:cxn>
              <a:cxn ang="0">
                <a:pos x="0" y="31"/>
              </a:cxn>
              <a:cxn ang="0">
                <a:pos x="26" y="68"/>
              </a:cxn>
            </a:cxnLst>
            <a:rect l="0" t="0" r="r" b="b"/>
            <a:pathLst>
              <a:path w="52" h="68">
                <a:moveTo>
                  <a:pt x="26" y="68"/>
                </a:moveTo>
                <a:lnTo>
                  <a:pt x="52" y="31"/>
                </a:lnTo>
                <a:lnTo>
                  <a:pt x="26" y="0"/>
                </a:lnTo>
                <a:lnTo>
                  <a:pt x="0" y="31"/>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690" name="Freeform 106"/>
          <p:cNvSpPr>
            <a:spLocks/>
          </p:cNvSpPr>
          <p:nvPr/>
        </p:nvSpPr>
        <p:spPr bwMode="auto">
          <a:xfrm>
            <a:off x="4332288" y="2300288"/>
            <a:ext cx="90487" cy="98425"/>
          </a:xfrm>
          <a:custGeom>
            <a:avLst/>
            <a:gdLst/>
            <a:ahLst/>
            <a:cxnLst>
              <a:cxn ang="0">
                <a:pos x="26" y="62"/>
              </a:cxn>
              <a:cxn ang="0">
                <a:pos x="57" y="31"/>
              </a:cxn>
              <a:cxn ang="0">
                <a:pos x="26" y="0"/>
              </a:cxn>
              <a:cxn ang="0">
                <a:pos x="0" y="31"/>
              </a:cxn>
              <a:cxn ang="0">
                <a:pos x="26" y="62"/>
              </a:cxn>
            </a:cxnLst>
            <a:rect l="0" t="0" r="r" b="b"/>
            <a:pathLst>
              <a:path w="57" h="62">
                <a:moveTo>
                  <a:pt x="26" y="62"/>
                </a:moveTo>
                <a:lnTo>
                  <a:pt x="57"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691" name="Freeform 107"/>
          <p:cNvSpPr>
            <a:spLocks/>
          </p:cNvSpPr>
          <p:nvPr/>
        </p:nvSpPr>
        <p:spPr bwMode="auto">
          <a:xfrm>
            <a:off x="5040313" y="2943225"/>
            <a:ext cx="82550" cy="106363"/>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692" name="Freeform 108"/>
          <p:cNvSpPr>
            <a:spLocks/>
          </p:cNvSpPr>
          <p:nvPr/>
        </p:nvSpPr>
        <p:spPr bwMode="auto">
          <a:xfrm>
            <a:off x="4629150" y="2687638"/>
            <a:ext cx="90488" cy="106362"/>
          </a:xfrm>
          <a:custGeom>
            <a:avLst/>
            <a:gdLst/>
            <a:ahLst/>
            <a:cxnLst>
              <a:cxn ang="0">
                <a:pos x="31" y="67"/>
              </a:cxn>
              <a:cxn ang="0">
                <a:pos x="57" y="36"/>
              </a:cxn>
              <a:cxn ang="0">
                <a:pos x="31" y="0"/>
              </a:cxn>
              <a:cxn ang="0">
                <a:pos x="0" y="36"/>
              </a:cxn>
              <a:cxn ang="0">
                <a:pos x="31" y="67"/>
              </a:cxn>
            </a:cxnLst>
            <a:rect l="0" t="0" r="r" b="b"/>
            <a:pathLst>
              <a:path w="57" h="67">
                <a:moveTo>
                  <a:pt x="31" y="67"/>
                </a:moveTo>
                <a:lnTo>
                  <a:pt x="57" y="36"/>
                </a:lnTo>
                <a:lnTo>
                  <a:pt x="31" y="0"/>
                </a:lnTo>
                <a:lnTo>
                  <a:pt x="0" y="36"/>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693" name="Freeform 109"/>
          <p:cNvSpPr>
            <a:spLocks/>
          </p:cNvSpPr>
          <p:nvPr/>
        </p:nvSpPr>
        <p:spPr bwMode="auto">
          <a:xfrm>
            <a:off x="4422775" y="2605088"/>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694" name="Freeform 110"/>
          <p:cNvSpPr>
            <a:spLocks/>
          </p:cNvSpPr>
          <p:nvPr/>
        </p:nvSpPr>
        <p:spPr bwMode="auto">
          <a:xfrm>
            <a:off x="5048250" y="1930400"/>
            <a:ext cx="82550" cy="106363"/>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695" name="Freeform 111"/>
          <p:cNvSpPr>
            <a:spLocks/>
          </p:cNvSpPr>
          <p:nvPr/>
        </p:nvSpPr>
        <p:spPr bwMode="auto">
          <a:xfrm>
            <a:off x="4818063" y="3354388"/>
            <a:ext cx="90487" cy="106362"/>
          </a:xfrm>
          <a:custGeom>
            <a:avLst/>
            <a:gdLst/>
            <a:ahLst/>
            <a:cxnLst>
              <a:cxn ang="0">
                <a:pos x="26" y="67"/>
              </a:cxn>
              <a:cxn ang="0">
                <a:pos x="57" y="31"/>
              </a:cxn>
              <a:cxn ang="0">
                <a:pos x="26" y="0"/>
              </a:cxn>
              <a:cxn ang="0">
                <a:pos x="0" y="31"/>
              </a:cxn>
              <a:cxn ang="0">
                <a:pos x="26" y="67"/>
              </a:cxn>
            </a:cxnLst>
            <a:rect l="0" t="0" r="r" b="b"/>
            <a:pathLst>
              <a:path w="57" h="67">
                <a:moveTo>
                  <a:pt x="26" y="67"/>
                </a:moveTo>
                <a:lnTo>
                  <a:pt x="57"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696" name="Freeform 112"/>
          <p:cNvSpPr>
            <a:spLocks/>
          </p:cNvSpPr>
          <p:nvPr/>
        </p:nvSpPr>
        <p:spPr bwMode="auto">
          <a:xfrm>
            <a:off x="4414838" y="3230563"/>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697" name="Freeform 113"/>
          <p:cNvSpPr>
            <a:spLocks/>
          </p:cNvSpPr>
          <p:nvPr/>
        </p:nvSpPr>
        <p:spPr bwMode="auto">
          <a:xfrm>
            <a:off x="4916488" y="2390775"/>
            <a:ext cx="82550" cy="107950"/>
          </a:xfrm>
          <a:custGeom>
            <a:avLst/>
            <a:gdLst/>
            <a:ahLst/>
            <a:cxnLst>
              <a:cxn ang="0">
                <a:pos x="26" y="68"/>
              </a:cxn>
              <a:cxn ang="0">
                <a:pos x="52" y="31"/>
              </a:cxn>
              <a:cxn ang="0">
                <a:pos x="26" y="0"/>
              </a:cxn>
              <a:cxn ang="0">
                <a:pos x="0" y="31"/>
              </a:cxn>
              <a:cxn ang="0">
                <a:pos x="26" y="68"/>
              </a:cxn>
            </a:cxnLst>
            <a:rect l="0" t="0" r="r" b="b"/>
            <a:pathLst>
              <a:path w="52" h="68">
                <a:moveTo>
                  <a:pt x="26" y="68"/>
                </a:moveTo>
                <a:lnTo>
                  <a:pt x="52" y="31"/>
                </a:lnTo>
                <a:lnTo>
                  <a:pt x="26" y="0"/>
                </a:lnTo>
                <a:lnTo>
                  <a:pt x="0" y="31"/>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698" name="Freeform 114"/>
          <p:cNvSpPr>
            <a:spLocks/>
          </p:cNvSpPr>
          <p:nvPr/>
        </p:nvSpPr>
        <p:spPr bwMode="auto">
          <a:xfrm>
            <a:off x="4464050" y="2933700"/>
            <a:ext cx="82550" cy="107950"/>
          </a:xfrm>
          <a:custGeom>
            <a:avLst/>
            <a:gdLst/>
            <a:ahLst/>
            <a:cxnLst>
              <a:cxn ang="0">
                <a:pos x="26" y="68"/>
              </a:cxn>
              <a:cxn ang="0">
                <a:pos x="52" y="37"/>
              </a:cxn>
              <a:cxn ang="0">
                <a:pos x="26" y="0"/>
              </a:cxn>
              <a:cxn ang="0">
                <a:pos x="0" y="37"/>
              </a:cxn>
              <a:cxn ang="0">
                <a:pos x="26" y="68"/>
              </a:cxn>
            </a:cxnLst>
            <a:rect l="0" t="0" r="r" b="b"/>
            <a:pathLst>
              <a:path w="52" h="68">
                <a:moveTo>
                  <a:pt x="26" y="68"/>
                </a:moveTo>
                <a:lnTo>
                  <a:pt x="52" y="37"/>
                </a:lnTo>
                <a:lnTo>
                  <a:pt x="26" y="0"/>
                </a:lnTo>
                <a:lnTo>
                  <a:pt x="0" y="37"/>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699" name="Freeform 115"/>
          <p:cNvSpPr>
            <a:spLocks/>
          </p:cNvSpPr>
          <p:nvPr/>
        </p:nvSpPr>
        <p:spPr bwMode="auto">
          <a:xfrm>
            <a:off x="4365625" y="2374900"/>
            <a:ext cx="90488" cy="106363"/>
          </a:xfrm>
          <a:custGeom>
            <a:avLst/>
            <a:gdLst/>
            <a:ahLst/>
            <a:cxnLst>
              <a:cxn ang="0">
                <a:pos x="31" y="67"/>
              </a:cxn>
              <a:cxn ang="0">
                <a:pos x="57" y="31"/>
              </a:cxn>
              <a:cxn ang="0">
                <a:pos x="31" y="0"/>
              </a:cxn>
              <a:cxn ang="0">
                <a:pos x="0" y="31"/>
              </a:cxn>
              <a:cxn ang="0">
                <a:pos x="31" y="67"/>
              </a:cxn>
            </a:cxnLst>
            <a:rect l="0" t="0" r="r" b="b"/>
            <a:pathLst>
              <a:path w="57" h="67">
                <a:moveTo>
                  <a:pt x="31" y="67"/>
                </a:moveTo>
                <a:lnTo>
                  <a:pt x="57" y="31"/>
                </a:lnTo>
                <a:lnTo>
                  <a:pt x="31" y="0"/>
                </a:lnTo>
                <a:lnTo>
                  <a:pt x="0" y="31"/>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700" name="Freeform 116"/>
          <p:cNvSpPr>
            <a:spLocks/>
          </p:cNvSpPr>
          <p:nvPr/>
        </p:nvSpPr>
        <p:spPr bwMode="auto">
          <a:xfrm>
            <a:off x="5195888" y="2070100"/>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01" name="Freeform 117"/>
          <p:cNvSpPr>
            <a:spLocks/>
          </p:cNvSpPr>
          <p:nvPr/>
        </p:nvSpPr>
        <p:spPr bwMode="auto">
          <a:xfrm>
            <a:off x="4324350" y="2901950"/>
            <a:ext cx="90488" cy="106363"/>
          </a:xfrm>
          <a:custGeom>
            <a:avLst/>
            <a:gdLst/>
            <a:ahLst/>
            <a:cxnLst>
              <a:cxn ang="0">
                <a:pos x="26" y="67"/>
              </a:cxn>
              <a:cxn ang="0">
                <a:pos x="57" y="31"/>
              </a:cxn>
              <a:cxn ang="0">
                <a:pos x="26" y="0"/>
              </a:cxn>
              <a:cxn ang="0">
                <a:pos x="0" y="31"/>
              </a:cxn>
              <a:cxn ang="0">
                <a:pos x="26" y="67"/>
              </a:cxn>
            </a:cxnLst>
            <a:rect l="0" t="0" r="r" b="b"/>
            <a:pathLst>
              <a:path w="57" h="67">
                <a:moveTo>
                  <a:pt x="26" y="67"/>
                </a:moveTo>
                <a:lnTo>
                  <a:pt x="57"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02" name="Freeform 118"/>
          <p:cNvSpPr>
            <a:spLocks/>
          </p:cNvSpPr>
          <p:nvPr/>
        </p:nvSpPr>
        <p:spPr bwMode="auto">
          <a:xfrm>
            <a:off x="4298950" y="2613025"/>
            <a:ext cx="82550" cy="107950"/>
          </a:xfrm>
          <a:custGeom>
            <a:avLst/>
            <a:gdLst/>
            <a:ahLst/>
            <a:cxnLst>
              <a:cxn ang="0">
                <a:pos x="26" y="68"/>
              </a:cxn>
              <a:cxn ang="0">
                <a:pos x="52" y="31"/>
              </a:cxn>
              <a:cxn ang="0">
                <a:pos x="26" y="0"/>
              </a:cxn>
              <a:cxn ang="0">
                <a:pos x="0" y="31"/>
              </a:cxn>
              <a:cxn ang="0">
                <a:pos x="26" y="68"/>
              </a:cxn>
            </a:cxnLst>
            <a:rect l="0" t="0" r="r" b="b"/>
            <a:pathLst>
              <a:path w="52" h="68">
                <a:moveTo>
                  <a:pt x="26" y="68"/>
                </a:moveTo>
                <a:lnTo>
                  <a:pt x="52" y="31"/>
                </a:lnTo>
                <a:lnTo>
                  <a:pt x="26" y="0"/>
                </a:lnTo>
                <a:lnTo>
                  <a:pt x="0" y="31"/>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03" name="Freeform 119"/>
          <p:cNvSpPr>
            <a:spLocks/>
          </p:cNvSpPr>
          <p:nvPr/>
        </p:nvSpPr>
        <p:spPr bwMode="auto">
          <a:xfrm>
            <a:off x="4595813" y="2967038"/>
            <a:ext cx="90487" cy="98425"/>
          </a:xfrm>
          <a:custGeom>
            <a:avLst/>
            <a:gdLst/>
            <a:ahLst/>
            <a:cxnLst>
              <a:cxn ang="0">
                <a:pos x="26" y="62"/>
              </a:cxn>
              <a:cxn ang="0">
                <a:pos x="57" y="31"/>
              </a:cxn>
              <a:cxn ang="0">
                <a:pos x="26" y="0"/>
              </a:cxn>
              <a:cxn ang="0">
                <a:pos x="0" y="31"/>
              </a:cxn>
              <a:cxn ang="0">
                <a:pos x="26" y="62"/>
              </a:cxn>
            </a:cxnLst>
            <a:rect l="0" t="0" r="r" b="b"/>
            <a:pathLst>
              <a:path w="57" h="62">
                <a:moveTo>
                  <a:pt x="26" y="62"/>
                </a:moveTo>
                <a:lnTo>
                  <a:pt x="57"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04" name="Freeform 120"/>
          <p:cNvSpPr>
            <a:spLocks/>
          </p:cNvSpPr>
          <p:nvPr/>
        </p:nvSpPr>
        <p:spPr bwMode="auto">
          <a:xfrm>
            <a:off x="4291013" y="2728913"/>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05" name="Freeform 121"/>
          <p:cNvSpPr>
            <a:spLocks/>
          </p:cNvSpPr>
          <p:nvPr/>
        </p:nvSpPr>
        <p:spPr bwMode="auto">
          <a:xfrm>
            <a:off x="4621213" y="1873250"/>
            <a:ext cx="90487" cy="106363"/>
          </a:xfrm>
          <a:custGeom>
            <a:avLst/>
            <a:gdLst/>
            <a:ahLst/>
            <a:cxnLst>
              <a:cxn ang="0">
                <a:pos x="31" y="67"/>
              </a:cxn>
              <a:cxn ang="0">
                <a:pos x="57" y="31"/>
              </a:cxn>
              <a:cxn ang="0">
                <a:pos x="31" y="0"/>
              </a:cxn>
              <a:cxn ang="0">
                <a:pos x="0" y="31"/>
              </a:cxn>
              <a:cxn ang="0">
                <a:pos x="31" y="67"/>
              </a:cxn>
            </a:cxnLst>
            <a:rect l="0" t="0" r="r" b="b"/>
            <a:pathLst>
              <a:path w="57" h="67">
                <a:moveTo>
                  <a:pt x="31" y="67"/>
                </a:moveTo>
                <a:lnTo>
                  <a:pt x="57" y="31"/>
                </a:lnTo>
                <a:lnTo>
                  <a:pt x="31" y="0"/>
                </a:lnTo>
                <a:lnTo>
                  <a:pt x="0" y="31"/>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706" name="Freeform 122"/>
          <p:cNvSpPr>
            <a:spLocks/>
          </p:cNvSpPr>
          <p:nvPr/>
        </p:nvSpPr>
        <p:spPr bwMode="auto">
          <a:xfrm>
            <a:off x="4562475" y="2894013"/>
            <a:ext cx="90488" cy="106362"/>
          </a:xfrm>
          <a:custGeom>
            <a:avLst/>
            <a:gdLst/>
            <a:ahLst/>
            <a:cxnLst>
              <a:cxn ang="0">
                <a:pos x="26" y="67"/>
              </a:cxn>
              <a:cxn ang="0">
                <a:pos x="57" y="31"/>
              </a:cxn>
              <a:cxn ang="0">
                <a:pos x="26" y="0"/>
              </a:cxn>
              <a:cxn ang="0">
                <a:pos x="0" y="31"/>
              </a:cxn>
              <a:cxn ang="0">
                <a:pos x="26" y="67"/>
              </a:cxn>
            </a:cxnLst>
            <a:rect l="0" t="0" r="r" b="b"/>
            <a:pathLst>
              <a:path w="57" h="67">
                <a:moveTo>
                  <a:pt x="26" y="67"/>
                </a:moveTo>
                <a:lnTo>
                  <a:pt x="57"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07" name="Freeform 123"/>
          <p:cNvSpPr>
            <a:spLocks/>
          </p:cNvSpPr>
          <p:nvPr/>
        </p:nvSpPr>
        <p:spPr bwMode="auto">
          <a:xfrm>
            <a:off x="3987800" y="2424113"/>
            <a:ext cx="80963" cy="106362"/>
          </a:xfrm>
          <a:custGeom>
            <a:avLst/>
            <a:gdLst/>
            <a:ahLst/>
            <a:cxnLst>
              <a:cxn ang="0">
                <a:pos x="25" y="67"/>
              </a:cxn>
              <a:cxn ang="0">
                <a:pos x="51" y="36"/>
              </a:cxn>
              <a:cxn ang="0">
                <a:pos x="25" y="0"/>
              </a:cxn>
              <a:cxn ang="0">
                <a:pos x="0" y="36"/>
              </a:cxn>
              <a:cxn ang="0">
                <a:pos x="25" y="67"/>
              </a:cxn>
            </a:cxnLst>
            <a:rect l="0" t="0" r="r" b="b"/>
            <a:pathLst>
              <a:path w="51" h="67">
                <a:moveTo>
                  <a:pt x="25" y="67"/>
                </a:moveTo>
                <a:lnTo>
                  <a:pt x="51" y="36"/>
                </a:lnTo>
                <a:lnTo>
                  <a:pt x="25" y="0"/>
                </a:lnTo>
                <a:lnTo>
                  <a:pt x="0" y="36"/>
                </a:lnTo>
                <a:lnTo>
                  <a:pt x="25" y="67"/>
                </a:lnTo>
                <a:close/>
              </a:path>
            </a:pathLst>
          </a:custGeom>
          <a:solidFill>
            <a:schemeClr val="tx1"/>
          </a:solidFill>
          <a:ln w="0">
            <a:solidFill>
              <a:schemeClr val="tx1"/>
            </a:solidFill>
            <a:prstDash val="solid"/>
            <a:round/>
            <a:headEnd/>
            <a:tailEnd/>
          </a:ln>
        </p:spPr>
        <p:txBody>
          <a:bodyPr/>
          <a:lstStyle/>
          <a:p>
            <a:endParaRPr lang="en-US"/>
          </a:p>
        </p:txBody>
      </p:sp>
      <p:sp>
        <p:nvSpPr>
          <p:cNvPr id="451708" name="Freeform 124"/>
          <p:cNvSpPr>
            <a:spLocks/>
          </p:cNvSpPr>
          <p:nvPr/>
        </p:nvSpPr>
        <p:spPr bwMode="auto">
          <a:xfrm>
            <a:off x="5303838" y="3024188"/>
            <a:ext cx="90487" cy="100012"/>
          </a:xfrm>
          <a:custGeom>
            <a:avLst/>
            <a:gdLst/>
            <a:ahLst/>
            <a:cxnLst>
              <a:cxn ang="0">
                <a:pos x="26" y="63"/>
              </a:cxn>
              <a:cxn ang="0">
                <a:pos x="57" y="32"/>
              </a:cxn>
              <a:cxn ang="0">
                <a:pos x="26" y="0"/>
              </a:cxn>
              <a:cxn ang="0">
                <a:pos x="0" y="32"/>
              </a:cxn>
              <a:cxn ang="0">
                <a:pos x="26" y="63"/>
              </a:cxn>
            </a:cxnLst>
            <a:rect l="0" t="0" r="r" b="b"/>
            <a:pathLst>
              <a:path w="57" h="63">
                <a:moveTo>
                  <a:pt x="26" y="63"/>
                </a:moveTo>
                <a:lnTo>
                  <a:pt x="57" y="32"/>
                </a:lnTo>
                <a:lnTo>
                  <a:pt x="26" y="0"/>
                </a:lnTo>
                <a:lnTo>
                  <a:pt x="0" y="32"/>
                </a:lnTo>
                <a:lnTo>
                  <a:pt x="26" y="63"/>
                </a:lnTo>
                <a:close/>
              </a:path>
            </a:pathLst>
          </a:custGeom>
          <a:solidFill>
            <a:schemeClr val="tx1"/>
          </a:solidFill>
          <a:ln w="0">
            <a:solidFill>
              <a:schemeClr val="tx1"/>
            </a:solidFill>
            <a:prstDash val="solid"/>
            <a:round/>
            <a:headEnd/>
            <a:tailEnd/>
          </a:ln>
        </p:spPr>
        <p:txBody>
          <a:bodyPr/>
          <a:lstStyle/>
          <a:p>
            <a:endParaRPr lang="en-US"/>
          </a:p>
        </p:txBody>
      </p:sp>
      <p:sp>
        <p:nvSpPr>
          <p:cNvPr id="451709" name="Freeform 125"/>
          <p:cNvSpPr>
            <a:spLocks/>
          </p:cNvSpPr>
          <p:nvPr/>
        </p:nvSpPr>
        <p:spPr bwMode="auto">
          <a:xfrm>
            <a:off x="4464050" y="2563813"/>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10" name="Freeform 126"/>
          <p:cNvSpPr>
            <a:spLocks/>
          </p:cNvSpPr>
          <p:nvPr/>
        </p:nvSpPr>
        <p:spPr bwMode="auto">
          <a:xfrm>
            <a:off x="4859338" y="2811463"/>
            <a:ext cx="90487" cy="98425"/>
          </a:xfrm>
          <a:custGeom>
            <a:avLst/>
            <a:gdLst/>
            <a:ahLst/>
            <a:cxnLst>
              <a:cxn ang="0">
                <a:pos x="31" y="62"/>
              </a:cxn>
              <a:cxn ang="0">
                <a:pos x="57" y="31"/>
              </a:cxn>
              <a:cxn ang="0">
                <a:pos x="31" y="0"/>
              </a:cxn>
              <a:cxn ang="0">
                <a:pos x="0" y="31"/>
              </a:cxn>
              <a:cxn ang="0">
                <a:pos x="31" y="62"/>
              </a:cxn>
            </a:cxnLst>
            <a:rect l="0" t="0" r="r" b="b"/>
            <a:pathLst>
              <a:path w="57" h="62">
                <a:moveTo>
                  <a:pt x="31" y="62"/>
                </a:moveTo>
                <a:lnTo>
                  <a:pt x="57" y="31"/>
                </a:lnTo>
                <a:lnTo>
                  <a:pt x="31" y="0"/>
                </a:lnTo>
                <a:lnTo>
                  <a:pt x="0" y="31"/>
                </a:lnTo>
                <a:lnTo>
                  <a:pt x="31" y="62"/>
                </a:lnTo>
                <a:close/>
              </a:path>
            </a:pathLst>
          </a:custGeom>
          <a:solidFill>
            <a:schemeClr val="tx1"/>
          </a:solidFill>
          <a:ln w="0">
            <a:solidFill>
              <a:schemeClr val="tx1"/>
            </a:solidFill>
            <a:prstDash val="solid"/>
            <a:round/>
            <a:headEnd/>
            <a:tailEnd/>
          </a:ln>
        </p:spPr>
        <p:txBody>
          <a:bodyPr/>
          <a:lstStyle/>
          <a:p>
            <a:endParaRPr lang="en-US"/>
          </a:p>
        </p:txBody>
      </p:sp>
      <p:sp>
        <p:nvSpPr>
          <p:cNvPr id="451711" name="Freeform 127"/>
          <p:cNvSpPr>
            <a:spLocks/>
          </p:cNvSpPr>
          <p:nvPr/>
        </p:nvSpPr>
        <p:spPr bwMode="auto">
          <a:xfrm>
            <a:off x="4637088" y="2095500"/>
            <a:ext cx="90487" cy="98425"/>
          </a:xfrm>
          <a:custGeom>
            <a:avLst/>
            <a:gdLst/>
            <a:ahLst/>
            <a:cxnLst>
              <a:cxn ang="0">
                <a:pos x="31" y="62"/>
              </a:cxn>
              <a:cxn ang="0">
                <a:pos x="57" y="31"/>
              </a:cxn>
              <a:cxn ang="0">
                <a:pos x="31" y="0"/>
              </a:cxn>
              <a:cxn ang="0">
                <a:pos x="0" y="31"/>
              </a:cxn>
              <a:cxn ang="0">
                <a:pos x="31" y="62"/>
              </a:cxn>
            </a:cxnLst>
            <a:rect l="0" t="0" r="r" b="b"/>
            <a:pathLst>
              <a:path w="57" h="62">
                <a:moveTo>
                  <a:pt x="31" y="62"/>
                </a:moveTo>
                <a:lnTo>
                  <a:pt x="57" y="31"/>
                </a:lnTo>
                <a:lnTo>
                  <a:pt x="31" y="0"/>
                </a:lnTo>
                <a:lnTo>
                  <a:pt x="0" y="31"/>
                </a:lnTo>
                <a:lnTo>
                  <a:pt x="31" y="62"/>
                </a:lnTo>
                <a:close/>
              </a:path>
            </a:pathLst>
          </a:custGeom>
          <a:solidFill>
            <a:schemeClr val="tx1"/>
          </a:solidFill>
          <a:ln w="0">
            <a:solidFill>
              <a:schemeClr val="tx1"/>
            </a:solidFill>
            <a:prstDash val="solid"/>
            <a:round/>
            <a:headEnd/>
            <a:tailEnd/>
          </a:ln>
        </p:spPr>
        <p:txBody>
          <a:bodyPr/>
          <a:lstStyle/>
          <a:p>
            <a:endParaRPr lang="en-US"/>
          </a:p>
        </p:txBody>
      </p:sp>
      <p:sp>
        <p:nvSpPr>
          <p:cNvPr id="451712" name="Freeform 128"/>
          <p:cNvSpPr>
            <a:spLocks/>
          </p:cNvSpPr>
          <p:nvPr/>
        </p:nvSpPr>
        <p:spPr bwMode="auto">
          <a:xfrm>
            <a:off x="4916488" y="3140075"/>
            <a:ext cx="82550" cy="106363"/>
          </a:xfrm>
          <a:custGeom>
            <a:avLst/>
            <a:gdLst/>
            <a:ahLst/>
            <a:cxnLst>
              <a:cxn ang="0">
                <a:pos x="26" y="67"/>
              </a:cxn>
              <a:cxn ang="0">
                <a:pos x="52" y="31"/>
              </a:cxn>
              <a:cxn ang="0">
                <a:pos x="26" y="0"/>
              </a:cxn>
              <a:cxn ang="0">
                <a:pos x="0" y="31"/>
              </a:cxn>
              <a:cxn ang="0">
                <a:pos x="26" y="67"/>
              </a:cxn>
            </a:cxnLst>
            <a:rect l="0" t="0" r="r" b="b"/>
            <a:pathLst>
              <a:path w="52" h="67">
                <a:moveTo>
                  <a:pt x="26" y="67"/>
                </a:moveTo>
                <a:lnTo>
                  <a:pt x="52"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13" name="Freeform 129"/>
          <p:cNvSpPr>
            <a:spLocks/>
          </p:cNvSpPr>
          <p:nvPr/>
        </p:nvSpPr>
        <p:spPr bwMode="auto">
          <a:xfrm>
            <a:off x="4637088" y="2951163"/>
            <a:ext cx="90487" cy="106362"/>
          </a:xfrm>
          <a:custGeom>
            <a:avLst/>
            <a:gdLst/>
            <a:ahLst/>
            <a:cxnLst>
              <a:cxn ang="0">
                <a:pos x="31" y="67"/>
              </a:cxn>
              <a:cxn ang="0">
                <a:pos x="57" y="36"/>
              </a:cxn>
              <a:cxn ang="0">
                <a:pos x="31" y="0"/>
              </a:cxn>
              <a:cxn ang="0">
                <a:pos x="0" y="36"/>
              </a:cxn>
              <a:cxn ang="0">
                <a:pos x="31" y="67"/>
              </a:cxn>
            </a:cxnLst>
            <a:rect l="0" t="0" r="r" b="b"/>
            <a:pathLst>
              <a:path w="57" h="67">
                <a:moveTo>
                  <a:pt x="31" y="67"/>
                </a:moveTo>
                <a:lnTo>
                  <a:pt x="57" y="36"/>
                </a:lnTo>
                <a:lnTo>
                  <a:pt x="31" y="0"/>
                </a:lnTo>
                <a:lnTo>
                  <a:pt x="0" y="36"/>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714" name="Freeform 130"/>
          <p:cNvSpPr>
            <a:spLocks/>
          </p:cNvSpPr>
          <p:nvPr/>
        </p:nvSpPr>
        <p:spPr bwMode="auto">
          <a:xfrm>
            <a:off x="4784725" y="2876550"/>
            <a:ext cx="82550" cy="107950"/>
          </a:xfrm>
          <a:custGeom>
            <a:avLst/>
            <a:gdLst/>
            <a:ahLst/>
            <a:cxnLst>
              <a:cxn ang="0">
                <a:pos x="26" y="68"/>
              </a:cxn>
              <a:cxn ang="0">
                <a:pos x="52" y="31"/>
              </a:cxn>
              <a:cxn ang="0">
                <a:pos x="26" y="0"/>
              </a:cxn>
              <a:cxn ang="0">
                <a:pos x="0" y="31"/>
              </a:cxn>
              <a:cxn ang="0">
                <a:pos x="26" y="68"/>
              </a:cxn>
            </a:cxnLst>
            <a:rect l="0" t="0" r="r" b="b"/>
            <a:pathLst>
              <a:path w="52" h="68">
                <a:moveTo>
                  <a:pt x="26" y="68"/>
                </a:moveTo>
                <a:lnTo>
                  <a:pt x="52" y="31"/>
                </a:lnTo>
                <a:lnTo>
                  <a:pt x="26" y="0"/>
                </a:lnTo>
                <a:lnTo>
                  <a:pt x="0" y="31"/>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15" name="Freeform 131"/>
          <p:cNvSpPr>
            <a:spLocks/>
          </p:cNvSpPr>
          <p:nvPr/>
        </p:nvSpPr>
        <p:spPr bwMode="auto">
          <a:xfrm>
            <a:off x="5303838" y="2695575"/>
            <a:ext cx="90487" cy="106363"/>
          </a:xfrm>
          <a:custGeom>
            <a:avLst/>
            <a:gdLst/>
            <a:ahLst/>
            <a:cxnLst>
              <a:cxn ang="0">
                <a:pos x="26" y="67"/>
              </a:cxn>
              <a:cxn ang="0">
                <a:pos x="57" y="36"/>
              </a:cxn>
              <a:cxn ang="0">
                <a:pos x="26" y="0"/>
              </a:cxn>
              <a:cxn ang="0">
                <a:pos x="0" y="36"/>
              </a:cxn>
              <a:cxn ang="0">
                <a:pos x="26" y="67"/>
              </a:cxn>
            </a:cxnLst>
            <a:rect l="0" t="0" r="r" b="b"/>
            <a:pathLst>
              <a:path w="57" h="67">
                <a:moveTo>
                  <a:pt x="26" y="67"/>
                </a:moveTo>
                <a:lnTo>
                  <a:pt x="57"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16" name="Freeform 132"/>
          <p:cNvSpPr>
            <a:spLocks/>
          </p:cNvSpPr>
          <p:nvPr/>
        </p:nvSpPr>
        <p:spPr bwMode="auto">
          <a:xfrm>
            <a:off x="4332288" y="2620963"/>
            <a:ext cx="90487" cy="107950"/>
          </a:xfrm>
          <a:custGeom>
            <a:avLst/>
            <a:gdLst/>
            <a:ahLst/>
            <a:cxnLst>
              <a:cxn ang="0">
                <a:pos x="26" y="68"/>
              </a:cxn>
              <a:cxn ang="0">
                <a:pos x="57" y="32"/>
              </a:cxn>
              <a:cxn ang="0">
                <a:pos x="26" y="0"/>
              </a:cxn>
              <a:cxn ang="0">
                <a:pos x="0" y="32"/>
              </a:cxn>
              <a:cxn ang="0">
                <a:pos x="26" y="68"/>
              </a:cxn>
            </a:cxnLst>
            <a:rect l="0" t="0" r="r" b="b"/>
            <a:pathLst>
              <a:path w="57" h="68">
                <a:moveTo>
                  <a:pt x="26" y="68"/>
                </a:moveTo>
                <a:lnTo>
                  <a:pt x="57" y="32"/>
                </a:lnTo>
                <a:lnTo>
                  <a:pt x="26" y="0"/>
                </a:lnTo>
                <a:lnTo>
                  <a:pt x="0" y="32"/>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17" name="Freeform 133"/>
          <p:cNvSpPr>
            <a:spLocks/>
          </p:cNvSpPr>
          <p:nvPr/>
        </p:nvSpPr>
        <p:spPr bwMode="auto">
          <a:xfrm>
            <a:off x="4621213" y="2457450"/>
            <a:ext cx="90487" cy="106363"/>
          </a:xfrm>
          <a:custGeom>
            <a:avLst/>
            <a:gdLst/>
            <a:ahLst/>
            <a:cxnLst>
              <a:cxn ang="0">
                <a:pos x="31" y="67"/>
              </a:cxn>
              <a:cxn ang="0">
                <a:pos x="57" y="36"/>
              </a:cxn>
              <a:cxn ang="0">
                <a:pos x="31" y="0"/>
              </a:cxn>
              <a:cxn ang="0">
                <a:pos x="0" y="36"/>
              </a:cxn>
              <a:cxn ang="0">
                <a:pos x="31" y="67"/>
              </a:cxn>
            </a:cxnLst>
            <a:rect l="0" t="0" r="r" b="b"/>
            <a:pathLst>
              <a:path w="57" h="67">
                <a:moveTo>
                  <a:pt x="31" y="67"/>
                </a:moveTo>
                <a:lnTo>
                  <a:pt x="57" y="36"/>
                </a:lnTo>
                <a:lnTo>
                  <a:pt x="31" y="0"/>
                </a:lnTo>
                <a:lnTo>
                  <a:pt x="0" y="36"/>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718" name="Freeform 134"/>
          <p:cNvSpPr>
            <a:spLocks/>
          </p:cNvSpPr>
          <p:nvPr/>
        </p:nvSpPr>
        <p:spPr bwMode="auto">
          <a:xfrm>
            <a:off x="4999038" y="1987550"/>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19" name="Freeform 135"/>
          <p:cNvSpPr>
            <a:spLocks/>
          </p:cNvSpPr>
          <p:nvPr/>
        </p:nvSpPr>
        <p:spPr bwMode="auto">
          <a:xfrm>
            <a:off x="4340225" y="3106738"/>
            <a:ext cx="90488" cy="107950"/>
          </a:xfrm>
          <a:custGeom>
            <a:avLst/>
            <a:gdLst/>
            <a:ahLst/>
            <a:cxnLst>
              <a:cxn ang="0">
                <a:pos x="26" y="68"/>
              </a:cxn>
              <a:cxn ang="0">
                <a:pos x="57" y="31"/>
              </a:cxn>
              <a:cxn ang="0">
                <a:pos x="26" y="0"/>
              </a:cxn>
              <a:cxn ang="0">
                <a:pos x="0" y="31"/>
              </a:cxn>
              <a:cxn ang="0">
                <a:pos x="26" y="68"/>
              </a:cxn>
            </a:cxnLst>
            <a:rect l="0" t="0" r="r" b="b"/>
            <a:pathLst>
              <a:path w="57" h="68">
                <a:moveTo>
                  <a:pt x="26" y="68"/>
                </a:moveTo>
                <a:lnTo>
                  <a:pt x="57" y="31"/>
                </a:lnTo>
                <a:lnTo>
                  <a:pt x="26" y="0"/>
                </a:lnTo>
                <a:lnTo>
                  <a:pt x="0" y="31"/>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20" name="Freeform 136"/>
          <p:cNvSpPr>
            <a:spLocks/>
          </p:cNvSpPr>
          <p:nvPr/>
        </p:nvSpPr>
        <p:spPr bwMode="auto">
          <a:xfrm>
            <a:off x="4373563" y="1963738"/>
            <a:ext cx="90487" cy="106362"/>
          </a:xfrm>
          <a:custGeom>
            <a:avLst/>
            <a:gdLst/>
            <a:ahLst/>
            <a:cxnLst>
              <a:cxn ang="0">
                <a:pos x="31" y="67"/>
              </a:cxn>
              <a:cxn ang="0">
                <a:pos x="57" y="36"/>
              </a:cxn>
              <a:cxn ang="0">
                <a:pos x="31" y="0"/>
              </a:cxn>
              <a:cxn ang="0">
                <a:pos x="0" y="36"/>
              </a:cxn>
              <a:cxn ang="0">
                <a:pos x="31" y="67"/>
              </a:cxn>
            </a:cxnLst>
            <a:rect l="0" t="0" r="r" b="b"/>
            <a:pathLst>
              <a:path w="57" h="67">
                <a:moveTo>
                  <a:pt x="31" y="67"/>
                </a:moveTo>
                <a:lnTo>
                  <a:pt x="57" y="36"/>
                </a:lnTo>
                <a:lnTo>
                  <a:pt x="31" y="0"/>
                </a:lnTo>
                <a:lnTo>
                  <a:pt x="0" y="36"/>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721" name="Freeform 137"/>
          <p:cNvSpPr>
            <a:spLocks/>
          </p:cNvSpPr>
          <p:nvPr/>
        </p:nvSpPr>
        <p:spPr bwMode="auto">
          <a:xfrm>
            <a:off x="4430713" y="2770188"/>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22" name="Freeform 138"/>
          <p:cNvSpPr>
            <a:spLocks/>
          </p:cNvSpPr>
          <p:nvPr/>
        </p:nvSpPr>
        <p:spPr bwMode="auto">
          <a:xfrm>
            <a:off x="4719638" y="2884488"/>
            <a:ext cx="82550" cy="107950"/>
          </a:xfrm>
          <a:custGeom>
            <a:avLst/>
            <a:gdLst/>
            <a:ahLst/>
            <a:cxnLst>
              <a:cxn ang="0">
                <a:pos x="26" y="68"/>
              </a:cxn>
              <a:cxn ang="0">
                <a:pos x="52" y="31"/>
              </a:cxn>
              <a:cxn ang="0">
                <a:pos x="26" y="0"/>
              </a:cxn>
              <a:cxn ang="0">
                <a:pos x="0" y="31"/>
              </a:cxn>
              <a:cxn ang="0">
                <a:pos x="26" y="68"/>
              </a:cxn>
            </a:cxnLst>
            <a:rect l="0" t="0" r="r" b="b"/>
            <a:pathLst>
              <a:path w="52" h="68">
                <a:moveTo>
                  <a:pt x="26" y="68"/>
                </a:moveTo>
                <a:lnTo>
                  <a:pt x="52" y="31"/>
                </a:lnTo>
                <a:lnTo>
                  <a:pt x="26" y="0"/>
                </a:lnTo>
                <a:lnTo>
                  <a:pt x="0" y="31"/>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23" name="Freeform 139"/>
          <p:cNvSpPr>
            <a:spLocks/>
          </p:cNvSpPr>
          <p:nvPr/>
        </p:nvSpPr>
        <p:spPr bwMode="auto">
          <a:xfrm>
            <a:off x="4291013" y="2070100"/>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24" name="Freeform 140"/>
          <p:cNvSpPr>
            <a:spLocks/>
          </p:cNvSpPr>
          <p:nvPr/>
        </p:nvSpPr>
        <p:spPr bwMode="auto">
          <a:xfrm>
            <a:off x="5541963" y="2744788"/>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25" name="Freeform 141"/>
          <p:cNvSpPr>
            <a:spLocks/>
          </p:cNvSpPr>
          <p:nvPr/>
        </p:nvSpPr>
        <p:spPr bwMode="auto">
          <a:xfrm>
            <a:off x="4768850" y="2481263"/>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26" name="Freeform 142"/>
          <p:cNvSpPr>
            <a:spLocks/>
          </p:cNvSpPr>
          <p:nvPr/>
        </p:nvSpPr>
        <p:spPr bwMode="auto">
          <a:xfrm>
            <a:off x="4760913" y="2333625"/>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27" name="Freeform 143"/>
          <p:cNvSpPr>
            <a:spLocks/>
          </p:cNvSpPr>
          <p:nvPr/>
        </p:nvSpPr>
        <p:spPr bwMode="auto">
          <a:xfrm>
            <a:off x="5246688" y="3181350"/>
            <a:ext cx="80962" cy="106363"/>
          </a:xfrm>
          <a:custGeom>
            <a:avLst/>
            <a:gdLst/>
            <a:ahLst/>
            <a:cxnLst>
              <a:cxn ang="0">
                <a:pos x="25" y="67"/>
              </a:cxn>
              <a:cxn ang="0">
                <a:pos x="51" y="36"/>
              </a:cxn>
              <a:cxn ang="0">
                <a:pos x="25" y="0"/>
              </a:cxn>
              <a:cxn ang="0">
                <a:pos x="0" y="36"/>
              </a:cxn>
              <a:cxn ang="0">
                <a:pos x="25" y="67"/>
              </a:cxn>
            </a:cxnLst>
            <a:rect l="0" t="0" r="r" b="b"/>
            <a:pathLst>
              <a:path w="51" h="67">
                <a:moveTo>
                  <a:pt x="25" y="67"/>
                </a:moveTo>
                <a:lnTo>
                  <a:pt x="51" y="36"/>
                </a:lnTo>
                <a:lnTo>
                  <a:pt x="25" y="0"/>
                </a:lnTo>
                <a:lnTo>
                  <a:pt x="0" y="36"/>
                </a:lnTo>
                <a:lnTo>
                  <a:pt x="25" y="67"/>
                </a:lnTo>
                <a:close/>
              </a:path>
            </a:pathLst>
          </a:custGeom>
          <a:solidFill>
            <a:schemeClr val="tx1"/>
          </a:solidFill>
          <a:ln w="0">
            <a:solidFill>
              <a:schemeClr val="tx1"/>
            </a:solidFill>
            <a:prstDash val="solid"/>
            <a:round/>
            <a:headEnd/>
            <a:tailEnd/>
          </a:ln>
        </p:spPr>
        <p:txBody>
          <a:bodyPr/>
          <a:lstStyle/>
          <a:p>
            <a:endParaRPr lang="en-US"/>
          </a:p>
        </p:txBody>
      </p:sp>
      <p:sp>
        <p:nvSpPr>
          <p:cNvPr id="451728" name="Freeform 144"/>
          <p:cNvSpPr>
            <a:spLocks/>
          </p:cNvSpPr>
          <p:nvPr/>
        </p:nvSpPr>
        <p:spPr bwMode="auto">
          <a:xfrm>
            <a:off x="4843463" y="1625600"/>
            <a:ext cx="90487" cy="106363"/>
          </a:xfrm>
          <a:custGeom>
            <a:avLst/>
            <a:gdLst/>
            <a:ahLst/>
            <a:cxnLst>
              <a:cxn ang="0">
                <a:pos x="25" y="67"/>
              </a:cxn>
              <a:cxn ang="0">
                <a:pos x="57" y="31"/>
              </a:cxn>
              <a:cxn ang="0">
                <a:pos x="25" y="0"/>
              </a:cxn>
              <a:cxn ang="0">
                <a:pos x="0" y="31"/>
              </a:cxn>
              <a:cxn ang="0">
                <a:pos x="25" y="67"/>
              </a:cxn>
            </a:cxnLst>
            <a:rect l="0" t="0" r="r" b="b"/>
            <a:pathLst>
              <a:path w="57" h="67">
                <a:moveTo>
                  <a:pt x="25" y="67"/>
                </a:moveTo>
                <a:lnTo>
                  <a:pt x="57" y="31"/>
                </a:lnTo>
                <a:lnTo>
                  <a:pt x="25" y="0"/>
                </a:lnTo>
                <a:lnTo>
                  <a:pt x="0" y="31"/>
                </a:lnTo>
                <a:lnTo>
                  <a:pt x="25" y="67"/>
                </a:lnTo>
                <a:close/>
              </a:path>
            </a:pathLst>
          </a:custGeom>
          <a:solidFill>
            <a:schemeClr val="tx1"/>
          </a:solidFill>
          <a:ln w="0">
            <a:solidFill>
              <a:schemeClr val="tx1"/>
            </a:solidFill>
            <a:prstDash val="solid"/>
            <a:round/>
            <a:headEnd/>
            <a:tailEnd/>
          </a:ln>
        </p:spPr>
        <p:txBody>
          <a:bodyPr/>
          <a:lstStyle/>
          <a:p>
            <a:endParaRPr lang="en-US"/>
          </a:p>
        </p:txBody>
      </p:sp>
      <p:sp>
        <p:nvSpPr>
          <p:cNvPr id="451729" name="Freeform 145"/>
          <p:cNvSpPr>
            <a:spLocks/>
          </p:cNvSpPr>
          <p:nvPr/>
        </p:nvSpPr>
        <p:spPr bwMode="auto">
          <a:xfrm>
            <a:off x="4037013" y="3132138"/>
            <a:ext cx="80962" cy="106362"/>
          </a:xfrm>
          <a:custGeom>
            <a:avLst/>
            <a:gdLst/>
            <a:ahLst/>
            <a:cxnLst>
              <a:cxn ang="0">
                <a:pos x="26" y="67"/>
              </a:cxn>
              <a:cxn ang="0">
                <a:pos x="51" y="31"/>
              </a:cxn>
              <a:cxn ang="0">
                <a:pos x="26" y="0"/>
              </a:cxn>
              <a:cxn ang="0">
                <a:pos x="0" y="31"/>
              </a:cxn>
              <a:cxn ang="0">
                <a:pos x="26" y="67"/>
              </a:cxn>
            </a:cxnLst>
            <a:rect l="0" t="0" r="r" b="b"/>
            <a:pathLst>
              <a:path w="51" h="67">
                <a:moveTo>
                  <a:pt x="26" y="67"/>
                </a:moveTo>
                <a:lnTo>
                  <a:pt x="51"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30" name="Freeform 146"/>
          <p:cNvSpPr>
            <a:spLocks/>
          </p:cNvSpPr>
          <p:nvPr/>
        </p:nvSpPr>
        <p:spPr bwMode="auto">
          <a:xfrm>
            <a:off x="4127500" y="2201863"/>
            <a:ext cx="90488" cy="106362"/>
          </a:xfrm>
          <a:custGeom>
            <a:avLst/>
            <a:gdLst/>
            <a:ahLst/>
            <a:cxnLst>
              <a:cxn ang="0">
                <a:pos x="31" y="67"/>
              </a:cxn>
              <a:cxn ang="0">
                <a:pos x="57" y="36"/>
              </a:cxn>
              <a:cxn ang="0">
                <a:pos x="31" y="0"/>
              </a:cxn>
              <a:cxn ang="0">
                <a:pos x="0" y="36"/>
              </a:cxn>
              <a:cxn ang="0">
                <a:pos x="31" y="67"/>
              </a:cxn>
            </a:cxnLst>
            <a:rect l="0" t="0" r="r" b="b"/>
            <a:pathLst>
              <a:path w="57" h="67">
                <a:moveTo>
                  <a:pt x="31" y="67"/>
                </a:moveTo>
                <a:lnTo>
                  <a:pt x="57" y="36"/>
                </a:lnTo>
                <a:lnTo>
                  <a:pt x="31" y="0"/>
                </a:lnTo>
                <a:lnTo>
                  <a:pt x="0" y="36"/>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731" name="Freeform 147"/>
          <p:cNvSpPr>
            <a:spLocks/>
          </p:cNvSpPr>
          <p:nvPr/>
        </p:nvSpPr>
        <p:spPr bwMode="auto">
          <a:xfrm>
            <a:off x="4743450" y="3049588"/>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32" name="Freeform 148"/>
          <p:cNvSpPr>
            <a:spLocks/>
          </p:cNvSpPr>
          <p:nvPr/>
        </p:nvSpPr>
        <p:spPr bwMode="auto">
          <a:xfrm>
            <a:off x="4572000" y="2160588"/>
            <a:ext cx="90488" cy="106362"/>
          </a:xfrm>
          <a:custGeom>
            <a:avLst/>
            <a:gdLst/>
            <a:ahLst/>
            <a:cxnLst>
              <a:cxn ang="0">
                <a:pos x="25" y="67"/>
              </a:cxn>
              <a:cxn ang="0">
                <a:pos x="57" y="31"/>
              </a:cxn>
              <a:cxn ang="0">
                <a:pos x="25" y="0"/>
              </a:cxn>
              <a:cxn ang="0">
                <a:pos x="0" y="31"/>
              </a:cxn>
              <a:cxn ang="0">
                <a:pos x="25" y="67"/>
              </a:cxn>
            </a:cxnLst>
            <a:rect l="0" t="0" r="r" b="b"/>
            <a:pathLst>
              <a:path w="57" h="67">
                <a:moveTo>
                  <a:pt x="25" y="67"/>
                </a:moveTo>
                <a:lnTo>
                  <a:pt x="57" y="31"/>
                </a:lnTo>
                <a:lnTo>
                  <a:pt x="25" y="0"/>
                </a:lnTo>
                <a:lnTo>
                  <a:pt x="0" y="31"/>
                </a:lnTo>
                <a:lnTo>
                  <a:pt x="25" y="67"/>
                </a:lnTo>
                <a:close/>
              </a:path>
            </a:pathLst>
          </a:custGeom>
          <a:solidFill>
            <a:schemeClr val="tx1"/>
          </a:solidFill>
          <a:ln w="0">
            <a:solidFill>
              <a:schemeClr val="tx1"/>
            </a:solidFill>
            <a:prstDash val="solid"/>
            <a:round/>
            <a:headEnd/>
            <a:tailEnd/>
          </a:ln>
        </p:spPr>
        <p:txBody>
          <a:bodyPr/>
          <a:lstStyle/>
          <a:p>
            <a:endParaRPr lang="en-US"/>
          </a:p>
        </p:txBody>
      </p:sp>
      <p:sp>
        <p:nvSpPr>
          <p:cNvPr id="451733" name="Freeform 149"/>
          <p:cNvSpPr>
            <a:spLocks/>
          </p:cNvSpPr>
          <p:nvPr/>
        </p:nvSpPr>
        <p:spPr bwMode="auto">
          <a:xfrm>
            <a:off x="4011613" y="2901950"/>
            <a:ext cx="82550" cy="106363"/>
          </a:xfrm>
          <a:custGeom>
            <a:avLst/>
            <a:gdLst/>
            <a:ahLst/>
            <a:cxnLst>
              <a:cxn ang="0">
                <a:pos x="26" y="67"/>
              </a:cxn>
              <a:cxn ang="0">
                <a:pos x="52" y="31"/>
              </a:cxn>
              <a:cxn ang="0">
                <a:pos x="26" y="0"/>
              </a:cxn>
              <a:cxn ang="0">
                <a:pos x="0" y="31"/>
              </a:cxn>
              <a:cxn ang="0">
                <a:pos x="26" y="67"/>
              </a:cxn>
            </a:cxnLst>
            <a:rect l="0" t="0" r="r" b="b"/>
            <a:pathLst>
              <a:path w="52" h="67">
                <a:moveTo>
                  <a:pt x="26" y="67"/>
                </a:moveTo>
                <a:lnTo>
                  <a:pt x="52"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34" name="Freeform 150"/>
          <p:cNvSpPr>
            <a:spLocks/>
          </p:cNvSpPr>
          <p:nvPr/>
        </p:nvSpPr>
        <p:spPr bwMode="auto">
          <a:xfrm>
            <a:off x="4456113" y="2762250"/>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35" name="Freeform 151"/>
          <p:cNvSpPr>
            <a:spLocks/>
          </p:cNvSpPr>
          <p:nvPr/>
        </p:nvSpPr>
        <p:spPr bwMode="auto">
          <a:xfrm>
            <a:off x="4349750" y="2894013"/>
            <a:ext cx="90488" cy="106362"/>
          </a:xfrm>
          <a:custGeom>
            <a:avLst/>
            <a:gdLst/>
            <a:ahLst/>
            <a:cxnLst>
              <a:cxn ang="0">
                <a:pos x="25" y="67"/>
              </a:cxn>
              <a:cxn ang="0">
                <a:pos x="57" y="31"/>
              </a:cxn>
              <a:cxn ang="0">
                <a:pos x="25" y="0"/>
              </a:cxn>
              <a:cxn ang="0">
                <a:pos x="0" y="31"/>
              </a:cxn>
              <a:cxn ang="0">
                <a:pos x="25" y="67"/>
              </a:cxn>
            </a:cxnLst>
            <a:rect l="0" t="0" r="r" b="b"/>
            <a:pathLst>
              <a:path w="57" h="67">
                <a:moveTo>
                  <a:pt x="25" y="67"/>
                </a:moveTo>
                <a:lnTo>
                  <a:pt x="57" y="31"/>
                </a:lnTo>
                <a:lnTo>
                  <a:pt x="25" y="0"/>
                </a:lnTo>
                <a:lnTo>
                  <a:pt x="0" y="31"/>
                </a:lnTo>
                <a:lnTo>
                  <a:pt x="25" y="67"/>
                </a:lnTo>
                <a:close/>
              </a:path>
            </a:pathLst>
          </a:custGeom>
          <a:solidFill>
            <a:schemeClr val="tx1"/>
          </a:solidFill>
          <a:ln w="0">
            <a:solidFill>
              <a:schemeClr val="tx1"/>
            </a:solidFill>
            <a:prstDash val="solid"/>
            <a:round/>
            <a:headEnd/>
            <a:tailEnd/>
          </a:ln>
        </p:spPr>
        <p:txBody>
          <a:bodyPr/>
          <a:lstStyle/>
          <a:p>
            <a:endParaRPr lang="en-US"/>
          </a:p>
        </p:txBody>
      </p:sp>
      <p:sp>
        <p:nvSpPr>
          <p:cNvPr id="451736" name="Freeform 152"/>
          <p:cNvSpPr>
            <a:spLocks/>
          </p:cNvSpPr>
          <p:nvPr/>
        </p:nvSpPr>
        <p:spPr bwMode="auto">
          <a:xfrm>
            <a:off x="5451475" y="3387725"/>
            <a:ext cx="82550" cy="106363"/>
          </a:xfrm>
          <a:custGeom>
            <a:avLst/>
            <a:gdLst/>
            <a:ahLst/>
            <a:cxnLst>
              <a:cxn ang="0">
                <a:pos x="26" y="67"/>
              </a:cxn>
              <a:cxn ang="0">
                <a:pos x="52" y="31"/>
              </a:cxn>
              <a:cxn ang="0">
                <a:pos x="26" y="0"/>
              </a:cxn>
              <a:cxn ang="0">
                <a:pos x="0" y="31"/>
              </a:cxn>
              <a:cxn ang="0">
                <a:pos x="26" y="67"/>
              </a:cxn>
            </a:cxnLst>
            <a:rect l="0" t="0" r="r" b="b"/>
            <a:pathLst>
              <a:path w="52" h="67">
                <a:moveTo>
                  <a:pt x="26" y="67"/>
                </a:moveTo>
                <a:lnTo>
                  <a:pt x="52"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37" name="Freeform 153"/>
          <p:cNvSpPr>
            <a:spLocks/>
          </p:cNvSpPr>
          <p:nvPr/>
        </p:nvSpPr>
        <p:spPr bwMode="auto">
          <a:xfrm>
            <a:off x="4357688" y="2671763"/>
            <a:ext cx="90487" cy="106362"/>
          </a:xfrm>
          <a:custGeom>
            <a:avLst/>
            <a:gdLst/>
            <a:ahLst/>
            <a:cxnLst>
              <a:cxn ang="0">
                <a:pos x="31" y="67"/>
              </a:cxn>
              <a:cxn ang="0">
                <a:pos x="57" y="36"/>
              </a:cxn>
              <a:cxn ang="0">
                <a:pos x="31" y="0"/>
              </a:cxn>
              <a:cxn ang="0">
                <a:pos x="0" y="36"/>
              </a:cxn>
              <a:cxn ang="0">
                <a:pos x="31" y="67"/>
              </a:cxn>
            </a:cxnLst>
            <a:rect l="0" t="0" r="r" b="b"/>
            <a:pathLst>
              <a:path w="57" h="67">
                <a:moveTo>
                  <a:pt x="31" y="67"/>
                </a:moveTo>
                <a:lnTo>
                  <a:pt x="57" y="36"/>
                </a:lnTo>
                <a:lnTo>
                  <a:pt x="31" y="0"/>
                </a:lnTo>
                <a:lnTo>
                  <a:pt x="0" y="36"/>
                </a:lnTo>
                <a:lnTo>
                  <a:pt x="31" y="67"/>
                </a:lnTo>
                <a:close/>
              </a:path>
            </a:pathLst>
          </a:custGeom>
          <a:solidFill>
            <a:schemeClr val="tx1"/>
          </a:solidFill>
          <a:ln w="0">
            <a:solidFill>
              <a:schemeClr val="tx1"/>
            </a:solidFill>
            <a:prstDash val="solid"/>
            <a:round/>
            <a:headEnd/>
            <a:tailEnd/>
          </a:ln>
        </p:spPr>
        <p:txBody>
          <a:bodyPr/>
          <a:lstStyle/>
          <a:p>
            <a:endParaRPr lang="en-US"/>
          </a:p>
        </p:txBody>
      </p:sp>
      <p:sp>
        <p:nvSpPr>
          <p:cNvPr id="451738" name="Freeform 154"/>
          <p:cNvSpPr>
            <a:spLocks/>
          </p:cNvSpPr>
          <p:nvPr/>
        </p:nvSpPr>
        <p:spPr bwMode="auto">
          <a:xfrm>
            <a:off x="4365625" y="2498725"/>
            <a:ext cx="90488" cy="98425"/>
          </a:xfrm>
          <a:custGeom>
            <a:avLst/>
            <a:gdLst/>
            <a:ahLst/>
            <a:cxnLst>
              <a:cxn ang="0">
                <a:pos x="31" y="62"/>
              </a:cxn>
              <a:cxn ang="0">
                <a:pos x="57" y="31"/>
              </a:cxn>
              <a:cxn ang="0">
                <a:pos x="31" y="0"/>
              </a:cxn>
              <a:cxn ang="0">
                <a:pos x="0" y="31"/>
              </a:cxn>
              <a:cxn ang="0">
                <a:pos x="31" y="62"/>
              </a:cxn>
            </a:cxnLst>
            <a:rect l="0" t="0" r="r" b="b"/>
            <a:pathLst>
              <a:path w="57" h="62">
                <a:moveTo>
                  <a:pt x="31" y="62"/>
                </a:moveTo>
                <a:lnTo>
                  <a:pt x="57" y="31"/>
                </a:lnTo>
                <a:lnTo>
                  <a:pt x="31" y="0"/>
                </a:lnTo>
                <a:lnTo>
                  <a:pt x="0" y="31"/>
                </a:lnTo>
                <a:lnTo>
                  <a:pt x="31" y="62"/>
                </a:lnTo>
                <a:close/>
              </a:path>
            </a:pathLst>
          </a:custGeom>
          <a:solidFill>
            <a:schemeClr val="tx1"/>
          </a:solidFill>
          <a:ln w="0">
            <a:solidFill>
              <a:schemeClr val="tx1"/>
            </a:solidFill>
            <a:prstDash val="solid"/>
            <a:round/>
            <a:headEnd/>
            <a:tailEnd/>
          </a:ln>
        </p:spPr>
        <p:txBody>
          <a:bodyPr/>
          <a:lstStyle/>
          <a:p>
            <a:endParaRPr lang="en-US"/>
          </a:p>
        </p:txBody>
      </p:sp>
      <p:sp>
        <p:nvSpPr>
          <p:cNvPr id="451739" name="Freeform 155"/>
          <p:cNvSpPr>
            <a:spLocks/>
          </p:cNvSpPr>
          <p:nvPr/>
        </p:nvSpPr>
        <p:spPr bwMode="auto">
          <a:xfrm>
            <a:off x="4283075" y="2449513"/>
            <a:ext cx="82550" cy="106362"/>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40" name="Freeform 156"/>
          <p:cNvSpPr>
            <a:spLocks/>
          </p:cNvSpPr>
          <p:nvPr/>
        </p:nvSpPr>
        <p:spPr bwMode="auto">
          <a:xfrm>
            <a:off x="4184650" y="2901950"/>
            <a:ext cx="82550" cy="106363"/>
          </a:xfrm>
          <a:custGeom>
            <a:avLst/>
            <a:gdLst/>
            <a:ahLst/>
            <a:cxnLst>
              <a:cxn ang="0">
                <a:pos x="26" y="67"/>
              </a:cxn>
              <a:cxn ang="0">
                <a:pos x="52" y="31"/>
              </a:cxn>
              <a:cxn ang="0">
                <a:pos x="26" y="0"/>
              </a:cxn>
              <a:cxn ang="0">
                <a:pos x="0" y="31"/>
              </a:cxn>
              <a:cxn ang="0">
                <a:pos x="26" y="67"/>
              </a:cxn>
            </a:cxnLst>
            <a:rect l="0" t="0" r="r" b="b"/>
            <a:pathLst>
              <a:path w="52" h="67">
                <a:moveTo>
                  <a:pt x="26" y="67"/>
                </a:moveTo>
                <a:lnTo>
                  <a:pt x="52"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41" name="Freeform 157"/>
          <p:cNvSpPr>
            <a:spLocks/>
          </p:cNvSpPr>
          <p:nvPr/>
        </p:nvSpPr>
        <p:spPr bwMode="auto">
          <a:xfrm>
            <a:off x="4924425" y="2176463"/>
            <a:ext cx="82550" cy="107950"/>
          </a:xfrm>
          <a:custGeom>
            <a:avLst/>
            <a:gdLst/>
            <a:ahLst/>
            <a:cxnLst>
              <a:cxn ang="0">
                <a:pos x="26" y="68"/>
              </a:cxn>
              <a:cxn ang="0">
                <a:pos x="52" y="37"/>
              </a:cxn>
              <a:cxn ang="0">
                <a:pos x="26" y="0"/>
              </a:cxn>
              <a:cxn ang="0">
                <a:pos x="0" y="37"/>
              </a:cxn>
              <a:cxn ang="0">
                <a:pos x="26" y="68"/>
              </a:cxn>
            </a:cxnLst>
            <a:rect l="0" t="0" r="r" b="b"/>
            <a:pathLst>
              <a:path w="52" h="68">
                <a:moveTo>
                  <a:pt x="26" y="68"/>
                </a:moveTo>
                <a:lnTo>
                  <a:pt x="52" y="37"/>
                </a:lnTo>
                <a:lnTo>
                  <a:pt x="26" y="0"/>
                </a:lnTo>
                <a:lnTo>
                  <a:pt x="0" y="37"/>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42" name="Freeform 158"/>
          <p:cNvSpPr>
            <a:spLocks/>
          </p:cNvSpPr>
          <p:nvPr/>
        </p:nvSpPr>
        <p:spPr bwMode="auto">
          <a:xfrm>
            <a:off x="5534025" y="2868613"/>
            <a:ext cx="82550" cy="106362"/>
          </a:xfrm>
          <a:custGeom>
            <a:avLst/>
            <a:gdLst/>
            <a:ahLst/>
            <a:cxnLst>
              <a:cxn ang="0">
                <a:pos x="26" y="67"/>
              </a:cxn>
              <a:cxn ang="0">
                <a:pos x="52" y="31"/>
              </a:cxn>
              <a:cxn ang="0">
                <a:pos x="26" y="0"/>
              </a:cxn>
              <a:cxn ang="0">
                <a:pos x="0" y="31"/>
              </a:cxn>
              <a:cxn ang="0">
                <a:pos x="26" y="67"/>
              </a:cxn>
            </a:cxnLst>
            <a:rect l="0" t="0" r="r" b="b"/>
            <a:pathLst>
              <a:path w="52" h="67">
                <a:moveTo>
                  <a:pt x="26" y="67"/>
                </a:moveTo>
                <a:lnTo>
                  <a:pt x="52"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43" name="Freeform 159"/>
          <p:cNvSpPr>
            <a:spLocks/>
          </p:cNvSpPr>
          <p:nvPr/>
        </p:nvSpPr>
        <p:spPr bwMode="auto">
          <a:xfrm>
            <a:off x="5262563" y="2687638"/>
            <a:ext cx="82550" cy="106362"/>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44" name="Freeform 160"/>
          <p:cNvSpPr>
            <a:spLocks/>
          </p:cNvSpPr>
          <p:nvPr/>
        </p:nvSpPr>
        <p:spPr bwMode="auto">
          <a:xfrm>
            <a:off x="4792663" y="2359025"/>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45" name="Freeform 161"/>
          <p:cNvSpPr>
            <a:spLocks/>
          </p:cNvSpPr>
          <p:nvPr/>
        </p:nvSpPr>
        <p:spPr bwMode="auto">
          <a:xfrm>
            <a:off x="4241800" y="2662238"/>
            <a:ext cx="82550" cy="107950"/>
          </a:xfrm>
          <a:custGeom>
            <a:avLst/>
            <a:gdLst/>
            <a:ahLst/>
            <a:cxnLst>
              <a:cxn ang="0">
                <a:pos x="26" y="68"/>
              </a:cxn>
              <a:cxn ang="0">
                <a:pos x="52" y="37"/>
              </a:cxn>
              <a:cxn ang="0">
                <a:pos x="26" y="0"/>
              </a:cxn>
              <a:cxn ang="0">
                <a:pos x="0" y="37"/>
              </a:cxn>
              <a:cxn ang="0">
                <a:pos x="26" y="68"/>
              </a:cxn>
            </a:cxnLst>
            <a:rect l="0" t="0" r="r" b="b"/>
            <a:pathLst>
              <a:path w="52" h="68">
                <a:moveTo>
                  <a:pt x="26" y="68"/>
                </a:moveTo>
                <a:lnTo>
                  <a:pt x="52" y="37"/>
                </a:lnTo>
                <a:lnTo>
                  <a:pt x="26" y="0"/>
                </a:lnTo>
                <a:lnTo>
                  <a:pt x="0" y="37"/>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46" name="Freeform 162"/>
          <p:cNvSpPr>
            <a:spLocks/>
          </p:cNvSpPr>
          <p:nvPr/>
        </p:nvSpPr>
        <p:spPr bwMode="auto">
          <a:xfrm>
            <a:off x="4184650" y="3074988"/>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47" name="Freeform 163"/>
          <p:cNvSpPr>
            <a:spLocks/>
          </p:cNvSpPr>
          <p:nvPr/>
        </p:nvSpPr>
        <p:spPr bwMode="auto">
          <a:xfrm>
            <a:off x="4406900" y="1617663"/>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48" name="Freeform 164"/>
          <p:cNvSpPr>
            <a:spLocks/>
          </p:cNvSpPr>
          <p:nvPr/>
        </p:nvSpPr>
        <p:spPr bwMode="auto">
          <a:xfrm>
            <a:off x="4422775" y="3336925"/>
            <a:ext cx="82550" cy="100013"/>
          </a:xfrm>
          <a:custGeom>
            <a:avLst/>
            <a:gdLst/>
            <a:ahLst/>
            <a:cxnLst>
              <a:cxn ang="0">
                <a:pos x="26" y="63"/>
              </a:cxn>
              <a:cxn ang="0">
                <a:pos x="52" y="32"/>
              </a:cxn>
              <a:cxn ang="0">
                <a:pos x="26" y="0"/>
              </a:cxn>
              <a:cxn ang="0">
                <a:pos x="0" y="32"/>
              </a:cxn>
              <a:cxn ang="0">
                <a:pos x="26" y="63"/>
              </a:cxn>
            </a:cxnLst>
            <a:rect l="0" t="0" r="r" b="b"/>
            <a:pathLst>
              <a:path w="52" h="63">
                <a:moveTo>
                  <a:pt x="26" y="63"/>
                </a:moveTo>
                <a:lnTo>
                  <a:pt x="52" y="32"/>
                </a:lnTo>
                <a:lnTo>
                  <a:pt x="26" y="0"/>
                </a:lnTo>
                <a:lnTo>
                  <a:pt x="0" y="32"/>
                </a:lnTo>
                <a:lnTo>
                  <a:pt x="26" y="63"/>
                </a:lnTo>
                <a:close/>
              </a:path>
            </a:pathLst>
          </a:custGeom>
          <a:solidFill>
            <a:schemeClr val="tx1"/>
          </a:solidFill>
          <a:ln w="0">
            <a:solidFill>
              <a:schemeClr val="tx1"/>
            </a:solidFill>
            <a:prstDash val="solid"/>
            <a:round/>
            <a:headEnd/>
            <a:tailEnd/>
          </a:ln>
        </p:spPr>
        <p:txBody>
          <a:bodyPr/>
          <a:lstStyle/>
          <a:p>
            <a:endParaRPr lang="en-US"/>
          </a:p>
        </p:txBody>
      </p:sp>
      <p:sp>
        <p:nvSpPr>
          <p:cNvPr id="451749" name="Freeform 165"/>
          <p:cNvSpPr>
            <a:spLocks/>
          </p:cNvSpPr>
          <p:nvPr/>
        </p:nvSpPr>
        <p:spPr bwMode="auto">
          <a:xfrm>
            <a:off x="4538663" y="2432050"/>
            <a:ext cx="82550" cy="107950"/>
          </a:xfrm>
          <a:custGeom>
            <a:avLst/>
            <a:gdLst/>
            <a:ahLst/>
            <a:cxnLst>
              <a:cxn ang="0">
                <a:pos x="26" y="68"/>
              </a:cxn>
              <a:cxn ang="0">
                <a:pos x="52" y="36"/>
              </a:cxn>
              <a:cxn ang="0">
                <a:pos x="26" y="0"/>
              </a:cxn>
              <a:cxn ang="0">
                <a:pos x="0" y="36"/>
              </a:cxn>
              <a:cxn ang="0">
                <a:pos x="26" y="68"/>
              </a:cxn>
            </a:cxnLst>
            <a:rect l="0" t="0" r="r" b="b"/>
            <a:pathLst>
              <a:path w="52" h="68">
                <a:moveTo>
                  <a:pt x="26" y="68"/>
                </a:moveTo>
                <a:lnTo>
                  <a:pt x="52" y="36"/>
                </a:lnTo>
                <a:lnTo>
                  <a:pt x="26" y="0"/>
                </a:lnTo>
                <a:lnTo>
                  <a:pt x="0" y="36"/>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50" name="Freeform 166"/>
          <p:cNvSpPr>
            <a:spLocks/>
          </p:cNvSpPr>
          <p:nvPr/>
        </p:nvSpPr>
        <p:spPr bwMode="auto">
          <a:xfrm>
            <a:off x="4060825" y="2103438"/>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51" name="Freeform 167"/>
          <p:cNvSpPr>
            <a:spLocks/>
          </p:cNvSpPr>
          <p:nvPr/>
        </p:nvSpPr>
        <p:spPr bwMode="auto">
          <a:xfrm>
            <a:off x="4776788" y="2943225"/>
            <a:ext cx="82550" cy="106363"/>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52" name="Freeform 168"/>
          <p:cNvSpPr>
            <a:spLocks/>
          </p:cNvSpPr>
          <p:nvPr/>
        </p:nvSpPr>
        <p:spPr bwMode="auto">
          <a:xfrm>
            <a:off x="5229225" y="2095500"/>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53" name="Freeform 169"/>
          <p:cNvSpPr>
            <a:spLocks/>
          </p:cNvSpPr>
          <p:nvPr/>
        </p:nvSpPr>
        <p:spPr bwMode="auto">
          <a:xfrm>
            <a:off x="4727575" y="2679700"/>
            <a:ext cx="82550" cy="106363"/>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54" name="Freeform 170"/>
          <p:cNvSpPr>
            <a:spLocks/>
          </p:cNvSpPr>
          <p:nvPr/>
        </p:nvSpPr>
        <p:spPr bwMode="auto">
          <a:xfrm>
            <a:off x="4489450" y="2398713"/>
            <a:ext cx="82550" cy="107950"/>
          </a:xfrm>
          <a:custGeom>
            <a:avLst/>
            <a:gdLst/>
            <a:ahLst/>
            <a:cxnLst>
              <a:cxn ang="0">
                <a:pos x="26" y="68"/>
              </a:cxn>
              <a:cxn ang="0">
                <a:pos x="52" y="32"/>
              </a:cxn>
              <a:cxn ang="0">
                <a:pos x="26" y="0"/>
              </a:cxn>
              <a:cxn ang="0">
                <a:pos x="0" y="32"/>
              </a:cxn>
              <a:cxn ang="0">
                <a:pos x="26" y="68"/>
              </a:cxn>
            </a:cxnLst>
            <a:rect l="0" t="0" r="r" b="b"/>
            <a:pathLst>
              <a:path w="52" h="68">
                <a:moveTo>
                  <a:pt x="26" y="68"/>
                </a:moveTo>
                <a:lnTo>
                  <a:pt x="52" y="32"/>
                </a:lnTo>
                <a:lnTo>
                  <a:pt x="26" y="0"/>
                </a:lnTo>
                <a:lnTo>
                  <a:pt x="0" y="32"/>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55" name="Freeform 171"/>
          <p:cNvSpPr>
            <a:spLocks/>
          </p:cNvSpPr>
          <p:nvPr/>
        </p:nvSpPr>
        <p:spPr bwMode="auto">
          <a:xfrm>
            <a:off x="4851400" y="2235200"/>
            <a:ext cx="90488" cy="98425"/>
          </a:xfrm>
          <a:custGeom>
            <a:avLst/>
            <a:gdLst/>
            <a:ahLst/>
            <a:cxnLst>
              <a:cxn ang="0">
                <a:pos x="31" y="62"/>
              </a:cxn>
              <a:cxn ang="0">
                <a:pos x="57" y="31"/>
              </a:cxn>
              <a:cxn ang="0">
                <a:pos x="31" y="0"/>
              </a:cxn>
              <a:cxn ang="0">
                <a:pos x="0" y="31"/>
              </a:cxn>
              <a:cxn ang="0">
                <a:pos x="31" y="62"/>
              </a:cxn>
            </a:cxnLst>
            <a:rect l="0" t="0" r="r" b="b"/>
            <a:pathLst>
              <a:path w="57" h="62">
                <a:moveTo>
                  <a:pt x="31" y="62"/>
                </a:moveTo>
                <a:lnTo>
                  <a:pt x="57" y="31"/>
                </a:lnTo>
                <a:lnTo>
                  <a:pt x="31" y="0"/>
                </a:lnTo>
                <a:lnTo>
                  <a:pt x="0" y="31"/>
                </a:lnTo>
                <a:lnTo>
                  <a:pt x="31" y="62"/>
                </a:lnTo>
                <a:close/>
              </a:path>
            </a:pathLst>
          </a:custGeom>
          <a:solidFill>
            <a:schemeClr val="tx1"/>
          </a:solidFill>
          <a:ln w="0">
            <a:solidFill>
              <a:schemeClr val="tx1"/>
            </a:solidFill>
            <a:prstDash val="solid"/>
            <a:round/>
            <a:headEnd/>
            <a:tailEnd/>
          </a:ln>
        </p:spPr>
        <p:txBody>
          <a:bodyPr/>
          <a:lstStyle/>
          <a:p>
            <a:endParaRPr lang="en-US"/>
          </a:p>
        </p:txBody>
      </p:sp>
      <p:sp>
        <p:nvSpPr>
          <p:cNvPr id="451756" name="Freeform 172"/>
          <p:cNvSpPr>
            <a:spLocks/>
          </p:cNvSpPr>
          <p:nvPr/>
        </p:nvSpPr>
        <p:spPr bwMode="auto">
          <a:xfrm>
            <a:off x="4200525" y="2111375"/>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57" name="Freeform 173"/>
          <p:cNvSpPr>
            <a:spLocks/>
          </p:cNvSpPr>
          <p:nvPr/>
        </p:nvSpPr>
        <p:spPr bwMode="auto">
          <a:xfrm>
            <a:off x="4983163" y="3922713"/>
            <a:ext cx="80962" cy="106362"/>
          </a:xfrm>
          <a:custGeom>
            <a:avLst/>
            <a:gdLst/>
            <a:ahLst/>
            <a:cxnLst>
              <a:cxn ang="0">
                <a:pos x="26" y="67"/>
              </a:cxn>
              <a:cxn ang="0">
                <a:pos x="51" y="36"/>
              </a:cxn>
              <a:cxn ang="0">
                <a:pos x="26" y="0"/>
              </a:cxn>
              <a:cxn ang="0">
                <a:pos x="0" y="36"/>
              </a:cxn>
              <a:cxn ang="0">
                <a:pos x="26" y="67"/>
              </a:cxn>
            </a:cxnLst>
            <a:rect l="0" t="0" r="r" b="b"/>
            <a:pathLst>
              <a:path w="51" h="67">
                <a:moveTo>
                  <a:pt x="26" y="67"/>
                </a:moveTo>
                <a:lnTo>
                  <a:pt x="51"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58" name="Freeform 174"/>
          <p:cNvSpPr>
            <a:spLocks/>
          </p:cNvSpPr>
          <p:nvPr/>
        </p:nvSpPr>
        <p:spPr bwMode="auto">
          <a:xfrm>
            <a:off x="5500688" y="2786063"/>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59" name="Freeform 175"/>
          <p:cNvSpPr>
            <a:spLocks/>
          </p:cNvSpPr>
          <p:nvPr/>
        </p:nvSpPr>
        <p:spPr bwMode="auto">
          <a:xfrm>
            <a:off x="4217988" y="2193925"/>
            <a:ext cx="80962" cy="106363"/>
          </a:xfrm>
          <a:custGeom>
            <a:avLst/>
            <a:gdLst/>
            <a:ahLst/>
            <a:cxnLst>
              <a:cxn ang="0">
                <a:pos x="26" y="67"/>
              </a:cxn>
              <a:cxn ang="0">
                <a:pos x="51" y="36"/>
              </a:cxn>
              <a:cxn ang="0">
                <a:pos x="26" y="0"/>
              </a:cxn>
              <a:cxn ang="0">
                <a:pos x="0" y="36"/>
              </a:cxn>
              <a:cxn ang="0">
                <a:pos x="26" y="67"/>
              </a:cxn>
            </a:cxnLst>
            <a:rect l="0" t="0" r="r" b="b"/>
            <a:pathLst>
              <a:path w="51" h="67">
                <a:moveTo>
                  <a:pt x="26" y="67"/>
                </a:moveTo>
                <a:lnTo>
                  <a:pt x="51"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60" name="Freeform 176"/>
          <p:cNvSpPr>
            <a:spLocks/>
          </p:cNvSpPr>
          <p:nvPr/>
        </p:nvSpPr>
        <p:spPr bwMode="auto">
          <a:xfrm>
            <a:off x="4611688" y="2374900"/>
            <a:ext cx="90487" cy="106363"/>
          </a:xfrm>
          <a:custGeom>
            <a:avLst/>
            <a:gdLst/>
            <a:ahLst/>
            <a:cxnLst>
              <a:cxn ang="0">
                <a:pos x="32" y="67"/>
              </a:cxn>
              <a:cxn ang="0">
                <a:pos x="57" y="31"/>
              </a:cxn>
              <a:cxn ang="0">
                <a:pos x="32" y="0"/>
              </a:cxn>
              <a:cxn ang="0">
                <a:pos x="0" y="31"/>
              </a:cxn>
              <a:cxn ang="0">
                <a:pos x="32" y="67"/>
              </a:cxn>
            </a:cxnLst>
            <a:rect l="0" t="0" r="r" b="b"/>
            <a:pathLst>
              <a:path w="57" h="67">
                <a:moveTo>
                  <a:pt x="32" y="67"/>
                </a:moveTo>
                <a:lnTo>
                  <a:pt x="57" y="31"/>
                </a:lnTo>
                <a:lnTo>
                  <a:pt x="32" y="0"/>
                </a:lnTo>
                <a:lnTo>
                  <a:pt x="0" y="31"/>
                </a:lnTo>
                <a:lnTo>
                  <a:pt x="32" y="67"/>
                </a:lnTo>
                <a:close/>
              </a:path>
            </a:pathLst>
          </a:custGeom>
          <a:solidFill>
            <a:schemeClr val="tx1"/>
          </a:solidFill>
          <a:ln w="0">
            <a:solidFill>
              <a:schemeClr val="tx1"/>
            </a:solidFill>
            <a:prstDash val="solid"/>
            <a:round/>
            <a:headEnd/>
            <a:tailEnd/>
          </a:ln>
        </p:spPr>
        <p:txBody>
          <a:bodyPr/>
          <a:lstStyle/>
          <a:p>
            <a:endParaRPr lang="en-US"/>
          </a:p>
        </p:txBody>
      </p:sp>
      <p:sp>
        <p:nvSpPr>
          <p:cNvPr id="451761" name="Freeform 177"/>
          <p:cNvSpPr>
            <a:spLocks/>
          </p:cNvSpPr>
          <p:nvPr/>
        </p:nvSpPr>
        <p:spPr bwMode="auto">
          <a:xfrm>
            <a:off x="4538663" y="3114675"/>
            <a:ext cx="82550" cy="107950"/>
          </a:xfrm>
          <a:custGeom>
            <a:avLst/>
            <a:gdLst/>
            <a:ahLst/>
            <a:cxnLst>
              <a:cxn ang="0">
                <a:pos x="26" y="68"/>
              </a:cxn>
              <a:cxn ang="0">
                <a:pos x="52" y="32"/>
              </a:cxn>
              <a:cxn ang="0">
                <a:pos x="26" y="0"/>
              </a:cxn>
              <a:cxn ang="0">
                <a:pos x="0" y="32"/>
              </a:cxn>
              <a:cxn ang="0">
                <a:pos x="26" y="68"/>
              </a:cxn>
            </a:cxnLst>
            <a:rect l="0" t="0" r="r" b="b"/>
            <a:pathLst>
              <a:path w="52" h="68">
                <a:moveTo>
                  <a:pt x="26" y="68"/>
                </a:moveTo>
                <a:lnTo>
                  <a:pt x="52" y="32"/>
                </a:lnTo>
                <a:lnTo>
                  <a:pt x="26" y="0"/>
                </a:lnTo>
                <a:lnTo>
                  <a:pt x="0" y="32"/>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62" name="Freeform 178"/>
          <p:cNvSpPr>
            <a:spLocks/>
          </p:cNvSpPr>
          <p:nvPr/>
        </p:nvSpPr>
        <p:spPr bwMode="auto">
          <a:xfrm>
            <a:off x="4587875" y="2530475"/>
            <a:ext cx="90488" cy="100013"/>
          </a:xfrm>
          <a:custGeom>
            <a:avLst/>
            <a:gdLst/>
            <a:ahLst/>
            <a:cxnLst>
              <a:cxn ang="0">
                <a:pos x="26" y="63"/>
              </a:cxn>
              <a:cxn ang="0">
                <a:pos x="57" y="31"/>
              </a:cxn>
              <a:cxn ang="0">
                <a:pos x="26" y="0"/>
              </a:cxn>
              <a:cxn ang="0">
                <a:pos x="0" y="31"/>
              </a:cxn>
              <a:cxn ang="0">
                <a:pos x="26" y="63"/>
              </a:cxn>
            </a:cxnLst>
            <a:rect l="0" t="0" r="r" b="b"/>
            <a:pathLst>
              <a:path w="57" h="63">
                <a:moveTo>
                  <a:pt x="26" y="63"/>
                </a:moveTo>
                <a:lnTo>
                  <a:pt x="57" y="31"/>
                </a:lnTo>
                <a:lnTo>
                  <a:pt x="26" y="0"/>
                </a:lnTo>
                <a:lnTo>
                  <a:pt x="0" y="31"/>
                </a:lnTo>
                <a:lnTo>
                  <a:pt x="26" y="63"/>
                </a:lnTo>
                <a:close/>
              </a:path>
            </a:pathLst>
          </a:custGeom>
          <a:solidFill>
            <a:schemeClr val="tx1"/>
          </a:solidFill>
          <a:ln w="0">
            <a:solidFill>
              <a:schemeClr val="tx1"/>
            </a:solidFill>
            <a:prstDash val="solid"/>
            <a:round/>
            <a:headEnd/>
            <a:tailEnd/>
          </a:ln>
        </p:spPr>
        <p:txBody>
          <a:bodyPr/>
          <a:lstStyle/>
          <a:p>
            <a:endParaRPr lang="en-US"/>
          </a:p>
        </p:txBody>
      </p:sp>
      <p:sp>
        <p:nvSpPr>
          <p:cNvPr id="451763" name="Freeform 179"/>
          <p:cNvSpPr>
            <a:spLocks/>
          </p:cNvSpPr>
          <p:nvPr/>
        </p:nvSpPr>
        <p:spPr bwMode="auto">
          <a:xfrm>
            <a:off x="4019550" y="2728913"/>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64" name="Freeform 180"/>
          <p:cNvSpPr>
            <a:spLocks/>
          </p:cNvSpPr>
          <p:nvPr/>
        </p:nvSpPr>
        <p:spPr bwMode="auto">
          <a:xfrm>
            <a:off x="5154613" y="2894013"/>
            <a:ext cx="82550" cy="106362"/>
          </a:xfrm>
          <a:custGeom>
            <a:avLst/>
            <a:gdLst/>
            <a:ahLst/>
            <a:cxnLst>
              <a:cxn ang="0">
                <a:pos x="26" y="67"/>
              </a:cxn>
              <a:cxn ang="0">
                <a:pos x="52" y="31"/>
              </a:cxn>
              <a:cxn ang="0">
                <a:pos x="26" y="0"/>
              </a:cxn>
              <a:cxn ang="0">
                <a:pos x="0" y="31"/>
              </a:cxn>
              <a:cxn ang="0">
                <a:pos x="26" y="67"/>
              </a:cxn>
            </a:cxnLst>
            <a:rect l="0" t="0" r="r" b="b"/>
            <a:pathLst>
              <a:path w="52" h="67">
                <a:moveTo>
                  <a:pt x="26" y="67"/>
                </a:moveTo>
                <a:lnTo>
                  <a:pt x="52" y="31"/>
                </a:lnTo>
                <a:lnTo>
                  <a:pt x="26" y="0"/>
                </a:lnTo>
                <a:lnTo>
                  <a:pt x="0" y="31"/>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65" name="Freeform 181"/>
          <p:cNvSpPr>
            <a:spLocks/>
          </p:cNvSpPr>
          <p:nvPr/>
        </p:nvSpPr>
        <p:spPr bwMode="auto">
          <a:xfrm>
            <a:off x="4538663" y="2439988"/>
            <a:ext cx="82550" cy="107950"/>
          </a:xfrm>
          <a:custGeom>
            <a:avLst/>
            <a:gdLst/>
            <a:ahLst/>
            <a:cxnLst>
              <a:cxn ang="0">
                <a:pos x="26" y="68"/>
              </a:cxn>
              <a:cxn ang="0">
                <a:pos x="52" y="37"/>
              </a:cxn>
              <a:cxn ang="0">
                <a:pos x="26" y="0"/>
              </a:cxn>
              <a:cxn ang="0">
                <a:pos x="0" y="37"/>
              </a:cxn>
              <a:cxn ang="0">
                <a:pos x="26" y="68"/>
              </a:cxn>
            </a:cxnLst>
            <a:rect l="0" t="0" r="r" b="b"/>
            <a:pathLst>
              <a:path w="52" h="68">
                <a:moveTo>
                  <a:pt x="26" y="68"/>
                </a:moveTo>
                <a:lnTo>
                  <a:pt x="52" y="37"/>
                </a:lnTo>
                <a:lnTo>
                  <a:pt x="26" y="0"/>
                </a:lnTo>
                <a:lnTo>
                  <a:pt x="0" y="37"/>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66" name="Freeform 182"/>
          <p:cNvSpPr>
            <a:spLocks/>
          </p:cNvSpPr>
          <p:nvPr/>
        </p:nvSpPr>
        <p:spPr bwMode="auto">
          <a:xfrm>
            <a:off x="5451475" y="2974975"/>
            <a:ext cx="82550" cy="100013"/>
          </a:xfrm>
          <a:custGeom>
            <a:avLst/>
            <a:gdLst/>
            <a:ahLst/>
            <a:cxnLst>
              <a:cxn ang="0">
                <a:pos x="26" y="63"/>
              </a:cxn>
              <a:cxn ang="0">
                <a:pos x="52" y="31"/>
              </a:cxn>
              <a:cxn ang="0">
                <a:pos x="26" y="0"/>
              </a:cxn>
              <a:cxn ang="0">
                <a:pos x="0" y="31"/>
              </a:cxn>
              <a:cxn ang="0">
                <a:pos x="26" y="63"/>
              </a:cxn>
            </a:cxnLst>
            <a:rect l="0" t="0" r="r" b="b"/>
            <a:pathLst>
              <a:path w="52" h="63">
                <a:moveTo>
                  <a:pt x="26" y="63"/>
                </a:moveTo>
                <a:lnTo>
                  <a:pt x="52" y="31"/>
                </a:lnTo>
                <a:lnTo>
                  <a:pt x="26" y="0"/>
                </a:lnTo>
                <a:lnTo>
                  <a:pt x="0" y="31"/>
                </a:lnTo>
                <a:lnTo>
                  <a:pt x="26" y="63"/>
                </a:lnTo>
                <a:close/>
              </a:path>
            </a:pathLst>
          </a:custGeom>
          <a:solidFill>
            <a:schemeClr val="tx1"/>
          </a:solidFill>
          <a:ln w="0">
            <a:solidFill>
              <a:schemeClr val="tx1"/>
            </a:solidFill>
            <a:prstDash val="solid"/>
            <a:round/>
            <a:headEnd/>
            <a:tailEnd/>
          </a:ln>
        </p:spPr>
        <p:txBody>
          <a:bodyPr/>
          <a:lstStyle/>
          <a:p>
            <a:endParaRPr lang="en-US"/>
          </a:p>
        </p:txBody>
      </p:sp>
      <p:sp>
        <p:nvSpPr>
          <p:cNvPr id="451767" name="Freeform 183"/>
          <p:cNvSpPr>
            <a:spLocks/>
          </p:cNvSpPr>
          <p:nvPr/>
        </p:nvSpPr>
        <p:spPr bwMode="auto">
          <a:xfrm>
            <a:off x="4908550" y="2671763"/>
            <a:ext cx="82550" cy="106362"/>
          </a:xfrm>
          <a:custGeom>
            <a:avLst/>
            <a:gdLst/>
            <a:ahLst/>
            <a:cxnLst>
              <a:cxn ang="0">
                <a:pos x="26" y="67"/>
              </a:cxn>
              <a:cxn ang="0">
                <a:pos x="52" y="36"/>
              </a:cxn>
              <a:cxn ang="0">
                <a:pos x="26" y="0"/>
              </a:cxn>
              <a:cxn ang="0">
                <a:pos x="0" y="36"/>
              </a:cxn>
              <a:cxn ang="0">
                <a:pos x="26" y="67"/>
              </a:cxn>
            </a:cxnLst>
            <a:rect l="0" t="0" r="r" b="b"/>
            <a:pathLst>
              <a:path w="52" h="67">
                <a:moveTo>
                  <a:pt x="26" y="67"/>
                </a:moveTo>
                <a:lnTo>
                  <a:pt x="52" y="36"/>
                </a:lnTo>
                <a:lnTo>
                  <a:pt x="26" y="0"/>
                </a:lnTo>
                <a:lnTo>
                  <a:pt x="0" y="36"/>
                </a:lnTo>
                <a:lnTo>
                  <a:pt x="26" y="67"/>
                </a:lnTo>
                <a:close/>
              </a:path>
            </a:pathLst>
          </a:custGeom>
          <a:solidFill>
            <a:schemeClr val="tx1"/>
          </a:solidFill>
          <a:ln w="0">
            <a:solidFill>
              <a:schemeClr val="tx1"/>
            </a:solidFill>
            <a:prstDash val="solid"/>
            <a:round/>
            <a:headEnd/>
            <a:tailEnd/>
          </a:ln>
        </p:spPr>
        <p:txBody>
          <a:bodyPr/>
          <a:lstStyle/>
          <a:p>
            <a:endParaRPr lang="en-US"/>
          </a:p>
        </p:txBody>
      </p:sp>
      <p:sp>
        <p:nvSpPr>
          <p:cNvPr id="451768" name="Freeform 184"/>
          <p:cNvSpPr>
            <a:spLocks/>
          </p:cNvSpPr>
          <p:nvPr/>
        </p:nvSpPr>
        <p:spPr bwMode="auto">
          <a:xfrm>
            <a:off x="4867275" y="2127250"/>
            <a:ext cx="90488" cy="107950"/>
          </a:xfrm>
          <a:custGeom>
            <a:avLst/>
            <a:gdLst/>
            <a:ahLst/>
            <a:cxnLst>
              <a:cxn ang="0">
                <a:pos x="31" y="68"/>
              </a:cxn>
              <a:cxn ang="0">
                <a:pos x="57" y="31"/>
              </a:cxn>
              <a:cxn ang="0">
                <a:pos x="31" y="0"/>
              </a:cxn>
              <a:cxn ang="0">
                <a:pos x="0" y="31"/>
              </a:cxn>
              <a:cxn ang="0">
                <a:pos x="31" y="68"/>
              </a:cxn>
            </a:cxnLst>
            <a:rect l="0" t="0" r="r" b="b"/>
            <a:pathLst>
              <a:path w="57" h="68">
                <a:moveTo>
                  <a:pt x="31" y="68"/>
                </a:moveTo>
                <a:lnTo>
                  <a:pt x="57" y="31"/>
                </a:lnTo>
                <a:lnTo>
                  <a:pt x="31" y="0"/>
                </a:lnTo>
                <a:lnTo>
                  <a:pt x="0" y="31"/>
                </a:lnTo>
                <a:lnTo>
                  <a:pt x="31" y="68"/>
                </a:lnTo>
                <a:close/>
              </a:path>
            </a:pathLst>
          </a:custGeom>
          <a:solidFill>
            <a:schemeClr val="tx1"/>
          </a:solidFill>
          <a:ln w="0">
            <a:solidFill>
              <a:schemeClr val="tx1"/>
            </a:solidFill>
            <a:prstDash val="solid"/>
            <a:round/>
            <a:headEnd/>
            <a:tailEnd/>
          </a:ln>
        </p:spPr>
        <p:txBody>
          <a:bodyPr/>
          <a:lstStyle/>
          <a:p>
            <a:endParaRPr lang="en-US"/>
          </a:p>
        </p:txBody>
      </p:sp>
      <p:sp>
        <p:nvSpPr>
          <p:cNvPr id="451769" name="Freeform 185"/>
          <p:cNvSpPr>
            <a:spLocks/>
          </p:cNvSpPr>
          <p:nvPr/>
        </p:nvSpPr>
        <p:spPr bwMode="auto">
          <a:xfrm>
            <a:off x="4833938" y="2925763"/>
            <a:ext cx="90487" cy="107950"/>
          </a:xfrm>
          <a:custGeom>
            <a:avLst/>
            <a:gdLst/>
            <a:ahLst/>
            <a:cxnLst>
              <a:cxn ang="0">
                <a:pos x="26" y="68"/>
              </a:cxn>
              <a:cxn ang="0">
                <a:pos x="57" y="37"/>
              </a:cxn>
              <a:cxn ang="0">
                <a:pos x="26" y="0"/>
              </a:cxn>
              <a:cxn ang="0">
                <a:pos x="0" y="37"/>
              </a:cxn>
              <a:cxn ang="0">
                <a:pos x="26" y="68"/>
              </a:cxn>
            </a:cxnLst>
            <a:rect l="0" t="0" r="r" b="b"/>
            <a:pathLst>
              <a:path w="57" h="68">
                <a:moveTo>
                  <a:pt x="26" y="68"/>
                </a:moveTo>
                <a:lnTo>
                  <a:pt x="57" y="37"/>
                </a:lnTo>
                <a:lnTo>
                  <a:pt x="26" y="0"/>
                </a:lnTo>
                <a:lnTo>
                  <a:pt x="0" y="37"/>
                </a:lnTo>
                <a:lnTo>
                  <a:pt x="26" y="68"/>
                </a:lnTo>
                <a:close/>
              </a:path>
            </a:pathLst>
          </a:custGeom>
          <a:solidFill>
            <a:schemeClr val="tx1"/>
          </a:solidFill>
          <a:ln w="0">
            <a:solidFill>
              <a:schemeClr val="tx1"/>
            </a:solidFill>
            <a:prstDash val="solid"/>
            <a:round/>
            <a:headEnd/>
            <a:tailEnd/>
          </a:ln>
        </p:spPr>
        <p:txBody>
          <a:bodyPr/>
          <a:lstStyle/>
          <a:p>
            <a:endParaRPr lang="en-US"/>
          </a:p>
        </p:txBody>
      </p:sp>
      <p:sp>
        <p:nvSpPr>
          <p:cNvPr id="451770" name="Freeform 186"/>
          <p:cNvSpPr>
            <a:spLocks/>
          </p:cNvSpPr>
          <p:nvPr/>
        </p:nvSpPr>
        <p:spPr bwMode="auto">
          <a:xfrm>
            <a:off x="4275138" y="2489200"/>
            <a:ext cx="82550" cy="100013"/>
          </a:xfrm>
          <a:custGeom>
            <a:avLst/>
            <a:gdLst/>
            <a:ahLst/>
            <a:cxnLst>
              <a:cxn ang="0">
                <a:pos x="26" y="63"/>
              </a:cxn>
              <a:cxn ang="0">
                <a:pos x="52" y="32"/>
              </a:cxn>
              <a:cxn ang="0">
                <a:pos x="26" y="0"/>
              </a:cxn>
              <a:cxn ang="0">
                <a:pos x="0" y="32"/>
              </a:cxn>
              <a:cxn ang="0">
                <a:pos x="26" y="63"/>
              </a:cxn>
            </a:cxnLst>
            <a:rect l="0" t="0" r="r" b="b"/>
            <a:pathLst>
              <a:path w="52" h="63">
                <a:moveTo>
                  <a:pt x="26" y="63"/>
                </a:moveTo>
                <a:lnTo>
                  <a:pt x="52" y="32"/>
                </a:lnTo>
                <a:lnTo>
                  <a:pt x="26" y="0"/>
                </a:lnTo>
                <a:lnTo>
                  <a:pt x="0" y="32"/>
                </a:lnTo>
                <a:lnTo>
                  <a:pt x="26" y="63"/>
                </a:lnTo>
                <a:close/>
              </a:path>
            </a:pathLst>
          </a:custGeom>
          <a:solidFill>
            <a:schemeClr val="tx1"/>
          </a:solidFill>
          <a:ln w="0">
            <a:solidFill>
              <a:schemeClr val="tx1"/>
            </a:solidFill>
            <a:prstDash val="solid"/>
            <a:round/>
            <a:headEnd/>
            <a:tailEnd/>
          </a:ln>
        </p:spPr>
        <p:txBody>
          <a:bodyPr/>
          <a:lstStyle/>
          <a:p>
            <a:endParaRPr lang="en-US"/>
          </a:p>
        </p:txBody>
      </p:sp>
      <p:sp>
        <p:nvSpPr>
          <p:cNvPr id="451771" name="Freeform 187"/>
          <p:cNvSpPr>
            <a:spLocks/>
          </p:cNvSpPr>
          <p:nvPr/>
        </p:nvSpPr>
        <p:spPr bwMode="auto">
          <a:xfrm>
            <a:off x="4991100" y="2720975"/>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72" name="Freeform 188"/>
          <p:cNvSpPr>
            <a:spLocks/>
          </p:cNvSpPr>
          <p:nvPr/>
        </p:nvSpPr>
        <p:spPr bwMode="auto">
          <a:xfrm>
            <a:off x="4851400" y="2597150"/>
            <a:ext cx="90488" cy="98425"/>
          </a:xfrm>
          <a:custGeom>
            <a:avLst/>
            <a:gdLst/>
            <a:ahLst/>
            <a:cxnLst>
              <a:cxn ang="0">
                <a:pos x="31" y="62"/>
              </a:cxn>
              <a:cxn ang="0">
                <a:pos x="57" y="31"/>
              </a:cxn>
              <a:cxn ang="0">
                <a:pos x="31" y="0"/>
              </a:cxn>
              <a:cxn ang="0">
                <a:pos x="0" y="31"/>
              </a:cxn>
              <a:cxn ang="0">
                <a:pos x="31" y="62"/>
              </a:cxn>
            </a:cxnLst>
            <a:rect l="0" t="0" r="r" b="b"/>
            <a:pathLst>
              <a:path w="57" h="62">
                <a:moveTo>
                  <a:pt x="31" y="62"/>
                </a:moveTo>
                <a:lnTo>
                  <a:pt x="57" y="31"/>
                </a:lnTo>
                <a:lnTo>
                  <a:pt x="31" y="0"/>
                </a:lnTo>
                <a:lnTo>
                  <a:pt x="0" y="31"/>
                </a:lnTo>
                <a:lnTo>
                  <a:pt x="31" y="62"/>
                </a:lnTo>
                <a:close/>
              </a:path>
            </a:pathLst>
          </a:custGeom>
          <a:solidFill>
            <a:schemeClr val="tx1"/>
          </a:solidFill>
          <a:ln w="0">
            <a:solidFill>
              <a:schemeClr val="tx1"/>
            </a:solidFill>
            <a:prstDash val="solid"/>
            <a:round/>
            <a:headEnd/>
            <a:tailEnd/>
          </a:ln>
        </p:spPr>
        <p:txBody>
          <a:bodyPr/>
          <a:lstStyle/>
          <a:p>
            <a:endParaRPr lang="en-US"/>
          </a:p>
        </p:txBody>
      </p:sp>
      <p:sp>
        <p:nvSpPr>
          <p:cNvPr id="451773" name="Freeform 189"/>
          <p:cNvSpPr>
            <a:spLocks/>
          </p:cNvSpPr>
          <p:nvPr/>
        </p:nvSpPr>
        <p:spPr bwMode="auto">
          <a:xfrm>
            <a:off x="4316413" y="2819400"/>
            <a:ext cx="90487" cy="98425"/>
          </a:xfrm>
          <a:custGeom>
            <a:avLst/>
            <a:gdLst/>
            <a:ahLst/>
            <a:cxnLst>
              <a:cxn ang="0">
                <a:pos x="26" y="62"/>
              </a:cxn>
              <a:cxn ang="0">
                <a:pos x="57" y="31"/>
              </a:cxn>
              <a:cxn ang="0">
                <a:pos x="26" y="0"/>
              </a:cxn>
              <a:cxn ang="0">
                <a:pos x="0" y="31"/>
              </a:cxn>
              <a:cxn ang="0">
                <a:pos x="26" y="62"/>
              </a:cxn>
            </a:cxnLst>
            <a:rect l="0" t="0" r="r" b="b"/>
            <a:pathLst>
              <a:path w="57" h="62">
                <a:moveTo>
                  <a:pt x="26" y="62"/>
                </a:moveTo>
                <a:lnTo>
                  <a:pt x="57"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74" name="Freeform 190"/>
          <p:cNvSpPr>
            <a:spLocks/>
          </p:cNvSpPr>
          <p:nvPr/>
        </p:nvSpPr>
        <p:spPr bwMode="auto">
          <a:xfrm>
            <a:off x="4637088" y="2473325"/>
            <a:ext cx="90487" cy="98425"/>
          </a:xfrm>
          <a:custGeom>
            <a:avLst/>
            <a:gdLst/>
            <a:ahLst/>
            <a:cxnLst>
              <a:cxn ang="0">
                <a:pos x="31" y="62"/>
              </a:cxn>
              <a:cxn ang="0">
                <a:pos x="57" y="31"/>
              </a:cxn>
              <a:cxn ang="0">
                <a:pos x="31" y="0"/>
              </a:cxn>
              <a:cxn ang="0">
                <a:pos x="0" y="31"/>
              </a:cxn>
              <a:cxn ang="0">
                <a:pos x="31" y="62"/>
              </a:cxn>
            </a:cxnLst>
            <a:rect l="0" t="0" r="r" b="b"/>
            <a:pathLst>
              <a:path w="57" h="62">
                <a:moveTo>
                  <a:pt x="31" y="62"/>
                </a:moveTo>
                <a:lnTo>
                  <a:pt x="57" y="31"/>
                </a:lnTo>
                <a:lnTo>
                  <a:pt x="31" y="0"/>
                </a:lnTo>
                <a:lnTo>
                  <a:pt x="0" y="31"/>
                </a:lnTo>
                <a:lnTo>
                  <a:pt x="31" y="62"/>
                </a:lnTo>
                <a:close/>
              </a:path>
            </a:pathLst>
          </a:custGeom>
          <a:solidFill>
            <a:schemeClr val="tx1"/>
          </a:solidFill>
          <a:ln w="0">
            <a:solidFill>
              <a:schemeClr val="tx1"/>
            </a:solidFill>
            <a:prstDash val="solid"/>
            <a:round/>
            <a:headEnd/>
            <a:tailEnd/>
          </a:ln>
        </p:spPr>
        <p:txBody>
          <a:bodyPr/>
          <a:lstStyle/>
          <a:p>
            <a:endParaRPr lang="en-US"/>
          </a:p>
        </p:txBody>
      </p:sp>
      <p:sp>
        <p:nvSpPr>
          <p:cNvPr id="451775" name="Freeform 191"/>
          <p:cNvSpPr>
            <a:spLocks/>
          </p:cNvSpPr>
          <p:nvPr/>
        </p:nvSpPr>
        <p:spPr bwMode="auto">
          <a:xfrm>
            <a:off x="4430713" y="3576638"/>
            <a:ext cx="82550" cy="98425"/>
          </a:xfrm>
          <a:custGeom>
            <a:avLst/>
            <a:gdLst/>
            <a:ahLst/>
            <a:cxnLst>
              <a:cxn ang="0">
                <a:pos x="26" y="62"/>
              </a:cxn>
              <a:cxn ang="0">
                <a:pos x="52" y="31"/>
              </a:cxn>
              <a:cxn ang="0">
                <a:pos x="26" y="0"/>
              </a:cxn>
              <a:cxn ang="0">
                <a:pos x="0" y="31"/>
              </a:cxn>
              <a:cxn ang="0">
                <a:pos x="26" y="62"/>
              </a:cxn>
            </a:cxnLst>
            <a:rect l="0" t="0" r="r" b="b"/>
            <a:pathLst>
              <a:path w="52" h="62">
                <a:moveTo>
                  <a:pt x="26" y="62"/>
                </a:moveTo>
                <a:lnTo>
                  <a:pt x="52" y="31"/>
                </a:lnTo>
                <a:lnTo>
                  <a:pt x="26" y="0"/>
                </a:lnTo>
                <a:lnTo>
                  <a:pt x="0" y="31"/>
                </a:lnTo>
                <a:lnTo>
                  <a:pt x="26" y="62"/>
                </a:lnTo>
                <a:close/>
              </a:path>
            </a:pathLst>
          </a:custGeom>
          <a:solidFill>
            <a:schemeClr val="tx1"/>
          </a:solidFill>
          <a:ln w="0">
            <a:solidFill>
              <a:schemeClr val="tx1"/>
            </a:solidFill>
            <a:prstDash val="solid"/>
            <a:round/>
            <a:headEnd/>
            <a:tailEnd/>
          </a:ln>
        </p:spPr>
        <p:txBody>
          <a:bodyPr/>
          <a:lstStyle/>
          <a:p>
            <a:endParaRPr lang="en-US"/>
          </a:p>
        </p:txBody>
      </p:sp>
      <p:sp>
        <p:nvSpPr>
          <p:cNvPr id="451776" name="Rectangle 192"/>
          <p:cNvSpPr>
            <a:spLocks noChangeArrowheads="1"/>
          </p:cNvSpPr>
          <p:nvPr/>
        </p:nvSpPr>
        <p:spPr bwMode="auto">
          <a:xfrm>
            <a:off x="5608638" y="4679950"/>
            <a:ext cx="73025" cy="73025"/>
          </a:xfrm>
          <a:prstGeom prst="rect">
            <a:avLst/>
          </a:prstGeom>
          <a:solidFill>
            <a:schemeClr val="tx1"/>
          </a:solidFill>
          <a:ln w="0">
            <a:solidFill>
              <a:schemeClr val="tx1"/>
            </a:solidFill>
            <a:miter lim="800000"/>
            <a:headEnd/>
            <a:tailEnd/>
          </a:ln>
        </p:spPr>
        <p:txBody>
          <a:bodyPr/>
          <a:lstStyle/>
          <a:p>
            <a:endParaRPr lang="en-US"/>
          </a:p>
        </p:txBody>
      </p:sp>
      <p:sp>
        <p:nvSpPr>
          <p:cNvPr id="451777" name="Rectangle 193"/>
          <p:cNvSpPr>
            <a:spLocks noChangeArrowheads="1"/>
          </p:cNvSpPr>
          <p:nvPr/>
        </p:nvSpPr>
        <p:spPr bwMode="auto">
          <a:xfrm>
            <a:off x="5599113" y="4481513"/>
            <a:ext cx="74612" cy="66675"/>
          </a:xfrm>
          <a:prstGeom prst="rect">
            <a:avLst/>
          </a:prstGeom>
          <a:solidFill>
            <a:schemeClr val="tx1"/>
          </a:solidFill>
          <a:ln w="0">
            <a:solidFill>
              <a:schemeClr val="tx1"/>
            </a:solidFill>
            <a:miter lim="800000"/>
            <a:headEnd/>
            <a:tailEnd/>
          </a:ln>
        </p:spPr>
        <p:txBody>
          <a:bodyPr/>
          <a:lstStyle/>
          <a:p>
            <a:endParaRPr lang="en-US"/>
          </a:p>
        </p:txBody>
      </p:sp>
      <p:sp>
        <p:nvSpPr>
          <p:cNvPr id="451778" name="Rectangle 194"/>
          <p:cNvSpPr>
            <a:spLocks noChangeArrowheads="1"/>
          </p:cNvSpPr>
          <p:nvPr/>
        </p:nvSpPr>
        <p:spPr bwMode="auto">
          <a:xfrm>
            <a:off x="5903913" y="4884738"/>
            <a:ext cx="66675" cy="74612"/>
          </a:xfrm>
          <a:prstGeom prst="rect">
            <a:avLst/>
          </a:prstGeom>
          <a:solidFill>
            <a:schemeClr val="tx1"/>
          </a:solidFill>
          <a:ln w="0">
            <a:solidFill>
              <a:schemeClr val="tx1"/>
            </a:solidFill>
            <a:miter lim="800000"/>
            <a:headEnd/>
            <a:tailEnd/>
          </a:ln>
        </p:spPr>
        <p:txBody>
          <a:bodyPr/>
          <a:lstStyle/>
          <a:p>
            <a:endParaRPr lang="en-US"/>
          </a:p>
        </p:txBody>
      </p:sp>
      <p:sp>
        <p:nvSpPr>
          <p:cNvPr id="451779" name="Rectangle 195"/>
          <p:cNvSpPr>
            <a:spLocks noChangeArrowheads="1"/>
          </p:cNvSpPr>
          <p:nvPr/>
        </p:nvSpPr>
        <p:spPr bwMode="auto">
          <a:xfrm>
            <a:off x="5813425" y="4465638"/>
            <a:ext cx="74613" cy="65087"/>
          </a:xfrm>
          <a:prstGeom prst="rect">
            <a:avLst/>
          </a:prstGeom>
          <a:solidFill>
            <a:schemeClr val="tx1"/>
          </a:solidFill>
          <a:ln w="0">
            <a:solidFill>
              <a:schemeClr val="tx1"/>
            </a:solidFill>
            <a:miter lim="800000"/>
            <a:headEnd/>
            <a:tailEnd/>
          </a:ln>
        </p:spPr>
        <p:txBody>
          <a:bodyPr/>
          <a:lstStyle/>
          <a:p>
            <a:endParaRPr lang="en-US"/>
          </a:p>
        </p:txBody>
      </p:sp>
      <p:sp>
        <p:nvSpPr>
          <p:cNvPr id="451780" name="Rectangle 196"/>
          <p:cNvSpPr>
            <a:spLocks noChangeArrowheads="1"/>
          </p:cNvSpPr>
          <p:nvPr/>
        </p:nvSpPr>
        <p:spPr bwMode="auto">
          <a:xfrm>
            <a:off x="5476875" y="4597400"/>
            <a:ext cx="65088" cy="65088"/>
          </a:xfrm>
          <a:prstGeom prst="rect">
            <a:avLst/>
          </a:prstGeom>
          <a:solidFill>
            <a:schemeClr val="tx1"/>
          </a:solidFill>
          <a:ln w="0">
            <a:solidFill>
              <a:schemeClr val="tx1"/>
            </a:solidFill>
            <a:miter lim="800000"/>
            <a:headEnd/>
            <a:tailEnd/>
          </a:ln>
        </p:spPr>
        <p:txBody>
          <a:bodyPr/>
          <a:lstStyle/>
          <a:p>
            <a:endParaRPr lang="en-US"/>
          </a:p>
        </p:txBody>
      </p:sp>
      <p:sp>
        <p:nvSpPr>
          <p:cNvPr id="451781" name="Rectangle 197"/>
          <p:cNvSpPr>
            <a:spLocks noChangeArrowheads="1"/>
          </p:cNvSpPr>
          <p:nvPr/>
        </p:nvSpPr>
        <p:spPr bwMode="auto">
          <a:xfrm>
            <a:off x="5534025" y="4538663"/>
            <a:ext cx="65088" cy="66675"/>
          </a:xfrm>
          <a:prstGeom prst="rect">
            <a:avLst/>
          </a:prstGeom>
          <a:solidFill>
            <a:schemeClr val="tx1"/>
          </a:solidFill>
          <a:ln w="0">
            <a:solidFill>
              <a:schemeClr val="tx1"/>
            </a:solidFill>
            <a:miter lim="800000"/>
            <a:headEnd/>
            <a:tailEnd/>
          </a:ln>
        </p:spPr>
        <p:txBody>
          <a:bodyPr/>
          <a:lstStyle/>
          <a:p>
            <a:endParaRPr lang="en-US"/>
          </a:p>
        </p:txBody>
      </p:sp>
      <p:sp>
        <p:nvSpPr>
          <p:cNvPr id="451782" name="Rectangle 198"/>
          <p:cNvSpPr>
            <a:spLocks noChangeArrowheads="1"/>
          </p:cNvSpPr>
          <p:nvPr/>
        </p:nvSpPr>
        <p:spPr bwMode="auto">
          <a:xfrm>
            <a:off x="5583238" y="4538663"/>
            <a:ext cx="74612" cy="66675"/>
          </a:xfrm>
          <a:prstGeom prst="rect">
            <a:avLst/>
          </a:prstGeom>
          <a:solidFill>
            <a:schemeClr val="tx1"/>
          </a:solidFill>
          <a:ln w="0">
            <a:solidFill>
              <a:schemeClr val="tx1"/>
            </a:solidFill>
            <a:miter lim="800000"/>
            <a:headEnd/>
            <a:tailEnd/>
          </a:ln>
        </p:spPr>
        <p:txBody>
          <a:bodyPr/>
          <a:lstStyle/>
          <a:p>
            <a:endParaRPr lang="en-US"/>
          </a:p>
        </p:txBody>
      </p:sp>
      <p:sp>
        <p:nvSpPr>
          <p:cNvPr id="451783" name="Rectangle 199"/>
          <p:cNvSpPr>
            <a:spLocks noChangeArrowheads="1"/>
          </p:cNvSpPr>
          <p:nvPr/>
        </p:nvSpPr>
        <p:spPr bwMode="auto">
          <a:xfrm>
            <a:off x="5681663" y="4357688"/>
            <a:ext cx="66675" cy="66675"/>
          </a:xfrm>
          <a:prstGeom prst="rect">
            <a:avLst/>
          </a:prstGeom>
          <a:solidFill>
            <a:schemeClr val="tx1"/>
          </a:solidFill>
          <a:ln w="0">
            <a:solidFill>
              <a:schemeClr val="tx1"/>
            </a:solidFill>
            <a:miter lim="800000"/>
            <a:headEnd/>
            <a:tailEnd/>
          </a:ln>
        </p:spPr>
        <p:txBody>
          <a:bodyPr/>
          <a:lstStyle/>
          <a:p>
            <a:endParaRPr lang="en-US"/>
          </a:p>
        </p:txBody>
      </p:sp>
      <p:sp>
        <p:nvSpPr>
          <p:cNvPr id="451784" name="Rectangle 200"/>
          <p:cNvSpPr>
            <a:spLocks noChangeArrowheads="1"/>
          </p:cNvSpPr>
          <p:nvPr/>
        </p:nvSpPr>
        <p:spPr bwMode="auto">
          <a:xfrm>
            <a:off x="5805488" y="4473575"/>
            <a:ext cx="65087" cy="65088"/>
          </a:xfrm>
          <a:prstGeom prst="rect">
            <a:avLst/>
          </a:prstGeom>
          <a:solidFill>
            <a:schemeClr val="tx1"/>
          </a:solidFill>
          <a:ln w="0">
            <a:solidFill>
              <a:schemeClr val="tx1"/>
            </a:solidFill>
            <a:miter lim="800000"/>
            <a:headEnd/>
            <a:tailEnd/>
          </a:ln>
        </p:spPr>
        <p:txBody>
          <a:bodyPr/>
          <a:lstStyle/>
          <a:p>
            <a:endParaRPr lang="en-US"/>
          </a:p>
        </p:txBody>
      </p:sp>
      <p:sp>
        <p:nvSpPr>
          <p:cNvPr id="451785" name="Rectangle 201"/>
          <p:cNvSpPr>
            <a:spLocks noChangeArrowheads="1"/>
          </p:cNvSpPr>
          <p:nvPr/>
        </p:nvSpPr>
        <p:spPr bwMode="auto">
          <a:xfrm>
            <a:off x="5648325" y="4538663"/>
            <a:ext cx="66675" cy="66675"/>
          </a:xfrm>
          <a:prstGeom prst="rect">
            <a:avLst/>
          </a:prstGeom>
          <a:solidFill>
            <a:schemeClr val="tx1"/>
          </a:solidFill>
          <a:ln w="0">
            <a:solidFill>
              <a:schemeClr val="tx1"/>
            </a:solidFill>
            <a:miter lim="800000"/>
            <a:headEnd/>
            <a:tailEnd/>
          </a:ln>
        </p:spPr>
        <p:txBody>
          <a:bodyPr/>
          <a:lstStyle/>
          <a:p>
            <a:endParaRPr lang="en-US"/>
          </a:p>
        </p:txBody>
      </p:sp>
      <p:sp>
        <p:nvSpPr>
          <p:cNvPr id="451786" name="Rectangle 202"/>
          <p:cNvSpPr>
            <a:spLocks noChangeArrowheads="1"/>
          </p:cNvSpPr>
          <p:nvPr/>
        </p:nvSpPr>
        <p:spPr bwMode="auto">
          <a:xfrm>
            <a:off x="5608638" y="4564063"/>
            <a:ext cx="73025" cy="65087"/>
          </a:xfrm>
          <a:prstGeom prst="rect">
            <a:avLst/>
          </a:prstGeom>
          <a:solidFill>
            <a:schemeClr val="tx1"/>
          </a:solidFill>
          <a:ln w="0">
            <a:solidFill>
              <a:schemeClr val="tx1"/>
            </a:solidFill>
            <a:miter lim="800000"/>
            <a:headEnd/>
            <a:tailEnd/>
          </a:ln>
        </p:spPr>
        <p:txBody>
          <a:bodyPr/>
          <a:lstStyle/>
          <a:p>
            <a:endParaRPr lang="en-US"/>
          </a:p>
        </p:txBody>
      </p:sp>
      <p:sp>
        <p:nvSpPr>
          <p:cNvPr id="451787" name="Rectangle 203"/>
          <p:cNvSpPr>
            <a:spLocks noChangeArrowheads="1"/>
          </p:cNvSpPr>
          <p:nvPr/>
        </p:nvSpPr>
        <p:spPr bwMode="auto">
          <a:xfrm>
            <a:off x="5394325" y="4514850"/>
            <a:ext cx="65088" cy="65088"/>
          </a:xfrm>
          <a:prstGeom prst="rect">
            <a:avLst/>
          </a:prstGeom>
          <a:solidFill>
            <a:schemeClr val="tx1"/>
          </a:solidFill>
          <a:ln w="0">
            <a:solidFill>
              <a:schemeClr val="tx1"/>
            </a:solidFill>
            <a:miter lim="800000"/>
            <a:headEnd/>
            <a:tailEnd/>
          </a:ln>
        </p:spPr>
        <p:txBody>
          <a:bodyPr/>
          <a:lstStyle/>
          <a:p>
            <a:endParaRPr lang="en-US"/>
          </a:p>
        </p:txBody>
      </p:sp>
      <p:sp>
        <p:nvSpPr>
          <p:cNvPr id="451788" name="Rectangle 204"/>
          <p:cNvSpPr>
            <a:spLocks noChangeArrowheads="1"/>
          </p:cNvSpPr>
          <p:nvPr/>
        </p:nvSpPr>
        <p:spPr bwMode="auto">
          <a:xfrm>
            <a:off x="5418138" y="4522788"/>
            <a:ext cx="66675" cy="66675"/>
          </a:xfrm>
          <a:prstGeom prst="rect">
            <a:avLst/>
          </a:prstGeom>
          <a:solidFill>
            <a:schemeClr val="tx1"/>
          </a:solidFill>
          <a:ln w="0">
            <a:solidFill>
              <a:schemeClr val="tx1"/>
            </a:solidFill>
            <a:miter lim="800000"/>
            <a:headEnd/>
            <a:tailEnd/>
          </a:ln>
        </p:spPr>
        <p:txBody>
          <a:bodyPr/>
          <a:lstStyle/>
          <a:p>
            <a:endParaRPr lang="en-US"/>
          </a:p>
        </p:txBody>
      </p:sp>
      <p:sp>
        <p:nvSpPr>
          <p:cNvPr id="451789" name="Rectangle 205"/>
          <p:cNvSpPr>
            <a:spLocks noChangeArrowheads="1"/>
          </p:cNvSpPr>
          <p:nvPr/>
        </p:nvSpPr>
        <p:spPr bwMode="auto">
          <a:xfrm>
            <a:off x="5748338" y="4416425"/>
            <a:ext cx="65087" cy="73025"/>
          </a:xfrm>
          <a:prstGeom prst="rect">
            <a:avLst/>
          </a:prstGeom>
          <a:solidFill>
            <a:schemeClr val="tx1"/>
          </a:solidFill>
          <a:ln w="0">
            <a:solidFill>
              <a:schemeClr val="tx1"/>
            </a:solidFill>
            <a:miter lim="800000"/>
            <a:headEnd/>
            <a:tailEnd/>
          </a:ln>
        </p:spPr>
        <p:txBody>
          <a:bodyPr/>
          <a:lstStyle/>
          <a:p>
            <a:endParaRPr lang="en-US"/>
          </a:p>
        </p:txBody>
      </p:sp>
      <p:sp>
        <p:nvSpPr>
          <p:cNvPr id="451790" name="Rectangle 206"/>
          <p:cNvSpPr>
            <a:spLocks noChangeArrowheads="1"/>
          </p:cNvSpPr>
          <p:nvPr/>
        </p:nvSpPr>
        <p:spPr bwMode="auto">
          <a:xfrm>
            <a:off x="5813425" y="4424363"/>
            <a:ext cx="74613" cy="73025"/>
          </a:xfrm>
          <a:prstGeom prst="rect">
            <a:avLst/>
          </a:prstGeom>
          <a:solidFill>
            <a:schemeClr val="tx1"/>
          </a:solidFill>
          <a:ln w="0">
            <a:solidFill>
              <a:schemeClr val="tx1"/>
            </a:solidFill>
            <a:miter lim="800000"/>
            <a:headEnd/>
            <a:tailEnd/>
          </a:ln>
        </p:spPr>
        <p:txBody>
          <a:bodyPr/>
          <a:lstStyle/>
          <a:p>
            <a:endParaRPr lang="en-US"/>
          </a:p>
        </p:txBody>
      </p:sp>
      <p:sp>
        <p:nvSpPr>
          <p:cNvPr id="451791" name="Rectangle 207"/>
          <p:cNvSpPr>
            <a:spLocks noChangeArrowheads="1"/>
          </p:cNvSpPr>
          <p:nvPr/>
        </p:nvSpPr>
        <p:spPr bwMode="auto">
          <a:xfrm>
            <a:off x="5591175" y="4383088"/>
            <a:ext cx="74613" cy="74612"/>
          </a:xfrm>
          <a:prstGeom prst="rect">
            <a:avLst/>
          </a:prstGeom>
          <a:solidFill>
            <a:schemeClr val="tx1"/>
          </a:solidFill>
          <a:ln w="0">
            <a:solidFill>
              <a:schemeClr val="tx1"/>
            </a:solidFill>
            <a:miter lim="800000"/>
            <a:headEnd/>
            <a:tailEnd/>
          </a:ln>
        </p:spPr>
        <p:txBody>
          <a:bodyPr/>
          <a:lstStyle/>
          <a:p>
            <a:endParaRPr lang="en-US"/>
          </a:p>
        </p:txBody>
      </p:sp>
      <p:sp>
        <p:nvSpPr>
          <p:cNvPr id="451792" name="Rectangle 208"/>
          <p:cNvSpPr>
            <a:spLocks noChangeArrowheads="1"/>
          </p:cNvSpPr>
          <p:nvPr/>
        </p:nvSpPr>
        <p:spPr bwMode="auto">
          <a:xfrm>
            <a:off x="5526088" y="4802188"/>
            <a:ext cx="65087" cy="66675"/>
          </a:xfrm>
          <a:prstGeom prst="rect">
            <a:avLst/>
          </a:prstGeom>
          <a:solidFill>
            <a:schemeClr val="tx1"/>
          </a:solidFill>
          <a:ln w="0">
            <a:solidFill>
              <a:schemeClr val="tx1"/>
            </a:solidFill>
            <a:miter lim="800000"/>
            <a:headEnd/>
            <a:tailEnd/>
          </a:ln>
        </p:spPr>
        <p:txBody>
          <a:bodyPr/>
          <a:lstStyle/>
          <a:p>
            <a:endParaRPr lang="en-US"/>
          </a:p>
        </p:txBody>
      </p:sp>
      <p:sp>
        <p:nvSpPr>
          <p:cNvPr id="451793" name="Rectangle 209"/>
          <p:cNvSpPr>
            <a:spLocks noChangeArrowheads="1"/>
          </p:cNvSpPr>
          <p:nvPr/>
        </p:nvSpPr>
        <p:spPr bwMode="auto">
          <a:xfrm>
            <a:off x="5888038" y="4481513"/>
            <a:ext cx="65087" cy="66675"/>
          </a:xfrm>
          <a:prstGeom prst="rect">
            <a:avLst/>
          </a:prstGeom>
          <a:solidFill>
            <a:schemeClr val="tx1"/>
          </a:solidFill>
          <a:ln w="0">
            <a:solidFill>
              <a:schemeClr val="tx1"/>
            </a:solidFill>
            <a:miter lim="800000"/>
            <a:headEnd/>
            <a:tailEnd/>
          </a:ln>
        </p:spPr>
        <p:txBody>
          <a:bodyPr/>
          <a:lstStyle/>
          <a:p>
            <a:endParaRPr lang="en-US"/>
          </a:p>
        </p:txBody>
      </p:sp>
      <p:sp>
        <p:nvSpPr>
          <p:cNvPr id="451794" name="Rectangle 210"/>
          <p:cNvSpPr>
            <a:spLocks noChangeArrowheads="1"/>
          </p:cNvSpPr>
          <p:nvPr/>
        </p:nvSpPr>
        <p:spPr bwMode="auto">
          <a:xfrm>
            <a:off x="5854700" y="4383088"/>
            <a:ext cx="74613" cy="74612"/>
          </a:xfrm>
          <a:prstGeom prst="rect">
            <a:avLst/>
          </a:prstGeom>
          <a:solidFill>
            <a:schemeClr val="tx1"/>
          </a:solidFill>
          <a:ln w="0">
            <a:solidFill>
              <a:schemeClr val="tx1"/>
            </a:solidFill>
            <a:miter lim="800000"/>
            <a:headEnd/>
            <a:tailEnd/>
          </a:ln>
        </p:spPr>
        <p:txBody>
          <a:bodyPr/>
          <a:lstStyle/>
          <a:p>
            <a:endParaRPr lang="en-US"/>
          </a:p>
        </p:txBody>
      </p:sp>
      <p:sp>
        <p:nvSpPr>
          <p:cNvPr id="451795" name="Rectangle 211"/>
          <p:cNvSpPr>
            <a:spLocks noChangeArrowheads="1"/>
          </p:cNvSpPr>
          <p:nvPr/>
        </p:nvSpPr>
        <p:spPr bwMode="auto">
          <a:xfrm>
            <a:off x="5360988" y="4341813"/>
            <a:ext cx="74612" cy="65087"/>
          </a:xfrm>
          <a:prstGeom prst="rect">
            <a:avLst/>
          </a:prstGeom>
          <a:solidFill>
            <a:schemeClr val="tx1"/>
          </a:solidFill>
          <a:ln w="0">
            <a:solidFill>
              <a:schemeClr val="tx1"/>
            </a:solidFill>
            <a:miter lim="800000"/>
            <a:headEnd/>
            <a:tailEnd/>
          </a:ln>
        </p:spPr>
        <p:txBody>
          <a:bodyPr/>
          <a:lstStyle/>
          <a:p>
            <a:endParaRPr lang="en-US"/>
          </a:p>
        </p:txBody>
      </p:sp>
      <p:sp>
        <p:nvSpPr>
          <p:cNvPr id="451796" name="Rectangle 212"/>
          <p:cNvSpPr>
            <a:spLocks noChangeArrowheads="1"/>
          </p:cNvSpPr>
          <p:nvPr/>
        </p:nvSpPr>
        <p:spPr bwMode="auto">
          <a:xfrm>
            <a:off x="5508625" y="4457700"/>
            <a:ext cx="66675" cy="65088"/>
          </a:xfrm>
          <a:prstGeom prst="rect">
            <a:avLst/>
          </a:prstGeom>
          <a:solidFill>
            <a:schemeClr val="tx1"/>
          </a:solidFill>
          <a:ln w="0">
            <a:solidFill>
              <a:schemeClr val="tx1"/>
            </a:solidFill>
            <a:miter lim="800000"/>
            <a:headEnd/>
            <a:tailEnd/>
          </a:ln>
        </p:spPr>
        <p:txBody>
          <a:bodyPr/>
          <a:lstStyle/>
          <a:p>
            <a:endParaRPr lang="en-US"/>
          </a:p>
        </p:txBody>
      </p:sp>
      <p:sp>
        <p:nvSpPr>
          <p:cNvPr id="451797" name="Rectangle 213"/>
          <p:cNvSpPr>
            <a:spLocks noChangeArrowheads="1"/>
          </p:cNvSpPr>
          <p:nvPr/>
        </p:nvSpPr>
        <p:spPr bwMode="auto">
          <a:xfrm>
            <a:off x="5748338" y="4605338"/>
            <a:ext cx="65087" cy="65087"/>
          </a:xfrm>
          <a:prstGeom prst="rect">
            <a:avLst/>
          </a:prstGeom>
          <a:solidFill>
            <a:schemeClr val="tx1"/>
          </a:solidFill>
          <a:ln w="0">
            <a:solidFill>
              <a:schemeClr val="tx1"/>
            </a:solidFill>
            <a:miter lim="800000"/>
            <a:headEnd/>
            <a:tailEnd/>
          </a:ln>
        </p:spPr>
        <p:txBody>
          <a:bodyPr/>
          <a:lstStyle/>
          <a:p>
            <a:endParaRPr lang="en-US"/>
          </a:p>
        </p:txBody>
      </p:sp>
      <p:sp>
        <p:nvSpPr>
          <p:cNvPr id="451798" name="Rectangle 214"/>
          <p:cNvSpPr>
            <a:spLocks noChangeArrowheads="1"/>
          </p:cNvSpPr>
          <p:nvPr/>
        </p:nvSpPr>
        <p:spPr bwMode="auto">
          <a:xfrm>
            <a:off x="5640388" y="4391025"/>
            <a:ext cx="66675" cy="74613"/>
          </a:xfrm>
          <a:prstGeom prst="rect">
            <a:avLst/>
          </a:prstGeom>
          <a:solidFill>
            <a:schemeClr val="tx1"/>
          </a:solidFill>
          <a:ln w="0">
            <a:solidFill>
              <a:schemeClr val="tx1"/>
            </a:solidFill>
            <a:miter lim="800000"/>
            <a:headEnd/>
            <a:tailEnd/>
          </a:ln>
        </p:spPr>
        <p:txBody>
          <a:bodyPr/>
          <a:lstStyle/>
          <a:p>
            <a:endParaRPr lang="en-US"/>
          </a:p>
        </p:txBody>
      </p:sp>
      <p:sp>
        <p:nvSpPr>
          <p:cNvPr id="451799" name="Rectangle 215"/>
          <p:cNvSpPr>
            <a:spLocks noChangeArrowheads="1"/>
          </p:cNvSpPr>
          <p:nvPr/>
        </p:nvSpPr>
        <p:spPr bwMode="auto">
          <a:xfrm>
            <a:off x="5681663" y="4876800"/>
            <a:ext cx="66675" cy="74613"/>
          </a:xfrm>
          <a:prstGeom prst="rect">
            <a:avLst/>
          </a:prstGeom>
          <a:solidFill>
            <a:schemeClr val="tx1"/>
          </a:solidFill>
          <a:ln w="0">
            <a:solidFill>
              <a:schemeClr val="tx1"/>
            </a:solidFill>
            <a:miter lim="800000"/>
            <a:headEnd/>
            <a:tailEnd/>
          </a:ln>
        </p:spPr>
        <p:txBody>
          <a:bodyPr/>
          <a:lstStyle/>
          <a:p>
            <a:endParaRPr lang="en-US"/>
          </a:p>
        </p:txBody>
      </p:sp>
      <p:sp>
        <p:nvSpPr>
          <p:cNvPr id="451800" name="Rectangle 216"/>
          <p:cNvSpPr>
            <a:spLocks noChangeArrowheads="1"/>
          </p:cNvSpPr>
          <p:nvPr/>
        </p:nvSpPr>
        <p:spPr bwMode="auto">
          <a:xfrm>
            <a:off x="5534025" y="4802188"/>
            <a:ext cx="65088" cy="66675"/>
          </a:xfrm>
          <a:prstGeom prst="rect">
            <a:avLst/>
          </a:prstGeom>
          <a:solidFill>
            <a:schemeClr val="tx1"/>
          </a:solidFill>
          <a:ln w="0">
            <a:solidFill>
              <a:schemeClr val="tx1"/>
            </a:solidFill>
            <a:miter lim="800000"/>
            <a:headEnd/>
            <a:tailEnd/>
          </a:ln>
        </p:spPr>
        <p:txBody>
          <a:bodyPr/>
          <a:lstStyle/>
          <a:p>
            <a:endParaRPr lang="en-US"/>
          </a:p>
        </p:txBody>
      </p:sp>
      <p:sp>
        <p:nvSpPr>
          <p:cNvPr id="451801" name="Rectangle 217"/>
          <p:cNvSpPr>
            <a:spLocks noChangeArrowheads="1"/>
          </p:cNvSpPr>
          <p:nvPr/>
        </p:nvSpPr>
        <p:spPr bwMode="auto">
          <a:xfrm>
            <a:off x="4595813" y="5238750"/>
            <a:ext cx="101600" cy="244475"/>
          </a:xfrm>
          <a:prstGeom prst="rect">
            <a:avLst/>
          </a:prstGeom>
          <a:noFill/>
          <a:ln w="9525">
            <a:noFill/>
            <a:miter lim="800000"/>
            <a:headEnd/>
            <a:tailEnd/>
          </a:ln>
        </p:spPr>
        <p:txBody>
          <a:bodyPr wrap="none" lIns="0" tIns="0" rIns="0" bIns="0">
            <a:spAutoFit/>
          </a:bodyPr>
          <a:lstStyle/>
          <a:p>
            <a:pPr algn="l" eaLnBrk="0" hangingPunct="0"/>
            <a:r>
              <a:rPr lang="en-US" sz="1600" b="0">
                <a:solidFill>
                  <a:srgbClr val="000000"/>
                </a:solidFill>
                <a:latin typeface="Helvetica" pitchFamily="34" charset="0"/>
              </a:rPr>
              <a:t>x</a:t>
            </a:r>
            <a:endParaRPr lang="en-US" sz="1400"/>
          </a:p>
        </p:txBody>
      </p:sp>
      <p:sp>
        <p:nvSpPr>
          <p:cNvPr id="451802" name="Rectangle 218"/>
          <p:cNvSpPr>
            <a:spLocks noChangeArrowheads="1"/>
          </p:cNvSpPr>
          <p:nvPr/>
        </p:nvSpPr>
        <p:spPr bwMode="auto">
          <a:xfrm rot="16200000">
            <a:off x="2135188" y="3228975"/>
            <a:ext cx="101600" cy="244475"/>
          </a:xfrm>
          <a:prstGeom prst="rect">
            <a:avLst/>
          </a:prstGeom>
          <a:noFill/>
          <a:ln w="9525">
            <a:noFill/>
            <a:miter lim="800000"/>
            <a:headEnd/>
            <a:tailEnd/>
          </a:ln>
        </p:spPr>
        <p:txBody>
          <a:bodyPr wrap="none" lIns="0" tIns="0" rIns="0" bIns="0">
            <a:spAutoFit/>
          </a:bodyPr>
          <a:lstStyle/>
          <a:p>
            <a:pPr algn="l" eaLnBrk="0" hangingPunct="0"/>
            <a:r>
              <a:rPr lang="en-US" sz="1600" b="0">
                <a:solidFill>
                  <a:srgbClr val="000000"/>
                </a:solidFill>
                <a:latin typeface="Helvetica" pitchFamily="34" charset="0"/>
              </a:rPr>
              <a:t>y</a:t>
            </a:r>
            <a:endParaRPr lang="en-US" sz="1400"/>
          </a:p>
        </p:txBody>
      </p:sp>
      <p:sp>
        <p:nvSpPr>
          <p:cNvPr id="451803" name="Line 219"/>
          <p:cNvSpPr>
            <a:spLocks noChangeShapeType="1"/>
          </p:cNvSpPr>
          <p:nvPr/>
        </p:nvSpPr>
        <p:spPr bwMode="auto">
          <a:xfrm>
            <a:off x="4784725" y="2579688"/>
            <a:ext cx="379413" cy="1587"/>
          </a:xfrm>
          <a:prstGeom prst="line">
            <a:avLst/>
          </a:prstGeom>
          <a:noFill/>
          <a:ln w="57150">
            <a:solidFill>
              <a:srgbClr val="000080"/>
            </a:solidFill>
            <a:round/>
            <a:headEnd/>
            <a:tailEnd/>
          </a:ln>
        </p:spPr>
        <p:txBody>
          <a:bodyPr/>
          <a:lstStyle/>
          <a:p>
            <a:endParaRPr lang="en-US"/>
          </a:p>
        </p:txBody>
      </p:sp>
      <p:sp>
        <p:nvSpPr>
          <p:cNvPr id="451804" name="Line 220"/>
          <p:cNvSpPr>
            <a:spLocks noChangeShapeType="1"/>
          </p:cNvSpPr>
          <p:nvPr/>
        </p:nvSpPr>
        <p:spPr bwMode="auto">
          <a:xfrm>
            <a:off x="4973638" y="2390775"/>
            <a:ext cx="1587" cy="379413"/>
          </a:xfrm>
          <a:prstGeom prst="line">
            <a:avLst/>
          </a:prstGeom>
          <a:noFill/>
          <a:ln w="57150">
            <a:solidFill>
              <a:srgbClr val="000080"/>
            </a:solidFill>
            <a:round/>
            <a:headEnd/>
            <a:tailEnd/>
          </a:ln>
        </p:spPr>
        <p:txBody>
          <a:bodyPr/>
          <a:lstStyle/>
          <a:p>
            <a:endParaRPr lang="en-US"/>
          </a:p>
        </p:txBody>
      </p:sp>
      <p:sp>
        <p:nvSpPr>
          <p:cNvPr id="451805" name="Line 221"/>
          <p:cNvSpPr>
            <a:spLocks noChangeShapeType="1"/>
          </p:cNvSpPr>
          <p:nvPr/>
        </p:nvSpPr>
        <p:spPr bwMode="auto">
          <a:xfrm>
            <a:off x="4117975" y="2852738"/>
            <a:ext cx="379413" cy="1587"/>
          </a:xfrm>
          <a:prstGeom prst="line">
            <a:avLst/>
          </a:prstGeom>
          <a:noFill/>
          <a:ln w="57150">
            <a:solidFill>
              <a:schemeClr val="hlink"/>
            </a:solidFill>
            <a:round/>
            <a:headEnd/>
            <a:tailEnd/>
          </a:ln>
        </p:spPr>
        <p:txBody>
          <a:bodyPr/>
          <a:lstStyle/>
          <a:p>
            <a:endParaRPr lang="en-US"/>
          </a:p>
        </p:txBody>
      </p:sp>
      <p:sp>
        <p:nvSpPr>
          <p:cNvPr id="451806" name="Line 222"/>
          <p:cNvSpPr>
            <a:spLocks noChangeShapeType="1"/>
          </p:cNvSpPr>
          <p:nvPr/>
        </p:nvSpPr>
        <p:spPr bwMode="auto">
          <a:xfrm>
            <a:off x="4308475" y="2662238"/>
            <a:ext cx="1588" cy="379412"/>
          </a:xfrm>
          <a:prstGeom prst="line">
            <a:avLst/>
          </a:prstGeom>
          <a:noFill/>
          <a:ln w="57150">
            <a:solidFill>
              <a:schemeClr val="hlink"/>
            </a:solidFill>
            <a:round/>
            <a:headEnd/>
            <a:tailEnd/>
          </a:ln>
        </p:spPr>
        <p:txBody>
          <a:bodyPr/>
          <a:lstStyle/>
          <a:p>
            <a:endParaRPr lang="en-US"/>
          </a:p>
        </p:txBody>
      </p:sp>
      <p:sp>
        <p:nvSpPr>
          <p:cNvPr id="451807" name="Line 223"/>
          <p:cNvSpPr>
            <a:spLocks noChangeShapeType="1"/>
          </p:cNvSpPr>
          <p:nvPr/>
        </p:nvSpPr>
        <p:spPr bwMode="auto">
          <a:xfrm>
            <a:off x="4448175" y="1930400"/>
            <a:ext cx="369888" cy="1588"/>
          </a:xfrm>
          <a:prstGeom prst="line">
            <a:avLst/>
          </a:prstGeom>
          <a:noFill/>
          <a:ln w="57150">
            <a:solidFill>
              <a:srgbClr val="800000"/>
            </a:solidFill>
            <a:round/>
            <a:headEnd/>
            <a:tailEnd/>
          </a:ln>
        </p:spPr>
        <p:txBody>
          <a:bodyPr/>
          <a:lstStyle/>
          <a:p>
            <a:endParaRPr lang="en-US"/>
          </a:p>
        </p:txBody>
      </p:sp>
      <p:sp>
        <p:nvSpPr>
          <p:cNvPr id="451808" name="Line 224"/>
          <p:cNvSpPr>
            <a:spLocks noChangeShapeType="1"/>
          </p:cNvSpPr>
          <p:nvPr/>
        </p:nvSpPr>
        <p:spPr bwMode="auto">
          <a:xfrm flipH="1">
            <a:off x="4630738" y="1752600"/>
            <a:ext cx="17462" cy="366713"/>
          </a:xfrm>
          <a:prstGeom prst="line">
            <a:avLst/>
          </a:prstGeom>
          <a:noFill/>
          <a:ln w="57150">
            <a:solidFill>
              <a:srgbClr val="800000"/>
            </a:solidFill>
            <a:round/>
            <a:headEnd/>
            <a:tailEnd/>
          </a:ln>
        </p:spPr>
        <p:txBody>
          <a:bodyPr/>
          <a:lstStyle/>
          <a:p>
            <a:endParaRPr lang="en-US"/>
          </a:p>
        </p:txBody>
      </p:sp>
      <p:sp>
        <p:nvSpPr>
          <p:cNvPr id="451809" name="Rectangle 225"/>
          <p:cNvSpPr>
            <a:spLocks noChangeArrowheads="1"/>
          </p:cNvSpPr>
          <p:nvPr/>
        </p:nvSpPr>
        <p:spPr bwMode="auto">
          <a:xfrm>
            <a:off x="4184650" y="1346200"/>
            <a:ext cx="1016000" cy="274638"/>
          </a:xfrm>
          <a:prstGeom prst="rect">
            <a:avLst/>
          </a:prstGeom>
          <a:noFill/>
          <a:ln w="9525">
            <a:noFill/>
            <a:miter lim="800000"/>
            <a:headEnd/>
            <a:tailEnd/>
          </a:ln>
        </p:spPr>
        <p:txBody>
          <a:bodyPr wrap="none" lIns="0" tIns="0" rIns="0" bIns="0">
            <a:spAutoFit/>
          </a:bodyPr>
          <a:lstStyle/>
          <a:p>
            <a:pPr algn="l" eaLnBrk="0" hangingPunct="0"/>
            <a:r>
              <a:rPr lang="en-US" sz="1800" b="0">
                <a:solidFill>
                  <a:srgbClr val="000000"/>
                </a:solidFill>
                <a:latin typeface="Helvetica" pitchFamily="34" charset="0"/>
              </a:rPr>
              <a:t>Iteration 0</a:t>
            </a:r>
            <a:endParaRPr lang="en-US" sz="14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EB5D5E32-0F3B-4763-917A-EB49D3F145CC}" type="slidenum">
              <a:rPr lang="en-US"/>
              <a:pPr/>
              <a:t>13</a:t>
            </a:fld>
            <a:endParaRPr lang="en-US"/>
          </a:p>
        </p:txBody>
      </p:sp>
      <p:sp>
        <p:nvSpPr>
          <p:cNvPr id="452610" name="Rectangle 2"/>
          <p:cNvSpPr>
            <a:spLocks noGrp="1" noChangeArrowheads="1"/>
          </p:cNvSpPr>
          <p:nvPr>
            <p:ph type="title"/>
          </p:nvPr>
        </p:nvSpPr>
        <p:spPr>
          <a:xfrm>
            <a:off x="381000" y="152400"/>
            <a:ext cx="8280400" cy="552450"/>
          </a:xfrm>
        </p:spPr>
        <p:txBody>
          <a:bodyPr/>
          <a:lstStyle/>
          <a:p>
            <a:r>
              <a:rPr lang="en-US"/>
              <a:t>Clustering Example</a:t>
            </a:r>
          </a:p>
        </p:txBody>
      </p:sp>
      <p:sp>
        <p:nvSpPr>
          <p:cNvPr id="452611" name="Text Box 3"/>
          <p:cNvSpPr txBox="1">
            <a:spLocks noChangeArrowheads="1"/>
          </p:cNvSpPr>
          <p:nvPr/>
        </p:nvSpPr>
        <p:spPr bwMode="auto">
          <a:xfrm>
            <a:off x="609600" y="4419600"/>
            <a:ext cx="8001000" cy="304800"/>
          </a:xfrm>
          <a:prstGeom prst="rect">
            <a:avLst/>
          </a:prstGeom>
          <a:noFill/>
          <a:ln w="12700">
            <a:noFill/>
            <a:miter lim="800000"/>
            <a:headEnd/>
            <a:tailEnd/>
          </a:ln>
          <a:effectLst/>
        </p:spPr>
        <p:txBody>
          <a:bodyPr>
            <a:spAutoFit/>
          </a:bodyPr>
          <a:lstStyle/>
          <a:p>
            <a:pPr algn="l" eaLnBrk="0" hangingPunct="0">
              <a:spcBef>
                <a:spcPct val="50000"/>
              </a:spcBef>
            </a:pPr>
            <a:endParaRPr lang="en-US" sz="1400"/>
          </a:p>
        </p:txBody>
      </p:sp>
      <p:pic>
        <p:nvPicPr>
          <p:cNvPr id="452612" name="Picture 4"/>
          <p:cNvPicPr>
            <a:picLocks noChangeAspect="1" noChangeArrowheads="1"/>
          </p:cNvPicPr>
          <p:nvPr/>
        </p:nvPicPr>
        <p:blipFill>
          <a:blip r:embed="rId2"/>
          <a:srcRect/>
          <a:stretch>
            <a:fillRect/>
          </a:stretch>
        </p:blipFill>
        <p:spPr bwMode="auto">
          <a:xfrm>
            <a:off x="1806575" y="1354138"/>
            <a:ext cx="5529263" cy="4148137"/>
          </a:xfrm>
          <a:prstGeom prst="rect">
            <a:avLst/>
          </a:prstGeom>
          <a:noFill/>
          <a:ln w="12700">
            <a:noFill/>
            <a:miter lim="800000"/>
            <a:headEnd/>
            <a:tailEnd/>
          </a:ln>
          <a:effectLst/>
        </p:spPr>
      </p:pic>
      <p:pic>
        <p:nvPicPr>
          <p:cNvPr id="452613" name="Picture 5"/>
          <p:cNvPicPr>
            <a:picLocks noChangeAspect="1" noChangeArrowheads="1"/>
          </p:cNvPicPr>
          <p:nvPr/>
        </p:nvPicPr>
        <p:blipFill>
          <a:blip r:embed="rId3"/>
          <a:srcRect/>
          <a:stretch>
            <a:fillRect/>
          </a:stretch>
        </p:blipFill>
        <p:spPr bwMode="auto">
          <a:xfrm>
            <a:off x="1806575" y="1354138"/>
            <a:ext cx="5529263" cy="4148137"/>
          </a:xfrm>
          <a:prstGeom prst="rect">
            <a:avLst/>
          </a:prstGeom>
          <a:noFill/>
          <a:ln w="12700">
            <a:noFill/>
            <a:miter lim="800000"/>
            <a:headEnd/>
            <a:tailEnd/>
          </a:ln>
          <a:effectLst/>
        </p:spPr>
      </p:pic>
      <p:pic>
        <p:nvPicPr>
          <p:cNvPr id="452614" name="Picture 6"/>
          <p:cNvPicPr>
            <a:picLocks noChangeAspect="1" noChangeArrowheads="1"/>
          </p:cNvPicPr>
          <p:nvPr/>
        </p:nvPicPr>
        <p:blipFill>
          <a:blip r:embed="rId4"/>
          <a:srcRect/>
          <a:stretch>
            <a:fillRect/>
          </a:stretch>
        </p:blipFill>
        <p:spPr bwMode="auto">
          <a:xfrm>
            <a:off x="1806575" y="1354138"/>
            <a:ext cx="5529263" cy="4148137"/>
          </a:xfrm>
          <a:prstGeom prst="rect">
            <a:avLst/>
          </a:prstGeom>
          <a:noFill/>
          <a:ln w="12700">
            <a:noFill/>
            <a:miter lim="800000"/>
            <a:headEnd/>
            <a:tailEnd/>
          </a:ln>
          <a:effectLst/>
        </p:spPr>
      </p:pic>
      <p:pic>
        <p:nvPicPr>
          <p:cNvPr id="452615" name="Picture 7"/>
          <p:cNvPicPr>
            <a:picLocks noChangeAspect="1" noChangeArrowheads="1"/>
          </p:cNvPicPr>
          <p:nvPr/>
        </p:nvPicPr>
        <p:blipFill>
          <a:blip r:embed="rId5"/>
          <a:srcRect/>
          <a:stretch>
            <a:fillRect/>
          </a:stretch>
        </p:blipFill>
        <p:spPr bwMode="auto">
          <a:xfrm>
            <a:off x="1806575" y="1354138"/>
            <a:ext cx="5529263" cy="4148137"/>
          </a:xfrm>
          <a:prstGeom prst="rect">
            <a:avLst/>
          </a:prstGeom>
          <a:noFill/>
          <a:ln w="12700">
            <a:noFill/>
            <a:miter lim="800000"/>
            <a:headEnd/>
            <a:tailEnd/>
          </a:ln>
          <a:effectLst/>
        </p:spPr>
      </p:pic>
      <p:pic>
        <p:nvPicPr>
          <p:cNvPr id="452616" name="Picture 8"/>
          <p:cNvPicPr>
            <a:picLocks noChangeAspect="1" noChangeArrowheads="1"/>
          </p:cNvPicPr>
          <p:nvPr/>
        </p:nvPicPr>
        <p:blipFill>
          <a:blip r:embed="rId6"/>
          <a:srcRect/>
          <a:stretch>
            <a:fillRect/>
          </a:stretch>
        </p:blipFill>
        <p:spPr bwMode="auto">
          <a:xfrm>
            <a:off x="1806575" y="1354138"/>
            <a:ext cx="5529263" cy="4148137"/>
          </a:xfrm>
          <a:prstGeom prst="rect">
            <a:avLst/>
          </a:prstGeom>
          <a:noFill/>
          <a:ln w="12700">
            <a:noFill/>
            <a:miter lim="800000"/>
            <a:headEnd/>
            <a:tailEnd/>
          </a:ln>
          <a:effectLst/>
        </p:spPr>
      </p:pic>
      <p:pic>
        <p:nvPicPr>
          <p:cNvPr id="452617" name="Picture 9"/>
          <p:cNvPicPr>
            <a:picLocks noChangeAspect="1" noChangeArrowheads="1"/>
          </p:cNvPicPr>
          <p:nvPr/>
        </p:nvPicPr>
        <p:blipFill>
          <a:blip r:embed="rId7"/>
          <a:srcRect/>
          <a:stretch>
            <a:fillRect/>
          </a:stretch>
        </p:blipFill>
        <p:spPr bwMode="auto">
          <a:xfrm>
            <a:off x="1806575" y="1354138"/>
            <a:ext cx="5529263" cy="4148137"/>
          </a:xfrm>
          <a:prstGeom prst="rect">
            <a:avLst/>
          </a:prstGeom>
          <a:noFill/>
          <a:ln w="12700">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526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526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526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526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4526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A655DB30-7326-4D3D-9797-542A128977E5}" type="slidenum">
              <a:rPr lang="en-US"/>
              <a:pPr/>
              <a:t>14</a:t>
            </a:fld>
            <a:endParaRPr lang="en-US"/>
          </a:p>
        </p:txBody>
      </p:sp>
      <p:sp>
        <p:nvSpPr>
          <p:cNvPr id="453634" name="Rectangle 2"/>
          <p:cNvSpPr>
            <a:spLocks noGrp="1" noChangeArrowheads="1"/>
          </p:cNvSpPr>
          <p:nvPr>
            <p:ph type="title"/>
          </p:nvPr>
        </p:nvSpPr>
        <p:spPr>
          <a:xfrm>
            <a:off x="381000" y="152400"/>
            <a:ext cx="8280400" cy="552450"/>
          </a:xfrm>
        </p:spPr>
        <p:txBody>
          <a:bodyPr/>
          <a:lstStyle/>
          <a:p>
            <a:r>
              <a:rPr lang="en-US" sz="2800"/>
              <a:t>K-means Clustering – Details</a:t>
            </a:r>
          </a:p>
        </p:txBody>
      </p:sp>
      <p:sp>
        <p:nvSpPr>
          <p:cNvPr id="453635" name="Rectangle 3"/>
          <p:cNvSpPr>
            <a:spLocks noGrp="1" noChangeArrowheads="1"/>
          </p:cNvSpPr>
          <p:nvPr>
            <p:ph type="body" idx="1"/>
          </p:nvPr>
        </p:nvSpPr>
        <p:spPr>
          <a:xfrm>
            <a:off x="304800" y="990600"/>
            <a:ext cx="7929563" cy="990600"/>
          </a:xfrm>
        </p:spPr>
        <p:txBody>
          <a:bodyPr/>
          <a:lstStyle/>
          <a:p>
            <a:pPr marL="533400" indent="-533400">
              <a:lnSpc>
                <a:spcPct val="90000"/>
              </a:lnSpc>
            </a:pPr>
            <a:r>
              <a:rPr lang="en-US" sz="2200"/>
              <a:t>Initial centroids are often chosen randomly.</a:t>
            </a:r>
          </a:p>
          <a:p>
            <a:pPr marL="990600" lvl="1" indent="-533400">
              <a:lnSpc>
                <a:spcPct val="90000"/>
              </a:lnSpc>
            </a:pPr>
            <a:r>
              <a:rPr lang="en-US" sz="1800"/>
              <a:t>Clusters produced vary from one run to another.</a:t>
            </a:r>
          </a:p>
          <a:p>
            <a:pPr marL="533400" indent="-533400">
              <a:lnSpc>
                <a:spcPct val="90000"/>
              </a:lnSpc>
            </a:pPr>
            <a:r>
              <a:rPr lang="en-US" sz="2200"/>
              <a:t>The centroid is (typically) the mean of the points in the cluster.</a:t>
            </a:r>
          </a:p>
          <a:p>
            <a:pPr marL="533400" indent="-533400">
              <a:lnSpc>
                <a:spcPct val="90000"/>
              </a:lnSpc>
            </a:pPr>
            <a:r>
              <a:rPr lang="en-US" sz="2200"/>
              <a:t>‘Closeness’ is measured by Euclidean distance, cosine similarity, correlation, etc.</a:t>
            </a:r>
          </a:p>
          <a:p>
            <a:pPr marL="533400" indent="-533400">
              <a:lnSpc>
                <a:spcPct val="90000"/>
              </a:lnSpc>
            </a:pPr>
            <a:r>
              <a:rPr lang="en-US" sz="2200"/>
              <a:t>K-means will converge for common similarity measures mentioned above.</a:t>
            </a:r>
          </a:p>
          <a:p>
            <a:pPr marL="533400" indent="-533400">
              <a:lnSpc>
                <a:spcPct val="90000"/>
              </a:lnSpc>
            </a:pPr>
            <a:r>
              <a:rPr lang="en-US" sz="2200"/>
              <a:t>Most of the convergence happens in the first few iterations.</a:t>
            </a:r>
          </a:p>
          <a:p>
            <a:pPr marL="990600" lvl="1" indent="-533400">
              <a:lnSpc>
                <a:spcPct val="90000"/>
              </a:lnSpc>
            </a:pPr>
            <a:r>
              <a:rPr lang="en-US" sz="1800"/>
              <a:t>Often the stopping condition is changed to ‘Until relatively few points change clusters’</a:t>
            </a:r>
          </a:p>
          <a:p>
            <a:pPr marL="533400" indent="-533400">
              <a:lnSpc>
                <a:spcPct val="90000"/>
              </a:lnSpc>
            </a:pPr>
            <a:r>
              <a:rPr lang="en-US" sz="2200"/>
              <a:t>Complexity is O( n * K * I * d )</a:t>
            </a:r>
          </a:p>
          <a:p>
            <a:pPr marL="990600" lvl="1" indent="-533400">
              <a:lnSpc>
                <a:spcPct val="90000"/>
              </a:lnSpc>
            </a:pPr>
            <a:r>
              <a:rPr lang="en-US" sz="1800"/>
              <a:t>n = number of points, K = number of clusters, </a:t>
            </a:r>
            <a:br>
              <a:rPr lang="en-US" sz="1800"/>
            </a:br>
            <a:r>
              <a:rPr lang="en-US" sz="1800"/>
              <a:t>I = number of iterations, d = number of attributes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122238"/>
            <a:ext cx="8686800" cy="1477962"/>
          </a:xfrm>
        </p:spPr>
        <p:txBody>
          <a:bodyPr/>
          <a:lstStyle/>
          <a:p>
            <a:pPr eaLnBrk="1" hangingPunct="1"/>
            <a:r>
              <a:rPr lang="en-US" sz="3500" u="sng" dirty="0" smtClean="0"/>
              <a:t/>
            </a:r>
            <a:br>
              <a:rPr lang="en-US" sz="3500" u="sng" dirty="0" smtClean="0"/>
            </a:br>
            <a:r>
              <a:rPr lang="en-US" sz="3500" u="sng" dirty="0" smtClean="0"/>
              <a:t>A Simple example showing the implementation of k-means algorithm </a:t>
            </a:r>
            <a:r>
              <a:rPr lang="en-US" sz="3500" dirty="0" smtClean="0"/>
              <a:t/>
            </a:r>
            <a:br>
              <a:rPr lang="en-US" sz="3500" dirty="0" smtClean="0"/>
            </a:br>
            <a:r>
              <a:rPr lang="en-US" sz="3500" dirty="0" smtClean="0"/>
              <a:t>(using K=2)</a:t>
            </a:r>
          </a:p>
        </p:txBody>
      </p:sp>
      <p:sp>
        <p:nvSpPr>
          <p:cNvPr id="15363" name="Rectangle 4"/>
          <p:cNvSpPr>
            <a:spLocks noGrp="1" noChangeArrowheads="1"/>
          </p:cNvSpPr>
          <p:nvPr>
            <p:ph idx="1"/>
          </p:nvPr>
        </p:nvSpPr>
        <p:spPr/>
        <p:txBody>
          <a:bodyPr/>
          <a:lstStyle/>
          <a:p>
            <a:pPr eaLnBrk="1" hangingPunct="1"/>
            <a:endParaRPr lang="en-US" smtClean="0"/>
          </a:p>
        </p:txBody>
      </p:sp>
      <p:sp>
        <p:nvSpPr>
          <p:cNvPr id="15364"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SG"/>
          </a:p>
        </p:txBody>
      </p:sp>
      <p:pic>
        <p:nvPicPr>
          <p:cNvPr id="15365" name="Picture 5"/>
          <p:cNvPicPr>
            <a:picLocks noChangeAspect="1" noChangeArrowheads="1"/>
          </p:cNvPicPr>
          <p:nvPr/>
        </p:nvPicPr>
        <p:blipFill>
          <a:blip r:embed="rId3"/>
          <a:srcRect/>
          <a:stretch>
            <a:fillRect/>
          </a:stretch>
        </p:blipFill>
        <p:spPr bwMode="auto">
          <a:xfrm>
            <a:off x="457200" y="1981200"/>
            <a:ext cx="8229600" cy="434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p:cNvSpPr>
            <a:spLocks noChangeArrowheads="1"/>
          </p:cNvSpPr>
          <p:nvPr/>
        </p:nvSpPr>
        <p:spPr bwMode="auto">
          <a:xfrm>
            <a:off x="0" y="168275"/>
            <a:ext cx="8077200" cy="1917700"/>
          </a:xfrm>
          <a:prstGeom prst="rect">
            <a:avLst/>
          </a:prstGeom>
          <a:noFill/>
          <a:ln w="9525">
            <a:noFill/>
            <a:miter lim="800000"/>
            <a:headEnd/>
            <a:tailEnd/>
          </a:ln>
        </p:spPr>
        <p:txBody>
          <a:bodyPr anchor="ctr">
            <a:spAutoFit/>
          </a:bodyPr>
          <a:lstStyle/>
          <a:p>
            <a:r>
              <a:rPr lang="en-US" sz="2400" b="1" u="sng" dirty="0"/>
              <a:t>Step 1</a:t>
            </a:r>
            <a:r>
              <a:rPr lang="en-US" sz="2400" u="sng" dirty="0"/>
              <a:t>:</a:t>
            </a:r>
            <a:endParaRPr lang="en-US" sz="2400" dirty="0"/>
          </a:p>
          <a:p>
            <a:r>
              <a:rPr lang="en-US" sz="2400" u="sng" dirty="0"/>
              <a:t>Initialization</a:t>
            </a:r>
            <a:r>
              <a:rPr lang="en-US" sz="2400" dirty="0"/>
              <a:t>: Randomly we choose following two </a:t>
            </a:r>
            <a:r>
              <a:rPr lang="en-US" sz="2400" dirty="0" err="1"/>
              <a:t>centroids</a:t>
            </a:r>
            <a:r>
              <a:rPr lang="en-US" sz="2400" dirty="0"/>
              <a:t> (k=2) for two clusters.</a:t>
            </a:r>
          </a:p>
          <a:p>
            <a:r>
              <a:rPr lang="en-US" sz="2400" dirty="0"/>
              <a:t>In this case the 2 </a:t>
            </a:r>
            <a:r>
              <a:rPr lang="en-US" sz="2400" dirty="0" err="1"/>
              <a:t>centroid</a:t>
            </a:r>
            <a:r>
              <a:rPr lang="en-US" sz="2400" dirty="0"/>
              <a:t> are: m1=(1.0,1.0) and m2=(5.0,7.0).</a:t>
            </a:r>
          </a:p>
        </p:txBody>
      </p:sp>
      <p:pic>
        <p:nvPicPr>
          <p:cNvPr id="16387" name="Picture 7"/>
          <p:cNvPicPr>
            <a:picLocks noChangeAspect="1" noChangeArrowheads="1"/>
          </p:cNvPicPr>
          <p:nvPr/>
        </p:nvPicPr>
        <p:blipFill>
          <a:blip r:embed="rId2"/>
          <a:srcRect/>
          <a:stretch>
            <a:fillRect/>
          </a:stretch>
        </p:blipFill>
        <p:spPr bwMode="auto">
          <a:xfrm>
            <a:off x="1219200" y="2057400"/>
            <a:ext cx="5715000" cy="2971800"/>
          </a:xfrm>
          <a:prstGeom prst="rect">
            <a:avLst/>
          </a:prstGeom>
          <a:noFill/>
          <a:ln w="9525">
            <a:noFill/>
            <a:miter lim="800000"/>
            <a:headEnd/>
            <a:tailEnd/>
          </a:ln>
        </p:spPr>
      </p:pic>
      <p:pic>
        <p:nvPicPr>
          <p:cNvPr id="16388" name="Picture 8"/>
          <p:cNvPicPr>
            <a:picLocks noChangeAspect="1" noChangeArrowheads="1"/>
          </p:cNvPicPr>
          <p:nvPr/>
        </p:nvPicPr>
        <p:blipFill>
          <a:blip r:embed="rId3"/>
          <a:srcRect/>
          <a:stretch>
            <a:fillRect/>
          </a:stretch>
        </p:blipFill>
        <p:spPr bwMode="auto">
          <a:xfrm>
            <a:off x="1143000" y="5029200"/>
            <a:ext cx="5867400" cy="167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8"/>
          <p:cNvSpPr>
            <a:spLocks noGrp="1" noChangeArrowheads="1"/>
          </p:cNvSpPr>
          <p:nvPr>
            <p:ph type="body" sz="half" idx="1"/>
          </p:nvPr>
        </p:nvSpPr>
        <p:spPr>
          <a:xfrm>
            <a:off x="0" y="0"/>
            <a:ext cx="4800600" cy="6130925"/>
          </a:xfrm>
        </p:spPr>
        <p:txBody>
          <a:bodyPr/>
          <a:lstStyle/>
          <a:p>
            <a:pPr eaLnBrk="1" hangingPunct="1">
              <a:buFont typeface="Wingdings" pitchFamily="2" charset="2"/>
              <a:buNone/>
            </a:pPr>
            <a:endParaRPr lang="en-US" sz="2600" smtClean="0"/>
          </a:p>
          <a:p>
            <a:pPr eaLnBrk="1" hangingPunct="1">
              <a:buFont typeface="Wingdings" pitchFamily="2" charset="2"/>
              <a:buNone/>
            </a:pPr>
            <a:r>
              <a:rPr lang="en-US" sz="2600" b="1" u="sng" smtClean="0"/>
              <a:t>Step 2:</a:t>
            </a:r>
          </a:p>
          <a:p>
            <a:pPr eaLnBrk="1" hangingPunct="1"/>
            <a:r>
              <a:rPr lang="en-US" sz="2600" smtClean="0"/>
              <a:t>Thus, we obtain two clusters containing:</a:t>
            </a:r>
          </a:p>
          <a:p>
            <a:pPr eaLnBrk="1" hangingPunct="1">
              <a:buFont typeface="Wingdings" pitchFamily="2" charset="2"/>
              <a:buNone/>
            </a:pPr>
            <a:r>
              <a:rPr lang="en-US" sz="2600" smtClean="0"/>
              <a:t>	{1,2,3} and {4,5,6,7}.</a:t>
            </a:r>
          </a:p>
          <a:p>
            <a:pPr eaLnBrk="1" hangingPunct="1"/>
            <a:r>
              <a:rPr lang="en-US" sz="2600" smtClean="0"/>
              <a:t>Their new centroids are:</a:t>
            </a:r>
          </a:p>
          <a:p>
            <a:pPr eaLnBrk="1" hangingPunct="1">
              <a:buFont typeface="Wingdings" pitchFamily="2" charset="2"/>
              <a:buNone/>
            </a:pPr>
            <a:r>
              <a:rPr lang="en-US" sz="2600" smtClean="0"/>
              <a:t>                                                         </a:t>
            </a:r>
          </a:p>
        </p:txBody>
      </p:sp>
      <p:pic>
        <p:nvPicPr>
          <p:cNvPr id="17411" name="Picture 11"/>
          <p:cNvPicPr>
            <a:picLocks noGrp="1" noChangeAspect="1" noChangeArrowheads="1"/>
          </p:cNvPicPr>
          <p:nvPr>
            <p:ph sz="quarter" idx="2"/>
          </p:nvPr>
        </p:nvPicPr>
        <p:blipFill>
          <a:blip r:embed="rId2"/>
          <a:srcRect/>
          <a:stretch>
            <a:fillRect/>
          </a:stretch>
        </p:blipFill>
        <p:spPr>
          <a:xfrm>
            <a:off x="4945251" y="152400"/>
            <a:ext cx="4122549" cy="4343400"/>
          </a:xfrm>
          <a:noFill/>
        </p:spPr>
      </p:pic>
      <p:pic>
        <p:nvPicPr>
          <p:cNvPr id="17412" name="Picture 12"/>
          <p:cNvPicPr>
            <a:picLocks noGrp="1" noChangeAspect="1" noChangeArrowheads="1"/>
          </p:cNvPicPr>
          <p:nvPr>
            <p:ph sz="quarter" idx="3"/>
          </p:nvPr>
        </p:nvPicPr>
        <p:blipFill>
          <a:blip r:embed="rId3"/>
          <a:srcRect/>
          <a:stretch>
            <a:fillRect/>
          </a:stretch>
        </p:blipFill>
        <p:spPr>
          <a:xfrm>
            <a:off x="4724400" y="4800600"/>
            <a:ext cx="4343400" cy="1295400"/>
          </a:xfrm>
          <a:noFill/>
        </p:spPr>
      </p:pic>
      <p:pic>
        <p:nvPicPr>
          <p:cNvPr id="17413" name="Picture 13"/>
          <p:cNvPicPr>
            <a:picLocks noChangeAspect="1" noChangeArrowheads="1"/>
          </p:cNvPicPr>
          <p:nvPr/>
        </p:nvPicPr>
        <p:blipFill>
          <a:blip r:embed="rId4"/>
          <a:srcRect/>
          <a:stretch>
            <a:fillRect/>
          </a:stretch>
        </p:blipFill>
        <p:spPr bwMode="auto">
          <a:xfrm>
            <a:off x="76200" y="3210790"/>
            <a:ext cx="4953000" cy="675409"/>
          </a:xfrm>
          <a:prstGeom prst="rect">
            <a:avLst/>
          </a:prstGeom>
          <a:noFill/>
          <a:ln w="9525">
            <a:noFill/>
            <a:miter lim="800000"/>
            <a:headEnd/>
            <a:tailEnd/>
          </a:ln>
        </p:spPr>
      </p:pic>
      <p:pic>
        <p:nvPicPr>
          <p:cNvPr id="17414" name="Picture 14"/>
          <p:cNvPicPr>
            <a:picLocks noChangeAspect="1" noChangeArrowheads="1"/>
          </p:cNvPicPr>
          <p:nvPr/>
        </p:nvPicPr>
        <p:blipFill>
          <a:blip r:embed="rId5"/>
          <a:srcRect/>
          <a:stretch>
            <a:fillRect/>
          </a:stretch>
        </p:blipFill>
        <p:spPr bwMode="auto">
          <a:xfrm>
            <a:off x="76200" y="3973656"/>
            <a:ext cx="4953000" cy="731693"/>
          </a:xfrm>
          <a:prstGeom prst="rect">
            <a:avLst/>
          </a:prstGeom>
          <a:noFill/>
          <a:ln w="9525">
            <a:noFill/>
            <a:miter lim="800000"/>
            <a:headEnd/>
            <a:tailEnd/>
          </a:ln>
        </p:spPr>
      </p:pic>
      <p:pic>
        <p:nvPicPr>
          <p:cNvPr id="17415" name="Picture 15"/>
          <p:cNvPicPr>
            <a:picLocks noChangeAspect="1" noChangeArrowheads="1"/>
          </p:cNvPicPr>
          <p:nvPr/>
        </p:nvPicPr>
        <p:blipFill>
          <a:blip r:embed="rId6"/>
          <a:srcRect/>
          <a:stretch>
            <a:fillRect/>
          </a:stretch>
        </p:blipFill>
        <p:spPr bwMode="auto">
          <a:xfrm>
            <a:off x="228600" y="4724400"/>
            <a:ext cx="1371600" cy="542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5"/>
          <p:cNvSpPr>
            <a:spLocks noGrp="1" noChangeArrowheads="1"/>
          </p:cNvSpPr>
          <p:nvPr>
            <p:ph type="body" sz="half" idx="1"/>
          </p:nvPr>
        </p:nvSpPr>
        <p:spPr>
          <a:xfrm>
            <a:off x="152400" y="152400"/>
            <a:ext cx="4495800" cy="5978525"/>
          </a:xfrm>
        </p:spPr>
        <p:txBody>
          <a:bodyPr/>
          <a:lstStyle/>
          <a:p>
            <a:pPr eaLnBrk="1" hangingPunct="1">
              <a:lnSpc>
                <a:spcPct val="90000"/>
              </a:lnSpc>
              <a:buFont typeface="Wingdings" pitchFamily="2" charset="2"/>
              <a:buNone/>
            </a:pPr>
            <a:endParaRPr lang="en-US" sz="2600" b="1" u="sng" dirty="0" smtClean="0"/>
          </a:p>
          <a:p>
            <a:pPr eaLnBrk="1" hangingPunct="1">
              <a:lnSpc>
                <a:spcPct val="90000"/>
              </a:lnSpc>
              <a:buFont typeface="Wingdings" pitchFamily="2" charset="2"/>
              <a:buNone/>
            </a:pPr>
            <a:r>
              <a:rPr lang="en-US" sz="2600" b="1" u="sng" dirty="0" smtClean="0"/>
              <a:t>Step 3:</a:t>
            </a:r>
          </a:p>
          <a:p>
            <a:pPr eaLnBrk="1" hangingPunct="1">
              <a:lnSpc>
                <a:spcPct val="90000"/>
              </a:lnSpc>
            </a:pPr>
            <a:r>
              <a:rPr lang="en-US" sz="2600" dirty="0" smtClean="0"/>
              <a:t>Now using these </a:t>
            </a:r>
            <a:r>
              <a:rPr lang="en-US" sz="2600" dirty="0" err="1" smtClean="0"/>
              <a:t>centroids</a:t>
            </a:r>
            <a:r>
              <a:rPr lang="en-US" sz="2600" dirty="0" smtClean="0"/>
              <a:t> we compute the Euclidean distance of each object, as shown in table.</a:t>
            </a:r>
          </a:p>
          <a:p>
            <a:pPr eaLnBrk="1" hangingPunct="1">
              <a:lnSpc>
                <a:spcPct val="90000"/>
              </a:lnSpc>
            </a:pPr>
            <a:endParaRPr lang="en-US" sz="2600" dirty="0" smtClean="0"/>
          </a:p>
          <a:p>
            <a:pPr eaLnBrk="1" hangingPunct="1">
              <a:lnSpc>
                <a:spcPct val="90000"/>
              </a:lnSpc>
            </a:pPr>
            <a:r>
              <a:rPr lang="en-US" sz="2600" dirty="0" smtClean="0"/>
              <a:t>Therefore, the new clusters are:</a:t>
            </a:r>
          </a:p>
          <a:p>
            <a:pPr eaLnBrk="1" hangingPunct="1">
              <a:lnSpc>
                <a:spcPct val="90000"/>
              </a:lnSpc>
              <a:buFont typeface="Wingdings" pitchFamily="2" charset="2"/>
              <a:buNone/>
            </a:pPr>
            <a:r>
              <a:rPr lang="en-US" sz="2600" dirty="0" smtClean="0"/>
              <a:t>	{1,2} and {</a:t>
            </a:r>
            <a:r>
              <a:rPr lang="en-US" sz="2600" b="1" dirty="0" smtClean="0"/>
              <a:t>3</a:t>
            </a:r>
            <a:r>
              <a:rPr lang="en-US" sz="2600" dirty="0" smtClean="0"/>
              <a:t>,4,5,6,7} </a:t>
            </a:r>
          </a:p>
          <a:p>
            <a:pPr eaLnBrk="1" hangingPunct="1">
              <a:lnSpc>
                <a:spcPct val="90000"/>
              </a:lnSpc>
            </a:pPr>
            <a:endParaRPr lang="en-US" sz="2600" dirty="0" smtClean="0"/>
          </a:p>
          <a:p>
            <a:pPr eaLnBrk="1" hangingPunct="1">
              <a:lnSpc>
                <a:spcPct val="90000"/>
              </a:lnSpc>
            </a:pPr>
            <a:r>
              <a:rPr lang="en-US" sz="2600" dirty="0" smtClean="0"/>
              <a:t>Next </a:t>
            </a:r>
            <a:r>
              <a:rPr lang="en-US" sz="2600" dirty="0" err="1" smtClean="0"/>
              <a:t>centroids</a:t>
            </a:r>
            <a:r>
              <a:rPr lang="en-US" sz="2600" dirty="0" smtClean="0"/>
              <a:t> are: m1=(1.25,1.5) and m2 = (3.9,5.1)</a:t>
            </a:r>
          </a:p>
        </p:txBody>
      </p:sp>
      <p:graphicFrame>
        <p:nvGraphicFramePr>
          <p:cNvPr id="1026" name="Object 6"/>
          <p:cNvGraphicFramePr>
            <a:graphicFrameLocks noGrp="1" noChangeAspect="1"/>
          </p:cNvGraphicFramePr>
          <p:nvPr>
            <p:ph sz="half" idx="2"/>
          </p:nvPr>
        </p:nvGraphicFramePr>
        <p:xfrm>
          <a:off x="4648200" y="1719263"/>
          <a:ext cx="4038600" cy="4410075"/>
        </p:xfrm>
        <a:graphic>
          <a:graphicData uri="http://schemas.openxmlformats.org/presentationml/2006/ole">
            <p:oleObj spid="_x0000_s390147" name="Chart" r:id="rId3" imgW="4038735" imgH="4410194" progId="MSGraph.Chart.8">
              <p:embed followColorScheme="full"/>
            </p:oleObj>
          </a:graphicData>
        </a:graphic>
      </p:graphicFrame>
      <p:pic>
        <p:nvPicPr>
          <p:cNvPr id="1028" name="Picture 7"/>
          <p:cNvPicPr>
            <a:picLocks noChangeAspect="1" noChangeArrowheads="1"/>
          </p:cNvPicPr>
          <p:nvPr/>
        </p:nvPicPr>
        <p:blipFill>
          <a:blip r:embed="rId4"/>
          <a:srcRect t="6557"/>
          <a:stretch>
            <a:fillRect/>
          </a:stretch>
        </p:blipFill>
        <p:spPr bwMode="auto">
          <a:xfrm>
            <a:off x="4876800" y="1676400"/>
            <a:ext cx="4038600" cy="434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body" sz="half" idx="1"/>
          </p:nvPr>
        </p:nvSpPr>
        <p:spPr>
          <a:xfrm>
            <a:off x="304800" y="304800"/>
            <a:ext cx="4495800" cy="5859463"/>
          </a:xfrm>
        </p:spPr>
        <p:txBody>
          <a:bodyPr/>
          <a:lstStyle/>
          <a:p>
            <a:pPr eaLnBrk="1" hangingPunct="1"/>
            <a:r>
              <a:rPr lang="en-US" sz="2600" u="sng" smtClean="0"/>
              <a:t>Step 4 </a:t>
            </a:r>
            <a:r>
              <a:rPr lang="en-US" sz="2600" smtClean="0"/>
              <a:t>:</a:t>
            </a:r>
          </a:p>
          <a:p>
            <a:pPr eaLnBrk="1" hangingPunct="1">
              <a:buFont typeface="Wingdings" pitchFamily="2" charset="2"/>
              <a:buNone/>
            </a:pPr>
            <a:r>
              <a:rPr lang="en-US" sz="2600" smtClean="0"/>
              <a:t>	The clusters obtained are:</a:t>
            </a:r>
          </a:p>
          <a:p>
            <a:pPr eaLnBrk="1" hangingPunct="1">
              <a:buFont typeface="Wingdings" pitchFamily="2" charset="2"/>
              <a:buNone/>
            </a:pPr>
            <a:r>
              <a:rPr lang="en-US" sz="2600" smtClean="0"/>
              <a:t>	{1,2} and {3,4,5,6,7}</a:t>
            </a:r>
          </a:p>
          <a:p>
            <a:pPr eaLnBrk="1" hangingPunct="1">
              <a:buFont typeface="Wingdings" pitchFamily="2" charset="2"/>
              <a:buNone/>
            </a:pPr>
            <a:endParaRPr lang="en-US" sz="2600" smtClean="0"/>
          </a:p>
          <a:p>
            <a:pPr eaLnBrk="1" hangingPunct="1"/>
            <a:r>
              <a:rPr lang="en-US" sz="2600" smtClean="0"/>
              <a:t>Therefore, there is no change in the cluster. </a:t>
            </a:r>
          </a:p>
          <a:p>
            <a:pPr eaLnBrk="1" hangingPunct="1"/>
            <a:r>
              <a:rPr lang="en-US" sz="2600" smtClean="0"/>
              <a:t>Thus, the algorithm comes to a halt here and final result consist of 2 clusters {1,2} and {3,4,5,6,7}. </a:t>
            </a:r>
          </a:p>
        </p:txBody>
      </p:sp>
      <p:pic>
        <p:nvPicPr>
          <p:cNvPr id="18435" name="Picture 7"/>
          <p:cNvPicPr>
            <a:picLocks noGrp="1" noChangeAspect="1" noChangeArrowheads="1"/>
          </p:cNvPicPr>
          <p:nvPr>
            <p:ph sz="half" idx="2"/>
          </p:nvPr>
        </p:nvPicPr>
        <p:blipFill>
          <a:blip r:embed="rId2"/>
          <a:srcRect l="5357" t="4225" r="3572" b="8450"/>
          <a:stretch>
            <a:fillRect/>
          </a:stretch>
        </p:blipFill>
        <p:spPr>
          <a:xfrm>
            <a:off x="5105400" y="1752600"/>
            <a:ext cx="3886200" cy="4724400"/>
          </a:xfr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lstStyle/>
          <a:p>
            <a:pPr eaLnBrk="1" hangingPunct="1"/>
            <a:r>
              <a:rPr lang="en-US" u="sng" smtClean="0"/>
              <a:t>PLOT</a:t>
            </a:r>
          </a:p>
        </p:txBody>
      </p:sp>
      <p:pic>
        <p:nvPicPr>
          <p:cNvPr id="19459" name="Picture 6"/>
          <p:cNvPicPr>
            <a:picLocks noChangeAspect="1" noChangeArrowheads="1"/>
          </p:cNvPicPr>
          <p:nvPr/>
        </p:nvPicPr>
        <p:blipFill>
          <a:blip r:embed="rId2"/>
          <a:srcRect l="4672" t="1755" r="20561" b="5263"/>
          <a:stretch>
            <a:fillRect/>
          </a:stretch>
        </p:blipFill>
        <p:spPr bwMode="auto">
          <a:xfrm>
            <a:off x="1752600" y="1828800"/>
            <a:ext cx="6096000"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(with K=3)</a:t>
            </a:r>
            <a:br>
              <a:rPr lang="en-US" smtClean="0"/>
            </a:br>
            <a:endParaRPr lang="en-US" smtClean="0"/>
          </a:p>
        </p:txBody>
      </p:sp>
      <p:pic>
        <p:nvPicPr>
          <p:cNvPr id="20483" name="Picture 6"/>
          <p:cNvPicPr>
            <a:picLocks noGrp="1" noChangeAspect="1" noChangeArrowheads="1"/>
          </p:cNvPicPr>
          <p:nvPr>
            <p:ph sz="half" idx="1"/>
          </p:nvPr>
        </p:nvPicPr>
        <p:blipFill>
          <a:blip r:embed="rId2"/>
          <a:srcRect l="5084" t="6061" r="1695" b="3030"/>
          <a:stretch>
            <a:fillRect/>
          </a:stretch>
        </p:blipFill>
        <p:spPr>
          <a:xfrm>
            <a:off x="228600" y="1600200"/>
            <a:ext cx="4191000" cy="4343400"/>
          </a:xfrm>
          <a:noFill/>
        </p:spPr>
      </p:pic>
      <p:pic>
        <p:nvPicPr>
          <p:cNvPr id="20484" name="Picture 7"/>
          <p:cNvPicPr>
            <a:picLocks noGrp="1" noChangeAspect="1" noChangeArrowheads="1"/>
          </p:cNvPicPr>
          <p:nvPr>
            <p:ph sz="half" idx="2"/>
          </p:nvPr>
        </p:nvPicPr>
        <p:blipFill>
          <a:blip r:embed="rId3"/>
          <a:srcRect l="1785" t="5455" r="1785" b="3636"/>
          <a:stretch>
            <a:fillRect/>
          </a:stretch>
        </p:blipFill>
        <p:spPr>
          <a:xfrm>
            <a:off x="4572000" y="1676400"/>
            <a:ext cx="4114800" cy="3886200"/>
          </a:xfrm>
          <a:noFill/>
        </p:spPr>
      </p:pic>
      <p:sp>
        <p:nvSpPr>
          <p:cNvPr id="20485" name="Text Box 8"/>
          <p:cNvSpPr txBox="1">
            <a:spLocks noChangeArrowheads="1"/>
          </p:cNvSpPr>
          <p:nvPr/>
        </p:nvSpPr>
        <p:spPr bwMode="auto">
          <a:xfrm>
            <a:off x="457200" y="6019800"/>
            <a:ext cx="3276600" cy="457200"/>
          </a:xfrm>
          <a:prstGeom prst="rect">
            <a:avLst/>
          </a:prstGeom>
          <a:noFill/>
          <a:ln w="9525">
            <a:noFill/>
            <a:miter lim="800000"/>
            <a:headEnd/>
            <a:tailEnd/>
          </a:ln>
        </p:spPr>
        <p:txBody>
          <a:bodyPr>
            <a:spAutoFit/>
          </a:bodyPr>
          <a:lstStyle/>
          <a:p>
            <a:pPr>
              <a:spcBef>
                <a:spcPct val="50000"/>
              </a:spcBef>
            </a:pPr>
            <a:r>
              <a:rPr lang="en-US"/>
              <a:t>               </a:t>
            </a:r>
            <a:r>
              <a:rPr lang="en-US" sz="2400" b="1" u="sng"/>
              <a:t>Step 1</a:t>
            </a:r>
          </a:p>
        </p:txBody>
      </p:sp>
      <p:sp>
        <p:nvSpPr>
          <p:cNvPr id="20486" name="Text Box 9"/>
          <p:cNvSpPr txBox="1">
            <a:spLocks noChangeArrowheads="1"/>
          </p:cNvSpPr>
          <p:nvPr/>
        </p:nvSpPr>
        <p:spPr bwMode="auto">
          <a:xfrm>
            <a:off x="5562600" y="5943600"/>
            <a:ext cx="2209800" cy="457200"/>
          </a:xfrm>
          <a:prstGeom prst="rect">
            <a:avLst/>
          </a:prstGeom>
          <a:noFill/>
          <a:ln w="9525">
            <a:noFill/>
            <a:miter lim="800000"/>
            <a:headEnd/>
            <a:tailEnd/>
          </a:ln>
        </p:spPr>
        <p:txBody>
          <a:bodyPr>
            <a:spAutoFit/>
          </a:bodyPr>
          <a:lstStyle/>
          <a:p>
            <a:pPr>
              <a:spcBef>
                <a:spcPct val="50000"/>
              </a:spcBef>
            </a:pPr>
            <a:r>
              <a:rPr lang="en-US"/>
              <a:t>         </a:t>
            </a:r>
            <a:r>
              <a:rPr lang="en-US" sz="2400" b="1" u="sng"/>
              <a:t>Step 2</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p:txBody>
          <a:bodyPr/>
          <a:lstStyle/>
          <a:p>
            <a:pPr eaLnBrk="1" hangingPunct="1"/>
            <a:r>
              <a:rPr lang="en-US" u="sng" smtClean="0"/>
              <a:t>PLOT</a:t>
            </a:r>
          </a:p>
        </p:txBody>
      </p:sp>
      <p:pic>
        <p:nvPicPr>
          <p:cNvPr id="21507" name="Picture 6"/>
          <p:cNvPicPr>
            <a:picLocks noGrp="1" noChangeAspect="1" noChangeArrowheads="1"/>
          </p:cNvPicPr>
          <p:nvPr>
            <p:ph idx="1"/>
          </p:nvPr>
        </p:nvPicPr>
        <p:blipFill>
          <a:blip r:embed="rId2"/>
          <a:srcRect l="4878" t="5661" r="3659" b="3773"/>
          <a:stretch>
            <a:fillRect/>
          </a:stretch>
        </p:blipFill>
        <p:spPr>
          <a:xfrm>
            <a:off x="1828800" y="2286000"/>
            <a:ext cx="5715000" cy="3657600"/>
          </a:xfr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228600" y="122238"/>
            <a:ext cx="7543800" cy="1295400"/>
          </a:xfrm>
        </p:spPr>
        <p:txBody>
          <a:bodyPr/>
          <a:lstStyle/>
          <a:p>
            <a:pPr eaLnBrk="1" hangingPunct="1"/>
            <a:r>
              <a:rPr lang="en-US" u="sng" dirty="0" smtClean="0"/>
              <a:t>Real-Life Numerical Example of K-Means Clustering</a:t>
            </a:r>
          </a:p>
        </p:txBody>
      </p:sp>
      <p:sp>
        <p:nvSpPr>
          <p:cNvPr id="22531" name="Rectangle 4"/>
          <p:cNvSpPr>
            <a:spLocks noChangeArrowheads="1"/>
          </p:cNvSpPr>
          <p:nvPr/>
        </p:nvSpPr>
        <p:spPr bwMode="auto">
          <a:xfrm>
            <a:off x="304800" y="1752600"/>
            <a:ext cx="7848600" cy="2282825"/>
          </a:xfrm>
          <a:prstGeom prst="rect">
            <a:avLst/>
          </a:prstGeom>
          <a:noFill/>
          <a:ln w="9525">
            <a:noFill/>
            <a:miter lim="800000"/>
            <a:headEnd/>
            <a:tailEnd/>
          </a:ln>
        </p:spPr>
        <p:txBody>
          <a:bodyPr anchor="ctr">
            <a:spAutoFit/>
          </a:bodyPr>
          <a:lstStyle/>
          <a:p>
            <a:r>
              <a:rPr lang="en-US" sz="2400" dirty="0"/>
              <a:t>We have 4 medicines as our training data points object and each medicine has 2 attributes. Each attribute represents coordinate of the object. We have to determine which medicines belong to cluster 1 and which medicines belong to the other cluster. </a:t>
            </a:r>
          </a:p>
          <a:p>
            <a:pPr eaLnBrk="0" hangingPunct="0"/>
            <a:endParaRPr lang="en-US" sz="2400" dirty="0"/>
          </a:p>
        </p:txBody>
      </p:sp>
      <p:graphicFrame>
        <p:nvGraphicFramePr>
          <p:cNvPr id="72822" name="Group 118"/>
          <p:cNvGraphicFramePr>
            <a:graphicFrameLocks noGrp="1"/>
          </p:cNvGraphicFramePr>
          <p:nvPr/>
        </p:nvGraphicFramePr>
        <p:xfrm>
          <a:off x="1295400" y="3733800"/>
          <a:ext cx="5867400" cy="2534921"/>
        </p:xfrm>
        <a:graphic>
          <a:graphicData uri="http://schemas.openxmlformats.org/drawingml/2006/table">
            <a:tbl>
              <a:tblPr/>
              <a:tblGrid>
                <a:gridCol w="1792288"/>
                <a:gridCol w="2081212"/>
                <a:gridCol w="1993900"/>
              </a:tblGrid>
              <a:tr h="5381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Object</a:t>
                      </a:r>
                      <a:endParaRPr kumimoji="0" lang="en-US" sz="1600" b="1" i="0" u="none" strike="noStrike" cap="none" normalizeH="0" baseline="0" smtClean="0">
                        <a:ln>
                          <a:noFill/>
                        </a:ln>
                        <a:solidFill>
                          <a:schemeClr val="tx1"/>
                        </a:solidFill>
                        <a:effectLst/>
                        <a:latin typeface="Arial"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Attribute1 (X): weight index</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Attribute 2 (Y): pH</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28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Medicine A</a:t>
                      </a:r>
                      <a:endParaRPr kumimoji="0" lang="en-US" sz="1600" b="1" i="0" u="none" strike="noStrike" cap="none" normalizeH="0" baseline="0" smtClean="0">
                        <a:ln>
                          <a:noFill/>
                        </a:ln>
                        <a:solidFill>
                          <a:schemeClr val="tx1"/>
                        </a:solidFill>
                        <a:effectLst/>
                        <a:latin typeface="Arial"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4889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Medicine B</a:t>
                      </a:r>
                      <a:endParaRPr kumimoji="0" lang="en-US" sz="1600" b="1" i="0" u="none" strike="noStrike" cap="none" normalizeH="0" baseline="0" smtClean="0">
                        <a:ln>
                          <a:noFill/>
                        </a:ln>
                        <a:solidFill>
                          <a:schemeClr val="tx1"/>
                        </a:solidFill>
                        <a:effectLst/>
                        <a:latin typeface="Arial"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Medicine C</a:t>
                      </a:r>
                      <a:endParaRPr kumimoji="0" lang="en-US" sz="1600" b="1" i="0" u="none" strike="noStrike" cap="none" normalizeH="0" baseline="0" smtClean="0">
                        <a:ln>
                          <a:noFill/>
                        </a:ln>
                        <a:solidFill>
                          <a:schemeClr val="tx1"/>
                        </a:solidFill>
                        <a:effectLst/>
                        <a:latin typeface="Arial"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4</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3</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466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Medicine D</a:t>
                      </a:r>
                      <a:endParaRPr kumimoji="0" lang="en-US" sz="1600" b="1" i="0" u="none" strike="noStrike" cap="none" normalizeH="0" baseline="0" smtClean="0">
                        <a:ln>
                          <a:noFill/>
                        </a:ln>
                        <a:solidFill>
                          <a:schemeClr val="tx1"/>
                        </a:solidFill>
                        <a:effectLst/>
                        <a:latin typeface="Arial"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5</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4</a:t>
                      </a:r>
                      <a:endParaRPr kumimoji="0" lang="en-US" sz="1600" b="1" i="0" u="none" strike="noStrike" cap="none" normalizeH="0" baseline="0" smtClean="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Grp="1" noChangeArrowheads="1"/>
          </p:cNvSpPr>
          <p:nvPr>
            <p:ph type="body" sz="half" idx="1"/>
          </p:nvPr>
        </p:nvSpPr>
        <p:spPr>
          <a:xfrm>
            <a:off x="457200" y="838200"/>
            <a:ext cx="4038600" cy="5791200"/>
          </a:xfrm>
        </p:spPr>
        <p:txBody>
          <a:bodyPr/>
          <a:lstStyle/>
          <a:p>
            <a:pPr eaLnBrk="1" hangingPunct="1">
              <a:buFont typeface="Wingdings" pitchFamily="2" charset="2"/>
              <a:buNone/>
            </a:pPr>
            <a:r>
              <a:rPr lang="en-US" sz="2600" u="sng" smtClean="0"/>
              <a:t>Step 1:</a:t>
            </a:r>
          </a:p>
          <a:p>
            <a:pPr eaLnBrk="1" hangingPunct="1"/>
            <a:r>
              <a:rPr lang="en-US" sz="2600" smtClean="0"/>
              <a:t> </a:t>
            </a:r>
            <a:r>
              <a:rPr lang="en-US" sz="2600" b="1" u="sng" smtClean="0"/>
              <a:t>Initial value of centroids</a:t>
            </a:r>
            <a:r>
              <a:rPr lang="en-US" sz="2600" i="1" smtClean="0"/>
              <a:t> </a:t>
            </a:r>
            <a:r>
              <a:rPr lang="en-US" sz="2600" smtClean="0"/>
              <a:t>: Suppose we use medicine A and medicine B as the first centroids. </a:t>
            </a:r>
          </a:p>
          <a:p>
            <a:pPr eaLnBrk="1" hangingPunct="1"/>
            <a:r>
              <a:rPr lang="en-US" sz="2600" smtClean="0"/>
              <a:t>Let and c</a:t>
            </a:r>
            <a:r>
              <a:rPr lang="en-US" sz="2600" baseline="-25000" smtClean="0"/>
              <a:t>1</a:t>
            </a:r>
            <a:r>
              <a:rPr lang="en-US" sz="2600" smtClean="0"/>
              <a:t> and c</a:t>
            </a:r>
            <a:r>
              <a:rPr lang="en-US" sz="2600" baseline="-25000" smtClean="0"/>
              <a:t>2 </a:t>
            </a:r>
            <a:r>
              <a:rPr lang="en-US" sz="2600" smtClean="0"/>
              <a:t>denote the coordinate of the centroids, then c</a:t>
            </a:r>
            <a:r>
              <a:rPr lang="en-US" sz="2600" baseline="-25000" smtClean="0"/>
              <a:t>1</a:t>
            </a:r>
            <a:r>
              <a:rPr lang="en-US" sz="2600" smtClean="0"/>
              <a:t>=(1,1) and c</a:t>
            </a:r>
            <a:r>
              <a:rPr lang="en-US" sz="2600" baseline="-25000" smtClean="0"/>
              <a:t>2</a:t>
            </a:r>
            <a:r>
              <a:rPr lang="en-US" sz="2600" smtClean="0"/>
              <a:t>=(2,1) </a:t>
            </a:r>
          </a:p>
        </p:txBody>
      </p:sp>
      <p:pic>
        <p:nvPicPr>
          <p:cNvPr id="23555" name="Picture 7" descr="k means clustering iteration 0"/>
          <p:cNvPicPr>
            <a:picLocks noGrp="1" noChangeAspect="1" noChangeArrowheads="1"/>
          </p:cNvPicPr>
          <p:nvPr>
            <p:ph sz="half" idx="2"/>
          </p:nvPr>
        </p:nvPicPr>
        <p:blipFill>
          <a:blip r:embed="rId2"/>
          <a:srcRect/>
          <a:stretch>
            <a:fillRect/>
          </a:stretch>
        </p:blipFill>
        <p:spPr>
          <a:xfrm>
            <a:off x="4724400" y="838200"/>
            <a:ext cx="4419600" cy="5410200"/>
          </a:xfr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4294967295"/>
          </p:nvPr>
        </p:nvSpPr>
        <p:spPr>
          <a:xfrm>
            <a:off x="0" y="0"/>
            <a:ext cx="8915400" cy="6858000"/>
          </a:xfrm>
          <a:ln>
            <a:solidFill>
              <a:schemeClr val="accent1"/>
            </a:solidFill>
          </a:ln>
        </p:spPr>
        <p:txBody>
          <a:bodyPr/>
          <a:lstStyle/>
          <a:p>
            <a:pPr eaLnBrk="1" hangingPunct="1">
              <a:lnSpc>
                <a:spcPct val="90000"/>
              </a:lnSpc>
            </a:pPr>
            <a:r>
              <a:rPr lang="en-US" sz="2600" b="1" u="sng" dirty="0" smtClean="0"/>
              <a:t>Objects-</a:t>
            </a:r>
            <a:r>
              <a:rPr lang="en-US" sz="2600" b="1" u="sng" dirty="0" err="1" smtClean="0"/>
              <a:t>Centroids</a:t>
            </a:r>
            <a:r>
              <a:rPr lang="en-US" sz="2600" b="1" u="sng" dirty="0" smtClean="0"/>
              <a:t> distance</a:t>
            </a:r>
            <a:r>
              <a:rPr lang="en-US" sz="2600" i="1" dirty="0" smtClean="0"/>
              <a:t> </a:t>
            </a:r>
            <a:r>
              <a:rPr lang="en-US" sz="2600" dirty="0" smtClean="0"/>
              <a:t>: we calculate the   distance between cluster </a:t>
            </a:r>
            <a:r>
              <a:rPr lang="en-US" sz="2600" dirty="0" err="1" smtClean="0"/>
              <a:t>centroid</a:t>
            </a:r>
            <a:r>
              <a:rPr lang="en-US" sz="2600" dirty="0" smtClean="0"/>
              <a:t> to each object.         Let us use </a:t>
            </a:r>
            <a:r>
              <a:rPr lang="en-US" sz="2600" dirty="0" smtClean="0">
                <a:hlinkClick r:id="rId2"/>
              </a:rPr>
              <a:t>Euclidean distance</a:t>
            </a:r>
            <a:r>
              <a:rPr lang="en-US" sz="2600" dirty="0" smtClean="0"/>
              <a:t>, then we have         distance matrix at iteration 0 is </a:t>
            </a:r>
          </a:p>
          <a:p>
            <a:pPr eaLnBrk="1" hangingPunct="1">
              <a:lnSpc>
                <a:spcPct val="90000"/>
              </a:lnSpc>
            </a:pPr>
            <a:endParaRPr lang="en-US" sz="2600" dirty="0" smtClean="0"/>
          </a:p>
          <a:p>
            <a:pPr eaLnBrk="1" hangingPunct="1">
              <a:lnSpc>
                <a:spcPct val="90000"/>
              </a:lnSpc>
            </a:pPr>
            <a:endParaRPr lang="en-US" sz="2600" dirty="0" smtClean="0"/>
          </a:p>
          <a:p>
            <a:pPr eaLnBrk="1" hangingPunct="1">
              <a:lnSpc>
                <a:spcPct val="90000"/>
              </a:lnSpc>
              <a:buFont typeface="Wingdings" pitchFamily="2" charset="2"/>
              <a:buNone/>
            </a:pPr>
            <a:endParaRPr lang="en-US" sz="2600" dirty="0" smtClean="0"/>
          </a:p>
          <a:p>
            <a:pPr eaLnBrk="1" hangingPunct="1">
              <a:lnSpc>
                <a:spcPct val="90000"/>
              </a:lnSpc>
            </a:pPr>
            <a:endParaRPr lang="en-US" sz="2600" dirty="0" smtClean="0"/>
          </a:p>
          <a:p>
            <a:pPr eaLnBrk="1" hangingPunct="1">
              <a:lnSpc>
                <a:spcPct val="90000"/>
              </a:lnSpc>
            </a:pPr>
            <a:r>
              <a:rPr lang="en-US" sz="2600" dirty="0" smtClean="0"/>
              <a:t>Each column in the distance matrix symbolizes the object. </a:t>
            </a:r>
          </a:p>
          <a:p>
            <a:pPr eaLnBrk="1" hangingPunct="1">
              <a:lnSpc>
                <a:spcPct val="90000"/>
              </a:lnSpc>
            </a:pPr>
            <a:r>
              <a:rPr lang="en-US" sz="2600" dirty="0" smtClean="0"/>
              <a:t>The first row of the distance matrix corresponds to the distance of each object to the first </a:t>
            </a:r>
            <a:r>
              <a:rPr lang="en-US" sz="2600" dirty="0" err="1" smtClean="0"/>
              <a:t>centroid</a:t>
            </a:r>
            <a:r>
              <a:rPr lang="en-US" sz="2600" dirty="0" smtClean="0"/>
              <a:t> and the second row is the distance of each object to the second </a:t>
            </a:r>
            <a:r>
              <a:rPr lang="en-US" sz="2600" dirty="0" err="1" smtClean="0"/>
              <a:t>centroid</a:t>
            </a:r>
            <a:r>
              <a:rPr lang="en-US" sz="2600" dirty="0" smtClean="0"/>
              <a:t>. </a:t>
            </a:r>
          </a:p>
          <a:p>
            <a:pPr eaLnBrk="1" hangingPunct="1">
              <a:lnSpc>
                <a:spcPct val="90000"/>
              </a:lnSpc>
            </a:pPr>
            <a:r>
              <a:rPr lang="en-US" sz="2600" dirty="0" smtClean="0"/>
              <a:t>For example, distance from medicine C = (4, 3)  to the first </a:t>
            </a:r>
            <a:r>
              <a:rPr lang="en-US" sz="2600" dirty="0" err="1" smtClean="0"/>
              <a:t>centroid</a:t>
            </a:r>
            <a:r>
              <a:rPr lang="en-US" sz="2600" dirty="0" smtClean="0"/>
              <a:t>         is ,                  and its distance to the second </a:t>
            </a:r>
            <a:r>
              <a:rPr lang="en-US" sz="2600" dirty="0" err="1" smtClean="0"/>
              <a:t>centroid</a:t>
            </a:r>
            <a:r>
              <a:rPr lang="en-US" sz="2600" dirty="0" smtClean="0"/>
              <a:t> is ,          is                          etc. </a:t>
            </a:r>
          </a:p>
        </p:txBody>
      </p:sp>
      <p:pic>
        <p:nvPicPr>
          <p:cNvPr id="24579" name="Picture 5" descr="NumericalExample_clip_image012"/>
          <p:cNvPicPr>
            <a:picLocks noChangeAspect="1" noChangeArrowheads="1"/>
          </p:cNvPicPr>
          <p:nvPr/>
        </p:nvPicPr>
        <p:blipFill>
          <a:blip r:embed="rId3"/>
          <a:srcRect/>
          <a:stretch>
            <a:fillRect/>
          </a:stretch>
        </p:blipFill>
        <p:spPr bwMode="auto">
          <a:xfrm>
            <a:off x="2057400" y="1600200"/>
            <a:ext cx="4038600" cy="1615440"/>
          </a:xfrm>
          <a:prstGeom prst="rect">
            <a:avLst/>
          </a:prstGeom>
          <a:noFill/>
          <a:ln w="9525">
            <a:noFill/>
            <a:miter lim="800000"/>
            <a:headEnd/>
            <a:tailEnd/>
          </a:ln>
        </p:spPr>
      </p:pic>
      <p:pic>
        <p:nvPicPr>
          <p:cNvPr id="24580" name="Picture 7" descr="NumericalExample_clip_image008_0000"/>
          <p:cNvPicPr>
            <a:picLocks noChangeAspect="1" noChangeArrowheads="1"/>
          </p:cNvPicPr>
          <p:nvPr/>
        </p:nvPicPr>
        <p:blipFill>
          <a:blip r:embed="rId4"/>
          <a:srcRect/>
          <a:stretch>
            <a:fillRect/>
          </a:stretch>
        </p:blipFill>
        <p:spPr bwMode="auto">
          <a:xfrm>
            <a:off x="2362199" y="5943600"/>
            <a:ext cx="714375" cy="381000"/>
          </a:xfrm>
          <a:prstGeom prst="rect">
            <a:avLst/>
          </a:prstGeom>
          <a:noFill/>
          <a:ln w="9525">
            <a:noFill/>
            <a:miter lim="800000"/>
            <a:headEnd/>
            <a:tailEnd/>
          </a:ln>
        </p:spPr>
      </p:pic>
      <p:pic>
        <p:nvPicPr>
          <p:cNvPr id="24581" name="Picture 11" descr="NumericalExample_clip_image014"/>
          <p:cNvPicPr>
            <a:picLocks noChangeAspect="1" noChangeArrowheads="1"/>
          </p:cNvPicPr>
          <p:nvPr/>
        </p:nvPicPr>
        <p:blipFill>
          <a:blip r:embed="rId5"/>
          <a:srcRect/>
          <a:stretch>
            <a:fillRect/>
          </a:stretch>
        </p:blipFill>
        <p:spPr bwMode="auto">
          <a:xfrm>
            <a:off x="3505200" y="5915493"/>
            <a:ext cx="1676400" cy="380533"/>
          </a:xfrm>
          <a:prstGeom prst="rect">
            <a:avLst/>
          </a:prstGeom>
          <a:noFill/>
          <a:ln w="9525">
            <a:noFill/>
            <a:miter lim="800000"/>
            <a:headEnd/>
            <a:tailEnd/>
          </a:ln>
        </p:spPr>
      </p:pic>
      <p:pic>
        <p:nvPicPr>
          <p:cNvPr id="24582" name="Picture 12" descr="NumericalExample_clip_image010_0000"/>
          <p:cNvPicPr>
            <a:picLocks noChangeAspect="1" noChangeArrowheads="1"/>
          </p:cNvPicPr>
          <p:nvPr/>
        </p:nvPicPr>
        <p:blipFill>
          <a:blip r:embed="rId6"/>
          <a:srcRect/>
          <a:stretch>
            <a:fillRect/>
          </a:stretch>
        </p:blipFill>
        <p:spPr bwMode="auto">
          <a:xfrm>
            <a:off x="3352800" y="6324600"/>
            <a:ext cx="685800" cy="342900"/>
          </a:xfrm>
          <a:prstGeom prst="rect">
            <a:avLst/>
          </a:prstGeom>
          <a:noFill/>
          <a:ln w="9525">
            <a:noFill/>
            <a:miter lim="800000"/>
            <a:headEnd/>
            <a:tailEnd/>
          </a:ln>
        </p:spPr>
      </p:pic>
      <p:pic>
        <p:nvPicPr>
          <p:cNvPr id="24583" name="Picture 14" descr="NumericalExample_clip_image016"/>
          <p:cNvPicPr>
            <a:picLocks noChangeAspect="1" noChangeArrowheads="1"/>
          </p:cNvPicPr>
          <p:nvPr/>
        </p:nvPicPr>
        <p:blipFill>
          <a:blip r:embed="rId7"/>
          <a:srcRect/>
          <a:stretch>
            <a:fillRect/>
          </a:stretch>
        </p:blipFill>
        <p:spPr bwMode="auto">
          <a:xfrm>
            <a:off x="4648199" y="6324600"/>
            <a:ext cx="1977081"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body" sz="half" idx="1"/>
          </p:nvPr>
        </p:nvSpPr>
        <p:spPr>
          <a:xfrm>
            <a:off x="152400" y="0"/>
            <a:ext cx="4495800" cy="6858000"/>
          </a:xfrm>
        </p:spPr>
        <p:txBody>
          <a:bodyPr/>
          <a:lstStyle/>
          <a:p>
            <a:pPr eaLnBrk="1" hangingPunct="1">
              <a:buFont typeface="Wingdings" pitchFamily="2" charset="2"/>
              <a:buNone/>
            </a:pPr>
            <a:r>
              <a:rPr lang="en-US" sz="2000" u="sng" dirty="0" smtClean="0"/>
              <a:t>Step 2:</a:t>
            </a:r>
          </a:p>
          <a:p>
            <a:pPr eaLnBrk="1" hangingPunct="1"/>
            <a:r>
              <a:rPr lang="en-US" sz="2600" b="1" u="sng" dirty="0" smtClean="0"/>
              <a:t>Objects clustering</a:t>
            </a:r>
            <a:r>
              <a:rPr lang="en-US" sz="2600" i="1" dirty="0" smtClean="0"/>
              <a:t> </a:t>
            </a:r>
            <a:r>
              <a:rPr lang="en-US" sz="2600" dirty="0" smtClean="0"/>
              <a:t>: We assign each object  based on the minimum distance. </a:t>
            </a:r>
          </a:p>
          <a:p>
            <a:pPr eaLnBrk="1" hangingPunct="1"/>
            <a:r>
              <a:rPr lang="en-US" sz="2600" dirty="0" smtClean="0"/>
              <a:t>Medicine A is assigned to group 1, medicine B to group 2, medicine C to group 2 and medicine D to group 2. </a:t>
            </a:r>
          </a:p>
          <a:p>
            <a:pPr eaLnBrk="1" hangingPunct="1"/>
            <a:r>
              <a:rPr lang="en-US" sz="2600" dirty="0" smtClean="0"/>
              <a:t>The elements of Group matrix below is 1 if and only if the object is assigned to that group. </a:t>
            </a:r>
          </a:p>
          <a:p>
            <a:pPr eaLnBrk="1" hangingPunct="1"/>
            <a:endParaRPr lang="en-US" sz="2600" dirty="0" smtClean="0"/>
          </a:p>
        </p:txBody>
      </p:sp>
      <p:pic>
        <p:nvPicPr>
          <p:cNvPr id="25603" name="Picture 7" descr="NumericalExample_clip_image002_0002"/>
          <p:cNvPicPr>
            <a:picLocks noGrp="1" noChangeAspect="1" noChangeArrowheads="1"/>
          </p:cNvPicPr>
          <p:nvPr>
            <p:ph sz="half" idx="2"/>
          </p:nvPr>
        </p:nvPicPr>
        <p:blipFill>
          <a:blip r:embed="rId2"/>
          <a:srcRect/>
          <a:stretch>
            <a:fillRect/>
          </a:stretch>
        </p:blipFill>
        <p:spPr>
          <a:xfrm>
            <a:off x="4852988" y="1371600"/>
            <a:ext cx="4291012" cy="4648200"/>
          </a:xfrm>
          <a:noFill/>
        </p:spPr>
      </p:pic>
      <p:pic>
        <p:nvPicPr>
          <p:cNvPr id="25604" name="Picture 8" descr="NumericalExample_clip_image018"/>
          <p:cNvPicPr>
            <a:picLocks noChangeAspect="1" noChangeArrowheads="1"/>
          </p:cNvPicPr>
          <p:nvPr/>
        </p:nvPicPr>
        <p:blipFill>
          <a:blip r:embed="rId3"/>
          <a:srcRect/>
          <a:stretch>
            <a:fillRect/>
          </a:stretch>
        </p:blipFill>
        <p:spPr bwMode="auto">
          <a:xfrm>
            <a:off x="685800" y="5486400"/>
            <a:ext cx="3352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0" y="0"/>
            <a:ext cx="9144000" cy="6858000"/>
          </a:xfrm>
        </p:spPr>
        <p:txBody>
          <a:bodyPr/>
          <a:lstStyle/>
          <a:p>
            <a:pPr eaLnBrk="1" hangingPunct="1"/>
            <a:endParaRPr lang="en-US" b="1" u="sng" smtClean="0"/>
          </a:p>
          <a:p>
            <a:pPr eaLnBrk="1" hangingPunct="1"/>
            <a:r>
              <a:rPr lang="en-US" b="1" u="sng" smtClean="0"/>
              <a:t>Iteration-1, Objects-Centroids distances</a:t>
            </a:r>
            <a:r>
              <a:rPr lang="en-US" i="1" smtClean="0"/>
              <a:t> </a:t>
            </a:r>
            <a:r>
              <a:rPr lang="en-US" smtClean="0"/>
              <a:t>:     The next step is to compute the distance of          all objects to the new centroids. </a:t>
            </a:r>
          </a:p>
          <a:p>
            <a:pPr eaLnBrk="1" hangingPunct="1"/>
            <a:r>
              <a:rPr lang="en-US" smtClean="0"/>
              <a:t>Similar to step 2, we have distance matrix at iteration 1 is </a:t>
            </a:r>
          </a:p>
        </p:txBody>
      </p:sp>
      <p:pic>
        <p:nvPicPr>
          <p:cNvPr id="26627" name="Picture 4" descr="NumericalExample_clip_image022"/>
          <p:cNvPicPr>
            <a:picLocks noChangeAspect="1" noChangeArrowheads="1"/>
          </p:cNvPicPr>
          <p:nvPr/>
        </p:nvPicPr>
        <p:blipFill>
          <a:blip r:embed="rId2"/>
          <a:srcRect/>
          <a:stretch>
            <a:fillRect/>
          </a:stretch>
        </p:blipFill>
        <p:spPr bwMode="auto">
          <a:xfrm>
            <a:off x="1828800" y="3324225"/>
            <a:ext cx="6043202" cy="2619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5"/>
          <p:cNvSpPr>
            <a:spLocks noGrp="1" noChangeArrowheads="1"/>
          </p:cNvSpPr>
          <p:nvPr>
            <p:ph type="body" sz="half" idx="1"/>
          </p:nvPr>
        </p:nvSpPr>
        <p:spPr>
          <a:xfrm>
            <a:off x="0" y="228600"/>
            <a:ext cx="4724400" cy="6629400"/>
          </a:xfrm>
        </p:spPr>
        <p:txBody>
          <a:bodyPr/>
          <a:lstStyle/>
          <a:p>
            <a:pPr eaLnBrk="1" hangingPunct="1"/>
            <a:r>
              <a:rPr lang="en-US" sz="2200" b="1" u="sng" dirty="0" smtClean="0"/>
              <a:t>Iteration-1, Objects </a:t>
            </a:r>
            <a:r>
              <a:rPr lang="en-US" sz="2200" b="1" u="sng" dirty="0" err="1" smtClean="0"/>
              <a:t>clustering:</a:t>
            </a:r>
            <a:r>
              <a:rPr lang="en-US" sz="2200" dirty="0" err="1" smtClean="0"/>
              <a:t>Based</a:t>
            </a:r>
            <a:r>
              <a:rPr lang="en-US" sz="2200" dirty="0" smtClean="0"/>
              <a:t> on the new distance matrix, we move the medicine B to   Group 1 while all the other objects remain. The Group matrix is shown below </a:t>
            </a:r>
          </a:p>
          <a:p>
            <a:pPr eaLnBrk="1" hangingPunct="1">
              <a:lnSpc>
                <a:spcPct val="80000"/>
              </a:lnSpc>
            </a:pPr>
            <a:endParaRPr lang="en-US" sz="2200" dirty="0" smtClean="0"/>
          </a:p>
          <a:p>
            <a:pPr eaLnBrk="1" hangingPunct="1">
              <a:lnSpc>
                <a:spcPct val="80000"/>
              </a:lnSpc>
            </a:pPr>
            <a:endParaRPr lang="en-US" sz="2200" dirty="0" smtClean="0"/>
          </a:p>
          <a:p>
            <a:pPr eaLnBrk="1" hangingPunct="1">
              <a:lnSpc>
                <a:spcPct val="80000"/>
              </a:lnSpc>
            </a:pPr>
            <a:endParaRPr lang="en-US" sz="2200" dirty="0" smtClean="0"/>
          </a:p>
          <a:p>
            <a:pPr eaLnBrk="1" hangingPunct="1">
              <a:lnSpc>
                <a:spcPct val="80000"/>
              </a:lnSpc>
            </a:pPr>
            <a:endParaRPr lang="en-US" sz="1600" dirty="0" smtClean="0"/>
          </a:p>
          <a:p>
            <a:pPr eaLnBrk="1" hangingPunct="1"/>
            <a:r>
              <a:rPr lang="en-US" sz="2200" b="1" u="sng" dirty="0" smtClean="0"/>
              <a:t>Iteration 2, determine </a:t>
            </a:r>
            <a:r>
              <a:rPr lang="en-US" sz="2200" b="1" u="sng" dirty="0" err="1" smtClean="0"/>
              <a:t>centroids</a:t>
            </a:r>
            <a:r>
              <a:rPr lang="en-US" sz="2200" b="1" u="sng" dirty="0" smtClean="0"/>
              <a:t>:</a:t>
            </a:r>
            <a:r>
              <a:rPr lang="en-US" sz="2200" i="1" dirty="0" smtClean="0"/>
              <a:t> </a:t>
            </a:r>
            <a:r>
              <a:rPr lang="en-US" sz="2200" dirty="0" smtClean="0"/>
              <a:t>Now we repeat step 4 to calculate the new </a:t>
            </a:r>
            <a:r>
              <a:rPr lang="en-US" sz="2200" dirty="0" err="1" smtClean="0"/>
              <a:t>centroids</a:t>
            </a:r>
            <a:r>
              <a:rPr lang="en-US" sz="2200" dirty="0" smtClean="0"/>
              <a:t> coordinate based on the clustering of previous iteration. Group1 and group 2 both has two members, thus the new </a:t>
            </a:r>
            <a:r>
              <a:rPr lang="en-US" sz="2200" dirty="0" err="1" smtClean="0"/>
              <a:t>centroids</a:t>
            </a:r>
            <a:r>
              <a:rPr lang="en-US" sz="2200" dirty="0" smtClean="0"/>
              <a:t> are                   </a:t>
            </a:r>
          </a:p>
          <a:p>
            <a:pPr eaLnBrk="1" hangingPunct="1">
              <a:lnSpc>
                <a:spcPct val="80000"/>
              </a:lnSpc>
              <a:buFont typeface="Wingdings" pitchFamily="2" charset="2"/>
              <a:buNone/>
            </a:pPr>
            <a:r>
              <a:rPr lang="en-US" sz="2200" dirty="0" smtClean="0"/>
              <a:t>	and</a:t>
            </a:r>
          </a:p>
        </p:txBody>
      </p:sp>
      <p:pic>
        <p:nvPicPr>
          <p:cNvPr id="27651" name="Picture 7" descr="k means clustering iteration 2"/>
          <p:cNvPicPr>
            <a:picLocks noGrp="1" noChangeAspect="1" noChangeArrowheads="1"/>
          </p:cNvPicPr>
          <p:nvPr>
            <p:ph sz="half" idx="2"/>
          </p:nvPr>
        </p:nvPicPr>
        <p:blipFill>
          <a:blip r:embed="rId2"/>
          <a:srcRect/>
          <a:stretch>
            <a:fillRect/>
          </a:stretch>
        </p:blipFill>
        <p:spPr>
          <a:xfrm>
            <a:off x="4929188" y="685800"/>
            <a:ext cx="4138612" cy="5144557"/>
          </a:xfrm>
          <a:noFill/>
        </p:spPr>
      </p:pic>
      <p:pic>
        <p:nvPicPr>
          <p:cNvPr id="27652" name="Picture 8" descr="NumericalExample_clip_image024"/>
          <p:cNvPicPr>
            <a:picLocks noChangeAspect="1" noChangeArrowheads="1"/>
          </p:cNvPicPr>
          <p:nvPr/>
        </p:nvPicPr>
        <p:blipFill>
          <a:blip r:embed="rId3"/>
          <a:srcRect/>
          <a:stretch>
            <a:fillRect/>
          </a:stretch>
        </p:blipFill>
        <p:spPr bwMode="auto">
          <a:xfrm>
            <a:off x="381000" y="2362201"/>
            <a:ext cx="3581400" cy="1170842"/>
          </a:xfrm>
          <a:prstGeom prst="rect">
            <a:avLst/>
          </a:prstGeom>
          <a:noFill/>
          <a:ln w="9525">
            <a:noFill/>
            <a:miter lim="800000"/>
            <a:headEnd/>
            <a:tailEnd/>
          </a:ln>
        </p:spPr>
      </p:pic>
      <p:pic>
        <p:nvPicPr>
          <p:cNvPr id="27653" name="Picture 9" descr="NumericalExample_clip_image026"/>
          <p:cNvPicPr>
            <a:picLocks noChangeAspect="1" noChangeArrowheads="1"/>
          </p:cNvPicPr>
          <p:nvPr/>
        </p:nvPicPr>
        <p:blipFill>
          <a:blip r:embed="rId4"/>
          <a:srcRect/>
          <a:stretch>
            <a:fillRect/>
          </a:stretch>
        </p:blipFill>
        <p:spPr bwMode="auto">
          <a:xfrm>
            <a:off x="1295400" y="5943600"/>
            <a:ext cx="1676400" cy="421671"/>
          </a:xfrm>
          <a:prstGeom prst="rect">
            <a:avLst/>
          </a:prstGeom>
          <a:noFill/>
          <a:ln w="9525">
            <a:noFill/>
            <a:miter lim="800000"/>
            <a:headEnd/>
            <a:tailEnd/>
          </a:ln>
        </p:spPr>
      </p:pic>
      <p:pic>
        <p:nvPicPr>
          <p:cNvPr id="27654" name="Picture 10" descr="NumericalExample_clip_image102"/>
          <p:cNvPicPr>
            <a:picLocks noChangeAspect="1" noChangeArrowheads="1"/>
          </p:cNvPicPr>
          <p:nvPr/>
        </p:nvPicPr>
        <p:blipFill>
          <a:blip r:embed="rId5"/>
          <a:srcRect/>
          <a:stretch>
            <a:fillRect/>
          </a:stretch>
        </p:blipFill>
        <p:spPr bwMode="auto">
          <a:xfrm>
            <a:off x="1219200" y="6324600"/>
            <a:ext cx="1781175" cy="390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endParaRPr lang="en-US" smtClean="0"/>
          </a:p>
        </p:txBody>
      </p:sp>
      <p:sp>
        <p:nvSpPr>
          <p:cNvPr id="28675" name="Rectangle 3"/>
          <p:cNvSpPr>
            <a:spLocks noGrp="1" noChangeArrowheads="1"/>
          </p:cNvSpPr>
          <p:nvPr>
            <p:ph type="body" idx="1"/>
          </p:nvPr>
        </p:nvSpPr>
        <p:spPr/>
        <p:txBody>
          <a:bodyPr/>
          <a:lstStyle/>
          <a:p>
            <a:pPr eaLnBrk="1" hangingPunct="1"/>
            <a:r>
              <a:rPr lang="en-US" b="1" u="sng" smtClean="0"/>
              <a:t>Iteration-2, Objects-Centroids distances</a:t>
            </a:r>
            <a:r>
              <a:rPr lang="en-US" i="1" smtClean="0"/>
              <a:t> </a:t>
            </a:r>
            <a:r>
              <a:rPr lang="en-US" smtClean="0"/>
              <a:t>: Repeat step 2 again, we have new distance matrix at iteration 2 as </a:t>
            </a:r>
          </a:p>
        </p:txBody>
      </p:sp>
      <p:pic>
        <p:nvPicPr>
          <p:cNvPr id="28676" name="Picture 4" descr="NumericalExample_clip_image102_0000"/>
          <p:cNvPicPr>
            <a:picLocks noChangeAspect="1" noChangeArrowheads="1"/>
          </p:cNvPicPr>
          <p:nvPr/>
        </p:nvPicPr>
        <p:blipFill>
          <a:blip r:embed="rId2"/>
          <a:srcRect/>
          <a:stretch>
            <a:fillRect/>
          </a:stretch>
        </p:blipFill>
        <p:spPr bwMode="auto">
          <a:xfrm>
            <a:off x="1676400" y="3781425"/>
            <a:ext cx="5486400" cy="2085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body" idx="1"/>
          </p:nvPr>
        </p:nvSpPr>
        <p:spPr>
          <a:xfrm>
            <a:off x="0" y="0"/>
            <a:ext cx="9144000" cy="6858000"/>
          </a:xfrm>
        </p:spPr>
        <p:txBody>
          <a:bodyPr/>
          <a:lstStyle/>
          <a:p>
            <a:pPr eaLnBrk="1" hangingPunct="1">
              <a:lnSpc>
                <a:spcPct val="90000"/>
              </a:lnSpc>
            </a:pPr>
            <a:r>
              <a:rPr lang="en-US" b="1" u="sng" dirty="0" smtClean="0"/>
              <a:t>Iteration-2, Objects clustering:</a:t>
            </a:r>
            <a:r>
              <a:rPr lang="en-US" i="1" dirty="0" smtClean="0"/>
              <a:t> </a:t>
            </a:r>
            <a:r>
              <a:rPr lang="en-US" dirty="0" smtClean="0"/>
              <a:t>Again, we    assign each object based on the minimum distance. </a:t>
            </a:r>
          </a:p>
          <a:p>
            <a:pPr eaLnBrk="1" hangingPunct="1">
              <a:lnSpc>
                <a:spcPct val="90000"/>
              </a:lnSpc>
            </a:pPr>
            <a:endParaRPr lang="en-US" dirty="0" smtClean="0"/>
          </a:p>
          <a:p>
            <a:pPr eaLnBrk="1" hangingPunct="1">
              <a:lnSpc>
                <a:spcPct val="90000"/>
              </a:lnSpc>
              <a:buFont typeface="Wingdings" pitchFamily="2" charset="2"/>
              <a:buNone/>
            </a:pPr>
            <a:endParaRPr lang="en-US" dirty="0" smtClean="0"/>
          </a:p>
          <a:p>
            <a:pPr eaLnBrk="1" hangingPunct="1">
              <a:lnSpc>
                <a:spcPct val="90000"/>
              </a:lnSpc>
            </a:pPr>
            <a:endParaRPr lang="en-US" sz="1600" dirty="0" smtClean="0"/>
          </a:p>
          <a:p>
            <a:pPr eaLnBrk="1" hangingPunct="1">
              <a:lnSpc>
                <a:spcPct val="90000"/>
              </a:lnSpc>
            </a:pPr>
            <a:endParaRPr lang="en-US" dirty="0" smtClean="0"/>
          </a:p>
          <a:p>
            <a:pPr eaLnBrk="1" hangingPunct="1">
              <a:lnSpc>
                <a:spcPct val="90000"/>
              </a:lnSpc>
            </a:pPr>
            <a:r>
              <a:rPr lang="en-US" dirty="0" smtClean="0"/>
              <a:t>We obtain result that            . Comparing the grouping of last iteration and this iteration reveals that the objects does not move group anymore. </a:t>
            </a:r>
          </a:p>
          <a:p>
            <a:pPr eaLnBrk="1" hangingPunct="1">
              <a:lnSpc>
                <a:spcPct val="90000"/>
              </a:lnSpc>
            </a:pPr>
            <a:r>
              <a:rPr lang="en-US" dirty="0" smtClean="0"/>
              <a:t>Thus, the computation of the k-mean clustering has reached its stability and no more iteration is needed..</a:t>
            </a:r>
          </a:p>
        </p:txBody>
      </p:sp>
      <p:pic>
        <p:nvPicPr>
          <p:cNvPr id="29699" name="Picture 8" descr="C:\Documents and Settings\Debashree\My Documents\SEMINAR\k-means clustering\K-Means Clustering Numerical Example_files\NumericalExample_clip_image032.gif"/>
          <p:cNvPicPr>
            <a:picLocks noChangeAspect="1" noChangeArrowheads="1"/>
          </p:cNvPicPr>
          <p:nvPr/>
        </p:nvPicPr>
        <p:blipFill>
          <a:blip r:embed="rId2" r:link="rId3"/>
          <a:srcRect/>
          <a:stretch>
            <a:fillRect/>
          </a:stretch>
        </p:blipFill>
        <p:spPr bwMode="auto">
          <a:xfrm>
            <a:off x="1828800" y="1219200"/>
            <a:ext cx="5029200" cy="1983346"/>
          </a:xfrm>
          <a:prstGeom prst="rect">
            <a:avLst/>
          </a:prstGeom>
          <a:noFill/>
          <a:ln w="9525">
            <a:noFill/>
            <a:miter lim="800000"/>
            <a:headEnd/>
            <a:tailEnd/>
          </a:ln>
        </p:spPr>
      </p:pic>
      <p:pic>
        <p:nvPicPr>
          <p:cNvPr id="29700" name="Picture 11" descr="NumericalExample_clip_image034"/>
          <p:cNvPicPr>
            <a:picLocks noChangeAspect="1" noChangeArrowheads="1"/>
          </p:cNvPicPr>
          <p:nvPr/>
        </p:nvPicPr>
        <p:blipFill>
          <a:blip r:embed="rId4"/>
          <a:srcRect/>
          <a:stretch>
            <a:fillRect/>
          </a:stretch>
        </p:blipFill>
        <p:spPr bwMode="auto">
          <a:xfrm>
            <a:off x="4495800" y="3352800"/>
            <a:ext cx="1000125" cy="368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2"/>
          <p:cNvSpPr>
            <a:spLocks noGrp="1" noChangeArrowheads="1"/>
          </p:cNvSpPr>
          <p:nvPr>
            <p:ph type="title"/>
          </p:nvPr>
        </p:nvSpPr>
        <p:spPr/>
        <p:txBody>
          <a:bodyPr/>
          <a:lstStyle/>
          <a:p>
            <a:pPr eaLnBrk="1" hangingPunct="1"/>
            <a:endParaRPr lang="en-US" smtClean="0"/>
          </a:p>
        </p:txBody>
      </p:sp>
      <p:graphicFrame>
        <p:nvGraphicFramePr>
          <p:cNvPr id="93241" name="Group 57"/>
          <p:cNvGraphicFramePr>
            <a:graphicFrameLocks noGrp="1"/>
          </p:cNvGraphicFramePr>
          <p:nvPr>
            <p:ph idx="1"/>
          </p:nvPr>
        </p:nvGraphicFramePr>
        <p:xfrm>
          <a:off x="1676400" y="2667000"/>
          <a:ext cx="6400800" cy="2145032"/>
        </p:xfrm>
        <a:graphic>
          <a:graphicData uri="http://schemas.openxmlformats.org/drawingml/2006/table">
            <a:tbl>
              <a:tblPr/>
              <a:tblGrid>
                <a:gridCol w="1670050"/>
                <a:gridCol w="1911350"/>
                <a:gridCol w="1325563"/>
                <a:gridCol w="1493837"/>
              </a:tblGrid>
              <a:tr h="6286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smtClean="0">
                          <a:ln>
                            <a:noFill/>
                          </a:ln>
                          <a:solidFill>
                            <a:schemeClr val="tx1"/>
                          </a:solidFill>
                          <a:effectLst/>
                          <a:latin typeface="Times New Roman" pitchFamily="18" charset="0"/>
                          <a:cs typeface="Times New Roman" pitchFamily="18" charset="0"/>
                        </a:rPr>
                        <a:t>Object </a:t>
                      </a:r>
                      <a:endParaRPr kumimoji="0" lang="en-US" sz="1800" b="1" i="0" u="sng" strike="noStrike" cap="none" normalizeH="0" baseline="0" smtClean="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smtClean="0">
                          <a:ln>
                            <a:noFill/>
                          </a:ln>
                          <a:solidFill>
                            <a:schemeClr val="tx1"/>
                          </a:solidFill>
                          <a:effectLst/>
                          <a:latin typeface="Times New Roman" pitchFamily="18" charset="0"/>
                          <a:cs typeface="Times New Roman" pitchFamily="18" charset="0"/>
                        </a:rPr>
                        <a:t>Feature1(X):</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smtClean="0">
                          <a:ln>
                            <a:noFill/>
                          </a:ln>
                          <a:solidFill>
                            <a:schemeClr val="tx1"/>
                          </a:solidFill>
                          <a:effectLst/>
                          <a:latin typeface="Times New Roman" pitchFamily="18" charset="0"/>
                          <a:cs typeface="Times New Roman" pitchFamily="18" charset="0"/>
                        </a:rPr>
                        <a:t>weight index </a:t>
                      </a:r>
                      <a:endParaRPr kumimoji="0" lang="en-US" sz="1800" b="1" i="0" u="sng"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smtClean="0">
                          <a:ln>
                            <a:noFill/>
                          </a:ln>
                          <a:solidFill>
                            <a:schemeClr val="tx1"/>
                          </a:solidFill>
                          <a:effectLst/>
                          <a:latin typeface="Times New Roman" pitchFamily="18" charset="0"/>
                          <a:cs typeface="Times New Roman" pitchFamily="18" charset="0"/>
                        </a:rPr>
                        <a:t>Feature2</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smtClean="0">
                          <a:ln>
                            <a:noFill/>
                          </a:ln>
                          <a:solidFill>
                            <a:schemeClr val="tx1"/>
                          </a:solidFill>
                          <a:effectLst/>
                          <a:latin typeface="Times New Roman" pitchFamily="18" charset="0"/>
                          <a:cs typeface="Times New Roman" pitchFamily="18" charset="0"/>
                        </a:rPr>
                        <a:t>(Y): pH </a:t>
                      </a:r>
                      <a:endParaRPr kumimoji="0" lang="en-US" sz="1800" b="1" i="0" u="sng"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smtClean="0">
                          <a:ln>
                            <a:noFill/>
                          </a:ln>
                          <a:solidFill>
                            <a:schemeClr val="tx1"/>
                          </a:solidFill>
                          <a:effectLst/>
                          <a:latin typeface="Times New Roman" pitchFamily="18" charset="0"/>
                          <a:cs typeface="Times New Roman" pitchFamily="18" charset="0"/>
                        </a:rPr>
                        <a:t>Group</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smtClean="0">
                          <a:ln>
                            <a:noFill/>
                          </a:ln>
                          <a:solidFill>
                            <a:schemeClr val="tx1"/>
                          </a:solidFill>
                          <a:effectLst/>
                          <a:latin typeface="Times New Roman" pitchFamily="18" charset="0"/>
                          <a:cs typeface="Times New Roman" pitchFamily="18" charset="0"/>
                        </a:rPr>
                        <a:t>(result) </a:t>
                      </a:r>
                      <a:endParaRPr kumimoji="0" lang="en-US" sz="1800" b="1" i="0" u="sng"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376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Medicine A </a:t>
                      </a:r>
                      <a:endParaRPr kumimoji="0" lang="en-US" sz="1800" b="1"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1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1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1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r>
              <a:tr h="376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Medicine B </a:t>
                      </a:r>
                      <a:endParaRPr kumimoji="0" lang="en-US" sz="1800" b="1"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2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1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1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r>
              <a:tr h="376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Medicine C </a:t>
                      </a:r>
                      <a:endParaRPr kumimoji="0" lang="en-US" sz="1800" b="1"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4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3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2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r>
              <a:tr h="3762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Medicine D </a:t>
                      </a:r>
                      <a:endParaRPr kumimoji="0" lang="en-US" sz="1800" b="1" i="0" u="none" strike="noStrike" cap="none" normalizeH="0" baseline="0" smtClean="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5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4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     2 </a:t>
                      </a:r>
                      <a:endParaRPr kumimoji="0" lang="en-US" sz="1800" b="1" i="0" u="none" strike="noStrike" cap="none" normalizeH="0" baseline="0" smtClean="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tr>
            </a:tbl>
          </a:graphicData>
        </a:graphic>
      </p:graphicFrame>
      <p:sp>
        <p:nvSpPr>
          <p:cNvPr id="30744" name="Rectangle 59"/>
          <p:cNvSpPr>
            <a:spLocks noChangeArrowheads="1"/>
          </p:cNvSpPr>
          <p:nvPr/>
        </p:nvSpPr>
        <p:spPr bwMode="auto">
          <a:xfrm>
            <a:off x="457200" y="1905000"/>
            <a:ext cx="7315200" cy="396875"/>
          </a:xfrm>
          <a:prstGeom prst="rect">
            <a:avLst/>
          </a:prstGeom>
          <a:noFill/>
          <a:ln w="9525">
            <a:noFill/>
            <a:miter lim="800000"/>
            <a:headEnd/>
            <a:tailEnd/>
          </a:ln>
        </p:spPr>
        <p:txBody>
          <a:bodyPr>
            <a:spAutoFit/>
          </a:bodyPr>
          <a:lstStyle/>
          <a:p>
            <a:r>
              <a:rPr lang="en-US" sz="2000" b="1"/>
              <a:t>We get the final grouping as the results as: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a:xfrm>
            <a:off x="533400" y="228600"/>
            <a:ext cx="7772400" cy="914400"/>
          </a:xfrm>
        </p:spPr>
        <p:txBody>
          <a:bodyPr/>
          <a:lstStyle/>
          <a:p>
            <a:r>
              <a:rPr lang="en-US" dirty="0"/>
              <a:t>Getting </a:t>
            </a:r>
            <a:r>
              <a:rPr lang="en-US" i="0" dirty="0"/>
              <a:t>k</a:t>
            </a:r>
            <a:r>
              <a:rPr lang="en-US" dirty="0"/>
              <a:t>  Right</a:t>
            </a:r>
          </a:p>
        </p:txBody>
      </p:sp>
      <p:sp>
        <p:nvSpPr>
          <p:cNvPr id="458755" name="Rectangle 3"/>
          <p:cNvSpPr>
            <a:spLocks noGrp="1" noChangeArrowheads="1"/>
          </p:cNvSpPr>
          <p:nvPr>
            <p:ph type="body" idx="1"/>
          </p:nvPr>
        </p:nvSpPr>
        <p:spPr>
          <a:xfrm>
            <a:off x="838200" y="1143000"/>
            <a:ext cx="7772400" cy="4114800"/>
          </a:xfrm>
        </p:spPr>
        <p:txBody>
          <a:bodyPr/>
          <a:lstStyle/>
          <a:p>
            <a:r>
              <a:rPr lang="en-US" dirty="0"/>
              <a:t>Try different </a:t>
            </a:r>
            <a:r>
              <a:rPr lang="en-US" i="1" dirty="0"/>
              <a:t>k</a:t>
            </a:r>
            <a:r>
              <a:rPr lang="en-US" dirty="0"/>
              <a:t>, looking at the change in the average distance to </a:t>
            </a:r>
            <a:r>
              <a:rPr lang="en-US" dirty="0" err="1"/>
              <a:t>centroid</a:t>
            </a:r>
            <a:r>
              <a:rPr lang="en-US" dirty="0"/>
              <a:t>, as </a:t>
            </a:r>
            <a:r>
              <a:rPr lang="en-US" i="1" dirty="0"/>
              <a:t>k</a:t>
            </a:r>
            <a:r>
              <a:rPr lang="en-US" dirty="0"/>
              <a:t>  increases.</a:t>
            </a:r>
          </a:p>
          <a:p>
            <a:r>
              <a:rPr lang="en-US" dirty="0"/>
              <a:t>Average falls rapidly until right </a:t>
            </a:r>
            <a:r>
              <a:rPr lang="en-US" i="1" dirty="0"/>
              <a:t>k</a:t>
            </a:r>
            <a:r>
              <a:rPr lang="en-US" dirty="0"/>
              <a:t>, then changes little.</a:t>
            </a:r>
          </a:p>
        </p:txBody>
      </p:sp>
      <p:sp>
        <p:nvSpPr>
          <p:cNvPr id="458765" name="Line 13"/>
          <p:cNvSpPr>
            <a:spLocks noChangeShapeType="1"/>
          </p:cNvSpPr>
          <p:nvPr/>
        </p:nvSpPr>
        <p:spPr bwMode="auto">
          <a:xfrm flipV="1">
            <a:off x="2438400" y="4462463"/>
            <a:ext cx="0" cy="228600"/>
          </a:xfrm>
          <a:prstGeom prst="line">
            <a:avLst/>
          </a:prstGeom>
          <a:noFill/>
          <a:ln w="9525">
            <a:noFill/>
            <a:round/>
            <a:headEnd/>
            <a:tailEnd type="triangle" w="med" len="med"/>
          </a:ln>
          <a:effectLst/>
        </p:spPr>
        <p:txBody>
          <a:bodyPr/>
          <a:lstStyle/>
          <a:p>
            <a:endParaRPr lang="en-US"/>
          </a:p>
        </p:txBody>
      </p:sp>
      <p:sp>
        <p:nvSpPr>
          <p:cNvPr id="458766" name="Line 14"/>
          <p:cNvSpPr>
            <a:spLocks noChangeShapeType="1"/>
          </p:cNvSpPr>
          <p:nvPr/>
        </p:nvSpPr>
        <p:spPr bwMode="auto">
          <a:xfrm>
            <a:off x="4267200" y="5986463"/>
            <a:ext cx="304800" cy="0"/>
          </a:xfrm>
          <a:prstGeom prst="line">
            <a:avLst/>
          </a:prstGeom>
          <a:noFill/>
          <a:ln w="9525">
            <a:noFill/>
            <a:round/>
            <a:headEnd/>
            <a:tailEnd type="triangle" w="med" len="med"/>
          </a:ln>
          <a:effectLst/>
        </p:spPr>
        <p:txBody>
          <a:bodyPr/>
          <a:lstStyle/>
          <a:p>
            <a:endParaRPr lang="en-US"/>
          </a:p>
        </p:txBody>
      </p:sp>
      <p:sp>
        <p:nvSpPr>
          <p:cNvPr id="458769" name="Line 17"/>
          <p:cNvSpPr>
            <a:spLocks noChangeShapeType="1"/>
          </p:cNvSpPr>
          <p:nvPr/>
        </p:nvSpPr>
        <p:spPr bwMode="auto">
          <a:xfrm>
            <a:off x="5029200" y="5072063"/>
            <a:ext cx="0" cy="533400"/>
          </a:xfrm>
          <a:prstGeom prst="line">
            <a:avLst/>
          </a:prstGeom>
          <a:noFill/>
          <a:ln w="9525">
            <a:noFill/>
            <a:round/>
            <a:headEnd/>
            <a:tailEnd type="triangle" w="med" len="med"/>
          </a:ln>
          <a:effectLst/>
        </p:spPr>
        <p:txBody>
          <a:bodyPr/>
          <a:lstStyle/>
          <a:p>
            <a:endParaRPr lang="en-US"/>
          </a:p>
        </p:txBody>
      </p:sp>
      <p:sp>
        <p:nvSpPr>
          <p:cNvPr id="458770" name="Line 18"/>
          <p:cNvSpPr>
            <a:spLocks noChangeShapeType="1"/>
          </p:cNvSpPr>
          <p:nvPr/>
        </p:nvSpPr>
        <p:spPr bwMode="auto">
          <a:xfrm flipV="1">
            <a:off x="3429000" y="4038600"/>
            <a:ext cx="0" cy="1828800"/>
          </a:xfrm>
          <a:prstGeom prst="line">
            <a:avLst/>
          </a:prstGeom>
          <a:noFill/>
          <a:ln w="9525">
            <a:solidFill>
              <a:schemeClr val="tx1"/>
            </a:solidFill>
            <a:round/>
            <a:headEnd/>
            <a:tailEnd type="triangle" w="med" len="med"/>
          </a:ln>
          <a:effectLst/>
        </p:spPr>
        <p:txBody>
          <a:bodyPr anchor="ctr"/>
          <a:lstStyle/>
          <a:p>
            <a:endParaRPr lang="en-US"/>
          </a:p>
        </p:txBody>
      </p:sp>
      <p:sp>
        <p:nvSpPr>
          <p:cNvPr id="458771" name="Line 19"/>
          <p:cNvSpPr>
            <a:spLocks noChangeShapeType="1"/>
          </p:cNvSpPr>
          <p:nvPr/>
        </p:nvSpPr>
        <p:spPr bwMode="auto">
          <a:xfrm>
            <a:off x="3429000" y="5867400"/>
            <a:ext cx="3048000" cy="0"/>
          </a:xfrm>
          <a:prstGeom prst="line">
            <a:avLst/>
          </a:prstGeom>
          <a:noFill/>
          <a:ln w="9525">
            <a:solidFill>
              <a:schemeClr val="tx1"/>
            </a:solidFill>
            <a:round/>
            <a:headEnd/>
            <a:tailEnd type="triangle" w="med" len="med"/>
          </a:ln>
          <a:effectLst/>
        </p:spPr>
        <p:txBody>
          <a:bodyPr anchor="ctr"/>
          <a:lstStyle/>
          <a:p>
            <a:endParaRPr lang="en-US"/>
          </a:p>
        </p:txBody>
      </p:sp>
      <p:grpSp>
        <p:nvGrpSpPr>
          <p:cNvPr id="2" name="Group 16"/>
          <p:cNvGrpSpPr>
            <a:grpSpLocks/>
          </p:cNvGrpSpPr>
          <p:nvPr/>
        </p:nvGrpSpPr>
        <p:grpSpPr bwMode="auto">
          <a:xfrm>
            <a:off x="5029200" y="4343400"/>
            <a:ext cx="1630363" cy="1109662"/>
            <a:chOff x="2544" y="2997"/>
            <a:chExt cx="1027" cy="699"/>
          </a:xfrm>
        </p:grpSpPr>
        <p:sp>
          <p:nvSpPr>
            <p:cNvPr id="19" name="Text Box 12"/>
            <p:cNvSpPr txBox="1">
              <a:spLocks noChangeArrowheads="1"/>
            </p:cNvSpPr>
            <p:nvPr/>
          </p:nvSpPr>
          <p:spPr bwMode="auto">
            <a:xfrm>
              <a:off x="2582" y="2997"/>
              <a:ext cx="989" cy="518"/>
            </a:xfrm>
            <a:prstGeom prst="rect">
              <a:avLst/>
            </a:prstGeom>
            <a:noFill/>
            <a:ln w="9525">
              <a:noFill/>
              <a:miter lim="800000"/>
              <a:headEnd/>
              <a:tailEnd/>
            </a:ln>
            <a:effectLst/>
          </p:spPr>
          <p:txBody>
            <a:bodyPr wrap="none">
              <a:spAutoFit/>
            </a:bodyPr>
            <a:lstStyle/>
            <a:p>
              <a:r>
                <a:rPr lang="en-US" dirty="0"/>
                <a:t>Best value</a:t>
              </a:r>
            </a:p>
            <a:p>
              <a:r>
                <a:rPr lang="en-US" dirty="0"/>
                <a:t>of </a:t>
              </a:r>
              <a:r>
                <a:rPr lang="en-US" i="1" dirty="0"/>
                <a:t>k</a:t>
              </a:r>
            </a:p>
          </p:txBody>
        </p:sp>
        <p:sp>
          <p:nvSpPr>
            <p:cNvPr id="20" name="Line 13"/>
            <p:cNvSpPr>
              <a:spLocks noChangeShapeType="1"/>
            </p:cNvSpPr>
            <p:nvPr/>
          </p:nvSpPr>
          <p:spPr bwMode="auto">
            <a:xfrm>
              <a:off x="2544" y="3360"/>
              <a:ext cx="0" cy="336"/>
            </a:xfrm>
            <a:prstGeom prst="line">
              <a:avLst/>
            </a:prstGeom>
            <a:noFill/>
            <a:ln w="9525">
              <a:solidFill>
                <a:schemeClr val="tx1"/>
              </a:solidFill>
              <a:round/>
              <a:headEnd/>
              <a:tailEnd type="triangle" w="med" len="med"/>
            </a:ln>
            <a:effectLst/>
          </p:spPr>
          <p:txBody>
            <a:bodyPr/>
            <a:lstStyle/>
            <a:p>
              <a:endParaRPr lang="en-US"/>
            </a:p>
          </p:txBody>
        </p:sp>
      </p:grpSp>
      <p:grpSp>
        <p:nvGrpSpPr>
          <p:cNvPr id="3" name="Group 17"/>
          <p:cNvGrpSpPr>
            <a:grpSpLocks/>
          </p:cNvGrpSpPr>
          <p:nvPr/>
        </p:nvGrpSpPr>
        <p:grpSpPr bwMode="auto">
          <a:xfrm>
            <a:off x="1828800" y="4495800"/>
            <a:ext cx="4130675" cy="1785938"/>
            <a:chOff x="518" y="2976"/>
            <a:chExt cx="2602" cy="1125"/>
          </a:xfrm>
        </p:grpSpPr>
        <p:grpSp>
          <p:nvGrpSpPr>
            <p:cNvPr id="4" name="Group 15"/>
            <p:cNvGrpSpPr>
              <a:grpSpLocks/>
            </p:cNvGrpSpPr>
            <p:nvPr/>
          </p:nvGrpSpPr>
          <p:grpSpPr bwMode="auto">
            <a:xfrm>
              <a:off x="1632" y="3024"/>
              <a:ext cx="1488" cy="768"/>
              <a:chOff x="1632" y="3024"/>
              <a:chExt cx="1488" cy="768"/>
            </a:xfrm>
          </p:grpSpPr>
          <p:sp>
            <p:nvSpPr>
              <p:cNvPr id="28" name="Line 4"/>
              <p:cNvSpPr>
                <a:spLocks noChangeShapeType="1"/>
              </p:cNvSpPr>
              <p:nvPr/>
            </p:nvSpPr>
            <p:spPr bwMode="auto">
              <a:xfrm>
                <a:off x="1632" y="3024"/>
                <a:ext cx="240" cy="336"/>
              </a:xfrm>
              <a:prstGeom prst="line">
                <a:avLst/>
              </a:prstGeom>
              <a:noFill/>
              <a:ln w="9525">
                <a:solidFill>
                  <a:schemeClr val="tx1"/>
                </a:solidFill>
                <a:round/>
                <a:headEnd/>
                <a:tailEnd/>
              </a:ln>
              <a:effectLst/>
            </p:spPr>
            <p:txBody>
              <a:bodyPr/>
              <a:lstStyle/>
              <a:p>
                <a:endParaRPr lang="en-US"/>
              </a:p>
            </p:txBody>
          </p:sp>
          <p:sp>
            <p:nvSpPr>
              <p:cNvPr id="29" name="Line 5"/>
              <p:cNvSpPr>
                <a:spLocks noChangeShapeType="1"/>
              </p:cNvSpPr>
              <p:nvPr/>
            </p:nvSpPr>
            <p:spPr bwMode="auto">
              <a:xfrm>
                <a:off x="1872" y="3360"/>
                <a:ext cx="336" cy="240"/>
              </a:xfrm>
              <a:prstGeom prst="line">
                <a:avLst/>
              </a:prstGeom>
              <a:noFill/>
              <a:ln w="9525">
                <a:solidFill>
                  <a:schemeClr val="tx1"/>
                </a:solidFill>
                <a:round/>
                <a:headEnd/>
                <a:tailEnd/>
              </a:ln>
              <a:effectLst/>
            </p:spPr>
            <p:txBody>
              <a:bodyPr/>
              <a:lstStyle/>
              <a:p>
                <a:endParaRPr lang="en-US"/>
              </a:p>
            </p:txBody>
          </p:sp>
          <p:sp>
            <p:nvSpPr>
              <p:cNvPr id="30" name="Line 6"/>
              <p:cNvSpPr>
                <a:spLocks noChangeShapeType="1"/>
              </p:cNvSpPr>
              <p:nvPr/>
            </p:nvSpPr>
            <p:spPr bwMode="auto">
              <a:xfrm>
                <a:off x="2208" y="3600"/>
                <a:ext cx="336" cy="144"/>
              </a:xfrm>
              <a:prstGeom prst="line">
                <a:avLst/>
              </a:prstGeom>
              <a:noFill/>
              <a:ln w="9525">
                <a:solidFill>
                  <a:schemeClr val="tx1"/>
                </a:solidFill>
                <a:round/>
                <a:headEnd/>
                <a:tailEnd/>
              </a:ln>
              <a:effectLst/>
            </p:spPr>
            <p:txBody>
              <a:bodyPr/>
              <a:lstStyle/>
              <a:p>
                <a:endParaRPr lang="en-US"/>
              </a:p>
            </p:txBody>
          </p:sp>
          <p:sp>
            <p:nvSpPr>
              <p:cNvPr id="31" name="Line 7"/>
              <p:cNvSpPr>
                <a:spLocks noChangeShapeType="1"/>
              </p:cNvSpPr>
              <p:nvPr/>
            </p:nvSpPr>
            <p:spPr bwMode="auto">
              <a:xfrm>
                <a:off x="2544" y="3744"/>
                <a:ext cx="576" cy="48"/>
              </a:xfrm>
              <a:prstGeom prst="line">
                <a:avLst/>
              </a:prstGeom>
              <a:noFill/>
              <a:ln w="9525">
                <a:solidFill>
                  <a:schemeClr val="tx1"/>
                </a:solidFill>
                <a:round/>
                <a:headEnd/>
                <a:tailEnd/>
              </a:ln>
              <a:effectLst/>
            </p:spPr>
            <p:txBody>
              <a:bodyPr/>
              <a:lstStyle/>
              <a:p>
                <a:endParaRPr lang="en-US"/>
              </a:p>
            </p:txBody>
          </p:sp>
        </p:grpSp>
        <p:grpSp>
          <p:nvGrpSpPr>
            <p:cNvPr id="5" name="Group 14"/>
            <p:cNvGrpSpPr>
              <a:grpSpLocks/>
            </p:cNvGrpSpPr>
            <p:nvPr/>
          </p:nvGrpSpPr>
          <p:grpSpPr bwMode="auto">
            <a:xfrm>
              <a:off x="518" y="2976"/>
              <a:ext cx="1738" cy="1125"/>
              <a:chOff x="518" y="2976"/>
              <a:chExt cx="1738" cy="1125"/>
            </a:xfrm>
          </p:grpSpPr>
          <p:sp>
            <p:nvSpPr>
              <p:cNvPr id="24" name="Text Box 8"/>
              <p:cNvSpPr txBox="1">
                <a:spLocks noChangeArrowheads="1"/>
              </p:cNvSpPr>
              <p:nvPr/>
            </p:nvSpPr>
            <p:spPr bwMode="auto">
              <a:xfrm>
                <a:off x="1814" y="3813"/>
                <a:ext cx="212" cy="288"/>
              </a:xfrm>
              <a:prstGeom prst="rect">
                <a:avLst/>
              </a:prstGeom>
              <a:noFill/>
              <a:ln w="9525">
                <a:noFill/>
                <a:miter lim="800000"/>
                <a:headEnd/>
                <a:tailEnd/>
              </a:ln>
              <a:effectLst/>
            </p:spPr>
            <p:txBody>
              <a:bodyPr wrap="none">
                <a:spAutoFit/>
              </a:bodyPr>
              <a:lstStyle/>
              <a:p>
                <a:r>
                  <a:rPr lang="en-US" i="1"/>
                  <a:t>k</a:t>
                </a:r>
              </a:p>
            </p:txBody>
          </p:sp>
          <p:sp>
            <p:nvSpPr>
              <p:cNvPr id="25" name="Text Box 9"/>
              <p:cNvSpPr txBox="1">
                <a:spLocks noChangeArrowheads="1"/>
              </p:cNvSpPr>
              <p:nvPr/>
            </p:nvSpPr>
            <p:spPr bwMode="auto">
              <a:xfrm>
                <a:off x="518" y="3141"/>
                <a:ext cx="1042" cy="748"/>
              </a:xfrm>
              <a:prstGeom prst="rect">
                <a:avLst/>
              </a:prstGeom>
              <a:noFill/>
              <a:ln w="9525">
                <a:noFill/>
                <a:miter lim="800000"/>
                <a:headEnd/>
                <a:tailEnd/>
              </a:ln>
              <a:effectLst/>
            </p:spPr>
            <p:txBody>
              <a:bodyPr wrap="none">
                <a:spAutoFit/>
              </a:bodyPr>
              <a:lstStyle/>
              <a:p>
                <a:r>
                  <a:rPr lang="en-US" dirty="0"/>
                  <a:t>Average</a:t>
                </a:r>
              </a:p>
              <a:p>
                <a:r>
                  <a:rPr lang="en-US" dirty="0"/>
                  <a:t>distance to</a:t>
                </a:r>
              </a:p>
              <a:p>
                <a:r>
                  <a:rPr lang="en-US" dirty="0" err="1"/>
                  <a:t>centroid</a:t>
                </a:r>
                <a:endParaRPr lang="en-US" dirty="0"/>
              </a:p>
            </p:txBody>
          </p:sp>
          <p:sp>
            <p:nvSpPr>
              <p:cNvPr id="26" name="Line 10"/>
              <p:cNvSpPr>
                <a:spLocks noChangeShapeType="1"/>
              </p:cNvSpPr>
              <p:nvPr/>
            </p:nvSpPr>
            <p:spPr bwMode="auto">
              <a:xfrm flipV="1">
                <a:off x="912" y="2976"/>
                <a:ext cx="0" cy="144"/>
              </a:xfrm>
              <a:prstGeom prst="line">
                <a:avLst/>
              </a:prstGeom>
              <a:noFill/>
              <a:ln w="9525">
                <a:solidFill>
                  <a:schemeClr val="tx1"/>
                </a:solidFill>
                <a:round/>
                <a:headEnd/>
                <a:tailEnd type="triangle" w="med" len="med"/>
              </a:ln>
              <a:effectLst/>
            </p:spPr>
            <p:txBody>
              <a:bodyPr/>
              <a:lstStyle/>
              <a:p>
                <a:endParaRPr lang="en-US"/>
              </a:p>
            </p:txBody>
          </p:sp>
          <p:sp>
            <p:nvSpPr>
              <p:cNvPr id="27" name="Line 11"/>
              <p:cNvSpPr>
                <a:spLocks noChangeShapeType="1"/>
              </p:cNvSpPr>
              <p:nvPr/>
            </p:nvSpPr>
            <p:spPr bwMode="auto">
              <a:xfrm>
                <a:off x="2064" y="3936"/>
                <a:ext cx="192" cy="0"/>
              </a:xfrm>
              <a:prstGeom prst="line">
                <a:avLst/>
              </a:prstGeom>
              <a:noFill/>
              <a:ln w="9525">
                <a:solidFill>
                  <a:schemeClr val="tx1"/>
                </a:solidFill>
                <a:round/>
                <a:headEnd/>
                <a:tailEnd type="triangle" w="med" len="med"/>
              </a:ln>
              <a:effectLst/>
            </p:spPr>
            <p:txBody>
              <a:bodyPr/>
              <a:lstStyle/>
              <a:p>
                <a:endParaRPr lang="en-US"/>
              </a:p>
            </p:txBody>
          </p:sp>
        </p:grpSp>
      </p:grpSp>
      <p:sp>
        <p:nvSpPr>
          <p:cNvPr id="32"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8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87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5"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3"/>
          <p:cNvSpPr>
            <a:spLocks noGrp="1" noChangeArrowheads="1"/>
          </p:cNvSpPr>
          <p:nvPr>
            <p:ph type="body" idx="1"/>
          </p:nvPr>
        </p:nvSpPr>
        <p:spPr>
          <a:xfrm>
            <a:off x="685800" y="1066800"/>
            <a:ext cx="7772400" cy="5638800"/>
          </a:xfrm>
        </p:spPr>
        <p:txBody>
          <a:bodyPr/>
          <a:lstStyle/>
          <a:p>
            <a:pPr marL="292100" indent="-292100">
              <a:lnSpc>
                <a:spcPct val="90000"/>
              </a:lnSpc>
            </a:pPr>
            <a:r>
              <a:rPr lang="en-US" sz="2400" dirty="0"/>
              <a:t>Most common measure is Sum of Squared Error (SSE)</a:t>
            </a:r>
          </a:p>
          <a:p>
            <a:pPr marL="800100" lvl="1" indent="-342900">
              <a:lnSpc>
                <a:spcPct val="90000"/>
              </a:lnSpc>
            </a:pPr>
            <a:r>
              <a:rPr lang="en-US" sz="2000" dirty="0"/>
              <a:t>For each point, the error is the distance to the nearest cluster</a:t>
            </a:r>
          </a:p>
          <a:p>
            <a:pPr marL="800100" lvl="1" indent="-342900">
              <a:lnSpc>
                <a:spcPct val="90000"/>
              </a:lnSpc>
            </a:pPr>
            <a:r>
              <a:rPr lang="en-US" sz="2000" dirty="0"/>
              <a:t>To get SSE, we square these errors and sum them.</a:t>
            </a:r>
          </a:p>
          <a:p>
            <a:pPr marL="800100" lvl="1" indent="-342900">
              <a:lnSpc>
                <a:spcPct val="90000"/>
              </a:lnSpc>
            </a:pPr>
            <a:endParaRPr lang="en-US" sz="2000" dirty="0"/>
          </a:p>
          <a:p>
            <a:pPr marL="800100" lvl="1" indent="-342900">
              <a:lnSpc>
                <a:spcPct val="90000"/>
              </a:lnSpc>
              <a:buFontTx/>
              <a:buNone/>
            </a:pPr>
            <a:endParaRPr lang="en-US" sz="2000" dirty="0"/>
          </a:p>
          <a:p>
            <a:pPr marL="800100" lvl="1" indent="-342900">
              <a:lnSpc>
                <a:spcPct val="90000"/>
              </a:lnSpc>
            </a:pPr>
            <a:endParaRPr lang="en-US" sz="2000" dirty="0"/>
          </a:p>
          <a:p>
            <a:pPr marL="800100" lvl="1" indent="-342900">
              <a:lnSpc>
                <a:spcPct val="90000"/>
              </a:lnSpc>
            </a:pPr>
            <a:endParaRPr lang="en-US" sz="1000" i="1" dirty="0"/>
          </a:p>
          <a:p>
            <a:pPr marL="800100" lvl="1" indent="-342900">
              <a:lnSpc>
                <a:spcPct val="90000"/>
              </a:lnSpc>
            </a:pPr>
            <a:r>
              <a:rPr lang="en-US" sz="2000" i="1" dirty="0"/>
              <a:t>x </a:t>
            </a:r>
            <a:r>
              <a:rPr lang="en-US" sz="2000" dirty="0"/>
              <a:t>is a data point in cluster </a:t>
            </a:r>
            <a:r>
              <a:rPr lang="en-US" sz="2000" i="1" dirty="0" err="1"/>
              <a:t>C</a:t>
            </a:r>
            <a:r>
              <a:rPr lang="en-US" sz="2000" baseline="-25000" dirty="0" err="1"/>
              <a:t>i</a:t>
            </a:r>
            <a:r>
              <a:rPr lang="en-US" sz="2000" baseline="-25000" dirty="0"/>
              <a:t> </a:t>
            </a:r>
            <a:r>
              <a:rPr lang="en-US" sz="2000" dirty="0"/>
              <a:t>and </a:t>
            </a:r>
            <a:r>
              <a:rPr lang="en-US" sz="2000" i="1" dirty="0"/>
              <a:t>m</a:t>
            </a:r>
            <a:r>
              <a:rPr lang="en-US" sz="2000" i="1" baseline="-25000" dirty="0"/>
              <a:t>i</a:t>
            </a:r>
            <a:r>
              <a:rPr lang="en-US" sz="2000" dirty="0"/>
              <a:t> is the representative point for cluster </a:t>
            </a:r>
            <a:r>
              <a:rPr lang="en-US" sz="2000" i="1" dirty="0" err="1"/>
              <a:t>C</a:t>
            </a:r>
            <a:r>
              <a:rPr lang="en-US" sz="2000" baseline="-25000" dirty="0" err="1"/>
              <a:t>i</a:t>
            </a:r>
            <a:r>
              <a:rPr lang="en-US" sz="2000" dirty="0"/>
              <a:t> </a:t>
            </a:r>
          </a:p>
          <a:p>
            <a:pPr marL="914400" lvl="2" indent="0">
              <a:lnSpc>
                <a:spcPct val="90000"/>
              </a:lnSpc>
            </a:pPr>
            <a:r>
              <a:rPr lang="en-US" sz="1800" dirty="0"/>
              <a:t> can show that </a:t>
            </a:r>
            <a:r>
              <a:rPr lang="en-US" sz="1800" i="1" dirty="0"/>
              <a:t>m</a:t>
            </a:r>
            <a:r>
              <a:rPr lang="en-US" sz="1800" i="1" baseline="-25000" dirty="0"/>
              <a:t>i</a:t>
            </a:r>
            <a:r>
              <a:rPr lang="en-US" sz="1800" baseline="-25000" dirty="0"/>
              <a:t> </a:t>
            </a:r>
            <a:r>
              <a:rPr lang="en-US" sz="1800" dirty="0"/>
              <a:t>corresponds to the center (mean) of the cluster</a:t>
            </a:r>
          </a:p>
          <a:p>
            <a:pPr marL="800100" lvl="1" indent="-342900">
              <a:lnSpc>
                <a:spcPct val="90000"/>
              </a:lnSpc>
            </a:pPr>
            <a:r>
              <a:rPr lang="en-US" sz="2000" dirty="0"/>
              <a:t>Given two clusters, we can choose the one with the smallest error</a:t>
            </a:r>
          </a:p>
          <a:p>
            <a:pPr marL="800100" lvl="1" indent="-342900">
              <a:lnSpc>
                <a:spcPct val="90000"/>
              </a:lnSpc>
            </a:pPr>
            <a:r>
              <a:rPr lang="en-US" sz="2000" dirty="0"/>
              <a:t>One easy way to reduce SSE is to increase K, the number of clusters</a:t>
            </a:r>
          </a:p>
          <a:p>
            <a:pPr marL="914400" lvl="2" indent="0">
              <a:lnSpc>
                <a:spcPct val="90000"/>
              </a:lnSpc>
            </a:pPr>
            <a:r>
              <a:rPr lang="en-US" sz="1800" dirty="0"/>
              <a:t> A good clustering with smaller K can have a lower SSE than a poor clustering with higher K</a:t>
            </a:r>
          </a:p>
        </p:txBody>
      </p:sp>
      <p:sp>
        <p:nvSpPr>
          <p:cNvPr id="5"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33</a:t>
            </a:fld>
            <a:endParaRPr lang="en-US" dirty="0"/>
          </a:p>
        </p:txBody>
      </p:sp>
      <p:sp>
        <p:nvSpPr>
          <p:cNvPr id="478210" name="Rectangle 2"/>
          <p:cNvSpPr>
            <a:spLocks noGrp="1" noChangeArrowheads="1"/>
          </p:cNvSpPr>
          <p:nvPr>
            <p:ph type="title"/>
          </p:nvPr>
        </p:nvSpPr>
        <p:spPr>
          <a:xfrm>
            <a:off x="609600" y="152400"/>
            <a:ext cx="7772400" cy="914400"/>
          </a:xfrm>
        </p:spPr>
        <p:txBody>
          <a:bodyPr/>
          <a:lstStyle/>
          <a:p>
            <a:r>
              <a:rPr lang="en-US" dirty="0"/>
              <a:t>Evaluating K-means Clusters</a:t>
            </a:r>
          </a:p>
        </p:txBody>
      </p:sp>
      <p:graphicFrame>
        <p:nvGraphicFramePr>
          <p:cNvPr id="478212" name="Object 4"/>
          <p:cNvGraphicFramePr>
            <a:graphicFrameLocks noChangeAspect="1"/>
          </p:cNvGraphicFramePr>
          <p:nvPr>
            <p:ph sz="half" idx="4294967295"/>
          </p:nvPr>
        </p:nvGraphicFramePr>
        <p:xfrm>
          <a:off x="2286000" y="2590800"/>
          <a:ext cx="3286125" cy="993775"/>
        </p:xfrm>
        <a:graphic>
          <a:graphicData uri="http://schemas.openxmlformats.org/presentationml/2006/ole">
            <p:oleObj spid="_x0000_s428034" name="Equation" r:id="rId3" imgW="1523880" imgH="457200" progId="">
              <p:embed/>
            </p:oleObj>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r>
              <a:rPr lang="en-US"/>
              <a:t>Limitations of K-means</a:t>
            </a:r>
          </a:p>
        </p:txBody>
      </p:sp>
      <p:sp>
        <p:nvSpPr>
          <p:cNvPr id="454659" name="Rectangle 3"/>
          <p:cNvSpPr>
            <a:spLocks noGrp="1" noChangeArrowheads="1"/>
          </p:cNvSpPr>
          <p:nvPr>
            <p:ph type="body" idx="1"/>
          </p:nvPr>
        </p:nvSpPr>
        <p:spPr>
          <a:xfrm>
            <a:off x="457200" y="1981200"/>
            <a:ext cx="8229600" cy="4114800"/>
          </a:xfrm>
        </p:spPr>
        <p:txBody>
          <a:bodyPr/>
          <a:lstStyle/>
          <a:p>
            <a:pPr marL="292100" indent="-292100"/>
            <a:r>
              <a:rPr lang="en-US" dirty="0"/>
              <a:t>K-means has problems when clusters are of differing </a:t>
            </a:r>
          </a:p>
          <a:p>
            <a:pPr marL="800100" lvl="1" indent="-342900"/>
            <a:r>
              <a:rPr lang="en-US" dirty="0"/>
              <a:t>Sizes</a:t>
            </a:r>
          </a:p>
          <a:p>
            <a:pPr marL="800100" lvl="1" indent="-342900"/>
            <a:r>
              <a:rPr lang="en-US" dirty="0"/>
              <a:t>Non-globular </a:t>
            </a:r>
            <a:r>
              <a:rPr lang="en-US" dirty="0" smtClean="0"/>
              <a:t>shapes(non Convex)</a:t>
            </a:r>
            <a:endParaRPr lang="en-US" dirty="0"/>
          </a:p>
          <a:p>
            <a:pPr marL="292100" indent="-292100"/>
            <a:endParaRPr lang="en-US" dirty="0"/>
          </a:p>
          <a:p>
            <a:pPr marL="292100" indent="-292100"/>
            <a:r>
              <a:rPr lang="en-US" dirty="0"/>
              <a:t>K-means has problems when the data contains outliers.</a:t>
            </a:r>
          </a:p>
        </p:txBody>
      </p:sp>
      <p:sp>
        <p:nvSpPr>
          <p:cNvPr id="5"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34</a:t>
            </a:fld>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a:xfrm>
            <a:off x="381000" y="152400"/>
            <a:ext cx="8280400" cy="552450"/>
          </a:xfrm>
        </p:spPr>
        <p:txBody>
          <a:bodyPr/>
          <a:lstStyle/>
          <a:p>
            <a:r>
              <a:rPr lang="en-US" sz="2800"/>
              <a:t>Limitations of K-means: Differing Sizes</a:t>
            </a:r>
          </a:p>
        </p:txBody>
      </p:sp>
      <p:sp>
        <p:nvSpPr>
          <p:cNvPr id="455683" name="Rectangle 3"/>
          <p:cNvSpPr>
            <a:spLocks noGrp="1" noChangeArrowheads="1"/>
          </p:cNvSpPr>
          <p:nvPr>
            <p:ph type="body" idx="1"/>
          </p:nvPr>
        </p:nvSpPr>
        <p:spPr>
          <a:xfrm>
            <a:off x="465138" y="914400"/>
            <a:ext cx="8283575" cy="1033463"/>
          </a:xfrm>
        </p:spPr>
        <p:txBody>
          <a:bodyPr/>
          <a:lstStyle/>
          <a:p>
            <a:pPr marL="533400" indent="-533400">
              <a:lnSpc>
                <a:spcPct val="90000"/>
              </a:lnSpc>
              <a:buFontTx/>
              <a:buNone/>
            </a:pPr>
            <a:endParaRPr lang="en-US"/>
          </a:p>
          <a:p>
            <a:pPr marL="990600" lvl="1" indent="-533400">
              <a:lnSpc>
                <a:spcPct val="90000"/>
              </a:lnSpc>
            </a:pPr>
            <a:endParaRPr lang="en-US"/>
          </a:p>
          <a:p>
            <a:pPr marL="990600" lvl="1" indent="-533400">
              <a:lnSpc>
                <a:spcPct val="90000"/>
              </a:lnSpc>
            </a:pPr>
            <a:endParaRPr lang="en-US" sz="2000"/>
          </a:p>
          <a:p>
            <a:pPr marL="990600" lvl="1" indent="-533400">
              <a:lnSpc>
                <a:spcPct val="90000"/>
              </a:lnSpc>
              <a:buFontTx/>
              <a:buNone/>
            </a:pPr>
            <a:endParaRPr lang="en-US" sz="2000"/>
          </a:p>
        </p:txBody>
      </p:sp>
      <p:pic>
        <p:nvPicPr>
          <p:cNvPr id="455684" name="Picture 4"/>
          <p:cNvPicPr>
            <a:picLocks noChangeAspect="1" noChangeArrowheads="1"/>
          </p:cNvPicPr>
          <p:nvPr/>
        </p:nvPicPr>
        <p:blipFill>
          <a:blip r:embed="rId2"/>
          <a:srcRect/>
          <a:stretch>
            <a:fillRect/>
          </a:stretch>
        </p:blipFill>
        <p:spPr bwMode="auto">
          <a:xfrm>
            <a:off x="152400" y="1447800"/>
            <a:ext cx="4268788" cy="3200400"/>
          </a:xfrm>
          <a:prstGeom prst="rect">
            <a:avLst/>
          </a:prstGeom>
          <a:noFill/>
          <a:ln w="28575">
            <a:solidFill>
              <a:schemeClr val="tx1"/>
            </a:solidFill>
            <a:miter lim="800000"/>
            <a:headEnd/>
            <a:tailEnd/>
          </a:ln>
          <a:effectLst/>
        </p:spPr>
      </p:pic>
      <p:pic>
        <p:nvPicPr>
          <p:cNvPr id="455685" name="Picture 5"/>
          <p:cNvPicPr>
            <a:picLocks noChangeAspect="1" noChangeArrowheads="1"/>
          </p:cNvPicPr>
          <p:nvPr/>
        </p:nvPicPr>
        <p:blipFill>
          <a:blip r:embed="rId3"/>
          <a:srcRect/>
          <a:stretch>
            <a:fillRect/>
          </a:stretch>
        </p:blipFill>
        <p:spPr bwMode="auto">
          <a:xfrm>
            <a:off x="4722813" y="1447800"/>
            <a:ext cx="4268787" cy="3200400"/>
          </a:xfrm>
          <a:prstGeom prst="rect">
            <a:avLst/>
          </a:prstGeom>
          <a:noFill/>
          <a:ln w="28575">
            <a:solidFill>
              <a:schemeClr val="tx1"/>
            </a:solidFill>
            <a:miter lim="800000"/>
            <a:headEnd/>
            <a:tailEnd/>
          </a:ln>
          <a:effectLst/>
        </p:spPr>
      </p:pic>
      <p:sp>
        <p:nvSpPr>
          <p:cNvPr id="455686" name="Text Box 6"/>
          <p:cNvSpPr txBox="1">
            <a:spLocks noChangeArrowheads="1"/>
          </p:cNvSpPr>
          <p:nvPr/>
        </p:nvSpPr>
        <p:spPr bwMode="auto">
          <a:xfrm>
            <a:off x="1219200" y="4876800"/>
            <a:ext cx="2057400" cy="366713"/>
          </a:xfrm>
          <a:prstGeom prst="rect">
            <a:avLst/>
          </a:prstGeom>
          <a:noFill/>
          <a:ln w="12700">
            <a:noFill/>
            <a:miter lim="800000"/>
            <a:headEnd/>
            <a:tailEnd/>
          </a:ln>
          <a:effectLst/>
        </p:spPr>
        <p:txBody>
          <a:bodyPr>
            <a:spAutoFit/>
          </a:bodyPr>
          <a:lstStyle/>
          <a:p>
            <a:pPr algn="l" eaLnBrk="0" hangingPunct="0">
              <a:spcBef>
                <a:spcPct val="50000"/>
              </a:spcBef>
            </a:pPr>
            <a:r>
              <a:rPr lang="en-US" sz="1800" dirty="0">
                <a:solidFill>
                  <a:schemeClr val="accent2"/>
                </a:solidFill>
              </a:rPr>
              <a:t>Original Points</a:t>
            </a:r>
          </a:p>
        </p:txBody>
      </p:sp>
      <p:sp>
        <p:nvSpPr>
          <p:cNvPr id="455687" name="Rectangle 7"/>
          <p:cNvSpPr>
            <a:spLocks noChangeArrowheads="1"/>
          </p:cNvSpPr>
          <p:nvPr/>
        </p:nvSpPr>
        <p:spPr bwMode="auto">
          <a:xfrm>
            <a:off x="5715000" y="4876800"/>
            <a:ext cx="2470150" cy="366713"/>
          </a:xfrm>
          <a:prstGeom prst="rect">
            <a:avLst/>
          </a:prstGeom>
          <a:noFill/>
          <a:ln w="12700">
            <a:noFill/>
            <a:miter lim="800000"/>
            <a:headEnd/>
            <a:tailEnd/>
          </a:ln>
          <a:effectLst/>
        </p:spPr>
        <p:txBody>
          <a:bodyPr wrap="none">
            <a:spAutoFit/>
          </a:bodyPr>
          <a:lstStyle/>
          <a:p>
            <a:pPr algn="l" eaLnBrk="0" hangingPunct="0">
              <a:spcBef>
                <a:spcPct val="50000"/>
              </a:spcBef>
            </a:pPr>
            <a:r>
              <a:rPr lang="en-US" sz="1800" dirty="0">
                <a:solidFill>
                  <a:schemeClr val="accent2"/>
                </a:solidFill>
              </a:rPr>
              <a:t>K-means (3 Clusters)</a:t>
            </a:r>
          </a:p>
        </p:txBody>
      </p:sp>
      <p:sp>
        <p:nvSpPr>
          <p:cNvPr id="455688" name="Oval 8"/>
          <p:cNvSpPr>
            <a:spLocks noChangeArrowheads="1"/>
          </p:cNvSpPr>
          <p:nvPr/>
        </p:nvSpPr>
        <p:spPr bwMode="auto">
          <a:xfrm>
            <a:off x="609600" y="2514600"/>
            <a:ext cx="838200" cy="1066800"/>
          </a:xfrm>
          <a:prstGeom prst="ellipse">
            <a:avLst/>
          </a:prstGeom>
          <a:noFill/>
          <a:ln w="38100" algn="ctr">
            <a:solidFill>
              <a:schemeClr val="tx1"/>
            </a:solidFill>
            <a:round/>
            <a:headEnd/>
            <a:tailEnd/>
          </a:ln>
          <a:effectLst/>
        </p:spPr>
        <p:txBody>
          <a:bodyPr wrap="none" anchor="ctr"/>
          <a:lstStyle/>
          <a:p>
            <a:endParaRPr lang="en-US"/>
          </a:p>
        </p:txBody>
      </p:sp>
      <p:sp>
        <p:nvSpPr>
          <p:cNvPr id="455689" name="Oval 9"/>
          <p:cNvSpPr>
            <a:spLocks noChangeArrowheads="1"/>
          </p:cNvSpPr>
          <p:nvPr/>
        </p:nvSpPr>
        <p:spPr bwMode="auto">
          <a:xfrm>
            <a:off x="1447800" y="1905000"/>
            <a:ext cx="1828800" cy="1981200"/>
          </a:xfrm>
          <a:prstGeom prst="ellipse">
            <a:avLst/>
          </a:prstGeom>
          <a:noFill/>
          <a:ln w="38100" algn="ctr">
            <a:solidFill>
              <a:schemeClr val="tx1"/>
            </a:solidFill>
            <a:round/>
            <a:headEnd/>
            <a:tailEnd/>
          </a:ln>
          <a:effectLst/>
        </p:spPr>
        <p:txBody>
          <a:bodyPr wrap="none" anchor="ctr"/>
          <a:lstStyle/>
          <a:p>
            <a:endParaRPr lang="en-US"/>
          </a:p>
        </p:txBody>
      </p:sp>
      <p:sp>
        <p:nvSpPr>
          <p:cNvPr id="455690" name="Oval 10"/>
          <p:cNvSpPr>
            <a:spLocks noChangeArrowheads="1"/>
          </p:cNvSpPr>
          <p:nvPr/>
        </p:nvSpPr>
        <p:spPr bwMode="auto">
          <a:xfrm>
            <a:off x="3276600" y="2514600"/>
            <a:ext cx="838200" cy="1066800"/>
          </a:xfrm>
          <a:prstGeom prst="ellipse">
            <a:avLst/>
          </a:prstGeom>
          <a:noFill/>
          <a:ln w="38100" algn="ctr">
            <a:solidFill>
              <a:schemeClr val="tx1"/>
            </a:solidFill>
            <a:round/>
            <a:headEnd/>
            <a:tailEnd/>
          </a:ln>
          <a:effectLst/>
        </p:spPr>
        <p:txBody>
          <a:bodyPr wrap="none" anchor="ctr"/>
          <a:lstStyle/>
          <a:p>
            <a:endParaRPr lang="en-US"/>
          </a:p>
        </p:txBody>
      </p:sp>
      <p:sp>
        <p:nvSpPr>
          <p:cNvPr id="455691" name="Oval 11"/>
          <p:cNvSpPr>
            <a:spLocks noChangeArrowheads="1"/>
          </p:cNvSpPr>
          <p:nvPr/>
        </p:nvSpPr>
        <p:spPr bwMode="auto">
          <a:xfrm rot="2431631">
            <a:off x="4552950" y="1076325"/>
            <a:ext cx="2292350" cy="2438400"/>
          </a:xfrm>
          <a:prstGeom prst="ellipse">
            <a:avLst/>
          </a:prstGeom>
          <a:noFill/>
          <a:ln w="38100" algn="ctr">
            <a:solidFill>
              <a:schemeClr val="tx1"/>
            </a:solidFill>
            <a:round/>
            <a:headEnd/>
            <a:tailEnd/>
          </a:ln>
          <a:effectLst/>
        </p:spPr>
        <p:txBody>
          <a:bodyPr wrap="none" anchor="ctr"/>
          <a:lstStyle/>
          <a:p>
            <a:endParaRPr lang="en-US"/>
          </a:p>
        </p:txBody>
      </p:sp>
      <p:sp>
        <p:nvSpPr>
          <p:cNvPr id="455692" name="Oval 12"/>
          <p:cNvSpPr>
            <a:spLocks noChangeArrowheads="1"/>
          </p:cNvSpPr>
          <p:nvPr/>
        </p:nvSpPr>
        <p:spPr bwMode="auto">
          <a:xfrm rot="2103712">
            <a:off x="6246813" y="2960688"/>
            <a:ext cx="1219200" cy="1308100"/>
          </a:xfrm>
          <a:prstGeom prst="ellipse">
            <a:avLst/>
          </a:prstGeom>
          <a:noFill/>
          <a:ln w="38100" algn="ctr">
            <a:solidFill>
              <a:schemeClr val="tx1"/>
            </a:solidFill>
            <a:round/>
            <a:headEnd/>
            <a:tailEnd/>
          </a:ln>
          <a:effectLst/>
        </p:spPr>
        <p:txBody>
          <a:bodyPr wrap="none" anchor="ctr"/>
          <a:lstStyle/>
          <a:p>
            <a:endParaRPr lang="en-US"/>
          </a:p>
        </p:txBody>
      </p:sp>
      <p:sp>
        <p:nvSpPr>
          <p:cNvPr id="455693" name="Oval 13"/>
          <p:cNvSpPr>
            <a:spLocks noChangeArrowheads="1"/>
          </p:cNvSpPr>
          <p:nvPr/>
        </p:nvSpPr>
        <p:spPr bwMode="auto">
          <a:xfrm rot="2648141">
            <a:off x="7054850" y="1733550"/>
            <a:ext cx="1905000" cy="1814513"/>
          </a:xfrm>
          <a:prstGeom prst="ellipse">
            <a:avLst/>
          </a:prstGeom>
          <a:noFill/>
          <a:ln w="38100" algn="ctr">
            <a:solidFill>
              <a:schemeClr val="tx1"/>
            </a:solidFill>
            <a:round/>
            <a:headEnd/>
            <a:tailEnd/>
          </a:ln>
          <a:effectLst/>
        </p:spPr>
        <p:txBody>
          <a:bodyPr wrap="none" anchor="ctr"/>
          <a:lstStyle/>
          <a:p>
            <a:endParaRPr lang="en-US"/>
          </a:p>
        </p:txBody>
      </p:sp>
      <p:sp>
        <p:nvSpPr>
          <p:cNvPr id="15"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56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5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a:xfrm>
            <a:off x="381000" y="152400"/>
            <a:ext cx="8280400" cy="552450"/>
          </a:xfrm>
        </p:spPr>
        <p:txBody>
          <a:bodyPr/>
          <a:lstStyle/>
          <a:p>
            <a:r>
              <a:rPr lang="en-US" sz="2800"/>
              <a:t>Limitations of K-means: Differing Density</a:t>
            </a:r>
          </a:p>
        </p:txBody>
      </p:sp>
      <p:sp>
        <p:nvSpPr>
          <p:cNvPr id="456707" name="Rectangle 3"/>
          <p:cNvSpPr>
            <a:spLocks noGrp="1" noChangeArrowheads="1"/>
          </p:cNvSpPr>
          <p:nvPr>
            <p:ph type="body" idx="1"/>
          </p:nvPr>
        </p:nvSpPr>
        <p:spPr>
          <a:xfrm>
            <a:off x="465138" y="914400"/>
            <a:ext cx="8283575" cy="1033463"/>
          </a:xfrm>
        </p:spPr>
        <p:txBody>
          <a:bodyPr/>
          <a:lstStyle/>
          <a:p>
            <a:pPr marL="533400" indent="-533400">
              <a:lnSpc>
                <a:spcPct val="90000"/>
              </a:lnSpc>
              <a:buFontTx/>
              <a:buNone/>
            </a:pPr>
            <a:endParaRPr lang="en-US"/>
          </a:p>
          <a:p>
            <a:pPr marL="990600" lvl="1" indent="-533400">
              <a:lnSpc>
                <a:spcPct val="90000"/>
              </a:lnSpc>
            </a:pPr>
            <a:endParaRPr lang="en-US"/>
          </a:p>
          <a:p>
            <a:pPr marL="990600" lvl="1" indent="-533400">
              <a:lnSpc>
                <a:spcPct val="90000"/>
              </a:lnSpc>
            </a:pPr>
            <a:endParaRPr lang="en-US" sz="2000"/>
          </a:p>
          <a:p>
            <a:pPr marL="990600" lvl="1" indent="-533400">
              <a:lnSpc>
                <a:spcPct val="90000"/>
              </a:lnSpc>
              <a:buFontTx/>
              <a:buNone/>
            </a:pPr>
            <a:endParaRPr lang="en-US" sz="2000"/>
          </a:p>
        </p:txBody>
      </p:sp>
      <p:sp>
        <p:nvSpPr>
          <p:cNvPr id="456708" name="Text Box 4"/>
          <p:cNvSpPr txBox="1">
            <a:spLocks noChangeArrowheads="1"/>
          </p:cNvSpPr>
          <p:nvPr/>
        </p:nvSpPr>
        <p:spPr bwMode="auto">
          <a:xfrm>
            <a:off x="1219200" y="4724400"/>
            <a:ext cx="2133600" cy="366713"/>
          </a:xfrm>
          <a:prstGeom prst="rect">
            <a:avLst/>
          </a:prstGeom>
          <a:noFill/>
          <a:ln w="12700">
            <a:noFill/>
            <a:miter lim="800000"/>
            <a:headEnd/>
            <a:tailEnd/>
          </a:ln>
          <a:effectLst/>
        </p:spPr>
        <p:txBody>
          <a:bodyPr>
            <a:spAutoFit/>
          </a:bodyPr>
          <a:lstStyle/>
          <a:p>
            <a:pPr algn="l" eaLnBrk="0" hangingPunct="0">
              <a:spcBef>
                <a:spcPct val="50000"/>
              </a:spcBef>
            </a:pPr>
            <a:r>
              <a:rPr lang="en-US" sz="1800">
                <a:solidFill>
                  <a:schemeClr val="bg1"/>
                </a:solidFill>
              </a:rPr>
              <a:t>Original Points</a:t>
            </a:r>
          </a:p>
        </p:txBody>
      </p:sp>
      <p:pic>
        <p:nvPicPr>
          <p:cNvPr id="456709" name="Picture 5"/>
          <p:cNvPicPr>
            <a:picLocks noChangeAspect="1" noChangeArrowheads="1"/>
          </p:cNvPicPr>
          <p:nvPr/>
        </p:nvPicPr>
        <p:blipFill>
          <a:blip r:embed="rId2"/>
          <a:srcRect/>
          <a:stretch>
            <a:fillRect/>
          </a:stretch>
        </p:blipFill>
        <p:spPr bwMode="auto">
          <a:xfrm>
            <a:off x="228600" y="1447800"/>
            <a:ext cx="4268788" cy="3200400"/>
          </a:xfrm>
          <a:prstGeom prst="rect">
            <a:avLst/>
          </a:prstGeom>
          <a:noFill/>
          <a:ln w="28575" algn="ctr">
            <a:solidFill>
              <a:schemeClr val="tx1"/>
            </a:solidFill>
            <a:miter lim="800000"/>
            <a:headEnd/>
            <a:tailEnd/>
          </a:ln>
          <a:effectLst/>
        </p:spPr>
      </p:pic>
      <p:pic>
        <p:nvPicPr>
          <p:cNvPr id="456710" name="Picture 6"/>
          <p:cNvPicPr>
            <a:picLocks noChangeAspect="1" noChangeArrowheads="1"/>
          </p:cNvPicPr>
          <p:nvPr/>
        </p:nvPicPr>
        <p:blipFill>
          <a:blip r:embed="rId3"/>
          <a:srcRect/>
          <a:stretch>
            <a:fillRect/>
          </a:stretch>
        </p:blipFill>
        <p:spPr bwMode="auto">
          <a:xfrm>
            <a:off x="4648200" y="1447800"/>
            <a:ext cx="4268788" cy="3200400"/>
          </a:xfrm>
          <a:prstGeom prst="rect">
            <a:avLst/>
          </a:prstGeom>
          <a:noFill/>
          <a:ln w="28575" algn="ctr">
            <a:solidFill>
              <a:schemeClr val="tx1"/>
            </a:solidFill>
            <a:miter lim="800000"/>
            <a:headEnd/>
            <a:tailEnd/>
          </a:ln>
          <a:effectLst/>
        </p:spPr>
      </p:pic>
      <p:sp>
        <p:nvSpPr>
          <p:cNvPr id="456711" name="Rectangle 7"/>
          <p:cNvSpPr>
            <a:spLocks noChangeArrowheads="1"/>
          </p:cNvSpPr>
          <p:nvPr/>
        </p:nvSpPr>
        <p:spPr bwMode="auto">
          <a:xfrm>
            <a:off x="5638800" y="4724400"/>
            <a:ext cx="2470150" cy="366713"/>
          </a:xfrm>
          <a:prstGeom prst="rect">
            <a:avLst/>
          </a:prstGeom>
          <a:noFill/>
          <a:ln w="12700">
            <a:noFill/>
            <a:miter lim="800000"/>
            <a:headEnd/>
            <a:tailEnd/>
          </a:ln>
          <a:effectLst/>
        </p:spPr>
        <p:txBody>
          <a:bodyPr wrap="none">
            <a:spAutoFit/>
          </a:bodyPr>
          <a:lstStyle/>
          <a:p>
            <a:pPr algn="l" eaLnBrk="0" hangingPunct="0">
              <a:spcBef>
                <a:spcPct val="50000"/>
              </a:spcBef>
            </a:pPr>
            <a:r>
              <a:rPr lang="en-US" sz="1800">
                <a:solidFill>
                  <a:schemeClr val="bg1"/>
                </a:solidFill>
              </a:rPr>
              <a:t>K-means (3 Clusters)</a:t>
            </a:r>
          </a:p>
        </p:txBody>
      </p:sp>
      <p:sp>
        <p:nvSpPr>
          <p:cNvPr id="456712" name="Oval 8"/>
          <p:cNvSpPr>
            <a:spLocks noChangeArrowheads="1"/>
          </p:cNvSpPr>
          <p:nvPr/>
        </p:nvSpPr>
        <p:spPr bwMode="auto">
          <a:xfrm>
            <a:off x="685800" y="1905000"/>
            <a:ext cx="2209800" cy="2286000"/>
          </a:xfrm>
          <a:prstGeom prst="ellipse">
            <a:avLst/>
          </a:prstGeom>
          <a:noFill/>
          <a:ln w="38100" algn="ctr">
            <a:solidFill>
              <a:schemeClr val="tx1"/>
            </a:solidFill>
            <a:round/>
            <a:headEnd/>
            <a:tailEnd/>
          </a:ln>
          <a:effectLst/>
        </p:spPr>
        <p:txBody>
          <a:bodyPr wrap="none" anchor="ctr"/>
          <a:lstStyle/>
          <a:p>
            <a:endParaRPr lang="en-US"/>
          </a:p>
        </p:txBody>
      </p:sp>
      <p:sp>
        <p:nvSpPr>
          <p:cNvPr id="456713" name="Oval 9"/>
          <p:cNvSpPr>
            <a:spLocks noChangeArrowheads="1"/>
          </p:cNvSpPr>
          <p:nvPr/>
        </p:nvSpPr>
        <p:spPr bwMode="auto">
          <a:xfrm>
            <a:off x="3200400" y="2209800"/>
            <a:ext cx="1066800" cy="838200"/>
          </a:xfrm>
          <a:prstGeom prst="ellipse">
            <a:avLst/>
          </a:prstGeom>
          <a:noFill/>
          <a:ln w="38100" algn="ctr">
            <a:solidFill>
              <a:schemeClr val="tx1"/>
            </a:solidFill>
            <a:round/>
            <a:headEnd/>
            <a:tailEnd/>
          </a:ln>
          <a:effectLst/>
        </p:spPr>
        <p:txBody>
          <a:bodyPr wrap="none" anchor="ctr"/>
          <a:lstStyle/>
          <a:p>
            <a:endParaRPr lang="en-US"/>
          </a:p>
        </p:txBody>
      </p:sp>
      <p:sp>
        <p:nvSpPr>
          <p:cNvPr id="456714" name="Oval 10"/>
          <p:cNvSpPr>
            <a:spLocks noChangeArrowheads="1"/>
          </p:cNvSpPr>
          <p:nvPr/>
        </p:nvSpPr>
        <p:spPr bwMode="auto">
          <a:xfrm>
            <a:off x="3200400" y="3048000"/>
            <a:ext cx="1066800" cy="914400"/>
          </a:xfrm>
          <a:prstGeom prst="ellipse">
            <a:avLst/>
          </a:prstGeom>
          <a:noFill/>
          <a:ln w="38100" algn="ctr">
            <a:solidFill>
              <a:schemeClr val="tx1"/>
            </a:solidFill>
            <a:round/>
            <a:headEnd/>
            <a:tailEnd/>
          </a:ln>
          <a:effectLst/>
        </p:spPr>
        <p:txBody>
          <a:bodyPr wrap="none" anchor="ctr"/>
          <a:lstStyle/>
          <a:p>
            <a:endParaRPr lang="en-US"/>
          </a:p>
        </p:txBody>
      </p:sp>
      <p:sp>
        <p:nvSpPr>
          <p:cNvPr id="456715" name="Oval 11"/>
          <p:cNvSpPr>
            <a:spLocks noChangeArrowheads="1"/>
          </p:cNvSpPr>
          <p:nvPr/>
        </p:nvSpPr>
        <p:spPr bwMode="auto">
          <a:xfrm>
            <a:off x="4648200" y="1981200"/>
            <a:ext cx="1447800" cy="2209800"/>
          </a:xfrm>
          <a:prstGeom prst="ellipse">
            <a:avLst/>
          </a:prstGeom>
          <a:noFill/>
          <a:ln w="38100" algn="ctr">
            <a:solidFill>
              <a:schemeClr val="tx1"/>
            </a:solidFill>
            <a:round/>
            <a:headEnd/>
            <a:tailEnd/>
          </a:ln>
          <a:effectLst/>
        </p:spPr>
        <p:txBody>
          <a:bodyPr wrap="none" anchor="ctr"/>
          <a:lstStyle/>
          <a:p>
            <a:endParaRPr lang="en-US"/>
          </a:p>
        </p:txBody>
      </p:sp>
      <p:sp>
        <p:nvSpPr>
          <p:cNvPr id="456716" name="Oval 12"/>
          <p:cNvSpPr>
            <a:spLocks noChangeArrowheads="1"/>
          </p:cNvSpPr>
          <p:nvPr/>
        </p:nvSpPr>
        <p:spPr bwMode="auto">
          <a:xfrm rot="1472361">
            <a:off x="6165850" y="1919288"/>
            <a:ext cx="1323975" cy="2438400"/>
          </a:xfrm>
          <a:prstGeom prst="ellipse">
            <a:avLst/>
          </a:prstGeom>
          <a:noFill/>
          <a:ln w="38100" algn="ctr">
            <a:solidFill>
              <a:schemeClr val="tx1"/>
            </a:solidFill>
            <a:round/>
            <a:headEnd/>
            <a:tailEnd/>
          </a:ln>
          <a:effectLst/>
        </p:spPr>
        <p:txBody>
          <a:bodyPr wrap="none" anchor="ctr"/>
          <a:lstStyle/>
          <a:p>
            <a:endParaRPr lang="en-US"/>
          </a:p>
        </p:txBody>
      </p:sp>
      <p:sp>
        <p:nvSpPr>
          <p:cNvPr id="456717" name="Oval 13"/>
          <p:cNvSpPr>
            <a:spLocks noChangeArrowheads="1"/>
          </p:cNvSpPr>
          <p:nvPr/>
        </p:nvSpPr>
        <p:spPr bwMode="auto">
          <a:xfrm>
            <a:off x="7620000" y="1981200"/>
            <a:ext cx="1295400" cy="2209800"/>
          </a:xfrm>
          <a:prstGeom prst="ellipse">
            <a:avLst/>
          </a:prstGeom>
          <a:noFill/>
          <a:ln w="38100" algn="ctr">
            <a:solidFill>
              <a:schemeClr val="tx1"/>
            </a:solidFill>
            <a:round/>
            <a:headEnd/>
            <a:tailEnd/>
          </a:ln>
          <a:effectLst/>
        </p:spPr>
        <p:txBody>
          <a:bodyPr wrap="none" anchor="ctr"/>
          <a:lstStyle/>
          <a:p>
            <a:endParaRPr lang="en-US"/>
          </a:p>
        </p:txBody>
      </p:sp>
      <p:sp>
        <p:nvSpPr>
          <p:cNvPr id="15"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67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67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09600" y="228600"/>
            <a:ext cx="7772400" cy="1143000"/>
          </a:xfrm>
        </p:spPr>
        <p:txBody>
          <a:bodyPr/>
          <a:lstStyle/>
          <a:p>
            <a:pPr eaLnBrk="1" hangingPunct="1"/>
            <a:r>
              <a:rPr lang="en-US" sz="3500" u="sng" dirty="0" smtClean="0"/>
              <a:t>Weaknesses of K-Mean Clustering</a:t>
            </a:r>
            <a:r>
              <a:rPr lang="en-US" sz="3500" dirty="0" smtClean="0"/>
              <a:t/>
            </a:r>
            <a:br>
              <a:rPr lang="en-US" sz="3500" dirty="0" smtClean="0"/>
            </a:br>
            <a:r>
              <a:rPr lang="en-US" sz="3500" dirty="0" smtClean="0"/>
              <a:t> </a:t>
            </a:r>
          </a:p>
        </p:txBody>
      </p:sp>
      <p:sp>
        <p:nvSpPr>
          <p:cNvPr id="33795" name="Rectangle 3"/>
          <p:cNvSpPr>
            <a:spLocks noGrp="1" noChangeArrowheads="1"/>
          </p:cNvSpPr>
          <p:nvPr>
            <p:ph type="body" idx="1"/>
          </p:nvPr>
        </p:nvSpPr>
        <p:spPr>
          <a:xfrm>
            <a:off x="228600" y="990600"/>
            <a:ext cx="8686800" cy="5867400"/>
          </a:xfrm>
        </p:spPr>
        <p:txBody>
          <a:bodyPr/>
          <a:lstStyle/>
          <a:p>
            <a:pPr marL="571500" indent="-571500" eaLnBrk="1" hangingPunct="1">
              <a:buFont typeface="Wingdings" pitchFamily="2" charset="2"/>
              <a:buAutoNum type="arabicPeriod"/>
            </a:pPr>
            <a:r>
              <a:rPr lang="en-US" sz="2600" dirty="0" smtClean="0"/>
              <a:t>When the numbers of data are not so many, initial grouping will determine the cluster significantly. </a:t>
            </a:r>
          </a:p>
          <a:p>
            <a:pPr marL="571500" indent="-571500" eaLnBrk="1" hangingPunct="1">
              <a:buFont typeface="Wingdings" pitchFamily="2" charset="2"/>
              <a:buAutoNum type="arabicPeriod"/>
            </a:pPr>
            <a:r>
              <a:rPr lang="en-US" sz="2600" dirty="0" smtClean="0"/>
              <a:t>The number of cluster, K, must be determined before hand. Its disadvantage is that it does not yield the same result with each run, since the resulting clusters depend on the initial random assignments.</a:t>
            </a:r>
          </a:p>
          <a:p>
            <a:pPr marL="571500" indent="-571500" eaLnBrk="1" hangingPunct="1">
              <a:buFont typeface="Wingdings" pitchFamily="2" charset="2"/>
              <a:buAutoNum type="arabicPeriod"/>
            </a:pPr>
            <a:r>
              <a:rPr lang="en-US" sz="2600" dirty="0" smtClean="0"/>
              <a:t>We never know the real cluster, using the same data, because if it is input in a different order it may produce different cluster if the number of data is few. </a:t>
            </a:r>
          </a:p>
          <a:p>
            <a:pPr marL="571500" indent="-571500" eaLnBrk="1" hangingPunct="1">
              <a:buFont typeface="Wingdings" pitchFamily="2" charset="2"/>
              <a:buAutoNum type="arabicPeriod"/>
            </a:pPr>
            <a:r>
              <a:rPr lang="en-US" sz="2600" dirty="0" smtClean="0"/>
              <a:t>It is sensitive to initial condition. Different initial condition may produce different result of cluster. </a:t>
            </a:r>
          </a:p>
        </p:txBody>
      </p:sp>
      <p:sp>
        <p:nvSpPr>
          <p:cNvPr id="4"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37</a:t>
            </a:fld>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5" name="Rectangle 3"/>
          <p:cNvSpPr>
            <a:spLocks noGrp="1" noChangeArrowheads="1"/>
          </p:cNvSpPr>
          <p:nvPr>
            <p:ph type="body" idx="1"/>
          </p:nvPr>
        </p:nvSpPr>
        <p:spPr>
          <a:xfrm>
            <a:off x="685800" y="762000"/>
            <a:ext cx="7772400" cy="5943600"/>
          </a:xfrm>
        </p:spPr>
        <p:txBody>
          <a:bodyPr/>
          <a:lstStyle/>
          <a:p>
            <a:pPr marL="292100" indent="-292100"/>
            <a:r>
              <a:rPr lang="en-US" sz="3000" dirty="0"/>
              <a:t>Pre-processing</a:t>
            </a:r>
          </a:p>
          <a:p>
            <a:pPr marL="800100" lvl="1" indent="-342900"/>
            <a:r>
              <a:rPr lang="en-US" sz="2600" dirty="0"/>
              <a:t>Normalize the data</a:t>
            </a:r>
          </a:p>
          <a:p>
            <a:pPr marL="800100" lvl="1" indent="-342900"/>
            <a:r>
              <a:rPr lang="en-US" sz="2600" dirty="0"/>
              <a:t>Eliminate outliers</a:t>
            </a:r>
          </a:p>
          <a:p>
            <a:pPr marL="292100" indent="-292100"/>
            <a:r>
              <a:rPr lang="en-US" sz="3000" dirty="0" smtClean="0"/>
              <a:t>Post-processing</a:t>
            </a:r>
            <a:endParaRPr lang="en-US" sz="3000" dirty="0"/>
          </a:p>
          <a:p>
            <a:pPr marL="800100" lvl="1" indent="-342900"/>
            <a:r>
              <a:rPr lang="en-US" sz="2600" dirty="0"/>
              <a:t>Eliminate small clusters that may represent outliers</a:t>
            </a:r>
          </a:p>
          <a:p>
            <a:pPr marL="800100" lvl="1" indent="-342900"/>
            <a:r>
              <a:rPr lang="en-US" sz="2600" dirty="0"/>
              <a:t>Split ‘loose’ clusters, i.e., clusters with relatively high SSE</a:t>
            </a:r>
          </a:p>
          <a:p>
            <a:pPr marL="800100" lvl="1" indent="-342900"/>
            <a:r>
              <a:rPr lang="en-US" sz="2600" dirty="0"/>
              <a:t>Merge clusters that are ‘close’ and that have relatively low SSE</a:t>
            </a:r>
          </a:p>
          <a:p>
            <a:pPr marL="800100" lvl="1" indent="-342900"/>
            <a:r>
              <a:rPr lang="en-US" sz="2600" dirty="0"/>
              <a:t>Can use these steps during the clustering process</a:t>
            </a:r>
          </a:p>
          <a:p>
            <a:pPr marL="914400" lvl="2" indent="0"/>
            <a:r>
              <a:rPr lang="en-US" dirty="0"/>
              <a:t> </a:t>
            </a:r>
            <a:endParaRPr lang="en-US" sz="2200" dirty="0"/>
          </a:p>
        </p:txBody>
      </p:sp>
      <p:sp>
        <p:nvSpPr>
          <p:cNvPr id="494594" name="Rectangle 2"/>
          <p:cNvSpPr>
            <a:spLocks noGrp="1" noChangeArrowheads="1"/>
          </p:cNvSpPr>
          <p:nvPr>
            <p:ph type="title"/>
          </p:nvPr>
        </p:nvSpPr>
        <p:spPr>
          <a:xfrm>
            <a:off x="381000" y="76200"/>
            <a:ext cx="8382000" cy="838200"/>
          </a:xfrm>
        </p:spPr>
        <p:txBody>
          <a:bodyPr/>
          <a:lstStyle/>
          <a:p>
            <a:r>
              <a:rPr lang="en-US" sz="3200" dirty="0"/>
              <a:t>Pre-processing and Post-processing K-means</a:t>
            </a:r>
          </a:p>
        </p:txBody>
      </p:sp>
      <p:sp>
        <p:nvSpPr>
          <p:cNvPr id="5"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33400" y="228600"/>
            <a:ext cx="7772400" cy="1066800"/>
          </a:xfrm>
        </p:spPr>
        <p:txBody>
          <a:bodyPr/>
          <a:lstStyle/>
          <a:p>
            <a:pPr eaLnBrk="1" hangingPunct="1"/>
            <a:r>
              <a:rPr lang="en-US" u="sng" dirty="0" smtClean="0"/>
              <a:t>CONCLUSION</a:t>
            </a:r>
          </a:p>
        </p:txBody>
      </p:sp>
      <p:sp>
        <p:nvSpPr>
          <p:cNvPr id="35843" name="Rectangle 3"/>
          <p:cNvSpPr>
            <a:spLocks noGrp="1" noChangeArrowheads="1"/>
          </p:cNvSpPr>
          <p:nvPr>
            <p:ph type="body" idx="1"/>
          </p:nvPr>
        </p:nvSpPr>
        <p:spPr>
          <a:xfrm>
            <a:off x="609600" y="1447800"/>
            <a:ext cx="7772400" cy="4114800"/>
          </a:xfrm>
        </p:spPr>
        <p:txBody>
          <a:bodyPr/>
          <a:lstStyle/>
          <a:p>
            <a:pPr eaLnBrk="1" hangingPunct="1"/>
            <a:r>
              <a:rPr lang="en-US" i="1" dirty="0" smtClean="0"/>
              <a:t>K-means algorithm is </a:t>
            </a:r>
            <a:r>
              <a:rPr lang="en-US" dirty="0" smtClean="0"/>
              <a:t>useful for undirected knowledge discovery and is relatively simple. K-means has found wide spread usage in lot of fields, ranging from unsupervised learning of neural network, Pattern recognitions, Classification analysis, Artificial intelligence, image processing, machine vision, and many others.</a:t>
            </a:r>
          </a:p>
        </p:txBody>
      </p:sp>
      <p:sp>
        <p:nvSpPr>
          <p:cNvPr id="4" name="Slide Number Placeholder 3"/>
          <p:cNvSpPr>
            <a:spLocks noGrp="1"/>
          </p:cNvSpPr>
          <p:nvPr>
            <p:ph type="sldNum" sz="quarter" idx="10"/>
          </p:nvPr>
        </p:nvSpPr>
        <p:spPr>
          <a:xfrm>
            <a:off x="6858000" y="6248400"/>
            <a:ext cx="1905000" cy="457200"/>
          </a:xfrm>
        </p:spPr>
        <p:txBody>
          <a:bodyPr/>
          <a:lstStyle/>
          <a:p>
            <a:pPr algn="r"/>
            <a:fld id="{65B8164B-C726-4C5E-B449-29D7D3C9BDF3}" type="slidenum">
              <a:rPr lang="en-US"/>
              <a:pPr algn="r"/>
              <a:t>39</a:t>
            </a:fld>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2EB856A-5EE9-4C75-9C8B-B5A2F44E2785}" type="slidenum">
              <a:rPr lang="zh-CN" altLang="en-US"/>
              <a:pPr/>
              <a:t>40</a:t>
            </a:fld>
            <a:endParaRPr lang="en-US" altLang="zh-CN"/>
          </a:p>
        </p:txBody>
      </p:sp>
      <p:sp>
        <p:nvSpPr>
          <p:cNvPr id="1362948" name="Rectangle 4"/>
          <p:cNvSpPr>
            <a:spLocks noGrp="1" noChangeArrowheads="1"/>
          </p:cNvSpPr>
          <p:nvPr>
            <p:ph type="title"/>
          </p:nvPr>
        </p:nvSpPr>
        <p:spPr>
          <a:xfrm>
            <a:off x="228600" y="0"/>
            <a:ext cx="7772400" cy="990600"/>
          </a:xfrm>
        </p:spPr>
        <p:txBody>
          <a:bodyPr/>
          <a:lstStyle/>
          <a:p>
            <a:r>
              <a:rPr lang="en-US" altLang="zh-CN" i="1" dirty="0">
                <a:ea typeface="SimSun" pitchFamily="2" charset="-122"/>
              </a:rPr>
              <a:t>k</a:t>
            </a:r>
            <a:r>
              <a:rPr lang="en-US" altLang="zh-CN" dirty="0">
                <a:ea typeface="SimSun" pitchFamily="2" charset="-122"/>
              </a:rPr>
              <a:t>-modes Algorithm</a:t>
            </a:r>
          </a:p>
        </p:txBody>
      </p:sp>
      <p:sp>
        <p:nvSpPr>
          <p:cNvPr id="1362949" name="Rectangle 5"/>
          <p:cNvSpPr>
            <a:spLocks noGrp="1" noChangeArrowheads="1"/>
          </p:cNvSpPr>
          <p:nvPr>
            <p:ph type="body" idx="1"/>
          </p:nvPr>
        </p:nvSpPr>
        <p:spPr>
          <a:xfrm>
            <a:off x="304800" y="1066800"/>
            <a:ext cx="4343400" cy="5334000"/>
          </a:xfrm>
        </p:spPr>
        <p:txBody>
          <a:bodyPr/>
          <a:lstStyle/>
          <a:p>
            <a:r>
              <a:rPr lang="en-US" altLang="zh-CN" sz="3000" dirty="0">
                <a:ea typeface="SimSun" pitchFamily="2" charset="-122"/>
              </a:rPr>
              <a:t>Handling categorical data: </a:t>
            </a:r>
            <a:r>
              <a:rPr lang="en-US" altLang="zh-CN" sz="3000" i="1" dirty="0">
                <a:ea typeface="SimSun" pitchFamily="2" charset="-122"/>
              </a:rPr>
              <a:t>k</a:t>
            </a:r>
            <a:r>
              <a:rPr lang="en-US" altLang="zh-CN" sz="3000" dirty="0">
                <a:ea typeface="SimSun" pitchFamily="2" charset="-122"/>
              </a:rPr>
              <a:t>-modes (Huang’98)</a:t>
            </a:r>
          </a:p>
          <a:p>
            <a:pPr lvl="1"/>
            <a:r>
              <a:rPr lang="en-US" altLang="zh-CN" sz="2600" dirty="0">
                <a:ea typeface="SimSun" pitchFamily="2" charset="-122"/>
              </a:rPr>
              <a:t>Replacing means of clusters with </a:t>
            </a:r>
            <a:r>
              <a:rPr lang="en-US" altLang="zh-CN" sz="2600" i="1" dirty="0">
                <a:ea typeface="SimSun" pitchFamily="2" charset="-122"/>
              </a:rPr>
              <a:t>modes</a:t>
            </a:r>
          </a:p>
          <a:p>
            <a:pPr marL="976313" lvl="2"/>
            <a:r>
              <a:rPr lang="en-US" altLang="zh-CN" sz="2200" dirty="0">
                <a:ea typeface="SimSun" pitchFamily="2" charset="-122"/>
              </a:rPr>
              <a:t>Given </a:t>
            </a:r>
            <a:r>
              <a:rPr lang="en-US" altLang="zh-CN" sz="2200" i="1" dirty="0">
                <a:ea typeface="SimSun" pitchFamily="2" charset="-122"/>
              </a:rPr>
              <a:t>n</a:t>
            </a:r>
            <a:r>
              <a:rPr lang="en-US" altLang="zh-CN" sz="2200" dirty="0">
                <a:ea typeface="SimSun" pitchFamily="2" charset="-122"/>
              </a:rPr>
              <a:t> records in cluster, mode is record made up of most frequent attribute values</a:t>
            </a:r>
          </a:p>
        </p:txBody>
      </p:sp>
      <p:graphicFrame>
        <p:nvGraphicFramePr>
          <p:cNvPr id="1362950" name="Object 6"/>
          <p:cNvGraphicFramePr>
            <a:graphicFrameLocks noChangeAspect="1"/>
          </p:cNvGraphicFramePr>
          <p:nvPr/>
        </p:nvGraphicFramePr>
        <p:xfrm>
          <a:off x="4819650" y="990600"/>
          <a:ext cx="4171950" cy="4114800"/>
        </p:xfrm>
        <a:graphic>
          <a:graphicData uri="http://schemas.openxmlformats.org/presentationml/2006/ole">
            <p:oleObj spid="_x0000_s429058" name="Worksheet" r:id="rId4" imgW="4829251" imgH="4686300" progId="Excel.Sheet.8">
              <p:embed/>
            </p:oleObj>
          </a:graphicData>
        </a:graphic>
      </p:graphicFrame>
      <p:sp>
        <p:nvSpPr>
          <p:cNvPr id="1362951" name="Rectangle 7"/>
          <p:cNvSpPr>
            <a:spLocks noChangeArrowheads="1"/>
          </p:cNvSpPr>
          <p:nvPr/>
        </p:nvSpPr>
        <p:spPr bwMode="gray">
          <a:xfrm>
            <a:off x="304800" y="5181600"/>
            <a:ext cx="8258175" cy="1524000"/>
          </a:xfrm>
          <a:prstGeom prst="rect">
            <a:avLst/>
          </a:prstGeom>
          <a:solidFill>
            <a:schemeClr val="bg1"/>
          </a:solidFill>
          <a:ln w="9525">
            <a:noFill/>
            <a:miter lim="800000"/>
            <a:headEnd/>
            <a:tailEnd/>
          </a:ln>
          <a:effectLst/>
        </p:spPr>
        <p:txBody>
          <a:bodyPr lIns="92075" tIns="46038" rIns="92075" bIns="46038"/>
          <a:lstStyle/>
          <a:p>
            <a:pPr marL="1143000" lvl="2" indent="-228600">
              <a:buClr>
                <a:srgbClr val="FF9900"/>
              </a:buClr>
            </a:pPr>
            <a:r>
              <a:rPr lang="en-US" altLang="zh-CN" sz="2300" i="1" dirty="0">
                <a:solidFill>
                  <a:schemeClr val="tx1"/>
                </a:solidFill>
              </a:rPr>
              <a:t>In the example cluster, mode = (&lt;=30, medium, yes, fair)</a:t>
            </a:r>
          </a:p>
          <a:p>
            <a:pPr marL="742950" lvl="1" indent="-285750">
              <a:buClr>
                <a:srgbClr val="0000FF"/>
              </a:buClr>
              <a:buSzPct val="50000"/>
              <a:buFont typeface="Monotype Sorts" pitchFamily="2" charset="2"/>
              <a:buChar char="l"/>
            </a:pPr>
            <a:r>
              <a:rPr lang="en-US" altLang="zh-CN" sz="2400" dirty="0">
                <a:solidFill>
                  <a:schemeClr val="tx1"/>
                </a:solidFill>
              </a:rPr>
              <a:t>Using new dissimilarity measures to deal with categorical objects</a:t>
            </a:r>
          </a:p>
        </p:txBody>
      </p:sp>
      <p:sp>
        <p:nvSpPr>
          <p:cNvPr id="7" name="Slide Number Placeholder 3"/>
          <p:cNvSpPr txBox="1">
            <a:spLocks/>
          </p:cNvSpPr>
          <p:nvPr/>
        </p:nvSpPr>
        <p:spPr bwMode="auto">
          <a:xfrm>
            <a:off x="68580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B8164B-C726-4C5E-B449-29D7D3C9BDF3}" type="slidenum">
              <a:rPr kumimoji="0" lang="en-US" sz="1400" b="1" i="0" u="none" strike="noStrike" kern="1200" cap="none" spc="0" normalizeH="0" baseline="0" noProof="0" smtClean="0">
                <a:ln>
                  <a:noFill/>
                </a:ln>
                <a:solidFill>
                  <a:schemeClr val="tx1"/>
                </a:solidFill>
                <a:effectLst/>
                <a:uLnTx/>
                <a:uFillTx/>
                <a:latin typeface="Times New Roman" pitchFamily="18"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sz="1400" b="1" i="0" u="none" strike="noStrike" kern="1200" cap="none" spc="0" normalizeH="0" baseline="0" noProof="0" dirty="0">
              <a:ln>
                <a:noFill/>
              </a:ln>
              <a:solidFill>
                <a:schemeClr val="tx1"/>
              </a:solidFill>
              <a:effectLst/>
              <a:uLnTx/>
              <a:uFillTx/>
              <a:latin typeface="Times New Roman" pitchFamily="18" charset="0"/>
              <a:ea typeface="+mn-ea"/>
              <a:cs typeface="Arial" charset="0"/>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Slide Number Placeholder 5"/>
          <p:cNvSpPr>
            <a:spLocks noGrp="1"/>
          </p:cNvSpPr>
          <p:nvPr>
            <p:ph type="sldNum" sz="quarter" idx="12"/>
          </p:nvPr>
        </p:nvSpPr>
        <p:spPr>
          <a:xfrm>
            <a:off x="6781800" y="6248400"/>
            <a:ext cx="1905000" cy="457200"/>
          </a:xfrm>
        </p:spPr>
        <p:txBody>
          <a:bodyPr/>
          <a:lstStyle/>
          <a:p>
            <a:fld id="{7AF3F4C6-E8DB-4094-9E58-8FBD7041C4C7}" type="slidenum">
              <a:rPr lang="zh-CN" altLang="en-US"/>
              <a:pPr/>
              <a:t>41</a:t>
            </a:fld>
            <a:endParaRPr lang="en-US" altLang="zh-CN" dirty="0"/>
          </a:p>
        </p:txBody>
      </p:sp>
      <p:sp>
        <p:nvSpPr>
          <p:cNvPr id="1544194" name="Rectangle 2"/>
          <p:cNvSpPr>
            <a:spLocks noGrp="1" noChangeArrowheads="1"/>
          </p:cNvSpPr>
          <p:nvPr>
            <p:ph type="title"/>
          </p:nvPr>
        </p:nvSpPr>
        <p:spPr>
          <a:xfrm>
            <a:off x="685800" y="381000"/>
            <a:ext cx="7772400" cy="914400"/>
          </a:xfrm>
        </p:spPr>
        <p:txBody>
          <a:bodyPr/>
          <a:lstStyle/>
          <a:p>
            <a:r>
              <a:rPr lang="en-US" altLang="ko-KR" dirty="0">
                <a:ea typeface="굴림" pitchFamily="34" charset="-127"/>
              </a:rPr>
              <a:t>A Problem of K-means</a:t>
            </a:r>
            <a:endParaRPr lang="en-US" dirty="0"/>
          </a:p>
        </p:txBody>
      </p:sp>
      <p:sp>
        <p:nvSpPr>
          <p:cNvPr id="1544195" name="Rectangle 3"/>
          <p:cNvSpPr>
            <a:spLocks noGrp="1" noChangeArrowheads="1"/>
          </p:cNvSpPr>
          <p:nvPr>
            <p:ph type="body" idx="1"/>
          </p:nvPr>
        </p:nvSpPr>
        <p:spPr>
          <a:xfrm>
            <a:off x="685800" y="1295400"/>
            <a:ext cx="7772400" cy="4114800"/>
          </a:xfrm>
        </p:spPr>
        <p:txBody>
          <a:bodyPr/>
          <a:lstStyle/>
          <a:p>
            <a:r>
              <a:rPr lang="en-US" altLang="ko-KR" dirty="0">
                <a:ea typeface="굴림" pitchFamily="34" charset="-127"/>
              </a:rPr>
              <a:t>Sensitive to outliers</a:t>
            </a:r>
          </a:p>
          <a:p>
            <a:pPr lvl="1"/>
            <a:r>
              <a:rPr lang="en-US" altLang="ko-KR" dirty="0">
                <a:ea typeface="굴림" pitchFamily="34" charset="-127"/>
              </a:rPr>
              <a:t>Outlier: objects with extremely large (or small) values</a:t>
            </a:r>
          </a:p>
          <a:p>
            <a:pPr lvl="2"/>
            <a:r>
              <a:rPr lang="en-US" altLang="ko-KR" dirty="0">
                <a:ea typeface="굴림" pitchFamily="34" charset="-127"/>
              </a:rPr>
              <a:t>May substantially distort the distribution of the data</a:t>
            </a:r>
          </a:p>
        </p:txBody>
      </p:sp>
      <p:grpSp>
        <p:nvGrpSpPr>
          <p:cNvPr id="2" name="Group 183"/>
          <p:cNvGrpSpPr>
            <a:grpSpLocks/>
          </p:cNvGrpSpPr>
          <p:nvPr/>
        </p:nvGrpSpPr>
        <p:grpSpPr bwMode="auto">
          <a:xfrm>
            <a:off x="1752600" y="3321050"/>
            <a:ext cx="5257800" cy="2286000"/>
            <a:chOff x="2064" y="1824"/>
            <a:chExt cx="1680" cy="672"/>
          </a:xfrm>
        </p:grpSpPr>
        <p:sp>
          <p:nvSpPr>
            <p:cNvPr id="1544362" name="Oval 170"/>
            <p:cNvSpPr>
              <a:spLocks noChangeArrowheads="1"/>
            </p:cNvSpPr>
            <p:nvPr/>
          </p:nvSpPr>
          <p:spPr bwMode="auto">
            <a:xfrm>
              <a:off x="2496" y="2256"/>
              <a:ext cx="48" cy="48"/>
            </a:xfrm>
            <a:prstGeom prst="ellipse">
              <a:avLst/>
            </a:prstGeom>
            <a:solidFill>
              <a:srgbClr val="FF0000"/>
            </a:solidFill>
            <a:ln w="12700">
              <a:solidFill>
                <a:schemeClr val="tx1"/>
              </a:solidFill>
              <a:miter lim="800000"/>
              <a:headEnd type="none" w="sm" len="sm"/>
              <a:tailEnd type="none" w="sm" len="sm"/>
            </a:ln>
            <a:effectLst/>
          </p:spPr>
          <p:txBody>
            <a:bodyPr wrap="none" anchor="ctr"/>
            <a:lstStyle/>
            <a:p>
              <a:endParaRPr lang="en-US"/>
            </a:p>
          </p:txBody>
        </p:sp>
        <p:sp>
          <p:nvSpPr>
            <p:cNvPr id="1544363" name="Oval 171"/>
            <p:cNvSpPr>
              <a:spLocks noChangeArrowheads="1"/>
            </p:cNvSpPr>
            <p:nvPr/>
          </p:nvSpPr>
          <p:spPr bwMode="auto">
            <a:xfrm>
              <a:off x="2400" y="2352"/>
              <a:ext cx="48" cy="48"/>
            </a:xfrm>
            <a:prstGeom prst="ellipse">
              <a:avLst/>
            </a:prstGeom>
            <a:solidFill>
              <a:srgbClr val="FF0000"/>
            </a:solidFill>
            <a:ln w="12700">
              <a:solidFill>
                <a:schemeClr val="tx1"/>
              </a:solidFill>
              <a:miter lim="800000"/>
              <a:headEnd type="none" w="sm" len="sm"/>
              <a:tailEnd type="none" w="sm" len="sm"/>
            </a:ln>
            <a:effectLst/>
          </p:spPr>
          <p:txBody>
            <a:bodyPr wrap="none" anchor="ctr"/>
            <a:lstStyle/>
            <a:p>
              <a:endParaRPr lang="en-US"/>
            </a:p>
          </p:txBody>
        </p:sp>
        <p:sp>
          <p:nvSpPr>
            <p:cNvPr id="1544364" name="Oval 172"/>
            <p:cNvSpPr>
              <a:spLocks noChangeArrowheads="1"/>
            </p:cNvSpPr>
            <p:nvPr/>
          </p:nvSpPr>
          <p:spPr bwMode="auto">
            <a:xfrm>
              <a:off x="2304" y="2256"/>
              <a:ext cx="48" cy="48"/>
            </a:xfrm>
            <a:prstGeom prst="ellipse">
              <a:avLst/>
            </a:prstGeom>
            <a:solidFill>
              <a:srgbClr val="FF0000"/>
            </a:solidFill>
            <a:ln w="12700">
              <a:solidFill>
                <a:schemeClr val="tx1"/>
              </a:solidFill>
              <a:miter lim="800000"/>
              <a:headEnd type="none" w="sm" len="sm"/>
              <a:tailEnd type="none" w="sm" len="sm"/>
            </a:ln>
            <a:effectLst/>
          </p:spPr>
          <p:txBody>
            <a:bodyPr wrap="none" anchor="ctr"/>
            <a:lstStyle/>
            <a:p>
              <a:endParaRPr lang="en-US"/>
            </a:p>
          </p:txBody>
        </p:sp>
        <p:sp>
          <p:nvSpPr>
            <p:cNvPr id="1544365" name="Oval 173"/>
            <p:cNvSpPr>
              <a:spLocks noChangeArrowheads="1"/>
            </p:cNvSpPr>
            <p:nvPr/>
          </p:nvSpPr>
          <p:spPr bwMode="auto">
            <a:xfrm>
              <a:off x="2448" y="2400"/>
              <a:ext cx="48" cy="48"/>
            </a:xfrm>
            <a:prstGeom prst="ellipse">
              <a:avLst/>
            </a:prstGeom>
            <a:solidFill>
              <a:srgbClr val="FF0000"/>
            </a:solidFill>
            <a:ln w="12700">
              <a:solidFill>
                <a:schemeClr val="tx1"/>
              </a:solidFill>
              <a:miter lim="800000"/>
              <a:headEnd type="none" w="sm" len="sm"/>
              <a:tailEnd type="none" w="sm" len="sm"/>
            </a:ln>
            <a:effectLst/>
          </p:spPr>
          <p:txBody>
            <a:bodyPr wrap="none" anchor="ctr"/>
            <a:lstStyle/>
            <a:p>
              <a:endParaRPr lang="en-US"/>
            </a:p>
          </p:txBody>
        </p:sp>
        <p:sp>
          <p:nvSpPr>
            <p:cNvPr id="1544366" name="Oval 174"/>
            <p:cNvSpPr>
              <a:spLocks noChangeArrowheads="1"/>
            </p:cNvSpPr>
            <p:nvPr/>
          </p:nvSpPr>
          <p:spPr bwMode="auto">
            <a:xfrm>
              <a:off x="2928" y="2256"/>
              <a:ext cx="48" cy="48"/>
            </a:xfrm>
            <a:prstGeom prst="ellipse">
              <a:avLst/>
            </a:prstGeom>
            <a:solidFill>
              <a:schemeClr val="hlink"/>
            </a:solidFill>
            <a:ln w="12700">
              <a:solidFill>
                <a:schemeClr val="tx1"/>
              </a:solidFill>
              <a:miter lim="800000"/>
              <a:headEnd type="none" w="sm" len="sm"/>
              <a:tailEnd type="none" w="sm" len="sm"/>
            </a:ln>
            <a:effectLst/>
          </p:spPr>
          <p:txBody>
            <a:bodyPr wrap="none" anchor="ctr"/>
            <a:lstStyle/>
            <a:p>
              <a:endParaRPr lang="en-US"/>
            </a:p>
          </p:txBody>
        </p:sp>
        <p:sp>
          <p:nvSpPr>
            <p:cNvPr id="1544367" name="Oval 175"/>
            <p:cNvSpPr>
              <a:spLocks noChangeArrowheads="1"/>
            </p:cNvSpPr>
            <p:nvPr/>
          </p:nvSpPr>
          <p:spPr bwMode="auto">
            <a:xfrm>
              <a:off x="2928" y="2352"/>
              <a:ext cx="48" cy="48"/>
            </a:xfrm>
            <a:prstGeom prst="ellipse">
              <a:avLst/>
            </a:prstGeom>
            <a:solidFill>
              <a:schemeClr val="hlink"/>
            </a:solidFill>
            <a:ln w="12700">
              <a:solidFill>
                <a:schemeClr val="tx1"/>
              </a:solidFill>
              <a:miter lim="800000"/>
              <a:headEnd type="none" w="sm" len="sm"/>
              <a:tailEnd type="none" w="sm" len="sm"/>
            </a:ln>
            <a:effectLst/>
          </p:spPr>
          <p:txBody>
            <a:bodyPr wrap="none" anchor="ctr"/>
            <a:lstStyle/>
            <a:p>
              <a:endParaRPr lang="en-US"/>
            </a:p>
          </p:txBody>
        </p:sp>
        <p:sp>
          <p:nvSpPr>
            <p:cNvPr id="1544368" name="Oval 176"/>
            <p:cNvSpPr>
              <a:spLocks noChangeArrowheads="1"/>
            </p:cNvSpPr>
            <p:nvPr/>
          </p:nvSpPr>
          <p:spPr bwMode="auto">
            <a:xfrm>
              <a:off x="2832" y="2352"/>
              <a:ext cx="48" cy="48"/>
            </a:xfrm>
            <a:prstGeom prst="ellipse">
              <a:avLst/>
            </a:prstGeom>
            <a:solidFill>
              <a:schemeClr val="hlink"/>
            </a:solidFill>
            <a:ln w="12700">
              <a:solidFill>
                <a:schemeClr val="tx1"/>
              </a:solidFill>
              <a:miter lim="800000"/>
              <a:headEnd type="none" w="sm" len="sm"/>
              <a:tailEnd type="none" w="sm" len="sm"/>
            </a:ln>
            <a:effectLst/>
          </p:spPr>
          <p:txBody>
            <a:bodyPr wrap="none" anchor="ctr"/>
            <a:lstStyle/>
            <a:p>
              <a:endParaRPr lang="en-US"/>
            </a:p>
          </p:txBody>
        </p:sp>
        <p:sp>
          <p:nvSpPr>
            <p:cNvPr id="1544369" name="Oval 177"/>
            <p:cNvSpPr>
              <a:spLocks noChangeArrowheads="1"/>
            </p:cNvSpPr>
            <p:nvPr/>
          </p:nvSpPr>
          <p:spPr bwMode="auto">
            <a:xfrm>
              <a:off x="3168" y="2256"/>
              <a:ext cx="48" cy="48"/>
            </a:xfrm>
            <a:prstGeom prst="ellipse">
              <a:avLst/>
            </a:prstGeom>
            <a:solidFill>
              <a:schemeClr val="hlink"/>
            </a:solidFill>
            <a:ln w="12700">
              <a:solidFill>
                <a:schemeClr val="tx1"/>
              </a:solidFill>
              <a:miter lim="800000"/>
              <a:headEnd type="none" w="sm" len="sm"/>
              <a:tailEnd type="none" w="sm" len="sm"/>
            </a:ln>
            <a:effectLst/>
          </p:spPr>
          <p:txBody>
            <a:bodyPr wrap="none" anchor="ctr"/>
            <a:lstStyle/>
            <a:p>
              <a:endParaRPr lang="en-US"/>
            </a:p>
          </p:txBody>
        </p:sp>
        <p:sp>
          <p:nvSpPr>
            <p:cNvPr id="1544370" name="Oval 178"/>
            <p:cNvSpPr>
              <a:spLocks noChangeArrowheads="1"/>
            </p:cNvSpPr>
            <p:nvPr/>
          </p:nvSpPr>
          <p:spPr bwMode="auto">
            <a:xfrm>
              <a:off x="3600" y="1968"/>
              <a:ext cx="48" cy="48"/>
            </a:xfrm>
            <a:prstGeom prst="ellipse">
              <a:avLst/>
            </a:prstGeom>
            <a:solidFill>
              <a:schemeClr val="hlink"/>
            </a:solidFill>
            <a:ln w="12700">
              <a:solidFill>
                <a:schemeClr val="tx1"/>
              </a:solidFill>
              <a:miter lim="800000"/>
              <a:headEnd type="none" w="sm" len="sm"/>
              <a:tailEnd type="none" w="sm" len="sm"/>
            </a:ln>
            <a:effectLst/>
          </p:spPr>
          <p:txBody>
            <a:bodyPr wrap="none" anchor="ctr"/>
            <a:lstStyle/>
            <a:p>
              <a:endParaRPr lang="en-US"/>
            </a:p>
          </p:txBody>
        </p:sp>
        <p:sp>
          <p:nvSpPr>
            <p:cNvPr id="1544371" name="Oval 179"/>
            <p:cNvSpPr>
              <a:spLocks noChangeArrowheads="1"/>
            </p:cNvSpPr>
            <p:nvPr/>
          </p:nvSpPr>
          <p:spPr bwMode="auto">
            <a:xfrm>
              <a:off x="2064" y="2112"/>
              <a:ext cx="1008" cy="384"/>
            </a:xfrm>
            <a:prstGeom prst="ellipse">
              <a:avLst/>
            </a:prstGeom>
            <a:noFill/>
            <a:ln w="28575">
              <a:solidFill>
                <a:schemeClr val="accent1"/>
              </a:solidFill>
              <a:miter lim="800000"/>
              <a:headEnd type="none" w="sm" len="sm"/>
              <a:tailEnd type="none" w="sm" len="sm"/>
            </a:ln>
            <a:effectLst/>
          </p:spPr>
          <p:txBody>
            <a:bodyPr wrap="none" anchor="ctr"/>
            <a:lstStyle/>
            <a:p>
              <a:endParaRPr lang="en-US"/>
            </a:p>
          </p:txBody>
        </p:sp>
        <p:sp>
          <p:nvSpPr>
            <p:cNvPr id="1544372" name="Oval 180"/>
            <p:cNvSpPr>
              <a:spLocks noChangeArrowheads="1"/>
            </p:cNvSpPr>
            <p:nvPr/>
          </p:nvSpPr>
          <p:spPr bwMode="auto">
            <a:xfrm>
              <a:off x="3072" y="1824"/>
              <a:ext cx="672" cy="624"/>
            </a:xfrm>
            <a:prstGeom prst="ellipse">
              <a:avLst/>
            </a:prstGeom>
            <a:noFill/>
            <a:ln w="28575">
              <a:solidFill>
                <a:schemeClr val="accent6"/>
              </a:solidFill>
              <a:miter lim="800000"/>
              <a:headEnd type="none" w="sm" len="sm"/>
              <a:tailEnd type="none" w="sm" len="sm"/>
            </a:ln>
            <a:effectLst/>
          </p:spPr>
          <p:txBody>
            <a:bodyPr wrap="none" anchor="ctr"/>
            <a:lstStyle/>
            <a:p>
              <a:endParaRPr lang="en-US"/>
            </a:p>
          </p:txBody>
        </p:sp>
        <p:sp>
          <p:nvSpPr>
            <p:cNvPr id="1544373" name="Text Box 181"/>
            <p:cNvSpPr txBox="1">
              <a:spLocks noChangeArrowheads="1"/>
            </p:cNvSpPr>
            <p:nvPr/>
          </p:nvSpPr>
          <p:spPr bwMode="auto">
            <a:xfrm>
              <a:off x="3350" y="2042"/>
              <a:ext cx="225" cy="136"/>
            </a:xfrm>
            <a:prstGeom prst="rect">
              <a:avLst/>
            </a:prstGeom>
            <a:noFill/>
            <a:ln w="12700">
              <a:noFill/>
              <a:miter lim="800000"/>
              <a:headEnd type="none" w="sm" len="sm"/>
              <a:tailEnd type="none" w="sm" len="sm"/>
            </a:ln>
            <a:effectLst/>
          </p:spPr>
          <p:txBody>
            <a:bodyPr>
              <a:spAutoFit/>
            </a:bodyPr>
            <a:lstStyle/>
            <a:p>
              <a:pPr>
                <a:spcBef>
                  <a:spcPct val="0"/>
                </a:spcBef>
                <a:buClrTx/>
                <a:buSzTx/>
                <a:buFontTx/>
                <a:buNone/>
              </a:pPr>
              <a:r>
                <a:rPr lang="en-US" sz="2400" dirty="0">
                  <a:solidFill>
                    <a:srgbClr val="00B050"/>
                  </a:solidFill>
                  <a:latin typeface="Times New Roman" pitchFamily="18" charset="0"/>
                </a:rPr>
                <a:t>+</a:t>
              </a:r>
            </a:p>
          </p:txBody>
        </p:sp>
        <p:sp>
          <p:nvSpPr>
            <p:cNvPr id="1544374" name="Text Box 182"/>
            <p:cNvSpPr txBox="1">
              <a:spLocks noChangeArrowheads="1"/>
            </p:cNvSpPr>
            <p:nvPr/>
          </p:nvSpPr>
          <p:spPr bwMode="auto">
            <a:xfrm>
              <a:off x="2592" y="2160"/>
              <a:ext cx="114" cy="134"/>
            </a:xfrm>
            <a:prstGeom prst="rect">
              <a:avLst/>
            </a:prstGeom>
            <a:noFill/>
            <a:ln w="12700">
              <a:noFill/>
              <a:miter lim="800000"/>
              <a:headEnd type="none" w="sm" len="sm"/>
              <a:tailEnd type="none" w="sm" len="sm"/>
            </a:ln>
            <a:effectLst/>
          </p:spPr>
          <p:txBody>
            <a:bodyPr wrap="none">
              <a:spAutoFit/>
            </a:bodyPr>
            <a:lstStyle/>
            <a:p>
              <a:pPr>
                <a:spcBef>
                  <a:spcPct val="0"/>
                </a:spcBef>
                <a:buClrTx/>
                <a:buSzTx/>
                <a:buFontTx/>
                <a:buNone/>
              </a:pPr>
              <a:r>
                <a:rPr lang="en-US" sz="2400">
                  <a:solidFill>
                    <a:srgbClr val="006666"/>
                  </a:solidFill>
                  <a:latin typeface="Times New Roman" pitchFamily="18" charset="0"/>
                </a:rPr>
                <a:t>+</a:t>
              </a:r>
            </a:p>
          </p:txBody>
        </p:sp>
      </p:grpSp>
      <p:sp>
        <p:nvSpPr>
          <p:cNvPr id="1544376" name="Line 184"/>
          <p:cNvSpPr>
            <a:spLocks noChangeShapeType="1"/>
          </p:cNvSpPr>
          <p:nvPr/>
        </p:nvSpPr>
        <p:spPr bwMode="gray">
          <a:xfrm>
            <a:off x="6629400" y="4083050"/>
            <a:ext cx="0" cy="1752600"/>
          </a:xfrm>
          <a:prstGeom prst="line">
            <a:avLst/>
          </a:prstGeom>
          <a:noFill/>
          <a:ln w="15875">
            <a:solidFill>
              <a:schemeClr val="tx2"/>
            </a:solidFill>
            <a:round/>
            <a:headEnd type="arrow" w="med" len="med"/>
            <a:tailEnd type="none" w="lg" len="lg"/>
          </a:ln>
          <a:effectLst/>
        </p:spPr>
        <p:txBody>
          <a:bodyPr lIns="92075" tIns="46038" rIns="92075" bIns="46038"/>
          <a:lstStyle/>
          <a:p>
            <a:endParaRPr lang="en-US"/>
          </a:p>
        </p:txBody>
      </p:sp>
      <p:sp>
        <p:nvSpPr>
          <p:cNvPr id="1544377" name="Text Box 185"/>
          <p:cNvSpPr txBox="1">
            <a:spLocks noChangeArrowheads="1"/>
          </p:cNvSpPr>
          <p:nvPr/>
        </p:nvSpPr>
        <p:spPr bwMode="gray">
          <a:xfrm>
            <a:off x="6019800" y="5911850"/>
            <a:ext cx="1905000" cy="488950"/>
          </a:xfrm>
          <a:prstGeom prst="rect">
            <a:avLst/>
          </a:prstGeom>
          <a:noFill/>
          <a:ln w="15875" algn="ctr">
            <a:noFill/>
            <a:miter lim="800000"/>
            <a:headEnd/>
            <a:tailEnd type="none" w="lg" len="lg"/>
          </a:ln>
          <a:effectLst/>
        </p:spPr>
        <p:txBody>
          <a:bodyPr lIns="92075" tIns="46038" rIns="92075" bIns="46038">
            <a:spAutoFit/>
          </a:bodyPr>
          <a:lstStyle/>
          <a:p>
            <a:pPr marL="342900" indent="-342900">
              <a:spcBef>
                <a:spcPct val="50000"/>
              </a:spcBef>
              <a:buFont typeface="Monotype Sorts" pitchFamily="2" charset="2"/>
              <a:buNone/>
            </a:pPr>
            <a:r>
              <a:rPr lang="en-US"/>
              <a:t>Outlier</a:t>
            </a:r>
          </a:p>
        </p:txBody>
      </p:sp>
    </p:spTree>
  </p:cSld>
  <p:clrMapOvr>
    <a:masterClrMapping/>
  </p:clrMapOvr>
  <p:transition>
    <p:checke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Slide Number Placeholder 5"/>
          <p:cNvSpPr>
            <a:spLocks noGrp="1"/>
          </p:cNvSpPr>
          <p:nvPr>
            <p:ph type="sldNum" sz="quarter" idx="12"/>
          </p:nvPr>
        </p:nvSpPr>
        <p:spPr>
          <a:xfrm>
            <a:off x="6781800" y="6248400"/>
            <a:ext cx="1905000" cy="457200"/>
          </a:xfrm>
        </p:spPr>
        <p:txBody>
          <a:bodyPr/>
          <a:lstStyle/>
          <a:p>
            <a:fld id="{1D90FF4F-5F24-4B47-9297-507308D4C4A8}" type="slidenum">
              <a:rPr lang="zh-CN" altLang="en-US"/>
              <a:pPr/>
              <a:t>42</a:t>
            </a:fld>
            <a:endParaRPr lang="en-US" altLang="zh-CN"/>
          </a:p>
        </p:txBody>
      </p:sp>
      <p:sp>
        <p:nvSpPr>
          <p:cNvPr id="1363972" name="Rectangle 4"/>
          <p:cNvSpPr>
            <a:spLocks noGrp="1" noChangeArrowheads="1"/>
          </p:cNvSpPr>
          <p:nvPr>
            <p:ph type="title"/>
          </p:nvPr>
        </p:nvSpPr>
        <p:spPr>
          <a:xfrm>
            <a:off x="352425" y="190500"/>
            <a:ext cx="8442325" cy="571500"/>
          </a:xfrm>
        </p:spPr>
        <p:txBody>
          <a:bodyPr/>
          <a:lstStyle/>
          <a:p>
            <a:r>
              <a:rPr lang="en-US" altLang="zh-CN" i="1">
                <a:ea typeface="SimSun" pitchFamily="2" charset="-122"/>
              </a:rPr>
              <a:t>k</a:t>
            </a:r>
            <a:r>
              <a:rPr lang="en-US" altLang="zh-CN">
                <a:ea typeface="SimSun" pitchFamily="2" charset="-122"/>
              </a:rPr>
              <a:t>-Medoids Clustering Method</a:t>
            </a:r>
          </a:p>
        </p:txBody>
      </p:sp>
      <p:sp>
        <p:nvSpPr>
          <p:cNvPr id="1363973" name="Rectangle 5"/>
          <p:cNvSpPr>
            <a:spLocks noGrp="1" noChangeArrowheads="1"/>
          </p:cNvSpPr>
          <p:nvPr>
            <p:ph type="body" idx="1"/>
          </p:nvPr>
        </p:nvSpPr>
        <p:spPr>
          <a:xfrm>
            <a:off x="228600" y="990600"/>
            <a:ext cx="8442325" cy="5334000"/>
          </a:xfrm>
        </p:spPr>
        <p:txBody>
          <a:bodyPr/>
          <a:lstStyle/>
          <a:p>
            <a:r>
              <a:rPr lang="en-US" altLang="zh-CN" i="1">
                <a:ea typeface="SimSun" pitchFamily="2" charset="-122"/>
              </a:rPr>
              <a:t>k</a:t>
            </a:r>
            <a:r>
              <a:rPr lang="en-US" altLang="zh-CN">
                <a:ea typeface="SimSun" pitchFamily="2" charset="-122"/>
              </a:rPr>
              <a:t>-medoids: Find </a:t>
            </a:r>
            <a:r>
              <a:rPr lang="en-US" altLang="zh-CN" i="1">
                <a:ea typeface="SimSun" pitchFamily="2" charset="-122"/>
              </a:rPr>
              <a:t>k</a:t>
            </a:r>
            <a:r>
              <a:rPr lang="en-US" altLang="zh-CN">
                <a:ea typeface="SimSun" pitchFamily="2" charset="-122"/>
              </a:rPr>
              <a:t> </a:t>
            </a:r>
            <a:r>
              <a:rPr lang="en-US" altLang="zh-CN" i="1">
                <a:ea typeface="SimSun" pitchFamily="2" charset="-122"/>
              </a:rPr>
              <a:t>representative objects</a:t>
            </a:r>
            <a:r>
              <a:rPr lang="en-US" altLang="zh-CN">
                <a:ea typeface="SimSun" pitchFamily="2" charset="-122"/>
              </a:rPr>
              <a:t>, called </a:t>
            </a:r>
            <a:r>
              <a:rPr lang="en-US" altLang="zh-CN" i="1">
                <a:ea typeface="SimSun" pitchFamily="2" charset="-122"/>
              </a:rPr>
              <a:t>medoids</a:t>
            </a:r>
          </a:p>
          <a:p>
            <a:pPr lvl="1"/>
            <a:r>
              <a:rPr lang="en-US" altLang="zh-CN">
                <a:ea typeface="SimSun" pitchFamily="2" charset="-122"/>
              </a:rPr>
              <a:t>PAM (Partitioning Around Medoids, 1987)</a:t>
            </a:r>
          </a:p>
          <a:p>
            <a:pPr lvl="1"/>
            <a:r>
              <a:rPr lang="en-US" altLang="zh-CN">
                <a:ea typeface="SimSun" pitchFamily="2" charset="-122"/>
              </a:rPr>
              <a:t>CLARA (Kaufmann &amp; Rousseeuw, 1990)</a:t>
            </a:r>
          </a:p>
          <a:p>
            <a:pPr lvl="1"/>
            <a:r>
              <a:rPr lang="en-US" altLang="zh-CN">
                <a:ea typeface="SimSun" pitchFamily="2" charset="-122"/>
              </a:rPr>
              <a:t>CLARANS (Ng &amp; Han, 1994): Randomized sampling</a:t>
            </a:r>
          </a:p>
        </p:txBody>
      </p:sp>
      <p:grpSp>
        <p:nvGrpSpPr>
          <p:cNvPr id="2" name="Group 88"/>
          <p:cNvGrpSpPr>
            <a:grpSpLocks/>
          </p:cNvGrpSpPr>
          <p:nvPr/>
        </p:nvGrpSpPr>
        <p:grpSpPr bwMode="auto">
          <a:xfrm>
            <a:off x="4419600" y="3178175"/>
            <a:ext cx="4114800" cy="2651125"/>
            <a:chOff x="3456" y="2880"/>
            <a:chExt cx="1248" cy="1112"/>
          </a:xfrm>
        </p:grpSpPr>
        <p:sp>
          <p:nvSpPr>
            <p:cNvPr id="1364057" name="Rectangle 89"/>
            <p:cNvSpPr>
              <a:spLocks noChangeArrowheads="1"/>
            </p:cNvSpPr>
            <p:nvPr/>
          </p:nvSpPr>
          <p:spPr bwMode="auto">
            <a:xfrm>
              <a:off x="3456" y="2880"/>
              <a:ext cx="1248" cy="1112"/>
            </a:xfrm>
            <a:prstGeom prst="rect">
              <a:avLst/>
            </a:prstGeom>
            <a:solidFill>
              <a:srgbClr val="FFFFFF"/>
            </a:solidFill>
            <a:ln w="0">
              <a:solidFill>
                <a:srgbClr val="000000"/>
              </a:solidFill>
              <a:miter lim="800000"/>
              <a:headEnd/>
              <a:tailEnd/>
            </a:ln>
          </p:spPr>
          <p:txBody>
            <a:bodyPr/>
            <a:lstStyle/>
            <a:p>
              <a:endParaRPr lang="en-US"/>
            </a:p>
          </p:txBody>
        </p:sp>
        <p:sp>
          <p:nvSpPr>
            <p:cNvPr id="1364058" name="Rectangle 90"/>
            <p:cNvSpPr>
              <a:spLocks noChangeArrowheads="1"/>
            </p:cNvSpPr>
            <p:nvPr/>
          </p:nvSpPr>
          <p:spPr bwMode="auto">
            <a:xfrm>
              <a:off x="3575" y="2959"/>
              <a:ext cx="1071" cy="898"/>
            </a:xfrm>
            <a:prstGeom prst="rect">
              <a:avLst/>
            </a:prstGeom>
            <a:solidFill>
              <a:srgbClr val="FFFFFF"/>
            </a:solidFill>
            <a:ln w="9525">
              <a:noFill/>
              <a:miter lim="800000"/>
              <a:headEnd/>
              <a:tailEnd/>
            </a:ln>
          </p:spPr>
          <p:txBody>
            <a:bodyPr/>
            <a:lstStyle/>
            <a:p>
              <a:endParaRPr lang="en-US"/>
            </a:p>
          </p:txBody>
        </p:sp>
        <p:sp>
          <p:nvSpPr>
            <p:cNvPr id="1364059" name="Line 91"/>
            <p:cNvSpPr>
              <a:spLocks noChangeShapeType="1"/>
            </p:cNvSpPr>
            <p:nvPr/>
          </p:nvSpPr>
          <p:spPr bwMode="auto">
            <a:xfrm>
              <a:off x="3575" y="3767"/>
              <a:ext cx="1071" cy="1"/>
            </a:xfrm>
            <a:prstGeom prst="line">
              <a:avLst/>
            </a:prstGeom>
            <a:noFill/>
            <a:ln w="0">
              <a:solidFill>
                <a:srgbClr val="000000"/>
              </a:solidFill>
              <a:round/>
              <a:headEnd/>
              <a:tailEnd/>
            </a:ln>
          </p:spPr>
          <p:txBody>
            <a:bodyPr/>
            <a:lstStyle/>
            <a:p>
              <a:endParaRPr lang="en-US"/>
            </a:p>
          </p:txBody>
        </p:sp>
        <p:sp>
          <p:nvSpPr>
            <p:cNvPr id="1364060" name="Line 92"/>
            <p:cNvSpPr>
              <a:spLocks noChangeShapeType="1"/>
            </p:cNvSpPr>
            <p:nvPr/>
          </p:nvSpPr>
          <p:spPr bwMode="auto">
            <a:xfrm>
              <a:off x="3575" y="3677"/>
              <a:ext cx="1071" cy="1"/>
            </a:xfrm>
            <a:prstGeom prst="line">
              <a:avLst/>
            </a:prstGeom>
            <a:noFill/>
            <a:ln w="0">
              <a:solidFill>
                <a:srgbClr val="000000"/>
              </a:solidFill>
              <a:round/>
              <a:headEnd/>
              <a:tailEnd/>
            </a:ln>
          </p:spPr>
          <p:txBody>
            <a:bodyPr/>
            <a:lstStyle/>
            <a:p>
              <a:endParaRPr lang="en-US"/>
            </a:p>
          </p:txBody>
        </p:sp>
        <p:sp>
          <p:nvSpPr>
            <p:cNvPr id="1364061" name="Line 93"/>
            <p:cNvSpPr>
              <a:spLocks noChangeShapeType="1"/>
            </p:cNvSpPr>
            <p:nvPr/>
          </p:nvSpPr>
          <p:spPr bwMode="auto">
            <a:xfrm>
              <a:off x="3575" y="3588"/>
              <a:ext cx="1071" cy="1"/>
            </a:xfrm>
            <a:prstGeom prst="line">
              <a:avLst/>
            </a:prstGeom>
            <a:noFill/>
            <a:ln w="0">
              <a:solidFill>
                <a:srgbClr val="000000"/>
              </a:solidFill>
              <a:round/>
              <a:headEnd/>
              <a:tailEnd/>
            </a:ln>
          </p:spPr>
          <p:txBody>
            <a:bodyPr/>
            <a:lstStyle/>
            <a:p>
              <a:endParaRPr lang="en-US"/>
            </a:p>
          </p:txBody>
        </p:sp>
        <p:sp>
          <p:nvSpPr>
            <p:cNvPr id="1364062" name="Line 94"/>
            <p:cNvSpPr>
              <a:spLocks noChangeShapeType="1"/>
            </p:cNvSpPr>
            <p:nvPr/>
          </p:nvSpPr>
          <p:spPr bwMode="auto">
            <a:xfrm>
              <a:off x="3575" y="3498"/>
              <a:ext cx="1071" cy="1"/>
            </a:xfrm>
            <a:prstGeom prst="line">
              <a:avLst/>
            </a:prstGeom>
            <a:noFill/>
            <a:ln w="0">
              <a:solidFill>
                <a:srgbClr val="000000"/>
              </a:solidFill>
              <a:round/>
              <a:headEnd/>
              <a:tailEnd/>
            </a:ln>
          </p:spPr>
          <p:txBody>
            <a:bodyPr/>
            <a:lstStyle/>
            <a:p>
              <a:endParaRPr lang="en-US"/>
            </a:p>
          </p:txBody>
        </p:sp>
        <p:sp>
          <p:nvSpPr>
            <p:cNvPr id="1364063" name="Line 95"/>
            <p:cNvSpPr>
              <a:spLocks noChangeShapeType="1"/>
            </p:cNvSpPr>
            <p:nvPr/>
          </p:nvSpPr>
          <p:spPr bwMode="auto">
            <a:xfrm>
              <a:off x="3575" y="3407"/>
              <a:ext cx="1071" cy="1"/>
            </a:xfrm>
            <a:prstGeom prst="line">
              <a:avLst/>
            </a:prstGeom>
            <a:noFill/>
            <a:ln w="0">
              <a:solidFill>
                <a:srgbClr val="000000"/>
              </a:solidFill>
              <a:round/>
              <a:headEnd/>
              <a:tailEnd/>
            </a:ln>
          </p:spPr>
          <p:txBody>
            <a:bodyPr/>
            <a:lstStyle/>
            <a:p>
              <a:endParaRPr lang="en-US"/>
            </a:p>
          </p:txBody>
        </p:sp>
        <p:sp>
          <p:nvSpPr>
            <p:cNvPr id="1364064" name="Line 96"/>
            <p:cNvSpPr>
              <a:spLocks noChangeShapeType="1"/>
            </p:cNvSpPr>
            <p:nvPr/>
          </p:nvSpPr>
          <p:spPr bwMode="auto">
            <a:xfrm>
              <a:off x="3575" y="3318"/>
              <a:ext cx="1071" cy="1"/>
            </a:xfrm>
            <a:prstGeom prst="line">
              <a:avLst/>
            </a:prstGeom>
            <a:noFill/>
            <a:ln w="0">
              <a:solidFill>
                <a:srgbClr val="000000"/>
              </a:solidFill>
              <a:round/>
              <a:headEnd/>
              <a:tailEnd/>
            </a:ln>
          </p:spPr>
          <p:txBody>
            <a:bodyPr/>
            <a:lstStyle/>
            <a:p>
              <a:endParaRPr lang="en-US"/>
            </a:p>
          </p:txBody>
        </p:sp>
        <p:sp>
          <p:nvSpPr>
            <p:cNvPr id="1364065" name="Line 97"/>
            <p:cNvSpPr>
              <a:spLocks noChangeShapeType="1"/>
            </p:cNvSpPr>
            <p:nvPr/>
          </p:nvSpPr>
          <p:spPr bwMode="auto">
            <a:xfrm>
              <a:off x="3575" y="3228"/>
              <a:ext cx="1071" cy="1"/>
            </a:xfrm>
            <a:prstGeom prst="line">
              <a:avLst/>
            </a:prstGeom>
            <a:noFill/>
            <a:ln w="0">
              <a:solidFill>
                <a:srgbClr val="000000"/>
              </a:solidFill>
              <a:round/>
              <a:headEnd/>
              <a:tailEnd/>
            </a:ln>
          </p:spPr>
          <p:txBody>
            <a:bodyPr/>
            <a:lstStyle/>
            <a:p>
              <a:endParaRPr lang="en-US"/>
            </a:p>
          </p:txBody>
        </p:sp>
        <p:sp>
          <p:nvSpPr>
            <p:cNvPr id="1364066" name="Line 98"/>
            <p:cNvSpPr>
              <a:spLocks noChangeShapeType="1"/>
            </p:cNvSpPr>
            <p:nvPr/>
          </p:nvSpPr>
          <p:spPr bwMode="auto">
            <a:xfrm>
              <a:off x="3575" y="3139"/>
              <a:ext cx="1071" cy="1"/>
            </a:xfrm>
            <a:prstGeom prst="line">
              <a:avLst/>
            </a:prstGeom>
            <a:noFill/>
            <a:ln w="0">
              <a:solidFill>
                <a:srgbClr val="000000"/>
              </a:solidFill>
              <a:round/>
              <a:headEnd/>
              <a:tailEnd/>
            </a:ln>
          </p:spPr>
          <p:txBody>
            <a:bodyPr/>
            <a:lstStyle/>
            <a:p>
              <a:endParaRPr lang="en-US"/>
            </a:p>
          </p:txBody>
        </p:sp>
        <p:sp>
          <p:nvSpPr>
            <p:cNvPr id="1364067" name="Line 99"/>
            <p:cNvSpPr>
              <a:spLocks noChangeShapeType="1"/>
            </p:cNvSpPr>
            <p:nvPr/>
          </p:nvSpPr>
          <p:spPr bwMode="auto">
            <a:xfrm>
              <a:off x="3575" y="3048"/>
              <a:ext cx="1071" cy="1"/>
            </a:xfrm>
            <a:prstGeom prst="line">
              <a:avLst/>
            </a:prstGeom>
            <a:noFill/>
            <a:ln w="0">
              <a:solidFill>
                <a:srgbClr val="000000"/>
              </a:solidFill>
              <a:round/>
              <a:headEnd/>
              <a:tailEnd/>
            </a:ln>
          </p:spPr>
          <p:txBody>
            <a:bodyPr/>
            <a:lstStyle/>
            <a:p>
              <a:endParaRPr lang="en-US"/>
            </a:p>
          </p:txBody>
        </p:sp>
        <p:sp>
          <p:nvSpPr>
            <p:cNvPr id="1364068" name="Line 100"/>
            <p:cNvSpPr>
              <a:spLocks noChangeShapeType="1"/>
            </p:cNvSpPr>
            <p:nvPr/>
          </p:nvSpPr>
          <p:spPr bwMode="auto">
            <a:xfrm>
              <a:off x="3575" y="2959"/>
              <a:ext cx="1071" cy="1"/>
            </a:xfrm>
            <a:prstGeom prst="line">
              <a:avLst/>
            </a:prstGeom>
            <a:noFill/>
            <a:ln w="0">
              <a:solidFill>
                <a:srgbClr val="000000"/>
              </a:solidFill>
              <a:round/>
              <a:headEnd/>
              <a:tailEnd/>
            </a:ln>
          </p:spPr>
          <p:txBody>
            <a:bodyPr/>
            <a:lstStyle/>
            <a:p>
              <a:endParaRPr lang="en-US"/>
            </a:p>
          </p:txBody>
        </p:sp>
        <p:sp>
          <p:nvSpPr>
            <p:cNvPr id="1364069" name="Line 101"/>
            <p:cNvSpPr>
              <a:spLocks noChangeShapeType="1"/>
            </p:cNvSpPr>
            <p:nvPr/>
          </p:nvSpPr>
          <p:spPr bwMode="auto">
            <a:xfrm>
              <a:off x="3682" y="2959"/>
              <a:ext cx="1" cy="898"/>
            </a:xfrm>
            <a:prstGeom prst="line">
              <a:avLst/>
            </a:prstGeom>
            <a:noFill/>
            <a:ln w="0">
              <a:solidFill>
                <a:srgbClr val="000000"/>
              </a:solidFill>
              <a:round/>
              <a:headEnd/>
              <a:tailEnd/>
            </a:ln>
          </p:spPr>
          <p:txBody>
            <a:bodyPr/>
            <a:lstStyle/>
            <a:p>
              <a:endParaRPr lang="en-US"/>
            </a:p>
          </p:txBody>
        </p:sp>
        <p:sp>
          <p:nvSpPr>
            <p:cNvPr id="1364070" name="Line 102"/>
            <p:cNvSpPr>
              <a:spLocks noChangeShapeType="1"/>
            </p:cNvSpPr>
            <p:nvPr/>
          </p:nvSpPr>
          <p:spPr bwMode="auto">
            <a:xfrm>
              <a:off x="3790" y="2959"/>
              <a:ext cx="1" cy="898"/>
            </a:xfrm>
            <a:prstGeom prst="line">
              <a:avLst/>
            </a:prstGeom>
            <a:noFill/>
            <a:ln w="0">
              <a:solidFill>
                <a:srgbClr val="000000"/>
              </a:solidFill>
              <a:round/>
              <a:headEnd/>
              <a:tailEnd/>
            </a:ln>
          </p:spPr>
          <p:txBody>
            <a:bodyPr/>
            <a:lstStyle/>
            <a:p>
              <a:endParaRPr lang="en-US"/>
            </a:p>
          </p:txBody>
        </p:sp>
        <p:sp>
          <p:nvSpPr>
            <p:cNvPr id="1364071" name="Line 103"/>
            <p:cNvSpPr>
              <a:spLocks noChangeShapeType="1"/>
            </p:cNvSpPr>
            <p:nvPr/>
          </p:nvSpPr>
          <p:spPr bwMode="auto">
            <a:xfrm>
              <a:off x="3895" y="2959"/>
              <a:ext cx="1" cy="898"/>
            </a:xfrm>
            <a:prstGeom prst="line">
              <a:avLst/>
            </a:prstGeom>
            <a:noFill/>
            <a:ln w="0">
              <a:solidFill>
                <a:srgbClr val="000000"/>
              </a:solidFill>
              <a:round/>
              <a:headEnd/>
              <a:tailEnd/>
            </a:ln>
          </p:spPr>
          <p:txBody>
            <a:bodyPr/>
            <a:lstStyle/>
            <a:p>
              <a:endParaRPr lang="en-US"/>
            </a:p>
          </p:txBody>
        </p:sp>
        <p:sp>
          <p:nvSpPr>
            <p:cNvPr id="1364072" name="Line 104"/>
            <p:cNvSpPr>
              <a:spLocks noChangeShapeType="1"/>
            </p:cNvSpPr>
            <p:nvPr/>
          </p:nvSpPr>
          <p:spPr bwMode="auto">
            <a:xfrm>
              <a:off x="4002" y="2959"/>
              <a:ext cx="1" cy="898"/>
            </a:xfrm>
            <a:prstGeom prst="line">
              <a:avLst/>
            </a:prstGeom>
            <a:noFill/>
            <a:ln w="0">
              <a:solidFill>
                <a:srgbClr val="000000"/>
              </a:solidFill>
              <a:round/>
              <a:headEnd/>
              <a:tailEnd/>
            </a:ln>
          </p:spPr>
          <p:txBody>
            <a:bodyPr/>
            <a:lstStyle/>
            <a:p>
              <a:endParaRPr lang="en-US"/>
            </a:p>
          </p:txBody>
        </p:sp>
        <p:sp>
          <p:nvSpPr>
            <p:cNvPr id="1364073" name="Line 105"/>
            <p:cNvSpPr>
              <a:spLocks noChangeShapeType="1"/>
            </p:cNvSpPr>
            <p:nvPr/>
          </p:nvSpPr>
          <p:spPr bwMode="auto">
            <a:xfrm>
              <a:off x="4110" y="2959"/>
              <a:ext cx="1" cy="898"/>
            </a:xfrm>
            <a:prstGeom prst="line">
              <a:avLst/>
            </a:prstGeom>
            <a:noFill/>
            <a:ln w="0">
              <a:solidFill>
                <a:srgbClr val="000000"/>
              </a:solidFill>
              <a:round/>
              <a:headEnd/>
              <a:tailEnd/>
            </a:ln>
          </p:spPr>
          <p:txBody>
            <a:bodyPr/>
            <a:lstStyle/>
            <a:p>
              <a:endParaRPr lang="en-US"/>
            </a:p>
          </p:txBody>
        </p:sp>
        <p:sp>
          <p:nvSpPr>
            <p:cNvPr id="1364074" name="Line 106"/>
            <p:cNvSpPr>
              <a:spLocks noChangeShapeType="1"/>
            </p:cNvSpPr>
            <p:nvPr/>
          </p:nvSpPr>
          <p:spPr bwMode="auto">
            <a:xfrm>
              <a:off x="4219" y="2959"/>
              <a:ext cx="0" cy="898"/>
            </a:xfrm>
            <a:prstGeom prst="line">
              <a:avLst/>
            </a:prstGeom>
            <a:noFill/>
            <a:ln w="0">
              <a:solidFill>
                <a:srgbClr val="000000"/>
              </a:solidFill>
              <a:round/>
              <a:headEnd/>
              <a:tailEnd/>
            </a:ln>
          </p:spPr>
          <p:txBody>
            <a:bodyPr/>
            <a:lstStyle/>
            <a:p>
              <a:endParaRPr lang="en-US"/>
            </a:p>
          </p:txBody>
        </p:sp>
        <p:sp>
          <p:nvSpPr>
            <p:cNvPr id="1364075" name="Line 107"/>
            <p:cNvSpPr>
              <a:spLocks noChangeShapeType="1"/>
            </p:cNvSpPr>
            <p:nvPr/>
          </p:nvSpPr>
          <p:spPr bwMode="auto">
            <a:xfrm>
              <a:off x="4326" y="2959"/>
              <a:ext cx="1" cy="898"/>
            </a:xfrm>
            <a:prstGeom prst="line">
              <a:avLst/>
            </a:prstGeom>
            <a:noFill/>
            <a:ln w="0">
              <a:solidFill>
                <a:srgbClr val="000000"/>
              </a:solidFill>
              <a:round/>
              <a:headEnd/>
              <a:tailEnd/>
            </a:ln>
          </p:spPr>
          <p:txBody>
            <a:bodyPr/>
            <a:lstStyle/>
            <a:p>
              <a:endParaRPr lang="en-US"/>
            </a:p>
          </p:txBody>
        </p:sp>
        <p:sp>
          <p:nvSpPr>
            <p:cNvPr id="1364076" name="Line 108"/>
            <p:cNvSpPr>
              <a:spLocks noChangeShapeType="1"/>
            </p:cNvSpPr>
            <p:nvPr/>
          </p:nvSpPr>
          <p:spPr bwMode="auto">
            <a:xfrm>
              <a:off x="4430" y="2959"/>
              <a:ext cx="1" cy="898"/>
            </a:xfrm>
            <a:prstGeom prst="line">
              <a:avLst/>
            </a:prstGeom>
            <a:noFill/>
            <a:ln w="0">
              <a:solidFill>
                <a:srgbClr val="000000"/>
              </a:solidFill>
              <a:round/>
              <a:headEnd/>
              <a:tailEnd/>
            </a:ln>
          </p:spPr>
          <p:txBody>
            <a:bodyPr/>
            <a:lstStyle/>
            <a:p>
              <a:endParaRPr lang="en-US"/>
            </a:p>
          </p:txBody>
        </p:sp>
        <p:sp>
          <p:nvSpPr>
            <p:cNvPr id="1364077" name="Line 109"/>
            <p:cNvSpPr>
              <a:spLocks noChangeShapeType="1"/>
            </p:cNvSpPr>
            <p:nvPr/>
          </p:nvSpPr>
          <p:spPr bwMode="auto">
            <a:xfrm>
              <a:off x="4539" y="2959"/>
              <a:ext cx="1" cy="898"/>
            </a:xfrm>
            <a:prstGeom prst="line">
              <a:avLst/>
            </a:prstGeom>
            <a:noFill/>
            <a:ln w="0">
              <a:solidFill>
                <a:srgbClr val="000000"/>
              </a:solidFill>
              <a:round/>
              <a:headEnd/>
              <a:tailEnd/>
            </a:ln>
          </p:spPr>
          <p:txBody>
            <a:bodyPr/>
            <a:lstStyle/>
            <a:p>
              <a:endParaRPr lang="en-US"/>
            </a:p>
          </p:txBody>
        </p:sp>
        <p:sp>
          <p:nvSpPr>
            <p:cNvPr id="1364078" name="Line 110"/>
            <p:cNvSpPr>
              <a:spLocks noChangeShapeType="1"/>
            </p:cNvSpPr>
            <p:nvPr/>
          </p:nvSpPr>
          <p:spPr bwMode="auto">
            <a:xfrm>
              <a:off x="4646" y="2959"/>
              <a:ext cx="1" cy="898"/>
            </a:xfrm>
            <a:prstGeom prst="line">
              <a:avLst/>
            </a:prstGeom>
            <a:noFill/>
            <a:ln w="0">
              <a:solidFill>
                <a:srgbClr val="000000"/>
              </a:solidFill>
              <a:round/>
              <a:headEnd/>
              <a:tailEnd/>
            </a:ln>
          </p:spPr>
          <p:txBody>
            <a:bodyPr/>
            <a:lstStyle/>
            <a:p>
              <a:endParaRPr lang="en-US"/>
            </a:p>
          </p:txBody>
        </p:sp>
        <p:sp>
          <p:nvSpPr>
            <p:cNvPr id="1364079" name="Rectangle 111"/>
            <p:cNvSpPr>
              <a:spLocks noChangeArrowheads="1"/>
            </p:cNvSpPr>
            <p:nvPr/>
          </p:nvSpPr>
          <p:spPr bwMode="auto">
            <a:xfrm>
              <a:off x="3575" y="2959"/>
              <a:ext cx="1071" cy="898"/>
            </a:xfrm>
            <a:prstGeom prst="rect">
              <a:avLst/>
            </a:prstGeom>
            <a:noFill/>
            <a:ln w="6350">
              <a:solidFill>
                <a:srgbClr val="000000"/>
              </a:solidFill>
              <a:miter lim="800000"/>
              <a:headEnd/>
              <a:tailEnd/>
            </a:ln>
          </p:spPr>
          <p:txBody>
            <a:bodyPr/>
            <a:lstStyle/>
            <a:p>
              <a:endParaRPr lang="en-US"/>
            </a:p>
          </p:txBody>
        </p:sp>
        <p:sp>
          <p:nvSpPr>
            <p:cNvPr id="1364080" name="Line 112"/>
            <p:cNvSpPr>
              <a:spLocks noChangeShapeType="1"/>
            </p:cNvSpPr>
            <p:nvPr/>
          </p:nvSpPr>
          <p:spPr bwMode="auto">
            <a:xfrm>
              <a:off x="3575" y="2959"/>
              <a:ext cx="1" cy="898"/>
            </a:xfrm>
            <a:prstGeom prst="line">
              <a:avLst/>
            </a:prstGeom>
            <a:noFill/>
            <a:ln w="0">
              <a:solidFill>
                <a:srgbClr val="000000"/>
              </a:solidFill>
              <a:round/>
              <a:headEnd/>
              <a:tailEnd/>
            </a:ln>
          </p:spPr>
          <p:txBody>
            <a:bodyPr/>
            <a:lstStyle/>
            <a:p>
              <a:endParaRPr lang="en-US"/>
            </a:p>
          </p:txBody>
        </p:sp>
        <p:sp>
          <p:nvSpPr>
            <p:cNvPr id="1364081" name="Line 113"/>
            <p:cNvSpPr>
              <a:spLocks noChangeShapeType="1"/>
            </p:cNvSpPr>
            <p:nvPr/>
          </p:nvSpPr>
          <p:spPr bwMode="auto">
            <a:xfrm>
              <a:off x="3564" y="3857"/>
              <a:ext cx="11" cy="1"/>
            </a:xfrm>
            <a:prstGeom prst="line">
              <a:avLst/>
            </a:prstGeom>
            <a:noFill/>
            <a:ln w="0">
              <a:solidFill>
                <a:srgbClr val="000000"/>
              </a:solidFill>
              <a:round/>
              <a:headEnd/>
              <a:tailEnd/>
            </a:ln>
          </p:spPr>
          <p:txBody>
            <a:bodyPr/>
            <a:lstStyle/>
            <a:p>
              <a:endParaRPr lang="en-US"/>
            </a:p>
          </p:txBody>
        </p:sp>
        <p:sp>
          <p:nvSpPr>
            <p:cNvPr id="1364082" name="Line 114"/>
            <p:cNvSpPr>
              <a:spLocks noChangeShapeType="1"/>
            </p:cNvSpPr>
            <p:nvPr/>
          </p:nvSpPr>
          <p:spPr bwMode="auto">
            <a:xfrm>
              <a:off x="3564" y="3767"/>
              <a:ext cx="11" cy="1"/>
            </a:xfrm>
            <a:prstGeom prst="line">
              <a:avLst/>
            </a:prstGeom>
            <a:noFill/>
            <a:ln w="0">
              <a:solidFill>
                <a:srgbClr val="000000"/>
              </a:solidFill>
              <a:round/>
              <a:headEnd/>
              <a:tailEnd/>
            </a:ln>
          </p:spPr>
          <p:txBody>
            <a:bodyPr/>
            <a:lstStyle/>
            <a:p>
              <a:endParaRPr lang="en-US"/>
            </a:p>
          </p:txBody>
        </p:sp>
        <p:sp>
          <p:nvSpPr>
            <p:cNvPr id="1364083" name="Line 115"/>
            <p:cNvSpPr>
              <a:spLocks noChangeShapeType="1"/>
            </p:cNvSpPr>
            <p:nvPr/>
          </p:nvSpPr>
          <p:spPr bwMode="auto">
            <a:xfrm>
              <a:off x="3564" y="3677"/>
              <a:ext cx="11" cy="1"/>
            </a:xfrm>
            <a:prstGeom prst="line">
              <a:avLst/>
            </a:prstGeom>
            <a:noFill/>
            <a:ln w="0">
              <a:solidFill>
                <a:srgbClr val="000000"/>
              </a:solidFill>
              <a:round/>
              <a:headEnd/>
              <a:tailEnd/>
            </a:ln>
          </p:spPr>
          <p:txBody>
            <a:bodyPr/>
            <a:lstStyle/>
            <a:p>
              <a:endParaRPr lang="en-US"/>
            </a:p>
          </p:txBody>
        </p:sp>
        <p:sp>
          <p:nvSpPr>
            <p:cNvPr id="1364084" name="Line 116"/>
            <p:cNvSpPr>
              <a:spLocks noChangeShapeType="1"/>
            </p:cNvSpPr>
            <p:nvPr/>
          </p:nvSpPr>
          <p:spPr bwMode="auto">
            <a:xfrm>
              <a:off x="3564" y="3588"/>
              <a:ext cx="11" cy="1"/>
            </a:xfrm>
            <a:prstGeom prst="line">
              <a:avLst/>
            </a:prstGeom>
            <a:noFill/>
            <a:ln w="0">
              <a:solidFill>
                <a:srgbClr val="000000"/>
              </a:solidFill>
              <a:round/>
              <a:headEnd/>
              <a:tailEnd/>
            </a:ln>
          </p:spPr>
          <p:txBody>
            <a:bodyPr/>
            <a:lstStyle/>
            <a:p>
              <a:endParaRPr lang="en-US"/>
            </a:p>
          </p:txBody>
        </p:sp>
        <p:sp>
          <p:nvSpPr>
            <p:cNvPr id="1364085" name="Line 117"/>
            <p:cNvSpPr>
              <a:spLocks noChangeShapeType="1"/>
            </p:cNvSpPr>
            <p:nvPr/>
          </p:nvSpPr>
          <p:spPr bwMode="auto">
            <a:xfrm>
              <a:off x="3564" y="3498"/>
              <a:ext cx="11" cy="1"/>
            </a:xfrm>
            <a:prstGeom prst="line">
              <a:avLst/>
            </a:prstGeom>
            <a:noFill/>
            <a:ln w="0">
              <a:solidFill>
                <a:srgbClr val="000000"/>
              </a:solidFill>
              <a:round/>
              <a:headEnd/>
              <a:tailEnd/>
            </a:ln>
          </p:spPr>
          <p:txBody>
            <a:bodyPr/>
            <a:lstStyle/>
            <a:p>
              <a:endParaRPr lang="en-US"/>
            </a:p>
          </p:txBody>
        </p:sp>
        <p:sp>
          <p:nvSpPr>
            <p:cNvPr id="1364086" name="Line 118"/>
            <p:cNvSpPr>
              <a:spLocks noChangeShapeType="1"/>
            </p:cNvSpPr>
            <p:nvPr/>
          </p:nvSpPr>
          <p:spPr bwMode="auto">
            <a:xfrm>
              <a:off x="3564" y="3407"/>
              <a:ext cx="11" cy="1"/>
            </a:xfrm>
            <a:prstGeom prst="line">
              <a:avLst/>
            </a:prstGeom>
            <a:noFill/>
            <a:ln w="0">
              <a:solidFill>
                <a:srgbClr val="000000"/>
              </a:solidFill>
              <a:round/>
              <a:headEnd/>
              <a:tailEnd/>
            </a:ln>
          </p:spPr>
          <p:txBody>
            <a:bodyPr/>
            <a:lstStyle/>
            <a:p>
              <a:endParaRPr lang="en-US"/>
            </a:p>
          </p:txBody>
        </p:sp>
        <p:sp>
          <p:nvSpPr>
            <p:cNvPr id="1364087" name="Line 119"/>
            <p:cNvSpPr>
              <a:spLocks noChangeShapeType="1"/>
            </p:cNvSpPr>
            <p:nvPr/>
          </p:nvSpPr>
          <p:spPr bwMode="auto">
            <a:xfrm>
              <a:off x="3564" y="3318"/>
              <a:ext cx="11" cy="1"/>
            </a:xfrm>
            <a:prstGeom prst="line">
              <a:avLst/>
            </a:prstGeom>
            <a:noFill/>
            <a:ln w="0">
              <a:solidFill>
                <a:srgbClr val="000000"/>
              </a:solidFill>
              <a:round/>
              <a:headEnd/>
              <a:tailEnd/>
            </a:ln>
          </p:spPr>
          <p:txBody>
            <a:bodyPr/>
            <a:lstStyle/>
            <a:p>
              <a:endParaRPr lang="en-US"/>
            </a:p>
          </p:txBody>
        </p:sp>
        <p:sp>
          <p:nvSpPr>
            <p:cNvPr id="1364088" name="Line 120"/>
            <p:cNvSpPr>
              <a:spLocks noChangeShapeType="1"/>
            </p:cNvSpPr>
            <p:nvPr/>
          </p:nvSpPr>
          <p:spPr bwMode="auto">
            <a:xfrm>
              <a:off x="3564" y="3228"/>
              <a:ext cx="11" cy="1"/>
            </a:xfrm>
            <a:prstGeom prst="line">
              <a:avLst/>
            </a:prstGeom>
            <a:noFill/>
            <a:ln w="0">
              <a:solidFill>
                <a:srgbClr val="000000"/>
              </a:solidFill>
              <a:round/>
              <a:headEnd/>
              <a:tailEnd/>
            </a:ln>
          </p:spPr>
          <p:txBody>
            <a:bodyPr/>
            <a:lstStyle/>
            <a:p>
              <a:endParaRPr lang="en-US"/>
            </a:p>
          </p:txBody>
        </p:sp>
        <p:sp>
          <p:nvSpPr>
            <p:cNvPr id="1364089" name="Line 121"/>
            <p:cNvSpPr>
              <a:spLocks noChangeShapeType="1"/>
            </p:cNvSpPr>
            <p:nvPr/>
          </p:nvSpPr>
          <p:spPr bwMode="auto">
            <a:xfrm>
              <a:off x="3564" y="3139"/>
              <a:ext cx="11" cy="1"/>
            </a:xfrm>
            <a:prstGeom prst="line">
              <a:avLst/>
            </a:prstGeom>
            <a:noFill/>
            <a:ln w="0">
              <a:solidFill>
                <a:srgbClr val="000000"/>
              </a:solidFill>
              <a:round/>
              <a:headEnd/>
              <a:tailEnd/>
            </a:ln>
          </p:spPr>
          <p:txBody>
            <a:bodyPr/>
            <a:lstStyle/>
            <a:p>
              <a:endParaRPr lang="en-US"/>
            </a:p>
          </p:txBody>
        </p:sp>
        <p:sp>
          <p:nvSpPr>
            <p:cNvPr id="1364090" name="Line 122"/>
            <p:cNvSpPr>
              <a:spLocks noChangeShapeType="1"/>
            </p:cNvSpPr>
            <p:nvPr/>
          </p:nvSpPr>
          <p:spPr bwMode="auto">
            <a:xfrm>
              <a:off x="3564" y="3048"/>
              <a:ext cx="11" cy="1"/>
            </a:xfrm>
            <a:prstGeom prst="line">
              <a:avLst/>
            </a:prstGeom>
            <a:noFill/>
            <a:ln w="0">
              <a:solidFill>
                <a:srgbClr val="000000"/>
              </a:solidFill>
              <a:round/>
              <a:headEnd/>
              <a:tailEnd/>
            </a:ln>
          </p:spPr>
          <p:txBody>
            <a:bodyPr/>
            <a:lstStyle/>
            <a:p>
              <a:endParaRPr lang="en-US"/>
            </a:p>
          </p:txBody>
        </p:sp>
        <p:sp>
          <p:nvSpPr>
            <p:cNvPr id="1364091" name="Line 123"/>
            <p:cNvSpPr>
              <a:spLocks noChangeShapeType="1"/>
            </p:cNvSpPr>
            <p:nvPr/>
          </p:nvSpPr>
          <p:spPr bwMode="auto">
            <a:xfrm>
              <a:off x="3564" y="2959"/>
              <a:ext cx="11" cy="1"/>
            </a:xfrm>
            <a:prstGeom prst="line">
              <a:avLst/>
            </a:prstGeom>
            <a:noFill/>
            <a:ln w="0">
              <a:solidFill>
                <a:srgbClr val="000000"/>
              </a:solidFill>
              <a:round/>
              <a:headEnd/>
              <a:tailEnd/>
            </a:ln>
          </p:spPr>
          <p:txBody>
            <a:bodyPr/>
            <a:lstStyle/>
            <a:p>
              <a:endParaRPr lang="en-US"/>
            </a:p>
          </p:txBody>
        </p:sp>
        <p:sp>
          <p:nvSpPr>
            <p:cNvPr id="1364092" name="Line 124"/>
            <p:cNvSpPr>
              <a:spLocks noChangeShapeType="1"/>
            </p:cNvSpPr>
            <p:nvPr/>
          </p:nvSpPr>
          <p:spPr bwMode="auto">
            <a:xfrm>
              <a:off x="3575" y="3857"/>
              <a:ext cx="1071" cy="1"/>
            </a:xfrm>
            <a:prstGeom prst="line">
              <a:avLst/>
            </a:prstGeom>
            <a:noFill/>
            <a:ln w="0">
              <a:solidFill>
                <a:srgbClr val="000000"/>
              </a:solidFill>
              <a:round/>
              <a:headEnd/>
              <a:tailEnd/>
            </a:ln>
          </p:spPr>
          <p:txBody>
            <a:bodyPr/>
            <a:lstStyle/>
            <a:p>
              <a:endParaRPr lang="en-US"/>
            </a:p>
          </p:txBody>
        </p:sp>
        <p:sp>
          <p:nvSpPr>
            <p:cNvPr id="1364093" name="Line 125"/>
            <p:cNvSpPr>
              <a:spLocks noChangeShapeType="1"/>
            </p:cNvSpPr>
            <p:nvPr/>
          </p:nvSpPr>
          <p:spPr bwMode="auto">
            <a:xfrm flipV="1">
              <a:off x="3575" y="3857"/>
              <a:ext cx="1" cy="11"/>
            </a:xfrm>
            <a:prstGeom prst="line">
              <a:avLst/>
            </a:prstGeom>
            <a:noFill/>
            <a:ln w="0">
              <a:solidFill>
                <a:srgbClr val="000000"/>
              </a:solidFill>
              <a:round/>
              <a:headEnd/>
              <a:tailEnd/>
            </a:ln>
          </p:spPr>
          <p:txBody>
            <a:bodyPr/>
            <a:lstStyle/>
            <a:p>
              <a:endParaRPr lang="en-US"/>
            </a:p>
          </p:txBody>
        </p:sp>
        <p:sp>
          <p:nvSpPr>
            <p:cNvPr id="1364094" name="Line 126"/>
            <p:cNvSpPr>
              <a:spLocks noChangeShapeType="1"/>
            </p:cNvSpPr>
            <p:nvPr/>
          </p:nvSpPr>
          <p:spPr bwMode="auto">
            <a:xfrm flipV="1">
              <a:off x="3682" y="3857"/>
              <a:ext cx="1" cy="11"/>
            </a:xfrm>
            <a:prstGeom prst="line">
              <a:avLst/>
            </a:prstGeom>
            <a:noFill/>
            <a:ln w="0">
              <a:solidFill>
                <a:srgbClr val="000000"/>
              </a:solidFill>
              <a:round/>
              <a:headEnd/>
              <a:tailEnd/>
            </a:ln>
          </p:spPr>
          <p:txBody>
            <a:bodyPr/>
            <a:lstStyle/>
            <a:p>
              <a:endParaRPr lang="en-US"/>
            </a:p>
          </p:txBody>
        </p:sp>
        <p:sp>
          <p:nvSpPr>
            <p:cNvPr id="1364095" name="Line 127"/>
            <p:cNvSpPr>
              <a:spLocks noChangeShapeType="1"/>
            </p:cNvSpPr>
            <p:nvPr/>
          </p:nvSpPr>
          <p:spPr bwMode="auto">
            <a:xfrm flipV="1">
              <a:off x="3790" y="3857"/>
              <a:ext cx="1" cy="11"/>
            </a:xfrm>
            <a:prstGeom prst="line">
              <a:avLst/>
            </a:prstGeom>
            <a:noFill/>
            <a:ln w="0">
              <a:solidFill>
                <a:srgbClr val="000000"/>
              </a:solidFill>
              <a:round/>
              <a:headEnd/>
              <a:tailEnd/>
            </a:ln>
          </p:spPr>
          <p:txBody>
            <a:bodyPr/>
            <a:lstStyle/>
            <a:p>
              <a:endParaRPr lang="en-US"/>
            </a:p>
          </p:txBody>
        </p:sp>
        <p:sp>
          <p:nvSpPr>
            <p:cNvPr id="1364096" name="Line 128"/>
            <p:cNvSpPr>
              <a:spLocks noChangeShapeType="1"/>
            </p:cNvSpPr>
            <p:nvPr/>
          </p:nvSpPr>
          <p:spPr bwMode="auto">
            <a:xfrm flipV="1">
              <a:off x="3895" y="3857"/>
              <a:ext cx="1" cy="11"/>
            </a:xfrm>
            <a:prstGeom prst="line">
              <a:avLst/>
            </a:prstGeom>
            <a:noFill/>
            <a:ln w="0">
              <a:solidFill>
                <a:srgbClr val="000000"/>
              </a:solidFill>
              <a:round/>
              <a:headEnd/>
              <a:tailEnd/>
            </a:ln>
          </p:spPr>
          <p:txBody>
            <a:bodyPr/>
            <a:lstStyle/>
            <a:p>
              <a:endParaRPr lang="en-US"/>
            </a:p>
          </p:txBody>
        </p:sp>
        <p:sp>
          <p:nvSpPr>
            <p:cNvPr id="1364097" name="Line 129"/>
            <p:cNvSpPr>
              <a:spLocks noChangeShapeType="1"/>
            </p:cNvSpPr>
            <p:nvPr/>
          </p:nvSpPr>
          <p:spPr bwMode="auto">
            <a:xfrm flipV="1">
              <a:off x="4002" y="3857"/>
              <a:ext cx="1" cy="11"/>
            </a:xfrm>
            <a:prstGeom prst="line">
              <a:avLst/>
            </a:prstGeom>
            <a:noFill/>
            <a:ln w="0">
              <a:solidFill>
                <a:srgbClr val="000000"/>
              </a:solidFill>
              <a:round/>
              <a:headEnd/>
              <a:tailEnd/>
            </a:ln>
          </p:spPr>
          <p:txBody>
            <a:bodyPr/>
            <a:lstStyle/>
            <a:p>
              <a:endParaRPr lang="en-US"/>
            </a:p>
          </p:txBody>
        </p:sp>
        <p:sp>
          <p:nvSpPr>
            <p:cNvPr id="1364098" name="Line 130"/>
            <p:cNvSpPr>
              <a:spLocks noChangeShapeType="1"/>
            </p:cNvSpPr>
            <p:nvPr/>
          </p:nvSpPr>
          <p:spPr bwMode="auto">
            <a:xfrm flipV="1">
              <a:off x="4110" y="3857"/>
              <a:ext cx="1" cy="11"/>
            </a:xfrm>
            <a:prstGeom prst="line">
              <a:avLst/>
            </a:prstGeom>
            <a:noFill/>
            <a:ln w="0">
              <a:solidFill>
                <a:srgbClr val="000000"/>
              </a:solidFill>
              <a:round/>
              <a:headEnd/>
              <a:tailEnd/>
            </a:ln>
          </p:spPr>
          <p:txBody>
            <a:bodyPr/>
            <a:lstStyle/>
            <a:p>
              <a:endParaRPr lang="en-US"/>
            </a:p>
          </p:txBody>
        </p:sp>
        <p:sp>
          <p:nvSpPr>
            <p:cNvPr id="1364099" name="Line 131"/>
            <p:cNvSpPr>
              <a:spLocks noChangeShapeType="1"/>
            </p:cNvSpPr>
            <p:nvPr/>
          </p:nvSpPr>
          <p:spPr bwMode="auto">
            <a:xfrm flipV="1">
              <a:off x="4219" y="3857"/>
              <a:ext cx="0" cy="11"/>
            </a:xfrm>
            <a:prstGeom prst="line">
              <a:avLst/>
            </a:prstGeom>
            <a:noFill/>
            <a:ln w="0">
              <a:solidFill>
                <a:srgbClr val="000000"/>
              </a:solidFill>
              <a:round/>
              <a:headEnd/>
              <a:tailEnd/>
            </a:ln>
          </p:spPr>
          <p:txBody>
            <a:bodyPr/>
            <a:lstStyle/>
            <a:p>
              <a:endParaRPr lang="en-US"/>
            </a:p>
          </p:txBody>
        </p:sp>
        <p:sp>
          <p:nvSpPr>
            <p:cNvPr id="1364100" name="Line 132"/>
            <p:cNvSpPr>
              <a:spLocks noChangeShapeType="1"/>
            </p:cNvSpPr>
            <p:nvPr/>
          </p:nvSpPr>
          <p:spPr bwMode="auto">
            <a:xfrm flipV="1">
              <a:off x="4326" y="3857"/>
              <a:ext cx="1" cy="11"/>
            </a:xfrm>
            <a:prstGeom prst="line">
              <a:avLst/>
            </a:prstGeom>
            <a:noFill/>
            <a:ln w="0">
              <a:solidFill>
                <a:srgbClr val="000000"/>
              </a:solidFill>
              <a:round/>
              <a:headEnd/>
              <a:tailEnd/>
            </a:ln>
          </p:spPr>
          <p:txBody>
            <a:bodyPr/>
            <a:lstStyle/>
            <a:p>
              <a:endParaRPr lang="en-US"/>
            </a:p>
          </p:txBody>
        </p:sp>
        <p:sp>
          <p:nvSpPr>
            <p:cNvPr id="1364101" name="Line 133"/>
            <p:cNvSpPr>
              <a:spLocks noChangeShapeType="1"/>
            </p:cNvSpPr>
            <p:nvPr/>
          </p:nvSpPr>
          <p:spPr bwMode="auto">
            <a:xfrm flipV="1">
              <a:off x="4430" y="3857"/>
              <a:ext cx="1" cy="11"/>
            </a:xfrm>
            <a:prstGeom prst="line">
              <a:avLst/>
            </a:prstGeom>
            <a:noFill/>
            <a:ln w="0">
              <a:solidFill>
                <a:srgbClr val="000000"/>
              </a:solidFill>
              <a:round/>
              <a:headEnd/>
              <a:tailEnd/>
            </a:ln>
          </p:spPr>
          <p:txBody>
            <a:bodyPr/>
            <a:lstStyle/>
            <a:p>
              <a:endParaRPr lang="en-US"/>
            </a:p>
          </p:txBody>
        </p:sp>
        <p:sp>
          <p:nvSpPr>
            <p:cNvPr id="1364102" name="Line 134"/>
            <p:cNvSpPr>
              <a:spLocks noChangeShapeType="1"/>
            </p:cNvSpPr>
            <p:nvPr/>
          </p:nvSpPr>
          <p:spPr bwMode="auto">
            <a:xfrm flipV="1">
              <a:off x="4539" y="3857"/>
              <a:ext cx="1" cy="11"/>
            </a:xfrm>
            <a:prstGeom prst="line">
              <a:avLst/>
            </a:prstGeom>
            <a:noFill/>
            <a:ln w="0">
              <a:solidFill>
                <a:srgbClr val="000000"/>
              </a:solidFill>
              <a:round/>
              <a:headEnd/>
              <a:tailEnd/>
            </a:ln>
          </p:spPr>
          <p:txBody>
            <a:bodyPr/>
            <a:lstStyle/>
            <a:p>
              <a:endParaRPr lang="en-US"/>
            </a:p>
          </p:txBody>
        </p:sp>
        <p:sp>
          <p:nvSpPr>
            <p:cNvPr id="1364103" name="Line 135"/>
            <p:cNvSpPr>
              <a:spLocks noChangeShapeType="1"/>
            </p:cNvSpPr>
            <p:nvPr/>
          </p:nvSpPr>
          <p:spPr bwMode="auto">
            <a:xfrm flipV="1">
              <a:off x="4646" y="3857"/>
              <a:ext cx="1" cy="11"/>
            </a:xfrm>
            <a:prstGeom prst="line">
              <a:avLst/>
            </a:prstGeom>
            <a:noFill/>
            <a:ln w="0">
              <a:solidFill>
                <a:srgbClr val="000000"/>
              </a:solidFill>
              <a:round/>
              <a:headEnd/>
              <a:tailEnd/>
            </a:ln>
          </p:spPr>
          <p:txBody>
            <a:bodyPr/>
            <a:lstStyle/>
            <a:p>
              <a:endParaRPr lang="en-US"/>
            </a:p>
          </p:txBody>
        </p:sp>
        <p:sp>
          <p:nvSpPr>
            <p:cNvPr id="1364104" name="Freeform 136"/>
            <p:cNvSpPr>
              <a:spLocks/>
            </p:cNvSpPr>
            <p:nvPr/>
          </p:nvSpPr>
          <p:spPr bwMode="auto">
            <a:xfrm>
              <a:off x="3870" y="3472"/>
              <a:ext cx="50" cy="51"/>
            </a:xfrm>
            <a:custGeom>
              <a:avLst/>
              <a:gdLst/>
              <a:ahLst/>
              <a:cxnLst>
                <a:cxn ang="0">
                  <a:pos x="28" y="0"/>
                </a:cxn>
                <a:cxn ang="0">
                  <a:pos x="56" y="28"/>
                </a:cxn>
                <a:cxn ang="0">
                  <a:pos x="28" y="56"/>
                </a:cxn>
                <a:cxn ang="0">
                  <a:pos x="0" y="28"/>
                </a:cxn>
                <a:cxn ang="0">
                  <a:pos x="28" y="0"/>
                </a:cxn>
              </a:cxnLst>
              <a:rect l="0" t="0" r="r" b="b"/>
              <a:pathLst>
                <a:path w="56" h="56">
                  <a:moveTo>
                    <a:pt x="28" y="0"/>
                  </a:moveTo>
                  <a:lnTo>
                    <a:pt x="56" y="28"/>
                  </a:lnTo>
                  <a:lnTo>
                    <a:pt x="28" y="56"/>
                  </a:lnTo>
                  <a:lnTo>
                    <a:pt x="0" y="28"/>
                  </a:lnTo>
                  <a:lnTo>
                    <a:pt x="28" y="0"/>
                  </a:lnTo>
                  <a:close/>
                </a:path>
              </a:pathLst>
            </a:custGeom>
            <a:solidFill>
              <a:srgbClr val="00FFFF"/>
            </a:solidFill>
            <a:ln w="6350">
              <a:solidFill>
                <a:srgbClr val="000080"/>
              </a:solidFill>
              <a:prstDash val="solid"/>
              <a:round/>
              <a:headEnd/>
              <a:tailEnd/>
            </a:ln>
          </p:spPr>
          <p:txBody>
            <a:bodyPr/>
            <a:lstStyle/>
            <a:p>
              <a:endParaRPr lang="en-US"/>
            </a:p>
          </p:txBody>
        </p:sp>
        <p:sp>
          <p:nvSpPr>
            <p:cNvPr id="1364105" name="Freeform 137"/>
            <p:cNvSpPr>
              <a:spLocks/>
            </p:cNvSpPr>
            <p:nvPr/>
          </p:nvSpPr>
          <p:spPr bwMode="auto">
            <a:xfrm>
              <a:off x="3870" y="3291"/>
              <a:ext cx="50" cy="53"/>
            </a:xfrm>
            <a:custGeom>
              <a:avLst/>
              <a:gdLst/>
              <a:ahLst/>
              <a:cxnLst>
                <a:cxn ang="0">
                  <a:pos x="28" y="0"/>
                </a:cxn>
                <a:cxn ang="0">
                  <a:pos x="56" y="29"/>
                </a:cxn>
                <a:cxn ang="0">
                  <a:pos x="28" y="57"/>
                </a:cxn>
                <a:cxn ang="0">
                  <a:pos x="0" y="29"/>
                </a:cxn>
                <a:cxn ang="0">
                  <a:pos x="28" y="0"/>
                </a:cxn>
              </a:cxnLst>
              <a:rect l="0" t="0" r="r" b="b"/>
              <a:pathLst>
                <a:path w="56" h="57">
                  <a:moveTo>
                    <a:pt x="28" y="0"/>
                  </a:moveTo>
                  <a:lnTo>
                    <a:pt x="56" y="29"/>
                  </a:lnTo>
                  <a:lnTo>
                    <a:pt x="28" y="57"/>
                  </a:lnTo>
                  <a:lnTo>
                    <a:pt x="0" y="29"/>
                  </a:lnTo>
                  <a:lnTo>
                    <a:pt x="28" y="0"/>
                  </a:lnTo>
                  <a:close/>
                </a:path>
              </a:pathLst>
            </a:custGeom>
            <a:solidFill>
              <a:srgbClr val="FF0000"/>
            </a:solidFill>
            <a:ln w="6350">
              <a:solidFill>
                <a:srgbClr val="000080"/>
              </a:solidFill>
              <a:prstDash val="solid"/>
              <a:round/>
              <a:headEnd/>
              <a:tailEnd/>
            </a:ln>
          </p:spPr>
          <p:txBody>
            <a:bodyPr/>
            <a:lstStyle/>
            <a:p>
              <a:endParaRPr lang="en-US"/>
            </a:p>
          </p:txBody>
        </p:sp>
        <p:sp>
          <p:nvSpPr>
            <p:cNvPr id="1364106" name="Freeform 138"/>
            <p:cNvSpPr>
              <a:spLocks/>
            </p:cNvSpPr>
            <p:nvPr/>
          </p:nvSpPr>
          <p:spPr bwMode="auto">
            <a:xfrm>
              <a:off x="4301" y="3561"/>
              <a:ext cx="51" cy="53"/>
            </a:xfrm>
            <a:custGeom>
              <a:avLst/>
              <a:gdLst/>
              <a:ahLst/>
              <a:cxnLst>
                <a:cxn ang="0">
                  <a:pos x="28" y="0"/>
                </a:cxn>
                <a:cxn ang="0">
                  <a:pos x="57" y="29"/>
                </a:cxn>
                <a:cxn ang="0">
                  <a:pos x="28" y="57"/>
                </a:cxn>
                <a:cxn ang="0">
                  <a:pos x="0" y="29"/>
                </a:cxn>
                <a:cxn ang="0">
                  <a:pos x="28" y="0"/>
                </a:cxn>
              </a:cxnLst>
              <a:rect l="0" t="0" r="r" b="b"/>
              <a:pathLst>
                <a:path w="57" h="57">
                  <a:moveTo>
                    <a:pt x="28" y="0"/>
                  </a:moveTo>
                  <a:lnTo>
                    <a:pt x="57" y="29"/>
                  </a:lnTo>
                  <a:lnTo>
                    <a:pt x="28" y="57"/>
                  </a:lnTo>
                  <a:lnTo>
                    <a:pt x="0" y="29"/>
                  </a:lnTo>
                  <a:lnTo>
                    <a:pt x="28" y="0"/>
                  </a:lnTo>
                  <a:close/>
                </a:path>
              </a:pathLst>
            </a:custGeom>
            <a:solidFill>
              <a:srgbClr val="000080"/>
            </a:solidFill>
            <a:ln w="6350">
              <a:solidFill>
                <a:srgbClr val="000080"/>
              </a:solidFill>
              <a:prstDash val="solid"/>
              <a:round/>
              <a:headEnd/>
              <a:tailEnd/>
            </a:ln>
          </p:spPr>
          <p:txBody>
            <a:bodyPr/>
            <a:lstStyle/>
            <a:p>
              <a:endParaRPr lang="en-US"/>
            </a:p>
          </p:txBody>
        </p:sp>
        <p:sp>
          <p:nvSpPr>
            <p:cNvPr id="1364107" name="Freeform 139"/>
            <p:cNvSpPr>
              <a:spLocks/>
            </p:cNvSpPr>
            <p:nvPr/>
          </p:nvSpPr>
          <p:spPr bwMode="auto">
            <a:xfrm>
              <a:off x="3977" y="3202"/>
              <a:ext cx="51" cy="53"/>
            </a:xfrm>
            <a:custGeom>
              <a:avLst/>
              <a:gdLst/>
              <a:ahLst/>
              <a:cxnLst>
                <a:cxn ang="0">
                  <a:pos x="28" y="0"/>
                </a:cxn>
                <a:cxn ang="0">
                  <a:pos x="57" y="28"/>
                </a:cxn>
                <a:cxn ang="0">
                  <a:pos x="28" y="57"/>
                </a:cxn>
                <a:cxn ang="0">
                  <a:pos x="0" y="28"/>
                </a:cxn>
                <a:cxn ang="0">
                  <a:pos x="28" y="0"/>
                </a:cxn>
              </a:cxnLst>
              <a:rect l="0" t="0" r="r" b="b"/>
              <a:pathLst>
                <a:path w="57" h="57">
                  <a:moveTo>
                    <a:pt x="28" y="0"/>
                  </a:moveTo>
                  <a:lnTo>
                    <a:pt x="57" y="28"/>
                  </a:lnTo>
                  <a:lnTo>
                    <a:pt x="28" y="57"/>
                  </a:lnTo>
                  <a:lnTo>
                    <a:pt x="0" y="28"/>
                  </a:lnTo>
                  <a:lnTo>
                    <a:pt x="28" y="0"/>
                  </a:lnTo>
                  <a:close/>
                </a:path>
              </a:pathLst>
            </a:custGeom>
            <a:solidFill>
              <a:srgbClr val="00FFFF"/>
            </a:solidFill>
            <a:ln w="6350">
              <a:solidFill>
                <a:srgbClr val="000080"/>
              </a:solidFill>
              <a:prstDash val="solid"/>
              <a:round/>
              <a:headEnd/>
              <a:tailEnd/>
            </a:ln>
          </p:spPr>
          <p:txBody>
            <a:bodyPr/>
            <a:lstStyle/>
            <a:p>
              <a:endParaRPr lang="en-US"/>
            </a:p>
          </p:txBody>
        </p:sp>
        <p:sp>
          <p:nvSpPr>
            <p:cNvPr id="1364108" name="Freeform 140"/>
            <p:cNvSpPr>
              <a:spLocks/>
            </p:cNvSpPr>
            <p:nvPr/>
          </p:nvSpPr>
          <p:spPr bwMode="auto">
            <a:xfrm>
              <a:off x="3870" y="3112"/>
              <a:ext cx="50" cy="52"/>
            </a:xfrm>
            <a:custGeom>
              <a:avLst/>
              <a:gdLst/>
              <a:ahLst/>
              <a:cxnLst>
                <a:cxn ang="0">
                  <a:pos x="28" y="0"/>
                </a:cxn>
                <a:cxn ang="0">
                  <a:pos x="56" y="29"/>
                </a:cxn>
                <a:cxn ang="0">
                  <a:pos x="28" y="57"/>
                </a:cxn>
                <a:cxn ang="0">
                  <a:pos x="0" y="29"/>
                </a:cxn>
                <a:cxn ang="0">
                  <a:pos x="28" y="0"/>
                </a:cxn>
              </a:cxnLst>
              <a:rect l="0" t="0" r="r" b="b"/>
              <a:pathLst>
                <a:path w="56" h="57">
                  <a:moveTo>
                    <a:pt x="28" y="0"/>
                  </a:moveTo>
                  <a:lnTo>
                    <a:pt x="56" y="29"/>
                  </a:lnTo>
                  <a:lnTo>
                    <a:pt x="28" y="57"/>
                  </a:lnTo>
                  <a:lnTo>
                    <a:pt x="0" y="29"/>
                  </a:lnTo>
                  <a:lnTo>
                    <a:pt x="28" y="0"/>
                  </a:lnTo>
                  <a:close/>
                </a:path>
              </a:pathLst>
            </a:custGeom>
            <a:solidFill>
              <a:srgbClr val="00FFFF"/>
            </a:solidFill>
            <a:ln w="6350">
              <a:solidFill>
                <a:srgbClr val="000080"/>
              </a:solidFill>
              <a:prstDash val="solid"/>
              <a:round/>
              <a:headEnd/>
              <a:tailEnd/>
            </a:ln>
          </p:spPr>
          <p:txBody>
            <a:bodyPr/>
            <a:lstStyle/>
            <a:p>
              <a:endParaRPr lang="en-US"/>
            </a:p>
          </p:txBody>
        </p:sp>
        <p:sp>
          <p:nvSpPr>
            <p:cNvPr id="1364109" name="Freeform 141"/>
            <p:cNvSpPr>
              <a:spLocks/>
            </p:cNvSpPr>
            <p:nvPr/>
          </p:nvSpPr>
          <p:spPr bwMode="auto">
            <a:xfrm>
              <a:off x="4405" y="3382"/>
              <a:ext cx="50" cy="52"/>
            </a:xfrm>
            <a:custGeom>
              <a:avLst/>
              <a:gdLst/>
              <a:ahLst/>
              <a:cxnLst>
                <a:cxn ang="0">
                  <a:pos x="28" y="0"/>
                </a:cxn>
                <a:cxn ang="0">
                  <a:pos x="56" y="28"/>
                </a:cxn>
                <a:cxn ang="0">
                  <a:pos x="28" y="57"/>
                </a:cxn>
                <a:cxn ang="0">
                  <a:pos x="0" y="28"/>
                </a:cxn>
                <a:cxn ang="0">
                  <a:pos x="28" y="0"/>
                </a:cxn>
              </a:cxnLst>
              <a:rect l="0" t="0" r="r" b="b"/>
              <a:pathLst>
                <a:path w="56" h="57">
                  <a:moveTo>
                    <a:pt x="28" y="0"/>
                  </a:moveTo>
                  <a:lnTo>
                    <a:pt x="56" y="28"/>
                  </a:lnTo>
                  <a:lnTo>
                    <a:pt x="28" y="57"/>
                  </a:lnTo>
                  <a:lnTo>
                    <a:pt x="0" y="28"/>
                  </a:lnTo>
                  <a:lnTo>
                    <a:pt x="28" y="0"/>
                  </a:lnTo>
                  <a:close/>
                </a:path>
              </a:pathLst>
            </a:custGeom>
            <a:solidFill>
              <a:srgbClr val="000080"/>
            </a:solidFill>
            <a:ln w="6350">
              <a:solidFill>
                <a:srgbClr val="000080"/>
              </a:solidFill>
              <a:prstDash val="solid"/>
              <a:round/>
              <a:headEnd/>
              <a:tailEnd/>
            </a:ln>
          </p:spPr>
          <p:txBody>
            <a:bodyPr/>
            <a:lstStyle/>
            <a:p>
              <a:endParaRPr lang="en-US"/>
            </a:p>
          </p:txBody>
        </p:sp>
        <p:sp>
          <p:nvSpPr>
            <p:cNvPr id="1364110" name="Freeform 142"/>
            <p:cNvSpPr>
              <a:spLocks/>
            </p:cNvSpPr>
            <p:nvPr/>
          </p:nvSpPr>
          <p:spPr bwMode="auto">
            <a:xfrm>
              <a:off x="3977" y="3382"/>
              <a:ext cx="51" cy="52"/>
            </a:xfrm>
            <a:custGeom>
              <a:avLst/>
              <a:gdLst/>
              <a:ahLst/>
              <a:cxnLst>
                <a:cxn ang="0">
                  <a:pos x="28" y="0"/>
                </a:cxn>
                <a:cxn ang="0">
                  <a:pos x="57" y="28"/>
                </a:cxn>
                <a:cxn ang="0">
                  <a:pos x="28" y="57"/>
                </a:cxn>
                <a:cxn ang="0">
                  <a:pos x="0" y="28"/>
                </a:cxn>
                <a:cxn ang="0">
                  <a:pos x="28" y="0"/>
                </a:cxn>
              </a:cxnLst>
              <a:rect l="0" t="0" r="r" b="b"/>
              <a:pathLst>
                <a:path w="57" h="57">
                  <a:moveTo>
                    <a:pt x="28" y="0"/>
                  </a:moveTo>
                  <a:lnTo>
                    <a:pt x="57" y="28"/>
                  </a:lnTo>
                  <a:lnTo>
                    <a:pt x="28" y="57"/>
                  </a:lnTo>
                  <a:lnTo>
                    <a:pt x="0" y="28"/>
                  </a:lnTo>
                  <a:lnTo>
                    <a:pt x="28" y="0"/>
                  </a:lnTo>
                  <a:close/>
                </a:path>
              </a:pathLst>
            </a:custGeom>
            <a:solidFill>
              <a:srgbClr val="00FFFF"/>
            </a:solidFill>
            <a:ln w="6350">
              <a:solidFill>
                <a:srgbClr val="000080"/>
              </a:solidFill>
              <a:prstDash val="solid"/>
              <a:round/>
              <a:headEnd/>
              <a:tailEnd/>
            </a:ln>
          </p:spPr>
          <p:txBody>
            <a:bodyPr/>
            <a:lstStyle/>
            <a:p>
              <a:endParaRPr lang="en-US"/>
            </a:p>
          </p:txBody>
        </p:sp>
        <p:sp>
          <p:nvSpPr>
            <p:cNvPr id="1364111" name="Freeform 143"/>
            <p:cNvSpPr>
              <a:spLocks/>
            </p:cNvSpPr>
            <p:nvPr/>
          </p:nvSpPr>
          <p:spPr bwMode="auto">
            <a:xfrm>
              <a:off x="4085" y="3741"/>
              <a:ext cx="50" cy="52"/>
            </a:xfrm>
            <a:custGeom>
              <a:avLst/>
              <a:gdLst/>
              <a:ahLst/>
              <a:cxnLst>
                <a:cxn ang="0">
                  <a:pos x="28" y="0"/>
                </a:cxn>
                <a:cxn ang="0">
                  <a:pos x="56" y="29"/>
                </a:cxn>
                <a:cxn ang="0">
                  <a:pos x="28" y="57"/>
                </a:cxn>
                <a:cxn ang="0">
                  <a:pos x="0" y="29"/>
                </a:cxn>
                <a:cxn ang="0">
                  <a:pos x="28" y="0"/>
                </a:cxn>
              </a:cxnLst>
              <a:rect l="0" t="0" r="r" b="b"/>
              <a:pathLst>
                <a:path w="56" h="57">
                  <a:moveTo>
                    <a:pt x="28" y="0"/>
                  </a:moveTo>
                  <a:lnTo>
                    <a:pt x="56" y="29"/>
                  </a:lnTo>
                  <a:lnTo>
                    <a:pt x="28" y="57"/>
                  </a:lnTo>
                  <a:lnTo>
                    <a:pt x="0" y="29"/>
                  </a:lnTo>
                  <a:lnTo>
                    <a:pt x="28" y="0"/>
                  </a:lnTo>
                  <a:close/>
                </a:path>
              </a:pathLst>
            </a:custGeom>
            <a:solidFill>
              <a:srgbClr val="000080"/>
            </a:solidFill>
            <a:ln w="6350">
              <a:solidFill>
                <a:srgbClr val="000080"/>
              </a:solidFill>
              <a:prstDash val="solid"/>
              <a:round/>
              <a:headEnd/>
              <a:tailEnd/>
            </a:ln>
          </p:spPr>
          <p:txBody>
            <a:bodyPr/>
            <a:lstStyle/>
            <a:p>
              <a:endParaRPr lang="en-US"/>
            </a:p>
          </p:txBody>
        </p:sp>
        <p:sp>
          <p:nvSpPr>
            <p:cNvPr id="1364112" name="Freeform 144"/>
            <p:cNvSpPr>
              <a:spLocks/>
            </p:cNvSpPr>
            <p:nvPr/>
          </p:nvSpPr>
          <p:spPr bwMode="auto">
            <a:xfrm>
              <a:off x="4301" y="3472"/>
              <a:ext cx="51" cy="51"/>
            </a:xfrm>
            <a:custGeom>
              <a:avLst/>
              <a:gdLst/>
              <a:ahLst/>
              <a:cxnLst>
                <a:cxn ang="0">
                  <a:pos x="28" y="0"/>
                </a:cxn>
                <a:cxn ang="0">
                  <a:pos x="57" y="28"/>
                </a:cxn>
                <a:cxn ang="0">
                  <a:pos x="28" y="56"/>
                </a:cxn>
                <a:cxn ang="0">
                  <a:pos x="0" y="28"/>
                </a:cxn>
                <a:cxn ang="0">
                  <a:pos x="28" y="0"/>
                </a:cxn>
              </a:cxnLst>
              <a:rect l="0" t="0" r="r" b="b"/>
              <a:pathLst>
                <a:path w="57" h="56">
                  <a:moveTo>
                    <a:pt x="28" y="0"/>
                  </a:moveTo>
                  <a:lnTo>
                    <a:pt x="57" y="28"/>
                  </a:lnTo>
                  <a:lnTo>
                    <a:pt x="28" y="56"/>
                  </a:lnTo>
                  <a:lnTo>
                    <a:pt x="0" y="28"/>
                  </a:lnTo>
                  <a:lnTo>
                    <a:pt x="28" y="0"/>
                  </a:lnTo>
                  <a:close/>
                </a:path>
              </a:pathLst>
            </a:custGeom>
            <a:solidFill>
              <a:srgbClr val="FF0000"/>
            </a:solidFill>
            <a:ln w="6350">
              <a:solidFill>
                <a:srgbClr val="000080"/>
              </a:solidFill>
              <a:prstDash val="solid"/>
              <a:round/>
              <a:headEnd/>
              <a:tailEnd/>
            </a:ln>
          </p:spPr>
          <p:txBody>
            <a:bodyPr/>
            <a:lstStyle/>
            <a:p>
              <a:endParaRPr lang="en-US"/>
            </a:p>
          </p:txBody>
        </p:sp>
        <p:sp>
          <p:nvSpPr>
            <p:cNvPr id="1364113" name="Freeform 145"/>
            <p:cNvSpPr>
              <a:spLocks/>
            </p:cNvSpPr>
            <p:nvPr/>
          </p:nvSpPr>
          <p:spPr bwMode="auto">
            <a:xfrm>
              <a:off x="4085" y="3382"/>
              <a:ext cx="50" cy="52"/>
            </a:xfrm>
            <a:custGeom>
              <a:avLst/>
              <a:gdLst/>
              <a:ahLst/>
              <a:cxnLst>
                <a:cxn ang="0">
                  <a:pos x="28" y="0"/>
                </a:cxn>
                <a:cxn ang="0">
                  <a:pos x="56" y="28"/>
                </a:cxn>
                <a:cxn ang="0">
                  <a:pos x="28" y="57"/>
                </a:cxn>
                <a:cxn ang="0">
                  <a:pos x="0" y="28"/>
                </a:cxn>
                <a:cxn ang="0">
                  <a:pos x="28" y="0"/>
                </a:cxn>
              </a:cxnLst>
              <a:rect l="0" t="0" r="r" b="b"/>
              <a:pathLst>
                <a:path w="56" h="57">
                  <a:moveTo>
                    <a:pt x="28" y="0"/>
                  </a:moveTo>
                  <a:lnTo>
                    <a:pt x="56" y="28"/>
                  </a:lnTo>
                  <a:lnTo>
                    <a:pt x="28" y="57"/>
                  </a:lnTo>
                  <a:lnTo>
                    <a:pt x="0" y="28"/>
                  </a:lnTo>
                  <a:lnTo>
                    <a:pt x="28" y="0"/>
                  </a:lnTo>
                  <a:close/>
                </a:path>
              </a:pathLst>
            </a:custGeom>
            <a:solidFill>
              <a:srgbClr val="00FFFF"/>
            </a:solidFill>
            <a:ln w="6350">
              <a:solidFill>
                <a:srgbClr val="000080"/>
              </a:solidFill>
              <a:prstDash val="solid"/>
              <a:round/>
              <a:headEnd/>
              <a:tailEnd/>
            </a:ln>
          </p:spPr>
          <p:txBody>
            <a:bodyPr/>
            <a:lstStyle/>
            <a:p>
              <a:endParaRPr lang="en-US"/>
            </a:p>
          </p:txBody>
        </p:sp>
        <p:sp>
          <p:nvSpPr>
            <p:cNvPr id="1364114" name="Rectangle 146"/>
            <p:cNvSpPr>
              <a:spLocks noChangeArrowheads="1"/>
            </p:cNvSpPr>
            <p:nvPr/>
          </p:nvSpPr>
          <p:spPr bwMode="auto">
            <a:xfrm>
              <a:off x="3525" y="383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0</a:t>
              </a:r>
              <a:endParaRPr lang="ko-KR" altLang="en-US" sz="2400" b="0">
                <a:solidFill>
                  <a:schemeClr val="tx1"/>
                </a:solidFill>
                <a:latin typeface="Tahoma" pitchFamily="34" charset="0"/>
                <a:ea typeface="굴림" pitchFamily="34" charset="-127"/>
              </a:endParaRPr>
            </a:p>
          </p:txBody>
        </p:sp>
        <p:sp>
          <p:nvSpPr>
            <p:cNvPr id="1364115" name="Rectangle 147"/>
            <p:cNvSpPr>
              <a:spLocks noChangeArrowheads="1"/>
            </p:cNvSpPr>
            <p:nvPr/>
          </p:nvSpPr>
          <p:spPr bwMode="auto">
            <a:xfrm>
              <a:off x="3525" y="3741"/>
              <a:ext cx="13" cy="39"/>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1</a:t>
              </a:r>
              <a:endParaRPr lang="ko-KR" altLang="en-US" sz="2400" b="0">
                <a:solidFill>
                  <a:schemeClr val="tx1"/>
                </a:solidFill>
                <a:latin typeface="Tahoma" pitchFamily="34" charset="0"/>
                <a:ea typeface="굴림" pitchFamily="34" charset="-127"/>
              </a:endParaRPr>
            </a:p>
          </p:txBody>
        </p:sp>
        <p:sp>
          <p:nvSpPr>
            <p:cNvPr id="1364116" name="Rectangle 148"/>
            <p:cNvSpPr>
              <a:spLocks noChangeArrowheads="1"/>
            </p:cNvSpPr>
            <p:nvPr/>
          </p:nvSpPr>
          <p:spPr bwMode="auto">
            <a:xfrm>
              <a:off x="3525" y="3651"/>
              <a:ext cx="13" cy="39"/>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2</a:t>
              </a:r>
              <a:endParaRPr lang="ko-KR" altLang="en-US" sz="2400" b="0">
                <a:solidFill>
                  <a:schemeClr val="tx1"/>
                </a:solidFill>
                <a:latin typeface="Tahoma" pitchFamily="34" charset="0"/>
                <a:ea typeface="굴림" pitchFamily="34" charset="-127"/>
              </a:endParaRPr>
            </a:p>
          </p:txBody>
        </p:sp>
        <p:sp>
          <p:nvSpPr>
            <p:cNvPr id="1364117" name="Rectangle 149"/>
            <p:cNvSpPr>
              <a:spLocks noChangeArrowheads="1"/>
            </p:cNvSpPr>
            <p:nvPr/>
          </p:nvSpPr>
          <p:spPr bwMode="auto">
            <a:xfrm>
              <a:off x="3525" y="356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3</a:t>
              </a:r>
              <a:endParaRPr lang="ko-KR" altLang="en-US" sz="2400" b="0">
                <a:solidFill>
                  <a:schemeClr val="tx1"/>
                </a:solidFill>
                <a:latin typeface="Tahoma" pitchFamily="34" charset="0"/>
                <a:ea typeface="굴림" pitchFamily="34" charset="-127"/>
              </a:endParaRPr>
            </a:p>
          </p:txBody>
        </p:sp>
        <p:sp>
          <p:nvSpPr>
            <p:cNvPr id="1364118" name="Rectangle 150"/>
            <p:cNvSpPr>
              <a:spLocks noChangeArrowheads="1"/>
            </p:cNvSpPr>
            <p:nvPr/>
          </p:nvSpPr>
          <p:spPr bwMode="auto">
            <a:xfrm>
              <a:off x="3525" y="3472"/>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4</a:t>
              </a:r>
              <a:endParaRPr lang="ko-KR" altLang="en-US" sz="2400" b="0">
                <a:solidFill>
                  <a:schemeClr val="tx1"/>
                </a:solidFill>
                <a:latin typeface="Tahoma" pitchFamily="34" charset="0"/>
                <a:ea typeface="굴림" pitchFamily="34" charset="-127"/>
              </a:endParaRPr>
            </a:p>
          </p:txBody>
        </p:sp>
        <p:sp>
          <p:nvSpPr>
            <p:cNvPr id="1364119" name="Rectangle 151"/>
            <p:cNvSpPr>
              <a:spLocks noChangeArrowheads="1"/>
            </p:cNvSpPr>
            <p:nvPr/>
          </p:nvSpPr>
          <p:spPr bwMode="auto">
            <a:xfrm>
              <a:off x="3525" y="3382"/>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5</a:t>
              </a:r>
              <a:endParaRPr lang="ko-KR" altLang="en-US" sz="2400" b="0">
                <a:solidFill>
                  <a:schemeClr val="tx1"/>
                </a:solidFill>
                <a:latin typeface="Tahoma" pitchFamily="34" charset="0"/>
                <a:ea typeface="굴림" pitchFamily="34" charset="-127"/>
              </a:endParaRPr>
            </a:p>
          </p:txBody>
        </p:sp>
        <p:sp>
          <p:nvSpPr>
            <p:cNvPr id="1364120" name="Rectangle 152"/>
            <p:cNvSpPr>
              <a:spLocks noChangeArrowheads="1"/>
            </p:cNvSpPr>
            <p:nvPr/>
          </p:nvSpPr>
          <p:spPr bwMode="auto">
            <a:xfrm>
              <a:off x="3525" y="32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6</a:t>
              </a:r>
              <a:endParaRPr lang="ko-KR" altLang="en-US" sz="2400" b="0">
                <a:solidFill>
                  <a:schemeClr val="tx1"/>
                </a:solidFill>
                <a:latin typeface="Tahoma" pitchFamily="34" charset="0"/>
                <a:ea typeface="굴림" pitchFamily="34" charset="-127"/>
              </a:endParaRPr>
            </a:p>
          </p:txBody>
        </p:sp>
        <p:sp>
          <p:nvSpPr>
            <p:cNvPr id="1364121" name="Rectangle 153"/>
            <p:cNvSpPr>
              <a:spLocks noChangeArrowheads="1"/>
            </p:cNvSpPr>
            <p:nvPr/>
          </p:nvSpPr>
          <p:spPr bwMode="auto">
            <a:xfrm>
              <a:off x="3525" y="3202"/>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7</a:t>
              </a:r>
              <a:endParaRPr lang="ko-KR" altLang="en-US" sz="2400" b="0">
                <a:solidFill>
                  <a:schemeClr val="tx1"/>
                </a:solidFill>
                <a:latin typeface="Tahoma" pitchFamily="34" charset="0"/>
                <a:ea typeface="굴림" pitchFamily="34" charset="-127"/>
              </a:endParaRPr>
            </a:p>
          </p:txBody>
        </p:sp>
        <p:sp>
          <p:nvSpPr>
            <p:cNvPr id="1364122" name="Rectangle 154"/>
            <p:cNvSpPr>
              <a:spLocks noChangeArrowheads="1"/>
            </p:cNvSpPr>
            <p:nvPr/>
          </p:nvSpPr>
          <p:spPr bwMode="auto">
            <a:xfrm>
              <a:off x="3525" y="3112"/>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8</a:t>
              </a:r>
              <a:endParaRPr lang="ko-KR" altLang="en-US" sz="2400" b="0">
                <a:solidFill>
                  <a:schemeClr val="tx1"/>
                </a:solidFill>
                <a:latin typeface="Tahoma" pitchFamily="34" charset="0"/>
                <a:ea typeface="굴림" pitchFamily="34" charset="-127"/>
              </a:endParaRPr>
            </a:p>
          </p:txBody>
        </p:sp>
        <p:sp>
          <p:nvSpPr>
            <p:cNvPr id="1364123" name="Rectangle 155"/>
            <p:cNvSpPr>
              <a:spLocks noChangeArrowheads="1"/>
            </p:cNvSpPr>
            <p:nvPr/>
          </p:nvSpPr>
          <p:spPr bwMode="auto">
            <a:xfrm>
              <a:off x="3525" y="3023"/>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9</a:t>
              </a:r>
              <a:endParaRPr lang="ko-KR" altLang="en-US" sz="2400" b="0">
                <a:solidFill>
                  <a:schemeClr val="tx1"/>
                </a:solidFill>
                <a:latin typeface="Tahoma" pitchFamily="34" charset="0"/>
                <a:ea typeface="굴림" pitchFamily="34" charset="-127"/>
              </a:endParaRPr>
            </a:p>
          </p:txBody>
        </p:sp>
        <p:sp>
          <p:nvSpPr>
            <p:cNvPr id="1364124" name="Rectangle 156"/>
            <p:cNvSpPr>
              <a:spLocks noChangeArrowheads="1"/>
            </p:cNvSpPr>
            <p:nvPr/>
          </p:nvSpPr>
          <p:spPr bwMode="auto">
            <a:xfrm>
              <a:off x="3502" y="2932"/>
              <a:ext cx="26" cy="39"/>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10</a:t>
              </a:r>
              <a:endParaRPr lang="ko-KR" altLang="en-US" sz="2400" b="0">
                <a:solidFill>
                  <a:schemeClr val="tx1"/>
                </a:solidFill>
                <a:latin typeface="Tahoma" pitchFamily="34" charset="0"/>
                <a:ea typeface="굴림" pitchFamily="34" charset="-127"/>
              </a:endParaRPr>
            </a:p>
          </p:txBody>
        </p:sp>
        <p:sp>
          <p:nvSpPr>
            <p:cNvPr id="1364125" name="Rectangle 157"/>
            <p:cNvSpPr>
              <a:spLocks noChangeArrowheads="1"/>
            </p:cNvSpPr>
            <p:nvPr/>
          </p:nvSpPr>
          <p:spPr bwMode="auto">
            <a:xfrm>
              <a:off x="3564"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0</a:t>
              </a:r>
              <a:endParaRPr lang="ko-KR" altLang="en-US" sz="2400" b="0">
                <a:solidFill>
                  <a:schemeClr val="tx1"/>
                </a:solidFill>
                <a:latin typeface="Tahoma" pitchFamily="34" charset="0"/>
                <a:ea typeface="굴림" pitchFamily="34" charset="-127"/>
              </a:endParaRPr>
            </a:p>
          </p:txBody>
        </p:sp>
        <p:sp>
          <p:nvSpPr>
            <p:cNvPr id="1364126" name="Rectangle 158"/>
            <p:cNvSpPr>
              <a:spLocks noChangeArrowheads="1"/>
            </p:cNvSpPr>
            <p:nvPr/>
          </p:nvSpPr>
          <p:spPr bwMode="auto">
            <a:xfrm>
              <a:off x="3671"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1</a:t>
              </a:r>
              <a:endParaRPr lang="ko-KR" altLang="en-US" sz="2400" b="0">
                <a:solidFill>
                  <a:schemeClr val="tx1"/>
                </a:solidFill>
                <a:latin typeface="Tahoma" pitchFamily="34" charset="0"/>
                <a:ea typeface="굴림" pitchFamily="34" charset="-127"/>
              </a:endParaRPr>
            </a:p>
          </p:txBody>
        </p:sp>
        <p:sp>
          <p:nvSpPr>
            <p:cNvPr id="1364127" name="Rectangle 159"/>
            <p:cNvSpPr>
              <a:spLocks noChangeArrowheads="1"/>
            </p:cNvSpPr>
            <p:nvPr/>
          </p:nvSpPr>
          <p:spPr bwMode="auto">
            <a:xfrm>
              <a:off x="3780"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2</a:t>
              </a:r>
              <a:endParaRPr lang="ko-KR" altLang="en-US" sz="2400" b="0">
                <a:solidFill>
                  <a:schemeClr val="tx1"/>
                </a:solidFill>
                <a:latin typeface="Tahoma" pitchFamily="34" charset="0"/>
                <a:ea typeface="굴림" pitchFamily="34" charset="-127"/>
              </a:endParaRPr>
            </a:p>
          </p:txBody>
        </p:sp>
        <p:sp>
          <p:nvSpPr>
            <p:cNvPr id="1364128" name="Rectangle 160"/>
            <p:cNvSpPr>
              <a:spLocks noChangeArrowheads="1"/>
            </p:cNvSpPr>
            <p:nvPr/>
          </p:nvSpPr>
          <p:spPr bwMode="auto">
            <a:xfrm>
              <a:off x="3884"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3</a:t>
              </a:r>
              <a:endParaRPr lang="ko-KR" altLang="en-US" sz="2400" b="0">
                <a:solidFill>
                  <a:schemeClr val="tx1"/>
                </a:solidFill>
                <a:latin typeface="Tahoma" pitchFamily="34" charset="0"/>
                <a:ea typeface="굴림" pitchFamily="34" charset="-127"/>
              </a:endParaRPr>
            </a:p>
          </p:txBody>
        </p:sp>
        <p:sp>
          <p:nvSpPr>
            <p:cNvPr id="1364129" name="Rectangle 161"/>
            <p:cNvSpPr>
              <a:spLocks noChangeArrowheads="1"/>
            </p:cNvSpPr>
            <p:nvPr/>
          </p:nvSpPr>
          <p:spPr bwMode="auto">
            <a:xfrm>
              <a:off x="3991"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4</a:t>
              </a:r>
              <a:endParaRPr lang="ko-KR" altLang="en-US" sz="2400" b="0">
                <a:solidFill>
                  <a:schemeClr val="tx1"/>
                </a:solidFill>
                <a:latin typeface="Tahoma" pitchFamily="34" charset="0"/>
                <a:ea typeface="굴림" pitchFamily="34" charset="-127"/>
              </a:endParaRPr>
            </a:p>
          </p:txBody>
        </p:sp>
        <p:sp>
          <p:nvSpPr>
            <p:cNvPr id="1364130" name="Rectangle 162"/>
            <p:cNvSpPr>
              <a:spLocks noChangeArrowheads="1"/>
            </p:cNvSpPr>
            <p:nvPr/>
          </p:nvSpPr>
          <p:spPr bwMode="auto">
            <a:xfrm>
              <a:off x="4100"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5</a:t>
              </a:r>
              <a:endParaRPr lang="ko-KR" altLang="en-US" sz="2400" b="0">
                <a:solidFill>
                  <a:schemeClr val="tx1"/>
                </a:solidFill>
                <a:latin typeface="Tahoma" pitchFamily="34" charset="0"/>
                <a:ea typeface="굴림" pitchFamily="34" charset="-127"/>
              </a:endParaRPr>
            </a:p>
          </p:txBody>
        </p:sp>
        <p:sp>
          <p:nvSpPr>
            <p:cNvPr id="1364131" name="Rectangle 163"/>
            <p:cNvSpPr>
              <a:spLocks noChangeArrowheads="1"/>
            </p:cNvSpPr>
            <p:nvPr/>
          </p:nvSpPr>
          <p:spPr bwMode="auto">
            <a:xfrm>
              <a:off x="4208"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6</a:t>
              </a:r>
              <a:endParaRPr lang="ko-KR" altLang="en-US" sz="2400" b="0">
                <a:solidFill>
                  <a:schemeClr val="tx1"/>
                </a:solidFill>
                <a:latin typeface="Tahoma" pitchFamily="34" charset="0"/>
                <a:ea typeface="굴림" pitchFamily="34" charset="-127"/>
              </a:endParaRPr>
            </a:p>
          </p:txBody>
        </p:sp>
        <p:sp>
          <p:nvSpPr>
            <p:cNvPr id="1364132" name="Rectangle 164"/>
            <p:cNvSpPr>
              <a:spLocks noChangeArrowheads="1"/>
            </p:cNvSpPr>
            <p:nvPr/>
          </p:nvSpPr>
          <p:spPr bwMode="auto">
            <a:xfrm>
              <a:off x="4315"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7</a:t>
              </a:r>
              <a:endParaRPr lang="ko-KR" altLang="en-US" sz="2400" b="0">
                <a:solidFill>
                  <a:schemeClr val="tx1"/>
                </a:solidFill>
                <a:latin typeface="Tahoma" pitchFamily="34" charset="0"/>
                <a:ea typeface="굴림" pitchFamily="34" charset="-127"/>
              </a:endParaRPr>
            </a:p>
          </p:txBody>
        </p:sp>
        <p:sp>
          <p:nvSpPr>
            <p:cNvPr id="1364133" name="Rectangle 165"/>
            <p:cNvSpPr>
              <a:spLocks noChangeArrowheads="1"/>
            </p:cNvSpPr>
            <p:nvPr/>
          </p:nvSpPr>
          <p:spPr bwMode="auto">
            <a:xfrm>
              <a:off x="4420"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8</a:t>
              </a:r>
              <a:endParaRPr lang="ko-KR" altLang="en-US" sz="2400" b="0">
                <a:solidFill>
                  <a:schemeClr val="tx1"/>
                </a:solidFill>
                <a:latin typeface="Tahoma" pitchFamily="34" charset="0"/>
                <a:ea typeface="굴림" pitchFamily="34" charset="-127"/>
              </a:endParaRPr>
            </a:p>
          </p:txBody>
        </p:sp>
        <p:sp>
          <p:nvSpPr>
            <p:cNvPr id="1364134" name="Rectangle 166"/>
            <p:cNvSpPr>
              <a:spLocks noChangeArrowheads="1"/>
            </p:cNvSpPr>
            <p:nvPr/>
          </p:nvSpPr>
          <p:spPr bwMode="auto">
            <a:xfrm>
              <a:off x="4528" y="3891"/>
              <a:ext cx="13"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9</a:t>
              </a:r>
              <a:endParaRPr lang="ko-KR" altLang="en-US" sz="2400" b="0">
                <a:solidFill>
                  <a:schemeClr val="tx1"/>
                </a:solidFill>
                <a:latin typeface="Tahoma" pitchFamily="34" charset="0"/>
                <a:ea typeface="굴림" pitchFamily="34" charset="-127"/>
              </a:endParaRPr>
            </a:p>
          </p:txBody>
        </p:sp>
        <p:sp>
          <p:nvSpPr>
            <p:cNvPr id="1364135" name="Rectangle 167"/>
            <p:cNvSpPr>
              <a:spLocks noChangeArrowheads="1"/>
            </p:cNvSpPr>
            <p:nvPr/>
          </p:nvSpPr>
          <p:spPr bwMode="auto">
            <a:xfrm>
              <a:off x="4624" y="3891"/>
              <a:ext cx="26" cy="38"/>
            </a:xfrm>
            <a:prstGeom prst="rect">
              <a:avLst/>
            </a:prstGeom>
            <a:noFill/>
            <a:ln w="9525">
              <a:noFill/>
              <a:miter lim="800000"/>
              <a:headEnd/>
              <a:tailEnd/>
            </a:ln>
          </p:spPr>
          <p:txBody>
            <a:bodyPr wrap="none" lIns="0" tIns="0" rIns="0" bIns="0">
              <a:spAutoFit/>
            </a:bodyPr>
            <a:lstStyle/>
            <a:p>
              <a:pPr eaLnBrk="1" hangingPunct="1">
                <a:spcBef>
                  <a:spcPct val="0"/>
                </a:spcBef>
                <a:buClrTx/>
                <a:buSzTx/>
                <a:buFontTx/>
                <a:buNone/>
              </a:pPr>
              <a:r>
                <a:rPr lang="ko-KR" altLang="en-US" sz="600" b="0">
                  <a:solidFill>
                    <a:srgbClr val="000000"/>
                  </a:solidFill>
                  <a:latin typeface="Arial" pitchFamily="34" charset="0"/>
                  <a:ea typeface="굴림" pitchFamily="34" charset="-127"/>
                </a:rPr>
                <a:t>10</a:t>
              </a:r>
              <a:endParaRPr lang="ko-KR" altLang="en-US" sz="2400" b="0">
                <a:solidFill>
                  <a:schemeClr val="tx1"/>
                </a:solidFill>
                <a:latin typeface="Tahoma" pitchFamily="34" charset="0"/>
                <a:ea typeface="굴림" pitchFamily="34" charset="-127"/>
              </a:endParaRPr>
            </a:p>
          </p:txBody>
        </p:sp>
        <p:sp>
          <p:nvSpPr>
            <p:cNvPr id="1364136" name="Rectangle 168"/>
            <p:cNvSpPr>
              <a:spLocks noChangeArrowheads="1"/>
            </p:cNvSpPr>
            <p:nvPr/>
          </p:nvSpPr>
          <p:spPr bwMode="auto">
            <a:xfrm>
              <a:off x="3456" y="2880"/>
              <a:ext cx="1248" cy="1112"/>
            </a:xfrm>
            <a:prstGeom prst="rect">
              <a:avLst/>
            </a:prstGeom>
            <a:noFill/>
            <a:ln w="0">
              <a:solidFill>
                <a:srgbClr val="000000"/>
              </a:solidFill>
              <a:miter lim="800000"/>
              <a:headEnd/>
              <a:tailEnd/>
            </a:ln>
          </p:spPr>
          <p:txBody>
            <a:bodyPr/>
            <a:lstStyle/>
            <a:p>
              <a:endParaRPr lang="en-US"/>
            </a:p>
          </p:txBody>
        </p:sp>
        <p:sp>
          <p:nvSpPr>
            <p:cNvPr id="1364137" name="Freeform 169"/>
            <p:cNvSpPr>
              <a:spLocks/>
            </p:cNvSpPr>
            <p:nvPr/>
          </p:nvSpPr>
          <p:spPr bwMode="auto">
            <a:xfrm>
              <a:off x="3759" y="3059"/>
              <a:ext cx="436" cy="549"/>
            </a:xfrm>
            <a:custGeom>
              <a:avLst/>
              <a:gdLst/>
              <a:ahLst/>
              <a:cxnLst>
                <a:cxn ang="0">
                  <a:pos x="199" y="7"/>
                </a:cxn>
                <a:cxn ang="0">
                  <a:pos x="110" y="96"/>
                </a:cxn>
                <a:cxn ang="0">
                  <a:pos x="80" y="140"/>
                </a:cxn>
                <a:cxn ang="0">
                  <a:pos x="65" y="162"/>
                </a:cxn>
                <a:cxn ang="0">
                  <a:pos x="21" y="303"/>
                </a:cxn>
                <a:cxn ang="0">
                  <a:pos x="65" y="703"/>
                </a:cxn>
                <a:cxn ang="0">
                  <a:pos x="110" y="763"/>
                </a:cxn>
                <a:cxn ang="0">
                  <a:pos x="332" y="896"/>
                </a:cxn>
                <a:cxn ang="0">
                  <a:pos x="495" y="851"/>
                </a:cxn>
                <a:cxn ang="0">
                  <a:pos x="636" y="711"/>
                </a:cxn>
                <a:cxn ang="0">
                  <a:pos x="688" y="607"/>
                </a:cxn>
                <a:cxn ang="0">
                  <a:pos x="702" y="563"/>
                </a:cxn>
                <a:cxn ang="0">
                  <a:pos x="710" y="540"/>
                </a:cxn>
                <a:cxn ang="0">
                  <a:pos x="680" y="296"/>
                </a:cxn>
                <a:cxn ang="0">
                  <a:pos x="569" y="133"/>
                </a:cxn>
                <a:cxn ang="0">
                  <a:pos x="510" y="88"/>
                </a:cxn>
                <a:cxn ang="0">
                  <a:pos x="465" y="59"/>
                </a:cxn>
                <a:cxn ang="0">
                  <a:pos x="295" y="0"/>
                </a:cxn>
                <a:cxn ang="0">
                  <a:pos x="206" y="7"/>
                </a:cxn>
                <a:cxn ang="0">
                  <a:pos x="184" y="14"/>
                </a:cxn>
                <a:cxn ang="0">
                  <a:pos x="199" y="7"/>
                </a:cxn>
              </a:cxnLst>
              <a:rect l="0" t="0" r="r" b="b"/>
              <a:pathLst>
                <a:path w="728" h="896">
                  <a:moveTo>
                    <a:pt x="199" y="7"/>
                  </a:moveTo>
                  <a:cubicBezTo>
                    <a:pt x="148" y="19"/>
                    <a:pt x="135" y="54"/>
                    <a:pt x="110" y="96"/>
                  </a:cubicBezTo>
                  <a:cubicBezTo>
                    <a:pt x="101" y="111"/>
                    <a:pt x="90" y="125"/>
                    <a:pt x="80" y="140"/>
                  </a:cubicBezTo>
                  <a:cubicBezTo>
                    <a:pt x="75" y="147"/>
                    <a:pt x="65" y="162"/>
                    <a:pt x="65" y="162"/>
                  </a:cubicBezTo>
                  <a:cubicBezTo>
                    <a:pt x="50" y="210"/>
                    <a:pt x="33" y="254"/>
                    <a:pt x="21" y="303"/>
                  </a:cubicBezTo>
                  <a:cubicBezTo>
                    <a:pt x="4" y="446"/>
                    <a:pt x="0" y="574"/>
                    <a:pt x="65" y="703"/>
                  </a:cubicBezTo>
                  <a:cubicBezTo>
                    <a:pt x="79" y="731"/>
                    <a:pt x="83" y="744"/>
                    <a:pt x="110" y="763"/>
                  </a:cubicBezTo>
                  <a:cubicBezTo>
                    <a:pt x="159" y="835"/>
                    <a:pt x="250" y="874"/>
                    <a:pt x="332" y="896"/>
                  </a:cubicBezTo>
                  <a:cubicBezTo>
                    <a:pt x="394" y="889"/>
                    <a:pt x="441" y="878"/>
                    <a:pt x="495" y="851"/>
                  </a:cubicBezTo>
                  <a:cubicBezTo>
                    <a:pt x="537" y="789"/>
                    <a:pt x="571" y="751"/>
                    <a:pt x="636" y="711"/>
                  </a:cubicBezTo>
                  <a:cubicBezTo>
                    <a:pt x="660" y="674"/>
                    <a:pt x="672" y="647"/>
                    <a:pt x="688" y="607"/>
                  </a:cubicBezTo>
                  <a:cubicBezTo>
                    <a:pt x="694" y="593"/>
                    <a:pt x="697" y="578"/>
                    <a:pt x="702" y="563"/>
                  </a:cubicBezTo>
                  <a:cubicBezTo>
                    <a:pt x="705" y="555"/>
                    <a:pt x="710" y="540"/>
                    <a:pt x="710" y="540"/>
                  </a:cubicBezTo>
                  <a:cubicBezTo>
                    <a:pt x="720" y="459"/>
                    <a:pt x="728" y="366"/>
                    <a:pt x="680" y="296"/>
                  </a:cubicBezTo>
                  <a:cubicBezTo>
                    <a:pt x="659" y="231"/>
                    <a:pt x="621" y="176"/>
                    <a:pt x="569" y="133"/>
                  </a:cubicBezTo>
                  <a:cubicBezTo>
                    <a:pt x="550" y="117"/>
                    <a:pt x="530" y="103"/>
                    <a:pt x="510" y="88"/>
                  </a:cubicBezTo>
                  <a:cubicBezTo>
                    <a:pt x="496" y="77"/>
                    <a:pt x="465" y="59"/>
                    <a:pt x="465" y="59"/>
                  </a:cubicBezTo>
                  <a:cubicBezTo>
                    <a:pt x="428" y="0"/>
                    <a:pt x="358" y="5"/>
                    <a:pt x="295" y="0"/>
                  </a:cubicBezTo>
                  <a:cubicBezTo>
                    <a:pt x="265" y="2"/>
                    <a:pt x="236" y="3"/>
                    <a:pt x="206" y="7"/>
                  </a:cubicBezTo>
                  <a:cubicBezTo>
                    <a:pt x="198" y="8"/>
                    <a:pt x="192" y="14"/>
                    <a:pt x="184" y="14"/>
                  </a:cubicBezTo>
                  <a:cubicBezTo>
                    <a:pt x="178" y="14"/>
                    <a:pt x="194" y="9"/>
                    <a:pt x="199" y="7"/>
                  </a:cubicBezTo>
                  <a:close/>
                </a:path>
              </a:pathLst>
            </a:custGeom>
            <a:noFill/>
            <a:ln w="19050" cap="flat" cmpd="sng">
              <a:solidFill>
                <a:schemeClr val="tx1"/>
              </a:solidFill>
              <a:prstDash val="solid"/>
              <a:round/>
              <a:headEnd/>
              <a:tailEnd/>
            </a:ln>
            <a:effectLst/>
          </p:spPr>
          <p:txBody>
            <a:bodyPr wrap="none" anchor="ctr">
              <a:spAutoFit/>
            </a:bodyPr>
            <a:lstStyle/>
            <a:p>
              <a:endParaRPr lang="en-US"/>
            </a:p>
          </p:txBody>
        </p:sp>
        <p:sp>
          <p:nvSpPr>
            <p:cNvPr id="1364138" name="Freeform 170"/>
            <p:cNvSpPr>
              <a:spLocks/>
            </p:cNvSpPr>
            <p:nvPr/>
          </p:nvSpPr>
          <p:spPr bwMode="auto">
            <a:xfrm>
              <a:off x="4030" y="3281"/>
              <a:ext cx="481" cy="546"/>
            </a:xfrm>
            <a:custGeom>
              <a:avLst/>
              <a:gdLst/>
              <a:ahLst/>
              <a:cxnLst>
                <a:cxn ang="0">
                  <a:pos x="510" y="44"/>
                </a:cxn>
                <a:cxn ang="0">
                  <a:pos x="376" y="177"/>
                </a:cxn>
                <a:cxn ang="0">
                  <a:pos x="236" y="296"/>
                </a:cxn>
                <a:cxn ang="0">
                  <a:pos x="221" y="318"/>
                </a:cxn>
                <a:cxn ang="0">
                  <a:pos x="199" y="333"/>
                </a:cxn>
                <a:cxn ang="0">
                  <a:pos x="191" y="355"/>
                </a:cxn>
                <a:cxn ang="0">
                  <a:pos x="169" y="385"/>
                </a:cxn>
                <a:cxn ang="0">
                  <a:pos x="132" y="496"/>
                </a:cxn>
                <a:cxn ang="0">
                  <a:pos x="110" y="518"/>
                </a:cxn>
                <a:cxn ang="0">
                  <a:pos x="80" y="562"/>
                </a:cxn>
                <a:cxn ang="0">
                  <a:pos x="43" y="629"/>
                </a:cxn>
                <a:cxn ang="0">
                  <a:pos x="13" y="703"/>
                </a:cxn>
                <a:cxn ang="0">
                  <a:pos x="36" y="844"/>
                </a:cxn>
                <a:cxn ang="0">
                  <a:pos x="80" y="874"/>
                </a:cxn>
                <a:cxn ang="0">
                  <a:pos x="124" y="888"/>
                </a:cxn>
                <a:cxn ang="0">
                  <a:pos x="354" y="874"/>
                </a:cxn>
                <a:cxn ang="0">
                  <a:pos x="517" y="822"/>
                </a:cxn>
                <a:cxn ang="0">
                  <a:pos x="569" y="792"/>
                </a:cxn>
                <a:cxn ang="0">
                  <a:pos x="673" y="651"/>
                </a:cxn>
                <a:cxn ang="0">
                  <a:pos x="695" y="600"/>
                </a:cxn>
                <a:cxn ang="0">
                  <a:pos x="747" y="533"/>
                </a:cxn>
                <a:cxn ang="0">
                  <a:pos x="784" y="451"/>
                </a:cxn>
                <a:cxn ang="0">
                  <a:pos x="798" y="385"/>
                </a:cxn>
                <a:cxn ang="0">
                  <a:pos x="650" y="0"/>
                </a:cxn>
                <a:cxn ang="0">
                  <a:pos x="532" y="22"/>
                </a:cxn>
                <a:cxn ang="0">
                  <a:pos x="510" y="44"/>
                </a:cxn>
              </a:cxnLst>
              <a:rect l="0" t="0" r="r" b="b"/>
              <a:pathLst>
                <a:path w="802" h="889">
                  <a:moveTo>
                    <a:pt x="510" y="44"/>
                  </a:moveTo>
                  <a:cubicBezTo>
                    <a:pt x="455" y="80"/>
                    <a:pt x="422" y="133"/>
                    <a:pt x="376" y="177"/>
                  </a:cubicBezTo>
                  <a:cubicBezTo>
                    <a:pt x="346" y="236"/>
                    <a:pt x="298" y="273"/>
                    <a:pt x="236" y="296"/>
                  </a:cubicBezTo>
                  <a:cubicBezTo>
                    <a:pt x="231" y="303"/>
                    <a:pt x="227" y="312"/>
                    <a:pt x="221" y="318"/>
                  </a:cubicBezTo>
                  <a:cubicBezTo>
                    <a:pt x="215" y="324"/>
                    <a:pt x="205" y="326"/>
                    <a:pt x="199" y="333"/>
                  </a:cubicBezTo>
                  <a:cubicBezTo>
                    <a:pt x="194" y="339"/>
                    <a:pt x="195" y="348"/>
                    <a:pt x="191" y="355"/>
                  </a:cubicBezTo>
                  <a:cubicBezTo>
                    <a:pt x="185" y="366"/>
                    <a:pt x="176" y="375"/>
                    <a:pt x="169" y="385"/>
                  </a:cubicBezTo>
                  <a:cubicBezTo>
                    <a:pt x="156" y="422"/>
                    <a:pt x="155" y="463"/>
                    <a:pt x="132" y="496"/>
                  </a:cubicBezTo>
                  <a:cubicBezTo>
                    <a:pt x="126" y="504"/>
                    <a:pt x="116" y="510"/>
                    <a:pt x="110" y="518"/>
                  </a:cubicBezTo>
                  <a:cubicBezTo>
                    <a:pt x="99" y="532"/>
                    <a:pt x="80" y="562"/>
                    <a:pt x="80" y="562"/>
                  </a:cubicBezTo>
                  <a:cubicBezTo>
                    <a:pt x="68" y="602"/>
                    <a:pt x="78" y="578"/>
                    <a:pt x="43" y="629"/>
                  </a:cubicBezTo>
                  <a:cubicBezTo>
                    <a:pt x="28" y="651"/>
                    <a:pt x="22" y="678"/>
                    <a:pt x="13" y="703"/>
                  </a:cubicBezTo>
                  <a:cubicBezTo>
                    <a:pt x="15" y="727"/>
                    <a:pt x="0" y="812"/>
                    <a:pt x="36" y="844"/>
                  </a:cubicBezTo>
                  <a:cubicBezTo>
                    <a:pt x="49" y="856"/>
                    <a:pt x="65" y="864"/>
                    <a:pt x="80" y="874"/>
                  </a:cubicBezTo>
                  <a:cubicBezTo>
                    <a:pt x="93" y="883"/>
                    <a:pt x="124" y="888"/>
                    <a:pt x="124" y="888"/>
                  </a:cubicBezTo>
                  <a:cubicBezTo>
                    <a:pt x="167" y="886"/>
                    <a:pt x="287" y="889"/>
                    <a:pt x="354" y="874"/>
                  </a:cubicBezTo>
                  <a:cubicBezTo>
                    <a:pt x="410" y="861"/>
                    <a:pt x="461" y="835"/>
                    <a:pt x="517" y="822"/>
                  </a:cubicBezTo>
                  <a:cubicBezTo>
                    <a:pt x="534" y="811"/>
                    <a:pt x="553" y="804"/>
                    <a:pt x="569" y="792"/>
                  </a:cubicBezTo>
                  <a:cubicBezTo>
                    <a:pt x="613" y="757"/>
                    <a:pt x="651" y="702"/>
                    <a:pt x="673" y="651"/>
                  </a:cubicBezTo>
                  <a:cubicBezTo>
                    <a:pt x="680" y="634"/>
                    <a:pt x="685" y="615"/>
                    <a:pt x="695" y="600"/>
                  </a:cubicBezTo>
                  <a:cubicBezTo>
                    <a:pt x="711" y="577"/>
                    <a:pt x="747" y="533"/>
                    <a:pt x="747" y="533"/>
                  </a:cubicBezTo>
                  <a:cubicBezTo>
                    <a:pt x="756" y="504"/>
                    <a:pt x="784" y="451"/>
                    <a:pt x="784" y="451"/>
                  </a:cubicBezTo>
                  <a:cubicBezTo>
                    <a:pt x="787" y="439"/>
                    <a:pt x="798" y="395"/>
                    <a:pt x="798" y="385"/>
                  </a:cubicBezTo>
                  <a:cubicBezTo>
                    <a:pt x="798" y="264"/>
                    <a:pt x="802" y="46"/>
                    <a:pt x="650" y="0"/>
                  </a:cubicBezTo>
                  <a:cubicBezTo>
                    <a:pt x="598" y="5"/>
                    <a:pt x="575" y="6"/>
                    <a:pt x="532" y="22"/>
                  </a:cubicBezTo>
                  <a:cubicBezTo>
                    <a:pt x="516" y="46"/>
                    <a:pt x="526" y="44"/>
                    <a:pt x="510" y="44"/>
                  </a:cubicBezTo>
                  <a:close/>
                </a:path>
              </a:pathLst>
            </a:custGeom>
            <a:noFill/>
            <a:ln w="19050" cap="flat" cmpd="sng">
              <a:solidFill>
                <a:schemeClr val="tx1"/>
              </a:solidFill>
              <a:prstDash val="solid"/>
              <a:round/>
              <a:headEnd/>
              <a:tailEnd/>
            </a:ln>
            <a:effectLst/>
          </p:spPr>
          <p:txBody>
            <a:bodyPr wrap="none" anchor="ctr">
              <a:spAutoFit/>
            </a:bodyPr>
            <a:lstStyle/>
            <a:p>
              <a:endParaRPr lang="en-US"/>
            </a:p>
          </p:txBody>
        </p:sp>
      </p:grpSp>
      <p:grpSp>
        <p:nvGrpSpPr>
          <p:cNvPr id="3" name="Group 173"/>
          <p:cNvGrpSpPr>
            <a:grpSpLocks/>
          </p:cNvGrpSpPr>
          <p:nvPr/>
        </p:nvGrpSpPr>
        <p:grpSpPr bwMode="auto">
          <a:xfrm>
            <a:off x="304800" y="3124200"/>
            <a:ext cx="4038600" cy="2743200"/>
            <a:chOff x="3108" y="2256"/>
            <a:chExt cx="2148" cy="1872"/>
          </a:xfrm>
        </p:grpSpPr>
        <p:graphicFrame>
          <p:nvGraphicFramePr>
            <p:cNvPr id="1364142" name="Object 174"/>
            <p:cNvGraphicFramePr>
              <a:graphicFrameLocks noChangeAspect="1"/>
            </p:cNvGraphicFramePr>
            <p:nvPr/>
          </p:nvGraphicFramePr>
          <p:xfrm>
            <a:off x="3108" y="2256"/>
            <a:ext cx="2148" cy="1872"/>
          </p:xfrm>
          <a:graphic>
            <a:graphicData uri="http://schemas.openxmlformats.org/presentationml/2006/ole">
              <p:oleObj spid="_x0000_s430082" name="Worksheet" r:id="rId4" imgW="3410102" imgH="2848051" progId="Excel.Sheet.8">
                <p:embed/>
              </p:oleObj>
            </a:graphicData>
          </a:graphic>
        </p:graphicFrame>
        <p:sp>
          <p:nvSpPr>
            <p:cNvPr id="1364143" name="Freeform 175"/>
            <p:cNvSpPr>
              <a:spLocks/>
            </p:cNvSpPr>
            <p:nvPr/>
          </p:nvSpPr>
          <p:spPr bwMode="auto">
            <a:xfrm>
              <a:off x="3638" y="2571"/>
              <a:ext cx="728" cy="896"/>
            </a:xfrm>
            <a:custGeom>
              <a:avLst/>
              <a:gdLst/>
              <a:ahLst/>
              <a:cxnLst>
                <a:cxn ang="0">
                  <a:pos x="199" y="7"/>
                </a:cxn>
                <a:cxn ang="0">
                  <a:pos x="110" y="96"/>
                </a:cxn>
                <a:cxn ang="0">
                  <a:pos x="80" y="140"/>
                </a:cxn>
                <a:cxn ang="0">
                  <a:pos x="65" y="162"/>
                </a:cxn>
                <a:cxn ang="0">
                  <a:pos x="21" y="303"/>
                </a:cxn>
                <a:cxn ang="0">
                  <a:pos x="65" y="703"/>
                </a:cxn>
                <a:cxn ang="0">
                  <a:pos x="110" y="763"/>
                </a:cxn>
                <a:cxn ang="0">
                  <a:pos x="332" y="896"/>
                </a:cxn>
                <a:cxn ang="0">
                  <a:pos x="495" y="851"/>
                </a:cxn>
                <a:cxn ang="0">
                  <a:pos x="636" y="711"/>
                </a:cxn>
                <a:cxn ang="0">
                  <a:pos x="688" y="607"/>
                </a:cxn>
                <a:cxn ang="0">
                  <a:pos x="702" y="563"/>
                </a:cxn>
                <a:cxn ang="0">
                  <a:pos x="710" y="540"/>
                </a:cxn>
                <a:cxn ang="0">
                  <a:pos x="680" y="296"/>
                </a:cxn>
                <a:cxn ang="0">
                  <a:pos x="569" y="133"/>
                </a:cxn>
                <a:cxn ang="0">
                  <a:pos x="510" y="88"/>
                </a:cxn>
                <a:cxn ang="0">
                  <a:pos x="465" y="59"/>
                </a:cxn>
                <a:cxn ang="0">
                  <a:pos x="295" y="0"/>
                </a:cxn>
                <a:cxn ang="0">
                  <a:pos x="206" y="7"/>
                </a:cxn>
                <a:cxn ang="0">
                  <a:pos x="184" y="14"/>
                </a:cxn>
                <a:cxn ang="0">
                  <a:pos x="199" y="7"/>
                </a:cxn>
              </a:cxnLst>
              <a:rect l="0" t="0" r="r" b="b"/>
              <a:pathLst>
                <a:path w="728" h="896">
                  <a:moveTo>
                    <a:pt x="199" y="7"/>
                  </a:moveTo>
                  <a:cubicBezTo>
                    <a:pt x="148" y="19"/>
                    <a:pt x="135" y="54"/>
                    <a:pt x="110" y="96"/>
                  </a:cubicBezTo>
                  <a:cubicBezTo>
                    <a:pt x="101" y="111"/>
                    <a:pt x="90" y="125"/>
                    <a:pt x="80" y="140"/>
                  </a:cubicBezTo>
                  <a:cubicBezTo>
                    <a:pt x="75" y="147"/>
                    <a:pt x="65" y="162"/>
                    <a:pt x="65" y="162"/>
                  </a:cubicBezTo>
                  <a:cubicBezTo>
                    <a:pt x="50" y="210"/>
                    <a:pt x="33" y="254"/>
                    <a:pt x="21" y="303"/>
                  </a:cubicBezTo>
                  <a:cubicBezTo>
                    <a:pt x="4" y="446"/>
                    <a:pt x="0" y="574"/>
                    <a:pt x="65" y="703"/>
                  </a:cubicBezTo>
                  <a:cubicBezTo>
                    <a:pt x="79" y="731"/>
                    <a:pt x="83" y="744"/>
                    <a:pt x="110" y="763"/>
                  </a:cubicBezTo>
                  <a:cubicBezTo>
                    <a:pt x="159" y="835"/>
                    <a:pt x="250" y="874"/>
                    <a:pt x="332" y="896"/>
                  </a:cubicBezTo>
                  <a:cubicBezTo>
                    <a:pt x="394" y="889"/>
                    <a:pt x="441" y="878"/>
                    <a:pt x="495" y="851"/>
                  </a:cubicBezTo>
                  <a:cubicBezTo>
                    <a:pt x="537" y="789"/>
                    <a:pt x="571" y="751"/>
                    <a:pt x="636" y="711"/>
                  </a:cubicBezTo>
                  <a:cubicBezTo>
                    <a:pt x="660" y="674"/>
                    <a:pt x="672" y="647"/>
                    <a:pt x="688" y="607"/>
                  </a:cubicBezTo>
                  <a:cubicBezTo>
                    <a:pt x="694" y="593"/>
                    <a:pt x="697" y="578"/>
                    <a:pt x="702" y="563"/>
                  </a:cubicBezTo>
                  <a:cubicBezTo>
                    <a:pt x="705" y="555"/>
                    <a:pt x="710" y="540"/>
                    <a:pt x="710" y="540"/>
                  </a:cubicBezTo>
                  <a:cubicBezTo>
                    <a:pt x="720" y="459"/>
                    <a:pt x="728" y="366"/>
                    <a:pt x="680" y="296"/>
                  </a:cubicBezTo>
                  <a:cubicBezTo>
                    <a:pt x="659" y="231"/>
                    <a:pt x="621" y="176"/>
                    <a:pt x="569" y="133"/>
                  </a:cubicBezTo>
                  <a:cubicBezTo>
                    <a:pt x="550" y="117"/>
                    <a:pt x="530" y="103"/>
                    <a:pt x="510" y="88"/>
                  </a:cubicBezTo>
                  <a:cubicBezTo>
                    <a:pt x="496" y="77"/>
                    <a:pt x="465" y="59"/>
                    <a:pt x="465" y="59"/>
                  </a:cubicBezTo>
                  <a:cubicBezTo>
                    <a:pt x="428" y="0"/>
                    <a:pt x="358" y="5"/>
                    <a:pt x="295" y="0"/>
                  </a:cubicBezTo>
                  <a:cubicBezTo>
                    <a:pt x="265" y="2"/>
                    <a:pt x="236" y="3"/>
                    <a:pt x="206" y="7"/>
                  </a:cubicBezTo>
                  <a:cubicBezTo>
                    <a:pt x="198" y="8"/>
                    <a:pt x="192" y="14"/>
                    <a:pt x="184" y="14"/>
                  </a:cubicBezTo>
                  <a:cubicBezTo>
                    <a:pt x="178" y="14"/>
                    <a:pt x="194" y="9"/>
                    <a:pt x="199" y="7"/>
                  </a:cubicBezTo>
                  <a:close/>
                </a:path>
              </a:pathLst>
            </a:custGeom>
            <a:noFill/>
            <a:ln w="19050" cap="flat" cmpd="sng">
              <a:solidFill>
                <a:schemeClr val="tx1"/>
              </a:solidFill>
              <a:prstDash val="solid"/>
              <a:round/>
              <a:headEnd/>
              <a:tailEnd/>
            </a:ln>
            <a:effectLst/>
          </p:spPr>
          <p:txBody>
            <a:bodyPr wrap="none" anchor="ctr">
              <a:spAutoFit/>
            </a:bodyPr>
            <a:lstStyle/>
            <a:p>
              <a:endParaRPr lang="en-US"/>
            </a:p>
          </p:txBody>
        </p:sp>
        <p:sp>
          <p:nvSpPr>
            <p:cNvPr id="1364144" name="Freeform 176"/>
            <p:cNvSpPr>
              <a:spLocks/>
            </p:cNvSpPr>
            <p:nvPr/>
          </p:nvSpPr>
          <p:spPr bwMode="auto">
            <a:xfrm>
              <a:off x="4090" y="2934"/>
              <a:ext cx="802" cy="889"/>
            </a:xfrm>
            <a:custGeom>
              <a:avLst/>
              <a:gdLst/>
              <a:ahLst/>
              <a:cxnLst>
                <a:cxn ang="0">
                  <a:pos x="510" y="44"/>
                </a:cxn>
                <a:cxn ang="0">
                  <a:pos x="376" y="177"/>
                </a:cxn>
                <a:cxn ang="0">
                  <a:pos x="236" y="296"/>
                </a:cxn>
                <a:cxn ang="0">
                  <a:pos x="221" y="318"/>
                </a:cxn>
                <a:cxn ang="0">
                  <a:pos x="199" y="333"/>
                </a:cxn>
                <a:cxn ang="0">
                  <a:pos x="191" y="355"/>
                </a:cxn>
                <a:cxn ang="0">
                  <a:pos x="169" y="385"/>
                </a:cxn>
                <a:cxn ang="0">
                  <a:pos x="132" y="496"/>
                </a:cxn>
                <a:cxn ang="0">
                  <a:pos x="110" y="518"/>
                </a:cxn>
                <a:cxn ang="0">
                  <a:pos x="80" y="562"/>
                </a:cxn>
                <a:cxn ang="0">
                  <a:pos x="43" y="629"/>
                </a:cxn>
                <a:cxn ang="0">
                  <a:pos x="13" y="703"/>
                </a:cxn>
                <a:cxn ang="0">
                  <a:pos x="36" y="844"/>
                </a:cxn>
                <a:cxn ang="0">
                  <a:pos x="80" y="874"/>
                </a:cxn>
                <a:cxn ang="0">
                  <a:pos x="124" y="888"/>
                </a:cxn>
                <a:cxn ang="0">
                  <a:pos x="354" y="874"/>
                </a:cxn>
                <a:cxn ang="0">
                  <a:pos x="517" y="822"/>
                </a:cxn>
                <a:cxn ang="0">
                  <a:pos x="569" y="792"/>
                </a:cxn>
                <a:cxn ang="0">
                  <a:pos x="673" y="651"/>
                </a:cxn>
                <a:cxn ang="0">
                  <a:pos x="695" y="600"/>
                </a:cxn>
                <a:cxn ang="0">
                  <a:pos x="747" y="533"/>
                </a:cxn>
                <a:cxn ang="0">
                  <a:pos x="784" y="451"/>
                </a:cxn>
                <a:cxn ang="0">
                  <a:pos x="798" y="385"/>
                </a:cxn>
                <a:cxn ang="0">
                  <a:pos x="650" y="0"/>
                </a:cxn>
                <a:cxn ang="0">
                  <a:pos x="532" y="22"/>
                </a:cxn>
                <a:cxn ang="0">
                  <a:pos x="510" y="44"/>
                </a:cxn>
              </a:cxnLst>
              <a:rect l="0" t="0" r="r" b="b"/>
              <a:pathLst>
                <a:path w="802" h="889">
                  <a:moveTo>
                    <a:pt x="510" y="44"/>
                  </a:moveTo>
                  <a:cubicBezTo>
                    <a:pt x="455" y="80"/>
                    <a:pt x="422" y="133"/>
                    <a:pt x="376" y="177"/>
                  </a:cubicBezTo>
                  <a:cubicBezTo>
                    <a:pt x="346" y="236"/>
                    <a:pt x="298" y="273"/>
                    <a:pt x="236" y="296"/>
                  </a:cubicBezTo>
                  <a:cubicBezTo>
                    <a:pt x="231" y="303"/>
                    <a:pt x="227" y="312"/>
                    <a:pt x="221" y="318"/>
                  </a:cubicBezTo>
                  <a:cubicBezTo>
                    <a:pt x="215" y="324"/>
                    <a:pt x="205" y="326"/>
                    <a:pt x="199" y="333"/>
                  </a:cubicBezTo>
                  <a:cubicBezTo>
                    <a:pt x="194" y="339"/>
                    <a:pt x="195" y="348"/>
                    <a:pt x="191" y="355"/>
                  </a:cubicBezTo>
                  <a:cubicBezTo>
                    <a:pt x="185" y="366"/>
                    <a:pt x="176" y="375"/>
                    <a:pt x="169" y="385"/>
                  </a:cubicBezTo>
                  <a:cubicBezTo>
                    <a:pt x="156" y="422"/>
                    <a:pt x="155" y="463"/>
                    <a:pt x="132" y="496"/>
                  </a:cubicBezTo>
                  <a:cubicBezTo>
                    <a:pt x="126" y="504"/>
                    <a:pt x="116" y="510"/>
                    <a:pt x="110" y="518"/>
                  </a:cubicBezTo>
                  <a:cubicBezTo>
                    <a:pt x="99" y="532"/>
                    <a:pt x="80" y="562"/>
                    <a:pt x="80" y="562"/>
                  </a:cubicBezTo>
                  <a:cubicBezTo>
                    <a:pt x="68" y="602"/>
                    <a:pt x="78" y="578"/>
                    <a:pt x="43" y="629"/>
                  </a:cubicBezTo>
                  <a:cubicBezTo>
                    <a:pt x="28" y="651"/>
                    <a:pt x="22" y="678"/>
                    <a:pt x="13" y="703"/>
                  </a:cubicBezTo>
                  <a:cubicBezTo>
                    <a:pt x="15" y="727"/>
                    <a:pt x="0" y="812"/>
                    <a:pt x="36" y="844"/>
                  </a:cubicBezTo>
                  <a:cubicBezTo>
                    <a:pt x="49" y="856"/>
                    <a:pt x="65" y="864"/>
                    <a:pt x="80" y="874"/>
                  </a:cubicBezTo>
                  <a:cubicBezTo>
                    <a:pt x="93" y="883"/>
                    <a:pt x="124" y="888"/>
                    <a:pt x="124" y="888"/>
                  </a:cubicBezTo>
                  <a:cubicBezTo>
                    <a:pt x="167" y="886"/>
                    <a:pt x="287" y="889"/>
                    <a:pt x="354" y="874"/>
                  </a:cubicBezTo>
                  <a:cubicBezTo>
                    <a:pt x="410" y="861"/>
                    <a:pt x="461" y="835"/>
                    <a:pt x="517" y="822"/>
                  </a:cubicBezTo>
                  <a:cubicBezTo>
                    <a:pt x="534" y="811"/>
                    <a:pt x="553" y="804"/>
                    <a:pt x="569" y="792"/>
                  </a:cubicBezTo>
                  <a:cubicBezTo>
                    <a:pt x="613" y="757"/>
                    <a:pt x="651" y="702"/>
                    <a:pt x="673" y="651"/>
                  </a:cubicBezTo>
                  <a:cubicBezTo>
                    <a:pt x="680" y="634"/>
                    <a:pt x="685" y="615"/>
                    <a:pt x="695" y="600"/>
                  </a:cubicBezTo>
                  <a:cubicBezTo>
                    <a:pt x="711" y="577"/>
                    <a:pt x="747" y="533"/>
                    <a:pt x="747" y="533"/>
                  </a:cubicBezTo>
                  <a:cubicBezTo>
                    <a:pt x="756" y="504"/>
                    <a:pt x="784" y="451"/>
                    <a:pt x="784" y="451"/>
                  </a:cubicBezTo>
                  <a:cubicBezTo>
                    <a:pt x="787" y="439"/>
                    <a:pt x="798" y="395"/>
                    <a:pt x="798" y="385"/>
                  </a:cubicBezTo>
                  <a:cubicBezTo>
                    <a:pt x="798" y="264"/>
                    <a:pt x="802" y="46"/>
                    <a:pt x="650" y="0"/>
                  </a:cubicBezTo>
                  <a:cubicBezTo>
                    <a:pt x="598" y="5"/>
                    <a:pt x="575" y="6"/>
                    <a:pt x="532" y="22"/>
                  </a:cubicBezTo>
                  <a:cubicBezTo>
                    <a:pt x="516" y="46"/>
                    <a:pt x="526" y="44"/>
                    <a:pt x="510" y="44"/>
                  </a:cubicBezTo>
                  <a:close/>
                </a:path>
              </a:pathLst>
            </a:custGeom>
            <a:noFill/>
            <a:ln w="19050" cap="flat" cmpd="sng">
              <a:solidFill>
                <a:schemeClr val="tx1"/>
              </a:solidFill>
              <a:prstDash val="solid"/>
              <a:round/>
              <a:headEnd/>
              <a:tailEnd/>
            </a:ln>
            <a:effectLst/>
          </p:spPr>
          <p:txBody>
            <a:bodyPr wrap="none" anchor="ctr">
              <a:spAutoFit/>
            </a:bodyPr>
            <a:lstStyle/>
            <a:p>
              <a:endParaRPr lang="en-US"/>
            </a:p>
          </p:txBody>
        </p:sp>
      </p:grpSp>
      <p:sp>
        <p:nvSpPr>
          <p:cNvPr id="1364146" name="Text Box 178"/>
          <p:cNvSpPr txBox="1">
            <a:spLocks noChangeArrowheads="1"/>
          </p:cNvSpPr>
          <p:nvPr/>
        </p:nvSpPr>
        <p:spPr bwMode="gray">
          <a:xfrm>
            <a:off x="1066800" y="6019800"/>
            <a:ext cx="1676400" cy="488950"/>
          </a:xfrm>
          <a:prstGeom prst="rect">
            <a:avLst/>
          </a:prstGeom>
          <a:noFill/>
          <a:ln w="15875" algn="ctr">
            <a:noFill/>
            <a:miter lim="800000"/>
            <a:headEnd/>
            <a:tailEnd type="none" w="lg" len="lg"/>
          </a:ln>
          <a:effectLst/>
        </p:spPr>
        <p:txBody>
          <a:bodyPr lIns="92075" tIns="46038" rIns="92075" bIns="46038">
            <a:spAutoFit/>
          </a:bodyPr>
          <a:lstStyle/>
          <a:p>
            <a:pPr marL="342900" indent="-342900">
              <a:spcBef>
                <a:spcPct val="50000"/>
              </a:spcBef>
              <a:buFont typeface="Monotype Sorts" pitchFamily="2" charset="2"/>
              <a:buNone/>
            </a:pPr>
            <a:r>
              <a:rPr lang="en-US" i="1"/>
              <a:t>k-means</a:t>
            </a:r>
          </a:p>
        </p:txBody>
      </p:sp>
      <p:sp>
        <p:nvSpPr>
          <p:cNvPr id="1364147" name="Text Box 179"/>
          <p:cNvSpPr txBox="1">
            <a:spLocks noChangeArrowheads="1"/>
          </p:cNvSpPr>
          <p:nvPr/>
        </p:nvSpPr>
        <p:spPr bwMode="gray">
          <a:xfrm>
            <a:off x="5410200" y="6019800"/>
            <a:ext cx="1676400" cy="488950"/>
          </a:xfrm>
          <a:prstGeom prst="rect">
            <a:avLst/>
          </a:prstGeom>
          <a:noFill/>
          <a:ln w="15875" algn="ctr">
            <a:noFill/>
            <a:miter lim="800000"/>
            <a:headEnd/>
            <a:tailEnd type="none" w="lg" len="lg"/>
          </a:ln>
          <a:effectLst/>
        </p:spPr>
        <p:txBody>
          <a:bodyPr lIns="92075" tIns="46038" rIns="92075" bIns="46038">
            <a:spAutoFit/>
          </a:bodyPr>
          <a:lstStyle/>
          <a:p>
            <a:pPr marL="342900" indent="-342900">
              <a:spcBef>
                <a:spcPct val="50000"/>
              </a:spcBef>
              <a:buFont typeface="Monotype Sorts" pitchFamily="2" charset="2"/>
              <a:buNone/>
            </a:pPr>
            <a:r>
              <a:rPr lang="en-US" i="1"/>
              <a:t>k-medoids</a:t>
            </a:r>
          </a:p>
        </p:txBody>
      </p:sp>
      <p:sp>
        <p:nvSpPr>
          <p:cNvPr id="1364148" name="Line 180"/>
          <p:cNvSpPr>
            <a:spLocks noChangeShapeType="1"/>
          </p:cNvSpPr>
          <p:nvPr/>
        </p:nvSpPr>
        <p:spPr bwMode="gray">
          <a:xfrm flipV="1">
            <a:off x="1752600" y="4267200"/>
            <a:ext cx="152400" cy="1905000"/>
          </a:xfrm>
          <a:prstGeom prst="line">
            <a:avLst/>
          </a:prstGeom>
          <a:noFill/>
          <a:ln w="15875">
            <a:solidFill>
              <a:srgbClr val="FF6600"/>
            </a:solidFill>
            <a:round/>
            <a:headEnd/>
            <a:tailEnd type="arrow" w="lg" len="lg"/>
          </a:ln>
          <a:effectLst/>
        </p:spPr>
        <p:txBody>
          <a:bodyPr lIns="92075" tIns="46038" rIns="92075" bIns="46038"/>
          <a:lstStyle/>
          <a:p>
            <a:endParaRPr lang="en-US"/>
          </a:p>
        </p:txBody>
      </p:sp>
      <p:sp>
        <p:nvSpPr>
          <p:cNvPr id="1364149" name="Line 181"/>
          <p:cNvSpPr>
            <a:spLocks noChangeShapeType="1"/>
          </p:cNvSpPr>
          <p:nvPr/>
        </p:nvSpPr>
        <p:spPr bwMode="gray">
          <a:xfrm flipV="1">
            <a:off x="1752600" y="4724400"/>
            <a:ext cx="914400" cy="1447800"/>
          </a:xfrm>
          <a:prstGeom prst="line">
            <a:avLst/>
          </a:prstGeom>
          <a:noFill/>
          <a:ln w="15875">
            <a:solidFill>
              <a:srgbClr val="FF6600"/>
            </a:solidFill>
            <a:round/>
            <a:headEnd/>
            <a:tailEnd type="arrow" w="lg" len="lg"/>
          </a:ln>
          <a:effectLst/>
        </p:spPr>
        <p:txBody>
          <a:bodyPr lIns="92075" tIns="46038" rIns="92075" bIns="46038"/>
          <a:lstStyle/>
          <a:p>
            <a:endParaRPr lang="en-US"/>
          </a:p>
        </p:txBody>
      </p:sp>
      <p:sp>
        <p:nvSpPr>
          <p:cNvPr id="1364150" name="Line 182"/>
          <p:cNvSpPr>
            <a:spLocks noChangeShapeType="1"/>
          </p:cNvSpPr>
          <p:nvPr/>
        </p:nvSpPr>
        <p:spPr bwMode="gray">
          <a:xfrm flipH="1" flipV="1">
            <a:off x="5867400" y="4267200"/>
            <a:ext cx="381000" cy="1905000"/>
          </a:xfrm>
          <a:prstGeom prst="line">
            <a:avLst/>
          </a:prstGeom>
          <a:noFill/>
          <a:ln w="15875">
            <a:solidFill>
              <a:srgbClr val="FF6600"/>
            </a:solidFill>
            <a:round/>
            <a:headEnd/>
            <a:tailEnd type="arrow" w="lg" len="lg"/>
          </a:ln>
          <a:effectLst/>
        </p:spPr>
        <p:txBody>
          <a:bodyPr lIns="92075" tIns="46038" rIns="92075" bIns="46038"/>
          <a:lstStyle/>
          <a:p>
            <a:endParaRPr lang="en-US"/>
          </a:p>
        </p:txBody>
      </p:sp>
      <p:sp>
        <p:nvSpPr>
          <p:cNvPr id="1364151" name="Line 183"/>
          <p:cNvSpPr>
            <a:spLocks noChangeShapeType="1"/>
          </p:cNvSpPr>
          <p:nvPr/>
        </p:nvSpPr>
        <p:spPr bwMode="gray">
          <a:xfrm flipV="1">
            <a:off x="6248400" y="4648200"/>
            <a:ext cx="914400" cy="1524000"/>
          </a:xfrm>
          <a:prstGeom prst="line">
            <a:avLst/>
          </a:prstGeom>
          <a:noFill/>
          <a:ln w="15875">
            <a:solidFill>
              <a:srgbClr val="FF6600"/>
            </a:solidFill>
            <a:round/>
            <a:headEnd/>
            <a:tailEnd type="arrow" w="lg" len="lg"/>
          </a:ln>
          <a:effectLst/>
        </p:spPr>
        <p:txBody>
          <a:bodyPr lIns="92075" tIns="46038" rIns="92075" bIns="46038"/>
          <a:lstStyle/>
          <a:p>
            <a:endParaRPr lang="en-US"/>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xfrm>
            <a:off x="6858000" y="6248400"/>
            <a:ext cx="1905000" cy="457200"/>
          </a:xfrm>
        </p:spPr>
        <p:txBody>
          <a:bodyPr/>
          <a:lstStyle/>
          <a:p>
            <a:fld id="{8D6F2C41-DF82-4696-90AF-64D709F5324D}" type="slidenum">
              <a:rPr lang="zh-CN" altLang="en-US"/>
              <a:pPr/>
              <a:t>43</a:t>
            </a:fld>
            <a:endParaRPr lang="en-US" altLang="zh-CN" dirty="0"/>
          </a:p>
        </p:txBody>
      </p:sp>
      <p:sp>
        <p:nvSpPr>
          <p:cNvPr id="1364996" name="Rectangle 4"/>
          <p:cNvSpPr>
            <a:spLocks noGrp="1" noChangeArrowheads="1"/>
          </p:cNvSpPr>
          <p:nvPr>
            <p:ph type="title"/>
          </p:nvPr>
        </p:nvSpPr>
        <p:spPr>
          <a:xfrm>
            <a:off x="228600" y="152400"/>
            <a:ext cx="8763000" cy="1143000"/>
          </a:xfrm>
        </p:spPr>
        <p:txBody>
          <a:bodyPr/>
          <a:lstStyle/>
          <a:p>
            <a:r>
              <a:rPr lang="en-US" altLang="zh-CN" sz="3600" dirty="0">
                <a:ea typeface="SimSun" pitchFamily="2" charset="-122"/>
              </a:rPr>
              <a:t>PAM (Partitioning Around </a:t>
            </a:r>
            <a:r>
              <a:rPr lang="en-US" altLang="zh-CN" sz="3600" dirty="0" err="1">
                <a:ea typeface="SimSun" pitchFamily="2" charset="-122"/>
              </a:rPr>
              <a:t>Medoids</a:t>
            </a:r>
            <a:r>
              <a:rPr lang="en-US" altLang="zh-CN" sz="3600" dirty="0">
                <a:ea typeface="SimSun" pitchFamily="2" charset="-122"/>
              </a:rPr>
              <a:t>) (1987)</a:t>
            </a:r>
          </a:p>
        </p:txBody>
      </p:sp>
      <p:sp>
        <p:nvSpPr>
          <p:cNvPr id="1364997" name="Rectangle 5"/>
          <p:cNvSpPr>
            <a:spLocks noGrp="1" noChangeArrowheads="1"/>
          </p:cNvSpPr>
          <p:nvPr>
            <p:ph type="body" idx="1"/>
          </p:nvPr>
        </p:nvSpPr>
        <p:spPr>
          <a:xfrm>
            <a:off x="352425" y="1066800"/>
            <a:ext cx="8442325" cy="5334000"/>
          </a:xfrm>
        </p:spPr>
        <p:txBody>
          <a:bodyPr/>
          <a:lstStyle/>
          <a:p>
            <a:r>
              <a:rPr lang="en-US" altLang="zh-CN" sz="2800" dirty="0">
                <a:ea typeface="SimSun" pitchFamily="2" charset="-122"/>
              </a:rPr>
              <a:t>PAM (Kaufman and </a:t>
            </a:r>
            <a:r>
              <a:rPr lang="en-US" altLang="zh-CN" sz="2800" dirty="0" err="1">
                <a:ea typeface="SimSun" pitchFamily="2" charset="-122"/>
              </a:rPr>
              <a:t>Rousseeuw</a:t>
            </a:r>
            <a:r>
              <a:rPr lang="en-US" altLang="zh-CN" sz="2800" dirty="0">
                <a:ea typeface="SimSun" pitchFamily="2" charset="-122"/>
              </a:rPr>
              <a:t>, 1987)</a:t>
            </a:r>
          </a:p>
          <a:p>
            <a:r>
              <a:rPr lang="en-US" sz="2800" dirty="0"/>
              <a:t>Arbitrarily choose k objects as the initial </a:t>
            </a:r>
            <a:r>
              <a:rPr lang="en-US" sz="2800" dirty="0" err="1"/>
              <a:t>medoids</a:t>
            </a:r>
            <a:endParaRPr lang="en-US" sz="2800" dirty="0"/>
          </a:p>
          <a:p>
            <a:r>
              <a:rPr lang="en-US" sz="2800" dirty="0"/>
              <a:t>Until no change, do</a:t>
            </a:r>
          </a:p>
          <a:p>
            <a:pPr lvl="1"/>
            <a:r>
              <a:rPr lang="en-US" sz="2400" dirty="0"/>
              <a:t>(Re)assign each object to the cluster with the nearest </a:t>
            </a:r>
            <a:r>
              <a:rPr lang="en-US" sz="2400" dirty="0" err="1"/>
              <a:t>medoid</a:t>
            </a:r>
            <a:endParaRPr lang="en-US" sz="2400" dirty="0"/>
          </a:p>
          <a:p>
            <a:pPr lvl="1"/>
            <a:r>
              <a:rPr lang="en-US" sz="2400" dirty="0"/>
              <a:t>Improve the quality of the k-</a:t>
            </a:r>
            <a:r>
              <a:rPr lang="en-US" sz="2400" dirty="0" err="1"/>
              <a:t>medoids</a:t>
            </a:r>
            <a:endParaRPr lang="en-US" sz="2400" dirty="0"/>
          </a:p>
          <a:p>
            <a:pPr lvl="1">
              <a:buFont typeface="Monotype Sorts" pitchFamily="2" charset="2"/>
              <a:buNone/>
            </a:pPr>
            <a:r>
              <a:rPr lang="en-US" sz="2400" dirty="0"/>
              <a:t>    (Randomly select a </a:t>
            </a:r>
            <a:r>
              <a:rPr lang="en-US" sz="2400" dirty="0" err="1"/>
              <a:t>nonmedoid</a:t>
            </a:r>
            <a:r>
              <a:rPr lang="en-US" sz="2400" dirty="0"/>
              <a:t> object, </a:t>
            </a:r>
            <a:r>
              <a:rPr lang="en-US" sz="2400" dirty="0" err="1"/>
              <a:t>O</a:t>
            </a:r>
            <a:r>
              <a:rPr lang="en-US" sz="2400" baseline="-25000" dirty="0" err="1"/>
              <a:t>random</a:t>
            </a:r>
            <a:r>
              <a:rPr lang="en-US" sz="2400" dirty="0"/>
              <a:t>,</a:t>
            </a:r>
          </a:p>
          <a:p>
            <a:pPr lvl="1">
              <a:buFont typeface="Monotype Sorts" pitchFamily="2" charset="2"/>
              <a:buNone/>
            </a:pPr>
            <a:r>
              <a:rPr lang="en-US" sz="2400" dirty="0"/>
              <a:t>    compute the total cost of swapping a </a:t>
            </a:r>
            <a:r>
              <a:rPr lang="en-US" sz="2400" dirty="0" err="1"/>
              <a:t>medoid</a:t>
            </a:r>
            <a:r>
              <a:rPr lang="en-US" sz="2400" dirty="0"/>
              <a:t> with </a:t>
            </a:r>
          </a:p>
          <a:p>
            <a:pPr lvl="1">
              <a:buFont typeface="Monotype Sorts" pitchFamily="2" charset="2"/>
              <a:buNone/>
            </a:pPr>
            <a:r>
              <a:rPr lang="en-US" sz="2400" dirty="0"/>
              <a:t>    </a:t>
            </a:r>
            <a:r>
              <a:rPr lang="en-US" sz="2400" dirty="0" err="1"/>
              <a:t>O</a:t>
            </a:r>
            <a:r>
              <a:rPr lang="en-US" sz="2400" baseline="-25000" dirty="0" err="1"/>
              <a:t>random</a:t>
            </a:r>
            <a:r>
              <a:rPr lang="en-US" sz="2400" baseline="-25000" dirty="0"/>
              <a:t>)</a:t>
            </a:r>
            <a:endParaRPr lang="en-US" sz="2400" dirty="0"/>
          </a:p>
          <a:p>
            <a:r>
              <a:rPr lang="en-US" altLang="zh-CN" sz="2800" dirty="0">
                <a:ea typeface="SimSun" pitchFamily="2" charset="-122"/>
              </a:rPr>
              <a:t>Work for small data sets (100 objects in 5 clusters)</a:t>
            </a:r>
          </a:p>
          <a:p>
            <a:r>
              <a:rPr lang="en-US" altLang="zh-CN" sz="2800" dirty="0">
                <a:ea typeface="SimSun" pitchFamily="2" charset="-122"/>
              </a:rPr>
              <a:t>Not efficient for medium and large data sets</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a:xfrm>
            <a:off x="6781800" y="6248400"/>
            <a:ext cx="1905000" cy="457200"/>
          </a:xfrm>
        </p:spPr>
        <p:txBody>
          <a:bodyPr/>
          <a:lstStyle/>
          <a:p>
            <a:fld id="{9A2973CE-DA24-4836-893B-F33F33E99977}" type="slidenum">
              <a:rPr lang="zh-CN" altLang="en-US"/>
              <a:pPr/>
              <a:t>44</a:t>
            </a:fld>
            <a:endParaRPr lang="en-US" altLang="zh-CN"/>
          </a:p>
        </p:txBody>
      </p:sp>
      <p:sp>
        <p:nvSpPr>
          <p:cNvPr id="1559554" name="Rectangle 2"/>
          <p:cNvSpPr>
            <a:spLocks noGrp="1" noChangeArrowheads="1"/>
          </p:cNvSpPr>
          <p:nvPr>
            <p:ph type="title"/>
          </p:nvPr>
        </p:nvSpPr>
        <p:spPr>
          <a:xfrm>
            <a:off x="685800" y="152400"/>
            <a:ext cx="7772400" cy="914400"/>
          </a:xfrm>
        </p:spPr>
        <p:txBody>
          <a:bodyPr/>
          <a:lstStyle/>
          <a:p>
            <a:r>
              <a:rPr lang="en-US" dirty="0"/>
              <a:t>Swapping Cost</a:t>
            </a:r>
          </a:p>
        </p:txBody>
      </p:sp>
      <p:sp>
        <p:nvSpPr>
          <p:cNvPr id="1559555" name="Rectangle 3"/>
          <p:cNvSpPr>
            <a:spLocks noGrp="1" noChangeArrowheads="1"/>
          </p:cNvSpPr>
          <p:nvPr>
            <p:ph type="body" idx="1"/>
          </p:nvPr>
        </p:nvSpPr>
        <p:spPr>
          <a:xfrm>
            <a:off x="685800" y="1143000"/>
            <a:ext cx="7772400" cy="4114800"/>
          </a:xfrm>
        </p:spPr>
        <p:txBody>
          <a:bodyPr/>
          <a:lstStyle/>
          <a:p>
            <a:r>
              <a:rPr lang="en-US" dirty="0"/>
              <a:t>For each pair of a </a:t>
            </a:r>
            <a:r>
              <a:rPr lang="en-US" dirty="0" err="1"/>
              <a:t>medoid</a:t>
            </a:r>
            <a:r>
              <a:rPr lang="en-US" dirty="0"/>
              <a:t> </a:t>
            </a:r>
            <a:r>
              <a:rPr lang="en-US" i="1" dirty="0" smtClean="0"/>
              <a:t>o</a:t>
            </a:r>
            <a:r>
              <a:rPr lang="en-US" dirty="0" smtClean="0"/>
              <a:t> </a:t>
            </a:r>
            <a:r>
              <a:rPr lang="en-US" dirty="0"/>
              <a:t>and a non-</a:t>
            </a:r>
            <a:r>
              <a:rPr lang="en-US" dirty="0" err="1"/>
              <a:t>medoid</a:t>
            </a:r>
            <a:r>
              <a:rPr lang="en-US" dirty="0"/>
              <a:t> object </a:t>
            </a:r>
            <a:r>
              <a:rPr lang="en-US" i="1" dirty="0"/>
              <a:t>h</a:t>
            </a:r>
            <a:r>
              <a:rPr lang="en-US" dirty="0"/>
              <a:t>, measure whether </a:t>
            </a:r>
            <a:r>
              <a:rPr lang="en-US" i="1" dirty="0"/>
              <a:t>h</a:t>
            </a:r>
            <a:r>
              <a:rPr lang="en-US" dirty="0"/>
              <a:t> is better than </a:t>
            </a:r>
            <a:r>
              <a:rPr lang="en-US" i="1" dirty="0" smtClean="0"/>
              <a:t>o</a:t>
            </a:r>
            <a:r>
              <a:rPr lang="en-US" dirty="0" smtClean="0"/>
              <a:t> </a:t>
            </a:r>
            <a:r>
              <a:rPr lang="en-US" dirty="0"/>
              <a:t>as a </a:t>
            </a:r>
            <a:r>
              <a:rPr lang="en-US" dirty="0" err="1"/>
              <a:t>medoid</a:t>
            </a:r>
            <a:endParaRPr lang="en-US" dirty="0"/>
          </a:p>
          <a:p>
            <a:r>
              <a:rPr lang="en-US" dirty="0"/>
              <a:t>Use the squared-error criterion</a:t>
            </a:r>
          </a:p>
          <a:p>
            <a:pPr lvl="1"/>
            <a:endParaRPr lang="en-US" dirty="0"/>
          </a:p>
          <a:p>
            <a:pPr lvl="1"/>
            <a:endParaRPr lang="en-US" dirty="0"/>
          </a:p>
          <a:p>
            <a:pPr lvl="1"/>
            <a:endParaRPr lang="en-US" dirty="0"/>
          </a:p>
          <a:p>
            <a:pPr lvl="1"/>
            <a:r>
              <a:rPr lang="en-US" dirty="0"/>
              <a:t>Compute </a:t>
            </a:r>
            <a:r>
              <a:rPr lang="en-US" dirty="0" smtClean="0"/>
              <a:t>E</a:t>
            </a:r>
            <a:r>
              <a:rPr lang="en-US" baseline="-25000" dirty="0" smtClean="0"/>
              <a:t>h</a:t>
            </a:r>
            <a:r>
              <a:rPr lang="en-US" dirty="0" smtClean="0"/>
              <a:t>-</a:t>
            </a:r>
            <a:r>
              <a:rPr lang="en-US" dirty="0" err="1" smtClean="0"/>
              <a:t>E</a:t>
            </a:r>
            <a:r>
              <a:rPr lang="en-US" baseline="-25000" dirty="0" err="1" smtClean="0"/>
              <a:t>o</a:t>
            </a:r>
            <a:endParaRPr lang="en-US" baseline="-25000" dirty="0"/>
          </a:p>
          <a:p>
            <a:pPr lvl="1"/>
            <a:r>
              <a:rPr lang="en-US" dirty="0"/>
              <a:t>Negative: swapping brings benefit</a:t>
            </a:r>
          </a:p>
          <a:p>
            <a:r>
              <a:rPr lang="en-US" dirty="0"/>
              <a:t>Choose the minimum swapping cost</a:t>
            </a:r>
          </a:p>
        </p:txBody>
      </p:sp>
      <p:graphicFrame>
        <p:nvGraphicFramePr>
          <p:cNvPr id="1559556" name="Object 4"/>
          <p:cNvGraphicFramePr>
            <a:graphicFrameLocks noChangeAspect="1"/>
          </p:cNvGraphicFramePr>
          <p:nvPr/>
        </p:nvGraphicFramePr>
        <p:xfrm>
          <a:off x="2549525" y="3200400"/>
          <a:ext cx="3541713" cy="1301750"/>
        </p:xfrm>
        <a:graphic>
          <a:graphicData uri="http://schemas.openxmlformats.org/presentationml/2006/ole">
            <p:oleObj spid="_x0000_s431106" name="Equation" r:id="rId4" imgW="1244600" imgH="457200" progId="">
              <p:embed/>
            </p:oleObj>
          </a:graphicData>
        </a:graphic>
      </p:graphicFrame>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xfrm>
            <a:off x="6781800" y="6248400"/>
            <a:ext cx="1905000" cy="457200"/>
          </a:xfrm>
        </p:spPr>
        <p:txBody>
          <a:bodyPr/>
          <a:lstStyle/>
          <a:p>
            <a:fld id="{F2F77FE3-8093-4812-A94D-32B338C0FF9B}" type="slidenum">
              <a:rPr lang="zh-CN" altLang="en-US"/>
              <a:pPr/>
              <a:t>45</a:t>
            </a:fld>
            <a:endParaRPr lang="en-US" altLang="zh-CN"/>
          </a:p>
        </p:txBody>
      </p:sp>
      <p:sp>
        <p:nvSpPr>
          <p:cNvPr id="1490946" name="Rectangle 2"/>
          <p:cNvSpPr>
            <a:spLocks noGrp="1" noChangeArrowheads="1"/>
          </p:cNvSpPr>
          <p:nvPr>
            <p:ph type="title"/>
          </p:nvPr>
        </p:nvSpPr>
        <p:spPr>
          <a:xfrm>
            <a:off x="685800" y="152400"/>
            <a:ext cx="7772400" cy="914400"/>
          </a:xfrm>
        </p:spPr>
        <p:txBody>
          <a:bodyPr/>
          <a:lstStyle/>
          <a:p>
            <a:r>
              <a:rPr lang="en-US" altLang="zh-CN" dirty="0">
                <a:ea typeface="SimSun" pitchFamily="2" charset="-122"/>
              </a:rPr>
              <a:t>Four Swapping Cases</a:t>
            </a:r>
          </a:p>
        </p:txBody>
      </p:sp>
      <p:sp>
        <p:nvSpPr>
          <p:cNvPr id="1490947" name="Rectangle 3"/>
          <p:cNvSpPr>
            <a:spLocks noGrp="1" noChangeArrowheads="1"/>
          </p:cNvSpPr>
          <p:nvPr>
            <p:ph type="body" idx="1"/>
          </p:nvPr>
        </p:nvSpPr>
        <p:spPr>
          <a:xfrm>
            <a:off x="152401" y="990600"/>
            <a:ext cx="8839200" cy="5562600"/>
          </a:xfrm>
        </p:spPr>
        <p:txBody>
          <a:bodyPr/>
          <a:lstStyle/>
          <a:p>
            <a:r>
              <a:rPr lang="en-US" altLang="zh-CN" sz="3000" dirty="0">
                <a:ea typeface="SimSun" pitchFamily="2" charset="-122"/>
              </a:rPr>
              <a:t>When a </a:t>
            </a:r>
            <a:r>
              <a:rPr lang="en-US" altLang="zh-CN" sz="3000" dirty="0" err="1">
                <a:ea typeface="SimSun" pitchFamily="2" charset="-122"/>
              </a:rPr>
              <a:t>medoid</a:t>
            </a:r>
            <a:r>
              <a:rPr lang="en-US" altLang="zh-CN" sz="3000" dirty="0">
                <a:ea typeface="SimSun" pitchFamily="2" charset="-122"/>
              </a:rPr>
              <a:t> </a:t>
            </a:r>
            <a:r>
              <a:rPr lang="en-US" altLang="zh-CN" sz="3000" i="1" dirty="0">
                <a:ea typeface="SimSun" pitchFamily="2" charset="-122"/>
              </a:rPr>
              <a:t>m</a:t>
            </a:r>
            <a:r>
              <a:rPr lang="en-US" altLang="zh-CN" sz="3000" dirty="0">
                <a:ea typeface="SimSun" pitchFamily="2" charset="-122"/>
              </a:rPr>
              <a:t> is to be swapped with a non-</a:t>
            </a:r>
            <a:r>
              <a:rPr lang="en-US" altLang="zh-CN" sz="3000" dirty="0" err="1">
                <a:ea typeface="SimSun" pitchFamily="2" charset="-122"/>
              </a:rPr>
              <a:t>medoid</a:t>
            </a:r>
            <a:r>
              <a:rPr lang="en-US" altLang="zh-CN" sz="3000" dirty="0">
                <a:ea typeface="SimSun" pitchFamily="2" charset="-122"/>
              </a:rPr>
              <a:t> object </a:t>
            </a:r>
            <a:r>
              <a:rPr lang="en-US" altLang="zh-CN" sz="3000" i="1" dirty="0">
                <a:ea typeface="SimSun" pitchFamily="2" charset="-122"/>
              </a:rPr>
              <a:t>h, </a:t>
            </a:r>
            <a:r>
              <a:rPr lang="en-US" altLang="zh-CN" sz="3000" dirty="0">
                <a:ea typeface="SimSun" pitchFamily="2" charset="-122"/>
              </a:rPr>
              <a:t>check each of other non-</a:t>
            </a:r>
            <a:r>
              <a:rPr lang="en-US" altLang="zh-CN" sz="3000" dirty="0" err="1">
                <a:ea typeface="SimSun" pitchFamily="2" charset="-122"/>
              </a:rPr>
              <a:t>medoid</a:t>
            </a:r>
            <a:r>
              <a:rPr lang="en-US" altLang="zh-CN" sz="3000" dirty="0">
                <a:ea typeface="SimSun" pitchFamily="2" charset="-122"/>
              </a:rPr>
              <a:t> objects </a:t>
            </a:r>
            <a:r>
              <a:rPr lang="en-US" altLang="zh-CN" sz="3000" i="1" dirty="0">
                <a:ea typeface="SimSun" pitchFamily="2" charset="-122"/>
              </a:rPr>
              <a:t>j</a:t>
            </a:r>
          </a:p>
          <a:p>
            <a:pPr marL="623888" lvl="1"/>
            <a:r>
              <a:rPr lang="en-US" altLang="zh-CN" sz="2600" i="1" dirty="0">
                <a:ea typeface="SimSun" pitchFamily="2" charset="-122"/>
              </a:rPr>
              <a:t>j</a:t>
            </a:r>
            <a:r>
              <a:rPr lang="en-US" altLang="zh-CN" sz="2600" dirty="0">
                <a:ea typeface="SimSun" pitchFamily="2" charset="-122"/>
              </a:rPr>
              <a:t> is in cluster of </a:t>
            </a:r>
            <a:r>
              <a:rPr lang="en-US" altLang="zh-CN" sz="2600" i="1" dirty="0">
                <a:ea typeface="SimSun" pitchFamily="2" charset="-122"/>
              </a:rPr>
              <a:t>m</a:t>
            </a:r>
            <a:r>
              <a:rPr lang="en-US" altLang="zh-CN" sz="2600" i="1" dirty="0">
                <a:ea typeface="SimSun" pitchFamily="2" charset="-122"/>
                <a:sym typeface="Symbol" pitchFamily="18" charset="2"/>
              </a:rPr>
              <a:t> </a:t>
            </a:r>
            <a:r>
              <a:rPr lang="en-US" altLang="zh-CN" sz="2600" dirty="0">
                <a:ea typeface="SimSun" pitchFamily="2" charset="-122"/>
              </a:rPr>
              <a:t>reassign </a:t>
            </a:r>
            <a:r>
              <a:rPr lang="en-US" altLang="zh-CN" sz="2600" i="1" dirty="0">
                <a:ea typeface="SimSun" pitchFamily="2" charset="-122"/>
              </a:rPr>
              <a:t>j</a:t>
            </a:r>
          </a:p>
          <a:p>
            <a:pPr marL="976313" lvl="2"/>
            <a:r>
              <a:rPr lang="en-US" altLang="zh-CN" sz="2200" dirty="0">
                <a:ea typeface="SimSun" pitchFamily="2" charset="-122"/>
              </a:rPr>
              <a:t>Case 1: </a:t>
            </a:r>
            <a:r>
              <a:rPr lang="en-US" altLang="zh-CN" sz="2200" i="1" dirty="0">
                <a:ea typeface="SimSun" pitchFamily="2" charset="-122"/>
              </a:rPr>
              <a:t>j</a:t>
            </a:r>
            <a:r>
              <a:rPr lang="en-US" altLang="zh-CN" sz="2200" dirty="0">
                <a:ea typeface="SimSun" pitchFamily="2" charset="-122"/>
              </a:rPr>
              <a:t> is closer to some </a:t>
            </a:r>
            <a:r>
              <a:rPr lang="en-US" altLang="zh-CN" sz="2200" i="1" dirty="0">
                <a:ea typeface="SimSun" pitchFamily="2" charset="-122"/>
              </a:rPr>
              <a:t>k</a:t>
            </a:r>
            <a:r>
              <a:rPr lang="en-US" altLang="zh-CN" sz="2200" dirty="0">
                <a:ea typeface="SimSun" pitchFamily="2" charset="-122"/>
              </a:rPr>
              <a:t> than to </a:t>
            </a:r>
            <a:r>
              <a:rPr lang="en-US" altLang="zh-CN" sz="2200" i="1" dirty="0">
                <a:ea typeface="SimSun" pitchFamily="2" charset="-122"/>
              </a:rPr>
              <a:t>h</a:t>
            </a:r>
            <a:r>
              <a:rPr lang="en-US" altLang="zh-CN" sz="2200" dirty="0">
                <a:ea typeface="SimSun" pitchFamily="2" charset="-122"/>
              </a:rPr>
              <a:t>; after swapping </a:t>
            </a:r>
            <a:r>
              <a:rPr lang="en-US" altLang="zh-CN" sz="2200" i="1" dirty="0">
                <a:ea typeface="SimSun" pitchFamily="2" charset="-122"/>
              </a:rPr>
              <a:t>m</a:t>
            </a:r>
            <a:r>
              <a:rPr lang="en-US" altLang="zh-CN" sz="2200" dirty="0">
                <a:ea typeface="SimSun" pitchFamily="2" charset="-122"/>
              </a:rPr>
              <a:t> and </a:t>
            </a:r>
            <a:r>
              <a:rPr lang="en-US" altLang="zh-CN" sz="2200" i="1" dirty="0">
                <a:ea typeface="SimSun" pitchFamily="2" charset="-122"/>
              </a:rPr>
              <a:t>h</a:t>
            </a:r>
            <a:r>
              <a:rPr lang="en-US" altLang="zh-CN" sz="2200" dirty="0">
                <a:ea typeface="SimSun" pitchFamily="2" charset="-122"/>
              </a:rPr>
              <a:t>, </a:t>
            </a:r>
            <a:r>
              <a:rPr lang="en-US" altLang="zh-CN" sz="2200" i="1" dirty="0">
                <a:ea typeface="SimSun" pitchFamily="2" charset="-122"/>
              </a:rPr>
              <a:t>j</a:t>
            </a:r>
            <a:r>
              <a:rPr lang="en-US" altLang="zh-CN" sz="2200" dirty="0">
                <a:ea typeface="SimSun" pitchFamily="2" charset="-122"/>
              </a:rPr>
              <a:t> relocates to cluster represented by </a:t>
            </a:r>
            <a:r>
              <a:rPr lang="en-US" altLang="zh-CN" sz="2200" i="1" dirty="0">
                <a:ea typeface="SimSun" pitchFamily="2" charset="-122"/>
              </a:rPr>
              <a:t>k</a:t>
            </a:r>
          </a:p>
          <a:p>
            <a:pPr marL="976313" lvl="2"/>
            <a:r>
              <a:rPr lang="en-US" altLang="zh-CN" sz="2200" dirty="0">
                <a:ea typeface="SimSun" pitchFamily="2" charset="-122"/>
              </a:rPr>
              <a:t>Case 2: </a:t>
            </a:r>
            <a:r>
              <a:rPr lang="en-US" altLang="zh-CN" sz="2200" i="1" dirty="0">
                <a:ea typeface="SimSun" pitchFamily="2" charset="-122"/>
              </a:rPr>
              <a:t>j</a:t>
            </a:r>
            <a:r>
              <a:rPr lang="en-US" altLang="zh-CN" sz="2200" dirty="0">
                <a:ea typeface="SimSun" pitchFamily="2" charset="-122"/>
              </a:rPr>
              <a:t> is closer to </a:t>
            </a:r>
            <a:r>
              <a:rPr lang="en-US" altLang="zh-CN" sz="2200" i="1" dirty="0">
                <a:ea typeface="SimSun" pitchFamily="2" charset="-122"/>
              </a:rPr>
              <a:t>h</a:t>
            </a:r>
            <a:r>
              <a:rPr lang="en-US" altLang="zh-CN" sz="2200" dirty="0">
                <a:ea typeface="SimSun" pitchFamily="2" charset="-122"/>
              </a:rPr>
              <a:t> than to </a:t>
            </a:r>
            <a:r>
              <a:rPr lang="en-US" altLang="zh-CN" sz="2200" i="1" dirty="0">
                <a:ea typeface="SimSun" pitchFamily="2" charset="-122"/>
              </a:rPr>
              <a:t>k</a:t>
            </a:r>
            <a:r>
              <a:rPr lang="en-US" altLang="zh-CN" sz="2200" dirty="0">
                <a:ea typeface="SimSun" pitchFamily="2" charset="-122"/>
              </a:rPr>
              <a:t>; after swapping </a:t>
            </a:r>
            <a:r>
              <a:rPr lang="en-US" altLang="zh-CN" sz="2200" i="1" dirty="0">
                <a:ea typeface="SimSun" pitchFamily="2" charset="-122"/>
              </a:rPr>
              <a:t>m</a:t>
            </a:r>
            <a:r>
              <a:rPr lang="en-US" altLang="zh-CN" sz="2200" dirty="0">
                <a:ea typeface="SimSun" pitchFamily="2" charset="-122"/>
              </a:rPr>
              <a:t> and </a:t>
            </a:r>
            <a:r>
              <a:rPr lang="en-US" altLang="zh-CN" sz="2200" i="1" dirty="0">
                <a:ea typeface="SimSun" pitchFamily="2" charset="-122"/>
              </a:rPr>
              <a:t>h</a:t>
            </a:r>
            <a:r>
              <a:rPr lang="en-US" altLang="zh-CN" sz="2200" dirty="0">
                <a:ea typeface="SimSun" pitchFamily="2" charset="-122"/>
              </a:rPr>
              <a:t>, </a:t>
            </a:r>
            <a:r>
              <a:rPr lang="en-US" altLang="zh-CN" sz="2200" i="1" dirty="0">
                <a:ea typeface="SimSun" pitchFamily="2" charset="-122"/>
              </a:rPr>
              <a:t>j</a:t>
            </a:r>
            <a:r>
              <a:rPr lang="en-US" altLang="zh-CN" sz="2200" dirty="0">
                <a:ea typeface="SimSun" pitchFamily="2" charset="-122"/>
              </a:rPr>
              <a:t> is in cluster represented by </a:t>
            </a:r>
            <a:r>
              <a:rPr lang="en-US" altLang="zh-CN" sz="2200" i="1" dirty="0">
                <a:ea typeface="SimSun" pitchFamily="2" charset="-122"/>
              </a:rPr>
              <a:t>h</a:t>
            </a:r>
            <a:r>
              <a:rPr lang="en-US" altLang="zh-CN" sz="2200" dirty="0">
                <a:ea typeface="SimSun" pitchFamily="2" charset="-122"/>
              </a:rPr>
              <a:t> </a:t>
            </a:r>
          </a:p>
          <a:p>
            <a:pPr marL="623888" lvl="1"/>
            <a:r>
              <a:rPr lang="en-US" altLang="zh-CN" sz="2600" i="1" dirty="0">
                <a:ea typeface="SimSun" pitchFamily="2" charset="-122"/>
              </a:rPr>
              <a:t>j</a:t>
            </a:r>
            <a:r>
              <a:rPr lang="en-US" altLang="zh-CN" sz="2600" dirty="0">
                <a:ea typeface="SimSun" pitchFamily="2" charset="-122"/>
              </a:rPr>
              <a:t> is in cluster of some </a:t>
            </a:r>
            <a:r>
              <a:rPr lang="en-US" altLang="zh-CN" sz="2600" i="1" dirty="0">
                <a:ea typeface="SimSun" pitchFamily="2" charset="-122"/>
              </a:rPr>
              <a:t>k</a:t>
            </a:r>
            <a:r>
              <a:rPr lang="en-US" altLang="zh-CN" sz="2600" dirty="0">
                <a:ea typeface="SimSun" pitchFamily="2" charset="-122"/>
              </a:rPr>
              <a:t>, not m</a:t>
            </a:r>
            <a:r>
              <a:rPr lang="en-US" altLang="zh-CN" sz="2600" i="1" dirty="0">
                <a:ea typeface="SimSun" pitchFamily="2" charset="-122"/>
              </a:rPr>
              <a:t> </a:t>
            </a:r>
            <a:r>
              <a:rPr lang="en-US" altLang="zh-CN" sz="2600" i="1" dirty="0">
                <a:ea typeface="SimSun" pitchFamily="2" charset="-122"/>
                <a:sym typeface="Symbol" pitchFamily="18" charset="2"/>
              </a:rPr>
              <a:t></a:t>
            </a:r>
            <a:r>
              <a:rPr lang="en-US" altLang="zh-CN" sz="2600" i="1" dirty="0">
                <a:ea typeface="SimSun" pitchFamily="2" charset="-122"/>
              </a:rPr>
              <a:t> </a:t>
            </a:r>
            <a:r>
              <a:rPr lang="en-US" altLang="zh-CN" sz="2600" dirty="0">
                <a:ea typeface="SimSun" pitchFamily="2" charset="-122"/>
              </a:rPr>
              <a:t>compare</a:t>
            </a:r>
            <a:r>
              <a:rPr lang="en-US" altLang="zh-CN" sz="2600" i="1" dirty="0">
                <a:ea typeface="SimSun" pitchFamily="2" charset="-122"/>
              </a:rPr>
              <a:t> k </a:t>
            </a:r>
            <a:r>
              <a:rPr lang="en-US" altLang="zh-CN" sz="2600" dirty="0">
                <a:ea typeface="SimSun" pitchFamily="2" charset="-122"/>
              </a:rPr>
              <a:t>with</a:t>
            </a:r>
            <a:r>
              <a:rPr lang="en-US" altLang="zh-CN" sz="2600" i="1" dirty="0">
                <a:ea typeface="SimSun" pitchFamily="2" charset="-122"/>
              </a:rPr>
              <a:t> h</a:t>
            </a:r>
          </a:p>
          <a:p>
            <a:pPr marL="976313" lvl="2"/>
            <a:r>
              <a:rPr lang="en-US" altLang="zh-CN" sz="2200" dirty="0">
                <a:ea typeface="SimSun" pitchFamily="2" charset="-122"/>
              </a:rPr>
              <a:t>Case 3: </a:t>
            </a:r>
            <a:r>
              <a:rPr lang="en-US" altLang="zh-CN" sz="2200" i="1" dirty="0">
                <a:ea typeface="SimSun" pitchFamily="2" charset="-122"/>
              </a:rPr>
              <a:t>j</a:t>
            </a:r>
            <a:r>
              <a:rPr lang="en-US" altLang="zh-CN" sz="2200" dirty="0">
                <a:ea typeface="SimSun" pitchFamily="2" charset="-122"/>
              </a:rPr>
              <a:t> is closer to some </a:t>
            </a:r>
            <a:r>
              <a:rPr lang="en-US" altLang="zh-CN" sz="2200" i="1" dirty="0">
                <a:ea typeface="SimSun" pitchFamily="2" charset="-122"/>
              </a:rPr>
              <a:t>k</a:t>
            </a:r>
            <a:r>
              <a:rPr lang="en-US" altLang="zh-CN" sz="2200" dirty="0">
                <a:ea typeface="SimSun" pitchFamily="2" charset="-122"/>
              </a:rPr>
              <a:t> than to </a:t>
            </a:r>
            <a:r>
              <a:rPr lang="en-US" altLang="zh-CN" sz="2200" i="1" dirty="0">
                <a:ea typeface="SimSun" pitchFamily="2" charset="-122"/>
              </a:rPr>
              <a:t>h</a:t>
            </a:r>
            <a:r>
              <a:rPr lang="en-US" altLang="zh-CN" sz="2200" dirty="0">
                <a:ea typeface="SimSun" pitchFamily="2" charset="-122"/>
              </a:rPr>
              <a:t>; after swapping </a:t>
            </a:r>
            <a:r>
              <a:rPr lang="en-US" altLang="zh-CN" sz="2200" i="1" dirty="0">
                <a:ea typeface="SimSun" pitchFamily="2" charset="-122"/>
              </a:rPr>
              <a:t>m</a:t>
            </a:r>
            <a:r>
              <a:rPr lang="en-US" altLang="zh-CN" sz="2200" dirty="0">
                <a:ea typeface="SimSun" pitchFamily="2" charset="-122"/>
              </a:rPr>
              <a:t> and </a:t>
            </a:r>
            <a:r>
              <a:rPr lang="en-US" altLang="zh-CN" sz="2200" i="1" dirty="0">
                <a:ea typeface="SimSun" pitchFamily="2" charset="-122"/>
              </a:rPr>
              <a:t>h</a:t>
            </a:r>
            <a:r>
              <a:rPr lang="en-US" altLang="zh-CN" sz="2200" dirty="0">
                <a:ea typeface="SimSun" pitchFamily="2" charset="-122"/>
              </a:rPr>
              <a:t>, </a:t>
            </a:r>
            <a:r>
              <a:rPr lang="en-US" altLang="zh-CN" sz="2200" i="1" dirty="0">
                <a:ea typeface="SimSun" pitchFamily="2" charset="-122"/>
              </a:rPr>
              <a:t>j</a:t>
            </a:r>
            <a:r>
              <a:rPr lang="en-US" altLang="zh-CN" sz="2200" dirty="0">
                <a:ea typeface="SimSun" pitchFamily="2" charset="-122"/>
              </a:rPr>
              <a:t> remains in cluster represented by </a:t>
            </a:r>
            <a:r>
              <a:rPr lang="en-US" altLang="zh-CN" sz="2200" i="1" dirty="0">
                <a:ea typeface="SimSun" pitchFamily="2" charset="-122"/>
              </a:rPr>
              <a:t>k</a:t>
            </a:r>
          </a:p>
          <a:p>
            <a:pPr marL="976313" lvl="2"/>
            <a:r>
              <a:rPr lang="en-US" altLang="zh-CN" sz="2200" dirty="0">
                <a:ea typeface="SimSun" pitchFamily="2" charset="-122"/>
              </a:rPr>
              <a:t>Case 4: </a:t>
            </a:r>
            <a:r>
              <a:rPr lang="en-US" altLang="zh-CN" sz="2200" i="1" dirty="0">
                <a:ea typeface="SimSun" pitchFamily="2" charset="-122"/>
              </a:rPr>
              <a:t>j</a:t>
            </a:r>
            <a:r>
              <a:rPr lang="en-US" altLang="zh-CN" sz="2200" dirty="0">
                <a:ea typeface="SimSun" pitchFamily="2" charset="-122"/>
              </a:rPr>
              <a:t> is closer to </a:t>
            </a:r>
            <a:r>
              <a:rPr lang="en-US" altLang="zh-CN" sz="2200" i="1" dirty="0">
                <a:ea typeface="SimSun" pitchFamily="2" charset="-122"/>
              </a:rPr>
              <a:t>h</a:t>
            </a:r>
            <a:r>
              <a:rPr lang="en-US" altLang="zh-CN" sz="2200" dirty="0">
                <a:ea typeface="SimSun" pitchFamily="2" charset="-122"/>
              </a:rPr>
              <a:t> than to </a:t>
            </a:r>
            <a:r>
              <a:rPr lang="en-US" altLang="zh-CN" sz="2200" i="1" dirty="0">
                <a:ea typeface="SimSun" pitchFamily="2" charset="-122"/>
              </a:rPr>
              <a:t>k</a:t>
            </a:r>
            <a:r>
              <a:rPr lang="en-US" altLang="zh-CN" sz="2200" dirty="0">
                <a:ea typeface="SimSun" pitchFamily="2" charset="-122"/>
              </a:rPr>
              <a:t>; after swapping </a:t>
            </a:r>
            <a:r>
              <a:rPr lang="en-US" altLang="zh-CN" sz="2200" i="1" dirty="0">
                <a:ea typeface="SimSun" pitchFamily="2" charset="-122"/>
              </a:rPr>
              <a:t>m</a:t>
            </a:r>
            <a:r>
              <a:rPr lang="en-US" altLang="zh-CN" sz="2200" dirty="0">
                <a:ea typeface="SimSun" pitchFamily="2" charset="-122"/>
              </a:rPr>
              <a:t> and </a:t>
            </a:r>
            <a:r>
              <a:rPr lang="en-US" altLang="zh-CN" sz="2200" i="1" dirty="0">
                <a:ea typeface="SimSun" pitchFamily="2" charset="-122"/>
              </a:rPr>
              <a:t>h</a:t>
            </a:r>
            <a:r>
              <a:rPr lang="en-US" altLang="zh-CN" sz="2200" dirty="0">
                <a:ea typeface="SimSun" pitchFamily="2" charset="-122"/>
              </a:rPr>
              <a:t>, </a:t>
            </a:r>
            <a:r>
              <a:rPr lang="en-US" altLang="zh-CN" sz="2200" i="1" dirty="0">
                <a:ea typeface="SimSun" pitchFamily="2" charset="-122"/>
              </a:rPr>
              <a:t>j</a:t>
            </a:r>
            <a:r>
              <a:rPr lang="en-US" altLang="zh-CN" sz="2200" dirty="0">
                <a:ea typeface="SimSun" pitchFamily="2" charset="-122"/>
              </a:rPr>
              <a:t> is in cluster represented by </a:t>
            </a:r>
            <a:r>
              <a:rPr lang="en-US" altLang="zh-CN" sz="2200" i="1" dirty="0">
                <a:ea typeface="SimSun" pitchFamily="2" charset="-122"/>
              </a:rPr>
              <a:t>h</a:t>
            </a:r>
            <a:r>
              <a:rPr lang="en-US" altLang="zh-CN" sz="2200" dirty="0">
                <a:ea typeface="SimSun" pitchFamily="2" charset="-122"/>
              </a:rPr>
              <a:t> </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4"/>
          <p:cNvSpPr>
            <a:spLocks noGrp="1"/>
          </p:cNvSpPr>
          <p:nvPr>
            <p:ph type="sldNum" sz="quarter" idx="12"/>
          </p:nvPr>
        </p:nvSpPr>
        <p:spPr>
          <a:xfrm>
            <a:off x="7010400" y="6323013"/>
            <a:ext cx="1905000" cy="457200"/>
          </a:xfrm>
        </p:spPr>
        <p:txBody>
          <a:bodyPr/>
          <a:lstStyle/>
          <a:p>
            <a:fld id="{FC034EDC-71EE-4A79-846A-73E6D4B2A56A}" type="slidenum">
              <a:rPr lang="zh-CN" altLang="en-US"/>
              <a:pPr/>
              <a:t>46</a:t>
            </a:fld>
            <a:endParaRPr lang="en-US" altLang="zh-CN"/>
          </a:p>
        </p:txBody>
      </p:sp>
      <p:sp>
        <p:nvSpPr>
          <p:cNvPr id="1593346" name="Rectangle 2"/>
          <p:cNvSpPr>
            <a:spLocks noGrp="1" noChangeArrowheads="1"/>
          </p:cNvSpPr>
          <p:nvPr>
            <p:ph type="title" idx="4294967295"/>
          </p:nvPr>
        </p:nvSpPr>
        <p:spPr>
          <a:xfrm>
            <a:off x="457200" y="228600"/>
            <a:ext cx="8442325" cy="571500"/>
          </a:xfrm>
        </p:spPr>
        <p:txBody>
          <a:bodyPr/>
          <a:lstStyle/>
          <a:p>
            <a:r>
              <a:rPr lang="en-US" altLang="zh-CN" sz="3600" dirty="0">
                <a:ea typeface="SimSun" pitchFamily="2" charset="-122"/>
              </a:rPr>
              <a:t>PAM Clustering: Total swapping cost  </a:t>
            </a:r>
            <a:r>
              <a:rPr lang="en-US" altLang="zh-CN" sz="3600" i="1" dirty="0" err="1">
                <a:ea typeface="SimSun" pitchFamily="2" charset="-122"/>
              </a:rPr>
              <a:t>TC</a:t>
            </a:r>
            <a:r>
              <a:rPr lang="en-US" altLang="zh-CN" sz="3600" i="1" baseline="-25000" dirty="0" err="1">
                <a:ea typeface="SimSun" pitchFamily="2" charset="-122"/>
              </a:rPr>
              <a:t>mh</a:t>
            </a:r>
            <a:r>
              <a:rPr lang="en-US" altLang="zh-CN" sz="3600" dirty="0">
                <a:ea typeface="SimSun" pitchFamily="2" charset="-122"/>
              </a:rPr>
              <a:t>=</a:t>
            </a:r>
            <a:r>
              <a:rPr lang="en-US" altLang="zh-CN" sz="3600" dirty="0">
                <a:ea typeface="SimSun" pitchFamily="2" charset="-122"/>
                <a:sym typeface="Symbol" pitchFamily="18" charset="2"/>
              </a:rPr>
              <a:t></a:t>
            </a:r>
            <a:r>
              <a:rPr lang="en-US" altLang="zh-CN" sz="3600" i="1" baseline="-25000" dirty="0" err="1">
                <a:ea typeface="SimSun" pitchFamily="2" charset="-122"/>
                <a:sym typeface="Symbol" pitchFamily="18" charset="2"/>
              </a:rPr>
              <a:t>j</a:t>
            </a:r>
            <a:r>
              <a:rPr lang="en-US" altLang="zh-CN" sz="3600" i="1" dirty="0" err="1">
                <a:ea typeface="SimSun" pitchFamily="2" charset="-122"/>
                <a:sym typeface="Symbol" pitchFamily="18" charset="2"/>
              </a:rPr>
              <a:t>C</a:t>
            </a:r>
            <a:r>
              <a:rPr lang="en-US" altLang="zh-CN" sz="3600" i="1" baseline="-25000" dirty="0" err="1">
                <a:ea typeface="SimSun" pitchFamily="2" charset="-122"/>
                <a:sym typeface="Symbol" pitchFamily="18" charset="2"/>
              </a:rPr>
              <a:t>jmh</a:t>
            </a:r>
            <a:endParaRPr lang="en-US" altLang="zh-CN" sz="3600" i="1" baseline="-25000" dirty="0">
              <a:ea typeface="SimSun" pitchFamily="2" charset="-122"/>
              <a:sym typeface="Symbol" pitchFamily="18" charset="2"/>
            </a:endParaRPr>
          </a:p>
        </p:txBody>
      </p:sp>
      <p:graphicFrame>
        <p:nvGraphicFramePr>
          <p:cNvPr id="1593347" name="Object 3"/>
          <p:cNvGraphicFramePr>
            <a:graphicFrameLocks noChangeAspect="1"/>
          </p:cNvGraphicFramePr>
          <p:nvPr/>
        </p:nvGraphicFramePr>
        <p:xfrm>
          <a:off x="5334000" y="1165225"/>
          <a:ext cx="2667000" cy="2362200"/>
        </p:xfrm>
        <a:graphic>
          <a:graphicData uri="http://schemas.openxmlformats.org/presentationml/2006/ole">
            <p:oleObj spid="_x0000_s432130" name="Worksheet" r:id="rId4" imgW="2162192" imgH="2000163" progId="Excel.Sheet.8">
              <p:embed/>
            </p:oleObj>
          </a:graphicData>
        </a:graphic>
      </p:graphicFrame>
      <p:sp>
        <p:nvSpPr>
          <p:cNvPr id="1593348" name="Text Box 4"/>
          <p:cNvSpPr txBox="1">
            <a:spLocks noChangeArrowheads="1"/>
          </p:cNvSpPr>
          <p:nvPr/>
        </p:nvSpPr>
        <p:spPr bwMode="auto">
          <a:xfrm>
            <a:off x="6540500" y="1425575"/>
            <a:ext cx="369888" cy="366713"/>
          </a:xfrm>
          <a:prstGeom prst="rect">
            <a:avLst/>
          </a:prstGeom>
          <a:noFill/>
          <a:ln w="9525">
            <a:noFill/>
            <a:miter lim="800000"/>
            <a:headEnd/>
            <a:tailEnd/>
          </a:ln>
          <a:effectLst/>
        </p:spPr>
        <p:txBody>
          <a:bodyPr>
            <a:spAutoFit/>
          </a:bodyPr>
          <a:lstStyle/>
          <a:p>
            <a:pPr algn="just">
              <a:spcBef>
                <a:spcPct val="50000"/>
              </a:spcBef>
              <a:buClrTx/>
              <a:buSzTx/>
              <a:buFontTx/>
              <a:buNone/>
            </a:pPr>
            <a:r>
              <a:rPr lang="en-US" altLang="zh-CN" sz="1800" i="1">
                <a:solidFill>
                  <a:schemeClr val="tx1"/>
                </a:solidFill>
              </a:rPr>
              <a:t>j</a:t>
            </a:r>
            <a:endParaRPr lang="en-US" altLang="zh-CN" sz="2400">
              <a:solidFill>
                <a:schemeClr val="tx1"/>
              </a:solidFill>
            </a:endParaRPr>
          </a:p>
        </p:txBody>
      </p:sp>
      <p:sp>
        <p:nvSpPr>
          <p:cNvPr id="1593349" name="Text Box 5"/>
          <p:cNvSpPr txBox="1">
            <a:spLocks noChangeArrowheads="1"/>
          </p:cNvSpPr>
          <p:nvPr/>
        </p:nvSpPr>
        <p:spPr bwMode="auto">
          <a:xfrm>
            <a:off x="6796088" y="2605087"/>
            <a:ext cx="460375"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dirty="0">
                <a:solidFill>
                  <a:schemeClr val="tx1"/>
                </a:solidFill>
              </a:rPr>
              <a:t>m</a:t>
            </a:r>
            <a:endParaRPr lang="en-US" altLang="zh-CN" sz="2400" dirty="0">
              <a:solidFill>
                <a:schemeClr val="tx1"/>
              </a:solidFill>
            </a:endParaRPr>
          </a:p>
        </p:txBody>
      </p:sp>
      <p:sp>
        <p:nvSpPr>
          <p:cNvPr id="1593350" name="Text Box 6"/>
          <p:cNvSpPr txBox="1">
            <a:spLocks noChangeArrowheads="1"/>
          </p:cNvSpPr>
          <p:nvPr/>
        </p:nvSpPr>
        <p:spPr bwMode="auto">
          <a:xfrm>
            <a:off x="6781800" y="2133600"/>
            <a:ext cx="368300" cy="366712"/>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dirty="0">
                <a:solidFill>
                  <a:schemeClr val="tx1"/>
                </a:solidFill>
              </a:rPr>
              <a:t>h</a:t>
            </a:r>
            <a:endParaRPr lang="en-US" altLang="zh-CN" sz="2400" dirty="0">
              <a:solidFill>
                <a:schemeClr val="tx1"/>
              </a:solidFill>
            </a:endParaRPr>
          </a:p>
        </p:txBody>
      </p:sp>
      <p:sp>
        <p:nvSpPr>
          <p:cNvPr id="1593351" name="Text Box 7"/>
          <p:cNvSpPr txBox="1">
            <a:spLocks noChangeArrowheads="1"/>
          </p:cNvSpPr>
          <p:nvPr/>
        </p:nvSpPr>
        <p:spPr bwMode="auto">
          <a:xfrm>
            <a:off x="5918200" y="1539875"/>
            <a:ext cx="254000"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k</a:t>
            </a:r>
            <a:endParaRPr lang="en-US" altLang="zh-CN" sz="2400">
              <a:solidFill>
                <a:schemeClr val="tx1"/>
              </a:solidFill>
            </a:endParaRPr>
          </a:p>
        </p:txBody>
      </p:sp>
      <p:sp>
        <p:nvSpPr>
          <p:cNvPr id="1593353" name="Oval 9"/>
          <p:cNvSpPr>
            <a:spLocks noChangeArrowheads="1"/>
          </p:cNvSpPr>
          <p:nvPr/>
        </p:nvSpPr>
        <p:spPr bwMode="auto">
          <a:xfrm>
            <a:off x="6794500" y="2133600"/>
            <a:ext cx="825500" cy="869950"/>
          </a:xfrm>
          <a:prstGeom prst="ellipse">
            <a:avLst/>
          </a:prstGeom>
          <a:noFill/>
          <a:ln w="9525">
            <a:solidFill>
              <a:schemeClr val="tx1"/>
            </a:solidFill>
            <a:prstDash val="dashDot"/>
            <a:round/>
            <a:headEnd/>
            <a:tailEnd/>
          </a:ln>
          <a:effectLst/>
        </p:spPr>
        <p:txBody>
          <a:bodyPr anchor="ctr">
            <a:spAutoFit/>
          </a:bodyPr>
          <a:lstStyle/>
          <a:p>
            <a:endParaRPr lang="en-US"/>
          </a:p>
        </p:txBody>
      </p:sp>
      <p:graphicFrame>
        <p:nvGraphicFramePr>
          <p:cNvPr id="1593354" name="Object 10"/>
          <p:cNvGraphicFramePr>
            <a:graphicFrameLocks noChangeAspect="1"/>
          </p:cNvGraphicFramePr>
          <p:nvPr/>
        </p:nvGraphicFramePr>
        <p:xfrm>
          <a:off x="5413375" y="3448050"/>
          <a:ext cx="3216275" cy="388938"/>
        </p:xfrm>
        <a:graphic>
          <a:graphicData uri="http://schemas.openxmlformats.org/presentationml/2006/ole">
            <p:oleObj spid="_x0000_s432131" name="Document" r:id="rId5" imgW="3205755" imgH="397289" progId="Word.Document.8">
              <p:embed/>
            </p:oleObj>
          </a:graphicData>
        </a:graphic>
      </p:graphicFrame>
      <p:graphicFrame>
        <p:nvGraphicFramePr>
          <p:cNvPr id="1593355" name="Object 11"/>
          <p:cNvGraphicFramePr>
            <a:graphicFrameLocks noChangeAspect="1"/>
          </p:cNvGraphicFramePr>
          <p:nvPr/>
        </p:nvGraphicFramePr>
        <p:xfrm>
          <a:off x="5332413" y="3883025"/>
          <a:ext cx="2668587" cy="2314848"/>
        </p:xfrm>
        <a:graphic>
          <a:graphicData uri="http://schemas.openxmlformats.org/presentationml/2006/ole">
            <p:oleObj spid="_x0000_s432132" name="Worksheet" r:id="rId6" imgW="2438400" imgH="2114451" progId="Excel.Sheet.8">
              <p:embed/>
            </p:oleObj>
          </a:graphicData>
        </a:graphic>
      </p:graphicFrame>
      <p:sp>
        <p:nvSpPr>
          <p:cNvPr id="1593356" name="Text Box 12"/>
          <p:cNvSpPr txBox="1">
            <a:spLocks noChangeArrowheads="1"/>
          </p:cNvSpPr>
          <p:nvPr/>
        </p:nvSpPr>
        <p:spPr bwMode="auto">
          <a:xfrm>
            <a:off x="7164388" y="5429250"/>
            <a:ext cx="247650"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k</a:t>
            </a:r>
            <a:endParaRPr lang="en-US" altLang="zh-CN" sz="2400">
              <a:solidFill>
                <a:schemeClr val="tx1"/>
              </a:solidFill>
            </a:endParaRPr>
          </a:p>
        </p:txBody>
      </p:sp>
      <p:sp>
        <p:nvSpPr>
          <p:cNvPr id="1593357" name="Text Box 13"/>
          <p:cNvSpPr txBox="1">
            <a:spLocks noChangeArrowheads="1"/>
          </p:cNvSpPr>
          <p:nvPr/>
        </p:nvSpPr>
        <p:spPr bwMode="auto">
          <a:xfrm>
            <a:off x="5943600" y="5029200"/>
            <a:ext cx="247650"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dirty="0">
                <a:solidFill>
                  <a:schemeClr val="tx1"/>
                </a:solidFill>
              </a:rPr>
              <a:t>m</a:t>
            </a:r>
            <a:endParaRPr lang="en-US" altLang="zh-CN" sz="2400" dirty="0">
              <a:solidFill>
                <a:schemeClr val="tx1"/>
              </a:solidFill>
            </a:endParaRPr>
          </a:p>
        </p:txBody>
      </p:sp>
      <p:sp>
        <p:nvSpPr>
          <p:cNvPr id="1593358" name="Text Box 14"/>
          <p:cNvSpPr txBox="1">
            <a:spLocks noChangeArrowheads="1"/>
          </p:cNvSpPr>
          <p:nvPr/>
        </p:nvSpPr>
        <p:spPr bwMode="auto">
          <a:xfrm>
            <a:off x="6477000" y="4876800"/>
            <a:ext cx="249237"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dirty="0">
                <a:solidFill>
                  <a:schemeClr val="tx1"/>
                </a:solidFill>
              </a:rPr>
              <a:t>h</a:t>
            </a:r>
            <a:endParaRPr lang="en-US" altLang="zh-CN" sz="2400" dirty="0">
              <a:solidFill>
                <a:schemeClr val="tx1"/>
              </a:solidFill>
            </a:endParaRPr>
          </a:p>
        </p:txBody>
      </p:sp>
      <p:sp>
        <p:nvSpPr>
          <p:cNvPr id="1593359" name="Text Box 15"/>
          <p:cNvSpPr txBox="1">
            <a:spLocks noChangeArrowheads="1"/>
          </p:cNvSpPr>
          <p:nvPr/>
        </p:nvSpPr>
        <p:spPr bwMode="auto">
          <a:xfrm>
            <a:off x="7391400" y="4419600"/>
            <a:ext cx="247650" cy="366713"/>
          </a:xfrm>
          <a:prstGeom prst="rect">
            <a:avLst/>
          </a:prstGeom>
          <a:noFill/>
          <a:ln w="9525">
            <a:noFill/>
            <a:miter lim="800000"/>
            <a:headEnd/>
            <a:tailEnd/>
          </a:ln>
          <a:effectLst/>
        </p:spPr>
        <p:txBody>
          <a:bodyPr>
            <a:spAutoFit/>
          </a:bodyPr>
          <a:lstStyle/>
          <a:p>
            <a:pPr algn="just">
              <a:spcBef>
                <a:spcPct val="50000"/>
              </a:spcBef>
              <a:buClrTx/>
              <a:buSzTx/>
              <a:buFontTx/>
              <a:buNone/>
            </a:pPr>
            <a:r>
              <a:rPr lang="en-US" altLang="zh-CN" sz="1800" i="1" dirty="0">
                <a:solidFill>
                  <a:schemeClr val="tx1"/>
                </a:solidFill>
              </a:rPr>
              <a:t>j</a:t>
            </a:r>
            <a:endParaRPr lang="en-US" altLang="zh-CN" sz="2400" dirty="0">
              <a:solidFill>
                <a:schemeClr val="tx1"/>
              </a:solidFill>
            </a:endParaRPr>
          </a:p>
        </p:txBody>
      </p:sp>
      <p:sp>
        <p:nvSpPr>
          <p:cNvPr id="1593360" name="Line 16"/>
          <p:cNvSpPr>
            <a:spLocks noChangeShapeType="1"/>
          </p:cNvSpPr>
          <p:nvPr/>
        </p:nvSpPr>
        <p:spPr bwMode="auto">
          <a:xfrm flipV="1">
            <a:off x="6553200" y="4800600"/>
            <a:ext cx="762000" cy="152400"/>
          </a:xfrm>
          <a:prstGeom prst="line">
            <a:avLst/>
          </a:prstGeom>
          <a:noFill/>
          <a:ln w="28575">
            <a:solidFill>
              <a:srgbClr val="FF0000"/>
            </a:solidFill>
            <a:round/>
            <a:headEnd/>
            <a:tailEnd/>
          </a:ln>
          <a:effectLst/>
        </p:spPr>
        <p:txBody>
          <a:bodyPr wrap="square" anchor="ctr">
            <a:spAutoFit/>
          </a:bodyPr>
          <a:lstStyle/>
          <a:p>
            <a:endParaRPr lang="en-US"/>
          </a:p>
        </p:txBody>
      </p:sp>
      <p:sp>
        <p:nvSpPr>
          <p:cNvPr id="1593361" name="Line 17"/>
          <p:cNvSpPr>
            <a:spLocks noChangeShapeType="1"/>
          </p:cNvSpPr>
          <p:nvPr/>
        </p:nvSpPr>
        <p:spPr bwMode="auto">
          <a:xfrm flipV="1">
            <a:off x="7162800" y="4800600"/>
            <a:ext cx="152400" cy="838200"/>
          </a:xfrm>
          <a:prstGeom prst="line">
            <a:avLst/>
          </a:prstGeom>
          <a:noFill/>
          <a:ln w="19050">
            <a:solidFill>
              <a:schemeClr val="tx1"/>
            </a:solidFill>
            <a:round/>
            <a:headEnd/>
            <a:tailEnd/>
          </a:ln>
          <a:effectLst/>
        </p:spPr>
        <p:txBody>
          <a:bodyPr wrap="square" anchor="ctr">
            <a:spAutoFit/>
          </a:bodyPr>
          <a:lstStyle/>
          <a:p>
            <a:endParaRPr lang="en-US"/>
          </a:p>
        </p:txBody>
      </p:sp>
      <p:graphicFrame>
        <p:nvGraphicFramePr>
          <p:cNvPr id="1593364" name="Object 20"/>
          <p:cNvGraphicFramePr>
            <a:graphicFrameLocks noChangeAspect="1"/>
          </p:cNvGraphicFramePr>
          <p:nvPr/>
        </p:nvGraphicFramePr>
        <p:xfrm>
          <a:off x="838200" y="3851275"/>
          <a:ext cx="2514600" cy="2362200"/>
        </p:xfrm>
        <a:graphic>
          <a:graphicData uri="http://schemas.openxmlformats.org/presentationml/2006/ole">
            <p:oleObj spid="_x0000_s432133" name="Worksheet" r:id="rId7" imgW="2598840" imgH="2452680" progId="Excel.Sheet.8">
              <p:embed/>
            </p:oleObj>
          </a:graphicData>
        </a:graphic>
      </p:graphicFrame>
      <p:sp>
        <p:nvSpPr>
          <p:cNvPr id="1593365" name="Text Box 21"/>
          <p:cNvSpPr txBox="1">
            <a:spLocks noChangeArrowheads="1"/>
          </p:cNvSpPr>
          <p:nvPr/>
        </p:nvSpPr>
        <p:spPr bwMode="auto">
          <a:xfrm>
            <a:off x="1462088" y="4279900"/>
            <a:ext cx="357187"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k</a:t>
            </a:r>
            <a:endParaRPr lang="en-US" altLang="zh-CN" sz="2400">
              <a:solidFill>
                <a:schemeClr val="tx1"/>
              </a:solidFill>
            </a:endParaRPr>
          </a:p>
        </p:txBody>
      </p:sp>
      <p:sp>
        <p:nvSpPr>
          <p:cNvPr id="1593366" name="Text Box 22"/>
          <p:cNvSpPr txBox="1">
            <a:spLocks noChangeArrowheads="1"/>
          </p:cNvSpPr>
          <p:nvPr/>
        </p:nvSpPr>
        <p:spPr bwMode="auto">
          <a:xfrm>
            <a:off x="2005013" y="5011738"/>
            <a:ext cx="446087" cy="366712"/>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m</a:t>
            </a:r>
            <a:endParaRPr lang="en-US" altLang="zh-CN" sz="2400">
              <a:solidFill>
                <a:schemeClr val="tx1"/>
              </a:solidFill>
            </a:endParaRPr>
          </a:p>
        </p:txBody>
      </p:sp>
      <p:sp>
        <p:nvSpPr>
          <p:cNvPr id="1593367" name="Text Box 23"/>
          <p:cNvSpPr txBox="1">
            <a:spLocks noChangeArrowheads="1"/>
          </p:cNvSpPr>
          <p:nvPr/>
        </p:nvSpPr>
        <p:spPr bwMode="auto">
          <a:xfrm>
            <a:off x="1905000" y="4441825"/>
            <a:ext cx="357188"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h</a:t>
            </a:r>
            <a:endParaRPr lang="en-US" altLang="zh-CN" sz="2400">
              <a:solidFill>
                <a:schemeClr val="tx1"/>
              </a:solidFill>
            </a:endParaRPr>
          </a:p>
        </p:txBody>
      </p:sp>
      <p:sp>
        <p:nvSpPr>
          <p:cNvPr id="1593368" name="Text Box 24"/>
          <p:cNvSpPr txBox="1">
            <a:spLocks noChangeArrowheads="1"/>
          </p:cNvSpPr>
          <p:nvPr/>
        </p:nvSpPr>
        <p:spPr bwMode="auto">
          <a:xfrm>
            <a:off x="2514600" y="4433887"/>
            <a:ext cx="357188" cy="366713"/>
          </a:xfrm>
          <a:prstGeom prst="rect">
            <a:avLst/>
          </a:prstGeom>
          <a:noFill/>
          <a:ln w="9525">
            <a:noFill/>
            <a:miter lim="800000"/>
            <a:headEnd/>
            <a:tailEnd/>
          </a:ln>
          <a:effectLst/>
        </p:spPr>
        <p:txBody>
          <a:bodyPr>
            <a:spAutoFit/>
          </a:bodyPr>
          <a:lstStyle/>
          <a:p>
            <a:pPr algn="just">
              <a:spcBef>
                <a:spcPct val="50000"/>
              </a:spcBef>
              <a:buClrTx/>
              <a:buSzTx/>
              <a:buFontTx/>
              <a:buNone/>
            </a:pPr>
            <a:r>
              <a:rPr lang="en-US" altLang="zh-CN" sz="1800" i="1" dirty="0">
                <a:solidFill>
                  <a:schemeClr val="tx1"/>
                </a:solidFill>
              </a:rPr>
              <a:t>j</a:t>
            </a:r>
            <a:endParaRPr lang="en-US" altLang="zh-CN" sz="2400" dirty="0">
              <a:solidFill>
                <a:schemeClr val="tx1"/>
              </a:solidFill>
            </a:endParaRPr>
          </a:p>
        </p:txBody>
      </p:sp>
      <p:sp>
        <p:nvSpPr>
          <p:cNvPr id="1593369" name="Line 25"/>
          <p:cNvSpPr>
            <a:spLocks noChangeShapeType="1"/>
          </p:cNvSpPr>
          <p:nvPr/>
        </p:nvSpPr>
        <p:spPr bwMode="auto">
          <a:xfrm flipH="1" flipV="1">
            <a:off x="1981198" y="4648200"/>
            <a:ext cx="533401" cy="152400"/>
          </a:xfrm>
          <a:prstGeom prst="line">
            <a:avLst/>
          </a:prstGeom>
          <a:noFill/>
          <a:ln w="19050">
            <a:solidFill>
              <a:srgbClr val="FF0000"/>
            </a:solidFill>
            <a:round/>
            <a:headEnd/>
            <a:tailEnd/>
          </a:ln>
          <a:effectLst/>
        </p:spPr>
        <p:txBody>
          <a:bodyPr wrap="square" anchor="ctr">
            <a:spAutoFit/>
          </a:bodyPr>
          <a:lstStyle/>
          <a:p>
            <a:endParaRPr lang="en-US"/>
          </a:p>
        </p:txBody>
      </p:sp>
      <p:sp>
        <p:nvSpPr>
          <p:cNvPr id="1593370" name="Line 26"/>
          <p:cNvSpPr>
            <a:spLocks noChangeShapeType="1"/>
          </p:cNvSpPr>
          <p:nvPr/>
        </p:nvSpPr>
        <p:spPr bwMode="auto">
          <a:xfrm flipH="1">
            <a:off x="2333624" y="4876800"/>
            <a:ext cx="180975" cy="188913"/>
          </a:xfrm>
          <a:prstGeom prst="line">
            <a:avLst/>
          </a:prstGeom>
          <a:noFill/>
          <a:ln w="22225">
            <a:solidFill>
              <a:schemeClr val="tx1"/>
            </a:solidFill>
            <a:round/>
            <a:headEnd/>
            <a:tailEnd/>
          </a:ln>
          <a:effectLst/>
        </p:spPr>
        <p:txBody>
          <a:bodyPr wrap="square" anchor="ctr">
            <a:spAutoFit/>
          </a:bodyPr>
          <a:lstStyle/>
          <a:p>
            <a:endParaRPr lang="en-US"/>
          </a:p>
        </p:txBody>
      </p:sp>
      <p:sp>
        <p:nvSpPr>
          <p:cNvPr id="1593371" name="Oval 27"/>
          <p:cNvSpPr>
            <a:spLocks noChangeArrowheads="1"/>
          </p:cNvSpPr>
          <p:nvPr/>
        </p:nvSpPr>
        <p:spPr bwMode="auto">
          <a:xfrm>
            <a:off x="1314450" y="4121150"/>
            <a:ext cx="814388" cy="1214438"/>
          </a:xfrm>
          <a:prstGeom prst="ellipse">
            <a:avLst/>
          </a:prstGeom>
          <a:noFill/>
          <a:ln w="9525">
            <a:solidFill>
              <a:schemeClr val="tx1"/>
            </a:solidFill>
            <a:prstDash val="lgDashDot"/>
            <a:round/>
            <a:headEnd/>
            <a:tailEnd/>
          </a:ln>
          <a:effectLst/>
        </p:spPr>
        <p:txBody>
          <a:bodyPr wrap="none" anchor="ctr">
            <a:spAutoFit/>
          </a:bodyPr>
          <a:lstStyle/>
          <a:p>
            <a:endParaRPr lang="en-US"/>
          </a:p>
        </p:txBody>
      </p:sp>
      <p:sp>
        <p:nvSpPr>
          <p:cNvPr id="1593372" name="Oval 28"/>
          <p:cNvSpPr>
            <a:spLocks noChangeArrowheads="1"/>
          </p:cNvSpPr>
          <p:nvPr/>
        </p:nvSpPr>
        <p:spPr bwMode="auto">
          <a:xfrm>
            <a:off x="2128838" y="4660900"/>
            <a:ext cx="815975" cy="1012825"/>
          </a:xfrm>
          <a:prstGeom prst="ellipse">
            <a:avLst/>
          </a:prstGeom>
          <a:noFill/>
          <a:ln w="9525">
            <a:solidFill>
              <a:schemeClr val="tx1"/>
            </a:solidFill>
            <a:prstDash val="lgDashDot"/>
            <a:round/>
            <a:headEnd/>
            <a:tailEnd/>
          </a:ln>
          <a:effectLst/>
        </p:spPr>
        <p:txBody>
          <a:bodyPr anchor="ctr">
            <a:spAutoFit/>
          </a:bodyPr>
          <a:lstStyle/>
          <a:p>
            <a:endParaRPr lang="en-US"/>
          </a:p>
        </p:txBody>
      </p:sp>
      <p:graphicFrame>
        <p:nvGraphicFramePr>
          <p:cNvPr id="1593373" name="Object 29"/>
          <p:cNvGraphicFramePr>
            <a:graphicFrameLocks noChangeAspect="1"/>
          </p:cNvGraphicFramePr>
          <p:nvPr/>
        </p:nvGraphicFramePr>
        <p:xfrm>
          <a:off x="914400" y="6119813"/>
          <a:ext cx="3227387" cy="661987"/>
        </p:xfrm>
        <a:graphic>
          <a:graphicData uri="http://schemas.openxmlformats.org/presentationml/2006/ole">
            <p:oleObj spid="_x0000_s432134" name="Document" r:id="rId8" imgW="3400065" imgH="702646" progId="Word.Document.8">
              <p:embed/>
            </p:oleObj>
          </a:graphicData>
        </a:graphic>
      </p:graphicFrame>
      <p:sp>
        <p:nvSpPr>
          <p:cNvPr id="1593374" name="Text Box 30"/>
          <p:cNvSpPr txBox="1">
            <a:spLocks noChangeArrowheads="1"/>
          </p:cNvSpPr>
          <p:nvPr/>
        </p:nvSpPr>
        <p:spPr bwMode="gray">
          <a:xfrm>
            <a:off x="-76200" y="4004204"/>
            <a:ext cx="1066800" cy="339196"/>
          </a:xfrm>
          <a:prstGeom prst="rect">
            <a:avLst/>
          </a:prstGeom>
          <a:noFill/>
          <a:ln w="9525" algn="ctr">
            <a:noFill/>
            <a:miter lim="800000"/>
            <a:headEnd/>
            <a:tailEnd/>
          </a:ln>
          <a:effectLst/>
        </p:spPr>
        <p:txBody>
          <a:bodyPr wrap="square" lIns="92075" tIns="46038" rIns="92075" bIns="46038">
            <a:spAutoFit/>
          </a:bodyPr>
          <a:lstStyle/>
          <a:p>
            <a:pPr marL="342900" indent="-342900">
              <a:lnSpc>
                <a:spcPct val="80000"/>
              </a:lnSpc>
              <a:spcBef>
                <a:spcPct val="0"/>
              </a:spcBef>
              <a:buFont typeface="Monotype Sorts" pitchFamily="2" charset="2"/>
              <a:buNone/>
            </a:pPr>
            <a:r>
              <a:rPr lang="en-US" altLang="zh-CN" sz="2000" dirty="0">
                <a:solidFill>
                  <a:srgbClr val="008000"/>
                </a:solidFill>
              </a:rPr>
              <a:t>Case 2</a:t>
            </a:r>
          </a:p>
        </p:txBody>
      </p:sp>
      <p:sp>
        <p:nvSpPr>
          <p:cNvPr id="1593375" name="Text Box 31"/>
          <p:cNvSpPr txBox="1">
            <a:spLocks noChangeArrowheads="1"/>
          </p:cNvSpPr>
          <p:nvPr/>
        </p:nvSpPr>
        <p:spPr bwMode="gray">
          <a:xfrm>
            <a:off x="4267200" y="1416050"/>
            <a:ext cx="1143000" cy="336550"/>
          </a:xfrm>
          <a:prstGeom prst="rect">
            <a:avLst/>
          </a:prstGeom>
          <a:noFill/>
          <a:ln w="9525" algn="ctr">
            <a:noFill/>
            <a:miter lim="800000"/>
            <a:headEnd/>
            <a:tailEnd/>
          </a:ln>
          <a:effectLst/>
        </p:spPr>
        <p:txBody>
          <a:bodyPr wrap="square" lIns="92075" tIns="46038" rIns="92075" bIns="46038">
            <a:spAutoFit/>
          </a:bodyPr>
          <a:lstStyle/>
          <a:p>
            <a:pPr marL="342900" indent="-342900">
              <a:lnSpc>
                <a:spcPct val="80000"/>
              </a:lnSpc>
              <a:spcBef>
                <a:spcPct val="0"/>
              </a:spcBef>
              <a:buFont typeface="Monotype Sorts" pitchFamily="2" charset="2"/>
              <a:buNone/>
            </a:pPr>
            <a:r>
              <a:rPr lang="en-US" altLang="zh-CN" sz="2000" dirty="0">
                <a:solidFill>
                  <a:srgbClr val="008000"/>
                </a:solidFill>
              </a:rPr>
              <a:t>Case 3</a:t>
            </a:r>
          </a:p>
        </p:txBody>
      </p:sp>
      <p:graphicFrame>
        <p:nvGraphicFramePr>
          <p:cNvPr id="1593376" name="Object 32"/>
          <p:cNvGraphicFramePr>
            <a:graphicFrameLocks noChangeAspect="1"/>
          </p:cNvGraphicFramePr>
          <p:nvPr/>
        </p:nvGraphicFramePr>
        <p:xfrm>
          <a:off x="838200" y="1165225"/>
          <a:ext cx="2514600" cy="2362200"/>
        </p:xfrm>
        <a:graphic>
          <a:graphicData uri="http://schemas.openxmlformats.org/presentationml/2006/ole">
            <p:oleObj spid="_x0000_s432135" name="Worksheet" r:id="rId9" imgW="2209720" imgH="2038270" progId="Excel.Sheet.8">
              <p:embed/>
            </p:oleObj>
          </a:graphicData>
        </a:graphic>
      </p:graphicFrame>
      <p:sp>
        <p:nvSpPr>
          <p:cNvPr id="1593377" name="Text Box 33"/>
          <p:cNvSpPr txBox="1">
            <a:spLocks noChangeArrowheads="1"/>
          </p:cNvSpPr>
          <p:nvPr/>
        </p:nvSpPr>
        <p:spPr bwMode="auto">
          <a:xfrm>
            <a:off x="1446213" y="1547813"/>
            <a:ext cx="273050" cy="366712"/>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h</a:t>
            </a:r>
            <a:endParaRPr lang="en-US" altLang="zh-CN" sz="2400">
              <a:solidFill>
                <a:schemeClr val="tx1"/>
              </a:solidFill>
            </a:endParaRPr>
          </a:p>
        </p:txBody>
      </p:sp>
      <p:sp>
        <p:nvSpPr>
          <p:cNvPr id="1593378" name="Text Box 34"/>
          <p:cNvSpPr txBox="1">
            <a:spLocks noChangeArrowheads="1"/>
          </p:cNvSpPr>
          <p:nvPr/>
        </p:nvSpPr>
        <p:spPr bwMode="auto">
          <a:xfrm>
            <a:off x="1814513" y="2212975"/>
            <a:ext cx="441325" cy="366713"/>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m</a:t>
            </a:r>
            <a:endParaRPr lang="en-US" altLang="zh-CN" sz="2400">
              <a:solidFill>
                <a:schemeClr val="tx1"/>
              </a:solidFill>
            </a:endParaRPr>
          </a:p>
        </p:txBody>
      </p:sp>
      <p:sp>
        <p:nvSpPr>
          <p:cNvPr id="1593379" name="Text Box 35"/>
          <p:cNvSpPr txBox="1">
            <a:spLocks noChangeArrowheads="1"/>
          </p:cNvSpPr>
          <p:nvPr/>
        </p:nvSpPr>
        <p:spPr bwMode="auto">
          <a:xfrm>
            <a:off x="2263775" y="2290763"/>
            <a:ext cx="269875" cy="366712"/>
          </a:xfrm>
          <a:prstGeom prst="rect">
            <a:avLst/>
          </a:prstGeom>
          <a:noFill/>
          <a:ln w="9525">
            <a:noFill/>
            <a:miter lim="800000"/>
            <a:headEnd/>
            <a:tailEnd/>
          </a:ln>
          <a:effectLst/>
        </p:spPr>
        <p:txBody>
          <a:bodyPr>
            <a:spAutoFit/>
          </a:bodyPr>
          <a:lstStyle/>
          <a:p>
            <a:pPr>
              <a:spcBef>
                <a:spcPct val="50000"/>
              </a:spcBef>
              <a:buClrTx/>
              <a:buSzTx/>
              <a:buFontTx/>
              <a:buNone/>
            </a:pPr>
            <a:r>
              <a:rPr lang="en-US" altLang="zh-CN" sz="1800" i="1">
                <a:solidFill>
                  <a:schemeClr val="tx1"/>
                </a:solidFill>
              </a:rPr>
              <a:t>k</a:t>
            </a:r>
            <a:endParaRPr lang="en-US" altLang="zh-CN" sz="2400">
              <a:solidFill>
                <a:schemeClr val="tx1"/>
              </a:solidFill>
            </a:endParaRPr>
          </a:p>
        </p:txBody>
      </p:sp>
      <p:sp>
        <p:nvSpPr>
          <p:cNvPr id="1593380" name="Text Box 36"/>
          <p:cNvSpPr txBox="1">
            <a:spLocks noChangeArrowheads="1"/>
          </p:cNvSpPr>
          <p:nvPr/>
        </p:nvSpPr>
        <p:spPr bwMode="auto">
          <a:xfrm>
            <a:off x="2133600" y="1751013"/>
            <a:ext cx="273050" cy="366712"/>
          </a:xfrm>
          <a:prstGeom prst="rect">
            <a:avLst/>
          </a:prstGeom>
          <a:noFill/>
          <a:ln w="9525">
            <a:noFill/>
            <a:miter lim="800000"/>
            <a:headEnd/>
            <a:tailEnd/>
          </a:ln>
          <a:effectLst/>
        </p:spPr>
        <p:txBody>
          <a:bodyPr>
            <a:spAutoFit/>
          </a:bodyPr>
          <a:lstStyle/>
          <a:p>
            <a:pPr algn="just">
              <a:spcBef>
                <a:spcPct val="50000"/>
              </a:spcBef>
              <a:buClrTx/>
              <a:buSzTx/>
              <a:buFontTx/>
              <a:buNone/>
            </a:pPr>
            <a:r>
              <a:rPr lang="en-US" altLang="zh-CN" sz="1800" i="1">
                <a:solidFill>
                  <a:schemeClr val="tx1"/>
                </a:solidFill>
              </a:rPr>
              <a:t>j</a:t>
            </a:r>
            <a:endParaRPr lang="en-US" altLang="zh-CN" sz="2400">
              <a:solidFill>
                <a:schemeClr val="tx1"/>
              </a:solidFill>
            </a:endParaRPr>
          </a:p>
        </p:txBody>
      </p:sp>
      <p:sp>
        <p:nvSpPr>
          <p:cNvPr id="1593381" name="Line 37"/>
          <p:cNvSpPr>
            <a:spLocks noChangeShapeType="1"/>
          </p:cNvSpPr>
          <p:nvPr/>
        </p:nvSpPr>
        <p:spPr bwMode="auto">
          <a:xfrm>
            <a:off x="1785938" y="1751013"/>
            <a:ext cx="273050" cy="336550"/>
          </a:xfrm>
          <a:prstGeom prst="line">
            <a:avLst/>
          </a:prstGeom>
          <a:noFill/>
          <a:ln w="19050">
            <a:solidFill>
              <a:schemeClr val="tx1"/>
            </a:solidFill>
            <a:round/>
            <a:headEnd/>
            <a:tailEnd/>
          </a:ln>
          <a:effectLst/>
        </p:spPr>
        <p:txBody>
          <a:bodyPr wrap="none" anchor="ctr">
            <a:spAutoFit/>
          </a:bodyPr>
          <a:lstStyle/>
          <a:p>
            <a:endParaRPr lang="en-US"/>
          </a:p>
        </p:txBody>
      </p:sp>
      <p:sp>
        <p:nvSpPr>
          <p:cNvPr id="1593382" name="Line 38"/>
          <p:cNvSpPr>
            <a:spLocks noChangeShapeType="1"/>
          </p:cNvSpPr>
          <p:nvPr/>
        </p:nvSpPr>
        <p:spPr bwMode="auto">
          <a:xfrm flipH="1">
            <a:off x="1990725" y="2155825"/>
            <a:ext cx="134938" cy="134938"/>
          </a:xfrm>
          <a:prstGeom prst="line">
            <a:avLst/>
          </a:prstGeom>
          <a:noFill/>
          <a:ln w="19050">
            <a:solidFill>
              <a:schemeClr val="tx1"/>
            </a:solidFill>
            <a:round/>
            <a:headEnd/>
            <a:tailEnd/>
          </a:ln>
          <a:effectLst/>
        </p:spPr>
        <p:txBody>
          <a:bodyPr anchor="ctr">
            <a:spAutoFit/>
          </a:bodyPr>
          <a:lstStyle/>
          <a:p>
            <a:endParaRPr lang="en-US"/>
          </a:p>
        </p:txBody>
      </p:sp>
      <p:sp>
        <p:nvSpPr>
          <p:cNvPr id="1593383" name="Oval 39"/>
          <p:cNvSpPr>
            <a:spLocks noChangeArrowheads="1"/>
          </p:cNvSpPr>
          <p:nvPr/>
        </p:nvSpPr>
        <p:spPr bwMode="auto">
          <a:xfrm>
            <a:off x="1377950" y="1481138"/>
            <a:ext cx="952500" cy="1146175"/>
          </a:xfrm>
          <a:prstGeom prst="ellipse">
            <a:avLst/>
          </a:prstGeom>
          <a:noFill/>
          <a:ln w="9525">
            <a:solidFill>
              <a:schemeClr val="tx1"/>
            </a:solidFill>
            <a:prstDash val="lgDashDot"/>
            <a:round/>
            <a:headEnd/>
            <a:tailEnd/>
          </a:ln>
          <a:effectLst/>
        </p:spPr>
        <p:txBody>
          <a:bodyPr anchor="ctr">
            <a:spAutoFit/>
          </a:bodyPr>
          <a:lstStyle/>
          <a:p>
            <a:endParaRPr lang="en-US"/>
          </a:p>
        </p:txBody>
      </p:sp>
      <p:sp>
        <p:nvSpPr>
          <p:cNvPr id="1593384" name="Oval 40"/>
          <p:cNvSpPr>
            <a:spLocks noChangeArrowheads="1"/>
          </p:cNvSpPr>
          <p:nvPr/>
        </p:nvSpPr>
        <p:spPr bwMode="auto">
          <a:xfrm>
            <a:off x="2262188" y="2087563"/>
            <a:ext cx="679450" cy="877887"/>
          </a:xfrm>
          <a:prstGeom prst="ellipse">
            <a:avLst/>
          </a:prstGeom>
          <a:noFill/>
          <a:ln w="9525">
            <a:solidFill>
              <a:schemeClr val="tx1"/>
            </a:solidFill>
            <a:prstDash val="lgDashDot"/>
            <a:round/>
            <a:headEnd/>
            <a:tailEnd/>
          </a:ln>
          <a:effectLst/>
        </p:spPr>
        <p:txBody>
          <a:bodyPr anchor="ctr">
            <a:spAutoFit/>
          </a:bodyPr>
          <a:lstStyle/>
          <a:p>
            <a:endParaRPr lang="en-US"/>
          </a:p>
        </p:txBody>
      </p:sp>
      <p:graphicFrame>
        <p:nvGraphicFramePr>
          <p:cNvPr id="1593385" name="Object 41"/>
          <p:cNvGraphicFramePr>
            <a:graphicFrameLocks noChangeAspect="1"/>
          </p:cNvGraphicFramePr>
          <p:nvPr/>
        </p:nvGraphicFramePr>
        <p:xfrm>
          <a:off x="752475" y="3497263"/>
          <a:ext cx="2932113" cy="617537"/>
        </p:xfrm>
        <a:graphic>
          <a:graphicData uri="http://schemas.openxmlformats.org/presentationml/2006/ole">
            <p:oleObj spid="_x0000_s432136" name="Document" r:id="rId10" imgW="3108240" imgH="664431" progId="Word.Document.8">
              <p:embed/>
            </p:oleObj>
          </a:graphicData>
        </a:graphic>
      </p:graphicFrame>
      <p:sp>
        <p:nvSpPr>
          <p:cNvPr id="1593386" name="Text Box 42"/>
          <p:cNvSpPr txBox="1">
            <a:spLocks noChangeArrowheads="1"/>
          </p:cNvSpPr>
          <p:nvPr/>
        </p:nvSpPr>
        <p:spPr bwMode="gray">
          <a:xfrm>
            <a:off x="-76200" y="1337204"/>
            <a:ext cx="1066800" cy="339196"/>
          </a:xfrm>
          <a:prstGeom prst="rect">
            <a:avLst/>
          </a:prstGeom>
          <a:noFill/>
          <a:ln w="9525" algn="ctr">
            <a:noFill/>
            <a:miter lim="800000"/>
            <a:headEnd/>
            <a:tailEnd/>
          </a:ln>
          <a:effectLst/>
        </p:spPr>
        <p:txBody>
          <a:bodyPr wrap="square" lIns="92075" tIns="46038" rIns="92075" bIns="46038">
            <a:spAutoFit/>
          </a:bodyPr>
          <a:lstStyle/>
          <a:p>
            <a:pPr marL="342900" indent="-342900">
              <a:lnSpc>
                <a:spcPct val="80000"/>
              </a:lnSpc>
              <a:spcBef>
                <a:spcPct val="0"/>
              </a:spcBef>
              <a:buFont typeface="Monotype Sorts" pitchFamily="2" charset="2"/>
              <a:buNone/>
            </a:pPr>
            <a:r>
              <a:rPr lang="en-US" altLang="zh-CN" sz="2000" dirty="0">
                <a:solidFill>
                  <a:srgbClr val="008000"/>
                </a:solidFill>
              </a:rPr>
              <a:t>Case 1</a:t>
            </a:r>
          </a:p>
        </p:txBody>
      </p:sp>
      <p:sp>
        <p:nvSpPr>
          <p:cNvPr id="1593387" name="Text Box 43"/>
          <p:cNvSpPr txBox="1">
            <a:spLocks noChangeArrowheads="1"/>
          </p:cNvSpPr>
          <p:nvPr/>
        </p:nvSpPr>
        <p:spPr bwMode="gray">
          <a:xfrm>
            <a:off x="4267200" y="4006850"/>
            <a:ext cx="1196975" cy="336550"/>
          </a:xfrm>
          <a:prstGeom prst="rect">
            <a:avLst/>
          </a:prstGeom>
          <a:noFill/>
          <a:ln w="9525" algn="ctr">
            <a:noFill/>
            <a:miter lim="800000"/>
            <a:headEnd/>
            <a:tailEnd/>
          </a:ln>
          <a:effectLst/>
        </p:spPr>
        <p:txBody>
          <a:bodyPr wrap="square" lIns="92075" tIns="46038" rIns="92075" bIns="46038">
            <a:spAutoFit/>
          </a:bodyPr>
          <a:lstStyle/>
          <a:p>
            <a:pPr marL="342900" indent="-342900">
              <a:lnSpc>
                <a:spcPct val="80000"/>
              </a:lnSpc>
              <a:spcBef>
                <a:spcPct val="0"/>
              </a:spcBef>
              <a:buFont typeface="Monotype Sorts" pitchFamily="2" charset="2"/>
              <a:buNone/>
            </a:pPr>
            <a:r>
              <a:rPr lang="en-US" altLang="zh-CN" sz="2000" dirty="0">
                <a:solidFill>
                  <a:srgbClr val="008000"/>
                </a:solidFill>
              </a:rPr>
              <a:t>Case 4</a:t>
            </a:r>
          </a:p>
        </p:txBody>
      </p:sp>
      <p:sp>
        <p:nvSpPr>
          <p:cNvPr id="62" name="Line 37"/>
          <p:cNvSpPr>
            <a:spLocks noChangeShapeType="1"/>
          </p:cNvSpPr>
          <p:nvPr/>
        </p:nvSpPr>
        <p:spPr bwMode="auto">
          <a:xfrm>
            <a:off x="6553200" y="1600200"/>
            <a:ext cx="577850" cy="793750"/>
          </a:xfrm>
          <a:prstGeom prst="line">
            <a:avLst/>
          </a:prstGeom>
          <a:noFill/>
          <a:ln w="19050">
            <a:solidFill>
              <a:schemeClr val="tx1"/>
            </a:solidFill>
            <a:round/>
            <a:headEnd/>
            <a:tailEnd/>
          </a:ln>
          <a:effectLst/>
        </p:spPr>
        <p:txBody>
          <a:bodyPr wrap="square" anchor="ctr">
            <a:spAutoFit/>
          </a:bodyPr>
          <a:lstStyle/>
          <a:p>
            <a:endParaRPr lang="en-US"/>
          </a:p>
        </p:txBody>
      </p:sp>
      <p:sp>
        <p:nvSpPr>
          <p:cNvPr id="64" name="Line 25"/>
          <p:cNvSpPr>
            <a:spLocks noChangeShapeType="1"/>
          </p:cNvSpPr>
          <p:nvPr/>
        </p:nvSpPr>
        <p:spPr bwMode="auto">
          <a:xfrm flipH="1" flipV="1">
            <a:off x="2133600" y="2133600"/>
            <a:ext cx="381000" cy="304800"/>
          </a:xfrm>
          <a:prstGeom prst="line">
            <a:avLst/>
          </a:prstGeom>
          <a:noFill/>
          <a:ln w="19050">
            <a:solidFill>
              <a:srgbClr val="FF0000"/>
            </a:solidFill>
            <a:round/>
            <a:headEnd/>
            <a:tailEnd/>
          </a:ln>
          <a:effectLst/>
        </p:spPr>
        <p:txBody>
          <a:bodyPr wrap="square" anchor="ctr">
            <a:spAutoFit/>
          </a:bodyPr>
          <a:lstStyle/>
          <a:p>
            <a:endParaRPr lang="en-US"/>
          </a:p>
        </p:txBody>
      </p:sp>
      <p:sp>
        <p:nvSpPr>
          <p:cNvPr id="65" name="Line 25"/>
          <p:cNvSpPr>
            <a:spLocks noChangeShapeType="1"/>
          </p:cNvSpPr>
          <p:nvPr/>
        </p:nvSpPr>
        <p:spPr bwMode="auto">
          <a:xfrm flipH="1">
            <a:off x="6324600" y="1600200"/>
            <a:ext cx="152400" cy="152400"/>
          </a:xfrm>
          <a:prstGeom prst="line">
            <a:avLst/>
          </a:prstGeom>
          <a:noFill/>
          <a:ln w="19050">
            <a:solidFill>
              <a:srgbClr val="FF0000"/>
            </a:solidFill>
            <a:round/>
            <a:headEnd/>
            <a:tailEnd/>
          </a:ln>
          <a:effectLst/>
        </p:spPr>
        <p:txBody>
          <a:bodyPr wrap="square" anchor="ctr">
            <a:spAutoFit/>
          </a:bodyPr>
          <a:lstStyle/>
          <a:p>
            <a:endParaRPr lang="en-US"/>
          </a:p>
        </p:txBody>
      </p:sp>
      <p:graphicFrame>
        <p:nvGraphicFramePr>
          <p:cNvPr id="394249" name="Object 9"/>
          <p:cNvGraphicFramePr>
            <a:graphicFrameLocks noChangeAspect="1"/>
          </p:cNvGraphicFramePr>
          <p:nvPr/>
        </p:nvGraphicFramePr>
        <p:xfrm>
          <a:off x="5376863" y="6281738"/>
          <a:ext cx="3005137" cy="427037"/>
        </p:xfrm>
        <a:graphic>
          <a:graphicData uri="http://schemas.openxmlformats.org/presentationml/2006/ole">
            <p:oleObj spid="_x0000_s432137" name="Document" r:id="rId11" imgW="2897378" imgH="413512" progId="Word.Document.8">
              <p:embed/>
            </p:oleObj>
          </a:graphicData>
        </a:graphic>
      </p:graphicFrame>
      <p:sp>
        <p:nvSpPr>
          <p:cNvPr id="49" name="Oval 39"/>
          <p:cNvSpPr>
            <a:spLocks noChangeArrowheads="1"/>
          </p:cNvSpPr>
          <p:nvPr/>
        </p:nvSpPr>
        <p:spPr bwMode="auto">
          <a:xfrm>
            <a:off x="5791200" y="4267200"/>
            <a:ext cx="952500" cy="1146175"/>
          </a:xfrm>
          <a:prstGeom prst="ellipse">
            <a:avLst/>
          </a:prstGeom>
          <a:noFill/>
          <a:ln w="9525">
            <a:solidFill>
              <a:schemeClr val="tx1"/>
            </a:solidFill>
            <a:prstDash val="lgDashDot"/>
            <a:round/>
            <a:headEnd/>
            <a:tailEnd/>
          </a:ln>
          <a:effectLst/>
        </p:spPr>
        <p:txBody>
          <a:bodyPr anchor="ctr">
            <a:spAutoFit/>
          </a:bodyPr>
          <a:lstStyle/>
          <a:p>
            <a:endParaRPr lang="en-US"/>
          </a:p>
        </p:txBody>
      </p:sp>
      <p:sp>
        <p:nvSpPr>
          <p:cNvPr id="52" name="Oval 51"/>
          <p:cNvSpPr/>
          <p:nvPr/>
        </p:nvSpPr>
        <p:spPr bwMode="auto">
          <a:xfrm>
            <a:off x="5943600" y="1371600"/>
            <a:ext cx="914400" cy="1295400"/>
          </a:xfrm>
          <a:prstGeom prst="ellipse">
            <a:avLst/>
          </a:prstGeom>
          <a:noFill/>
          <a:ln w="9525" cap="flat" cmpd="sng" algn="ctr">
            <a:solidFill>
              <a:schemeClr val="tx1"/>
            </a:solidFill>
            <a:prstDash val="lg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Tahoma" pitchFamily="34" charset="0"/>
            </a:endParaRPr>
          </a:p>
        </p:txBody>
      </p:sp>
      <p:sp>
        <p:nvSpPr>
          <p:cNvPr id="53" name="Oval 52"/>
          <p:cNvSpPr/>
          <p:nvPr/>
        </p:nvSpPr>
        <p:spPr bwMode="auto">
          <a:xfrm rot="411722">
            <a:off x="6928066" y="4613613"/>
            <a:ext cx="769647" cy="1219001"/>
          </a:xfrm>
          <a:prstGeom prst="ellipse">
            <a:avLst/>
          </a:prstGeom>
          <a:noFill/>
          <a:ln w="9525" cap="flat" cmpd="sng" algn="ctr">
            <a:solidFill>
              <a:schemeClr val="tx1"/>
            </a:solidFill>
            <a:prstDash val="lg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Tahoma" pitchFamily="34" charset="0"/>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47</a:t>
            </a:fld>
            <a:endParaRPr lang="en-US" altLang="zh-CN"/>
          </a:p>
        </p:txBody>
      </p:sp>
      <p:pic>
        <p:nvPicPr>
          <p:cNvPr id="446466" name="Picture 2"/>
          <p:cNvPicPr>
            <a:picLocks noChangeAspect="1" noChangeArrowheads="1"/>
          </p:cNvPicPr>
          <p:nvPr/>
        </p:nvPicPr>
        <p:blipFill>
          <a:blip r:embed="rId2"/>
          <a:srcRect/>
          <a:stretch>
            <a:fillRect/>
          </a:stretch>
        </p:blipFill>
        <p:spPr bwMode="auto">
          <a:xfrm>
            <a:off x="0" y="0"/>
            <a:ext cx="9201150" cy="69627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48</a:t>
            </a:fld>
            <a:endParaRPr lang="en-US" altLang="zh-CN"/>
          </a:p>
        </p:txBody>
      </p:sp>
      <p:pic>
        <p:nvPicPr>
          <p:cNvPr id="447490" name="Picture 2"/>
          <p:cNvPicPr>
            <a:picLocks noChangeAspect="1" noChangeArrowheads="1"/>
          </p:cNvPicPr>
          <p:nvPr/>
        </p:nvPicPr>
        <p:blipFill>
          <a:blip r:embed="rId2"/>
          <a:srcRect/>
          <a:stretch>
            <a:fillRect/>
          </a:stretch>
        </p:blipFill>
        <p:spPr bwMode="auto">
          <a:xfrm>
            <a:off x="33338" y="0"/>
            <a:ext cx="9077325" cy="72104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49</a:t>
            </a:fld>
            <a:endParaRPr lang="en-US" altLang="zh-CN"/>
          </a:p>
        </p:txBody>
      </p:sp>
      <p:pic>
        <p:nvPicPr>
          <p:cNvPr id="448514" name="Picture 2"/>
          <p:cNvPicPr>
            <a:picLocks noChangeAspect="1" noChangeArrowheads="1"/>
          </p:cNvPicPr>
          <p:nvPr/>
        </p:nvPicPr>
        <p:blipFill>
          <a:blip r:embed="rId2"/>
          <a:srcRect/>
          <a:stretch>
            <a:fillRect/>
          </a:stretch>
        </p:blipFill>
        <p:spPr bwMode="auto">
          <a:xfrm>
            <a:off x="485775" y="338138"/>
            <a:ext cx="8172450" cy="61817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50</a:t>
            </a:fld>
            <a:endParaRPr lang="en-US" altLang="zh-CN"/>
          </a:p>
        </p:txBody>
      </p:sp>
      <p:pic>
        <p:nvPicPr>
          <p:cNvPr id="449538" name="Picture 2"/>
          <p:cNvPicPr>
            <a:picLocks noChangeAspect="1" noChangeArrowheads="1"/>
          </p:cNvPicPr>
          <p:nvPr/>
        </p:nvPicPr>
        <p:blipFill>
          <a:blip r:embed="rId2"/>
          <a:srcRect/>
          <a:stretch>
            <a:fillRect/>
          </a:stretch>
        </p:blipFill>
        <p:spPr bwMode="auto">
          <a:xfrm>
            <a:off x="590550" y="519113"/>
            <a:ext cx="7962900" cy="58197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51</a:t>
            </a:fld>
            <a:endParaRPr lang="en-US" altLang="zh-CN"/>
          </a:p>
        </p:txBody>
      </p:sp>
      <p:pic>
        <p:nvPicPr>
          <p:cNvPr id="450562" name="Picture 2"/>
          <p:cNvPicPr>
            <a:picLocks noChangeAspect="1" noChangeArrowheads="1"/>
          </p:cNvPicPr>
          <p:nvPr/>
        </p:nvPicPr>
        <p:blipFill>
          <a:blip r:embed="rId2"/>
          <a:srcRect/>
          <a:stretch>
            <a:fillRect/>
          </a:stretch>
        </p:blipFill>
        <p:spPr bwMode="auto">
          <a:xfrm>
            <a:off x="585788" y="319088"/>
            <a:ext cx="7972425" cy="62198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52</a:t>
            </a:fld>
            <a:endParaRPr lang="en-US" altLang="zh-CN"/>
          </a:p>
        </p:txBody>
      </p:sp>
      <p:pic>
        <p:nvPicPr>
          <p:cNvPr id="451586" name="Picture 2"/>
          <p:cNvPicPr>
            <a:picLocks noChangeAspect="1" noChangeArrowheads="1"/>
          </p:cNvPicPr>
          <p:nvPr/>
        </p:nvPicPr>
        <p:blipFill>
          <a:blip r:embed="rId2"/>
          <a:srcRect/>
          <a:stretch>
            <a:fillRect/>
          </a:stretch>
        </p:blipFill>
        <p:spPr bwMode="auto">
          <a:xfrm>
            <a:off x="633413" y="357188"/>
            <a:ext cx="7877175" cy="61436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53</a:t>
            </a:fld>
            <a:endParaRPr lang="en-US" altLang="zh-CN"/>
          </a:p>
        </p:txBody>
      </p:sp>
      <p:pic>
        <p:nvPicPr>
          <p:cNvPr id="452610" name="Picture 2"/>
          <p:cNvPicPr>
            <a:picLocks noChangeAspect="1" noChangeArrowheads="1"/>
          </p:cNvPicPr>
          <p:nvPr/>
        </p:nvPicPr>
        <p:blipFill>
          <a:blip r:embed="rId2"/>
          <a:srcRect/>
          <a:stretch>
            <a:fillRect/>
          </a:stretch>
        </p:blipFill>
        <p:spPr bwMode="auto">
          <a:xfrm>
            <a:off x="628650" y="438150"/>
            <a:ext cx="7886700" cy="59817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p:nvPr>
        </p:nvPicPr>
        <p:blipFill>
          <a:blip r:embed="rId2">
            <a:extLst>
              <a:ext uri="{28A0092B-C50C-407E-A947-70E740481C1C}">
                <a14:useLocalDpi xmlns="" xmlns:a14="http://schemas.microsoft.com/office/drawing/2010/main" val="0"/>
              </a:ext>
            </a:extLst>
          </a:blip>
          <a:stretch>
            <a:fillRect/>
          </a:stretch>
        </p:blipFill>
        <p:spPr>
          <a:xfrm>
            <a:off x="-1447800" y="1371600"/>
            <a:ext cx="11064242" cy="3352800"/>
          </a:xfrm>
        </p:spPr>
      </p:pic>
      <p:sp>
        <p:nvSpPr>
          <p:cNvPr id="3" name="Slide Number Placeholder 2"/>
          <p:cNvSpPr>
            <a:spLocks noGrp="1"/>
          </p:cNvSpPr>
          <p:nvPr>
            <p:ph type="sldNum" sz="quarter" idx="12"/>
          </p:nvPr>
        </p:nvSpPr>
        <p:spPr/>
        <p:txBody>
          <a:bodyPr/>
          <a:lstStyle/>
          <a:p>
            <a:fld id="{FEBEDFF6-4494-494E-A4AF-F7D9B820EAE3}" type="slidenum">
              <a:rPr lang="zh-CN" altLang="en-US" smtClean="0"/>
              <a:pPr/>
              <a:t>54</a:t>
            </a:fld>
            <a:endParaRPr lang="en-US" altLang="zh-CN"/>
          </a:p>
        </p:txBody>
      </p:sp>
    </p:spTree>
    <p:extLst>
      <p:ext uri="{BB962C8B-B14F-4D97-AF65-F5344CB8AC3E}">
        <p14:creationId xmlns="" xmlns:p14="http://schemas.microsoft.com/office/powerpoint/2010/main" val="3417485779"/>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55</a:t>
            </a:fld>
            <a:endParaRPr lang="en-US" altLang="zh-CN"/>
          </a:p>
        </p:txBody>
      </p:sp>
      <p:pic>
        <p:nvPicPr>
          <p:cNvPr id="455682" name="Picture 2"/>
          <p:cNvPicPr>
            <a:picLocks noChangeAspect="1" noChangeArrowheads="1"/>
          </p:cNvPicPr>
          <p:nvPr/>
        </p:nvPicPr>
        <p:blipFill>
          <a:blip r:embed="rId2"/>
          <a:srcRect/>
          <a:stretch>
            <a:fillRect/>
          </a:stretch>
        </p:blipFill>
        <p:spPr bwMode="auto">
          <a:xfrm>
            <a:off x="461963" y="395288"/>
            <a:ext cx="8220075" cy="60674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Slide Number Placeholder 2"/>
          <p:cNvSpPr>
            <a:spLocks noGrp="1"/>
          </p:cNvSpPr>
          <p:nvPr>
            <p:ph type="sldNum" sz="quarter" idx="12"/>
          </p:nvPr>
        </p:nvSpPr>
        <p:spPr/>
        <p:txBody>
          <a:bodyPr/>
          <a:lstStyle/>
          <a:p>
            <a:fld id="{FEBEDFF6-4494-494E-A4AF-F7D9B820EAE3}" type="slidenum">
              <a:rPr lang="zh-CN" altLang="en-US" smtClean="0"/>
              <a:pPr/>
              <a:t>56</a:t>
            </a:fld>
            <a:endParaRPr lang="en-US" altLang="zh-CN"/>
          </a:p>
        </p:txBody>
      </p:sp>
      <p:pic>
        <p:nvPicPr>
          <p:cNvPr id="456706" name="Picture 2"/>
          <p:cNvPicPr>
            <a:picLocks noChangeAspect="1" noChangeArrowheads="1"/>
          </p:cNvPicPr>
          <p:nvPr/>
        </p:nvPicPr>
        <p:blipFill>
          <a:blip r:embed="rId2"/>
          <a:srcRect/>
          <a:stretch>
            <a:fillRect/>
          </a:stretch>
        </p:blipFill>
        <p:spPr bwMode="auto">
          <a:xfrm>
            <a:off x="272860" y="304800"/>
            <a:ext cx="8543862" cy="59817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xfrm>
            <a:off x="7010400" y="6248400"/>
            <a:ext cx="1905000" cy="457200"/>
          </a:xfrm>
        </p:spPr>
        <p:txBody>
          <a:bodyPr/>
          <a:lstStyle/>
          <a:p>
            <a:fld id="{D34E118B-1CCA-4CDB-B4C8-137D3717A7FD}" type="slidenum">
              <a:rPr lang="zh-CN" altLang="en-US"/>
              <a:pPr/>
              <a:t>57</a:t>
            </a:fld>
            <a:endParaRPr lang="en-US" altLang="zh-CN"/>
          </a:p>
        </p:txBody>
      </p:sp>
      <p:sp>
        <p:nvSpPr>
          <p:cNvPr id="1597442" name="Rectangle 2"/>
          <p:cNvSpPr>
            <a:spLocks noGrp="1" noChangeArrowheads="1"/>
          </p:cNvSpPr>
          <p:nvPr>
            <p:ph type="title"/>
          </p:nvPr>
        </p:nvSpPr>
        <p:spPr>
          <a:xfrm>
            <a:off x="457200" y="304800"/>
            <a:ext cx="7543800" cy="762000"/>
          </a:xfrm>
        </p:spPr>
        <p:txBody>
          <a:bodyPr/>
          <a:lstStyle/>
          <a:p>
            <a:r>
              <a:rPr lang="en-US" altLang="ko-KR" sz="4000" dirty="0">
                <a:ea typeface="굴림" pitchFamily="34" charset="-127"/>
              </a:rPr>
              <a:t>Strength and Weakness of PAM</a:t>
            </a:r>
            <a:endParaRPr lang="en-US" sz="4000" dirty="0">
              <a:ea typeface="굴림" pitchFamily="34" charset="-127"/>
            </a:endParaRPr>
          </a:p>
        </p:txBody>
      </p:sp>
      <p:sp>
        <p:nvSpPr>
          <p:cNvPr id="1597443" name="Rectangle 3"/>
          <p:cNvSpPr>
            <a:spLocks noGrp="1" noChangeArrowheads="1"/>
          </p:cNvSpPr>
          <p:nvPr>
            <p:ph type="body" idx="1"/>
          </p:nvPr>
        </p:nvSpPr>
        <p:spPr>
          <a:xfrm>
            <a:off x="352425" y="1235075"/>
            <a:ext cx="8366125" cy="4937125"/>
          </a:xfrm>
        </p:spPr>
        <p:txBody>
          <a:bodyPr/>
          <a:lstStyle/>
          <a:p>
            <a:pPr>
              <a:lnSpc>
                <a:spcPct val="120000"/>
              </a:lnSpc>
            </a:pPr>
            <a:r>
              <a:rPr lang="en-US" altLang="ko-KR" dirty="0">
                <a:ea typeface="굴림" pitchFamily="34" charset="-127"/>
              </a:rPr>
              <a:t>PAM is more robust than k-means in the presence of outliers because a </a:t>
            </a:r>
            <a:r>
              <a:rPr lang="en-US" altLang="ko-KR" dirty="0" err="1">
                <a:ea typeface="굴림" pitchFamily="34" charset="-127"/>
              </a:rPr>
              <a:t>medoid</a:t>
            </a:r>
            <a:r>
              <a:rPr lang="en-US" altLang="ko-KR" dirty="0">
                <a:ea typeface="굴림" pitchFamily="34" charset="-127"/>
              </a:rPr>
              <a:t> is less influenced by outliers or other extreme values than a mean</a:t>
            </a:r>
          </a:p>
          <a:p>
            <a:pPr>
              <a:lnSpc>
                <a:spcPct val="120000"/>
              </a:lnSpc>
            </a:pPr>
            <a:r>
              <a:rPr lang="en-US" altLang="ko-KR" dirty="0">
                <a:ea typeface="굴림" pitchFamily="34" charset="-127"/>
              </a:rPr>
              <a:t>PAM works efficiently for small data sets but does not scale well for large data sets</a:t>
            </a:r>
          </a:p>
          <a:p>
            <a:pPr lvl="1">
              <a:lnSpc>
                <a:spcPct val="120000"/>
              </a:lnSpc>
            </a:pPr>
            <a:r>
              <a:rPr lang="en-US" altLang="ko-KR" dirty="0">
                <a:ea typeface="굴림" pitchFamily="34" charset="-127"/>
              </a:rPr>
              <a:t>O(k(n-k)</a:t>
            </a:r>
            <a:r>
              <a:rPr lang="en-US" altLang="ko-KR" baseline="30000" dirty="0">
                <a:ea typeface="굴림" pitchFamily="34" charset="-127"/>
              </a:rPr>
              <a:t>2</a:t>
            </a:r>
            <a:r>
              <a:rPr lang="en-US" altLang="ko-KR" dirty="0">
                <a:ea typeface="굴림" pitchFamily="34" charset="-127"/>
              </a:rPr>
              <a:t> ) for each iteration </a:t>
            </a:r>
          </a:p>
          <a:p>
            <a:pPr>
              <a:spcBef>
                <a:spcPct val="50000"/>
              </a:spcBef>
              <a:buClrTx/>
              <a:buSzTx/>
              <a:buFontTx/>
              <a:buNone/>
            </a:pPr>
            <a:r>
              <a:rPr lang="en-US" altLang="ko-KR" sz="2400" dirty="0">
                <a:ea typeface="굴림" pitchFamily="34" charset="-127"/>
              </a:rPr>
              <a:t>	    </a:t>
            </a:r>
            <a:r>
              <a:rPr lang="en-US" altLang="ko-KR" sz="2400" dirty="0">
                <a:solidFill>
                  <a:schemeClr val="tx1"/>
                </a:solidFill>
                <a:ea typeface="굴림" pitchFamily="34" charset="-127"/>
              </a:rPr>
              <a:t>where n is # of data objects, k is # of </a:t>
            </a:r>
            <a:r>
              <a:rPr lang="en-US" altLang="ko-KR" sz="2400" dirty="0" smtClean="0">
                <a:solidFill>
                  <a:schemeClr val="tx1"/>
                </a:solidFill>
                <a:ea typeface="굴림" pitchFamily="34" charset="-127"/>
              </a:rPr>
              <a:t>clusters</a:t>
            </a:r>
            <a:endParaRPr lang="en-US" altLang="ko-KR" dirty="0">
              <a:ea typeface="굴림" pitchFamily="34" charset="-127"/>
            </a:endParaRPr>
          </a:p>
        </p:txBody>
      </p:sp>
    </p:spTree>
  </p:cSld>
  <p:clrMapOvr>
    <a:masterClrMapping/>
  </p:clrMapOvr>
  <p:transition>
    <p:checker/>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8601</TotalTime>
  <Words>2206</Words>
  <Application>Microsoft Office PowerPoint</Application>
  <PresentationFormat>On-screen Show (4:3)</PresentationFormat>
  <Paragraphs>406</Paragraphs>
  <Slides>57</Slides>
  <Notes>18</Notes>
  <HiddenSlides>0</HiddenSlides>
  <MMClips>0</MMClips>
  <ScaleCrop>false</ScaleCrop>
  <HeadingPairs>
    <vt:vector size="6" baseType="variant">
      <vt:variant>
        <vt:lpstr>Theme</vt:lpstr>
      </vt:variant>
      <vt:variant>
        <vt:i4>1</vt:i4>
      </vt:variant>
      <vt:variant>
        <vt:lpstr>Embedded OLE Servers</vt:lpstr>
      </vt:variant>
      <vt:variant>
        <vt:i4>6</vt:i4>
      </vt:variant>
      <vt:variant>
        <vt:lpstr>Slide Titles</vt:lpstr>
      </vt:variant>
      <vt:variant>
        <vt:i4>57</vt:i4>
      </vt:variant>
    </vt:vector>
  </HeadingPairs>
  <TitlesOfParts>
    <vt:vector size="64" baseType="lpstr">
      <vt:lpstr>Default Design</vt:lpstr>
      <vt:lpstr>VISIO</vt:lpstr>
      <vt:lpstr>Equation</vt:lpstr>
      <vt:lpstr>Bitmap Image</vt:lpstr>
      <vt:lpstr>Chart</vt:lpstr>
      <vt:lpstr>Worksheet</vt:lpstr>
      <vt:lpstr>Document</vt:lpstr>
      <vt:lpstr>Slide 1</vt:lpstr>
      <vt:lpstr>The Problem of Clustering</vt:lpstr>
      <vt:lpstr>Types of Clustering</vt:lpstr>
      <vt:lpstr>Partitional Clustering</vt:lpstr>
      <vt:lpstr>Hierarchical Clustering</vt:lpstr>
      <vt:lpstr>Types of Clusters: Well-Separated</vt:lpstr>
      <vt:lpstr>Types of Clusters: Center-Based</vt:lpstr>
      <vt:lpstr>Types of Clusters: Density-Based</vt:lpstr>
      <vt:lpstr>Data Structures Used</vt:lpstr>
      <vt:lpstr>Partitioning (Centeroid-Based) Algorithms</vt:lpstr>
      <vt:lpstr>K-means Clustering</vt:lpstr>
      <vt:lpstr>Clustering Example</vt:lpstr>
      <vt:lpstr>Clustering Example</vt:lpstr>
      <vt:lpstr>K-means Clustering – Details</vt:lpstr>
      <vt:lpstr> A Simple example showing the implementation of k-means algorithm  (using K=2)</vt:lpstr>
      <vt:lpstr>Slide 16</vt:lpstr>
      <vt:lpstr>Slide 17</vt:lpstr>
      <vt:lpstr>Slide 18</vt:lpstr>
      <vt:lpstr>Slide 19</vt:lpstr>
      <vt:lpstr>PLOT</vt:lpstr>
      <vt:lpstr>(with K=3) </vt:lpstr>
      <vt:lpstr>PLOT</vt:lpstr>
      <vt:lpstr>Real-Life Numerical Example of K-Means Clustering</vt:lpstr>
      <vt:lpstr>Slide 24</vt:lpstr>
      <vt:lpstr>Slide 25</vt:lpstr>
      <vt:lpstr>Slide 26</vt:lpstr>
      <vt:lpstr>Slide 27</vt:lpstr>
      <vt:lpstr>Slide 28</vt:lpstr>
      <vt:lpstr>Slide 29</vt:lpstr>
      <vt:lpstr>Slide 30</vt:lpstr>
      <vt:lpstr>Slide 31</vt:lpstr>
      <vt:lpstr>Getting k  Right</vt:lpstr>
      <vt:lpstr>Evaluating K-means Clusters</vt:lpstr>
      <vt:lpstr>Limitations of K-means</vt:lpstr>
      <vt:lpstr>Limitations of K-means: Differing Sizes</vt:lpstr>
      <vt:lpstr>Limitations of K-means: Differing Density</vt:lpstr>
      <vt:lpstr>Weaknesses of K-Mean Clustering  </vt:lpstr>
      <vt:lpstr>Pre-processing and Post-processing K-means</vt:lpstr>
      <vt:lpstr>CONCLUSION</vt:lpstr>
      <vt:lpstr>k-modes Algorithm</vt:lpstr>
      <vt:lpstr>A Problem of K-means</vt:lpstr>
      <vt:lpstr>k-Medoids Clustering Method</vt:lpstr>
      <vt:lpstr>PAM (Partitioning Around Medoids) (1987)</vt:lpstr>
      <vt:lpstr>Swapping Cost</vt:lpstr>
      <vt:lpstr>Four Swapping Cases</vt:lpstr>
      <vt:lpstr>PAM Clustering: Total swapping cost  TCmh=jCjmh</vt:lpstr>
      <vt:lpstr>Slide 47</vt:lpstr>
      <vt:lpstr>Slide 48</vt:lpstr>
      <vt:lpstr>Slide 49</vt:lpstr>
      <vt:lpstr>Slide 50</vt:lpstr>
      <vt:lpstr>Slide 51</vt:lpstr>
      <vt:lpstr>Slide 52</vt:lpstr>
      <vt:lpstr>Slide 53</vt:lpstr>
      <vt:lpstr>Slide 54</vt:lpstr>
      <vt:lpstr>Slide 55</vt:lpstr>
      <vt:lpstr>Slide 56</vt:lpstr>
      <vt:lpstr>Strength and Weakness of PAM</vt:lpstr>
    </vt:vector>
  </TitlesOfParts>
  <Company>RHfarm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Shariq</dc:creator>
  <cp:lastModifiedBy>pc</cp:lastModifiedBy>
  <cp:revision>526</cp:revision>
  <dcterms:created xsi:type="dcterms:W3CDTF">2006-02-06T02:43:57Z</dcterms:created>
  <dcterms:modified xsi:type="dcterms:W3CDTF">2019-12-10T12:00:59Z</dcterms:modified>
</cp:coreProperties>
</file>