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9"/>
  </p:notesMasterIdLst>
  <p:handoutMasterIdLst>
    <p:handoutMasterId r:id="rId20"/>
  </p:handoutMasterIdLst>
  <p:sldIdLst>
    <p:sldId id="736" r:id="rId2"/>
    <p:sldId id="747" r:id="rId3"/>
    <p:sldId id="735" r:id="rId4"/>
    <p:sldId id="745" r:id="rId5"/>
    <p:sldId id="717" r:id="rId6"/>
    <p:sldId id="719" r:id="rId7"/>
    <p:sldId id="749" r:id="rId8"/>
    <p:sldId id="721" r:id="rId9"/>
    <p:sldId id="722" r:id="rId10"/>
    <p:sldId id="723" r:id="rId11"/>
    <p:sldId id="725" r:id="rId12"/>
    <p:sldId id="751" r:id="rId13"/>
    <p:sldId id="727" r:id="rId14"/>
    <p:sldId id="728" r:id="rId15"/>
    <p:sldId id="729" r:id="rId16"/>
    <p:sldId id="730" r:id="rId17"/>
    <p:sldId id="731" r:id="rId18"/>
  </p:sldIdLst>
  <p:sldSz cx="9144000" cy="6858000" type="screen4x3"/>
  <p:notesSz cx="6831013" cy="91170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8DD4"/>
    <a:srgbClr val="FFFFB9"/>
    <a:srgbClr val="C9C9DB"/>
    <a:srgbClr val="BBBBD1"/>
    <a:srgbClr val="000099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48" autoAdjust="0"/>
  </p:normalViewPr>
  <p:slideViewPr>
    <p:cSldViewPr>
      <p:cViewPr varScale="1">
        <p:scale>
          <a:sx n="77" d="100"/>
          <a:sy n="77" d="100"/>
        </p:scale>
        <p:origin x="17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712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fld id="{D2979224-AE00-451C-8BB6-1BA2F88249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>
                <a:latin typeface="Tahoma" pitchFamily="34" charset="0"/>
              </a:defRPr>
            </a:lvl1pPr>
          </a:lstStyle>
          <a:p>
            <a:fld id="{B6BB9ECD-5561-48E2-9B3C-C2559169BAA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BBC92BA-9AB4-40FF-BB67-BB32E4A8D2A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Misnomer: </a:t>
            </a:r>
            <a:r>
              <a:rPr lang="en-US" dirty="0"/>
              <a:t>A name assigned to something it doesn't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9ECD-5561-48E2-9B3C-C2559169BAA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552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812AB8A-E1A7-4752-8A19-3C78160936C3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7EB0C25-7584-4B75-9B01-A68C2312EFA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 </a:t>
            </a:r>
            <a:r>
              <a:rPr lang="en-US" altLang="en-US" b="1" dirty="0"/>
              <a:t>Data warehouse</a:t>
            </a:r>
            <a:r>
              <a:rPr lang="en-US" altLang="en-US" dirty="0"/>
              <a:t> is a repository of information collected from multiple sources, stored under a unified schema.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6F1C26-0217-446C-8793-E4B7247F2D4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B13B5E9-4B60-4EAE-9A19-B3D128EFA3A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6F254B3-2D6D-4DAC-BE37-DEF73C4B5B3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799DB80-0946-4FE9-9142-37602BA71B4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B02FB15-C407-4336-9BBD-194ECFF9F6A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indent="-171450" eaLnBrk="1" hangingPunct="1">
              <a:buFontTx/>
              <a:buChar char="•"/>
            </a:pPr>
            <a:r>
              <a:rPr lang="en-US" altLang="en-US" dirty="0"/>
              <a:t>Support and confidence are used to evaluate the rule.</a:t>
            </a:r>
          </a:p>
          <a:p>
            <a:pPr marL="171450" indent="-171450" eaLnBrk="1" hangingPunct="1">
              <a:buFontTx/>
              <a:buChar char="•"/>
            </a:pPr>
            <a:r>
              <a:rPr lang="en-US" altLang="en-US" dirty="0"/>
              <a:t>Computer =&gt; software [1%, 50%]</a:t>
            </a:r>
          </a:p>
          <a:p>
            <a:pPr marL="171450" indent="-171450" eaLnBrk="1" hangingPunct="1">
              <a:buFontTx/>
              <a:buChar char="•"/>
            </a:pPr>
            <a:r>
              <a:rPr lang="en-US" altLang="en-US" dirty="0"/>
              <a:t>A 1% support means that 1% of all transactions under analysis show that computers and software are bought together.</a:t>
            </a:r>
          </a:p>
          <a:p>
            <a:pPr marL="171450" indent="-171450" eaLnBrk="1" hangingPunct="1">
              <a:buFontTx/>
              <a:buChar char="•"/>
            </a:pPr>
            <a:endParaRPr lang="en-US" altLang="en-US" dirty="0"/>
          </a:p>
          <a:p>
            <a:pPr marL="171450" indent="-171450" eaLnBrk="1" hangingPunct="1">
              <a:buFontTx/>
              <a:buChar char="•"/>
            </a:pPr>
            <a:r>
              <a:rPr lang="en-US" altLang="en-US" dirty="0"/>
              <a:t>50% confidence means that there is a 50% chance that they will be purchased together.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68E576-086D-48C5-946B-14713BFA908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CB1BEEE-1B35-45B6-BF9F-A278E68F25E5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9521BC-7263-4651-BA38-B893AB8C3D0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FE0CC78-4143-4572-AEFD-F975F39D9E5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0E5E82-2FE1-49DE-97D9-D9808BC6BC57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734CC4A-CF55-4EFF-85C8-BDB16CC526A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DBD0E7-B043-4703-87E1-506B81D5B4B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ED9671-801B-46E4-9000-FCD919E7173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5573A-B749-44D0-8173-1FC04647CC4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FEC32C-A717-40A8-8C88-CC72F9CDC4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A45E1-D7CC-486D-925C-29D7084ADA7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92959-C2D7-4783-9DCA-001613BEFF5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BC342-2C58-4367-87EA-E3DD76AACE5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9B7F2-1916-49AB-B940-5DCDF7C610E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F7440-4D5D-4070-A5A0-77E2057561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D0C7C4-35D8-4FF1-ABF4-969E5BE7873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EFE177-67F5-44CB-9321-FD102A391B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700028B-B86A-4635-85E5-6975B5CB6B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2" r:id="rId12"/>
    <p:sldLayoutId id="214748409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Monotype Sorts" pitchFamily="2" charset="2"/>
              <a:buNone/>
              <a:defRPr/>
            </a:pPr>
            <a:r>
              <a:rPr lang="en-US" altLang="en-US" dirty="0"/>
              <a:t>Introduction to Data Mining</a:t>
            </a:r>
          </a:p>
          <a:p>
            <a:pPr algn="ctr">
              <a:buFont typeface="Monotype Sorts" pitchFamily="2" charset="2"/>
              <a:buNone/>
              <a:defRPr/>
            </a:pPr>
            <a:r>
              <a:rPr lang="en-US" altLang="en-US" sz="1800" dirty="0"/>
              <a:t>(Chapter #1 of text book)</a:t>
            </a:r>
          </a:p>
          <a:p>
            <a:pPr algn="ctr"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30A0E2-7D5C-4472-9E92-72222FA8C46F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Live in a World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2.9 million emails are sent every second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20 hours of video are uploaded to YouTube every minute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24 PBs of data are processed by Google every day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50 million tweets are generated per day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700 billion total minutes are spent on Facebook each month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72.9 items are ordered on Amazon every second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0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6934200" cy="1066800"/>
          </a:xfrm>
          <a:ln w="28575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000" b="1" i="1">
                <a:solidFill>
                  <a:schemeClr val="tx1"/>
                </a:solidFill>
                <a:latin typeface="Arial Black" pitchFamily="34" charset="0"/>
              </a:rPr>
              <a:t>Motivation:  “Necessity is the Mother of Invention”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610600" cy="5334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50000"/>
              </a:lnSpc>
            </a:pPr>
            <a:r>
              <a:rPr lang="en-US" altLang="en-US" sz="2000" b="1" dirty="0">
                <a:solidFill>
                  <a:srgbClr val="0070C0"/>
                </a:solidFill>
              </a:rPr>
              <a:t>Data Explosion Problem</a:t>
            </a:r>
            <a:r>
              <a:rPr lang="en-US" altLang="en-US" sz="1600" dirty="0">
                <a:solidFill>
                  <a:srgbClr val="0070C0"/>
                </a:solidFill>
              </a:rPr>
              <a:t> </a:t>
            </a: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z="1600" b="1" dirty="0"/>
              <a:t>Automated data collection tools</a:t>
            </a:r>
            <a:r>
              <a:rPr lang="en-US" altLang="en-US" sz="1600" dirty="0"/>
              <a:t> (e.g. web, sensor networks) and </a:t>
            </a:r>
            <a:r>
              <a:rPr lang="en-US" altLang="en-US" sz="1600" b="1" dirty="0"/>
              <a:t>mature database technology</a:t>
            </a:r>
            <a:r>
              <a:rPr lang="en-US" altLang="en-US" sz="1600" dirty="0"/>
              <a:t> lead to tremendous amounts of data stored in databases, data warehouses and other information repositories.</a:t>
            </a: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z="1600" dirty="0"/>
              <a:t>Currently enterprises are facing data explosion problem.</a:t>
            </a: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z="1600" dirty="0"/>
              <a:t>YouTube users upload 48 hours of video, </a:t>
            </a:r>
            <a:r>
              <a:rPr lang="en-US" altLang="en-US" sz="1600" dirty="0" err="1"/>
              <a:t>Facebook</a:t>
            </a:r>
            <a:r>
              <a:rPr lang="en-US" altLang="en-US" sz="1600" dirty="0"/>
              <a:t> users share 684,478 pieces of content, </a:t>
            </a:r>
            <a:r>
              <a:rPr lang="en-US" altLang="en-US" sz="1600" dirty="0" err="1"/>
              <a:t>Instagram</a:t>
            </a:r>
            <a:r>
              <a:rPr lang="en-US" altLang="en-US" sz="1600" dirty="0"/>
              <a:t> users share 3,600 new photos, and </a:t>
            </a:r>
            <a:r>
              <a:rPr lang="en-US" altLang="en-US" sz="1600" dirty="0" err="1"/>
              <a:t>Tumblr</a:t>
            </a:r>
            <a:r>
              <a:rPr lang="en-US" altLang="en-US" sz="1600" dirty="0"/>
              <a:t> sees 27,778 new posts published.</a:t>
            </a:r>
          </a:p>
          <a:p>
            <a:r>
              <a:rPr lang="en-US" altLang="en-US" sz="2800" dirty="0"/>
              <a:t>A full 90% of world's data generated over last two years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000" b="1" dirty="0">
                <a:solidFill>
                  <a:srgbClr val="0070C0"/>
                </a:solidFill>
              </a:rPr>
              <a:t>Solution: </a:t>
            </a:r>
            <a:r>
              <a:rPr lang="en-US" altLang="en-US" sz="1600" dirty="0"/>
              <a:t>Data warehousing and Data mining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7848600" y="120650"/>
          <a:ext cx="1089025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089050" imgH="1175004" progId="">
                  <p:embed/>
                </p:oleObj>
              </mc:Choice>
              <mc:Fallback>
                <p:oleObj name="Clip" r:id="rId3" imgW="1089050" imgH="1175004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20650"/>
                        <a:ext cx="1089025" cy="117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6858000" cy="93345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 altLang="en-US" sz="3200" b="1"/>
              <a:t>What Is Data Mining?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543800" cy="4343400"/>
          </a:xfrm>
          <a:noFill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70C0"/>
                </a:solidFill>
              </a:rPr>
              <a:t>Data mining (knowledge discovery from data):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The process of discovering interesting </a:t>
            </a:r>
            <a:r>
              <a:rPr lang="en-US" altLang="en-US" sz="1600" dirty="0"/>
              <a:t>(</a:t>
            </a:r>
            <a:r>
              <a:rPr lang="en-GB" altLang="en-US" sz="2000" u="sng" dirty="0"/>
              <a:t>non-trivial,</a:t>
            </a:r>
            <a:r>
              <a:rPr lang="en-GB" altLang="en-US" sz="2000" dirty="0"/>
              <a:t> </a:t>
            </a:r>
            <a:r>
              <a:rPr lang="en-GB" altLang="en-US" sz="2000" u="sng" dirty="0"/>
              <a:t>implicit</a:t>
            </a:r>
            <a:r>
              <a:rPr lang="en-GB" altLang="en-US" sz="2000" dirty="0"/>
              <a:t>, </a:t>
            </a:r>
            <a:r>
              <a:rPr lang="en-GB" altLang="en-US" sz="2000" u="sng" dirty="0"/>
              <a:t>previously unknown</a:t>
            </a:r>
            <a:r>
              <a:rPr lang="en-GB" altLang="en-US" sz="2000" dirty="0"/>
              <a:t> and </a:t>
            </a:r>
            <a:r>
              <a:rPr lang="en-GB" altLang="en-US" sz="2000" u="sng" dirty="0"/>
              <a:t>potentially useful)</a:t>
            </a:r>
            <a:r>
              <a:rPr lang="en-GB" altLang="en-US" dirty="0"/>
              <a:t> </a:t>
            </a:r>
            <a:r>
              <a:rPr lang="en-GB" altLang="en-US" sz="2000" dirty="0"/>
              <a:t>patterns and knowledge from large amounts of data</a:t>
            </a:r>
            <a:endParaRPr lang="en-GB" altLang="en-US" sz="16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70C0"/>
                </a:solidFill>
              </a:rPr>
              <a:t>Alternative names 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Data mining: a misnomer?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Knowledge discovery(mining) in databases (KDD), knowledge extraction, data/pattern analysis, business intelligence, etc.</a:t>
            </a: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7772400" y="228600"/>
          <a:ext cx="1087438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089050" imgH="1175004" progId="">
                  <p:embed/>
                </p:oleObj>
              </mc:Choice>
              <mc:Fallback>
                <p:oleObj name="Clip" r:id="rId3" imgW="1089050" imgH="1175004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28600"/>
                        <a:ext cx="1087438" cy="117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3"/>
          <p:cNvGraphicFramePr>
            <a:graphicFrameLocks noChangeAspect="1"/>
          </p:cNvGraphicFramePr>
          <p:nvPr/>
        </p:nvGraphicFramePr>
        <p:xfrm>
          <a:off x="7239000" y="4932363"/>
          <a:ext cx="190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4582562" imgH="3358836" progId="">
                  <p:embed/>
                </p:oleObj>
              </mc:Choice>
              <mc:Fallback>
                <p:oleObj name="Clip" r:id="rId5" imgW="4582562" imgH="3358836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932363"/>
                        <a:ext cx="19050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6858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  <a:latin typeface="Arial Black" pitchFamily="34" charset="0"/>
              </a:rPr>
              <a:t>Data Mining (Example)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458200" cy="6172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2000" b="1">
                <a:solidFill>
                  <a:srgbClr val="0070C0"/>
                </a:solidFill>
              </a:rPr>
              <a:t>Random Guessing vs. Potential Knowledge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Suppose we have to </a:t>
            </a:r>
            <a:r>
              <a:rPr lang="en-US" altLang="en-US" sz="1800" b="1">
                <a:solidFill>
                  <a:srgbClr val="0070C0"/>
                </a:solidFill>
              </a:rPr>
              <a:t>Forecast the Probability of Rain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in Islamabad city for any particular day.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Without any </a:t>
            </a:r>
            <a:r>
              <a:rPr lang="en-US" altLang="en-US" sz="1800" b="1">
                <a:solidFill>
                  <a:srgbClr val="0070C0"/>
                </a:solidFill>
              </a:rPr>
              <a:t>Prior Knowledge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the probability of rain would be </a:t>
            </a:r>
            <a:r>
              <a:rPr lang="en-US" altLang="en-US" sz="1800" b="1">
                <a:solidFill>
                  <a:srgbClr val="0070C0"/>
                </a:solidFill>
              </a:rPr>
              <a:t>50% (pure random guess).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>
                <a:solidFill>
                  <a:srgbClr val="0070C0"/>
                </a:solidFill>
              </a:rPr>
              <a:t>If we had a lot of weather data</a:t>
            </a:r>
            <a:r>
              <a:rPr lang="en-US" altLang="en-US" sz="1800"/>
              <a:t>, then we can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extract potential rules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using Data Mining which can </a:t>
            </a:r>
            <a:r>
              <a:rPr lang="en-US" altLang="en-US" sz="1800" b="1">
                <a:solidFill>
                  <a:srgbClr val="0070C0"/>
                </a:solidFill>
              </a:rPr>
              <a:t>then forecast the chance of rain better than random guessing</a:t>
            </a:r>
            <a:r>
              <a:rPr lang="en-US" altLang="en-US" sz="1800">
                <a:solidFill>
                  <a:srgbClr val="0070C0"/>
                </a:solidFill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2000" b="1">
                <a:solidFill>
                  <a:srgbClr val="0070C0"/>
                </a:solidFill>
              </a:rPr>
              <a:t>Example: The Rule</a:t>
            </a:r>
            <a:r>
              <a:rPr lang="en-US" altLang="en-US" sz="2000">
                <a:solidFill>
                  <a:srgbClr val="0070C0"/>
                </a:solidFill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</a:t>
            </a:r>
            <a:r>
              <a:rPr lang="en-US" altLang="en-US" sz="1800" b="1" i="1"/>
              <a:t>if </a:t>
            </a:r>
            <a:r>
              <a:rPr lang="en-US" altLang="en-US" sz="1800" b="1" i="1">
                <a:solidFill>
                  <a:srgbClr val="0070C0"/>
                </a:solidFill>
              </a:rPr>
              <a:t>[Temperature = ‘hot’ and Humidity = ‘high’] </a:t>
            </a:r>
            <a:r>
              <a:rPr lang="en-US" altLang="en-US" sz="1800" b="1" i="1"/>
              <a:t>then there is 66.6% chance of rain.</a:t>
            </a:r>
          </a:p>
        </p:txBody>
      </p:sp>
      <p:graphicFrame>
        <p:nvGraphicFramePr>
          <p:cNvPr id="25604" name="Object 7"/>
          <p:cNvGraphicFramePr>
            <a:graphicFrameLocks noGrp="1"/>
          </p:cNvGraphicFramePr>
          <p:nvPr>
            <p:ph sz="half" idx="2"/>
          </p:nvPr>
        </p:nvGraphicFramePr>
        <p:xfrm>
          <a:off x="5029200" y="5076825"/>
          <a:ext cx="3806825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191049" imgH="2428951" progId="Excel.Sheet.8">
                  <p:embed/>
                </p:oleObj>
              </mc:Choice>
              <mc:Fallback>
                <p:oleObj name="Worksheet" r:id="rId3" imgW="5191049" imgH="2428951" progId="Excel.Shee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076825"/>
                        <a:ext cx="3806825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010400" cy="6858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  <a:latin typeface="Arial Black" pitchFamily="34" charset="0"/>
              </a:rPr>
              <a:t>Data Mining: A KDD Process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990600"/>
            <a:ext cx="4419600" cy="1066800"/>
          </a:xfrm>
        </p:spPr>
        <p:txBody>
          <a:bodyPr lIns="0" tIns="46038" rIns="0" bIns="46038"/>
          <a:lstStyle/>
          <a:p>
            <a:pPr lvl="1" eaLnBrk="1" hangingPunct="1">
              <a:lnSpc>
                <a:spcPct val="80000"/>
              </a:lnSpc>
            </a:pPr>
            <a:r>
              <a:rPr lang="en-US" altLang="en-US" sz="2400" i="1">
                <a:solidFill>
                  <a:srgbClr val="C00000"/>
                </a:solidFill>
              </a:rPr>
              <a:t>Data mining: </a:t>
            </a:r>
            <a:r>
              <a:rPr lang="en-US" altLang="en-US" sz="2400" i="1"/>
              <a:t>the core of knowledge discovery process.</a:t>
            </a:r>
            <a:endParaRPr lang="en-US" altLang="en-US" sz="2000" b="1" i="1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 flipV="1">
            <a:off x="1778000" y="5276850"/>
            <a:ext cx="938213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 flipV="1">
            <a:off x="7050088" y="1625600"/>
            <a:ext cx="9398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 flipV="1">
            <a:off x="5461000" y="2736850"/>
            <a:ext cx="9398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V="1">
            <a:off x="3727450" y="3848100"/>
            <a:ext cx="9398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838200" y="5753100"/>
            <a:ext cx="650875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838200" y="5832475"/>
            <a:ext cx="650875" cy="423863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838200" y="6149975"/>
            <a:ext cx="650875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1200150" y="6149975"/>
            <a:ext cx="649288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1200150" y="6229350"/>
            <a:ext cx="649288" cy="423863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1200150" y="6546850"/>
            <a:ext cx="649288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6" name="Oval 14"/>
          <p:cNvSpPr>
            <a:spLocks noChangeArrowheads="1"/>
          </p:cNvSpPr>
          <p:nvPr/>
        </p:nvSpPr>
        <p:spPr bwMode="auto">
          <a:xfrm>
            <a:off x="1849438" y="5911850"/>
            <a:ext cx="650875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1849438" y="5991225"/>
            <a:ext cx="650875" cy="423863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8" name="Oval 16"/>
          <p:cNvSpPr>
            <a:spLocks noChangeArrowheads="1"/>
          </p:cNvSpPr>
          <p:nvPr/>
        </p:nvSpPr>
        <p:spPr bwMode="auto">
          <a:xfrm>
            <a:off x="1849438" y="6308725"/>
            <a:ext cx="650875" cy="1587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914400" y="4876800"/>
            <a:ext cx="17145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0070C0"/>
                </a:solidFill>
              </a:rPr>
              <a:t>Data Cleaning</a:t>
            </a:r>
            <a:endParaRPr lang="en-US" altLang="en-US" sz="1800" i="1">
              <a:solidFill>
                <a:srgbClr val="0070C0"/>
              </a:solidFill>
            </a:endParaRP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2743200" y="5791200"/>
            <a:ext cx="19383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0070C0"/>
                </a:solidFill>
              </a:rPr>
              <a:t>Data Integration</a:t>
            </a:r>
            <a:endParaRPr lang="en-US" altLang="en-US" sz="1800" i="1">
              <a:solidFill>
                <a:srgbClr val="0070C0"/>
              </a:solidFill>
            </a:endParaRP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2286000" y="6461125"/>
            <a:ext cx="13747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FFFF00"/>
                </a:solidFill>
              </a:rPr>
              <a:t>Databases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1200150" y="4086225"/>
            <a:ext cx="21669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7030A0"/>
                </a:solidFill>
              </a:rPr>
              <a:t>Data Warehouse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2860675" y="4721225"/>
            <a:ext cx="650875" cy="714375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>
            <a:flatTx/>
          </a:bodyPr>
          <a:lstStyle/>
          <a:p>
            <a:pPr eaLnBrk="1" hangingPunct="1"/>
            <a:endParaRPr lang="en-US" altLang="en-US"/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4811713" y="3530600"/>
            <a:ext cx="433387" cy="47625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>
            <a:flatTx/>
          </a:bodyPr>
          <a:lstStyle/>
          <a:p>
            <a:pPr eaLnBrk="1" hangingPunct="1"/>
            <a:endParaRPr lang="en-US" altLang="en-US"/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6761163" y="2022475"/>
            <a:ext cx="73025" cy="635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96" name="Rectangle 24"/>
          <p:cNvSpPr>
            <a:spLocks noChangeArrowheads="1"/>
          </p:cNvSpPr>
          <p:nvPr/>
        </p:nvSpPr>
        <p:spPr bwMode="auto">
          <a:xfrm>
            <a:off x="6834188" y="2260600"/>
            <a:ext cx="71437" cy="39687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6689725" y="2181225"/>
            <a:ext cx="71438" cy="476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6905625" y="2419350"/>
            <a:ext cx="73025" cy="23812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699" name="Rectangle 27"/>
          <p:cNvSpPr>
            <a:spLocks noChangeArrowheads="1"/>
          </p:cNvSpPr>
          <p:nvPr/>
        </p:nvSpPr>
        <p:spPr bwMode="auto">
          <a:xfrm>
            <a:off x="6472238" y="2657475"/>
            <a:ext cx="650875" cy="793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6545263" y="2419350"/>
            <a:ext cx="144462" cy="238125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28701" name="WordArt 29"/>
          <p:cNvSpPr>
            <a:spLocks noChangeArrowheads="1" noChangeShapeType="1" noTextEdit="1"/>
          </p:cNvSpPr>
          <p:nvPr/>
        </p:nvSpPr>
        <p:spPr bwMode="auto">
          <a:xfrm>
            <a:off x="7315200" y="838200"/>
            <a:ext cx="1652588" cy="63817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6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8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Knowledge</a:t>
            </a:r>
          </a:p>
        </p:txBody>
      </p: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2438400" y="3276600"/>
            <a:ext cx="21923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0070C0"/>
                </a:solidFill>
              </a:rPr>
              <a:t>Task-relevant Data</a:t>
            </a:r>
          </a:p>
        </p:txBody>
      </p:sp>
      <p:sp>
        <p:nvSpPr>
          <p:cNvPr id="28703" name="Text Box 32"/>
          <p:cNvSpPr txBox="1">
            <a:spLocks noChangeArrowheads="1"/>
          </p:cNvSpPr>
          <p:nvPr/>
        </p:nvSpPr>
        <p:spPr bwMode="auto">
          <a:xfrm>
            <a:off x="4495800" y="2438400"/>
            <a:ext cx="15303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C00000"/>
                </a:solidFill>
              </a:rPr>
              <a:t>Data Mining</a:t>
            </a:r>
          </a:p>
        </p:txBody>
      </p:sp>
      <p:sp>
        <p:nvSpPr>
          <p:cNvPr id="28704" name="Text Box 33"/>
          <p:cNvSpPr txBox="1">
            <a:spLocks noChangeArrowheads="1"/>
          </p:cNvSpPr>
          <p:nvPr/>
        </p:nvSpPr>
        <p:spPr bwMode="auto">
          <a:xfrm>
            <a:off x="5257800" y="1600200"/>
            <a:ext cx="21780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000" b="1" i="1">
                <a:solidFill>
                  <a:srgbClr val="0070C0"/>
                </a:solidFill>
              </a:rPr>
              <a:t>Pattern Evaluation</a:t>
            </a:r>
          </a:p>
        </p:txBody>
      </p:sp>
      <p:sp>
        <p:nvSpPr>
          <p:cNvPr id="28705" name="Line 40"/>
          <p:cNvSpPr>
            <a:spLocks noChangeShapeType="1"/>
          </p:cNvSpPr>
          <p:nvPr/>
        </p:nvSpPr>
        <p:spPr bwMode="auto">
          <a:xfrm flipH="1" flipV="1">
            <a:off x="2427288" y="5594350"/>
            <a:ext cx="361950" cy="7143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6" name="Line 41"/>
          <p:cNvSpPr>
            <a:spLocks noChangeShapeType="1"/>
          </p:cNvSpPr>
          <p:nvPr/>
        </p:nvSpPr>
        <p:spPr bwMode="auto">
          <a:xfrm>
            <a:off x="2571750" y="5594350"/>
            <a:ext cx="15176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8707" name="Line 42"/>
          <p:cNvSpPr>
            <a:spLocks noChangeShapeType="1"/>
          </p:cNvSpPr>
          <p:nvPr/>
        </p:nvSpPr>
        <p:spPr bwMode="auto">
          <a:xfrm flipV="1">
            <a:off x="4089400" y="4324350"/>
            <a:ext cx="0" cy="1270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D4D710-6710-490E-AC8D-7EA98662270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/>
              <a:t>KDD Process: A Typical View from ML and Statistics</a:t>
            </a:r>
            <a:endParaRPr lang="en-US" sz="3200" b="0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 flipV="1">
            <a:off x="15335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6562725" y="2362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Text Box 17"/>
          <p:cNvSpPr txBox="1">
            <a:spLocks noChangeArrowheads="1"/>
          </p:cNvSpPr>
          <p:nvPr/>
        </p:nvSpPr>
        <p:spPr bwMode="auto">
          <a:xfrm>
            <a:off x="85725" y="2151063"/>
            <a:ext cx="14351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/>
              <a:t>Input Data</a:t>
            </a:r>
            <a:endParaRPr lang="en-US" sz="1600"/>
          </a:p>
        </p:txBody>
      </p:sp>
      <p:sp>
        <p:nvSpPr>
          <p:cNvPr id="14343" name="Rectangle 21"/>
          <p:cNvSpPr>
            <a:spLocks noChangeArrowheads="1"/>
          </p:cNvSpPr>
          <p:nvPr/>
        </p:nvSpPr>
        <p:spPr bwMode="auto">
          <a:xfrm>
            <a:off x="1990725" y="1981200"/>
            <a:ext cx="9144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14344" name="Rectangle 22"/>
          <p:cNvSpPr>
            <a:spLocks noChangeArrowheads="1"/>
          </p:cNvSpPr>
          <p:nvPr/>
        </p:nvSpPr>
        <p:spPr bwMode="auto">
          <a:xfrm>
            <a:off x="3667125" y="1981200"/>
            <a:ext cx="9144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14345" name="WordArt 29"/>
          <p:cNvSpPr>
            <a:spLocks noChangeArrowheads="1" noChangeShapeType="1" noTextEdit="1"/>
          </p:cNvSpPr>
          <p:nvPr/>
        </p:nvSpPr>
        <p:spPr bwMode="auto">
          <a:xfrm rot="823813">
            <a:off x="7096125" y="1676400"/>
            <a:ext cx="1743075" cy="12954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/>
              </a:rPr>
              <a:t>Pattern</a:t>
            </a:r>
          </a:p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/>
              </a:rPr>
              <a:t>Information</a:t>
            </a:r>
          </a:p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/>
              </a:rPr>
              <a:t>Knowledge</a:t>
            </a:r>
          </a:p>
        </p:txBody>
      </p:sp>
      <p:sp>
        <p:nvSpPr>
          <p:cNvPr id="14346" name="Text Box 32"/>
          <p:cNvSpPr txBox="1">
            <a:spLocks noChangeArrowheads="1"/>
          </p:cNvSpPr>
          <p:nvPr/>
        </p:nvSpPr>
        <p:spPr bwMode="auto">
          <a:xfrm>
            <a:off x="3514725" y="2057400"/>
            <a:ext cx="1295400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chemeClr val="hlink"/>
                </a:solidFill>
              </a:rPr>
              <a:t>Data Mining</a:t>
            </a:r>
          </a:p>
        </p:txBody>
      </p:sp>
      <p:sp>
        <p:nvSpPr>
          <p:cNvPr id="14347" name="Text Box 44"/>
          <p:cNvSpPr txBox="1">
            <a:spLocks noChangeArrowheads="1"/>
          </p:cNvSpPr>
          <p:nvPr/>
        </p:nvSpPr>
        <p:spPr bwMode="auto">
          <a:xfrm>
            <a:off x="1762125" y="2149475"/>
            <a:ext cx="14478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/>
              <a:t>Data Pre-Processing</a:t>
            </a:r>
          </a:p>
        </p:txBody>
      </p:sp>
      <p:sp>
        <p:nvSpPr>
          <p:cNvPr id="14348" name="Line 45"/>
          <p:cNvSpPr>
            <a:spLocks noChangeShapeType="1"/>
          </p:cNvSpPr>
          <p:nvPr/>
        </p:nvSpPr>
        <p:spPr bwMode="auto">
          <a:xfrm flipV="1">
            <a:off x="31337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Line 46"/>
          <p:cNvSpPr>
            <a:spLocks noChangeShapeType="1"/>
          </p:cNvSpPr>
          <p:nvPr/>
        </p:nvSpPr>
        <p:spPr bwMode="auto">
          <a:xfrm flipV="1">
            <a:off x="48863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47"/>
          <p:cNvSpPr>
            <a:spLocks noChangeArrowheads="1"/>
          </p:cNvSpPr>
          <p:nvPr/>
        </p:nvSpPr>
        <p:spPr bwMode="auto">
          <a:xfrm>
            <a:off x="5419725" y="1981200"/>
            <a:ext cx="9906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14351" name="Text Box 48"/>
          <p:cNvSpPr txBox="1">
            <a:spLocks noChangeArrowheads="1"/>
          </p:cNvSpPr>
          <p:nvPr/>
        </p:nvSpPr>
        <p:spPr bwMode="auto">
          <a:xfrm>
            <a:off x="5343525" y="2085975"/>
            <a:ext cx="1295400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sz="1600" b="1"/>
              <a:t>Post-Processing</a:t>
            </a:r>
          </a:p>
        </p:txBody>
      </p:sp>
      <p:sp>
        <p:nvSpPr>
          <p:cNvPr id="14352" name="Rectangle 49"/>
          <p:cNvSpPr>
            <a:spLocks noGrp="1" noChangeArrowheads="1"/>
          </p:cNvSpPr>
          <p:nvPr>
            <p:ph type="body" idx="1"/>
          </p:nvPr>
        </p:nvSpPr>
        <p:spPr>
          <a:xfrm>
            <a:off x="381000" y="5791200"/>
            <a:ext cx="8153400" cy="457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1800"/>
              <a:t>This is a view from typical machine learning and statistics communities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542925" y="3886200"/>
            <a:ext cx="2362200" cy="1143000"/>
            <a:chOff x="288" y="2880"/>
            <a:chExt cx="1488" cy="720"/>
          </a:xfrm>
        </p:grpSpPr>
        <p:sp>
          <p:nvSpPr>
            <p:cNvPr id="14362" name="Rectangle 50"/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Text Box 51"/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Data integration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Normalization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Feature selection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Dimension reduction</a:t>
              </a:r>
            </a:p>
          </p:txBody>
        </p:sp>
      </p:grpSp>
      <p:sp>
        <p:nvSpPr>
          <p:cNvPr id="14354" name="Rectangle 54"/>
          <p:cNvSpPr>
            <a:spLocks noChangeArrowheads="1"/>
          </p:cNvSpPr>
          <p:nvPr/>
        </p:nvSpPr>
        <p:spPr bwMode="auto">
          <a:xfrm>
            <a:off x="3057525" y="3886200"/>
            <a:ext cx="2362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Text Box 55"/>
          <p:cNvSpPr txBox="1">
            <a:spLocks noChangeArrowheads="1"/>
          </p:cNvSpPr>
          <p:nvPr/>
        </p:nvSpPr>
        <p:spPr bwMode="auto">
          <a:xfrm>
            <a:off x="3057525" y="3962400"/>
            <a:ext cx="2438400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Pattern discovery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Association &amp; correlation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Classification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Clustering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Outlier analysis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/>
              <a:t>… … … …</a:t>
            </a:r>
          </a:p>
        </p:txBody>
      </p: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5876925" y="3886200"/>
            <a:ext cx="2362200" cy="1143000"/>
            <a:chOff x="288" y="2880"/>
            <a:chExt cx="1488" cy="720"/>
          </a:xfrm>
        </p:grpSpPr>
        <p:sp>
          <p:nvSpPr>
            <p:cNvPr id="14360" name="Rectangle 57"/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1" name="Text Box 58"/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Pattern evaluation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Pattern selection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Pattern interpretation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sz="1600"/>
                <a:t>Pattern visualization</a:t>
              </a:r>
            </a:p>
          </p:txBody>
        </p:sp>
      </p:grpSp>
      <p:sp>
        <p:nvSpPr>
          <p:cNvPr id="14357" name="AutoShape 62"/>
          <p:cNvSpPr>
            <a:spLocks noChangeArrowheads="1"/>
          </p:cNvSpPr>
          <p:nvPr/>
        </p:nvSpPr>
        <p:spPr bwMode="auto">
          <a:xfrm rot="-10256010">
            <a:off x="18383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AutoShape 63"/>
          <p:cNvSpPr>
            <a:spLocks noChangeArrowheads="1"/>
          </p:cNvSpPr>
          <p:nvPr/>
        </p:nvSpPr>
        <p:spPr bwMode="auto">
          <a:xfrm rot="-10256010">
            <a:off x="36671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AutoShape 64"/>
          <p:cNvSpPr>
            <a:spLocks noChangeArrowheads="1"/>
          </p:cNvSpPr>
          <p:nvPr/>
        </p:nvSpPr>
        <p:spPr bwMode="auto">
          <a:xfrm rot="-10256010">
            <a:off x="58007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6858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  <a:latin typeface="Arial Black" pitchFamily="34" charset="0"/>
              </a:rPr>
              <a:t>Data Mining Functionalities (1)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8458200" cy="5638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800" b="1" dirty="0">
                <a:solidFill>
                  <a:srgbClr val="0070C0"/>
                </a:solidFill>
              </a:rPr>
              <a:t>Data Preprocessing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Handling Missing and Noisy Data (Data Cleaning).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Techniques we will cover</a:t>
            </a:r>
            <a:r>
              <a:rPr lang="en-US" altLang="en-US" sz="1800" dirty="0"/>
              <a:t>.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800" dirty="0"/>
              <a:t>Missing values Imputation using Mean, Median and Mod.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800" dirty="0"/>
              <a:t>Missing values Imputation using K-Nearest Neighbor.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800" dirty="0"/>
              <a:t>Missing values Imputation using Association Rules Mining.</a:t>
            </a:r>
          </a:p>
          <a:p>
            <a:pPr marL="914400" lvl="2" indent="0" eaLnBrk="1" hangingPunct="1">
              <a:lnSpc>
                <a:spcPct val="110000"/>
              </a:lnSpc>
              <a:buNone/>
            </a:pPr>
            <a:endParaRPr lang="en-US" altLang="en-US" sz="1800" dirty="0">
              <a:solidFill>
                <a:srgbClr val="FFFFFF"/>
              </a:solidFill>
            </a:endParaRPr>
          </a:p>
          <a:p>
            <a:pPr lvl="2" eaLnBrk="1" hangingPunct="1">
              <a:lnSpc>
                <a:spcPct val="110000"/>
              </a:lnSpc>
            </a:pPr>
            <a:endParaRPr lang="en-US" altLang="en-US" sz="1800" dirty="0"/>
          </a:p>
        </p:txBody>
      </p:sp>
      <p:graphicFrame>
        <p:nvGraphicFramePr>
          <p:cNvPr id="449735" name="Group 1223"/>
          <p:cNvGraphicFramePr>
            <a:graphicFrameLocks noGrp="1"/>
          </p:cNvGraphicFramePr>
          <p:nvPr>
            <p:ph sz="half" idx="2"/>
          </p:nvPr>
        </p:nvGraphicFramePr>
        <p:xfrm>
          <a:off x="4038600" y="4495800"/>
          <a:ext cx="4811713" cy="1859076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TID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Refund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Taxable Income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Cheat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125K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Australia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NZL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95K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924800" cy="6858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  <a:latin typeface="Arial Black" pitchFamily="34" charset="0"/>
              </a:rPr>
              <a:t>Data Mining Functionalities (1)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685800"/>
            <a:ext cx="8382000" cy="1828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b="1">
                <a:solidFill>
                  <a:srgbClr val="0070C0"/>
                </a:solidFill>
              </a:rPr>
              <a:t>Data Preprocessing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 b="1"/>
              <a:t>Data Transformation (Discretization and Normalization).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With the help of data transformation rules become more </a:t>
            </a:r>
            <a:r>
              <a:rPr lang="en-US" altLang="en-US" sz="1800" b="1">
                <a:solidFill>
                  <a:srgbClr val="0070C0"/>
                </a:solidFill>
              </a:rPr>
              <a:t>General and Compact</a:t>
            </a:r>
            <a:r>
              <a:rPr lang="en-US" altLang="en-US" sz="1800">
                <a:solidFill>
                  <a:srgbClr val="0070C0"/>
                </a:solidFill>
              </a:rPr>
              <a:t>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General and Compact rules increase the </a:t>
            </a:r>
            <a:r>
              <a:rPr lang="en-US" altLang="en-US" sz="1800" b="1">
                <a:solidFill>
                  <a:srgbClr val="0070C0"/>
                </a:solidFill>
              </a:rPr>
              <a:t>Accuracy of Classification</a:t>
            </a:r>
            <a:r>
              <a:rPr lang="en-US" altLang="en-US" sz="1800">
                <a:solidFill>
                  <a:srgbClr val="0070C0"/>
                </a:solidFill>
              </a:rPr>
              <a:t>.</a:t>
            </a:r>
          </a:p>
        </p:txBody>
      </p:sp>
      <p:graphicFrame>
        <p:nvGraphicFramePr>
          <p:cNvPr id="1032265" name="Group 73"/>
          <p:cNvGraphicFramePr>
            <a:graphicFrameLocks noGrp="1"/>
          </p:cNvGraphicFramePr>
          <p:nvPr/>
        </p:nvGraphicFramePr>
        <p:xfrm>
          <a:off x="7162800" y="2530475"/>
          <a:ext cx="685800" cy="247014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Child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Child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Young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Young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Child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Young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130" name="Line 26"/>
          <p:cNvSpPr>
            <a:spLocks noChangeShapeType="1"/>
          </p:cNvSpPr>
          <p:nvPr/>
        </p:nvSpPr>
        <p:spPr bwMode="auto">
          <a:xfrm>
            <a:off x="2286000" y="37338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3657600" y="3200400"/>
            <a:ext cx="2286000" cy="981075"/>
          </a:xfrm>
          <a:prstGeom prst="rect">
            <a:avLst/>
          </a:prstGeom>
          <a:solidFill>
            <a:srgbClr val="800000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FFFFEF"/>
                </a:solidFill>
                <a:latin typeface="Trebuchet MS" pitchFamily="34" charset="0"/>
              </a:rPr>
              <a:t>Child = (0 to 20)</a:t>
            </a:r>
          </a:p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FFFFEF"/>
                </a:solidFill>
                <a:latin typeface="Trebuchet MS" pitchFamily="34" charset="0"/>
              </a:rPr>
              <a:t>Young = (21 to 47)</a:t>
            </a:r>
          </a:p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FFFFEF"/>
                </a:solidFill>
                <a:latin typeface="Trebuchet MS" pitchFamily="34" charset="0"/>
              </a:rPr>
              <a:t>Old = (48 to 120)</a:t>
            </a:r>
          </a:p>
        </p:txBody>
      </p:sp>
      <p:graphicFrame>
        <p:nvGraphicFramePr>
          <p:cNvPr id="1032259" name="Group 67"/>
          <p:cNvGraphicFramePr>
            <a:graphicFrameLocks noGrp="1"/>
          </p:cNvGraphicFramePr>
          <p:nvPr/>
        </p:nvGraphicFramePr>
        <p:xfrm>
          <a:off x="1752600" y="2514600"/>
          <a:ext cx="533400" cy="246864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C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154" name="Line 50"/>
          <p:cNvSpPr>
            <a:spLocks noChangeShapeType="1"/>
          </p:cNvSpPr>
          <p:nvPr/>
        </p:nvSpPr>
        <p:spPr bwMode="auto">
          <a:xfrm>
            <a:off x="5943600" y="3657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155" name="Text Box 56"/>
          <p:cNvSpPr txBox="1">
            <a:spLocks noChangeArrowheads="1"/>
          </p:cNvSpPr>
          <p:nvPr/>
        </p:nvSpPr>
        <p:spPr bwMode="auto">
          <a:xfrm>
            <a:off x="762000" y="5181600"/>
            <a:ext cx="5334000" cy="1593850"/>
          </a:xfrm>
          <a:prstGeom prst="rect">
            <a:avLst/>
          </a:prstGeom>
          <a:solidFill>
            <a:srgbClr val="C9C9DB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FontTx/>
              <a:buAutoNum type="arabicPeriod"/>
            </a:pPr>
            <a:r>
              <a:rPr lang="en-US" altLang="en-US" sz="1400" b="1">
                <a:latin typeface="Arial" charset="0"/>
              </a:rPr>
              <a:t>If attribute 1 = value1 &amp; attribute 2 = value2 and </a:t>
            </a:r>
            <a:r>
              <a:rPr lang="en-US" altLang="en-US" sz="1400" b="1">
                <a:solidFill>
                  <a:schemeClr val="tx2"/>
                </a:solidFill>
                <a:latin typeface="Arial" charset="0"/>
              </a:rPr>
              <a:t>Age = 08</a:t>
            </a:r>
            <a:r>
              <a:rPr lang="en-US" altLang="en-US" sz="1400" b="1">
                <a:latin typeface="Arial" charset="0"/>
              </a:rPr>
              <a:t> then Buy_Computer = No.</a:t>
            </a:r>
          </a:p>
          <a:p>
            <a:pPr marL="292100" indent="-292100">
              <a:spcBef>
                <a:spcPct val="50000"/>
              </a:spcBef>
              <a:buFontTx/>
              <a:buAutoNum type="arabicPeriod"/>
            </a:pPr>
            <a:r>
              <a:rPr lang="en-US" altLang="en-US" sz="1400" b="1">
                <a:latin typeface="Arial" charset="0"/>
              </a:rPr>
              <a:t>If attribute 1 = value1 &amp; attribute 2 = value2 and </a:t>
            </a:r>
            <a:r>
              <a:rPr lang="en-US" altLang="en-US" sz="1400" b="1">
                <a:solidFill>
                  <a:schemeClr val="tx2"/>
                </a:solidFill>
                <a:latin typeface="Arial" charset="0"/>
              </a:rPr>
              <a:t>Age = 09</a:t>
            </a:r>
            <a:r>
              <a:rPr lang="en-US" altLang="en-US" sz="1400" b="1">
                <a:latin typeface="Arial" charset="0"/>
              </a:rPr>
              <a:t> then Buy_Computer = No.</a:t>
            </a:r>
          </a:p>
          <a:p>
            <a:pPr marL="292100" indent="-292100">
              <a:spcBef>
                <a:spcPct val="50000"/>
              </a:spcBef>
              <a:buFontTx/>
              <a:buAutoNum type="arabicPeriod"/>
            </a:pPr>
            <a:r>
              <a:rPr lang="en-US" altLang="en-US" sz="1400" b="1">
                <a:latin typeface="Arial" charset="0"/>
              </a:rPr>
              <a:t>If attribute 1 = value1 &amp; attribute 2 = value2 and </a:t>
            </a:r>
            <a:r>
              <a:rPr lang="en-US" altLang="en-US" sz="1400" b="1">
                <a:solidFill>
                  <a:schemeClr val="tx2"/>
                </a:solidFill>
                <a:latin typeface="Arial" charset="0"/>
              </a:rPr>
              <a:t>Age = 10</a:t>
            </a:r>
            <a:r>
              <a:rPr lang="en-US" altLang="en-US" sz="1400" b="1">
                <a:latin typeface="Arial" charset="0"/>
              </a:rPr>
              <a:t> then Buy_Computer = No.</a:t>
            </a:r>
          </a:p>
        </p:txBody>
      </p:sp>
      <p:sp>
        <p:nvSpPr>
          <p:cNvPr id="47156" name="AutoShape 59"/>
          <p:cNvSpPr>
            <a:spLocks noChangeArrowheads="1"/>
          </p:cNvSpPr>
          <p:nvPr/>
        </p:nvSpPr>
        <p:spPr bwMode="auto">
          <a:xfrm rot="-734728">
            <a:off x="2432050" y="3746500"/>
            <a:ext cx="658813" cy="1433513"/>
          </a:xfrm>
          <a:prstGeom prst="curvedLeftArrow">
            <a:avLst>
              <a:gd name="adj1" fmla="val 18354"/>
              <a:gd name="adj2" fmla="val 61872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47157" name="Text Box 61"/>
          <p:cNvSpPr txBox="1">
            <a:spLocks noChangeArrowheads="1"/>
          </p:cNvSpPr>
          <p:nvPr/>
        </p:nvSpPr>
        <p:spPr bwMode="auto">
          <a:xfrm>
            <a:off x="6477000" y="5486400"/>
            <a:ext cx="2514600" cy="955675"/>
          </a:xfrm>
          <a:prstGeom prst="rect">
            <a:avLst/>
          </a:prstGeom>
          <a:solidFill>
            <a:srgbClr val="C9C9DB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FontTx/>
              <a:buAutoNum type="arabicPeriod"/>
            </a:pPr>
            <a:r>
              <a:rPr lang="en-US" altLang="en-US" sz="1400" b="1">
                <a:latin typeface="Arial" charset="0"/>
              </a:rPr>
              <a:t>If attribute 1 = value1 &amp; attribute 2 = value2 and </a:t>
            </a:r>
            <a:r>
              <a:rPr lang="en-US" altLang="en-US" sz="1400" b="1">
                <a:solidFill>
                  <a:schemeClr val="tx2"/>
                </a:solidFill>
                <a:latin typeface="Arial" charset="0"/>
              </a:rPr>
              <a:t>Age = Child</a:t>
            </a:r>
            <a:r>
              <a:rPr lang="en-US" altLang="en-US" sz="1400" b="1">
                <a:latin typeface="Arial" charset="0"/>
              </a:rPr>
              <a:t> then Buy_Computer = No.</a:t>
            </a:r>
          </a:p>
        </p:txBody>
      </p:sp>
      <p:sp>
        <p:nvSpPr>
          <p:cNvPr id="47158" name="AutoShape 63"/>
          <p:cNvSpPr>
            <a:spLocks noChangeArrowheads="1"/>
          </p:cNvSpPr>
          <p:nvPr/>
        </p:nvSpPr>
        <p:spPr bwMode="auto">
          <a:xfrm rot="-1217318">
            <a:off x="8080375" y="3743325"/>
            <a:ext cx="660400" cy="1666875"/>
          </a:xfrm>
          <a:prstGeom prst="curvedLeftArrow">
            <a:avLst>
              <a:gd name="adj1" fmla="val 21291"/>
              <a:gd name="adj2" fmla="val 71772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467600" cy="7620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</a:rPr>
              <a:t>Data Mining Functionalities (1)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90600"/>
            <a:ext cx="8382000" cy="41148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800" b="1">
                <a:solidFill>
                  <a:srgbClr val="0070C0"/>
                </a:solidFill>
              </a:rPr>
              <a:t>Data Preprocessing</a:t>
            </a:r>
            <a:endParaRPr lang="en-US" altLang="en-US" sz="2800">
              <a:solidFill>
                <a:srgbClr val="0070C0"/>
              </a:solidFill>
            </a:endParaRP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altLang="en-US" sz="1800" b="1"/>
              <a:t>Attribute Selection/Feature Selection</a:t>
            </a:r>
          </a:p>
          <a:p>
            <a:pPr marL="1295400" lvl="2" indent="-381000" eaLnBrk="1" hangingPunct="1">
              <a:lnSpc>
                <a:spcPct val="110000"/>
              </a:lnSpc>
            </a:pPr>
            <a:r>
              <a:rPr lang="en-US" altLang="en-US" sz="1800"/>
              <a:t>Selection of those attributes which are more relevant to data mining task.</a:t>
            </a:r>
          </a:p>
          <a:p>
            <a:pPr marL="1295400" lvl="2" indent="-381000" eaLnBrk="1" hangingPunct="1">
              <a:lnSpc>
                <a:spcPct val="110000"/>
              </a:lnSpc>
            </a:pPr>
            <a:r>
              <a:rPr lang="en-US" altLang="en-US" sz="1800" b="1">
                <a:solidFill>
                  <a:srgbClr val="0070C0"/>
                </a:solidFill>
              </a:rPr>
              <a:t>Advantage1: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Decrease the processing time of mining task.</a:t>
            </a:r>
          </a:p>
          <a:p>
            <a:pPr marL="1295400" lvl="2" indent="-381000" eaLnBrk="1" hangingPunct="1">
              <a:lnSpc>
                <a:spcPct val="110000"/>
              </a:lnSpc>
            </a:pPr>
            <a:r>
              <a:rPr lang="en-US" altLang="en-US" sz="1800" b="1">
                <a:solidFill>
                  <a:srgbClr val="0070C0"/>
                </a:solidFill>
              </a:rPr>
              <a:t>Advantage2: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Generalize the rules.</a:t>
            </a: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altLang="en-US" sz="1800" b="1">
                <a:solidFill>
                  <a:srgbClr val="C00000"/>
                </a:solidFill>
              </a:rPr>
              <a:t>Example</a:t>
            </a:r>
          </a:p>
          <a:p>
            <a:pPr marL="1295400" lvl="2" indent="-381000" eaLnBrk="1" hangingPunct="1">
              <a:lnSpc>
                <a:spcPct val="110000"/>
              </a:lnSpc>
            </a:pPr>
            <a:r>
              <a:rPr lang="en-US" altLang="en-US" sz="1800"/>
              <a:t>If our mining goal is to find that countries </a:t>
            </a:r>
            <a:r>
              <a:rPr lang="en-US" altLang="en-US" sz="1800" b="1" i="1"/>
              <a:t>which has more Cheat on which Taxable Income</a:t>
            </a:r>
            <a:r>
              <a:rPr lang="en-US" altLang="en-US" sz="1800"/>
              <a:t>.</a:t>
            </a:r>
          </a:p>
          <a:p>
            <a:pPr marL="1295400" lvl="2" indent="-381000" eaLnBrk="1" hangingPunct="1">
              <a:lnSpc>
                <a:spcPct val="110000"/>
              </a:lnSpc>
            </a:pPr>
            <a:r>
              <a:rPr lang="en-US" altLang="en-US" sz="1800"/>
              <a:t>Then obviously </a:t>
            </a:r>
            <a:r>
              <a:rPr lang="en-US" altLang="en-US" sz="1800" b="1" i="1">
                <a:solidFill>
                  <a:srgbClr val="0070C0"/>
                </a:solidFill>
              </a:rPr>
              <a:t>the date attribute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will not be an important factor in our mining task.</a:t>
            </a:r>
          </a:p>
        </p:txBody>
      </p:sp>
      <p:graphicFrame>
        <p:nvGraphicFramePr>
          <p:cNvPr id="1035389" name="Group 125"/>
          <p:cNvGraphicFramePr>
            <a:graphicFrameLocks noGrp="1"/>
          </p:cNvGraphicFramePr>
          <p:nvPr>
            <p:ph sz="half" idx="2"/>
          </p:nvPr>
        </p:nvGraphicFramePr>
        <p:xfrm>
          <a:off x="3744913" y="4724400"/>
          <a:ext cx="5399087" cy="1981200"/>
        </p:xfrm>
        <a:graphic>
          <a:graphicData uri="http://schemas.openxmlformats.org/drawingml/2006/table">
            <a:tbl>
              <a:tblPr/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Refund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Taxable Income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Arial" charset="0"/>
                        </a:rPr>
                        <a:t>Cheat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11/02/2002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13/02/2002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16/02/2002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Australia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21/03/2002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Australia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26/02/2002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NZL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543800" cy="7620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 i="1">
                <a:solidFill>
                  <a:schemeClr val="tx1"/>
                </a:solidFill>
                <a:latin typeface="Arial Black" pitchFamily="34" charset="0"/>
              </a:rPr>
              <a:t>Data Mining Functionalities (2)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90600"/>
            <a:ext cx="8458200" cy="25146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800" b="1" dirty="0">
                <a:solidFill>
                  <a:srgbClr val="0070C0"/>
                </a:solidFill>
              </a:rPr>
              <a:t>Association Rule Mining</a:t>
            </a:r>
            <a:r>
              <a:rPr lang="en-US" sz="2500" dirty="0">
                <a:solidFill>
                  <a:srgbClr val="0070C0"/>
                </a:solidFill>
              </a:rPr>
              <a:t>  </a:t>
            </a:r>
          </a:p>
          <a:p>
            <a:pPr eaLnBrk="1" hangingPunct="1">
              <a:buSzPct val="80000"/>
              <a:defRPr/>
            </a:pPr>
            <a:r>
              <a:rPr lang="en-US" sz="2000" dirty="0"/>
              <a:t>In </a:t>
            </a:r>
            <a:r>
              <a:rPr lang="en-US" sz="2000" b="1" dirty="0"/>
              <a:t>Association Rule Mining Framework</a:t>
            </a:r>
            <a:r>
              <a:rPr lang="en-US" sz="2000" dirty="0"/>
              <a:t> we have to </a:t>
            </a:r>
            <a:r>
              <a:rPr lang="en-US" sz="2000" b="1" dirty="0">
                <a:solidFill>
                  <a:srgbClr val="0070C0"/>
                </a:solidFill>
              </a:rPr>
              <a:t>find all the rules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in a transactional/relational dataset which </a:t>
            </a:r>
            <a:r>
              <a:rPr lang="en-US" sz="2000" b="1" dirty="0">
                <a:solidFill>
                  <a:srgbClr val="0070C0"/>
                </a:solidFill>
              </a:rPr>
              <a:t>contain a support (frequency)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Greater</a:t>
            </a:r>
            <a:r>
              <a:rPr lang="en-US" sz="2000" dirty="0">
                <a:solidFill>
                  <a:srgbClr val="0070C0"/>
                </a:solidFill>
              </a:rPr>
              <a:t> than some </a:t>
            </a:r>
            <a:r>
              <a:rPr lang="en-US" sz="2000" b="1" dirty="0">
                <a:solidFill>
                  <a:srgbClr val="0070C0"/>
                </a:solidFill>
              </a:rPr>
              <a:t>minimum support </a:t>
            </a:r>
            <a:r>
              <a:rPr lang="en-US" sz="2000" b="1" dirty="0"/>
              <a:t>(</a:t>
            </a:r>
            <a:r>
              <a:rPr lang="en-US" sz="2000" b="1" dirty="0" err="1"/>
              <a:t>min_sup</a:t>
            </a:r>
            <a:r>
              <a:rPr lang="en-US" sz="2000" b="1" dirty="0"/>
              <a:t>) threshold</a:t>
            </a:r>
            <a:r>
              <a:rPr lang="en-US" sz="2000" dirty="0"/>
              <a:t> (provided by the user).</a:t>
            </a:r>
          </a:p>
          <a:p>
            <a:pPr eaLnBrk="1" hangingPunct="1">
              <a:buSzPct val="80000"/>
              <a:defRPr/>
            </a:pPr>
            <a:endParaRPr lang="en-US" sz="2000" dirty="0"/>
          </a:p>
          <a:p>
            <a:pPr eaLnBrk="1" hangingPunct="1">
              <a:buSzPct val="80000"/>
              <a:defRPr/>
            </a:pPr>
            <a:r>
              <a:rPr lang="en-US" sz="2000" dirty="0"/>
              <a:t>For example with </a:t>
            </a:r>
            <a:r>
              <a:rPr lang="en-US" sz="2000" dirty="0" err="1"/>
              <a:t>min_sup</a:t>
            </a:r>
            <a:r>
              <a:rPr lang="en-US" sz="2000" dirty="0"/>
              <a:t> = 50%.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sz="2500" dirty="0">
              <a:solidFill>
                <a:srgbClr val="FFFFFF"/>
              </a:solidFill>
            </a:endParaRPr>
          </a:p>
        </p:txBody>
      </p:sp>
      <p:graphicFrame>
        <p:nvGraphicFramePr>
          <p:cNvPr id="53252" name="Object 18"/>
          <p:cNvGraphicFramePr>
            <a:graphicFrameLocks noGrp="1" noChangeAspect="1"/>
          </p:cNvGraphicFramePr>
          <p:nvPr>
            <p:ph sz="half" idx="2"/>
          </p:nvPr>
        </p:nvGraphicFramePr>
        <p:xfrm>
          <a:off x="2670175" y="5197475"/>
          <a:ext cx="42513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286402" imgH="1590751" progId="Excel.Sheet.8">
                  <p:embed/>
                </p:oleObj>
              </mc:Choice>
              <mc:Fallback>
                <p:oleObj name="Worksheet" r:id="rId3" imgW="4286402" imgH="1590751" progId="Excel.Shee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5197475"/>
                        <a:ext cx="4251325" cy="157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2743200" y="3429000"/>
          <a:ext cx="4114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19449" imgH="1295400" progId="Excel.Sheet.8">
                  <p:embed/>
                </p:oleObj>
              </mc:Choice>
              <mc:Fallback>
                <p:oleObj name="Worksheet" r:id="rId5" imgW="3819449" imgH="12954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41148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AutoShape 20"/>
          <p:cNvSpPr>
            <a:spLocks noChangeArrowheads="1"/>
          </p:cNvSpPr>
          <p:nvPr/>
        </p:nvSpPr>
        <p:spPr bwMode="auto">
          <a:xfrm>
            <a:off x="2057400" y="3886200"/>
            <a:ext cx="609600" cy="2438400"/>
          </a:xfrm>
          <a:prstGeom prst="curvedRightArrow">
            <a:avLst>
              <a:gd name="adj1" fmla="val 79833"/>
              <a:gd name="adj2" fmla="val 159944"/>
              <a:gd name="adj3" fmla="val 5446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7FAF59-ADFE-42E9-ACC6-555633B8CE6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635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dirty="0"/>
              <a:t>Data Mining Function: Cluster Analysis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 dirty="0"/>
              <a:t>Unsupervised learning (i.e., Class label is unknown)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Group data to form new categories (i.e., clusters), e.g., cluster houses to find distribution patterns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Principle: Maximizing intra-class similarity &amp; minimizing interclass similarity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Many methods and applications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543800" cy="685800"/>
          </a:xfrm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algn="l" eaLnBrk="1" hangingPunct="1"/>
            <a:r>
              <a:rPr lang="en-US" altLang="en-US" sz="3200" b="1">
                <a:solidFill>
                  <a:schemeClr val="tx1"/>
                </a:solidFill>
                <a:latin typeface="Arial Black" pitchFamily="34" charset="0"/>
              </a:rPr>
              <a:t>Data Mining Functionalities (2)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838200"/>
            <a:ext cx="8458200" cy="2590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>
                <a:solidFill>
                  <a:srgbClr val="0070C0"/>
                </a:solidFill>
              </a:rPr>
              <a:t>Classification and Prediction</a:t>
            </a:r>
            <a:r>
              <a:rPr lang="en-US" altLang="en-US" sz="2100">
                <a:solidFill>
                  <a:srgbClr val="0070C0"/>
                </a:solidFill>
              </a:rPr>
              <a:t> 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Finding models that describe and distinguish classes or concepts for future prediction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 b="1">
                <a:solidFill>
                  <a:srgbClr val="C00000"/>
                </a:solidFill>
              </a:rPr>
              <a:t>Example:</a:t>
            </a:r>
            <a:r>
              <a:rPr lang="en-US" altLang="en-US" sz="1800">
                <a:solidFill>
                  <a:srgbClr val="C0000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Classify rainy/un-rainy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cities based on Temperature, Humidify and Windy Attributes.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Must have known the previous business decisions </a:t>
            </a:r>
            <a:r>
              <a:rPr lang="en-US" altLang="en-US" sz="1800">
                <a:solidFill>
                  <a:srgbClr val="0070C0"/>
                </a:solidFill>
              </a:rPr>
              <a:t>(</a:t>
            </a:r>
            <a:r>
              <a:rPr lang="en-US" altLang="en-US" sz="1800" b="1">
                <a:solidFill>
                  <a:srgbClr val="0070C0"/>
                </a:solidFill>
              </a:rPr>
              <a:t>Supervised Learning</a:t>
            </a:r>
            <a:r>
              <a:rPr lang="en-US" altLang="en-US" sz="1800">
                <a:solidFill>
                  <a:srgbClr val="0070C0"/>
                </a:solidFill>
              </a:rPr>
              <a:t>).</a:t>
            </a:r>
          </a:p>
        </p:txBody>
      </p:sp>
      <p:graphicFrame>
        <p:nvGraphicFramePr>
          <p:cNvPr id="57348" name="Object 4"/>
          <p:cNvGraphicFramePr>
            <a:graphicFrameLocks noGrp="1"/>
          </p:cNvGraphicFramePr>
          <p:nvPr>
            <p:ph sz="quarter" idx="2"/>
          </p:nvPr>
        </p:nvGraphicFramePr>
        <p:xfrm>
          <a:off x="847725" y="3429000"/>
          <a:ext cx="48577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039051" imgH="2428951" progId="Excel.Sheet.8">
                  <p:embed/>
                </p:oleObj>
              </mc:Choice>
              <mc:Fallback>
                <p:oleObj name="Worksheet" r:id="rId3" imgW="7039051" imgH="2428951" progId="Excel.Shee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3429000"/>
                        <a:ext cx="48577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8"/>
          <p:cNvGraphicFramePr>
            <a:graphicFrameLocks noGrp="1"/>
          </p:cNvGraphicFramePr>
          <p:nvPr>
            <p:ph sz="quarter" idx="3"/>
          </p:nvPr>
        </p:nvGraphicFramePr>
        <p:xfrm>
          <a:off x="4648200" y="5981700"/>
          <a:ext cx="3810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7057949" imgH="1057351" progId="Excel.Sheet.8">
                  <p:embed/>
                </p:oleObj>
              </mc:Choice>
              <mc:Fallback>
                <p:oleObj name="Worksheet" r:id="rId5" imgW="7057949" imgH="1057351" progId="Excel.Shee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981700"/>
                        <a:ext cx="3810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6096000" y="3824288"/>
            <a:ext cx="2895600" cy="1204912"/>
          </a:xfrm>
          <a:prstGeom prst="rect">
            <a:avLst/>
          </a:prstGeom>
          <a:solidFill>
            <a:srgbClr val="C9C9DB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</a:pPr>
            <a:r>
              <a:rPr lang="en-US" altLang="en-US" sz="1600" b="1">
                <a:latin typeface="Arial" charset="0"/>
              </a:rPr>
              <a:t>Rule</a:t>
            </a:r>
          </a:p>
          <a:p>
            <a:pPr marL="292100" indent="-292100">
              <a:spcBef>
                <a:spcPct val="50000"/>
              </a:spcBef>
              <a:buFontTx/>
              <a:buChar char="•"/>
            </a:pPr>
            <a:r>
              <a:rPr lang="en-US" altLang="en-US" sz="1600" b="1">
                <a:latin typeface="Arial" charset="0"/>
              </a:rPr>
              <a:t>If </a:t>
            </a:r>
            <a:r>
              <a:rPr lang="en-US" altLang="en-US" sz="1600" b="1">
                <a:solidFill>
                  <a:schemeClr val="tx2"/>
                </a:solidFill>
                <a:latin typeface="Arial" charset="0"/>
              </a:rPr>
              <a:t>Temperature = Hot</a:t>
            </a:r>
            <a:r>
              <a:rPr lang="en-US" altLang="en-US" sz="1600" b="1">
                <a:latin typeface="Arial" charset="0"/>
              </a:rPr>
              <a:t> &amp; </a:t>
            </a:r>
            <a:r>
              <a:rPr lang="en-US" altLang="en-US" sz="1600" b="1">
                <a:solidFill>
                  <a:schemeClr val="tx2"/>
                </a:solidFill>
                <a:latin typeface="Arial" charset="0"/>
              </a:rPr>
              <a:t>Humidity = High</a:t>
            </a:r>
            <a:r>
              <a:rPr lang="en-US" altLang="en-US" sz="1600" b="1">
                <a:latin typeface="Arial" charset="0"/>
              </a:rPr>
              <a:t> then </a:t>
            </a:r>
            <a:r>
              <a:rPr lang="en-US" altLang="en-US" sz="1600" b="1">
                <a:solidFill>
                  <a:srgbClr val="000099"/>
                </a:solidFill>
                <a:latin typeface="Arial" charset="0"/>
              </a:rPr>
              <a:t>Rain = Yes.</a:t>
            </a:r>
          </a:p>
        </p:txBody>
      </p:sp>
      <p:sp>
        <p:nvSpPr>
          <p:cNvPr id="57351" name="AutoShape 1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429000" y="5927725"/>
            <a:ext cx="838200" cy="685800"/>
          </a:xfrm>
          <a:prstGeom prst="actionButtonHelp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7352" name="Text Box 11"/>
          <p:cNvSpPr txBox="1">
            <a:spLocks noChangeArrowheads="1"/>
          </p:cNvSpPr>
          <p:nvPr/>
        </p:nvSpPr>
        <p:spPr bwMode="auto">
          <a:xfrm>
            <a:off x="838200" y="5927725"/>
            <a:ext cx="2590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70C0"/>
                </a:solidFill>
                <a:latin typeface="Tahoma" pitchFamily="34" charset="0"/>
              </a:rPr>
              <a:t>Prediction of unknown record</a:t>
            </a:r>
          </a:p>
        </p:txBody>
      </p:sp>
      <p:sp>
        <p:nvSpPr>
          <p:cNvPr id="57353" name="AutoShape 12"/>
          <p:cNvSpPr>
            <a:spLocks noChangeArrowheads="1"/>
          </p:cNvSpPr>
          <p:nvPr/>
        </p:nvSpPr>
        <p:spPr bwMode="auto">
          <a:xfrm>
            <a:off x="4953000" y="5105400"/>
            <a:ext cx="1981200" cy="762000"/>
          </a:xfrm>
          <a:prstGeom prst="curvedUpArrow">
            <a:avLst>
              <a:gd name="adj1" fmla="val 52000"/>
              <a:gd name="adj2" fmla="val 104000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838200"/>
            <a:ext cx="8458200" cy="1981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b="1">
                <a:solidFill>
                  <a:srgbClr val="0070C0"/>
                </a:solidFill>
              </a:rPr>
              <a:t>Cluster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Group data to form new classes </a:t>
            </a:r>
            <a:r>
              <a:rPr lang="en-US" altLang="en-US" sz="1800" b="1">
                <a:solidFill>
                  <a:srgbClr val="0070C0"/>
                </a:solidFill>
              </a:rPr>
              <a:t>based on un-labels class data</a:t>
            </a:r>
            <a:r>
              <a:rPr lang="en-US" altLang="en-US" sz="1800">
                <a:solidFill>
                  <a:srgbClr val="0070C0"/>
                </a:solidFill>
              </a:rPr>
              <a:t>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Business decisions are unknown </a:t>
            </a:r>
            <a:r>
              <a:rPr lang="en-US" altLang="en-US" sz="1800">
                <a:solidFill>
                  <a:srgbClr val="0070C0"/>
                </a:solidFill>
              </a:rPr>
              <a:t>(</a:t>
            </a:r>
            <a:r>
              <a:rPr lang="en-US" altLang="en-US" sz="1800" b="1">
                <a:solidFill>
                  <a:srgbClr val="0070C0"/>
                </a:solidFill>
              </a:rPr>
              <a:t>Also called unsupervised Learning</a:t>
            </a:r>
            <a:r>
              <a:rPr lang="en-US" altLang="en-US" sz="1800">
                <a:solidFill>
                  <a:srgbClr val="0070C0"/>
                </a:solidFill>
              </a:rPr>
              <a:t>).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 b="1">
                <a:solidFill>
                  <a:srgbClr val="C00000"/>
                </a:solidFill>
              </a:rPr>
              <a:t>Example:</a:t>
            </a:r>
            <a:r>
              <a:rPr lang="en-US" altLang="en-US" sz="1800">
                <a:solidFill>
                  <a:srgbClr val="C0000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Classify rainy/un-rainy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cities based on Temperature, Humidify and Windy Attributes.</a:t>
            </a:r>
            <a:endParaRPr lang="en-US" altLang="en-US" sz="1400"/>
          </a:p>
        </p:txBody>
      </p:sp>
      <p:graphicFrame>
        <p:nvGraphicFramePr>
          <p:cNvPr id="59395" name="Object 4"/>
          <p:cNvGraphicFramePr>
            <a:graphicFrameLocks noGrp="1"/>
          </p:cNvGraphicFramePr>
          <p:nvPr>
            <p:ph sz="half" idx="2"/>
          </p:nvPr>
        </p:nvGraphicFramePr>
        <p:xfrm>
          <a:off x="842963" y="2895600"/>
          <a:ext cx="46370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039051" imgH="2428951" progId="Excel.Sheet.8">
                  <p:embed/>
                </p:oleObj>
              </mc:Choice>
              <mc:Fallback>
                <p:oleObj name="Worksheet" r:id="rId3" imgW="7039051" imgH="2428951" progId="Excel.Shee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2895600"/>
                        <a:ext cx="46370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6"/>
          <p:cNvSpPr>
            <a:spLocks noChangeArrowheads="1"/>
          </p:cNvSpPr>
          <p:nvPr/>
        </p:nvSpPr>
        <p:spPr bwMode="auto">
          <a:xfrm>
            <a:off x="4191000" y="4800600"/>
            <a:ext cx="472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397" name="Oval 7"/>
          <p:cNvSpPr>
            <a:spLocks noChangeArrowheads="1"/>
          </p:cNvSpPr>
          <p:nvPr/>
        </p:nvSpPr>
        <p:spPr bwMode="auto">
          <a:xfrm>
            <a:off x="47244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398" name="Oval 8"/>
          <p:cNvSpPr>
            <a:spLocks noChangeArrowheads="1"/>
          </p:cNvSpPr>
          <p:nvPr/>
        </p:nvSpPr>
        <p:spPr bwMode="auto">
          <a:xfrm>
            <a:off x="48768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399" name="Oval 9"/>
          <p:cNvSpPr>
            <a:spLocks noChangeArrowheads="1"/>
          </p:cNvSpPr>
          <p:nvPr/>
        </p:nvSpPr>
        <p:spPr bwMode="auto">
          <a:xfrm>
            <a:off x="48768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0" name="Oval 10"/>
          <p:cNvSpPr>
            <a:spLocks noChangeArrowheads="1"/>
          </p:cNvSpPr>
          <p:nvPr/>
        </p:nvSpPr>
        <p:spPr bwMode="auto">
          <a:xfrm>
            <a:off x="50292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1" name="Oval 11"/>
          <p:cNvSpPr>
            <a:spLocks noChangeArrowheads="1"/>
          </p:cNvSpPr>
          <p:nvPr/>
        </p:nvSpPr>
        <p:spPr bwMode="auto">
          <a:xfrm>
            <a:off x="47244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2" name="Oval 12"/>
          <p:cNvSpPr>
            <a:spLocks noChangeArrowheads="1"/>
          </p:cNvSpPr>
          <p:nvPr/>
        </p:nvSpPr>
        <p:spPr bwMode="auto">
          <a:xfrm>
            <a:off x="48006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3" name="Oval 13"/>
          <p:cNvSpPr>
            <a:spLocks noChangeArrowheads="1"/>
          </p:cNvSpPr>
          <p:nvPr/>
        </p:nvSpPr>
        <p:spPr bwMode="auto">
          <a:xfrm>
            <a:off x="49530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4" name="Oval 14"/>
          <p:cNvSpPr>
            <a:spLocks noChangeArrowheads="1"/>
          </p:cNvSpPr>
          <p:nvPr/>
        </p:nvSpPr>
        <p:spPr bwMode="auto">
          <a:xfrm>
            <a:off x="55626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5" name="Oval 15"/>
          <p:cNvSpPr>
            <a:spLocks noChangeArrowheads="1"/>
          </p:cNvSpPr>
          <p:nvPr/>
        </p:nvSpPr>
        <p:spPr bwMode="auto">
          <a:xfrm>
            <a:off x="56388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6" name="Oval 16"/>
          <p:cNvSpPr>
            <a:spLocks noChangeArrowheads="1"/>
          </p:cNvSpPr>
          <p:nvPr/>
        </p:nvSpPr>
        <p:spPr bwMode="auto">
          <a:xfrm>
            <a:off x="54102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7" name="Oval 17"/>
          <p:cNvSpPr>
            <a:spLocks noChangeArrowheads="1"/>
          </p:cNvSpPr>
          <p:nvPr/>
        </p:nvSpPr>
        <p:spPr bwMode="auto">
          <a:xfrm>
            <a:off x="54864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8" name="Oval 18"/>
          <p:cNvSpPr>
            <a:spLocks noChangeArrowheads="1"/>
          </p:cNvSpPr>
          <p:nvPr/>
        </p:nvSpPr>
        <p:spPr bwMode="auto">
          <a:xfrm>
            <a:off x="55626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09" name="Oval 19"/>
          <p:cNvSpPr>
            <a:spLocks noChangeArrowheads="1"/>
          </p:cNvSpPr>
          <p:nvPr/>
        </p:nvSpPr>
        <p:spPr bwMode="auto">
          <a:xfrm>
            <a:off x="60198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0" name="Oval 20"/>
          <p:cNvSpPr>
            <a:spLocks noChangeArrowheads="1"/>
          </p:cNvSpPr>
          <p:nvPr/>
        </p:nvSpPr>
        <p:spPr bwMode="auto">
          <a:xfrm>
            <a:off x="61722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1" name="Oval 21"/>
          <p:cNvSpPr>
            <a:spLocks noChangeArrowheads="1"/>
          </p:cNvSpPr>
          <p:nvPr/>
        </p:nvSpPr>
        <p:spPr bwMode="auto">
          <a:xfrm>
            <a:off x="60198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2" name="Oval 22"/>
          <p:cNvSpPr>
            <a:spLocks noChangeArrowheads="1"/>
          </p:cNvSpPr>
          <p:nvPr/>
        </p:nvSpPr>
        <p:spPr bwMode="auto">
          <a:xfrm>
            <a:off x="58674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3" name="Oval 23"/>
          <p:cNvSpPr>
            <a:spLocks noChangeArrowheads="1"/>
          </p:cNvSpPr>
          <p:nvPr/>
        </p:nvSpPr>
        <p:spPr bwMode="auto">
          <a:xfrm>
            <a:off x="61722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4" name="Oval 24"/>
          <p:cNvSpPr>
            <a:spLocks noChangeArrowheads="1"/>
          </p:cNvSpPr>
          <p:nvPr/>
        </p:nvSpPr>
        <p:spPr bwMode="auto">
          <a:xfrm>
            <a:off x="59436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5" name="Oval 25"/>
          <p:cNvSpPr>
            <a:spLocks noChangeArrowheads="1"/>
          </p:cNvSpPr>
          <p:nvPr/>
        </p:nvSpPr>
        <p:spPr bwMode="auto">
          <a:xfrm>
            <a:off x="82296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6" name="Oval 26"/>
          <p:cNvSpPr>
            <a:spLocks noChangeArrowheads="1"/>
          </p:cNvSpPr>
          <p:nvPr/>
        </p:nvSpPr>
        <p:spPr bwMode="auto">
          <a:xfrm>
            <a:off x="82296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7" name="Oval 27"/>
          <p:cNvSpPr>
            <a:spLocks noChangeArrowheads="1"/>
          </p:cNvSpPr>
          <p:nvPr/>
        </p:nvSpPr>
        <p:spPr bwMode="auto">
          <a:xfrm>
            <a:off x="54102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8" name="Oval 28"/>
          <p:cNvSpPr>
            <a:spLocks noChangeArrowheads="1"/>
          </p:cNvSpPr>
          <p:nvPr/>
        </p:nvSpPr>
        <p:spPr bwMode="auto">
          <a:xfrm>
            <a:off x="56388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19" name="Oval 29"/>
          <p:cNvSpPr>
            <a:spLocks noChangeArrowheads="1"/>
          </p:cNvSpPr>
          <p:nvPr/>
        </p:nvSpPr>
        <p:spPr bwMode="auto">
          <a:xfrm>
            <a:off x="57912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0" name="Oval 30"/>
          <p:cNvSpPr>
            <a:spLocks noChangeArrowheads="1"/>
          </p:cNvSpPr>
          <p:nvPr/>
        </p:nvSpPr>
        <p:spPr bwMode="auto">
          <a:xfrm>
            <a:off x="56388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1" name="Oval 31"/>
          <p:cNvSpPr>
            <a:spLocks noChangeArrowheads="1"/>
          </p:cNvSpPr>
          <p:nvPr/>
        </p:nvSpPr>
        <p:spPr bwMode="auto">
          <a:xfrm>
            <a:off x="54864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2" name="Oval 32"/>
          <p:cNvSpPr>
            <a:spLocks noChangeArrowheads="1"/>
          </p:cNvSpPr>
          <p:nvPr/>
        </p:nvSpPr>
        <p:spPr bwMode="auto">
          <a:xfrm>
            <a:off x="5791200" y="640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3" name="Oval 33"/>
          <p:cNvSpPr>
            <a:spLocks noChangeArrowheads="1"/>
          </p:cNvSpPr>
          <p:nvPr/>
        </p:nvSpPr>
        <p:spPr bwMode="auto">
          <a:xfrm>
            <a:off x="5562600" y="640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4" name="Oval 34"/>
          <p:cNvSpPr>
            <a:spLocks noChangeArrowheads="1"/>
          </p:cNvSpPr>
          <p:nvPr/>
        </p:nvSpPr>
        <p:spPr bwMode="auto">
          <a:xfrm>
            <a:off x="61722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5" name="Oval 35"/>
          <p:cNvSpPr>
            <a:spLocks noChangeArrowheads="1"/>
          </p:cNvSpPr>
          <p:nvPr/>
        </p:nvSpPr>
        <p:spPr bwMode="auto">
          <a:xfrm>
            <a:off x="63246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6" name="Oval 36"/>
          <p:cNvSpPr>
            <a:spLocks noChangeArrowheads="1"/>
          </p:cNvSpPr>
          <p:nvPr/>
        </p:nvSpPr>
        <p:spPr bwMode="auto">
          <a:xfrm>
            <a:off x="61722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7" name="Oval 37"/>
          <p:cNvSpPr>
            <a:spLocks noChangeArrowheads="1"/>
          </p:cNvSpPr>
          <p:nvPr/>
        </p:nvSpPr>
        <p:spPr bwMode="auto">
          <a:xfrm>
            <a:off x="60198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8" name="Oval 38"/>
          <p:cNvSpPr>
            <a:spLocks noChangeArrowheads="1"/>
          </p:cNvSpPr>
          <p:nvPr/>
        </p:nvSpPr>
        <p:spPr bwMode="auto">
          <a:xfrm>
            <a:off x="63246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29" name="Oval 39"/>
          <p:cNvSpPr>
            <a:spLocks noChangeArrowheads="1"/>
          </p:cNvSpPr>
          <p:nvPr/>
        </p:nvSpPr>
        <p:spPr bwMode="auto">
          <a:xfrm>
            <a:off x="60960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0" name="Oval 40"/>
          <p:cNvSpPr>
            <a:spLocks noChangeArrowheads="1"/>
          </p:cNvSpPr>
          <p:nvPr/>
        </p:nvSpPr>
        <p:spPr bwMode="auto">
          <a:xfrm>
            <a:off x="61722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1" name="Oval 41"/>
          <p:cNvSpPr>
            <a:spLocks noChangeArrowheads="1"/>
          </p:cNvSpPr>
          <p:nvPr/>
        </p:nvSpPr>
        <p:spPr bwMode="auto">
          <a:xfrm>
            <a:off x="63246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2" name="Oval 42"/>
          <p:cNvSpPr>
            <a:spLocks noChangeArrowheads="1"/>
          </p:cNvSpPr>
          <p:nvPr/>
        </p:nvSpPr>
        <p:spPr bwMode="auto">
          <a:xfrm>
            <a:off x="6172200" y="5638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3" name="Oval 43"/>
          <p:cNvSpPr>
            <a:spLocks noChangeArrowheads="1"/>
          </p:cNvSpPr>
          <p:nvPr/>
        </p:nvSpPr>
        <p:spPr bwMode="auto">
          <a:xfrm>
            <a:off x="6019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4" name="Oval 44"/>
          <p:cNvSpPr>
            <a:spLocks noChangeArrowheads="1"/>
          </p:cNvSpPr>
          <p:nvPr/>
        </p:nvSpPr>
        <p:spPr bwMode="auto">
          <a:xfrm>
            <a:off x="63246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5" name="Oval 45"/>
          <p:cNvSpPr>
            <a:spLocks noChangeArrowheads="1"/>
          </p:cNvSpPr>
          <p:nvPr/>
        </p:nvSpPr>
        <p:spPr bwMode="auto">
          <a:xfrm>
            <a:off x="60960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6" name="Oval 46"/>
          <p:cNvSpPr>
            <a:spLocks noChangeArrowheads="1"/>
          </p:cNvSpPr>
          <p:nvPr/>
        </p:nvSpPr>
        <p:spPr bwMode="auto">
          <a:xfrm>
            <a:off x="57912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7" name="Oval 47"/>
          <p:cNvSpPr>
            <a:spLocks noChangeArrowheads="1"/>
          </p:cNvSpPr>
          <p:nvPr/>
        </p:nvSpPr>
        <p:spPr bwMode="auto">
          <a:xfrm>
            <a:off x="59436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8" name="Oval 48"/>
          <p:cNvSpPr>
            <a:spLocks noChangeArrowheads="1"/>
          </p:cNvSpPr>
          <p:nvPr/>
        </p:nvSpPr>
        <p:spPr bwMode="auto">
          <a:xfrm>
            <a:off x="5791200" y="5638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39" name="Oval 49"/>
          <p:cNvSpPr>
            <a:spLocks noChangeArrowheads="1"/>
          </p:cNvSpPr>
          <p:nvPr/>
        </p:nvSpPr>
        <p:spPr bwMode="auto">
          <a:xfrm>
            <a:off x="5638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0" name="Oval 50"/>
          <p:cNvSpPr>
            <a:spLocks noChangeArrowheads="1"/>
          </p:cNvSpPr>
          <p:nvPr/>
        </p:nvSpPr>
        <p:spPr bwMode="auto">
          <a:xfrm>
            <a:off x="59436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1" name="Oval 51"/>
          <p:cNvSpPr>
            <a:spLocks noChangeArrowheads="1"/>
          </p:cNvSpPr>
          <p:nvPr/>
        </p:nvSpPr>
        <p:spPr bwMode="auto">
          <a:xfrm>
            <a:off x="57150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2" name="Oval 52"/>
          <p:cNvSpPr>
            <a:spLocks noChangeArrowheads="1"/>
          </p:cNvSpPr>
          <p:nvPr/>
        </p:nvSpPr>
        <p:spPr bwMode="auto">
          <a:xfrm>
            <a:off x="53340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3" name="Oval 53"/>
          <p:cNvSpPr>
            <a:spLocks noChangeArrowheads="1"/>
          </p:cNvSpPr>
          <p:nvPr/>
        </p:nvSpPr>
        <p:spPr bwMode="auto">
          <a:xfrm>
            <a:off x="54864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4" name="Oval 54"/>
          <p:cNvSpPr>
            <a:spLocks noChangeArrowheads="1"/>
          </p:cNvSpPr>
          <p:nvPr/>
        </p:nvSpPr>
        <p:spPr bwMode="auto">
          <a:xfrm>
            <a:off x="5334000" y="640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5" name="Oval 55"/>
          <p:cNvSpPr>
            <a:spLocks noChangeArrowheads="1"/>
          </p:cNvSpPr>
          <p:nvPr/>
        </p:nvSpPr>
        <p:spPr bwMode="auto">
          <a:xfrm>
            <a:off x="51816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6" name="Oval 56"/>
          <p:cNvSpPr>
            <a:spLocks noChangeArrowheads="1"/>
          </p:cNvSpPr>
          <p:nvPr/>
        </p:nvSpPr>
        <p:spPr bwMode="auto">
          <a:xfrm>
            <a:off x="5486400" y="647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7" name="Oval 57"/>
          <p:cNvSpPr>
            <a:spLocks noChangeArrowheads="1"/>
          </p:cNvSpPr>
          <p:nvPr/>
        </p:nvSpPr>
        <p:spPr bwMode="auto">
          <a:xfrm>
            <a:off x="5257800" y="647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8" name="Oval 58"/>
          <p:cNvSpPr>
            <a:spLocks noChangeArrowheads="1"/>
          </p:cNvSpPr>
          <p:nvPr/>
        </p:nvSpPr>
        <p:spPr bwMode="auto">
          <a:xfrm>
            <a:off x="5334000" y="6019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49" name="Oval 59"/>
          <p:cNvSpPr>
            <a:spLocks noChangeArrowheads="1"/>
          </p:cNvSpPr>
          <p:nvPr/>
        </p:nvSpPr>
        <p:spPr bwMode="auto">
          <a:xfrm>
            <a:off x="54864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0" name="Oval 60"/>
          <p:cNvSpPr>
            <a:spLocks noChangeArrowheads="1"/>
          </p:cNvSpPr>
          <p:nvPr/>
        </p:nvSpPr>
        <p:spPr bwMode="auto">
          <a:xfrm>
            <a:off x="53340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1" name="Oval 61"/>
          <p:cNvSpPr>
            <a:spLocks noChangeArrowheads="1"/>
          </p:cNvSpPr>
          <p:nvPr/>
        </p:nvSpPr>
        <p:spPr bwMode="auto">
          <a:xfrm>
            <a:off x="51816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2" name="Oval 62"/>
          <p:cNvSpPr>
            <a:spLocks noChangeArrowheads="1"/>
          </p:cNvSpPr>
          <p:nvPr/>
        </p:nvSpPr>
        <p:spPr bwMode="auto">
          <a:xfrm>
            <a:off x="54864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3" name="Oval 63"/>
          <p:cNvSpPr>
            <a:spLocks noChangeArrowheads="1"/>
          </p:cNvSpPr>
          <p:nvPr/>
        </p:nvSpPr>
        <p:spPr bwMode="auto">
          <a:xfrm>
            <a:off x="52578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4" name="Oval 64"/>
          <p:cNvSpPr>
            <a:spLocks noChangeArrowheads="1"/>
          </p:cNvSpPr>
          <p:nvPr/>
        </p:nvSpPr>
        <p:spPr bwMode="auto">
          <a:xfrm>
            <a:off x="49530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5" name="Oval 65"/>
          <p:cNvSpPr>
            <a:spLocks noChangeArrowheads="1"/>
          </p:cNvSpPr>
          <p:nvPr/>
        </p:nvSpPr>
        <p:spPr bwMode="auto">
          <a:xfrm>
            <a:off x="51054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6" name="Oval 66"/>
          <p:cNvSpPr>
            <a:spLocks noChangeArrowheads="1"/>
          </p:cNvSpPr>
          <p:nvPr/>
        </p:nvSpPr>
        <p:spPr bwMode="auto">
          <a:xfrm>
            <a:off x="49530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7" name="Oval 67"/>
          <p:cNvSpPr>
            <a:spLocks noChangeArrowheads="1"/>
          </p:cNvSpPr>
          <p:nvPr/>
        </p:nvSpPr>
        <p:spPr bwMode="auto">
          <a:xfrm>
            <a:off x="48006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8" name="Oval 68"/>
          <p:cNvSpPr>
            <a:spLocks noChangeArrowheads="1"/>
          </p:cNvSpPr>
          <p:nvPr/>
        </p:nvSpPr>
        <p:spPr bwMode="auto">
          <a:xfrm>
            <a:off x="51054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59" name="Oval 69"/>
          <p:cNvSpPr>
            <a:spLocks noChangeArrowheads="1"/>
          </p:cNvSpPr>
          <p:nvPr/>
        </p:nvSpPr>
        <p:spPr bwMode="auto">
          <a:xfrm>
            <a:off x="4876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0" name="Oval 70"/>
          <p:cNvSpPr>
            <a:spLocks noChangeArrowheads="1"/>
          </p:cNvSpPr>
          <p:nvPr/>
        </p:nvSpPr>
        <p:spPr bwMode="auto">
          <a:xfrm>
            <a:off x="47244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1" name="Oval 71"/>
          <p:cNvSpPr>
            <a:spLocks noChangeArrowheads="1"/>
          </p:cNvSpPr>
          <p:nvPr/>
        </p:nvSpPr>
        <p:spPr bwMode="auto">
          <a:xfrm>
            <a:off x="4876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2" name="Oval 72"/>
          <p:cNvSpPr>
            <a:spLocks noChangeArrowheads="1"/>
          </p:cNvSpPr>
          <p:nvPr/>
        </p:nvSpPr>
        <p:spPr bwMode="auto">
          <a:xfrm>
            <a:off x="4724400" y="5638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3" name="Oval 73"/>
          <p:cNvSpPr>
            <a:spLocks noChangeArrowheads="1"/>
          </p:cNvSpPr>
          <p:nvPr/>
        </p:nvSpPr>
        <p:spPr bwMode="auto">
          <a:xfrm>
            <a:off x="45720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4" name="Oval 74"/>
          <p:cNvSpPr>
            <a:spLocks noChangeArrowheads="1"/>
          </p:cNvSpPr>
          <p:nvPr/>
        </p:nvSpPr>
        <p:spPr bwMode="auto">
          <a:xfrm>
            <a:off x="48768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5" name="Oval 75"/>
          <p:cNvSpPr>
            <a:spLocks noChangeArrowheads="1"/>
          </p:cNvSpPr>
          <p:nvPr/>
        </p:nvSpPr>
        <p:spPr bwMode="auto">
          <a:xfrm>
            <a:off x="4648200" y="571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6" name="Oval 76"/>
          <p:cNvSpPr>
            <a:spLocks noChangeArrowheads="1"/>
          </p:cNvSpPr>
          <p:nvPr/>
        </p:nvSpPr>
        <p:spPr bwMode="auto">
          <a:xfrm>
            <a:off x="46482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7" name="Oval 77"/>
          <p:cNvSpPr>
            <a:spLocks noChangeArrowheads="1"/>
          </p:cNvSpPr>
          <p:nvPr/>
        </p:nvSpPr>
        <p:spPr bwMode="auto">
          <a:xfrm>
            <a:off x="48006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8" name="Oval 78"/>
          <p:cNvSpPr>
            <a:spLocks noChangeArrowheads="1"/>
          </p:cNvSpPr>
          <p:nvPr/>
        </p:nvSpPr>
        <p:spPr bwMode="auto">
          <a:xfrm>
            <a:off x="46482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69" name="Oval 79"/>
          <p:cNvSpPr>
            <a:spLocks noChangeArrowheads="1"/>
          </p:cNvSpPr>
          <p:nvPr/>
        </p:nvSpPr>
        <p:spPr bwMode="auto">
          <a:xfrm>
            <a:off x="44958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0" name="Oval 80"/>
          <p:cNvSpPr>
            <a:spLocks noChangeArrowheads="1"/>
          </p:cNvSpPr>
          <p:nvPr/>
        </p:nvSpPr>
        <p:spPr bwMode="auto">
          <a:xfrm>
            <a:off x="48006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1" name="Oval 81"/>
          <p:cNvSpPr>
            <a:spLocks noChangeArrowheads="1"/>
          </p:cNvSpPr>
          <p:nvPr/>
        </p:nvSpPr>
        <p:spPr bwMode="auto">
          <a:xfrm>
            <a:off x="45720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2" name="Oval 82"/>
          <p:cNvSpPr>
            <a:spLocks noChangeArrowheads="1"/>
          </p:cNvSpPr>
          <p:nvPr/>
        </p:nvSpPr>
        <p:spPr bwMode="auto">
          <a:xfrm>
            <a:off x="49530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3" name="Oval 83"/>
          <p:cNvSpPr>
            <a:spLocks noChangeArrowheads="1"/>
          </p:cNvSpPr>
          <p:nvPr/>
        </p:nvSpPr>
        <p:spPr bwMode="auto">
          <a:xfrm>
            <a:off x="51054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4" name="Oval 84"/>
          <p:cNvSpPr>
            <a:spLocks noChangeArrowheads="1"/>
          </p:cNvSpPr>
          <p:nvPr/>
        </p:nvSpPr>
        <p:spPr bwMode="auto">
          <a:xfrm>
            <a:off x="49530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5" name="Oval 85"/>
          <p:cNvSpPr>
            <a:spLocks noChangeArrowheads="1"/>
          </p:cNvSpPr>
          <p:nvPr/>
        </p:nvSpPr>
        <p:spPr bwMode="auto">
          <a:xfrm>
            <a:off x="48006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6" name="Oval 86"/>
          <p:cNvSpPr>
            <a:spLocks noChangeArrowheads="1"/>
          </p:cNvSpPr>
          <p:nvPr/>
        </p:nvSpPr>
        <p:spPr bwMode="auto">
          <a:xfrm>
            <a:off x="51054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7" name="Oval 87"/>
          <p:cNvSpPr>
            <a:spLocks noChangeArrowheads="1"/>
          </p:cNvSpPr>
          <p:nvPr/>
        </p:nvSpPr>
        <p:spPr bwMode="auto">
          <a:xfrm>
            <a:off x="48768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8" name="AutoShape 88"/>
          <p:cNvSpPr>
            <a:spLocks noChangeArrowheads="1"/>
          </p:cNvSpPr>
          <p:nvPr/>
        </p:nvSpPr>
        <p:spPr bwMode="auto">
          <a:xfrm rot="-1691303">
            <a:off x="2819400" y="4648200"/>
            <a:ext cx="1219200" cy="1752600"/>
          </a:xfrm>
          <a:prstGeom prst="curvedRightArrow">
            <a:avLst>
              <a:gd name="adj1" fmla="val 28750"/>
              <a:gd name="adj2" fmla="val 57500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79" name="Oval 89"/>
          <p:cNvSpPr>
            <a:spLocks noChangeArrowheads="1"/>
          </p:cNvSpPr>
          <p:nvPr/>
        </p:nvSpPr>
        <p:spPr bwMode="auto">
          <a:xfrm>
            <a:off x="4267200" y="48768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80" name="Oval 91"/>
          <p:cNvSpPr>
            <a:spLocks noChangeArrowheads="1"/>
          </p:cNvSpPr>
          <p:nvPr/>
        </p:nvSpPr>
        <p:spPr bwMode="auto">
          <a:xfrm>
            <a:off x="5486400" y="48768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81" name="Oval 92"/>
          <p:cNvSpPr>
            <a:spLocks noChangeArrowheads="1"/>
          </p:cNvSpPr>
          <p:nvPr/>
        </p:nvSpPr>
        <p:spPr bwMode="auto">
          <a:xfrm>
            <a:off x="4953000" y="5715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9482" name="Line 93"/>
          <p:cNvSpPr>
            <a:spLocks noChangeShapeType="1"/>
          </p:cNvSpPr>
          <p:nvPr/>
        </p:nvSpPr>
        <p:spPr bwMode="auto">
          <a:xfrm flipV="1">
            <a:off x="5181600" y="3352800"/>
            <a:ext cx="1143000" cy="16764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9483" name="Line 94"/>
          <p:cNvSpPr>
            <a:spLocks noChangeShapeType="1"/>
          </p:cNvSpPr>
          <p:nvPr/>
        </p:nvSpPr>
        <p:spPr bwMode="auto">
          <a:xfrm flipV="1">
            <a:off x="6248400" y="3429000"/>
            <a:ext cx="228600" cy="1524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9484" name="Line 95"/>
          <p:cNvSpPr>
            <a:spLocks noChangeShapeType="1"/>
          </p:cNvSpPr>
          <p:nvPr/>
        </p:nvSpPr>
        <p:spPr bwMode="auto">
          <a:xfrm flipV="1">
            <a:off x="5410200" y="3352800"/>
            <a:ext cx="990600" cy="2362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9485" name="Text Box 96"/>
          <p:cNvSpPr txBox="1">
            <a:spLocks noChangeArrowheads="1"/>
          </p:cNvSpPr>
          <p:nvPr/>
        </p:nvSpPr>
        <p:spPr bwMode="auto">
          <a:xfrm>
            <a:off x="6324600" y="2819400"/>
            <a:ext cx="1447800" cy="46672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0066"/>
                </a:solidFill>
              </a:rPr>
              <a:t>3 clusters</a:t>
            </a:r>
          </a:p>
        </p:txBody>
      </p:sp>
      <p:sp>
        <p:nvSpPr>
          <p:cNvPr id="95" name="Rectangle 2"/>
          <p:cNvSpPr txBox="1">
            <a:spLocks noChangeArrowheads="1"/>
          </p:cNvSpPr>
          <p:nvPr/>
        </p:nvSpPr>
        <p:spPr bwMode="auto">
          <a:xfrm>
            <a:off x="533400" y="152400"/>
            <a:ext cx="7543800" cy="685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sz="3200" b="1" kern="0">
                <a:latin typeface="Arial Black" pitchFamily="34" charset="0"/>
                <a:ea typeface="+mj-ea"/>
                <a:cs typeface="+mj-cs"/>
              </a:rPr>
              <a:t>Data Mining Functionalities (2)</a:t>
            </a:r>
            <a:endParaRPr lang="en-US" sz="3200" b="1" kern="0" dirty="0"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8229600" cy="2362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b="1">
                <a:solidFill>
                  <a:srgbClr val="0070C0"/>
                </a:solidFill>
              </a:rPr>
              <a:t>Outlier Analysis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 b="1">
                <a:solidFill>
                  <a:srgbClr val="0070C0"/>
                </a:solidFill>
              </a:rPr>
              <a:t>Outlier: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/>
              <a:t>A data object that does not comply with the general behavior of the data.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It can be considered as noise or exception but is quite useful in fraud detection, rare events analysis</a:t>
            </a:r>
          </a:p>
        </p:txBody>
      </p:sp>
      <p:graphicFrame>
        <p:nvGraphicFramePr>
          <p:cNvPr id="61443" name="Object 2143"/>
          <p:cNvGraphicFramePr>
            <a:graphicFrameLocks/>
          </p:cNvGraphicFramePr>
          <p:nvPr/>
        </p:nvGraphicFramePr>
        <p:xfrm>
          <a:off x="838200" y="3048000"/>
          <a:ext cx="4800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039051" imgH="2428951" progId="Excel.Sheet.8">
                  <p:embed/>
                </p:oleObj>
              </mc:Choice>
              <mc:Fallback>
                <p:oleObj name="Worksheet" r:id="rId3" imgW="7039051" imgH="2428951" progId="Excel.Sheet.8">
                  <p:embed/>
                  <p:pic>
                    <p:nvPicPr>
                      <p:cNvPr id="0" name="Object 214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8000"/>
                        <a:ext cx="48006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2144"/>
          <p:cNvSpPr>
            <a:spLocks noChangeArrowheads="1"/>
          </p:cNvSpPr>
          <p:nvPr/>
        </p:nvSpPr>
        <p:spPr bwMode="auto">
          <a:xfrm>
            <a:off x="4267200" y="4648200"/>
            <a:ext cx="472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45" name="Oval 2145"/>
          <p:cNvSpPr>
            <a:spLocks noChangeArrowheads="1"/>
          </p:cNvSpPr>
          <p:nvPr/>
        </p:nvSpPr>
        <p:spPr bwMode="auto">
          <a:xfrm>
            <a:off x="48006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46" name="Oval 2146"/>
          <p:cNvSpPr>
            <a:spLocks noChangeArrowheads="1"/>
          </p:cNvSpPr>
          <p:nvPr/>
        </p:nvSpPr>
        <p:spPr bwMode="auto">
          <a:xfrm>
            <a:off x="49530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47" name="Oval 2147"/>
          <p:cNvSpPr>
            <a:spLocks noChangeArrowheads="1"/>
          </p:cNvSpPr>
          <p:nvPr/>
        </p:nvSpPr>
        <p:spPr bwMode="auto">
          <a:xfrm>
            <a:off x="49530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48" name="Oval 2148"/>
          <p:cNvSpPr>
            <a:spLocks noChangeArrowheads="1"/>
          </p:cNvSpPr>
          <p:nvPr/>
        </p:nvSpPr>
        <p:spPr bwMode="auto">
          <a:xfrm>
            <a:off x="51054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49" name="Oval 2149"/>
          <p:cNvSpPr>
            <a:spLocks noChangeArrowheads="1"/>
          </p:cNvSpPr>
          <p:nvPr/>
        </p:nvSpPr>
        <p:spPr bwMode="auto">
          <a:xfrm>
            <a:off x="48006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0" name="Oval 2150"/>
          <p:cNvSpPr>
            <a:spLocks noChangeArrowheads="1"/>
          </p:cNvSpPr>
          <p:nvPr/>
        </p:nvSpPr>
        <p:spPr bwMode="auto">
          <a:xfrm>
            <a:off x="48768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1" name="Oval 2151"/>
          <p:cNvSpPr>
            <a:spLocks noChangeArrowheads="1"/>
          </p:cNvSpPr>
          <p:nvPr/>
        </p:nvSpPr>
        <p:spPr bwMode="auto">
          <a:xfrm>
            <a:off x="50292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2" name="Oval 2152"/>
          <p:cNvSpPr>
            <a:spLocks noChangeArrowheads="1"/>
          </p:cNvSpPr>
          <p:nvPr/>
        </p:nvSpPr>
        <p:spPr bwMode="auto">
          <a:xfrm>
            <a:off x="5638800" y="5943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3" name="Oval 2153"/>
          <p:cNvSpPr>
            <a:spLocks noChangeArrowheads="1"/>
          </p:cNvSpPr>
          <p:nvPr/>
        </p:nvSpPr>
        <p:spPr bwMode="auto">
          <a:xfrm>
            <a:off x="5715000" y="6019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4" name="Oval 2154"/>
          <p:cNvSpPr>
            <a:spLocks noChangeArrowheads="1"/>
          </p:cNvSpPr>
          <p:nvPr/>
        </p:nvSpPr>
        <p:spPr bwMode="auto">
          <a:xfrm>
            <a:off x="5486400" y="5943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5" name="Oval 2155"/>
          <p:cNvSpPr>
            <a:spLocks noChangeArrowheads="1"/>
          </p:cNvSpPr>
          <p:nvPr/>
        </p:nvSpPr>
        <p:spPr bwMode="auto">
          <a:xfrm>
            <a:off x="5562600" y="6019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6" name="Oval 2156"/>
          <p:cNvSpPr>
            <a:spLocks noChangeArrowheads="1"/>
          </p:cNvSpPr>
          <p:nvPr/>
        </p:nvSpPr>
        <p:spPr bwMode="auto">
          <a:xfrm>
            <a:off x="56388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7" name="Oval 2157"/>
          <p:cNvSpPr>
            <a:spLocks noChangeArrowheads="1"/>
          </p:cNvSpPr>
          <p:nvPr/>
        </p:nvSpPr>
        <p:spPr bwMode="auto">
          <a:xfrm>
            <a:off x="60960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8" name="Oval 2158"/>
          <p:cNvSpPr>
            <a:spLocks noChangeArrowheads="1"/>
          </p:cNvSpPr>
          <p:nvPr/>
        </p:nvSpPr>
        <p:spPr bwMode="auto">
          <a:xfrm>
            <a:off x="62484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59" name="Oval 2159"/>
          <p:cNvSpPr>
            <a:spLocks noChangeArrowheads="1"/>
          </p:cNvSpPr>
          <p:nvPr/>
        </p:nvSpPr>
        <p:spPr bwMode="auto">
          <a:xfrm>
            <a:off x="60960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0" name="Oval 2160"/>
          <p:cNvSpPr>
            <a:spLocks noChangeArrowheads="1"/>
          </p:cNvSpPr>
          <p:nvPr/>
        </p:nvSpPr>
        <p:spPr bwMode="auto">
          <a:xfrm>
            <a:off x="59436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1" name="Oval 2161"/>
          <p:cNvSpPr>
            <a:spLocks noChangeArrowheads="1"/>
          </p:cNvSpPr>
          <p:nvPr/>
        </p:nvSpPr>
        <p:spPr bwMode="auto">
          <a:xfrm>
            <a:off x="62484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2" name="Oval 2162"/>
          <p:cNvSpPr>
            <a:spLocks noChangeArrowheads="1"/>
          </p:cNvSpPr>
          <p:nvPr/>
        </p:nvSpPr>
        <p:spPr bwMode="auto">
          <a:xfrm>
            <a:off x="60198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3" name="Oval 2163"/>
          <p:cNvSpPr>
            <a:spLocks noChangeArrowheads="1"/>
          </p:cNvSpPr>
          <p:nvPr/>
        </p:nvSpPr>
        <p:spPr bwMode="auto">
          <a:xfrm>
            <a:off x="83058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4" name="Oval 2164"/>
          <p:cNvSpPr>
            <a:spLocks noChangeArrowheads="1"/>
          </p:cNvSpPr>
          <p:nvPr/>
        </p:nvSpPr>
        <p:spPr bwMode="auto">
          <a:xfrm>
            <a:off x="8305800" y="640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5" name="Oval 2165"/>
          <p:cNvSpPr>
            <a:spLocks noChangeArrowheads="1"/>
          </p:cNvSpPr>
          <p:nvPr/>
        </p:nvSpPr>
        <p:spPr bwMode="auto">
          <a:xfrm>
            <a:off x="54864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6" name="Oval 2166"/>
          <p:cNvSpPr>
            <a:spLocks noChangeArrowheads="1"/>
          </p:cNvSpPr>
          <p:nvPr/>
        </p:nvSpPr>
        <p:spPr bwMode="auto">
          <a:xfrm>
            <a:off x="5715000" y="6019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7" name="Oval 2167"/>
          <p:cNvSpPr>
            <a:spLocks noChangeArrowheads="1"/>
          </p:cNvSpPr>
          <p:nvPr/>
        </p:nvSpPr>
        <p:spPr bwMode="auto">
          <a:xfrm>
            <a:off x="58674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8" name="Oval 2168"/>
          <p:cNvSpPr>
            <a:spLocks noChangeArrowheads="1"/>
          </p:cNvSpPr>
          <p:nvPr/>
        </p:nvSpPr>
        <p:spPr bwMode="auto">
          <a:xfrm>
            <a:off x="57150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69" name="Oval 2169"/>
          <p:cNvSpPr>
            <a:spLocks noChangeArrowheads="1"/>
          </p:cNvSpPr>
          <p:nvPr/>
        </p:nvSpPr>
        <p:spPr bwMode="auto">
          <a:xfrm>
            <a:off x="55626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0" name="Oval 2170"/>
          <p:cNvSpPr>
            <a:spLocks noChangeArrowheads="1"/>
          </p:cNvSpPr>
          <p:nvPr/>
        </p:nvSpPr>
        <p:spPr bwMode="auto">
          <a:xfrm>
            <a:off x="58674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1" name="Oval 2171"/>
          <p:cNvSpPr>
            <a:spLocks noChangeArrowheads="1"/>
          </p:cNvSpPr>
          <p:nvPr/>
        </p:nvSpPr>
        <p:spPr bwMode="auto">
          <a:xfrm>
            <a:off x="56388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2" name="Oval 2172"/>
          <p:cNvSpPr>
            <a:spLocks noChangeArrowheads="1"/>
          </p:cNvSpPr>
          <p:nvPr/>
        </p:nvSpPr>
        <p:spPr bwMode="auto">
          <a:xfrm>
            <a:off x="62484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3" name="Oval 2173"/>
          <p:cNvSpPr>
            <a:spLocks noChangeArrowheads="1"/>
          </p:cNvSpPr>
          <p:nvPr/>
        </p:nvSpPr>
        <p:spPr bwMode="auto">
          <a:xfrm>
            <a:off x="64008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4" name="Oval 2174"/>
          <p:cNvSpPr>
            <a:spLocks noChangeArrowheads="1"/>
          </p:cNvSpPr>
          <p:nvPr/>
        </p:nvSpPr>
        <p:spPr bwMode="auto">
          <a:xfrm>
            <a:off x="62484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5" name="Oval 2175"/>
          <p:cNvSpPr>
            <a:spLocks noChangeArrowheads="1"/>
          </p:cNvSpPr>
          <p:nvPr/>
        </p:nvSpPr>
        <p:spPr bwMode="auto">
          <a:xfrm>
            <a:off x="60960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6" name="Oval 2176"/>
          <p:cNvSpPr>
            <a:spLocks noChangeArrowheads="1"/>
          </p:cNvSpPr>
          <p:nvPr/>
        </p:nvSpPr>
        <p:spPr bwMode="auto">
          <a:xfrm>
            <a:off x="64008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7" name="Oval 2177"/>
          <p:cNvSpPr>
            <a:spLocks noChangeArrowheads="1"/>
          </p:cNvSpPr>
          <p:nvPr/>
        </p:nvSpPr>
        <p:spPr bwMode="auto">
          <a:xfrm>
            <a:off x="61722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8" name="Oval 2178"/>
          <p:cNvSpPr>
            <a:spLocks noChangeArrowheads="1"/>
          </p:cNvSpPr>
          <p:nvPr/>
        </p:nvSpPr>
        <p:spPr bwMode="auto">
          <a:xfrm>
            <a:off x="62484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79" name="Oval 2179"/>
          <p:cNvSpPr>
            <a:spLocks noChangeArrowheads="1"/>
          </p:cNvSpPr>
          <p:nvPr/>
        </p:nvSpPr>
        <p:spPr bwMode="auto">
          <a:xfrm>
            <a:off x="64008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0" name="Oval 2180"/>
          <p:cNvSpPr>
            <a:spLocks noChangeArrowheads="1"/>
          </p:cNvSpPr>
          <p:nvPr/>
        </p:nvSpPr>
        <p:spPr bwMode="auto">
          <a:xfrm>
            <a:off x="62484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1" name="Oval 2181"/>
          <p:cNvSpPr>
            <a:spLocks noChangeArrowheads="1"/>
          </p:cNvSpPr>
          <p:nvPr/>
        </p:nvSpPr>
        <p:spPr bwMode="auto">
          <a:xfrm>
            <a:off x="60960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2" name="Oval 2182"/>
          <p:cNvSpPr>
            <a:spLocks noChangeArrowheads="1"/>
          </p:cNvSpPr>
          <p:nvPr/>
        </p:nvSpPr>
        <p:spPr bwMode="auto">
          <a:xfrm>
            <a:off x="6400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3" name="Oval 2183"/>
          <p:cNvSpPr>
            <a:spLocks noChangeArrowheads="1"/>
          </p:cNvSpPr>
          <p:nvPr/>
        </p:nvSpPr>
        <p:spPr bwMode="auto">
          <a:xfrm>
            <a:off x="61722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4" name="Oval 2184"/>
          <p:cNvSpPr>
            <a:spLocks noChangeArrowheads="1"/>
          </p:cNvSpPr>
          <p:nvPr/>
        </p:nvSpPr>
        <p:spPr bwMode="auto">
          <a:xfrm>
            <a:off x="58674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5" name="Oval 2185"/>
          <p:cNvSpPr>
            <a:spLocks noChangeArrowheads="1"/>
          </p:cNvSpPr>
          <p:nvPr/>
        </p:nvSpPr>
        <p:spPr bwMode="auto">
          <a:xfrm>
            <a:off x="60198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6" name="Oval 2186"/>
          <p:cNvSpPr>
            <a:spLocks noChangeArrowheads="1"/>
          </p:cNvSpPr>
          <p:nvPr/>
        </p:nvSpPr>
        <p:spPr bwMode="auto">
          <a:xfrm>
            <a:off x="58674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7" name="Oval 2187"/>
          <p:cNvSpPr>
            <a:spLocks noChangeArrowheads="1"/>
          </p:cNvSpPr>
          <p:nvPr/>
        </p:nvSpPr>
        <p:spPr bwMode="auto">
          <a:xfrm>
            <a:off x="57150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8" name="Oval 2188"/>
          <p:cNvSpPr>
            <a:spLocks noChangeArrowheads="1"/>
          </p:cNvSpPr>
          <p:nvPr/>
        </p:nvSpPr>
        <p:spPr bwMode="auto">
          <a:xfrm>
            <a:off x="60198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9" name="Oval 2189"/>
          <p:cNvSpPr>
            <a:spLocks noChangeArrowheads="1"/>
          </p:cNvSpPr>
          <p:nvPr/>
        </p:nvSpPr>
        <p:spPr bwMode="auto">
          <a:xfrm>
            <a:off x="57912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0" name="Oval 2190"/>
          <p:cNvSpPr>
            <a:spLocks noChangeArrowheads="1"/>
          </p:cNvSpPr>
          <p:nvPr/>
        </p:nvSpPr>
        <p:spPr bwMode="auto">
          <a:xfrm>
            <a:off x="54102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1" name="Oval 2191"/>
          <p:cNvSpPr>
            <a:spLocks noChangeArrowheads="1"/>
          </p:cNvSpPr>
          <p:nvPr/>
        </p:nvSpPr>
        <p:spPr bwMode="auto">
          <a:xfrm>
            <a:off x="55626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2" name="Oval 2192"/>
          <p:cNvSpPr>
            <a:spLocks noChangeArrowheads="1"/>
          </p:cNvSpPr>
          <p:nvPr/>
        </p:nvSpPr>
        <p:spPr bwMode="auto">
          <a:xfrm>
            <a:off x="54102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3" name="Oval 2193"/>
          <p:cNvSpPr>
            <a:spLocks noChangeArrowheads="1"/>
          </p:cNvSpPr>
          <p:nvPr/>
        </p:nvSpPr>
        <p:spPr bwMode="auto">
          <a:xfrm>
            <a:off x="5257800" y="617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4" name="Oval 2194"/>
          <p:cNvSpPr>
            <a:spLocks noChangeArrowheads="1"/>
          </p:cNvSpPr>
          <p:nvPr/>
        </p:nvSpPr>
        <p:spPr bwMode="auto">
          <a:xfrm>
            <a:off x="55626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5" name="Oval 2195"/>
          <p:cNvSpPr>
            <a:spLocks noChangeArrowheads="1"/>
          </p:cNvSpPr>
          <p:nvPr/>
        </p:nvSpPr>
        <p:spPr bwMode="auto">
          <a:xfrm>
            <a:off x="5334000" y="632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6" name="Oval 2196"/>
          <p:cNvSpPr>
            <a:spLocks noChangeArrowheads="1"/>
          </p:cNvSpPr>
          <p:nvPr/>
        </p:nvSpPr>
        <p:spPr bwMode="auto">
          <a:xfrm>
            <a:off x="5410200" y="5867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7" name="Oval 2197"/>
          <p:cNvSpPr>
            <a:spLocks noChangeArrowheads="1"/>
          </p:cNvSpPr>
          <p:nvPr/>
        </p:nvSpPr>
        <p:spPr bwMode="auto">
          <a:xfrm>
            <a:off x="5562600" y="5943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8" name="Oval 2198"/>
          <p:cNvSpPr>
            <a:spLocks noChangeArrowheads="1"/>
          </p:cNvSpPr>
          <p:nvPr/>
        </p:nvSpPr>
        <p:spPr bwMode="auto">
          <a:xfrm>
            <a:off x="5410200" y="6019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99" name="Oval 2199"/>
          <p:cNvSpPr>
            <a:spLocks noChangeArrowheads="1"/>
          </p:cNvSpPr>
          <p:nvPr/>
        </p:nvSpPr>
        <p:spPr bwMode="auto">
          <a:xfrm>
            <a:off x="5257800" y="5943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0" name="Oval 2200"/>
          <p:cNvSpPr>
            <a:spLocks noChangeArrowheads="1"/>
          </p:cNvSpPr>
          <p:nvPr/>
        </p:nvSpPr>
        <p:spPr bwMode="auto">
          <a:xfrm>
            <a:off x="55626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1" name="Oval 2201"/>
          <p:cNvSpPr>
            <a:spLocks noChangeArrowheads="1"/>
          </p:cNvSpPr>
          <p:nvPr/>
        </p:nvSpPr>
        <p:spPr bwMode="auto">
          <a:xfrm>
            <a:off x="5334000" y="609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2" name="Oval 2202"/>
          <p:cNvSpPr>
            <a:spLocks noChangeArrowheads="1"/>
          </p:cNvSpPr>
          <p:nvPr/>
        </p:nvSpPr>
        <p:spPr bwMode="auto">
          <a:xfrm>
            <a:off x="50292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3" name="Oval 2203"/>
          <p:cNvSpPr>
            <a:spLocks noChangeArrowheads="1"/>
          </p:cNvSpPr>
          <p:nvPr/>
        </p:nvSpPr>
        <p:spPr bwMode="auto">
          <a:xfrm>
            <a:off x="51816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4" name="Oval 2204"/>
          <p:cNvSpPr>
            <a:spLocks noChangeArrowheads="1"/>
          </p:cNvSpPr>
          <p:nvPr/>
        </p:nvSpPr>
        <p:spPr bwMode="auto">
          <a:xfrm>
            <a:off x="50292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5" name="Oval 2205"/>
          <p:cNvSpPr>
            <a:spLocks noChangeArrowheads="1"/>
          </p:cNvSpPr>
          <p:nvPr/>
        </p:nvSpPr>
        <p:spPr bwMode="auto">
          <a:xfrm>
            <a:off x="48768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6" name="Oval 2206"/>
          <p:cNvSpPr>
            <a:spLocks noChangeArrowheads="1"/>
          </p:cNvSpPr>
          <p:nvPr/>
        </p:nvSpPr>
        <p:spPr bwMode="auto">
          <a:xfrm>
            <a:off x="51816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7" name="Oval 2207"/>
          <p:cNvSpPr>
            <a:spLocks noChangeArrowheads="1"/>
          </p:cNvSpPr>
          <p:nvPr/>
        </p:nvSpPr>
        <p:spPr bwMode="auto">
          <a:xfrm>
            <a:off x="49530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8" name="Oval 2208"/>
          <p:cNvSpPr>
            <a:spLocks noChangeArrowheads="1"/>
          </p:cNvSpPr>
          <p:nvPr/>
        </p:nvSpPr>
        <p:spPr bwMode="auto">
          <a:xfrm>
            <a:off x="4800600" y="5334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09" name="Oval 2209"/>
          <p:cNvSpPr>
            <a:spLocks noChangeArrowheads="1"/>
          </p:cNvSpPr>
          <p:nvPr/>
        </p:nvSpPr>
        <p:spPr bwMode="auto">
          <a:xfrm>
            <a:off x="49530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0" name="Oval 2210"/>
          <p:cNvSpPr>
            <a:spLocks noChangeArrowheads="1"/>
          </p:cNvSpPr>
          <p:nvPr/>
        </p:nvSpPr>
        <p:spPr bwMode="auto">
          <a:xfrm>
            <a:off x="4800600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1" name="Oval 2211"/>
          <p:cNvSpPr>
            <a:spLocks noChangeArrowheads="1"/>
          </p:cNvSpPr>
          <p:nvPr/>
        </p:nvSpPr>
        <p:spPr bwMode="auto">
          <a:xfrm>
            <a:off x="4648200" y="5410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2" name="Oval 2212"/>
          <p:cNvSpPr>
            <a:spLocks noChangeArrowheads="1"/>
          </p:cNvSpPr>
          <p:nvPr/>
        </p:nvSpPr>
        <p:spPr bwMode="auto">
          <a:xfrm>
            <a:off x="49530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3" name="Oval 2213"/>
          <p:cNvSpPr>
            <a:spLocks noChangeArrowheads="1"/>
          </p:cNvSpPr>
          <p:nvPr/>
        </p:nvSpPr>
        <p:spPr bwMode="auto">
          <a:xfrm>
            <a:off x="4724400" y="5562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4" name="Oval 2214"/>
          <p:cNvSpPr>
            <a:spLocks noChangeArrowheads="1"/>
          </p:cNvSpPr>
          <p:nvPr/>
        </p:nvSpPr>
        <p:spPr bwMode="auto">
          <a:xfrm>
            <a:off x="4724400" y="4953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5" name="Oval 2215"/>
          <p:cNvSpPr>
            <a:spLocks noChangeArrowheads="1"/>
          </p:cNvSpPr>
          <p:nvPr/>
        </p:nvSpPr>
        <p:spPr bwMode="auto">
          <a:xfrm>
            <a:off x="48768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6" name="Oval 2216"/>
          <p:cNvSpPr>
            <a:spLocks noChangeArrowheads="1"/>
          </p:cNvSpPr>
          <p:nvPr/>
        </p:nvSpPr>
        <p:spPr bwMode="auto">
          <a:xfrm>
            <a:off x="47244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7" name="Oval 2217"/>
          <p:cNvSpPr>
            <a:spLocks noChangeArrowheads="1"/>
          </p:cNvSpPr>
          <p:nvPr/>
        </p:nvSpPr>
        <p:spPr bwMode="auto">
          <a:xfrm>
            <a:off x="45720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8" name="Oval 2218"/>
          <p:cNvSpPr>
            <a:spLocks noChangeArrowheads="1"/>
          </p:cNvSpPr>
          <p:nvPr/>
        </p:nvSpPr>
        <p:spPr bwMode="auto">
          <a:xfrm>
            <a:off x="48768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19" name="Oval 2219"/>
          <p:cNvSpPr>
            <a:spLocks noChangeArrowheads="1"/>
          </p:cNvSpPr>
          <p:nvPr/>
        </p:nvSpPr>
        <p:spPr bwMode="auto">
          <a:xfrm>
            <a:off x="46482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0" name="Oval 2220"/>
          <p:cNvSpPr>
            <a:spLocks noChangeArrowheads="1"/>
          </p:cNvSpPr>
          <p:nvPr/>
        </p:nvSpPr>
        <p:spPr bwMode="auto">
          <a:xfrm>
            <a:off x="5029200" y="4953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1" name="Oval 2221"/>
          <p:cNvSpPr>
            <a:spLocks noChangeArrowheads="1"/>
          </p:cNvSpPr>
          <p:nvPr/>
        </p:nvSpPr>
        <p:spPr bwMode="auto">
          <a:xfrm>
            <a:off x="51816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2" name="Oval 2222"/>
          <p:cNvSpPr>
            <a:spLocks noChangeArrowheads="1"/>
          </p:cNvSpPr>
          <p:nvPr/>
        </p:nvSpPr>
        <p:spPr bwMode="auto">
          <a:xfrm>
            <a:off x="50292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3" name="Oval 2223"/>
          <p:cNvSpPr>
            <a:spLocks noChangeArrowheads="1"/>
          </p:cNvSpPr>
          <p:nvPr/>
        </p:nvSpPr>
        <p:spPr bwMode="auto">
          <a:xfrm>
            <a:off x="48768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4" name="Oval 2224"/>
          <p:cNvSpPr>
            <a:spLocks noChangeArrowheads="1"/>
          </p:cNvSpPr>
          <p:nvPr/>
        </p:nvSpPr>
        <p:spPr bwMode="auto">
          <a:xfrm>
            <a:off x="51816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5" name="Oval 2225"/>
          <p:cNvSpPr>
            <a:spLocks noChangeArrowheads="1"/>
          </p:cNvSpPr>
          <p:nvPr/>
        </p:nvSpPr>
        <p:spPr bwMode="auto">
          <a:xfrm>
            <a:off x="4953000" y="5181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6" name="AutoShape 2226"/>
          <p:cNvSpPr>
            <a:spLocks noChangeArrowheads="1"/>
          </p:cNvSpPr>
          <p:nvPr/>
        </p:nvSpPr>
        <p:spPr bwMode="auto">
          <a:xfrm rot="-1663484">
            <a:off x="2932113" y="4846638"/>
            <a:ext cx="1193800" cy="1630362"/>
          </a:xfrm>
          <a:prstGeom prst="curvedRightArrow">
            <a:avLst>
              <a:gd name="adj1" fmla="val 27314"/>
              <a:gd name="adj2" fmla="val 54628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7" name="Oval 2227"/>
          <p:cNvSpPr>
            <a:spLocks noChangeArrowheads="1"/>
          </p:cNvSpPr>
          <p:nvPr/>
        </p:nvSpPr>
        <p:spPr bwMode="auto">
          <a:xfrm>
            <a:off x="4343400" y="47244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8" name="Oval 2228"/>
          <p:cNvSpPr>
            <a:spLocks noChangeArrowheads="1"/>
          </p:cNvSpPr>
          <p:nvPr/>
        </p:nvSpPr>
        <p:spPr bwMode="auto">
          <a:xfrm>
            <a:off x="5562600" y="48006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29" name="Oval 2229"/>
          <p:cNvSpPr>
            <a:spLocks noChangeArrowheads="1"/>
          </p:cNvSpPr>
          <p:nvPr/>
        </p:nvSpPr>
        <p:spPr bwMode="auto">
          <a:xfrm>
            <a:off x="5029200" y="55626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530" name="Line 2231"/>
          <p:cNvSpPr>
            <a:spLocks noChangeShapeType="1"/>
          </p:cNvSpPr>
          <p:nvPr/>
        </p:nvSpPr>
        <p:spPr bwMode="auto">
          <a:xfrm flipH="1" flipV="1">
            <a:off x="7467600" y="3429000"/>
            <a:ext cx="838200" cy="1600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531" name="Line 2232"/>
          <p:cNvSpPr>
            <a:spLocks noChangeShapeType="1"/>
          </p:cNvSpPr>
          <p:nvPr/>
        </p:nvSpPr>
        <p:spPr bwMode="auto">
          <a:xfrm flipH="1" flipV="1">
            <a:off x="7391400" y="3429000"/>
            <a:ext cx="914400" cy="2895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532" name="Text Box 2233"/>
          <p:cNvSpPr txBox="1">
            <a:spLocks noChangeArrowheads="1"/>
          </p:cNvSpPr>
          <p:nvPr/>
        </p:nvSpPr>
        <p:spPr bwMode="auto">
          <a:xfrm>
            <a:off x="6400800" y="2895600"/>
            <a:ext cx="1447800" cy="46672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0066"/>
                </a:solidFill>
              </a:rPr>
              <a:t>2 outliers</a:t>
            </a:r>
          </a:p>
        </p:txBody>
      </p:sp>
      <p:sp>
        <p:nvSpPr>
          <p:cNvPr id="94" name="Rectangle 2"/>
          <p:cNvSpPr txBox="1">
            <a:spLocks noChangeArrowheads="1"/>
          </p:cNvSpPr>
          <p:nvPr/>
        </p:nvSpPr>
        <p:spPr bwMode="auto">
          <a:xfrm>
            <a:off x="533400" y="152400"/>
            <a:ext cx="7543800" cy="685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sz="3200" b="1" kern="0" dirty="0">
                <a:latin typeface="Arial Black" pitchFamily="34" charset="0"/>
                <a:ea typeface="+mj-ea"/>
                <a:cs typeface="+mj-cs"/>
              </a:rPr>
              <a:t>Data Mining Functionalities (3)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20000" cy="1066800"/>
          </a:xfrm>
          <a:ln w="38100">
            <a:solidFill>
              <a:schemeClr val="accent1"/>
            </a:solidFill>
          </a:ln>
        </p:spPr>
        <p:txBody>
          <a:bodyPr lIns="92075" tIns="46038" rIns="92075" bIns="46038">
            <a:normAutofit fontScale="90000"/>
          </a:bodyPr>
          <a:lstStyle/>
          <a:p>
            <a:pPr algn="l" eaLnBrk="1" hangingPunct="1">
              <a:defRPr/>
            </a:pPr>
            <a:r>
              <a:rPr lang="en-US" sz="3200" b="1" i="1" dirty="0">
                <a:solidFill>
                  <a:schemeClr val="tx1"/>
                </a:solidFill>
                <a:latin typeface="Arial Black" pitchFamily="34" charset="0"/>
              </a:rPr>
              <a:t>Are All the “Discovered” Patterns Interesting?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382000" cy="4953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/>
              <a:t>A data mining system/query may generate thousands of patterns, not all of them are interesting.</a:t>
            </a:r>
          </a:p>
          <a:p>
            <a:pPr eaLnBrk="1" hangingPunct="1">
              <a:lnSpc>
                <a:spcPct val="130000"/>
              </a:lnSpc>
            </a:pPr>
            <a:endParaRPr lang="en-US" altLang="en-US" sz="2400" b="1" u="sng">
              <a:solidFill>
                <a:srgbClr val="0070C0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en-US" sz="2400" b="1" u="sng">
                <a:solidFill>
                  <a:srgbClr val="0070C0"/>
                </a:solidFill>
              </a:rPr>
              <a:t>Interestingness Measures</a:t>
            </a:r>
            <a:r>
              <a:rPr lang="en-US" altLang="en-US" sz="2400" b="1">
                <a:solidFill>
                  <a:srgbClr val="0070C0"/>
                </a:solidFill>
              </a:rPr>
              <a:t>:</a:t>
            </a:r>
            <a:r>
              <a:rPr lang="en-US" altLang="en-US" sz="2400">
                <a:solidFill>
                  <a:srgbClr val="0070C0"/>
                </a:solidFill>
              </a:rPr>
              <a:t> </a:t>
            </a:r>
            <a:r>
              <a:rPr lang="en-US" altLang="en-US" sz="2400"/>
              <a:t>A pattern is </a:t>
            </a:r>
            <a:r>
              <a:rPr lang="en-US" altLang="en-US" sz="2400" b="1">
                <a:solidFill>
                  <a:srgbClr val="0070C0"/>
                </a:solidFill>
              </a:rPr>
              <a:t>interesting</a:t>
            </a:r>
            <a:r>
              <a:rPr lang="en-US" altLang="en-US" sz="2400">
                <a:solidFill>
                  <a:srgbClr val="0070C0"/>
                </a:solidFill>
              </a:rPr>
              <a:t> </a:t>
            </a:r>
            <a:r>
              <a:rPr lang="en-US" altLang="en-US" sz="2400"/>
              <a:t>if it is </a:t>
            </a:r>
            <a:r>
              <a:rPr lang="en-US" altLang="en-US" sz="2400" u="sng"/>
              <a:t>easily understood</a:t>
            </a:r>
            <a:r>
              <a:rPr lang="en-US" altLang="en-US" sz="2400"/>
              <a:t> by humans, </a:t>
            </a:r>
            <a:r>
              <a:rPr lang="en-US" altLang="en-US" sz="2400" u="sng"/>
              <a:t>valid on new or test data</a:t>
            </a:r>
            <a:r>
              <a:rPr lang="en-US" altLang="en-US" sz="2400"/>
              <a:t> with some degree of certainty, </a:t>
            </a:r>
            <a:r>
              <a:rPr lang="en-US" altLang="en-US" sz="2400" u="sng"/>
              <a:t>potentially useful</a:t>
            </a:r>
            <a:r>
              <a:rPr lang="en-US" altLang="en-US" sz="2400"/>
              <a:t>, </a:t>
            </a:r>
            <a:r>
              <a:rPr lang="en-US" altLang="en-US" sz="2400" u="sng"/>
              <a:t>novel, or validates some hypothesis</a:t>
            </a:r>
            <a:r>
              <a:rPr lang="en-US" altLang="en-US" sz="2400"/>
              <a:t> that a user seeks to confirm</a:t>
            </a:r>
            <a:r>
              <a:rPr lang="en-US" altLang="en-US">
                <a:latin typeface="Arial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01000" cy="990600"/>
          </a:xfrm>
          <a:ln w="38100">
            <a:solidFill>
              <a:schemeClr val="accent1"/>
            </a:solidFill>
          </a:ln>
        </p:spPr>
        <p:txBody>
          <a:bodyPr lIns="92075" tIns="46038" rIns="92075" bIns="46038">
            <a:normAutofit fontScale="90000"/>
          </a:bodyPr>
          <a:lstStyle/>
          <a:p>
            <a:pPr algn="l" eaLnBrk="1" hangingPunct="1">
              <a:defRPr/>
            </a:pPr>
            <a:r>
              <a:rPr lang="en-US" sz="3200" b="1" i="1" dirty="0">
                <a:solidFill>
                  <a:schemeClr val="tx1"/>
                </a:solidFill>
                <a:latin typeface="Arial Black" pitchFamily="34" charset="0"/>
              </a:rPr>
              <a:t>Can We Find All and Only Interesting Patterns?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371600"/>
            <a:ext cx="8458200" cy="4876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b="1" dirty="0">
                <a:solidFill>
                  <a:srgbClr val="0070C0"/>
                </a:solidFill>
              </a:rPr>
              <a:t>Find all the interesting patterns: Completeness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Can a data mining system find </a:t>
            </a:r>
            <a:r>
              <a:rPr lang="en-US" altLang="en-US" sz="2000" b="1" u="sng" dirty="0"/>
              <a:t>all</a:t>
            </a:r>
            <a:r>
              <a:rPr lang="en-US" altLang="en-US" sz="2000" dirty="0"/>
              <a:t> the interesting patterns?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There is no global best solution for any single problem.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b="1" dirty="0">
                <a:solidFill>
                  <a:srgbClr val="0070C0"/>
                </a:solidFill>
              </a:rPr>
              <a:t>Search for only interesting patterns: Optimization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Can a data mining system find </a:t>
            </a:r>
            <a:r>
              <a:rPr lang="en-US" altLang="en-US" sz="2000" u="sng" dirty="0"/>
              <a:t>only</a:t>
            </a:r>
            <a:r>
              <a:rPr lang="en-US" altLang="en-US" sz="2000" dirty="0"/>
              <a:t> the interesting patterns?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Approaches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800" dirty="0"/>
              <a:t>First generate all the patterns and then filter out the uninteresting ones.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800" dirty="0"/>
              <a:t>Generate only the interesting patterns—Constraint based mining (Give threshold factors in mining)</a:t>
            </a:r>
            <a:endParaRPr lang="en-US" altLang="en-US" sz="1800" b="1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10518</TotalTime>
  <Words>1318</Words>
  <Application>Microsoft Office PowerPoint</Application>
  <PresentationFormat>On-screen Show (4:3)</PresentationFormat>
  <Paragraphs>238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Black</vt:lpstr>
      <vt:lpstr>Impact</vt:lpstr>
      <vt:lpstr>Monotype Sorts</vt:lpstr>
      <vt:lpstr>Tahoma</vt:lpstr>
      <vt:lpstr>Times New Roman</vt:lpstr>
      <vt:lpstr>Trebuchet MS</vt:lpstr>
      <vt:lpstr>Wingdings</vt:lpstr>
      <vt:lpstr>Default Design</vt:lpstr>
      <vt:lpstr>Clip</vt:lpstr>
      <vt:lpstr>Worksheet</vt:lpstr>
      <vt:lpstr>PowerPoint Presentation</vt:lpstr>
      <vt:lpstr>We Live in a World of Data</vt:lpstr>
      <vt:lpstr>Motivation:  “Necessity is the Mother of Invention”</vt:lpstr>
      <vt:lpstr>What Is Data Mining?</vt:lpstr>
      <vt:lpstr>Data Mining (Example)</vt:lpstr>
      <vt:lpstr>Data Mining: A KDD Process</vt:lpstr>
      <vt:lpstr>KDD Process: A Typical View from ML and Statistics</vt:lpstr>
      <vt:lpstr>Data Mining Functionalities (1)</vt:lpstr>
      <vt:lpstr>Data Mining Functionalities (1)</vt:lpstr>
      <vt:lpstr>Data Mining Functionalities (1)</vt:lpstr>
      <vt:lpstr>Data Mining Functionalities (2)</vt:lpstr>
      <vt:lpstr>Data Mining Function: Cluster Analysis</vt:lpstr>
      <vt:lpstr>Data Mining Functionalities (2)</vt:lpstr>
      <vt:lpstr>PowerPoint Presentation</vt:lpstr>
      <vt:lpstr>PowerPoint Presentation</vt:lpstr>
      <vt:lpstr>Are All the “Discovered” Patterns Interesting?</vt:lpstr>
      <vt:lpstr>Can We Find All and Only Interesting Patterns?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Frequent Patterns Without Candidate Generation</dc:title>
  <dc:creator>Jiawei Han</dc:creator>
  <cp:lastModifiedBy>FA21-BAF-072 (MUHAMMAD KAWISH  )</cp:lastModifiedBy>
  <cp:revision>350</cp:revision>
  <cp:lastPrinted>2000-06-01T21:00:25Z</cp:lastPrinted>
  <dcterms:created xsi:type="dcterms:W3CDTF">1999-12-01T22:01:55Z</dcterms:created>
  <dcterms:modified xsi:type="dcterms:W3CDTF">2024-12-31T09:44:58Z</dcterms:modified>
</cp:coreProperties>
</file>