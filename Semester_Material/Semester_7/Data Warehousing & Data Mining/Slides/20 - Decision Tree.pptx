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20"/>
  </p:notesMasterIdLst>
  <p:sldIdLst>
    <p:sldId id="337" r:id="rId2"/>
    <p:sldId id="40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75" r:id="rId11"/>
    <p:sldId id="376" r:id="rId12"/>
    <p:sldId id="379" r:id="rId13"/>
    <p:sldId id="386" r:id="rId14"/>
    <p:sldId id="378" r:id="rId15"/>
    <p:sldId id="377" r:id="rId16"/>
    <p:sldId id="402" r:id="rId17"/>
    <p:sldId id="403" r:id="rId18"/>
    <p:sldId id="404" r:id="rId1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909" autoAdjust="0"/>
  </p:normalViewPr>
  <p:slideViewPr>
    <p:cSldViewPr>
      <p:cViewPr varScale="1">
        <p:scale>
          <a:sx n="66" d="100"/>
          <a:sy n="66" d="100"/>
        </p:scale>
        <p:origin x="-148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Calibri" pitchFamily="34" charset="0"/>
              <a:buNone/>
            </a:pPr>
            <a:fld id="{F259F7AF-06FE-4BDB-BD30-B97F03CDD51C}" type="slidenum">
              <a:rPr lang="en-US" smtClean="0">
                <a:latin typeface="Calibri" pitchFamily="34" charset="0"/>
                <a:ea typeface="DejaVu LGC Sans"/>
                <a:cs typeface="DejaVu LGC Sans"/>
              </a:rPr>
              <a:pPr>
                <a:buFont typeface="Calibri" pitchFamily="34" charset="0"/>
                <a:buNone/>
              </a:pPr>
              <a:t>1</a:t>
            </a:fld>
            <a:endParaRPr lang="en-US" smtClean="0">
              <a:latin typeface="Calibri" pitchFamily="34" charset="0"/>
              <a:ea typeface="DejaVu LGC Sans"/>
              <a:cs typeface="DejaVu LGC Sans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6987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3198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BC46B0-97D8-4EEB-B243-1DF5770F0672}" type="slidenum">
              <a:rPr lang="en-US"/>
              <a:pPr/>
              <a:t>10</a:t>
            </a:fld>
            <a:endParaRPr lang="en-US"/>
          </a:p>
        </p:txBody>
      </p:sp>
      <p:sp>
        <p:nvSpPr>
          <p:cNvPr id="382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511073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882E00-90C0-4C01-8168-AE3786FF7B5F}" type="slidenum">
              <a:rPr lang="en-US"/>
              <a:pPr/>
              <a:t>11</a:t>
            </a:fld>
            <a:endParaRPr lang="en-US"/>
          </a:p>
        </p:txBody>
      </p:sp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75637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26385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46C154-B87F-440A-BB8E-132BBC89BA98}" type="slidenum">
              <a:rPr lang="en-US"/>
              <a:pPr/>
              <a:t>15</a:t>
            </a:fld>
            <a:endParaRPr lang="en-US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004573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664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16838" cy="1066800"/>
          </a:xfrm>
        </p:spPr>
        <p:txBody>
          <a:bodyPr/>
          <a:lstStyle/>
          <a:p>
            <a:r>
              <a:rPr lang="en-US" dirty="0" smtClean="0"/>
              <a:t>Decision Trees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Decision tree 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flow-chart-like tree </a:t>
            </a:r>
            <a:r>
              <a:rPr lang="en-US" dirty="0" smtClean="0"/>
              <a:t>structure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Internal node </a:t>
            </a:r>
            <a:r>
              <a:rPr lang="en-US" dirty="0" smtClean="0"/>
              <a:t>denotes a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test on an attribute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Branch</a:t>
            </a:r>
            <a:r>
              <a:rPr lang="en-US" dirty="0" smtClean="0"/>
              <a:t> represents 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outcome of the test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Leaf nodes </a:t>
            </a:r>
            <a:r>
              <a:rPr lang="en-US" dirty="0" smtClean="0"/>
              <a:t>represent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class labels </a:t>
            </a:r>
            <a:r>
              <a:rPr lang="en-US" dirty="0" smtClean="0"/>
              <a:t>or class distribution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44704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343"/>
            <a:ext cx="8686799" cy="647725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6029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914400"/>
          </a:xfrm>
        </p:spPr>
        <p:txBody>
          <a:bodyPr/>
          <a:lstStyle/>
          <a:p>
            <a:r>
              <a:rPr lang="en-US" dirty="0"/>
              <a:t>Tree Induction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8" y="1752600"/>
            <a:ext cx="8907710" cy="3505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784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4000" dirty="0"/>
              <a:t>How to Specify Test Condition?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343400"/>
          </a:xfrm>
        </p:spPr>
        <p:txBody>
          <a:bodyPr/>
          <a:lstStyle/>
          <a:p>
            <a:r>
              <a:rPr lang="en-US" dirty="0"/>
              <a:t>Depends on attribute types</a:t>
            </a:r>
          </a:p>
          <a:p>
            <a:pPr lvl="1"/>
            <a:r>
              <a:rPr lang="en-US" dirty="0"/>
              <a:t>Nominal</a:t>
            </a:r>
          </a:p>
          <a:p>
            <a:pPr lvl="1"/>
            <a:r>
              <a:rPr lang="en-US" dirty="0"/>
              <a:t>Ordinal</a:t>
            </a:r>
          </a:p>
          <a:p>
            <a:pPr lvl="1"/>
            <a:r>
              <a:rPr lang="en-US" dirty="0"/>
              <a:t>Continuous</a:t>
            </a:r>
          </a:p>
          <a:p>
            <a:pPr lvl="1"/>
            <a:endParaRPr lang="en-US" dirty="0"/>
          </a:p>
          <a:p>
            <a:r>
              <a:rPr lang="en-US" dirty="0"/>
              <a:t>Depends on number of ways to split</a:t>
            </a:r>
          </a:p>
          <a:p>
            <a:pPr lvl="1"/>
            <a:r>
              <a:rPr lang="en-US" dirty="0"/>
              <a:t>2-way split</a:t>
            </a:r>
          </a:p>
          <a:p>
            <a:pPr lvl="1"/>
            <a:r>
              <a:rPr lang="en-US" dirty="0"/>
              <a:t>Multi-way split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017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6106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Splitting Based on Nominal Attributes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839200" cy="3733800"/>
          </a:xfrm>
        </p:spPr>
        <p:txBody>
          <a:bodyPr/>
          <a:lstStyle/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Multi-way split:</a:t>
            </a:r>
            <a:r>
              <a:rPr lang="en-US" dirty="0"/>
              <a:t> Use as many partitions as distinct values. 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 smtClean="0">
                <a:solidFill>
                  <a:srgbClr val="FF0000"/>
                </a:solidFill>
              </a:rPr>
              <a:t>Binary </a:t>
            </a:r>
            <a:r>
              <a:rPr lang="en-US" dirty="0">
                <a:solidFill>
                  <a:srgbClr val="FF0000"/>
                </a:solidFill>
              </a:rPr>
              <a:t>split:</a:t>
            </a:r>
            <a:r>
              <a:rPr lang="en-US" dirty="0"/>
              <a:t>  Divides values into two subsets. </a:t>
            </a:r>
            <a:br>
              <a:rPr lang="en-US" dirty="0"/>
            </a:br>
            <a:r>
              <a:rPr lang="en-US" dirty="0"/>
              <a:t>		      </a:t>
            </a:r>
            <a:r>
              <a:rPr lang="en-US" dirty="0" smtClean="0"/>
              <a:t>Need </a:t>
            </a:r>
            <a:r>
              <a:rPr lang="en-US" dirty="0"/>
              <a:t>to find optimal partitioning.</a:t>
            </a:r>
            <a:endParaRPr lang="en-US" sz="36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95600" y="2394857"/>
            <a:ext cx="2546350" cy="946150"/>
            <a:chOff x="1824" y="1680"/>
            <a:chExt cx="1604" cy="596"/>
          </a:xfrm>
        </p:grpSpPr>
        <p:sp>
          <p:nvSpPr>
            <p:cNvPr id="813061" name="Oval 5"/>
            <p:cNvSpPr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CarType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13062" name="Line 6"/>
            <p:cNvSpPr>
              <a:spLocks noChangeShapeType="1"/>
            </p:cNvSpPr>
            <p:nvPr/>
          </p:nvSpPr>
          <p:spPr bwMode="auto">
            <a:xfrm flipH="1">
              <a:off x="2064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3" name="Line 7"/>
            <p:cNvSpPr>
              <a:spLocks noChangeShapeType="1"/>
            </p:cNvSpPr>
            <p:nvPr/>
          </p:nvSpPr>
          <p:spPr bwMode="auto">
            <a:xfrm>
              <a:off x="264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4" name="Line 8"/>
            <p:cNvSpPr>
              <a:spLocks noChangeShapeType="1"/>
            </p:cNvSpPr>
            <p:nvPr/>
          </p:nvSpPr>
          <p:spPr bwMode="auto">
            <a:xfrm>
              <a:off x="2640" y="1968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65" name="Text Box 9"/>
            <p:cNvSpPr txBox="1">
              <a:spLocks noChangeArrowheads="1"/>
            </p:cNvSpPr>
            <p:nvPr/>
          </p:nvSpPr>
          <p:spPr bwMode="auto">
            <a:xfrm>
              <a:off x="1824" y="1872"/>
              <a:ext cx="4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 dirty="0"/>
                <a:t>Family</a:t>
              </a:r>
            </a:p>
          </p:txBody>
        </p:sp>
        <p:sp>
          <p:nvSpPr>
            <p:cNvPr id="813066" name="Text Box 10"/>
            <p:cNvSpPr txBox="1">
              <a:spLocks noChangeArrowheads="1"/>
            </p:cNvSpPr>
            <p:nvPr/>
          </p:nvSpPr>
          <p:spPr bwMode="auto">
            <a:xfrm>
              <a:off x="2208" y="2064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Sports</a:t>
              </a:r>
            </a:p>
          </p:txBody>
        </p:sp>
        <p:sp>
          <p:nvSpPr>
            <p:cNvPr id="813067" name="Text Box 11"/>
            <p:cNvSpPr txBox="1">
              <a:spLocks noChangeArrowheads="1"/>
            </p:cNvSpPr>
            <p:nvPr/>
          </p:nvSpPr>
          <p:spPr bwMode="auto">
            <a:xfrm>
              <a:off x="2928" y="1872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Luxury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649912" y="5268686"/>
            <a:ext cx="2752725" cy="914400"/>
            <a:chOff x="3552" y="3216"/>
            <a:chExt cx="1734" cy="576"/>
          </a:xfrm>
        </p:grpSpPr>
        <p:sp>
          <p:nvSpPr>
            <p:cNvPr id="813069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CarType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13070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1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2" name="Text Box 16"/>
            <p:cNvSpPr txBox="1">
              <a:spLocks noChangeArrowheads="1"/>
            </p:cNvSpPr>
            <p:nvPr/>
          </p:nvSpPr>
          <p:spPr bwMode="auto">
            <a:xfrm>
              <a:off x="3552" y="3360"/>
              <a:ext cx="60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 dirty="0"/>
                <a:t>{Family, </a:t>
              </a:r>
              <a:br>
                <a:rPr lang="en-US" sz="1600" b="0" dirty="0"/>
              </a:br>
              <a:r>
                <a:rPr lang="en-US" sz="1600" b="0" dirty="0"/>
                <a:t>Luxury}</a:t>
              </a:r>
            </a:p>
          </p:txBody>
        </p:sp>
        <p:sp>
          <p:nvSpPr>
            <p:cNvPr id="813073" name="Text Box 17"/>
            <p:cNvSpPr txBox="1">
              <a:spLocks noChangeArrowheads="1"/>
            </p:cNvSpPr>
            <p:nvPr/>
          </p:nvSpPr>
          <p:spPr bwMode="auto">
            <a:xfrm>
              <a:off x="4714" y="3456"/>
              <a:ext cx="5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{Sports}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18457" y="5268686"/>
            <a:ext cx="2905125" cy="914400"/>
            <a:chOff x="768" y="3216"/>
            <a:chExt cx="1830" cy="576"/>
          </a:xfrm>
        </p:grpSpPr>
        <p:sp>
          <p:nvSpPr>
            <p:cNvPr id="813075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 dirty="0" err="1">
                  <a:latin typeface="Times New Roman" charset="0"/>
                </a:rPr>
                <a:t>CarType</a:t>
              </a:r>
              <a:endParaRPr lang="en-US" sz="2400" b="0" dirty="0">
                <a:latin typeface="Times New Roman" charset="0"/>
              </a:endParaRPr>
            </a:p>
          </p:txBody>
        </p:sp>
        <p:sp>
          <p:nvSpPr>
            <p:cNvPr id="813076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7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3078" name="Text Box 22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{Sports, Luxury}</a:t>
              </a:r>
            </a:p>
          </p:txBody>
        </p:sp>
        <p:sp>
          <p:nvSpPr>
            <p:cNvPr id="813079" name="Text Box 23"/>
            <p:cNvSpPr txBox="1">
              <a:spLocks noChangeArrowheads="1"/>
            </p:cNvSpPr>
            <p:nvPr/>
          </p:nvSpPr>
          <p:spPr bwMode="auto">
            <a:xfrm>
              <a:off x="2020" y="3456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{Family}</a:t>
              </a:r>
            </a:p>
          </p:txBody>
        </p:sp>
      </p:grpSp>
      <p:sp>
        <p:nvSpPr>
          <p:cNvPr id="813080" name="Text Box 24"/>
          <p:cNvSpPr txBox="1">
            <a:spLocks noChangeArrowheads="1"/>
          </p:cNvSpPr>
          <p:nvPr/>
        </p:nvSpPr>
        <p:spPr bwMode="auto">
          <a:xfrm>
            <a:off x="4231821" y="5328557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 b="0" dirty="0">
                <a:latin typeface="Times New Roman" charset="0"/>
              </a:rPr>
              <a:t>OR</a:t>
            </a:r>
          </a:p>
        </p:txBody>
      </p:sp>
      <p:sp>
        <p:nvSpPr>
          <p:cNvPr id="2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8337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38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534400" cy="5257800"/>
          </a:xfrm>
          <a:noFill/>
          <a:ln/>
        </p:spPr>
        <p:txBody>
          <a:bodyPr>
            <a:normAutofit fontScale="92500" lnSpcReduction="20000"/>
          </a:bodyPr>
          <a:lstStyle/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Multi-way split:</a:t>
            </a:r>
            <a:r>
              <a:rPr lang="en-US" dirty="0"/>
              <a:t> Use as many partitions as distinct values. 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lvl="4"/>
            <a:endParaRPr lang="en-US" sz="1200" dirty="0">
              <a:solidFill>
                <a:srgbClr val="FF0000"/>
              </a:solidFill>
            </a:endParaRPr>
          </a:p>
          <a:p>
            <a:pPr marL="342900" indent="-342900"/>
            <a:r>
              <a:rPr lang="en-US" dirty="0">
                <a:solidFill>
                  <a:srgbClr val="FF0000"/>
                </a:solidFill>
              </a:rPr>
              <a:t>Binary split:</a:t>
            </a:r>
            <a:r>
              <a:rPr lang="en-US" dirty="0"/>
              <a:t>  Divides values into two </a:t>
            </a:r>
            <a:r>
              <a:rPr lang="en-US" dirty="0" smtClean="0"/>
              <a:t>subsets – </a:t>
            </a:r>
            <a:r>
              <a:rPr lang="en-US" dirty="0" smtClean="0">
                <a:solidFill>
                  <a:srgbClr val="0070C0"/>
                </a:solidFill>
              </a:rPr>
              <a:t>respects the order</a:t>
            </a:r>
            <a:r>
              <a:rPr lang="en-US" dirty="0" smtClean="0"/>
              <a:t>. Need </a:t>
            </a:r>
            <a:r>
              <a:rPr lang="en-US" dirty="0"/>
              <a:t>to find optimal partitioning.</a:t>
            </a:r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What about this split?</a:t>
            </a:r>
            <a:endParaRPr lang="en-US" sz="3600" dirty="0"/>
          </a:p>
        </p:txBody>
      </p:sp>
      <p:sp>
        <p:nvSpPr>
          <p:cNvPr id="836635" name="Rectangle 27"/>
          <p:cNvSpPr>
            <a:spLocks noGrp="1" noChangeArrowheads="1"/>
          </p:cNvSpPr>
          <p:nvPr>
            <p:ph type="title"/>
          </p:nvPr>
        </p:nvSpPr>
        <p:spPr>
          <a:xfrm>
            <a:off x="456406" y="152400"/>
            <a:ext cx="8229600" cy="838200"/>
          </a:xfrm>
        </p:spPr>
        <p:txBody>
          <a:bodyPr/>
          <a:lstStyle/>
          <a:p>
            <a:r>
              <a:rPr lang="en-US" sz="3600" dirty="0"/>
              <a:t>Splitting Based on Ordinal Attributes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971800" y="1981200"/>
            <a:ext cx="2457450" cy="946150"/>
            <a:chOff x="1853" y="1248"/>
            <a:chExt cx="1548" cy="596"/>
          </a:xfrm>
        </p:grpSpPr>
        <p:sp>
          <p:nvSpPr>
            <p:cNvPr id="836613" name="Oval 5"/>
            <p:cNvSpPr>
              <a:spLocks noChangeArrowheads="1"/>
            </p:cNvSpPr>
            <p:nvPr/>
          </p:nvSpPr>
          <p:spPr bwMode="auto"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14" name="Line 6"/>
            <p:cNvSpPr>
              <a:spLocks noChangeShapeType="1"/>
            </p:cNvSpPr>
            <p:nvPr/>
          </p:nvSpPr>
          <p:spPr bwMode="auto">
            <a:xfrm flipH="1">
              <a:off x="2064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5" name="Line 7"/>
            <p:cNvSpPr>
              <a:spLocks noChangeShapeType="1"/>
            </p:cNvSpPr>
            <p:nvPr/>
          </p:nvSpPr>
          <p:spPr bwMode="auto">
            <a:xfrm>
              <a:off x="26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6" name="Line 8"/>
            <p:cNvSpPr>
              <a:spLocks noChangeShapeType="1"/>
            </p:cNvSpPr>
            <p:nvPr/>
          </p:nvSpPr>
          <p:spPr bwMode="auto">
            <a:xfrm>
              <a:off x="2640" y="1536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17" name="Text Box 9"/>
            <p:cNvSpPr txBox="1">
              <a:spLocks noChangeArrowheads="1"/>
            </p:cNvSpPr>
            <p:nvPr/>
          </p:nvSpPr>
          <p:spPr bwMode="auto">
            <a:xfrm>
              <a:off x="1853" y="1440"/>
              <a:ext cx="4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Small</a:t>
              </a:r>
            </a:p>
          </p:txBody>
        </p:sp>
        <p:sp>
          <p:nvSpPr>
            <p:cNvPr id="836618" name="Text Box 10"/>
            <p:cNvSpPr txBox="1">
              <a:spLocks noChangeArrowheads="1"/>
            </p:cNvSpPr>
            <p:nvPr/>
          </p:nvSpPr>
          <p:spPr bwMode="auto">
            <a:xfrm>
              <a:off x="2167" y="1632"/>
              <a:ext cx="57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Medium</a:t>
              </a:r>
            </a:p>
          </p:txBody>
        </p:sp>
        <p:sp>
          <p:nvSpPr>
            <p:cNvPr id="836619" name="Text Box 11"/>
            <p:cNvSpPr txBox="1">
              <a:spLocks noChangeArrowheads="1"/>
            </p:cNvSpPr>
            <p:nvPr/>
          </p:nvSpPr>
          <p:spPr bwMode="auto">
            <a:xfrm>
              <a:off x="2958" y="1440"/>
              <a:ext cx="44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Large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562600" y="4572000"/>
            <a:ext cx="2774950" cy="914400"/>
            <a:chOff x="3513" y="3216"/>
            <a:chExt cx="1748" cy="576"/>
          </a:xfrm>
        </p:grpSpPr>
        <p:sp>
          <p:nvSpPr>
            <p:cNvPr id="836621" name="Oval 13"/>
            <p:cNvSpPr>
              <a:spLocks noChangeArrowheads="1"/>
            </p:cNvSpPr>
            <p:nvPr/>
          </p:nvSpPr>
          <p:spPr bwMode="auto">
            <a:xfrm>
              <a:off x="4186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22" name="Line 14"/>
            <p:cNvSpPr>
              <a:spLocks noChangeShapeType="1"/>
            </p:cNvSpPr>
            <p:nvPr/>
          </p:nvSpPr>
          <p:spPr bwMode="auto">
            <a:xfrm flipH="1">
              <a:off x="3946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3" name="Line 15"/>
            <p:cNvSpPr>
              <a:spLocks noChangeShapeType="1"/>
            </p:cNvSpPr>
            <p:nvPr/>
          </p:nvSpPr>
          <p:spPr bwMode="auto">
            <a:xfrm>
              <a:off x="4474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4" name="Text Box 16"/>
            <p:cNvSpPr txBox="1">
              <a:spLocks noChangeArrowheads="1"/>
            </p:cNvSpPr>
            <p:nvPr/>
          </p:nvSpPr>
          <p:spPr bwMode="auto">
            <a:xfrm>
              <a:off x="3513" y="3360"/>
              <a:ext cx="68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{Medium, </a:t>
              </a:r>
              <a:br>
                <a:rPr lang="en-US" sz="1600" b="0"/>
              </a:br>
              <a:r>
                <a:rPr lang="en-US" sz="1600" b="0"/>
                <a:t>Large}</a:t>
              </a:r>
            </a:p>
          </p:txBody>
        </p:sp>
        <p:sp>
          <p:nvSpPr>
            <p:cNvPr id="836625" name="Text Box 17"/>
            <p:cNvSpPr txBox="1">
              <a:spLocks noChangeArrowheads="1"/>
            </p:cNvSpPr>
            <p:nvPr/>
          </p:nvSpPr>
          <p:spPr bwMode="auto">
            <a:xfrm>
              <a:off x="4740" y="3456"/>
              <a:ext cx="52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{Small}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4572000"/>
            <a:ext cx="2997200" cy="914400"/>
            <a:chOff x="768" y="3216"/>
            <a:chExt cx="1794" cy="576"/>
          </a:xfrm>
        </p:grpSpPr>
        <p:sp>
          <p:nvSpPr>
            <p:cNvPr id="836627" name="Oval 19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28" name="Line 20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29" name="Line 21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30" name="Text Box 22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{Small, Medium}</a:t>
              </a:r>
            </a:p>
          </p:txBody>
        </p:sp>
        <p:sp>
          <p:nvSpPr>
            <p:cNvPr id="836631" name="Text Box 23"/>
            <p:cNvSpPr txBox="1">
              <a:spLocks noChangeArrowheads="1"/>
            </p:cNvSpPr>
            <p:nvPr/>
          </p:nvSpPr>
          <p:spPr bwMode="auto">
            <a:xfrm>
              <a:off x="2059" y="3456"/>
              <a:ext cx="50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{Large}</a:t>
              </a:r>
            </a:p>
          </p:txBody>
        </p:sp>
      </p:grpSp>
      <p:sp>
        <p:nvSpPr>
          <p:cNvPr id="836632" name="Text Box 24"/>
          <p:cNvSpPr txBox="1">
            <a:spLocks noChangeArrowheads="1"/>
          </p:cNvSpPr>
          <p:nvPr/>
        </p:nvSpPr>
        <p:spPr bwMode="auto">
          <a:xfrm>
            <a:off x="4267200" y="4724400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2400" b="0">
                <a:latin typeface="Times New Roman" charset="0"/>
              </a:rPr>
              <a:t>OR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4289425" y="5791200"/>
            <a:ext cx="3101975" cy="914400"/>
            <a:chOff x="768" y="3216"/>
            <a:chExt cx="1856" cy="576"/>
          </a:xfrm>
        </p:grpSpPr>
        <p:sp>
          <p:nvSpPr>
            <p:cNvPr id="836640" name="Oval 32"/>
            <p:cNvSpPr>
              <a:spLocks noChangeArrowheads="1"/>
            </p:cNvSpPr>
            <p:nvPr/>
          </p:nvSpPr>
          <p:spPr bwMode="auto">
            <a:xfrm>
              <a:off x="1494" y="3216"/>
              <a:ext cx="57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0">
                  <a:latin typeface="Times New Roman" charset="0"/>
                </a:rPr>
                <a:t>Size</a:t>
              </a:r>
              <a:endParaRPr lang="en-US" sz="2400" b="0">
                <a:latin typeface="Times New Roman" charset="0"/>
              </a:endParaRPr>
            </a:p>
          </p:txBody>
        </p:sp>
        <p:sp>
          <p:nvSpPr>
            <p:cNvPr id="836641" name="Line 33"/>
            <p:cNvSpPr>
              <a:spLocks noChangeShapeType="1"/>
            </p:cNvSpPr>
            <p:nvPr/>
          </p:nvSpPr>
          <p:spPr bwMode="auto">
            <a:xfrm flipH="1">
              <a:off x="1254" y="3504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2" name="Line 34"/>
            <p:cNvSpPr>
              <a:spLocks noChangeShapeType="1"/>
            </p:cNvSpPr>
            <p:nvPr/>
          </p:nvSpPr>
          <p:spPr bwMode="auto">
            <a:xfrm>
              <a:off x="1782" y="3504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6643" name="Text Box 35"/>
            <p:cNvSpPr txBox="1">
              <a:spLocks noChangeArrowheads="1"/>
            </p:cNvSpPr>
            <p:nvPr/>
          </p:nvSpPr>
          <p:spPr bwMode="auto">
            <a:xfrm>
              <a:off x="768" y="3360"/>
              <a:ext cx="59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sz="1600" b="0"/>
                <a:t>{Small, Large}</a:t>
              </a:r>
            </a:p>
          </p:txBody>
        </p:sp>
        <p:sp>
          <p:nvSpPr>
            <p:cNvPr id="836644" name="Text Box 36"/>
            <p:cNvSpPr txBox="1">
              <a:spLocks noChangeArrowheads="1"/>
            </p:cNvSpPr>
            <p:nvPr/>
          </p:nvSpPr>
          <p:spPr bwMode="auto">
            <a:xfrm>
              <a:off x="2000" y="3456"/>
              <a:ext cx="6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0"/>
                <a:t>{Medium}</a:t>
              </a:r>
            </a:p>
          </p:txBody>
        </p:sp>
      </p:grpSp>
      <p:sp>
        <p:nvSpPr>
          <p:cNvPr id="31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675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914400"/>
          </a:xfrm>
        </p:spPr>
        <p:txBody>
          <a:bodyPr>
            <a:normAutofit/>
          </a:bodyPr>
          <a:lstStyle/>
          <a:p>
            <a:r>
              <a:rPr lang="en-US" sz="3600" dirty="0"/>
              <a:t>Splitting Based on Continuous Attributes</a:t>
            </a:r>
          </a:p>
        </p:txBody>
      </p:sp>
      <p:sp>
        <p:nvSpPr>
          <p:cNvPr id="814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077200" cy="5486400"/>
          </a:xfrm>
        </p:spPr>
        <p:txBody>
          <a:bodyPr/>
          <a:lstStyle/>
          <a:p>
            <a:r>
              <a:rPr lang="en-US" dirty="0"/>
              <a:t>Different ways of handling</a:t>
            </a:r>
          </a:p>
          <a:p>
            <a:pPr lvl="1"/>
            <a:r>
              <a:rPr lang="en-US" dirty="0">
                <a:solidFill>
                  <a:srgbClr val="CC3300"/>
                </a:solidFill>
              </a:rPr>
              <a:t>Discretization</a:t>
            </a:r>
            <a:r>
              <a:rPr lang="en-US" dirty="0"/>
              <a:t> 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0070C0"/>
                </a:solidFill>
              </a:rPr>
              <a:t>Static</a:t>
            </a:r>
            <a:r>
              <a:rPr lang="en-US" dirty="0" smtClean="0"/>
              <a:t> </a:t>
            </a:r>
            <a:r>
              <a:rPr lang="en-US" dirty="0"/>
              <a:t>– discretize once at the beginning</a:t>
            </a:r>
          </a:p>
          <a:p>
            <a:pPr lvl="2"/>
            <a:r>
              <a:rPr lang="en-US" dirty="0" smtClean="0">
                <a:solidFill>
                  <a:srgbClr val="0070C0"/>
                </a:solidFill>
              </a:rPr>
              <a:t>Dynamic</a:t>
            </a:r>
            <a:r>
              <a:rPr lang="en-US" dirty="0" smtClean="0"/>
              <a:t> </a:t>
            </a:r>
            <a:r>
              <a:rPr lang="en-US" dirty="0"/>
              <a:t>– ranges can be found by equal interval 	</a:t>
            </a:r>
            <a:r>
              <a:rPr lang="en-US" dirty="0" smtClean="0"/>
              <a:t>bucketing</a:t>
            </a:r>
            <a:r>
              <a:rPr lang="en-US" dirty="0"/>
              <a:t>, equal frequency </a:t>
            </a:r>
            <a:r>
              <a:rPr lang="en-US" dirty="0" smtClean="0"/>
              <a:t>bucketing (</a:t>
            </a:r>
            <a:r>
              <a:rPr lang="en-US" dirty="0"/>
              <a:t>percentiles), or clustering.</a:t>
            </a:r>
          </a:p>
          <a:p>
            <a:pPr lvl="4"/>
            <a:endParaRPr lang="en-US" dirty="0">
              <a:solidFill>
                <a:srgbClr val="CC3300"/>
              </a:solidFill>
            </a:endParaRPr>
          </a:p>
          <a:p>
            <a:pPr lvl="1"/>
            <a:r>
              <a:rPr lang="en-US" dirty="0">
                <a:solidFill>
                  <a:srgbClr val="CC3300"/>
                </a:solidFill>
              </a:rPr>
              <a:t>Binary Decision</a:t>
            </a:r>
            <a:r>
              <a:rPr lang="en-US" dirty="0"/>
              <a:t>: (</a:t>
            </a:r>
            <a:r>
              <a:rPr lang="en-US" dirty="0">
                <a:solidFill>
                  <a:srgbClr val="0070C0"/>
                </a:solidFill>
              </a:rPr>
              <a:t>A &lt; v</a:t>
            </a:r>
            <a:r>
              <a:rPr lang="en-US" dirty="0"/>
              <a:t>) or (</a:t>
            </a:r>
            <a:r>
              <a:rPr lang="en-US" dirty="0">
                <a:solidFill>
                  <a:srgbClr val="0070C0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  <a:sym typeface="Symbol" pitchFamily="18" charset="2"/>
              </a:rPr>
              <a:t> v</a:t>
            </a:r>
            <a:r>
              <a:rPr lang="en-US" dirty="0">
                <a:sym typeface="Symbol" pitchFamily="18" charset="2"/>
              </a:rPr>
              <a:t>)</a:t>
            </a:r>
            <a:endParaRPr lang="en-US" dirty="0"/>
          </a:p>
          <a:p>
            <a:pPr lvl="2"/>
            <a:r>
              <a:rPr lang="en-US" dirty="0"/>
              <a:t> consider all possible splits and finds the best cut</a:t>
            </a:r>
          </a:p>
          <a:p>
            <a:pPr lvl="2"/>
            <a:r>
              <a:rPr lang="en-US" dirty="0"/>
              <a:t> can be more </a:t>
            </a:r>
            <a:r>
              <a:rPr lang="en-US" dirty="0" smtClean="0"/>
              <a:t>computation </a:t>
            </a:r>
            <a:r>
              <a:rPr lang="en-US" dirty="0"/>
              <a:t>intensive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845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914400"/>
          </a:xfrm>
        </p:spPr>
        <p:txBody>
          <a:bodyPr>
            <a:normAutofit/>
          </a:bodyPr>
          <a:lstStyle/>
          <a:p>
            <a:r>
              <a:rPr lang="en-US" sz="3600" dirty="0"/>
              <a:t>Splitting Based on Continuous Attributes</a:t>
            </a:r>
          </a:p>
        </p:txBody>
      </p:sp>
      <p:graphicFrame>
        <p:nvGraphicFramePr>
          <p:cNvPr id="90317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098761298"/>
              </p:ext>
            </p:extLst>
          </p:nvPr>
        </p:nvGraphicFramePr>
        <p:xfrm>
          <a:off x="738188" y="2051050"/>
          <a:ext cx="7608887" cy="3282950"/>
        </p:xfrm>
        <a:graphic>
          <a:graphicData uri="http://schemas.openxmlformats.org/presentationml/2006/ole">
            <p:oleObj spid="_x0000_s123926" name="Visio" r:id="rId3" imgW="8538667" imgH="3684287" progId="">
              <p:embed/>
            </p:oleObj>
          </a:graphicData>
        </a:graphic>
      </p:graphicFrame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0040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4" name="Rectangle 6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990600"/>
          </a:xfrm>
        </p:spPr>
        <p:txBody>
          <a:bodyPr/>
          <a:lstStyle/>
          <a:p>
            <a:r>
              <a:rPr lang="en-US" sz="4000" dirty="0"/>
              <a:t>How to determine the Best Split</a:t>
            </a:r>
          </a:p>
        </p:txBody>
      </p:sp>
      <p:graphicFrame>
        <p:nvGraphicFramePr>
          <p:cNvPr id="908293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197895831"/>
              </p:ext>
            </p:extLst>
          </p:nvPr>
        </p:nvGraphicFramePr>
        <p:xfrm>
          <a:off x="381000" y="2794000"/>
          <a:ext cx="8545513" cy="2006600"/>
        </p:xfrm>
        <a:graphic>
          <a:graphicData uri="http://schemas.openxmlformats.org/presentationml/2006/ole">
            <p:oleObj spid="_x0000_s124950" name="Visio" r:id="rId3" imgW="9538614" imgH="2239584" progId="">
              <p:embed/>
            </p:oleObj>
          </a:graphicData>
        </a:graphic>
      </p:graphicFrame>
      <p:sp>
        <p:nvSpPr>
          <p:cNvPr id="908296" name="Text Box 8"/>
          <p:cNvSpPr txBox="1">
            <a:spLocks noChangeArrowheads="1"/>
          </p:cNvSpPr>
          <p:nvPr/>
        </p:nvSpPr>
        <p:spPr bwMode="auto">
          <a:xfrm>
            <a:off x="2286000" y="1752600"/>
            <a:ext cx="510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Before Splitting: 10 records of class 0,</a:t>
            </a:r>
            <a:br>
              <a:rPr lang="en-US" sz="1800"/>
            </a:br>
            <a:r>
              <a:rPr lang="en-US" sz="1800"/>
              <a:t>		10 records of class 1</a:t>
            </a:r>
          </a:p>
        </p:txBody>
      </p:sp>
      <p:sp>
        <p:nvSpPr>
          <p:cNvPr id="908297" name="Text Box 9"/>
          <p:cNvSpPr txBox="1">
            <a:spLocks noChangeArrowheads="1"/>
          </p:cNvSpPr>
          <p:nvPr/>
        </p:nvSpPr>
        <p:spPr bwMode="auto">
          <a:xfrm>
            <a:off x="1981200" y="5119688"/>
            <a:ext cx="510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Which test condition is the best?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51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Text Box 2"/>
          <p:cNvSpPr txBox="1">
            <a:spLocks noChangeArrowheads="1"/>
          </p:cNvSpPr>
          <p:nvPr/>
        </p:nvSpPr>
        <p:spPr bwMode="auto">
          <a:xfrm>
            <a:off x="381000" y="152400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800" b="0" dirty="0">
                <a:latin typeface="Tahoma" pitchFamily="34" charset="0"/>
                <a:cs typeface="Times New Roman" pitchFamily="18" charset="0"/>
              </a:rPr>
              <a:t>The central choice in the ID3 algorithm is selecting which attribute to test at each node in the tree</a:t>
            </a:r>
          </a:p>
          <a:p>
            <a:pPr algn="just"/>
            <a:endParaRPr lang="en-US" sz="2800" b="0" dirty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>
                <a:latin typeface="Tahoma" pitchFamily="34" charset="0"/>
                <a:cs typeface="Times New Roman" pitchFamily="18" charset="0"/>
              </a:rPr>
              <a:t>We would like to select the attribute which is most useful for classifying examples</a:t>
            </a:r>
          </a:p>
          <a:p>
            <a:pPr algn="just"/>
            <a:endParaRPr lang="en-US" sz="2800" b="0" dirty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>
                <a:latin typeface="Tahoma" pitchFamily="34" charset="0"/>
                <a:cs typeface="Times New Roman" pitchFamily="18" charset="0"/>
              </a:rPr>
              <a:t>For this we need a good quantitative measure</a:t>
            </a:r>
          </a:p>
          <a:p>
            <a:pPr algn="just"/>
            <a:endParaRPr lang="en-US" sz="2800" b="0" dirty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>
                <a:latin typeface="Tahoma" pitchFamily="34" charset="0"/>
                <a:cs typeface="Times New Roman" pitchFamily="18" charset="0"/>
              </a:rPr>
              <a:t>For this purpose a statistical property, called </a:t>
            </a:r>
            <a:r>
              <a:rPr lang="en-US" sz="2800" b="0" i="1" dirty="0">
                <a:latin typeface="Tahoma" pitchFamily="34" charset="0"/>
                <a:cs typeface="Times New Roman" pitchFamily="18" charset="0"/>
              </a:rPr>
              <a:t>information gain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 is used</a:t>
            </a:r>
          </a:p>
        </p:txBody>
      </p:sp>
      <p:sp>
        <p:nvSpPr>
          <p:cNvPr id="381956" name="Text Box 4"/>
          <p:cNvSpPr txBox="1">
            <a:spLocks noChangeArrowheads="1"/>
          </p:cNvSpPr>
          <p:nvPr/>
        </p:nvSpPr>
        <p:spPr bwMode="auto">
          <a:xfrm>
            <a:off x="304800" y="533400"/>
            <a:ext cx="81756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GB" sz="3600" b="0" dirty="0">
                <a:latin typeface="Tahoma" pitchFamily="34" charset="0"/>
              </a:rPr>
              <a:t>Which Attribute is the Best Classifier?</a:t>
            </a:r>
            <a:endParaRPr lang="en-US" sz="3600" b="0" dirty="0">
              <a:latin typeface="Tahoma" pitchFamily="34" charset="0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457200" y="1752600"/>
            <a:ext cx="81534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39725" indent="-339725" algn="just">
              <a:buFontTx/>
              <a:buChar char="-"/>
            </a:pPr>
            <a:r>
              <a:rPr lang="en-US" sz="2400" b="0" dirty="0">
                <a:latin typeface="Tahoma" pitchFamily="34" charset="0"/>
                <a:cs typeface="Times New Roman" pitchFamily="18" charset="0"/>
              </a:rPr>
              <a:t>In order to define information gain precisely, we begin by defining </a:t>
            </a:r>
            <a:r>
              <a:rPr lang="en-US" sz="2400" b="0" dirty="0">
                <a:latin typeface="Tahoma" pitchFamily="34" charset="0"/>
              </a:rPr>
              <a:t>entropy </a:t>
            </a:r>
          </a:p>
          <a:p>
            <a:pPr marL="339725" indent="-339725" algn="just">
              <a:buFontTx/>
              <a:buChar char="-"/>
            </a:pPr>
            <a:endParaRPr lang="en-US" sz="2400" b="0" dirty="0">
              <a:latin typeface="Tahoma" pitchFamily="34" charset="0"/>
            </a:endParaRPr>
          </a:p>
          <a:p>
            <a:pPr marL="339725" indent="-339725" algn="just">
              <a:buFontTx/>
              <a:buChar char="-"/>
            </a:pPr>
            <a:r>
              <a:rPr lang="en-US" sz="2400" dirty="0">
                <a:latin typeface="+mj-lt"/>
              </a:rPr>
              <a:t>Entropy</a:t>
            </a:r>
            <a:r>
              <a:rPr lang="en-US" sz="2400" b="0" dirty="0">
                <a:latin typeface="+mj-lt"/>
              </a:rPr>
              <a:t>, as it relates to machine learning, is a measure of the randomness in the information being </a:t>
            </a:r>
            <a:r>
              <a:rPr lang="en-US" sz="2400" b="0" dirty="0" smtClean="0">
                <a:latin typeface="+mj-lt"/>
              </a:rPr>
              <a:t>processed</a:t>
            </a:r>
            <a:endParaRPr lang="en-US" sz="2400" b="0" dirty="0">
              <a:latin typeface="+mj-lt"/>
              <a:cs typeface="Times New Roman" pitchFamily="18" charset="0"/>
            </a:endParaRPr>
          </a:p>
          <a:p>
            <a:pPr marL="339725" indent="-339725" algn="just">
              <a:buFontTx/>
              <a:buChar char="-"/>
            </a:pPr>
            <a:endParaRPr lang="en-US" sz="2400" b="0" dirty="0">
              <a:latin typeface="Tahoma" pitchFamily="34" charset="0"/>
              <a:cs typeface="Times New Roman" pitchFamily="18" charset="0"/>
            </a:endParaRPr>
          </a:p>
          <a:p>
            <a:pPr marL="339725" indent="-339725" algn="just">
              <a:buFontTx/>
              <a:buChar char="-"/>
            </a:pPr>
            <a:r>
              <a:rPr lang="en-US" sz="2400" b="0" dirty="0">
                <a:latin typeface="Tahoma" pitchFamily="34" charset="0"/>
                <a:cs typeface="Times New Roman" pitchFamily="18" charset="0"/>
              </a:rPr>
              <a:t>Entropy characterizes the impurity of an arbitrary collection of </a:t>
            </a:r>
            <a:r>
              <a:rPr lang="en-US" sz="2400" b="0" dirty="0" smtClean="0">
                <a:latin typeface="Tahoma" pitchFamily="34" charset="0"/>
                <a:cs typeface="Times New Roman" pitchFamily="18" charset="0"/>
              </a:rPr>
              <a:t>examples</a:t>
            </a:r>
          </a:p>
          <a:p>
            <a:pPr marL="339725" indent="-339725" algn="just">
              <a:buFontTx/>
              <a:buChar char="-"/>
            </a:pPr>
            <a:endParaRPr lang="en-US" sz="2400" b="0" dirty="0">
              <a:latin typeface="Tahoma" pitchFamily="34" charset="0"/>
              <a:cs typeface="Times New Roman" pitchFamily="18" charset="0"/>
            </a:endParaRPr>
          </a:p>
          <a:p>
            <a:pPr marL="339725" indent="-339725" algn="just">
              <a:buFontTx/>
              <a:buChar char="-"/>
            </a:pPr>
            <a:r>
              <a:rPr lang="en-US" sz="2400" b="0" dirty="0">
                <a:latin typeface="+mj-lt"/>
              </a:rPr>
              <a:t>The higher the </a:t>
            </a:r>
            <a:r>
              <a:rPr lang="en-US" sz="2400" dirty="0">
                <a:latin typeface="+mj-lt"/>
              </a:rPr>
              <a:t>entropy</a:t>
            </a:r>
            <a:r>
              <a:rPr lang="en-US" sz="2400" b="0" dirty="0">
                <a:latin typeface="+mj-lt"/>
              </a:rPr>
              <a:t>, the harder it is to draw any conclusions from that information</a:t>
            </a:r>
            <a:endParaRPr lang="en-US" sz="2400" dirty="0">
              <a:latin typeface="+mj-lt"/>
              <a:cs typeface="Times New Roman" pitchFamily="18" charset="0"/>
            </a:endParaRPr>
          </a:p>
        </p:txBody>
      </p:sp>
      <p:sp>
        <p:nvSpPr>
          <p:cNvPr id="384004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817562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3200" b="0" dirty="0">
                <a:latin typeface="Tahoma" pitchFamily="34" charset="0"/>
              </a:rPr>
              <a:t>Which Attribute is the Best Classifier</a:t>
            </a:r>
            <a:r>
              <a:rPr lang="en-GB" sz="3200" b="0" dirty="0" smtClean="0">
                <a:latin typeface="Tahoma" pitchFamily="34" charset="0"/>
              </a:rPr>
              <a:t>? </a:t>
            </a:r>
          </a:p>
          <a:p>
            <a:r>
              <a:rPr lang="en-GB" sz="3200" b="0" dirty="0" smtClean="0">
                <a:latin typeface="Tahoma" pitchFamily="34" charset="0"/>
              </a:rPr>
              <a:t>Definition </a:t>
            </a:r>
            <a:r>
              <a:rPr lang="en-GB" sz="3200" b="0" dirty="0">
                <a:latin typeface="Tahoma" pitchFamily="34" charset="0"/>
              </a:rPr>
              <a:t>of Entropy</a:t>
            </a:r>
            <a:endParaRPr lang="en-US" sz="3200" b="0" dirty="0">
              <a:latin typeface="Tahoma" pitchFamily="34" charset="0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534400" cy="5181600"/>
          </a:xfrm>
        </p:spPr>
        <p:txBody>
          <a:bodyPr/>
          <a:lstStyle/>
          <a:p>
            <a:r>
              <a:rPr lang="en-US" sz="3200" dirty="0"/>
              <a:t>Entropy </a:t>
            </a:r>
            <a:r>
              <a:rPr lang="en-US" sz="3200" dirty="0" smtClean="0"/>
              <a:t>(D)</a:t>
            </a:r>
            <a:endParaRPr lang="en-US" sz="3200" dirty="0"/>
          </a:p>
          <a:p>
            <a:pPr lvl="1"/>
            <a:r>
              <a:rPr lang="en-US" sz="2800" dirty="0"/>
              <a:t>Entropy of data set </a:t>
            </a:r>
            <a:r>
              <a:rPr lang="en-US" sz="2800" dirty="0" smtClean="0"/>
              <a:t>D </a:t>
            </a:r>
            <a:r>
              <a:rPr lang="en-US" sz="2800" dirty="0"/>
              <a:t>is </a:t>
            </a:r>
            <a:r>
              <a:rPr lang="en-US" sz="2800" dirty="0" smtClean="0"/>
              <a:t>denoted by H(D)</a:t>
            </a:r>
            <a:endParaRPr lang="en-US" sz="2800" dirty="0"/>
          </a:p>
          <a:p>
            <a:pPr lvl="1"/>
            <a:r>
              <a:rPr lang="en-US" sz="2800" i="1" dirty="0" err="1" smtClean="0"/>
              <a:t>C</a:t>
            </a:r>
            <a:r>
              <a:rPr lang="en-US" sz="2800" i="1" baseline="-25000" dirty="0" err="1" smtClean="0"/>
              <a:t>i</a:t>
            </a:r>
            <a:r>
              <a:rPr lang="en-US" sz="2800" i="1" baseline="-25000" dirty="0" smtClean="0"/>
              <a:t> </a:t>
            </a:r>
            <a:r>
              <a:rPr lang="en-US" sz="2800" i="1" dirty="0" smtClean="0"/>
              <a:t>s</a:t>
            </a:r>
            <a:r>
              <a:rPr lang="en-US" sz="2800" dirty="0" smtClean="0"/>
              <a:t> </a:t>
            </a:r>
            <a:r>
              <a:rPr lang="en-US" sz="2800" dirty="0"/>
              <a:t>are the possible classes</a:t>
            </a:r>
          </a:p>
          <a:p>
            <a:pPr lvl="1"/>
            <a:r>
              <a:rPr lang="en-US" sz="2800" dirty="0"/>
              <a:t>p</a:t>
            </a:r>
            <a:r>
              <a:rPr lang="en-US" sz="2800" baseline="-25000" dirty="0"/>
              <a:t>i</a:t>
            </a:r>
            <a:r>
              <a:rPr lang="en-US" sz="2800" dirty="0"/>
              <a:t> = fraction of records from </a:t>
            </a:r>
            <a:r>
              <a:rPr lang="en-US" sz="2800" dirty="0" smtClean="0"/>
              <a:t>D </a:t>
            </a:r>
            <a:r>
              <a:rPr lang="en-US" sz="2800" dirty="0"/>
              <a:t>that have class </a:t>
            </a:r>
            <a:r>
              <a:rPr lang="en-US" sz="2800" dirty="0" smtClean="0"/>
              <a:t>C</a:t>
            </a:r>
            <a:endParaRPr lang="en-US" sz="3600" dirty="0">
              <a:solidFill>
                <a:srgbClr val="FF3300"/>
              </a:solidFill>
            </a:endParaRPr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  <a:noFill/>
          <a:ln/>
        </p:spPr>
        <p:txBody>
          <a:bodyPr/>
          <a:lstStyle/>
          <a:p>
            <a:r>
              <a:rPr lang="en-US"/>
              <a:t>Entropy</a:t>
            </a:r>
          </a:p>
        </p:txBody>
      </p:sp>
      <p:graphicFrame>
        <p:nvGraphicFramePr>
          <p:cNvPr id="345095" name="Object 7"/>
          <p:cNvGraphicFramePr>
            <a:graphicFrameLocks noChangeAspect="1"/>
          </p:cNvGraphicFramePr>
          <p:nvPr/>
        </p:nvGraphicFramePr>
        <p:xfrm>
          <a:off x="1295399" y="3810000"/>
          <a:ext cx="5105401" cy="1065553"/>
        </p:xfrm>
        <a:graphic>
          <a:graphicData uri="http://schemas.openxmlformats.org/presentationml/2006/ole">
            <p:oleObj spid="_x0000_s134166" name="Equation" r:id="rId3" imgW="1397000" imgH="368300" progId="">
              <p:embed/>
            </p:oleObj>
          </a:graphicData>
        </a:graphic>
      </p:graphicFrame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sz="4000" dirty="0"/>
              <a:t>Entropy Examples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066800"/>
            <a:ext cx="8156575" cy="5334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Example: 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10 records have class A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20 records have class B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30 records have class C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40 records have class D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Entropy = -[(.1 log .1) + (.2 log .2) + (.3 log .3) + (.4 log .4)]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Entropy </a:t>
            </a:r>
            <a:r>
              <a:rPr lang="en-US"/>
              <a:t>= </a:t>
            </a:r>
            <a:r>
              <a:rPr lang="en-US" smtClean="0"/>
              <a:t>1.846 </a:t>
            </a:r>
            <a:endParaRPr lang="en-US" dirty="0"/>
          </a:p>
          <a:p>
            <a:pPr>
              <a:lnSpc>
                <a:spcPct val="8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3600" dirty="0"/>
              <a:t>Splitting Criterion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32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Two classes, +/-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100 records overall  (50 +s and 50 -s)</a:t>
            </a:r>
          </a:p>
          <a:p>
            <a:pPr lvl="1">
              <a:lnSpc>
                <a:spcPct val="80000"/>
              </a:lnSpc>
            </a:pPr>
            <a:r>
              <a:rPr lang="en-US" sz="3200" dirty="0"/>
              <a:t>A and B are two binary attributes</a:t>
            </a:r>
          </a:p>
          <a:p>
            <a:pPr lvl="2">
              <a:lnSpc>
                <a:spcPct val="80000"/>
              </a:lnSpc>
            </a:pPr>
            <a:r>
              <a:rPr lang="en-US" sz="2800" dirty="0"/>
              <a:t>Records with A=0:  48+, 2-</a:t>
            </a:r>
            <a:br>
              <a:rPr lang="en-US" sz="2800" dirty="0"/>
            </a:br>
            <a:r>
              <a:rPr lang="en-US" sz="2800" dirty="0"/>
              <a:t>Records with A=1:  2+, 48-</a:t>
            </a:r>
          </a:p>
          <a:p>
            <a:pPr lvl="2">
              <a:lnSpc>
                <a:spcPct val="80000"/>
              </a:lnSpc>
            </a:pPr>
            <a:r>
              <a:rPr lang="en-US" sz="2800" dirty="0"/>
              <a:t>Records with B=0:  26+, 24-</a:t>
            </a:r>
            <a:br>
              <a:rPr lang="en-US" sz="2800" dirty="0"/>
            </a:br>
            <a:r>
              <a:rPr lang="en-US" sz="2800" dirty="0"/>
              <a:t>Records with B=1:  24+, 26-</a:t>
            </a:r>
          </a:p>
          <a:p>
            <a:pPr lvl="1">
              <a:lnSpc>
                <a:spcPct val="80000"/>
              </a:lnSpc>
            </a:pPr>
            <a:r>
              <a:rPr lang="en-US" sz="3200" dirty="0">
                <a:solidFill>
                  <a:srgbClr val="FF3300"/>
                </a:solidFill>
              </a:rPr>
              <a:t>Splitting on A is better than splitting on B</a:t>
            </a:r>
          </a:p>
          <a:p>
            <a:pPr lvl="2">
              <a:lnSpc>
                <a:spcPct val="80000"/>
              </a:lnSpc>
            </a:pPr>
            <a:r>
              <a:rPr lang="en-US" sz="2800" dirty="0"/>
              <a:t>A does a good job of separating +s and -s</a:t>
            </a:r>
          </a:p>
          <a:p>
            <a:pPr lvl="2">
              <a:lnSpc>
                <a:spcPct val="80000"/>
              </a:lnSpc>
            </a:pPr>
            <a:r>
              <a:rPr lang="en-US" sz="2800" dirty="0"/>
              <a:t>B does a poor job of separating +s and -s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Text Box 2"/>
          <p:cNvSpPr txBox="1">
            <a:spLocks noChangeArrowheads="1"/>
          </p:cNvSpPr>
          <p:nvPr/>
        </p:nvSpPr>
        <p:spPr bwMode="auto">
          <a:xfrm>
            <a:off x="457200" y="1524000"/>
            <a:ext cx="838200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The expected information needed to classify a </a:t>
            </a:r>
            <a:r>
              <a:rPr lang="en-US" sz="2800" b="0" dirty="0" err="1" smtClean="0">
                <a:latin typeface="Tahoma" pitchFamily="34" charset="0"/>
                <a:cs typeface="Times New Roman" pitchFamily="18" charset="0"/>
              </a:rPr>
              <a:t>tuple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 in D is</a:t>
            </a:r>
            <a:endParaRPr lang="en-US" sz="2800" b="0" dirty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					= Entropy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	</a:t>
            </a:r>
            <a:endParaRPr lang="en-US" sz="2800" b="0" dirty="0" smtClean="0">
              <a:latin typeface="Tahoma" pitchFamily="34" charset="0"/>
              <a:cs typeface="Times New Roman" pitchFamily="18" charset="0"/>
            </a:endParaRPr>
          </a:p>
          <a:p>
            <a:pPr algn="l"/>
            <a:r>
              <a:rPr lang="en-US" sz="2800" b="0" dirty="0" smtClean="0"/>
              <a:t>How much more information would we still need (after partitioning at attribute A) to arrive at an exact classification? This amount is measured by</a:t>
            </a:r>
            <a:endParaRPr lang="en-US" sz="2800" b="0" dirty="0" smtClean="0">
              <a:latin typeface="Tahoma" pitchFamily="34" charset="0"/>
              <a:cs typeface="Times New Roman" pitchFamily="18" charset="0"/>
            </a:endParaRPr>
          </a:p>
          <a:p>
            <a:pPr algn="just"/>
            <a:endParaRPr lang="en-US" sz="2000" b="0" dirty="0" smtClean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					      = H(D, A)</a:t>
            </a:r>
          </a:p>
          <a:p>
            <a:pPr algn="just"/>
            <a:endParaRPr lang="en-US" sz="2800" b="0" dirty="0" smtClean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Info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Gain 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(D, A)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=  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H(D)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– 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H(D, A) </a:t>
            </a:r>
            <a:endParaRPr lang="en-US" sz="2800" b="0" dirty="0">
              <a:latin typeface="Tahoma" pitchFamily="34" charset="0"/>
              <a:cs typeface="Times New Roman" pitchFamily="18" charset="0"/>
            </a:endParaRPr>
          </a:p>
          <a:p>
            <a:pPr algn="just"/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In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general, we write Gain 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(D,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A</a:t>
            </a:r>
            <a:r>
              <a:rPr lang="en-US" sz="2800" b="0" dirty="0" smtClean="0">
                <a:latin typeface="Tahoma" pitchFamily="34" charset="0"/>
                <a:cs typeface="Times New Roman" pitchFamily="18" charset="0"/>
              </a:rPr>
              <a:t>), where D </a:t>
            </a:r>
            <a:r>
              <a:rPr lang="en-US" sz="2800" b="0" dirty="0">
                <a:latin typeface="Tahoma" pitchFamily="34" charset="0"/>
                <a:cs typeface="Times New Roman" pitchFamily="18" charset="0"/>
              </a:rPr>
              <a:t>is the collection of examples &amp; A is an attribute</a:t>
            </a:r>
          </a:p>
        </p:txBody>
      </p:sp>
      <p:sp>
        <p:nvSpPr>
          <p:cNvPr id="35226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8458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sz="3600" b="0" dirty="0">
                <a:latin typeface="Tahoma" pitchFamily="34" charset="0"/>
              </a:rPr>
              <a:t>Which Attribute is the Best Classifier</a:t>
            </a:r>
            <a:r>
              <a:rPr lang="en-GB" sz="3600" b="0" dirty="0" smtClean="0">
                <a:latin typeface="Tahoma" pitchFamily="34" charset="0"/>
              </a:rPr>
              <a:t>? </a:t>
            </a:r>
            <a:r>
              <a:rPr lang="en-GB" sz="3600" b="0" dirty="0">
                <a:latin typeface="Tahoma" pitchFamily="34" charset="0"/>
              </a:rPr>
              <a:t>Information Gain</a:t>
            </a:r>
            <a:endParaRPr lang="en-US" sz="3600" b="0" dirty="0">
              <a:latin typeface="Tahoma" pitchFamily="34" charset="0"/>
            </a:endParaRPr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4267200"/>
            <a:ext cx="336596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7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2209800"/>
            <a:ext cx="2458206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239000" cy="838200"/>
          </a:xfrm>
        </p:spPr>
        <p:txBody>
          <a:bodyPr/>
          <a:lstStyle/>
          <a:p>
            <a:r>
              <a:rPr lang="en-US" dirty="0" smtClean="0"/>
              <a:t>Information Gain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</a:rPr>
              <a:t>Gain</a:t>
            </a:r>
            <a:r>
              <a:rPr lang="en-US" sz="2800" b="1" i="1" dirty="0" smtClean="0"/>
              <a:t> of an attribute split: </a:t>
            </a:r>
            <a:r>
              <a:rPr lang="en-US" sz="2800" dirty="0" smtClean="0"/>
              <a:t>compare the impurity of the parent node with the average impurity of the child nodes 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Maximizing</a:t>
            </a:r>
            <a:r>
              <a:rPr lang="en-US" sz="2800" dirty="0" smtClean="0"/>
              <a:t> the </a:t>
            </a:r>
            <a:r>
              <a:rPr lang="en-US" sz="2800" dirty="0" smtClean="0">
                <a:solidFill>
                  <a:srgbClr val="0070C0"/>
                </a:solidFill>
              </a:rPr>
              <a:t>gain</a:t>
            </a:r>
            <a:r>
              <a:rPr lang="en-US" sz="2800" dirty="0" smtClean="0"/>
              <a:t> </a:t>
            </a:r>
            <a:r>
              <a:rPr lang="en-US" sz="2800" dirty="0" smtClean="0">
                <a:sym typeface="Symbol"/>
              </a:rPr>
              <a:t>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inimizing </a:t>
            </a:r>
            <a:r>
              <a:rPr lang="en-US" sz="2800" dirty="0" smtClean="0"/>
              <a:t>the weighted average </a:t>
            </a:r>
            <a:r>
              <a:rPr lang="en-US" sz="2800" dirty="0" smtClean="0">
                <a:solidFill>
                  <a:srgbClr val="0070C0"/>
                </a:solidFill>
              </a:rPr>
              <a:t>impurity</a:t>
            </a:r>
            <a:r>
              <a:rPr lang="en-US" sz="2800" dirty="0" smtClean="0"/>
              <a:t> measure of children nodes</a:t>
            </a:r>
          </a:p>
          <a:p>
            <a:endParaRPr lang="en-US" sz="2800" dirty="0"/>
          </a:p>
          <a:p>
            <a:r>
              <a:rPr lang="en-US" sz="2800" dirty="0" smtClean="0"/>
              <a:t>ID3 uses information gain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535475803"/>
              </p:ext>
            </p:extLst>
          </p:nvPr>
        </p:nvGraphicFramePr>
        <p:xfrm>
          <a:off x="1473200" y="2743200"/>
          <a:ext cx="6426200" cy="1143000"/>
        </p:xfrm>
        <a:graphic>
          <a:graphicData uri="http://schemas.openxmlformats.org/presentationml/2006/ole">
            <p:oleObj spid="_x0000_s152578" name="Equation" r:id="rId3" imgW="2374900" imgH="457200" progId="">
              <p:embed/>
            </p:oleObj>
          </a:graphicData>
        </a:graphic>
      </p:graphicFrame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209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189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68926"/>
            <a:ext cx="6248399" cy="446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5028872"/>
            <a:ext cx="4876799" cy="533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5536132"/>
            <a:ext cx="3276600" cy="55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0" y="5556354"/>
            <a:ext cx="1828800" cy="5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38800" y="5553075"/>
            <a:ext cx="25241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95399" y="6096000"/>
            <a:ext cx="126274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9448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7200" y="6410325"/>
            <a:ext cx="50577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81000" y="76200"/>
            <a:ext cx="7772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Constructing Decision Tree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81000" y="304800"/>
            <a:ext cx="7772400" cy="609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Examples Constructing Decision Tree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381000" y="990600"/>
            <a:ext cx="7772400" cy="44196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99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143000"/>
            <a:ext cx="33337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1552575"/>
            <a:ext cx="3124200" cy="36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99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1981200"/>
            <a:ext cx="403860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ontent Placeholder 3"/>
          <p:cNvSpPr txBox="1">
            <a:spLocks/>
          </p:cNvSpPr>
          <p:nvPr/>
        </p:nvSpPr>
        <p:spPr>
          <a:xfrm>
            <a:off x="381000" y="2362200"/>
            <a:ext cx="7772400" cy="2743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So the attribute Age will be placed at root level.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Tx/>
              <a:buFont typeface="Monotype Sorts" pitchFamily="2" charset="2"/>
              <a:buChar char="u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 placement at second level we find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InfoGain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for</a:t>
            </a:r>
            <a:r>
              <a:rPr kumimoji="0" lang="en-US" sz="28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all the remaining attributes under every branch of the parent node. 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8235</TotalTime>
  <Words>589</Words>
  <Application>Microsoft Office PowerPoint</Application>
  <PresentationFormat>On-screen Show (4:3)</PresentationFormat>
  <Paragraphs>155</Paragraphs>
  <Slides>18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Default Design</vt:lpstr>
      <vt:lpstr>Visio</vt:lpstr>
      <vt:lpstr>Equation</vt:lpstr>
      <vt:lpstr>Decision Trees</vt:lpstr>
      <vt:lpstr>Slide 2</vt:lpstr>
      <vt:lpstr>Tree Induction</vt:lpstr>
      <vt:lpstr>How to Specify Test Condition?</vt:lpstr>
      <vt:lpstr>Splitting Based on Nominal Attributes</vt:lpstr>
      <vt:lpstr>Splitting Based on Ordinal Attributes</vt:lpstr>
      <vt:lpstr>Splitting Based on Continuous Attributes</vt:lpstr>
      <vt:lpstr>Splitting Based on Continuous Attributes</vt:lpstr>
      <vt:lpstr>How to determine the Best Split</vt:lpstr>
      <vt:lpstr>Slide 10</vt:lpstr>
      <vt:lpstr>Slide 11</vt:lpstr>
      <vt:lpstr>Entropy</vt:lpstr>
      <vt:lpstr>Entropy Examples</vt:lpstr>
      <vt:lpstr>Splitting Criterion</vt:lpstr>
      <vt:lpstr>Slide 15</vt:lpstr>
      <vt:lpstr>Information Gain</vt:lpstr>
      <vt:lpstr>Slide 17</vt:lpstr>
      <vt:lpstr>Slide 18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481</cp:revision>
  <dcterms:created xsi:type="dcterms:W3CDTF">2006-02-06T02:43:57Z</dcterms:created>
  <dcterms:modified xsi:type="dcterms:W3CDTF">2020-06-04T22:48:57Z</dcterms:modified>
</cp:coreProperties>
</file>