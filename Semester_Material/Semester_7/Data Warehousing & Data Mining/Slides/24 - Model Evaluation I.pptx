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0"/>
  </p:notesMasterIdLst>
  <p:sldIdLst>
    <p:sldId id="561" r:id="rId2"/>
    <p:sldId id="452" r:id="rId3"/>
    <p:sldId id="453" r:id="rId4"/>
    <p:sldId id="455" r:id="rId5"/>
    <p:sldId id="456" r:id="rId6"/>
    <p:sldId id="457" r:id="rId7"/>
    <p:sldId id="458" r:id="rId8"/>
    <p:sldId id="459" r:id="rId9"/>
    <p:sldId id="460" r:id="rId10"/>
    <p:sldId id="513" r:id="rId11"/>
    <p:sldId id="518" r:id="rId12"/>
    <p:sldId id="514" r:id="rId13"/>
    <p:sldId id="515" r:id="rId14"/>
    <p:sldId id="516" r:id="rId15"/>
    <p:sldId id="559" r:id="rId16"/>
    <p:sldId id="551" r:id="rId17"/>
    <p:sldId id="552" r:id="rId18"/>
    <p:sldId id="553" r:id="rId19"/>
    <p:sldId id="555" r:id="rId20"/>
    <p:sldId id="554" r:id="rId21"/>
    <p:sldId id="556" r:id="rId22"/>
    <p:sldId id="557" r:id="rId23"/>
    <p:sldId id="558" r:id="rId24"/>
    <p:sldId id="517" r:id="rId25"/>
    <p:sldId id="470" r:id="rId26"/>
    <p:sldId id="471" r:id="rId27"/>
    <p:sldId id="473" r:id="rId28"/>
    <p:sldId id="560" r:id="rId2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  <a:srgbClr val="FF3399"/>
    <a:srgbClr val="FF33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4229" autoAdjust="0"/>
  </p:normalViewPr>
  <p:slideViewPr>
    <p:cSldViewPr>
      <p:cViewPr varScale="1">
        <p:scale>
          <a:sx n="61" d="100"/>
          <a:sy n="61" d="100"/>
        </p:scale>
        <p:origin x="-1608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BAC4160-D9F3-45E2-9DE0-B8B505BD6E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602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model-performance-cost-functions-for-classification-models-a7b1b00ba60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95B799E-8931-4162-B505-68AEEEF98DB2}" type="slidenum">
              <a:rPr lang="en-US" smtClean="0">
                <a:latin typeface="Arial" pitchFamily="34" charset="0"/>
                <a:cs typeface="Arial" pitchFamily="34" charset="0"/>
              </a:rPr>
              <a:pPr/>
              <a:t>1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034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hlinkClick r:id="rId3"/>
              </a:rPr>
              <a:t>https://towardsdatascience.com/model-performance-cost-functions-for-classification-models-a7b1b00ba60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AC4160-D9F3-45E2-9DE0-B8B505BD6EB4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1C92DB-6727-4345-AE51-E33248E07424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692150"/>
            <a:ext cx="4552950" cy="3416300"/>
          </a:xfrm>
          <a:ln w="12700" cap="flat">
            <a:solidFill>
              <a:schemeClr val="tx1"/>
            </a:solidFill>
          </a:ln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44108"/>
            <a:ext cx="5028579" cy="4116215"/>
          </a:xfrm>
          <a:noFill/>
          <a:ln/>
        </p:spPr>
        <p:txBody>
          <a:bodyPr lIns="86029" tIns="43014" rIns="86029" bIns="43014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A9EE7-E4AC-4300-A754-514C3129D0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E1A1F-3ABD-4CEF-A482-B15E21FE0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8B5C6-2A8F-42B5-99F9-35F9B3F4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5BAAB9-4F84-40AE-B308-95384B73C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3200C8-5B76-4616-82A2-EE151DA163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4BC93-BA4B-4474-84A5-200AE18AB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8A281-50F0-40D6-9CF3-3E00E48EF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7B583-639C-495F-A483-15D5E0E4D9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14A99-27F8-416E-9CB7-91D553088F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75F8-C3A3-43B4-80CB-23D2B6E01E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A0AFE1-0021-4963-8B77-5747897D1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026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84582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00500"/>
            <a:ext cx="84582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7B98E8-BCD2-4123-AF29-A4D81680A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37903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99CC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fld id="{7DCC2CAA-102D-45B2-908E-FFE82ECC9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9" r:id="rId7"/>
    <p:sldLayoutId id="2147484170" r:id="rId8"/>
    <p:sldLayoutId id="2147484171" r:id="rId9"/>
    <p:sldLayoutId id="2147484172" r:id="rId10"/>
    <p:sldLayoutId id="2147484173" r:id="rId11"/>
    <p:sldLayoutId id="2147484174" r:id="rId12"/>
    <p:sldLayoutId id="2147484175" r:id="rId13"/>
    <p:sldLayoutId id="2147484181" r:id="rId14"/>
    <p:sldLayoutId id="214748418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u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Font typeface="Monotype Sorts" pitchFamily="2" charset="2"/>
        <a:buChar char="w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CC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4"/>
          <p:cNvSpPr txBox="1">
            <a:spLocks noChangeArrowheads="1"/>
          </p:cNvSpPr>
          <p:nvPr/>
        </p:nvSpPr>
        <p:spPr bwMode="auto">
          <a:xfrm>
            <a:off x="762000" y="762000"/>
            <a:ext cx="7543800" cy="471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400" dirty="0"/>
              <a:t>CSC479 </a:t>
            </a:r>
          </a:p>
          <a:p>
            <a:r>
              <a:rPr lang="en-US" sz="4400" dirty="0"/>
              <a:t>Data Mining</a:t>
            </a:r>
          </a:p>
          <a:p>
            <a:endParaRPr lang="en-US" sz="2800" dirty="0"/>
          </a:p>
          <a:p>
            <a:endParaRPr lang="en-US" sz="2800" dirty="0"/>
          </a:p>
          <a:p>
            <a:pPr lvl="2"/>
            <a:r>
              <a:rPr lang="en-US" sz="3600" dirty="0" smtClean="0"/>
              <a:t>Classification Lecture 8</a:t>
            </a:r>
          </a:p>
          <a:p>
            <a:pPr lvl="2"/>
            <a:r>
              <a:rPr lang="en-US" sz="3600" b="0" dirty="0" smtClean="0"/>
              <a:t>Model Evaluation</a:t>
            </a:r>
          </a:p>
          <a:p>
            <a:pPr>
              <a:lnSpc>
                <a:spcPct val="90000"/>
              </a:lnSpc>
            </a:pPr>
            <a:endParaRPr lang="en-US" sz="3600" b="0" dirty="0"/>
          </a:p>
          <a:p>
            <a:r>
              <a:rPr lang="en-US" sz="2400" dirty="0"/>
              <a:t>(</a:t>
            </a:r>
            <a:r>
              <a:rPr lang="en-US" sz="2800" dirty="0"/>
              <a:t>Ch # </a:t>
            </a:r>
            <a:r>
              <a:rPr lang="en-US" sz="2800" dirty="0" smtClean="0"/>
              <a:t>8: Data Mining</a:t>
            </a:r>
            <a:r>
              <a:rPr lang="en-US" sz="2400" dirty="0" smtClean="0"/>
              <a:t>-Concepts and Techniques by Han and </a:t>
            </a:r>
            <a:r>
              <a:rPr lang="en-US" sz="2400" dirty="0" err="1" smtClean="0"/>
              <a:t>Kamber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8A281-50F0-40D6-9CF3-3E00E48EFEF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Practical Issues of Classification</a:t>
            </a:r>
          </a:p>
        </p:txBody>
      </p:sp>
      <p:sp>
        <p:nvSpPr>
          <p:cNvPr id="93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Underfitting</a:t>
            </a:r>
            <a:r>
              <a:rPr lang="en-US" dirty="0"/>
              <a:t> and </a:t>
            </a:r>
            <a:r>
              <a:rPr lang="en-US" dirty="0" err="1"/>
              <a:t>Overfitting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5298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25262"/>
            <a:ext cx="8229600" cy="990600"/>
          </a:xfrm>
        </p:spPr>
        <p:txBody>
          <a:bodyPr/>
          <a:lstStyle/>
          <a:p>
            <a:r>
              <a:rPr lang="en-US"/>
              <a:t>Underfitting and Overfitting</a:t>
            </a:r>
          </a:p>
        </p:txBody>
      </p:sp>
      <p:pic>
        <p:nvPicPr>
          <p:cNvPr id="9390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5638800" cy="422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9012" name="Line 4"/>
          <p:cNvSpPr>
            <a:spLocks noChangeShapeType="1"/>
          </p:cNvSpPr>
          <p:nvPr/>
        </p:nvSpPr>
        <p:spPr bwMode="auto">
          <a:xfrm>
            <a:off x="4222811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9013" name="Text Box 5"/>
          <p:cNvSpPr txBox="1">
            <a:spLocks noChangeArrowheads="1"/>
          </p:cNvSpPr>
          <p:nvPr/>
        </p:nvSpPr>
        <p:spPr bwMode="auto">
          <a:xfrm>
            <a:off x="4318247" y="1906873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/>
              <a:t>Overfitting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39014" name="Text Box 6"/>
          <p:cNvSpPr txBox="1">
            <a:spLocks noChangeArrowheads="1"/>
          </p:cNvSpPr>
          <p:nvPr/>
        </p:nvSpPr>
        <p:spPr bwMode="auto">
          <a:xfrm>
            <a:off x="419100" y="5782438"/>
            <a:ext cx="8458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>
                <a:solidFill>
                  <a:srgbClr val="0070C0"/>
                </a:solidFill>
              </a:rPr>
              <a:t>Underfitting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simple</a:t>
            </a:r>
            <a:r>
              <a:rPr lang="en-US" sz="1800" b="0" dirty="0"/>
              <a:t>, both training and test errors are large </a:t>
            </a:r>
            <a:endParaRPr lang="en-US" sz="1800" b="0" dirty="0">
              <a:sym typeface="Symbol" pitchFamily="18" charset="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743200" y="1816963"/>
            <a:ext cx="0" cy="358140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828800" y="1889099"/>
            <a:ext cx="1600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 err="1" smtClean="0"/>
              <a:t>Underfitting</a:t>
            </a:r>
            <a:endParaRPr lang="en-US" sz="1800" dirty="0">
              <a:sym typeface="Symbol" pitchFamily="18" charset="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54611" y="6149150"/>
            <a:ext cx="8458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 smtClean="0">
                <a:solidFill>
                  <a:srgbClr val="0070C0"/>
                </a:solidFill>
              </a:rPr>
              <a:t>Ove</a:t>
            </a:r>
            <a:r>
              <a:rPr lang="en-US" sz="1800" dirty="0" err="1" smtClean="0">
                <a:solidFill>
                  <a:srgbClr val="0070C0"/>
                </a:solidFill>
              </a:rPr>
              <a:t>rfitting</a:t>
            </a:r>
            <a:r>
              <a:rPr lang="en-US" sz="1800" b="0" dirty="0"/>
              <a:t>: when model is </a:t>
            </a:r>
            <a:r>
              <a:rPr lang="en-US" sz="1800" b="0" dirty="0">
                <a:solidFill>
                  <a:schemeClr val="accent6">
                    <a:lumMod val="75000"/>
                  </a:schemeClr>
                </a:solidFill>
              </a:rPr>
              <a:t>too </a:t>
            </a:r>
            <a:r>
              <a:rPr lang="en-US" sz="1800" b="0" dirty="0" smtClean="0">
                <a:solidFill>
                  <a:schemeClr val="accent6">
                    <a:lumMod val="75000"/>
                  </a:schemeClr>
                </a:solidFill>
              </a:rPr>
              <a:t>complex </a:t>
            </a:r>
            <a:r>
              <a:rPr lang="en-US" sz="1800" b="0" dirty="0" smtClean="0"/>
              <a:t>it models the details of the training set and fails on the test set </a:t>
            </a:r>
            <a:endParaRPr lang="en-US" sz="1800" b="0" dirty="0">
              <a:sym typeface="Symbol" pitchFamily="18" charset="2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2155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r>
              <a:rPr lang="en-US" dirty="0"/>
              <a:t>Notes on </a:t>
            </a:r>
            <a:r>
              <a:rPr lang="en-US" dirty="0" err="1"/>
              <a:t>Overfitting</a:t>
            </a:r>
            <a:endParaRPr lang="en-US" dirty="0"/>
          </a:p>
        </p:txBody>
      </p:sp>
      <p:sp>
        <p:nvSpPr>
          <p:cNvPr id="942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105400"/>
          </a:xfrm>
        </p:spPr>
        <p:txBody>
          <a:bodyPr/>
          <a:lstStyle/>
          <a:p>
            <a:r>
              <a:rPr lang="en-US" dirty="0" err="1"/>
              <a:t>Overfitting</a:t>
            </a:r>
            <a:r>
              <a:rPr lang="en-US" dirty="0"/>
              <a:t> results in decision trees that are more complex than necessary</a:t>
            </a:r>
          </a:p>
          <a:p>
            <a:r>
              <a:rPr lang="en-US" dirty="0" smtClean="0"/>
              <a:t>Training </a:t>
            </a:r>
            <a:r>
              <a:rPr lang="en-US" dirty="0"/>
              <a:t>error no longer provides a good estimate of how well the tree will perform on previously unseen </a:t>
            </a:r>
            <a:r>
              <a:rPr lang="en-US" dirty="0" smtClean="0"/>
              <a:t>records</a:t>
            </a:r>
          </a:p>
          <a:p>
            <a:pPr lvl="1"/>
            <a:r>
              <a:rPr lang="en-US" dirty="0" smtClean="0"/>
              <a:t>The model does not </a:t>
            </a:r>
            <a:r>
              <a:rPr lang="en-US" dirty="0" smtClean="0">
                <a:solidFill>
                  <a:srgbClr val="FF0000"/>
                </a:solidFill>
              </a:rPr>
              <a:t>generalize</a:t>
            </a:r>
            <a:r>
              <a:rPr lang="en-US" dirty="0" smtClean="0"/>
              <a:t> well</a:t>
            </a:r>
            <a:endParaRPr lang="en-US" dirty="0"/>
          </a:p>
          <a:p>
            <a:r>
              <a:rPr lang="en-US" dirty="0" smtClean="0"/>
              <a:t>Need </a:t>
            </a:r>
            <a:r>
              <a:rPr lang="en-US" dirty="0"/>
              <a:t>new ways for estimating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6460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924800" cy="1219200"/>
          </a:xfrm>
        </p:spPr>
        <p:txBody>
          <a:bodyPr/>
          <a:lstStyle/>
          <a:p>
            <a:r>
              <a:rPr lang="en-US" sz="3600" dirty="0"/>
              <a:t>How to Address </a:t>
            </a:r>
            <a:r>
              <a:rPr lang="en-US" sz="3600" dirty="0" err="1" smtClean="0"/>
              <a:t>Overfitting</a:t>
            </a:r>
            <a:r>
              <a:rPr lang="en-US" sz="3600" dirty="0" smtClean="0"/>
              <a:t>: </a:t>
            </a:r>
            <a:br>
              <a:rPr lang="en-US" sz="3600" dirty="0" smtClean="0"/>
            </a:br>
            <a:r>
              <a:rPr lang="en-US" sz="3600" dirty="0" smtClean="0"/>
              <a:t>Tree Pruning</a:t>
            </a:r>
            <a:endParaRPr lang="en-US" sz="3600" dirty="0"/>
          </a:p>
        </p:txBody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91600" cy="5181600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Pre-Pruning (Early Stopping Rule)</a:t>
            </a:r>
          </a:p>
          <a:p>
            <a:pPr marL="630238" lvl="1" indent="-284163"/>
            <a:r>
              <a:rPr lang="en-US" sz="2200" dirty="0"/>
              <a:t>Stop the algorithm before it becomes a fully-grown tree</a:t>
            </a:r>
          </a:p>
          <a:p>
            <a:pPr marL="630238" lvl="1" indent="-284163"/>
            <a:r>
              <a:rPr lang="en-US" sz="2200" dirty="0"/>
              <a:t>Typical stopping conditions for a node:</a:t>
            </a:r>
          </a:p>
          <a:p>
            <a:pPr marL="844550" lvl="2"/>
            <a:r>
              <a:rPr lang="en-US" sz="1800" dirty="0" smtClean="0"/>
              <a:t>Stop </a:t>
            </a:r>
            <a:r>
              <a:rPr lang="en-US" sz="1800" dirty="0"/>
              <a:t>if all instances belong to the same class</a:t>
            </a:r>
          </a:p>
          <a:p>
            <a:pPr marL="844550" lvl="2"/>
            <a:r>
              <a:rPr lang="en-US" sz="1800" dirty="0" smtClean="0"/>
              <a:t>Stop </a:t>
            </a:r>
            <a:r>
              <a:rPr lang="en-US" sz="1800" dirty="0"/>
              <a:t>if all the attribute values are the same</a:t>
            </a:r>
          </a:p>
          <a:p>
            <a:pPr lvl="1"/>
            <a:r>
              <a:rPr lang="en-US" sz="2200" dirty="0" smtClean="0"/>
              <a:t>More </a:t>
            </a:r>
            <a:r>
              <a:rPr lang="en-US" sz="2200" dirty="0">
                <a:solidFill>
                  <a:srgbClr val="0070C0"/>
                </a:solidFill>
              </a:rPr>
              <a:t>restrictive</a:t>
            </a:r>
            <a:r>
              <a:rPr lang="en-US" sz="2200" dirty="0"/>
              <a:t> conditions:</a:t>
            </a:r>
          </a:p>
          <a:p>
            <a:pPr marL="844550" lvl="2"/>
            <a:r>
              <a:rPr lang="en-US" sz="1800" dirty="0" smtClean="0"/>
              <a:t>Stop </a:t>
            </a:r>
            <a:r>
              <a:rPr lang="en-US" sz="1800" dirty="0"/>
              <a:t>if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number of instances </a:t>
            </a:r>
            <a:r>
              <a:rPr lang="en-US" sz="1800" dirty="0"/>
              <a:t>is less than some user-specified threshold</a:t>
            </a:r>
          </a:p>
          <a:p>
            <a:pPr marL="844550" lvl="2"/>
            <a:r>
              <a:rPr lang="en-US" sz="1800" dirty="0" smtClean="0"/>
              <a:t>Stop </a:t>
            </a:r>
            <a:r>
              <a:rPr lang="en-US" sz="1800" dirty="0"/>
              <a:t>if class distribution of instances are </a:t>
            </a:r>
            <a:r>
              <a:rPr lang="en-US" sz="1800" dirty="0">
                <a:solidFill>
                  <a:srgbClr val="0070C0"/>
                </a:solidFill>
              </a:rPr>
              <a:t>independent </a:t>
            </a:r>
            <a:r>
              <a:rPr lang="en-US" sz="1800" dirty="0"/>
              <a:t>of the available features (e.g., using </a:t>
            </a:r>
            <a:r>
              <a:rPr lang="en-US" sz="1800" dirty="0">
                <a:sym typeface="Symbol" pitchFamily="18" charset="2"/>
              </a:rPr>
              <a:t></a:t>
            </a:r>
            <a:r>
              <a:rPr lang="en-US" sz="1800" baseline="30000" dirty="0">
                <a:sym typeface="Symbol" pitchFamily="18" charset="2"/>
              </a:rPr>
              <a:t> 2</a:t>
            </a:r>
            <a:r>
              <a:rPr lang="en-US" sz="1800" dirty="0">
                <a:sym typeface="Symbol" pitchFamily="18" charset="2"/>
              </a:rPr>
              <a:t> test)</a:t>
            </a:r>
            <a:endParaRPr lang="en-US" sz="1800" baseline="30000" dirty="0"/>
          </a:p>
          <a:p>
            <a:pPr marL="844550" lvl="2"/>
            <a:r>
              <a:rPr lang="en-US" sz="1800" dirty="0" smtClean="0"/>
              <a:t>Stop </a:t>
            </a:r>
            <a:r>
              <a:rPr lang="en-US" sz="1800" dirty="0"/>
              <a:t>if expanding the current node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</a:rPr>
              <a:t>does not improve </a:t>
            </a:r>
            <a:r>
              <a:rPr lang="en-US" sz="1800" dirty="0" smtClean="0">
                <a:solidFill>
                  <a:schemeClr val="accent6">
                    <a:lumMod val="75000"/>
                  </a:schemeClr>
                </a:solidFill>
              </a:rPr>
              <a:t>impurity </a:t>
            </a:r>
            <a:r>
              <a:rPr lang="en-US" sz="1800" dirty="0"/>
              <a:t>measures (e.g., </a:t>
            </a:r>
            <a:r>
              <a:rPr lang="en-US" sz="1800" dirty="0" err="1"/>
              <a:t>Gini</a:t>
            </a:r>
            <a:r>
              <a:rPr lang="en-US" sz="1800" dirty="0"/>
              <a:t> or information gain</a:t>
            </a:r>
            <a:r>
              <a:rPr lang="en-US" sz="1800" dirty="0" smtClean="0"/>
              <a:t>) or it falls below a threshold value. </a:t>
            </a:r>
          </a:p>
          <a:p>
            <a:pPr marL="630238" lvl="1" indent="-284163"/>
            <a:r>
              <a:rPr lang="en-US" sz="2200" dirty="0" smtClean="0"/>
              <a:t>Upon halting, the node becomes a leaf</a:t>
            </a:r>
          </a:p>
          <a:p>
            <a:pPr marL="630238" lvl="1" indent="-284163"/>
            <a:r>
              <a:rPr lang="en-US" sz="2200" dirty="0" smtClean="0"/>
              <a:t>The leaf may hold the most frequent class among the subset </a:t>
            </a:r>
            <a:r>
              <a:rPr lang="en-US" sz="2200" dirty="0" err="1" smtClean="0"/>
              <a:t>tuples</a:t>
            </a:r>
            <a:r>
              <a:rPr lang="en-US" sz="2200" dirty="0" smtClean="0"/>
              <a:t>.</a:t>
            </a:r>
          </a:p>
          <a:p>
            <a:pPr marL="630238" lvl="1" indent="-284163"/>
            <a:r>
              <a:rPr lang="en-US" sz="2200" dirty="0" smtClean="0"/>
              <a:t>Problem</a:t>
            </a:r>
          </a:p>
          <a:p>
            <a:pPr marL="1030288" lvl="2" indent="-284163"/>
            <a:r>
              <a:rPr lang="en-US" sz="1800" dirty="0" smtClean="0"/>
              <a:t>Difficult to choose an appropriate threshold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6790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 sz="4000" dirty="0"/>
              <a:t>How to Address </a:t>
            </a:r>
            <a:r>
              <a:rPr lang="en-US" sz="4000" dirty="0" err="1"/>
              <a:t>Overfitting</a:t>
            </a:r>
            <a:r>
              <a:rPr lang="en-US" sz="4000" dirty="0"/>
              <a:t>…</a:t>
            </a:r>
          </a:p>
        </p:txBody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Post-pruning</a:t>
            </a:r>
          </a:p>
          <a:p>
            <a:pPr lvl="1"/>
            <a:r>
              <a:rPr lang="en-US" dirty="0"/>
              <a:t>Grow decision tree to its entirety</a:t>
            </a:r>
          </a:p>
          <a:p>
            <a:pPr lvl="1"/>
            <a:r>
              <a:rPr lang="en-US" dirty="0"/>
              <a:t>Trim the nodes of the decision tree in a </a:t>
            </a:r>
            <a:r>
              <a:rPr lang="en-US" dirty="0">
                <a:solidFill>
                  <a:srgbClr val="0070C0"/>
                </a:solidFill>
              </a:rPr>
              <a:t>bottom-up</a:t>
            </a:r>
            <a:r>
              <a:rPr lang="en-US" dirty="0"/>
              <a:t> fashion</a:t>
            </a:r>
          </a:p>
          <a:p>
            <a:pPr lvl="1"/>
            <a:r>
              <a:rPr lang="en-US" dirty="0"/>
              <a:t>If generalization error improves after trimming, replace sub-tree by a leaf node.</a:t>
            </a:r>
          </a:p>
          <a:p>
            <a:pPr lvl="1"/>
            <a:r>
              <a:rPr lang="en-US" dirty="0"/>
              <a:t>Class label of leaf node is determined from majority class of instances in the </a:t>
            </a:r>
            <a:r>
              <a:rPr lang="en-US" dirty="0" smtClean="0"/>
              <a:t>sub-tree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483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077200" cy="1143000"/>
          </a:xfrm>
        </p:spPr>
        <p:txBody>
          <a:bodyPr/>
          <a:lstStyle/>
          <a:p>
            <a:r>
              <a:rPr lang="en-US" sz="4000" dirty="0" smtClean="0"/>
              <a:t>Prune the Tree OR Prune </a:t>
            </a:r>
            <a:r>
              <a:rPr lang="en-US" sz="4000" smtClean="0"/>
              <a:t>the Rule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419600"/>
          </a:xfrm>
        </p:spPr>
        <p:txBody>
          <a:bodyPr/>
          <a:lstStyle/>
          <a:p>
            <a:r>
              <a:rPr lang="en-US" dirty="0" smtClean="0"/>
              <a:t> In order to Reduce the complexity of decision procedure we have two options (</a:t>
            </a:r>
            <a:r>
              <a:rPr lang="en-US" dirty="0" err="1" smtClean="0"/>
              <a:t>i</a:t>
            </a:r>
            <a:r>
              <a:rPr lang="en-US" dirty="0" smtClean="0"/>
              <a:t>) either we can prune the tree first and then develop the rules or (ii) we can develop the rules and then prune the rules.</a:t>
            </a:r>
          </a:p>
          <a:p>
            <a:r>
              <a:rPr lang="en-US" dirty="0" smtClean="0"/>
              <a:t>Which is better? </a:t>
            </a:r>
          </a:p>
          <a:p>
            <a:pPr>
              <a:buNone/>
            </a:pPr>
            <a:r>
              <a:rPr lang="en-US" dirty="0" smtClean="0"/>
              <a:t>		(ii) is better, why?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961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772400" cy="4114800"/>
          </a:xfrm>
        </p:spPr>
        <p:txBody>
          <a:bodyPr/>
          <a:lstStyle/>
          <a:p>
            <a:r>
              <a:rPr lang="en-US" dirty="0"/>
              <a:t>Metrics for Performance Evaluation</a:t>
            </a:r>
          </a:p>
          <a:p>
            <a:pPr lvl="1"/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 dirty="0"/>
          </a:p>
          <a:p>
            <a:r>
              <a:rPr lang="en-US" dirty="0"/>
              <a:t>Methods for Performance Evaluation</a:t>
            </a:r>
          </a:p>
          <a:p>
            <a:pPr lvl="1"/>
            <a:r>
              <a:rPr lang="en-US" dirty="0"/>
              <a:t>How to obtain reliable estimates?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3916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257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Metrics for Performance Evaluation</a:t>
            </a:r>
          </a:p>
          <a:p>
            <a:pPr lvl="1"/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 dirty="0"/>
          </a:p>
          <a:p>
            <a:r>
              <a:rPr lang="en-US" dirty="0"/>
              <a:t>Methods for Performance Evaluation</a:t>
            </a:r>
          </a:p>
          <a:p>
            <a:pPr lvl="1"/>
            <a:r>
              <a:rPr lang="en-US" dirty="0"/>
              <a:t>How to obtain reliable estimates?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320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mtClean="0"/>
              <a:t>Classifier Evaluation Metrics: Confusion Matrix</a:t>
            </a:r>
          </a:p>
        </p:txBody>
      </p:sp>
      <p:graphicFrame>
        <p:nvGraphicFramePr>
          <p:cNvPr id="61519" name="Group 79"/>
          <p:cNvGraphicFramePr>
            <a:graphicFrameLocks noGrp="1"/>
          </p:cNvGraphicFramePr>
          <p:nvPr>
            <p:ph sz="half" idx="1"/>
          </p:nvPr>
        </p:nvGraphicFramePr>
        <p:xfrm>
          <a:off x="1066800" y="3352800"/>
          <a:ext cx="7010400" cy="1935163"/>
        </p:xfrm>
        <a:graphic>
          <a:graphicData uri="http://schemas.openxmlformats.org/drawingml/2006/table">
            <a:tbl>
              <a:tblPr/>
              <a:tblGrid>
                <a:gridCol w="2514600"/>
                <a:gridCol w="1752600"/>
                <a:gridCol w="1752600"/>
                <a:gridCol w="990600"/>
              </a:tblGrid>
              <a:tr h="7011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 yes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yes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6954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buy_computer = no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412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2588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7366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2634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54" name="Rectangle 63"/>
          <p:cNvSpPr>
            <a:spLocks noGrp="1" noChangeArrowheads="1"/>
          </p:cNvSpPr>
          <p:nvPr>
            <p:ph type="body" sz="half" idx="2"/>
          </p:nvPr>
        </p:nvSpPr>
        <p:spPr>
          <a:xfrm>
            <a:off x="304800" y="5372100"/>
            <a:ext cx="8458200" cy="12573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smtClean="0"/>
              <a:t>Given</a:t>
            </a:r>
            <a:r>
              <a:rPr lang="en-US" sz="2400" i="1" smtClean="0"/>
              <a:t> m</a:t>
            </a:r>
            <a:r>
              <a:rPr lang="en-US" sz="2400" smtClean="0"/>
              <a:t> classes, an entry, </a:t>
            </a:r>
            <a:r>
              <a:rPr lang="en-US" sz="2400" b="1" i="1" smtClean="0"/>
              <a:t>CM</a:t>
            </a:r>
            <a:r>
              <a:rPr lang="en-US" sz="2400" b="1" i="1" baseline="-25000" smtClean="0"/>
              <a:t>i,j</a:t>
            </a:r>
            <a:r>
              <a:rPr lang="en-US" sz="2400" b="1" baseline="-25000" smtClean="0"/>
              <a:t> </a:t>
            </a:r>
            <a:r>
              <a:rPr lang="en-US" sz="2400" smtClean="0"/>
              <a:t> in a </a:t>
            </a:r>
            <a:r>
              <a:rPr lang="en-US" sz="2400" b="1" smtClean="0"/>
              <a:t>confusion matrix</a:t>
            </a:r>
            <a:r>
              <a:rPr lang="en-US" sz="2400" smtClean="0"/>
              <a:t> indicates # of tuples in class </a:t>
            </a:r>
            <a:r>
              <a:rPr lang="en-US" sz="2400" i="1" smtClean="0"/>
              <a:t>i</a:t>
            </a:r>
            <a:r>
              <a:rPr lang="en-US" sz="2400" smtClean="0"/>
              <a:t>  that were labeled by the classifier as class </a:t>
            </a:r>
            <a:r>
              <a:rPr lang="en-US" sz="2400" i="1" smtClean="0"/>
              <a:t>j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May have extra rows/columns to provide totals</a:t>
            </a:r>
          </a:p>
        </p:txBody>
      </p:sp>
      <p:sp>
        <p:nvSpPr>
          <p:cNvPr id="52255" name="Text Box 66"/>
          <p:cNvSpPr txBox="1">
            <a:spLocks noChangeArrowheads="1"/>
          </p:cNvSpPr>
          <p:nvPr/>
        </p:nvSpPr>
        <p:spPr bwMode="auto">
          <a:xfrm>
            <a:off x="228600" y="1219200"/>
            <a:ext cx="2608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Calibri" pitchFamily="34" charset="0"/>
              </a:rPr>
              <a:t>Confusion Matrix:</a:t>
            </a:r>
          </a:p>
        </p:txBody>
      </p:sp>
      <p:graphicFrame>
        <p:nvGraphicFramePr>
          <p:cNvPr id="61517" name="Group 77"/>
          <p:cNvGraphicFramePr>
            <a:graphicFrameLocks noGrp="1"/>
          </p:cNvGraphicFramePr>
          <p:nvPr/>
        </p:nvGraphicFramePr>
        <p:xfrm>
          <a:off x="533400" y="1676400"/>
          <a:ext cx="7924800" cy="1235076"/>
        </p:xfrm>
        <a:graphic>
          <a:graphicData uri="http://schemas.openxmlformats.org/drawingml/2006/table">
            <a:tbl>
              <a:tblPr/>
              <a:tblGrid>
                <a:gridCol w="2895600"/>
                <a:gridCol w="2471738"/>
                <a:gridCol w="2557462"/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Positives (TP)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Negatives (FN)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 C</a:t>
                      </a:r>
                      <a:r>
                        <a:rPr kumimoji="0" 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False Positives (FP)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True Negatives (TN)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274" name="Rectangle 78"/>
          <p:cNvSpPr>
            <a:spLocks noChangeArrowheads="1"/>
          </p:cNvSpPr>
          <p:nvPr/>
        </p:nvSpPr>
        <p:spPr bwMode="auto">
          <a:xfrm>
            <a:off x="304800" y="2971800"/>
            <a:ext cx="35655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/>
              <a:t>Example of Confusion Matrix:</a:t>
            </a:r>
          </a:p>
        </p:txBody>
      </p:sp>
      <p:sp>
        <p:nvSpPr>
          <p:cNvPr id="52275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AFC2049-58EE-4D58-9400-4E5EBE81908A}" type="slidenum">
              <a:rPr lang="en-US" sz="1200" b="1">
                <a:latin typeface="Calibri" pitchFamily="34" charset="0"/>
              </a:rPr>
              <a:pPr algn="r"/>
              <a:t>10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7B98E8-BCD2-4123-AF29-A4D81680A5E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sz="4000" dirty="0"/>
              <a:t>Limitation of Accuracy</a:t>
            </a:r>
          </a:p>
        </p:txBody>
      </p:sp>
      <p:sp>
        <p:nvSpPr>
          <p:cNvPr id="965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772400" cy="4191000"/>
          </a:xfrm>
        </p:spPr>
        <p:txBody>
          <a:bodyPr/>
          <a:lstStyle/>
          <a:p>
            <a:r>
              <a:rPr lang="en-US" dirty="0"/>
              <a:t>Consider a 2-class problem</a:t>
            </a:r>
          </a:p>
          <a:p>
            <a:pPr lvl="1"/>
            <a:r>
              <a:rPr lang="en-US" dirty="0"/>
              <a:t>Number of Class 0 examples = 9990</a:t>
            </a:r>
          </a:p>
          <a:p>
            <a:pPr lvl="1"/>
            <a:r>
              <a:rPr lang="en-US" dirty="0"/>
              <a:t>Number of Class 1 examples = 10</a:t>
            </a:r>
          </a:p>
          <a:p>
            <a:pPr lvl="1"/>
            <a:endParaRPr lang="en-US" dirty="0"/>
          </a:p>
          <a:p>
            <a:r>
              <a:rPr lang="en-US" dirty="0"/>
              <a:t>If model predicts everything to be class 0, accuracy is 9990/10000 = 99.9 %</a:t>
            </a:r>
          </a:p>
          <a:p>
            <a:pPr lvl="1"/>
            <a:r>
              <a:rPr lang="en-US" dirty="0"/>
              <a:t>Accuracy is misleading because model does not detect any class 1 example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0549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dirty="0" smtClean="0"/>
              <a:t>Classifier </a:t>
            </a:r>
            <a:r>
              <a:rPr lang="en-US" dirty="0" smtClean="0"/>
              <a:t>Accuracy, Error Rate, </a:t>
            </a:r>
            <a:r>
              <a:rPr lang="en-US" dirty="0" smtClean="0"/>
              <a:t>Sensitivity </a:t>
            </a:r>
            <a:r>
              <a:rPr lang="en-US" dirty="0" smtClean="0"/>
              <a:t>Specificity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048000"/>
            <a:ext cx="4724400" cy="3505200"/>
          </a:xfrm>
        </p:spPr>
        <p:txBody>
          <a:bodyPr/>
          <a:lstStyle/>
          <a:p>
            <a:r>
              <a:rPr lang="en-US" sz="2400" b="1" smtClean="0"/>
              <a:t>Classifier Accuracy, </a:t>
            </a:r>
            <a:r>
              <a:rPr lang="en-US" sz="2400" smtClean="0"/>
              <a:t>or recognition rate: percentage of test set tuples that are correctly classified</a:t>
            </a:r>
          </a:p>
          <a:p>
            <a:pPr lvl="1">
              <a:buFont typeface="Wingdings" pitchFamily="2" charset="2"/>
              <a:buNone/>
            </a:pPr>
            <a:r>
              <a:rPr lang="en-US" sz="2400" b="1" smtClean="0"/>
              <a:t>Accuracy = (TP + TN)/All</a:t>
            </a:r>
            <a:endParaRPr lang="en-US" sz="2400" smtClean="0"/>
          </a:p>
          <a:p>
            <a:r>
              <a:rPr lang="en-US" sz="2400" b="1" smtClean="0"/>
              <a:t>Error rate:</a:t>
            </a:r>
            <a:r>
              <a:rPr lang="en-US" sz="2400" smtClean="0"/>
              <a:t> </a:t>
            </a:r>
            <a:r>
              <a:rPr lang="en-US" sz="2400" i="1" smtClean="0"/>
              <a:t>1 –</a:t>
            </a:r>
            <a:r>
              <a:rPr lang="en-US" sz="2400" smtClean="0"/>
              <a:t> </a:t>
            </a:r>
            <a:r>
              <a:rPr lang="en-US" sz="2400" i="1" smtClean="0"/>
              <a:t>accuracy</a:t>
            </a:r>
            <a:r>
              <a:rPr lang="en-US" sz="2400" smtClean="0"/>
              <a:t>, or</a:t>
            </a:r>
          </a:p>
          <a:p>
            <a:pPr lvl="1">
              <a:buFont typeface="Wingdings" pitchFamily="2" charset="2"/>
              <a:buNone/>
            </a:pPr>
            <a:r>
              <a:rPr lang="en-US" sz="2400" b="1" smtClean="0"/>
              <a:t>Error rate = (FP + FN)/All</a:t>
            </a:r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4267200" y="1371600"/>
            <a:ext cx="4724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b="1">
                <a:latin typeface="Calibri" pitchFamily="34" charset="0"/>
              </a:rPr>
              <a:t>Class Imbalance Problem</a:t>
            </a:r>
            <a:r>
              <a:rPr lang="en-US" sz="2400">
                <a:latin typeface="Calibri" pitchFamily="34" charset="0"/>
              </a:rPr>
              <a:t>: 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One class may be </a:t>
            </a:r>
            <a:r>
              <a:rPr lang="en-US" sz="2400" i="1">
                <a:latin typeface="Calibri" pitchFamily="34" charset="0"/>
              </a:rPr>
              <a:t>rare</a:t>
            </a:r>
            <a:r>
              <a:rPr lang="en-US" sz="2400">
                <a:latin typeface="Calibri" pitchFamily="34" charset="0"/>
              </a:rPr>
              <a:t>, e.g. fraud, or HIV-positive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>
                <a:latin typeface="Calibri" pitchFamily="34" charset="0"/>
              </a:rPr>
              <a:t>Significant </a:t>
            </a:r>
            <a:r>
              <a:rPr lang="en-US" sz="2400" i="1">
                <a:latin typeface="Calibri" pitchFamily="34" charset="0"/>
              </a:rPr>
              <a:t>majority of the negative class</a:t>
            </a:r>
            <a:r>
              <a:rPr lang="en-US" sz="2400">
                <a:latin typeface="Calibri" pitchFamily="34" charset="0"/>
              </a:rPr>
              <a:t> and minority of the positive class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b="1">
                <a:latin typeface="Calibri" pitchFamily="34" charset="0"/>
              </a:rPr>
              <a:t>Sensitivity</a:t>
            </a:r>
            <a:r>
              <a:rPr lang="en-US" sz="2400">
                <a:latin typeface="Calibri" pitchFamily="34" charset="0"/>
              </a:rPr>
              <a:t>: True Positive recognition rate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400" b="1">
                <a:latin typeface="Calibri" pitchFamily="34" charset="0"/>
              </a:rPr>
              <a:t>Sensitivity = TP/P</a:t>
            </a:r>
          </a:p>
          <a:p>
            <a:pPr marL="742950" lvl="1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2400" b="1">
                <a:latin typeface="Calibri" pitchFamily="34" charset="0"/>
              </a:rPr>
              <a:t>Specificity</a:t>
            </a:r>
            <a:r>
              <a:rPr lang="en-US" sz="2400">
                <a:latin typeface="Calibri" pitchFamily="34" charset="0"/>
              </a:rPr>
              <a:t>: True Negative recognition rate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sz="2400" b="1">
                <a:latin typeface="Calibri" pitchFamily="34" charset="0"/>
              </a:rPr>
              <a:t>Specificity = TN/N</a:t>
            </a:r>
          </a:p>
        </p:txBody>
      </p:sp>
      <p:graphicFrame>
        <p:nvGraphicFramePr>
          <p:cNvPr id="62595" name="Group 131"/>
          <p:cNvGraphicFramePr>
            <a:graphicFrameLocks noGrp="1"/>
          </p:cNvGraphicFramePr>
          <p:nvPr/>
        </p:nvGraphicFramePr>
        <p:xfrm>
          <a:off x="1524000" y="1371600"/>
          <a:ext cx="1905000" cy="1466852"/>
        </p:xfrm>
        <a:graphic>
          <a:graphicData uri="http://schemas.openxmlformats.org/drawingml/2006/table">
            <a:tbl>
              <a:tblPr/>
              <a:tblGrid>
                <a:gridCol w="533400"/>
                <a:gridCol w="457200"/>
                <a:gridCol w="457200"/>
                <a:gridCol w="457200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A\P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¬C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FP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P’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N’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All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280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C9421E7-E3F2-4EA7-B281-77BCC2826168}" type="slidenum">
              <a:rPr lang="en-US" sz="1200" b="1">
                <a:latin typeface="Calibri" pitchFamily="34" charset="0"/>
              </a:rPr>
              <a:pPr algn="r"/>
              <a:t>12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7" descr="8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4343400"/>
            <a:ext cx="4267200" cy="82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5" name="Picture 8" descr="8recall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10225" y="2895600"/>
            <a:ext cx="3124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6" name="Picture 7" descr="8precision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86400" y="1865313"/>
            <a:ext cx="3581400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402638" cy="1219200"/>
          </a:xfrm>
        </p:spPr>
        <p:txBody>
          <a:bodyPr/>
          <a:lstStyle/>
          <a:p>
            <a:r>
              <a:rPr lang="en-US" smtClean="0"/>
              <a:t>Classifier Evaluation Metrics: </a:t>
            </a:r>
            <a:br>
              <a:rPr lang="en-US" smtClean="0"/>
            </a:br>
            <a:r>
              <a:rPr lang="en-US" smtClean="0"/>
              <a:t>Precision and Recall, and F-measures</a:t>
            </a:r>
          </a:p>
        </p:txBody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175" y="1371600"/>
            <a:ext cx="8429625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smtClean="0"/>
              <a:t>Precision</a:t>
            </a:r>
            <a:r>
              <a:rPr lang="en-US" sz="2400" smtClean="0"/>
              <a:t>: exactness – what % of tuples that the classifier labeled as positive are actually positive</a:t>
            </a:r>
          </a:p>
          <a:p>
            <a:pPr lvl="1">
              <a:lnSpc>
                <a:spcPct val="90000"/>
              </a:lnSpc>
            </a:pPr>
            <a:endParaRPr lang="en-US" sz="2400" b="1" smtClean="0"/>
          </a:p>
          <a:p>
            <a:pPr>
              <a:lnSpc>
                <a:spcPct val="90000"/>
              </a:lnSpc>
            </a:pPr>
            <a:r>
              <a:rPr lang="en-US" sz="2400" b="1" smtClean="0"/>
              <a:t>Recall: </a:t>
            </a:r>
            <a:r>
              <a:rPr lang="en-US" sz="2400" smtClean="0"/>
              <a:t>completeness – what % of positive tuples did the classifier label as positive?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Perfect score is 1.0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Inverse relationship between precision &amp; recall</a:t>
            </a:r>
          </a:p>
          <a:p>
            <a:pPr>
              <a:lnSpc>
                <a:spcPct val="80000"/>
              </a:lnSpc>
            </a:pPr>
            <a:r>
              <a:rPr lang="en-US" sz="2400" b="1" i="1" smtClean="0"/>
              <a:t>F</a:t>
            </a:r>
            <a:r>
              <a:rPr lang="en-US" sz="2400" b="1" smtClean="0"/>
              <a:t> measure (</a:t>
            </a:r>
            <a:r>
              <a:rPr lang="en-US" sz="2400" b="1" i="1" smtClean="0"/>
              <a:t>F</a:t>
            </a:r>
            <a:r>
              <a:rPr lang="en-US" sz="2400" b="1" i="1" baseline="-25000" smtClean="0"/>
              <a:t>1</a:t>
            </a:r>
            <a:r>
              <a:rPr lang="en-US" sz="2400" b="1" smtClean="0"/>
              <a:t> </a:t>
            </a:r>
            <a:r>
              <a:rPr lang="en-US" sz="2400" smtClean="0"/>
              <a:t>or</a:t>
            </a:r>
            <a:r>
              <a:rPr lang="en-US" sz="2400" b="1" smtClean="0"/>
              <a:t> </a:t>
            </a:r>
            <a:r>
              <a:rPr lang="en-US" sz="2400" b="1" i="1" smtClean="0"/>
              <a:t>F</a:t>
            </a:r>
            <a:r>
              <a:rPr lang="en-US" sz="2400" b="1" smtClean="0"/>
              <a:t>-score)</a:t>
            </a:r>
            <a:r>
              <a:rPr lang="en-US" sz="2400" smtClean="0"/>
              <a:t>: harmonic mean of precision and recall,</a:t>
            </a:r>
            <a:endParaRPr lang="en-US" sz="2400" b="1" smtClean="0"/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400" b="1" i="1" smtClean="0"/>
          </a:p>
          <a:p>
            <a:pPr>
              <a:lnSpc>
                <a:spcPct val="80000"/>
              </a:lnSpc>
            </a:pPr>
            <a:r>
              <a:rPr lang="en-US" sz="2400" b="1" i="1" smtClean="0"/>
              <a:t>F</a:t>
            </a:r>
            <a:r>
              <a:rPr lang="en-US" sz="2400" b="1" i="1" baseline="-25000" smtClean="0">
                <a:cs typeface="Tahoma" pitchFamily="34" charset="0"/>
              </a:rPr>
              <a:t>ß</a:t>
            </a:r>
            <a:r>
              <a:rPr lang="en-US" sz="2400" b="1" smtClean="0"/>
              <a:t>:  </a:t>
            </a:r>
            <a:r>
              <a:rPr lang="en-US" sz="2400" smtClean="0"/>
              <a:t>weighted measure of precision and recall</a:t>
            </a:r>
          </a:p>
          <a:p>
            <a:pPr lvl="1">
              <a:lnSpc>
                <a:spcPct val="80000"/>
              </a:lnSpc>
            </a:pPr>
            <a:r>
              <a:rPr lang="en-US" sz="2400" smtClean="0"/>
              <a:t>assigns </a:t>
            </a:r>
            <a:r>
              <a:rPr lang="en-US" sz="2400" smtClean="0">
                <a:cs typeface="Tahoma" pitchFamily="34" charset="0"/>
              </a:rPr>
              <a:t>ß times as much weight to recall as to precision</a:t>
            </a:r>
            <a:endParaRPr lang="en-US" sz="2400" smtClean="0"/>
          </a:p>
        </p:txBody>
      </p:sp>
      <p:sp>
        <p:nvSpPr>
          <p:cNvPr id="54279" name="Text Box 5"/>
          <p:cNvSpPr txBox="1">
            <a:spLocks noChangeArrowheads="1"/>
          </p:cNvSpPr>
          <p:nvPr/>
        </p:nvSpPr>
        <p:spPr bwMode="auto">
          <a:xfrm>
            <a:off x="1050925" y="501015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800"/>
          </a:p>
        </p:txBody>
      </p:sp>
      <p:sp>
        <p:nvSpPr>
          <p:cNvPr id="54280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F0E624CB-1E34-4665-A224-425AD3873DE7}" type="slidenum">
              <a:rPr lang="en-US" sz="1200" b="1">
                <a:latin typeface="Calibri" pitchFamily="34" charset="0"/>
              </a:rPr>
              <a:pPr algn="r"/>
              <a:t>13</a:t>
            </a:fld>
            <a:endParaRPr lang="en-US" sz="1200" b="1">
              <a:latin typeface="Calibri" pitchFamily="34" charset="0"/>
            </a:endParaRPr>
          </a:p>
        </p:txBody>
      </p:sp>
      <p:pic>
        <p:nvPicPr>
          <p:cNvPr id="54281" name="Picture 8" descr="8Fbeta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25" y="5791200"/>
            <a:ext cx="57912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762000"/>
          </a:xfrm>
        </p:spPr>
        <p:txBody>
          <a:bodyPr/>
          <a:lstStyle/>
          <a:p>
            <a:r>
              <a:rPr lang="en-US" smtClean="0"/>
              <a:t>Classifier Evaluation Metrics: Example</a:t>
            </a:r>
          </a:p>
        </p:txBody>
      </p:sp>
      <p:sp>
        <p:nvSpPr>
          <p:cNvPr id="55299" name="Rectangle 35"/>
          <p:cNvSpPr>
            <a:spLocks noChangeArrowheads="1"/>
          </p:cNvSpPr>
          <p:nvPr/>
        </p:nvSpPr>
        <p:spPr bwMode="auto">
          <a:xfrm>
            <a:off x="228600" y="4572000"/>
            <a:ext cx="8610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sz="2400"/>
          </a:p>
        </p:txBody>
      </p:sp>
      <p:sp>
        <p:nvSpPr>
          <p:cNvPr id="55300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8679639-05F2-41F6-8D50-2B01C164F0F3}" type="slidenum">
              <a:rPr lang="en-US" sz="1200" b="1">
                <a:latin typeface="Calibri" pitchFamily="34" charset="0"/>
              </a:rPr>
              <a:pPr algn="r"/>
              <a:t>14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55301" name="Content Placeholder 1"/>
          <p:cNvSpPr>
            <a:spLocks noGrp="1"/>
          </p:cNvSpPr>
          <p:nvPr>
            <p:ph sz="half" idx="1"/>
          </p:nvPr>
        </p:nvSpPr>
        <p:spPr>
          <a:xfrm>
            <a:off x="228600" y="3429000"/>
            <a:ext cx="8458200" cy="609600"/>
          </a:xfrm>
        </p:spPr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400" i="1" smtClean="0"/>
              <a:t>Precision</a:t>
            </a:r>
            <a:r>
              <a:rPr lang="en-US" sz="2400" smtClean="0"/>
              <a:t> = 90/230 = 39.13%             </a:t>
            </a:r>
            <a:r>
              <a:rPr lang="en-US" sz="2400" i="1" smtClean="0"/>
              <a:t>Recall</a:t>
            </a:r>
            <a:r>
              <a:rPr lang="en-US" sz="2400" smtClean="0"/>
              <a:t> = 90/300 = 30.00%</a:t>
            </a:r>
          </a:p>
          <a:p>
            <a:endParaRPr lang="en-US" smtClean="0"/>
          </a:p>
        </p:txBody>
      </p:sp>
      <p:graphicFrame>
        <p:nvGraphicFramePr>
          <p:cNvPr id="7" name="Group 54"/>
          <p:cNvGraphicFramePr>
            <a:graphicFrameLocks noGrp="1"/>
          </p:cNvGraphicFramePr>
          <p:nvPr/>
        </p:nvGraphicFramePr>
        <p:xfrm>
          <a:off x="228600" y="1889125"/>
          <a:ext cx="8839200" cy="1466852"/>
        </p:xfrm>
        <a:graphic>
          <a:graphicData uri="http://schemas.openxmlformats.org/drawingml/2006/table">
            <a:tbl>
              <a:tblPr/>
              <a:tblGrid>
                <a:gridCol w="3200400"/>
                <a:gridCol w="1524000"/>
                <a:gridCol w="1295400"/>
                <a:gridCol w="981075"/>
                <a:gridCol w="1838325"/>
              </a:tblGrid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Actual Class\Predicted class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Recognition(%)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yes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210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30.00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sensitivity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cancer = no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140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9560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98.56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specificity)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Total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230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9770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10000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96.40 (</a:t>
                      </a:r>
                      <a:r>
                        <a:rPr kumimoji="0" lang="en-US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accuracy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</a:rPr>
                        <a:t>)</a:t>
                      </a:r>
                      <a:endParaRPr kumimoji="0" 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7B98E8-BCD2-4123-AF29-A4D81680A5E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sz="4000" dirty="0"/>
              <a:t>Computing Cost of Classification</a:t>
            </a:r>
          </a:p>
        </p:txBody>
      </p:sp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762000" y="57150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pic>
        <p:nvPicPr>
          <p:cNvPr id="422914" name="Picture 2"/>
          <p:cNvPicPr>
            <a:picLocks noChangeAspect="1" noChangeArrowheads="1"/>
          </p:cNvPicPr>
          <p:nvPr/>
        </p:nvPicPr>
        <p:blipFill>
          <a:blip r:embed="rId3"/>
          <a:srcRect l="24118" t="17708" r="25294" b="10417"/>
          <a:stretch>
            <a:fillRect/>
          </a:stretch>
        </p:blipFill>
        <p:spPr bwMode="auto">
          <a:xfrm>
            <a:off x="152400" y="1143000"/>
            <a:ext cx="7924800" cy="5713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550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sz="4000" dirty="0"/>
              <a:t>Computing Cost of Classification</a:t>
            </a:r>
          </a:p>
        </p:txBody>
      </p:sp>
      <p:graphicFrame>
        <p:nvGraphicFramePr>
          <p:cNvPr id="967683" name="Group 1027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50733308"/>
              </p:ext>
            </p:extLst>
          </p:nvPr>
        </p:nvGraphicFramePr>
        <p:xfrm>
          <a:off x="2667000" y="1371600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 Matrix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C(i|j)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06" name="Group 1050"/>
          <p:cNvGraphicFramePr>
            <a:graphicFrameLocks noGrp="1"/>
          </p:cNvGraphicFramePr>
          <p:nvPr/>
        </p:nvGraphicFramePr>
        <p:xfrm>
          <a:off x="4572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7729" name="Group 1073"/>
          <p:cNvGraphicFramePr>
            <a:graphicFrameLocks noGrp="1"/>
          </p:cNvGraphicFramePr>
          <p:nvPr/>
        </p:nvGraphicFramePr>
        <p:xfrm>
          <a:off x="5257800" y="3731577"/>
          <a:ext cx="3581400" cy="1831023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762000"/>
                <a:gridCol w="838200"/>
              </a:tblGrid>
              <a:tr h="573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Model M</a:t>
                      </a:r>
                      <a:r>
                        <a:rPr kumimoji="0" lang="en-US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0838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6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67752" name="Rectangle 1096"/>
          <p:cNvSpPr>
            <a:spLocks noChangeArrowheads="1"/>
          </p:cNvSpPr>
          <p:nvPr/>
        </p:nvSpPr>
        <p:spPr bwMode="auto">
          <a:xfrm>
            <a:off x="762000" y="57150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80%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3910</a:t>
            </a:r>
          </a:p>
        </p:txBody>
      </p:sp>
      <p:sp>
        <p:nvSpPr>
          <p:cNvPr id="967753" name="Rectangle 1097"/>
          <p:cNvSpPr>
            <a:spLocks noChangeArrowheads="1"/>
          </p:cNvSpPr>
          <p:nvPr/>
        </p:nvSpPr>
        <p:spPr bwMode="auto">
          <a:xfrm>
            <a:off x="5181600" y="5638800"/>
            <a:ext cx="3048000" cy="990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Accuracy = 90%</a:t>
            </a:r>
          </a:p>
          <a:p>
            <a: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None/>
            </a:pPr>
            <a:r>
              <a:rPr lang="en-US" sz="2400" b="0" dirty="0">
                <a:solidFill>
                  <a:schemeClr val="tx1"/>
                </a:solidFill>
              </a:rPr>
              <a:t>Cost = 4255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550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dirty="0"/>
              <a:t>Cost </a:t>
            </a:r>
            <a:r>
              <a:rPr lang="en-US" dirty="0" err="1"/>
              <a:t>vs</a:t>
            </a:r>
            <a:r>
              <a:rPr lang="en-US" dirty="0"/>
              <a:t> Accuracy</a:t>
            </a:r>
          </a:p>
        </p:txBody>
      </p:sp>
      <p:graphicFrame>
        <p:nvGraphicFramePr>
          <p:cNvPr id="968707" name="Group 3"/>
          <p:cNvGraphicFramePr>
            <a:graphicFrameLocks noGrp="1"/>
          </p:cNvGraphicFramePr>
          <p:nvPr>
            <p:ph idx="1"/>
          </p:nvPr>
        </p:nvGraphicFramePr>
        <p:xfrm>
          <a:off x="411163" y="1140460"/>
          <a:ext cx="4389437" cy="2183130"/>
        </p:xfrm>
        <a:graphic>
          <a:graphicData uri="http://schemas.openxmlformats.org/drawingml/2006/table">
            <a:tbl>
              <a:tblPr/>
              <a:tblGrid>
                <a:gridCol w="1096962"/>
                <a:gridCol w="1098550"/>
                <a:gridCol w="1096963"/>
                <a:gridCol w="1096962"/>
              </a:tblGrid>
              <a:tr h="688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3340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68730" name="Group 26"/>
          <p:cNvGraphicFramePr>
            <a:graphicFrameLocks noGrp="1"/>
          </p:cNvGraphicFramePr>
          <p:nvPr/>
        </p:nvGraphicFramePr>
        <p:xfrm>
          <a:off x="381000" y="3886200"/>
          <a:ext cx="4389438" cy="2243138"/>
        </p:xfrm>
        <a:graphic>
          <a:graphicData uri="http://schemas.openxmlformats.org/drawingml/2006/table">
            <a:tbl>
              <a:tblPr/>
              <a:tblGrid>
                <a:gridCol w="1096963"/>
                <a:gridCol w="1098550"/>
                <a:gridCol w="1096962"/>
                <a:gridCol w="1096963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515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56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5105400" y="1143000"/>
            <a:ext cx="3733800" cy="4964113"/>
            <a:chOff x="3216" y="720"/>
            <a:chExt cx="2352" cy="3127"/>
          </a:xfrm>
        </p:grpSpPr>
        <p:sp>
          <p:nvSpPr>
            <p:cNvPr id="968754" name="Text Box 50"/>
            <p:cNvSpPr txBox="1">
              <a:spLocks noChangeArrowheads="1"/>
            </p:cNvSpPr>
            <p:nvPr/>
          </p:nvSpPr>
          <p:spPr bwMode="auto">
            <a:xfrm>
              <a:off x="3264" y="1536"/>
              <a:ext cx="2256" cy="23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N = a + b + c + d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Accuracy = (a + d)/N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Cost = p (a + d) + q (b + c)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p (a + d) + q (N – a –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q N – (q – p)(a + d)</a:t>
              </a:r>
            </a:p>
            <a:p>
              <a:pPr>
                <a:spcBef>
                  <a:spcPct val="50000"/>
                </a:spcBef>
              </a:pPr>
              <a:r>
                <a:rPr lang="en-US" sz="1800" b="0" dirty="0">
                  <a:solidFill>
                    <a:schemeClr val="tx1"/>
                  </a:solidFill>
                </a:rPr>
                <a:t>        = N [q – (q-p) </a:t>
              </a:r>
              <a:r>
                <a:rPr lang="en-US" sz="1800" b="0" dirty="0">
                  <a:solidFill>
                    <a:schemeClr val="tx1"/>
                  </a:solidFill>
                  <a:sym typeface="Symbol" pitchFamily="18" charset="2"/>
                </a:rPr>
                <a:t> </a:t>
              </a:r>
              <a:r>
                <a:rPr lang="en-US" sz="1800" b="0" dirty="0">
                  <a:solidFill>
                    <a:schemeClr val="tx1"/>
                  </a:solidFill>
                </a:rPr>
                <a:t>Accuracy] </a:t>
              </a:r>
            </a:p>
            <a:p>
              <a:pPr>
                <a:spcBef>
                  <a:spcPct val="50000"/>
                </a:spcBef>
              </a:pPr>
              <a:endParaRPr lang="en-US" sz="1800" b="0" dirty="0">
                <a:solidFill>
                  <a:schemeClr val="tx1"/>
                </a:solidFill>
              </a:endParaRPr>
            </a:p>
          </p:txBody>
        </p:sp>
        <p:sp>
          <p:nvSpPr>
            <p:cNvPr id="968755" name="Rectangle 51"/>
            <p:cNvSpPr>
              <a:spLocks noChangeArrowheads="1"/>
            </p:cNvSpPr>
            <p:nvPr/>
          </p:nvSpPr>
          <p:spPr bwMode="auto">
            <a:xfrm>
              <a:off x="3216" y="720"/>
              <a:ext cx="2352" cy="5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800" b="0" dirty="0">
                  <a:solidFill>
                    <a:schemeClr val="tx1"/>
                  </a:solidFill>
                </a:rPr>
                <a:t>Accuracy is proportional to cost if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1.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Yes|No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No|Yes</a:t>
              </a:r>
              <a:r>
                <a:rPr lang="en-US" sz="1800" b="0" dirty="0">
                  <a:solidFill>
                    <a:schemeClr val="tx1"/>
                  </a:solidFill>
                </a:rPr>
                <a:t>) = q </a:t>
              </a:r>
              <a:br>
                <a:rPr lang="en-US" sz="1800" b="0" dirty="0">
                  <a:solidFill>
                    <a:schemeClr val="tx1"/>
                  </a:solidFill>
                </a:rPr>
              </a:br>
              <a:r>
                <a:rPr lang="en-US" sz="1800" b="0" dirty="0">
                  <a:solidFill>
                    <a:schemeClr val="tx1"/>
                  </a:solidFill>
                </a:rPr>
                <a:t>2. C(</a:t>
              </a:r>
              <a:r>
                <a:rPr lang="en-US" sz="1800" b="0" dirty="0" err="1">
                  <a:solidFill>
                    <a:schemeClr val="tx1"/>
                  </a:solidFill>
                </a:rPr>
                <a:t>Yes|Yes</a:t>
              </a:r>
              <a:r>
                <a:rPr lang="en-US" sz="1800" b="0" dirty="0">
                  <a:solidFill>
                    <a:schemeClr val="tx1"/>
                  </a:solidFill>
                </a:rPr>
                <a:t>)=C(</a:t>
              </a:r>
              <a:r>
                <a:rPr lang="en-US" sz="1800" b="0" dirty="0" err="1">
                  <a:solidFill>
                    <a:schemeClr val="tx1"/>
                  </a:solidFill>
                </a:rPr>
                <a:t>No|No</a:t>
              </a:r>
              <a:r>
                <a:rPr lang="en-US" sz="1800" b="0" dirty="0">
                  <a:solidFill>
                    <a:schemeClr val="tx1"/>
                  </a:solidFill>
                </a:rPr>
                <a:t>) = p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318458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893728" cy="914400"/>
          </a:xfrm>
        </p:spPr>
        <p:txBody>
          <a:bodyPr/>
          <a:lstStyle/>
          <a:p>
            <a:r>
              <a:rPr lang="en-US" dirty="0" smtClean="0"/>
              <a:t>Precision-Recall</a:t>
            </a:r>
            <a:endParaRPr lang="en-US" dirty="0"/>
          </a:p>
        </p:txBody>
      </p:sp>
      <p:graphicFrame>
        <p:nvGraphicFramePr>
          <p:cNvPr id="969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="" xmlns:p14="http://schemas.microsoft.com/office/powerpoint/2010/main" val="3822112831"/>
              </p:ext>
            </p:extLst>
          </p:nvPr>
        </p:nvGraphicFramePr>
        <p:xfrm>
          <a:off x="457200" y="1872742"/>
          <a:ext cx="7386638" cy="2455862"/>
        </p:xfrm>
        <a:graphic>
          <a:graphicData uri="http://schemas.openxmlformats.org/presentationml/2006/ole">
            <p:oleObj spid="_x0000_s421890" name="Εξίσωση" r:id="rId3" imgW="4305240" imgH="1447560" progId="Equation.3">
              <p:embed/>
            </p:oleObj>
          </a:graphicData>
        </a:graphic>
      </p:graphicFrame>
      <p:sp>
        <p:nvSpPr>
          <p:cNvPr id="969732" name="Rectangle 4"/>
          <p:cNvSpPr>
            <a:spLocks noChangeArrowheads="1"/>
          </p:cNvSpPr>
          <p:nvPr/>
        </p:nvSpPr>
        <p:spPr bwMode="auto">
          <a:xfrm>
            <a:off x="533400" y="4495800"/>
            <a:ext cx="8479654" cy="2133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Precision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 err="1">
                <a:solidFill>
                  <a:srgbClr val="0070C0"/>
                </a:solidFill>
              </a:rPr>
              <a:t>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Recall is biased towards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Yes|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 &amp; C(</a:t>
            </a:r>
            <a:r>
              <a:rPr lang="en-US" sz="2400" b="1" dirty="0" err="1">
                <a:solidFill>
                  <a:srgbClr val="0070C0"/>
                </a:solidFill>
              </a:rPr>
              <a:t>No|</a:t>
            </a:r>
            <a:r>
              <a:rPr lang="en-US" sz="2400" b="1" dirty="0" err="1">
                <a:solidFill>
                  <a:srgbClr val="FF0000"/>
                </a:solidFill>
              </a:rPr>
              <a:t>Yes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  <a:p>
            <a:pPr marL="292100" indent="-292100" algn="l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sz="2400" b="0" dirty="0">
                <a:solidFill>
                  <a:schemeClr val="tx1"/>
                </a:solidFill>
              </a:rPr>
              <a:t>F-measure is biased towards all </a:t>
            </a:r>
            <a:r>
              <a:rPr lang="en-US" sz="2400" b="0" dirty="0">
                <a:solidFill>
                  <a:schemeClr val="accent6">
                    <a:lumMod val="75000"/>
                  </a:schemeClr>
                </a:solidFill>
              </a:rPr>
              <a:t>except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</a:rPr>
              <a:t>C(</a:t>
            </a:r>
            <a:r>
              <a:rPr lang="en-US" sz="2400" b="1" dirty="0" err="1">
                <a:solidFill>
                  <a:srgbClr val="0070C0"/>
                </a:solidFill>
              </a:rPr>
              <a:t>No|No</a:t>
            </a:r>
            <a:r>
              <a:rPr lang="en-US" sz="2400" b="1" dirty="0">
                <a:solidFill>
                  <a:srgbClr val="0070C0"/>
                </a:solidFill>
              </a:rPr>
              <a:t>)</a:t>
            </a:r>
          </a:p>
        </p:txBody>
      </p:sp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="" xmlns:p14="http://schemas.microsoft.com/office/powerpoint/2010/main" val="1900080878"/>
              </p:ext>
            </p:extLst>
          </p:nvPr>
        </p:nvGraphicFramePr>
        <p:xfrm>
          <a:off x="5105400" y="1543304"/>
          <a:ext cx="3558465" cy="1504696"/>
        </p:xfrm>
        <a:graphic>
          <a:graphicData uri="http://schemas.openxmlformats.org/drawingml/2006/table">
            <a:tbl>
              <a:tblPr/>
              <a:tblGrid>
                <a:gridCol w="889294"/>
                <a:gridCol w="890582"/>
                <a:gridCol w="889295"/>
                <a:gridCol w="889294"/>
              </a:tblGrid>
              <a:tr h="29636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Count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9923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/>
                      </a:r>
                      <a:b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4BC93-BA4B-4474-84A5-200AE18AB89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76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Precision-Recall is a useful measure of success of prediction when the classes are very imbalanced. In information retrieval, precision is a measure of result relevancy, while recall is a measure of how many truly relevant results are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It shows the tradeoff between precision and recall for different threshold. A high area under the curve represents both high recall and high precision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-1165" r="49240"/>
          <a:stretch/>
        </p:blipFill>
        <p:spPr>
          <a:xfrm>
            <a:off x="1524000" y="3429000"/>
            <a:ext cx="4748074" cy="3429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high precision relates to a low false positive rate, and high recall relates to a low false negative rate. High scores for both show that the classifier is returning accurate results (high precision), as well as returning a majority of all positive results (high recall).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A system with high recall but low precision returns many results, but most of its predicted labels are incorrect when compared to the training labels. A system with high precision but low recall is just the opposite, returning very few results, but most of its predicted labels are correct when compared to the training labels.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914400"/>
          </a:xfrm>
        </p:spPr>
        <p:txBody>
          <a:bodyPr/>
          <a:lstStyle/>
          <a:p>
            <a:r>
              <a:rPr lang="en-US" dirty="0" smtClean="0"/>
              <a:t>Precision-Recall plot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 smtClean="0"/>
              <a:t>An ideal system with high precision and high recall will return many results, with all results labeled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045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091488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mtClean="0"/>
              <a:t>Evaluating Classifier Accuracy:</a:t>
            </a:r>
            <a:br>
              <a:rPr lang="en-US" smtClean="0"/>
            </a:br>
            <a:r>
              <a:rPr lang="en-US" smtClean="0"/>
              <a:t>Holdout &amp; Cross-Validation Methods</a:t>
            </a:r>
            <a:endParaRPr lang="en-US" sz="4000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763000" cy="5273675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Holdout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Given data is randomly partitioned into two independent sets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Training set (e.g., 2/3) for model construction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Test set (e.g., 1/3) for accuracy estimation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 smtClean="0"/>
              <a:t>Random sampling</a:t>
            </a:r>
            <a:r>
              <a:rPr lang="en-US" sz="2400" dirty="0" smtClean="0"/>
              <a:t>: a variation of holdout</a:t>
            </a:r>
          </a:p>
          <a:p>
            <a:pPr lvl="2" eaLnBrk="1" hangingPunct="1">
              <a:lnSpc>
                <a:spcPct val="80000"/>
              </a:lnSpc>
            </a:pPr>
            <a:r>
              <a:rPr lang="en-US" dirty="0" smtClean="0"/>
              <a:t>Repeat holdout k times, accuracy = avg. of the accuracies obtained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Cross-validation</a:t>
            </a:r>
            <a:r>
              <a:rPr lang="en-US" sz="2400" dirty="0" smtClean="0"/>
              <a:t> (</a:t>
            </a:r>
            <a:r>
              <a:rPr lang="en-US" sz="2400" i="1" dirty="0" smtClean="0"/>
              <a:t>k</a:t>
            </a:r>
            <a:r>
              <a:rPr lang="en-US" sz="2400" dirty="0" smtClean="0"/>
              <a:t>-fold, where k = 10 is most popular)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Randomly partition the data into </a:t>
            </a:r>
            <a:r>
              <a:rPr lang="en-US" sz="2400" i="1" dirty="0" smtClean="0"/>
              <a:t>k</a:t>
            </a:r>
            <a:r>
              <a:rPr lang="en-US" sz="2400" dirty="0" smtClean="0"/>
              <a:t> </a:t>
            </a:r>
            <a:r>
              <a:rPr lang="en-US" sz="2400" i="1" dirty="0" smtClean="0"/>
              <a:t>mutually exclusive</a:t>
            </a:r>
            <a:r>
              <a:rPr lang="en-US" sz="2400" dirty="0" smtClean="0"/>
              <a:t> subsets, each approximately equal size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smtClean="0"/>
              <a:t>At </a:t>
            </a:r>
            <a:r>
              <a:rPr lang="en-US" sz="2400" i="1" dirty="0" err="1" smtClean="0"/>
              <a:t>i</a:t>
            </a:r>
            <a:r>
              <a:rPr lang="en-US" sz="2400" dirty="0" err="1" smtClean="0"/>
              <a:t>-th</a:t>
            </a:r>
            <a:r>
              <a:rPr lang="en-US" sz="2400" dirty="0" smtClean="0"/>
              <a:t> iteration, use D</a:t>
            </a:r>
            <a:r>
              <a:rPr lang="en-US" sz="2400" baseline="-25000" dirty="0" smtClean="0"/>
              <a:t>i </a:t>
            </a:r>
            <a:r>
              <a:rPr lang="en-US" sz="2400" dirty="0" smtClean="0"/>
              <a:t>as test set and others as 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u="sng" dirty="0" smtClean="0"/>
              <a:t>Leave-one-out</a:t>
            </a:r>
            <a:r>
              <a:rPr lang="en-US" sz="2400" dirty="0" smtClean="0"/>
              <a:t>: </a:t>
            </a:r>
            <a:r>
              <a:rPr lang="en-US" sz="2400" i="1" dirty="0" smtClean="0"/>
              <a:t>k</a:t>
            </a:r>
            <a:r>
              <a:rPr lang="en-US" sz="2400" dirty="0" smtClean="0"/>
              <a:t> folds where </a:t>
            </a:r>
            <a:r>
              <a:rPr lang="en-US" sz="2400" i="1" dirty="0" smtClean="0"/>
              <a:t>k</a:t>
            </a:r>
            <a:r>
              <a:rPr lang="en-US" sz="2400" dirty="0" smtClean="0"/>
              <a:t> = # of </a:t>
            </a:r>
            <a:r>
              <a:rPr lang="en-US" sz="2400" dirty="0" err="1" smtClean="0"/>
              <a:t>tuples</a:t>
            </a:r>
            <a:r>
              <a:rPr lang="en-US" sz="2400" dirty="0" smtClean="0"/>
              <a:t>, for small sized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b="1" u="sng" dirty="0" smtClean="0"/>
              <a:t>*Stratified cross-validation*</a:t>
            </a:r>
            <a:r>
              <a:rPr lang="en-US" sz="2400" dirty="0" smtClean="0"/>
              <a:t>: folds are stratified so that class dist. in each fold is approx. the same as that in the initial data</a:t>
            </a:r>
          </a:p>
        </p:txBody>
      </p:sp>
      <p:sp>
        <p:nvSpPr>
          <p:cNvPr id="5632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219EC19-DF45-4022-95DF-35396674A49C}" type="slidenum">
              <a:rPr lang="en-US" sz="1200" b="1">
                <a:latin typeface="Calibri" pitchFamily="34" charset="0"/>
              </a:rPr>
              <a:pPr algn="r"/>
              <a:t>24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970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7772400" cy="4114800"/>
          </a:xfrm>
        </p:spPr>
        <p:txBody>
          <a:bodyPr/>
          <a:lstStyle/>
          <a:p>
            <a:r>
              <a:rPr lang="en-US" dirty="0"/>
              <a:t>Metrics for Performance Evaluation</a:t>
            </a:r>
          </a:p>
          <a:p>
            <a:pPr lvl="1"/>
            <a:r>
              <a:rPr lang="en-US" dirty="0"/>
              <a:t>How to evaluate the performance of a model?</a:t>
            </a:r>
          </a:p>
          <a:p>
            <a:pPr lvl="1">
              <a:buFont typeface="Arial" charset="0"/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Methods for Performance Evaluation</a:t>
            </a:r>
          </a:p>
          <a:p>
            <a:pPr lvl="1"/>
            <a:r>
              <a:rPr lang="en-US" dirty="0"/>
              <a:t>How to obtain reliable estimates?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244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Methods for Performance Evaluation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</p:spPr>
        <p:txBody>
          <a:bodyPr/>
          <a:lstStyle/>
          <a:p>
            <a:r>
              <a:rPr lang="en-US" dirty="0"/>
              <a:t>How to obtain a reliable estimate of performance?</a:t>
            </a:r>
          </a:p>
          <a:p>
            <a:r>
              <a:rPr lang="en-US" dirty="0" smtClean="0"/>
              <a:t>Performance </a:t>
            </a:r>
            <a:r>
              <a:rPr lang="en-US" dirty="0"/>
              <a:t>of a model may depend on other factors besides the learning algorithm:</a:t>
            </a:r>
          </a:p>
          <a:p>
            <a:pPr lvl="1"/>
            <a:r>
              <a:rPr lang="en-US" dirty="0"/>
              <a:t>Class distribution</a:t>
            </a:r>
          </a:p>
          <a:p>
            <a:pPr lvl="1"/>
            <a:r>
              <a:rPr lang="en-US" dirty="0"/>
              <a:t>Cost of misclassification</a:t>
            </a:r>
          </a:p>
          <a:p>
            <a:pPr lvl="1"/>
            <a:r>
              <a:rPr lang="en-US" dirty="0"/>
              <a:t>Size of training and test sets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578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72400" cy="838200"/>
          </a:xfrm>
        </p:spPr>
        <p:txBody>
          <a:bodyPr/>
          <a:lstStyle/>
          <a:p>
            <a:r>
              <a:rPr lang="en-US" sz="4000" dirty="0" smtClean="0"/>
              <a:t>Dealing with class Imbalance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71600"/>
            <a:ext cx="7772400" cy="5181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If the class we are interested in is very rare, then the classifier will ignore it.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The class imbalance problem</a:t>
            </a:r>
          </a:p>
          <a:p>
            <a:pPr>
              <a:spcBef>
                <a:spcPts val="0"/>
              </a:spcBef>
            </a:pPr>
            <a:r>
              <a:rPr lang="en-US" dirty="0" smtClean="0"/>
              <a:t>Solution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We can modify the optimization criterion by using a cost sensitive metric</a:t>
            </a:r>
          </a:p>
          <a:p>
            <a:pPr lvl="1">
              <a:spcBef>
                <a:spcPts val="0"/>
              </a:spcBef>
            </a:pPr>
            <a:r>
              <a:rPr lang="en-US" dirty="0" smtClean="0"/>
              <a:t>We can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balance</a:t>
            </a:r>
            <a:r>
              <a:rPr lang="en-US" dirty="0" smtClean="0"/>
              <a:t> the class distribution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Sample from the larger class so that the size of the two classes is the same</a:t>
            </a:r>
          </a:p>
          <a:p>
            <a:pPr lvl="2">
              <a:spcBef>
                <a:spcPts val="0"/>
              </a:spcBef>
            </a:pPr>
            <a:r>
              <a:rPr lang="en-US" dirty="0" smtClean="0"/>
              <a:t>Replicate the data of the class of interest so that the classes are balanced </a:t>
            </a:r>
          </a:p>
          <a:p>
            <a:pPr lvl="3">
              <a:spcBef>
                <a:spcPts val="0"/>
              </a:spcBef>
            </a:pPr>
            <a:r>
              <a:rPr lang="en-US" dirty="0" smtClean="0"/>
              <a:t>Over-fitting issues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389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r>
              <a:rPr lang="en-US" sz="3200" b="0" smtClean="0"/>
              <a:t>Classification of Class-Imbalanced Data Sets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05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smtClean="0"/>
              <a:t>Typical methods for imbalance data in 2-class classification: 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Oversampling</a:t>
            </a:r>
            <a:r>
              <a:rPr lang="en-US" sz="2400" dirty="0" smtClean="0"/>
              <a:t>: re-sampling of data from positive class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Under-sampling</a:t>
            </a:r>
            <a:r>
              <a:rPr lang="en-US" sz="2400" dirty="0" smtClean="0"/>
              <a:t>: randomly eliminate 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from negative class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/>
              <a:t>Threshold-moving</a:t>
            </a:r>
            <a:r>
              <a:rPr lang="en-US" sz="2400" dirty="0" smtClean="0"/>
              <a:t>: moves the decision threshold, t, so that the rare class </a:t>
            </a:r>
            <a:r>
              <a:rPr lang="en-US" sz="2400" dirty="0" err="1" smtClean="0"/>
              <a:t>tuples</a:t>
            </a:r>
            <a:r>
              <a:rPr lang="en-US" sz="2400" dirty="0" smtClean="0"/>
              <a:t> are easier to classify, and hence, less chance of costly false negative errors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Ensemble techniques: Ensemble multiple classifiers introduced above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Still difficult for class imbalance problem on multiclass tasks</a:t>
            </a:r>
          </a:p>
        </p:txBody>
      </p:sp>
      <p:sp>
        <p:nvSpPr>
          <p:cNvPr id="71684" name="Slide Number Placeholder 7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66ECBE1-5A5D-4F0E-A260-8A662E4214CB}" type="slidenum">
              <a:rPr lang="en-US" sz="1200" b="1">
                <a:latin typeface="Calibri" pitchFamily="34" charset="0"/>
              </a:rPr>
              <a:pPr algn="r"/>
              <a:t>28</a:t>
            </a:fld>
            <a:endParaRPr lang="en-US" sz="1200" b="1">
              <a:latin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4E1A1F-3ABD-4CEF-A482-B15E21FE085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20197</TotalTime>
  <Words>1614</Words>
  <Application>Microsoft Office PowerPoint</Application>
  <PresentationFormat>On-screen Show (4:3)</PresentationFormat>
  <Paragraphs>330</Paragraphs>
  <Slides>28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Default Design</vt:lpstr>
      <vt:lpstr>Εξίσωση</vt:lpstr>
      <vt:lpstr>Slide 1</vt:lpstr>
      <vt:lpstr>Practical Issues of Classification</vt:lpstr>
      <vt:lpstr>Underfitting and Overfitting</vt:lpstr>
      <vt:lpstr>Notes on Overfitting</vt:lpstr>
      <vt:lpstr>How to Address Overfitting:  Tree Pruning</vt:lpstr>
      <vt:lpstr>How to Address Overfitting…</vt:lpstr>
      <vt:lpstr>Prune the Tree OR Prune the Rule</vt:lpstr>
      <vt:lpstr>Model Evaluation</vt:lpstr>
      <vt:lpstr>Model Evaluation</vt:lpstr>
      <vt:lpstr>Classifier Evaluation Metrics: Confusion Matrix</vt:lpstr>
      <vt:lpstr>Limitation of Accuracy</vt:lpstr>
      <vt:lpstr>Classifier Accuracy, Error Rate, Sensitivity Specificity</vt:lpstr>
      <vt:lpstr>Classifier Evaluation Metrics:  Precision and Recall, and F-measures</vt:lpstr>
      <vt:lpstr>Classifier Evaluation Metrics: Example</vt:lpstr>
      <vt:lpstr>Computing Cost of Classification</vt:lpstr>
      <vt:lpstr>Computing Cost of Classification</vt:lpstr>
      <vt:lpstr>Cost vs Accuracy</vt:lpstr>
      <vt:lpstr>Precision-Recall</vt:lpstr>
      <vt:lpstr>Precision-Recall plot</vt:lpstr>
      <vt:lpstr>Precision-Recall plot</vt:lpstr>
      <vt:lpstr>Precision-Recall plot</vt:lpstr>
      <vt:lpstr>Precision-Recall plot</vt:lpstr>
      <vt:lpstr>Precision-Recall plot</vt:lpstr>
      <vt:lpstr>Evaluating Classifier Accuracy: Holdout &amp; Cross-Validation Methods</vt:lpstr>
      <vt:lpstr>Model Evaluation</vt:lpstr>
      <vt:lpstr>Methods for Performance Evaluation</vt:lpstr>
      <vt:lpstr>Dealing with class Imbalance</vt:lpstr>
      <vt:lpstr>Classification of Class-Imbalanced Data Sets</vt:lpstr>
    </vt:vector>
  </TitlesOfParts>
  <Company>RHfarm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Shariq</dc:creator>
  <cp:lastModifiedBy>pc</cp:lastModifiedBy>
  <cp:revision>498</cp:revision>
  <dcterms:created xsi:type="dcterms:W3CDTF">2006-02-06T02:43:57Z</dcterms:created>
  <dcterms:modified xsi:type="dcterms:W3CDTF">2020-07-09T11:54:23Z</dcterms:modified>
</cp:coreProperties>
</file>