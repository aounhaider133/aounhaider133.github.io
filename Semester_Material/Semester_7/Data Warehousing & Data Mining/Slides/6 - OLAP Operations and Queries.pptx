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321" r:id="rId17"/>
    <p:sldId id="32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4" r:id="rId27"/>
    <p:sldId id="285" r:id="rId28"/>
    <p:sldId id="286" r:id="rId29"/>
    <p:sldId id="288" r:id="rId30"/>
    <p:sldId id="303" r:id="rId31"/>
    <p:sldId id="307" r:id="rId32"/>
    <p:sldId id="309" r:id="rId33"/>
    <p:sldId id="310" r:id="rId34"/>
    <p:sldId id="32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9" r:id="rId4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24B11B-F441-39EB-F6C1-9C26E73C4A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79B114-4013-CA36-B097-89287BEB6E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A4BA1-79ED-4075-A010-483DE5551291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43938-C344-FB85-8519-6D49640974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470EF-9DE2-4489-2E07-37840A4E1C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9DA97-079A-479F-9395-4590E888C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36884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00EC3-7029-44EC-A010-1CFCC62AD575}" type="datetimeFigureOut">
              <a:rPr lang="en-US" smtClean="0"/>
              <a:t>10/3/2024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EB817-7B5D-47C7-982B-4B8AB2BF6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9178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1C910-C250-45C8-907C-DE5839B4493E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5F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66B08-18B0-42D9-9441-362503CD9DF4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5F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25570-0A3E-463D-A916-02FA1370AA1E}" type="datetime1">
              <a:rPr lang="en-US" smtClean="0"/>
              <a:t>10/3/2024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5F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D1A5E-1997-4061-B71F-5C7A6F081855}" type="datetime1">
              <a:rPr lang="en-US" smtClean="0"/>
              <a:t>10/3/2024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A7600-9193-424D-9624-2B564527957E}" type="datetime1">
              <a:rPr lang="en-US" smtClean="0"/>
              <a:t>10/3/2024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7844" y="792697"/>
            <a:ext cx="8028432" cy="11234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72134" y="819149"/>
            <a:ext cx="7965440" cy="19685"/>
          </a:xfrm>
          <a:custGeom>
            <a:avLst/>
            <a:gdLst/>
            <a:ahLst/>
            <a:cxnLst/>
            <a:rect l="l" t="t" r="r" b="b"/>
            <a:pathLst>
              <a:path w="7965440" h="19684">
                <a:moveTo>
                  <a:pt x="0" y="0"/>
                </a:moveTo>
                <a:lnTo>
                  <a:pt x="7965440" y="19176"/>
                </a:lnTo>
              </a:path>
            </a:pathLst>
          </a:custGeom>
          <a:ln w="25908">
            <a:solidFill>
              <a:srgbClr val="95BE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7844" y="79502"/>
            <a:ext cx="7991856" cy="9397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72134" y="105918"/>
            <a:ext cx="7929880" cy="1905"/>
          </a:xfrm>
          <a:custGeom>
            <a:avLst/>
            <a:gdLst/>
            <a:ahLst/>
            <a:cxnLst/>
            <a:rect l="l" t="t" r="r" b="b"/>
            <a:pathLst>
              <a:path w="7929880" h="1905">
                <a:moveTo>
                  <a:pt x="0" y="0"/>
                </a:moveTo>
                <a:lnTo>
                  <a:pt x="7929626" y="1650"/>
                </a:lnTo>
              </a:path>
            </a:pathLst>
          </a:custGeom>
          <a:ln w="25908">
            <a:solidFill>
              <a:srgbClr val="95BE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10952" y="2954364"/>
            <a:ext cx="5333047" cy="390363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9811" y="47244"/>
            <a:ext cx="1077468" cy="85801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40358" y="94945"/>
            <a:ext cx="6463283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F92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5625" y="1283665"/>
            <a:ext cx="8632748" cy="460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846326" y="6672478"/>
            <a:ext cx="5454015" cy="15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050"/>
              </a:lnSpc>
            </a:pPr>
            <a:r>
              <a:rPr spc="-5" dirty="0"/>
              <a:t>Data</a:t>
            </a:r>
            <a:r>
              <a:rPr spc="-10" dirty="0"/>
              <a:t> </a:t>
            </a:r>
            <a:r>
              <a:rPr spc="-5" dirty="0"/>
              <a:t>Warehousing</a:t>
            </a:r>
            <a:r>
              <a:rPr spc="5" dirty="0"/>
              <a:t> </a:t>
            </a:r>
            <a:r>
              <a:rPr spc="-5" dirty="0"/>
              <a:t>&amp;</a:t>
            </a:r>
            <a:r>
              <a:rPr spc="5" dirty="0"/>
              <a:t> </a:t>
            </a:r>
            <a:r>
              <a:rPr spc="-5" dirty="0"/>
              <a:t>Data Mining –</a:t>
            </a:r>
            <a:r>
              <a:rPr spc="10" dirty="0"/>
              <a:t> </a:t>
            </a:r>
            <a:r>
              <a:rPr spc="-5" dirty="0"/>
              <a:t>Wolf-Tilo Balke</a:t>
            </a:r>
            <a:r>
              <a:rPr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5" dirty="0"/>
              <a:t>Institut</a:t>
            </a:r>
            <a:r>
              <a:rPr spc="5" dirty="0"/>
              <a:t> </a:t>
            </a:r>
            <a:r>
              <a:rPr spc="-5" dirty="0"/>
              <a:t>für Informationssysteme</a:t>
            </a:r>
            <a:r>
              <a:rPr spc="35" dirty="0"/>
              <a:t> </a:t>
            </a:r>
            <a:r>
              <a:rPr spc="-5" dirty="0"/>
              <a:t>–</a:t>
            </a:r>
            <a:r>
              <a:rPr dirty="0"/>
              <a:t> </a:t>
            </a:r>
            <a:r>
              <a:rPr spc="-10" dirty="0"/>
              <a:t>TU</a:t>
            </a:r>
            <a:r>
              <a:rPr spc="10" dirty="0"/>
              <a:t> </a:t>
            </a:r>
            <a:r>
              <a:rPr spc="-5" dirty="0"/>
              <a:t>Braunschweig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F228D-4EA1-44F1-91D5-71561B5415AF}" type="datetime1">
              <a:rPr lang="en-US" smtClean="0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18550" y="6659143"/>
            <a:ext cx="219709" cy="166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1F487C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5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24" Type="http://schemas.openxmlformats.org/officeDocument/2006/relationships/image" Target="../media/image27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9" Type="http://schemas.openxmlformats.org/officeDocument/2006/relationships/image" Target="../media/image65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42" Type="http://schemas.openxmlformats.org/officeDocument/2006/relationships/image" Target="../media/image68.png"/><Relationship Id="rId47" Type="http://schemas.openxmlformats.org/officeDocument/2006/relationships/image" Target="../media/image73.png"/><Relationship Id="rId50" Type="http://schemas.openxmlformats.org/officeDocument/2006/relationships/image" Target="../media/image76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9" Type="http://schemas.openxmlformats.org/officeDocument/2006/relationships/image" Target="../media/image55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71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49" Type="http://schemas.openxmlformats.org/officeDocument/2006/relationships/image" Target="../media/image75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4" Type="http://schemas.openxmlformats.org/officeDocument/2006/relationships/image" Target="../media/image70.png"/><Relationship Id="rId52" Type="http://schemas.openxmlformats.org/officeDocument/2006/relationships/image" Target="../media/image78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image" Target="../media/image74.png"/><Relationship Id="rId8" Type="http://schemas.openxmlformats.org/officeDocument/2006/relationships/image" Target="../media/image34.png"/><Relationship Id="rId51" Type="http://schemas.openxmlformats.org/officeDocument/2006/relationships/image" Target="../media/image77.png"/><Relationship Id="rId3" Type="http://schemas.openxmlformats.org/officeDocument/2006/relationships/image" Target="../media/image29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46" Type="http://schemas.openxmlformats.org/officeDocument/2006/relationships/image" Target="../media/image72.png"/><Relationship Id="rId20" Type="http://schemas.openxmlformats.org/officeDocument/2006/relationships/image" Target="../media/image46.png"/><Relationship Id="rId41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26" Type="http://schemas.openxmlformats.org/officeDocument/2006/relationships/image" Target="../media/image51.png"/><Relationship Id="rId39" Type="http://schemas.openxmlformats.org/officeDocument/2006/relationships/image" Target="../media/image65.png"/><Relationship Id="rId21" Type="http://schemas.openxmlformats.org/officeDocument/2006/relationships/image" Target="../media/image46.png"/><Relationship Id="rId34" Type="http://schemas.openxmlformats.org/officeDocument/2006/relationships/image" Target="../media/image60.png"/><Relationship Id="rId42" Type="http://schemas.openxmlformats.org/officeDocument/2006/relationships/image" Target="../media/image80.png"/><Relationship Id="rId47" Type="http://schemas.openxmlformats.org/officeDocument/2006/relationships/image" Target="../media/image73.png"/><Relationship Id="rId50" Type="http://schemas.openxmlformats.org/officeDocument/2006/relationships/image" Target="../media/image76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9" Type="http://schemas.openxmlformats.org/officeDocument/2006/relationships/image" Target="../media/image55.png"/><Relationship Id="rId11" Type="http://schemas.openxmlformats.org/officeDocument/2006/relationships/image" Target="../media/image37.png"/><Relationship Id="rId24" Type="http://schemas.openxmlformats.org/officeDocument/2006/relationships/image" Target="../media/image49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71.png"/><Relationship Id="rId53" Type="http://schemas.openxmlformats.org/officeDocument/2006/relationships/image" Target="../media/image82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19" Type="http://schemas.openxmlformats.org/officeDocument/2006/relationships/image" Target="../media/image79.png"/><Relationship Id="rId31" Type="http://schemas.openxmlformats.org/officeDocument/2006/relationships/image" Target="../media/image57.png"/><Relationship Id="rId44" Type="http://schemas.openxmlformats.org/officeDocument/2006/relationships/image" Target="../media/image81.png"/><Relationship Id="rId52" Type="http://schemas.openxmlformats.org/officeDocument/2006/relationships/image" Target="../media/image78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7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image" Target="../media/image74.png"/><Relationship Id="rId8" Type="http://schemas.openxmlformats.org/officeDocument/2006/relationships/image" Target="../media/image34.png"/><Relationship Id="rId51" Type="http://schemas.openxmlformats.org/officeDocument/2006/relationships/image" Target="../media/image77.png"/><Relationship Id="rId3" Type="http://schemas.openxmlformats.org/officeDocument/2006/relationships/image" Target="../media/image29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0.png"/><Relationship Id="rId33" Type="http://schemas.openxmlformats.org/officeDocument/2006/relationships/image" Target="../media/image59.png"/><Relationship Id="rId38" Type="http://schemas.openxmlformats.org/officeDocument/2006/relationships/image" Target="../media/image64.png"/><Relationship Id="rId46" Type="http://schemas.openxmlformats.org/officeDocument/2006/relationships/image" Target="../media/image72.png"/><Relationship Id="rId20" Type="http://schemas.openxmlformats.org/officeDocument/2006/relationships/image" Target="../media/image45.png"/><Relationship Id="rId41" Type="http://schemas.openxmlformats.org/officeDocument/2006/relationships/image" Target="../media/image67.png"/><Relationship Id="rId54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5" Type="http://schemas.openxmlformats.org/officeDocument/2006/relationships/image" Target="../media/image52.png"/><Relationship Id="rId23" Type="http://schemas.openxmlformats.org/officeDocument/2006/relationships/image" Target="../media/image48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49" Type="http://schemas.openxmlformats.org/officeDocument/2006/relationships/image" Target="../media/image7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5.png"/><Relationship Id="rId18" Type="http://schemas.openxmlformats.org/officeDocument/2006/relationships/image" Target="../media/image100.png"/><Relationship Id="rId26" Type="http://schemas.openxmlformats.org/officeDocument/2006/relationships/image" Target="../media/image108.png"/><Relationship Id="rId3" Type="http://schemas.openxmlformats.org/officeDocument/2006/relationships/image" Target="../media/image85.png"/><Relationship Id="rId21" Type="http://schemas.openxmlformats.org/officeDocument/2006/relationships/image" Target="../media/image103.png"/><Relationship Id="rId34" Type="http://schemas.openxmlformats.org/officeDocument/2006/relationships/image" Target="../media/image116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9.png"/><Relationship Id="rId25" Type="http://schemas.openxmlformats.org/officeDocument/2006/relationships/image" Target="../media/image107.png"/><Relationship Id="rId33" Type="http://schemas.openxmlformats.org/officeDocument/2006/relationships/image" Target="../media/image115.png"/><Relationship Id="rId2" Type="http://schemas.openxmlformats.org/officeDocument/2006/relationships/image" Target="../media/image84.png"/><Relationship Id="rId16" Type="http://schemas.openxmlformats.org/officeDocument/2006/relationships/image" Target="../media/image98.png"/><Relationship Id="rId20" Type="http://schemas.openxmlformats.org/officeDocument/2006/relationships/image" Target="../media/image102.png"/><Relationship Id="rId29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24" Type="http://schemas.openxmlformats.org/officeDocument/2006/relationships/image" Target="../media/image106.png"/><Relationship Id="rId32" Type="http://schemas.openxmlformats.org/officeDocument/2006/relationships/image" Target="../media/image114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23" Type="http://schemas.openxmlformats.org/officeDocument/2006/relationships/image" Target="../media/image105.png"/><Relationship Id="rId28" Type="http://schemas.openxmlformats.org/officeDocument/2006/relationships/image" Target="../media/image110.png"/><Relationship Id="rId10" Type="http://schemas.openxmlformats.org/officeDocument/2006/relationships/image" Target="../media/image92.png"/><Relationship Id="rId19" Type="http://schemas.openxmlformats.org/officeDocument/2006/relationships/image" Target="../media/image101.png"/><Relationship Id="rId31" Type="http://schemas.openxmlformats.org/officeDocument/2006/relationships/image" Target="../media/image113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Relationship Id="rId22" Type="http://schemas.openxmlformats.org/officeDocument/2006/relationships/image" Target="../media/image104.png"/><Relationship Id="rId27" Type="http://schemas.openxmlformats.org/officeDocument/2006/relationships/image" Target="../media/image109.png"/><Relationship Id="rId30" Type="http://schemas.openxmlformats.org/officeDocument/2006/relationships/image" Target="../media/image112.png"/><Relationship Id="rId8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8.png"/><Relationship Id="rId18" Type="http://schemas.openxmlformats.org/officeDocument/2006/relationships/image" Target="../media/image133.png"/><Relationship Id="rId26" Type="http://schemas.openxmlformats.org/officeDocument/2006/relationships/image" Target="../media/image141.png"/><Relationship Id="rId39" Type="http://schemas.openxmlformats.org/officeDocument/2006/relationships/image" Target="../media/image154.png"/><Relationship Id="rId21" Type="http://schemas.openxmlformats.org/officeDocument/2006/relationships/image" Target="../media/image136.png"/><Relationship Id="rId34" Type="http://schemas.openxmlformats.org/officeDocument/2006/relationships/image" Target="../media/image149.png"/><Relationship Id="rId42" Type="http://schemas.openxmlformats.org/officeDocument/2006/relationships/image" Target="../media/image157.png"/><Relationship Id="rId7" Type="http://schemas.openxmlformats.org/officeDocument/2006/relationships/image" Target="../media/image122.png"/><Relationship Id="rId2" Type="http://schemas.openxmlformats.org/officeDocument/2006/relationships/image" Target="../media/image117.png"/><Relationship Id="rId16" Type="http://schemas.openxmlformats.org/officeDocument/2006/relationships/image" Target="../media/image131.png"/><Relationship Id="rId20" Type="http://schemas.openxmlformats.org/officeDocument/2006/relationships/image" Target="../media/image135.png"/><Relationship Id="rId29" Type="http://schemas.openxmlformats.org/officeDocument/2006/relationships/image" Target="../media/image144.png"/><Relationship Id="rId41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24" Type="http://schemas.openxmlformats.org/officeDocument/2006/relationships/image" Target="../media/image139.png"/><Relationship Id="rId32" Type="http://schemas.openxmlformats.org/officeDocument/2006/relationships/image" Target="../media/image147.png"/><Relationship Id="rId37" Type="http://schemas.openxmlformats.org/officeDocument/2006/relationships/image" Target="../media/image152.png"/><Relationship Id="rId40" Type="http://schemas.openxmlformats.org/officeDocument/2006/relationships/image" Target="../media/image155.png"/><Relationship Id="rId5" Type="http://schemas.openxmlformats.org/officeDocument/2006/relationships/image" Target="../media/image120.png"/><Relationship Id="rId15" Type="http://schemas.openxmlformats.org/officeDocument/2006/relationships/image" Target="../media/image130.png"/><Relationship Id="rId23" Type="http://schemas.openxmlformats.org/officeDocument/2006/relationships/image" Target="../media/image138.png"/><Relationship Id="rId28" Type="http://schemas.openxmlformats.org/officeDocument/2006/relationships/image" Target="../media/image143.png"/><Relationship Id="rId36" Type="http://schemas.openxmlformats.org/officeDocument/2006/relationships/image" Target="../media/image151.png"/><Relationship Id="rId10" Type="http://schemas.openxmlformats.org/officeDocument/2006/relationships/image" Target="../media/image125.png"/><Relationship Id="rId19" Type="http://schemas.openxmlformats.org/officeDocument/2006/relationships/image" Target="../media/image134.png"/><Relationship Id="rId31" Type="http://schemas.openxmlformats.org/officeDocument/2006/relationships/image" Target="../media/image146.png"/><Relationship Id="rId44" Type="http://schemas.openxmlformats.org/officeDocument/2006/relationships/image" Target="../media/image159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Relationship Id="rId14" Type="http://schemas.openxmlformats.org/officeDocument/2006/relationships/image" Target="../media/image129.png"/><Relationship Id="rId22" Type="http://schemas.openxmlformats.org/officeDocument/2006/relationships/image" Target="../media/image137.png"/><Relationship Id="rId27" Type="http://schemas.openxmlformats.org/officeDocument/2006/relationships/image" Target="../media/image142.png"/><Relationship Id="rId30" Type="http://schemas.openxmlformats.org/officeDocument/2006/relationships/image" Target="../media/image145.png"/><Relationship Id="rId35" Type="http://schemas.openxmlformats.org/officeDocument/2006/relationships/image" Target="../media/image150.png"/><Relationship Id="rId43" Type="http://schemas.openxmlformats.org/officeDocument/2006/relationships/image" Target="../media/image158.png"/><Relationship Id="rId8" Type="http://schemas.openxmlformats.org/officeDocument/2006/relationships/image" Target="../media/image123.png"/><Relationship Id="rId3" Type="http://schemas.openxmlformats.org/officeDocument/2006/relationships/image" Target="../media/image118.png"/><Relationship Id="rId12" Type="http://schemas.openxmlformats.org/officeDocument/2006/relationships/image" Target="../media/image127.png"/><Relationship Id="rId17" Type="http://schemas.openxmlformats.org/officeDocument/2006/relationships/image" Target="../media/image132.png"/><Relationship Id="rId25" Type="http://schemas.openxmlformats.org/officeDocument/2006/relationships/image" Target="../media/image140.png"/><Relationship Id="rId33" Type="http://schemas.openxmlformats.org/officeDocument/2006/relationships/image" Target="../media/image148.png"/><Relationship Id="rId38" Type="http://schemas.openxmlformats.org/officeDocument/2006/relationships/image" Target="../media/image15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5.png"/><Relationship Id="rId18" Type="http://schemas.openxmlformats.org/officeDocument/2006/relationships/image" Target="../media/image129.png"/><Relationship Id="rId26" Type="http://schemas.openxmlformats.org/officeDocument/2006/relationships/image" Target="../media/image132.png"/><Relationship Id="rId39" Type="http://schemas.openxmlformats.org/officeDocument/2006/relationships/image" Target="../media/image149.png"/><Relationship Id="rId21" Type="http://schemas.openxmlformats.org/officeDocument/2006/relationships/image" Target="../media/image168.png"/><Relationship Id="rId34" Type="http://schemas.openxmlformats.org/officeDocument/2006/relationships/image" Target="../media/image176.png"/><Relationship Id="rId42" Type="http://schemas.openxmlformats.org/officeDocument/2006/relationships/image" Target="../media/image182.png"/><Relationship Id="rId47" Type="http://schemas.openxmlformats.org/officeDocument/2006/relationships/image" Target="../media/image158.png"/><Relationship Id="rId7" Type="http://schemas.openxmlformats.org/officeDocument/2006/relationships/image" Target="../media/image161.png"/><Relationship Id="rId2" Type="http://schemas.openxmlformats.org/officeDocument/2006/relationships/image" Target="../media/image117.png"/><Relationship Id="rId16" Type="http://schemas.openxmlformats.org/officeDocument/2006/relationships/image" Target="../media/image124.png"/><Relationship Id="rId29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4.png"/><Relationship Id="rId24" Type="http://schemas.openxmlformats.org/officeDocument/2006/relationships/image" Target="../media/image138.png"/><Relationship Id="rId32" Type="http://schemas.openxmlformats.org/officeDocument/2006/relationships/image" Target="../media/image175.png"/><Relationship Id="rId37" Type="http://schemas.openxmlformats.org/officeDocument/2006/relationships/image" Target="../media/image179.png"/><Relationship Id="rId40" Type="http://schemas.openxmlformats.org/officeDocument/2006/relationships/image" Target="../media/image180.png"/><Relationship Id="rId45" Type="http://schemas.openxmlformats.org/officeDocument/2006/relationships/image" Target="../media/image156.png"/><Relationship Id="rId5" Type="http://schemas.openxmlformats.org/officeDocument/2006/relationships/image" Target="../media/image120.png"/><Relationship Id="rId15" Type="http://schemas.openxmlformats.org/officeDocument/2006/relationships/image" Target="../media/image167.png"/><Relationship Id="rId23" Type="http://schemas.openxmlformats.org/officeDocument/2006/relationships/image" Target="../media/image128.png"/><Relationship Id="rId28" Type="http://schemas.openxmlformats.org/officeDocument/2006/relationships/image" Target="../media/image171.png"/><Relationship Id="rId36" Type="http://schemas.openxmlformats.org/officeDocument/2006/relationships/image" Target="../media/image178.png"/><Relationship Id="rId10" Type="http://schemas.openxmlformats.org/officeDocument/2006/relationships/image" Target="../media/image163.png"/><Relationship Id="rId19" Type="http://schemas.openxmlformats.org/officeDocument/2006/relationships/image" Target="../media/image130.png"/><Relationship Id="rId31" Type="http://schemas.openxmlformats.org/officeDocument/2006/relationships/image" Target="../media/image174.png"/><Relationship Id="rId44" Type="http://schemas.openxmlformats.org/officeDocument/2006/relationships/image" Target="../media/image184.png"/><Relationship Id="rId4" Type="http://schemas.openxmlformats.org/officeDocument/2006/relationships/image" Target="../media/image119.png"/><Relationship Id="rId9" Type="http://schemas.openxmlformats.org/officeDocument/2006/relationships/image" Target="../media/image135.png"/><Relationship Id="rId14" Type="http://schemas.openxmlformats.org/officeDocument/2006/relationships/image" Target="../media/image166.png"/><Relationship Id="rId22" Type="http://schemas.openxmlformats.org/officeDocument/2006/relationships/image" Target="../media/image127.png"/><Relationship Id="rId27" Type="http://schemas.openxmlformats.org/officeDocument/2006/relationships/image" Target="../media/image170.png"/><Relationship Id="rId30" Type="http://schemas.openxmlformats.org/officeDocument/2006/relationships/image" Target="../media/image173.png"/><Relationship Id="rId35" Type="http://schemas.openxmlformats.org/officeDocument/2006/relationships/image" Target="../media/image177.png"/><Relationship Id="rId43" Type="http://schemas.openxmlformats.org/officeDocument/2006/relationships/image" Target="../media/image183.png"/><Relationship Id="rId48" Type="http://schemas.openxmlformats.org/officeDocument/2006/relationships/image" Target="../media/image185.png"/><Relationship Id="rId8" Type="http://schemas.openxmlformats.org/officeDocument/2006/relationships/image" Target="../media/image162.png"/><Relationship Id="rId3" Type="http://schemas.openxmlformats.org/officeDocument/2006/relationships/image" Target="../media/image118.png"/><Relationship Id="rId12" Type="http://schemas.openxmlformats.org/officeDocument/2006/relationships/image" Target="../media/image152.png"/><Relationship Id="rId17" Type="http://schemas.openxmlformats.org/officeDocument/2006/relationships/image" Target="../media/image125.png"/><Relationship Id="rId25" Type="http://schemas.openxmlformats.org/officeDocument/2006/relationships/image" Target="../media/image169.png"/><Relationship Id="rId33" Type="http://schemas.openxmlformats.org/officeDocument/2006/relationships/image" Target="../media/image133.png"/><Relationship Id="rId38" Type="http://schemas.openxmlformats.org/officeDocument/2006/relationships/image" Target="../media/image151.png"/><Relationship Id="rId46" Type="http://schemas.openxmlformats.org/officeDocument/2006/relationships/image" Target="../media/image157.png"/><Relationship Id="rId20" Type="http://schemas.openxmlformats.org/officeDocument/2006/relationships/image" Target="../media/image140.png"/><Relationship Id="rId41" Type="http://schemas.openxmlformats.org/officeDocument/2006/relationships/image" Target="../media/image18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.png"/><Relationship Id="rId18" Type="http://schemas.openxmlformats.org/officeDocument/2006/relationships/image" Target="../media/image140.png"/><Relationship Id="rId26" Type="http://schemas.openxmlformats.org/officeDocument/2006/relationships/image" Target="../media/image191.png"/><Relationship Id="rId39" Type="http://schemas.openxmlformats.org/officeDocument/2006/relationships/image" Target="../media/image151.png"/><Relationship Id="rId21" Type="http://schemas.openxmlformats.org/officeDocument/2006/relationships/image" Target="../media/image190.png"/><Relationship Id="rId34" Type="http://schemas.openxmlformats.org/officeDocument/2006/relationships/image" Target="../media/image178.png"/><Relationship Id="rId42" Type="http://schemas.openxmlformats.org/officeDocument/2006/relationships/image" Target="../media/image196.png"/><Relationship Id="rId47" Type="http://schemas.openxmlformats.org/officeDocument/2006/relationships/image" Target="../media/image184.png"/><Relationship Id="rId50" Type="http://schemas.openxmlformats.org/officeDocument/2006/relationships/image" Target="../media/image158.png"/><Relationship Id="rId7" Type="http://schemas.openxmlformats.org/officeDocument/2006/relationships/image" Target="../media/image161.png"/><Relationship Id="rId2" Type="http://schemas.openxmlformats.org/officeDocument/2006/relationships/image" Target="../media/image117.png"/><Relationship Id="rId16" Type="http://schemas.openxmlformats.org/officeDocument/2006/relationships/image" Target="../media/image188.png"/><Relationship Id="rId29" Type="http://schemas.openxmlformats.org/officeDocument/2006/relationships/image" Target="../media/image174.png"/><Relationship Id="rId11" Type="http://schemas.openxmlformats.org/officeDocument/2006/relationships/image" Target="../media/image187.png"/><Relationship Id="rId24" Type="http://schemas.openxmlformats.org/officeDocument/2006/relationships/image" Target="../media/image170.png"/><Relationship Id="rId32" Type="http://schemas.openxmlformats.org/officeDocument/2006/relationships/image" Target="../media/image194.png"/><Relationship Id="rId37" Type="http://schemas.openxmlformats.org/officeDocument/2006/relationships/image" Target="../media/image152.png"/><Relationship Id="rId40" Type="http://schemas.openxmlformats.org/officeDocument/2006/relationships/image" Target="../media/image149.png"/><Relationship Id="rId45" Type="http://schemas.openxmlformats.org/officeDocument/2006/relationships/image" Target="../media/image182.png"/><Relationship Id="rId5" Type="http://schemas.openxmlformats.org/officeDocument/2006/relationships/image" Target="../media/image120.png"/><Relationship Id="rId15" Type="http://schemas.openxmlformats.org/officeDocument/2006/relationships/image" Target="../media/image125.png"/><Relationship Id="rId23" Type="http://schemas.openxmlformats.org/officeDocument/2006/relationships/image" Target="../media/image133.png"/><Relationship Id="rId28" Type="http://schemas.openxmlformats.org/officeDocument/2006/relationships/image" Target="../media/image192.png"/><Relationship Id="rId36" Type="http://schemas.openxmlformats.org/officeDocument/2006/relationships/image" Target="../media/image179.png"/><Relationship Id="rId49" Type="http://schemas.openxmlformats.org/officeDocument/2006/relationships/image" Target="../media/image157.png"/><Relationship Id="rId10" Type="http://schemas.openxmlformats.org/officeDocument/2006/relationships/image" Target="../media/image164.png"/><Relationship Id="rId19" Type="http://schemas.openxmlformats.org/officeDocument/2006/relationships/image" Target="../media/image127.png"/><Relationship Id="rId31" Type="http://schemas.openxmlformats.org/officeDocument/2006/relationships/image" Target="../media/image175.png"/><Relationship Id="rId44" Type="http://schemas.openxmlformats.org/officeDocument/2006/relationships/image" Target="../media/image198.png"/><Relationship Id="rId4" Type="http://schemas.openxmlformats.org/officeDocument/2006/relationships/image" Target="../media/image119.png"/><Relationship Id="rId9" Type="http://schemas.openxmlformats.org/officeDocument/2006/relationships/image" Target="../media/image186.png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Relationship Id="rId27" Type="http://schemas.openxmlformats.org/officeDocument/2006/relationships/image" Target="../media/image141.png"/><Relationship Id="rId30" Type="http://schemas.openxmlformats.org/officeDocument/2006/relationships/image" Target="../media/image193.png"/><Relationship Id="rId35" Type="http://schemas.openxmlformats.org/officeDocument/2006/relationships/image" Target="../media/image135.png"/><Relationship Id="rId43" Type="http://schemas.openxmlformats.org/officeDocument/2006/relationships/image" Target="../media/image197.png"/><Relationship Id="rId48" Type="http://schemas.openxmlformats.org/officeDocument/2006/relationships/image" Target="../media/image156.png"/><Relationship Id="rId8" Type="http://schemas.openxmlformats.org/officeDocument/2006/relationships/image" Target="../media/image162.png"/><Relationship Id="rId51" Type="http://schemas.openxmlformats.org/officeDocument/2006/relationships/image" Target="../media/image199.png"/><Relationship Id="rId3" Type="http://schemas.openxmlformats.org/officeDocument/2006/relationships/image" Target="../media/image118.png"/><Relationship Id="rId12" Type="http://schemas.openxmlformats.org/officeDocument/2006/relationships/image" Target="../media/image166.png"/><Relationship Id="rId17" Type="http://schemas.openxmlformats.org/officeDocument/2006/relationships/image" Target="../media/image189.png"/><Relationship Id="rId25" Type="http://schemas.openxmlformats.org/officeDocument/2006/relationships/image" Target="../media/image171.png"/><Relationship Id="rId33" Type="http://schemas.openxmlformats.org/officeDocument/2006/relationships/image" Target="../media/image145.png"/><Relationship Id="rId38" Type="http://schemas.openxmlformats.org/officeDocument/2006/relationships/image" Target="../media/image195.png"/><Relationship Id="rId46" Type="http://schemas.openxmlformats.org/officeDocument/2006/relationships/image" Target="../media/image183.png"/><Relationship Id="rId20" Type="http://schemas.openxmlformats.org/officeDocument/2006/relationships/image" Target="../media/image128.png"/><Relationship Id="rId41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jpg"/><Relationship Id="rId2" Type="http://schemas.openxmlformats.org/officeDocument/2006/relationships/image" Target="../media/image20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jp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914" y="1273548"/>
            <a:ext cx="5323205" cy="164083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489584" indent="-477520">
              <a:lnSpc>
                <a:spcPct val="100000"/>
              </a:lnSpc>
              <a:spcBef>
                <a:spcPts val="894"/>
              </a:spcBef>
              <a:buAutoNum type="arabicPeriod" startAt="6"/>
              <a:tabLst>
                <a:tab pos="489584" algn="l"/>
                <a:tab pos="490220" algn="l"/>
              </a:tabLst>
            </a:pPr>
            <a:r>
              <a:rPr sz="3200" spc="125" dirty="0">
                <a:latin typeface="Trebuchet MS"/>
                <a:cs typeface="Trebuchet MS"/>
              </a:rPr>
              <a:t>OLAP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484" dirty="0">
                <a:latin typeface="Trebuchet MS"/>
                <a:cs typeface="Trebuchet MS"/>
              </a:rPr>
              <a:t>O</a:t>
            </a:r>
            <a:r>
              <a:rPr sz="3200" spc="-200" dirty="0">
                <a:latin typeface="Trebuchet MS"/>
                <a:cs typeface="Trebuchet MS"/>
              </a:rPr>
              <a:t>p</a:t>
            </a:r>
            <a:r>
              <a:rPr sz="3200" spc="-190" dirty="0">
                <a:latin typeface="Trebuchet MS"/>
                <a:cs typeface="Trebuchet MS"/>
              </a:rPr>
              <a:t>e</a:t>
            </a:r>
            <a:r>
              <a:rPr sz="3200" spc="-195" dirty="0">
                <a:latin typeface="Trebuchet MS"/>
                <a:cs typeface="Trebuchet MS"/>
              </a:rPr>
              <a:t>rat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55" dirty="0">
                <a:latin typeface="Trebuchet MS"/>
                <a:cs typeface="Trebuchet MS"/>
              </a:rPr>
              <a:t>ons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260" dirty="0">
                <a:latin typeface="Trebuchet MS"/>
                <a:cs typeface="Trebuchet MS"/>
              </a:rPr>
              <a:t>&amp;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Q</a:t>
            </a:r>
            <a:r>
              <a:rPr sz="3200" spc="150" dirty="0">
                <a:latin typeface="Trebuchet MS"/>
                <a:cs typeface="Trebuchet MS"/>
              </a:rPr>
              <a:t>u</a:t>
            </a:r>
            <a:r>
              <a:rPr sz="3200" spc="-155" dirty="0">
                <a:latin typeface="Trebuchet MS"/>
                <a:cs typeface="Trebuchet MS"/>
              </a:rPr>
              <a:t>er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endParaRPr sz="3200">
              <a:latin typeface="Trebuchet MS"/>
              <a:cs typeface="Trebuchet MS"/>
            </a:endParaRPr>
          </a:p>
          <a:p>
            <a:pPr marL="758825" lvl="1" indent="-632460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758825" algn="l"/>
                <a:tab pos="759460" algn="l"/>
              </a:tabLst>
            </a:pP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Operations</a:t>
            </a:r>
            <a:endParaRPr sz="2800">
              <a:latin typeface="Trebuchet MS"/>
              <a:cs typeface="Trebuchet MS"/>
            </a:endParaRPr>
          </a:p>
          <a:p>
            <a:pPr marL="758190" lvl="1" indent="-631825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758190" algn="l"/>
                <a:tab pos="758825" algn="l"/>
              </a:tabLst>
            </a:pP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50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800" spc="12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eri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240" dirty="0">
                <a:solidFill>
                  <a:srgbClr val="1F487C"/>
                </a:solidFill>
                <a:latin typeface="Trebuchet MS"/>
                <a:cs typeface="Trebuchet MS"/>
              </a:rPr>
              <a:t>s:</a:t>
            </a:r>
            <a:r>
              <a:rPr sz="2800" spc="-3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9</a:t>
            </a:r>
            <a:r>
              <a:rPr sz="2800" spc="-415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330" dirty="0">
                <a:solidFill>
                  <a:srgbClr val="1F487C"/>
                </a:solidFill>
                <a:latin typeface="Trebuchet MS"/>
                <a:cs typeface="Trebuchet MS"/>
              </a:rPr>
              <a:t>MDX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28473"/>
            <a:ext cx="75349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3575" algn="l"/>
              </a:tabLst>
            </a:pPr>
            <a:r>
              <a:rPr sz="4000" spc="445" dirty="0"/>
              <a:t>OLAP</a:t>
            </a:r>
            <a:r>
              <a:rPr sz="4000" spc="-95" dirty="0"/>
              <a:t> </a:t>
            </a:r>
            <a:r>
              <a:rPr sz="4000" spc="65" dirty="0"/>
              <a:t>Operations</a:t>
            </a:r>
            <a:r>
              <a:rPr sz="4000" spc="-60" dirty="0"/>
              <a:t> </a:t>
            </a:r>
            <a:r>
              <a:rPr sz="4000" spc="170" dirty="0"/>
              <a:t>&amp;</a:t>
            </a:r>
            <a:r>
              <a:rPr sz="4000" spc="-110" dirty="0"/>
              <a:t> </a:t>
            </a:r>
            <a:r>
              <a:rPr sz="4000" spc="55" dirty="0"/>
              <a:t>Queries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678"/>
            <a:ext cx="4481830" cy="486029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325" dirty="0">
                <a:latin typeface="Trebuchet MS"/>
                <a:cs typeface="Trebuchet MS"/>
              </a:rPr>
              <a:t>T</a:t>
            </a:r>
            <a:r>
              <a:rPr sz="3200" spc="-170" dirty="0">
                <a:latin typeface="Trebuchet MS"/>
                <a:cs typeface="Trebuchet MS"/>
              </a:rPr>
              <a:t>y</a:t>
            </a:r>
            <a:r>
              <a:rPr sz="3200" spc="-185" dirty="0">
                <a:latin typeface="Trebuchet MS"/>
                <a:cs typeface="Trebuchet MS"/>
              </a:rPr>
              <a:t>p</a:t>
            </a:r>
            <a:r>
              <a:rPr sz="3200" spc="-265" dirty="0">
                <a:latin typeface="Trebuchet MS"/>
                <a:cs typeface="Trebuchet MS"/>
              </a:rPr>
              <a:t>ica</a:t>
            </a:r>
            <a:r>
              <a:rPr sz="3200" spc="-175" dirty="0">
                <a:latin typeface="Trebuchet MS"/>
                <a:cs typeface="Trebuchet MS"/>
              </a:rPr>
              <a:t>l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O</a:t>
            </a:r>
            <a:r>
              <a:rPr sz="3200" spc="190" dirty="0">
                <a:latin typeface="Trebuchet MS"/>
                <a:cs typeface="Trebuchet MS"/>
              </a:rPr>
              <a:t>L</a:t>
            </a:r>
            <a:r>
              <a:rPr sz="3200" spc="45" dirty="0">
                <a:latin typeface="Trebuchet MS"/>
                <a:cs typeface="Trebuchet MS"/>
              </a:rPr>
              <a:t>AP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op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195" dirty="0">
                <a:latin typeface="Trebuchet MS"/>
                <a:cs typeface="Trebuchet MS"/>
              </a:rPr>
              <a:t>rat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35" dirty="0">
                <a:latin typeface="Trebuchet MS"/>
                <a:cs typeface="Trebuchet MS"/>
              </a:rPr>
              <a:t>o</a:t>
            </a:r>
            <a:r>
              <a:rPr sz="3200" spc="-105" dirty="0">
                <a:latin typeface="Trebuchet MS"/>
                <a:cs typeface="Trebuchet MS"/>
              </a:rPr>
              <a:t>ns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5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Roll-up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Drill-down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Slice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dice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Pi</a:t>
            </a:r>
            <a:r>
              <a:rPr sz="2800" spc="-23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ot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(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95" dirty="0">
                <a:solidFill>
                  <a:srgbClr val="1F487C"/>
                </a:solidFill>
                <a:latin typeface="Trebuchet MS"/>
                <a:cs typeface="Trebuchet MS"/>
              </a:rPr>
              <a:t>ate)</a:t>
            </a:r>
            <a:endParaRPr sz="28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Trebuchet MS"/>
                <a:cs typeface="Trebuchet MS"/>
              </a:rPr>
              <a:t>Other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operations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Aggregate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functions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Ranking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com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ing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Drill-across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Drill-through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5844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500" dirty="0"/>
              <a:t>OLAP</a:t>
            </a:r>
            <a:r>
              <a:rPr spc="-170" dirty="0"/>
              <a:t> </a:t>
            </a:r>
            <a:r>
              <a:rPr spc="70" dirty="0"/>
              <a:t>Operations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981955" y="533400"/>
            <a:ext cx="4162425" cy="4944110"/>
            <a:chOff x="4981955" y="533400"/>
            <a:chExt cx="4162425" cy="4944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0" y="533400"/>
              <a:ext cx="3428999" cy="34367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2872" y="4277867"/>
              <a:ext cx="769620" cy="7452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115" y="4305300"/>
              <a:ext cx="675132" cy="6507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500115" y="43053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316" y="4277867"/>
              <a:ext cx="768095" cy="74523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4305300"/>
              <a:ext cx="673608" cy="6507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4559" y="4305300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514528" y="4467986"/>
              <a:ext cx="0" cy="488315"/>
            </a:xfrm>
            <a:custGeom>
              <a:avLst/>
              <a:gdLst/>
              <a:ahLst/>
              <a:cxnLst/>
              <a:rect l="l" t="t" r="r" b="b"/>
              <a:pathLst>
                <a:path h="488314">
                  <a:moveTo>
                    <a:pt x="0" y="0"/>
                  </a:moveTo>
                  <a:lnTo>
                    <a:pt x="0" y="488061"/>
                  </a:lnTo>
                </a:path>
              </a:pathLst>
            </a:custGeom>
            <a:ln w="723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19" y="4422647"/>
              <a:ext cx="769620" cy="7452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0763" y="4450079"/>
              <a:ext cx="675132" cy="65074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50763" y="44500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39" y="4422647"/>
              <a:ext cx="769619" cy="7452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53683" y="4450079"/>
              <a:ext cx="675132" cy="6507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53683" y="44500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2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2872" y="3782567"/>
              <a:ext cx="769620" cy="7452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115" y="3810000"/>
              <a:ext cx="675132" cy="65074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500115" y="38100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316" y="3782567"/>
              <a:ext cx="768095" cy="74523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3810000"/>
              <a:ext cx="673608" cy="6507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004559" y="3810000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  <a:path w="673734" h="650875">
                  <a:moveTo>
                    <a:pt x="510920" y="162687"/>
                  </a:moveTo>
                  <a:lnTo>
                    <a:pt x="510920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19" y="3927347"/>
              <a:ext cx="769620" cy="7452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50763" y="3954779"/>
              <a:ext cx="675132" cy="65074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350763" y="39547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39" y="3927347"/>
              <a:ext cx="769619" cy="74523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53683" y="3954779"/>
              <a:ext cx="675132" cy="65074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853683" y="39547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2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0903" y="4277867"/>
              <a:ext cx="769620" cy="74523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8147" y="4305300"/>
              <a:ext cx="675131" cy="650748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6518147" y="43053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3823" y="4277867"/>
              <a:ext cx="769620" cy="74523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1067" y="4305300"/>
              <a:ext cx="675131" cy="65074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21067" y="43053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1552" y="4422647"/>
              <a:ext cx="768096" cy="74523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68795" y="4450079"/>
              <a:ext cx="673607" cy="65074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368795" y="4450079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6" y="0"/>
                  </a:lnTo>
                  <a:lnTo>
                    <a:pt x="673607" y="0"/>
                  </a:lnTo>
                  <a:lnTo>
                    <a:pt x="673607" y="488061"/>
                  </a:lnTo>
                  <a:lnTo>
                    <a:pt x="510921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1" y="162687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472" y="4422647"/>
              <a:ext cx="769620" cy="74523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1716" y="4450079"/>
              <a:ext cx="675131" cy="65074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871716" y="44500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0903" y="3782567"/>
              <a:ext cx="769620" cy="7452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8147" y="3810000"/>
              <a:ext cx="675131" cy="650748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518147" y="38100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3823" y="3782567"/>
              <a:ext cx="769620" cy="74523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1067" y="3810000"/>
              <a:ext cx="675131" cy="65074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7021067" y="38100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1552" y="3927347"/>
              <a:ext cx="768096" cy="745236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68795" y="3954779"/>
              <a:ext cx="673607" cy="650747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368795" y="3954779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6" y="0"/>
                  </a:lnTo>
                  <a:lnTo>
                    <a:pt x="673607" y="0"/>
                  </a:lnTo>
                  <a:lnTo>
                    <a:pt x="673607" y="488061"/>
                  </a:lnTo>
                  <a:lnTo>
                    <a:pt x="510921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1" y="162687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472" y="3927347"/>
              <a:ext cx="769620" cy="745236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71716" y="3954779"/>
              <a:ext cx="675131" cy="65074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871716" y="39547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2872" y="3287267"/>
              <a:ext cx="769620" cy="745235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115" y="3314700"/>
              <a:ext cx="675132" cy="65074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500115" y="33147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316" y="3287267"/>
              <a:ext cx="768095" cy="74523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3314700"/>
              <a:ext cx="673608" cy="650748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004559" y="3314700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6514528" y="3477386"/>
              <a:ext cx="0" cy="488315"/>
            </a:xfrm>
            <a:custGeom>
              <a:avLst/>
              <a:gdLst/>
              <a:ahLst/>
              <a:cxnLst/>
              <a:rect l="l" t="t" r="r" b="b"/>
              <a:pathLst>
                <a:path h="488314">
                  <a:moveTo>
                    <a:pt x="0" y="0"/>
                  </a:moveTo>
                  <a:lnTo>
                    <a:pt x="0" y="488061"/>
                  </a:lnTo>
                </a:path>
              </a:pathLst>
            </a:custGeom>
            <a:ln w="723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19" y="3432048"/>
              <a:ext cx="769620" cy="74523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50763" y="3459479"/>
              <a:ext cx="675132" cy="650748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5350763" y="34594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39" y="3432048"/>
              <a:ext cx="769619" cy="74523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3683" y="3459479"/>
              <a:ext cx="675132" cy="650748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853683" y="34594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2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2872" y="2791967"/>
              <a:ext cx="769620" cy="745236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0115" y="2819400"/>
              <a:ext cx="675132" cy="650748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500115" y="28194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7316" y="2791967"/>
              <a:ext cx="768095" cy="745236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2819400"/>
              <a:ext cx="673608" cy="650748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6004559" y="2819400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  <a:path w="673734" h="650875">
                  <a:moveTo>
                    <a:pt x="510920" y="162687"/>
                  </a:moveTo>
                  <a:lnTo>
                    <a:pt x="510920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19" y="2936748"/>
              <a:ext cx="769620" cy="74523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50763" y="2964179"/>
              <a:ext cx="675132" cy="65074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5350763" y="29641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6439" y="2936748"/>
              <a:ext cx="769619" cy="74523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53683" y="2964179"/>
              <a:ext cx="675132" cy="65074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5853683" y="29641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2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0903" y="3287267"/>
              <a:ext cx="769620" cy="74523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8147" y="3314700"/>
              <a:ext cx="675131" cy="650748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518147" y="33147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3823" y="3287267"/>
              <a:ext cx="769620" cy="74523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1067" y="3314700"/>
              <a:ext cx="675131" cy="650748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021067" y="33147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1552" y="3432048"/>
              <a:ext cx="768096" cy="74523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8795" y="3459479"/>
              <a:ext cx="673607" cy="650748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6368795" y="3459479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6" y="0"/>
                  </a:lnTo>
                  <a:lnTo>
                    <a:pt x="673607" y="0"/>
                  </a:lnTo>
                  <a:lnTo>
                    <a:pt x="673607" y="488061"/>
                  </a:lnTo>
                  <a:lnTo>
                    <a:pt x="510921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1" y="162687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472" y="3432048"/>
              <a:ext cx="769620" cy="745235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71716" y="3459479"/>
              <a:ext cx="675131" cy="65074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871716" y="34594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0903" y="2791967"/>
              <a:ext cx="769620" cy="745236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18147" y="2819400"/>
              <a:ext cx="675131" cy="650748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518147" y="28194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3823" y="2791967"/>
              <a:ext cx="769620" cy="745236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1067" y="2819400"/>
              <a:ext cx="675131" cy="650748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021067" y="2819400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1552" y="2936748"/>
              <a:ext cx="768096" cy="74523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68795" y="2964179"/>
              <a:ext cx="673607" cy="65074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368795" y="2964179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6" y="0"/>
                  </a:lnTo>
                  <a:lnTo>
                    <a:pt x="673607" y="0"/>
                  </a:lnTo>
                  <a:lnTo>
                    <a:pt x="673607" y="488061"/>
                  </a:lnTo>
                  <a:lnTo>
                    <a:pt x="510921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1" y="162687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24472" y="2936748"/>
              <a:ext cx="769620" cy="745235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71716" y="2964179"/>
              <a:ext cx="675131" cy="650748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6871716" y="2964179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6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40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1307" y="4587240"/>
              <a:ext cx="769620" cy="745236"/>
            </a:xfrm>
            <a:prstGeom prst="rect">
              <a:avLst/>
            </a:prstGeom>
          </p:spPr>
        </p:pic>
        <p:pic>
          <p:nvPicPr>
            <p:cNvPr id="105" name="object 10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78551" y="4614671"/>
              <a:ext cx="675132" cy="650747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5178551" y="46146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39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5751" y="4587240"/>
              <a:ext cx="768096" cy="745236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82995" y="4614671"/>
              <a:ext cx="673607" cy="650747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5682995" y="4614671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5" h="650875">
                  <a:moveTo>
                    <a:pt x="0" y="162686"/>
                  </a:moveTo>
                  <a:lnTo>
                    <a:pt x="162687" y="0"/>
                  </a:lnTo>
                  <a:lnTo>
                    <a:pt x="673607" y="0"/>
                  </a:lnTo>
                  <a:lnTo>
                    <a:pt x="673607" y="488060"/>
                  </a:lnTo>
                  <a:lnTo>
                    <a:pt x="510920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3735" h="650875">
                  <a:moveTo>
                    <a:pt x="0" y="162686"/>
                  </a:moveTo>
                  <a:lnTo>
                    <a:pt x="510920" y="162686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192964" y="4777359"/>
              <a:ext cx="0" cy="488315"/>
            </a:xfrm>
            <a:custGeom>
              <a:avLst/>
              <a:gdLst/>
              <a:ahLst/>
              <a:cxnLst/>
              <a:rect l="l" t="t" r="r" b="b"/>
              <a:pathLst>
                <a:path h="488314">
                  <a:moveTo>
                    <a:pt x="0" y="0"/>
                  </a:moveTo>
                  <a:lnTo>
                    <a:pt x="0" y="488061"/>
                  </a:lnTo>
                </a:path>
              </a:pathLst>
            </a:custGeom>
            <a:ln w="723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1955" y="4732020"/>
              <a:ext cx="769620" cy="74523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29199" y="4759452"/>
              <a:ext cx="675132" cy="65074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029199" y="47594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875" y="4732020"/>
              <a:ext cx="769620" cy="74523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2119" y="4759452"/>
              <a:ext cx="675131" cy="65074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532119" y="47594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39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1307" y="4091940"/>
              <a:ext cx="769620" cy="745236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78551" y="4119371"/>
              <a:ext cx="675132" cy="650747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178551" y="41193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39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5751" y="4091940"/>
              <a:ext cx="768096" cy="745236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82995" y="4119371"/>
              <a:ext cx="673607" cy="650747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5682995" y="4119371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5" h="650875">
                  <a:moveTo>
                    <a:pt x="0" y="162686"/>
                  </a:moveTo>
                  <a:lnTo>
                    <a:pt x="162687" y="0"/>
                  </a:lnTo>
                  <a:lnTo>
                    <a:pt x="673607" y="0"/>
                  </a:lnTo>
                  <a:lnTo>
                    <a:pt x="673607" y="488060"/>
                  </a:lnTo>
                  <a:lnTo>
                    <a:pt x="510920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3735" h="650875">
                  <a:moveTo>
                    <a:pt x="0" y="162686"/>
                  </a:moveTo>
                  <a:lnTo>
                    <a:pt x="510920" y="162686"/>
                  </a:lnTo>
                  <a:lnTo>
                    <a:pt x="673607" y="0"/>
                  </a:lnTo>
                </a:path>
                <a:path w="673735" h="650875">
                  <a:moveTo>
                    <a:pt x="510920" y="162686"/>
                  </a:moveTo>
                  <a:lnTo>
                    <a:pt x="510920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1955" y="4236720"/>
              <a:ext cx="769620" cy="74523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29199" y="4264152"/>
              <a:ext cx="675132" cy="650748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029199" y="42641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875" y="4236720"/>
              <a:ext cx="769620" cy="74523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32119" y="4264152"/>
              <a:ext cx="675131" cy="650748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5532119" y="42641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39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9339" y="4587240"/>
              <a:ext cx="769619" cy="745236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6583" y="4614671"/>
              <a:ext cx="675132" cy="650747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6196583" y="46146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4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4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2260" y="4587240"/>
              <a:ext cx="769620" cy="745236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99504" y="4614671"/>
              <a:ext cx="675131" cy="650747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6699504" y="46146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1" y="0"/>
                  </a:lnTo>
                </a:path>
                <a:path w="675640" h="650875">
                  <a:moveTo>
                    <a:pt x="512445" y="162686"/>
                  </a:moveTo>
                  <a:lnTo>
                    <a:pt x="512445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9988" y="4732020"/>
              <a:ext cx="768095" cy="74523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47231" y="4759452"/>
              <a:ext cx="673608" cy="65074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6047231" y="4759452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2908" y="4732020"/>
              <a:ext cx="769620" cy="745236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50152" y="4759452"/>
              <a:ext cx="675131" cy="650748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6550152" y="47594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9339" y="4091940"/>
              <a:ext cx="769619" cy="745236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6583" y="4119371"/>
              <a:ext cx="675132" cy="650747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6196583" y="41193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4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4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2260" y="4091940"/>
              <a:ext cx="769620" cy="745236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99504" y="4119371"/>
              <a:ext cx="675131" cy="650747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6699504" y="411937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1" y="0"/>
                  </a:lnTo>
                </a:path>
                <a:path w="675640" h="650875">
                  <a:moveTo>
                    <a:pt x="512445" y="162686"/>
                  </a:moveTo>
                  <a:lnTo>
                    <a:pt x="512445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9988" y="4236720"/>
              <a:ext cx="768095" cy="745236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047231" y="4264152"/>
              <a:ext cx="673608" cy="65074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6047231" y="4264152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2908" y="4236720"/>
              <a:ext cx="769620" cy="74523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50152" y="4264152"/>
              <a:ext cx="675131" cy="65074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550152" y="426415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1307" y="3596639"/>
              <a:ext cx="769620" cy="745236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78551" y="3624072"/>
              <a:ext cx="675132" cy="650747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5178551" y="36240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39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5751" y="3596639"/>
              <a:ext cx="768096" cy="74523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82995" y="3624072"/>
              <a:ext cx="673607" cy="650747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5682995" y="3624072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5" h="650875">
                  <a:moveTo>
                    <a:pt x="0" y="162686"/>
                  </a:moveTo>
                  <a:lnTo>
                    <a:pt x="162687" y="0"/>
                  </a:lnTo>
                  <a:lnTo>
                    <a:pt x="673607" y="0"/>
                  </a:lnTo>
                  <a:lnTo>
                    <a:pt x="673607" y="488060"/>
                  </a:lnTo>
                  <a:lnTo>
                    <a:pt x="510920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3735" h="650875">
                  <a:moveTo>
                    <a:pt x="0" y="162686"/>
                  </a:moveTo>
                  <a:lnTo>
                    <a:pt x="510920" y="162686"/>
                  </a:lnTo>
                  <a:lnTo>
                    <a:pt x="673607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192964" y="3786759"/>
              <a:ext cx="0" cy="488315"/>
            </a:xfrm>
            <a:custGeom>
              <a:avLst/>
              <a:gdLst/>
              <a:ahLst/>
              <a:cxnLst/>
              <a:rect l="l" t="t" r="r" b="b"/>
              <a:pathLst>
                <a:path h="488314">
                  <a:moveTo>
                    <a:pt x="0" y="0"/>
                  </a:moveTo>
                  <a:lnTo>
                    <a:pt x="0" y="488061"/>
                  </a:lnTo>
                </a:path>
              </a:pathLst>
            </a:custGeom>
            <a:ln w="723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1955" y="3741420"/>
              <a:ext cx="769620" cy="745236"/>
            </a:xfrm>
            <a:prstGeom prst="rect">
              <a:avLst/>
            </a:prstGeom>
          </p:spPr>
        </p:pic>
        <p:pic>
          <p:nvPicPr>
            <p:cNvPr id="161" name="object 1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29199" y="3768851"/>
              <a:ext cx="675132" cy="650748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5029199" y="37688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875" y="3741420"/>
              <a:ext cx="769620" cy="745236"/>
            </a:xfrm>
            <a:prstGeom prst="rect">
              <a:avLst/>
            </a:prstGeom>
          </p:spPr>
        </p:pic>
        <p:pic>
          <p:nvPicPr>
            <p:cNvPr id="164" name="object 16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2119" y="3768851"/>
              <a:ext cx="675131" cy="650748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532119" y="37688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39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1307" y="3101339"/>
              <a:ext cx="769620" cy="745236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78551" y="3128772"/>
              <a:ext cx="675132" cy="650747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178551" y="31287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5751" y="3101339"/>
              <a:ext cx="768096" cy="745236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82995" y="3128772"/>
              <a:ext cx="673607" cy="650747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5682995" y="3128772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5" h="650875">
                  <a:moveTo>
                    <a:pt x="0" y="162687"/>
                  </a:moveTo>
                  <a:lnTo>
                    <a:pt x="162687" y="0"/>
                  </a:lnTo>
                  <a:lnTo>
                    <a:pt x="673607" y="0"/>
                  </a:lnTo>
                  <a:lnTo>
                    <a:pt x="673607" y="488060"/>
                  </a:lnTo>
                  <a:lnTo>
                    <a:pt x="510920" y="650747"/>
                  </a:lnTo>
                  <a:lnTo>
                    <a:pt x="0" y="650747"/>
                  </a:lnTo>
                  <a:lnTo>
                    <a:pt x="0" y="162687"/>
                  </a:lnTo>
                  <a:close/>
                </a:path>
                <a:path w="673735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7" y="0"/>
                  </a:lnTo>
                </a:path>
                <a:path w="673735" h="650875">
                  <a:moveTo>
                    <a:pt x="510920" y="162687"/>
                  </a:moveTo>
                  <a:lnTo>
                    <a:pt x="510920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1955" y="3246120"/>
              <a:ext cx="769620" cy="745235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29199" y="3273551"/>
              <a:ext cx="675132" cy="650748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5029199" y="32735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4875" y="3246120"/>
              <a:ext cx="769620" cy="745235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2119" y="3273551"/>
              <a:ext cx="675131" cy="650748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5532119" y="32735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39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4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39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1" y="0"/>
                  </a:lnTo>
                </a:path>
                <a:path w="675639" h="650875">
                  <a:moveTo>
                    <a:pt x="512444" y="162687"/>
                  </a:moveTo>
                  <a:lnTo>
                    <a:pt x="512444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9339" y="3596639"/>
              <a:ext cx="769619" cy="745236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96583" y="3624072"/>
              <a:ext cx="675132" cy="650747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6196583" y="36240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4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4" y="162686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2260" y="3596639"/>
              <a:ext cx="769620" cy="745236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99504" y="3624072"/>
              <a:ext cx="675131" cy="650747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6699504" y="36240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6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6"/>
                  </a:lnTo>
                  <a:close/>
                </a:path>
                <a:path w="675640" h="650875">
                  <a:moveTo>
                    <a:pt x="0" y="162686"/>
                  </a:moveTo>
                  <a:lnTo>
                    <a:pt x="512445" y="162686"/>
                  </a:lnTo>
                  <a:lnTo>
                    <a:pt x="675131" y="0"/>
                  </a:lnTo>
                </a:path>
                <a:path w="675640" h="650875">
                  <a:moveTo>
                    <a:pt x="512445" y="162686"/>
                  </a:moveTo>
                  <a:lnTo>
                    <a:pt x="512445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9988" y="3741420"/>
              <a:ext cx="768095" cy="745236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47231" y="3768851"/>
              <a:ext cx="673608" cy="65074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6047231" y="3768851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2908" y="3741420"/>
              <a:ext cx="769620" cy="745236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50152" y="3768851"/>
              <a:ext cx="675131" cy="650748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6550152" y="37688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9339" y="3101339"/>
              <a:ext cx="769619" cy="745236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96583" y="3128772"/>
              <a:ext cx="675132" cy="650747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6196583" y="31287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2" y="0"/>
                  </a:lnTo>
                  <a:lnTo>
                    <a:pt x="675132" y="488060"/>
                  </a:lnTo>
                  <a:lnTo>
                    <a:pt x="512444" y="650747"/>
                  </a:lnTo>
                  <a:lnTo>
                    <a:pt x="0" y="650747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4" y="162687"/>
                  </a:lnTo>
                  <a:lnTo>
                    <a:pt x="675132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52260" y="3101339"/>
              <a:ext cx="769620" cy="745236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699504" y="3128772"/>
              <a:ext cx="675131" cy="650747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699504" y="3128772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0"/>
                  </a:lnTo>
                  <a:lnTo>
                    <a:pt x="512445" y="650747"/>
                  </a:lnTo>
                  <a:lnTo>
                    <a:pt x="0" y="650747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9988" y="3246120"/>
              <a:ext cx="768095" cy="745235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47231" y="3273551"/>
              <a:ext cx="673608" cy="650748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6047231" y="3273551"/>
              <a:ext cx="673735" cy="650875"/>
            </a:xfrm>
            <a:custGeom>
              <a:avLst/>
              <a:gdLst/>
              <a:ahLst/>
              <a:cxnLst/>
              <a:rect l="l" t="t" r="r" b="b"/>
              <a:pathLst>
                <a:path w="673734" h="650875">
                  <a:moveTo>
                    <a:pt x="0" y="162687"/>
                  </a:moveTo>
                  <a:lnTo>
                    <a:pt x="162687" y="0"/>
                  </a:lnTo>
                  <a:lnTo>
                    <a:pt x="673608" y="0"/>
                  </a:lnTo>
                  <a:lnTo>
                    <a:pt x="673608" y="488061"/>
                  </a:lnTo>
                  <a:lnTo>
                    <a:pt x="510920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3734" h="650875">
                  <a:moveTo>
                    <a:pt x="0" y="162687"/>
                  </a:moveTo>
                  <a:lnTo>
                    <a:pt x="510920" y="162687"/>
                  </a:lnTo>
                  <a:lnTo>
                    <a:pt x="673608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02908" y="3246120"/>
              <a:ext cx="769620" cy="745235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50152" y="3273551"/>
              <a:ext cx="675131" cy="650748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6550152" y="3273551"/>
              <a:ext cx="675640" cy="650875"/>
            </a:xfrm>
            <a:custGeom>
              <a:avLst/>
              <a:gdLst/>
              <a:ahLst/>
              <a:cxnLst/>
              <a:rect l="l" t="t" r="r" b="b"/>
              <a:pathLst>
                <a:path w="675640" h="650875">
                  <a:moveTo>
                    <a:pt x="0" y="162687"/>
                  </a:moveTo>
                  <a:lnTo>
                    <a:pt x="162687" y="0"/>
                  </a:lnTo>
                  <a:lnTo>
                    <a:pt x="675131" y="0"/>
                  </a:lnTo>
                  <a:lnTo>
                    <a:pt x="675131" y="488061"/>
                  </a:lnTo>
                  <a:lnTo>
                    <a:pt x="512445" y="650748"/>
                  </a:lnTo>
                  <a:lnTo>
                    <a:pt x="0" y="650748"/>
                  </a:lnTo>
                  <a:lnTo>
                    <a:pt x="0" y="162687"/>
                  </a:lnTo>
                  <a:close/>
                </a:path>
                <a:path w="675640" h="650875">
                  <a:moveTo>
                    <a:pt x="0" y="162687"/>
                  </a:moveTo>
                  <a:lnTo>
                    <a:pt x="512445" y="162687"/>
                  </a:lnTo>
                  <a:lnTo>
                    <a:pt x="675131" y="0"/>
                  </a:lnTo>
                </a:path>
                <a:path w="675640" h="650875">
                  <a:moveTo>
                    <a:pt x="512445" y="162687"/>
                  </a:moveTo>
                  <a:lnTo>
                    <a:pt x="512445" y="65074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451850" cy="43383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20" dirty="0">
                <a:latin typeface="Trebuchet MS"/>
                <a:cs typeface="Trebuchet MS"/>
              </a:rPr>
              <a:t>Roll-up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(drill-up)</a:t>
            </a:r>
            <a:endParaRPr sz="32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95" dirty="0">
                <a:solidFill>
                  <a:srgbClr val="1F487C"/>
                </a:solidFill>
                <a:latin typeface="Trebuchet MS"/>
                <a:cs typeface="Trebuchet MS"/>
              </a:rPr>
              <a:t>Taking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current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aggregation</a:t>
            </a:r>
            <a:r>
              <a:rPr sz="2800" spc="-1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level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fact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values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 </a:t>
            </a:r>
            <a:r>
              <a:rPr sz="2800" spc="-8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doing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fu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rther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a</a:t>
            </a:r>
            <a:r>
              <a:rPr sz="2800" b="1" spc="11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b="1" spc="10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egation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90" dirty="0">
                <a:solidFill>
                  <a:srgbClr val="1F487C"/>
                </a:solidFill>
                <a:latin typeface="Trebuchet MS"/>
                <a:cs typeface="Trebuchet MS"/>
              </a:rPr>
              <a:t>Summari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z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95" dirty="0">
                <a:solidFill>
                  <a:srgbClr val="4F81BC"/>
                </a:solidFill>
                <a:latin typeface="Trebuchet MS"/>
                <a:cs typeface="Trebuchet MS"/>
              </a:rPr>
              <a:t>Cl</a:t>
            </a:r>
            <a:r>
              <a:rPr sz="2400" b="1" spc="50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b="1" spc="140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b="1" spc="100" dirty="0">
                <a:solidFill>
                  <a:srgbClr val="4F81BC"/>
                </a:solidFill>
                <a:latin typeface="Trebuchet MS"/>
                <a:cs typeface="Trebuchet MS"/>
              </a:rPr>
              <a:t>b</a:t>
            </a:r>
            <a:r>
              <a:rPr sz="2400" b="1" dirty="0">
                <a:solidFill>
                  <a:srgbClr val="4F81BC"/>
                </a:solidFill>
                <a:latin typeface="Trebuchet MS"/>
                <a:cs typeface="Trebuchet MS"/>
              </a:rPr>
              <a:t>ing</a:t>
            </a:r>
            <a:r>
              <a:rPr sz="2400" b="1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4F81BC"/>
                </a:solidFill>
                <a:latin typeface="Trebuchet MS"/>
                <a:cs typeface="Trebuchet MS"/>
              </a:rPr>
              <a:t>up</a:t>
            </a:r>
            <a:r>
              <a:rPr sz="2400" b="1" spc="-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45" dirty="0">
                <a:solidFill>
                  <a:srgbClr val="4F81BC"/>
                </a:solidFill>
                <a:latin typeface="Trebuchet MS"/>
                <a:cs typeface="Trebuchet MS"/>
              </a:rPr>
              <a:t>hi</a:t>
            </a:r>
            <a:r>
              <a:rPr sz="2400" b="1" spc="-7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b="1" spc="25" dirty="0">
                <a:solidFill>
                  <a:srgbClr val="4F81BC"/>
                </a:solidFill>
                <a:latin typeface="Trebuchet MS"/>
                <a:cs typeface="Trebuchet MS"/>
              </a:rPr>
              <a:t>ra</a:t>
            </a:r>
            <a:r>
              <a:rPr sz="2400" b="1" spc="-3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b="1" spc="-25" dirty="0">
                <a:solidFill>
                  <a:srgbClr val="4F81BC"/>
                </a:solidFill>
                <a:latin typeface="Trebuchet MS"/>
                <a:cs typeface="Trebuchet MS"/>
              </a:rPr>
              <a:t>c</a:t>
            </a:r>
            <a:r>
              <a:rPr sz="2400" b="1" spc="-110" dirty="0">
                <a:solidFill>
                  <a:srgbClr val="4F81BC"/>
                </a:solidFill>
                <a:latin typeface="Trebuchet MS"/>
                <a:cs typeface="Trebuchet MS"/>
              </a:rPr>
              <a:t>h</a:t>
            </a:r>
            <a:r>
              <a:rPr sz="2400" b="1" spc="-60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b="1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(h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era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chi</a:t>
            </a:r>
            <a:r>
              <a:rPr sz="2400" spc="-190" dirty="0">
                <a:solidFill>
                  <a:srgbClr val="4F81BC"/>
                </a:solidFill>
                <a:latin typeface="Trebuchet MS"/>
                <a:cs typeface="Trebuchet MS"/>
              </a:rPr>
              <a:t>cal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ol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l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-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up)</a:t>
            </a:r>
            <a:endParaRPr sz="24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By</a:t>
            </a:r>
            <a:r>
              <a:rPr sz="2400" spc="-10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F81BC"/>
                </a:solidFill>
                <a:latin typeface="Trebuchet MS"/>
                <a:cs typeface="Trebuchet MS"/>
              </a:rPr>
              <a:t>dimensional</a:t>
            </a:r>
            <a:r>
              <a:rPr sz="2400" b="1" spc="-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4F81BC"/>
                </a:solidFill>
                <a:latin typeface="Trebuchet MS"/>
                <a:cs typeface="Trebuchet MS"/>
              </a:rPr>
              <a:t>reduction</a:t>
            </a:r>
            <a:endParaRPr sz="24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229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13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b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240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mix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se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2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tec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hniques</a:t>
            </a:r>
            <a:endParaRPr sz="24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Used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for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obtaining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04" dirty="0">
                <a:solidFill>
                  <a:srgbClr val="1F487C"/>
                </a:solidFill>
                <a:latin typeface="Trebuchet MS"/>
                <a:cs typeface="Trebuchet MS"/>
              </a:rPr>
              <a:t>an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increased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generalization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70" dirty="0">
                <a:solidFill>
                  <a:srgbClr val="4F81BC"/>
                </a:solidFill>
                <a:latin typeface="Trebuchet MS"/>
                <a:cs typeface="Trebuchet MS"/>
              </a:rPr>
              <a:t>E.g.,</a:t>
            </a:r>
            <a:r>
              <a:rPr sz="2400" spc="-2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300" dirty="0">
                <a:solidFill>
                  <a:srgbClr val="4F81BC"/>
                </a:solidFill>
                <a:latin typeface="Trebuchet MS"/>
                <a:cs typeface="Trebuchet MS"/>
              </a:rPr>
              <a:t>f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om</a:t>
            </a:r>
            <a:r>
              <a:rPr sz="2400" spc="-3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2400" spc="-30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spc="-185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365" dirty="0">
                <a:solidFill>
                  <a:srgbClr val="4F81BC"/>
                </a:solidFill>
                <a:latin typeface="Trebuchet MS"/>
                <a:cs typeface="Trebuchet MS"/>
              </a:rPr>
              <a:t>.</a:t>
            </a:r>
            <a:r>
              <a:rPr sz="2400" spc="240" dirty="0">
                <a:solidFill>
                  <a:srgbClr val="4F81BC"/>
                </a:solidFill>
                <a:latin typeface="Trebuchet MS"/>
                <a:cs typeface="Trebuchet MS"/>
              </a:rPr>
              <a:t>W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k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</a:t>
            </a:r>
            <a:r>
              <a:rPr sz="2400" spc="-3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2400" spc="-30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spc="-185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365" dirty="0">
                <a:solidFill>
                  <a:srgbClr val="4F81BC"/>
                </a:solidFill>
                <a:latin typeface="Trebuchet MS"/>
                <a:cs typeface="Trebuchet MS"/>
              </a:rPr>
              <a:t>.</a:t>
            </a:r>
            <a:r>
              <a:rPr sz="2400" spc="-22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ear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954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-5" dirty="0"/>
              <a:t>Roll-up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500110" cy="23622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10" dirty="0">
                <a:latin typeface="Trebuchet MS"/>
                <a:cs typeface="Trebuchet MS"/>
              </a:rPr>
              <a:t>Hierarchical</a:t>
            </a:r>
            <a:r>
              <a:rPr sz="3200" b="1" spc="-155" dirty="0">
                <a:latin typeface="Trebuchet MS"/>
                <a:cs typeface="Trebuchet MS"/>
              </a:rPr>
              <a:t> </a:t>
            </a:r>
            <a:r>
              <a:rPr sz="3200" b="1" spc="-30" dirty="0">
                <a:latin typeface="Trebuchet MS"/>
                <a:cs typeface="Trebuchet MS"/>
              </a:rPr>
              <a:t>roll-ups</a:t>
            </a:r>
            <a:endParaRPr sz="32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er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orm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fact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le 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nd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2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b="1" spc="2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b="1" spc="100" dirty="0">
                <a:solidFill>
                  <a:srgbClr val="1F487C"/>
                </a:solidFill>
                <a:latin typeface="Trebuchet MS"/>
                <a:cs typeface="Trebuchet MS"/>
              </a:rPr>
              <a:t>me</a:t>
            </a:r>
            <a:r>
              <a:rPr sz="2800" b="1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dimension  ta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les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climbing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up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attribu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hiera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chies</a:t>
            </a:r>
            <a:endParaRPr sz="2800">
              <a:latin typeface="Trebuchet MS"/>
              <a:cs typeface="Trebuchet MS"/>
            </a:endParaRPr>
          </a:p>
          <a:p>
            <a:pPr marL="1155700" marR="574675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70" dirty="0">
                <a:solidFill>
                  <a:srgbClr val="4F81BC"/>
                </a:solidFill>
                <a:latin typeface="Trebuchet MS"/>
                <a:cs typeface="Trebuchet MS"/>
              </a:rPr>
              <a:t>E.g.,</a:t>
            </a:r>
            <a:r>
              <a:rPr sz="2400" spc="-2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climbed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3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Time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hierarchy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Quarter</a:t>
            </a:r>
            <a:r>
              <a:rPr sz="24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and</a:t>
            </a:r>
            <a:r>
              <a:rPr sz="2400" spc="-3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80" dirty="0">
                <a:solidFill>
                  <a:srgbClr val="4F81BC"/>
                </a:solidFill>
                <a:latin typeface="Trebuchet MS"/>
                <a:cs typeface="Trebuchet MS"/>
              </a:rPr>
              <a:t>Article </a:t>
            </a:r>
            <a:r>
              <a:rPr sz="2400" spc="-7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hiera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c</a:t>
            </a:r>
            <a:r>
              <a:rPr sz="2400" spc="-215" dirty="0">
                <a:solidFill>
                  <a:srgbClr val="4F81BC"/>
                </a:solidFill>
                <a:latin typeface="Trebuchet MS"/>
                <a:cs typeface="Trebuchet MS"/>
              </a:rPr>
              <a:t>h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 P</a:t>
            </a:r>
            <a:r>
              <a:rPr sz="2400" spc="-10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od.</a:t>
            </a:r>
            <a:r>
              <a:rPr sz="2400" spc="-30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g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oup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954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-5" dirty="0"/>
              <a:t>Roll-up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911596" y="4251959"/>
            <a:ext cx="917575" cy="459105"/>
            <a:chOff x="5911596" y="4251959"/>
            <a:chExt cx="917575" cy="459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11596" y="4270247"/>
              <a:ext cx="917448" cy="368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28944" y="4251959"/>
              <a:ext cx="681227" cy="458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8840" y="4297679"/>
              <a:ext cx="822960" cy="2743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958840" y="4297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166865" y="4304538"/>
            <a:ext cx="408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S</a:t>
            </a:r>
            <a:r>
              <a:rPr sz="1400" spc="-15" dirty="0">
                <a:latin typeface="Calibri"/>
                <a:cs typeface="Calibri"/>
              </a:rPr>
              <a:t>t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00955" y="4251959"/>
            <a:ext cx="1471295" cy="459105"/>
            <a:chOff x="4600955" y="4251959"/>
            <a:chExt cx="1471295" cy="459105"/>
          </a:xfrm>
        </p:grpSpPr>
        <p:sp>
          <p:nvSpPr>
            <p:cNvPr id="11" name="object 11"/>
            <p:cNvSpPr/>
            <p:nvPr/>
          </p:nvSpPr>
          <p:spPr>
            <a:xfrm>
              <a:off x="5983986" y="43533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90844" y="43860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0955" y="4270247"/>
              <a:ext cx="917448" cy="368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71643" y="4251959"/>
              <a:ext cx="574548" cy="458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8199" y="4297679"/>
              <a:ext cx="822960" cy="2743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648199" y="4297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760976" y="430453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31464" y="4251959"/>
            <a:ext cx="1430020" cy="459105"/>
            <a:chOff x="3331464" y="4251959"/>
            <a:chExt cx="1430020" cy="459105"/>
          </a:xfrm>
        </p:grpSpPr>
        <p:sp>
          <p:nvSpPr>
            <p:cNvPr id="19" name="object 19"/>
            <p:cNvSpPr/>
            <p:nvPr/>
          </p:nvSpPr>
          <p:spPr>
            <a:xfrm>
              <a:off x="4673346" y="43533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80204" y="43860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31464" y="4270247"/>
              <a:ext cx="917448" cy="368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1756" y="4251959"/>
              <a:ext cx="815339" cy="458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8708" y="4297679"/>
              <a:ext cx="822960" cy="2743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78708" y="4297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519296" y="4304538"/>
            <a:ext cx="542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District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063526" y="4251959"/>
            <a:ext cx="1430020" cy="459105"/>
            <a:chOff x="2063526" y="4251959"/>
            <a:chExt cx="1430020" cy="459105"/>
          </a:xfrm>
        </p:grpSpPr>
        <p:sp>
          <p:nvSpPr>
            <p:cNvPr id="27" name="object 27"/>
            <p:cNvSpPr/>
            <p:nvPr/>
          </p:nvSpPr>
          <p:spPr>
            <a:xfrm>
              <a:off x="3405378" y="43533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59436" y="33528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3716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3716" y="71628"/>
                  </a:lnTo>
                  <a:lnTo>
                    <a:pt x="13716" y="105156"/>
                  </a:lnTo>
                  <a:close/>
                </a:path>
                <a:path w="74929" h="165100">
                  <a:moveTo>
                    <a:pt x="13716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3716" y="131064"/>
                  </a:lnTo>
                  <a:lnTo>
                    <a:pt x="13716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410712" y="43860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63526" y="4279468"/>
              <a:ext cx="899099" cy="35036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15312" y="4251959"/>
              <a:ext cx="794004" cy="458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01596" y="4297679"/>
              <a:ext cx="822959" cy="2743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01596" y="4297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251964" y="4304538"/>
            <a:ext cx="5219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5" dirty="0">
                <a:latin typeface="Calibri"/>
                <a:cs typeface="Calibri"/>
              </a:rPr>
              <a:t>g</a:t>
            </a:r>
            <a:r>
              <a:rPr sz="1400" dirty="0">
                <a:latin typeface="Calibri"/>
                <a:cs typeface="Calibri"/>
              </a:rPr>
              <a:t>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8794" y="4251959"/>
            <a:ext cx="1435735" cy="459105"/>
            <a:chOff x="778794" y="4251959"/>
            <a:chExt cx="1435735" cy="459105"/>
          </a:xfrm>
        </p:grpSpPr>
        <p:sp>
          <p:nvSpPr>
            <p:cNvPr id="35" name="object 35"/>
            <p:cNvSpPr/>
            <p:nvPr/>
          </p:nvSpPr>
          <p:spPr>
            <a:xfrm>
              <a:off x="2126742" y="43533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3715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3715" y="71628"/>
                  </a:lnTo>
                  <a:lnTo>
                    <a:pt x="13715" y="105156"/>
                  </a:lnTo>
                  <a:close/>
                </a:path>
                <a:path w="74930" h="165100">
                  <a:moveTo>
                    <a:pt x="13715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3715" y="131064"/>
                  </a:lnTo>
                  <a:lnTo>
                    <a:pt x="13715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33599" y="43860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19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8794" y="4279468"/>
              <a:ext cx="899099" cy="3503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9431" y="4251959"/>
              <a:ext cx="876300" cy="4587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6863" y="4297679"/>
              <a:ext cx="822960" cy="27431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816863" y="4297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929639" y="430453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Country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55364" y="4323588"/>
            <a:ext cx="559308" cy="31546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93492" y="4323588"/>
            <a:ext cx="559307" cy="315468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828992" y="4323588"/>
            <a:ext cx="5984875" cy="1117600"/>
            <a:chOff x="828992" y="4323588"/>
            <a:chExt cx="5984875" cy="1117600"/>
          </a:xfrm>
        </p:grpSpPr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29427" y="4323588"/>
              <a:ext cx="559308" cy="31546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87162" y="44014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426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42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84" y="38100"/>
                  </a:lnTo>
                  <a:lnTo>
                    <a:pt x="114426" y="0"/>
                  </a:lnTo>
                  <a:close/>
                </a:path>
                <a:path w="359410" h="114300">
                  <a:moveTo>
                    <a:pt x="114384" y="38118"/>
                  </a:moveTo>
                  <a:lnTo>
                    <a:pt x="114342" y="76218"/>
                  </a:lnTo>
                  <a:lnTo>
                    <a:pt x="359155" y="76454"/>
                  </a:lnTo>
                  <a:lnTo>
                    <a:pt x="359283" y="38354"/>
                  </a:lnTo>
                  <a:lnTo>
                    <a:pt x="114384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42" y="76218"/>
                  </a:lnTo>
                  <a:lnTo>
                    <a:pt x="114384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84" y="38100"/>
                  </a:moveTo>
                  <a:lnTo>
                    <a:pt x="95250" y="38100"/>
                  </a:lnTo>
                  <a:lnTo>
                    <a:pt x="114384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88151" y="4428744"/>
              <a:ext cx="141732" cy="1524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846826" y="44584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8151" y="4381500"/>
              <a:ext cx="141732" cy="1524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846826" y="44203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213097" y="44014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5" y="76454"/>
                  </a:lnTo>
                  <a:lnTo>
                    <a:pt x="359282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14088" y="4428744"/>
              <a:ext cx="141732" cy="1524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572762" y="44584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14088" y="4381500"/>
              <a:ext cx="141732" cy="1524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572762" y="44203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951225" y="44014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4"/>
                  </a:lnTo>
                  <a:lnTo>
                    <a:pt x="359283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50691" y="4428744"/>
              <a:ext cx="141731" cy="1524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309365" y="44584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50691" y="4381500"/>
              <a:ext cx="141731" cy="1524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309365" y="44203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42010" y="4353306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59" y="33528"/>
                  </a:lnTo>
                  <a:lnTo>
                    <a:pt x="60959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5240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5240" y="71628"/>
                  </a:lnTo>
                  <a:lnTo>
                    <a:pt x="15240" y="105156"/>
                  </a:lnTo>
                  <a:close/>
                </a:path>
                <a:path w="74930" h="165100">
                  <a:moveTo>
                    <a:pt x="15240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5240" y="131064"/>
                  </a:lnTo>
                  <a:lnTo>
                    <a:pt x="15240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48868" y="4386072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90"/>
                  </a:lnTo>
                  <a:lnTo>
                    <a:pt x="7188" y="54990"/>
                  </a:lnTo>
                </a:path>
                <a:path w="7619" h="114300">
                  <a:moveTo>
                    <a:pt x="0" y="48767"/>
                  </a:moveTo>
                  <a:lnTo>
                    <a:pt x="0" y="114172"/>
                  </a:lnTo>
                  <a:lnTo>
                    <a:pt x="718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8760" y="4323588"/>
              <a:ext cx="559308" cy="315468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666494" y="44014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4"/>
                  </a:lnTo>
                  <a:lnTo>
                    <a:pt x="359282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7483" y="4428744"/>
              <a:ext cx="141731" cy="1524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026158" y="44584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67483" y="4381500"/>
              <a:ext cx="141731" cy="1524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026158" y="44203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6356" y="5000244"/>
              <a:ext cx="917448" cy="36880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9508" y="4981956"/>
              <a:ext cx="769619" cy="4587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43600" y="5027676"/>
              <a:ext cx="822959" cy="27432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943600" y="5027676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107429" y="5033898"/>
            <a:ext cx="496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Arti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224528" y="5003291"/>
            <a:ext cx="1831975" cy="459105"/>
            <a:chOff x="4224528" y="5003291"/>
            <a:chExt cx="1831975" cy="459105"/>
          </a:xfrm>
        </p:grpSpPr>
        <p:sp>
          <p:nvSpPr>
            <p:cNvPr id="75" name="object 75"/>
            <p:cNvSpPr/>
            <p:nvPr/>
          </p:nvSpPr>
          <p:spPr>
            <a:xfrm>
              <a:off x="5968746" y="5083301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29540"/>
                  </a:lnTo>
                  <a:lnTo>
                    <a:pt x="15239" y="129540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975604" y="5116067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24528" y="5021579"/>
              <a:ext cx="1298448" cy="36880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87012" y="5003291"/>
              <a:ext cx="1173480" cy="45872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271772" y="5049011"/>
              <a:ext cx="1203960" cy="27431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271772" y="5049011"/>
              <a:ext cx="1203960" cy="274320"/>
            </a:xfrm>
            <a:custGeom>
              <a:avLst/>
              <a:gdLst/>
              <a:ahLst/>
              <a:cxnLst/>
              <a:rect l="l" t="t" r="r" b="b"/>
              <a:pathLst>
                <a:path w="1203960" h="274320">
                  <a:moveTo>
                    <a:pt x="0" y="274319"/>
                  </a:moveTo>
                  <a:lnTo>
                    <a:pt x="1203960" y="274319"/>
                  </a:lnTo>
                  <a:lnTo>
                    <a:pt x="1203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424298" y="5055870"/>
            <a:ext cx="90106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od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oup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2543555" y="5013959"/>
            <a:ext cx="1888489" cy="459105"/>
            <a:chOff x="2543555" y="5013959"/>
            <a:chExt cx="1888489" cy="459105"/>
          </a:xfrm>
        </p:grpSpPr>
        <p:sp>
          <p:nvSpPr>
            <p:cNvPr id="83" name="object 83"/>
            <p:cNvSpPr/>
            <p:nvPr/>
          </p:nvSpPr>
          <p:spPr>
            <a:xfrm>
              <a:off x="4309110" y="5104637"/>
              <a:ext cx="109855" cy="165100"/>
            </a:xfrm>
            <a:custGeom>
              <a:avLst/>
              <a:gdLst/>
              <a:ahLst/>
              <a:cxnLst/>
              <a:rect l="l" t="t" r="r" b="b"/>
              <a:pathLst>
                <a:path w="109854" h="165100">
                  <a:moveTo>
                    <a:pt x="0" y="33527"/>
                  </a:moveTo>
                  <a:lnTo>
                    <a:pt x="88391" y="33527"/>
                  </a:lnTo>
                  <a:lnTo>
                    <a:pt x="88391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109854" h="165100">
                  <a:moveTo>
                    <a:pt x="21336" y="105155"/>
                  </a:moveTo>
                  <a:lnTo>
                    <a:pt x="109727" y="105155"/>
                  </a:lnTo>
                  <a:lnTo>
                    <a:pt x="109727" y="71627"/>
                  </a:lnTo>
                  <a:lnTo>
                    <a:pt x="21336" y="71627"/>
                  </a:lnTo>
                  <a:lnTo>
                    <a:pt x="21336" y="105155"/>
                  </a:lnTo>
                  <a:close/>
                </a:path>
                <a:path w="109854" h="165100">
                  <a:moveTo>
                    <a:pt x="21336" y="164591"/>
                  </a:moveTo>
                  <a:lnTo>
                    <a:pt x="109727" y="164591"/>
                  </a:lnTo>
                  <a:lnTo>
                    <a:pt x="109727" y="131063"/>
                  </a:lnTo>
                  <a:lnTo>
                    <a:pt x="21336" y="131063"/>
                  </a:lnTo>
                  <a:lnTo>
                    <a:pt x="21336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319016" y="5137403"/>
              <a:ext cx="10795" cy="114300"/>
            </a:xfrm>
            <a:custGeom>
              <a:avLst/>
              <a:gdLst/>
              <a:ahLst/>
              <a:cxnLst/>
              <a:rect l="l" t="t" r="r" b="b"/>
              <a:pathLst>
                <a:path w="10795" h="114300">
                  <a:moveTo>
                    <a:pt x="0" y="0"/>
                  </a:moveTo>
                  <a:lnTo>
                    <a:pt x="0" y="54991"/>
                  </a:lnTo>
                  <a:lnTo>
                    <a:pt x="10541" y="54991"/>
                  </a:lnTo>
                </a:path>
                <a:path w="10795" h="114300">
                  <a:moveTo>
                    <a:pt x="0" y="48768"/>
                  </a:moveTo>
                  <a:lnTo>
                    <a:pt x="0" y="114173"/>
                  </a:lnTo>
                  <a:lnTo>
                    <a:pt x="10541" y="1141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43555" y="5032247"/>
              <a:ext cx="1298447" cy="36880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98419" y="5013959"/>
              <a:ext cx="1188720" cy="45872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90799" y="5059679"/>
              <a:ext cx="1203960" cy="274319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590799" y="5059679"/>
              <a:ext cx="1203960" cy="274320"/>
            </a:xfrm>
            <a:custGeom>
              <a:avLst/>
              <a:gdLst/>
              <a:ahLst/>
              <a:cxnLst/>
              <a:rect l="l" t="t" r="r" b="b"/>
              <a:pathLst>
                <a:path w="1203960" h="274320">
                  <a:moveTo>
                    <a:pt x="0" y="274320"/>
                  </a:moveTo>
                  <a:lnTo>
                    <a:pt x="1203960" y="274320"/>
                  </a:lnTo>
                  <a:lnTo>
                    <a:pt x="1203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735707" y="5066538"/>
            <a:ext cx="9156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Prod.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Family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952477" y="5003291"/>
            <a:ext cx="1798955" cy="459105"/>
            <a:chOff x="952477" y="5003291"/>
            <a:chExt cx="1798955" cy="459105"/>
          </a:xfrm>
        </p:grpSpPr>
        <p:sp>
          <p:nvSpPr>
            <p:cNvPr id="91" name="object 91"/>
            <p:cNvSpPr/>
            <p:nvPr/>
          </p:nvSpPr>
          <p:spPr>
            <a:xfrm>
              <a:off x="2628137" y="5115305"/>
              <a:ext cx="109855" cy="165100"/>
            </a:xfrm>
            <a:custGeom>
              <a:avLst/>
              <a:gdLst/>
              <a:ahLst/>
              <a:cxnLst/>
              <a:rect l="l" t="t" r="r" b="b"/>
              <a:pathLst>
                <a:path w="109855" h="165100">
                  <a:moveTo>
                    <a:pt x="0" y="33528"/>
                  </a:moveTo>
                  <a:lnTo>
                    <a:pt x="88392" y="33528"/>
                  </a:lnTo>
                  <a:lnTo>
                    <a:pt x="88392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109855" h="165100">
                  <a:moveTo>
                    <a:pt x="21336" y="105156"/>
                  </a:moveTo>
                  <a:lnTo>
                    <a:pt x="109728" y="105156"/>
                  </a:lnTo>
                  <a:lnTo>
                    <a:pt x="109728" y="71628"/>
                  </a:lnTo>
                  <a:lnTo>
                    <a:pt x="21336" y="71628"/>
                  </a:lnTo>
                  <a:lnTo>
                    <a:pt x="21336" y="105156"/>
                  </a:lnTo>
                  <a:close/>
                </a:path>
                <a:path w="109855" h="165100">
                  <a:moveTo>
                    <a:pt x="21336" y="164592"/>
                  </a:moveTo>
                  <a:lnTo>
                    <a:pt x="109728" y="164592"/>
                  </a:lnTo>
                  <a:lnTo>
                    <a:pt x="109728" y="131064"/>
                  </a:lnTo>
                  <a:lnTo>
                    <a:pt x="21336" y="131064"/>
                  </a:lnTo>
                  <a:lnTo>
                    <a:pt x="21336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638043" y="5148071"/>
              <a:ext cx="10795" cy="114300"/>
            </a:xfrm>
            <a:custGeom>
              <a:avLst/>
              <a:gdLst/>
              <a:ahLst/>
              <a:cxnLst/>
              <a:rect l="l" t="t" r="r" b="b"/>
              <a:pathLst>
                <a:path w="10794" h="114300">
                  <a:moveTo>
                    <a:pt x="0" y="0"/>
                  </a:moveTo>
                  <a:lnTo>
                    <a:pt x="0" y="54990"/>
                  </a:lnTo>
                  <a:lnTo>
                    <a:pt x="10541" y="54990"/>
                  </a:lnTo>
                </a:path>
                <a:path w="10794" h="114300">
                  <a:moveTo>
                    <a:pt x="0" y="48767"/>
                  </a:moveTo>
                  <a:lnTo>
                    <a:pt x="0" y="114172"/>
                  </a:lnTo>
                  <a:lnTo>
                    <a:pt x="10541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2477" y="5030800"/>
              <a:ext cx="1204005" cy="35036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9075" y="5003291"/>
              <a:ext cx="1129284" cy="45872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90599" y="5049011"/>
              <a:ext cx="1127760" cy="27431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90599" y="5049011"/>
              <a:ext cx="1127760" cy="274320"/>
            </a:xfrm>
            <a:custGeom>
              <a:avLst/>
              <a:gdLst/>
              <a:ahLst/>
              <a:cxnLst/>
              <a:rect l="l" t="t" r="r" b="b"/>
              <a:pathLst>
                <a:path w="1127760" h="274320">
                  <a:moveTo>
                    <a:pt x="0" y="274319"/>
                  </a:moveTo>
                  <a:lnTo>
                    <a:pt x="1127760" y="274319"/>
                  </a:lnTo>
                  <a:lnTo>
                    <a:pt x="11277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126032" y="5055870"/>
            <a:ext cx="8572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Prod.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Categ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011872" y="5052059"/>
            <a:ext cx="4928870" cy="843280"/>
            <a:chOff x="1011872" y="5052059"/>
            <a:chExt cx="4928870" cy="843280"/>
          </a:xfrm>
        </p:grpSpPr>
        <p:pic>
          <p:nvPicPr>
            <p:cNvPr id="99" name="object 9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40095" y="5052059"/>
              <a:ext cx="559308" cy="315467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497830" y="51299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427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42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84" y="38100"/>
                  </a:lnTo>
                  <a:lnTo>
                    <a:pt x="114427" y="0"/>
                  </a:lnTo>
                  <a:close/>
                </a:path>
                <a:path w="359410" h="114300">
                  <a:moveTo>
                    <a:pt x="114384" y="38118"/>
                  </a:moveTo>
                  <a:lnTo>
                    <a:pt x="114342" y="76218"/>
                  </a:lnTo>
                  <a:lnTo>
                    <a:pt x="359156" y="76453"/>
                  </a:lnTo>
                  <a:lnTo>
                    <a:pt x="359283" y="38353"/>
                  </a:lnTo>
                  <a:lnTo>
                    <a:pt x="114384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42" y="76218"/>
                  </a:lnTo>
                  <a:lnTo>
                    <a:pt x="114384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84" y="38100"/>
                  </a:moveTo>
                  <a:lnTo>
                    <a:pt x="95250" y="38100"/>
                  </a:lnTo>
                  <a:lnTo>
                    <a:pt x="114384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98819" y="5158739"/>
              <a:ext cx="141732" cy="1524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857494" y="51884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98819" y="5111495"/>
              <a:ext cx="141732" cy="152399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857494" y="51503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4364" y="5052059"/>
              <a:ext cx="559308" cy="315467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832098" y="51299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5" y="76453"/>
                  </a:lnTo>
                  <a:lnTo>
                    <a:pt x="359282" y="38353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33088" y="5158739"/>
              <a:ext cx="141732" cy="15240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191761" y="51884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33088" y="5111495"/>
              <a:ext cx="141732" cy="15239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191761" y="51503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24890" y="5104637"/>
              <a:ext cx="104139" cy="165100"/>
            </a:xfrm>
            <a:custGeom>
              <a:avLst/>
              <a:gdLst/>
              <a:ahLst/>
              <a:cxnLst/>
              <a:rect l="l" t="t" r="r" b="b"/>
              <a:pathLst>
                <a:path w="104140" h="165100">
                  <a:moveTo>
                    <a:pt x="0" y="33527"/>
                  </a:moveTo>
                  <a:lnTo>
                    <a:pt x="83819" y="33527"/>
                  </a:lnTo>
                  <a:lnTo>
                    <a:pt x="83819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104140" h="165100">
                  <a:moveTo>
                    <a:pt x="19812" y="105155"/>
                  </a:moveTo>
                  <a:lnTo>
                    <a:pt x="103631" y="105155"/>
                  </a:lnTo>
                  <a:lnTo>
                    <a:pt x="103631" y="71627"/>
                  </a:lnTo>
                  <a:lnTo>
                    <a:pt x="19812" y="71627"/>
                  </a:lnTo>
                  <a:lnTo>
                    <a:pt x="19812" y="105155"/>
                  </a:lnTo>
                  <a:close/>
                </a:path>
                <a:path w="104140" h="165100">
                  <a:moveTo>
                    <a:pt x="19812" y="164591"/>
                  </a:moveTo>
                  <a:lnTo>
                    <a:pt x="103631" y="164591"/>
                  </a:lnTo>
                  <a:lnTo>
                    <a:pt x="103631" y="131063"/>
                  </a:lnTo>
                  <a:lnTo>
                    <a:pt x="19812" y="131063"/>
                  </a:lnTo>
                  <a:lnTo>
                    <a:pt x="19812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34796" y="5137403"/>
              <a:ext cx="10160" cy="114300"/>
            </a:xfrm>
            <a:custGeom>
              <a:avLst/>
              <a:gdLst/>
              <a:ahLst/>
              <a:cxnLst/>
              <a:rect l="l" t="t" r="r" b="b"/>
              <a:pathLst>
                <a:path w="10159" h="114300">
                  <a:moveTo>
                    <a:pt x="0" y="0"/>
                  </a:moveTo>
                  <a:lnTo>
                    <a:pt x="0" y="54991"/>
                  </a:lnTo>
                  <a:lnTo>
                    <a:pt x="9855" y="54991"/>
                  </a:lnTo>
                </a:path>
                <a:path w="10159" h="114300">
                  <a:moveTo>
                    <a:pt x="0" y="48768"/>
                  </a:moveTo>
                  <a:lnTo>
                    <a:pt x="0" y="114173"/>
                  </a:lnTo>
                  <a:lnTo>
                    <a:pt x="9855" y="1141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76627" y="5052059"/>
              <a:ext cx="559307" cy="315467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2134362" y="51299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3"/>
                  </a:lnTo>
                  <a:lnTo>
                    <a:pt x="359282" y="38353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35352" y="5158739"/>
              <a:ext cx="141731" cy="15240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2494026" y="51884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35352" y="5111495"/>
              <a:ext cx="141731" cy="152399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2494026" y="51503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66260" y="5454395"/>
              <a:ext cx="917448" cy="36880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69892" y="5436107"/>
              <a:ext cx="708660" cy="45872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413504" y="5481827"/>
              <a:ext cx="822960" cy="274320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413504" y="5481827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4607178" y="5488940"/>
            <a:ext cx="43560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425632" y="5524436"/>
            <a:ext cx="2464435" cy="831215"/>
            <a:chOff x="4425632" y="5524436"/>
            <a:chExt cx="2464435" cy="831215"/>
          </a:xfrm>
        </p:grpSpPr>
        <p:sp>
          <p:nvSpPr>
            <p:cNvPr id="125" name="object 125"/>
            <p:cNvSpPr/>
            <p:nvPr/>
          </p:nvSpPr>
          <p:spPr>
            <a:xfrm>
              <a:off x="4438650" y="5537453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6680"/>
                  </a:moveTo>
                  <a:lnTo>
                    <a:pt x="74675" y="106680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6680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445508" y="5570219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20" h="114300">
                  <a:moveTo>
                    <a:pt x="0" y="48767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72556" y="5914643"/>
              <a:ext cx="917448" cy="36880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144768" y="5896355"/>
              <a:ext cx="571499" cy="45872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19800" y="5942075"/>
              <a:ext cx="822959" cy="27432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6019800" y="5942075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6132576" y="594857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Day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4376928" y="5917691"/>
            <a:ext cx="1755775" cy="459105"/>
            <a:chOff x="4376928" y="5917691"/>
            <a:chExt cx="1755775" cy="459105"/>
          </a:xfrm>
        </p:grpSpPr>
        <p:sp>
          <p:nvSpPr>
            <p:cNvPr id="133" name="object 133"/>
            <p:cNvSpPr/>
            <p:nvPr/>
          </p:nvSpPr>
          <p:spPr>
            <a:xfrm>
              <a:off x="6044946" y="5997701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29540"/>
                  </a:lnTo>
                  <a:lnTo>
                    <a:pt x="15239" y="129540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051804" y="6030467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20" h="114300">
                  <a:moveTo>
                    <a:pt x="0" y="48767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6928" y="5935979"/>
              <a:ext cx="917448" cy="36880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440936" y="5917691"/>
              <a:ext cx="789432" cy="458723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24172" y="5963411"/>
              <a:ext cx="822960" cy="274319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424172" y="596341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19"/>
                  </a:moveTo>
                  <a:lnTo>
                    <a:pt x="822960" y="274319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4578222" y="5970219"/>
            <a:ext cx="5175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Mo</a:t>
            </a:r>
            <a:r>
              <a:rPr sz="1400" spc="-15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2775234" y="5928359"/>
            <a:ext cx="1762125" cy="459105"/>
            <a:chOff x="2775234" y="5928359"/>
            <a:chExt cx="1762125" cy="459105"/>
          </a:xfrm>
        </p:grpSpPr>
        <p:sp>
          <p:nvSpPr>
            <p:cNvPr id="141" name="object 141"/>
            <p:cNvSpPr/>
            <p:nvPr/>
          </p:nvSpPr>
          <p:spPr>
            <a:xfrm>
              <a:off x="4449317" y="6019037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40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5240" y="71628"/>
                  </a:lnTo>
                  <a:lnTo>
                    <a:pt x="15240" y="105156"/>
                  </a:lnTo>
                  <a:close/>
                </a:path>
                <a:path w="74929" h="165100">
                  <a:moveTo>
                    <a:pt x="15240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5240" y="131064"/>
                  </a:lnTo>
                  <a:lnTo>
                    <a:pt x="15240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456176" y="6051803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20" h="114300">
                  <a:moveTo>
                    <a:pt x="0" y="48768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75234" y="5955868"/>
              <a:ext cx="899099" cy="350367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790443" y="5928359"/>
              <a:ext cx="868680" cy="458723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3303" y="5974079"/>
              <a:ext cx="822959" cy="274319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2813303" y="59740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2926079" y="5981191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Quarter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02466" y="5907023"/>
            <a:ext cx="1724025" cy="459105"/>
            <a:chOff x="1202466" y="5907023"/>
            <a:chExt cx="1724025" cy="459105"/>
          </a:xfrm>
        </p:grpSpPr>
        <p:sp>
          <p:nvSpPr>
            <p:cNvPr id="149" name="object 149"/>
            <p:cNvSpPr/>
            <p:nvPr/>
          </p:nvSpPr>
          <p:spPr>
            <a:xfrm>
              <a:off x="2838450" y="60297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30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845308" y="60624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78"/>
                  </a:lnTo>
                  <a:lnTo>
                    <a:pt x="7239" y="54978"/>
                  </a:lnTo>
                </a:path>
                <a:path w="7619" h="114300">
                  <a:moveTo>
                    <a:pt x="0" y="48767"/>
                  </a:moveTo>
                  <a:lnTo>
                    <a:pt x="0" y="114122"/>
                  </a:lnTo>
                  <a:lnTo>
                    <a:pt x="7239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2466" y="5934532"/>
              <a:ext cx="899099" cy="350367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347216" y="5907023"/>
              <a:ext cx="609599" cy="458723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240536" y="5952743"/>
              <a:ext cx="822960" cy="274320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240536" y="5952743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19"/>
                  </a:moveTo>
                  <a:lnTo>
                    <a:pt x="822960" y="274319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1484757" y="5959551"/>
            <a:ext cx="3371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0" dirty="0">
                <a:latin typeface="Calibri"/>
                <a:cs typeface="Calibri"/>
              </a:rPr>
              <a:t>Y</a:t>
            </a:r>
            <a:r>
              <a:rPr sz="1400" dirty="0">
                <a:latin typeface="Calibri"/>
                <a:cs typeface="Calibri"/>
              </a:rPr>
              <a:t>ear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6" name="object 15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944623" y="5986271"/>
            <a:ext cx="826008" cy="315468"/>
          </a:xfrm>
          <a:prstGeom prst="rect">
            <a:avLst/>
          </a:prstGeom>
        </p:spPr>
      </p:pic>
      <p:grpSp>
        <p:nvGrpSpPr>
          <p:cNvPr id="157" name="object 157"/>
          <p:cNvGrpSpPr/>
          <p:nvPr/>
        </p:nvGrpSpPr>
        <p:grpSpPr>
          <a:xfrm>
            <a:off x="1254188" y="4925567"/>
            <a:ext cx="7632700" cy="1365885"/>
            <a:chOff x="1254188" y="4925567"/>
            <a:chExt cx="7632700" cy="1365885"/>
          </a:xfrm>
        </p:grpSpPr>
        <p:sp>
          <p:nvSpPr>
            <p:cNvPr id="158" name="object 158"/>
            <p:cNvSpPr/>
            <p:nvPr/>
          </p:nvSpPr>
          <p:spPr>
            <a:xfrm>
              <a:off x="1267205" y="6008369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7"/>
                  </a:moveTo>
                  <a:lnTo>
                    <a:pt x="59436" y="33527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74930" h="165100">
                  <a:moveTo>
                    <a:pt x="13715" y="105155"/>
                  </a:moveTo>
                  <a:lnTo>
                    <a:pt x="74675" y="105155"/>
                  </a:lnTo>
                  <a:lnTo>
                    <a:pt x="74675" y="71627"/>
                  </a:lnTo>
                  <a:lnTo>
                    <a:pt x="13715" y="71627"/>
                  </a:lnTo>
                  <a:lnTo>
                    <a:pt x="13715" y="105155"/>
                  </a:lnTo>
                  <a:close/>
                </a:path>
                <a:path w="74930" h="165100">
                  <a:moveTo>
                    <a:pt x="13715" y="164591"/>
                  </a:moveTo>
                  <a:lnTo>
                    <a:pt x="74675" y="164591"/>
                  </a:lnTo>
                  <a:lnTo>
                    <a:pt x="74675" y="129539"/>
                  </a:lnTo>
                  <a:lnTo>
                    <a:pt x="13715" y="129539"/>
                  </a:lnTo>
                  <a:lnTo>
                    <a:pt x="13715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272539" y="6041135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19" h="114300">
                  <a:moveTo>
                    <a:pt x="0" y="48767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100828" y="5975603"/>
              <a:ext cx="826008" cy="315468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5258561" y="6053442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300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7"/>
                  </a:lnTo>
                  <a:lnTo>
                    <a:pt x="626110" y="38607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26252" y="6080759"/>
              <a:ext cx="158496" cy="173736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5884925" y="6110477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3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826252" y="6012179"/>
              <a:ext cx="158496" cy="175259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884925" y="6051041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3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521963" y="5975603"/>
              <a:ext cx="826008" cy="315468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3679697" y="6053442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300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7"/>
                  </a:lnTo>
                  <a:lnTo>
                    <a:pt x="626110" y="38607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247387" y="6080759"/>
              <a:ext cx="158496" cy="173736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4306061" y="6110477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3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47387" y="6012179"/>
              <a:ext cx="158496" cy="175259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4306061" y="6051041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3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102358" y="6064110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300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8"/>
                  </a:lnTo>
                  <a:lnTo>
                    <a:pt x="626110" y="38608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668523" y="6091427"/>
              <a:ext cx="158495" cy="173736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2727197" y="6121145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2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68523" y="6022847"/>
              <a:ext cx="158495" cy="17526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727197" y="6061709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2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333743" y="5599175"/>
              <a:ext cx="123444" cy="341375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6395466" y="5638037"/>
              <a:ext cx="1270" cy="236220"/>
            </a:xfrm>
            <a:custGeom>
              <a:avLst/>
              <a:gdLst/>
              <a:ahLst/>
              <a:cxnLst/>
              <a:rect l="l" t="t" r="r" b="b"/>
              <a:pathLst>
                <a:path w="1270" h="236220">
                  <a:moveTo>
                    <a:pt x="381" y="-19050"/>
                  </a:moveTo>
                  <a:lnTo>
                    <a:pt x="381" y="255117"/>
                  </a:lnTo>
                </a:path>
              </a:pathLst>
            </a:custGeom>
            <a:ln w="3886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262116" y="5833871"/>
              <a:ext cx="178308" cy="137159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6323837" y="5872733"/>
              <a:ext cx="71120" cy="14604"/>
            </a:xfrm>
            <a:custGeom>
              <a:avLst/>
              <a:gdLst/>
              <a:ahLst/>
              <a:cxnLst/>
              <a:rect l="l" t="t" r="r" b="b"/>
              <a:pathLst>
                <a:path w="71120" h="14604">
                  <a:moveTo>
                    <a:pt x="70738" y="0"/>
                  </a:moveTo>
                  <a:lnTo>
                    <a:pt x="0" y="1431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348984" y="5833871"/>
              <a:ext cx="178308" cy="137159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6395466" y="5872733"/>
              <a:ext cx="71120" cy="14604"/>
            </a:xfrm>
            <a:custGeom>
              <a:avLst/>
              <a:gdLst/>
              <a:ahLst/>
              <a:cxnLst/>
              <a:rect l="l" t="t" r="r" b="b"/>
              <a:pathLst>
                <a:path w="71120" h="14604">
                  <a:moveTo>
                    <a:pt x="0" y="0"/>
                  </a:moveTo>
                  <a:lnTo>
                    <a:pt x="70738" y="1431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100828" y="5501639"/>
              <a:ext cx="1344168" cy="315468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5258561" y="5579490"/>
              <a:ext cx="1143000" cy="114300"/>
            </a:xfrm>
            <a:custGeom>
              <a:avLst/>
              <a:gdLst/>
              <a:ahLst/>
              <a:cxnLst/>
              <a:rect l="l" t="t" r="r" b="b"/>
              <a:pathLst>
                <a:path w="114300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249"/>
                  </a:lnTo>
                  <a:lnTo>
                    <a:pt x="114300" y="76149"/>
                  </a:lnTo>
                  <a:lnTo>
                    <a:pt x="95250" y="76136"/>
                  </a:lnTo>
                  <a:lnTo>
                    <a:pt x="95250" y="38036"/>
                  </a:lnTo>
                  <a:lnTo>
                    <a:pt x="114300" y="38036"/>
                  </a:lnTo>
                  <a:lnTo>
                    <a:pt x="114300" y="0"/>
                  </a:lnTo>
                  <a:close/>
                </a:path>
                <a:path w="1143000" h="114300">
                  <a:moveTo>
                    <a:pt x="114300" y="38049"/>
                  </a:moveTo>
                  <a:lnTo>
                    <a:pt x="114300" y="76149"/>
                  </a:lnTo>
                  <a:lnTo>
                    <a:pt x="1143000" y="76873"/>
                  </a:lnTo>
                  <a:lnTo>
                    <a:pt x="1143000" y="38773"/>
                  </a:lnTo>
                  <a:lnTo>
                    <a:pt x="114300" y="38049"/>
                  </a:lnTo>
                  <a:close/>
                </a:path>
                <a:path w="1143000" h="114300">
                  <a:moveTo>
                    <a:pt x="95250" y="38036"/>
                  </a:moveTo>
                  <a:lnTo>
                    <a:pt x="95250" y="76136"/>
                  </a:lnTo>
                  <a:lnTo>
                    <a:pt x="114300" y="76149"/>
                  </a:lnTo>
                  <a:lnTo>
                    <a:pt x="114300" y="38049"/>
                  </a:lnTo>
                  <a:lnTo>
                    <a:pt x="95250" y="38036"/>
                  </a:lnTo>
                  <a:close/>
                </a:path>
                <a:path w="1143000" h="114300">
                  <a:moveTo>
                    <a:pt x="114300" y="38036"/>
                  </a:moveTo>
                  <a:lnTo>
                    <a:pt x="95250" y="38036"/>
                  </a:lnTo>
                  <a:lnTo>
                    <a:pt x="114300" y="38049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648955" y="4925567"/>
              <a:ext cx="1237488" cy="78028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706867" y="5091683"/>
              <a:ext cx="947927" cy="672083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96199" y="4952999"/>
              <a:ext cx="1143000" cy="68580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7696199" y="4952999"/>
              <a:ext cx="1143000" cy="685800"/>
            </a:xfrm>
            <a:custGeom>
              <a:avLst/>
              <a:gdLst/>
              <a:ahLst/>
              <a:cxnLst/>
              <a:rect l="l" t="t" r="r" b="b"/>
              <a:pathLst>
                <a:path w="1143000" h="685800">
                  <a:moveTo>
                    <a:pt x="0" y="171450"/>
                  </a:moveTo>
                  <a:lnTo>
                    <a:pt x="171450" y="0"/>
                  </a:lnTo>
                  <a:lnTo>
                    <a:pt x="1143000" y="0"/>
                  </a:lnTo>
                  <a:lnTo>
                    <a:pt x="1143000" y="514350"/>
                  </a:lnTo>
                  <a:lnTo>
                    <a:pt x="971550" y="685800"/>
                  </a:lnTo>
                  <a:lnTo>
                    <a:pt x="0" y="685800"/>
                  </a:lnTo>
                  <a:lnTo>
                    <a:pt x="0" y="171450"/>
                  </a:lnTo>
                  <a:close/>
                </a:path>
                <a:path w="1143000" h="685800">
                  <a:moveTo>
                    <a:pt x="0" y="171450"/>
                  </a:moveTo>
                  <a:lnTo>
                    <a:pt x="971550" y="171450"/>
                  </a:lnTo>
                  <a:lnTo>
                    <a:pt x="1143000" y="0"/>
                  </a:lnTo>
                </a:path>
                <a:path w="1143000" h="685800">
                  <a:moveTo>
                    <a:pt x="971550" y="171450"/>
                  </a:moveTo>
                  <a:lnTo>
                    <a:pt x="971550" y="685800"/>
                  </a:lnTo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189"/>
          <p:cNvSpPr txBox="1"/>
          <p:nvPr/>
        </p:nvSpPr>
        <p:spPr>
          <a:xfrm>
            <a:off x="7696200" y="5144770"/>
            <a:ext cx="967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Sales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7696200" y="5358129"/>
            <a:ext cx="967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Calibri"/>
                <a:cs typeface="Calibri"/>
              </a:rPr>
              <a:t>Turnover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3575303" y="3779520"/>
            <a:ext cx="5139055" cy="2417445"/>
            <a:chOff x="3575303" y="3779520"/>
            <a:chExt cx="5139055" cy="2417445"/>
          </a:xfrm>
        </p:grpSpPr>
        <p:pic>
          <p:nvPicPr>
            <p:cNvPr id="192" name="object 19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653527" y="5353812"/>
              <a:ext cx="1060703" cy="102107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7696200" y="5381244"/>
              <a:ext cx="971550" cy="7620"/>
            </a:xfrm>
            <a:custGeom>
              <a:avLst/>
              <a:gdLst/>
              <a:ahLst/>
              <a:cxnLst/>
              <a:rect l="l" t="t" r="r" b="b"/>
              <a:pathLst>
                <a:path w="971550" h="7620">
                  <a:moveTo>
                    <a:pt x="0" y="7111"/>
                  </a:moveTo>
                  <a:lnTo>
                    <a:pt x="971550" y="0"/>
                  </a:lnTo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14771" y="5148072"/>
              <a:ext cx="2327148" cy="318515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5476493" y="5186934"/>
              <a:ext cx="2221230" cy="196215"/>
            </a:xfrm>
            <a:custGeom>
              <a:avLst/>
              <a:gdLst/>
              <a:ahLst/>
              <a:cxnLst/>
              <a:rect l="l" t="t" r="r" b="b"/>
              <a:pathLst>
                <a:path w="2221229" h="196214">
                  <a:moveTo>
                    <a:pt x="2220722" y="195707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720839" y="4396740"/>
              <a:ext cx="1031748" cy="1065276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6782561" y="4435602"/>
              <a:ext cx="914400" cy="946785"/>
            </a:xfrm>
            <a:custGeom>
              <a:avLst/>
              <a:gdLst/>
              <a:ahLst/>
              <a:cxnLst/>
              <a:rect l="l" t="t" r="r" b="b"/>
              <a:pathLst>
                <a:path w="914400" h="946785">
                  <a:moveTo>
                    <a:pt x="914400" y="94678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575303" y="5343144"/>
              <a:ext cx="4168140" cy="853440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3637025" y="5382006"/>
              <a:ext cx="4060825" cy="729615"/>
            </a:xfrm>
            <a:custGeom>
              <a:avLst/>
              <a:gdLst/>
              <a:ahLst/>
              <a:cxnLst/>
              <a:rect l="l" t="t" r="r" b="b"/>
              <a:pathLst>
                <a:path w="4060825" h="729614">
                  <a:moveTo>
                    <a:pt x="4060317" y="0"/>
                  </a:moveTo>
                  <a:lnTo>
                    <a:pt x="0" y="729615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896355" y="3782568"/>
              <a:ext cx="1008888" cy="399288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42659" y="3779520"/>
              <a:ext cx="714756" cy="45872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943599" y="3810000"/>
              <a:ext cx="914400" cy="304800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5943600" y="3810000"/>
            <a:ext cx="914400" cy="304800"/>
          </a:xfrm>
          <a:prstGeom prst="rect">
            <a:avLst/>
          </a:prstGeom>
          <a:ln w="9144">
            <a:solidFill>
              <a:srgbClr val="497DBA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275"/>
              </a:spcBef>
            </a:pPr>
            <a:r>
              <a:rPr sz="1400" spc="-5" dirty="0">
                <a:latin typeface="Calibri"/>
                <a:cs typeface="Calibri"/>
              </a:rPr>
              <a:t>Client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4" name="object 20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797040" y="3924300"/>
            <a:ext cx="958596" cy="1533144"/>
          </a:xfrm>
          <a:prstGeom prst="rect">
            <a:avLst/>
          </a:prstGeom>
        </p:spPr>
      </p:pic>
      <p:sp>
        <p:nvSpPr>
          <p:cNvPr id="205" name="object 205"/>
          <p:cNvSpPr/>
          <p:nvPr/>
        </p:nvSpPr>
        <p:spPr>
          <a:xfrm>
            <a:off x="6858761" y="3963161"/>
            <a:ext cx="838200" cy="1419225"/>
          </a:xfrm>
          <a:custGeom>
            <a:avLst/>
            <a:gdLst/>
            <a:ahLst/>
            <a:cxnLst/>
            <a:rect l="l" t="t" r="r" b="b"/>
            <a:pathLst>
              <a:path w="838200" h="1419225">
                <a:moveTo>
                  <a:pt x="838200" y="1419225"/>
                </a:moveTo>
                <a:lnTo>
                  <a:pt x="0" y="0"/>
                </a:lnTo>
              </a:path>
            </a:pathLst>
          </a:custGeom>
          <a:ln w="381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6" name="object 206"/>
          <p:cNvGrpSpPr/>
          <p:nvPr/>
        </p:nvGrpSpPr>
        <p:grpSpPr>
          <a:xfrm>
            <a:off x="4794503" y="3837432"/>
            <a:ext cx="1211580" cy="612775"/>
            <a:chOff x="4794503" y="3837432"/>
            <a:chExt cx="1211580" cy="612775"/>
          </a:xfrm>
        </p:grpSpPr>
        <p:pic>
          <p:nvPicPr>
            <p:cNvPr id="207" name="object 207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910327" y="3913632"/>
              <a:ext cx="1019555" cy="123443"/>
            </a:xfrm>
            <a:prstGeom prst="rect">
              <a:avLst/>
            </a:prstGeom>
          </p:spPr>
        </p:pic>
        <p:sp>
          <p:nvSpPr>
            <p:cNvPr id="208" name="object 208"/>
            <p:cNvSpPr/>
            <p:nvPr/>
          </p:nvSpPr>
          <p:spPr>
            <a:xfrm>
              <a:off x="4953761" y="3952494"/>
              <a:ext cx="915669" cy="0"/>
            </a:xfrm>
            <a:custGeom>
              <a:avLst/>
              <a:gdLst/>
              <a:ahLst/>
              <a:cxnLst/>
              <a:rect l="l" t="t" r="r" b="b"/>
              <a:pathLst>
                <a:path w="915670">
                  <a:moveTo>
                    <a:pt x="0" y="0"/>
                  </a:moveTo>
                  <a:lnTo>
                    <a:pt x="915162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" name="object 209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812535" y="3837432"/>
              <a:ext cx="193548" cy="188975"/>
            </a:xfrm>
            <a:prstGeom prst="rect">
              <a:avLst/>
            </a:prstGeom>
          </p:spPr>
        </p:pic>
        <p:sp>
          <p:nvSpPr>
            <p:cNvPr id="210" name="object 210"/>
            <p:cNvSpPr/>
            <p:nvPr/>
          </p:nvSpPr>
          <p:spPr>
            <a:xfrm>
              <a:off x="5868161" y="3876294"/>
              <a:ext cx="76200" cy="71120"/>
            </a:xfrm>
            <a:custGeom>
              <a:avLst/>
              <a:gdLst/>
              <a:ahLst/>
              <a:cxnLst/>
              <a:rect l="l" t="t" r="r" b="b"/>
              <a:pathLst>
                <a:path w="76200" h="71120">
                  <a:moveTo>
                    <a:pt x="0" y="70738"/>
                  </a:moveTo>
                  <a:lnTo>
                    <a:pt x="76200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1" name="object 211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807963" y="3924300"/>
              <a:ext cx="198120" cy="265175"/>
            </a:xfrm>
            <a:prstGeom prst="rect">
              <a:avLst/>
            </a:prstGeom>
          </p:spPr>
        </p:pic>
        <p:sp>
          <p:nvSpPr>
            <p:cNvPr id="212" name="object 212"/>
            <p:cNvSpPr/>
            <p:nvPr/>
          </p:nvSpPr>
          <p:spPr>
            <a:xfrm>
              <a:off x="5868161" y="3952494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15239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3" name="object 21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794503" y="3944112"/>
              <a:ext cx="315467" cy="505968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4895341" y="3963162"/>
              <a:ext cx="114300" cy="306070"/>
            </a:xfrm>
            <a:custGeom>
              <a:avLst/>
              <a:gdLst/>
              <a:ahLst/>
              <a:cxnLst/>
              <a:rect l="l" t="t" r="r" b="b"/>
              <a:pathLst>
                <a:path w="114300" h="306070">
                  <a:moveTo>
                    <a:pt x="0" y="191135"/>
                  </a:moveTo>
                  <a:lnTo>
                    <a:pt x="56896" y="305562"/>
                  </a:lnTo>
                  <a:lnTo>
                    <a:pt x="104722" y="210438"/>
                  </a:lnTo>
                  <a:lnTo>
                    <a:pt x="76200" y="210438"/>
                  </a:lnTo>
                  <a:lnTo>
                    <a:pt x="38100" y="210312"/>
                  </a:lnTo>
                  <a:lnTo>
                    <a:pt x="38146" y="191219"/>
                  </a:lnTo>
                  <a:lnTo>
                    <a:pt x="0" y="191135"/>
                  </a:lnTo>
                  <a:close/>
                </a:path>
                <a:path w="114300" h="306070">
                  <a:moveTo>
                    <a:pt x="38146" y="191219"/>
                  </a:moveTo>
                  <a:lnTo>
                    <a:pt x="38100" y="210312"/>
                  </a:lnTo>
                  <a:lnTo>
                    <a:pt x="76200" y="210438"/>
                  </a:lnTo>
                  <a:lnTo>
                    <a:pt x="76246" y="191304"/>
                  </a:lnTo>
                  <a:lnTo>
                    <a:pt x="38146" y="191219"/>
                  </a:lnTo>
                  <a:close/>
                </a:path>
                <a:path w="114300" h="306070">
                  <a:moveTo>
                    <a:pt x="76246" y="191304"/>
                  </a:moveTo>
                  <a:lnTo>
                    <a:pt x="76200" y="210438"/>
                  </a:lnTo>
                  <a:lnTo>
                    <a:pt x="104722" y="210438"/>
                  </a:lnTo>
                  <a:lnTo>
                    <a:pt x="114300" y="191388"/>
                  </a:lnTo>
                  <a:lnTo>
                    <a:pt x="76246" y="191304"/>
                  </a:lnTo>
                  <a:close/>
                </a:path>
                <a:path w="114300" h="306070">
                  <a:moveTo>
                    <a:pt x="76708" y="0"/>
                  </a:moveTo>
                  <a:lnTo>
                    <a:pt x="38608" y="0"/>
                  </a:lnTo>
                  <a:lnTo>
                    <a:pt x="38146" y="191219"/>
                  </a:lnTo>
                  <a:lnTo>
                    <a:pt x="76246" y="191304"/>
                  </a:lnTo>
                  <a:lnTo>
                    <a:pt x="767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383270" cy="199643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45" dirty="0">
                <a:latin typeface="Trebuchet MS"/>
                <a:cs typeface="Trebuchet MS"/>
              </a:rPr>
              <a:t>Dimensional</a:t>
            </a:r>
            <a:r>
              <a:rPr sz="3200" b="1" spc="-130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roll-ups</a:t>
            </a:r>
            <a:endParaRPr sz="32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14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2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sole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fa</a:t>
            </a:r>
            <a:r>
              <a:rPr sz="2800" b="1" spc="-8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b="1" spc="2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b="1" spc="1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le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35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oppin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e  </a:t>
            </a:r>
            <a:r>
              <a:rPr sz="2800" spc="30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more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dimensions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70" dirty="0">
                <a:solidFill>
                  <a:srgbClr val="4F81BC"/>
                </a:solidFill>
                <a:latin typeface="Trebuchet MS"/>
                <a:cs typeface="Trebuchet MS"/>
              </a:rPr>
              <a:t>E.g.,</a:t>
            </a:r>
            <a:r>
              <a:rPr sz="2400" spc="-2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d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op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4F81BC"/>
                </a:solidFill>
                <a:latin typeface="Trebuchet MS"/>
                <a:cs typeface="Trebuchet MS"/>
              </a:rPr>
              <a:t>Cl</a:t>
            </a:r>
            <a:r>
              <a:rPr sz="2400" spc="-15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ent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dimension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954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-5" dirty="0"/>
              <a:t>Roll-up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835396" y="4099559"/>
            <a:ext cx="917575" cy="459105"/>
            <a:chOff x="5835396" y="4099559"/>
            <a:chExt cx="917575" cy="4591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5396" y="4117847"/>
              <a:ext cx="917448" cy="3688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2744" y="4099559"/>
              <a:ext cx="681227" cy="4587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82640" y="4145279"/>
              <a:ext cx="822960" cy="2743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82640" y="41452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090665" y="4152138"/>
            <a:ext cx="4083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S</a:t>
            </a:r>
            <a:r>
              <a:rPr sz="1400" spc="-15" dirty="0">
                <a:latin typeface="Calibri"/>
                <a:cs typeface="Calibri"/>
              </a:rPr>
              <a:t>t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24755" y="4099559"/>
            <a:ext cx="1471295" cy="459105"/>
            <a:chOff x="4524755" y="4099559"/>
            <a:chExt cx="1471295" cy="459105"/>
          </a:xfrm>
        </p:grpSpPr>
        <p:sp>
          <p:nvSpPr>
            <p:cNvPr id="11" name="object 11"/>
            <p:cNvSpPr/>
            <p:nvPr/>
          </p:nvSpPr>
          <p:spPr>
            <a:xfrm>
              <a:off x="5907786" y="42009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14644" y="42336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755" y="4117847"/>
              <a:ext cx="917448" cy="3688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95443" y="4099559"/>
              <a:ext cx="574548" cy="4587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99" y="4145279"/>
              <a:ext cx="822960" cy="27431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571999" y="41452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84776" y="415213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City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55264" y="4099559"/>
            <a:ext cx="1430020" cy="459105"/>
            <a:chOff x="3255264" y="4099559"/>
            <a:chExt cx="1430020" cy="459105"/>
          </a:xfrm>
        </p:grpSpPr>
        <p:sp>
          <p:nvSpPr>
            <p:cNvPr id="19" name="object 19"/>
            <p:cNvSpPr/>
            <p:nvPr/>
          </p:nvSpPr>
          <p:spPr>
            <a:xfrm>
              <a:off x="4597146" y="42009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04004" y="42336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5264" y="4117847"/>
              <a:ext cx="917448" cy="3688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05556" y="4099559"/>
              <a:ext cx="815339" cy="45872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2508" y="4145279"/>
              <a:ext cx="822960" cy="27431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02508" y="41452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43096" y="4152138"/>
            <a:ext cx="5422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District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987326" y="4099559"/>
            <a:ext cx="1430020" cy="459105"/>
            <a:chOff x="1987326" y="4099559"/>
            <a:chExt cx="1430020" cy="459105"/>
          </a:xfrm>
        </p:grpSpPr>
        <p:sp>
          <p:nvSpPr>
            <p:cNvPr id="27" name="object 27"/>
            <p:cNvSpPr/>
            <p:nvPr/>
          </p:nvSpPr>
          <p:spPr>
            <a:xfrm>
              <a:off x="3329178" y="42009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59436" y="33528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3716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3716" y="71628"/>
                  </a:lnTo>
                  <a:lnTo>
                    <a:pt x="13716" y="105156"/>
                  </a:lnTo>
                  <a:close/>
                </a:path>
                <a:path w="74929" h="165100">
                  <a:moveTo>
                    <a:pt x="13716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3716" y="131064"/>
                  </a:lnTo>
                  <a:lnTo>
                    <a:pt x="13716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334512" y="42336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7326" y="4127068"/>
              <a:ext cx="899099" cy="35036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9112" y="4099559"/>
              <a:ext cx="794004" cy="45872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5396" y="4145279"/>
              <a:ext cx="822959" cy="2743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025396" y="41452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175764" y="4152138"/>
            <a:ext cx="5219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5" dirty="0">
                <a:latin typeface="Calibri"/>
                <a:cs typeface="Calibri"/>
              </a:rPr>
              <a:t>g</a:t>
            </a:r>
            <a:r>
              <a:rPr sz="1400" dirty="0">
                <a:latin typeface="Calibri"/>
                <a:cs typeface="Calibri"/>
              </a:rPr>
              <a:t>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02594" y="4099559"/>
            <a:ext cx="1435735" cy="459105"/>
            <a:chOff x="702594" y="4099559"/>
            <a:chExt cx="1435735" cy="459105"/>
          </a:xfrm>
        </p:grpSpPr>
        <p:sp>
          <p:nvSpPr>
            <p:cNvPr id="35" name="object 35"/>
            <p:cNvSpPr/>
            <p:nvPr/>
          </p:nvSpPr>
          <p:spPr>
            <a:xfrm>
              <a:off x="2050542" y="42009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3715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3715" y="71628"/>
                  </a:lnTo>
                  <a:lnTo>
                    <a:pt x="13715" y="105156"/>
                  </a:lnTo>
                  <a:close/>
                </a:path>
                <a:path w="74930" h="165100">
                  <a:moveTo>
                    <a:pt x="13715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3715" y="131064"/>
                  </a:lnTo>
                  <a:lnTo>
                    <a:pt x="13715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57399" y="42336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19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594" y="4127068"/>
              <a:ext cx="899099" cy="3503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3231" y="4099559"/>
              <a:ext cx="876300" cy="45872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0663" y="4145279"/>
              <a:ext cx="822960" cy="27431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740663" y="41452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53439" y="415213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Country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2" name="object 4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79164" y="4171188"/>
            <a:ext cx="559308" cy="315468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17292" y="4171188"/>
            <a:ext cx="559307" cy="315468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752792" y="4171188"/>
            <a:ext cx="5984875" cy="1117600"/>
            <a:chOff x="752792" y="4171188"/>
            <a:chExt cx="5984875" cy="1117600"/>
          </a:xfrm>
        </p:grpSpPr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53227" y="4171188"/>
              <a:ext cx="559308" cy="31546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10962" y="42490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173" y="114300"/>
                  </a:lnTo>
                  <a:lnTo>
                    <a:pt x="114215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257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257" y="38118"/>
                  </a:moveTo>
                  <a:lnTo>
                    <a:pt x="114215" y="76218"/>
                  </a:lnTo>
                  <a:lnTo>
                    <a:pt x="359155" y="76454"/>
                  </a:lnTo>
                  <a:lnTo>
                    <a:pt x="359283" y="38354"/>
                  </a:lnTo>
                  <a:lnTo>
                    <a:pt x="114257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215" y="76218"/>
                  </a:lnTo>
                  <a:lnTo>
                    <a:pt x="114257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257" y="38100"/>
                  </a:moveTo>
                  <a:lnTo>
                    <a:pt x="95250" y="38100"/>
                  </a:lnTo>
                  <a:lnTo>
                    <a:pt x="114257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11951" y="4276344"/>
              <a:ext cx="141732" cy="1524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770626" y="43060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11951" y="4229100"/>
              <a:ext cx="141732" cy="15240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770626" y="42679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136897" y="42490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5" y="76454"/>
                  </a:lnTo>
                  <a:lnTo>
                    <a:pt x="359282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37888" y="4276344"/>
              <a:ext cx="141732" cy="15240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496562" y="43060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437888" y="4229100"/>
              <a:ext cx="141732" cy="152400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496562" y="42679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2875025" y="42490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4"/>
                  </a:lnTo>
                  <a:lnTo>
                    <a:pt x="359282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74491" y="4276344"/>
              <a:ext cx="141731" cy="15240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233165" y="43060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4491" y="4229100"/>
              <a:ext cx="141731" cy="15240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233165" y="42679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65810" y="4200906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59" y="33528"/>
                  </a:lnTo>
                  <a:lnTo>
                    <a:pt x="60959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5240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5240" y="71628"/>
                  </a:lnTo>
                  <a:lnTo>
                    <a:pt x="15240" y="105156"/>
                  </a:lnTo>
                  <a:close/>
                </a:path>
                <a:path w="74930" h="165100">
                  <a:moveTo>
                    <a:pt x="15240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5240" y="131064"/>
                  </a:lnTo>
                  <a:lnTo>
                    <a:pt x="15240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72668" y="4233672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18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18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32560" y="4171188"/>
              <a:ext cx="559308" cy="315468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590294" y="4249039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4"/>
                  </a:lnTo>
                  <a:lnTo>
                    <a:pt x="359282" y="38354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91283" y="4276344"/>
              <a:ext cx="141731" cy="15240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949958" y="43060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91283" y="4229100"/>
              <a:ext cx="141731" cy="152400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949958" y="4267962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20156" y="4847844"/>
              <a:ext cx="917448" cy="368807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93308" y="4829556"/>
              <a:ext cx="769619" cy="4587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7400" y="4875276"/>
              <a:ext cx="822959" cy="274319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867400" y="4875276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19"/>
                  </a:moveTo>
                  <a:lnTo>
                    <a:pt x="822959" y="274319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6031229" y="4881498"/>
            <a:ext cx="49657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Arti</a:t>
            </a:r>
            <a:r>
              <a:rPr sz="1400" spc="-1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le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4148328" y="4850891"/>
            <a:ext cx="1831975" cy="459105"/>
            <a:chOff x="4148328" y="4850891"/>
            <a:chExt cx="1831975" cy="459105"/>
          </a:xfrm>
        </p:grpSpPr>
        <p:sp>
          <p:nvSpPr>
            <p:cNvPr id="75" name="object 75"/>
            <p:cNvSpPr/>
            <p:nvPr/>
          </p:nvSpPr>
          <p:spPr>
            <a:xfrm>
              <a:off x="5892546" y="4930901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29540"/>
                  </a:lnTo>
                  <a:lnTo>
                    <a:pt x="15239" y="129540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899404" y="4963667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48328" y="4869179"/>
              <a:ext cx="1298448" cy="368807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10812" y="4850891"/>
              <a:ext cx="1173480" cy="458723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95572" y="4896611"/>
              <a:ext cx="1203960" cy="27431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195572" y="4896611"/>
              <a:ext cx="1203960" cy="274320"/>
            </a:xfrm>
            <a:custGeom>
              <a:avLst/>
              <a:gdLst/>
              <a:ahLst/>
              <a:cxnLst/>
              <a:rect l="l" t="t" r="r" b="b"/>
              <a:pathLst>
                <a:path w="1203960" h="274320">
                  <a:moveTo>
                    <a:pt x="0" y="274319"/>
                  </a:moveTo>
                  <a:lnTo>
                    <a:pt x="1203960" y="274319"/>
                  </a:lnTo>
                  <a:lnTo>
                    <a:pt x="1203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4348098" y="4902784"/>
            <a:ext cx="9017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P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od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spc="-5" dirty="0">
                <a:latin typeface="Calibri"/>
                <a:cs typeface="Calibri"/>
              </a:rPr>
              <a:t>oup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2476500" y="4861559"/>
            <a:ext cx="1879600" cy="459105"/>
            <a:chOff x="2476500" y="4861559"/>
            <a:chExt cx="1879600" cy="459105"/>
          </a:xfrm>
        </p:grpSpPr>
        <p:sp>
          <p:nvSpPr>
            <p:cNvPr id="83" name="object 83"/>
            <p:cNvSpPr/>
            <p:nvPr/>
          </p:nvSpPr>
          <p:spPr>
            <a:xfrm>
              <a:off x="4232910" y="4952237"/>
              <a:ext cx="109855" cy="165100"/>
            </a:xfrm>
            <a:custGeom>
              <a:avLst/>
              <a:gdLst/>
              <a:ahLst/>
              <a:cxnLst/>
              <a:rect l="l" t="t" r="r" b="b"/>
              <a:pathLst>
                <a:path w="109854" h="165100">
                  <a:moveTo>
                    <a:pt x="0" y="33527"/>
                  </a:moveTo>
                  <a:lnTo>
                    <a:pt x="88391" y="33527"/>
                  </a:lnTo>
                  <a:lnTo>
                    <a:pt x="88391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109854" h="165100">
                  <a:moveTo>
                    <a:pt x="21336" y="105155"/>
                  </a:moveTo>
                  <a:lnTo>
                    <a:pt x="109727" y="105155"/>
                  </a:lnTo>
                  <a:lnTo>
                    <a:pt x="109727" y="71627"/>
                  </a:lnTo>
                  <a:lnTo>
                    <a:pt x="21336" y="71627"/>
                  </a:lnTo>
                  <a:lnTo>
                    <a:pt x="21336" y="105155"/>
                  </a:lnTo>
                  <a:close/>
                </a:path>
                <a:path w="109854" h="165100">
                  <a:moveTo>
                    <a:pt x="21336" y="164591"/>
                  </a:moveTo>
                  <a:lnTo>
                    <a:pt x="109727" y="164591"/>
                  </a:lnTo>
                  <a:lnTo>
                    <a:pt x="109727" y="131063"/>
                  </a:lnTo>
                  <a:lnTo>
                    <a:pt x="21336" y="131063"/>
                  </a:lnTo>
                  <a:lnTo>
                    <a:pt x="21336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242816" y="4985003"/>
              <a:ext cx="10795" cy="114300"/>
            </a:xfrm>
            <a:custGeom>
              <a:avLst/>
              <a:gdLst/>
              <a:ahLst/>
              <a:cxnLst/>
              <a:rect l="l" t="t" r="r" b="b"/>
              <a:pathLst>
                <a:path w="10795" h="114300">
                  <a:moveTo>
                    <a:pt x="0" y="0"/>
                  </a:moveTo>
                  <a:lnTo>
                    <a:pt x="0" y="54991"/>
                  </a:lnTo>
                  <a:lnTo>
                    <a:pt x="10541" y="54991"/>
                  </a:lnTo>
                </a:path>
                <a:path w="10795" h="114300">
                  <a:moveTo>
                    <a:pt x="0" y="48768"/>
                  </a:moveTo>
                  <a:lnTo>
                    <a:pt x="0" y="114173"/>
                  </a:lnTo>
                  <a:lnTo>
                    <a:pt x="10541" y="1141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76500" y="4889068"/>
              <a:ext cx="1280159" cy="350367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22219" y="4861559"/>
              <a:ext cx="1188720" cy="45872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14600" y="4907279"/>
              <a:ext cx="1203960" cy="274319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2514600" y="4907279"/>
              <a:ext cx="1203960" cy="274320"/>
            </a:xfrm>
            <a:custGeom>
              <a:avLst/>
              <a:gdLst/>
              <a:ahLst/>
              <a:cxnLst/>
              <a:rect l="l" t="t" r="r" b="b"/>
              <a:pathLst>
                <a:path w="1203960" h="274320">
                  <a:moveTo>
                    <a:pt x="0" y="274320"/>
                  </a:moveTo>
                  <a:lnTo>
                    <a:pt x="1203960" y="274320"/>
                  </a:lnTo>
                  <a:lnTo>
                    <a:pt x="1203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2659507" y="4914138"/>
            <a:ext cx="91566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Prod.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Family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876277" y="4850891"/>
            <a:ext cx="1798955" cy="459105"/>
            <a:chOff x="876277" y="4850891"/>
            <a:chExt cx="1798955" cy="459105"/>
          </a:xfrm>
        </p:grpSpPr>
        <p:sp>
          <p:nvSpPr>
            <p:cNvPr id="91" name="object 91"/>
            <p:cNvSpPr/>
            <p:nvPr/>
          </p:nvSpPr>
          <p:spPr>
            <a:xfrm>
              <a:off x="2551937" y="4962905"/>
              <a:ext cx="109855" cy="165100"/>
            </a:xfrm>
            <a:custGeom>
              <a:avLst/>
              <a:gdLst/>
              <a:ahLst/>
              <a:cxnLst/>
              <a:rect l="l" t="t" r="r" b="b"/>
              <a:pathLst>
                <a:path w="109855" h="165100">
                  <a:moveTo>
                    <a:pt x="0" y="33528"/>
                  </a:moveTo>
                  <a:lnTo>
                    <a:pt x="88392" y="33528"/>
                  </a:lnTo>
                  <a:lnTo>
                    <a:pt x="88392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109855" h="165100">
                  <a:moveTo>
                    <a:pt x="21336" y="105156"/>
                  </a:moveTo>
                  <a:lnTo>
                    <a:pt x="109728" y="105156"/>
                  </a:lnTo>
                  <a:lnTo>
                    <a:pt x="109728" y="71628"/>
                  </a:lnTo>
                  <a:lnTo>
                    <a:pt x="21336" y="71628"/>
                  </a:lnTo>
                  <a:lnTo>
                    <a:pt x="21336" y="105156"/>
                  </a:lnTo>
                  <a:close/>
                </a:path>
                <a:path w="109855" h="165100">
                  <a:moveTo>
                    <a:pt x="21336" y="164592"/>
                  </a:moveTo>
                  <a:lnTo>
                    <a:pt x="109728" y="164592"/>
                  </a:lnTo>
                  <a:lnTo>
                    <a:pt x="109728" y="131064"/>
                  </a:lnTo>
                  <a:lnTo>
                    <a:pt x="21336" y="131064"/>
                  </a:lnTo>
                  <a:lnTo>
                    <a:pt x="21336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2561843" y="4995671"/>
              <a:ext cx="10795" cy="114300"/>
            </a:xfrm>
            <a:custGeom>
              <a:avLst/>
              <a:gdLst/>
              <a:ahLst/>
              <a:cxnLst/>
              <a:rect l="l" t="t" r="r" b="b"/>
              <a:pathLst>
                <a:path w="10794" h="114300">
                  <a:moveTo>
                    <a:pt x="0" y="0"/>
                  </a:moveTo>
                  <a:lnTo>
                    <a:pt x="0" y="54990"/>
                  </a:lnTo>
                  <a:lnTo>
                    <a:pt x="10541" y="54990"/>
                  </a:lnTo>
                </a:path>
                <a:path w="10794" h="114300">
                  <a:moveTo>
                    <a:pt x="0" y="48767"/>
                  </a:moveTo>
                  <a:lnTo>
                    <a:pt x="0" y="114172"/>
                  </a:lnTo>
                  <a:lnTo>
                    <a:pt x="10541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6277" y="4878400"/>
              <a:ext cx="1204005" cy="35036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2875" y="4850891"/>
              <a:ext cx="1129284" cy="458723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4399" y="4896611"/>
              <a:ext cx="1127760" cy="27431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914399" y="4896611"/>
              <a:ext cx="1127760" cy="274320"/>
            </a:xfrm>
            <a:custGeom>
              <a:avLst/>
              <a:gdLst/>
              <a:ahLst/>
              <a:cxnLst/>
              <a:rect l="l" t="t" r="r" b="b"/>
              <a:pathLst>
                <a:path w="1127760" h="274320">
                  <a:moveTo>
                    <a:pt x="0" y="274319"/>
                  </a:moveTo>
                  <a:lnTo>
                    <a:pt x="1127760" y="274319"/>
                  </a:lnTo>
                  <a:lnTo>
                    <a:pt x="11277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049832" y="4902784"/>
            <a:ext cx="8566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Prod.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Categ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35672" y="4899659"/>
            <a:ext cx="4928870" cy="843280"/>
            <a:chOff x="935672" y="4899659"/>
            <a:chExt cx="4928870" cy="843280"/>
          </a:xfrm>
        </p:grpSpPr>
        <p:pic>
          <p:nvPicPr>
            <p:cNvPr id="99" name="object 9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263895" y="4899659"/>
              <a:ext cx="559308" cy="31546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5421630" y="49775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3"/>
                  </a:lnTo>
                  <a:lnTo>
                    <a:pt x="359283" y="38353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22619" y="5006339"/>
              <a:ext cx="141732" cy="15240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5781294" y="50360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22619" y="4959095"/>
              <a:ext cx="141732" cy="152400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781294" y="49979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98164" y="4899659"/>
              <a:ext cx="559308" cy="315468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3755898" y="49775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5" y="76453"/>
                  </a:lnTo>
                  <a:lnTo>
                    <a:pt x="359282" y="38353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56888" y="5006339"/>
              <a:ext cx="141732" cy="15240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4115561" y="50360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6" y="381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56888" y="4959095"/>
              <a:ext cx="141732" cy="152400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4115561" y="49979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6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48690" y="4952237"/>
              <a:ext cx="104139" cy="165100"/>
            </a:xfrm>
            <a:custGeom>
              <a:avLst/>
              <a:gdLst/>
              <a:ahLst/>
              <a:cxnLst/>
              <a:rect l="l" t="t" r="r" b="b"/>
              <a:pathLst>
                <a:path w="104140" h="165100">
                  <a:moveTo>
                    <a:pt x="0" y="33527"/>
                  </a:moveTo>
                  <a:lnTo>
                    <a:pt x="83819" y="33527"/>
                  </a:lnTo>
                  <a:lnTo>
                    <a:pt x="83819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104140" h="165100">
                  <a:moveTo>
                    <a:pt x="19812" y="105155"/>
                  </a:moveTo>
                  <a:lnTo>
                    <a:pt x="103631" y="105155"/>
                  </a:lnTo>
                  <a:lnTo>
                    <a:pt x="103631" y="71627"/>
                  </a:lnTo>
                  <a:lnTo>
                    <a:pt x="19812" y="71627"/>
                  </a:lnTo>
                  <a:lnTo>
                    <a:pt x="19812" y="105155"/>
                  </a:lnTo>
                  <a:close/>
                </a:path>
                <a:path w="104140" h="165100">
                  <a:moveTo>
                    <a:pt x="19812" y="164591"/>
                  </a:moveTo>
                  <a:lnTo>
                    <a:pt x="103631" y="164591"/>
                  </a:lnTo>
                  <a:lnTo>
                    <a:pt x="103631" y="131063"/>
                  </a:lnTo>
                  <a:lnTo>
                    <a:pt x="19812" y="131063"/>
                  </a:lnTo>
                  <a:lnTo>
                    <a:pt x="19812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958596" y="4985003"/>
              <a:ext cx="10160" cy="114300"/>
            </a:xfrm>
            <a:custGeom>
              <a:avLst/>
              <a:gdLst/>
              <a:ahLst/>
              <a:cxnLst/>
              <a:rect l="l" t="t" r="r" b="b"/>
              <a:pathLst>
                <a:path w="10159" h="114300">
                  <a:moveTo>
                    <a:pt x="0" y="0"/>
                  </a:moveTo>
                  <a:lnTo>
                    <a:pt x="0" y="54991"/>
                  </a:lnTo>
                  <a:lnTo>
                    <a:pt x="9855" y="54991"/>
                  </a:lnTo>
                </a:path>
                <a:path w="10159" h="114300">
                  <a:moveTo>
                    <a:pt x="0" y="48768"/>
                  </a:moveTo>
                  <a:lnTo>
                    <a:pt x="0" y="114173"/>
                  </a:lnTo>
                  <a:lnTo>
                    <a:pt x="9855" y="114173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00427" y="4899659"/>
              <a:ext cx="559307" cy="315468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2058162" y="4977510"/>
              <a:ext cx="359410" cy="114300"/>
            </a:xfrm>
            <a:custGeom>
              <a:avLst/>
              <a:gdLst/>
              <a:ahLst/>
              <a:cxnLst/>
              <a:rect l="l" t="t" r="r" b="b"/>
              <a:pathLst>
                <a:path w="359410" h="114300">
                  <a:moveTo>
                    <a:pt x="114300" y="0"/>
                  </a:moveTo>
                  <a:lnTo>
                    <a:pt x="0" y="57022"/>
                  </a:lnTo>
                  <a:lnTo>
                    <a:pt x="114300" y="114300"/>
                  </a:lnTo>
                  <a:lnTo>
                    <a:pt x="114300" y="76218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359410" h="114300">
                  <a:moveTo>
                    <a:pt x="114300" y="38118"/>
                  </a:moveTo>
                  <a:lnTo>
                    <a:pt x="114300" y="76218"/>
                  </a:lnTo>
                  <a:lnTo>
                    <a:pt x="359156" y="76453"/>
                  </a:lnTo>
                  <a:lnTo>
                    <a:pt x="359282" y="38353"/>
                  </a:lnTo>
                  <a:lnTo>
                    <a:pt x="114300" y="38118"/>
                  </a:lnTo>
                  <a:close/>
                </a:path>
                <a:path w="35941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8"/>
                  </a:lnTo>
                  <a:lnTo>
                    <a:pt x="114300" y="38118"/>
                  </a:lnTo>
                  <a:lnTo>
                    <a:pt x="95250" y="38100"/>
                  </a:lnTo>
                  <a:close/>
                </a:path>
                <a:path w="35941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359152" y="5006339"/>
              <a:ext cx="141731" cy="152400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2417826" y="50360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0"/>
                  </a:moveTo>
                  <a:lnTo>
                    <a:pt x="21717" y="3810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59152" y="4959095"/>
              <a:ext cx="141731" cy="152400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2417826" y="4997957"/>
              <a:ext cx="22225" cy="38100"/>
            </a:xfrm>
            <a:custGeom>
              <a:avLst/>
              <a:gdLst/>
              <a:ahLst/>
              <a:cxnLst/>
              <a:rect l="l" t="t" r="r" b="b"/>
              <a:pathLst>
                <a:path w="22225" h="38100">
                  <a:moveTo>
                    <a:pt x="0" y="38100"/>
                  </a:moveTo>
                  <a:lnTo>
                    <a:pt x="21717" y="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0060" y="5301995"/>
              <a:ext cx="917448" cy="368808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93692" y="5283707"/>
              <a:ext cx="708660" cy="458724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37304" y="5329427"/>
              <a:ext cx="822960" cy="274320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4337304" y="5329427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60" y="274320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4530978" y="5336540"/>
            <a:ext cx="43560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alibri"/>
                <a:cs typeface="Calibri"/>
              </a:rPr>
              <a:t>W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4349432" y="5372036"/>
            <a:ext cx="2464435" cy="831215"/>
            <a:chOff x="4349432" y="5372036"/>
            <a:chExt cx="2464435" cy="831215"/>
          </a:xfrm>
        </p:grpSpPr>
        <p:sp>
          <p:nvSpPr>
            <p:cNvPr id="125" name="object 125"/>
            <p:cNvSpPr/>
            <p:nvPr/>
          </p:nvSpPr>
          <p:spPr>
            <a:xfrm>
              <a:off x="4362450" y="5385053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6680"/>
                  </a:moveTo>
                  <a:lnTo>
                    <a:pt x="74675" y="106680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6680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369308" y="5417819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90"/>
                  </a:lnTo>
                  <a:lnTo>
                    <a:pt x="7238" y="54990"/>
                  </a:lnTo>
                </a:path>
                <a:path w="7620" h="114300">
                  <a:moveTo>
                    <a:pt x="0" y="48767"/>
                  </a:moveTo>
                  <a:lnTo>
                    <a:pt x="0" y="114172"/>
                  </a:lnTo>
                  <a:lnTo>
                    <a:pt x="7238" y="11417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7" name="object 1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6356" y="5762243"/>
              <a:ext cx="917448" cy="36880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068568" y="5743955"/>
              <a:ext cx="571499" cy="458723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43600" y="5789675"/>
              <a:ext cx="822959" cy="274320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5943600" y="5789675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59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6056376" y="5796178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Day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4300728" y="5765291"/>
            <a:ext cx="1755775" cy="459105"/>
            <a:chOff x="4300728" y="5765291"/>
            <a:chExt cx="1755775" cy="459105"/>
          </a:xfrm>
        </p:grpSpPr>
        <p:sp>
          <p:nvSpPr>
            <p:cNvPr id="133" name="object 133"/>
            <p:cNvSpPr/>
            <p:nvPr/>
          </p:nvSpPr>
          <p:spPr>
            <a:xfrm>
              <a:off x="5968746" y="5845301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29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29540"/>
                  </a:lnTo>
                  <a:lnTo>
                    <a:pt x="15239" y="129540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5975604" y="5878067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20" h="114300">
                  <a:moveTo>
                    <a:pt x="0" y="48767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728" y="5783579"/>
              <a:ext cx="917448" cy="368807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364736" y="5765291"/>
              <a:ext cx="789432" cy="458723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7972" y="5811011"/>
              <a:ext cx="822960" cy="274319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4347972" y="5811011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19"/>
                  </a:moveTo>
                  <a:lnTo>
                    <a:pt x="822960" y="274319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4502022" y="5817819"/>
            <a:ext cx="5175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Mo</a:t>
            </a:r>
            <a:r>
              <a:rPr sz="1400" spc="-15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th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2699034" y="5775959"/>
            <a:ext cx="1762125" cy="459105"/>
            <a:chOff x="2699034" y="5775959"/>
            <a:chExt cx="1762125" cy="459105"/>
          </a:xfrm>
        </p:grpSpPr>
        <p:sp>
          <p:nvSpPr>
            <p:cNvPr id="141" name="object 141"/>
            <p:cNvSpPr/>
            <p:nvPr/>
          </p:nvSpPr>
          <p:spPr>
            <a:xfrm>
              <a:off x="4373117" y="5866637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29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29" h="165100">
                  <a:moveTo>
                    <a:pt x="15240" y="105156"/>
                  </a:moveTo>
                  <a:lnTo>
                    <a:pt x="74676" y="105156"/>
                  </a:lnTo>
                  <a:lnTo>
                    <a:pt x="74676" y="71628"/>
                  </a:lnTo>
                  <a:lnTo>
                    <a:pt x="15240" y="71628"/>
                  </a:lnTo>
                  <a:lnTo>
                    <a:pt x="15240" y="105156"/>
                  </a:lnTo>
                  <a:close/>
                </a:path>
                <a:path w="74929" h="165100">
                  <a:moveTo>
                    <a:pt x="15240" y="164592"/>
                  </a:moveTo>
                  <a:lnTo>
                    <a:pt x="74676" y="164592"/>
                  </a:lnTo>
                  <a:lnTo>
                    <a:pt x="74676" y="131064"/>
                  </a:lnTo>
                  <a:lnTo>
                    <a:pt x="15240" y="131064"/>
                  </a:lnTo>
                  <a:lnTo>
                    <a:pt x="15240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4379976" y="5899403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20" h="114300">
                  <a:moveTo>
                    <a:pt x="0" y="0"/>
                  </a:moveTo>
                  <a:lnTo>
                    <a:pt x="0" y="54978"/>
                  </a:lnTo>
                  <a:lnTo>
                    <a:pt x="7238" y="54978"/>
                  </a:lnTo>
                </a:path>
                <a:path w="7620" h="114300">
                  <a:moveTo>
                    <a:pt x="0" y="48768"/>
                  </a:moveTo>
                  <a:lnTo>
                    <a:pt x="0" y="114122"/>
                  </a:lnTo>
                  <a:lnTo>
                    <a:pt x="723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9034" y="5803468"/>
              <a:ext cx="899099" cy="350367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714243" y="5775959"/>
              <a:ext cx="868680" cy="458723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37103" y="5821679"/>
              <a:ext cx="822959" cy="274319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2737103" y="5821679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20"/>
                  </a:moveTo>
                  <a:lnTo>
                    <a:pt x="822959" y="274320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274320"/>
                  </a:lnTo>
                  <a:close/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" name="object 147"/>
          <p:cNvSpPr txBox="1"/>
          <p:nvPr/>
        </p:nvSpPr>
        <p:spPr>
          <a:xfrm>
            <a:off x="2849879" y="5828791"/>
            <a:ext cx="7061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Quarter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126266" y="5754623"/>
            <a:ext cx="1724025" cy="459105"/>
            <a:chOff x="1126266" y="5754623"/>
            <a:chExt cx="1724025" cy="459105"/>
          </a:xfrm>
        </p:grpSpPr>
        <p:sp>
          <p:nvSpPr>
            <p:cNvPr id="149" name="object 149"/>
            <p:cNvSpPr/>
            <p:nvPr/>
          </p:nvSpPr>
          <p:spPr>
            <a:xfrm>
              <a:off x="2762250" y="5877305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8"/>
                  </a:moveTo>
                  <a:lnTo>
                    <a:pt x="60960" y="33528"/>
                  </a:lnTo>
                  <a:lnTo>
                    <a:pt x="60960" y="0"/>
                  </a:lnTo>
                  <a:lnTo>
                    <a:pt x="0" y="0"/>
                  </a:lnTo>
                  <a:lnTo>
                    <a:pt x="0" y="33528"/>
                  </a:lnTo>
                  <a:close/>
                </a:path>
                <a:path w="74930" h="165100">
                  <a:moveTo>
                    <a:pt x="15239" y="105156"/>
                  </a:moveTo>
                  <a:lnTo>
                    <a:pt x="74675" y="105156"/>
                  </a:lnTo>
                  <a:lnTo>
                    <a:pt x="74675" y="71628"/>
                  </a:lnTo>
                  <a:lnTo>
                    <a:pt x="15239" y="71628"/>
                  </a:lnTo>
                  <a:lnTo>
                    <a:pt x="15239" y="105156"/>
                  </a:lnTo>
                  <a:close/>
                </a:path>
                <a:path w="74930" h="165100">
                  <a:moveTo>
                    <a:pt x="15239" y="164592"/>
                  </a:moveTo>
                  <a:lnTo>
                    <a:pt x="74675" y="164592"/>
                  </a:lnTo>
                  <a:lnTo>
                    <a:pt x="74675" y="131064"/>
                  </a:lnTo>
                  <a:lnTo>
                    <a:pt x="15239" y="131064"/>
                  </a:lnTo>
                  <a:lnTo>
                    <a:pt x="15239" y="164592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2769108" y="5910071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78"/>
                  </a:lnTo>
                  <a:lnTo>
                    <a:pt x="7239" y="54978"/>
                  </a:lnTo>
                </a:path>
                <a:path w="7619" h="114300">
                  <a:moveTo>
                    <a:pt x="0" y="48767"/>
                  </a:moveTo>
                  <a:lnTo>
                    <a:pt x="0" y="114122"/>
                  </a:lnTo>
                  <a:lnTo>
                    <a:pt x="7239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1" name="object 15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26266" y="5782132"/>
              <a:ext cx="899099" cy="350367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71016" y="5754623"/>
              <a:ext cx="609599" cy="458723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64336" y="5800343"/>
              <a:ext cx="822960" cy="274320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1164336" y="5800343"/>
              <a:ext cx="822960" cy="274320"/>
            </a:xfrm>
            <a:custGeom>
              <a:avLst/>
              <a:gdLst/>
              <a:ahLst/>
              <a:cxnLst/>
              <a:rect l="l" t="t" r="r" b="b"/>
              <a:pathLst>
                <a:path w="822960" h="274320">
                  <a:moveTo>
                    <a:pt x="0" y="274319"/>
                  </a:moveTo>
                  <a:lnTo>
                    <a:pt x="822960" y="274319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274319"/>
                  </a:lnTo>
                  <a:close/>
                </a:path>
              </a:pathLst>
            </a:custGeom>
            <a:ln w="9143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1408557" y="5806541"/>
            <a:ext cx="33655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0" dirty="0">
                <a:latin typeface="Calibri"/>
                <a:cs typeface="Calibri"/>
              </a:rPr>
              <a:t>Y</a:t>
            </a:r>
            <a:r>
              <a:rPr sz="1400" spc="-5" dirty="0">
                <a:latin typeface="Calibri"/>
                <a:cs typeface="Calibri"/>
              </a:rPr>
              <a:t>e</a:t>
            </a:r>
            <a:r>
              <a:rPr sz="1400" dirty="0">
                <a:latin typeface="Calibri"/>
                <a:cs typeface="Calibri"/>
              </a:rPr>
              <a:t>ar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56" name="object 156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68423" y="5833871"/>
            <a:ext cx="826008" cy="315468"/>
          </a:xfrm>
          <a:prstGeom prst="rect">
            <a:avLst/>
          </a:prstGeom>
        </p:spPr>
      </p:pic>
      <p:grpSp>
        <p:nvGrpSpPr>
          <p:cNvPr id="157" name="object 157"/>
          <p:cNvGrpSpPr/>
          <p:nvPr/>
        </p:nvGrpSpPr>
        <p:grpSpPr>
          <a:xfrm>
            <a:off x="1177988" y="4773167"/>
            <a:ext cx="7632700" cy="1365885"/>
            <a:chOff x="1177988" y="4773167"/>
            <a:chExt cx="7632700" cy="1365885"/>
          </a:xfrm>
        </p:grpSpPr>
        <p:sp>
          <p:nvSpPr>
            <p:cNvPr id="158" name="object 158"/>
            <p:cNvSpPr/>
            <p:nvPr/>
          </p:nvSpPr>
          <p:spPr>
            <a:xfrm>
              <a:off x="1191005" y="5855969"/>
              <a:ext cx="74930" cy="165100"/>
            </a:xfrm>
            <a:custGeom>
              <a:avLst/>
              <a:gdLst/>
              <a:ahLst/>
              <a:cxnLst/>
              <a:rect l="l" t="t" r="r" b="b"/>
              <a:pathLst>
                <a:path w="74930" h="165100">
                  <a:moveTo>
                    <a:pt x="0" y="33527"/>
                  </a:moveTo>
                  <a:lnTo>
                    <a:pt x="59436" y="33527"/>
                  </a:lnTo>
                  <a:lnTo>
                    <a:pt x="59436" y="0"/>
                  </a:lnTo>
                  <a:lnTo>
                    <a:pt x="0" y="0"/>
                  </a:lnTo>
                  <a:lnTo>
                    <a:pt x="0" y="33527"/>
                  </a:lnTo>
                  <a:close/>
                </a:path>
                <a:path w="74930" h="165100">
                  <a:moveTo>
                    <a:pt x="13715" y="105155"/>
                  </a:moveTo>
                  <a:lnTo>
                    <a:pt x="74675" y="105155"/>
                  </a:lnTo>
                  <a:lnTo>
                    <a:pt x="74675" y="71627"/>
                  </a:lnTo>
                  <a:lnTo>
                    <a:pt x="13715" y="71627"/>
                  </a:lnTo>
                  <a:lnTo>
                    <a:pt x="13715" y="105155"/>
                  </a:lnTo>
                  <a:close/>
                </a:path>
                <a:path w="74930" h="165100">
                  <a:moveTo>
                    <a:pt x="13715" y="164591"/>
                  </a:moveTo>
                  <a:lnTo>
                    <a:pt x="74675" y="164591"/>
                  </a:lnTo>
                  <a:lnTo>
                    <a:pt x="74675" y="129539"/>
                  </a:lnTo>
                  <a:lnTo>
                    <a:pt x="13715" y="129539"/>
                  </a:lnTo>
                  <a:lnTo>
                    <a:pt x="13715" y="16459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1196339" y="5888735"/>
              <a:ext cx="7620" cy="114300"/>
            </a:xfrm>
            <a:custGeom>
              <a:avLst/>
              <a:gdLst/>
              <a:ahLst/>
              <a:cxnLst/>
              <a:rect l="l" t="t" r="r" b="b"/>
              <a:pathLst>
                <a:path w="7619" h="114300">
                  <a:moveTo>
                    <a:pt x="0" y="0"/>
                  </a:moveTo>
                  <a:lnTo>
                    <a:pt x="0" y="54978"/>
                  </a:lnTo>
                  <a:lnTo>
                    <a:pt x="7188" y="54978"/>
                  </a:lnTo>
                </a:path>
                <a:path w="7619" h="114300">
                  <a:moveTo>
                    <a:pt x="0" y="48767"/>
                  </a:moveTo>
                  <a:lnTo>
                    <a:pt x="0" y="114122"/>
                  </a:lnTo>
                  <a:lnTo>
                    <a:pt x="7188" y="114122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0" name="object 16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024628" y="5823203"/>
              <a:ext cx="826008" cy="315468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5182361" y="5901042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300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7"/>
                  </a:lnTo>
                  <a:lnTo>
                    <a:pt x="626110" y="38607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50052" y="5928359"/>
              <a:ext cx="158496" cy="173736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5808725" y="5958077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3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750052" y="5859779"/>
              <a:ext cx="158496" cy="175259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5808725" y="5898641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3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45763" y="5823203"/>
              <a:ext cx="826008" cy="315468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3603497" y="5901042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300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7"/>
                  </a:lnTo>
                  <a:lnTo>
                    <a:pt x="626110" y="38607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171187" y="5928359"/>
              <a:ext cx="158496" cy="173736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4229861" y="5958077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3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171187" y="5859779"/>
              <a:ext cx="158496" cy="175259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4229861" y="5898641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3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2026158" y="5911710"/>
              <a:ext cx="626110" cy="114300"/>
            </a:xfrm>
            <a:custGeom>
              <a:avLst/>
              <a:gdLst/>
              <a:ahLst/>
              <a:cxnLst/>
              <a:rect l="l" t="t" r="r" b="b"/>
              <a:pathLst>
                <a:path w="626110" h="114300">
                  <a:moveTo>
                    <a:pt x="114300" y="0"/>
                  </a:moveTo>
                  <a:lnTo>
                    <a:pt x="0" y="57035"/>
                  </a:lnTo>
                  <a:lnTo>
                    <a:pt x="114300" y="114299"/>
                  </a:lnTo>
                  <a:lnTo>
                    <a:pt x="114300" y="76193"/>
                  </a:lnTo>
                  <a:lnTo>
                    <a:pt x="95250" y="76174"/>
                  </a:lnTo>
                  <a:lnTo>
                    <a:pt x="95250" y="38074"/>
                  </a:lnTo>
                  <a:lnTo>
                    <a:pt x="114300" y="38074"/>
                  </a:lnTo>
                  <a:lnTo>
                    <a:pt x="114300" y="0"/>
                  </a:lnTo>
                  <a:close/>
                </a:path>
                <a:path w="626110" h="114300">
                  <a:moveTo>
                    <a:pt x="114300" y="38093"/>
                  </a:moveTo>
                  <a:lnTo>
                    <a:pt x="114300" y="76193"/>
                  </a:lnTo>
                  <a:lnTo>
                    <a:pt x="626110" y="76707"/>
                  </a:lnTo>
                  <a:lnTo>
                    <a:pt x="626110" y="38607"/>
                  </a:lnTo>
                  <a:lnTo>
                    <a:pt x="114300" y="38093"/>
                  </a:lnTo>
                  <a:close/>
                </a:path>
                <a:path w="626110" h="114300">
                  <a:moveTo>
                    <a:pt x="95250" y="38074"/>
                  </a:moveTo>
                  <a:lnTo>
                    <a:pt x="95250" y="76174"/>
                  </a:lnTo>
                  <a:lnTo>
                    <a:pt x="114300" y="76193"/>
                  </a:lnTo>
                  <a:lnTo>
                    <a:pt x="114300" y="38093"/>
                  </a:lnTo>
                  <a:lnTo>
                    <a:pt x="95250" y="38074"/>
                  </a:lnTo>
                  <a:close/>
                </a:path>
                <a:path w="626110" h="114300">
                  <a:moveTo>
                    <a:pt x="114300" y="38074"/>
                  </a:moveTo>
                  <a:lnTo>
                    <a:pt x="95250" y="38074"/>
                  </a:lnTo>
                  <a:lnTo>
                    <a:pt x="114300" y="3809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2323" y="5939027"/>
              <a:ext cx="158495" cy="173736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2650997" y="5968745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0"/>
                  </a:moveTo>
                  <a:lnTo>
                    <a:pt x="37972" y="5988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592323" y="5870447"/>
              <a:ext cx="158495" cy="175260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2650997" y="5909309"/>
              <a:ext cx="38100" cy="60325"/>
            </a:xfrm>
            <a:custGeom>
              <a:avLst/>
              <a:gdLst/>
              <a:ahLst/>
              <a:cxnLst/>
              <a:rect l="l" t="t" r="r" b="b"/>
              <a:pathLst>
                <a:path w="38100" h="60325">
                  <a:moveTo>
                    <a:pt x="0" y="59880"/>
                  </a:moveTo>
                  <a:lnTo>
                    <a:pt x="37972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257543" y="5446775"/>
              <a:ext cx="123444" cy="341375"/>
            </a:xfrm>
            <a:prstGeom prst="rect">
              <a:avLst/>
            </a:prstGeom>
          </p:spPr>
        </p:pic>
        <p:sp>
          <p:nvSpPr>
            <p:cNvPr id="178" name="object 178"/>
            <p:cNvSpPr/>
            <p:nvPr/>
          </p:nvSpPr>
          <p:spPr>
            <a:xfrm>
              <a:off x="6319266" y="5485637"/>
              <a:ext cx="1270" cy="236220"/>
            </a:xfrm>
            <a:custGeom>
              <a:avLst/>
              <a:gdLst/>
              <a:ahLst/>
              <a:cxnLst/>
              <a:rect l="l" t="t" r="r" b="b"/>
              <a:pathLst>
                <a:path w="1270" h="236220">
                  <a:moveTo>
                    <a:pt x="381" y="-19050"/>
                  </a:moveTo>
                  <a:lnTo>
                    <a:pt x="381" y="255117"/>
                  </a:lnTo>
                </a:path>
              </a:pathLst>
            </a:custGeom>
            <a:ln w="38862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9" name="object 17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185916" y="5681471"/>
              <a:ext cx="178308" cy="137159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6247637" y="5720333"/>
              <a:ext cx="71120" cy="14604"/>
            </a:xfrm>
            <a:custGeom>
              <a:avLst/>
              <a:gdLst/>
              <a:ahLst/>
              <a:cxnLst/>
              <a:rect l="l" t="t" r="r" b="b"/>
              <a:pathLst>
                <a:path w="71120" h="14604">
                  <a:moveTo>
                    <a:pt x="70738" y="0"/>
                  </a:moveTo>
                  <a:lnTo>
                    <a:pt x="0" y="1431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272784" y="5681471"/>
              <a:ext cx="178308" cy="137159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6319266" y="5720333"/>
              <a:ext cx="71120" cy="14604"/>
            </a:xfrm>
            <a:custGeom>
              <a:avLst/>
              <a:gdLst/>
              <a:ahLst/>
              <a:cxnLst/>
              <a:rect l="l" t="t" r="r" b="b"/>
              <a:pathLst>
                <a:path w="71120" h="14604">
                  <a:moveTo>
                    <a:pt x="0" y="0"/>
                  </a:moveTo>
                  <a:lnTo>
                    <a:pt x="70738" y="1431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024628" y="5349239"/>
              <a:ext cx="1344168" cy="315468"/>
            </a:xfrm>
            <a:prstGeom prst="rect">
              <a:avLst/>
            </a:prstGeom>
          </p:spPr>
        </p:pic>
        <p:sp>
          <p:nvSpPr>
            <p:cNvPr id="184" name="object 184"/>
            <p:cNvSpPr/>
            <p:nvPr/>
          </p:nvSpPr>
          <p:spPr>
            <a:xfrm>
              <a:off x="5182361" y="5427090"/>
              <a:ext cx="1143000" cy="114300"/>
            </a:xfrm>
            <a:custGeom>
              <a:avLst/>
              <a:gdLst/>
              <a:ahLst/>
              <a:cxnLst/>
              <a:rect l="l" t="t" r="r" b="b"/>
              <a:pathLst>
                <a:path w="1143000" h="114300">
                  <a:moveTo>
                    <a:pt x="114300" y="0"/>
                  </a:moveTo>
                  <a:lnTo>
                    <a:pt x="0" y="57023"/>
                  </a:lnTo>
                  <a:lnTo>
                    <a:pt x="114300" y="114300"/>
                  </a:lnTo>
                  <a:lnTo>
                    <a:pt x="114300" y="76211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1143000" h="114300">
                  <a:moveTo>
                    <a:pt x="114300" y="38111"/>
                  </a:moveTo>
                  <a:lnTo>
                    <a:pt x="114300" y="76211"/>
                  </a:lnTo>
                  <a:lnTo>
                    <a:pt x="1143000" y="76835"/>
                  </a:lnTo>
                  <a:lnTo>
                    <a:pt x="1143000" y="38735"/>
                  </a:lnTo>
                  <a:lnTo>
                    <a:pt x="114300" y="38111"/>
                  </a:lnTo>
                  <a:close/>
                </a:path>
                <a:path w="1143000" h="114300">
                  <a:moveTo>
                    <a:pt x="95250" y="38100"/>
                  </a:moveTo>
                  <a:lnTo>
                    <a:pt x="95250" y="76200"/>
                  </a:lnTo>
                  <a:lnTo>
                    <a:pt x="114300" y="76211"/>
                  </a:lnTo>
                  <a:lnTo>
                    <a:pt x="114300" y="38111"/>
                  </a:lnTo>
                  <a:lnTo>
                    <a:pt x="95250" y="38100"/>
                  </a:lnTo>
                  <a:close/>
                </a:path>
                <a:path w="1143000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114300" y="38111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5" name="object 1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572755" y="4773167"/>
              <a:ext cx="1237488" cy="780288"/>
            </a:xfrm>
            <a:prstGeom prst="rect">
              <a:avLst/>
            </a:prstGeom>
          </p:spPr>
        </p:pic>
        <p:pic>
          <p:nvPicPr>
            <p:cNvPr id="186" name="object 1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630667" y="4939283"/>
              <a:ext cx="947927" cy="672083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619999" y="4800599"/>
              <a:ext cx="1143000" cy="685800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7619999" y="4800599"/>
              <a:ext cx="1143000" cy="685800"/>
            </a:xfrm>
            <a:custGeom>
              <a:avLst/>
              <a:gdLst/>
              <a:ahLst/>
              <a:cxnLst/>
              <a:rect l="l" t="t" r="r" b="b"/>
              <a:pathLst>
                <a:path w="1143000" h="685800">
                  <a:moveTo>
                    <a:pt x="0" y="171450"/>
                  </a:moveTo>
                  <a:lnTo>
                    <a:pt x="171450" y="0"/>
                  </a:lnTo>
                  <a:lnTo>
                    <a:pt x="1143000" y="0"/>
                  </a:lnTo>
                  <a:lnTo>
                    <a:pt x="1143000" y="514350"/>
                  </a:lnTo>
                  <a:lnTo>
                    <a:pt x="971550" y="685800"/>
                  </a:lnTo>
                  <a:lnTo>
                    <a:pt x="0" y="685800"/>
                  </a:lnTo>
                  <a:lnTo>
                    <a:pt x="0" y="171450"/>
                  </a:lnTo>
                  <a:close/>
                </a:path>
                <a:path w="1143000" h="685800">
                  <a:moveTo>
                    <a:pt x="0" y="171450"/>
                  </a:moveTo>
                  <a:lnTo>
                    <a:pt x="971550" y="171450"/>
                  </a:lnTo>
                  <a:lnTo>
                    <a:pt x="1143000" y="0"/>
                  </a:lnTo>
                </a:path>
                <a:path w="1143000" h="685800">
                  <a:moveTo>
                    <a:pt x="971550" y="171450"/>
                  </a:moveTo>
                  <a:lnTo>
                    <a:pt x="971550" y="685800"/>
                  </a:lnTo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9" name="object 189"/>
          <p:cNvSpPr txBox="1"/>
          <p:nvPr/>
        </p:nvSpPr>
        <p:spPr>
          <a:xfrm>
            <a:off x="7620000" y="4991811"/>
            <a:ext cx="9671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Sales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0" name="object 190"/>
          <p:cNvSpPr txBox="1"/>
          <p:nvPr/>
        </p:nvSpPr>
        <p:spPr>
          <a:xfrm>
            <a:off x="7620000" y="5205729"/>
            <a:ext cx="9671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1400" spc="-15" dirty="0">
                <a:latin typeface="Calibri"/>
                <a:cs typeface="Calibri"/>
              </a:rPr>
              <a:t>Turnover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1" name="object 191"/>
          <p:cNvGrpSpPr/>
          <p:nvPr/>
        </p:nvGrpSpPr>
        <p:grpSpPr>
          <a:xfrm>
            <a:off x="5820155" y="3627120"/>
            <a:ext cx="2818130" cy="2383790"/>
            <a:chOff x="5820155" y="3627120"/>
            <a:chExt cx="2818130" cy="2383790"/>
          </a:xfrm>
        </p:grpSpPr>
        <p:pic>
          <p:nvPicPr>
            <p:cNvPr id="192" name="object 192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577327" y="5201412"/>
              <a:ext cx="1060703" cy="102107"/>
            </a:xfrm>
            <a:prstGeom prst="rect">
              <a:avLst/>
            </a:prstGeom>
          </p:spPr>
        </p:pic>
        <p:sp>
          <p:nvSpPr>
            <p:cNvPr id="193" name="object 193"/>
            <p:cNvSpPr/>
            <p:nvPr/>
          </p:nvSpPr>
          <p:spPr>
            <a:xfrm>
              <a:off x="7620000" y="5228844"/>
              <a:ext cx="971550" cy="7620"/>
            </a:xfrm>
            <a:custGeom>
              <a:avLst/>
              <a:gdLst/>
              <a:ahLst/>
              <a:cxnLst/>
              <a:rect l="l" t="t" r="r" b="b"/>
              <a:pathLst>
                <a:path w="971550" h="7620">
                  <a:moveTo>
                    <a:pt x="0" y="7111"/>
                  </a:moveTo>
                  <a:lnTo>
                    <a:pt x="971550" y="0"/>
                  </a:lnTo>
                </a:path>
              </a:pathLst>
            </a:custGeom>
            <a:ln w="9144">
              <a:solidFill>
                <a:srgbClr val="7C5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194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629400" y="4974336"/>
              <a:ext cx="1037844" cy="339851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6691122" y="5013198"/>
              <a:ext cx="929640" cy="217804"/>
            </a:xfrm>
            <a:custGeom>
              <a:avLst/>
              <a:gdLst/>
              <a:ahLst/>
              <a:cxnLst/>
              <a:rect l="l" t="t" r="r" b="b"/>
              <a:pathLst>
                <a:path w="929640" h="217804">
                  <a:moveTo>
                    <a:pt x="929639" y="217424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644639" y="4244340"/>
              <a:ext cx="1031748" cy="1065276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6706361" y="4283202"/>
              <a:ext cx="914400" cy="946785"/>
            </a:xfrm>
            <a:custGeom>
              <a:avLst/>
              <a:gdLst/>
              <a:ahLst/>
              <a:cxnLst/>
              <a:rect l="l" t="t" r="r" b="b"/>
              <a:pathLst>
                <a:path w="914400" h="946785">
                  <a:moveTo>
                    <a:pt x="914400" y="94678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705600" y="5195316"/>
              <a:ext cx="969263" cy="815340"/>
            </a:xfrm>
            <a:prstGeom prst="rect">
              <a:avLst/>
            </a:prstGeom>
          </p:spPr>
        </p:pic>
        <p:sp>
          <p:nvSpPr>
            <p:cNvPr id="199" name="object 199"/>
            <p:cNvSpPr/>
            <p:nvPr/>
          </p:nvSpPr>
          <p:spPr>
            <a:xfrm>
              <a:off x="6767322" y="5229606"/>
              <a:ext cx="853440" cy="697230"/>
            </a:xfrm>
            <a:custGeom>
              <a:avLst/>
              <a:gdLst/>
              <a:ahLst/>
              <a:cxnLst/>
              <a:rect l="l" t="t" r="r" b="b"/>
              <a:pathLst>
                <a:path w="853440" h="697229">
                  <a:moveTo>
                    <a:pt x="853439" y="0"/>
                  </a:moveTo>
                  <a:lnTo>
                    <a:pt x="0" y="69695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0" name="object 20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820155" y="3630168"/>
              <a:ext cx="1008888" cy="399288"/>
            </a:xfrm>
            <a:prstGeom prst="rect">
              <a:avLst/>
            </a:prstGeom>
          </p:spPr>
        </p:pic>
        <p:pic>
          <p:nvPicPr>
            <p:cNvPr id="201" name="object 20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966459" y="3627120"/>
              <a:ext cx="714756" cy="458724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867399" y="3657600"/>
              <a:ext cx="914400" cy="304800"/>
            </a:xfrm>
            <a:prstGeom prst="rect">
              <a:avLst/>
            </a:prstGeom>
          </p:spPr>
        </p:pic>
      </p:grpSp>
      <p:sp>
        <p:nvSpPr>
          <p:cNvPr id="203" name="object 203"/>
          <p:cNvSpPr txBox="1"/>
          <p:nvPr/>
        </p:nvSpPr>
        <p:spPr>
          <a:xfrm>
            <a:off x="5867400" y="3657600"/>
            <a:ext cx="914400" cy="304800"/>
          </a:xfrm>
          <a:prstGeom prst="rect">
            <a:avLst/>
          </a:prstGeom>
          <a:ln w="9144">
            <a:solidFill>
              <a:srgbClr val="497DBA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249554">
              <a:lnSpc>
                <a:spcPct val="100000"/>
              </a:lnSpc>
              <a:spcBef>
                <a:spcPts val="275"/>
              </a:spcBef>
            </a:pPr>
            <a:r>
              <a:rPr sz="1400" spc="-10" dirty="0">
                <a:latin typeface="Calibri"/>
                <a:cs typeface="Calibri"/>
              </a:rPr>
              <a:t>Client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04" name="object 204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6720840" y="3771900"/>
            <a:ext cx="958596" cy="1533144"/>
          </a:xfrm>
          <a:prstGeom prst="rect">
            <a:avLst/>
          </a:prstGeom>
        </p:spPr>
      </p:pic>
      <p:grpSp>
        <p:nvGrpSpPr>
          <p:cNvPr id="205" name="object 205"/>
          <p:cNvGrpSpPr/>
          <p:nvPr/>
        </p:nvGrpSpPr>
        <p:grpSpPr>
          <a:xfrm>
            <a:off x="4718303" y="3685032"/>
            <a:ext cx="1211580" cy="612775"/>
            <a:chOff x="4718303" y="3685032"/>
            <a:chExt cx="1211580" cy="612775"/>
          </a:xfrm>
        </p:grpSpPr>
        <p:pic>
          <p:nvPicPr>
            <p:cNvPr id="206" name="object 20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834127" y="3761232"/>
              <a:ext cx="1019555" cy="123443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4877561" y="3800094"/>
              <a:ext cx="915669" cy="0"/>
            </a:xfrm>
            <a:custGeom>
              <a:avLst/>
              <a:gdLst/>
              <a:ahLst/>
              <a:cxnLst/>
              <a:rect l="l" t="t" r="r" b="b"/>
              <a:pathLst>
                <a:path w="915670">
                  <a:moveTo>
                    <a:pt x="0" y="0"/>
                  </a:moveTo>
                  <a:lnTo>
                    <a:pt x="915162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8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736335" y="3685032"/>
              <a:ext cx="193548" cy="188975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5791961" y="3723894"/>
              <a:ext cx="76200" cy="71120"/>
            </a:xfrm>
            <a:custGeom>
              <a:avLst/>
              <a:gdLst/>
              <a:ahLst/>
              <a:cxnLst/>
              <a:rect l="l" t="t" r="r" b="b"/>
              <a:pathLst>
                <a:path w="76200" h="71120">
                  <a:moveTo>
                    <a:pt x="0" y="70738"/>
                  </a:moveTo>
                  <a:lnTo>
                    <a:pt x="76200" y="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0" name="object 210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731763" y="3771900"/>
              <a:ext cx="198120" cy="265175"/>
            </a:xfrm>
            <a:prstGeom prst="rect">
              <a:avLst/>
            </a:prstGeom>
          </p:spPr>
        </p:pic>
        <p:sp>
          <p:nvSpPr>
            <p:cNvPr id="211" name="object 211"/>
            <p:cNvSpPr/>
            <p:nvPr/>
          </p:nvSpPr>
          <p:spPr>
            <a:xfrm>
              <a:off x="5791961" y="3800094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15239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2" name="object 212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718303" y="3791712"/>
              <a:ext cx="315467" cy="505968"/>
            </a:xfrm>
            <a:prstGeom prst="rect">
              <a:avLst/>
            </a:prstGeom>
          </p:spPr>
        </p:pic>
        <p:sp>
          <p:nvSpPr>
            <p:cNvPr id="213" name="object 213"/>
            <p:cNvSpPr/>
            <p:nvPr/>
          </p:nvSpPr>
          <p:spPr>
            <a:xfrm>
              <a:off x="4819141" y="3810762"/>
              <a:ext cx="114300" cy="306070"/>
            </a:xfrm>
            <a:custGeom>
              <a:avLst/>
              <a:gdLst/>
              <a:ahLst/>
              <a:cxnLst/>
              <a:rect l="l" t="t" r="r" b="b"/>
              <a:pathLst>
                <a:path w="114300" h="306070">
                  <a:moveTo>
                    <a:pt x="0" y="191135"/>
                  </a:moveTo>
                  <a:lnTo>
                    <a:pt x="56896" y="305562"/>
                  </a:lnTo>
                  <a:lnTo>
                    <a:pt x="104722" y="210438"/>
                  </a:lnTo>
                  <a:lnTo>
                    <a:pt x="76200" y="210438"/>
                  </a:lnTo>
                  <a:lnTo>
                    <a:pt x="38100" y="210312"/>
                  </a:lnTo>
                  <a:lnTo>
                    <a:pt x="38146" y="191219"/>
                  </a:lnTo>
                  <a:lnTo>
                    <a:pt x="0" y="191135"/>
                  </a:lnTo>
                  <a:close/>
                </a:path>
                <a:path w="114300" h="306070">
                  <a:moveTo>
                    <a:pt x="38146" y="191219"/>
                  </a:moveTo>
                  <a:lnTo>
                    <a:pt x="38100" y="210312"/>
                  </a:lnTo>
                  <a:lnTo>
                    <a:pt x="76200" y="210438"/>
                  </a:lnTo>
                  <a:lnTo>
                    <a:pt x="76246" y="191304"/>
                  </a:lnTo>
                  <a:lnTo>
                    <a:pt x="38146" y="191219"/>
                  </a:lnTo>
                  <a:close/>
                </a:path>
                <a:path w="114300" h="306070">
                  <a:moveTo>
                    <a:pt x="76246" y="191304"/>
                  </a:moveTo>
                  <a:lnTo>
                    <a:pt x="76200" y="210438"/>
                  </a:lnTo>
                  <a:lnTo>
                    <a:pt x="104722" y="210438"/>
                  </a:lnTo>
                  <a:lnTo>
                    <a:pt x="114300" y="191388"/>
                  </a:lnTo>
                  <a:lnTo>
                    <a:pt x="76246" y="191304"/>
                  </a:lnTo>
                  <a:close/>
                </a:path>
                <a:path w="114300" h="306070">
                  <a:moveTo>
                    <a:pt x="76708" y="0"/>
                  </a:moveTo>
                  <a:lnTo>
                    <a:pt x="38608" y="0"/>
                  </a:lnTo>
                  <a:lnTo>
                    <a:pt x="38146" y="191219"/>
                  </a:lnTo>
                  <a:lnTo>
                    <a:pt x="76246" y="191304"/>
                  </a:lnTo>
                  <a:lnTo>
                    <a:pt x="76708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4" name="object 214"/>
          <p:cNvGrpSpPr/>
          <p:nvPr/>
        </p:nvGrpSpPr>
        <p:grpSpPr>
          <a:xfrm>
            <a:off x="6763511" y="3791711"/>
            <a:ext cx="876300" cy="1457325"/>
            <a:chOff x="6763511" y="3791711"/>
            <a:chExt cx="876300" cy="1457325"/>
          </a:xfrm>
        </p:grpSpPr>
        <p:sp>
          <p:nvSpPr>
            <p:cNvPr id="215" name="object 215"/>
            <p:cNvSpPr/>
            <p:nvPr/>
          </p:nvSpPr>
          <p:spPr>
            <a:xfrm>
              <a:off x="6782561" y="3810761"/>
              <a:ext cx="838200" cy="1419225"/>
            </a:xfrm>
            <a:custGeom>
              <a:avLst/>
              <a:gdLst/>
              <a:ahLst/>
              <a:cxnLst/>
              <a:rect l="l" t="t" r="r" b="b"/>
              <a:pathLst>
                <a:path w="838200" h="1419225">
                  <a:moveTo>
                    <a:pt x="838200" y="1419225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806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6" name="object 21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873239" y="4305299"/>
              <a:ext cx="489203" cy="199644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6934961" y="4344161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381000" y="0"/>
                  </a:moveTo>
                  <a:lnTo>
                    <a:pt x="0" y="76200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8" name="object 21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025639" y="4244339"/>
              <a:ext cx="199644" cy="413004"/>
            </a:xfrm>
            <a:prstGeom prst="rect">
              <a:avLst/>
            </a:prstGeom>
          </p:spPr>
        </p:pic>
        <p:sp>
          <p:nvSpPr>
            <p:cNvPr id="219" name="object 219"/>
            <p:cNvSpPr/>
            <p:nvPr/>
          </p:nvSpPr>
          <p:spPr>
            <a:xfrm>
              <a:off x="7087361" y="4267961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76200" y="0"/>
                  </a:moveTo>
                  <a:lnTo>
                    <a:pt x="0" y="304800"/>
                  </a:lnTo>
                </a:path>
              </a:pathLst>
            </a:custGeom>
            <a:ln w="38100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231505" cy="240919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40" dirty="0">
                <a:latin typeface="Trebuchet MS"/>
                <a:cs typeface="Trebuchet MS"/>
              </a:rPr>
              <a:t>Cl</a:t>
            </a:r>
            <a:r>
              <a:rPr sz="3200" spc="-15" dirty="0">
                <a:latin typeface="Trebuchet MS"/>
                <a:cs typeface="Trebuchet MS"/>
              </a:rPr>
              <a:t>i</a:t>
            </a:r>
            <a:r>
              <a:rPr sz="3200" spc="-220" dirty="0">
                <a:latin typeface="Trebuchet MS"/>
                <a:cs typeface="Trebuchet MS"/>
              </a:rPr>
              <a:t>m</a:t>
            </a:r>
            <a:r>
              <a:rPr sz="3200" spc="-145" dirty="0">
                <a:latin typeface="Trebuchet MS"/>
                <a:cs typeface="Trebuchet MS"/>
              </a:rPr>
              <a:t>b</a:t>
            </a:r>
            <a:r>
              <a:rPr sz="3200" spc="-195" dirty="0">
                <a:latin typeface="Trebuchet MS"/>
                <a:cs typeface="Trebuchet MS"/>
              </a:rPr>
              <a:t>in</a:t>
            </a:r>
            <a:r>
              <a:rPr sz="3200" spc="-225" dirty="0">
                <a:latin typeface="Trebuchet MS"/>
                <a:cs typeface="Trebuchet MS"/>
              </a:rPr>
              <a:t>g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ab</a:t>
            </a:r>
            <a:r>
              <a:rPr sz="3200" spc="-180" dirty="0">
                <a:latin typeface="Trebuchet MS"/>
                <a:cs typeface="Trebuchet MS"/>
              </a:rPr>
              <a:t>o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to</a:t>
            </a:r>
            <a:r>
              <a:rPr sz="3200" spc="-125" dirty="0">
                <a:latin typeface="Trebuchet MS"/>
                <a:cs typeface="Trebuchet MS"/>
              </a:rPr>
              <a:t>p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hi</a:t>
            </a:r>
            <a:r>
              <a:rPr sz="3200" spc="-220" dirty="0">
                <a:latin typeface="Trebuchet MS"/>
                <a:cs typeface="Trebuchet MS"/>
              </a:rPr>
              <a:t>e</a:t>
            </a:r>
            <a:r>
              <a:rPr sz="3200" spc="-95" dirty="0">
                <a:latin typeface="Trebuchet MS"/>
                <a:cs typeface="Trebuchet MS"/>
              </a:rPr>
              <a:t>ra</a:t>
            </a:r>
            <a:r>
              <a:rPr sz="3200" spc="-160" dirty="0">
                <a:latin typeface="Trebuchet MS"/>
                <a:cs typeface="Trebuchet MS"/>
              </a:rPr>
              <a:t>r</a:t>
            </a:r>
            <a:r>
              <a:rPr sz="3200" spc="-204" dirty="0">
                <a:latin typeface="Trebuchet MS"/>
                <a:cs typeface="Trebuchet MS"/>
              </a:rPr>
              <a:t>chic</a:t>
            </a:r>
            <a:r>
              <a:rPr sz="3200" spc="-254" dirty="0">
                <a:latin typeface="Trebuchet MS"/>
                <a:cs typeface="Trebuchet MS"/>
              </a:rPr>
              <a:t>a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r</a:t>
            </a:r>
            <a:r>
              <a:rPr sz="3200" spc="-160" dirty="0">
                <a:latin typeface="Trebuchet MS"/>
                <a:cs typeface="Trebuchet MS"/>
              </a:rPr>
              <a:t>ol</a:t>
            </a:r>
            <a:r>
              <a:rPr sz="3200" spc="-125" dirty="0">
                <a:latin typeface="Trebuchet MS"/>
                <a:cs typeface="Trebuchet MS"/>
              </a:rPr>
              <a:t>l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160" dirty="0">
                <a:latin typeface="Trebuchet MS"/>
                <a:cs typeface="Trebuchet MS"/>
              </a:rPr>
              <a:t>up</a:t>
            </a:r>
            <a:endParaRPr sz="32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04" dirty="0">
                <a:solidFill>
                  <a:srgbClr val="1F487C"/>
                </a:solidFill>
                <a:latin typeface="Trebuchet MS"/>
                <a:cs typeface="Trebuchet MS"/>
              </a:rPr>
              <a:t>an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5" dirty="0">
                <a:solidFill>
                  <a:srgbClr val="1F487C"/>
                </a:solidFill>
                <a:latin typeface="Trebuchet MS"/>
                <a:cs typeface="Trebuchet MS"/>
              </a:rPr>
              <a:t>ultimate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case,</a:t>
            </a:r>
            <a:r>
              <a:rPr sz="2800" spc="-3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hierarchical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roll-up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above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top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level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an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attribute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hierarchy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(attribute</a:t>
            </a:r>
            <a:r>
              <a:rPr sz="2800" spc="-3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“ALL”)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vi</a:t>
            </a:r>
            <a:r>
              <a:rPr sz="2800" b="1" spc="-12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b="1" spc="-7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as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co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2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ti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dimension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l 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roll-up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954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-5" dirty="0"/>
              <a:t>Roll-up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587240" y="3802379"/>
            <a:ext cx="958850" cy="391795"/>
            <a:chOff x="4587240" y="3802379"/>
            <a:chExt cx="958850" cy="3917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7240" y="3802379"/>
              <a:ext cx="958596" cy="3611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40224" y="3814571"/>
              <a:ext cx="452627" cy="3794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4484" y="3829811"/>
              <a:ext cx="864108" cy="2667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634484" y="3829811"/>
              <a:ext cx="864235" cy="266700"/>
            </a:xfrm>
            <a:custGeom>
              <a:avLst/>
              <a:gdLst/>
              <a:ahLst/>
              <a:cxnLst/>
              <a:rect l="l" t="t" r="r" b="b"/>
              <a:pathLst>
                <a:path w="864235" h="266700">
                  <a:moveTo>
                    <a:pt x="0" y="266700"/>
                  </a:moveTo>
                  <a:lnTo>
                    <a:pt x="864108" y="266700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6700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955285" y="3858514"/>
            <a:ext cx="2254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ALL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5244" y="4322064"/>
            <a:ext cx="958850" cy="391795"/>
            <a:chOff x="3095244" y="4322064"/>
            <a:chExt cx="958850" cy="39179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5244" y="4322064"/>
              <a:ext cx="958595" cy="3627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37916" y="4335780"/>
              <a:ext cx="871728" cy="3779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2488" y="4349496"/>
              <a:ext cx="864108" cy="2682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42488" y="4349496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3"/>
                  </a:moveTo>
                  <a:lnTo>
                    <a:pt x="864108" y="268223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52978" y="4379163"/>
            <a:ext cx="6457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Electronics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38157" y="4927015"/>
            <a:ext cx="940435" cy="382905"/>
            <a:chOff x="2138157" y="4927015"/>
            <a:chExt cx="940435" cy="38290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8157" y="4927015"/>
              <a:ext cx="940337" cy="34457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16479" y="4931664"/>
              <a:ext cx="582168" cy="37795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6271" y="4945380"/>
              <a:ext cx="864108" cy="2682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176271" y="4945380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8" y="268224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430272" y="4974793"/>
            <a:ext cx="35433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V</a:t>
            </a:r>
            <a:r>
              <a:rPr sz="1100" dirty="0">
                <a:latin typeface="Calibri"/>
                <a:cs typeface="Calibri"/>
              </a:rPr>
              <a:t>i</a:t>
            </a:r>
            <a:r>
              <a:rPr sz="1100" spc="-10" dirty="0">
                <a:latin typeface="Calibri"/>
                <a:cs typeface="Calibri"/>
              </a:rPr>
              <a:t>d</a:t>
            </a:r>
            <a:r>
              <a:rPr sz="1100" dirty="0">
                <a:latin typeface="Calibri"/>
                <a:cs typeface="Calibri"/>
              </a:rPr>
              <a:t>eo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209544" y="4917947"/>
            <a:ext cx="958850" cy="391795"/>
            <a:chOff x="3209544" y="4917947"/>
            <a:chExt cx="958850" cy="39179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9544" y="4917947"/>
              <a:ext cx="958595" cy="36271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95472" y="4931663"/>
              <a:ext cx="586739" cy="3779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56788" y="4945379"/>
              <a:ext cx="864108" cy="2682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256788" y="4945379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8" y="268224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509264" y="4974793"/>
            <a:ext cx="35941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Aud</a:t>
            </a:r>
            <a:r>
              <a:rPr sz="1100" dirty="0">
                <a:latin typeface="Calibri"/>
                <a:cs typeface="Calibri"/>
              </a:rPr>
              <a:t>io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510269" y="5442203"/>
            <a:ext cx="940435" cy="547370"/>
            <a:chOff x="1510269" y="5442203"/>
            <a:chExt cx="940435" cy="547370"/>
          </a:xfrm>
        </p:grpSpPr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0269" y="5522899"/>
              <a:ext cx="940337" cy="34457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06295" y="5442203"/>
              <a:ext cx="746760" cy="54711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48383" y="5541263"/>
              <a:ext cx="864108" cy="2682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548383" y="5541263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8" y="268224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548383" y="5541264"/>
            <a:ext cx="864235" cy="268605"/>
          </a:xfrm>
          <a:prstGeom prst="rect">
            <a:avLst/>
          </a:prstGeom>
          <a:ln w="9144">
            <a:solidFill>
              <a:srgbClr val="97B85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994"/>
              </a:lnSpc>
            </a:pPr>
            <a:r>
              <a:rPr sz="1100" spc="-5" dirty="0">
                <a:latin typeface="Calibri"/>
                <a:cs typeface="Calibri"/>
              </a:rPr>
              <a:t>Video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ts val="1115"/>
              </a:lnSpc>
            </a:pPr>
            <a:r>
              <a:rPr sz="1100" dirty="0">
                <a:latin typeface="Calibri"/>
                <a:cs typeface="Calibri"/>
              </a:rPr>
              <a:t>recorder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436876" y="5513832"/>
            <a:ext cx="958850" cy="391795"/>
            <a:chOff x="2436876" y="5513832"/>
            <a:chExt cx="958850" cy="391795"/>
          </a:xfrm>
        </p:grpSpPr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6876" y="5513832"/>
              <a:ext cx="958596" cy="36271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74976" y="5526024"/>
              <a:ext cx="882396" cy="3794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84120" y="5541264"/>
              <a:ext cx="864107" cy="268224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484120" y="5541264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7" y="268224"/>
                  </a:lnTo>
                  <a:lnTo>
                    <a:pt x="864107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589657" y="5570626"/>
            <a:ext cx="6546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alibri"/>
                <a:cs typeface="Calibri"/>
              </a:rPr>
              <a:t>Ca</a:t>
            </a:r>
            <a:r>
              <a:rPr sz="1100" dirty="0">
                <a:latin typeface="Calibri"/>
                <a:cs typeface="Calibri"/>
              </a:rPr>
              <a:t>mc</a:t>
            </a:r>
            <a:r>
              <a:rPr sz="1100" spc="5" dirty="0">
                <a:latin typeface="Calibri"/>
                <a:cs typeface="Calibri"/>
              </a:rPr>
              <a:t>o</a:t>
            </a:r>
            <a:r>
              <a:rPr sz="1100" dirty="0">
                <a:latin typeface="Calibri"/>
                <a:cs typeface="Calibri"/>
              </a:rPr>
              <a:t>r</a:t>
            </a:r>
            <a:r>
              <a:rPr sz="1100" spc="-5" dirty="0">
                <a:latin typeface="Calibri"/>
                <a:cs typeface="Calibri"/>
              </a:rPr>
              <a:t>d</a:t>
            </a:r>
            <a:r>
              <a:rPr sz="1100" dirty="0">
                <a:latin typeface="Calibri"/>
                <a:cs typeface="Calibri"/>
              </a:rPr>
              <a:t>er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510269" y="6266611"/>
            <a:ext cx="940435" cy="382905"/>
            <a:chOff x="1510269" y="6266611"/>
            <a:chExt cx="940435" cy="382905"/>
          </a:xfrm>
        </p:grpSpPr>
        <p:pic>
          <p:nvPicPr>
            <p:cNvPr id="41" name="object 4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10269" y="6266611"/>
              <a:ext cx="940337" cy="3445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88591" y="6271259"/>
              <a:ext cx="583692" cy="377952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48383" y="6284975"/>
              <a:ext cx="864108" cy="26822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548383" y="6284975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8" y="268224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548383" y="6284976"/>
            <a:ext cx="864235" cy="268605"/>
          </a:xfrm>
          <a:prstGeom prst="rect">
            <a:avLst/>
          </a:prstGeom>
          <a:ln w="9144">
            <a:solidFill>
              <a:srgbClr val="97B853"/>
            </a:solidFill>
          </a:ln>
        </p:spPr>
        <p:txBody>
          <a:bodyPr vert="horz" wrap="square" lIns="0" tIns="43180" rIns="0" bIns="0" rtlCol="0">
            <a:spAutoFit/>
          </a:bodyPr>
          <a:lstStyle/>
          <a:p>
            <a:pPr marL="266700">
              <a:lnSpc>
                <a:spcPct val="100000"/>
              </a:lnSpc>
              <a:spcBef>
                <a:spcPts val="340"/>
              </a:spcBef>
            </a:pPr>
            <a:r>
              <a:rPr sz="1100" dirty="0">
                <a:latin typeface="Calibri"/>
                <a:cs typeface="Calibri"/>
              </a:rPr>
              <a:t>TR-34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487153" y="6266611"/>
            <a:ext cx="940435" cy="382905"/>
            <a:chOff x="2487153" y="6266611"/>
            <a:chExt cx="940435" cy="382905"/>
          </a:xfrm>
        </p:grpSpPr>
        <p:pic>
          <p:nvPicPr>
            <p:cNvPr id="47" name="object 4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87153" y="6266611"/>
              <a:ext cx="940337" cy="34457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71571" y="6271259"/>
              <a:ext cx="571500" cy="3779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25267" y="6284975"/>
              <a:ext cx="864107" cy="26822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525267" y="6284975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7" y="268224"/>
                  </a:lnTo>
                  <a:lnTo>
                    <a:pt x="864107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86252" y="6315252"/>
            <a:ext cx="3441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latin typeface="Calibri"/>
                <a:cs typeface="Calibri"/>
              </a:rPr>
              <a:t>TS-56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918716" y="4058411"/>
            <a:ext cx="3195955" cy="2313940"/>
            <a:chOff x="1918716" y="4058411"/>
            <a:chExt cx="3195955" cy="2313940"/>
          </a:xfrm>
        </p:grpSpPr>
        <p:pic>
          <p:nvPicPr>
            <p:cNvPr id="53" name="object 5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14344" y="4058411"/>
              <a:ext cx="1600200" cy="37642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576066" y="4097273"/>
              <a:ext cx="1492250" cy="253365"/>
            </a:xfrm>
            <a:custGeom>
              <a:avLst/>
              <a:gdLst/>
              <a:ahLst/>
              <a:cxnLst/>
              <a:rect l="l" t="t" r="r" b="b"/>
              <a:pathLst>
                <a:path w="1492250" h="253364">
                  <a:moveTo>
                    <a:pt x="1491996" y="0"/>
                  </a:moveTo>
                  <a:lnTo>
                    <a:pt x="0" y="253111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46604" y="4581143"/>
              <a:ext cx="1077468" cy="44958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608326" y="4618481"/>
              <a:ext cx="967740" cy="327660"/>
            </a:xfrm>
            <a:custGeom>
              <a:avLst/>
              <a:gdLst/>
              <a:ahLst/>
              <a:cxnLst/>
              <a:rect l="l" t="t" r="r" b="b"/>
              <a:pathLst>
                <a:path w="967739" h="327660">
                  <a:moveTo>
                    <a:pt x="967232" y="0"/>
                  </a:moveTo>
                  <a:lnTo>
                    <a:pt x="0" y="327533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15868" y="4593335"/>
              <a:ext cx="234696" cy="43738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576066" y="4618481"/>
              <a:ext cx="113664" cy="327660"/>
            </a:xfrm>
            <a:custGeom>
              <a:avLst/>
              <a:gdLst/>
              <a:ahLst/>
              <a:cxnLst/>
              <a:rect l="l" t="t" r="r" b="b"/>
              <a:pathLst>
                <a:path w="113664" h="327660">
                  <a:moveTo>
                    <a:pt x="0" y="0"/>
                  </a:moveTo>
                  <a:lnTo>
                    <a:pt x="113157" y="327533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918716" y="5178551"/>
              <a:ext cx="740663" cy="448056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1980438" y="5214365"/>
              <a:ext cx="628015" cy="327660"/>
            </a:xfrm>
            <a:custGeom>
              <a:avLst/>
              <a:gdLst/>
              <a:ahLst/>
              <a:cxnLst/>
              <a:rect l="l" t="t" r="r" b="b"/>
              <a:pathLst>
                <a:path w="628014" h="327660">
                  <a:moveTo>
                    <a:pt x="627634" y="0"/>
                  </a:moveTo>
                  <a:lnTo>
                    <a:pt x="0" y="32753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551176" y="5181600"/>
              <a:ext cx="428244" cy="44500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2608326" y="5214365"/>
              <a:ext cx="309245" cy="327660"/>
            </a:xfrm>
            <a:custGeom>
              <a:avLst/>
              <a:gdLst/>
              <a:ahLst/>
              <a:cxnLst/>
              <a:rect l="l" t="t" r="r" b="b"/>
              <a:pathLst>
                <a:path w="309244" h="327660">
                  <a:moveTo>
                    <a:pt x="0" y="0"/>
                  </a:moveTo>
                  <a:lnTo>
                    <a:pt x="308737" y="327532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18716" y="5791200"/>
              <a:ext cx="124968" cy="58064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980438" y="5810250"/>
              <a:ext cx="1270" cy="476884"/>
            </a:xfrm>
            <a:custGeom>
              <a:avLst/>
              <a:gdLst/>
              <a:ahLst/>
              <a:cxnLst/>
              <a:rect l="l" t="t" r="r" b="b"/>
              <a:pathLst>
                <a:path w="1269" h="476885">
                  <a:moveTo>
                    <a:pt x="1016" y="0"/>
                  </a:moveTo>
                  <a:lnTo>
                    <a:pt x="0" y="476326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929384" y="5772911"/>
              <a:ext cx="1089659" cy="59893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980438" y="5810250"/>
              <a:ext cx="977900" cy="476884"/>
            </a:xfrm>
            <a:custGeom>
              <a:avLst/>
              <a:gdLst/>
              <a:ahLst/>
              <a:cxnLst/>
              <a:rect l="l" t="t" r="r" b="b"/>
              <a:pathLst>
                <a:path w="977900" h="476885">
                  <a:moveTo>
                    <a:pt x="0" y="0"/>
                  </a:moveTo>
                  <a:lnTo>
                    <a:pt x="977519" y="476326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3685159" y="5194172"/>
            <a:ext cx="122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…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2721864" y="5178552"/>
            <a:ext cx="1203960" cy="820419"/>
            <a:chOff x="2721864" y="5178552"/>
            <a:chExt cx="1203960" cy="820419"/>
          </a:xfrm>
        </p:grpSpPr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93008" y="5180076"/>
              <a:ext cx="249936" cy="22250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3554730" y="5214366"/>
              <a:ext cx="133985" cy="104139"/>
            </a:xfrm>
            <a:custGeom>
              <a:avLst/>
              <a:gdLst/>
              <a:ahLst/>
              <a:cxnLst/>
              <a:rect l="l" t="t" r="r" b="b"/>
              <a:pathLst>
                <a:path w="133985" h="104139">
                  <a:moveTo>
                    <a:pt x="133731" y="0"/>
                  </a:moveTo>
                  <a:lnTo>
                    <a:pt x="0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636264" y="5178552"/>
              <a:ext cx="289560" cy="224028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3688842" y="5214366"/>
              <a:ext cx="175260" cy="104139"/>
            </a:xfrm>
            <a:custGeom>
              <a:avLst/>
              <a:gdLst/>
              <a:ahLst/>
              <a:cxnLst/>
              <a:rect l="l" t="t" r="r" b="b"/>
              <a:pathLst>
                <a:path w="175260" h="104139">
                  <a:moveTo>
                    <a:pt x="0" y="0"/>
                  </a:moveTo>
                  <a:lnTo>
                    <a:pt x="174879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721864" y="5775960"/>
              <a:ext cx="249936" cy="222503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783586" y="5810250"/>
              <a:ext cx="133985" cy="104775"/>
            </a:xfrm>
            <a:custGeom>
              <a:avLst/>
              <a:gdLst/>
              <a:ahLst/>
              <a:cxnLst/>
              <a:rect l="l" t="t" r="r" b="b"/>
              <a:pathLst>
                <a:path w="133985" h="104775">
                  <a:moveTo>
                    <a:pt x="133731" y="0"/>
                  </a:moveTo>
                  <a:lnTo>
                    <a:pt x="0" y="104190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865120" y="5774436"/>
              <a:ext cx="289560" cy="22402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2917698" y="5810250"/>
              <a:ext cx="175260" cy="104775"/>
            </a:xfrm>
            <a:custGeom>
              <a:avLst/>
              <a:gdLst/>
              <a:ahLst/>
              <a:cxnLst/>
              <a:rect l="l" t="t" r="r" b="b"/>
              <a:pathLst>
                <a:path w="175260" h="104775">
                  <a:moveTo>
                    <a:pt x="0" y="0"/>
                  </a:moveTo>
                  <a:lnTo>
                    <a:pt x="174878" y="10419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2913379" y="5789777"/>
            <a:ext cx="122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…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4175759" y="4917947"/>
            <a:ext cx="958850" cy="391795"/>
            <a:chOff x="4175759" y="4917947"/>
            <a:chExt cx="958850" cy="391795"/>
          </a:xfrm>
        </p:grpSpPr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5759" y="4917947"/>
              <a:ext cx="958596" cy="36271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54651" y="4931663"/>
              <a:ext cx="400812" cy="37795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23003" y="4945379"/>
              <a:ext cx="864108" cy="268224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223003" y="4945379"/>
              <a:ext cx="864235" cy="268605"/>
            </a:xfrm>
            <a:custGeom>
              <a:avLst/>
              <a:gdLst/>
              <a:ahLst/>
              <a:cxnLst/>
              <a:rect l="l" t="t" r="r" b="b"/>
              <a:pathLst>
                <a:path w="864235" h="268604">
                  <a:moveTo>
                    <a:pt x="0" y="268224"/>
                  </a:moveTo>
                  <a:lnTo>
                    <a:pt x="864108" y="268224"/>
                  </a:lnTo>
                  <a:lnTo>
                    <a:pt x="864108" y="0"/>
                  </a:lnTo>
                  <a:lnTo>
                    <a:pt x="0" y="0"/>
                  </a:lnTo>
                  <a:lnTo>
                    <a:pt x="0" y="268224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4569714" y="4974793"/>
            <a:ext cx="1739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TV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4652517" y="5194172"/>
            <a:ext cx="122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…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528059" y="4322064"/>
            <a:ext cx="3418840" cy="1080770"/>
            <a:chOff x="3528059" y="4322064"/>
            <a:chExt cx="3418840" cy="1080770"/>
          </a:xfrm>
        </p:grpSpPr>
        <p:pic>
          <p:nvPicPr>
            <p:cNvPr id="86" name="object 8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60747" y="5180076"/>
              <a:ext cx="249936" cy="222504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4522469" y="5214366"/>
              <a:ext cx="133985" cy="104139"/>
            </a:xfrm>
            <a:custGeom>
              <a:avLst/>
              <a:gdLst/>
              <a:ahLst/>
              <a:cxnLst/>
              <a:rect l="l" t="t" r="r" b="b"/>
              <a:pathLst>
                <a:path w="133985" h="104139">
                  <a:moveTo>
                    <a:pt x="133730" y="0"/>
                  </a:moveTo>
                  <a:lnTo>
                    <a:pt x="0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604003" y="5178552"/>
              <a:ext cx="289560" cy="224028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656581" y="5214366"/>
              <a:ext cx="175260" cy="104139"/>
            </a:xfrm>
            <a:custGeom>
              <a:avLst/>
              <a:gdLst/>
              <a:ahLst/>
              <a:cxnLst/>
              <a:rect l="l" t="t" r="r" b="b"/>
              <a:pathLst>
                <a:path w="175260" h="104139">
                  <a:moveTo>
                    <a:pt x="0" y="0"/>
                  </a:moveTo>
                  <a:lnTo>
                    <a:pt x="174878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528059" y="4581144"/>
              <a:ext cx="1190243" cy="449580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3576065" y="4618482"/>
              <a:ext cx="1080770" cy="327660"/>
            </a:xfrm>
            <a:custGeom>
              <a:avLst/>
              <a:gdLst/>
              <a:ahLst/>
              <a:cxnLst/>
              <a:rect l="l" t="t" r="r" b="b"/>
              <a:pathLst>
                <a:path w="1080770" h="327660">
                  <a:moveTo>
                    <a:pt x="0" y="0"/>
                  </a:moveTo>
                  <a:lnTo>
                    <a:pt x="1080389" y="327533"/>
                  </a:lnTo>
                </a:path>
              </a:pathLst>
            </a:custGeom>
            <a:ln w="38099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986271" y="4322064"/>
              <a:ext cx="960120" cy="362712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126479" y="4335780"/>
              <a:ext cx="679703" cy="377951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33515" y="4349496"/>
              <a:ext cx="865632" cy="268224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033515" y="4349496"/>
              <a:ext cx="866140" cy="268605"/>
            </a:xfrm>
            <a:custGeom>
              <a:avLst/>
              <a:gdLst/>
              <a:ahLst/>
              <a:cxnLst/>
              <a:rect l="l" t="t" r="r" b="b"/>
              <a:pathLst>
                <a:path w="866140" h="268604">
                  <a:moveTo>
                    <a:pt x="0" y="268223"/>
                  </a:moveTo>
                  <a:lnTo>
                    <a:pt x="865632" y="268223"/>
                  </a:lnTo>
                  <a:lnTo>
                    <a:pt x="865632" y="0"/>
                  </a:lnTo>
                  <a:lnTo>
                    <a:pt x="0" y="0"/>
                  </a:lnTo>
                  <a:lnTo>
                    <a:pt x="0" y="268223"/>
                  </a:lnTo>
                  <a:close/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6240526" y="4379163"/>
            <a:ext cx="45212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" dirty="0">
                <a:latin typeface="Calibri"/>
                <a:cs typeface="Calibri"/>
              </a:rPr>
              <a:t>Cl</a:t>
            </a:r>
            <a:r>
              <a:rPr sz="1100" dirty="0">
                <a:latin typeface="Calibri"/>
                <a:cs typeface="Calibri"/>
              </a:rPr>
              <a:t>ot</a:t>
            </a:r>
            <a:r>
              <a:rPr sz="1100" spc="-5" dirty="0">
                <a:latin typeface="Calibri"/>
                <a:cs typeface="Calibri"/>
              </a:rPr>
              <a:t>h</a:t>
            </a:r>
            <a:r>
              <a:rPr sz="1100" dirty="0">
                <a:latin typeface="Calibri"/>
                <a:cs typeface="Calibri"/>
              </a:rPr>
              <a:t>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021579" y="4058411"/>
            <a:ext cx="1507490" cy="376555"/>
            <a:chOff x="5021579" y="4058411"/>
            <a:chExt cx="1507490" cy="376555"/>
          </a:xfrm>
        </p:grpSpPr>
        <p:pic>
          <p:nvPicPr>
            <p:cNvPr id="98" name="object 9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21579" y="4058411"/>
              <a:ext cx="1507235" cy="376427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068061" y="4097273"/>
              <a:ext cx="1399540" cy="253365"/>
            </a:xfrm>
            <a:custGeom>
              <a:avLst/>
              <a:gdLst/>
              <a:ahLst/>
              <a:cxnLst/>
              <a:rect l="l" t="t" r="r" b="b"/>
              <a:pathLst>
                <a:path w="1399539" h="253364">
                  <a:moveTo>
                    <a:pt x="0" y="0"/>
                  </a:moveTo>
                  <a:lnTo>
                    <a:pt x="1399286" y="253111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6484365" y="4628134"/>
            <a:ext cx="122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…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4866131" y="3230890"/>
            <a:ext cx="1859280" cy="1606550"/>
            <a:chOff x="4866131" y="3230890"/>
            <a:chExt cx="1859280" cy="1606550"/>
          </a:xfrm>
        </p:grpSpPr>
        <p:pic>
          <p:nvPicPr>
            <p:cNvPr id="102" name="object 10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292596" y="4614672"/>
              <a:ext cx="249935" cy="222504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6354318" y="4648962"/>
              <a:ext cx="133985" cy="104139"/>
            </a:xfrm>
            <a:custGeom>
              <a:avLst/>
              <a:gdLst/>
              <a:ahLst/>
              <a:cxnLst/>
              <a:rect l="l" t="t" r="r" b="b"/>
              <a:pathLst>
                <a:path w="133985" h="104139">
                  <a:moveTo>
                    <a:pt x="133731" y="0"/>
                  </a:moveTo>
                  <a:lnTo>
                    <a:pt x="0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4" name="object 10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35852" y="4613148"/>
              <a:ext cx="289559" cy="224027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6488430" y="4648962"/>
              <a:ext cx="175260" cy="104139"/>
            </a:xfrm>
            <a:custGeom>
              <a:avLst/>
              <a:gdLst/>
              <a:ahLst/>
              <a:cxnLst/>
              <a:rect l="l" t="t" r="r" b="b"/>
              <a:pathLst>
                <a:path w="175259" h="104139">
                  <a:moveTo>
                    <a:pt x="0" y="0"/>
                  </a:moveTo>
                  <a:lnTo>
                    <a:pt x="174878" y="104139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866131" y="3230890"/>
              <a:ext cx="466217" cy="653680"/>
            </a:xfrm>
            <a:prstGeom prst="rect">
              <a:avLst/>
            </a:prstGeom>
          </p:spPr>
        </p:pic>
      </p:grpSp>
      <p:sp>
        <p:nvSpPr>
          <p:cNvPr id="107" name="object 107"/>
          <p:cNvSpPr txBox="1"/>
          <p:nvPr/>
        </p:nvSpPr>
        <p:spPr>
          <a:xfrm>
            <a:off x="6566661" y="6310680"/>
            <a:ext cx="3956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A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r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ticle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6549008" y="5566359"/>
            <a:ext cx="7181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Pro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d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.</a:t>
            </a:r>
            <a:r>
              <a:rPr sz="1100" spc="-2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Gro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u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p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6537706" y="4970779"/>
            <a:ext cx="7302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Pro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d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.</a:t>
            </a:r>
            <a:r>
              <a:rPr sz="1100" spc="-25" dirty="0">
                <a:solidFill>
                  <a:srgbClr val="943735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Fa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mi</a:t>
            </a: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l</a:t>
            </a:r>
            <a:r>
              <a:rPr sz="1100" dirty="0">
                <a:solidFill>
                  <a:srgbClr val="943735"/>
                </a:solidFill>
                <a:latin typeface="Calibri"/>
                <a:cs typeface="Calibri"/>
              </a:rPr>
              <a:t>y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2038604" y="4300854"/>
            <a:ext cx="5372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" dirty="0">
                <a:solidFill>
                  <a:srgbClr val="943735"/>
                </a:solidFill>
                <a:latin typeface="Calibri"/>
                <a:cs typeface="Calibri"/>
              </a:rPr>
              <a:t>Category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424545" cy="433832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75" dirty="0">
                <a:latin typeface="Trebuchet MS"/>
                <a:cs typeface="Trebuchet MS"/>
              </a:rPr>
              <a:t>Drill-down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(roll-down)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Reverse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b="1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roll-up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Represents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de-aggregate</a:t>
            </a:r>
            <a:r>
              <a:rPr sz="2800" b="1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operation</a:t>
            </a:r>
            <a:endParaRPr sz="2800">
              <a:latin typeface="Trebuchet MS"/>
              <a:cs typeface="Trebuchet MS"/>
            </a:endParaRPr>
          </a:p>
          <a:p>
            <a:pPr marL="1155700" marR="508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From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higher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4F81BC"/>
                </a:solidFill>
                <a:latin typeface="Trebuchet MS"/>
                <a:cs typeface="Trebuchet MS"/>
              </a:rPr>
              <a:t>level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summary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lower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4F81BC"/>
                </a:solidFill>
                <a:latin typeface="Trebuchet MS"/>
                <a:cs typeface="Trebuchet MS"/>
              </a:rPr>
              <a:t>level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summary</a:t>
            </a:r>
            <a:r>
              <a:rPr sz="2400" spc="-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315" dirty="0">
                <a:solidFill>
                  <a:srgbClr val="4F81BC"/>
                </a:solidFill>
                <a:latin typeface="Trebuchet MS"/>
                <a:cs typeface="Trebuchet MS"/>
              </a:rPr>
              <a:t>– </a:t>
            </a:r>
            <a:r>
              <a:rPr sz="2400" spc="-7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de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ailed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4F81BC"/>
                </a:solidFill>
                <a:latin typeface="Trebuchet MS"/>
                <a:cs typeface="Trebuchet MS"/>
              </a:rPr>
              <a:t>da</a:t>
            </a:r>
            <a:r>
              <a:rPr sz="2400" spc="-195" dirty="0">
                <a:solidFill>
                  <a:srgbClr val="4F81BC"/>
                </a:solidFill>
                <a:latin typeface="Trebuchet MS"/>
                <a:cs typeface="Trebuchet MS"/>
              </a:rPr>
              <a:t>ta</a:t>
            </a:r>
            <a:endParaRPr sz="24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Int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od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cing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dimensi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ns</a:t>
            </a:r>
            <a:endParaRPr sz="2800">
              <a:latin typeface="Trebuchet MS"/>
              <a:cs typeface="Trebuchet MS"/>
            </a:endParaRPr>
          </a:p>
          <a:p>
            <a:pPr marL="756285" marR="108394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Requires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existence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materialized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finer </a:t>
            </a:r>
            <a:r>
              <a:rPr sz="2800" b="1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grained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-25" dirty="0">
                <a:solidFill>
                  <a:srgbClr val="4F81BC"/>
                </a:solidFill>
                <a:latin typeface="Trebuchet MS"/>
                <a:cs typeface="Trebuchet MS"/>
              </a:rPr>
              <a:t>You</a:t>
            </a:r>
            <a:r>
              <a:rPr sz="2400" b="1" spc="-8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75" dirty="0">
                <a:solidFill>
                  <a:srgbClr val="4F81BC"/>
                </a:solidFill>
                <a:latin typeface="Trebuchet MS"/>
                <a:cs typeface="Trebuchet MS"/>
              </a:rPr>
              <a:t>can’t</a:t>
            </a:r>
            <a:r>
              <a:rPr sz="2400" b="1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30" dirty="0">
                <a:solidFill>
                  <a:srgbClr val="4F81BC"/>
                </a:solidFill>
                <a:latin typeface="Trebuchet MS"/>
                <a:cs typeface="Trebuchet MS"/>
              </a:rPr>
              <a:t>drill</a:t>
            </a:r>
            <a:r>
              <a:rPr sz="2400" b="1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114" dirty="0">
                <a:solidFill>
                  <a:srgbClr val="4F81BC"/>
                </a:solidFill>
                <a:latin typeface="Trebuchet MS"/>
                <a:cs typeface="Trebuchet MS"/>
              </a:rPr>
              <a:t>if</a:t>
            </a:r>
            <a:r>
              <a:rPr sz="2400" b="1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30" dirty="0">
                <a:solidFill>
                  <a:srgbClr val="4F81BC"/>
                </a:solidFill>
                <a:latin typeface="Trebuchet MS"/>
                <a:cs typeface="Trebuchet MS"/>
              </a:rPr>
              <a:t>you</a:t>
            </a:r>
            <a:r>
              <a:rPr sz="2400" b="1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50" dirty="0">
                <a:solidFill>
                  <a:srgbClr val="4F81BC"/>
                </a:solidFill>
                <a:latin typeface="Trebuchet MS"/>
                <a:cs typeface="Trebuchet MS"/>
              </a:rPr>
              <a:t>don’t</a:t>
            </a:r>
            <a:r>
              <a:rPr sz="2400" b="1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70" dirty="0">
                <a:solidFill>
                  <a:srgbClr val="4F81BC"/>
                </a:solidFill>
                <a:latin typeface="Trebuchet MS"/>
                <a:cs typeface="Trebuchet MS"/>
              </a:rPr>
              <a:t>have</a:t>
            </a:r>
            <a:r>
              <a:rPr sz="2400" b="1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b="1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4F81BC"/>
                </a:solidFill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38436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20" dirty="0"/>
              <a:t>Drill-down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741" y="128473"/>
            <a:ext cx="75444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5680" algn="l"/>
              </a:tabLst>
            </a:pPr>
            <a:r>
              <a:rPr sz="4000" spc="-225" dirty="0"/>
              <a:t>6.1	</a:t>
            </a:r>
            <a:r>
              <a:rPr sz="4000" spc="-5" dirty="0"/>
              <a:t>Roll-up</a:t>
            </a:r>
            <a:r>
              <a:rPr sz="4000" spc="-55" dirty="0"/>
              <a:t> </a:t>
            </a:r>
            <a:r>
              <a:rPr sz="4000" spc="15" dirty="0"/>
              <a:t>Drill-down</a:t>
            </a:r>
            <a:r>
              <a:rPr sz="4000" spc="-40" dirty="0"/>
              <a:t> </a:t>
            </a:r>
            <a:r>
              <a:rPr sz="4000" spc="60" dirty="0"/>
              <a:t>Example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0850" y="1441450"/>
          <a:ext cx="3581400" cy="1530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Joe’s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Salitos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360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5" dirty="0">
                          <a:latin typeface="Calibri"/>
                          <a:cs typeface="Calibri"/>
                        </a:rPr>
                        <a:t>Roots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632450" y="1974850"/>
          <a:ext cx="2743200" cy="746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1330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1120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794250" y="4230370"/>
          <a:ext cx="4039234" cy="1478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Week3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Wolters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480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Becks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370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Krombacher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290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264152" y="2273807"/>
            <a:ext cx="1169035" cy="559435"/>
            <a:chOff x="4264152" y="2273807"/>
            <a:chExt cx="1169035" cy="559435"/>
          </a:xfrm>
        </p:grpSpPr>
        <p:sp>
          <p:nvSpPr>
            <p:cNvPr id="7" name="object 7"/>
            <p:cNvSpPr/>
            <p:nvPr/>
          </p:nvSpPr>
          <p:spPr>
            <a:xfrm>
              <a:off x="4277106" y="2286761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876300" y="0"/>
                  </a:moveTo>
                  <a:lnTo>
                    <a:pt x="876300" y="133350"/>
                  </a:lnTo>
                  <a:lnTo>
                    <a:pt x="0" y="133350"/>
                  </a:lnTo>
                  <a:lnTo>
                    <a:pt x="0" y="400050"/>
                  </a:lnTo>
                  <a:lnTo>
                    <a:pt x="876300" y="400050"/>
                  </a:lnTo>
                  <a:lnTo>
                    <a:pt x="876300" y="533400"/>
                  </a:lnTo>
                  <a:lnTo>
                    <a:pt x="1143000" y="266700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77106" y="2286761"/>
              <a:ext cx="1143000" cy="533400"/>
            </a:xfrm>
            <a:custGeom>
              <a:avLst/>
              <a:gdLst/>
              <a:ahLst/>
              <a:cxnLst/>
              <a:rect l="l" t="t" r="r" b="b"/>
              <a:pathLst>
                <a:path w="1143000" h="533400">
                  <a:moveTo>
                    <a:pt x="0" y="133350"/>
                  </a:moveTo>
                  <a:lnTo>
                    <a:pt x="876300" y="133350"/>
                  </a:lnTo>
                  <a:lnTo>
                    <a:pt x="876300" y="0"/>
                  </a:lnTo>
                  <a:lnTo>
                    <a:pt x="1143000" y="266700"/>
                  </a:lnTo>
                  <a:lnTo>
                    <a:pt x="876300" y="533400"/>
                  </a:lnTo>
                  <a:lnTo>
                    <a:pt x="876300" y="400050"/>
                  </a:lnTo>
                  <a:lnTo>
                    <a:pt x="0" y="400050"/>
                  </a:lnTo>
                  <a:lnTo>
                    <a:pt x="0" y="13335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46575" y="1657858"/>
            <a:ext cx="680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45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o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-up 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693407" y="2959607"/>
            <a:ext cx="407034" cy="1092835"/>
            <a:chOff x="6693407" y="2959607"/>
            <a:chExt cx="407034" cy="1092835"/>
          </a:xfrm>
        </p:grpSpPr>
        <p:sp>
          <p:nvSpPr>
            <p:cNvPr id="11" name="object 11"/>
            <p:cNvSpPr/>
            <p:nvPr/>
          </p:nvSpPr>
          <p:spPr>
            <a:xfrm>
              <a:off x="6706361" y="2972561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285750" y="0"/>
                  </a:moveTo>
                  <a:lnTo>
                    <a:pt x="95250" y="0"/>
                  </a:lnTo>
                  <a:lnTo>
                    <a:pt x="95250" y="876300"/>
                  </a:lnTo>
                  <a:lnTo>
                    <a:pt x="0" y="876300"/>
                  </a:lnTo>
                  <a:lnTo>
                    <a:pt x="190500" y="1066800"/>
                  </a:lnTo>
                  <a:lnTo>
                    <a:pt x="381000" y="876300"/>
                  </a:lnTo>
                  <a:lnTo>
                    <a:pt x="285750" y="87630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6361" y="2972561"/>
              <a:ext cx="381000" cy="1066800"/>
            </a:xfrm>
            <a:custGeom>
              <a:avLst/>
              <a:gdLst/>
              <a:ahLst/>
              <a:cxnLst/>
              <a:rect l="l" t="t" r="r" b="b"/>
              <a:pathLst>
                <a:path w="381000" h="1066800">
                  <a:moveTo>
                    <a:pt x="0" y="876300"/>
                  </a:moveTo>
                  <a:lnTo>
                    <a:pt x="95250" y="8763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876300"/>
                  </a:lnTo>
                  <a:lnTo>
                    <a:pt x="381000" y="876300"/>
                  </a:lnTo>
                  <a:lnTo>
                    <a:pt x="190500" y="1066800"/>
                  </a:lnTo>
                  <a:lnTo>
                    <a:pt x="0" y="8763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880228" y="3066669"/>
            <a:ext cx="327977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il</a:t>
            </a:r>
            <a:r>
              <a:rPr sz="1800" spc="-10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-</a:t>
            </a:r>
            <a:r>
              <a:rPr sz="1800" spc="-5" dirty="0">
                <a:latin typeface="Calibri"/>
                <a:cs typeface="Calibri"/>
              </a:rPr>
              <a:t>d</a:t>
            </a:r>
            <a:r>
              <a:rPr sz="1800" spc="-10" dirty="0">
                <a:latin typeface="Calibri"/>
                <a:cs typeface="Calibri"/>
              </a:rPr>
              <a:t>o</a:t>
            </a:r>
            <a:r>
              <a:rPr sz="1800" dirty="0">
                <a:latin typeface="Calibri"/>
                <a:cs typeface="Calibri"/>
              </a:rPr>
              <a:t>wn 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Brand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latin typeface="Calibri"/>
                <a:cs typeface="Calibri"/>
              </a:rPr>
              <a:t>€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 </a:t>
            </a:r>
            <a:r>
              <a:rPr sz="1800" spc="-10" dirty="0">
                <a:latin typeface="Calibri"/>
                <a:cs typeface="Calibri"/>
              </a:rPr>
              <a:t>Brand/Time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8194" y="1084834"/>
            <a:ext cx="1448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€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by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BAR/Time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9428" y="1541729"/>
            <a:ext cx="9804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€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by</a:t>
            </a:r>
            <a:r>
              <a:rPr sz="1800" spc="36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0314" y="1374139"/>
            <a:ext cx="8524875" cy="41141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8300" marR="177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235" dirty="0">
                <a:latin typeface="Trebuchet MS"/>
                <a:cs typeface="Trebuchet MS"/>
              </a:rPr>
              <a:t>Slice: </a:t>
            </a:r>
            <a:r>
              <a:rPr sz="3200" spc="-315" dirty="0">
                <a:latin typeface="Trebuchet MS"/>
                <a:cs typeface="Trebuchet MS"/>
              </a:rPr>
              <a:t>a</a:t>
            </a:r>
            <a:r>
              <a:rPr sz="3200" spc="-310" dirty="0">
                <a:latin typeface="Trebuchet MS"/>
                <a:cs typeface="Trebuchet MS"/>
              </a:rPr>
              <a:t> </a:t>
            </a:r>
            <a:r>
              <a:rPr sz="3200" b="1" spc="-15" dirty="0">
                <a:latin typeface="Trebuchet MS"/>
                <a:cs typeface="Trebuchet MS"/>
              </a:rPr>
              <a:t>subset </a:t>
            </a:r>
            <a:r>
              <a:rPr sz="3200" spc="-170" dirty="0">
                <a:latin typeface="Trebuchet MS"/>
                <a:cs typeface="Trebuchet MS"/>
              </a:rPr>
              <a:t>of </a:t>
            </a:r>
            <a:r>
              <a:rPr sz="3200" spc="-190" dirty="0">
                <a:latin typeface="Trebuchet MS"/>
                <a:cs typeface="Trebuchet MS"/>
              </a:rPr>
              <a:t>the </a:t>
            </a:r>
            <a:r>
              <a:rPr sz="3200" spc="-180" dirty="0">
                <a:latin typeface="Trebuchet MS"/>
                <a:cs typeface="Trebuchet MS"/>
              </a:rPr>
              <a:t>multi-dimensional </a:t>
            </a:r>
            <a:r>
              <a:rPr sz="3200" spc="-185" dirty="0">
                <a:latin typeface="Trebuchet MS"/>
                <a:cs typeface="Trebuchet MS"/>
              </a:rPr>
              <a:t>array </a:t>
            </a:r>
            <a:r>
              <a:rPr sz="3200" spc="-18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corresponding</a:t>
            </a:r>
            <a:r>
              <a:rPr sz="3200" spc="-13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to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a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b="1" spc="-25" dirty="0">
                <a:latin typeface="Trebuchet MS"/>
                <a:cs typeface="Trebuchet MS"/>
              </a:rPr>
              <a:t>single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50" dirty="0">
                <a:latin typeface="Trebuchet MS"/>
                <a:cs typeface="Trebuchet MS"/>
              </a:rPr>
              <a:t>value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one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more </a:t>
            </a:r>
            <a:r>
              <a:rPr sz="3200" spc="-944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dim</a:t>
            </a:r>
            <a:r>
              <a:rPr sz="3200" spc="-180" dirty="0">
                <a:latin typeface="Trebuchet MS"/>
                <a:cs typeface="Trebuchet MS"/>
              </a:rPr>
              <a:t>e</a:t>
            </a:r>
            <a:r>
              <a:rPr sz="3200" spc="-165" dirty="0">
                <a:latin typeface="Trebuchet MS"/>
                <a:cs typeface="Trebuchet MS"/>
              </a:rPr>
              <a:t>ns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55" dirty="0">
                <a:latin typeface="Trebuchet MS"/>
                <a:cs typeface="Trebuchet MS"/>
              </a:rPr>
              <a:t>ons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and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p</a:t>
            </a:r>
            <a:r>
              <a:rPr sz="3200" b="1" spc="-45" dirty="0">
                <a:latin typeface="Trebuchet MS"/>
                <a:cs typeface="Trebuchet MS"/>
              </a:rPr>
              <a:t>rojection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b="1" spc="30" dirty="0">
                <a:latin typeface="Trebuchet MS"/>
                <a:cs typeface="Trebuchet MS"/>
              </a:rPr>
              <a:t>o</a:t>
            </a:r>
            <a:r>
              <a:rPr sz="3200" b="1" spc="35" dirty="0">
                <a:latin typeface="Trebuchet MS"/>
                <a:cs typeface="Trebuchet MS"/>
              </a:rPr>
              <a:t>n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25" dirty="0">
                <a:latin typeface="Trebuchet MS"/>
                <a:cs typeface="Trebuchet MS"/>
              </a:rPr>
              <a:t>the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b="1" spc="10" dirty="0">
                <a:latin typeface="Trebuchet MS"/>
                <a:cs typeface="Trebuchet MS"/>
              </a:rPr>
              <a:t>r</a:t>
            </a:r>
            <a:r>
              <a:rPr sz="3200" b="1" spc="-20" dirty="0">
                <a:latin typeface="Trebuchet MS"/>
                <a:cs typeface="Trebuchet MS"/>
              </a:rPr>
              <a:t>est</a:t>
            </a:r>
            <a:r>
              <a:rPr sz="3200" b="1" spc="-13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of  </a:t>
            </a:r>
            <a:r>
              <a:rPr sz="3200" spc="-135" dirty="0">
                <a:latin typeface="Trebuchet MS"/>
                <a:cs typeface="Trebuchet MS"/>
              </a:rPr>
              <a:t>dimensions</a:t>
            </a:r>
            <a:endParaRPr sz="3200">
              <a:latin typeface="Trebuchet MS"/>
              <a:cs typeface="Trebuchet MS"/>
            </a:endParaRPr>
          </a:p>
          <a:p>
            <a:pPr marL="768985" marR="306705" indent="-28702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315" dirty="0">
                <a:solidFill>
                  <a:srgbClr val="1F487C"/>
                </a:solidFill>
                <a:latin typeface="Trebuchet MS"/>
                <a:cs typeface="Trebuchet MS"/>
              </a:rPr>
              <a:t>E.g.,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oj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ct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Ge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(st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e)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41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Time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om</a:t>
            </a:r>
            <a:r>
              <a:rPr sz="2800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values  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co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ond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to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ap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ops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he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od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ct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dim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nsi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350">
              <a:latin typeface="Trebuchet MS"/>
              <a:cs typeface="Trebuchet MS"/>
            </a:endParaRPr>
          </a:p>
          <a:p>
            <a:pPr marL="12700" algn="ctr">
              <a:lnSpc>
                <a:spcPct val="100000"/>
              </a:lnSpc>
            </a:pPr>
            <a:r>
              <a:rPr sz="5400" baseline="10802" dirty="0">
                <a:latin typeface="Symbol"/>
                <a:cs typeface="Symbol"/>
              </a:rPr>
              <a:t></a:t>
            </a:r>
            <a:r>
              <a:rPr sz="1850" dirty="0">
                <a:latin typeface="Calibri"/>
                <a:cs typeface="Calibri"/>
              </a:rPr>
              <a:t>StoreId,</a:t>
            </a:r>
            <a:r>
              <a:rPr sz="1850" spc="-3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TimeId,</a:t>
            </a:r>
            <a:r>
              <a:rPr sz="1850" spc="-3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Ammount</a:t>
            </a:r>
            <a:r>
              <a:rPr sz="1850" spc="-30" dirty="0">
                <a:latin typeface="Calibri"/>
                <a:cs typeface="Calibri"/>
              </a:rPr>
              <a:t> </a:t>
            </a:r>
            <a:r>
              <a:rPr sz="4200" spc="7" baseline="13888" dirty="0">
                <a:latin typeface="Calibri"/>
                <a:cs typeface="Calibri"/>
              </a:rPr>
              <a:t>(</a:t>
            </a:r>
            <a:r>
              <a:rPr sz="5400" spc="7" baseline="10802" dirty="0">
                <a:latin typeface="Symbol"/>
                <a:cs typeface="Symbol"/>
              </a:rPr>
              <a:t></a:t>
            </a:r>
            <a:r>
              <a:rPr sz="1850" spc="5" dirty="0">
                <a:latin typeface="Calibri"/>
                <a:cs typeface="Calibri"/>
              </a:rPr>
              <a:t>ArticleId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=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LaptopId</a:t>
            </a:r>
            <a:r>
              <a:rPr sz="4200" baseline="13888" dirty="0">
                <a:latin typeface="Calibri"/>
                <a:cs typeface="Calibri"/>
              </a:rPr>
              <a:t>(Sales))</a:t>
            </a:r>
            <a:endParaRPr sz="4200" baseline="13888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334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5" dirty="0"/>
              <a:t>Slice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7213"/>
            <a:ext cx="6458585" cy="171005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rebuchet MS"/>
                <a:cs typeface="Trebuchet MS"/>
              </a:rPr>
              <a:t>Amo</a:t>
            </a:r>
            <a:r>
              <a:rPr sz="3200" spc="-5" dirty="0">
                <a:latin typeface="Trebuchet MS"/>
                <a:cs typeface="Trebuchet MS"/>
              </a:rPr>
              <a:t>u</a:t>
            </a:r>
            <a:r>
              <a:rPr sz="3200" spc="-140" dirty="0">
                <a:latin typeface="Trebuchet MS"/>
                <a:cs typeface="Trebuchet MS"/>
              </a:rPr>
              <a:t>nts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 </a:t>
            </a:r>
            <a:r>
              <a:rPr sz="3200" spc="-195" dirty="0">
                <a:latin typeface="Trebuchet MS"/>
                <a:cs typeface="Trebuchet MS"/>
              </a:rPr>
              <a:t>eq</a:t>
            </a:r>
            <a:r>
              <a:rPr sz="3200" spc="-280" dirty="0">
                <a:latin typeface="Trebuchet MS"/>
                <a:cs typeface="Trebuchet MS"/>
              </a:rPr>
              <a:t>ua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180" dirty="0">
                <a:latin typeface="Trebuchet MS"/>
                <a:cs typeface="Trebuchet MS"/>
              </a:rPr>
              <a:t>it</a:t>
            </a:r>
            <a:r>
              <a:rPr sz="3200" spc="-250" dirty="0">
                <a:latin typeface="Trebuchet MS"/>
                <a:cs typeface="Trebuchet MS"/>
              </a:rPr>
              <a:t>y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00" dirty="0">
                <a:latin typeface="Trebuchet MS"/>
                <a:cs typeface="Trebuchet MS"/>
              </a:rPr>
              <a:t>se</a:t>
            </a:r>
            <a:r>
              <a:rPr sz="3200" spc="-114" dirty="0">
                <a:latin typeface="Trebuchet MS"/>
                <a:cs typeface="Trebuchet MS"/>
              </a:rPr>
              <a:t>l</a:t>
            </a:r>
            <a:r>
              <a:rPr sz="3200" spc="-200" dirty="0">
                <a:latin typeface="Trebuchet MS"/>
                <a:cs typeface="Trebuchet MS"/>
              </a:rPr>
              <a:t>ect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condi</a:t>
            </a:r>
            <a:r>
              <a:rPr sz="3200" spc="-114" dirty="0">
                <a:latin typeface="Trebuchet MS"/>
                <a:cs typeface="Trebuchet MS"/>
              </a:rPr>
              <a:t>t</a:t>
            </a:r>
            <a:r>
              <a:rPr sz="3200" spc="-110" dirty="0">
                <a:latin typeface="Trebuchet MS"/>
                <a:cs typeface="Trebuchet MS"/>
              </a:rPr>
              <a:t>ion</a:t>
            </a:r>
            <a:endParaRPr sz="32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270" dirty="0">
                <a:latin typeface="Trebuchet MS"/>
                <a:cs typeface="Trebuchet MS"/>
              </a:rPr>
              <a:t>WH</a:t>
            </a:r>
            <a:r>
              <a:rPr sz="3200" spc="200" dirty="0">
                <a:latin typeface="Trebuchet MS"/>
                <a:cs typeface="Trebuchet MS"/>
              </a:rPr>
              <a:t>E</a:t>
            </a:r>
            <a:r>
              <a:rPr sz="3200" spc="-20" dirty="0">
                <a:latin typeface="Trebuchet MS"/>
                <a:cs typeface="Trebuchet MS"/>
              </a:rPr>
              <a:t>RE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cla</a:t>
            </a:r>
            <a:r>
              <a:rPr sz="3200" spc="-254" dirty="0">
                <a:latin typeface="Trebuchet MS"/>
                <a:cs typeface="Trebuchet MS"/>
              </a:rPr>
              <a:t>u</a:t>
            </a:r>
            <a:r>
              <a:rPr sz="3200" spc="-140" dirty="0">
                <a:latin typeface="Trebuchet MS"/>
                <a:cs typeface="Trebuchet MS"/>
              </a:rPr>
              <a:t>se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SQL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  <a:tabLst>
                <a:tab pos="1481455" algn="l"/>
              </a:tabLst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8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315" dirty="0">
                <a:solidFill>
                  <a:srgbClr val="1F487C"/>
                </a:solidFill>
                <a:latin typeface="Trebuchet MS"/>
                <a:cs typeface="Trebuchet MS"/>
              </a:rPr>
              <a:t>E.g.,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	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slice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ap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ops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3342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5" dirty="0"/>
              <a:t>Slice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1271" y="2706623"/>
            <a:ext cx="3548379" cy="3321050"/>
            <a:chOff x="4081271" y="2706623"/>
            <a:chExt cx="3548379" cy="33210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9367" y="4532375"/>
              <a:ext cx="740663" cy="72237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6611" y="4559807"/>
              <a:ext cx="646176" cy="6278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96611" y="4559807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0951" y="4532375"/>
              <a:ext cx="742188" cy="7223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8195" y="4559807"/>
              <a:ext cx="647700" cy="6278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378195" y="45598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68161" y="4716779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70">
                  <a:moveTo>
                    <a:pt x="0" y="0"/>
                  </a:moveTo>
                  <a:lnTo>
                    <a:pt x="0" y="470916"/>
                  </a:lnTo>
                </a:path>
              </a:pathLst>
            </a:custGeom>
            <a:ln w="762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4587" y="4672583"/>
              <a:ext cx="742188" cy="72237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51831" y="4700016"/>
              <a:ext cx="647700" cy="62788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751831" y="470001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7695" y="4672583"/>
              <a:ext cx="742188" cy="7223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34939" y="4700016"/>
              <a:ext cx="647700" cy="62788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234939" y="470001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9367" y="4053839"/>
              <a:ext cx="740663" cy="7223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96611" y="4081271"/>
              <a:ext cx="646176" cy="6278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896611" y="4081271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0951" y="4053839"/>
              <a:ext cx="742188" cy="7223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78195" y="4081271"/>
              <a:ext cx="647700" cy="6278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78195" y="40812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4587" y="4192523"/>
              <a:ext cx="742188" cy="7239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51831" y="4219955"/>
              <a:ext cx="647700" cy="62941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751831" y="421995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  <a:path w="647700" h="629920">
                  <a:moveTo>
                    <a:pt x="490346" y="157353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87695" y="4192523"/>
              <a:ext cx="742188" cy="72390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234939" y="4219955"/>
              <a:ext cx="647700" cy="62941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234939" y="421995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4727" y="4532375"/>
              <a:ext cx="742187" cy="7223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1971" y="4559807"/>
              <a:ext cx="647700" cy="62788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71971" y="45598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7835" y="4532375"/>
              <a:ext cx="742188" cy="7223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55079" y="4559807"/>
              <a:ext cx="647700" cy="6278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55079" y="45598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1471" y="4672583"/>
              <a:ext cx="740663" cy="722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28715" y="4700016"/>
              <a:ext cx="646176" cy="62788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728715" y="470001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4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4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4579" y="4672583"/>
              <a:ext cx="740664" cy="7223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11823" y="4700016"/>
              <a:ext cx="646176" cy="62788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211823" y="470001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4727" y="4053839"/>
              <a:ext cx="742187" cy="7223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1971" y="4081271"/>
              <a:ext cx="647700" cy="62788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5871971" y="40812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07835" y="4053839"/>
              <a:ext cx="742188" cy="72237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5079" y="4081271"/>
              <a:ext cx="647700" cy="62788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355079" y="40812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1471" y="4192523"/>
              <a:ext cx="740663" cy="7239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28715" y="4219955"/>
              <a:ext cx="646176" cy="629412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728715" y="421995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3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3" y="157353"/>
                  </a:lnTo>
                  <a:lnTo>
                    <a:pt x="646176" y="0"/>
                  </a:lnTo>
                </a:path>
                <a:path w="646429" h="629920">
                  <a:moveTo>
                    <a:pt x="488823" y="157353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64579" y="4192523"/>
              <a:ext cx="740664" cy="7239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11823" y="4219955"/>
              <a:ext cx="646176" cy="62941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11823" y="421995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3" y="157353"/>
                  </a:lnTo>
                  <a:lnTo>
                    <a:pt x="646176" y="0"/>
                  </a:lnTo>
                </a:path>
                <a:path w="646429" h="629920">
                  <a:moveTo>
                    <a:pt x="488823" y="157353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9367" y="3575303"/>
              <a:ext cx="740663" cy="72237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96611" y="3602735"/>
              <a:ext cx="646176" cy="62788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896611" y="3602735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0951" y="3575303"/>
              <a:ext cx="742188" cy="7223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78195" y="3602735"/>
              <a:ext cx="647700" cy="62788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378195" y="36027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868161" y="3759707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70">
                  <a:moveTo>
                    <a:pt x="0" y="0"/>
                  </a:moveTo>
                  <a:lnTo>
                    <a:pt x="0" y="470916"/>
                  </a:lnTo>
                </a:path>
              </a:pathLst>
            </a:custGeom>
            <a:ln w="762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4587" y="3713987"/>
              <a:ext cx="742188" cy="72390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51831" y="3741419"/>
              <a:ext cx="647700" cy="629412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4751831" y="3741419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87695" y="3713987"/>
              <a:ext cx="742188" cy="72390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34939" y="3741419"/>
              <a:ext cx="647700" cy="629412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234939" y="3741419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49367" y="3095243"/>
              <a:ext cx="740663" cy="72389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96611" y="3122675"/>
              <a:ext cx="646176" cy="629412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4896611" y="312267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30951" y="3095243"/>
              <a:ext cx="742188" cy="723899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8195" y="3122675"/>
              <a:ext cx="647700" cy="629412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378195" y="31226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4587" y="3235451"/>
              <a:ext cx="742188" cy="722376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51831" y="3262883"/>
              <a:ext cx="647700" cy="627888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751831" y="32628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87695" y="3235451"/>
              <a:ext cx="742188" cy="722376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34939" y="3262883"/>
              <a:ext cx="647700" cy="627888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234939" y="32628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24727" y="3575303"/>
              <a:ext cx="742187" cy="72237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1971" y="3602735"/>
              <a:ext cx="647700" cy="627888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871971" y="36027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07835" y="3578351"/>
              <a:ext cx="742188" cy="722376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355079" y="3602735"/>
              <a:ext cx="647700" cy="627888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6355079" y="36027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1471" y="3713987"/>
              <a:ext cx="740663" cy="72390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728715" y="3741419"/>
              <a:ext cx="646176" cy="629412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728715" y="3741419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3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164579" y="3717035"/>
              <a:ext cx="740664" cy="723900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211823" y="3741419"/>
              <a:ext cx="646176" cy="629412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6211823" y="3741419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1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4727" y="3095243"/>
              <a:ext cx="742187" cy="723899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71971" y="3122675"/>
              <a:ext cx="647700" cy="629412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5871971" y="31226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07835" y="3095243"/>
              <a:ext cx="742188" cy="723899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55079" y="3122675"/>
              <a:ext cx="647700" cy="629412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355079" y="31226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81471" y="3235451"/>
              <a:ext cx="740663" cy="722376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28715" y="3262883"/>
              <a:ext cx="646176" cy="627888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728715" y="3262883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4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4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0" name="object 10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64579" y="3235451"/>
              <a:ext cx="740664" cy="722376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11823" y="3262883"/>
              <a:ext cx="646176" cy="627888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211823" y="3262883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39995" y="4831079"/>
              <a:ext cx="742188" cy="723900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587239" y="4858511"/>
              <a:ext cx="647700" cy="629412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4587239" y="48585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0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3103" y="4831079"/>
              <a:ext cx="742188" cy="72390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70347" y="4858511"/>
              <a:ext cx="647700" cy="629412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5070347" y="48585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5560123" y="5015864"/>
              <a:ext cx="0" cy="472440"/>
            </a:xfrm>
            <a:custGeom>
              <a:avLst/>
              <a:gdLst/>
              <a:ahLst/>
              <a:cxnLst/>
              <a:rect l="l" t="t" r="r" b="b"/>
              <a:pathLst>
                <a:path h="472439">
                  <a:moveTo>
                    <a:pt x="0" y="0"/>
                  </a:moveTo>
                  <a:lnTo>
                    <a:pt x="0" y="472059"/>
                  </a:lnTo>
                </a:path>
              </a:pathLst>
            </a:custGeom>
            <a:ln w="800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0" name="object 1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6739" y="4971288"/>
              <a:ext cx="742188" cy="722376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43983" y="4998719"/>
              <a:ext cx="647700" cy="627888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4443983" y="49987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9847" y="4971288"/>
              <a:ext cx="742188" cy="722376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27091" y="4998719"/>
              <a:ext cx="647700" cy="627888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4927091" y="49987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6" name="object 1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39995" y="4352544"/>
              <a:ext cx="742188" cy="72390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587239" y="4379975"/>
              <a:ext cx="647700" cy="629412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4587239" y="43799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9" name="object 1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023103" y="4352544"/>
              <a:ext cx="742188" cy="723900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070347" y="4379975"/>
              <a:ext cx="647700" cy="629412"/>
            </a:xfrm>
            <a:prstGeom prst="rect">
              <a:avLst/>
            </a:prstGeom>
          </p:spPr>
        </p:pic>
        <p:sp>
          <p:nvSpPr>
            <p:cNvPr id="121" name="object 121"/>
            <p:cNvSpPr/>
            <p:nvPr/>
          </p:nvSpPr>
          <p:spPr>
            <a:xfrm>
              <a:off x="5070347" y="43799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2" name="object 1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96739" y="4492751"/>
              <a:ext cx="742188" cy="722376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43983" y="4520183"/>
              <a:ext cx="647700" cy="627888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4443983" y="45201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5" name="object 1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79847" y="4492751"/>
              <a:ext cx="742188" cy="722376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27091" y="4520183"/>
              <a:ext cx="647700" cy="627888"/>
            </a:xfrm>
            <a:prstGeom prst="rect">
              <a:avLst/>
            </a:prstGeom>
          </p:spPr>
        </p:pic>
        <p:sp>
          <p:nvSpPr>
            <p:cNvPr id="127" name="object 127"/>
            <p:cNvSpPr/>
            <p:nvPr/>
          </p:nvSpPr>
          <p:spPr>
            <a:xfrm>
              <a:off x="4927091" y="45201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1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16879" y="4831079"/>
              <a:ext cx="742188" cy="723900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64123" y="4858511"/>
              <a:ext cx="647700" cy="629412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5564123" y="48585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1" name="object 1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9987" y="4831079"/>
              <a:ext cx="740663" cy="723900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47231" y="4858511"/>
              <a:ext cx="646175" cy="629412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6047231" y="4858511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5" y="0"/>
                  </a:lnTo>
                  <a:lnTo>
                    <a:pt x="646175" y="472059"/>
                  </a:lnTo>
                  <a:lnTo>
                    <a:pt x="488822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2" y="157352"/>
                  </a:lnTo>
                  <a:lnTo>
                    <a:pt x="646175" y="0"/>
                  </a:lnTo>
                </a:path>
                <a:path w="646429" h="629920">
                  <a:moveTo>
                    <a:pt x="488822" y="157352"/>
                  </a:moveTo>
                  <a:lnTo>
                    <a:pt x="488822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2099" y="4971288"/>
              <a:ext cx="742188" cy="722376"/>
            </a:xfrm>
            <a:prstGeom prst="rect">
              <a:avLst/>
            </a:prstGeom>
          </p:spPr>
        </p:pic>
        <p:pic>
          <p:nvPicPr>
            <p:cNvPr id="135" name="object 1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419343" y="4998719"/>
              <a:ext cx="647700" cy="627888"/>
            </a:xfrm>
            <a:prstGeom prst="rect">
              <a:avLst/>
            </a:prstGeom>
          </p:spPr>
        </p:pic>
        <p:sp>
          <p:nvSpPr>
            <p:cNvPr id="136" name="object 136"/>
            <p:cNvSpPr/>
            <p:nvPr/>
          </p:nvSpPr>
          <p:spPr>
            <a:xfrm>
              <a:off x="5419343" y="49987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5207" y="4971288"/>
              <a:ext cx="742188" cy="722376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902451" y="4998719"/>
              <a:ext cx="647700" cy="627888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5902451" y="49987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0" name="object 1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516879" y="4352544"/>
              <a:ext cx="742188" cy="723900"/>
            </a:xfrm>
            <a:prstGeom prst="rect">
              <a:avLst/>
            </a:prstGeom>
          </p:spPr>
        </p:pic>
        <p:pic>
          <p:nvPicPr>
            <p:cNvPr id="141" name="object 1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64123" y="4379975"/>
              <a:ext cx="647700" cy="629412"/>
            </a:xfrm>
            <a:prstGeom prst="rect">
              <a:avLst/>
            </a:prstGeom>
          </p:spPr>
        </p:pic>
        <p:sp>
          <p:nvSpPr>
            <p:cNvPr id="142" name="object 142"/>
            <p:cNvSpPr/>
            <p:nvPr/>
          </p:nvSpPr>
          <p:spPr>
            <a:xfrm>
              <a:off x="5564123" y="437997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99987" y="4352544"/>
              <a:ext cx="740663" cy="723900"/>
            </a:xfrm>
            <a:prstGeom prst="rect">
              <a:avLst/>
            </a:prstGeom>
          </p:spPr>
        </p:pic>
        <p:pic>
          <p:nvPicPr>
            <p:cNvPr id="144" name="object 144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047231" y="4379975"/>
              <a:ext cx="646175" cy="629412"/>
            </a:xfrm>
            <a:prstGeom prst="rect">
              <a:avLst/>
            </a:prstGeom>
          </p:spPr>
        </p:pic>
        <p:sp>
          <p:nvSpPr>
            <p:cNvPr id="145" name="object 145"/>
            <p:cNvSpPr/>
            <p:nvPr/>
          </p:nvSpPr>
          <p:spPr>
            <a:xfrm>
              <a:off x="6047231" y="437997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2" y="0"/>
                  </a:lnTo>
                  <a:lnTo>
                    <a:pt x="646175" y="0"/>
                  </a:lnTo>
                  <a:lnTo>
                    <a:pt x="646175" y="472059"/>
                  </a:lnTo>
                  <a:lnTo>
                    <a:pt x="488822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2" y="157353"/>
                  </a:lnTo>
                  <a:lnTo>
                    <a:pt x="646175" y="0"/>
                  </a:lnTo>
                </a:path>
                <a:path w="646429" h="629920">
                  <a:moveTo>
                    <a:pt x="488822" y="157353"/>
                  </a:moveTo>
                  <a:lnTo>
                    <a:pt x="488822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6" name="object 1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2099" y="4492751"/>
              <a:ext cx="742188" cy="722376"/>
            </a:xfrm>
            <a:prstGeom prst="rect">
              <a:avLst/>
            </a:prstGeom>
          </p:spPr>
        </p:pic>
        <p:pic>
          <p:nvPicPr>
            <p:cNvPr id="147" name="object 1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419343" y="4520183"/>
              <a:ext cx="647700" cy="627888"/>
            </a:xfrm>
            <a:prstGeom prst="rect">
              <a:avLst/>
            </a:prstGeom>
          </p:spPr>
        </p:pic>
        <p:sp>
          <p:nvSpPr>
            <p:cNvPr id="148" name="object 148"/>
            <p:cNvSpPr/>
            <p:nvPr/>
          </p:nvSpPr>
          <p:spPr>
            <a:xfrm>
              <a:off x="5419343" y="45201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9" name="object 14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5207" y="4492751"/>
              <a:ext cx="742188" cy="722376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02451" y="4520183"/>
              <a:ext cx="647700" cy="627888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5902451" y="45201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1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9995" y="3874007"/>
              <a:ext cx="742188" cy="72237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587239" y="3901439"/>
              <a:ext cx="647700" cy="627888"/>
            </a:xfrm>
            <a:prstGeom prst="rect">
              <a:avLst/>
            </a:prstGeom>
          </p:spPr>
        </p:pic>
        <p:sp>
          <p:nvSpPr>
            <p:cNvPr id="154" name="object 154"/>
            <p:cNvSpPr/>
            <p:nvPr/>
          </p:nvSpPr>
          <p:spPr>
            <a:xfrm>
              <a:off x="4587239" y="390143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5" name="object 15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3103" y="3874007"/>
              <a:ext cx="742188" cy="722376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070347" y="3901439"/>
              <a:ext cx="647700" cy="627888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5070347" y="390143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8" name="object 15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96739" y="4017263"/>
              <a:ext cx="742188" cy="722376"/>
            </a:xfrm>
            <a:prstGeom prst="rect">
              <a:avLst/>
            </a:prstGeom>
          </p:spPr>
        </p:pic>
        <p:pic>
          <p:nvPicPr>
            <p:cNvPr id="159" name="object 1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443983" y="4041647"/>
              <a:ext cx="647700" cy="627888"/>
            </a:xfrm>
            <a:prstGeom prst="rect">
              <a:avLst/>
            </a:prstGeom>
          </p:spPr>
        </p:pic>
        <p:sp>
          <p:nvSpPr>
            <p:cNvPr id="160" name="object 160"/>
            <p:cNvSpPr/>
            <p:nvPr/>
          </p:nvSpPr>
          <p:spPr>
            <a:xfrm>
              <a:off x="4443983" y="404164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1" name="object 16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79847" y="4017263"/>
              <a:ext cx="742188" cy="722376"/>
            </a:xfrm>
            <a:prstGeom prst="rect">
              <a:avLst/>
            </a:prstGeom>
          </p:spPr>
        </p:pic>
        <p:pic>
          <p:nvPicPr>
            <p:cNvPr id="162" name="object 1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927091" y="4041647"/>
              <a:ext cx="647700" cy="627888"/>
            </a:xfrm>
            <a:prstGeom prst="rect">
              <a:avLst/>
            </a:prstGeom>
          </p:spPr>
        </p:pic>
        <p:sp>
          <p:nvSpPr>
            <p:cNvPr id="163" name="object 163"/>
            <p:cNvSpPr/>
            <p:nvPr/>
          </p:nvSpPr>
          <p:spPr>
            <a:xfrm>
              <a:off x="4927091" y="404164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16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9995" y="3395471"/>
              <a:ext cx="742188" cy="722376"/>
            </a:xfrm>
            <a:prstGeom prst="rect">
              <a:avLst/>
            </a:prstGeom>
          </p:spPr>
        </p:pic>
        <p:pic>
          <p:nvPicPr>
            <p:cNvPr id="165" name="object 165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549139" y="3633215"/>
              <a:ext cx="568451" cy="458724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587239" y="3422903"/>
              <a:ext cx="647700" cy="627888"/>
            </a:xfrm>
            <a:prstGeom prst="rect">
              <a:avLst/>
            </a:prstGeom>
          </p:spPr>
        </p:pic>
        <p:sp>
          <p:nvSpPr>
            <p:cNvPr id="167" name="object 167"/>
            <p:cNvSpPr/>
            <p:nvPr/>
          </p:nvSpPr>
          <p:spPr>
            <a:xfrm>
              <a:off x="4587239" y="342290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8" name="object 16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23103" y="3395471"/>
              <a:ext cx="742188" cy="722376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070347" y="3422903"/>
              <a:ext cx="647700" cy="627888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5070347" y="342290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1" name="object 17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96739" y="3534155"/>
              <a:ext cx="742188" cy="723900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443983" y="3561587"/>
              <a:ext cx="647700" cy="629412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4443983" y="356158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79847" y="3534155"/>
              <a:ext cx="742188" cy="723900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927091" y="3561587"/>
              <a:ext cx="647700" cy="629412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4927091" y="356158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3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6879" y="3874007"/>
              <a:ext cx="742188" cy="722376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564123" y="3901439"/>
              <a:ext cx="647700" cy="627888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5564123" y="390143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999987" y="3877055"/>
              <a:ext cx="740663" cy="72237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6047231" y="3901439"/>
              <a:ext cx="646175" cy="627888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6047231" y="3901439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5" y="0"/>
                  </a:lnTo>
                  <a:lnTo>
                    <a:pt x="646175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5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72099" y="4017263"/>
              <a:ext cx="742188" cy="722376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419343" y="4041647"/>
              <a:ext cx="647700" cy="627888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5419343" y="404164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55207" y="4017263"/>
              <a:ext cx="742188" cy="722376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902451" y="4041647"/>
              <a:ext cx="647700" cy="627888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5902451" y="404164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16879" y="3395471"/>
              <a:ext cx="742188" cy="722376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564123" y="3422903"/>
              <a:ext cx="647700" cy="627888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5564123" y="342290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9987" y="3395471"/>
              <a:ext cx="740663" cy="72237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047231" y="3422903"/>
              <a:ext cx="646175" cy="627888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6047231" y="3422903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5" y="0"/>
                  </a:lnTo>
                  <a:lnTo>
                    <a:pt x="646175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5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2099" y="3534155"/>
              <a:ext cx="742188" cy="723900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19343" y="3561587"/>
              <a:ext cx="647700" cy="629412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5419343" y="356158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55207" y="3534155"/>
              <a:ext cx="742188" cy="723900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902451" y="3561587"/>
              <a:ext cx="647700" cy="629412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5902451" y="356158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096511" y="5602223"/>
              <a:ext cx="3456432" cy="425195"/>
            </a:xfrm>
            <a:prstGeom prst="rect">
              <a:avLst/>
            </a:prstGeom>
          </p:spPr>
        </p:pic>
        <p:sp>
          <p:nvSpPr>
            <p:cNvPr id="202" name="object 202"/>
            <p:cNvSpPr/>
            <p:nvPr/>
          </p:nvSpPr>
          <p:spPr>
            <a:xfrm>
              <a:off x="4139945" y="5706379"/>
              <a:ext cx="3201035" cy="171450"/>
            </a:xfrm>
            <a:custGeom>
              <a:avLst/>
              <a:gdLst/>
              <a:ahLst/>
              <a:cxnLst/>
              <a:rect l="l" t="t" r="r" b="b"/>
              <a:pathLst>
                <a:path w="3201034" h="171450">
                  <a:moveTo>
                    <a:pt x="3050839" y="0"/>
                  </a:moveTo>
                  <a:lnTo>
                    <a:pt x="3043539" y="470"/>
                  </a:lnTo>
                  <a:lnTo>
                    <a:pt x="3036976" y="3641"/>
                  </a:lnTo>
                  <a:lnTo>
                    <a:pt x="3031998" y="9294"/>
                  </a:lnTo>
                  <a:lnTo>
                    <a:pt x="3029533" y="16450"/>
                  </a:lnTo>
                  <a:lnTo>
                    <a:pt x="3029997" y="23737"/>
                  </a:lnTo>
                  <a:lnTo>
                    <a:pt x="3033176" y="30314"/>
                  </a:lnTo>
                  <a:lnTo>
                    <a:pt x="3038855" y="35341"/>
                  </a:lnTo>
                  <a:lnTo>
                    <a:pt x="3092222" y="66536"/>
                  </a:lnTo>
                  <a:lnTo>
                    <a:pt x="3162680" y="66571"/>
                  </a:lnTo>
                  <a:lnTo>
                    <a:pt x="3162680" y="104671"/>
                  </a:lnTo>
                  <a:lnTo>
                    <a:pt x="3092109" y="104671"/>
                  </a:lnTo>
                  <a:lnTo>
                    <a:pt x="3038729" y="135786"/>
                  </a:lnTo>
                  <a:lnTo>
                    <a:pt x="3033103" y="140811"/>
                  </a:lnTo>
                  <a:lnTo>
                    <a:pt x="3029918" y="147385"/>
                  </a:lnTo>
                  <a:lnTo>
                    <a:pt x="3029424" y="154672"/>
                  </a:lnTo>
                  <a:lnTo>
                    <a:pt x="3031871" y="161833"/>
                  </a:lnTo>
                  <a:lnTo>
                    <a:pt x="3036921" y="167488"/>
                  </a:lnTo>
                  <a:lnTo>
                    <a:pt x="3043507" y="170664"/>
                  </a:lnTo>
                  <a:lnTo>
                    <a:pt x="3050784" y="171143"/>
                  </a:lnTo>
                  <a:lnTo>
                    <a:pt x="3057905" y="168704"/>
                  </a:lnTo>
                  <a:lnTo>
                    <a:pt x="3167859" y="104671"/>
                  </a:lnTo>
                  <a:lnTo>
                    <a:pt x="3162680" y="104671"/>
                  </a:lnTo>
                  <a:lnTo>
                    <a:pt x="3167919" y="104636"/>
                  </a:lnTo>
                  <a:lnTo>
                    <a:pt x="3200527" y="85646"/>
                  </a:lnTo>
                  <a:lnTo>
                    <a:pt x="3058032" y="2448"/>
                  </a:lnTo>
                  <a:lnTo>
                    <a:pt x="3050839" y="0"/>
                  </a:lnTo>
                  <a:close/>
                </a:path>
                <a:path w="3201034" h="171450">
                  <a:moveTo>
                    <a:pt x="3124831" y="85597"/>
                  </a:moveTo>
                  <a:lnTo>
                    <a:pt x="3092169" y="104636"/>
                  </a:lnTo>
                  <a:lnTo>
                    <a:pt x="3162680" y="104671"/>
                  </a:lnTo>
                  <a:lnTo>
                    <a:pt x="3162680" y="102080"/>
                  </a:lnTo>
                  <a:lnTo>
                    <a:pt x="3153029" y="102080"/>
                  </a:lnTo>
                  <a:lnTo>
                    <a:pt x="3124831" y="85597"/>
                  </a:lnTo>
                  <a:close/>
                </a:path>
                <a:path w="3201034" h="171450">
                  <a:moveTo>
                    <a:pt x="0" y="65008"/>
                  </a:moveTo>
                  <a:lnTo>
                    <a:pt x="0" y="103108"/>
                  </a:lnTo>
                  <a:lnTo>
                    <a:pt x="3092169" y="104636"/>
                  </a:lnTo>
                  <a:lnTo>
                    <a:pt x="3124831" y="85597"/>
                  </a:lnTo>
                  <a:lnTo>
                    <a:pt x="3092222" y="66536"/>
                  </a:lnTo>
                  <a:lnTo>
                    <a:pt x="0" y="65008"/>
                  </a:lnTo>
                  <a:close/>
                </a:path>
                <a:path w="3201034" h="171450">
                  <a:moveTo>
                    <a:pt x="3153029" y="69161"/>
                  </a:moveTo>
                  <a:lnTo>
                    <a:pt x="3124831" y="85597"/>
                  </a:lnTo>
                  <a:lnTo>
                    <a:pt x="3153029" y="102080"/>
                  </a:lnTo>
                  <a:lnTo>
                    <a:pt x="3153029" y="69161"/>
                  </a:lnTo>
                  <a:close/>
                </a:path>
                <a:path w="3201034" h="171450">
                  <a:moveTo>
                    <a:pt x="3162680" y="69161"/>
                  </a:moveTo>
                  <a:lnTo>
                    <a:pt x="3153029" y="69161"/>
                  </a:lnTo>
                  <a:lnTo>
                    <a:pt x="3153029" y="102080"/>
                  </a:lnTo>
                  <a:lnTo>
                    <a:pt x="3162680" y="102080"/>
                  </a:lnTo>
                  <a:lnTo>
                    <a:pt x="3162680" y="69161"/>
                  </a:lnTo>
                  <a:close/>
                </a:path>
                <a:path w="3201034" h="171450">
                  <a:moveTo>
                    <a:pt x="3092222" y="66536"/>
                  </a:moveTo>
                  <a:lnTo>
                    <a:pt x="3124831" y="85597"/>
                  </a:lnTo>
                  <a:lnTo>
                    <a:pt x="3153029" y="69161"/>
                  </a:lnTo>
                  <a:lnTo>
                    <a:pt x="3162680" y="69161"/>
                  </a:lnTo>
                  <a:lnTo>
                    <a:pt x="3162680" y="66571"/>
                  </a:lnTo>
                  <a:lnTo>
                    <a:pt x="3092222" y="66536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3" name="object 203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81271" y="2706623"/>
              <a:ext cx="423672" cy="3302507"/>
            </a:xfrm>
            <a:prstGeom prst="rect">
              <a:avLst/>
            </a:prstGeom>
          </p:spPr>
        </p:pic>
        <p:sp>
          <p:nvSpPr>
            <p:cNvPr id="204" name="object 204"/>
            <p:cNvSpPr/>
            <p:nvPr/>
          </p:nvSpPr>
          <p:spPr>
            <a:xfrm>
              <a:off x="4207529" y="2896234"/>
              <a:ext cx="171450" cy="3047365"/>
            </a:xfrm>
            <a:custGeom>
              <a:avLst/>
              <a:gdLst/>
              <a:ahLst/>
              <a:cxnLst/>
              <a:rect l="l" t="t" r="r" b="b"/>
              <a:pathLst>
                <a:path w="171450" h="3047365">
                  <a:moveTo>
                    <a:pt x="85601" y="75676"/>
                  </a:moveTo>
                  <a:lnTo>
                    <a:pt x="66510" y="108304"/>
                  </a:lnTo>
                  <a:lnTo>
                    <a:pt x="65766" y="3047326"/>
                  </a:lnTo>
                  <a:lnTo>
                    <a:pt x="103866" y="3047326"/>
                  </a:lnTo>
                  <a:lnTo>
                    <a:pt x="104598" y="108304"/>
                  </a:lnTo>
                  <a:lnTo>
                    <a:pt x="85601" y="75676"/>
                  </a:lnTo>
                  <a:close/>
                </a:path>
                <a:path w="171450" h="3047365">
                  <a:moveTo>
                    <a:pt x="107652" y="37845"/>
                  </a:moveTo>
                  <a:lnTo>
                    <a:pt x="104628" y="37845"/>
                  </a:lnTo>
                  <a:lnTo>
                    <a:pt x="104610" y="108325"/>
                  </a:lnTo>
                  <a:lnTo>
                    <a:pt x="135743" y="161798"/>
                  </a:lnTo>
                  <a:lnTo>
                    <a:pt x="140793" y="167405"/>
                  </a:lnTo>
                  <a:lnTo>
                    <a:pt x="147379" y="170561"/>
                  </a:lnTo>
                  <a:lnTo>
                    <a:pt x="154656" y="171049"/>
                  </a:lnTo>
                  <a:lnTo>
                    <a:pt x="161778" y="168655"/>
                  </a:lnTo>
                  <a:lnTo>
                    <a:pt x="167459" y="163605"/>
                  </a:lnTo>
                  <a:lnTo>
                    <a:pt x="170654" y="156987"/>
                  </a:lnTo>
                  <a:lnTo>
                    <a:pt x="171154" y="149742"/>
                  </a:lnTo>
                  <a:lnTo>
                    <a:pt x="168763" y="142620"/>
                  </a:lnTo>
                  <a:lnTo>
                    <a:pt x="107652" y="37845"/>
                  </a:lnTo>
                  <a:close/>
                </a:path>
                <a:path w="171450" h="3047365">
                  <a:moveTo>
                    <a:pt x="85578" y="0"/>
                  </a:moveTo>
                  <a:lnTo>
                    <a:pt x="2393" y="142493"/>
                  </a:lnTo>
                  <a:lnTo>
                    <a:pt x="0" y="149687"/>
                  </a:lnTo>
                  <a:lnTo>
                    <a:pt x="488" y="156987"/>
                  </a:lnTo>
                  <a:lnTo>
                    <a:pt x="3643" y="163550"/>
                  </a:lnTo>
                  <a:lnTo>
                    <a:pt x="9251" y="168528"/>
                  </a:lnTo>
                  <a:lnTo>
                    <a:pt x="16444" y="170993"/>
                  </a:lnTo>
                  <a:lnTo>
                    <a:pt x="23745" y="170529"/>
                  </a:lnTo>
                  <a:lnTo>
                    <a:pt x="30307" y="167350"/>
                  </a:lnTo>
                  <a:lnTo>
                    <a:pt x="35286" y="161670"/>
                  </a:lnTo>
                  <a:lnTo>
                    <a:pt x="66498" y="108325"/>
                  </a:lnTo>
                  <a:lnTo>
                    <a:pt x="66528" y="37845"/>
                  </a:lnTo>
                  <a:lnTo>
                    <a:pt x="107652" y="37845"/>
                  </a:lnTo>
                  <a:lnTo>
                    <a:pt x="85578" y="0"/>
                  </a:lnTo>
                  <a:close/>
                </a:path>
                <a:path w="171450" h="3047365">
                  <a:moveTo>
                    <a:pt x="104625" y="47498"/>
                  </a:moveTo>
                  <a:lnTo>
                    <a:pt x="102088" y="47498"/>
                  </a:lnTo>
                  <a:lnTo>
                    <a:pt x="85601" y="75676"/>
                  </a:lnTo>
                  <a:lnTo>
                    <a:pt x="104610" y="108325"/>
                  </a:lnTo>
                  <a:lnTo>
                    <a:pt x="104625" y="47498"/>
                  </a:lnTo>
                  <a:close/>
                </a:path>
                <a:path w="171450" h="3047365">
                  <a:moveTo>
                    <a:pt x="104628" y="37845"/>
                  </a:moveTo>
                  <a:lnTo>
                    <a:pt x="66528" y="37845"/>
                  </a:lnTo>
                  <a:lnTo>
                    <a:pt x="66510" y="108304"/>
                  </a:lnTo>
                  <a:lnTo>
                    <a:pt x="85601" y="75676"/>
                  </a:lnTo>
                  <a:lnTo>
                    <a:pt x="69195" y="47498"/>
                  </a:lnTo>
                  <a:lnTo>
                    <a:pt x="104625" y="47498"/>
                  </a:lnTo>
                  <a:lnTo>
                    <a:pt x="104628" y="37845"/>
                  </a:lnTo>
                  <a:close/>
                </a:path>
                <a:path w="171450" h="3047365">
                  <a:moveTo>
                    <a:pt x="102088" y="47498"/>
                  </a:moveTo>
                  <a:lnTo>
                    <a:pt x="69195" y="47498"/>
                  </a:lnTo>
                  <a:lnTo>
                    <a:pt x="85601" y="75676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5" name="object 205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70319" y="4686300"/>
              <a:ext cx="1258824" cy="1258824"/>
            </a:xfrm>
            <a:prstGeom prst="rect">
              <a:avLst/>
            </a:prstGeom>
          </p:spPr>
        </p:pic>
        <p:sp>
          <p:nvSpPr>
            <p:cNvPr id="206" name="object 206"/>
            <p:cNvSpPr/>
            <p:nvPr/>
          </p:nvSpPr>
          <p:spPr>
            <a:xfrm>
              <a:off x="6412483" y="4876038"/>
              <a:ext cx="1004569" cy="1004569"/>
            </a:xfrm>
            <a:custGeom>
              <a:avLst/>
              <a:gdLst/>
              <a:ahLst/>
              <a:cxnLst/>
              <a:rect l="l" t="t" r="r" b="b"/>
              <a:pathLst>
                <a:path w="1004570" h="1004570">
                  <a:moveTo>
                    <a:pt x="950676" y="53385"/>
                  </a:moveTo>
                  <a:lnTo>
                    <a:pt x="914136" y="63001"/>
                  </a:lnTo>
                  <a:lnTo>
                    <a:pt x="0" y="977125"/>
                  </a:lnTo>
                  <a:lnTo>
                    <a:pt x="26924" y="1004074"/>
                  </a:lnTo>
                  <a:lnTo>
                    <a:pt x="941060" y="89925"/>
                  </a:lnTo>
                  <a:lnTo>
                    <a:pt x="950676" y="53385"/>
                  </a:lnTo>
                  <a:close/>
                </a:path>
                <a:path w="1004570" h="1004570">
                  <a:moveTo>
                    <a:pt x="1000591" y="13207"/>
                  </a:moveTo>
                  <a:lnTo>
                    <a:pt x="963930" y="13207"/>
                  </a:lnTo>
                  <a:lnTo>
                    <a:pt x="990854" y="40131"/>
                  </a:lnTo>
                  <a:lnTo>
                    <a:pt x="941060" y="89925"/>
                  </a:lnTo>
                  <a:lnTo>
                    <a:pt x="925321" y="149732"/>
                  </a:lnTo>
                  <a:lnTo>
                    <a:pt x="924891" y="157349"/>
                  </a:lnTo>
                  <a:lnTo>
                    <a:pt x="927306" y="164274"/>
                  </a:lnTo>
                  <a:lnTo>
                    <a:pt x="932126" y="169771"/>
                  </a:lnTo>
                  <a:lnTo>
                    <a:pt x="938911" y="173100"/>
                  </a:lnTo>
                  <a:lnTo>
                    <a:pt x="946453" y="173531"/>
                  </a:lnTo>
                  <a:lnTo>
                    <a:pt x="953341" y="171116"/>
                  </a:lnTo>
                  <a:lnTo>
                    <a:pt x="958824" y="166296"/>
                  </a:lnTo>
                  <a:lnTo>
                    <a:pt x="962151" y="159512"/>
                  </a:lnTo>
                  <a:lnTo>
                    <a:pt x="1000591" y="13207"/>
                  </a:lnTo>
                  <a:close/>
                </a:path>
                <a:path w="1004570" h="1004570">
                  <a:moveTo>
                    <a:pt x="972565" y="21843"/>
                  </a:moveTo>
                  <a:lnTo>
                    <a:pt x="958976" y="21843"/>
                  </a:lnTo>
                  <a:lnTo>
                    <a:pt x="982217" y="45085"/>
                  </a:lnTo>
                  <a:lnTo>
                    <a:pt x="950676" y="53385"/>
                  </a:lnTo>
                  <a:lnTo>
                    <a:pt x="941060" y="89925"/>
                  </a:lnTo>
                  <a:lnTo>
                    <a:pt x="990854" y="40131"/>
                  </a:lnTo>
                  <a:lnTo>
                    <a:pt x="972565" y="21843"/>
                  </a:lnTo>
                  <a:close/>
                </a:path>
                <a:path w="1004570" h="1004570">
                  <a:moveTo>
                    <a:pt x="1004062" y="0"/>
                  </a:moveTo>
                  <a:lnTo>
                    <a:pt x="844549" y="41910"/>
                  </a:lnTo>
                  <a:lnTo>
                    <a:pt x="837765" y="45237"/>
                  </a:lnTo>
                  <a:lnTo>
                    <a:pt x="832945" y="50720"/>
                  </a:lnTo>
                  <a:lnTo>
                    <a:pt x="830530" y="57608"/>
                  </a:lnTo>
                  <a:lnTo>
                    <a:pt x="830961" y="65150"/>
                  </a:lnTo>
                  <a:lnTo>
                    <a:pt x="834290" y="71935"/>
                  </a:lnTo>
                  <a:lnTo>
                    <a:pt x="839787" y="76755"/>
                  </a:lnTo>
                  <a:lnTo>
                    <a:pt x="846712" y="79170"/>
                  </a:lnTo>
                  <a:lnTo>
                    <a:pt x="854329" y="78739"/>
                  </a:lnTo>
                  <a:lnTo>
                    <a:pt x="914136" y="63001"/>
                  </a:lnTo>
                  <a:lnTo>
                    <a:pt x="963930" y="13207"/>
                  </a:lnTo>
                  <a:lnTo>
                    <a:pt x="1000591" y="13207"/>
                  </a:lnTo>
                  <a:lnTo>
                    <a:pt x="1004062" y="0"/>
                  </a:lnTo>
                  <a:close/>
                </a:path>
                <a:path w="1004570" h="1004570">
                  <a:moveTo>
                    <a:pt x="963930" y="13207"/>
                  </a:moveTo>
                  <a:lnTo>
                    <a:pt x="914136" y="63001"/>
                  </a:lnTo>
                  <a:lnTo>
                    <a:pt x="950676" y="53385"/>
                  </a:lnTo>
                  <a:lnTo>
                    <a:pt x="958976" y="21843"/>
                  </a:lnTo>
                  <a:lnTo>
                    <a:pt x="972565" y="21843"/>
                  </a:lnTo>
                  <a:lnTo>
                    <a:pt x="963930" y="13207"/>
                  </a:lnTo>
                  <a:close/>
                </a:path>
                <a:path w="1004570" h="1004570">
                  <a:moveTo>
                    <a:pt x="958976" y="21843"/>
                  </a:moveTo>
                  <a:lnTo>
                    <a:pt x="950676" y="53385"/>
                  </a:lnTo>
                  <a:lnTo>
                    <a:pt x="982217" y="45085"/>
                  </a:lnTo>
                  <a:lnTo>
                    <a:pt x="958976" y="2184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7" name="object 207"/>
          <p:cNvSpPr txBox="1"/>
          <p:nvPr/>
        </p:nvSpPr>
        <p:spPr>
          <a:xfrm>
            <a:off x="3508375" y="3029788"/>
            <a:ext cx="1473200" cy="894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Product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290"/>
              </a:spcBef>
            </a:pPr>
            <a:r>
              <a:rPr sz="1400" spc="-5" dirty="0">
                <a:latin typeface="Calibri"/>
                <a:cs typeface="Calibri"/>
              </a:rPr>
              <a:t>818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7463155" y="4756530"/>
            <a:ext cx="443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9" name="object 209"/>
          <p:cNvSpPr/>
          <p:nvPr/>
        </p:nvSpPr>
        <p:spPr>
          <a:xfrm>
            <a:off x="6882383" y="5180076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152400"/>
                </a:moveTo>
                <a:lnTo>
                  <a:pt x="152400" y="228600"/>
                </a:lnTo>
              </a:path>
              <a:path w="304800" h="228600">
                <a:moveTo>
                  <a:pt x="152400" y="0"/>
                </a:moveTo>
                <a:lnTo>
                  <a:pt x="304800" y="762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 txBox="1"/>
          <p:nvPr/>
        </p:nvSpPr>
        <p:spPr>
          <a:xfrm>
            <a:off x="7114793" y="5206110"/>
            <a:ext cx="950594" cy="951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ts val="132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13.11.2015</a:t>
            </a:r>
            <a:endParaRPr sz="1200">
              <a:latin typeface="Calibri"/>
              <a:cs typeface="Calibri"/>
            </a:endParaRPr>
          </a:p>
          <a:p>
            <a:pPr marL="165100">
              <a:lnSpc>
                <a:spcPts val="1320"/>
              </a:lnSpc>
            </a:pPr>
            <a:r>
              <a:rPr sz="1200" spc="-5" dirty="0">
                <a:latin typeface="Calibri"/>
                <a:cs typeface="Calibri"/>
              </a:rPr>
              <a:t>18.12.2015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5" dirty="0">
                <a:latin typeface="Calibri"/>
                <a:cs typeface="Calibri"/>
              </a:rPr>
              <a:t>Geography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3696080" y="4367529"/>
            <a:ext cx="513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La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ops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210811" y="4489703"/>
            <a:ext cx="1466850" cy="1928495"/>
            <a:chOff x="4210811" y="4489703"/>
            <a:chExt cx="1466850" cy="1928495"/>
          </a:xfrm>
        </p:grpSpPr>
        <p:pic>
          <p:nvPicPr>
            <p:cNvPr id="213" name="object 213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732146" y="5951334"/>
              <a:ext cx="945133" cy="466344"/>
            </a:xfrm>
            <a:prstGeom prst="rect">
              <a:avLst/>
            </a:prstGeom>
          </p:spPr>
        </p:pic>
        <p:sp>
          <p:nvSpPr>
            <p:cNvPr id="214" name="object 214"/>
            <p:cNvSpPr/>
            <p:nvPr/>
          </p:nvSpPr>
          <p:spPr>
            <a:xfrm>
              <a:off x="4215383" y="4494275"/>
              <a:ext cx="152400" cy="382905"/>
            </a:xfrm>
            <a:custGeom>
              <a:avLst/>
              <a:gdLst/>
              <a:ahLst/>
              <a:cxnLst/>
              <a:rect l="l" t="t" r="r" b="b"/>
              <a:pathLst>
                <a:path w="152400" h="382904">
                  <a:moveTo>
                    <a:pt x="0" y="0"/>
                  </a:moveTo>
                  <a:lnTo>
                    <a:pt x="152400" y="1524"/>
                  </a:lnTo>
                </a:path>
                <a:path w="152400" h="382904">
                  <a:moveTo>
                    <a:pt x="0" y="381000"/>
                  </a:moveTo>
                  <a:lnTo>
                    <a:pt x="152400" y="382524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5204459" y="5714999"/>
              <a:ext cx="459740" cy="227965"/>
            </a:xfrm>
            <a:custGeom>
              <a:avLst/>
              <a:gdLst/>
              <a:ahLst/>
              <a:cxnLst/>
              <a:rect l="l" t="t" r="r" b="b"/>
              <a:pathLst>
                <a:path w="459739" h="227964">
                  <a:moveTo>
                    <a:pt x="1650" y="0"/>
                  </a:moveTo>
                  <a:lnTo>
                    <a:pt x="0" y="152400"/>
                  </a:lnTo>
                </a:path>
                <a:path w="459739" h="227964">
                  <a:moveTo>
                    <a:pt x="459486" y="0"/>
                  </a:moveTo>
                  <a:lnTo>
                    <a:pt x="458724" y="227799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6" name="object 216"/>
          <p:cNvSpPr txBox="1"/>
          <p:nvPr/>
        </p:nvSpPr>
        <p:spPr>
          <a:xfrm>
            <a:off x="3813175" y="4770501"/>
            <a:ext cx="350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ell</a:t>
            </a:r>
            <a:r>
              <a:rPr sz="1200" spc="-150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529320" cy="2003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40" dirty="0">
                <a:latin typeface="Trebuchet MS"/>
                <a:cs typeface="Trebuchet MS"/>
              </a:rPr>
              <a:t>Dic</a:t>
            </a:r>
            <a:r>
              <a:rPr sz="3200" spc="-45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:</a:t>
            </a:r>
            <a:r>
              <a:rPr sz="3200" spc="-409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amo</a:t>
            </a:r>
            <a:r>
              <a:rPr sz="3200" spc="-130" dirty="0">
                <a:latin typeface="Trebuchet MS"/>
                <a:cs typeface="Trebuchet MS"/>
              </a:rPr>
              <a:t>u</a:t>
            </a:r>
            <a:r>
              <a:rPr sz="3200" spc="-140" dirty="0">
                <a:latin typeface="Trebuchet MS"/>
                <a:cs typeface="Trebuchet MS"/>
              </a:rPr>
              <a:t>nts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5" dirty="0">
                <a:latin typeface="Trebuchet MS"/>
                <a:cs typeface="Trebuchet MS"/>
              </a:rPr>
              <a:t>ra</a:t>
            </a:r>
            <a:r>
              <a:rPr sz="3200" b="1" spc="20" dirty="0">
                <a:latin typeface="Trebuchet MS"/>
                <a:cs typeface="Trebuchet MS"/>
              </a:rPr>
              <a:t>n</a:t>
            </a:r>
            <a:r>
              <a:rPr sz="3200" b="1" spc="85" dirty="0">
                <a:latin typeface="Trebuchet MS"/>
                <a:cs typeface="Trebuchet MS"/>
              </a:rPr>
              <a:t>g</a:t>
            </a:r>
            <a:r>
              <a:rPr sz="3200" b="1" spc="-75" dirty="0">
                <a:latin typeface="Trebuchet MS"/>
                <a:cs typeface="Trebuchet MS"/>
              </a:rPr>
              <a:t>e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b="1" spc="-55" dirty="0">
                <a:latin typeface="Trebuchet MS"/>
                <a:cs typeface="Trebuchet MS"/>
              </a:rPr>
              <a:t>sel</a:t>
            </a:r>
            <a:r>
              <a:rPr sz="3200" b="1" spc="-90" dirty="0">
                <a:latin typeface="Trebuchet MS"/>
                <a:cs typeface="Trebuchet MS"/>
              </a:rPr>
              <a:t>e</a:t>
            </a:r>
            <a:r>
              <a:rPr sz="3200" b="1" spc="-5" dirty="0">
                <a:latin typeface="Trebuchet MS"/>
                <a:cs typeface="Trebuchet MS"/>
              </a:rPr>
              <a:t>ct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25" dirty="0">
                <a:latin typeface="Trebuchet MS"/>
                <a:cs typeface="Trebuchet MS"/>
              </a:rPr>
              <a:t>c</a:t>
            </a:r>
            <a:r>
              <a:rPr sz="3200" b="1" spc="35" dirty="0">
                <a:latin typeface="Trebuchet MS"/>
                <a:cs typeface="Trebuchet MS"/>
              </a:rPr>
              <a:t>o</a:t>
            </a:r>
            <a:r>
              <a:rPr sz="3200" b="1" spc="-15" dirty="0">
                <a:latin typeface="Trebuchet MS"/>
                <a:cs typeface="Trebuchet MS"/>
              </a:rPr>
              <a:t>ndition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spc="-40" dirty="0">
                <a:latin typeface="Trebuchet MS"/>
                <a:cs typeface="Trebuchet MS"/>
              </a:rPr>
              <a:t>on  </a:t>
            </a:r>
            <a:r>
              <a:rPr sz="3200" spc="-105" dirty="0">
                <a:latin typeface="Trebuchet MS"/>
                <a:cs typeface="Trebuchet MS"/>
              </a:rPr>
              <a:t>one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dime</a:t>
            </a:r>
            <a:r>
              <a:rPr sz="3200" spc="-170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sio</a:t>
            </a:r>
            <a:r>
              <a:rPr sz="3200" spc="-110" dirty="0">
                <a:latin typeface="Trebuchet MS"/>
                <a:cs typeface="Trebuchet MS"/>
              </a:rPr>
              <a:t>n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-40" dirty="0">
                <a:latin typeface="Trebuchet MS"/>
                <a:cs typeface="Trebuchet MS"/>
              </a:rPr>
              <a:t>equality</a:t>
            </a:r>
            <a:r>
              <a:rPr sz="3200" b="1" spc="-95" dirty="0">
                <a:latin typeface="Trebuchet MS"/>
                <a:cs typeface="Trebuchet MS"/>
              </a:rPr>
              <a:t> </a:t>
            </a:r>
            <a:r>
              <a:rPr sz="3200" b="1" spc="-55" dirty="0">
                <a:latin typeface="Trebuchet MS"/>
                <a:cs typeface="Trebuchet MS"/>
              </a:rPr>
              <a:t>sel</a:t>
            </a:r>
            <a:r>
              <a:rPr sz="3200" b="1" spc="-90" dirty="0">
                <a:latin typeface="Trebuchet MS"/>
                <a:cs typeface="Trebuchet MS"/>
              </a:rPr>
              <a:t>e</a:t>
            </a:r>
            <a:r>
              <a:rPr sz="3200" b="1" spc="-5" dirty="0">
                <a:latin typeface="Trebuchet MS"/>
                <a:cs typeface="Trebuchet MS"/>
              </a:rPr>
              <a:t>ct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25" dirty="0">
                <a:latin typeface="Trebuchet MS"/>
                <a:cs typeface="Trebuchet MS"/>
              </a:rPr>
              <a:t>c</a:t>
            </a:r>
            <a:r>
              <a:rPr sz="3200" b="1" spc="35" dirty="0">
                <a:latin typeface="Trebuchet MS"/>
                <a:cs typeface="Trebuchet MS"/>
              </a:rPr>
              <a:t>o</a:t>
            </a:r>
            <a:r>
              <a:rPr sz="3200" b="1" spc="-10" dirty="0">
                <a:latin typeface="Trebuchet MS"/>
                <a:cs typeface="Trebuchet MS"/>
              </a:rPr>
              <a:t>nditi</a:t>
            </a:r>
            <a:r>
              <a:rPr sz="3200" b="1" spc="-30" dirty="0">
                <a:latin typeface="Trebuchet MS"/>
                <a:cs typeface="Trebuchet MS"/>
              </a:rPr>
              <a:t>o</a:t>
            </a:r>
            <a:r>
              <a:rPr sz="3200" b="1" spc="-15" dirty="0">
                <a:latin typeface="Trebuchet MS"/>
                <a:cs typeface="Trebuchet MS"/>
              </a:rPr>
              <a:t>n 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b="1" spc="185" dirty="0">
                <a:latin typeface="Trebuchet MS"/>
                <a:cs typeface="Trebuchet MS"/>
              </a:rPr>
              <a:t>mo</a:t>
            </a:r>
            <a:r>
              <a:rPr sz="3200" b="1" spc="55" dirty="0">
                <a:latin typeface="Trebuchet MS"/>
                <a:cs typeface="Trebuchet MS"/>
              </a:rPr>
              <a:t>r</a:t>
            </a:r>
            <a:r>
              <a:rPr sz="3200" b="1" spc="-70" dirty="0">
                <a:latin typeface="Trebuchet MS"/>
                <a:cs typeface="Trebuchet MS"/>
              </a:rPr>
              <a:t>e</a:t>
            </a:r>
            <a:r>
              <a:rPr sz="3200" b="1" spc="-11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tha</a:t>
            </a:r>
            <a:r>
              <a:rPr sz="3200" spc="-220" dirty="0">
                <a:latin typeface="Trebuchet MS"/>
                <a:cs typeface="Trebuchet MS"/>
              </a:rPr>
              <a:t>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one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dimens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290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range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LECT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293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110" dirty="0"/>
              <a:t>Dice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744" y="3561663"/>
            <a:ext cx="3155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27325" algn="l"/>
              </a:tabLst>
            </a:pPr>
            <a:r>
              <a:rPr sz="4000" spc="-5" dirty="0">
                <a:latin typeface="Symbol"/>
                <a:cs typeface="Symbol"/>
              </a:rPr>
              <a:t></a:t>
            </a:r>
            <a:r>
              <a:rPr sz="4000" spc="-5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0636" y="3918280"/>
            <a:ext cx="368871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862580" algn="l"/>
              </a:tabLst>
            </a:pPr>
            <a:r>
              <a:rPr sz="1850" spc="10" dirty="0">
                <a:latin typeface="Calibri"/>
                <a:cs typeface="Calibri"/>
              </a:rPr>
              <a:t>S</a:t>
            </a:r>
            <a:r>
              <a:rPr sz="1850" spc="-10" dirty="0">
                <a:latin typeface="Calibri"/>
                <a:cs typeface="Calibri"/>
              </a:rPr>
              <a:t>t</a:t>
            </a:r>
            <a:r>
              <a:rPr sz="1850" spc="5" dirty="0">
                <a:latin typeface="Calibri"/>
                <a:cs typeface="Calibri"/>
              </a:rPr>
              <a:t>o</a:t>
            </a:r>
            <a:r>
              <a:rPr sz="1850" spc="-30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eI</a:t>
            </a:r>
            <a:r>
              <a:rPr sz="1850" dirty="0">
                <a:latin typeface="Calibri"/>
                <a:cs typeface="Calibri"/>
              </a:rPr>
              <a:t>d</a:t>
            </a:r>
            <a:r>
              <a:rPr sz="1850" spc="5" dirty="0">
                <a:latin typeface="Calibri"/>
                <a:cs typeface="Calibri"/>
              </a:rPr>
              <a:t>,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TimeId,</a:t>
            </a:r>
            <a:r>
              <a:rPr sz="1850" spc="-35" dirty="0">
                <a:latin typeface="Calibri"/>
                <a:cs typeface="Calibri"/>
              </a:rPr>
              <a:t> </a:t>
            </a:r>
            <a:r>
              <a:rPr sz="1850" spc="15" dirty="0">
                <a:latin typeface="Calibri"/>
                <a:cs typeface="Calibri"/>
              </a:rPr>
              <a:t>Am</a:t>
            </a:r>
            <a:r>
              <a:rPr sz="1850" dirty="0">
                <a:latin typeface="Calibri"/>
                <a:cs typeface="Calibri"/>
              </a:rPr>
              <a:t>o</a:t>
            </a:r>
            <a:r>
              <a:rPr sz="1850" spc="5" dirty="0">
                <a:latin typeface="Calibri"/>
                <a:cs typeface="Calibri"/>
              </a:rPr>
              <a:t>u</a:t>
            </a:r>
            <a:r>
              <a:rPr sz="1850" spc="-5" dirty="0">
                <a:latin typeface="Calibri"/>
                <a:cs typeface="Calibri"/>
              </a:rPr>
              <a:t>n</a:t>
            </a:r>
            <a:r>
              <a:rPr sz="1850" spc="5" dirty="0">
                <a:latin typeface="Calibri"/>
                <a:cs typeface="Calibri"/>
              </a:rPr>
              <a:t>t</a:t>
            </a:r>
            <a:r>
              <a:rPr sz="1850" dirty="0">
                <a:latin typeface="Calibri"/>
                <a:cs typeface="Calibri"/>
              </a:rPr>
              <a:t>	</a:t>
            </a:r>
            <a:r>
              <a:rPr sz="1850" spc="10" dirty="0">
                <a:latin typeface="Calibri"/>
                <a:cs typeface="Calibri"/>
              </a:rPr>
              <a:t>A</a:t>
            </a:r>
            <a:r>
              <a:rPr sz="1850" spc="-10" dirty="0">
                <a:latin typeface="Calibri"/>
                <a:cs typeface="Calibri"/>
              </a:rPr>
              <a:t>r</a:t>
            </a:r>
            <a:r>
              <a:rPr sz="1850" spc="5" dirty="0">
                <a:latin typeface="Calibri"/>
                <a:cs typeface="Calibri"/>
              </a:rPr>
              <a:t>ticleId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3492" y="4374641"/>
            <a:ext cx="2757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50" spc="15" dirty="0">
                <a:latin typeface="Symbol"/>
                <a:cs typeface="Symbol"/>
              </a:rPr>
              <a:t>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Calibri"/>
                <a:cs typeface="Calibri"/>
              </a:rPr>
              <a:t>{Laptop,</a:t>
            </a:r>
            <a:r>
              <a:rPr sz="1850" spc="-4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CellP}</a:t>
            </a:r>
            <a:r>
              <a:rPr sz="4200" baseline="13888" dirty="0">
                <a:latin typeface="Calibri"/>
                <a:cs typeface="Calibri"/>
              </a:rPr>
              <a:t>(Sales))</a:t>
            </a:r>
            <a:endParaRPr sz="4200" baseline="13888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87340" y="3422903"/>
            <a:ext cx="2653665" cy="2597150"/>
            <a:chOff x="5387340" y="3422903"/>
            <a:chExt cx="2653665" cy="259715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9968" y="4858511"/>
              <a:ext cx="740663" cy="7223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7212" y="4885943"/>
              <a:ext cx="646176" cy="6278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87212" y="4885943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1552" y="4858511"/>
              <a:ext cx="742188" cy="7223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8796" y="4885943"/>
              <a:ext cx="647700" cy="6278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68796" y="488594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858762" y="5042915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70">
                  <a:moveTo>
                    <a:pt x="0" y="0"/>
                  </a:moveTo>
                  <a:lnTo>
                    <a:pt x="0" y="470915"/>
                  </a:lnTo>
                </a:path>
              </a:pathLst>
            </a:custGeom>
            <a:ln w="7620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5188" y="4998719"/>
              <a:ext cx="742188" cy="7223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42432" y="5026151"/>
              <a:ext cx="647700" cy="6278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42432" y="502615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8296" y="4998719"/>
              <a:ext cx="742188" cy="7223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25540" y="5026151"/>
              <a:ext cx="647700" cy="6278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25540" y="502615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9968" y="4379975"/>
              <a:ext cx="740663" cy="7223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7212" y="4407407"/>
              <a:ext cx="646176" cy="6278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887212" y="4407407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1552" y="4379975"/>
              <a:ext cx="742188" cy="7223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68796" y="4407407"/>
              <a:ext cx="647700" cy="6278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368796" y="44074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5188" y="4520183"/>
              <a:ext cx="742188" cy="7223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2432" y="4547615"/>
              <a:ext cx="647700" cy="62788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742432" y="454761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8296" y="4520183"/>
              <a:ext cx="742188" cy="7223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25540" y="4547615"/>
              <a:ext cx="647700" cy="62788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225540" y="454761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5328" y="4858511"/>
              <a:ext cx="742187" cy="7223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2572" y="4885943"/>
              <a:ext cx="647700" cy="6278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862572" y="488594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8436" y="4858511"/>
              <a:ext cx="742187" cy="722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5680" y="4885943"/>
              <a:ext cx="647700" cy="62788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345680" y="488594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2072" y="4998719"/>
              <a:ext cx="740664" cy="7223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19316" y="5026151"/>
              <a:ext cx="646176" cy="6278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719316" y="5026151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55180" y="4998719"/>
              <a:ext cx="740664" cy="7223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02424" y="5026151"/>
              <a:ext cx="646176" cy="62788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202424" y="5026151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5328" y="4379975"/>
              <a:ext cx="742187" cy="72237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2572" y="4407407"/>
              <a:ext cx="647700" cy="62788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862572" y="44074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98436" y="4383023"/>
              <a:ext cx="742187" cy="72237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45680" y="4407407"/>
              <a:ext cx="647700" cy="62788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7345680" y="4407407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72072" y="4520183"/>
              <a:ext cx="740664" cy="72237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19316" y="4547615"/>
              <a:ext cx="646176" cy="62788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719316" y="4547615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155180" y="4523231"/>
              <a:ext cx="740664" cy="72237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202424" y="4547615"/>
              <a:ext cx="646176" cy="62788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02424" y="4547615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7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9968" y="3901439"/>
              <a:ext cx="740663" cy="7223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87212" y="3928871"/>
              <a:ext cx="646176" cy="62788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5887212" y="3928871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1552" y="3901439"/>
              <a:ext cx="742188" cy="72237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68796" y="3928871"/>
              <a:ext cx="647700" cy="62788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368796" y="39288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95188" y="4040123"/>
              <a:ext cx="742188" cy="7239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42432" y="4067555"/>
              <a:ext cx="647700" cy="62941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5742432" y="406755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  <a:path w="647700" h="629920">
                  <a:moveTo>
                    <a:pt x="490346" y="157353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78296" y="4040123"/>
              <a:ext cx="742188" cy="7239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25540" y="4067555"/>
              <a:ext cx="647700" cy="62941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6225540" y="4067555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  <a:path w="647700" h="629920">
                  <a:moveTo>
                    <a:pt x="490346" y="157353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9968" y="3422903"/>
              <a:ext cx="740663" cy="72237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887212" y="3450335"/>
              <a:ext cx="646176" cy="627888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887212" y="3450335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1552" y="3422903"/>
              <a:ext cx="742188" cy="72237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68796" y="3450335"/>
              <a:ext cx="647700" cy="62788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6368796" y="34503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95188" y="3561587"/>
              <a:ext cx="742188" cy="7239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742432" y="3589019"/>
              <a:ext cx="647700" cy="629411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5742432" y="3589019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78296" y="3561587"/>
              <a:ext cx="742188" cy="7239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25540" y="3589019"/>
              <a:ext cx="647700" cy="62941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6225540" y="3589019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5328" y="3901439"/>
              <a:ext cx="742187" cy="72237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62572" y="3928871"/>
              <a:ext cx="647700" cy="62788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6862572" y="39288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98436" y="3904487"/>
              <a:ext cx="742187" cy="72237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45680" y="3928871"/>
              <a:ext cx="647700" cy="627888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7345680" y="3928871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72072" y="4040123"/>
              <a:ext cx="740664" cy="7239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19316" y="4067555"/>
              <a:ext cx="646176" cy="6294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6719316" y="406755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3" y="157353"/>
                  </a:lnTo>
                  <a:lnTo>
                    <a:pt x="646176" y="0"/>
                  </a:lnTo>
                </a:path>
                <a:path w="646429" h="629920">
                  <a:moveTo>
                    <a:pt x="488823" y="157353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55180" y="4043171"/>
              <a:ext cx="740664" cy="7239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202424" y="4067555"/>
              <a:ext cx="646176" cy="62941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7202424" y="4067555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3" y="157353"/>
                  </a:lnTo>
                  <a:lnTo>
                    <a:pt x="646176" y="0"/>
                  </a:lnTo>
                </a:path>
                <a:path w="646429" h="629920">
                  <a:moveTo>
                    <a:pt x="488823" y="157353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5328" y="3422903"/>
              <a:ext cx="742187" cy="72237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62572" y="3450335"/>
              <a:ext cx="647700" cy="627888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6862572" y="34503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8436" y="3422903"/>
              <a:ext cx="742187" cy="72237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345680" y="3450335"/>
              <a:ext cx="647700" cy="62788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7345680" y="345033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72072" y="3561587"/>
              <a:ext cx="740664" cy="7239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19316" y="3589019"/>
              <a:ext cx="646176" cy="629411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6719316" y="3589019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155180" y="3561587"/>
              <a:ext cx="740664" cy="7239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02424" y="3589019"/>
              <a:ext cx="646176" cy="62941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7202424" y="3589019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0596" y="5157215"/>
              <a:ext cx="742188" cy="7239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77840" y="5184647"/>
              <a:ext cx="647700" cy="62941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5577840" y="518464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13704" y="5157215"/>
              <a:ext cx="742188" cy="7239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60948" y="5184647"/>
              <a:ext cx="647700" cy="629411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6060948" y="518464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7340" y="5297423"/>
              <a:ext cx="742188" cy="72237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434584" y="5324855"/>
              <a:ext cx="647700" cy="62788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5434584" y="53248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0448" y="5297423"/>
              <a:ext cx="742188" cy="72237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917692" y="5324855"/>
              <a:ext cx="647700" cy="62788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5917692" y="53248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30596" y="4678679"/>
              <a:ext cx="742188" cy="72390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577840" y="4706111"/>
              <a:ext cx="647700" cy="629412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5577840" y="47061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13704" y="4678679"/>
              <a:ext cx="742188" cy="7239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060948" y="4706111"/>
              <a:ext cx="647700" cy="629412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6060948" y="47061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87340" y="4821935"/>
              <a:ext cx="742188" cy="72237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434584" y="4846319"/>
              <a:ext cx="647700" cy="627888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5434584" y="48463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0448" y="4821935"/>
              <a:ext cx="742188" cy="72237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917692" y="4846319"/>
              <a:ext cx="647700" cy="627888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5917692" y="48463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7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07480" y="5157215"/>
              <a:ext cx="742187" cy="7239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554724" y="5184647"/>
              <a:ext cx="647700" cy="62941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6554724" y="5184647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90588" y="5157215"/>
              <a:ext cx="740664" cy="7239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37832" y="5184647"/>
              <a:ext cx="646176" cy="62941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7037832" y="5184647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700" y="5297423"/>
              <a:ext cx="742188" cy="72237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409944" y="5324855"/>
              <a:ext cx="647700" cy="62788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6409944" y="53248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5808" y="5297423"/>
              <a:ext cx="742188" cy="722376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93052" y="5324855"/>
              <a:ext cx="647700" cy="627888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6893052" y="53248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07480" y="4678679"/>
              <a:ext cx="742187" cy="7239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554724" y="4706111"/>
              <a:ext cx="647700" cy="629412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6554724" y="47061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990588" y="4681727"/>
              <a:ext cx="740664" cy="72390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37832" y="4706111"/>
              <a:ext cx="646176" cy="62941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7037832" y="4706111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2700" y="4821935"/>
              <a:ext cx="742188" cy="722376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409944" y="4846319"/>
              <a:ext cx="647700" cy="62788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6409944" y="48463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5808" y="4821935"/>
              <a:ext cx="742188" cy="72237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893052" y="4846319"/>
              <a:ext cx="647700" cy="62788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6893052" y="484631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0596" y="4200143"/>
              <a:ext cx="742188" cy="722376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577840" y="4227575"/>
              <a:ext cx="647700" cy="627888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5577840" y="422757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3704" y="4200143"/>
              <a:ext cx="742188" cy="72237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060948" y="4227575"/>
              <a:ext cx="647700" cy="627888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6060948" y="422757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87340" y="4343399"/>
              <a:ext cx="742188" cy="72237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434584" y="4367783"/>
              <a:ext cx="647700" cy="627888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5434584" y="43677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0448" y="4343399"/>
              <a:ext cx="742188" cy="722376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917692" y="4367783"/>
              <a:ext cx="647700" cy="627888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5917692" y="4367783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0596" y="3721607"/>
              <a:ext cx="742188" cy="722376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539740" y="3959351"/>
              <a:ext cx="568451" cy="458724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577840" y="3749039"/>
              <a:ext cx="647700" cy="627888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5577840" y="3749039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5676646" y="4011295"/>
            <a:ext cx="296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818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70" name="object 170"/>
          <p:cNvGrpSpPr/>
          <p:nvPr/>
        </p:nvGrpSpPr>
        <p:grpSpPr>
          <a:xfrm>
            <a:off x="5071871" y="3032760"/>
            <a:ext cx="3548379" cy="3322320"/>
            <a:chOff x="5071871" y="3032760"/>
            <a:chExt cx="3548379" cy="3322320"/>
          </a:xfrm>
        </p:grpSpPr>
        <p:pic>
          <p:nvPicPr>
            <p:cNvPr id="171" name="object 17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13703" y="3721608"/>
              <a:ext cx="742188" cy="722376"/>
            </a:xfrm>
            <a:prstGeom prst="rect">
              <a:avLst/>
            </a:prstGeom>
          </p:spPr>
        </p:pic>
        <p:pic>
          <p:nvPicPr>
            <p:cNvPr id="172" name="object 17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060947" y="3749040"/>
              <a:ext cx="647700" cy="627888"/>
            </a:xfrm>
            <a:prstGeom prst="rect">
              <a:avLst/>
            </a:prstGeom>
          </p:spPr>
        </p:pic>
        <p:sp>
          <p:nvSpPr>
            <p:cNvPr id="173" name="object 173"/>
            <p:cNvSpPr/>
            <p:nvPr/>
          </p:nvSpPr>
          <p:spPr>
            <a:xfrm>
              <a:off x="6060947" y="374904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4" name="object 1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87339" y="3861816"/>
              <a:ext cx="742188" cy="722376"/>
            </a:xfrm>
            <a:prstGeom prst="rect">
              <a:avLst/>
            </a:prstGeom>
          </p:spPr>
        </p:pic>
        <p:pic>
          <p:nvPicPr>
            <p:cNvPr id="175" name="object 17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434583" y="3889248"/>
              <a:ext cx="647700" cy="627888"/>
            </a:xfrm>
            <a:prstGeom prst="rect">
              <a:avLst/>
            </a:prstGeom>
          </p:spPr>
        </p:pic>
        <p:sp>
          <p:nvSpPr>
            <p:cNvPr id="176" name="object 176"/>
            <p:cNvSpPr/>
            <p:nvPr/>
          </p:nvSpPr>
          <p:spPr>
            <a:xfrm>
              <a:off x="5434583" y="38892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0447" y="3861816"/>
              <a:ext cx="742188" cy="722376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917691" y="3889248"/>
              <a:ext cx="647700" cy="627888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5917691" y="38892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7479" y="4200144"/>
              <a:ext cx="742187" cy="722376"/>
            </a:xfrm>
            <a:prstGeom prst="rect">
              <a:avLst/>
            </a:prstGeom>
          </p:spPr>
        </p:pic>
        <p:pic>
          <p:nvPicPr>
            <p:cNvPr id="181" name="object 18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6554723" y="4227576"/>
              <a:ext cx="647700" cy="627888"/>
            </a:xfrm>
            <a:prstGeom prst="rect">
              <a:avLst/>
            </a:prstGeom>
          </p:spPr>
        </p:pic>
        <p:sp>
          <p:nvSpPr>
            <p:cNvPr id="182" name="object 182"/>
            <p:cNvSpPr/>
            <p:nvPr/>
          </p:nvSpPr>
          <p:spPr>
            <a:xfrm>
              <a:off x="6554723" y="422757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3" name="object 18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90587" y="4203192"/>
              <a:ext cx="740664" cy="722376"/>
            </a:xfrm>
            <a:prstGeom prst="rect">
              <a:avLst/>
            </a:prstGeom>
          </p:spPr>
        </p:pic>
        <p:pic>
          <p:nvPicPr>
            <p:cNvPr id="184" name="object 18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037831" y="4227576"/>
              <a:ext cx="646176" cy="627888"/>
            </a:xfrm>
            <a:prstGeom prst="rect">
              <a:avLst/>
            </a:prstGeom>
          </p:spPr>
        </p:pic>
        <p:sp>
          <p:nvSpPr>
            <p:cNvPr id="185" name="object 185"/>
            <p:cNvSpPr/>
            <p:nvPr/>
          </p:nvSpPr>
          <p:spPr>
            <a:xfrm>
              <a:off x="7037831" y="422757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6" name="object 18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62699" y="4343400"/>
              <a:ext cx="742188" cy="722376"/>
            </a:xfrm>
            <a:prstGeom prst="rect">
              <a:avLst/>
            </a:prstGeom>
          </p:spPr>
        </p:pic>
        <p:pic>
          <p:nvPicPr>
            <p:cNvPr id="187" name="object 18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409943" y="4367784"/>
              <a:ext cx="647700" cy="627888"/>
            </a:xfrm>
            <a:prstGeom prst="rect">
              <a:avLst/>
            </a:prstGeom>
          </p:spPr>
        </p:pic>
        <p:sp>
          <p:nvSpPr>
            <p:cNvPr id="188" name="object 188"/>
            <p:cNvSpPr/>
            <p:nvPr/>
          </p:nvSpPr>
          <p:spPr>
            <a:xfrm>
              <a:off x="6409943" y="436778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1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5807" y="4343400"/>
              <a:ext cx="742188" cy="722376"/>
            </a:xfrm>
            <a:prstGeom prst="rect">
              <a:avLst/>
            </a:prstGeom>
          </p:spPr>
        </p:pic>
        <p:pic>
          <p:nvPicPr>
            <p:cNvPr id="190" name="object 19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893051" y="4367784"/>
              <a:ext cx="647700" cy="627888"/>
            </a:xfrm>
            <a:prstGeom prst="rect">
              <a:avLst/>
            </a:prstGeom>
          </p:spPr>
        </p:pic>
        <p:sp>
          <p:nvSpPr>
            <p:cNvPr id="191" name="object 191"/>
            <p:cNvSpPr/>
            <p:nvPr/>
          </p:nvSpPr>
          <p:spPr>
            <a:xfrm>
              <a:off x="6893051" y="436778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2" name="object 19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07479" y="3721608"/>
              <a:ext cx="742187" cy="722376"/>
            </a:xfrm>
            <a:prstGeom prst="rect">
              <a:avLst/>
            </a:prstGeom>
          </p:spPr>
        </p:pic>
        <p:pic>
          <p:nvPicPr>
            <p:cNvPr id="193" name="object 19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554723" y="3749040"/>
              <a:ext cx="647700" cy="627888"/>
            </a:xfrm>
            <a:prstGeom prst="rect">
              <a:avLst/>
            </a:prstGeom>
          </p:spPr>
        </p:pic>
        <p:sp>
          <p:nvSpPr>
            <p:cNvPr id="194" name="object 194"/>
            <p:cNvSpPr/>
            <p:nvPr/>
          </p:nvSpPr>
          <p:spPr>
            <a:xfrm>
              <a:off x="6554723" y="374904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5" name="object 19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90587" y="3721608"/>
              <a:ext cx="740664" cy="722376"/>
            </a:xfrm>
            <a:prstGeom prst="rect">
              <a:avLst/>
            </a:prstGeom>
          </p:spPr>
        </p:pic>
        <p:pic>
          <p:nvPicPr>
            <p:cNvPr id="196" name="object 19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037831" y="3749040"/>
              <a:ext cx="646176" cy="627888"/>
            </a:xfrm>
            <a:prstGeom prst="rect">
              <a:avLst/>
            </a:prstGeom>
          </p:spPr>
        </p:pic>
        <p:sp>
          <p:nvSpPr>
            <p:cNvPr id="197" name="object 197"/>
            <p:cNvSpPr/>
            <p:nvPr/>
          </p:nvSpPr>
          <p:spPr>
            <a:xfrm>
              <a:off x="7037831" y="3749040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8" name="object 19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2699" y="3861816"/>
              <a:ext cx="742188" cy="722376"/>
            </a:xfrm>
            <a:prstGeom prst="rect">
              <a:avLst/>
            </a:prstGeom>
          </p:spPr>
        </p:pic>
        <p:pic>
          <p:nvPicPr>
            <p:cNvPr id="199" name="object 19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6409943" y="3889248"/>
              <a:ext cx="647700" cy="627888"/>
            </a:xfrm>
            <a:prstGeom prst="rect">
              <a:avLst/>
            </a:prstGeom>
          </p:spPr>
        </p:pic>
        <p:sp>
          <p:nvSpPr>
            <p:cNvPr id="200" name="object 200"/>
            <p:cNvSpPr/>
            <p:nvPr/>
          </p:nvSpPr>
          <p:spPr>
            <a:xfrm>
              <a:off x="6409943" y="38892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1" name="object 20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5807" y="3861816"/>
              <a:ext cx="742188" cy="722376"/>
            </a:xfrm>
            <a:prstGeom prst="rect">
              <a:avLst/>
            </a:prstGeom>
          </p:spPr>
        </p:pic>
        <p:pic>
          <p:nvPicPr>
            <p:cNvPr id="202" name="object 20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6893051" y="3889248"/>
              <a:ext cx="647700" cy="627888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6893051" y="38892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087111" y="5929883"/>
              <a:ext cx="3456432" cy="425195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5130545" y="6034038"/>
              <a:ext cx="3201035" cy="171450"/>
            </a:xfrm>
            <a:custGeom>
              <a:avLst/>
              <a:gdLst/>
              <a:ahLst/>
              <a:cxnLst/>
              <a:rect l="l" t="t" r="r" b="b"/>
              <a:pathLst>
                <a:path w="3201034" h="171450">
                  <a:moveTo>
                    <a:pt x="3050839" y="0"/>
                  </a:moveTo>
                  <a:lnTo>
                    <a:pt x="3043539" y="469"/>
                  </a:lnTo>
                  <a:lnTo>
                    <a:pt x="3036976" y="3636"/>
                  </a:lnTo>
                  <a:lnTo>
                    <a:pt x="3031998" y="9281"/>
                  </a:lnTo>
                  <a:lnTo>
                    <a:pt x="3029533" y="16443"/>
                  </a:lnTo>
                  <a:lnTo>
                    <a:pt x="3029997" y="23730"/>
                  </a:lnTo>
                  <a:lnTo>
                    <a:pt x="3033176" y="30309"/>
                  </a:lnTo>
                  <a:lnTo>
                    <a:pt x="3038855" y="35341"/>
                  </a:lnTo>
                  <a:lnTo>
                    <a:pt x="3092222" y="66536"/>
                  </a:lnTo>
                  <a:lnTo>
                    <a:pt x="3162680" y="66571"/>
                  </a:lnTo>
                  <a:lnTo>
                    <a:pt x="3162680" y="104671"/>
                  </a:lnTo>
                  <a:lnTo>
                    <a:pt x="3092109" y="104671"/>
                  </a:lnTo>
                  <a:lnTo>
                    <a:pt x="3038729" y="135786"/>
                  </a:lnTo>
                  <a:lnTo>
                    <a:pt x="3033103" y="140811"/>
                  </a:lnTo>
                  <a:lnTo>
                    <a:pt x="3029918" y="147386"/>
                  </a:lnTo>
                  <a:lnTo>
                    <a:pt x="3029424" y="154672"/>
                  </a:lnTo>
                  <a:lnTo>
                    <a:pt x="3031871" y="161833"/>
                  </a:lnTo>
                  <a:lnTo>
                    <a:pt x="3036921" y="167488"/>
                  </a:lnTo>
                  <a:lnTo>
                    <a:pt x="3043507" y="170665"/>
                  </a:lnTo>
                  <a:lnTo>
                    <a:pt x="3050784" y="171144"/>
                  </a:lnTo>
                  <a:lnTo>
                    <a:pt x="3057905" y="168704"/>
                  </a:lnTo>
                  <a:lnTo>
                    <a:pt x="3167859" y="104671"/>
                  </a:lnTo>
                  <a:lnTo>
                    <a:pt x="3162680" y="104671"/>
                  </a:lnTo>
                  <a:lnTo>
                    <a:pt x="3167919" y="104636"/>
                  </a:lnTo>
                  <a:lnTo>
                    <a:pt x="3200527" y="85646"/>
                  </a:lnTo>
                  <a:lnTo>
                    <a:pt x="3058032" y="2448"/>
                  </a:lnTo>
                  <a:lnTo>
                    <a:pt x="3050839" y="0"/>
                  </a:lnTo>
                  <a:close/>
                </a:path>
                <a:path w="3201034" h="171450">
                  <a:moveTo>
                    <a:pt x="3124831" y="85597"/>
                  </a:moveTo>
                  <a:lnTo>
                    <a:pt x="3092169" y="104636"/>
                  </a:lnTo>
                  <a:lnTo>
                    <a:pt x="3162680" y="104671"/>
                  </a:lnTo>
                  <a:lnTo>
                    <a:pt x="3162680" y="102080"/>
                  </a:lnTo>
                  <a:lnTo>
                    <a:pt x="3153029" y="102080"/>
                  </a:lnTo>
                  <a:lnTo>
                    <a:pt x="3124831" y="85597"/>
                  </a:lnTo>
                  <a:close/>
                </a:path>
                <a:path w="3201034" h="171450">
                  <a:moveTo>
                    <a:pt x="0" y="65009"/>
                  </a:moveTo>
                  <a:lnTo>
                    <a:pt x="0" y="103109"/>
                  </a:lnTo>
                  <a:lnTo>
                    <a:pt x="3092169" y="104636"/>
                  </a:lnTo>
                  <a:lnTo>
                    <a:pt x="3124831" y="85597"/>
                  </a:lnTo>
                  <a:lnTo>
                    <a:pt x="3092222" y="66536"/>
                  </a:lnTo>
                  <a:lnTo>
                    <a:pt x="0" y="65009"/>
                  </a:lnTo>
                  <a:close/>
                </a:path>
                <a:path w="3201034" h="171450">
                  <a:moveTo>
                    <a:pt x="3153029" y="69162"/>
                  </a:moveTo>
                  <a:lnTo>
                    <a:pt x="3124831" y="85597"/>
                  </a:lnTo>
                  <a:lnTo>
                    <a:pt x="3153029" y="102080"/>
                  </a:lnTo>
                  <a:lnTo>
                    <a:pt x="3153029" y="69162"/>
                  </a:lnTo>
                  <a:close/>
                </a:path>
                <a:path w="3201034" h="171450">
                  <a:moveTo>
                    <a:pt x="3162680" y="69162"/>
                  </a:moveTo>
                  <a:lnTo>
                    <a:pt x="3153029" y="69162"/>
                  </a:lnTo>
                  <a:lnTo>
                    <a:pt x="3153029" y="102080"/>
                  </a:lnTo>
                  <a:lnTo>
                    <a:pt x="3162680" y="102080"/>
                  </a:lnTo>
                  <a:lnTo>
                    <a:pt x="3162680" y="69162"/>
                  </a:lnTo>
                  <a:close/>
                </a:path>
                <a:path w="3201034" h="171450">
                  <a:moveTo>
                    <a:pt x="3092222" y="66536"/>
                  </a:moveTo>
                  <a:lnTo>
                    <a:pt x="3124831" y="85597"/>
                  </a:lnTo>
                  <a:lnTo>
                    <a:pt x="3153029" y="69162"/>
                  </a:lnTo>
                  <a:lnTo>
                    <a:pt x="3162680" y="69162"/>
                  </a:lnTo>
                  <a:lnTo>
                    <a:pt x="3162680" y="66571"/>
                  </a:lnTo>
                  <a:lnTo>
                    <a:pt x="3092222" y="66536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6" name="object 206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5071871" y="3032760"/>
              <a:ext cx="423672" cy="3302508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5198129" y="3222371"/>
              <a:ext cx="171450" cy="3047365"/>
            </a:xfrm>
            <a:custGeom>
              <a:avLst/>
              <a:gdLst/>
              <a:ahLst/>
              <a:cxnLst/>
              <a:rect l="l" t="t" r="r" b="b"/>
              <a:pathLst>
                <a:path w="171450" h="3047365">
                  <a:moveTo>
                    <a:pt x="85601" y="75676"/>
                  </a:moveTo>
                  <a:lnTo>
                    <a:pt x="66510" y="108304"/>
                  </a:lnTo>
                  <a:lnTo>
                    <a:pt x="65766" y="3047326"/>
                  </a:lnTo>
                  <a:lnTo>
                    <a:pt x="103866" y="3047339"/>
                  </a:lnTo>
                  <a:lnTo>
                    <a:pt x="104598" y="108304"/>
                  </a:lnTo>
                  <a:lnTo>
                    <a:pt x="85601" y="75676"/>
                  </a:lnTo>
                  <a:close/>
                </a:path>
                <a:path w="171450" h="3047365">
                  <a:moveTo>
                    <a:pt x="107652" y="37845"/>
                  </a:moveTo>
                  <a:lnTo>
                    <a:pt x="104628" y="37845"/>
                  </a:lnTo>
                  <a:lnTo>
                    <a:pt x="104610" y="108325"/>
                  </a:lnTo>
                  <a:lnTo>
                    <a:pt x="135743" y="161798"/>
                  </a:lnTo>
                  <a:lnTo>
                    <a:pt x="140793" y="167405"/>
                  </a:lnTo>
                  <a:lnTo>
                    <a:pt x="147379" y="170561"/>
                  </a:lnTo>
                  <a:lnTo>
                    <a:pt x="154656" y="171049"/>
                  </a:lnTo>
                  <a:lnTo>
                    <a:pt x="161778" y="168655"/>
                  </a:lnTo>
                  <a:lnTo>
                    <a:pt x="167459" y="163605"/>
                  </a:lnTo>
                  <a:lnTo>
                    <a:pt x="170654" y="156987"/>
                  </a:lnTo>
                  <a:lnTo>
                    <a:pt x="171154" y="149742"/>
                  </a:lnTo>
                  <a:lnTo>
                    <a:pt x="168763" y="142620"/>
                  </a:lnTo>
                  <a:lnTo>
                    <a:pt x="107652" y="37845"/>
                  </a:lnTo>
                  <a:close/>
                </a:path>
                <a:path w="171450" h="3047365">
                  <a:moveTo>
                    <a:pt x="85578" y="0"/>
                  </a:moveTo>
                  <a:lnTo>
                    <a:pt x="2393" y="142493"/>
                  </a:lnTo>
                  <a:lnTo>
                    <a:pt x="0" y="149687"/>
                  </a:lnTo>
                  <a:lnTo>
                    <a:pt x="488" y="156987"/>
                  </a:lnTo>
                  <a:lnTo>
                    <a:pt x="3643" y="163550"/>
                  </a:lnTo>
                  <a:lnTo>
                    <a:pt x="9251" y="168528"/>
                  </a:lnTo>
                  <a:lnTo>
                    <a:pt x="16444" y="170993"/>
                  </a:lnTo>
                  <a:lnTo>
                    <a:pt x="23745" y="170529"/>
                  </a:lnTo>
                  <a:lnTo>
                    <a:pt x="30307" y="167350"/>
                  </a:lnTo>
                  <a:lnTo>
                    <a:pt x="35286" y="161670"/>
                  </a:lnTo>
                  <a:lnTo>
                    <a:pt x="66498" y="108325"/>
                  </a:lnTo>
                  <a:lnTo>
                    <a:pt x="66528" y="37845"/>
                  </a:lnTo>
                  <a:lnTo>
                    <a:pt x="107652" y="37845"/>
                  </a:lnTo>
                  <a:lnTo>
                    <a:pt x="85578" y="0"/>
                  </a:lnTo>
                  <a:close/>
                </a:path>
                <a:path w="171450" h="3047365">
                  <a:moveTo>
                    <a:pt x="104625" y="47498"/>
                  </a:moveTo>
                  <a:lnTo>
                    <a:pt x="102088" y="47498"/>
                  </a:lnTo>
                  <a:lnTo>
                    <a:pt x="85601" y="75676"/>
                  </a:lnTo>
                  <a:lnTo>
                    <a:pt x="104610" y="108325"/>
                  </a:lnTo>
                  <a:lnTo>
                    <a:pt x="104625" y="47498"/>
                  </a:lnTo>
                  <a:close/>
                </a:path>
                <a:path w="171450" h="3047365">
                  <a:moveTo>
                    <a:pt x="104628" y="37845"/>
                  </a:moveTo>
                  <a:lnTo>
                    <a:pt x="66528" y="37845"/>
                  </a:lnTo>
                  <a:lnTo>
                    <a:pt x="66510" y="108304"/>
                  </a:lnTo>
                  <a:lnTo>
                    <a:pt x="85601" y="75676"/>
                  </a:lnTo>
                  <a:lnTo>
                    <a:pt x="69195" y="47498"/>
                  </a:lnTo>
                  <a:lnTo>
                    <a:pt x="104625" y="47498"/>
                  </a:lnTo>
                  <a:lnTo>
                    <a:pt x="104628" y="37845"/>
                  </a:lnTo>
                  <a:close/>
                </a:path>
                <a:path w="171450" h="3047365">
                  <a:moveTo>
                    <a:pt x="102088" y="47498"/>
                  </a:moveTo>
                  <a:lnTo>
                    <a:pt x="69195" y="47498"/>
                  </a:lnTo>
                  <a:lnTo>
                    <a:pt x="85601" y="75676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8" name="object 20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360919" y="5013960"/>
              <a:ext cx="1258824" cy="1258823"/>
            </a:xfrm>
            <a:prstGeom prst="rect">
              <a:avLst/>
            </a:prstGeom>
          </p:spPr>
        </p:pic>
        <p:sp>
          <p:nvSpPr>
            <p:cNvPr id="209" name="object 209"/>
            <p:cNvSpPr/>
            <p:nvPr/>
          </p:nvSpPr>
          <p:spPr>
            <a:xfrm>
              <a:off x="7403083" y="5203698"/>
              <a:ext cx="1004569" cy="1004569"/>
            </a:xfrm>
            <a:custGeom>
              <a:avLst/>
              <a:gdLst/>
              <a:ahLst/>
              <a:cxnLst/>
              <a:rect l="l" t="t" r="r" b="b"/>
              <a:pathLst>
                <a:path w="1004570" h="1004570">
                  <a:moveTo>
                    <a:pt x="950676" y="53385"/>
                  </a:moveTo>
                  <a:lnTo>
                    <a:pt x="914136" y="63001"/>
                  </a:lnTo>
                  <a:lnTo>
                    <a:pt x="0" y="977125"/>
                  </a:lnTo>
                  <a:lnTo>
                    <a:pt x="26924" y="1004074"/>
                  </a:lnTo>
                  <a:lnTo>
                    <a:pt x="941060" y="89925"/>
                  </a:lnTo>
                  <a:lnTo>
                    <a:pt x="950676" y="53385"/>
                  </a:lnTo>
                  <a:close/>
                </a:path>
                <a:path w="1004570" h="1004570">
                  <a:moveTo>
                    <a:pt x="1000591" y="13207"/>
                  </a:moveTo>
                  <a:lnTo>
                    <a:pt x="963930" y="13207"/>
                  </a:lnTo>
                  <a:lnTo>
                    <a:pt x="990854" y="40131"/>
                  </a:lnTo>
                  <a:lnTo>
                    <a:pt x="941060" y="89925"/>
                  </a:lnTo>
                  <a:lnTo>
                    <a:pt x="925322" y="149732"/>
                  </a:lnTo>
                  <a:lnTo>
                    <a:pt x="924891" y="157349"/>
                  </a:lnTo>
                  <a:lnTo>
                    <a:pt x="927306" y="164274"/>
                  </a:lnTo>
                  <a:lnTo>
                    <a:pt x="932126" y="169771"/>
                  </a:lnTo>
                  <a:lnTo>
                    <a:pt x="938911" y="173100"/>
                  </a:lnTo>
                  <a:lnTo>
                    <a:pt x="946453" y="173531"/>
                  </a:lnTo>
                  <a:lnTo>
                    <a:pt x="953341" y="171116"/>
                  </a:lnTo>
                  <a:lnTo>
                    <a:pt x="958824" y="166296"/>
                  </a:lnTo>
                  <a:lnTo>
                    <a:pt x="962151" y="159511"/>
                  </a:lnTo>
                  <a:lnTo>
                    <a:pt x="1000591" y="13207"/>
                  </a:lnTo>
                  <a:close/>
                </a:path>
                <a:path w="1004570" h="1004570">
                  <a:moveTo>
                    <a:pt x="972566" y="21843"/>
                  </a:moveTo>
                  <a:lnTo>
                    <a:pt x="958976" y="21843"/>
                  </a:lnTo>
                  <a:lnTo>
                    <a:pt x="982218" y="45084"/>
                  </a:lnTo>
                  <a:lnTo>
                    <a:pt x="950676" y="53385"/>
                  </a:lnTo>
                  <a:lnTo>
                    <a:pt x="941060" y="89925"/>
                  </a:lnTo>
                  <a:lnTo>
                    <a:pt x="990854" y="40131"/>
                  </a:lnTo>
                  <a:lnTo>
                    <a:pt x="972566" y="21843"/>
                  </a:lnTo>
                  <a:close/>
                </a:path>
                <a:path w="1004570" h="1004570">
                  <a:moveTo>
                    <a:pt x="1004062" y="0"/>
                  </a:moveTo>
                  <a:lnTo>
                    <a:pt x="844550" y="41909"/>
                  </a:lnTo>
                  <a:lnTo>
                    <a:pt x="837765" y="45237"/>
                  </a:lnTo>
                  <a:lnTo>
                    <a:pt x="832945" y="50720"/>
                  </a:lnTo>
                  <a:lnTo>
                    <a:pt x="830530" y="57608"/>
                  </a:lnTo>
                  <a:lnTo>
                    <a:pt x="830961" y="65150"/>
                  </a:lnTo>
                  <a:lnTo>
                    <a:pt x="834290" y="71935"/>
                  </a:lnTo>
                  <a:lnTo>
                    <a:pt x="839787" y="76755"/>
                  </a:lnTo>
                  <a:lnTo>
                    <a:pt x="846712" y="79170"/>
                  </a:lnTo>
                  <a:lnTo>
                    <a:pt x="854329" y="78739"/>
                  </a:lnTo>
                  <a:lnTo>
                    <a:pt x="914136" y="63001"/>
                  </a:lnTo>
                  <a:lnTo>
                    <a:pt x="963930" y="13207"/>
                  </a:lnTo>
                  <a:lnTo>
                    <a:pt x="1000591" y="13207"/>
                  </a:lnTo>
                  <a:lnTo>
                    <a:pt x="1004062" y="0"/>
                  </a:lnTo>
                  <a:close/>
                </a:path>
                <a:path w="1004570" h="1004570">
                  <a:moveTo>
                    <a:pt x="963930" y="13207"/>
                  </a:moveTo>
                  <a:lnTo>
                    <a:pt x="914136" y="63001"/>
                  </a:lnTo>
                  <a:lnTo>
                    <a:pt x="950676" y="53385"/>
                  </a:lnTo>
                  <a:lnTo>
                    <a:pt x="958976" y="21843"/>
                  </a:lnTo>
                  <a:lnTo>
                    <a:pt x="972566" y="21843"/>
                  </a:lnTo>
                  <a:lnTo>
                    <a:pt x="963930" y="13207"/>
                  </a:lnTo>
                  <a:close/>
                </a:path>
                <a:path w="1004570" h="1004570">
                  <a:moveTo>
                    <a:pt x="958976" y="21843"/>
                  </a:moveTo>
                  <a:lnTo>
                    <a:pt x="950676" y="53385"/>
                  </a:lnTo>
                  <a:lnTo>
                    <a:pt x="982218" y="45084"/>
                  </a:lnTo>
                  <a:lnTo>
                    <a:pt x="958976" y="2184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4422775" y="3356610"/>
            <a:ext cx="683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</a:t>
            </a:r>
            <a:r>
              <a:rPr sz="1600" b="1" spc="-30" dirty="0">
                <a:latin typeface="Calibri"/>
                <a:cs typeface="Calibri"/>
              </a:rPr>
              <a:t>r</a:t>
            </a:r>
            <a:r>
              <a:rPr sz="1600" b="1" spc="-5" dirty="0">
                <a:latin typeface="Calibri"/>
                <a:cs typeface="Calibri"/>
              </a:rPr>
              <a:t>o</a:t>
            </a:r>
            <a:r>
              <a:rPr sz="1600" b="1" spc="-10" dirty="0">
                <a:latin typeface="Calibri"/>
                <a:cs typeface="Calibri"/>
              </a:rPr>
              <a:t>du</a:t>
            </a:r>
            <a:r>
              <a:rPr sz="1600" b="1" spc="-5" dirty="0">
                <a:latin typeface="Calibri"/>
                <a:cs typeface="Calibri"/>
              </a:rPr>
              <a:t>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8454008" y="5082921"/>
            <a:ext cx="443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2" name="object 212"/>
          <p:cNvSpPr/>
          <p:nvPr/>
        </p:nvSpPr>
        <p:spPr>
          <a:xfrm>
            <a:off x="7872983" y="5507735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152400"/>
                </a:moveTo>
                <a:lnTo>
                  <a:pt x="152400" y="228600"/>
                </a:lnTo>
              </a:path>
              <a:path w="304800" h="228600">
                <a:moveTo>
                  <a:pt x="152400" y="0"/>
                </a:moveTo>
                <a:lnTo>
                  <a:pt x="304800" y="762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 txBox="1"/>
          <p:nvPr/>
        </p:nvSpPr>
        <p:spPr>
          <a:xfrm>
            <a:off x="8105393" y="5531916"/>
            <a:ext cx="951230" cy="952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>
              <a:lnSpc>
                <a:spcPts val="132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13.11.2015</a:t>
            </a:r>
            <a:endParaRPr sz="1200">
              <a:latin typeface="Calibri"/>
              <a:cs typeface="Calibri"/>
            </a:endParaRPr>
          </a:p>
          <a:p>
            <a:pPr marL="165100">
              <a:lnSpc>
                <a:spcPts val="1320"/>
              </a:lnSpc>
            </a:pPr>
            <a:r>
              <a:rPr sz="1200" spc="-5" dirty="0">
                <a:latin typeface="Calibri"/>
                <a:cs typeface="Calibri"/>
              </a:rPr>
              <a:t>18.12.2015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Geography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4" name="object 214"/>
          <p:cNvSpPr txBox="1"/>
          <p:nvPr/>
        </p:nvSpPr>
        <p:spPr>
          <a:xfrm>
            <a:off x="4686680" y="4694046"/>
            <a:ext cx="513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La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ops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5" name="object 215"/>
          <p:cNvGrpSpPr/>
          <p:nvPr/>
        </p:nvGrpSpPr>
        <p:grpSpPr>
          <a:xfrm>
            <a:off x="5201411" y="4817364"/>
            <a:ext cx="1466850" cy="1926589"/>
            <a:chOff x="5201411" y="4817364"/>
            <a:chExt cx="1466850" cy="1926589"/>
          </a:xfrm>
        </p:grpSpPr>
        <p:pic>
          <p:nvPicPr>
            <p:cNvPr id="216" name="object 216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722746" y="6277597"/>
              <a:ext cx="945133" cy="466344"/>
            </a:xfrm>
            <a:prstGeom prst="rect">
              <a:avLst/>
            </a:prstGeom>
          </p:spPr>
        </p:pic>
        <p:sp>
          <p:nvSpPr>
            <p:cNvPr id="217" name="object 217"/>
            <p:cNvSpPr/>
            <p:nvPr/>
          </p:nvSpPr>
          <p:spPr>
            <a:xfrm>
              <a:off x="5205983" y="4821936"/>
              <a:ext cx="152400" cy="382905"/>
            </a:xfrm>
            <a:custGeom>
              <a:avLst/>
              <a:gdLst/>
              <a:ahLst/>
              <a:cxnLst/>
              <a:rect l="l" t="t" r="r" b="b"/>
              <a:pathLst>
                <a:path w="152400" h="382904">
                  <a:moveTo>
                    <a:pt x="0" y="0"/>
                  </a:moveTo>
                  <a:lnTo>
                    <a:pt x="152400" y="1524"/>
                  </a:lnTo>
                </a:path>
                <a:path w="152400" h="382904">
                  <a:moveTo>
                    <a:pt x="0" y="381000"/>
                  </a:moveTo>
                  <a:lnTo>
                    <a:pt x="152400" y="382524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6195059" y="6041136"/>
              <a:ext cx="459740" cy="227965"/>
            </a:xfrm>
            <a:custGeom>
              <a:avLst/>
              <a:gdLst/>
              <a:ahLst/>
              <a:cxnLst/>
              <a:rect l="l" t="t" r="r" b="b"/>
              <a:pathLst>
                <a:path w="459740" h="227964">
                  <a:moveTo>
                    <a:pt x="1650" y="0"/>
                  </a:moveTo>
                  <a:lnTo>
                    <a:pt x="0" y="152399"/>
                  </a:lnTo>
                </a:path>
                <a:path w="459740" h="227964">
                  <a:moveTo>
                    <a:pt x="459486" y="0"/>
                  </a:moveTo>
                  <a:lnTo>
                    <a:pt x="458723" y="227799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9" name="object 219"/>
          <p:cNvSpPr txBox="1"/>
          <p:nvPr/>
        </p:nvSpPr>
        <p:spPr>
          <a:xfrm>
            <a:off x="4804028" y="5096332"/>
            <a:ext cx="35052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ell</a:t>
            </a:r>
            <a:r>
              <a:rPr sz="1200" spc="-155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62647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350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.</a:t>
            </a:r>
            <a:r>
              <a:rPr sz="3200" spc="-360" dirty="0">
                <a:latin typeface="Trebuchet MS"/>
                <a:cs typeface="Trebuchet MS"/>
              </a:rPr>
              <a:t>g.</a:t>
            </a:r>
            <a:r>
              <a:rPr sz="3200" spc="-42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eq</a:t>
            </a:r>
            <a:r>
              <a:rPr sz="3200" spc="-280" dirty="0">
                <a:latin typeface="Trebuchet MS"/>
                <a:cs typeface="Trebuchet MS"/>
              </a:rPr>
              <a:t>ua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180" dirty="0">
                <a:latin typeface="Trebuchet MS"/>
                <a:cs typeface="Trebuchet MS"/>
              </a:rPr>
              <a:t>it</a:t>
            </a:r>
            <a:r>
              <a:rPr sz="3200" spc="-250" dirty="0">
                <a:latin typeface="Trebuchet MS"/>
                <a:cs typeface="Trebuchet MS"/>
              </a:rPr>
              <a:t>y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SE</a:t>
            </a:r>
            <a:r>
              <a:rPr sz="3200" spc="-75" dirty="0">
                <a:latin typeface="Trebuchet MS"/>
                <a:cs typeface="Trebuchet MS"/>
              </a:rPr>
              <a:t>L</a:t>
            </a:r>
            <a:r>
              <a:rPr sz="3200" spc="110" dirty="0">
                <a:latin typeface="Trebuchet MS"/>
                <a:cs typeface="Trebuchet MS"/>
              </a:rPr>
              <a:t>E</a:t>
            </a:r>
            <a:r>
              <a:rPr sz="3200" spc="130" dirty="0">
                <a:latin typeface="Trebuchet MS"/>
                <a:cs typeface="Trebuchet MS"/>
              </a:rPr>
              <a:t>C</a:t>
            </a:r>
            <a:r>
              <a:rPr sz="3200" spc="75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2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di</a:t>
            </a:r>
            <a:r>
              <a:rPr sz="3200" spc="-270" dirty="0">
                <a:latin typeface="Trebuchet MS"/>
                <a:cs typeface="Trebuchet MS"/>
              </a:rPr>
              <a:t>m</a:t>
            </a:r>
            <a:r>
              <a:rPr sz="3200" spc="-180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sio</a:t>
            </a:r>
            <a:r>
              <a:rPr sz="3200" spc="-105" dirty="0">
                <a:latin typeface="Trebuchet MS"/>
                <a:cs typeface="Trebuchet MS"/>
              </a:rPr>
              <a:t>n</a:t>
            </a:r>
            <a:r>
              <a:rPr sz="3200" spc="-65" dirty="0">
                <a:latin typeface="Trebuchet MS"/>
                <a:cs typeface="Trebuchet MS"/>
              </a:rPr>
              <a:t>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P</a:t>
            </a:r>
            <a:r>
              <a:rPr sz="3200" spc="-135" dirty="0">
                <a:latin typeface="Trebuchet MS"/>
                <a:cs typeface="Trebuchet MS"/>
              </a:rPr>
              <a:t>r</a:t>
            </a:r>
            <a:r>
              <a:rPr sz="3200" spc="-130" dirty="0">
                <a:latin typeface="Trebuchet MS"/>
                <a:cs typeface="Trebuchet MS"/>
              </a:rPr>
              <a:t>oduct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and  </a:t>
            </a:r>
            <a:r>
              <a:rPr sz="3200" spc="-135" dirty="0">
                <a:latin typeface="Trebuchet MS"/>
                <a:cs typeface="Trebuchet MS"/>
              </a:rPr>
              <a:t>Time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2936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110" dirty="0"/>
              <a:t>Dice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1920" y="2266010"/>
            <a:ext cx="2381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4530" algn="l"/>
              </a:tabLst>
            </a:pPr>
            <a:r>
              <a:rPr sz="4000" spc="-5" dirty="0">
                <a:latin typeface="Symbol"/>
                <a:cs typeface="Symbol"/>
              </a:rPr>
              <a:t></a:t>
            </a:r>
            <a:r>
              <a:rPr sz="4000" spc="-5" dirty="0">
                <a:latin typeface="Times New Roman"/>
                <a:cs typeface="Times New Roman"/>
              </a:rPr>
              <a:t>	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sz="4000" spc="-5" dirty="0">
                <a:latin typeface="Symbol"/>
                <a:cs typeface="Symbol"/>
              </a:rPr>
              <a:t>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70761" y="2622626"/>
            <a:ext cx="613156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089785" algn="l"/>
              </a:tabLst>
            </a:pPr>
            <a:r>
              <a:rPr sz="1850" dirty="0">
                <a:latin typeface="Calibri"/>
                <a:cs typeface="Calibri"/>
              </a:rPr>
              <a:t>StoreId,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Amount	ArticleId</a:t>
            </a:r>
            <a:r>
              <a:rPr sz="1850" spc="-30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=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dirty="0">
                <a:latin typeface="Calibri"/>
                <a:cs typeface="Calibri"/>
              </a:rPr>
              <a:t>Laptop</a:t>
            </a:r>
            <a:r>
              <a:rPr sz="1850" spc="-15" dirty="0">
                <a:latin typeface="Calibri"/>
                <a:cs typeface="Calibri"/>
              </a:rPr>
              <a:t> </a:t>
            </a:r>
            <a:r>
              <a:rPr sz="1850" spc="45" dirty="0">
                <a:latin typeface="Cambria Math"/>
                <a:cs typeface="Cambria Math"/>
              </a:rPr>
              <a:t>𝖠</a:t>
            </a:r>
            <a:r>
              <a:rPr sz="1850" spc="5" dirty="0">
                <a:latin typeface="Cambria Math"/>
                <a:cs typeface="Cambria Math"/>
              </a:rPr>
              <a:t> </a:t>
            </a:r>
            <a:r>
              <a:rPr sz="1850" spc="5" dirty="0">
                <a:latin typeface="Calibri"/>
                <a:cs typeface="Calibri"/>
              </a:rPr>
              <a:t>MonthID</a:t>
            </a:r>
            <a:r>
              <a:rPr sz="1850" spc="-5" dirty="0">
                <a:latin typeface="Calibri"/>
                <a:cs typeface="Calibri"/>
              </a:rPr>
              <a:t> </a:t>
            </a:r>
            <a:r>
              <a:rPr sz="1850" spc="10" dirty="0">
                <a:latin typeface="Calibri"/>
                <a:cs typeface="Calibri"/>
              </a:rPr>
              <a:t>=</a:t>
            </a:r>
            <a:r>
              <a:rPr sz="1850" spc="-10" dirty="0">
                <a:latin typeface="Calibri"/>
                <a:cs typeface="Calibri"/>
              </a:rPr>
              <a:t> </a:t>
            </a:r>
            <a:r>
              <a:rPr sz="1850" spc="5" dirty="0">
                <a:latin typeface="Calibri"/>
                <a:cs typeface="Calibri"/>
              </a:rPr>
              <a:t>December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76921" y="2418410"/>
            <a:ext cx="1080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libri"/>
                <a:cs typeface="Calibri"/>
              </a:rPr>
              <a:t>(Sales))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868167" y="2804160"/>
            <a:ext cx="3548379" cy="3322320"/>
            <a:chOff x="2868167" y="2804160"/>
            <a:chExt cx="3548379" cy="332232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6263" y="4629911"/>
              <a:ext cx="740663" cy="72237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3507" y="4657344"/>
              <a:ext cx="646176" cy="62788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83507" y="4657344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7847" y="4629911"/>
              <a:ext cx="742188" cy="72237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5091" y="4657344"/>
              <a:ext cx="647700" cy="6278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65091" y="465734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655057" y="4814316"/>
              <a:ext cx="0" cy="471170"/>
            </a:xfrm>
            <a:custGeom>
              <a:avLst/>
              <a:gdLst/>
              <a:ahLst/>
              <a:cxnLst/>
              <a:rect l="l" t="t" r="r" b="b"/>
              <a:pathLst>
                <a:path h="471170">
                  <a:moveTo>
                    <a:pt x="0" y="0"/>
                  </a:moveTo>
                  <a:lnTo>
                    <a:pt x="0" y="470915"/>
                  </a:lnTo>
                </a:path>
              </a:pathLst>
            </a:custGeom>
            <a:ln w="7619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1483" y="4770120"/>
              <a:ext cx="742188" cy="72237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38727" y="4797552"/>
              <a:ext cx="647700" cy="6278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538727" y="479755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4591" y="4770120"/>
              <a:ext cx="742188" cy="72237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1835" y="4797552"/>
              <a:ext cx="647700" cy="6278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21835" y="479755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6263" y="4151376"/>
              <a:ext cx="740663" cy="72237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83507" y="4178808"/>
              <a:ext cx="646176" cy="62788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683507" y="4178808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7847" y="4151376"/>
              <a:ext cx="742188" cy="7223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5091" y="4178808"/>
              <a:ext cx="647700" cy="6278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65091" y="417880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91483" y="4291584"/>
              <a:ext cx="742188" cy="72237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38727" y="4319016"/>
              <a:ext cx="647700" cy="62788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38727" y="431901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74591" y="4291584"/>
              <a:ext cx="742188" cy="7223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21835" y="4319016"/>
              <a:ext cx="647700" cy="62788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21835" y="431901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1623" y="4629911"/>
              <a:ext cx="742188" cy="7223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8867" y="4657344"/>
              <a:ext cx="647700" cy="62788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658867" y="465734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732" y="4629911"/>
              <a:ext cx="742188" cy="72237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1975" y="4657344"/>
              <a:ext cx="647700" cy="627888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141975" y="465734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8367" y="4770120"/>
              <a:ext cx="740663" cy="72237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5611" y="4797552"/>
              <a:ext cx="646176" cy="627888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515611" y="4797552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9951" y="4770120"/>
              <a:ext cx="742188" cy="722376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97195" y="4797552"/>
              <a:ext cx="647700" cy="62788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997195" y="479755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1623" y="4151376"/>
              <a:ext cx="742188" cy="72237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8867" y="4178808"/>
              <a:ext cx="647700" cy="627888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58867" y="417880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732" y="4151376"/>
              <a:ext cx="742188" cy="72237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1975" y="4178808"/>
              <a:ext cx="647700" cy="62788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5141975" y="417880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68367" y="4291584"/>
              <a:ext cx="740663" cy="72237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15611" y="4319016"/>
              <a:ext cx="646176" cy="62788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4515611" y="431901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9951" y="4291584"/>
              <a:ext cx="742188" cy="722376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97195" y="4319016"/>
              <a:ext cx="647700" cy="62788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997195" y="431901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6263" y="3672840"/>
              <a:ext cx="740663" cy="7223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83507" y="3700272"/>
              <a:ext cx="646176" cy="627888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3683507" y="3700272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7847" y="3672840"/>
              <a:ext cx="742188" cy="722376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65091" y="3700272"/>
              <a:ext cx="647700" cy="627888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65091" y="370027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91483" y="3811524"/>
              <a:ext cx="742188" cy="72390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38727" y="3838956"/>
              <a:ext cx="647700" cy="629412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3538727" y="3838956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74591" y="3811524"/>
              <a:ext cx="742188" cy="72390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021835" y="3838956"/>
              <a:ext cx="647700" cy="629412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4021835" y="3838956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7" y="157353"/>
                  </a:lnTo>
                  <a:lnTo>
                    <a:pt x="647700" y="0"/>
                  </a:lnTo>
                </a:path>
                <a:path w="647700" h="629920">
                  <a:moveTo>
                    <a:pt x="490347" y="157353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36263" y="3194304"/>
              <a:ext cx="740663" cy="722376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83507" y="3221736"/>
              <a:ext cx="646176" cy="627888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683507" y="322173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7847" y="3194304"/>
              <a:ext cx="742188" cy="722376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65091" y="3221736"/>
              <a:ext cx="647700" cy="627888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4165091" y="322173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  <a:path w="647700" h="628014">
                  <a:moveTo>
                    <a:pt x="490728" y="156972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91483" y="3332988"/>
              <a:ext cx="742188" cy="723900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38727" y="3360420"/>
              <a:ext cx="647700" cy="629411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3538727" y="3360420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974591" y="3332988"/>
              <a:ext cx="742188" cy="7239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021835" y="3360420"/>
              <a:ext cx="647700" cy="629411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021835" y="3360420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1623" y="3672840"/>
              <a:ext cx="742188" cy="722376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58867" y="3700272"/>
              <a:ext cx="647700" cy="627888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4658867" y="370027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700" y="0"/>
                  </a:lnTo>
                </a:path>
                <a:path w="647700" h="628014">
                  <a:moveTo>
                    <a:pt x="490728" y="156971"/>
                  </a:moveTo>
                  <a:lnTo>
                    <a:pt x="490728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732" y="3672840"/>
              <a:ext cx="742188" cy="72237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141975" y="3700272"/>
              <a:ext cx="647700" cy="627888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5141975" y="3700272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68367" y="3811524"/>
              <a:ext cx="740663" cy="723900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15611" y="3838956"/>
              <a:ext cx="646176" cy="629412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4515611" y="3838956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3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9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6429" h="629920">
                  <a:moveTo>
                    <a:pt x="0" y="157353"/>
                  </a:moveTo>
                  <a:lnTo>
                    <a:pt x="488823" y="157353"/>
                  </a:lnTo>
                  <a:lnTo>
                    <a:pt x="646176" y="0"/>
                  </a:lnTo>
                </a:path>
                <a:path w="646429" h="629920">
                  <a:moveTo>
                    <a:pt x="488823" y="157353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0" name="object 9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49951" y="3811524"/>
              <a:ext cx="742188" cy="723900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97195" y="3838956"/>
              <a:ext cx="647700" cy="629412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997195" y="3838956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3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9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3"/>
                  </a:lnTo>
                  <a:close/>
                </a:path>
                <a:path w="647700" h="629920">
                  <a:moveTo>
                    <a:pt x="0" y="157353"/>
                  </a:moveTo>
                  <a:lnTo>
                    <a:pt x="490346" y="157353"/>
                  </a:lnTo>
                  <a:lnTo>
                    <a:pt x="647700" y="0"/>
                  </a:lnTo>
                </a:path>
                <a:path w="647700" h="629920">
                  <a:moveTo>
                    <a:pt x="490346" y="157353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11623" y="3194304"/>
              <a:ext cx="742188" cy="722376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658867" y="3221736"/>
              <a:ext cx="647700" cy="627888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4658867" y="322173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700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4732" y="3194304"/>
              <a:ext cx="742188" cy="722376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141975" y="3221736"/>
              <a:ext cx="647700" cy="627888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5141975" y="322173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468367" y="3332988"/>
              <a:ext cx="740663" cy="723900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15611" y="3360420"/>
              <a:ext cx="646176" cy="629411"/>
            </a:xfrm>
            <a:prstGeom prst="rect">
              <a:avLst/>
            </a:prstGeom>
          </p:spPr>
        </p:pic>
        <p:sp>
          <p:nvSpPr>
            <p:cNvPr id="101" name="object 101"/>
            <p:cNvSpPr/>
            <p:nvPr/>
          </p:nvSpPr>
          <p:spPr>
            <a:xfrm>
              <a:off x="4515611" y="3360420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49951" y="3332988"/>
              <a:ext cx="742188" cy="723900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997195" y="3360420"/>
              <a:ext cx="647700" cy="629411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4997195" y="3360420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26891" y="4928616"/>
              <a:ext cx="742188" cy="7239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374135" y="4956048"/>
              <a:ext cx="647700" cy="629411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3374135" y="4956048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8" name="object 10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0000" y="4928616"/>
              <a:ext cx="742188" cy="723900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57243" y="4956048"/>
              <a:ext cx="647700" cy="629411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3857243" y="4956048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635" y="5068824"/>
              <a:ext cx="742188" cy="722376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30879" y="5096255"/>
              <a:ext cx="647699" cy="627888"/>
            </a:xfrm>
            <a:prstGeom prst="rect">
              <a:avLst/>
            </a:prstGeom>
          </p:spPr>
        </p:pic>
        <p:sp>
          <p:nvSpPr>
            <p:cNvPr id="113" name="object 113"/>
            <p:cNvSpPr/>
            <p:nvPr/>
          </p:nvSpPr>
          <p:spPr>
            <a:xfrm>
              <a:off x="3230879" y="50962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699" y="0"/>
                  </a:lnTo>
                  <a:lnTo>
                    <a:pt x="647699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699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6743" y="5068824"/>
              <a:ext cx="740663" cy="722376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713987" y="5096255"/>
              <a:ext cx="646176" cy="627888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713987" y="5096255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26891" y="4450080"/>
              <a:ext cx="742188" cy="723900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74135" y="4477511"/>
              <a:ext cx="647700" cy="629412"/>
            </a:xfrm>
            <a:prstGeom prst="rect">
              <a:avLst/>
            </a:prstGeom>
          </p:spPr>
        </p:pic>
        <p:sp>
          <p:nvSpPr>
            <p:cNvPr id="119" name="object 119"/>
            <p:cNvSpPr/>
            <p:nvPr/>
          </p:nvSpPr>
          <p:spPr>
            <a:xfrm>
              <a:off x="3374135" y="44775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7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7" y="157352"/>
                  </a:lnTo>
                  <a:lnTo>
                    <a:pt x="647700" y="0"/>
                  </a:lnTo>
                </a:path>
                <a:path w="647700" h="629920">
                  <a:moveTo>
                    <a:pt x="490347" y="157352"/>
                  </a:moveTo>
                  <a:lnTo>
                    <a:pt x="490347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0" name="object 1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810000" y="4450080"/>
              <a:ext cx="742188" cy="723900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57243" y="4477511"/>
              <a:ext cx="647700" cy="629412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857243" y="4477511"/>
              <a:ext cx="647700" cy="629920"/>
            </a:xfrm>
            <a:custGeom>
              <a:avLst/>
              <a:gdLst/>
              <a:ahLst/>
              <a:cxnLst/>
              <a:rect l="l" t="t" r="r" b="b"/>
              <a:pathLst>
                <a:path w="647700" h="629920">
                  <a:moveTo>
                    <a:pt x="0" y="157352"/>
                  </a:moveTo>
                  <a:lnTo>
                    <a:pt x="157352" y="0"/>
                  </a:lnTo>
                  <a:lnTo>
                    <a:pt x="647700" y="0"/>
                  </a:lnTo>
                  <a:lnTo>
                    <a:pt x="647700" y="472058"/>
                  </a:lnTo>
                  <a:lnTo>
                    <a:pt x="490346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7700" h="629920">
                  <a:moveTo>
                    <a:pt x="0" y="157352"/>
                  </a:moveTo>
                  <a:lnTo>
                    <a:pt x="490346" y="157352"/>
                  </a:lnTo>
                  <a:lnTo>
                    <a:pt x="647700" y="0"/>
                  </a:lnTo>
                </a:path>
                <a:path w="647700" h="629920">
                  <a:moveTo>
                    <a:pt x="490346" y="157352"/>
                  </a:moveTo>
                  <a:lnTo>
                    <a:pt x="490346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635" y="4590288"/>
              <a:ext cx="742188" cy="722376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230879" y="4617720"/>
              <a:ext cx="647699" cy="627888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3230879" y="461772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699" y="0"/>
                  </a:lnTo>
                  <a:lnTo>
                    <a:pt x="647699" y="470915"/>
                  </a:lnTo>
                  <a:lnTo>
                    <a:pt x="490728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699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6" name="object 1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6743" y="4590288"/>
              <a:ext cx="740663" cy="722376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713987" y="4617720"/>
              <a:ext cx="646176" cy="627888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3713987" y="4617720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9" name="object 12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03775" y="4928616"/>
              <a:ext cx="740663" cy="723900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51019" y="4956048"/>
              <a:ext cx="646176" cy="629411"/>
            </a:xfrm>
            <a:prstGeom prst="rect">
              <a:avLst/>
            </a:prstGeom>
          </p:spPr>
        </p:pic>
        <p:sp>
          <p:nvSpPr>
            <p:cNvPr id="131" name="object 131"/>
            <p:cNvSpPr/>
            <p:nvPr/>
          </p:nvSpPr>
          <p:spPr>
            <a:xfrm>
              <a:off x="4351019" y="4956048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2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2" y="157352"/>
                  </a:lnTo>
                  <a:lnTo>
                    <a:pt x="646176" y="0"/>
                  </a:lnTo>
                </a:path>
                <a:path w="646429" h="629920">
                  <a:moveTo>
                    <a:pt x="488822" y="157352"/>
                  </a:moveTo>
                  <a:lnTo>
                    <a:pt x="488822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2" name="object 1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6883" y="4928616"/>
              <a:ext cx="740663" cy="723900"/>
            </a:xfrm>
            <a:prstGeom prst="rect">
              <a:avLst/>
            </a:prstGeom>
          </p:spPr>
        </p:pic>
        <p:pic>
          <p:nvPicPr>
            <p:cNvPr id="133" name="object 13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834127" y="4956048"/>
              <a:ext cx="646176" cy="629411"/>
            </a:xfrm>
            <a:prstGeom prst="rect">
              <a:avLst/>
            </a:prstGeom>
          </p:spPr>
        </p:pic>
        <p:sp>
          <p:nvSpPr>
            <p:cNvPr id="134" name="object 134"/>
            <p:cNvSpPr/>
            <p:nvPr/>
          </p:nvSpPr>
          <p:spPr>
            <a:xfrm>
              <a:off x="4834127" y="4956048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1"/>
                  </a:lnTo>
                  <a:lnTo>
                    <a:pt x="0" y="629411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1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5" name="object 13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8995" y="5068824"/>
              <a:ext cx="742188" cy="722376"/>
            </a:xfrm>
            <a:prstGeom prst="rect">
              <a:avLst/>
            </a:prstGeom>
          </p:spPr>
        </p:pic>
        <p:pic>
          <p:nvPicPr>
            <p:cNvPr id="136" name="object 1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206239" y="5096255"/>
              <a:ext cx="647700" cy="627888"/>
            </a:xfrm>
            <a:prstGeom prst="rect">
              <a:avLst/>
            </a:prstGeom>
          </p:spPr>
        </p:pic>
        <p:sp>
          <p:nvSpPr>
            <p:cNvPr id="137" name="object 137"/>
            <p:cNvSpPr/>
            <p:nvPr/>
          </p:nvSpPr>
          <p:spPr>
            <a:xfrm>
              <a:off x="4206239" y="50962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2103" y="5068824"/>
              <a:ext cx="742188" cy="722376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89347" y="5096255"/>
              <a:ext cx="647700" cy="627888"/>
            </a:xfrm>
            <a:prstGeom prst="rect">
              <a:avLst/>
            </a:prstGeom>
          </p:spPr>
        </p:pic>
        <p:sp>
          <p:nvSpPr>
            <p:cNvPr id="140" name="object 140"/>
            <p:cNvSpPr/>
            <p:nvPr/>
          </p:nvSpPr>
          <p:spPr>
            <a:xfrm>
              <a:off x="4689347" y="5096255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1" name="object 1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03775" y="4450080"/>
              <a:ext cx="740663" cy="723900"/>
            </a:xfrm>
            <a:prstGeom prst="rect">
              <a:avLst/>
            </a:prstGeom>
          </p:spPr>
        </p:pic>
        <p:pic>
          <p:nvPicPr>
            <p:cNvPr id="142" name="object 1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51019" y="4477511"/>
              <a:ext cx="646176" cy="629412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4351019" y="4477511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2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2" y="15735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786883" y="4450080"/>
              <a:ext cx="740663" cy="723900"/>
            </a:xfrm>
            <a:prstGeom prst="rect">
              <a:avLst/>
            </a:prstGeom>
          </p:spPr>
        </p:pic>
        <p:pic>
          <p:nvPicPr>
            <p:cNvPr id="145" name="object 1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34127" y="4477511"/>
              <a:ext cx="646176" cy="629412"/>
            </a:xfrm>
            <a:prstGeom prst="rect">
              <a:avLst/>
            </a:prstGeom>
          </p:spPr>
        </p:pic>
        <p:sp>
          <p:nvSpPr>
            <p:cNvPr id="146" name="object 146"/>
            <p:cNvSpPr/>
            <p:nvPr/>
          </p:nvSpPr>
          <p:spPr>
            <a:xfrm>
              <a:off x="4834127" y="4477511"/>
              <a:ext cx="646430" cy="629920"/>
            </a:xfrm>
            <a:custGeom>
              <a:avLst/>
              <a:gdLst/>
              <a:ahLst/>
              <a:cxnLst/>
              <a:rect l="l" t="t" r="r" b="b"/>
              <a:pathLst>
                <a:path w="646429" h="629920">
                  <a:moveTo>
                    <a:pt x="0" y="157352"/>
                  </a:moveTo>
                  <a:lnTo>
                    <a:pt x="157352" y="0"/>
                  </a:lnTo>
                  <a:lnTo>
                    <a:pt x="646176" y="0"/>
                  </a:lnTo>
                  <a:lnTo>
                    <a:pt x="646176" y="472058"/>
                  </a:lnTo>
                  <a:lnTo>
                    <a:pt x="488823" y="629412"/>
                  </a:lnTo>
                  <a:lnTo>
                    <a:pt x="0" y="629412"/>
                  </a:lnTo>
                  <a:lnTo>
                    <a:pt x="0" y="157352"/>
                  </a:lnTo>
                  <a:close/>
                </a:path>
                <a:path w="646429" h="629920">
                  <a:moveTo>
                    <a:pt x="0" y="157352"/>
                  </a:moveTo>
                  <a:lnTo>
                    <a:pt x="488823" y="157352"/>
                  </a:lnTo>
                  <a:lnTo>
                    <a:pt x="646176" y="0"/>
                  </a:lnTo>
                </a:path>
                <a:path w="646429" h="629920">
                  <a:moveTo>
                    <a:pt x="488823" y="157352"/>
                  </a:moveTo>
                  <a:lnTo>
                    <a:pt x="488823" y="629412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8995" y="4590288"/>
              <a:ext cx="742188" cy="722376"/>
            </a:xfrm>
            <a:prstGeom prst="rect">
              <a:avLst/>
            </a:prstGeom>
          </p:spPr>
        </p:pic>
        <p:pic>
          <p:nvPicPr>
            <p:cNvPr id="148" name="object 1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206239" y="4617720"/>
              <a:ext cx="647700" cy="627888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4206239" y="461772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2103" y="4590288"/>
              <a:ext cx="742188" cy="722376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689347" y="4617720"/>
              <a:ext cx="647700" cy="627888"/>
            </a:xfrm>
            <a:prstGeom prst="rect">
              <a:avLst/>
            </a:prstGeom>
          </p:spPr>
        </p:pic>
        <p:sp>
          <p:nvSpPr>
            <p:cNvPr id="152" name="object 152"/>
            <p:cNvSpPr/>
            <p:nvPr/>
          </p:nvSpPr>
          <p:spPr>
            <a:xfrm>
              <a:off x="4689347" y="461772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7"/>
                  </a:lnTo>
                  <a:lnTo>
                    <a:pt x="0" y="627887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7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3" name="object 15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6891" y="3971544"/>
              <a:ext cx="742188" cy="722376"/>
            </a:xfrm>
            <a:prstGeom prst="rect">
              <a:avLst/>
            </a:prstGeom>
          </p:spPr>
        </p:pic>
        <p:pic>
          <p:nvPicPr>
            <p:cNvPr id="154" name="object 15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74135" y="3998976"/>
              <a:ext cx="647700" cy="627888"/>
            </a:xfrm>
            <a:prstGeom prst="rect">
              <a:avLst/>
            </a:prstGeom>
          </p:spPr>
        </p:pic>
        <p:sp>
          <p:nvSpPr>
            <p:cNvPr id="155" name="object 155"/>
            <p:cNvSpPr/>
            <p:nvPr/>
          </p:nvSpPr>
          <p:spPr>
            <a:xfrm>
              <a:off x="3374135" y="399897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15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3971544"/>
              <a:ext cx="742188" cy="722376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857243" y="3998976"/>
              <a:ext cx="647700" cy="627888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3857243" y="3998976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9" name="object 15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83635" y="4114800"/>
              <a:ext cx="742188" cy="722376"/>
            </a:xfrm>
            <a:prstGeom prst="rect">
              <a:avLst/>
            </a:prstGeom>
          </p:spPr>
        </p:pic>
        <p:pic>
          <p:nvPicPr>
            <p:cNvPr id="160" name="object 16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230879" y="4139184"/>
              <a:ext cx="647699" cy="627888"/>
            </a:xfrm>
            <a:prstGeom prst="rect">
              <a:avLst/>
            </a:prstGeom>
          </p:spPr>
        </p:pic>
        <p:sp>
          <p:nvSpPr>
            <p:cNvPr id="161" name="object 161"/>
            <p:cNvSpPr/>
            <p:nvPr/>
          </p:nvSpPr>
          <p:spPr>
            <a:xfrm>
              <a:off x="3230879" y="413918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699" y="0"/>
                  </a:lnTo>
                  <a:lnTo>
                    <a:pt x="647699" y="470916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8" y="156972"/>
                  </a:lnTo>
                  <a:lnTo>
                    <a:pt x="647699" y="0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16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666743" y="4114800"/>
              <a:ext cx="740663" cy="722376"/>
            </a:xfrm>
            <a:prstGeom prst="rect">
              <a:avLst/>
            </a:prstGeom>
          </p:spPr>
        </p:pic>
        <p:pic>
          <p:nvPicPr>
            <p:cNvPr id="163" name="object 16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713987" y="4139184"/>
              <a:ext cx="646176" cy="627888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3713987" y="4139184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6891" y="3493008"/>
              <a:ext cx="742188" cy="722376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336035" y="3730752"/>
              <a:ext cx="568451" cy="458724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374135" y="3520440"/>
              <a:ext cx="647700" cy="627888"/>
            </a:xfrm>
            <a:prstGeom prst="rect">
              <a:avLst/>
            </a:prstGeom>
          </p:spPr>
        </p:pic>
        <p:sp>
          <p:nvSpPr>
            <p:cNvPr id="168" name="object 168"/>
            <p:cNvSpPr/>
            <p:nvPr/>
          </p:nvSpPr>
          <p:spPr>
            <a:xfrm>
              <a:off x="3374135" y="352044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1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0" y="3493008"/>
              <a:ext cx="742188" cy="722376"/>
            </a:xfrm>
            <a:prstGeom prst="rect">
              <a:avLst/>
            </a:prstGeom>
          </p:spPr>
        </p:pic>
        <p:pic>
          <p:nvPicPr>
            <p:cNvPr id="170" name="object 170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857243" y="3520440"/>
              <a:ext cx="647700" cy="627888"/>
            </a:xfrm>
            <a:prstGeom prst="rect">
              <a:avLst/>
            </a:prstGeom>
          </p:spPr>
        </p:pic>
        <p:sp>
          <p:nvSpPr>
            <p:cNvPr id="171" name="object 171"/>
            <p:cNvSpPr/>
            <p:nvPr/>
          </p:nvSpPr>
          <p:spPr>
            <a:xfrm>
              <a:off x="3857243" y="3520440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1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2" name="object 17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83635" y="3633216"/>
              <a:ext cx="742188" cy="722376"/>
            </a:xfrm>
            <a:prstGeom prst="rect">
              <a:avLst/>
            </a:prstGeom>
          </p:spPr>
        </p:pic>
        <p:pic>
          <p:nvPicPr>
            <p:cNvPr id="173" name="object 173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230879" y="3660648"/>
              <a:ext cx="647699" cy="627888"/>
            </a:xfrm>
            <a:prstGeom prst="rect">
              <a:avLst/>
            </a:prstGeom>
          </p:spPr>
        </p:pic>
        <p:sp>
          <p:nvSpPr>
            <p:cNvPr id="174" name="object 174"/>
            <p:cNvSpPr/>
            <p:nvPr/>
          </p:nvSpPr>
          <p:spPr>
            <a:xfrm>
              <a:off x="3230879" y="36606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1" y="0"/>
                  </a:lnTo>
                  <a:lnTo>
                    <a:pt x="647699" y="0"/>
                  </a:lnTo>
                  <a:lnTo>
                    <a:pt x="647699" y="470915"/>
                  </a:lnTo>
                  <a:lnTo>
                    <a:pt x="490728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8" y="156971"/>
                  </a:lnTo>
                  <a:lnTo>
                    <a:pt x="647699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17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6743" y="3633216"/>
              <a:ext cx="740663" cy="722376"/>
            </a:xfrm>
            <a:prstGeom prst="rect">
              <a:avLst/>
            </a:prstGeom>
          </p:spPr>
        </p:pic>
        <p:pic>
          <p:nvPicPr>
            <p:cNvPr id="176" name="object 176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713987" y="3660648"/>
              <a:ext cx="646176" cy="627888"/>
            </a:xfrm>
            <a:prstGeom prst="rect">
              <a:avLst/>
            </a:prstGeom>
          </p:spPr>
        </p:pic>
        <p:sp>
          <p:nvSpPr>
            <p:cNvPr id="177" name="object 177"/>
            <p:cNvSpPr/>
            <p:nvPr/>
          </p:nvSpPr>
          <p:spPr>
            <a:xfrm>
              <a:off x="3713987" y="3660648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1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5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6429" h="628014">
                  <a:moveTo>
                    <a:pt x="0" y="156971"/>
                  </a:moveTo>
                  <a:lnTo>
                    <a:pt x="489203" y="156971"/>
                  </a:lnTo>
                  <a:lnTo>
                    <a:pt x="646176" y="0"/>
                  </a:lnTo>
                </a:path>
                <a:path w="646429" h="628014">
                  <a:moveTo>
                    <a:pt x="489203" y="156971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8" name="object 17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3775" y="3971544"/>
              <a:ext cx="740663" cy="722376"/>
            </a:xfrm>
            <a:prstGeom prst="rect">
              <a:avLst/>
            </a:prstGeom>
          </p:spPr>
        </p:pic>
        <p:pic>
          <p:nvPicPr>
            <p:cNvPr id="179" name="object 17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351019" y="3998976"/>
              <a:ext cx="646176" cy="627888"/>
            </a:xfrm>
            <a:prstGeom prst="rect">
              <a:avLst/>
            </a:prstGeom>
          </p:spPr>
        </p:pic>
        <p:sp>
          <p:nvSpPr>
            <p:cNvPr id="180" name="object 180"/>
            <p:cNvSpPr/>
            <p:nvPr/>
          </p:nvSpPr>
          <p:spPr>
            <a:xfrm>
              <a:off x="4351019" y="399897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  <a:path w="646429" h="628014">
                  <a:moveTo>
                    <a:pt x="489203" y="156972"/>
                  </a:moveTo>
                  <a:lnTo>
                    <a:pt x="489203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1" name="object 1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3971544"/>
              <a:ext cx="740663" cy="722376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34127" y="3998976"/>
              <a:ext cx="646176" cy="627888"/>
            </a:xfrm>
            <a:prstGeom prst="rect">
              <a:avLst/>
            </a:prstGeom>
          </p:spPr>
        </p:pic>
        <p:sp>
          <p:nvSpPr>
            <p:cNvPr id="183" name="object 183"/>
            <p:cNvSpPr/>
            <p:nvPr/>
          </p:nvSpPr>
          <p:spPr>
            <a:xfrm>
              <a:off x="4834127" y="3998976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4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4" y="156972"/>
                  </a:lnTo>
                  <a:lnTo>
                    <a:pt x="646176" y="0"/>
                  </a:lnTo>
                </a:path>
                <a:path w="646429" h="628014">
                  <a:moveTo>
                    <a:pt x="489204" y="156972"/>
                  </a:moveTo>
                  <a:lnTo>
                    <a:pt x="489204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184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158995" y="4114800"/>
              <a:ext cx="742188" cy="722376"/>
            </a:xfrm>
            <a:prstGeom prst="rect">
              <a:avLst/>
            </a:prstGeom>
          </p:spPr>
        </p:pic>
        <p:pic>
          <p:nvPicPr>
            <p:cNvPr id="185" name="object 185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206239" y="4139184"/>
              <a:ext cx="647700" cy="627888"/>
            </a:xfrm>
            <a:prstGeom prst="rect">
              <a:avLst/>
            </a:prstGeom>
          </p:spPr>
        </p:pic>
        <p:sp>
          <p:nvSpPr>
            <p:cNvPr id="186" name="object 186"/>
            <p:cNvSpPr/>
            <p:nvPr/>
          </p:nvSpPr>
          <p:spPr>
            <a:xfrm>
              <a:off x="4206239" y="413918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18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42103" y="4114800"/>
              <a:ext cx="742188" cy="722376"/>
            </a:xfrm>
            <a:prstGeom prst="rect">
              <a:avLst/>
            </a:prstGeom>
          </p:spPr>
        </p:pic>
        <p:pic>
          <p:nvPicPr>
            <p:cNvPr id="188" name="object 18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4689347" y="4139184"/>
              <a:ext cx="647700" cy="627888"/>
            </a:xfrm>
            <a:prstGeom prst="rect">
              <a:avLst/>
            </a:prstGeom>
          </p:spPr>
        </p:pic>
        <p:sp>
          <p:nvSpPr>
            <p:cNvPr id="189" name="object 189"/>
            <p:cNvSpPr/>
            <p:nvPr/>
          </p:nvSpPr>
          <p:spPr>
            <a:xfrm>
              <a:off x="4689347" y="4139184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2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6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7700" h="628014">
                  <a:moveTo>
                    <a:pt x="0" y="156972"/>
                  </a:moveTo>
                  <a:lnTo>
                    <a:pt x="490727" y="156972"/>
                  </a:lnTo>
                  <a:lnTo>
                    <a:pt x="647700" y="0"/>
                  </a:lnTo>
                </a:path>
                <a:path w="647700" h="628014">
                  <a:moveTo>
                    <a:pt x="490727" y="156972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0" name="object 19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3775" y="3493008"/>
              <a:ext cx="740663" cy="722376"/>
            </a:xfrm>
            <a:prstGeom prst="rect">
              <a:avLst/>
            </a:prstGeom>
          </p:spPr>
        </p:pic>
        <p:pic>
          <p:nvPicPr>
            <p:cNvPr id="191" name="object 19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351019" y="3520440"/>
              <a:ext cx="646176" cy="627888"/>
            </a:xfrm>
            <a:prstGeom prst="rect">
              <a:avLst/>
            </a:prstGeom>
          </p:spPr>
        </p:pic>
        <p:sp>
          <p:nvSpPr>
            <p:cNvPr id="192" name="object 192"/>
            <p:cNvSpPr/>
            <p:nvPr/>
          </p:nvSpPr>
          <p:spPr>
            <a:xfrm>
              <a:off x="4351019" y="3520440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1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3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3" y="156972"/>
                  </a:lnTo>
                  <a:lnTo>
                    <a:pt x="646176" y="0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3" name="object 19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6883" y="3493008"/>
              <a:ext cx="740663" cy="722376"/>
            </a:xfrm>
            <a:prstGeom prst="rect">
              <a:avLst/>
            </a:prstGeom>
          </p:spPr>
        </p:pic>
        <p:pic>
          <p:nvPicPr>
            <p:cNvPr id="194" name="object 1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834127" y="3520440"/>
              <a:ext cx="646176" cy="627888"/>
            </a:xfrm>
            <a:prstGeom prst="rect">
              <a:avLst/>
            </a:prstGeom>
          </p:spPr>
        </p:pic>
        <p:sp>
          <p:nvSpPr>
            <p:cNvPr id="195" name="object 195"/>
            <p:cNvSpPr/>
            <p:nvPr/>
          </p:nvSpPr>
          <p:spPr>
            <a:xfrm>
              <a:off x="4834127" y="3520440"/>
              <a:ext cx="646430" cy="628015"/>
            </a:xfrm>
            <a:custGeom>
              <a:avLst/>
              <a:gdLst/>
              <a:ahLst/>
              <a:cxnLst/>
              <a:rect l="l" t="t" r="r" b="b"/>
              <a:pathLst>
                <a:path w="646429" h="628014">
                  <a:moveTo>
                    <a:pt x="0" y="156972"/>
                  </a:moveTo>
                  <a:lnTo>
                    <a:pt x="156972" y="0"/>
                  </a:lnTo>
                  <a:lnTo>
                    <a:pt x="646176" y="0"/>
                  </a:lnTo>
                  <a:lnTo>
                    <a:pt x="646176" y="470916"/>
                  </a:lnTo>
                  <a:lnTo>
                    <a:pt x="489204" y="627888"/>
                  </a:lnTo>
                  <a:lnTo>
                    <a:pt x="0" y="627888"/>
                  </a:lnTo>
                  <a:lnTo>
                    <a:pt x="0" y="156972"/>
                  </a:lnTo>
                  <a:close/>
                </a:path>
                <a:path w="646429" h="628014">
                  <a:moveTo>
                    <a:pt x="0" y="156972"/>
                  </a:moveTo>
                  <a:lnTo>
                    <a:pt x="489204" y="156972"/>
                  </a:lnTo>
                  <a:lnTo>
                    <a:pt x="646176" y="0"/>
                  </a:lnTo>
                </a:path>
                <a:path w="646429" h="628014">
                  <a:moveTo>
                    <a:pt x="489204" y="156972"/>
                  </a:moveTo>
                  <a:lnTo>
                    <a:pt x="489204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6" name="object 19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58995" y="3633216"/>
              <a:ext cx="742188" cy="722376"/>
            </a:xfrm>
            <a:prstGeom prst="rect">
              <a:avLst/>
            </a:prstGeom>
          </p:spPr>
        </p:pic>
        <p:pic>
          <p:nvPicPr>
            <p:cNvPr id="197" name="object 19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06239" y="3660648"/>
              <a:ext cx="647700" cy="627888"/>
            </a:xfrm>
            <a:prstGeom prst="rect">
              <a:avLst/>
            </a:prstGeom>
          </p:spPr>
        </p:pic>
        <p:sp>
          <p:nvSpPr>
            <p:cNvPr id="198" name="object 198"/>
            <p:cNvSpPr/>
            <p:nvPr/>
          </p:nvSpPr>
          <p:spPr>
            <a:xfrm>
              <a:off x="4206239" y="36606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9" name="object 19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2103" y="3633216"/>
              <a:ext cx="742188" cy="722376"/>
            </a:xfrm>
            <a:prstGeom prst="rect">
              <a:avLst/>
            </a:prstGeom>
          </p:spPr>
        </p:pic>
        <p:pic>
          <p:nvPicPr>
            <p:cNvPr id="200" name="object 200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689347" y="3660648"/>
              <a:ext cx="647700" cy="627888"/>
            </a:xfrm>
            <a:prstGeom prst="rect">
              <a:avLst/>
            </a:prstGeom>
          </p:spPr>
        </p:pic>
        <p:sp>
          <p:nvSpPr>
            <p:cNvPr id="201" name="object 201"/>
            <p:cNvSpPr/>
            <p:nvPr/>
          </p:nvSpPr>
          <p:spPr>
            <a:xfrm>
              <a:off x="4689347" y="3660648"/>
              <a:ext cx="647700" cy="628015"/>
            </a:xfrm>
            <a:custGeom>
              <a:avLst/>
              <a:gdLst/>
              <a:ahLst/>
              <a:cxnLst/>
              <a:rect l="l" t="t" r="r" b="b"/>
              <a:pathLst>
                <a:path w="647700" h="628014">
                  <a:moveTo>
                    <a:pt x="0" y="156971"/>
                  </a:moveTo>
                  <a:lnTo>
                    <a:pt x="156972" y="0"/>
                  </a:lnTo>
                  <a:lnTo>
                    <a:pt x="647700" y="0"/>
                  </a:lnTo>
                  <a:lnTo>
                    <a:pt x="647700" y="470915"/>
                  </a:lnTo>
                  <a:lnTo>
                    <a:pt x="490727" y="627888"/>
                  </a:lnTo>
                  <a:lnTo>
                    <a:pt x="0" y="627888"/>
                  </a:lnTo>
                  <a:lnTo>
                    <a:pt x="0" y="156971"/>
                  </a:lnTo>
                  <a:close/>
                </a:path>
                <a:path w="647700" h="628014">
                  <a:moveTo>
                    <a:pt x="0" y="156971"/>
                  </a:moveTo>
                  <a:lnTo>
                    <a:pt x="490727" y="156971"/>
                  </a:lnTo>
                  <a:lnTo>
                    <a:pt x="647700" y="0"/>
                  </a:lnTo>
                </a:path>
                <a:path w="647700" h="628014">
                  <a:moveTo>
                    <a:pt x="490727" y="156971"/>
                  </a:moveTo>
                  <a:lnTo>
                    <a:pt x="490727" y="627888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2" name="object 202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883407" y="5701283"/>
              <a:ext cx="3456432" cy="425195"/>
            </a:xfrm>
            <a:prstGeom prst="rect">
              <a:avLst/>
            </a:prstGeom>
          </p:spPr>
        </p:pic>
        <p:sp>
          <p:nvSpPr>
            <p:cNvPr id="203" name="object 203"/>
            <p:cNvSpPr/>
            <p:nvPr/>
          </p:nvSpPr>
          <p:spPr>
            <a:xfrm>
              <a:off x="2926841" y="5805439"/>
              <a:ext cx="3201035" cy="171450"/>
            </a:xfrm>
            <a:custGeom>
              <a:avLst/>
              <a:gdLst/>
              <a:ahLst/>
              <a:cxnLst/>
              <a:rect l="l" t="t" r="r" b="b"/>
              <a:pathLst>
                <a:path w="3201035" h="171450">
                  <a:moveTo>
                    <a:pt x="3050839" y="0"/>
                  </a:moveTo>
                  <a:lnTo>
                    <a:pt x="3043539" y="470"/>
                  </a:lnTo>
                  <a:lnTo>
                    <a:pt x="3036976" y="3641"/>
                  </a:lnTo>
                  <a:lnTo>
                    <a:pt x="3031997" y="9294"/>
                  </a:lnTo>
                  <a:lnTo>
                    <a:pt x="3029533" y="16450"/>
                  </a:lnTo>
                  <a:lnTo>
                    <a:pt x="3029997" y="23737"/>
                  </a:lnTo>
                  <a:lnTo>
                    <a:pt x="3033176" y="30314"/>
                  </a:lnTo>
                  <a:lnTo>
                    <a:pt x="3038856" y="35341"/>
                  </a:lnTo>
                  <a:lnTo>
                    <a:pt x="3092222" y="66536"/>
                  </a:lnTo>
                  <a:lnTo>
                    <a:pt x="3162681" y="66571"/>
                  </a:lnTo>
                  <a:lnTo>
                    <a:pt x="3162681" y="104671"/>
                  </a:lnTo>
                  <a:lnTo>
                    <a:pt x="3092109" y="104671"/>
                  </a:lnTo>
                  <a:lnTo>
                    <a:pt x="3038729" y="135786"/>
                  </a:lnTo>
                  <a:lnTo>
                    <a:pt x="3033103" y="140811"/>
                  </a:lnTo>
                  <a:lnTo>
                    <a:pt x="3029918" y="147385"/>
                  </a:lnTo>
                  <a:lnTo>
                    <a:pt x="3029424" y="154672"/>
                  </a:lnTo>
                  <a:lnTo>
                    <a:pt x="3031871" y="161833"/>
                  </a:lnTo>
                  <a:lnTo>
                    <a:pt x="3036921" y="167488"/>
                  </a:lnTo>
                  <a:lnTo>
                    <a:pt x="3043507" y="170664"/>
                  </a:lnTo>
                  <a:lnTo>
                    <a:pt x="3050784" y="171143"/>
                  </a:lnTo>
                  <a:lnTo>
                    <a:pt x="3057906" y="168704"/>
                  </a:lnTo>
                  <a:lnTo>
                    <a:pt x="3167859" y="104671"/>
                  </a:lnTo>
                  <a:lnTo>
                    <a:pt x="3162681" y="104671"/>
                  </a:lnTo>
                  <a:lnTo>
                    <a:pt x="3167919" y="104636"/>
                  </a:lnTo>
                  <a:lnTo>
                    <a:pt x="3200527" y="85646"/>
                  </a:lnTo>
                  <a:lnTo>
                    <a:pt x="3058033" y="2448"/>
                  </a:lnTo>
                  <a:lnTo>
                    <a:pt x="3050839" y="0"/>
                  </a:lnTo>
                  <a:close/>
                </a:path>
                <a:path w="3201035" h="171450">
                  <a:moveTo>
                    <a:pt x="3124831" y="85597"/>
                  </a:moveTo>
                  <a:lnTo>
                    <a:pt x="3092169" y="104636"/>
                  </a:lnTo>
                  <a:lnTo>
                    <a:pt x="3162681" y="104671"/>
                  </a:lnTo>
                  <a:lnTo>
                    <a:pt x="3162681" y="102080"/>
                  </a:lnTo>
                  <a:lnTo>
                    <a:pt x="3153029" y="102080"/>
                  </a:lnTo>
                  <a:lnTo>
                    <a:pt x="3124831" y="85597"/>
                  </a:lnTo>
                  <a:close/>
                </a:path>
                <a:path w="3201035" h="171450">
                  <a:moveTo>
                    <a:pt x="0" y="65008"/>
                  </a:moveTo>
                  <a:lnTo>
                    <a:pt x="0" y="103108"/>
                  </a:lnTo>
                  <a:lnTo>
                    <a:pt x="3092169" y="104636"/>
                  </a:lnTo>
                  <a:lnTo>
                    <a:pt x="3124831" y="85597"/>
                  </a:lnTo>
                  <a:lnTo>
                    <a:pt x="3092222" y="66536"/>
                  </a:lnTo>
                  <a:lnTo>
                    <a:pt x="0" y="65008"/>
                  </a:lnTo>
                  <a:close/>
                </a:path>
                <a:path w="3201035" h="171450">
                  <a:moveTo>
                    <a:pt x="3153029" y="69161"/>
                  </a:moveTo>
                  <a:lnTo>
                    <a:pt x="3124831" y="85597"/>
                  </a:lnTo>
                  <a:lnTo>
                    <a:pt x="3153029" y="102080"/>
                  </a:lnTo>
                  <a:lnTo>
                    <a:pt x="3153029" y="69161"/>
                  </a:lnTo>
                  <a:close/>
                </a:path>
                <a:path w="3201035" h="171450">
                  <a:moveTo>
                    <a:pt x="3162681" y="69161"/>
                  </a:moveTo>
                  <a:lnTo>
                    <a:pt x="3153029" y="69161"/>
                  </a:lnTo>
                  <a:lnTo>
                    <a:pt x="3153029" y="102080"/>
                  </a:lnTo>
                  <a:lnTo>
                    <a:pt x="3162681" y="102080"/>
                  </a:lnTo>
                  <a:lnTo>
                    <a:pt x="3162681" y="69161"/>
                  </a:lnTo>
                  <a:close/>
                </a:path>
                <a:path w="3201035" h="171450">
                  <a:moveTo>
                    <a:pt x="3092222" y="66536"/>
                  </a:moveTo>
                  <a:lnTo>
                    <a:pt x="3124831" y="85597"/>
                  </a:lnTo>
                  <a:lnTo>
                    <a:pt x="3153029" y="69161"/>
                  </a:lnTo>
                  <a:lnTo>
                    <a:pt x="3162681" y="69161"/>
                  </a:lnTo>
                  <a:lnTo>
                    <a:pt x="3162681" y="66571"/>
                  </a:lnTo>
                  <a:lnTo>
                    <a:pt x="3092222" y="66536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868167" y="2804160"/>
              <a:ext cx="423671" cy="3302508"/>
            </a:xfrm>
            <a:prstGeom prst="rect">
              <a:avLst/>
            </a:prstGeom>
          </p:spPr>
        </p:pic>
        <p:sp>
          <p:nvSpPr>
            <p:cNvPr id="205" name="object 205"/>
            <p:cNvSpPr/>
            <p:nvPr/>
          </p:nvSpPr>
          <p:spPr>
            <a:xfrm>
              <a:off x="2994425" y="2993771"/>
              <a:ext cx="171450" cy="3047365"/>
            </a:xfrm>
            <a:custGeom>
              <a:avLst/>
              <a:gdLst/>
              <a:ahLst/>
              <a:cxnLst/>
              <a:rect l="l" t="t" r="r" b="b"/>
              <a:pathLst>
                <a:path w="171450" h="3047365">
                  <a:moveTo>
                    <a:pt x="85601" y="75676"/>
                  </a:moveTo>
                  <a:lnTo>
                    <a:pt x="66510" y="108304"/>
                  </a:lnTo>
                  <a:lnTo>
                    <a:pt x="65766" y="3047326"/>
                  </a:lnTo>
                  <a:lnTo>
                    <a:pt x="103866" y="3047326"/>
                  </a:lnTo>
                  <a:lnTo>
                    <a:pt x="104598" y="108304"/>
                  </a:lnTo>
                  <a:lnTo>
                    <a:pt x="85601" y="75676"/>
                  </a:lnTo>
                  <a:close/>
                </a:path>
                <a:path w="171450" h="3047365">
                  <a:moveTo>
                    <a:pt x="107652" y="37845"/>
                  </a:moveTo>
                  <a:lnTo>
                    <a:pt x="104628" y="37845"/>
                  </a:lnTo>
                  <a:lnTo>
                    <a:pt x="104610" y="108325"/>
                  </a:lnTo>
                  <a:lnTo>
                    <a:pt x="135743" y="161798"/>
                  </a:lnTo>
                  <a:lnTo>
                    <a:pt x="140793" y="167405"/>
                  </a:lnTo>
                  <a:lnTo>
                    <a:pt x="147379" y="170561"/>
                  </a:lnTo>
                  <a:lnTo>
                    <a:pt x="154656" y="171049"/>
                  </a:lnTo>
                  <a:lnTo>
                    <a:pt x="161778" y="168655"/>
                  </a:lnTo>
                  <a:lnTo>
                    <a:pt x="167459" y="163605"/>
                  </a:lnTo>
                  <a:lnTo>
                    <a:pt x="170654" y="156987"/>
                  </a:lnTo>
                  <a:lnTo>
                    <a:pt x="171154" y="149742"/>
                  </a:lnTo>
                  <a:lnTo>
                    <a:pt x="168763" y="142620"/>
                  </a:lnTo>
                  <a:lnTo>
                    <a:pt x="107652" y="37845"/>
                  </a:lnTo>
                  <a:close/>
                </a:path>
                <a:path w="171450" h="3047365">
                  <a:moveTo>
                    <a:pt x="85578" y="0"/>
                  </a:moveTo>
                  <a:lnTo>
                    <a:pt x="2393" y="142493"/>
                  </a:lnTo>
                  <a:lnTo>
                    <a:pt x="0" y="149687"/>
                  </a:lnTo>
                  <a:lnTo>
                    <a:pt x="488" y="156987"/>
                  </a:lnTo>
                  <a:lnTo>
                    <a:pt x="3643" y="163550"/>
                  </a:lnTo>
                  <a:lnTo>
                    <a:pt x="9251" y="168528"/>
                  </a:lnTo>
                  <a:lnTo>
                    <a:pt x="16444" y="170993"/>
                  </a:lnTo>
                  <a:lnTo>
                    <a:pt x="23745" y="170529"/>
                  </a:lnTo>
                  <a:lnTo>
                    <a:pt x="30307" y="167350"/>
                  </a:lnTo>
                  <a:lnTo>
                    <a:pt x="35286" y="161670"/>
                  </a:lnTo>
                  <a:lnTo>
                    <a:pt x="66498" y="108325"/>
                  </a:lnTo>
                  <a:lnTo>
                    <a:pt x="66528" y="37845"/>
                  </a:lnTo>
                  <a:lnTo>
                    <a:pt x="107652" y="37845"/>
                  </a:lnTo>
                  <a:lnTo>
                    <a:pt x="85578" y="0"/>
                  </a:lnTo>
                  <a:close/>
                </a:path>
                <a:path w="171450" h="3047365">
                  <a:moveTo>
                    <a:pt x="104625" y="47498"/>
                  </a:moveTo>
                  <a:lnTo>
                    <a:pt x="102088" y="47498"/>
                  </a:lnTo>
                  <a:lnTo>
                    <a:pt x="85601" y="75676"/>
                  </a:lnTo>
                  <a:lnTo>
                    <a:pt x="104610" y="108325"/>
                  </a:lnTo>
                  <a:lnTo>
                    <a:pt x="104625" y="47498"/>
                  </a:lnTo>
                  <a:close/>
                </a:path>
                <a:path w="171450" h="3047365">
                  <a:moveTo>
                    <a:pt x="104628" y="37845"/>
                  </a:moveTo>
                  <a:lnTo>
                    <a:pt x="66528" y="37845"/>
                  </a:lnTo>
                  <a:lnTo>
                    <a:pt x="66510" y="108304"/>
                  </a:lnTo>
                  <a:lnTo>
                    <a:pt x="85601" y="75676"/>
                  </a:lnTo>
                  <a:lnTo>
                    <a:pt x="69195" y="47498"/>
                  </a:lnTo>
                  <a:lnTo>
                    <a:pt x="104625" y="47498"/>
                  </a:lnTo>
                  <a:lnTo>
                    <a:pt x="104628" y="37845"/>
                  </a:lnTo>
                  <a:close/>
                </a:path>
                <a:path w="171450" h="3047365">
                  <a:moveTo>
                    <a:pt x="102088" y="47498"/>
                  </a:moveTo>
                  <a:lnTo>
                    <a:pt x="69195" y="47498"/>
                  </a:lnTo>
                  <a:lnTo>
                    <a:pt x="85601" y="75676"/>
                  </a:lnTo>
                  <a:lnTo>
                    <a:pt x="102088" y="47498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6" name="object 20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157216" y="4785360"/>
              <a:ext cx="1258824" cy="1258823"/>
            </a:xfrm>
            <a:prstGeom prst="rect">
              <a:avLst/>
            </a:prstGeom>
          </p:spPr>
        </p:pic>
        <p:sp>
          <p:nvSpPr>
            <p:cNvPr id="207" name="object 207"/>
            <p:cNvSpPr/>
            <p:nvPr/>
          </p:nvSpPr>
          <p:spPr>
            <a:xfrm>
              <a:off x="5199379" y="4975098"/>
              <a:ext cx="1004569" cy="1004569"/>
            </a:xfrm>
            <a:custGeom>
              <a:avLst/>
              <a:gdLst/>
              <a:ahLst/>
              <a:cxnLst/>
              <a:rect l="l" t="t" r="r" b="b"/>
              <a:pathLst>
                <a:path w="1004570" h="1004570">
                  <a:moveTo>
                    <a:pt x="950676" y="53385"/>
                  </a:moveTo>
                  <a:lnTo>
                    <a:pt x="914136" y="63001"/>
                  </a:lnTo>
                  <a:lnTo>
                    <a:pt x="0" y="977125"/>
                  </a:lnTo>
                  <a:lnTo>
                    <a:pt x="26924" y="1004074"/>
                  </a:lnTo>
                  <a:lnTo>
                    <a:pt x="941060" y="89925"/>
                  </a:lnTo>
                  <a:lnTo>
                    <a:pt x="950676" y="53385"/>
                  </a:lnTo>
                  <a:close/>
                </a:path>
                <a:path w="1004570" h="1004570">
                  <a:moveTo>
                    <a:pt x="1000591" y="13207"/>
                  </a:moveTo>
                  <a:lnTo>
                    <a:pt x="963930" y="13207"/>
                  </a:lnTo>
                  <a:lnTo>
                    <a:pt x="990854" y="40131"/>
                  </a:lnTo>
                  <a:lnTo>
                    <a:pt x="941060" y="89925"/>
                  </a:lnTo>
                  <a:lnTo>
                    <a:pt x="925322" y="149732"/>
                  </a:lnTo>
                  <a:lnTo>
                    <a:pt x="924891" y="157349"/>
                  </a:lnTo>
                  <a:lnTo>
                    <a:pt x="927306" y="164274"/>
                  </a:lnTo>
                  <a:lnTo>
                    <a:pt x="932126" y="169771"/>
                  </a:lnTo>
                  <a:lnTo>
                    <a:pt x="938911" y="173100"/>
                  </a:lnTo>
                  <a:lnTo>
                    <a:pt x="946453" y="173531"/>
                  </a:lnTo>
                  <a:lnTo>
                    <a:pt x="953341" y="171116"/>
                  </a:lnTo>
                  <a:lnTo>
                    <a:pt x="958824" y="166296"/>
                  </a:lnTo>
                  <a:lnTo>
                    <a:pt x="962152" y="159512"/>
                  </a:lnTo>
                  <a:lnTo>
                    <a:pt x="1000591" y="13207"/>
                  </a:lnTo>
                  <a:close/>
                </a:path>
                <a:path w="1004570" h="1004570">
                  <a:moveTo>
                    <a:pt x="972566" y="21843"/>
                  </a:moveTo>
                  <a:lnTo>
                    <a:pt x="958977" y="21843"/>
                  </a:lnTo>
                  <a:lnTo>
                    <a:pt x="982218" y="45084"/>
                  </a:lnTo>
                  <a:lnTo>
                    <a:pt x="950676" y="53385"/>
                  </a:lnTo>
                  <a:lnTo>
                    <a:pt x="941060" y="89925"/>
                  </a:lnTo>
                  <a:lnTo>
                    <a:pt x="990854" y="40131"/>
                  </a:lnTo>
                  <a:lnTo>
                    <a:pt x="972566" y="21843"/>
                  </a:lnTo>
                  <a:close/>
                </a:path>
                <a:path w="1004570" h="1004570">
                  <a:moveTo>
                    <a:pt x="1004062" y="0"/>
                  </a:moveTo>
                  <a:lnTo>
                    <a:pt x="844550" y="41909"/>
                  </a:lnTo>
                  <a:lnTo>
                    <a:pt x="837765" y="45237"/>
                  </a:lnTo>
                  <a:lnTo>
                    <a:pt x="832945" y="50720"/>
                  </a:lnTo>
                  <a:lnTo>
                    <a:pt x="830530" y="57608"/>
                  </a:lnTo>
                  <a:lnTo>
                    <a:pt x="830961" y="65150"/>
                  </a:lnTo>
                  <a:lnTo>
                    <a:pt x="834290" y="71935"/>
                  </a:lnTo>
                  <a:lnTo>
                    <a:pt x="839787" y="76755"/>
                  </a:lnTo>
                  <a:lnTo>
                    <a:pt x="846712" y="79170"/>
                  </a:lnTo>
                  <a:lnTo>
                    <a:pt x="854329" y="78739"/>
                  </a:lnTo>
                  <a:lnTo>
                    <a:pt x="914136" y="63001"/>
                  </a:lnTo>
                  <a:lnTo>
                    <a:pt x="963930" y="13207"/>
                  </a:lnTo>
                  <a:lnTo>
                    <a:pt x="1000591" y="13207"/>
                  </a:lnTo>
                  <a:lnTo>
                    <a:pt x="1004062" y="0"/>
                  </a:lnTo>
                  <a:close/>
                </a:path>
                <a:path w="1004570" h="1004570">
                  <a:moveTo>
                    <a:pt x="963930" y="13207"/>
                  </a:moveTo>
                  <a:lnTo>
                    <a:pt x="914136" y="63001"/>
                  </a:lnTo>
                  <a:lnTo>
                    <a:pt x="950676" y="53385"/>
                  </a:lnTo>
                  <a:lnTo>
                    <a:pt x="958977" y="21843"/>
                  </a:lnTo>
                  <a:lnTo>
                    <a:pt x="972566" y="21843"/>
                  </a:lnTo>
                  <a:lnTo>
                    <a:pt x="963930" y="13207"/>
                  </a:lnTo>
                  <a:close/>
                </a:path>
                <a:path w="1004570" h="1004570">
                  <a:moveTo>
                    <a:pt x="958977" y="21843"/>
                  </a:moveTo>
                  <a:lnTo>
                    <a:pt x="950676" y="53385"/>
                  </a:lnTo>
                  <a:lnTo>
                    <a:pt x="982218" y="45084"/>
                  </a:lnTo>
                  <a:lnTo>
                    <a:pt x="958977" y="21843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8" name="object 208"/>
          <p:cNvSpPr txBox="1"/>
          <p:nvPr/>
        </p:nvSpPr>
        <p:spPr>
          <a:xfrm>
            <a:off x="2288794" y="3128010"/>
            <a:ext cx="1479550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Product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alibri"/>
                <a:cs typeface="Calibri"/>
              </a:rPr>
              <a:t>818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6249670" y="4854321"/>
            <a:ext cx="4432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T</a:t>
            </a:r>
            <a:r>
              <a:rPr sz="1600" b="1" spc="-5" dirty="0">
                <a:latin typeface="Calibri"/>
                <a:cs typeface="Calibri"/>
              </a:rPr>
              <a:t>i</a:t>
            </a:r>
            <a:r>
              <a:rPr sz="1600" b="1" spc="-10" dirty="0">
                <a:latin typeface="Calibri"/>
                <a:cs typeface="Calibri"/>
              </a:rPr>
              <a:t>me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0" name="object 210"/>
          <p:cNvSpPr/>
          <p:nvPr/>
        </p:nvSpPr>
        <p:spPr>
          <a:xfrm>
            <a:off x="5416296" y="54864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152400" y="0"/>
                </a:moveTo>
                <a:lnTo>
                  <a:pt x="304800" y="76200"/>
                </a:lnTo>
              </a:path>
              <a:path w="304800" h="228600">
                <a:moveTo>
                  <a:pt x="0" y="152400"/>
                </a:moveTo>
                <a:lnTo>
                  <a:pt x="152400" y="228600"/>
                </a:lnTo>
              </a:path>
            </a:pathLst>
          </a:custGeom>
          <a:ln w="91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 txBox="1"/>
          <p:nvPr/>
        </p:nvSpPr>
        <p:spPr>
          <a:xfrm>
            <a:off x="5572125" y="5389879"/>
            <a:ext cx="1269365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5790" indent="152400">
              <a:lnSpc>
                <a:spcPct val="125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Ja</a:t>
            </a:r>
            <a:r>
              <a:rPr sz="1200" spc="5" dirty="0">
                <a:latin typeface="Calibri"/>
                <a:cs typeface="Calibri"/>
              </a:rPr>
              <a:t>n</a:t>
            </a:r>
            <a:r>
              <a:rPr sz="1200" dirty="0">
                <a:latin typeface="Calibri"/>
                <a:cs typeface="Calibri"/>
              </a:rPr>
              <a:t>uary  Decem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er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850">
              <a:latin typeface="Calibri"/>
              <a:cs typeface="Calibri"/>
            </a:endParaRPr>
          </a:p>
          <a:p>
            <a:pPr marL="341630">
              <a:lnSpc>
                <a:spcPct val="100000"/>
              </a:lnSpc>
            </a:pPr>
            <a:r>
              <a:rPr sz="1600" b="1" spc="-15" dirty="0">
                <a:latin typeface="Calibri"/>
                <a:cs typeface="Calibri"/>
              </a:rPr>
              <a:t>Geography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12" name="object 212"/>
          <p:cNvSpPr txBox="1"/>
          <p:nvPr/>
        </p:nvSpPr>
        <p:spPr>
          <a:xfrm>
            <a:off x="2482723" y="4465446"/>
            <a:ext cx="5137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La</a:t>
            </a:r>
            <a:r>
              <a:rPr sz="1200" spc="5" dirty="0">
                <a:latin typeface="Calibri"/>
                <a:cs typeface="Calibri"/>
              </a:rPr>
              <a:t>p</a:t>
            </a:r>
            <a:r>
              <a:rPr sz="1200" spc="-10" dirty="0">
                <a:latin typeface="Calibri"/>
                <a:cs typeface="Calibri"/>
              </a:rPr>
              <a:t>t</a:t>
            </a:r>
            <a:r>
              <a:rPr sz="1200" spc="-5" dirty="0">
                <a:latin typeface="Calibri"/>
                <a:cs typeface="Calibri"/>
              </a:rPr>
              <a:t>ops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13" name="object 213"/>
          <p:cNvGrpSpPr/>
          <p:nvPr/>
        </p:nvGrpSpPr>
        <p:grpSpPr>
          <a:xfrm>
            <a:off x="2997707" y="4588764"/>
            <a:ext cx="1466850" cy="1926589"/>
            <a:chOff x="2997707" y="4588764"/>
            <a:chExt cx="1466850" cy="1926589"/>
          </a:xfrm>
        </p:grpSpPr>
        <p:pic>
          <p:nvPicPr>
            <p:cNvPr id="214" name="object 214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518915" y="6048997"/>
              <a:ext cx="945134" cy="466344"/>
            </a:xfrm>
            <a:prstGeom prst="rect">
              <a:avLst/>
            </a:prstGeom>
          </p:spPr>
        </p:pic>
        <p:sp>
          <p:nvSpPr>
            <p:cNvPr id="215" name="object 215"/>
            <p:cNvSpPr/>
            <p:nvPr/>
          </p:nvSpPr>
          <p:spPr>
            <a:xfrm>
              <a:off x="3002279" y="4593336"/>
              <a:ext cx="152400" cy="382905"/>
            </a:xfrm>
            <a:custGeom>
              <a:avLst/>
              <a:gdLst/>
              <a:ahLst/>
              <a:cxnLst/>
              <a:rect l="l" t="t" r="r" b="b"/>
              <a:pathLst>
                <a:path w="152400" h="382904">
                  <a:moveTo>
                    <a:pt x="0" y="0"/>
                  </a:moveTo>
                  <a:lnTo>
                    <a:pt x="152400" y="1524"/>
                  </a:lnTo>
                </a:path>
                <a:path w="152400" h="382904">
                  <a:moveTo>
                    <a:pt x="0" y="381000"/>
                  </a:moveTo>
                  <a:lnTo>
                    <a:pt x="152400" y="382524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3991355" y="5812536"/>
              <a:ext cx="459740" cy="227965"/>
            </a:xfrm>
            <a:custGeom>
              <a:avLst/>
              <a:gdLst/>
              <a:ahLst/>
              <a:cxnLst/>
              <a:rect l="l" t="t" r="r" b="b"/>
              <a:pathLst>
                <a:path w="459739" h="227964">
                  <a:moveTo>
                    <a:pt x="1651" y="0"/>
                  </a:moveTo>
                  <a:lnTo>
                    <a:pt x="0" y="152400"/>
                  </a:lnTo>
                </a:path>
                <a:path w="459739" h="227964">
                  <a:moveTo>
                    <a:pt x="459486" y="0"/>
                  </a:moveTo>
                  <a:lnTo>
                    <a:pt x="458724" y="227799"/>
                  </a:lnTo>
                </a:path>
              </a:pathLst>
            </a:custGeom>
            <a:ln w="9144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7" name="object 217"/>
          <p:cNvSpPr txBox="1"/>
          <p:nvPr/>
        </p:nvSpPr>
        <p:spPr>
          <a:xfrm>
            <a:off x="2599689" y="4868036"/>
            <a:ext cx="3505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C</a:t>
            </a:r>
            <a:r>
              <a:rPr sz="1200" dirty="0">
                <a:latin typeface="Calibri"/>
                <a:cs typeface="Calibri"/>
              </a:rPr>
              <a:t>ell</a:t>
            </a:r>
            <a:r>
              <a:rPr sz="1200" spc="-150" dirty="0">
                <a:latin typeface="Calibri"/>
                <a:cs typeface="Calibri"/>
              </a:rPr>
              <a:t>P</a:t>
            </a:r>
            <a:r>
              <a:rPr sz="120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580755" cy="4430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30935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150" dirty="0">
                <a:latin typeface="Trebuchet MS"/>
                <a:cs typeface="Trebuchet MS"/>
              </a:rPr>
              <a:t>Pivot </a:t>
            </a:r>
            <a:r>
              <a:rPr sz="3200" spc="-190" dirty="0">
                <a:latin typeface="Trebuchet MS"/>
                <a:cs typeface="Trebuchet MS"/>
              </a:rPr>
              <a:t>(rotate): </a:t>
            </a:r>
            <a:r>
              <a:rPr sz="3200" spc="-170" dirty="0">
                <a:latin typeface="Trebuchet MS"/>
                <a:cs typeface="Trebuchet MS"/>
              </a:rPr>
              <a:t>re-arranging </a:t>
            </a:r>
            <a:r>
              <a:rPr sz="3200" spc="-245" dirty="0">
                <a:latin typeface="Trebuchet MS"/>
                <a:cs typeface="Trebuchet MS"/>
              </a:rPr>
              <a:t>data </a:t>
            </a:r>
            <a:r>
              <a:rPr sz="3200" spc="-114" dirty="0">
                <a:latin typeface="Trebuchet MS"/>
                <a:cs typeface="Trebuchet MS"/>
              </a:rPr>
              <a:t>for </a:t>
            </a:r>
            <a:r>
              <a:rPr sz="3200" spc="-190" dirty="0">
                <a:latin typeface="Trebuchet MS"/>
                <a:cs typeface="Trebuchet MS"/>
              </a:rPr>
              <a:t>viewing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purposes</a:t>
            </a:r>
            <a:endParaRPr sz="3200">
              <a:latin typeface="Trebuchet MS"/>
              <a:cs typeface="Trebuchet MS"/>
            </a:endParaRPr>
          </a:p>
          <a:p>
            <a:pPr marL="756285" marR="626110" lvl="1" indent="-287020" algn="just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The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simplest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view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pivoting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is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that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it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selects 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two 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dimensions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5" dirty="0">
                <a:solidFill>
                  <a:srgbClr val="1F487C"/>
                </a:solidFill>
                <a:latin typeface="Trebuchet MS"/>
                <a:cs typeface="Trebuchet MS"/>
              </a:rPr>
              <a:t>aggregate</a:t>
            </a:r>
            <a:r>
              <a:rPr sz="2800" b="1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measure</a:t>
            </a:r>
            <a:endParaRPr sz="2800">
              <a:latin typeface="Trebuchet MS"/>
              <a:cs typeface="Trebuchet MS"/>
            </a:endParaRPr>
          </a:p>
          <a:p>
            <a:pPr marL="1155700" marR="253365" lvl="2" indent="-229235" algn="just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The 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aggregated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values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are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often 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displayed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in </a:t>
            </a:r>
            <a:r>
              <a:rPr sz="2400" b="1" spc="-5" dirty="0">
                <a:solidFill>
                  <a:srgbClr val="4F81BC"/>
                </a:solidFill>
                <a:latin typeface="Trebuchet MS"/>
                <a:cs typeface="Trebuchet MS"/>
              </a:rPr>
              <a:t>a </a:t>
            </a:r>
            <a:r>
              <a:rPr sz="2400" b="1" spc="20" dirty="0">
                <a:solidFill>
                  <a:srgbClr val="4F81BC"/>
                </a:solidFill>
                <a:latin typeface="Trebuchet MS"/>
                <a:cs typeface="Trebuchet MS"/>
              </a:rPr>
              <a:t>grid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where </a:t>
            </a:r>
            <a:r>
              <a:rPr sz="2400" spc="-7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each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point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in the 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(x, 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y)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coordinate 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system 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corresponds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 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4F81BC"/>
                </a:solidFill>
                <a:latin typeface="Trebuchet MS"/>
                <a:cs typeface="Trebuchet MS"/>
              </a:rPr>
              <a:t>an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215" dirty="0">
                <a:solidFill>
                  <a:srgbClr val="4F81BC"/>
                </a:solidFill>
                <a:latin typeface="Trebuchet MS"/>
                <a:cs typeface="Trebuchet MS"/>
              </a:rPr>
              <a:t>ag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g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95" dirty="0">
                <a:solidFill>
                  <a:srgbClr val="4F81BC"/>
                </a:solidFill>
                <a:latin typeface="Trebuchet MS"/>
                <a:cs typeface="Trebuchet MS"/>
              </a:rPr>
              <a:t>eg</a:t>
            </a:r>
            <a:r>
              <a:rPr sz="2400" spc="-204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ted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65" dirty="0">
                <a:solidFill>
                  <a:srgbClr val="4F81BC"/>
                </a:solidFill>
                <a:latin typeface="Trebuchet MS"/>
                <a:cs typeface="Trebuchet MS"/>
              </a:rPr>
              <a:t>value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easu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  <a:p>
            <a:pPr marL="1155700" marR="5080" lvl="2" indent="-229235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The </a:t>
            </a:r>
            <a:r>
              <a:rPr sz="2400" spc="-5" dirty="0">
                <a:solidFill>
                  <a:srgbClr val="4F81BC"/>
                </a:solidFill>
                <a:latin typeface="Trebuchet MS"/>
                <a:cs typeface="Trebuchet MS"/>
              </a:rPr>
              <a:t>x 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and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coordinate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values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are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 values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of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selected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two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dimensions</a:t>
            </a:r>
            <a:endParaRPr sz="2400">
              <a:latin typeface="Trebuchet MS"/>
              <a:cs typeface="Trebuchet MS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3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34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pi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9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ls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called</a:t>
            </a:r>
            <a:r>
              <a:rPr sz="2800" spc="-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b="1" spc="3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b="1" spc="-2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b="1" spc="370" dirty="0">
                <a:solidFill>
                  <a:srgbClr val="1F487C"/>
                </a:solidFill>
                <a:latin typeface="Trebuchet MS"/>
                <a:cs typeface="Trebuchet MS"/>
              </a:rPr>
              <a:t>–</a:t>
            </a:r>
            <a:r>
              <a:rPr sz="2800" b="1" spc="5" dirty="0">
                <a:solidFill>
                  <a:srgbClr val="1F487C"/>
                </a:solidFill>
                <a:latin typeface="Trebuchet MS"/>
                <a:cs typeface="Trebuchet MS"/>
              </a:rPr>
              <a:t>ta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ulation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457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35" dirty="0"/>
              <a:t>Pi</a:t>
            </a:r>
            <a:r>
              <a:rPr spc="-45" dirty="0"/>
              <a:t>v</a:t>
            </a:r>
            <a:r>
              <a:rPr spc="80" dirty="0"/>
              <a:t>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6330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Con</a:t>
            </a:r>
            <a:r>
              <a:rPr sz="3200" spc="40" dirty="0">
                <a:latin typeface="Trebuchet MS"/>
                <a:cs typeface="Trebuchet MS"/>
              </a:rPr>
              <a:t>s</a:t>
            </a:r>
            <a:r>
              <a:rPr sz="3200" spc="-180" dirty="0">
                <a:latin typeface="Trebuchet MS"/>
                <a:cs typeface="Trebuchet MS"/>
              </a:rPr>
              <a:t>id</a:t>
            </a:r>
            <a:r>
              <a:rPr sz="3200" spc="-220" dirty="0">
                <a:latin typeface="Trebuchet MS"/>
                <a:cs typeface="Trebuchet MS"/>
              </a:rPr>
              <a:t>e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60" dirty="0">
                <a:latin typeface="Trebuchet MS"/>
                <a:cs typeface="Trebuchet MS"/>
              </a:rPr>
              <a:t>p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50" dirty="0">
                <a:latin typeface="Trebuchet MS"/>
                <a:cs typeface="Trebuchet MS"/>
              </a:rPr>
              <a:t>otin</a:t>
            </a:r>
            <a:r>
              <a:rPr lang="en-US" sz="3200" spc="-150" dirty="0">
                <a:latin typeface="Trebuchet MS"/>
                <a:cs typeface="Trebuchet MS"/>
              </a:rPr>
              <a:t>g t</a:t>
            </a:r>
            <a:r>
              <a:rPr sz="3200" spc="-190" dirty="0">
                <a:latin typeface="Trebuchet MS"/>
                <a:cs typeface="Trebuchet MS"/>
              </a:rPr>
              <a:t>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-160" dirty="0">
                <a:latin typeface="Trebuchet MS"/>
                <a:cs typeface="Trebuchet MS"/>
              </a:rPr>
              <a:t>ol</a:t>
            </a:r>
            <a:r>
              <a:rPr sz="3200" spc="-110" dirty="0">
                <a:latin typeface="Trebuchet MS"/>
                <a:cs typeface="Trebuchet MS"/>
              </a:rPr>
              <a:t>l</a:t>
            </a:r>
            <a:r>
              <a:rPr sz="3200" spc="1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wi</a:t>
            </a:r>
            <a:r>
              <a:rPr sz="3200" spc="-145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data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457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35" dirty="0"/>
              <a:t>Pi</a:t>
            </a:r>
            <a:r>
              <a:rPr spc="-45" dirty="0"/>
              <a:t>v</a:t>
            </a:r>
            <a:r>
              <a:rPr spc="80" dirty="0"/>
              <a:t>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884" y="2481072"/>
            <a:ext cx="2747802" cy="176479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76237" y="2493835"/>
          <a:ext cx="2667000" cy="16837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39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Location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CityId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City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25">
                <a:tc>
                  <a:txBody>
                    <a:bodyPr/>
                    <a:lstStyle/>
                    <a:p>
                      <a:pPr marR="48005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Braunschweig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R="48005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Hannover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80059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Hamburg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22264" y="2357627"/>
            <a:ext cx="1623060" cy="363778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64237" y="2379535"/>
          <a:ext cx="1524635" cy="35391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R="4254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TimId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Day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2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9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30" dirty="0">
                          <a:latin typeface="Calibri"/>
                          <a:cs typeface="Calibri"/>
                        </a:rPr>
                        <a:t>Tue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Wed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2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Thu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35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Fri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522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Sat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3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79064" y="2316480"/>
            <a:ext cx="2537460" cy="3927348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21037" y="2338895"/>
          <a:ext cx="2438400" cy="3828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39">
                <a:tc gridSpan="4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spc="-5" dirty="0">
                          <a:latin typeface="Calibri"/>
                          <a:cs typeface="Calibri"/>
                        </a:rPr>
                        <a:t>Sales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CityId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93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PerId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TimId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303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Amnt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67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230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67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8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310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7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67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880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67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007109"/>
            <a:ext cx="4453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70" dirty="0">
                <a:latin typeface="Trebuchet MS"/>
                <a:cs typeface="Trebuchet MS"/>
              </a:rPr>
              <a:t>Pi</a:t>
            </a:r>
            <a:r>
              <a:rPr sz="3200" spc="-250" dirty="0">
                <a:latin typeface="Trebuchet MS"/>
                <a:cs typeface="Trebuchet MS"/>
              </a:rPr>
              <a:t>v</a:t>
            </a:r>
            <a:r>
              <a:rPr sz="3200" spc="-120" dirty="0">
                <a:latin typeface="Trebuchet MS"/>
                <a:cs typeface="Trebuchet MS"/>
              </a:rPr>
              <a:t>oti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City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440" dirty="0">
                <a:latin typeface="Trebuchet MS"/>
                <a:cs typeface="Trebuchet MS"/>
              </a:rPr>
              <a:t>D</a:t>
            </a:r>
            <a:r>
              <a:rPr sz="3200" spc="-45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457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35" dirty="0"/>
              <a:t>Pi</a:t>
            </a:r>
            <a:r>
              <a:rPr spc="-45" dirty="0"/>
              <a:t>v</a:t>
            </a:r>
            <a:r>
              <a:rPr spc="80" dirty="0"/>
              <a:t>ot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627" y="1572767"/>
            <a:ext cx="8285988" cy="185166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95300" y="1595437"/>
          <a:ext cx="8182606" cy="1752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85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4332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30" dirty="0">
                          <a:latin typeface="Calibri"/>
                          <a:cs typeface="Calibri"/>
                        </a:rPr>
                        <a:t>Tue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Wed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Thu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Fri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Sat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San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SubTotal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Hamburg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880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1140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Hannover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Braunschweig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890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SubTotal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880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2680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1555" y="3474720"/>
            <a:ext cx="6118860" cy="3070860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824037" y="3497262"/>
          <a:ext cx="6021705" cy="2971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3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Hamburg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Hannover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Braunschweig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SubTotal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1150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19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30" dirty="0">
                          <a:latin typeface="Calibri"/>
                          <a:cs typeface="Calibri"/>
                        </a:rPr>
                        <a:t>Tue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60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360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Wed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Thu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140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140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Fri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100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880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880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San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dirty="0">
                          <a:latin typeface="Arial MT"/>
                          <a:cs typeface="Arial MT"/>
                        </a:rPr>
                        <a:t>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4455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  <a:solidFill>
                      <a:srgbClr val="94B3D6"/>
                    </a:solidFill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400" spc="-5" dirty="0">
                          <a:latin typeface="Arial MT"/>
                          <a:cs typeface="Arial MT"/>
                        </a:rPr>
                        <a:t>50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91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20" dirty="0">
                          <a:latin typeface="Calibri"/>
                          <a:cs typeface="Calibri"/>
                        </a:rPr>
                        <a:t>SubTotal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1140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890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820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2680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497DBA"/>
                      </a:solidFill>
                      <a:prstDash val="solid"/>
                    </a:lnL>
                    <a:lnR w="9525">
                      <a:solidFill>
                        <a:srgbClr val="497DBA"/>
                      </a:solidFill>
                      <a:prstDash val="solid"/>
                    </a:lnR>
                    <a:lnT w="9525">
                      <a:solidFill>
                        <a:srgbClr val="497DBA"/>
                      </a:solidFill>
                      <a:prstDash val="solid"/>
                    </a:lnT>
                    <a:lnB w="9525">
                      <a:solidFill>
                        <a:srgbClr val="49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5F11C-9BE6-4B29-3197-DBDBEF743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EF7FB-0396-227C-BA27-81E36CBB0A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67" t="21838" r="17500" b="33696"/>
          <a:stretch/>
        </p:blipFill>
        <p:spPr>
          <a:xfrm>
            <a:off x="17206" y="873291"/>
            <a:ext cx="9000188" cy="507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90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158A8-E124-3D74-9C28-BD35C04C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89157-CEC0-9C51-8D45-F09E9362A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82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6595745" cy="1515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130" dirty="0">
                <a:latin typeface="Trebuchet MS"/>
                <a:cs typeface="Trebuchet MS"/>
              </a:rPr>
              <a:t>OLAP </a:t>
            </a:r>
            <a:r>
              <a:rPr sz="3200" spc="-125" dirty="0">
                <a:latin typeface="Trebuchet MS"/>
                <a:cs typeface="Trebuchet MS"/>
              </a:rPr>
              <a:t>operations </a:t>
            </a:r>
            <a:r>
              <a:rPr sz="3200" spc="-190" dirty="0">
                <a:latin typeface="Trebuchet MS"/>
                <a:cs typeface="Trebuchet MS"/>
              </a:rPr>
              <a:t>are </a:t>
            </a:r>
            <a:r>
              <a:rPr sz="3200" spc="-160" dirty="0">
                <a:latin typeface="Trebuchet MS"/>
                <a:cs typeface="Trebuchet MS"/>
              </a:rPr>
              <a:t>hard </a:t>
            </a:r>
            <a:r>
              <a:rPr sz="3200" spc="-80" dirty="0">
                <a:latin typeface="Trebuchet MS"/>
                <a:cs typeface="Trebuchet MS"/>
              </a:rPr>
              <a:t>to </a:t>
            </a:r>
            <a:r>
              <a:rPr sz="3200" spc="-110" dirty="0">
                <a:latin typeface="Trebuchet MS"/>
                <a:cs typeface="Trebuchet MS"/>
              </a:rPr>
              <a:t>express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35" dirty="0">
                <a:latin typeface="Trebuchet MS"/>
                <a:cs typeface="Trebuchet MS"/>
              </a:rPr>
              <a:t>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q</a:t>
            </a:r>
            <a:r>
              <a:rPr sz="3200" spc="-155" dirty="0">
                <a:latin typeface="Trebuchet MS"/>
                <a:cs typeface="Trebuchet MS"/>
              </a:rPr>
              <a:t>u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1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la</a:t>
            </a:r>
            <a:r>
              <a:rPr sz="3200" spc="-275" dirty="0">
                <a:latin typeface="Trebuchet MS"/>
                <a:cs typeface="Trebuchet MS"/>
              </a:rPr>
              <a:t>n</a:t>
            </a:r>
            <a:r>
              <a:rPr sz="3200" spc="-204" dirty="0">
                <a:latin typeface="Trebuchet MS"/>
                <a:cs typeface="Trebuchet MS"/>
              </a:rPr>
              <a:t>guages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8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Most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54" dirty="0">
                <a:solidFill>
                  <a:srgbClr val="1F487C"/>
                </a:solidFill>
                <a:latin typeface="Trebuchet MS"/>
                <a:cs typeface="Trebuchet MS"/>
              </a:rPr>
              <a:t>ana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ysts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decision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ma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k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ers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031" y="2950210"/>
            <a:ext cx="19951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530" dirty="0">
                <a:solidFill>
                  <a:srgbClr val="1F487C"/>
                </a:solidFill>
                <a:latin typeface="Trebuchet MS"/>
                <a:cs typeface="Trebuchet MS"/>
              </a:rPr>
              <a:t>’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enj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it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4741" y="128473"/>
            <a:ext cx="7307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25" dirty="0"/>
              <a:t>6.1</a:t>
            </a:r>
            <a:r>
              <a:rPr sz="4000" spc="445" dirty="0"/>
              <a:t> </a:t>
            </a:r>
            <a:r>
              <a:rPr sz="4000" spc="-170" dirty="0"/>
              <a:t>T</a:t>
            </a:r>
            <a:r>
              <a:rPr sz="4000" spc="-60" dirty="0"/>
              <a:t>ypical</a:t>
            </a:r>
            <a:r>
              <a:rPr sz="4000" spc="-475" dirty="0"/>
              <a:t> </a:t>
            </a:r>
            <a:r>
              <a:rPr sz="4000" spc="125" dirty="0"/>
              <a:t>Ana</a:t>
            </a:r>
            <a:r>
              <a:rPr sz="4000" spc="30" dirty="0"/>
              <a:t>l</a:t>
            </a:r>
            <a:r>
              <a:rPr sz="4000" spc="-55" dirty="0"/>
              <a:t>ytical</a:t>
            </a:r>
            <a:r>
              <a:rPr sz="4000" spc="-110" dirty="0"/>
              <a:t> </a:t>
            </a:r>
            <a:r>
              <a:rPr sz="4000" spc="250" dirty="0"/>
              <a:t>R</a:t>
            </a:r>
            <a:r>
              <a:rPr sz="4000" spc="-35" dirty="0"/>
              <a:t>equests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3266947" y="3003550"/>
            <a:ext cx="31432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68960" algn="l"/>
              </a:tabLst>
            </a:pPr>
            <a:r>
              <a:rPr sz="1200" spc="-5" dirty="0">
                <a:latin typeface="Calibri"/>
                <a:cs typeface="Calibri"/>
              </a:rPr>
              <a:t>SELECT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f.region,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z.month,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sum(a.price </a:t>
            </a:r>
            <a:r>
              <a:rPr sz="1200" dirty="0">
                <a:latin typeface="Calibri"/>
                <a:cs typeface="Calibri"/>
              </a:rPr>
              <a:t>*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a.volume)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FROM	</a:t>
            </a:r>
            <a:r>
              <a:rPr sz="1200" spc="-5" dirty="0">
                <a:latin typeface="Calibri"/>
                <a:cs typeface="Calibri"/>
              </a:rPr>
              <a:t>Order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a, </a:t>
            </a:r>
            <a:r>
              <a:rPr sz="1200" spc="-5" dirty="0">
                <a:latin typeface="Calibri"/>
                <a:cs typeface="Calibri"/>
              </a:rPr>
              <a:t>Time</a:t>
            </a:r>
            <a:r>
              <a:rPr sz="1200" dirty="0">
                <a:latin typeface="Calibri"/>
                <a:cs typeface="Calibri"/>
              </a:rPr>
              <a:t> z,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0214" y="3369690"/>
            <a:ext cx="7204075" cy="133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29205" marR="1969135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WHERE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a.pos </a:t>
            </a:r>
            <a:r>
              <a:rPr sz="1200" dirty="0">
                <a:latin typeface="Calibri"/>
                <a:cs typeface="Calibri"/>
              </a:rPr>
              <a:t>= </a:t>
            </a:r>
            <a:r>
              <a:rPr sz="1200" spc="-15" dirty="0">
                <a:latin typeface="Calibri"/>
                <a:cs typeface="Calibri"/>
              </a:rPr>
              <a:t>f.name </a:t>
            </a:r>
            <a:r>
              <a:rPr sz="1200" dirty="0">
                <a:latin typeface="Calibri"/>
                <a:cs typeface="Calibri"/>
              </a:rPr>
              <a:t>AND </a:t>
            </a:r>
            <a:r>
              <a:rPr sz="1200" spc="-5" dirty="0">
                <a:latin typeface="Calibri"/>
                <a:cs typeface="Calibri"/>
              </a:rPr>
              <a:t>a.date </a:t>
            </a:r>
            <a:r>
              <a:rPr sz="1200" dirty="0">
                <a:latin typeface="Calibri"/>
                <a:cs typeface="Calibri"/>
              </a:rPr>
              <a:t>= </a:t>
            </a:r>
            <a:r>
              <a:rPr sz="1200" spc="-5" dirty="0">
                <a:latin typeface="Calibri"/>
                <a:cs typeface="Calibri"/>
              </a:rPr>
              <a:t>z.date </a:t>
            </a:r>
            <a:r>
              <a:rPr sz="1200" spc="-2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GROUP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BY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5" dirty="0">
                <a:latin typeface="Calibri"/>
                <a:cs typeface="Calibri"/>
              </a:rPr>
              <a:t>f.region,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5" dirty="0">
                <a:latin typeface="Calibri"/>
                <a:cs typeface="Calibri"/>
              </a:rPr>
              <a:t>z.month</a:t>
            </a:r>
            <a:endParaRPr sz="120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725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8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190" dirty="0">
                <a:solidFill>
                  <a:srgbClr val="1F487C"/>
                </a:solidFill>
                <a:latin typeface="Trebuchet MS"/>
                <a:cs typeface="Trebuchet MS"/>
              </a:rPr>
              <a:t>OL</a:t>
            </a:r>
            <a:r>
              <a:rPr sz="2800" spc="18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clien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60" dirty="0">
                <a:solidFill>
                  <a:srgbClr val="1F487C"/>
                </a:solidFill>
                <a:latin typeface="Trebuchet MS"/>
                <a:cs typeface="Trebuchet MS"/>
              </a:rPr>
              <a:t>al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2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op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tio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4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per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ormed 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through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GUIs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2800" y="1371600"/>
            <a:ext cx="1447800" cy="208940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4343400"/>
            <a:ext cx="3581400" cy="20787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321040" cy="24352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160" dirty="0">
                <a:latin typeface="Trebuchet MS"/>
                <a:cs typeface="Trebuchet MS"/>
              </a:rPr>
              <a:t>H</a:t>
            </a:r>
            <a:r>
              <a:rPr sz="3200" spc="95" dirty="0">
                <a:latin typeface="Trebuchet MS"/>
                <a:cs typeface="Trebuchet MS"/>
              </a:rPr>
              <a:t>o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do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the</a:t>
            </a:r>
            <a:r>
              <a:rPr sz="3200" spc="-130" dirty="0">
                <a:latin typeface="Trebuchet MS"/>
                <a:cs typeface="Trebuchet MS"/>
              </a:rPr>
              <a:t>s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op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195" dirty="0">
                <a:latin typeface="Trebuchet MS"/>
                <a:cs typeface="Trebuchet MS"/>
              </a:rPr>
              <a:t>rat</a:t>
            </a:r>
            <a:r>
              <a:rPr sz="3200" spc="-125" dirty="0">
                <a:latin typeface="Trebuchet MS"/>
                <a:cs typeface="Trebuchet MS"/>
              </a:rPr>
              <a:t>i</a:t>
            </a:r>
            <a:r>
              <a:rPr sz="3200" spc="-55" dirty="0">
                <a:latin typeface="Trebuchet MS"/>
                <a:cs typeface="Trebuchet MS"/>
              </a:rPr>
              <a:t>ons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60" dirty="0">
                <a:latin typeface="Trebuchet MS"/>
                <a:cs typeface="Trebuchet MS"/>
              </a:rPr>
              <a:t>look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i</a:t>
            </a:r>
            <a:r>
              <a:rPr sz="3200" spc="-175" dirty="0">
                <a:latin typeface="Trebuchet MS"/>
                <a:cs typeface="Trebuchet MS"/>
              </a:rPr>
              <a:t>k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the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u</a:t>
            </a:r>
            <a:r>
              <a:rPr sz="3200" spc="-85" dirty="0">
                <a:latin typeface="Trebuchet MS"/>
                <a:cs typeface="Trebuchet MS"/>
              </a:rPr>
              <a:t>s</a:t>
            </a:r>
            <a:r>
              <a:rPr sz="3200" spc="-100" dirty="0">
                <a:latin typeface="Trebuchet MS"/>
                <a:cs typeface="Trebuchet MS"/>
              </a:rPr>
              <a:t>er?</a:t>
            </a:r>
            <a:endParaRPr sz="3200">
              <a:latin typeface="Trebuchet MS"/>
              <a:cs typeface="Trebuchet MS"/>
            </a:endParaRPr>
          </a:p>
          <a:p>
            <a:pPr marL="756285" marR="89535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90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Crystal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Decisions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later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bought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SAP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int</a:t>
            </a:r>
            <a:r>
              <a:rPr sz="2800" spc="-204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5" dirty="0">
                <a:solidFill>
                  <a:srgbClr val="1F487C"/>
                </a:solidFill>
                <a:latin typeface="Trebuchet MS"/>
                <a:cs typeface="Trebuchet MS"/>
              </a:rPr>
              <a:t>ated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int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Busi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ess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 Obj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cts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2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dimensions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635" dirty="0">
                <a:solidFill>
                  <a:srgbClr val="4F81BC"/>
                </a:solidFill>
                <a:latin typeface="Trebuchet MS"/>
                <a:cs typeface="Trebuchet MS"/>
              </a:rPr>
              <a:t>…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is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trivial</a:t>
            </a:r>
            <a:endParaRPr sz="24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245" dirty="0">
                <a:solidFill>
                  <a:srgbClr val="4F81BC"/>
                </a:solidFill>
                <a:latin typeface="Trebuchet MS"/>
                <a:cs typeface="Trebuchet MS"/>
              </a:rPr>
              <a:t>E.g.</a:t>
            </a:r>
            <a:r>
              <a:rPr sz="2400" spc="-30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P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oducts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b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St</a:t>
            </a:r>
            <a:r>
              <a:rPr sz="2400" spc="30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3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5334000"/>
            <a:ext cx="1905000" cy="952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6172" y="4343400"/>
            <a:ext cx="4887468" cy="16337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60165" y="3980764"/>
            <a:ext cx="17805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Product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421379" y="3874008"/>
            <a:ext cx="1778635" cy="178435"/>
            <a:chOff x="3421379" y="3874008"/>
            <a:chExt cx="1778635" cy="178435"/>
          </a:xfrm>
        </p:grpSpPr>
        <p:sp>
          <p:nvSpPr>
            <p:cNvPr id="8" name="object 8"/>
            <p:cNvSpPr/>
            <p:nvPr/>
          </p:nvSpPr>
          <p:spPr>
            <a:xfrm>
              <a:off x="3434333" y="3886962"/>
              <a:ext cx="1752600" cy="152400"/>
            </a:xfrm>
            <a:custGeom>
              <a:avLst/>
              <a:gdLst/>
              <a:ahLst/>
              <a:cxnLst/>
              <a:rect l="l" t="t" r="r" b="b"/>
              <a:pathLst>
                <a:path w="1752600" h="152400">
                  <a:moveTo>
                    <a:pt x="1676400" y="0"/>
                  </a:moveTo>
                  <a:lnTo>
                    <a:pt x="1676400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676400" y="114300"/>
                  </a:lnTo>
                  <a:lnTo>
                    <a:pt x="1676400" y="152400"/>
                  </a:lnTo>
                  <a:lnTo>
                    <a:pt x="1752600" y="762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434333" y="3886962"/>
              <a:ext cx="1752600" cy="152400"/>
            </a:xfrm>
            <a:custGeom>
              <a:avLst/>
              <a:gdLst/>
              <a:ahLst/>
              <a:cxnLst/>
              <a:rect l="l" t="t" r="r" b="b"/>
              <a:pathLst>
                <a:path w="1752600" h="152400">
                  <a:moveTo>
                    <a:pt x="0" y="38100"/>
                  </a:moveTo>
                  <a:lnTo>
                    <a:pt x="1676400" y="38100"/>
                  </a:lnTo>
                  <a:lnTo>
                    <a:pt x="1676400" y="0"/>
                  </a:lnTo>
                  <a:lnTo>
                    <a:pt x="1752600" y="76200"/>
                  </a:lnTo>
                  <a:lnTo>
                    <a:pt x="1676400" y="152400"/>
                  </a:lnTo>
                  <a:lnTo>
                    <a:pt x="1676400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11503" y="4471121"/>
            <a:ext cx="254000" cy="153987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5" dirty="0">
                <a:latin typeface="Calibri"/>
                <a:cs typeface="Calibri"/>
              </a:rPr>
              <a:t>Store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02208" y="4331208"/>
            <a:ext cx="178435" cy="1778635"/>
            <a:chOff x="902208" y="4331208"/>
            <a:chExt cx="178435" cy="1778635"/>
          </a:xfrm>
        </p:grpSpPr>
        <p:sp>
          <p:nvSpPr>
            <p:cNvPr id="12" name="object 12"/>
            <p:cNvSpPr/>
            <p:nvPr/>
          </p:nvSpPr>
          <p:spPr>
            <a:xfrm>
              <a:off x="915162" y="4344162"/>
              <a:ext cx="152400" cy="1752600"/>
            </a:xfrm>
            <a:custGeom>
              <a:avLst/>
              <a:gdLst/>
              <a:ahLst/>
              <a:cxnLst/>
              <a:rect l="l" t="t" r="r" b="b"/>
              <a:pathLst>
                <a:path w="152400" h="1752600">
                  <a:moveTo>
                    <a:pt x="114300" y="0"/>
                  </a:moveTo>
                  <a:lnTo>
                    <a:pt x="38100" y="0"/>
                  </a:lnTo>
                  <a:lnTo>
                    <a:pt x="38100" y="1676400"/>
                  </a:lnTo>
                  <a:lnTo>
                    <a:pt x="0" y="1676400"/>
                  </a:lnTo>
                  <a:lnTo>
                    <a:pt x="76200" y="1752600"/>
                  </a:lnTo>
                  <a:lnTo>
                    <a:pt x="152400" y="1676400"/>
                  </a:lnTo>
                  <a:lnTo>
                    <a:pt x="114300" y="16764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15162" y="4344162"/>
              <a:ext cx="152400" cy="1752600"/>
            </a:xfrm>
            <a:custGeom>
              <a:avLst/>
              <a:gdLst/>
              <a:ahLst/>
              <a:cxnLst/>
              <a:rect l="l" t="t" r="r" b="b"/>
              <a:pathLst>
                <a:path w="152400" h="1752600">
                  <a:moveTo>
                    <a:pt x="114300" y="0"/>
                  </a:moveTo>
                  <a:lnTo>
                    <a:pt x="114300" y="1676400"/>
                  </a:lnTo>
                  <a:lnTo>
                    <a:pt x="152400" y="1676400"/>
                  </a:lnTo>
                  <a:lnTo>
                    <a:pt x="76200" y="1752600"/>
                  </a:lnTo>
                  <a:lnTo>
                    <a:pt x="0" y="1676400"/>
                  </a:lnTo>
                  <a:lnTo>
                    <a:pt x="38100" y="1676400"/>
                  </a:lnTo>
                  <a:lnTo>
                    <a:pt x="38100" y="0"/>
                  </a:lnTo>
                  <a:lnTo>
                    <a:pt x="114300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42327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Trebuchet MS"/>
                <a:cs typeface="Trebuchet MS"/>
              </a:rPr>
              <a:t>3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dime</a:t>
            </a:r>
            <a:r>
              <a:rPr sz="3200" spc="-170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sio</a:t>
            </a:r>
            <a:r>
              <a:rPr sz="3200" spc="-105" dirty="0">
                <a:latin typeface="Trebuchet MS"/>
                <a:cs typeface="Trebuchet MS"/>
              </a:rPr>
              <a:t>n</a:t>
            </a:r>
            <a:r>
              <a:rPr sz="3200" spc="-285" dirty="0">
                <a:latin typeface="Trebuchet MS"/>
                <a:cs typeface="Trebuchet MS"/>
              </a:rPr>
              <a:t>s</a:t>
            </a:r>
            <a:r>
              <a:rPr sz="3200" spc="-114" dirty="0">
                <a:latin typeface="Trebuchet MS"/>
                <a:cs typeface="Trebuchet MS"/>
              </a:rPr>
              <a:t>:</a:t>
            </a:r>
            <a:r>
              <a:rPr sz="3200" spc="320" dirty="0">
                <a:latin typeface="Trebuchet MS"/>
                <a:cs typeface="Trebuchet MS"/>
              </a:rPr>
              <a:t>W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can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vis</a:t>
            </a:r>
            <a:r>
              <a:rPr sz="3200" spc="-280" dirty="0">
                <a:latin typeface="Trebuchet MS"/>
                <a:cs typeface="Trebuchet MS"/>
              </a:rPr>
              <a:t>ua</a:t>
            </a:r>
            <a:r>
              <a:rPr sz="3200" spc="-145" dirty="0">
                <a:latin typeface="Trebuchet MS"/>
                <a:cs typeface="Trebuchet MS"/>
              </a:rPr>
              <a:t>l</a:t>
            </a:r>
            <a:r>
              <a:rPr sz="3200" spc="-155" dirty="0">
                <a:latin typeface="Trebuchet MS"/>
                <a:cs typeface="Trebuchet MS"/>
              </a:rPr>
              <a:t>i</a:t>
            </a:r>
            <a:r>
              <a:rPr sz="3200" spc="-265" dirty="0">
                <a:latin typeface="Trebuchet MS"/>
                <a:cs typeface="Trebuchet MS"/>
              </a:rPr>
              <a:t>z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sold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q</a:t>
            </a:r>
            <a:r>
              <a:rPr sz="3200" spc="-204" dirty="0">
                <a:latin typeface="Trebuchet MS"/>
                <a:cs typeface="Trebuchet MS"/>
              </a:rPr>
              <a:t>ua</a:t>
            </a:r>
            <a:r>
              <a:rPr sz="3200" spc="-195" dirty="0">
                <a:latin typeface="Trebuchet MS"/>
                <a:cs typeface="Trebuchet MS"/>
              </a:rPr>
              <a:t>nti</a:t>
            </a:r>
            <a:r>
              <a:rPr sz="3200" spc="-250" dirty="0">
                <a:latin typeface="Trebuchet MS"/>
                <a:cs typeface="Trebuchet MS"/>
              </a:rPr>
              <a:t>t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55" dirty="0">
                <a:latin typeface="Trebuchet MS"/>
                <a:cs typeface="Trebuchet MS"/>
              </a:rPr>
              <a:t>3  </a:t>
            </a:r>
            <a:r>
              <a:rPr sz="3200" spc="-140" dirty="0">
                <a:latin typeface="Trebuchet MS"/>
                <a:cs typeface="Trebuchet MS"/>
              </a:rPr>
              <a:t>di</a:t>
            </a:r>
            <a:r>
              <a:rPr sz="3200" spc="-270" dirty="0">
                <a:latin typeface="Trebuchet MS"/>
                <a:cs typeface="Trebuchet MS"/>
              </a:rPr>
              <a:t>m</a:t>
            </a:r>
            <a:r>
              <a:rPr sz="3200" spc="-180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n</a:t>
            </a:r>
            <a:r>
              <a:rPr sz="3200" spc="-85" dirty="0">
                <a:latin typeface="Trebuchet MS"/>
                <a:cs typeface="Trebuchet MS"/>
              </a:rPr>
              <a:t>sio</a:t>
            </a:r>
            <a:r>
              <a:rPr sz="3200" spc="-105" dirty="0">
                <a:latin typeface="Trebuchet MS"/>
                <a:cs typeface="Trebuchet MS"/>
              </a:rPr>
              <a:t>n</a:t>
            </a:r>
            <a:r>
              <a:rPr sz="3200" spc="-65" dirty="0">
                <a:latin typeface="Trebuchet MS"/>
                <a:cs typeface="Trebuchet MS"/>
              </a:rPr>
              <a:t>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b="1" spc="-80" dirty="0">
                <a:latin typeface="Trebuchet MS"/>
                <a:cs typeface="Trebuchet MS"/>
              </a:rPr>
              <a:t>l</a:t>
            </a:r>
            <a:r>
              <a:rPr sz="3200" b="1" spc="-140" dirty="0">
                <a:latin typeface="Trebuchet MS"/>
                <a:cs typeface="Trebuchet MS"/>
              </a:rPr>
              <a:t>a</a:t>
            </a:r>
            <a:r>
              <a:rPr sz="3200" b="1" spc="-185" dirty="0">
                <a:latin typeface="Trebuchet MS"/>
                <a:cs typeface="Trebuchet MS"/>
              </a:rPr>
              <a:t>y</a:t>
            </a:r>
            <a:r>
              <a:rPr sz="3200" b="1" spc="-5" dirty="0">
                <a:latin typeface="Trebuchet MS"/>
                <a:cs typeface="Trebuchet MS"/>
              </a:rPr>
              <a:t>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717541" y="3032252"/>
            <a:ext cx="154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Store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77740" y="2924555"/>
            <a:ext cx="1778635" cy="178435"/>
            <a:chOff x="4777740" y="2924555"/>
            <a:chExt cx="1778635" cy="178435"/>
          </a:xfrm>
        </p:grpSpPr>
        <p:sp>
          <p:nvSpPr>
            <p:cNvPr id="6" name="object 6"/>
            <p:cNvSpPr/>
            <p:nvPr/>
          </p:nvSpPr>
          <p:spPr>
            <a:xfrm>
              <a:off x="4790694" y="2937509"/>
              <a:ext cx="1752600" cy="152400"/>
            </a:xfrm>
            <a:custGeom>
              <a:avLst/>
              <a:gdLst/>
              <a:ahLst/>
              <a:cxnLst/>
              <a:rect l="l" t="t" r="r" b="b"/>
              <a:pathLst>
                <a:path w="1752600" h="152400">
                  <a:moveTo>
                    <a:pt x="1676400" y="0"/>
                  </a:moveTo>
                  <a:lnTo>
                    <a:pt x="1676400" y="38100"/>
                  </a:lnTo>
                  <a:lnTo>
                    <a:pt x="0" y="38100"/>
                  </a:lnTo>
                  <a:lnTo>
                    <a:pt x="0" y="114300"/>
                  </a:lnTo>
                  <a:lnTo>
                    <a:pt x="1676400" y="114300"/>
                  </a:lnTo>
                  <a:lnTo>
                    <a:pt x="1676400" y="152400"/>
                  </a:lnTo>
                  <a:lnTo>
                    <a:pt x="1752600" y="76200"/>
                  </a:lnTo>
                  <a:lnTo>
                    <a:pt x="1676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90694" y="2937509"/>
              <a:ext cx="1752600" cy="152400"/>
            </a:xfrm>
            <a:custGeom>
              <a:avLst/>
              <a:gdLst/>
              <a:ahLst/>
              <a:cxnLst/>
              <a:rect l="l" t="t" r="r" b="b"/>
              <a:pathLst>
                <a:path w="1752600" h="152400">
                  <a:moveTo>
                    <a:pt x="0" y="38100"/>
                  </a:moveTo>
                  <a:lnTo>
                    <a:pt x="1676400" y="38100"/>
                  </a:lnTo>
                  <a:lnTo>
                    <a:pt x="1676400" y="0"/>
                  </a:lnTo>
                  <a:lnTo>
                    <a:pt x="1752600" y="76200"/>
                  </a:lnTo>
                  <a:lnTo>
                    <a:pt x="1676400" y="152400"/>
                  </a:lnTo>
                  <a:lnTo>
                    <a:pt x="1676400" y="114300"/>
                  </a:lnTo>
                  <a:lnTo>
                    <a:pt x="0" y="114300"/>
                  </a:lnTo>
                  <a:lnTo>
                    <a:pt x="0" y="3810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68879" y="4212290"/>
            <a:ext cx="254000" cy="177609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latin typeface="Calibri"/>
                <a:cs typeface="Calibri"/>
              </a:rPr>
              <a:t>Product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dimension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3807" y="4524755"/>
            <a:ext cx="163195" cy="1397635"/>
            <a:chOff x="2273807" y="4524755"/>
            <a:chExt cx="163195" cy="1397635"/>
          </a:xfrm>
        </p:grpSpPr>
        <p:sp>
          <p:nvSpPr>
            <p:cNvPr id="10" name="object 10"/>
            <p:cNvSpPr/>
            <p:nvPr/>
          </p:nvSpPr>
          <p:spPr>
            <a:xfrm>
              <a:off x="2286761" y="4537709"/>
              <a:ext cx="137160" cy="1371600"/>
            </a:xfrm>
            <a:custGeom>
              <a:avLst/>
              <a:gdLst/>
              <a:ahLst/>
              <a:cxnLst/>
              <a:rect l="l" t="t" r="r" b="b"/>
              <a:pathLst>
                <a:path w="137160" h="1371600">
                  <a:moveTo>
                    <a:pt x="102869" y="0"/>
                  </a:moveTo>
                  <a:lnTo>
                    <a:pt x="34289" y="0"/>
                  </a:lnTo>
                  <a:lnTo>
                    <a:pt x="34289" y="1303020"/>
                  </a:lnTo>
                  <a:lnTo>
                    <a:pt x="0" y="1303020"/>
                  </a:lnTo>
                  <a:lnTo>
                    <a:pt x="68580" y="1371599"/>
                  </a:lnTo>
                  <a:lnTo>
                    <a:pt x="137160" y="1303020"/>
                  </a:lnTo>
                  <a:lnTo>
                    <a:pt x="102869" y="1303020"/>
                  </a:lnTo>
                  <a:lnTo>
                    <a:pt x="10286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86761" y="4537709"/>
              <a:ext cx="137160" cy="1371600"/>
            </a:xfrm>
            <a:custGeom>
              <a:avLst/>
              <a:gdLst/>
              <a:ahLst/>
              <a:cxnLst/>
              <a:rect l="l" t="t" r="r" b="b"/>
              <a:pathLst>
                <a:path w="137160" h="1371600">
                  <a:moveTo>
                    <a:pt x="102869" y="0"/>
                  </a:moveTo>
                  <a:lnTo>
                    <a:pt x="102869" y="1303020"/>
                  </a:lnTo>
                  <a:lnTo>
                    <a:pt x="137160" y="1303020"/>
                  </a:lnTo>
                  <a:lnTo>
                    <a:pt x="68580" y="1371599"/>
                  </a:lnTo>
                  <a:lnTo>
                    <a:pt x="0" y="1303020"/>
                  </a:lnTo>
                  <a:lnTo>
                    <a:pt x="34289" y="1303020"/>
                  </a:lnTo>
                  <a:lnTo>
                    <a:pt x="34289" y="0"/>
                  </a:lnTo>
                  <a:lnTo>
                    <a:pt x="102869" y="0"/>
                  </a:lnTo>
                  <a:close/>
                </a:path>
              </a:pathLst>
            </a:custGeom>
            <a:ln w="25908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022982" y="2643251"/>
            <a:ext cx="4759325" cy="2742565"/>
            <a:chOff x="2022982" y="2643251"/>
            <a:chExt cx="4759325" cy="274256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4639" y="3317748"/>
              <a:ext cx="3947160" cy="206806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22982" y="2643251"/>
              <a:ext cx="1191641" cy="1503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77019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An</a:t>
            </a:r>
            <a:r>
              <a:rPr sz="3200" spc="-125" dirty="0">
                <a:latin typeface="Trebuchet MS"/>
                <a:cs typeface="Trebuchet MS"/>
              </a:rPr>
              <a:t>oth</a:t>
            </a:r>
            <a:r>
              <a:rPr sz="3200" spc="-135" dirty="0">
                <a:latin typeface="Trebuchet MS"/>
                <a:cs typeface="Trebuchet MS"/>
              </a:rPr>
              <a:t>e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w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i</a:t>
            </a:r>
            <a:r>
              <a:rPr sz="3200" spc="-160" dirty="0">
                <a:latin typeface="Trebuchet MS"/>
                <a:cs typeface="Trebuchet MS"/>
              </a:rPr>
              <a:t>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b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nesti</a:t>
            </a:r>
            <a:r>
              <a:rPr sz="3200" b="1" spc="50" dirty="0">
                <a:latin typeface="Trebuchet MS"/>
                <a:cs typeface="Trebuchet MS"/>
              </a:rPr>
              <a:t>ng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same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ax</a:t>
            </a:r>
            <a:r>
              <a:rPr sz="3200" spc="-105" dirty="0">
                <a:latin typeface="Trebuchet MS"/>
                <a:cs typeface="Trebuchet MS"/>
              </a:rPr>
              <a:t>i</a:t>
            </a:r>
            <a:r>
              <a:rPr sz="3200" spc="-65" dirty="0">
                <a:latin typeface="Trebuchet MS"/>
                <a:cs typeface="Trebuchet MS"/>
              </a:rPr>
              <a:t>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175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605" dirty="0"/>
              <a:t> </a:t>
            </a:r>
            <a:r>
              <a:rPr sz="3200" spc="310" dirty="0"/>
              <a:t>V</a:t>
            </a:r>
            <a:r>
              <a:rPr sz="3200" spc="-50" dirty="0"/>
              <a:t>isuali</a:t>
            </a:r>
            <a:r>
              <a:rPr sz="3200" spc="-25" dirty="0"/>
              <a:t>zat</a:t>
            </a:r>
            <a:r>
              <a:rPr sz="3200" spc="-30" dirty="0"/>
              <a:t>i</a:t>
            </a:r>
            <a:r>
              <a:rPr sz="3200" spc="30" dirty="0"/>
              <a:t>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1827" y="2619755"/>
            <a:ext cx="5871972" cy="29428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906081"/>
            <a:ext cx="7458075" cy="1129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240" dirty="0">
                <a:latin typeface="Trebuchet MS"/>
                <a:cs typeface="Trebuchet MS"/>
              </a:rPr>
              <a:t>O</a:t>
            </a:r>
            <a:r>
              <a:rPr sz="3200" spc="190" dirty="0">
                <a:latin typeface="Trebuchet MS"/>
                <a:cs typeface="Trebuchet MS"/>
              </a:rPr>
              <a:t>L</a:t>
            </a:r>
            <a:r>
              <a:rPr sz="3200" spc="45" dirty="0">
                <a:latin typeface="Trebuchet MS"/>
                <a:cs typeface="Trebuchet MS"/>
              </a:rPr>
              <a:t>AP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95" dirty="0">
                <a:latin typeface="Trebuchet MS"/>
                <a:cs typeface="Trebuchet MS"/>
              </a:rPr>
              <a:t>ep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85" dirty="0">
                <a:latin typeface="Trebuchet MS"/>
                <a:cs typeface="Trebuchet MS"/>
              </a:rPr>
              <a:t>r</a:t>
            </a:r>
            <a:r>
              <a:rPr sz="3200" spc="-195" dirty="0">
                <a:latin typeface="Trebuchet MS"/>
                <a:cs typeface="Trebuchet MS"/>
              </a:rPr>
              <a:t>tin</a:t>
            </a:r>
            <a:r>
              <a:rPr sz="3200" spc="-235" dirty="0">
                <a:latin typeface="Trebuchet MS"/>
                <a:cs typeface="Trebuchet MS"/>
              </a:rPr>
              <a:t>g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has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 </a:t>
            </a:r>
            <a:r>
              <a:rPr sz="3200" spc="-200" dirty="0">
                <a:latin typeface="Trebuchet MS"/>
                <a:cs typeface="Trebuchet MS"/>
              </a:rPr>
              <a:t>be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1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fl</a:t>
            </a:r>
            <a:r>
              <a:rPr sz="3200" spc="-375" dirty="0">
                <a:latin typeface="Trebuchet MS"/>
                <a:cs typeface="Trebuchet MS"/>
              </a:rPr>
              <a:t>e</a:t>
            </a:r>
            <a:r>
              <a:rPr sz="3200" spc="-135" dirty="0">
                <a:latin typeface="Trebuchet MS"/>
                <a:cs typeface="Trebuchet MS"/>
              </a:rPr>
              <a:t>x</a:t>
            </a:r>
            <a:r>
              <a:rPr sz="3200" spc="-70" dirty="0">
                <a:latin typeface="Trebuchet MS"/>
                <a:cs typeface="Trebuchet MS"/>
              </a:rPr>
              <a:t>i</a:t>
            </a:r>
            <a:r>
              <a:rPr sz="3200" spc="-280" dirty="0">
                <a:latin typeface="Trebuchet MS"/>
                <a:cs typeface="Trebuchet MS"/>
              </a:rPr>
              <a:t>b</a:t>
            </a:r>
            <a:r>
              <a:rPr sz="3200" spc="-140" dirty="0">
                <a:latin typeface="Trebuchet MS"/>
                <a:cs typeface="Trebuchet MS"/>
              </a:rPr>
              <a:t>l</a:t>
            </a:r>
            <a:r>
              <a:rPr sz="3200" spc="-215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3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35" dirty="0">
                <a:solidFill>
                  <a:srgbClr val="1F487C"/>
                </a:solidFill>
                <a:latin typeface="Trebuchet MS"/>
                <a:cs typeface="Trebuchet MS"/>
              </a:rPr>
              <a:t>IBM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osp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-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eb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based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ep</a:t>
            </a:r>
            <a:r>
              <a:rPr sz="2800" spc="3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7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371600" y="2083307"/>
            <a:ext cx="6248400" cy="4546600"/>
            <a:chOff x="1371600" y="2083307"/>
            <a:chExt cx="6248400" cy="45466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1600" y="2083307"/>
              <a:ext cx="6248400" cy="45460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029961" y="2210561"/>
              <a:ext cx="2438400" cy="2667000"/>
            </a:xfrm>
            <a:custGeom>
              <a:avLst/>
              <a:gdLst/>
              <a:ahLst/>
              <a:cxnLst/>
              <a:rect l="l" t="t" r="r" b="b"/>
              <a:pathLst>
                <a:path w="2438400" h="26670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889000" y="0"/>
                  </a:lnTo>
                  <a:lnTo>
                    <a:pt x="928556" y="7981"/>
                  </a:lnTo>
                  <a:lnTo>
                    <a:pt x="960850" y="29749"/>
                  </a:lnTo>
                  <a:lnTo>
                    <a:pt x="982618" y="62043"/>
                  </a:lnTo>
                  <a:lnTo>
                    <a:pt x="990600" y="101600"/>
                  </a:lnTo>
                  <a:lnTo>
                    <a:pt x="990600" y="508000"/>
                  </a:lnTo>
                  <a:lnTo>
                    <a:pt x="982618" y="547556"/>
                  </a:lnTo>
                  <a:lnTo>
                    <a:pt x="960850" y="579850"/>
                  </a:lnTo>
                  <a:lnTo>
                    <a:pt x="928556" y="601618"/>
                  </a:lnTo>
                  <a:lnTo>
                    <a:pt x="88900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600"/>
                  </a:lnTo>
                  <a:close/>
                </a:path>
                <a:path w="2438400" h="2667000">
                  <a:moveTo>
                    <a:pt x="1447800" y="2159000"/>
                  </a:moveTo>
                  <a:lnTo>
                    <a:pt x="1455781" y="2119443"/>
                  </a:lnTo>
                  <a:lnTo>
                    <a:pt x="1477549" y="2087149"/>
                  </a:lnTo>
                  <a:lnTo>
                    <a:pt x="1509843" y="2065381"/>
                  </a:lnTo>
                  <a:lnTo>
                    <a:pt x="1549399" y="2057400"/>
                  </a:lnTo>
                  <a:lnTo>
                    <a:pt x="2336799" y="2057400"/>
                  </a:lnTo>
                  <a:lnTo>
                    <a:pt x="2376356" y="2065381"/>
                  </a:lnTo>
                  <a:lnTo>
                    <a:pt x="2408650" y="2087149"/>
                  </a:lnTo>
                  <a:lnTo>
                    <a:pt x="2430418" y="2119443"/>
                  </a:lnTo>
                  <a:lnTo>
                    <a:pt x="2438399" y="2159000"/>
                  </a:lnTo>
                  <a:lnTo>
                    <a:pt x="2438399" y="2565400"/>
                  </a:lnTo>
                  <a:lnTo>
                    <a:pt x="2430418" y="2604956"/>
                  </a:lnTo>
                  <a:lnTo>
                    <a:pt x="2408650" y="2637250"/>
                  </a:lnTo>
                  <a:lnTo>
                    <a:pt x="2376356" y="2659018"/>
                  </a:lnTo>
                  <a:lnTo>
                    <a:pt x="2336799" y="2667000"/>
                  </a:lnTo>
                  <a:lnTo>
                    <a:pt x="1549399" y="2667000"/>
                  </a:lnTo>
                  <a:lnTo>
                    <a:pt x="1509843" y="2659018"/>
                  </a:lnTo>
                  <a:lnTo>
                    <a:pt x="1477549" y="2637250"/>
                  </a:lnTo>
                  <a:lnTo>
                    <a:pt x="1455781" y="2604956"/>
                  </a:lnTo>
                  <a:lnTo>
                    <a:pt x="1447800" y="2565400"/>
                  </a:lnTo>
                  <a:lnTo>
                    <a:pt x="1447800" y="2159000"/>
                  </a:lnTo>
                  <a:close/>
                </a:path>
              </a:pathLst>
            </a:custGeom>
            <a:ln w="32004">
              <a:solidFill>
                <a:srgbClr val="C0504D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906081"/>
            <a:ext cx="5319395" cy="21532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42265" marR="1240790" indent="-342265" algn="r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42265" algn="l"/>
                <a:tab pos="342900" algn="l"/>
              </a:tabLst>
            </a:pPr>
            <a:r>
              <a:rPr sz="3200" b="1" spc="15" dirty="0">
                <a:latin typeface="Trebuchet MS"/>
                <a:cs typeface="Trebuchet MS"/>
              </a:rPr>
              <a:t>Drill-down</a:t>
            </a:r>
            <a:r>
              <a:rPr sz="3200" b="1" spc="-10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operation</a:t>
            </a:r>
            <a:endParaRPr sz="3200">
              <a:latin typeface="Trebuchet MS"/>
              <a:cs typeface="Trebuchet MS"/>
            </a:endParaRPr>
          </a:p>
          <a:p>
            <a:pPr marR="1178560" algn="r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1F487C"/>
                </a:solidFill>
                <a:latin typeface="Trebuchet MS"/>
                <a:cs typeface="Trebuchet MS"/>
              </a:rPr>
              <a:t>Can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be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orm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40" dirty="0">
                <a:solidFill>
                  <a:srgbClr val="1F487C"/>
                </a:solidFill>
                <a:latin typeface="Trebuchet MS"/>
                <a:cs typeface="Trebuchet MS"/>
              </a:rPr>
              <a:t>ea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sy</a:t>
            </a:r>
            <a:endParaRPr sz="2800">
              <a:latin typeface="Trebuchet MS"/>
              <a:cs typeface="Trebuchet MS"/>
            </a:endParaRPr>
          </a:p>
          <a:p>
            <a:pPr marL="756285" marR="5080">
              <a:lnSpc>
                <a:spcPct val="120000"/>
              </a:lnSpc>
            </a:pP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5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oi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hiera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y 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cho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sing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9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ularity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38800" y="1371600"/>
            <a:ext cx="3191255" cy="507644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906081"/>
            <a:ext cx="4149090" cy="1129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325" dirty="0">
                <a:latin typeface="Trebuchet MS"/>
                <a:cs typeface="Trebuchet MS"/>
              </a:rPr>
              <a:t>T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80" dirty="0">
                <a:latin typeface="Trebuchet MS"/>
                <a:cs typeface="Trebuchet MS"/>
              </a:rPr>
              <a:t>e</a:t>
            </a:r>
            <a:r>
              <a:rPr sz="3200" spc="-175" dirty="0">
                <a:latin typeface="Trebuchet MS"/>
                <a:cs typeface="Trebuchet MS"/>
              </a:rPr>
              <a:t>n</a:t>
            </a:r>
            <a:r>
              <a:rPr sz="3200" spc="-110" dirty="0">
                <a:latin typeface="Trebuchet MS"/>
                <a:cs typeface="Trebuchet MS"/>
              </a:rPr>
              <a:t>ds</a:t>
            </a:r>
            <a:r>
              <a:rPr sz="3200" spc="-570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Vis</a:t>
            </a:r>
            <a:r>
              <a:rPr sz="3200" spc="-100" dirty="0">
                <a:latin typeface="Trebuchet MS"/>
                <a:cs typeface="Trebuchet MS"/>
              </a:rPr>
              <a:t>u</a:t>
            </a:r>
            <a:r>
              <a:rPr sz="3200" spc="-285" dirty="0">
                <a:latin typeface="Trebuchet MS"/>
                <a:cs typeface="Trebuchet MS"/>
              </a:rPr>
              <a:t>al</a:t>
            </a:r>
            <a:r>
              <a:rPr sz="3200" spc="-190" dirty="0">
                <a:latin typeface="Trebuchet MS"/>
                <a:cs typeface="Trebuchet MS"/>
              </a:rPr>
              <a:t>i</a:t>
            </a:r>
            <a:r>
              <a:rPr sz="3200" spc="-165" dirty="0">
                <a:latin typeface="Trebuchet MS"/>
                <a:cs typeface="Trebuchet MS"/>
              </a:rPr>
              <a:t>zati</a:t>
            </a:r>
            <a:r>
              <a:rPr sz="3200" spc="-220" dirty="0">
                <a:latin typeface="Trebuchet MS"/>
                <a:cs typeface="Trebuchet MS"/>
              </a:rPr>
              <a:t>o</a:t>
            </a:r>
            <a:r>
              <a:rPr sz="3200" spc="-150" dirty="0">
                <a:latin typeface="Trebuchet MS"/>
                <a:cs typeface="Trebuchet MS"/>
              </a:rPr>
              <a:t>n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With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help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ha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ts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400" y="2209800"/>
            <a:ext cx="6725411" cy="4152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906081"/>
            <a:ext cx="6817359" cy="112903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65" dirty="0">
                <a:latin typeface="Trebuchet MS"/>
                <a:cs typeface="Trebuchet MS"/>
              </a:rPr>
              <a:t>Palo</a:t>
            </a:r>
            <a:r>
              <a:rPr sz="3200" spc="-48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Technologies,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integrated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into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Excel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Cu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defi</a:t>
            </a:r>
            <a:r>
              <a:rPr sz="2800" spc="-229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27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eb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erface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90957"/>
            <a:ext cx="552450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7560" algn="l"/>
              </a:tabLst>
            </a:pPr>
            <a:r>
              <a:rPr sz="3200" spc="-175" dirty="0"/>
              <a:t>6.1	</a:t>
            </a:r>
            <a:r>
              <a:rPr sz="3200" spc="365" dirty="0"/>
              <a:t>OLAP</a:t>
            </a:r>
            <a:r>
              <a:rPr sz="3200" spc="-75" dirty="0"/>
              <a:t> </a:t>
            </a:r>
            <a:r>
              <a:rPr sz="3200" spc="135" dirty="0"/>
              <a:t>Data</a:t>
            </a:r>
            <a:r>
              <a:rPr sz="3200" spc="-570" dirty="0"/>
              <a:t> </a:t>
            </a:r>
            <a:r>
              <a:rPr sz="3200" spc="-5" dirty="0"/>
              <a:t>Visualization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6035" y="30480"/>
            <a:ext cx="1857755" cy="9022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09600" y="2438400"/>
            <a:ext cx="8229600" cy="3886200"/>
            <a:chOff x="609600" y="2438400"/>
            <a:chExt cx="8229600" cy="38862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95600" y="3352800"/>
              <a:ext cx="5943600" cy="2971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2438400"/>
              <a:ext cx="3108960" cy="304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013700" cy="402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7449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20" dirty="0">
                <a:latin typeface="Trebuchet MS"/>
                <a:cs typeface="Trebuchet MS"/>
              </a:rPr>
              <a:t>H</a:t>
            </a:r>
            <a:r>
              <a:rPr sz="3200" spc="10" dirty="0">
                <a:latin typeface="Trebuchet MS"/>
                <a:cs typeface="Trebuchet MS"/>
              </a:rPr>
              <a:t>i</a:t>
            </a:r>
            <a:r>
              <a:rPr sz="3200" spc="-185" dirty="0">
                <a:latin typeface="Trebuchet MS"/>
                <a:cs typeface="Trebuchet MS"/>
              </a:rPr>
              <a:t>g</a:t>
            </a:r>
            <a:r>
              <a:rPr sz="3200" spc="-200" dirty="0">
                <a:latin typeface="Trebuchet MS"/>
                <a:cs typeface="Trebuchet MS"/>
              </a:rPr>
              <a:t>h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245" dirty="0">
                <a:latin typeface="Trebuchet MS"/>
                <a:cs typeface="Trebuchet MS"/>
              </a:rPr>
              <a:t>c</a:t>
            </a:r>
            <a:r>
              <a:rPr sz="3200" spc="-295" dirty="0">
                <a:latin typeface="Trebuchet MS"/>
                <a:cs typeface="Trebuchet MS"/>
              </a:rPr>
              <a:t>a</a:t>
            </a:r>
            <a:r>
              <a:rPr sz="3200" spc="-225" dirty="0">
                <a:latin typeface="Trebuchet MS"/>
                <a:cs typeface="Trebuchet MS"/>
              </a:rPr>
              <a:t>paci</a:t>
            </a:r>
            <a:r>
              <a:rPr sz="3200" spc="-204" dirty="0">
                <a:latin typeface="Trebuchet MS"/>
                <a:cs typeface="Trebuchet MS"/>
              </a:rPr>
              <a:t>t</a:t>
            </a:r>
            <a:r>
              <a:rPr sz="3200" spc="-425" dirty="0">
                <a:latin typeface="Trebuchet MS"/>
                <a:cs typeface="Trebuchet MS"/>
              </a:rPr>
              <a:t>y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45" dirty="0">
                <a:latin typeface="Trebuchet MS"/>
                <a:cs typeface="Trebuchet MS"/>
              </a:rPr>
              <a:t> </a:t>
            </a:r>
            <a:r>
              <a:rPr sz="3200" spc="-229" dirty="0">
                <a:latin typeface="Trebuchet MS"/>
                <a:cs typeface="Trebuchet MS"/>
              </a:rPr>
              <a:t>m</a:t>
            </a:r>
            <a:r>
              <a:rPr sz="3200" spc="-254" dirty="0">
                <a:latin typeface="Trebuchet MS"/>
                <a:cs typeface="Trebuchet MS"/>
              </a:rPr>
              <a:t>u</a:t>
            </a:r>
            <a:r>
              <a:rPr sz="3200" spc="-135" dirty="0">
                <a:latin typeface="Trebuchet MS"/>
                <a:cs typeface="Trebuchet MS"/>
              </a:rPr>
              <a:t>l</a:t>
            </a:r>
            <a:r>
              <a:rPr sz="3200" spc="-240" dirty="0">
                <a:latin typeface="Trebuchet MS"/>
                <a:cs typeface="Trebuchet MS"/>
              </a:rPr>
              <a:t>t</a:t>
            </a:r>
            <a:r>
              <a:rPr sz="3200" spc="-165" dirty="0">
                <a:latin typeface="Trebuchet MS"/>
                <a:cs typeface="Trebuchet MS"/>
              </a:rPr>
              <a:t>i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135" dirty="0">
                <a:latin typeface="Trebuchet MS"/>
                <a:cs typeface="Trebuchet MS"/>
              </a:rPr>
              <a:t>us</a:t>
            </a:r>
            <a:r>
              <a:rPr sz="3200" spc="-150" dirty="0">
                <a:latin typeface="Trebuchet MS"/>
                <a:cs typeface="Trebuchet MS"/>
              </a:rPr>
              <a:t>e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b="1" dirty="0">
                <a:latin typeface="Trebuchet MS"/>
                <a:cs typeface="Trebuchet MS"/>
              </a:rPr>
              <a:t>data  </a:t>
            </a:r>
            <a:r>
              <a:rPr sz="3200" b="1" spc="10" dirty="0">
                <a:latin typeface="Trebuchet MS"/>
                <a:cs typeface="Trebuchet MS"/>
              </a:rPr>
              <a:t>manipulation </a:t>
            </a:r>
            <a:r>
              <a:rPr sz="3200" b="1" spc="-25" dirty="0">
                <a:latin typeface="Trebuchet MS"/>
                <a:cs typeface="Trebuchet MS"/>
              </a:rPr>
              <a:t>engine </a:t>
            </a:r>
            <a:r>
              <a:rPr sz="3200" spc="-220" dirty="0">
                <a:latin typeface="Trebuchet MS"/>
                <a:cs typeface="Trebuchet MS"/>
              </a:rPr>
              <a:t>specifically </a:t>
            </a:r>
            <a:r>
              <a:rPr sz="3200" spc="-215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desig</a:t>
            </a:r>
            <a:r>
              <a:rPr sz="3200" spc="-185" dirty="0">
                <a:latin typeface="Trebuchet MS"/>
                <a:cs typeface="Trebuchet MS"/>
              </a:rPr>
              <a:t>n</a:t>
            </a:r>
            <a:r>
              <a:rPr sz="3200" spc="-180" dirty="0">
                <a:latin typeface="Trebuchet MS"/>
                <a:cs typeface="Trebuchet MS"/>
              </a:rPr>
              <a:t>ed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su</a:t>
            </a:r>
            <a:r>
              <a:rPr sz="3200" b="1" dirty="0">
                <a:latin typeface="Trebuchet MS"/>
                <a:cs typeface="Trebuchet MS"/>
              </a:rPr>
              <a:t>p</a:t>
            </a:r>
            <a:r>
              <a:rPr sz="3200" b="1" spc="60" dirty="0">
                <a:latin typeface="Trebuchet MS"/>
                <a:cs typeface="Trebuchet MS"/>
              </a:rPr>
              <a:t>po</a:t>
            </a:r>
            <a:r>
              <a:rPr sz="3200" b="1" spc="105" dirty="0">
                <a:latin typeface="Trebuchet MS"/>
                <a:cs typeface="Trebuchet MS"/>
              </a:rPr>
              <a:t>r</a:t>
            </a:r>
            <a:r>
              <a:rPr sz="3200" b="1" spc="30" dirty="0">
                <a:latin typeface="Trebuchet MS"/>
                <a:cs typeface="Trebuchet MS"/>
              </a:rPr>
              <a:t>t</a:t>
            </a:r>
            <a:r>
              <a:rPr sz="3200" b="1" spc="-10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and</a:t>
            </a:r>
            <a:r>
              <a:rPr sz="3200" b="1" spc="-90" dirty="0">
                <a:latin typeface="Trebuchet MS"/>
                <a:cs typeface="Trebuchet MS"/>
              </a:rPr>
              <a:t> </a:t>
            </a:r>
            <a:r>
              <a:rPr sz="3200" b="1" spc="40" dirty="0">
                <a:latin typeface="Trebuchet MS"/>
                <a:cs typeface="Trebuchet MS"/>
              </a:rPr>
              <a:t>o</a:t>
            </a:r>
            <a:r>
              <a:rPr sz="3200" b="1" spc="55" dirty="0">
                <a:latin typeface="Trebuchet MS"/>
                <a:cs typeface="Trebuchet MS"/>
              </a:rPr>
              <a:t>p</a:t>
            </a:r>
            <a:r>
              <a:rPr sz="3200" b="1" spc="-10" dirty="0">
                <a:latin typeface="Trebuchet MS"/>
                <a:cs typeface="Trebuchet MS"/>
              </a:rPr>
              <a:t>erate  </a:t>
            </a:r>
            <a:r>
              <a:rPr sz="3200" b="1" spc="30" dirty="0">
                <a:latin typeface="Trebuchet MS"/>
                <a:cs typeface="Trebuchet MS"/>
              </a:rPr>
              <a:t>on </a:t>
            </a:r>
            <a:r>
              <a:rPr sz="3200" b="1" spc="5" dirty="0">
                <a:latin typeface="Trebuchet MS"/>
                <a:cs typeface="Trebuchet MS"/>
              </a:rPr>
              <a:t>multidimensional </a:t>
            </a:r>
            <a:r>
              <a:rPr sz="3200" spc="-245" dirty="0">
                <a:latin typeface="Trebuchet MS"/>
                <a:cs typeface="Trebuchet MS"/>
              </a:rPr>
              <a:t>data </a:t>
            </a:r>
            <a:r>
              <a:rPr sz="3200" spc="-240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structures</a:t>
            </a:r>
            <a:endParaRPr sz="3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0" dirty="0">
                <a:latin typeface="Trebuchet MS"/>
                <a:cs typeface="Trebuchet MS"/>
              </a:rPr>
              <a:t>It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is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optimized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for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90" dirty="0">
                <a:latin typeface="Trebuchet MS"/>
                <a:cs typeface="Trebuchet MS"/>
              </a:rPr>
              <a:t>fast,</a:t>
            </a:r>
            <a:r>
              <a:rPr sz="3200" spc="-405" dirty="0">
                <a:latin typeface="Trebuchet MS"/>
                <a:cs typeface="Trebuchet MS"/>
              </a:rPr>
              <a:t> </a:t>
            </a:r>
            <a:r>
              <a:rPr sz="3200" spc="-210" dirty="0">
                <a:latin typeface="Trebuchet MS"/>
                <a:cs typeface="Trebuchet MS"/>
              </a:rPr>
              <a:t>flexible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calculation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 </a:t>
            </a:r>
            <a:r>
              <a:rPr sz="3200" spc="-20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tra</a:t>
            </a:r>
            <a:r>
              <a:rPr sz="3200" spc="-185" dirty="0">
                <a:latin typeface="Trebuchet MS"/>
                <a:cs typeface="Trebuchet MS"/>
              </a:rPr>
              <a:t>n</a:t>
            </a:r>
            <a:r>
              <a:rPr sz="3200" spc="-235" dirty="0">
                <a:latin typeface="Trebuchet MS"/>
                <a:cs typeface="Trebuchet MS"/>
              </a:rPr>
              <a:t>s</a:t>
            </a:r>
            <a:r>
              <a:rPr sz="3200" spc="-250" dirty="0">
                <a:latin typeface="Trebuchet MS"/>
                <a:cs typeface="Trebuchet MS"/>
              </a:rPr>
              <a:t>f</a:t>
            </a:r>
            <a:r>
              <a:rPr sz="3200" spc="-135" dirty="0">
                <a:latin typeface="Trebuchet MS"/>
                <a:cs typeface="Trebuchet MS"/>
              </a:rPr>
              <a:t>orma</a:t>
            </a:r>
            <a:r>
              <a:rPr sz="3200" spc="-114" dirty="0">
                <a:latin typeface="Trebuchet MS"/>
                <a:cs typeface="Trebuchet MS"/>
              </a:rPr>
              <a:t>t</a:t>
            </a:r>
            <a:r>
              <a:rPr sz="3200" spc="-100" dirty="0">
                <a:latin typeface="Trebuchet MS"/>
                <a:cs typeface="Trebuchet MS"/>
              </a:rPr>
              <a:t>io</a:t>
            </a:r>
            <a:r>
              <a:rPr sz="3200" spc="-125" dirty="0">
                <a:latin typeface="Trebuchet MS"/>
                <a:cs typeface="Trebuchet MS"/>
              </a:rPr>
              <a:t>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425" dirty="0">
                <a:latin typeface="Trebuchet MS"/>
                <a:cs typeface="Trebuchet MS"/>
              </a:rPr>
              <a:t>a</a:t>
            </a:r>
            <a:r>
              <a:rPr sz="3200" spc="-80" dirty="0">
                <a:latin typeface="Trebuchet MS"/>
                <a:cs typeface="Trebuchet MS"/>
              </a:rPr>
              <a:t>w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data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ba</a:t>
            </a:r>
            <a:r>
              <a:rPr sz="3200" spc="-150" dirty="0">
                <a:latin typeface="Trebuchet MS"/>
                <a:cs typeface="Trebuchet MS"/>
              </a:rPr>
              <a:t>s</a:t>
            </a:r>
            <a:r>
              <a:rPr sz="3200" spc="-185" dirty="0">
                <a:latin typeface="Trebuchet MS"/>
                <a:cs typeface="Trebuchet MS"/>
              </a:rPr>
              <a:t>ed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50" dirty="0">
                <a:latin typeface="Trebuchet MS"/>
                <a:cs typeface="Trebuchet MS"/>
              </a:rPr>
              <a:t>on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430" dirty="0">
                <a:latin typeface="Trebuchet MS"/>
                <a:cs typeface="Trebuchet MS"/>
              </a:rPr>
              <a:t>f</a:t>
            </a:r>
            <a:r>
              <a:rPr sz="3200" spc="-30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m</a:t>
            </a:r>
            <a:r>
              <a:rPr sz="3200" spc="-254" dirty="0">
                <a:latin typeface="Trebuchet MS"/>
                <a:cs typeface="Trebuchet MS"/>
              </a:rPr>
              <a:t>u</a:t>
            </a:r>
            <a:r>
              <a:rPr sz="3200" spc="-130" dirty="0">
                <a:latin typeface="Trebuchet MS"/>
                <a:cs typeface="Trebuchet MS"/>
              </a:rPr>
              <a:t>l</a:t>
            </a:r>
            <a:r>
              <a:rPr sz="3200" spc="-210" dirty="0">
                <a:latin typeface="Trebuchet MS"/>
                <a:cs typeface="Trebuchet MS"/>
              </a:rPr>
              <a:t>aic  </a:t>
            </a:r>
            <a:r>
              <a:rPr sz="3200" spc="-155" dirty="0">
                <a:latin typeface="Trebuchet MS"/>
                <a:cs typeface="Trebuchet MS"/>
              </a:rPr>
              <a:t>relationships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646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500" dirty="0"/>
              <a:t>OLAP</a:t>
            </a:r>
            <a:r>
              <a:rPr spc="-180" dirty="0"/>
              <a:t> </a:t>
            </a:r>
            <a:r>
              <a:rPr spc="60" dirty="0"/>
              <a:t>Server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1592" y="1295400"/>
            <a:ext cx="2357628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324215" cy="386016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240" dirty="0">
                <a:latin typeface="Trebuchet MS"/>
                <a:cs typeface="Trebuchet MS"/>
              </a:rPr>
              <a:t>O</a:t>
            </a:r>
            <a:r>
              <a:rPr sz="3200" spc="190" dirty="0">
                <a:latin typeface="Trebuchet MS"/>
                <a:cs typeface="Trebuchet MS"/>
              </a:rPr>
              <a:t>L</a:t>
            </a:r>
            <a:r>
              <a:rPr sz="3200" spc="45" dirty="0">
                <a:latin typeface="Trebuchet MS"/>
                <a:cs typeface="Trebuchet MS"/>
              </a:rPr>
              <a:t>AP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se</a:t>
            </a:r>
            <a:r>
              <a:rPr sz="3200" spc="25" dirty="0">
                <a:latin typeface="Trebuchet MS"/>
                <a:cs typeface="Trebuchet MS"/>
              </a:rPr>
              <a:t>r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95" dirty="0">
                <a:latin typeface="Trebuchet MS"/>
                <a:cs typeface="Trebuchet MS"/>
              </a:rPr>
              <a:t>er </a:t>
            </a:r>
            <a:r>
              <a:rPr sz="3200" spc="-190" dirty="0">
                <a:latin typeface="Trebuchet MS"/>
                <a:cs typeface="Trebuchet MS"/>
              </a:rPr>
              <a:t>m</a:t>
            </a:r>
            <a:r>
              <a:rPr sz="3200" spc="-445" dirty="0">
                <a:latin typeface="Trebuchet MS"/>
                <a:cs typeface="Trebuchet MS"/>
              </a:rPr>
              <a:t>a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80" dirty="0">
                <a:latin typeface="Trebuchet MS"/>
                <a:cs typeface="Trebuchet MS"/>
              </a:rPr>
              <a:t>e</a:t>
            </a:r>
            <a:r>
              <a:rPr sz="3200" spc="-140" dirty="0">
                <a:latin typeface="Trebuchet MS"/>
                <a:cs typeface="Trebuchet MS"/>
              </a:rPr>
              <a:t>i</a:t>
            </a:r>
            <a:r>
              <a:rPr sz="3200" spc="-180" dirty="0">
                <a:latin typeface="Trebuchet MS"/>
                <a:cs typeface="Trebuchet MS"/>
              </a:rPr>
              <a:t>th</a:t>
            </a:r>
            <a:r>
              <a:rPr sz="3200" spc="-200" dirty="0">
                <a:latin typeface="Trebuchet MS"/>
                <a:cs typeface="Trebuchet MS"/>
              </a:rPr>
              <a:t>e</a:t>
            </a:r>
            <a:r>
              <a:rPr sz="3200" spc="25" dirty="0">
                <a:latin typeface="Trebuchet MS"/>
                <a:cs typeface="Trebuchet MS"/>
              </a:rPr>
              <a:t>r</a:t>
            </a:r>
            <a:endParaRPr sz="3200">
              <a:latin typeface="Trebuchet MS"/>
              <a:cs typeface="Trebuchet MS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Physically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5" dirty="0">
                <a:solidFill>
                  <a:srgbClr val="1F487C"/>
                </a:solidFill>
                <a:latin typeface="Trebuchet MS"/>
                <a:cs typeface="Trebuchet MS"/>
              </a:rPr>
              <a:t>stage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processed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multidimensional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information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deliver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consistent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rapid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response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ti</a:t>
            </a:r>
            <a:r>
              <a:rPr sz="2800" spc="-29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to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sers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245" dirty="0">
                <a:solidFill>
                  <a:srgbClr val="1F487C"/>
                </a:solidFill>
                <a:latin typeface="Trebuchet MS"/>
                <a:cs typeface="Trebuchet MS"/>
              </a:rPr>
              <a:t>(MOLAP)</a:t>
            </a:r>
            <a:endParaRPr sz="2800">
              <a:latin typeface="Trebuchet MS"/>
              <a:cs typeface="Trebuchet MS"/>
            </a:endParaRPr>
          </a:p>
          <a:p>
            <a:pPr marL="756285" marR="18859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Store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25" dirty="0">
                <a:solidFill>
                  <a:srgbClr val="1F487C"/>
                </a:solidFill>
                <a:latin typeface="Trebuchet MS"/>
                <a:cs typeface="Trebuchet MS"/>
              </a:rPr>
              <a:t>relational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databases</a:t>
            </a:r>
            <a:r>
              <a:rPr sz="2800" b="1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simulate </a:t>
            </a:r>
            <a:r>
              <a:rPr sz="2800" b="1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24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ultidime</a:t>
            </a:r>
            <a:r>
              <a:rPr sz="2800" b="1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sion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lity</a:t>
            </a:r>
            <a:r>
              <a:rPr sz="2800" b="1" spc="-1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wi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204" dirty="0">
                <a:solidFill>
                  <a:srgbClr val="1F487C"/>
                </a:solidFill>
                <a:latin typeface="Trebuchet MS"/>
                <a:cs typeface="Trebuchet MS"/>
              </a:rPr>
              <a:t>ecial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sc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as  </a:t>
            </a:r>
            <a:r>
              <a:rPr sz="2800" b="1" spc="210" dirty="0">
                <a:solidFill>
                  <a:srgbClr val="1F487C"/>
                </a:solidFill>
                <a:latin typeface="Trebuchet MS"/>
                <a:cs typeface="Trebuchet MS"/>
              </a:rPr>
              <a:t>(ROLAP)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210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offer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0" dirty="0">
                <a:solidFill>
                  <a:srgbClr val="1F487C"/>
                </a:solidFill>
                <a:latin typeface="Trebuchet MS"/>
                <a:cs typeface="Trebuchet MS"/>
              </a:rPr>
              <a:t>choice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of</a:t>
            </a:r>
            <a:r>
              <a:rPr sz="2800" b="1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5" dirty="0">
                <a:solidFill>
                  <a:srgbClr val="1F487C"/>
                </a:solidFill>
                <a:latin typeface="Trebuchet MS"/>
                <a:cs typeface="Trebuchet MS"/>
              </a:rPr>
              <a:t>both</a:t>
            </a:r>
            <a:r>
              <a:rPr sz="2800" b="1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245" dirty="0">
                <a:solidFill>
                  <a:srgbClr val="1F487C"/>
                </a:solidFill>
                <a:latin typeface="Trebuchet MS"/>
                <a:cs typeface="Trebuchet MS"/>
              </a:rPr>
              <a:t>(HOLAP)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646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6.1	</a:t>
            </a:r>
            <a:r>
              <a:rPr spc="500" dirty="0"/>
              <a:t>OLAP</a:t>
            </a:r>
            <a:r>
              <a:rPr spc="-180" dirty="0"/>
              <a:t> </a:t>
            </a:r>
            <a:r>
              <a:rPr spc="60" dirty="0"/>
              <a:t>Server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536940" cy="47771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Trebuchet MS"/>
                <a:cs typeface="Trebuchet MS"/>
              </a:rPr>
              <a:t>G</a:t>
            </a:r>
            <a:r>
              <a:rPr sz="3200" dirty="0">
                <a:latin typeface="Trebuchet MS"/>
                <a:cs typeface="Trebuchet MS"/>
              </a:rPr>
              <a:t>e</a:t>
            </a:r>
            <a:r>
              <a:rPr sz="3200" spc="-170" dirty="0">
                <a:latin typeface="Trebuchet MS"/>
                <a:cs typeface="Trebuchet MS"/>
              </a:rPr>
              <a:t>tti</a:t>
            </a:r>
            <a:r>
              <a:rPr sz="3200" spc="-250" dirty="0">
                <a:latin typeface="Trebuchet MS"/>
                <a:cs typeface="Trebuchet MS"/>
              </a:rPr>
              <a:t>n</a:t>
            </a:r>
            <a:r>
              <a:rPr sz="3200" spc="-240" dirty="0">
                <a:latin typeface="Trebuchet MS"/>
                <a:cs typeface="Trebuchet MS"/>
              </a:rPr>
              <a:t>g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f</a:t>
            </a:r>
            <a:r>
              <a:rPr sz="3200" spc="-265" dirty="0">
                <a:latin typeface="Trebuchet MS"/>
                <a:cs typeface="Trebuchet MS"/>
              </a:rPr>
              <a:t>r</a:t>
            </a:r>
            <a:r>
              <a:rPr sz="3200" spc="-70" dirty="0">
                <a:latin typeface="Trebuchet MS"/>
                <a:cs typeface="Trebuchet MS"/>
              </a:rPr>
              <a:t>om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O</a:t>
            </a:r>
            <a:r>
              <a:rPr sz="3200" spc="190" dirty="0">
                <a:latin typeface="Trebuchet MS"/>
                <a:cs typeface="Trebuchet MS"/>
              </a:rPr>
              <a:t>L</a:t>
            </a:r>
            <a:r>
              <a:rPr sz="3200" spc="45" dirty="0">
                <a:latin typeface="Trebuchet MS"/>
                <a:cs typeface="Trebuchet MS"/>
              </a:rPr>
              <a:t>AP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ope</a:t>
            </a:r>
            <a:r>
              <a:rPr sz="3200" spc="-55" dirty="0">
                <a:latin typeface="Trebuchet MS"/>
                <a:cs typeface="Trebuchet MS"/>
              </a:rPr>
              <a:t>r</a:t>
            </a:r>
            <a:r>
              <a:rPr sz="3200" spc="-150" dirty="0">
                <a:latin typeface="Trebuchet MS"/>
                <a:cs typeface="Trebuchet MS"/>
              </a:rPr>
              <a:t>ations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data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75" dirty="0">
                <a:solidFill>
                  <a:srgbClr val="1F487C"/>
                </a:solidFill>
                <a:latin typeface="Trebuchet MS"/>
                <a:cs typeface="Trebuchet MS"/>
              </a:rPr>
              <a:t>As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relational</a:t>
            </a:r>
            <a:r>
              <a:rPr sz="2800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model,</a:t>
            </a:r>
            <a:r>
              <a:rPr sz="2800" spc="-3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10" dirty="0">
                <a:solidFill>
                  <a:srgbClr val="1F487C"/>
                </a:solidFill>
                <a:latin typeface="Trebuchet MS"/>
                <a:cs typeface="Trebuchet MS"/>
              </a:rPr>
              <a:t>through</a:t>
            </a:r>
            <a:r>
              <a:rPr sz="2800" b="1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queries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In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5" dirty="0">
                <a:solidFill>
                  <a:srgbClr val="4F81BC"/>
                </a:solidFill>
                <a:latin typeface="Trebuchet MS"/>
                <a:cs typeface="Trebuchet MS"/>
              </a:rPr>
              <a:t>OLTP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we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95" dirty="0">
                <a:solidFill>
                  <a:srgbClr val="4F81BC"/>
                </a:solidFill>
                <a:latin typeface="Trebuchet MS"/>
                <a:cs typeface="Trebuchet MS"/>
              </a:rPr>
              <a:t>have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85" dirty="0">
                <a:solidFill>
                  <a:srgbClr val="4F81BC"/>
                </a:solidFill>
                <a:latin typeface="Trebuchet MS"/>
                <a:cs typeface="Trebuchet MS"/>
              </a:rPr>
              <a:t>SQL</a:t>
            </a:r>
            <a:r>
              <a:rPr sz="2400" spc="-8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as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standard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query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80" dirty="0">
                <a:solidFill>
                  <a:srgbClr val="4F81BC"/>
                </a:solidFill>
                <a:latin typeface="Trebuchet MS"/>
                <a:cs typeface="Trebuchet MS"/>
              </a:rPr>
              <a:t>language</a:t>
            </a:r>
            <a:endParaRPr sz="2400">
              <a:latin typeface="Trebuchet MS"/>
              <a:cs typeface="Trebuchet MS"/>
            </a:endParaRPr>
          </a:p>
          <a:p>
            <a:pPr marL="756285" marR="547370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However, </a:t>
            </a: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operations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are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hard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express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in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There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is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25" dirty="0">
                <a:solidFill>
                  <a:srgbClr val="1F487C"/>
                </a:solidFill>
                <a:latin typeface="Trebuchet MS"/>
                <a:cs typeface="Trebuchet MS"/>
              </a:rPr>
              <a:t>no</a:t>
            </a:r>
            <a:r>
              <a:rPr sz="2800" b="1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b="1" spc="-5" dirty="0">
                <a:solidFill>
                  <a:srgbClr val="1F487C"/>
                </a:solidFill>
                <a:latin typeface="Trebuchet MS"/>
                <a:cs typeface="Trebuchet MS"/>
              </a:rPr>
              <a:t>standard</a:t>
            </a:r>
            <a:r>
              <a:rPr sz="2800" b="1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query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language</a:t>
            </a:r>
            <a:r>
              <a:rPr sz="2800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for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Choices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35" dirty="0">
                <a:solidFill>
                  <a:srgbClr val="1F487C"/>
                </a:solidFill>
                <a:latin typeface="Trebuchet MS"/>
                <a:cs typeface="Trebuchet MS"/>
              </a:rPr>
              <a:t>are: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85" dirty="0">
                <a:solidFill>
                  <a:srgbClr val="4F81BC"/>
                </a:solidFill>
                <a:latin typeface="Trebuchet MS"/>
                <a:cs typeface="Trebuchet MS"/>
              </a:rPr>
              <a:t>SQL-99</a:t>
            </a:r>
            <a:r>
              <a:rPr sz="2400" b="1" spc="-9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for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4F81BC"/>
                </a:solidFill>
                <a:latin typeface="Trebuchet MS"/>
                <a:cs typeface="Trebuchet MS"/>
              </a:rPr>
              <a:t>ROLAP</a:t>
            </a:r>
            <a:endParaRPr sz="2400">
              <a:latin typeface="Trebuchet MS"/>
              <a:cs typeface="Trebuchet MS"/>
            </a:endParaRPr>
          </a:p>
          <a:p>
            <a:pPr marL="1155700" marR="5080" lvl="2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b="1" spc="405" dirty="0">
                <a:solidFill>
                  <a:srgbClr val="4F81BC"/>
                </a:solidFill>
                <a:latin typeface="Trebuchet MS"/>
                <a:cs typeface="Trebuchet MS"/>
              </a:rPr>
              <a:t>MDX</a:t>
            </a:r>
            <a:r>
              <a:rPr sz="2400" b="1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(Multidimensional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expressions)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for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both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110" dirty="0">
                <a:solidFill>
                  <a:srgbClr val="4F81BC"/>
                </a:solidFill>
                <a:latin typeface="Trebuchet MS"/>
                <a:cs typeface="Trebuchet MS"/>
              </a:rPr>
              <a:t>MOLAP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and </a:t>
            </a:r>
            <a:r>
              <a:rPr sz="2400" spc="-7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55" dirty="0">
                <a:solidFill>
                  <a:srgbClr val="4F81BC"/>
                </a:solidFill>
                <a:latin typeface="Trebuchet MS"/>
                <a:cs typeface="Trebuchet MS"/>
              </a:rPr>
              <a:t>ROLAP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128473"/>
            <a:ext cx="7306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25" dirty="0"/>
              <a:t>6.1</a:t>
            </a:r>
            <a:r>
              <a:rPr sz="4000" spc="-75" dirty="0"/>
              <a:t> </a:t>
            </a:r>
            <a:r>
              <a:rPr sz="4000" spc="-5" dirty="0"/>
              <a:t>F</a:t>
            </a:r>
            <a:r>
              <a:rPr sz="4000" spc="-20" dirty="0"/>
              <a:t>r</a:t>
            </a:r>
            <a:r>
              <a:rPr sz="4000" spc="195" dirty="0"/>
              <a:t>o</a:t>
            </a:r>
            <a:r>
              <a:rPr sz="4000" spc="300" dirty="0"/>
              <a:t>m</a:t>
            </a:r>
            <a:r>
              <a:rPr sz="4000" spc="-80" dirty="0"/>
              <a:t> </a:t>
            </a:r>
            <a:r>
              <a:rPr sz="4000" spc="204" dirty="0"/>
              <a:t>P</a:t>
            </a:r>
            <a:r>
              <a:rPr sz="4000" spc="60" dirty="0"/>
              <a:t>r</a:t>
            </a:r>
            <a:r>
              <a:rPr sz="4000" spc="-20" dirty="0"/>
              <a:t>esentation </a:t>
            </a:r>
            <a:r>
              <a:rPr sz="4000" spc="70" dirty="0"/>
              <a:t>to</a:t>
            </a:r>
            <a:r>
              <a:rPr sz="4000" spc="-95" dirty="0"/>
              <a:t> </a:t>
            </a:r>
            <a:r>
              <a:rPr sz="4000" spc="340" dirty="0"/>
              <a:t>D</a:t>
            </a:r>
            <a:r>
              <a:rPr sz="4000" spc="285" dirty="0"/>
              <a:t>a</a:t>
            </a:r>
            <a:r>
              <a:rPr sz="4000" spc="10" dirty="0"/>
              <a:t>ta</a:t>
            </a:r>
            <a:endParaRPr sz="4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5270500" cy="3508011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10" dirty="0">
                <a:latin typeface="Trebuchet MS"/>
                <a:cs typeface="Trebuchet MS"/>
              </a:rPr>
              <a:t>SQL-99</a:t>
            </a:r>
            <a:endParaRPr sz="32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ep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60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25" dirty="0">
                <a:solidFill>
                  <a:srgbClr val="1F487C"/>
                </a:solidFill>
                <a:latin typeface="Trebuchet MS"/>
                <a:cs typeface="Trebuchet MS"/>
              </a:rPr>
              <a:t>or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eries</a:t>
            </a:r>
            <a:endParaRPr sz="28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30" dirty="0">
                <a:solidFill>
                  <a:srgbClr val="1F487C"/>
                </a:solidFill>
                <a:latin typeface="Trebuchet MS"/>
                <a:cs typeface="Trebuchet MS"/>
              </a:rPr>
              <a:t>New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00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commands</a:t>
            </a:r>
            <a:endParaRPr sz="28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105" dirty="0">
                <a:solidFill>
                  <a:srgbClr val="4F81BC"/>
                </a:solidFill>
                <a:latin typeface="Trebuchet MS"/>
                <a:cs typeface="Trebuchet MS"/>
              </a:rPr>
              <a:t>GROUPING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35" dirty="0">
                <a:solidFill>
                  <a:srgbClr val="4F81BC"/>
                </a:solidFill>
                <a:latin typeface="Trebuchet MS"/>
                <a:cs typeface="Trebuchet MS"/>
              </a:rPr>
              <a:t>SETS</a:t>
            </a:r>
            <a:endParaRPr sz="24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30" dirty="0">
                <a:solidFill>
                  <a:srgbClr val="4F81BC"/>
                </a:solidFill>
                <a:latin typeface="Trebuchet MS"/>
                <a:cs typeface="Trebuchet MS"/>
              </a:rPr>
              <a:t>ROLLUP</a:t>
            </a:r>
            <a:endParaRPr sz="24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80" dirty="0">
                <a:solidFill>
                  <a:srgbClr val="4F81BC"/>
                </a:solidFill>
                <a:latin typeface="Trebuchet MS"/>
                <a:cs typeface="Trebuchet MS"/>
              </a:rPr>
              <a:t>CUBE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5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w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9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229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ate</a:t>
            </a:r>
            <a:r>
              <a:rPr sz="2800" spc="-1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fu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cti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ns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74568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500" dirty="0"/>
              <a:t>OLAP</a:t>
            </a:r>
            <a:r>
              <a:rPr spc="-130" dirty="0"/>
              <a:t> </a:t>
            </a:r>
            <a:r>
              <a:rPr spc="140" dirty="0"/>
              <a:t>Query</a:t>
            </a:r>
            <a:r>
              <a:rPr spc="-135" dirty="0"/>
              <a:t> </a:t>
            </a:r>
            <a:r>
              <a:rPr spc="30" dirty="0"/>
              <a:t>Languages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6400" y="2365375"/>
            <a:ext cx="3024352" cy="34258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6477000" cy="244792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90" dirty="0">
                <a:latin typeface="Trebuchet MS"/>
                <a:cs typeface="Trebuchet MS"/>
              </a:rPr>
              <a:t>Grouping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operators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x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io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6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150" dirty="0">
                <a:solidFill>
                  <a:srgbClr val="1F487C"/>
                </a:solidFill>
                <a:latin typeface="Trebuchet MS"/>
                <a:cs typeface="Trebuchet MS"/>
              </a:rPr>
              <a:t>OU</a:t>
            </a:r>
            <a:r>
              <a:rPr sz="2800" spc="13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40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erator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105" dirty="0">
                <a:solidFill>
                  <a:srgbClr val="4F81BC"/>
                </a:solidFill>
                <a:latin typeface="Trebuchet MS"/>
                <a:cs typeface="Trebuchet MS"/>
              </a:rPr>
              <a:t>GROUPING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4F81BC"/>
                </a:solidFill>
                <a:latin typeface="Trebuchet MS"/>
                <a:cs typeface="Trebuchet MS"/>
              </a:rPr>
              <a:t>SET</a:t>
            </a:r>
            <a:endParaRPr sz="24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30" dirty="0">
                <a:solidFill>
                  <a:srgbClr val="4F81BC"/>
                </a:solidFill>
                <a:latin typeface="Trebuchet MS"/>
                <a:cs typeface="Trebuchet MS"/>
              </a:rPr>
              <a:t>ROLLUP</a:t>
            </a:r>
            <a:endParaRPr sz="24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75" dirty="0">
                <a:solidFill>
                  <a:srgbClr val="4F81BC"/>
                </a:solidFill>
                <a:latin typeface="Trebuchet MS"/>
                <a:cs typeface="Trebuchet MS"/>
              </a:rPr>
              <a:t>CUBE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30772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490" dirty="0"/>
              <a:t>SQ</a:t>
            </a:r>
            <a:r>
              <a:rPr spc="434" dirty="0"/>
              <a:t>L</a:t>
            </a:r>
            <a:r>
              <a:rPr spc="-155" dirty="0"/>
              <a:t>-</a:t>
            </a:r>
            <a:r>
              <a:rPr spc="-160" dirty="0"/>
              <a:t>99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4800" y="3200400"/>
            <a:ext cx="4390644" cy="29199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166734" cy="155511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0" dirty="0">
                <a:latin typeface="Trebuchet MS"/>
                <a:cs typeface="Trebuchet MS"/>
              </a:rPr>
              <a:t>Rol</a:t>
            </a:r>
            <a:r>
              <a:rPr sz="3200" spc="-60" dirty="0">
                <a:latin typeface="Trebuchet MS"/>
                <a:cs typeface="Trebuchet MS"/>
              </a:rPr>
              <a:t>l</a:t>
            </a:r>
            <a:r>
              <a:rPr sz="3200" spc="-145" dirty="0">
                <a:latin typeface="Trebuchet MS"/>
                <a:cs typeface="Trebuchet MS"/>
              </a:rPr>
              <a:t>-</a:t>
            </a:r>
            <a:r>
              <a:rPr sz="3200" spc="-165" dirty="0">
                <a:latin typeface="Trebuchet MS"/>
                <a:cs typeface="Trebuchet MS"/>
              </a:rPr>
              <a:t>up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operat</a:t>
            </a:r>
            <a:r>
              <a:rPr sz="3200" spc="-85" dirty="0">
                <a:latin typeface="Trebuchet MS"/>
                <a:cs typeface="Trebuchet MS"/>
              </a:rPr>
              <a:t>i</a:t>
            </a:r>
            <a:r>
              <a:rPr sz="3200" spc="-50" dirty="0">
                <a:latin typeface="Trebuchet MS"/>
                <a:cs typeface="Trebuchet MS"/>
              </a:rPr>
              <a:t>o</a:t>
            </a:r>
            <a:r>
              <a:rPr sz="3200" spc="-60" dirty="0">
                <a:latin typeface="Trebuchet MS"/>
                <a:cs typeface="Trebuchet MS"/>
              </a:rPr>
              <a:t>n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430" dirty="0">
                <a:latin typeface="Trebuchet MS"/>
                <a:cs typeface="Trebuchet MS"/>
              </a:rPr>
              <a:t> </a:t>
            </a:r>
            <a:r>
              <a:rPr sz="3200" spc="-160" dirty="0">
                <a:latin typeface="Trebuchet MS"/>
                <a:cs typeface="Trebuchet MS"/>
              </a:rPr>
              <a:t>e</a:t>
            </a:r>
            <a:r>
              <a:rPr sz="3200" spc="-425" dirty="0">
                <a:latin typeface="Trebuchet MS"/>
                <a:cs typeface="Trebuchet MS"/>
              </a:rPr>
              <a:t>.g</a:t>
            </a:r>
            <a:r>
              <a:rPr sz="3200" spc="-350" dirty="0">
                <a:latin typeface="Trebuchet MS"/>
                <a:cs typeface="Trebuchet MS"/>
              </a:rPr>
              <a:t>.</a:t>
            </a:r>
            <a:r>
              <a:rPr sz="3200" spc="-475" dirty="0">
                <a:latin typeface="Trebuchet MS"/>
                <a:cs typeface="Trebuchet MS"/>
              </a:rPr>
              <a:t>:</a:t>
            </a:r>
            <a:endParaRPr sz="32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  <a:tabLst>
                <a:tab pos="3465195" algn="l"/>
              </a:tabLst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LEC</a:t>
            </a:r>
            <a:r>
              <a:rPr sz="2800" spc="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235" dirty="0">
                <a:solidFill>
                  <a:srgbClr val="1F487C"/>
                </a:solidFill>
                <a:latin typeface="Trebuchet MS"/>
                <a:cs typeface="Trebuchet MS"/>
              </a:rPr>
              <a:t>ea</a:t>
            </a:r>
            <a:r>
              <a:rPr sz="2800" spc="-2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brand,</a:t>
            </a:r>
            <a:r>
              <a:rPr sz="2800" spc="-3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SUM(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ty)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29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31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ales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6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110" dirty="0">
                <a:solidFill>
                  <a:srgbClr val="1F487C"/>
                </a:solidFill>
                <a:latin typeface="Trebuchet MS"/>
                <a:cs typeface="Trebuchet MS"/>
              </a:rPr>
              <a:t>OUP  </a:t>
            </a:r>
            <a:r>
              <a:rPr sz="2800" spc="40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ROLLUP(year,	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brand);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954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-5" dirty="0"/>
              <a:t>Roll-up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279650" y="3041650"/>
          <a:ext cx="4343400" cy="3291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SUM(qty)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Mercedes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BMW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VW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Mercedes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50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…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1400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3D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664452" y="3390900"/>
            <a:ext cx="332740" cy="3019425"/>
            <a:chOff x="6664452" y="3390900"/>
            <a:chExt cx="332740" cy="30194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64452" y="3390900"/>
              <a:ext cx="332231" cy="11902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706362" y="3429761"/>
              <a:ext cx="228600" cy="1066800"/>
            </a:xfrm>
            <a:custGeom>
              <a:avLst/>
              <a:gdLst/>
              <a:ahLst/>
              <a:cxnLst/>
              <a:rect l="l" t="t" r="r" b="b"/>
              <a:pathLst>
                <a:path w="228600" h="1066800">
                  <a:moveTo>
                    <a:pt x="0" y="0"/>
                  </a:moveTo>
                  <a:lnTo>
                    <a:pt x="44487" y="1494"/>
                  </a:lnTo>
                  <a:lnTo>
                    <a:pt x="80819" y="5572"/>
                  </a:lnTo>
                  <a:lnTo>
                    <a:pt x="105316" y="11626"/>
                  </a:lnTo>
                  <a:lnTo>
                    <a:pt x="114300" y="19050"/>
                  </a:lnTo>
                  <a:lnTo>
                    <a:pt x="114300" y="514350"/>
                  </a:lnTo>
                  <a:lnTo>
                    <a:pt x="123283" y="521773"/>
                  </a:lnTo>
                  <a:lnTo>
                    <a:pt x="147780" y="527827"/>
                  </a:lnTo>
                  <a:lnTo>
                    <a:pt x="184112" y="531905"/>
                  </a:lnTo>
                  <a:lnTo>
                    <a:pt x="228600" y="533400"/>
                  </a:lnTo>
                  <a:lnTo>
                    <a:pt x="184112" y="534894"/>
                  </a:lnTo>
                  <a:lnTo>
                    <a:pt x="147780" y="538972"/>
                  </a:lnTo>
                  <a:lnTo>
                    <a:pt x="123283" y="545026"/>
                  </a:lnTo>
                  <a:lnTo>
                    <a:pt x="114300" y="552450"/>
                  </a:lnTo>
                  <a:lnTo>
                    <a:pt x="114300" y="1047750"/>
                  </a:lnTo>
                  <a:lnTo>
                    <a:pt x="105316" y="1055173"/>
                  </a:lnTo>
                  <a:lnTo>
                    <a:pt x="80819" y="1061227"/>
                  </a:lnTo>
                  <a:lnTo>
                    <a:pt x="44487" y="1065305"/>
                  </a:lnTo>
                  <a:lnTo>
                    <a:pt x="0" y="10668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4452" y="4533900"/>
              <a:ext cx="332231" cy="4282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706362" y="4572761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44487" y="1494"/>
                  </a:lnTo>
                  <a:lnTo>
                    <a:pt x="80819" y="5572"/>
                  </a:lnTo>
                  <a:lnTo>
                    <a:pt x="105316" y="11626"/>
                  </a:lnTo>
                  <a:lnTo>
                    <a:pt x="114300" y="19050"/>
                  </a:lnTo>
                  <a:lnTo>
                    <a:pt x="114300" y="133350"/>
                  </a:lnTo>
                  <a:lnTo>
                    <a:pt x="123283" y="140773"/>
                  </a:lnTo>
                  <a:lnTo>
                    <a:pt x="147780" y="146827"/>
                  </a:lnTo>
                  <a:lnTo>
                    <a:pt x="184112" y="150905"/>
                  </a:lnTo>
                  <a:lnTo>
                    <a:pt x="228600" y="152400"/>
                  </a:lnTo>
                  <a:lnTo>
                    <a:pt x="184112" y="153894"/>
                  </a:lnTo>
                  <a:lnTo>
                    <a:pt x="147780" y="157972"/>
                  </a:lnTo>
                  <a:lnTo>
                    <a:pt x="123283" y="164026"/>
                  </a:lnTo>
                  <a:lnTo>
                    <a:pt x="114300" y="171450"/>
                  </a:lnTo>
                  <a:lnTo>
                    <a:pt x="114300" y="285750"/>
                  </a:lnTo>
                  <a:lnTo>
                    <a:pt x="105316" y="293173"/>
                  </a:lnTo>
                  <a:lnTo>
                    <a:pt x="80819" y="299227"/>
                  </a:lnTo>
                  <a:lnTo>
                    <a:pt x="44487" y="303305"/>
                  </a:lnTo>
                  <a:lnTo>
                    <a:pt x="0" y="3048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64452" y="4914900"/>
              <a:ext cx="332231" cy="73304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06362" y="4953761"/>
              <a:ext cx="228600" cy="609600"/>
            </a:xfrm>
            <a:custGeom>
              <a:avLst/>
              <a:gdLst/>
              <a:ahLst/>
              <a:cxnLst/>
              <a:rect l="l" t="t" r="r" b="b"/>
              <a:pathLst>
                <a:path w="228600" h="609600">
                  <a:moveTo>
                    <a:pt x="0" y="0"/>
                  </a:moveTo>
                  <a:lnTo>
                    <a:pt x="44487" y="1494"/>
                  </a:lnTo>
                  <a:lnTo>
                    <a:pt x="80819" y="5572"/>
                  </a:lnTo>
                  <a:lnTo>
                    <a:pt x="105316" y="11626"/>
                  </a:lnTo>
                  <a:lnTo>
                    <a:pt x="114300" y="19050"/>
                  </a:lnTo>
                  <a:lnTo>
                    <a:pt x="114300" y="285750"/>
                  </a:lnTo>
                  <a:lnTo>
                    <a:pt x="123283" y="293173"/>
                  </a:lnTo>
                  <a:lnTo>
                    <a:pt x="147780" y="299227"/>
                  </a:lnTo>
                  <a:lnTo>
                    <a:pt x="184112" y="303305"/>
                  </a:lnTo>
                  <a:lnTo>
                    <a:pt x="228600" y="304800"/>
                  </a:lnTo>
                  <a:lnTo>
                    <a:pt x="184112" y="306294"/>
                  </a:lnTo>
                  <a:lnTo>
                    <a:pt x="147780" y="310372"/>
                  </a:lnTo>
                  <a:lnTo>
                    <a:pt x="123283" y="316426"/>
                  </a:lnTo>
                  <a:lnTo>
                    <a:pt x="114300" y="323850"/>
                  </a:lnTo>
                  <a:lnTo>
                    <a:pt x="114300" y="590550"/>
                  </a:lnTo>
                  <a:lnTo>
                    <a:pt x="105316" y="597973"/>
                  </a:lnTo>
                  <a:lnTo>
                    <a:pt x="80819" y="604027"/>
                  </a:lnTo>
                  <a:lnTo>
                    <a:pt x="44487" y="608105"/>
                  </a:lnTo>
                  <a:lnTo>
                    <a:pt x="0" y="6096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4452" y="5981700"/>
              <a:ext cx="332231" cy="42824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706362" y="6020561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44487" y="1497"/>
                  </a:lnTo>
                  <a:lnTo>
                    <a:pt x="80819" y="5581"/>
                  </a:lnTo>
                  <a:lnTo>
                    <a:pt x="105316" y="11637"/>
                  </a:lnTo>
                  <a:lnTo>
                    <a:pt x="114300" y="19050"/>
                  </a:lnTo>
                  <a:lnTo>
                    <a:pt x="114300" y="133350"/>
                  </a:lnTo>
                  <a:lnTo>
                    <a:pt x="123283" y="140762"/>
                  </a:lnTo>
                  <a:lnTo>
                    <a:pt x="147780" y="146818"/>
                  </a:lnTo>
                  <a:lnTo>
                    <a:pt x="184112" y="150902"/>
                  </a:lnTo>
                  <a:lnTo>
                    <a:pt x="228600" y="152400"/>
                  </a:lnTo>
                  <a:lnTo>
                    <a:pt x="184112" y="153897"/>
                  </a:lnTo>
                  <a:lnTo>
                    <a:pt x="147780" y="157981"/>
                  </a:lnTo>
                  <a:lnTo>
                    <a:pt x="123283" y="164037"/>
                  </a:lnTo>
                  <a:lnTo>
                    <a:pt x="114300" y="171450"/>
                  </a:lnTo>
                  <a:lnTo>
                    <a:pt x="114300" y="285750"/>
                  </a:lnTo>
                  <a:lnTo>
                    <a:pt x="105316" y="293162"/>
                  </a:lnTo>
                  <a:lnTo>
                    <a:pt x="80819" y="299218"/>
                  </a:lnTo>
                  <a:lnTo>
                    <a:pt x="44487" y="303302"/>
                  </a:lnTo>
                  <a:lnTo>
                    <a:pt x="0" y="3048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014209" y="3828669"/>
            <a:ext cx="1204595" cy="251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(year, </a:t>
            </a:r>
            <a:r>
              <a:rPr sz="1800" spc="-10" dirty="0">
                <a:latin typeface="Calibri"/>
                <a:cs typeface="Calibri"/>
              </a:rPr>
              <a:t>brand)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(year)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1800" spc="-35" dirty="0">
                <a:latin typeface="Calibri"/>
                <a:cs typeface="Calibri"/>
              </a:rPr>
              <a:t>(year, </a:t>
            </a:r>
            <a:r>
              <a:rPr sz="1800" spc="-10" dirty="0">
                <a:latin typeface="Calibri"/>
                <a:cs typeface="Calibri"/>
              </a:rPr>
              <a:t>brand)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7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(year)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1800" spc="-5" dirty="0">
                <a:latin typeface="Calibri"/>
                <a:cs typeface="Calibri"/>
              </a:rPr>
              <a:t>(ALL)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64452" y="5600700"/>
            <a:ext cx="332740" cy="428625"/>
            <a:chOff x="6664452" y="5600700"/>
            <a:chExt cx="332740" cy="42862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4452" y="5600700"/>
              <a:ext cx="332231" cy="4282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706362" y="5639561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44487" y="1497"/>
                  </a:lnTo>
                  <a:lnTo>
                    <a:pt x="80819" y="5581"/>
                  </a:lnTo>
                  <a:lnTo>
                    <a:pt x="105316" y="11637"/>
                  </a:lnTo>
                  <a:lnTo>
                    <a:pt x="114300" y="19050"/>
                  </a:lnTo>
                  <a:lnTo>
                    <a:pt x="114300" y="133350"/>
                  </a:lnTo>
                  <a:lnTo>
                    <a:pt x="123283" y="140762"/>
                  </a:lnTo>
                  <a:lnTo>
                    <a:pt x="147780" y="146818"/>
                  </a:lnTo>
                  <a:lnTo>
                    <a:pt x="184112" y="150902"/>
                  </a:lnTo>
                  <a:lnTo>
                    <a:pt x="228600" y="152400"/>
                  </a:lnTo>
                  <a:lnTo>
                    <a:pt x="184112" y="153897"/>
                  </a:lnTo>
                  <a:lnTo>
                    <a:pt x="147780" y="157981"/>
                  </a:lnTo>
                  <a:lnTo>
                    <a:pt x="123283" y="164037"/>
                  </a:lnTo>
                  <a:lnTo>
                    <a:pt x="114300" y="171450"/>
                  </a:lnTo>
                  <a:lnTo>
                    <a:pt x="114300" y="285750"/>
                  </a:lnTo>
                  <a:lnTo>
                    <a:pt x="105316" y="293162"/>
                  </a:lnTo>
                  <a:lnTo>
                    <a:pt x="80819" y="299218"/>
                  </a:lnTo>
                  <a:lnTo>
                    <a:pt x="44487" y="303302"/>
                  </a:lnTo>
                  <a:lnTo>
                    <a:pt x="0" y="3048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5379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525" dirty="0"/>
              <a:t>CUBE</a:t>
            </a:r>
            <a:r>
              <a:rPr spc="-195" dirty="0"/>
              <a:t> </a:t>
            </a:r>
            <a:r>
              <a:rPr spc="125" dirty="0"/>
              <a:t>Operator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5855" y="4126991"/>
            <a:ext cx="2106167" cy="18653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46518" y="5907125"/>
            <a:ext cx="6229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2745" y="5010150"/>
            <a:ext cx="1165860" cy="7639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96215" marR="498475" indent="6350">
              <a:lnSpc>
                <a:spcPct val="103600"/>
              </a:lnSpc>
              <a:spcBef>
                <a:spcPts val="50"/>
              </a:spcBef>
            </a:pP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SUV </a:t>
            </a:r>
            <a:r>
              <a:rPr sz="100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487C"/>
                </a:solidFill>
                <a:latin typeface="Arial MT"/>
                <a:cs typeface="Arial MT"/>
              </a:rPr>
              <a:t>SEDAN </a:t>
            </a:r>
            <a:r>
              <a:rPr sz="1000" spc="-26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SPORT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Make</a:t>
            </a:r>
            <a:r>
              <a:rPr sz="12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&amp;</a:t>
            </a:r>
            <a:r>
              <a:rPr sz="12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10885" y="5476443"/>
            <a:ext cx="105537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model&amp;</a:t>
            </a:r>
            <a:r>
              <a:rPr sz="1200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40" dirty="0">
                <a:solidFill>
                  <a:srgbClr val="1F487C"/>
                </a:solidFill>
                <a:latin typeface="Times New Roman"/>
                <a:cs typeface="Times New Roman"/>
              </a:rPr>
              <a:t>Year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13344" y="4616322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Make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11014" y="4476369"/>
            <a:ext cx="1376045" cy="499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312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y</a:t>
            </a:r>
            <a:r>
              <a:rPr sz="1200" spc="-4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130" dirty="0">
                <a:solidFill>
                  <a:srgbClr val="1F487C"/>
                </a:solidFill>
                <a:latin typeface="Times New Roman"/>
                <a:cs typeface="Times New Roman"/>
              </a:rPr>
              <a:t>Y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ea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Make</a:t>
            </a:r>
            <a:r>
              <a:rPr sz="1200" spc="-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&amp;</a:t>
            </a:r>
            <a:r>
              <a:rPr sz="1200" spc="-6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35" dirty="0">
                <a:solidFill>
                  <a:srgbClr val="1F487C"/>
                </a:solidFill>
                <a:latin typeface="Times New Roman"/>
                <a:cs typeface="Times New Roman"/>
              </a:rPr>
              <a:t>Year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00394" y="5894628"/>
            <a:ext cx="30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Sum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2565" y="3612896"/>
            <a:ext cx="1957705" cy="42989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273050">
              <a:lnSpc>
                <a:spcPts val="1500"/>
              </a:lnSpc>
              <a:spcBef>
                <a:spcPts val="300"/>
              </a:spcBef>
            </a:pPr>
            <a:r>
              <a:rPr sz="1400" spc="-5" dirty="0">
                <a:solidFill>
                  <a:srgbClr val="1F487C"/>
                </a:solidFill>
                <a:latin typeface="Times New Roman"/>
                <a:cs typeface="Times New Roman"/>
              </a:rPr>
              <a:t>The</a:t>
            </a:r>
            <a:r>
              <a:rPr sz="1400" spc="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1F487C"/>
                </a:solidFill>
                <a:latin typeface="Times New Roman"/>
                <a:cs typeface="Times New Roman"/>
              </a:rPr>
              <a:t>Data</a:t>
            </a:r>
            <a:r>
              <a:rPr sz="1400" spc="4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Cube</a:t>
            </a:r>
            <a:r>
              <a:rPr sz="1400" spc="3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and 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1F487C"/>
                </a:solidFill>
                <a:latin typeface="Times New Roman"/>
                <a:cs typeface="Times New Roman"/>
              </a:rPr>
              <a:t>T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he</a:t>
            </a:r>
            <a:r>
              <a:rPr sz="1400" spc="-1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Su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b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-S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p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ace</a:t>
            </a:r>
            <a:r>
              <a:rPr sz="1400" spc="-1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Ag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g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re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g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t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95929" y="3465601"/>
            <a:ext cx="513715" cy="5308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120650">
              <a:lnSpc>
                <a:spcPct val="112000"/>
              </a:lnSpc>
              <a:spcBef>
                <a:spcPts val="45"/>
              </a:spcBef>
            </a:pP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SUV </a:t>
            </a:r>
            <a:r>
              <a:rPr sz="100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487C"/>
                </a:solidFill>
                <a:latin typeface="Arial MT"/>
                <a:cs typeface="Arial MT"/>
              </a:rPr>
              <a:t>SEDAN </a:t>
            </a: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 SPORT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549396" y="3505200"/>
            <a:ext cx="640080" cy="544195"/>
            <a:chOff x="3549396" y="3505200"/>
            <a:chExt cx="640080" cy="544195"/>
          </a:xfrm>
        </p:grpSpPr>
        <p:sp>
          <p:nvSpPr>
            <p:cNvPr id="13" name="object 13"/>
            <p:cNvSpPr/>
            <p:nvPr/>
          </p:nvSpPr>
          <p:spPr>
            <a:xfrm>
              <a:off x="3555492" y="3511295"/>
              <a:ext cx="318770" cy="178435"/>
            </a:xfrm>
            <a:custGeom>
              <a:avLst/>
              <a:gdLst/>
              <a:ahLst/>
              <a:cxnLst/>
              <a:rect l="l" t="t" r="r" b="b"/>
              <a:pathLst>
                <a:path w="318770" h="178435">
                  <a:moveTo>
                    <a:pt x="318515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318515" y="178307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555492" y="3511295"/>
              <a:ext cx="318770" cy="178435"/>
            </a:xfrm>
            <a:custGeom>
              <a:avLst/>
              <a:gdLst/>
              <a:ahLst/>
              <a:cxnLst/>
              <a:rect l="l" t="t" r="r" b="b"/>
              <a:pathLst>
                <a:path w="318770" h="178435">
                  <a:moveTo>
                    <a:pt x="0" y="178307"/>
                  </a:moveTo>
                  <a:lnTo>
                    <a:pt x="318515" y="178307"/>
                  </a:lnTo>
                  <a:lnTo>
                    <a:pt x="318515" y="0"/>
                  </a:lnTo>
                  <a:lnTo>
                    <a:pt x="0" y="0"/>
                  </a:lnTo>
                  <a:lnTo>
                    <a:pt x="0" y="17830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555492" y="3511295"/>
              <a:ext cx="634365" cy="353695"/>
            </a:xfrm>
            <a:custGeom>
              <a:avLst/>
              <a:gdLst/>
              <a:ahLst/>
              <a:cxnLst/>
              <a:rect l="l" t="t" r="r" b="b"/>
              <a:pathLst>
                <a:path w="634364" h="353695">
                  <a:moveTo>
                    <a:pt x="318503" y="178308"/>
                  </a:moveTo>
                  <a:lnTo>
                    <a:pt x="0" y="178308"/>
                  </a:lnTo>
                  <a:lnTo>
                    <a:pt x="0" y="353568"/>
                  </a:lnTo>
                  <a:lnTo>
                    <a:pt x="318503" y="353568"/>
                  </a:lnTo>
                  <a:lnTo>
                    <a:pt x="318503" y="178308"/>
                  </a:lnTo>
                  <a:close/>
                </a:path>
                <a:path w="634364" h="353695">
                  <a:moveTo>
                    <a:pt x="633984" y="0"/>
                  </a:moveTo>
                  <a:lnTo>
                    <a:pt x="318516" y="0"/>
                  </a:lnTo>
                  <a:lnTo>
                    <a:pt x="318516" y="178308"/>
                  </a:lnTo>
                  <a:lnTo>
                    <a:pt x="633984" y="178308"/>
                  </a:lnTo>
                  <a:lnTo>
                    <a:pt x="633984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55492" y="3689604"/>
              <a:ext cx="318770" cy="175260"/>
            </a:xfrm>
            <a:custGeom>
              <a:avLst/>
              <a:gdLst/>
              <a:ahLst/>
              <a:cxnLst/>
              <a:rect l="l" t="t" r="r" b="b"/>
              <a:pathLst>
                <a:path w="318770" h="175260">
                  <a:moveTo>
                    <a:pt x="0" y="175260"/>
                  </a:moveTo>
                  <a:lnTo>
                    <a:pt x="318515" y="175260"/>
                  </a:lnTo>
                  <a:lnTo>
                    <a:pt x="318515" y="0"/>
                  </a:lnTo>
                  <a:lnTo>
                    <a:pt x="0" y="0"/>
                  </a:lnTo>
                  <a:lnTo>
                    <a:pt x="0" y="17526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55492" y="3689603"/>
              <a:ext cx="634365" cy="353695"/>
            </a:xfrm>
            <a:custGeom>
              <a:avLst/>
              <a:gdLst/>
              <a:ahLst/>
              <a:cxnLst/>
              <a:rect l="l" t="t" r="r" b="b"/>
              <a:pathLst>
                <a:path w="634364" h="353695">
                  <a:moveTo>
                    <a:pt x="318503" y="175272"/>
                  </a:moveTo>
                  <a:lnTo>
                    <a:pt x="0" y="175272"/>
                  </a:lnTo>
                  <a:lnTo>
                    <a:pt x="0" y="353568"/>
                  </a:lnTo>
                  <a:lnTo>
                    <a:pt x="318503" y="353568"/>
                  </a:lnTo>
                  <a:lnTo>
                    <a:pt x="318503" y="175272"/>
                  </a:lnTo>
                  <a:close/>
                </a:path>
                <a:path w="634364" h="353695">
                  <a:moveTo>
                    <a:pt x="633984" y="0"/>
                  </a:moveTo>
                  <a:lnTo>
                    <a:pt x="318516" y="0"/>
                  </a:lnTo>
                  <a:lnTo>
                    <a:pt x="318516" y="175260"/>
                  </a:lnTo>
                  <a:lnTo>
                    <a:pt x="633984" y="175260"/>
                  </a:lnTo>
                  <a:lnTo>
                    <a:pt x="633984" y="0"/>
                  </a:lnTo>
                  <a:close/>
                </a:path>
              </a:pathLst>
            </a:custGeom>
            <a:solidFill>
              <a:srgbClr val="99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55492" y="3864863"/>
              <a:ext cx="318770" cy="178435"/>
            </a:xfrm>
            <a:custGeom>
              <a:avLst/>
              <a:gdLst/>
              <a:ahLst/>
              <a:cxnLst/>
              <a:rect l="l" t="t" r="r" b="b"/>
              <a:pathLst>
                <a:path w="318770" h="178435">
                  <a:moveTo>
                    <a:pt x="0" y="178307"/>
                  </a:moveTo>
                  <a:lnTo>
                    <a:pt x="318515" y="178307"/>
                  </a:lnTo>
                  <a:lnTo>
                    <a:pt x="318515" y="0"/>
                  </a:lnTo>
                  <a:lnTo>
                    <a:pt x="0" y="0"/>
                  </a:lnTo>
                  <a:lnTo>
                    <a:pt x="0" y="17830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3874008" y="3864864"/>
            <a:ext cx="315595" cy="178435"/>
          </a:xfrm>
          <a:custGeom>
            <a:avLst/>
            <a:gdLst/>
            <a:ahLst/>
            <a:cxnLst/>
            <a:rect l="l" t="t" r="r" b="b"/>
            <a:pathLst>
              <a:path w="315595" h="178435">
                <a:moveTo>
                  <a:pt x="315467" y="0"/>
                </a:moveTo>
                <a:lnTo>
                  <a:pt x="0" y="0"/>
                </a:lnTo>
                <a:lnTo>
                  <a:pt x="0" y="178307"/>
                </a:lnTo>
                <a:lnTo>
                  <a:pt x="315467" y="178307"/>
                </a:lnTo>
                <a:lnTo>
                  <a:pt x="315467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3867911" y="3505200"/>
          <a:ext cx="315595" cy="53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5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83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" name="object 21"/>
          <p:cNvGrpSpPr/>
          <p:nvPr/>
        </p:nvGrpSpPr>
        <p:grpSpPr>
          <a:xfrm>
            <a:off x="3549396" y="4125467"/>
            <a:ext cx="646430" cy="189230"/>
            <a:chOff x="3549396" y="4125467"/>
            <a:chExt cx="646430" cy="189230"/>
          </a:xfrm>
        </p:grpSpPr>
        <p:sp>
          <p:nvSpPr>
            <p:cNvPr id="22" name="object 22"/>
            <p:cNvSpPr/>
            <p:nvPr/>
          </p:nvSpPr>
          <p:spPr>
            <a:xfrm>
              <a:off x="3555492" y="4131563"/>
              <a:ext cx="318770" cy="177165"/>
            </a:xfrm>
            <a:custGeom>
              <a:avLst/>
              <a:gdLst/>
              <a:ahLst/>
              <a:cxnLst/>
              <a:rect l="l" t="t" r="r" b="b"/>
              <a:pathLst>
                <a:path w="318770" h="177164">
                  <a:moveTo>
                    <a:pt x="318515" y="0"/>
                  </a:moveTo>
                  <a:lnTo>
                    <a:pt x="0" y="0"/>
                  </a:lnTo>
                  <a:lnTo>
                    <a:pt x="0" y="176783"/>
                  </a:lnTo>
                  <a:lnTo>
                    <a:pt x="318515" y="176783"/>
                  </a:lnTo>
                  <a:lnTo>
                    <a:pt x="318515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555492" y="4131563"/>
              <a:ext cx="318770" cy="177165"/>
            </a:xfrm>
            <a:custGeom>
              <a:avLst/>
              <a:gdLst/>
              <a:ahLst/>
              <a:cxnLst/>
              <a:rect l="l" t="t" r="r" b="b"/>
              <a:pathLst>
                <a:path w="318770" h="177164">
                  <a:moveTo>
                    <a:pt x="0" y="176783"/>
                  </a:moveTo>
                  <a:lnTo>
                    <a:pt x="318515" y="176783"/>
                  </a:lnTo>
                  <a:lnTo>
                    <a:pt x="318515" y="0"/>
                  </a:lnTo>
                  <a:lnTo>
                    <a:pt x="0" y="0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74008" y="4131563"/>
              <a:ext cx="315595" cy="177165"/>
            </a:xfrm>
            <a:custGeom>
              <a:avLst/>
              <a:gdLst/>
              <a:ahLst/>
              <a:cxnLst/>
              <a:rect l="l" t="t" r="r" b="b"/>
              <a:pathLst>
                <a:path w="315595" h="177164">
                  <a:moveTo>
                    <a:pt x="315467" y="0"/>
                  </a:moveTo>
                  <a:lnTo>
                    <a:pt x="0" y="0"/>
                  </a:lnTo>
                  <a:lnTo>
                    <a:pt x="0" y="176783"/>
                  </a:lnTo>
                  <a:lnTo>
                    <a:pt x="315467" y="176783"/>
                  </a:lnTo>
                  <a:lnTo>
                    <a:pt x="315467" y="0"/>
                  </a:lnTo>
                  <a:close/>
                </a:path>
              </a:pathLst>
            </a:custGeom>
            <a:solidFill>
              <a:srgbClr val="000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74008" y="4131563"/>
              <a:ext cx="315595" cy="177165"/>
            </a:xfrm>
            <a:custGeom>
              <a:avLst/>
              <a:gdLst/>
              <a:ahLst/>
              <a:cxnLst/>
              <a:rect l="l" t="t" r="r" b="b"/>
              <a:pathLst>
                <a:path w="315595" h="177164">
                  <a:moveTo>
                    <a:pt x="0" y="176783"/>
                  </a:moveTo>
                  <a:lnTo>
                    <a:pt x="315467" y="176783"/>
                  </a:lnTo>
                  <a:lnTo>
                    <a:pt x="315467" y="0"/>
                  </a:lnTo>
                  <a:lnTo>
                    <a:pt x="0" y="0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4259579" y="3505200"/>
          <a:ext cx="316865" cy="5318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6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830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7" name="object 27"/>
          <p:cNvGrpSpPr/>
          <p:nvPr/>
        </p:nvGrpSpPr>
        <p:grpSpPr>
          <a:xfrm>
            <a:off x="4259579" y="4125467"/>
            <a:ext cx="329565" cy="189230"/>
            <a:chOff x="4259579" y="4125467"/>
            <a:chExt cx="329565" cy="189230"/>
          </a:xfrm>
        </p:grpSpPr>
        <p:sp>
          <p:nvSpPr>
            <p:cNvPr id="28" name="object 28"/>
            <p:cNvSpPr/>
            <p:nvPr/>
          </p:nvSpPr>
          <p:spPr>
            <a:xfrm>
              <a:off x="4265675" y="4131563"/>
              <a:ext cx="317500" cy="177165"/>
            </a:xfrm>
            <a:custGeom>
              <a:avLst/>
              <a:gdLst/>
              <a:ahLst/>
              <a:cxnLst/>
              <a:rect l="l" t="t" r="r" b="b"/>
              <a:pathLst>
                <a:path w="317500" h="177164">
                  <a:moveTo>
                    <a:pt x="316991" y="0"/>
                  </a:moveTo>
                  <a:lnTo>
                    <a:pt x="0" y="0"/>
                  </a:lnTo>
                  <a:lnTo>
                    <a:pt x="0" y="176783"/>
                  </a:lnTo>
                  <a:lnTo>
                    <a:pt x="316991" y="176783"/>
                  </a:lnTo>
                  <a:lnTo>
                    <a:pt x="316991" y="0"/>
                  </a:lnTo>
                  <a:close/>
                </a:path>
              </a:pathLst>
            </a:custGeom>
            <a:solidFill>
              <a:srgbClr val="00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65675" y="4131563"/>
              <a:ext cx="317500" cy="177165"/>
            </a:xfrm>
            <a:custGeom>
              <a:avLst/>
              <a:gdLst/>
              <a:ahLst/>
              <a:cxnLst/>
              <a:rect l="l" t="t" r="r" b="b"/>
              <a:pathLst>
                <a:path w="317500" h="177164">
                  <a:moveTo>
                    <a:pt x="0" y="176783"/>
                  </a:moveTo>
                  <a:lnTo>
                    <a:pt x="316991" y="176783"/>
                  </a:lnTo>
                  <a:lnTo>
                    <a:pt x="316991" y="0"/>
                  </a:lnTo>
                  <a:lnTo>
                    <a:pt x="0" y="0"/>
                  </a:lnTo>
                  <a:lnTo>
                    <a:pt x="0" y="176783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516884" y="3261105"/>
            <a:ext cx="13881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BMW</a:t>
            </a:r>
            <a:r>
              <a:rPr sz="1000" spc="42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1F487C"/>
                </a:solidFill>
                <a:latin typeface="Arial MT"/>
                <a:cs typeface="Arial MT"/>
              </a:rPr>
              <a:t>MERC</a:t>
            </a:r>
            <a:r>
              <a:rPr sz="1200" spc="-2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932557" y="4084446"/>
            <a:ext cx="588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Make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02860" y="4285869"/>
            <a:ext cx="30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Sum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07384" y="3031617"/>
            <a:ext cx="7372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Cross</a:t>
            </a:r>
            <a:r>
              <a:rPr sz="1400" spc="-3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spc="-105" dirty="0">
                <a:solidFill>
                  <a:srgbClr val="1F487C"/>
                </a:solidFill>
                <a:latin typeface="Times New Roman"/>
                <a:cs typeface="Times New Roman"/>
              </a:rPr>
              <a:t>T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21130" y="2906928"/>
            <a:ext cx="525780" cy="5321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20014">
              <a:lnSpc>
                <a:spcPct val="112000"/>
              </a:lnSpc>
              <a:spcBef>
                <a:spcPts val="55"/>
              </a:spcBef>
            </a:pP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SUV </a:t>
            </a:r>
            <a:r>
              <a:rPr sz="100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487C"/>
                </a:solidFill>
                <a:latin typeface="Arial MT"/>
                <a:cs typeface="Arial MT"/>
              </a:rPr>
              <a:t>SEDAN </a:t>
            </a:r>
            <a:r>
              <a:rPr sz="1000" spc="-5" dirty="0">
                <a:solidFill>
                  <a:srgbClr val="1F487C"/>
                </a:solidFill>
                <a:latin typeface="Arial MT"/>
                <a:cs typeface="Arial MT"/>
              </a:rPr>
              <a:t> SPORT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775460" y="2941320"/>
            <a:ext cx="327660" cy="538480"/>
            <a:chOff x="1775460" y="2941320"/>
            <a:chExt cx="327660" cy="538480"/>
          </a:xfrm>
        </p:grpSpPr>
        <p:sp>
          <p:nvSpPr>
            <p:cNvPr id="36" name="object 36"/>
            <p:cNvSpPr/>
            <p:nvPr/>
          </p:nvSpPr>
          <p:spPr>
            <a:xfrm>
              <a:off x="1781556" y="2941319"/>
              <a:ext cx="315595" cy="355600"/>
            </a:xfrm>
            <a:custGeom>
              <a:avLst/>
              <a:gdLst/>
              <a:ahLst/>
              <a:cxnLst/>
              <a:rect l="l" t="t" r="r" b="b"/>
              <a:pathLst>
                <a:path w="315594" h="355600">
                  <a:moveTo>
                    <a:pt x="315468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0" y="355092"/>
                  </a:lnTo>
                  <a:lnTo>
                    <a:pt x="315468" y="355092"/>
                  </a:lnTo>
                  <a:lnTo>
                    <a:pt x="315468" y="178308"/>
                  </a:lnTo>
                  <a:lnTo>
                    <a:pt x="315468" y="0"/>
                  </a:lnTo>
                  <a:close/>
                </a:path>
              </a:pathLst>
            </a:custGeom>
            <a:solidFill>
              <a:srgbClr val="4BFF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781556" y="3119628"/>
              <a:ext cx="315595" cy="177165"/>
            </a:xfrm>
            <a:custGeom>
              <a:avLst/>
              <a:gdLst/>
              <a:ahLst/>
              <a:cxnLst/>
              <a:rect l="l" t="t" r="r" b="b"/>
              <a:pathLst>
                <a:path w="315594" h="177164">
                  <a:moveTo>
                    <a:pt x="0" y="176784"/>
                  </a:moveTo>
                  <a:lnTo>
                    <a:pt x="315468" y="176784"/>
                  </a:lnTo>
                  <a:lnTo>
                    <a:pt x="315468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81556" y="3296412"/>
              <a:ext cx="315595" cy="177165"/>
            </a:xfrm>
            <a:custGeom>
              <a:avLst/>
              <a:gdLst/>
              <a:ahLst/>
              <a:cxnLst/>
              <a:rect l="l" t="t" r="r" b="b"/>
              <a:pathLst>
                <a:path w="315594" h="177164">
                  <a:moveTo>
                    <a:pt x="315468" y="0"/>
                  </a:moveTo>
                  <a:lnTo>
                    <a:pt x="0" y="0"/>
                  </a:lnTo>
                  <a:lnTo>
                    <a:pt x="0" y="176784"/>
                  </a:lnTo>
                  <a:lnTo>
                    <a:pt x="315468" y="176784"/>
                  </a:lnTo>
                  <a:lnTo>
                    <a:pt x="315468" y="0"/>
                  </a:lnTo>
                  <a:close/>
                </a:path>
              </a:pathLst>
            </a:custGeom>
            <a:solidFill>
              <a:srgbClr val="4BFF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81556" y="3296412"/>
              <a:ext cx="315595" cy="177165"/>
            </a:xfrm>
            <a:custGeom>
              <a:avLst/>
              <a:gdLst/>
              <a:ahLst/>
              <a:cxnLst/>
              <a:rect l="l" t="t" r="r" b="b"/>
              <a:pathLst>
                <a:path w="315594" h="177164">
                  <a:moveTo>
                    <a:pt x="0" y="176784"/>
                  </a:moveTo>
                  <a:lnTo>
                    <a:pt x="315468" y="176784"/>
                  </a:lnTo>
                  <a:lnTo>
                    <a:pt x="315468" y="0"/>
                  </a:lnTo>
                  <a:lnTo>
                    <a:pt x="0" y="0"/>
                  </a:lnTo>
                  <a:lnTo>
                    <a:pt x="0" y="176784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/>
          <p:nvPr/>
        </p:nvSpPr>
        <p:spPr>
          <a:xfrm>
            <a:off x="1781555" y="3563111"/>
            <a:ext cx="315595" cy="177165"/>
          </a:xfrm>
          <a:custGeom>
            <a:avLst/>
            <a:gdLst/>
            <a:ahLst/>
            <a:cxnLst/>
            <a:rect l="l" t="t" r="r" b="b"/>
            <a:pathLst>
              <a:path w="315594" h="177164">
                <a:moveTo>
                  <a:pt x="315468" y="0"/>
                </a:moveTo>
                <a:lnTo>
                  <a:pt x="0" y="0"/>
                </a:lnTo>
                <a:lnTo>
                  <a:pt x="0" y="176783"/>
                </a:lnTo>
                <a:lnTo>
                  <a:pt x="315468" y="176783"/>
                </a:lnTo>
                <a:lnTo>
                  <a:pt x="315468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652777" y="2245613"/>
            <a:ext cx="840105" cy="6534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29845" marR="5080" indent="-17780">
              <a:lnSpc>
                <a:spcPts val="1500"/>
              </a:lnSpc>
              <a:spcBef>
                <a:spcPts val="305"/>
              </a:spcBef>
            </a:pP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Group By </a:t>
            </a:r>
            <a:r>
              <a:rPr sz="1400" spc="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(</a:t>
            </a:r>
            <a:r>
              <a:rPr sz="1400" spc="-10" dirty="0">
                <a:solidFill>
                  <a:srgbClr val="1F487C"/>
                </a:solidFill>
                <a:latin typeface="Times New Roman"/>
                <a:cs typeface="Times New Roman"/>
              </a:rPr>
              <a:t>w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ith</a:t>
            </a:r>
            <a:r>
              <a:rPr sz="1400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total)</a:t>
            </a:r>
            <a:endParaRPr sz="14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  <a:spcBef>
                <a:spcPts val="295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1200" spc="-3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1F487C"/>
                </a:solidFill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16582" y="3715892"/>
            <a:ext cx="30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Sum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23672" y="2244851"/>
            <a:ext cx="317500" cy="178435"/>
          </a:xfrm>
          <a:custGeom>
            <a:avLst/>
            <a:gdLst/>
            <a:ahLst/>
            <a:cxnLst/>
            <a:rect l="l" t="t" r="r" b="b"/>
            <a:pathLst>
              <a:path w="317500" h="178435">
                <a:moveTo>
                  <a:pt x="316992" y="0"/>
                </a:moveTo>
                <a:lnTo>
                  <a:pt x="0" y="0"/>
                </a:lnTo>
                <a:lnTo>
                  <a:pt x="0" y="178308"/>
                </a:lnTo>
                <a:lnTo>
                  <a:pt x="316992" y="178308"/>
                </a:lnTo>
                <a:lnTo>
                  <a:pt x="316992" y="0"/>
                </a:lnTo>
                <a:close/>
              </a:path>
            </a:pathLst>
          </a:custGeom>
          <a:solidFill>
            <a:srgbClr val="00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468274" y="2412238"/>
            <a:ext cx="305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1F487C"/>
                </a:solidFill>
                <a:latin typeface="Times New Roman"/>
                <a:cs typeface="Times New Roman"/>
              </a:rPr>
              <a:t>Sum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8099" y="1916938"/>
            <a:ext cx="77216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1F487C"/>
                </a:solidFill>
                <a:latin typeface="Times New Roman"/>
                <a:cs typeface="Times New Roman"/>
              </a:rPr>
              <a:t>Aggregate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166734" cy="155511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80" dirty="0">
                <a:latin typeface="Trebuchet MS"/>
                <a:cs typeface="Trebuchet MS"/>
              </a:rPr>
              <a:t>Example</a:t>
            </a:r>
            <a:endParaRPr sz="3200">
              <a:latin typeface="Trebuchet MS"/>
              <a:cs typeface="Trebuchet MS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  <a:tabLst>
                <a:tab pos="3178810" algn="l"/>
              </a:tabLst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7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45" dirty="0">
                <a:solidFill>
                  <a:srgbClr val="1F487C"/>
                </a:solidFill>
                <a:latin typeface="Trebuchet MS"/>
                <a:cs typeface="Trebuchet MS"/>
              </a:rPr>
              <a:t>LEC</a:t>
            </a:r>
            <a:r>
              <a:rPr sz="2800" spc="5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235" dirty="0">
                <a:solidFill>
                  <a:srgbClr val="1F487C"/>
                </a:solidFill>
                <a:latin typeface="Trebuchet MS"/>
                <a:cs typeface="Trebuchet MS"/>
              </a:rPr>
              <a:t>ea</a:t>
            </a:r>
            <a:r>
              <a:rPr sz="2800" spc="-2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brand,</a:t>
            </a:r>
            <a:r>
              <a:rPr sz="2800" spc="-3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SUM(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q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ty)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F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29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310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ales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60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110" dirty="0">
                <a:solidFill>
                  <a:srgbClr val="1F487C"/>
                </a:solidFill>
                <a:latin typeface="Trebuchet MS"/>
                <a:cs typeface="Trebuchet MS"/>
              </a:rPr>
              <a:t>OUP  </a:t>
            </a:r>
            <a:r>
              <a:rPr sz="2800" spc="40" dirty="0">
                <a:solidFill>
                  <a:srgbClr val="1F487C"/>
                </a:solidFill>
                <a:latin typeface="Trebuchet MS"/>
                <a:cs typeface="Trebuchet MS"/>
              </a:rPr>
              <a:t>BY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90" dirty="0">
                <a:solidFill>
                  <a:srgbClr val="1F487C"/>
                </a:solidFill>
                <a:latin typeface="Trebuchet MS"/>
                <a:cs typeface="Trebuchet MS"/>
              </a:rPr>
              <a:t>CUBE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50" dirty="0">
                <a:solidFill>
                  <a:srgbClr val="1F487C"/>
                </a:solidFill>
                <a:latin typeface="Trebuchet MS"/>
                <a:cs typeface="Trebuchet MS"/>
              </a:rPr>
              <a:t>(year,	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brand);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53797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525" dirty="0"/>
              <a:t>CUBE</a:t>
            </a:r>
            <a:r>
              <a:rPr spc="-195" dirty="0"/>
              <a:t> </a:t>
            </a:r>
            <a:r>
              <a:rPr spc="125" dirty="0"/>
              <a:t>Operator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438400" y="2895600"/>
            <a:ext cx="4343400" cy="3657600"/>
            <a:chOff x="2438400" y="2895600"/>
            <a:chExt cx="4343400" cy="3657600"/>
          </a:xfrm>
        </p:grpSpPr>
        <p:sp>
          <p:nvSpPr>
            <p:cNvPr id="5" name="object 5"/>
            <p:cNvSpPr/>
            <p:nvPr/>
          </p:nvSpPr>
          <p:spPr>
            <a:xfrm>
              <a:off x="2438400" y="28955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438400" y="32003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38400" y="35051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438400" y="38099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38400" y="41147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38400" y="44195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D0D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38400" y="4724399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E9EC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38400" y="5029200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C3D5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8400" y="5334000"/>
              <a:ext cx="4343400" cy="914400"/>
            </a:xfrm>
            <a:custGeom>
              <a:avLst/>
              <a:gdLst/>
              <a:ahLst/>
              <a:cxnLst/>
              <a:rect l="l" t="t" r="r" b="b"/>
              <a:pathLst>
                <a:path w="4343400" h="9144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0" y="609600"/>
                  </a:lnTo>
                  <a:lnTo>
                    <a:pt x="0" y="914400"/>
                  </a:lnTo>
                  <a:lnTo>
                    <a:pt x="1447800" y="914400"/>
                  </a:lnTo>
                  <a:lnTo>
                    <a:pt x="2895600" y="914400"/>
                  </a:lnTo>
                  <a:lnTo>
                    <a:pt x="4343400" y="914400"/>
                  </a:lnTo>
                  <a:lnTo>
                    <a:pt x="4343400" y="6096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92C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38400" y="6248400"/>
              <a:ext cx="4343400" cy="304800"/>
            </a:xfrm>
            <a:custGeom>
              <a:avLst/>
              <a:gdLst/>
              <a:ahLst/>
              <a:cxnLst/>
              <a:rect l="l" t="t" r="r" b="b"/>
              <a:pathLst>
                <a:path w="4343400" h="304800">
                  <a:moveTo>
                    <a:pt x="4343400" y="0"/>
                  </a:moveTo>
                  <a:lnTo>
                    <a:pt x="2895600" y="0"/>
                  </a:lnTo>
                  <a:lnTo>
                    <a:pt x="1447800" y="0"/>
                  </a:lnTo>
                  <a:lnTo>
                    <a:pt x="0" y="0"/>
                  </a:lnTo>
                  <a:lnTo>
                    <a:pt x="0" y="304800"/>
                  </a:lnTo>
                  <a:lnTo>
                    <a:pt x="1447800" y="304800"/>
                  </a:lnTo>
                  <a:lnTo>
                    <a:pt x="2895600" y="304800"/>
                  </a:lnTo>
                  <a:lnTo>
                    <a:pt x="4343400" y="304800"/>
                  </a:lnTo>
                  <a:lnTo>
                    <a:pt x="4343400" y="0"/>
                  </a:lnTo>
                  <a:close/>
                </a:path>
              </a:pathLst>
            </a:custGeom>
            <a:solidFill>
              <a:srgbClr val="4F61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6812280" y="3162300"/>
            <a:ext cx="332740" cy="3423285"/>
            <a:chOff x="6812280" y="3162300"/>
            <a:chExt cx="332740" cy="342328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12280" y="3162300"/>
              <a:ext cx="332231" cy="96164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54190" y="3201161"/>
              <a:ext cx="233679" cy="3365500"/>
            </a:xfrm>
            <a:custGeom>
              <a:avLst/>
              <a:gdLst/>
              <a:ahLst/>
              <a:cxnLst/>
              <a:rect l="l" t="t" r="r" b="b"/>
              <a:pathLst>
                <a:path w="233679" h="3365500">
                  <a:moveTo>
                    <a:pt x="0" y="0"/>
                  </a:moveTo>
                  <a:lnTo>
                    <a:pt x="44487" y="1494"/>
                  </a:lnTo>
                  <a:lnTo>
                    <a:pt x="80819" y="5572"/>
                  </a:lnTo>
                  <a:lnTo>
                    <a:pt x="105316" y="11626"/>
                  </a:lnTo>
                  <a:lnTo>
                    <a:pt x="114300" y="19050"/>
                  </a:lnTo>
                  <a:lnTo>
                    <a:pt x="114300" y="400050"/>
                  </a:lnTo>
                  <a:lnTo>
                    <a:pt x="123283" y="407473"/>
                  </a:lnTo>
                  <a:lnTo>
                    <a:pt x="147780" y="413527"/>
                  </a:lnTo>
                  <a:lnTo>
                    <a:pt x="184112" y="417605"/>
                  </a:lnTo>
                  <a:lnTo>
                    <a:pt x="228600" y="419100"/>
                  </a:lnTo>
                  <a:lnTo>
                    <a:pt x="184112" y="420594"/>
                  </a:lnTo>
                  <a:lnTo>
                    <a:pt x="147780" y="424672"/>
                  </a:lnTo>
                  <a:lnTo>
                    <a:pt x="123283" y="430726"/>
                  </a:lnTo>
                  <a:lnTo>
                    <a:pt x="114300" y="438150"/>
                  </a:lnTo>
                  <a:lnTo>
                    <a:pt x="114300" y="819150"/>
                  </a:lnTo>
                  <a:lnTo>
                    <a:pt x="105316" y="826573"/>
                  </a:lnTo>
                  <a:lnTo>
                    <a:pt x="80819" y="832627"/>
                  </a:lnTo>
                  <a:lnTo>
                    <a:pt x="44487" y="836705"/>
                  </a:lnTo>
                  <a:lnTo>
                    <a:pt x="0" y="838200"/>
                  </a:lnTo>
                </a:path>
                <a:path w="233679" h="3365500">
                  <a:moveTo>
                    <a:pt x="4571" y="914400"/>
                  </a:moveTo>
                  <a:lnTo>
                    <a:pt x="49059" y="915894"/>
                  </a:lnTo>
                  <a:lnTo>
                    <a:pt x="85391" y="919972"/>
                  </a:lnTo>
                  <a:lnTo>
                    <a:pt x="109888" y="926026"/>
                  </a:lnTo>
                  <a:lnTo>
                    <a:pt x="118871" y="933450"/>
                  </a:lnTo>
                  <a:lnTo>
                    <a:pt x="118871" y="1047750"/>
                  </a:lnTo>
                  <a:lnTo>
                    <a:pt x="127855" y="1055173"/>
                  </a:lnTo>
                  <a:lnTo>
                    <a:pt x="152352" y="1061227"/>
                  </a:lnTo>
                  <a:lnTo>
                    <a:pt x="188684" y="1065305"/>
                  </a:lnTo>
                  <a:lnTo>
                    <a:pt x="233171" y="1066800"/>
                  </a:lnTo>
                  <a:lnTo>
                    <a:pt x="188684" y="1068294"/>
                  </a:lnTo>
                  <a:lnTo>
                    <a:pt x="152352" y="1072372"/>
                  </a:lnTo>
                  <a:lnTo>
                    <a:pt x="127855" y="1078426"/>
                  </a:lnTo>
                  <a:lnTo>
                    <a:pt x="118871" y="1085850"/>
                  </a:lnTo>
                  <a:lnTo>
                    <a:pt x="118871" y="1200150"/>
                  </a:lnTo>
                  <a:lnTo>
                    <a:pt x="109888" y="1207573"/>
                  </a:lnTo>
                  <a:lnTo>
                    <a:pt x="85391" y="1213627"/>
                  </a:lnTo>
                  <a:lnTo>
                    <a:pt x="49059" y="1217705"/>
                  </a:lnTo>
                  <a:lnTo>
                    <a:pt x="4571" y="1219200"/>
                  </a:lnTo>
                </a:path>
                <a:path w="233679" h="3365500">
                  <a:moveTo>
                    <a:pt x="0" y="3060192"/>
                  </a:moveTo>
                  <a:lnTo>
                    <a:pt x="44487" y="3061688"/>
                  </a:lnTo>
                  <a:lnTo>
                    <a:pt x="80819" y="3065768"/>
                  </a:lnTo>
                  <a:lnTo>
                    <a:pt x="105316" y="3071823"/>
                  </a:lnTo>
                  <a:lnTo>
                    <a:pt x="114300" y="3079242"/>
                  </a:lnTo>
                  <a:lnTo>
                    <a:pt x="114300" y="3193542"/>
                  </a:lnTo>
                  <a:lnTo>
                    <a:pt x="123283" y="3200954"/>
                  </a:lnTo>
                  <a:lnTo>
                    <a:pt x="147780" y="3207010"/>
                  </a:lnTo>
                  <a:lnTo>
                    <a:pt x="184112" y="3211094"/>
                  </a:lnTo>
                  <a:lnTo>
                    <a:pt x="228600" y="3212592"/>
                  </a:lnTo>
                  <a:lnTo>
                    <a:pt x="184112" y="3214088"/>
                  </a:lnTo>
                  <a:lnTo>
                    <a:pt x="147780" y="3218168"/>
                  </a:lnTo>
                  <a:lnTo>
                    <a:pt x="123283" y="3224223"/>
                  </a:lnTo>
                  <a:lnTo>
                    <a:pt x="114300" y="3231642"/>
                  </a:lnTo>
                  <a:lnTo>
                    <a:pt x="114300" y="3345941"/>
                  </a:lnTo>
                  <a:lnTo>
                    <a:pt x="105316" y="3353354"/>
                  </a:lnTo>
                  <a:lnTo>
                    <a:pt x="80819" y="3359410"/>
                  </a:lnTo>
                  <a:lnTo>
                    <a:pt x="44487" y="3363494"/>
                  </a:lnTo>
                  <a:lnTo>
                    <a:pt x="0" y="3364991"/>
                  </a:lnTo>
                </a:path>
                <a:path w="233679" h="3365500">
                  <a:moveTo>
                    <a:pt x="4571" y="1295400"/>
                  </a:moveTo>
                  <a:lnTo>
                    <a:pt x="49059" y="1296894"/>
                  </a:lnTo>
                  <a:lnTo>
                    <a:pt x="85391" y="1300972"/>
                  </a:lnTo>
                  <a:lnTo>
                    <a:pt x="109888" y="1307026"/>
                  </a:lnTo>
                  <a:lnTo>
                    <a:pt x="118871" y="1314450"/>
                  </a:lnTo>
                  <a:lnTo>
                    <a:pt x="118871" y="1504950"/>
                  </a:lnTo>
                  <a:lnTo>
                    <a:pt x="127855" y="1512373"/>
                  </a:lnTo>
                  <a:lnTo>
                    <a:pt x="152352" y="1518427"/>
                  </a:lnTo>
                  <a:lnTo>
                    <a:pt x="188684" y="1522505"/>
                  </a:lnTo>
                  <a:lnTo>
                    <a:pt x="233171" y="1524000"/>
                  </a:lnTo>
                  <a:lnTo>
                    <a:pt x="188684" y="1525494"/>
                  </a:lnTo>
                  <a:lnTo>
                    <a:pt x="152352" y="1529572"/>
                  </a:lnTo>
                  <a:lnTo>
                    <a:pt x="127855" y="1535626"/>
                  </a:lnTo>
                  <a:lnTo>
                    <a:pt x="118871" y="1543050"/>
                  </a:lnTo>
                  <a:lnTo>
                    <a:pt x="118871" y="1733550"/>
                  </a:lnTo>
                  <a:lnTo>
                    <a:pt x="109888" y="1740973"/>
                  </a:lnTo>
                  <a:lnTo>
                    <a:pt x="85391" y="1747027"/>
                  </a:lnTo>
                  <a:lnTo>
                    <a:pt x="49059" y="1751105"/>
                  </a:lnTo>
                  <a:lnTo>
                    <a:pt x="4571" y="1752600"/>
                  </a:lnTo>
                </a:path>
                <a:path w="233679" h="3365500">
                  <a:moveTo>
                    <a:pt x="4571" y="1828800"/>
                  </a:moveTo>
                  <a:lnTo>
                    <a:pt x="49059" y="1830294"/>
                  </a:lnTo>
                  <a:lnTo>
                    <a:pt x="85391" y="1834372"/>
                  </a:lnTo>
                  <a:lnTo>
                    <a:pt x="109888" y="1840426"/>
                  </a:lnTo>
                  <a:lnTo>
                    <a:pt x="118871" y="1847850"/>
                  </a:lnTo>
                  <a:lnTo>
                    <a:pt x="118871" y="1962150"/>
                  </a:lnTo>
                  <a:lnTo>
                    <a:pt x="127855" y="1969573"/>
                  </a:lnTo>
                  <a:lnTo>
                    <a:pt x="152352" y="1975627"/>
                  </a:lnTo>
                  <a:lnTo>
                    <a:pt x="188684" y="1979705"/>
                  </a:lnTo>
                  <a:lnTo>
                    <a:pt x="233171" y="1981200"/>
                  </a:lnTo>
                  <a:lnTo>
                    <a:pt x="188684" y="1982694"/>
                  </a:lnTo>
                  <a:lnTo>
                    <a:pt x="152352" y="1986772"/>
                  </a:lnTo>
                  <a:lnTo>
                    <a:pt x="127855" y="1992826"/>
                  </a:lnTo>
                  <a:lnTo>
                    <a:pt x="118871" y="2000250"/>
                  </a:lnTo>
                  <a:lnTo>
                    <a:pt x="118871" y="2114550"/>
                  </a:lnTo>
                  <a:lnTo>
                    <a:pt x="109888" y="2121973"/>
                  </a:lnTo>
                  <a:lnTo>
                    <a:pt x="85391" y="2128027"/>
                  </a:lnTo>
                  <a:lnTo>
                    <a:pt x="49059" y="2132105"/>
                  </a:lnTo>
                  <a:lnTo>
                    <a:pt x="4571" y="2133600"/>
                  </a:lnTo>
                </a:path>
                <a:path w="233679" h="3365500">
                  <a:moveTo>
                    <a:pt x="0" y="2209800"/>
                  </a:moveTo>
                  <a:lnTo>
                    <a:pt x="44487" y="2211294"/>
                  </a:lnTo>
                  <a:lnTo>
                    <a:pt x="80819" y="2215372"/>
                  </a:lnTo>
                  <a:lnTo>
                    <a:pt x="105316" y="2221426"/>
                  </a:lnTo>
                  <a:lnTo>
                    <a:pt x="114300" y="2228850"/>
                  </a:lnTo>
                  <a:lnTo>
                    <a:pt x="114300" y="2571750"/>
                  </a:lnTo>
                  <a:lnTo>
                    <a:pt x="123283" y="2579162"/>
                  </a:lnTo>
                  <a:lnTo>
                    <a:pt x="147780" y="2585218"/>
                  </a:lnTo>
                  <a:lnTo>
                    <a:pt x="184112" y="2589302"/>
                  </a:lnTo>
                  <a:lnTo>
                    <a:pt x="228600" y="2590800"/>
                  </a:lnTo>
                  <a:lnTo>
                    <a:pt x="184112" y="2592297"/>
                  </a:lnTo>
                  <a:lnTo>
                    <a:pt x="147780" y="2596381"/>
                  </a:lnTo>
                  <a:lnTo>
                    <a:pt x="123283" y="2602437"/>
                  </a:lnTo>
                  <a:lnTo>
                    <a:pt x="114300" y="2609850"/>
                  </a:lnTo>
                  <a:lnTo>
                    <a:pt x="114300" y="2952750"/>
                  </a:lnTo>
                  <a:lnTo>
                    <a:pt x="105316" y="2960162"/>
                  </a:lnTo>
                  <a:lnTo>
                    <a:pt x="80819" y="2966218"/>
                  </a:lnTo>
                  <a:lnTo>
                    <a:pt x="44487" y="2970302"/>
                  </a:lnTo>
                  <a:lnTo>
                    <a:pt x="0" y="2971800"/>
                  </a:lnTo>
                </a:path>
              </a:pathLst>
            </a:custGeom>
            <a:ln w="381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432050" y="2889250"/>
          <a:ext cx="4460239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Brand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SUM(qty)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Mercedes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BMW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VW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450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1000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Mercedes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…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2016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400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Mercedes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BMW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350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VW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650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1400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9" name="object 19"/>
          <p:cNvGrpSpPr/>
          <p:nvPr/>
        </p:nvGrpSpPr>
        <p:grpSpPr>
          <a:xfrm>
            <a:off x="6812280" y="4076700"/>
            <a:ext cx="337185" cy="2574290"/>
            <a:chOff x="6812280" y="4076700"/>
            <a:chExt cx="337185" cy="25742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2" y="4076700"/>
              <a:ext cx="332231" cy="42824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16852" y="4457700"/>
              <a:ext cx="332231" cy="5806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6852" y="4991100"/>
              <a:ext cx="332231" cy="42824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2280" y="6222492"/>
              <a:ext cx="332231" cy="4282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12280" y="5372100"/>
              <a:ext cx="332231" cy="885444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162545" y="3447669"/>
            <a:ext cx="1208405" cy="3131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Calibri"/>
                <a:cs typeface="Calibri"/>
              </a:rPr>
              <a:t>(year, </a:t>
            </a:r>
            <a:r>
              <a:rPr sz="1800" spc="-10" dirty="0">
                <a:latin typeface="Calibri"/>
                <a:cs typeface="Calibri"/>
              </a:rPr>
              <a:t>brand)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(year)</a:t>
            </a:r>
            <a:endParaRPr sz="1800">
              <a:latin typeface="Calibri"/>
              <a:cs typeface="Calibri"/>
            </a:endParaRPr>
          </a:p>
          <a:p>
            <a:pPr marL="16510" marR="5080">
              <a:lnSpc>
                <a:spcPct val="166700"/>
              </a:lnSpc>
            </a:pPr>
            <a:r>
              <a:rPr sz="1800" spc="-35" dirty="0">
                <a:latin typeface="Calibri"/>
                <a:cs typeface="Calibri"/>
              </a:rPr>
              <a:t>(year, </a:t>
            </a:r>
            <a:r>
              <a:rPr sz="1800" spc="-10" dirty="0">
                <a:latin typeface="Calibri"/>
                <a:cs typeface="Calibri"/>
              </a:rPr>
              <a:t>brand)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(year)</a:t>
            </a:r>
            <a:endParaRPr sz="1800">
              <a:latin typeface="Calibri"/>
              <a:cs typeface="Calibri"/>
            </a:endParaRPr>
          </a:p>
          <a:p>
            <a:pPr marL="12700" marR="500380" indent="3810">
              <a:lnSpc>
                <a:spcPct val="226600"/>
              </a:lnSpc>
              <a:spcBef>
                <a:spcPts val="509"/>
              </a:spcBef>
            </a:pPr>
            <a:r>
              <a:rPr sz="1800" spc="-10" dirty="0">
                <a:latin typeface="Calibri"/>
                <a:cs typeface="Calibri"/>
              </a:rPr>
              <a:t>(</a:t>
            </a:r>
            <a:r>
              <a:rPr sz="1800" spc="-5" dirty="0">
                <a:latin typeface="Calibri"/>
                <a:cs typeface="Calibri"/>
              </a:rPr>
              <a:t>b</a:t>
            </a:r>
            <a:r>
              <a:rPr sz="1800" spc="-40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5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)  </a:t>
            </a:r>
            <a:r>
              <a:rPr sz="1800" spc="-5" dirty="0">
                <a:latin typeface="Calibri"/>
                <a:cs typeface="Calibri"/>
              </a:rPr>
              <a:t>(ALL)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C3DA7-CB5A-8624-BC04-C363017C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8DBED-BCAC-0036-AECC-463324370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8DA61-00ED-63B2-E995-D897D07025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167" t="17391" r="24167" b="9980"/>
          <a:stretch/>
        </p:blipFill>
        <p:spPr>
          <a:xfrm>
            <a:off x="35168" y="979328"/>
            <a:ext cx="8956432" cy="568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714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5828" y="914400"/>
            <a:ext cx="1789379" cy="20637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3014" y="1273548"/>
            <a:ext cx="8420735" cy="43082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545" dirty="0">
                <a:latin typeface="Trebuchet MS"/>
                <a:cs typeface="Trebuchet MS"/>
              </a:rPr>
              <a:t>MDX</a:t>
            </a:r>
            <a:r>
              <a:rPr sz="3200" b="1" spc="-80" dirty="0">
                <a:latin typeface="Trebuchet MS"/>
                <a:cs typeface="Trebuchet MS"/>
              </a:rPr>
              <a:t> </a:t>
            </a:r>
            <a:r>
              <a:rPr sz="3200" spc="-145" dirty="0">
                <a:latin typeface="Trebuchet MS"/>
                <a:cs typeface="Trebuchet MS"/>
              </a:rPr>
              <a:t>(</a:t>
            </a:r>
            <a:r>
              <a:rPr sz="3200" spc="-125" dirty="0">
                <a:latin typeface="Trebuchet MS"/>
                <a:cs typeface="Trebuchet MS"/>
              </a:rPr>
              <a:t>Mult</a:t>
            </a:r>
            <a:r>
              <a:rPr sz="3200" spc="-65" dirty="0">
                <a:latin typeface="Trebuchet MS"/>
                <a:cs typeface="Trebuchet MS"/>
              </a:rPr>
              <a:t>i</a:t>
            </a:r>
            <a:r>
              <a:rPr sz="3200" spc="-100" dirty="0">
                <a:latin typeface="Trebuchet MS"/>
                <a:cs typeface="Trebuchet MS"/>
              </a:rPr>
              <a:t>Dimension</a:t>
            </a:r>
            <a:r>
              <a:rPr sz="3200" spc="-120" dirty="0">
                <a:latin typeface="Trebuchet MS"/>
                <a:cs typeface="Trebuchet MS"/>
              </a:rPr>
              <a:t>a</a:t>
            </a:r>
            <a:r>
              <a:rPr sz="3200" spc="-245" dirty="0">
                <a:latin typeface="Trebuchet MS"/>
                <a:cs typeface="Trebuchet MS"/>
              </a:rPr>
              <a:t>l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eXp</a:t>
            </a:r>
            <a:r>
              <a:rPr sz="3200" spc="-35" dirty="0">
                <a:latin typeface="Trebuchet MS"/>
                <a:cs typeface="Trebuchet MS"/>
              </a:rPr>
              <a:t>r</a:t>
            </a:r>
            <a:r>
              <a:rPr sz="3200" spc="-155" dirty="0">
                <a:latin typeface="Trebuchet MS"/>
                <a:cs typeface="Trebuchet MS"/>
              </a:rPr>
              <a:t>ess</a:t>
            </a:r>
            <a:r>
              <a:rPr sz="3200" spc="-90" dirty="0">
                <a:latin typeface="Trebuchet MS"/>
                <a:cs typeface="Trebuchet MS"/>
              </a:rPr>
              <a:t>i</a:t>
            </a:r>
            <a:r>
              <a:rPr sz="3200" spc="-60" dirty="0">
                <a:latin typeface="Trebuchet MS"/>
                <a:cs typeface="Trebuchet MS"/>
              </a:rPr>
              <a:t>on</a:t>
            </a:r>
            <a:r>
              <a:rPr sz="3200" spc="-35" dirty="0">
                <a:latin typeface="Trebuchet MS"/>
                <a:cs typeface="Trebuchet MS"/>
              </a:rPr>
              <a:t>s</a:t>
            </a:r>
            <a:r>
              <a:rPr sz="3200" spc="-140" dirty="0">
                <a:latin typeface="Trebuchet MS"/>
                <a:cs typeface="Trebuchet MS"/>
              </a:rPr>
              <a:t>)</a:t>
            </a:r>
            <a:endParaRPr sz="32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10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5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el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35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5" dirty="0">
                <a:solidFill>
                  <a:srgbClr val="1F487C"/>
                </a:solidFill>
                <a:latin typeface="Trebuchet MS"/>
                <a:cs typeface="Trebuchet MS"/>
              </a:rPr>
              <a:t>Mic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os</a:t>
            </a:r>
            <a:r>
              <a:rPr sz="2800" spc="1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260" dirty="0">
                <a:solidFill>
                  <a:srgbClr val="1F487C"/>
                </a:solidFill>
                <a:latin typeface="Trebuchet MS"/>
                <a:cs typeface="Trebuchet MS"/>
              </a:rPr>
              <a:t>ft</a:t>
            </a:r>
            <a:endParaRPr sz="28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204" dirty="0">
                <a:solidFill>
                  <a:srgbClr val="4F81BC"/>
                </a:solidFill>
                <a:latin typeface="Trebuchet MS"/>
                <a:cs typeface="Trebuchet MS"/>
              </a:rPr>
              <a:t>N</a:t>
            </a:r>
            <a:r>
              <a:rPr sz="2400" spc="160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210" dirty="0">
                <a:solidFill>
                  <a:srgbClr val="4F81BC"/>
                </a:solidFill>
                <a:latin typeface="Trebuchet MS"/>
                <a:cs typeface="Trebuchet MS"/>
              </a:rPr>
              <a:t>eal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l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brilliant</a:t>
            </a:r>
            <a:endParaRPr sz="2400" dirty="0">
              <a:latin typeface="Trebuchet MS"/>
              <a:cs typeface="Trebuchet MS"/>
            </a:endParaRPr>
          </a:p>
          <a:p>
            <a:pPr marL="1155700" marR="135255" lvl="2" indent="-22923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But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adopted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by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major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4F81BC"/>
                </a:solidFill>
                <a:latin typeface="Trebuchet MS"/>
                <a:cs typeface="Trebuchet MS"/>
              </a:rPr>
              <a:t>OLAP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providers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due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 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Microsoft's </a:t>
            </a:r>
            <a:r>
              <a:rPr sz="2400" spc="-70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235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2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00" dirty="0">
                <a:solidFill>
                  <a:srgbClr val="4F81BC"/>
                </a:solidFill>
                <a:latin typeface="Trebuchet MS"/>
                <a:cs typeface="Trebuchet MS"/>
              </a:rPr>
              <a:t>k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et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leade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posit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ion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Used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in</a:t>
            </a:r>
            <a:endParaRPr sz="28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70" dirty="0">
                <a:solidFill>
                  <a:srgbClr val="4F81BC"/>
                </a:solidFill>
                <a:latin typeface="Trebuchet MS"/>
                <a:cs typeface="Trebuchet MS"/>
              </a:rPr>
              <a:t>OLE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160" dirty="0">
                <a:solidFill>
                  <a:srgbClr val="4F81BC"/>
                </a:solidFill>
                <a:latin typeface="Trebuchet MS"/>
                <a:cs typeface="Trebuchet MS"/>
              </a:rPr>
              <a:t>DB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for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90" dirty="0">
                <a:solidFill>
                  <a:srgbClr val="4F81BC"/>
                </a:solidFill>
                <a:latin typeface="Trebuchet MS"/>
                <a:cs typeface="Trebuchet MS"/>
              </a:rPr>
              <a:t>OLAP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135" dirty="0">
                <a:solidFill>
                  <a:srgbClr val="4F81BC"/>
                </a:solidFill>
                <a:latin typeface="Trebuchet MS"/>
                <a:cs typeface="Trebuchet MS"/>
              </a:rPr>
              <a:t>(ODBO)</a:t>
            </a:r>
            <a:r>
              <a:rPr sz="2400" spc="-8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with</a:t>
            </a:r>
            <a:r>
              <a:rPr sz="2400" spc="-30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4F81BC"/>
                </a:solidFill>
                <a:latin typeface="Trebuchet MS"/>
                <a:cs typeface="Trebuchet MS"/>
              </a:rPr>
              <a:t>API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support</a:t>
            </a:r>
            <a:endParaRPr sz="2400" dirty="0">
              <a:latin typeface="Trebuchet MS"/>
              <a:cs typeface="Trebuchet MS"/>
            </a:endParaRPr>
          </a:p>
          <a:p>
            <a:pPr marL="756285" marR="218440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For </a:t>
            </a:r>
            <a:r>
              <a:rPr sz="2800" spc="60" dirty="0">
                <a:solidFill>
                  <a:srgbClr val="1F487C"/>
                </a:solidFill>
                <a:latin typeface="Trebuchet MS"/>
                <a:cs typeface="Trebuchet MS"/>
              </a:rPr>
              <a:t>ROLAP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support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45" dirty="0">
                <a:solidFill>
                  <a:srgbClr val="1F487C"/>
                </a:solidFill>
                <a:latin typeface="Trebuchet MS"/>
                <a:cs typeface="Trebuchet MS"/>
              </a:rPr>
              <a:t>MDX,</a:t>
            </a:r>
            <a:r>
              <a:rPr sz="2800" spc="-3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it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5" dirty="0">
                <a:solidFill>
                  <a:srgbClr val="1F487C"/>
                </a:solidFill>
                <a:latin typeface="Trebuchet MS"/>
                <a:cs typeface="Trebuchet MS"/>
              </a:rPr>
              <a:t>is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usually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translated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into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endParaRPr sz="2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503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214" y="2931922"/>
            <a:ext cx="14706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2800" spc="-15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SELECT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50214" y="3361713"/>
            <a:ext cx="6022340" cy="29749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985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Dimensions,</a:t>
            </a:r>
            <a:r>
              <a:rPr sz="2400" spc="-2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20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n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c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olumns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55" dirty="0">
                <a:solidFill>
                  <a:srgbClr val="4F81BC"/>
                </a:solidFill>
                <a:latin typeface="Trebuchet MS"/>
                <a:cs typeface="Trebuchet MS"/>
              </a:rPr>
              <a:t>and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5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ws</a:t>
            </a:r>
            <a:endParaRPr sz="240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80" dirty="0">
                <a:solidFill>
                  <a:srgbClr val="1F487C"/>
                </a:solidFill>
                <a:latin typeface="Trebuchet MS"/>
                <a:cs typeface="Trebuchet MS"/>
              </a:rPr>
              <a:t>FROM</a:t>
            </a:r>
            <a:endParaRPr sz="28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Data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30" dirty="0">
                <a:solidFill>
                  <a:srgbClr val="4F81BC"/>
                </a:solidFill>
                <a:latin typeface="Trebuchet MS"/>
                <a:cs typeface="Trebuchet MS"/>
              </a:rPr>
              <a:t>sou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ce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cube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spe</a:t>
            </a: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c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ifi</a:t>
            </a:r>
            <a:r>
              <a:rPr sz="2400" spc="-254" dirty="0">
                <a:solidFill>
                  <a:srgbClr val="4F81BC"/>
                </a:solidFill>
                <a:latin typeface="Trebuchet MS"/>
                <a:cs typeface="Trebuchet MS"/>
              </a:rPr>
              <a:t>c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ation</a:t>
            </a:r>
            <a:endParaRPr sz="24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80" dirty="0">
                <a:solidFill>
                  <a:srgbClr val="4F81BC"/>
                </a:solidFill>
                <a:latin typeface="Trebuchet MS"/>
                <a:cs typeface="Trebuchet MS"/>
              </a:rPr>
              <a:t>If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85" dirty="0">
                <a:solidFill>
                  <a:srgbClr val="4F81BC"/>
                </a:solidFill>
                <a:latin typeface="Trebuchet MS"/>
                <a:cs typeface="Trebuchet MS"/>
              </a:rPr>
              <a:t>joined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,</a:t>
            </a:r>
            <a:r>
              <a:rPr sz="2400" spc="-29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d</a:t>
            </a:r>
            <a:r>
              <a:rPr sz="2400" spc="-210" dirty="0">
                <a:solidFill>
                  <a:srgbClr val="4F81BC"/>
                </a:solidFill>
                <a:latin typeface="Trebuchet MS"/>
                <a:cs typeface="Trebuchet MS"/>
              </a:rPr>
              <a:t>ata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cubes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75" dirty="0">
                <a:solidFill>
                  <a:srgbClr val="4F81BC"/>
                </a:solidFill>
                <a:latin typeface="Trebuchet MS"/>
                <a:cs typeface="Trebuchet MS"/>
              </a:rPr>
              <a:t>m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ust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0" dirty="0">
                <a:solidFill>
                  <a:srgbClr val="4F81BC"/>
                </a:solidFill>
                <a:latin typeface="Trebuchet MS"/>
                <a:cs typeface="Trebuchet MS"/>
              </a:rPr>
              <a:t>sha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6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dimensions</a:t>
            </a:r>
            <a:endParaRPr sz="2400">
              <a:latin typeface="Trebuchet MS"/>
              <a:cs typeface="Trebuchet MS"/>
            </a:endParaRPr>
          </a:p>
          <a:p>
            <a:pPr marL="299085" indent="-287020">
              <a:lnSpc>
                <a:spcPct val="100000"/>
              </a:lnSpc>
              <a:spcBef>
                <a:spcPts val="320"/>
              </a:spcBef>
              <a:buFont typeface="Arial MT"/>
              <a:buChar char="–"/>
              <a:tabLst>
                <a:tab pos="299720" algn="l"/>
              </a:tabLst>
            </a:pPr>
            <a:r>
              <a:rPr sz="2800" spc="114" dirty="0">
                <a:solidFill>
                  <a:srgbClr val="1F487C"/>
                </a:solidFill>
                <a:latin typeface="Trebuchet MS"/>
                <a:cs typeface="Trebuchet MS"/>
              </a:rPr>
              <a:t>WHERE</a:t>
            </a:r>
            <a:endParaRPr sz="28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b="1" dirty="0">
                <a:solidFill>
                  <a:srgbClr val="4F81BC"/>
                </a:solidFill>
                <a:latin typeface="Trebuchet MS"/>
                <a:cs typeface="Trebuchet MS"/>
              </a:rPr>
              <a:t>Slic</a:t>
            </a:r>
            <a:r>
              <a:rPr sz="2400" b="1" spc="-1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b="1" spc="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b="1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-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est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ric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s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5" dirty="0">
                <a:solidFill>
                  <a:srgbClr val="4F81BC"/>
                </a:solidFill>
                <a:latin typeface="Trebuchet MS"/>
                <a:cs typeface="Trebuchet MS"/>
              </a:rPr>
              <a:t>d</a:t>
            </a:r>
            <a:r>
              <a:rPr sz="2400" spc="-210" dirty="0">
                <a:solidFill>
                  <a:srgbClr val="4F81BC"/>
                </a:solidFill>
                <a:latin typeface="Trebuchet MS"/>
                <a:cs typeface="Trebuchet MS"/>
              </a:rPr>
              <a:t>ata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200" dirty="0">
                <a:solidFill>
                  <a:srgbClr val="4F81BC"/>
                </a:solidFill>
                <a:latin typeface="Trebuchet MS"/>
                <a:cs typeface="Trebuchet MS"/>
              </a:rPr>
              <a:t>ea</a:t>
            </a:r>
            <a:endParaRPr sz="24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9135" algn="l"/>
              </a:tabLst>
            </a:pP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Spe</a:t>
            </a:r>
            <a:r>
              <a:rPr sz="2400" spc="-200" dirty="0">
                <a:solidFill>
                  <a:srgbClr val="4F81BC"/>
                </a:solidFill>
                <a:latin typeface="Trebuchet MS"/>
                <a:cs typeface="Trebuchet MS"/>
              </a:rPr>
              <a:t>cif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i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es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the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20" dirty="0">
                <a:solidFill>
                  <a:srgbClr val="4F81BC"/>
                </a:solidFill>
                <a:latin typeface="Trebuchet MS"/>
                <a:cs typeface="Trebuchet MS"/>
              </a:rPr>
              <a:t>measu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es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to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etu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014" y="1325371"/>
            <a:ext cx="7484109" cy="1541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95" dirty="0">
                <a:latin typeface="Trebuchet MS"/>
                <a:cs typeface="Trebuchet MS"/>
              </a:rPr>
              <a:t>Sim</a:t>
            </a:r>
            <a:r>
              <a:rPr sz="3200" spc="-95" dirty="0">
                <a:latin typeface="Trebuchet MS"/>
                <a:cs typeface="Trebuchet MS"/>
              </a:rPr>
              <a:t>i</a:t>
            </a:r>
            <a:r>
              <a:rPr sz="3200" spc="-185" dirty="0">
                <a:latin typeface="Trebuchet MS"/>
                <a:cs typeface="Trebuchet MS"/>
              </a:rPr>
              <a:t>la</a:t>
            </a:r>
            <a:r>
              <a:rPr sz="3200" spc="-175" dirty="0">
                <a:latin typeface="Trebuchet MS"/>
                <a:cs typeface="Trebuchet MS"/>
              </a:rPr>
              <a:t>r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t</a:t>
            </a:r>
            <a:r>
              <a:rPr sz="3200" spc="-90" dirty="0">
                <a:latin typeface="Trebuchet MS"/>
                <a:cs typeface="Trebuchet MS"/>
              </a:rPr>
              <a:t>o </a:t>
            </a:r>
            <a:r>
              <a:rPr sz="3200" b="1" spc="345" dirty="0">
                <a:latin typeface="Trebuchet MS"/>
                <a:cs typeface="Trebuchet MS"/>
              </a:rPr>
              <a:t>SQL</a:t>
            </a:r>
            <a:r>
              <a:rPr sz="3200" b="1" spc="-75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sy</a:t>
            </a:r>
            <a:r>
              <a:rPr sz="3200" b="1" spc="-40" dirty="0">
                <a:latin typeface="Trebuchet MS"/>
                <a:cs typeface="Trebuchet MS"/>
              </a:rPr>
              <a:t>n</a:t>
            </a:r>
            <a:r>
              <a:rPr sz="3200" b="1" spc="5" dirty="0">
                <a:latin typeface="Trebuchet MS"/>
                <a:cs typeface="Trebuchet MS"/>
              </a:rPr>
              <a:t>tax</a:t>
            </a:r>
            <a:endParaRPr sz="3200">
              <a:latin typeface="Trebuchet MS"/>
              <a:cs typeface="Trebuchet MS"/>
            </a:endParaRPr>
          </a:p>
          <a:p>
            <a:pPr marL="1174115">
              <a:lnSpc>
                <a:spcPct val="100000"/>
              </a:lnSpc>
              <a:spcBef>
                <a:spcPts val="1610"/>
              </a:spcBef>
            </a:pPr>
            <a:r>
              <a:rPr sz="1800" spc="-10" dirty="0">
                <a:latin typeface="Calibri"/>
                <a:cs typeface="Calibri"/>
              </a:rPr>
              <a:t>SELECT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{Germany,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Niedersachsen,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Bayern,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Frankfurt}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 </a:t>
            </a:r>
            <a:r>
              <a:rPr sz="1800" spc="-10" dirty="0">
                <a:latin typeface="Calibri"/>
                <a:cs typeface="Calibri"/>
              </a:rPr>
              <a:t>COLUMNS,</a:t>
            </a:r>
            <a:endParaRPr sz="1800">
              <a:latin typeface="Calibri"/>
              <a:cs typeface="Calibri"/>
            </a:endParaRPr>
          </a:p>
          <a:p>
            <a:pPr marL="2088514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{Qtr1.CHILDREN,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Qtr2, Qtr3}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  <a:p>
            <a:pPr marL="2088514">
              <a:lnSpc>
                <a:spcPct val="100000"/>
              </a:lnSpc>
            </a:pPr>
            <a:r>
              <a:rPr sz="1800" spc="-10" dirty="0">
                <a:latin typeface="Calibri"/>
                <a:cs typeface="Calibri"/>
              </a:rPr>
              <a:t>FROM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SalesCube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90" dirty="0"/>
              <a:t> </a:t>
            </a:r>
            <a:r>
              <a:rPr spc="40" dirty="0"/>
              <a:t>Basics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369311" y="2841193"/>
            <a:ext cx="5864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WHERE</a:t>
            </a:r>
            <a:r>
              <a:rPr sz="1800" spc="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(Measures.Sales,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Time.[2015],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Products.[All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Products]);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01953"/>
            <a:ext cx="8533130" cy="45967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1221105" indent="-342900">
              <a:lnSpc>
                <a:spcPts val="24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50" dirty="0">
                <a:latin typeface="Trebuchet MS"/>
                <a:cs typeface="Trebuchet MS"/>
              </a:rPr>
              <a:t>Lists</a:t>
            </a:r>
            <a:r>
              <a:rPr sz="2500" spc="-130" dirty="0">
                <a:latin typeface="Trebuchet MS"/>
                <a:cs typeface="Trebuchet MS"/>
              </a:rPr>
              <a:t>:</a:t>
            </a:r>
            <a:r>
              <a:rPr sz="2500" spc="-300" dirty="0">
                <a:latin typeface="Trebuchet MS"/>
                <a:cs typeface="Trebuchet MS"/>
              </a:rPr>
              <a:t> </a:t>
            </a:r>
            <a:r>
              <a:rPr sz="2500" spc="-105" dirty="0">
                <a:latin typeface="Trebuchet MS"/>
                <a:cs typeface="Trebuchet MS"/>
              </a:rPr>
              <a:t>E</a:t>
            </a:r>
            <a:r>
              <a:rPr sz="2500" spc="-135" dirty="0">
                <a:latin typeface="Trebuchet MS"/>
                <a:cs typeface="Trebuchet MS"/>
              </a:rPr>
              <a:t>n</a:t>
            </a:r>
            <a:r>
              <a:rPr sz="2500" spc="-145" dirty="0">
                <a:latin typeface="Trebuchet MS"/>
                <a:cs typeface="Trebuchet MS"/>
              </a:rPr>
              <a:t>umera</a:t>
            </a:r>
            <a:r>
              <a:rPr sz="2500" spc="-114" dirty="0">
                <a:latin typeface="Trebuchet MS"/>
                <a:cs typeface="Trebuchet MS"/>
              </a:rPr>
              <a:t>t</a:t>
            </a:r>
            <a:r>
              <a:rPr sz="2500" spc="-50" dirty="0">
                <a:latin typeface="Trebuchet MS"/>
                <a:cs typeface="Trebuchet MS"/>
              </a:rPr>
              <a:t>i</a:t>
            </a:r>
            <a:r>
              <a:rPr sz="2500" spc="-85" dirty="0">
                <a:latin typeface="Trebuchet MS"/>
                <a:cs typeface="Trebuchet MS"/>
              </a:rPr>
              <a:t>o</a:t>
            </a:r>
            <a:r>
              <a:rPr sz="2500" spc="-120" dirty="0">
                <a:latin typeface="Trebuchet MS"/>
                <a:cs typeface="Trebuchet MS"/>
              </a:rPr>
              <a:t>n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of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235" dirty="0">
                <a:latin typeface="Trebuchet MS"/>
                <a:cs typeface="Trebuchet MS"/>
              </a:rPr>
              <a:t>e</a:t>
            </a:r>
            <a:r>
              <a:rPr sz="2500" spc="-120" dirty="0">
                <a:latin typeface="Trebuchet MS"/>
                <a:cs typeface="Trebuchet MS"/>
              </a:rPr>
              <a:t>l</a:t>
            </a:r>
            <a:r>
              <a:rPr sz="2500" spc="-150" dirty="0">
                <a:latin typeface="Trebuchet MS"/>
                <a:cs typeface="Trebuchet MS"/>
              </a:rPr>
              <a:t>ementa</a:t>
            </a:r>
            <a:r>
              <a:rPr sz="2500" spc="-45" dirty="0">
                <a:latin typeface="Trebuchet MS"/>
                <a:cs typeface="Trebuchet MS"/>
              </a:rPr>
              <a:t>r</a:t>
            </a:r>
            <a:r>
              <a:rPr sz="2500" spc="-140" dirty="0">
                <a:latin typeface="Trebuchet MS"/>
                <a:cs typeface="Trebuchet MS"/>
              </a:rPr>
              <a:t>y</a:t>
            </a:r>
            <a:r>
              <a:rPr sz="2500" spc="-40" dirty="0">
                <a:latin typeface="Trebuchet MS"/>
                <a:cs typeface="Trebuchet MS"/>
              </a:rPr>
              <a:t> </a:t>
            </a:r>
            <a:r>
              <a:rPr sz="2500" spc="-85" dirty="0">
                <a:latin typeface="Trebuchet MS"/>
                <a:cs typeface="Trebuchet MS"/>
              </a:rPr>
              <a:t>nodes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40" dirty="0">
                <a:latin typeface="Trebuchet MS"/>
                <a:cs typeface="Trebuchet MS"/>
              </a:rPr>
              <a:t>f</a:t>
            </a:r>
            <a:r>
              <a:rPr sz="2500" spc="-210" dirty="0">
                <a:latin typeface="Trebuchet MS"/>
                <a:cs typeface="Trebuchet MS"/>
              </a:rPr>
              <a:t>r</a:t>
            </a:r>
            <a:r>
              <a:rPr sz="2500" spc="-60" dirty="0">
                <a:latin typeface="Trebuchet MS"/>
                <a:cs typeface="Trebuchet MS"/>
              </a:rPr>
              <a:t>om </a:t>
            </a:r>
            <a:r>
              <a:rPr sz="2500" spc="-229" dirty="0">
                <a:latin typeface="Trebuchet MS"/>
                <a:cs typeface="Trebuchet MS"/>
              </a:rPr>
              <a:t>dif</a:t>
            </a:r>
            <a:r>
              <a:rPr sz="2500" spc="-235" dirty="0">
                <a:latin typeface="Trebuchet MS"/>
                <a:cs typeface="Trebuchet MS"/>
              </a:rPr>
              <a:t>f</a:t>
            </a:r>
            <a:r>
              <a:rPr sz="2500" spc="-90" dirty="0">
                <a:latin typeface="Trebuchet MS"/>
                <a:cs typeface="Trebuchet MS"/>
              </a:rPr>
              <a:t>e</a:t>
            </a:r>
            <a:r>
              <a:rPr sz="2500" spc="-114" dirty="0">
                <a:latin typeface="Trebuchet MS"/>
                <a:cs typeface="Trebuchet MS"/>
              </a:rPr>
              <a:t>r</a:t>
            </a:r>
            <a:r>
              <a:rPr sz="2500" spc="-125" dirty="0">
                <a:latin typeface="Trebuchet MS"/>
                <a:cs typeface="Trebuchet MS"/>
              </a:rPr>
              <a:t>ent  </a:t>
            </a:r>
            <a:r>
              <a:rPr sz="2500" spc="-155" dirty="0">
                <a:latin typeface="Trebuchet MS"/>
                <a:cs typeface="Trebuchet MS"/>
              </a:rPr>
              <a:t>class</a:t>
            </a:r>
            <a:r>
              <a:rPr sz="2500" spc="-100" dirty="0">
                <a:latin typeface="Trebuchet MS"/>
                <a:cs typeface="Trebuchet MS"/>
              </a:rPr>
              <a:t>i</a:t>
            </a:r>
            <a:r>
              <a:rPr sz="2500" spc="-210" dirty="0">
                <a:latin typeface="Trebuchet MS"/>
                <a:cs typeface="Trebuchet MS"/>
              </a:rPr>
              <a:t>ficat</a:t>
            </a:r>
            <a:r>
              <a:rPr sz="2500" spc="-140" dirty="0">
                <a:latin typeface="Trebuchet MS"/>
                <a:cs typeface="Trebuchet MS"/>
              </a:rPr>
              <a:t>i</a:t>
            </a:r>
            <a:r>
              <a:rPr sz="2500" spc="-45" dirty="0">
                <a:latin typeface="Trebuchet MS"/>
                <a:cs typeface="Trebuchet MS"/>
              </a:rPr>
              <a:t>on </a:t>
            </a:r>
            <a:r>
              <a:rPr sz="2500" spc="-135" dirty="0">
                <a:latin typeface="Trebuchet MS"/>
                <a:cs typeface="Trebuchet MS"/>
              </a:rPr>
              <a:t>l</a:t>
            </a:r>
            <a:r>
              <a:rPr sz="2500" spc="-265" dirty="0">
                <a:latin typeface="Trebuchet MS"/>
                <a:cs typeface="Trebuchet MS"/>
              </a:rPr>
              <a:t>e</a:t>
            </a:r>
            <a:r>
              <a:rPr sz="2500" spc="-185" dirty="0">
                <a:latin typeface="Trebuchet MS"/>
                <a:cs typeface="Trebuchet MS"/>
              </a:rPr>
              <a:t>v</a:t>
            </a:r>
            <a:r>
              <a:rPr sz="2500" spc="-235" dirty="0">
                <a:latin typeface="Trebuchet MS"/>
                <a:cs typeface="Trebuchet MS"/>
              </a:rPr>
              <a:t>e</a:t>
            </a:r>
            <a:r>
              <a:rPr sz="2500" spc="-125" dirty="0">
                <a:latin typeface="Trebuchet MS"/>
                <a:cs typeface="Trebuchet MS"/>
              </a:rPr>
              <a:t>l</a:t>
            </a:r>
            <a:r>
              <a:rPr sz="2500" spc="-55" dirty="0">
                <a:latin typeface="Trebuchet MS"/>
                <a:cs typeface="Trebuchet MS"/>
              </a:rPr>
              <a:t>s</a:t>
            </a:r>
            <a:endParaRPr sz="2500">
              <a:latin typeface="Trebuchet MS"/>
              <a:cs typeface="Trebuchet MS"/>
            </a:endParaRPr>
          </a:p>
          <a:p>
            <a:pPr marL="756285" lvl="1" indent="-287020">
              <a:lnSpc>
                <a:spcPts val="2635"/>
              </a:lnSpc>
              <a:spcBef>
                <a:spcPts val="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229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2200" spc="-2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1F487C"/>
                </a:solidFill>
                <a:latin typeface="Trebuchet MS"/>
                <a:cs typeface="Trebuchet MS"/>
              </a:rPr>
              <a:t>{Germany,</a:t>
            </a:r>
            <a:r>
              <a:rPr sz="2200" spc="-2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00" dirty="0">
                <a:solidFill>
                  <a:srgbClr val="1F487C"/>
                </a:solidFill>
                <a:latin typeface="Trebuchet MS"/>
                <a:cs typeface="Trebuchet MS"/>
              </a:rPr>
              <a:t>Niedersachsen,</a:t>
            </a:r>
            <a:r>
              <a:rPr sz="2200" spc="-2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1F487C"/>
                </a:solidFill>
                <a:latin typeface="Trebuchet MS"/>
                <a:cs typeface="Trebuchet MS"/>
              </a:rPr>
              <a:t>[Frankfurt</a:t>
            </a:r>
            <a:r>
              <a:rPr sz="2200" spc="-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80" dirty="0">
                <a:solidFill>
                  <a:srgbClr val="1F487C"/>
                </a:solidFill>
                <a:latin typeface="Trebuchet MS"/>
                <a:cs typeface="Trebuchet MS"/>
              </a:rPr>
              <a:t>am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1F487C"/>
                </a:solidFill>
                <a:latin typeface="Trebuchet MS"/>
                <a:cs typeface="Trebuchet MS"/>
              </a:rPr>
              <a:t>Main],</a:t>
            </a:r>
            <a:r>
              <a:rPr sz="2200" spc="-2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40" dirty="0">
                <a:solidFill>
                  <a:srgbClr val="1F487C"/>
                </a:solidFill>
                <a:latin typeface="Trebuchet MS"/>
                <a:cs typeface="Trebuchet MS"/>
              </a:rPr>
              <a:t>USA}</a:t>
            </a:r>
            <a:endParaRPr sz="2200">
              <a:latin typeface="Trebuchet MS"/>
              <a:cs typeface="Trebuchet MS"/>
            </a:endParaRPr>
          </a:p>
          <a:p>
            <a:pPr marL="355600" marR="405130" indent="-342900">
              <a:lnSpc>
                <a:spcPts val="24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10" dirty="0">
                <a:latin typeface="Trebuchet MS"/>
                <a:cs typeface="Trebuchet MS"/>
              </a:rPr>
              <a:t>Generated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75" dirty="0">
                <a:latin typeface="Trebuchet MS"/>
                <a:cs typeface="Trebuchet MS"/>
              </a:rPr>
              <a:t>elements:</a:t>
            </a:r>
            <a:r>
              <a:rPr sz="2500" spc="-295" dirty="0">
                <a:latin typeface="Trebuchet MS"/>
                <a:cs typeface="Trebuchet MS"/>
              </a:rPr>
              <a:t> </a:t>
            </a:r>
            <a:r>
              <a:rPr sz="2500" spc="-60" dirty="0">
                <a:latin typeface="Trebuchet MS"/>
                <a:cs typeface="Trebuchet MS"/>
              </a:rPr>
              <a:t>Methods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which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85" dirty="0">
                <a:latin typeface="Trebuchet MS"/>
                <a:cs typeface="Trebuchet MS"/>
              </a:rPr>
              <a:t>lead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65" dirty="0">
                <a:latin typeface="Trebuchet MS"/>
                <a:cs typeface="Trebuchet MS"/>
              </a:rPr>
              <a:t>to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30" dirty="0">
                <a:latin typeface="Trebuchet MS"/>
                <a:cs typeface="Trebuchet MS"/>
              </a:rPr>
              <a:t>new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sets</a:t>
            </a:r>
            <a:r>
              <a:rPr sz="2500" spc="-3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of</a:t>
            </a:r>
            <a:r>
              <a:rPr sz="2500" spc="-55" dirty="0">
                <a:latin typeface="Trebuchet MS"/>
                <a:cs typeface="Trebuchet MS"/>
              </a:rPr>
              <a:t> </a:t>
            </a:r>
            <a:r>
              <a:rPr sz="2500" spc="-150" dirty="0">
                <a:latin typeface="Trebuchet MS"/>
                <a:cs typeface="Trebuchet MS"/>
              </a:rPr>
              <a:t>the </a:t>
            </a:r>
            <a:r>
              <a:rPr sz="2500" spc="-740" dirty="0">
                <a:latin typeface="Trebuchet MS"/>
                <a:cs typeface="Trebuchet MS"/>
              </a:rPr>
              <a:t> </a:t>
            </a:r>
            <a:r>
              <a:rPr sz="2500" spc="-170" dirty="0">
                <a:latin typeface="Trebuchet MS"/>
                <a:cs typeface="Trebuchet MS"/>
              </a:rPr>
              <a:t>classif</a:t>
            </a:r>
            <a:r>
              <a:rPr sz="2500" spc="-120" dirty="0">
                <a:latin typeface="Trebuchet MS"/>
                <a:cs typeface="Trebuchet MS"/>
              </a:rPr>
              <a:t>i</a:t>
            </a:r>
            <a:r>
              <a:rPr sz="2500" spc="-135" dirty="0">
                <a:latin typeface="Trebuchet MS"/>
                <a:cs typeface="Trebuchet MS"/>
              </a:rPr>
              <a:t>cation</a:t>
            </a:r>
            <a:r>
              <a:rPr sz="2500" spc="-50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l</a:t>
            </a:r>
            <a:r>
              <a:rPr sz="2500" spc="-265" dirty="0">
                <a:latin typeface="Trebuchet MS"/>
                <a:cs typeface="Trebuchet MS"/>
              </a:rPr>
              <a:t>e</a:t>
            </a:r>
            <a:r>
              <a:rPr sz="2500" spc="-185" dirty="0">
                <a:latin typeface="Trebuchet MS"/>
                <a:cs typeface="Trebuchet MS"/>
              </a:rPr>
              <a:t>v</a:t>
            </a:r>
            <a:r>
              <a:rPr sz="2500" spc="-235" dirty="0">
                <a:latin typeface="Trebuchet MS"/>
                <a:cs typeface="Trebuchet MS"/>
              </a:rPr>
              <a:t>e</a:t>
            </a:r>
            <a:r>
              <a:rPr sz="2500" spc="-125" dirty="0">
                <a:latin typeface="Trebuchet MS"/>
                <a:cs typeface="Trebuchet MS"/>
              </a:rPr>
              <a:t>l</a:t>
            </a:r>
            <a:r>
              <a:rPr sz="2500" spc="-55" dirty="0">
                <a:latin typeface="Trebuchet MS"/>
                <a:cs typeface="Trebuchet MS"/>
              </a:rPr>
              <a:t>s</a:t>
            </a:r>
            <a:endParaRPr sz="25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35" dirty="0">
                <a:solidFill>
                  <a:srgbClr val="1F487C"/>
                </a:solidFill>
                <a:latin typeface="Trebuchet MS"/>
                <a:cs typeface="Trebuchet MS"/>
              </a:rPr>
              <a:t>Ger</a:t>
            </a:r>
            <a:r>
              <a:rPr sz="2200" spc="-5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200" spc="-16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2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3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200" spc="35" dirty="0">
                <a:solidFill>
                  <a:srgbClr val="1F487C"/>
                </a:solidFill>
                <a:latin typeface="Trebuchet MS"/>
                <a:cs typeface="Trebuchet MS"/>
              </a:rPr>
              <a:t>.CHILD</a:t>
            </a:r>
            <a:r>
              <a:rPr sz="2200" spc="5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spc="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200" spc="-1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1F487C"/>
                </a:solidFill>
                <a:latin typeface="Trebuchet MS"/>
                <a:cs typeface="Trebuchet MS"/>
              </a:rPr>
              <a:t>gen</a:t>
            </a:r>
            <a:r>
              <a:rPr sz="2200" spc="-145" dirty="0">
                <a:solidFill>
                  <a:srgbClr val="1F487C"/>
                </a:solidFill>
                <a:latin typeface="Trebuchet MS"/>
                <a:cs typeface="Trebuchet MS"/>
              </a:rPr>
              <a:t>erates:</a:t>
            </a:r>
            <a:r>
              <a:rPr sz="2200" spc="-2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65" dirty="0">
                <a:solidFill>
                  <a:srgbClr val="1F487C"/>
                </a:solidFill>
                <a:latin typeface="Trebuchet MS"/>
                <a:cs typeface="Trebuchet MS"/>
              </a:rPr>
              <a:t>{Nieders</a:t>
            </a:r>
            <a:r>
              <a:rPr sz="2200" spc="-8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105" dirty="0">
                <a:solidFill>
                  <a:srgbClr val="1F487C"/>
                </a:solidFill>
                <a:latin typeface="Trebuchet MS"/>
                <a:cs typeface="Trebuchet MS"/>
              </a:rPr>
              <a:t>chse</a:t>
            </a:r>
            <a:r>
              <a:rPr sz="22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33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200" spc="-2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200" spc="-20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18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200" spc="-10" dirty="0">
                <a:solidFill>
                  <a:srgbClr val="1F487C"/>
                </a:solidFill>
                <a:latin typeface="Trebuchet MS"/>
                <a:cs typeface="Trebuchet MS"/>
              </a:rPr>
              <a:t>ern,…}</a:t>
            </a:r>
            <a:endParaRPr sz="2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60" dirty="0">
                <a:solidFill>
                  <a:srgbClr val="1F487C"/>
                </a:solidFill>
                <a:latin typeface="Trebuchet MS"/>
                <a:cs typeface="Trebuchet MS"/>
              </a:rPr>
              <a:t>Niedersachsen.PARENT</a:t>
            </a:r>
            <a:r>
              <a:rPr sz="2200" spc="-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generates</a:t>
            </a:r>
            <a:r>
              <a:rPr sz="22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1F487C"/>
                </a:solidFill>
                <a:latin typeface="Trebuchet MS"/>
                <a:cs typeface="Trebuchet MS"/>
              </a:rPr>
              <a:t>Germany</a:t>
            </a:r>
            <a:endParaRPr sz="2200">
              <a:latin typeface="Trebuchet MS"/>
              <a:cs typeface="Trebuchet MS"/>
            </a:endParaRPr>
          </a:p>
          <a:p>
            <a:pPr marL="756285" lvl="1" indent="-287020">
              <a:lnSpc>
                <a:spcPts val="2375"/>
              </a:lnSpc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70" dirty="0">
                <a:solidFill>
                  <a:srgbClr val="1F487C"/>
                </a:solidFill>
                <a:latin typeface="Trebuchet MS"/>
                <a:cs typeface="Trebuchet MS"/>
              </a:rPr>
              <a:t>Time.Quarter.MEMBERS</a:t>
            </a:r>
            <a:r>
              <a:rPr sz="2200" spc="-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generates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90" dirty="0">
                <a:solidFill>
                  <a:srgbClr val="1F487C"/>
                </a:solidFill>
                <a:latin typeface="Trebuchet MS"/>
                <a:cs typeface="Trebuchet MS"/>
              </a:rPr>
              <a:t>all</a:t>
            </a:r>
            <a:r>
              <a:rPr sz="2200" spc="-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elements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endParaRPr sz="2200">
              <a:latin typeface="Trebuchet MS"/>
              <a:cs typeface="Trebuchet MS"/>
            </a:endParaRPr>
          </a:p>
          <a:p>
            <a:pPr marL="756285">
              <a:lnSpc>
                <a:spcPts val="2370"/>
              </a:lnSpc>
            </a:pPr>
            <a:r>
              <a:rPr sz="2200" spc="-140" dirty="0">
                <a:solidFill>
                  <a:srgbClr val="1F487C"/>
                </a:solidFill>
                <a:latin typeface="Trebuchet MS"/>
                <a:cs typeface="Trebuchet MS"/>
              </a:rPr>
              <a:t>classification</a:t>
            </a:r>
            <a:r>
              <a:rPr sz="2200" spc="-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70" dirty="0">
                <a:solidFill>
                  <a:srgbClr val="1F487C"/>
                </a:solidFill>
                <a:latin typeface="Trebuchet MS"/>
                <a:cs typeface="Trebuchet MS"/>
              </a:rPr>
              <a:t>level</a:t>
            </a:r>
            <a:endParaRPr sz="2200">
              <a:latin typeface="Trebuchet MS"/>
              <a:cs typeface="Trebuchet MS"/>
            </a:endParaRPr>
          </a:p>
          <a:p>
            <a:pPr marL="355600" indent="-342900">
              <a:lnSpc>
                <a:spcPts val="299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20" dirty="0">
                <a:latin typeface="Trebuchet MS"/>
                <a:cs typeface="Trebuchet MS"/>
              </a:rPr>
              <a:t>Functi</a:t>
            </a:r>
            <a:r>
              <a:rPr sz="2500" spc="-130" dirty="0">
                <a:latin typeface="Trebuchet MS"/>
                <a:cs typeface="Trebuchet MS"/>
              </a:rPr>
              <a:t>o</a:t>
            </a:r>
            <a:r>
              <a:rPr sz="2500" spc="-190" dirty="0">
                <a:latin typeface="Trebuchet MS"/>
                <a:cs typeface="Trebuchet MS"/>
              </a:rPr>
              <a:t>nal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60" dirty="0">
                <a:latin typeface="Trebuchet MS"/>
                <a:cs typeface="Trebuchet MS"/>
              </a:rPr>
              <a:t>gene</a:t>
            </a:r>
            <a:r>
              <a:rPr sz="2500" spc="-110" dirty="0">
                <a:latin typeface="Trebuchet MS"/>
                <a:cs typeface="Trebuchet MS"/>
              </a:rPr>
              <a:t>ration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45" dirty="0">
                <a:latin typeface="Trebuchet MS"/>
                <a:cs typeface="Trebuchet MS"/>
              </a:rPr>
              <a:t>o</a:t>
            </a:r>
            <a:r>
              <a:rPr sz="2500" spc="-305" dirty="0">
                <a:latin typeface="Trebuchet MS"/>
                <a:cs typeface="Trebuchet MS"/>
              </a:rPr>
              <a:t>f</a:t>
            </a:r>
            <a:r>
              <a:rPr sz="2500" spc="-60" dirty="0">
                <a:latin typeface="Trebuchet MS"/>
                <a:cs typeface="Trebuchet MS"/>
              </a:rPr>
              <a:t> </a:t>
            </a:r>
            <a:r>
              <a:rPr sz="2500" spc="-110" dirty="0">
                <a:latin typeface="Trebuchet MS"/>
                <a:cs typeface="Trebuchet MS"/>
              </a:rPr>
              <a:t>sets</a:t>
            </a:r>
            <a:endParaRPr sz="2500">
              <a:latin typeface="Trebuchet MS"/>
              <a:cs typeface="Trebuchet MS"/>
            </a:endParaRPr>
          </a:p>
          <a:p>
            <a:pPr marL="756285" lvl="1" indent="-287020">
              <a:lnSpc>
                <a:spcPts val="2375"/>
              </a:lnSpc>
              <a:spcBef>
                <a:spcPts val="1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65" dirty="0">
                <a:solidFill>
                  <a:srgbClr val="1F487C"/>
                </a:solidFill>
                <a:latin typeface="Trebuchet MS"/>
                <a:cs typeface="Trebuchet MS"/>
              </a:rPr>
              <a:t>DESCENDENT(USA,</a:t>
            </a:r>
            <a:r>
              <a:rPr sz="2200" spc="-2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1F487C"/>
                </a:solidFill>
                <a:latin typeface="Trebuchet MS"/>
                <a:cs typeface="Trebuchet MS"/>
              </a:rPr>
              <a:t>Cities):</a:t>
            </a:r>
            <a:r>
              <a:rPr sz="2200" spc="-229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1F487C"/>
                </a:solidFill>
                <a:latin typeface="Trebuchet MS"/>
                <a:cs typeface="Trebuchet MS"/>
              </a:rPr>
              <a:t>children</a:t>
            </a:r>
            <a:r>
              <a:rPr sz="2200" spc="-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2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2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05" dirty="0">
                <a:solidFill>
                  <a:srgbClr val="1F487C"/>
                </a:solidFill>
                <a:latin typeface="Trebuchet MS"/>
                <a:cs typeface="Trebuchet MS"/>
              </a:rPr>
              <a:t>provided</a:t>
            </a:r>
            <a:r>
              <a:rPr sz="2200" spc="1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40" dirty="0">
                <a:solidFill>
                  <a:srgbClr val="1F487C"/>
                </a:solidFill>
                <a:latin typeface="Trebuchet MS"/>
                <a:cs typeface="Trebuchet MS"/>
              </a:rPr>
              <a:t>classification</a:t>
            </a:r>
            <a:endParaRPr sz="2200">
              <a:latin typeface="Trebuchet MS"/>
              <a:cs typeface="Trebuchet MS"/>
            </a:endParaRPr>
          </a:p>
          <a:p>
            <a:pPr marL="756285">
              <a:lnSpc>
                <a:spcPts val="2375"/>
              </a:lnSpc>
            </a:pPr>
            <a:r>
              <a:rPr sz="2200" spc="-150" dirty="0">
                <a:solidFill>
                  <a:srgbClr val="1F487C"/>
                </a:solidFill>
                <a:latin typeface="Trebuchet MS"/>
                <a:cs typeface="Trebuchet MS"/>
              </a:rPr>
              <a:t>levels</a:t>
            </a:r>
            <a:endParaRPr sz="2200">
              <a:latin typeface="Trebuchet MS"/>
              <a:cs typeface="Trebuchet MS"/>
            </a:endParaRPr>
          </a:p>
          <a:p>
            <a:pPr marL="756285" marR="5080" lvl="1" indent="-287020">
              <a:lnSpc>
                <a:spcPts val="2110"/>
              </a:lnSpc>
              <a:spcBef>
                <a:spcPts val="5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65" dirty="0">
                <a:solidFill>
                  <a:srgbClr val="1F487C"/>
                </a:solidFill>
                <a:latin typeface="Trebuchet MS"/>
                <a:cs typeface="Trebuchet MS"/>
              </a:rPr>
              <a:t>GENE</a:t>
            </a:r>
            <a:r>
              <a:rPr sz="2200" spc="4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20" dirty="0">
                <a:solidFill>
                  <a:srgbClr val="1F487C"/>
                </a:solidFill>
                <a:latin typeface="Trebuchet MS"/>
                <a:cs typeface="Trebuchet MS"/>
              </a:rPr>
              <a:t>TE</a:t>
            </a:r>
            <a:r>
              <a:rPr sz="22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30" dirty="0">
                <a:solidFill>
                  <a:srgbClr val="1F487C"/>
                </a:solidFill>
                <a:latin typeface="Trebuchet MS"/>
                <a:cs typeface="Trebuchet MS"/>
              </a:rPr>
              <a:t>({US</a:t>
            </a:r>
            <a:r>
              <a:rPr sz="2200" spc="-80" dirty="0">
                <a:solidFill>
                  <a:srgbClr val="1F487C"/>
                </a:solidFill>
                <a:latin typeface="Trebuchet MS"/>
                <a:cs typeface="Trebuchet MS"/>
              </a:rPr>
              <a:t>A,</a:t>
            </a:r>
            <a:r>
              <a:rPr sz="2200" spc="-2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50" dirty="0">
                <a:solidFill>
                  <a:srgbClr val="1F487C"/>
                </a:solidFill>
                <a:latin typeface="Trebuchet MS"/>
                <a:cs typeface="Trebuchet MS"/>
              </a:rPr>
              <a:t>France}</a:t>
            </a:r>
            <a:r>
              <a:rPr sz="2200" spc="-11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200" spc="-2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95" dirty="0">
                <a:solidFill>
                  <a:srgbClr val="1F487C"/>
                </a:solidFill>
                <a:latin typeface="Trebuchet MS"/>
                <a:cs typeface="Trebuchet MS"/>
              </a:rPr>
              <a:t>DES</a:t>
            </a:r>
            <a:r>
              <a:rPr sz="2200" spc="110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200" spc="114" dirty="0">
                <a:solidFill>
                  <a:srgbClr val="1F487C"/>
                </a:solidFill>
                <a:latin typeface="Trebuchet MS"/>
                <a:cs typeface="Trebuchet MS"/>
              </a:rPr>
              <a:t>EN</a:t>
            </a:r>
            <a:r>
              <a:rPr sz="2200" spc="17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200" spc="120" dirty="0">
                <a:solidFill>
                  <a:srgbClr val="1F487C"/>
                </a:solidFill>
                <a:latin typeface="Trebuchet MS"/>
                <a:cs typeface="Trebuchet MS"/>
              </a:rPr>
              <a:t>ANT</a:t>
            </a:r>
            <a:r>
              <a:rPr sz="2200" spc="10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200" spc="-75" dirty="0">
                <a:solidFill>
                  <a:srgbClr val="1F487C"/>
                </a:solidFill>
                <a:latin typeface="Trebuchet MS"/>
                <a:cs typeface="Trebuchet MS"/>
              </a:rPr>
              <a:t>(</a:t>
            </a:r>
            <a:r>
              <a:rPr sz="2200" spc="-65" dirty="0">
                <a:solidFill>
                  <a:srgbClr val="1F487C"/>
                </a:solidFill>
                <a:latin typeface="Trebuchet MS"/>
                <a:cs typeface="Trebuchet MS"/>
              </a:rPr>
              <a:t>Geogr</a:t>
            </a:r>
            <a:r>
              <a:rPr sz="2200" spc="-9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12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200" spc="-175" dirty="0">
                <a:solidFill>
                  <a:srgbClr val="1F487C"/>
                </a:solidFill>
                <a:latin typeface="Trebuchet MS"/>
                <a:cs typeface="Trebuchet MS"/>
              </a:rPr>
              <a:t>h</a:t>
            </a:r>
            <a:r>
              <a:rPr sz="2200" spc="-31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200" spc="-40" dirty="0">
                <a:solidFill>
                  <a:srgbClr val="1F487C"/>
                </a:solidFill>
                <a:latin typeface="Trebuchet MS"/>
                <a:cs typeface="Trebuchet MS"/>
              </a:rPr>
              <a:t>.</a:t>
            </a:r>
            <a:r>
              <a:rPr sz="2200" spc="-55" dirty="0">
                <a:solidFill>
                  <a:srgbClr val="1F487C"/>
                </a:solidFill>
                <a:latin typeface="Trebuchet MS"/>
                <a:cs typeface="Trebuchet MS"/>
              </a:rPr>
              <a:t>C</a:t>
            </a:r>
            <a:r>
              <a:rPr sz="2200" spc="12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200" spc="4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spc="5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spc="10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13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22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200" spc="-290" dirty="0">
                <a:solidFill>
                  <a:srgbClr val="1F487C"/>
                </a:solidFill>
                <a:latin typeface="Trebuchet MS"/>
                <a:cs typeface="Trebuchet MS"/>
              </a:rPr>
              <a:t>,  </a:t>
            </a:r>
            <a:r>
              <a:rPr sz="2200" spc="-65" dirty="0">
                <a:solidFill>
                  <a:srgbClr val="1F487C"/>
                </a:solidFill>
                <a:latin typeface="Trebuchet MS"/>
                <a:cs typeface="Trebuchet MS"/>
              </a:rPr>
              <a:t>Citi</a:t>
            </a:r>
            <a:r>
              <a:rPr sz="2200" spc="-8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80" dirty="0">
                <a:solidFill>
                  <a:srgbClr val="1F487C"/>
                </a:solidFill>
                <a:latin typeface="Trebuchet MS"/>
                <a:cs typeface="Trebuchet MS"/>
              </a:rPr>
              <a:t>s)</a:t>
            </a:r>
            <a:r>
              <a:rPr sz="2200" spc="-220" dirty="0">
                <a:solidFill>
                  <a:srgbClr val="1F487C"/>
                </a:solidFill>
                <a:latin typeface="Trebuchet MS"/>
                <a:cs typeface="Trebuchet MS"/>
              </a:rPr>
              <a:t>)</a:t>
            </a:r>
            <a:r>
              <a:rPr sz="2200" spc="-215" dirty="0">
                <a:solidFill>
                  <a:srgbClr val="1F487C"/>
                </a:solidFill>
                <a:latin typeface="Trebuchet MS"/>
                <a:cs typeface="Trebuchet MS"/>
              </a:rPr>
              <a:t>:</a:t>
            </a:r>
            <a:r>
              <a:rPr sz="2200" spc="-2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14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140" dirty="0">
                <a:solidFill>
                  <a:srgbClr val="1F487C"/>
                </a:solidFill>
                <a:latin typeface="Trebuchet MS"/>
                <a:cs typeface="Trebuchet MS"/>
              </a:rPr>
              <a:t>um</a:t>
            </a:r>
            <a:r>
              <a:rPr sz="2200" spc="-10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9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spc="-13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114" dirty="0">
                <a:solidFill>
                  <a:srgbClr val="1F487C"/>
                </a:solidFill>
                <a:latin typeface="Trebuchet MS"/>
                <a:cs typeface="Trebuchet MS"/>
              </a:rPr>
              <a:t>tes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85" dirty="0">
                <a:solidFill>
                  <a:srgbClr val="1F487C"/>
                </a:solidFill>
                <a:latin typeface="Trebuchet MS"/>
                <a:cs typeface="Trebuchet MS"/>
              </a:rPr>
              <a:t>all</a:t>
            </a:r>
            <a:r>
              <a:rPr sz="2200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th</a:t>
            </a:r>
            <a:r>
              <a:rPr sz="2200" spc="-15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45" dirty="0">
                <a:solidFill>
                  <a:srgbClr val="1F487C"/>
                </a:solidFill>
                <a:latin typeface="Trebuchet MS"/>
                <a:cs typeface="Trebuchet MS"/>
              </a:rPr>
              <a:t>citie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200" spc="-3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200" spc="-16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35" dirty="0">
                <a:solidFill>
                  <a:srgbClr val="1F487C"/>
                </a:solidFill>
                <a:latin typeface="Trebuchet MS"/>
                <a:cs typeface="Trebuchet MS"/>
              </a:rPr>
              <a:t>US</a:t>
            </a:r>
            <a:r>
              <a:rPr sz="2200" spc="165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45" dirty="0">
                <a:solidFill>
                  <a:srgbClr val="1F487C"/>
                </a:solidFill>
                <a:latin typeface="Trebuchet MS"/>
                <a:cs typeface="Trebuchet MS"/>
              </a:rPr>
              <a:t>and</a:t>
            </a:r>
            <a:r>
              <a:rPr sz="22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France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66262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30" dirty="0"/>
              <a:t> </a:t>
            </a:r>
            <a:r>
              <a:rPr spc="50" dirty="0"/>
              <a:t>Basic</a:t>
            </a:r>
            <a:r>
              <a:rPr spc="-125" dirty="0"/>
              <a:t> </a:t>
            </a:r>
            <a:r>
              <a:rPr spc="50" dirty="0"/>
              <a:t>Elements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74139"/>
            <a:ext cx="8496300" cy="2556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60" dirty="0">
                <a:latin typeface="Trebuchet MS"/>
                <a:cs typeface="Trebuchet MS"/>
              </a:rPr>
              <a:t>Sets </a:t>
            </a:r>
            <a:r>
              <a:rPr sz="3200" b="1" spc="-15" dirty="0">
                <a:latin typeface="Trebuchet MS"/>
                <a:cs typeface="Trebuchet MS"/>
              </a:rPr>
              <a:t>nesting </a:t>
            </a:r>
            <a:r>
              <a:rPr sz="3200" spc="-145" dirty="0">
                <a:latin typeface="Trebuchet MS"/>
                <a:cs typeface="Trebuchet MS"/>
              </a:rPr>
              <a:t>combines </a:t>
            </a:r>
            <a:r>
              <a:rPr sz="3200" spc="-195" dirty="0">
                <a:latin typeface="Trebuchet MS"/>
                <a:cs typeface="Trebuchet MS"/>
              </a:rPr>
              <a:t>individual </a:t>
            </a:r>
            <a:r>
              <a:rPr sz="3200" spc="-130" dirty="0">
                <a:latin typeface="Trebuchet MS"/>
                <a:cs typeface="Trebuchet MS"/>
              </a:rPr>
              <a:t>coordinates </a:t>
            </a:r>
            <a:r>
              <a:rPr sz="3200" spc="-85" dirty="0">
                <a:latin typeface="Trebuchet MS"/>
                <a:cs typeface="Trebuchet MS"/>
              </a:rPr>
              <a:t>to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reduce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175" dirty="0">
                <a:latin typeface="Trebuchet MS"/>
                <a:cs typeface="Trebuchet MS"/>
              </a:rPr>
              <a:t>dimensionality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ts val="3260"/>
              </a:lnSpc>
              <a:spcBef>
                <a:spcPts val="440"/>
              </a:spcBef>
            </a:pPr>
            <a:r>
              <a:rPr sz="4200" spc="-7" baseline="-4960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4200" spc="307" baseline="-4960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SELECT</a:t>
            </a:r>
            <a:r>
              <a:rPr sz="18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1F487C"/>
                </a:solidFill>
                <a:latin typeface="Calibri"/>
                <a:cs typeface="Calibri"/>
              </a:rPr>
              <a:t>CROSSJOIN({Germany,</a:t>
            </a:r>
            <a:r>
              <a:rPr sz="18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Sachsen,</a:t>
            </a:r>
            <a:r>
              <a:rPr sz="18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1F487C"/>
                </a:solidFill>
                <a:latin typeface="Calibri"/>
                <a:cs typeface="Calibri"/>
              </a:rPr>
              <a:t>Hannover,</a:t>
            </a:r>
            <a:r>
              <a:rPr sz="18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BS}{Ikea,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[H&amp;M-Möbel]})</a:t>
            </a:r>
            <a:endParaRPr sz="1800">
              <a:latin typeface="Calibri"/>
              <a:cs typeface="Calibri"/>
            </a:endParaRPr>
          </a:p>
          <a:p>
            <a:pPr marL="1755139">
              <a:lnSpc>
                <a:spcPts val="2060"/>
              </a:lnSpc>
            </a:pP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18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COLUMNS,</a:t>
            </a:r>
            <a:endParaRPr sz="1800">
              <a:latin typeface="Calibri"/>
              <a:cs typeface="Calibri"/>
            </a:endParaRPr>
          </a:p>
          <a:p>
            <a:pPr marL="1755139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{Qtr1.CHILDREN,</a:t>
            </a:r>
            <a:r>
              <a:rPr sz="18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Qtr2} ON</a:t>
            </a:r>
            <a:r>
              <a:rPr sz="18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  <a:p>
            <a:pPr marL="1703070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FROM</a:t>
            </a:r>
            <a:r>
              <a:rPr sz="18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salesCube</a:t>
            </a:r>
            <a:endParaRPr sz="1800">
              <a:latin typeface="Calibri"/>
              <a:cs typeface="Calibri"/>
            </a:endParaRPr>
          </a:p>
          <a:p>
            <a:pPr marL="1703070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WHERE</a:t>
            </a:r>
            <a:r>
              <a:rPr sz="1800" spc="2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(Measure.Sales,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Time.[2015],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Products.[All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Products]);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90" dirty="0"/>
              <a:t> </a:t>
            </a:r>
            <a:r>
              <a:rPr spc="40" dirty="0"/>
              <a:t>Basics</a:t>
            </a:r>
          </a:p>
        </p:txBody>
      </p:sp>
      <p:sp>
        <p:nvSpPr>
          <p:cNvPr id="4" name="object 4"/>
          <p:cNvSpPr/>
          <p:nvPr/>
        </p:nvSpPr>
        <p:spPr>
          <a:xfrm>
            <a:off x="5249290" y="4174490"/>
            <a:ext cx="0" cy="2385060"/>
          </a:xfrm>
          <a:custGeom>
            <a:avLst/>
            <a:gdLst/>
            <a:ahLst/>
            <a:cxnLst/>
            <a:rect l="l" t="t" r="r" b="b"/>
            <a:pathLst>
              <a:path h="2385059">
                <a:moveTo>
                  <a:pt x="0" y="0"/>
                </a:moveTo>
                <a:lnTo>
                  <a:pt x="0" y="238506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17650" y="4174490"/>
          <a:ext cx="6703690" cy="23723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4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9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04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48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48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48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4057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Germany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44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Sachsen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Hannover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Ikea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H&amp;M-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Möbel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Ikea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H&amp;M-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Möbel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Ikea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H&amp;M-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Möbel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226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5" dirty="0">
                          <a:latin typeface="Calibri"/>
                          <a:cs typeface="Calibri"/>
                        </a:rPr>
                        <a:t>Ikea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H&amp;M-</a:t>
                      </a:r>
                      <a:endParaRPr sz="1400">
                        <a:latin typeface="Calibri"/>
                        <a:cs typeface="Calibri"/>
                      </a:endParaRPr>
                    </a:p>
                    <a:p>
                      <a:pPr marL="138430">
                        <a:lnSpc>
                          <a:spcPct val="100000"/>
                        </a:lnSpc>
                      </a:pPr>
                      <a:r>
                        <a:rPr sz="1400" spc="-5" dirty="0">
                          <a:latin typeface="Calibri"/>
                          <a:cs typeface="Calibri"/>
                        </a:rPr>
                        <a:t>Möbel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Jan</a:t>
                      </a:r>
                      <a:r>
                        <a:rPr sz="1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spc="-10" dirty="0">
                          <a:latin typeface="Calibri"/>
                          <a:cs typeface="Calibri"/>
                        </a:rPr>
                        <a:t>Feb</a:t>
                      </a:r>
                      <a:r>
                        <a:rPr sz="14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Mar</a:t>
                      </a:r>
                      <a:r>
                        <a:rPr sz="14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latin typeface="Calibri"/>
                          <a:cs typeface="Calibri"/>
                        </a:rPr>
                        <a:t>14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400" dirty="0">
                          <a:latin typeface="Calibri"/>
                          <a:cs typeface="Calibri"/>
                        </a:rPr>
                        <a:t>Qtr2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85791" y="5296776"/>
            <a:ext cx="1018540" cy="9423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301953"/>
            <a:ext cx="8422640" cy="4589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60" dirty="0">
                <a:latin typeface="Trebuchet MS"/>
                <a:cs typeface="Trebuchet MS"/>
              </a:rPr>
              <a:t>R</a:t>
            </a:r>
            <a:r>
              <a:rPr sz="2500" spc="-50" dirty="0">
                <a:latin typeface="Trebuchet MS"/>
                <a:cs typeface="Trebuchet MS"/>
              </a:rPr>
              <a:t>e</a:t>
            </a:r>
            <a:r>
              <a:rPr sz="2500" spc="-175" dirty="0">
                <a:latin typeface="Trebuchet MS"/>
                <a:cs typeface="Trebuchet MS"/>
              </a:rPr>
              <a:t>lati</a:t>
            </a:r>
            <a:r>
              <a:rPr sz="2500" spc="-265" dirty="0">
                <a:latin typeface="Trebuchet MS"/>
                <a:cs typeface="Trebuchet MS"/>
              </a:rPr>
              <a:t>v</a:t>
            </a:r>
            <a:r>
              <a:rPr sz="2500" spc="-170" dirty="0">
                <a:latin typeface="Trebuchet MS"/>
                <a:cs typeface="Trebuchet MS"/>
              </a:rPr>
              <a:t>e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sel</a:t>
            </a:r>
            <a:r>
              <a:rPr sz="2500" spc="-170" dirty="0">
                <a:latin typeface="Trebuchet MS"/>
                <a:cs typeface="Trebuchet MS"/>
              </a:rPr>
              <a:t>e</a:t>
            </a:r>
            <a:r>
              <a:rPr sz="2500" spc="-110" dirty="0">
                <a:latin typeface="Trebuchet MS"/>
                <a:cs typeface="Trebuchet MS"/>
              </a:rPr>
              <a:t>ction</a:t>
            </a:r>
            <a:endParaRPr sz="25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200" spc="-30" dirty="0">
                <a:solidFill>
                  <a:srgbClr val="1F487C"/>
                </a:solidFill>
                <a:latin typeface="Trebuchet MS"/>
                <a:cs typeface="Trebuchet MS"/>
              </a:rPr>
              <a:t>Uses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th</a:t>
            </a:r>
            <a:r>
              <a:rPr sz="2200" spc="-15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b="1" spc="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200" b="1" spc="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b="1" spc="-5" dirty="0">
                <a:solidFill>
                  <a:srgbClr val="1F487C"/>
                </a:solidFill>
                <a:latin typeface="Trebuchet MS"/>
                <a:cs typeface="Trebuchet MS"/>
              </a:rPr>
              <a:t>der</a:t>
            </a:r>
            <a:r>
              <a:rPr sz="2200" b="1" spc="-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200" spc="-16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spc="-125" dirty="0">
                <a:solidFill>
                  <a:srgbClr val="1F487C"/>
                </a:solidFill>
                <a:latin typeface="Trebuchet MS"/>
                <a:cs typeface="Trebuchet MS"/>
              </a:rPr>
              <a:t>th</a:t>
            </a:r>
            <a:r>
              <a:rPr sz="2200" spc="-15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2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b="1" spc="-40" dirty="0">
                <a:solidFill>
                  <a:srgbClr val="1F487C"/>
                </a:solidFill>
                <a:latin typeface="Trebuchet MS"/>
                <a:cs typeface="Trebuchet MS"/>
              </a:rPr>
              <a:t>d</a:t>
            </a:r>
            <a:r>
              <a:rPr sz="2200" b="1" spc="-15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200" b="1" spc="15" dirty="0">
                <a:solidFill>
                  <a:srgbClr val="1F487C"/>
                </a:solidFill>
                <a:latin typeface="Trebuchet MS"/>
                <a:cs typeface="Trebuchet MS"/>
              </a:rPr>
              <a:t>mensio</a:t>
            </a:r>
            <a:r>
              <a:rPr sz="2200" b="1" spc="2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200" b="1" spc="-35" dirty="0">
                <a:solidFill>
                  <a:srgbClr val="1F487C"/>
                </a:solidFill>
                <a:latin typeface="Trebuchet MS"/>
                <a:cs typeface="Trebuchet MS"/>
              </a:rPr>
              <a:t>al</a:t>
            </a:r>
            <a:r>
              <a:rPr sz="2200" b="1" spc="-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200" b="1" spc="5" dirty="0">
                <a:solidFill>
                  <a:srgbClr val="1F487C"/>
                </a:solidFill>
                <a:latin typeface="Trebuchet MS"/>
                <a:cs typeface="Trebuchet MS"/>
              </a:rPr>
              <a:t>structu</a:t>
            </a:r>
            <a:r>
              <a:rPr sz="2200" b="1" spc="-4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200" b="1" spc="-35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endParaRPr sz="22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90" dirty="0">
                <a:solidFill>
                  <a:srgbClr val="4F81BC"/>
                </a:solidFill>
                <a:latin typeface="Trebuchet MS"/>
                <a:cs typeface="Trebuchet MS"/>
              </a:rPr>
              <a:t>Time.[2015].LastChild</a:t>
            </a:r>
            <a:r>
              <a:rPr sz="1900" spc="-3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25" dirty="0">
                <a:solidFill>
                  <a:srgbClr val="4F81BC"/>
                </a:solidFill>
                <a:latin typeface="Trebuchet MS"/>
                <a:cs typeface="Trebuchet MS"/>
              </a:rPr>
              <a:t>last</a:t>
            </a: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4F81BC"/>
                </a:solidFill>
                <a:latin typeface="Trebuchet MS"/>
                <a:cs typeface="Trebuchet MS"/>
              </a:rPr>
              <a:t>quarter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4F81BC"/>
                </a:solidFill>
                <a:latin typeface="Trebuchet MS"/>
                <a:cs typeface="Trebuchet MS"/>
              </a:rPr>
              <a:t>2015</a:t>
            </a:r>
            <a:endParaRPr sz="19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[2015].NextMember</a:t>
            </a:r>
            <a:r>
              <a:rPr sz="1900" spc="-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spc="-2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4F81BC"/>
                </a:solidFill>
                <a:latin typeface="Trebuchet MS"/>
                <a:cs typeface="Trebuchet MS"/>
              </a:rPr>
              <a:t>{[2016]}</a:t>
            </a:r>
            <a:endParaRPr sz="19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75" dirty="0">
                <a:solidFill>
                  <a:srgbClr val="4F81BC"/>
                </a:solidFill>
                <a:latin typeface="Trebuchet MS"/>
                <a:cs typeface="Trebuchet MS"/>
              </a:rPr>
              <a:t>[2015].[Qtr4].Nov.Lead(2)</a:t>
            </a:r>
            <a:r>
              <a:rPr sz="1900" spc="-2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spc="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40" dirty="0">
                <a:solidFill>
                  <a:srgbClr val="4F81BC"/>
                </a:solidFill>
                <a:latin typeface="Trebuchet MS"/>
                <a:cs typeface="Trebuchet MS"/>
              </a:rPr>
              <a:t>Jan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50" dirty="0">
                <a:solidFill>
                  <a:srgbClr val="4F81BC"/>
                </a:solidFill>
                <a:latin typeface="Trebuchet MS"/>
                <a:cs typeface="Trebuchet MS"/>
              </a:rPr>
              <a:t>2016</a:t>
            </a:r>
            <a:endParaRPr sz="1900">
              <a:latin typeface="Trebuchet MS"/>
              <a:cs typeface="Trebuchet MS"/>
            </a:endParaRPr>
          </a:p>
          <a:p>
            <a:pPr marL="1155700" lvl="2" indent="-229235">
              <a:lnSpc>
                <a:spcPts val="227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75" dirty="0">
                <a:solidFill>
                  <a:srgbClr val="4F81BC"/>
                </a:solidFill>
                <a:latin typeface="Trebuchet MS"/>
                <a:cs typeface="Trebuchet MS"/>
              </a:rPr>
              <a:t>[2010]:[2015]</a:t>
            </a:r>
            <a:r>
              <a:rPr sz="1900" spc="-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4F81BC"/>
                </a:solidFill>
                <a:latin typeface="Trebuchet MS"/>
                <a:cs typeface="Trebuchet MS"/>
              </a:rPr>
              <a:t>represents</a:t>
            </a:r>
            <a:r>
              <a:rPr sz="19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4F81BC"/>
                </a:solidFill>
                <a:latin typeface="Trebuchet MS"/>
                <a:cs typeface="Trebuchet MS"/>
              </a:rPr>
              <a:t>[2010],</a:t>
            </a:r>
            <a:r>
              <a:rPr sz="1900" spc="-229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..,</a:t>
            </a:r>
            <a:r>
              <a:rPr sz="1900" spc="-254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[2015]</a:t>
            </a:r>
            <a:endParaRPr sz="1900">
              <a:latin typeface="Trebuchet MS"/>
              <a:cs typeface="Trebuchet MS"/>
            </a:endParaRPr>
          </a:p>
          <a:p>
            <a:pPr marL="355600" indent="-342900">
              <a:lnSpc>
                <a:spcPts val="299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60" dirty="0">
                <a:latin typeface="Trebuchet MS"/>
                <a:cs typeface="Trebuchet MS"/>
              </a:rPr>
              <a:t>Methods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95" dirty="0">
                <a:latin typeface="Trebuchet MS"/>
                <a:cs typeface="Trebuchet MS"/>
              </a:rPr>
              <a:t>for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35" dirty="0">
                <a:latin typeface="Trebuchet MS"/>
                <a:cs typeface="Trebuchet MS"/>
              </a:rPr>
              <a:t>hierarchy</a:t>
            </a:r>
            <a:r>
              <a:rPr sz="2500" spc="-45" dirty="0">
                <a:latin typeface="Trebuchet MS"/>
                <a:cs typeface="Trebuchet MS"/>
              </a:rPr>
              <a:t> </a:t>
            </a:r>
            <a:r>
              <a:rPr sz="2500" spc="-125" dirty="0">
                <a:latin typeface="Trebuchet MS"/>
                <a:cs typeface="Trebuchet MS"/>
              </a:rPr>
              <a:t>information</a:t>
            </a:r>
            <a:r>
              <a:rPr sz="2500" spc="-65" dirty="0">
                <a:latin typeface="Trebuchet MS"/>
                <a:cs typeface="Trebuchet MS"/>
              </a:rPr>
              <a:t> </a:t>
            </a:r>
            <a:r>
              <a:rPr sz="2500" spc="-114" dirty="0">
                <a:latin typeface="Trebuchet MS"/>
                <a:cs typeface="Trebuchet MS"/>
              </a:rPr>
              <a:t>extraction</a:t>
            </a:r>
            <a:endParaRPr sz="2500">
              <a:latin typeface="Trebuchet MS"/>
              <a:cs typeface="Trebuchet MS"/>
            </a:endParaRPr>
          </a:p>
          <a:p>
            <a:pPr marL="1155700" indent="-22923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95" dirty="0">
                <a:solidFill>
                  <a:srgbClr val="4F81BC"/>
                </a:solidFill>
                <a:latin typeface="Trebuchet MS"/>
                <a:cs typeface="Trebuchet MS"/>
              </a:rPr>
              <a:t>Germany.LEVEL</a:t>
            </a:r>
            <a:r>
              <a:rPr sz="1900" spc="-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spc="-2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4F81BC"/>
                </a:solidFill>
                <a:latin typeface="Trebuchet MS"/>
                <a:cs typeface="Trebuchet MS"/>
              </a:rPr>
              <a:t>country</a:t>
            </a:r>
            <a:endParaRPr sz="1900">
              <a:latin typeface="Trebuchet MS"/>
              <a:cs typeface="Trebuchet MS"/>
            </a:endParaRPr>
          </a:p>
          <a:p>
            <a:pPr marL="1155700" indent="-229235">
              <a:lnSpc>
                <a:spcPts val="227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30" dirty="0">
                <a:solidFill>
                  <a:srgbClr val="4F81BC"/>
                </a:solidFill>
                <a:latin typeface="Trebuchet MS"/>
                <a:cs typeface="Trebuchet MS"/>
              </a:rPr>
              <a:t>T</a:t>
            </a:r>
            <a:r>
              <a:rPr sz="1900" spc="-130" dirty="0">
                <a:solidFill>
                  <a:srgbClr val="4F81BC"/>
                </a:solidFill>
                <a:latin typeface="Trebuchet MS"/>
                <a:cs typeface="Trebuchet MS"/>
              </a:rPr>
              <a:t>im</a:t>
            </a:r>
            <a:r>
              <a:rPr sz="1900" spc="-85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1900" spc="-90" dirty="0">
                <a:solidFill>
                  <a:srgbClr val="4F81BC"/>
                </a:solidFill>
                <a:latin typeface="Trebuchet MS"/>
                <a:cs typeface="Trebuchet MS"/>
              </a:rPr>
              <a:t>.LE</a:t>
            </a:r>
            <a:r>
              <a:rPr sz="1900" spc="-114" dirty="0">
                <a:solidFill>
                  <a:srgbClr val="4F81BC"/>
                </a:solidFill>
                <a:latin typeface="Trebuchet MS"/>
                <a:cs typeface="Trebuchet MS"/>
              </a:rPr>
              <a:t>V</a:t>
            </a: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1900" spc="-60" dirty="0">
                <a:solidFill>
                  <a:srgbClr val="4F81BC"/>
                </a:solidFill>
                <a:latin typeface="Trebuchet MS"/>
                <a:cs typeface="Trebuchet MS"/>
              </a:rPr>
              <a:t>L</a:t>
            </a:r>
            <a:r>
              <a:rPr sz="1900" spc="-50" dirty="0">
                <a:solidFill>
                  <a:srgbClr val="4F81BC"/>
                </a:solidFill>
                <a:latin typeface="Trebuchet MS"/>
                <a:cs typeface="Trebuchet MS"/>
              </a:rPr>
              <a:t>S</a:t>
            </a:r>
            <a:r>
              <a:rPr sz="1900" spc="-85" dirty="0">
                <a:solidFill>
                  <a:srgbClr val="4F81BC"/>
                </a:solidFill>
                <a:latin typeface="Trebuchet MS"/>
                <a:cs typeface="Trebuchet MS"/>
              </a:rPr>
              <a:t>(1</a:t>
            </a:r>
            <a:r>
              <a:rPr sz="1900" spc="-65" dirty="0">
                <a:solidFill>
                  <a:srgbClr val="4F81BC"/>
                </a:solidFill>
                <a:latin typeface="Trebuchet MS"/>
                <a:cs typeface="Trebuchet MS"/>
              </a:rPr>
              <a:t>)</a:t>
            </a:r>
            <a:r>
              <a:rPr sz="1900" spc="-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spc="-1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200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1900" spc="-105" dirty="0">
                <a:solidFill>
                  <a:srgbClr val="4F81BC"/>
                </a:solidFill>
                <a:latin typeface="Trebuchet MS"/>
                <a:cs typeface="Trebuchet MS"/>
              </a:rPr>
              <a:t>ear</a:t>
            </a:r>
            <a:endParaRPr sz="1900">
              <a:latin typeface="Trebuchet MS"/>
              <a:cs typeface="Trebuchet MS"/>
            </a:endParaRPr>
          </a:p>
          <a:p>
            <a:pPr marL="355600" indent="-342900">
              <a:lnSpc>
                <a:spcPts val="299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500" spc="-114" dirty="0">
                <a:latin typeface="Trebuchet MS"/>
                <a:cs typeface="Trebuchet MS"/>
              </a:rPr>
              <a:t>Brackets</a:t>
            </a:r>
            <a:endParaRPr sz="2500">
              <a:latin typeface="Trebuchet MS"/>
              <a:cs typeface="Trebuchet MS"/>
            </a:endParaRPr>
          </a:p>
          <a:p>
            <a:pPr marL="1155700" lvl="1" indent="-229235">
              <a:lnSpc>
                <a:spcPct val="100000"/>
              </a:lnSpc>
              <a:spcBef>
                <a:spcPts val="25"/>
              </a:spcBef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70" dirty="0">
                <a:solidFill>
                  <a:srgbClr val="4F81BC"/>
                </a:solidFill>
                <a:latin typeface="Trebuchet MS"/>
                <a:cs typeface="Trebuchet MS"/>
              </a:rPr>
              <a:t>{</a:t>
            </a:r>
            <a:r>
              <a:rPr sz="1900" spc="-65" dirty="0">
                <a:solidFill>
                  <a:srgbClr val="4F81BC"/>
                </a:solidFill>
                <a:latin typeface="Trebuchet MS"/>
                <a:cs typeface="Trebuchet MS"/>
              </a:rPr>
              <a:t>}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:</a:t>
            </a:r>
            <a:r>
              <a:rPr sz="1900" spc="-2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90" dirty="0">
                <a:solidFill>
                  <a:srgbClr val="4F81BC"/>
                </a:solidFill>
                <a:latin typeface="Trebuchet MS"/>
                <a:cs typeface="Trebuchet MS"/>
              </a:rPr>
              <a:t>Set</a:t>
            </a:r>
            <a:r>
              <a:rPr sz="1900" spc="-70" dirty="0">
                <a:solidFill>
                  <a:srgbClr val="4F81BC"/>
                </a:solidFill>
                <a:latin typeface="Trebuchet MS"/>
                <a:cs typeface="Trebuchet MS"/>
              </a:rPr>
              <a:t>s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,</a:t>
            </a:r>
            <a:r>
              <a:rPr sz="1900" spc="-2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1900" spc="-254" dirty="0">
                <a:solidFill>
                  <a:srgbClr val="4F81BC"/>
                </a:solidFill>
                <a:latin typeface="Trebuchet MS"/>
                <a:cs typeface="Trebuchet MS"/>
              </a:rPr>
              <a:t>.g</a:t>
            </a:r>
            <a:r>
              <a:rPr sz="1900" spc="-215" dirty="0">
                <a:solidFill>
                  <a:srgbClr val="4F81BC"/>
                </a:solidFill>
                <a:latin typeface="Trebuchet MS"/>
                <a:cs typeface="Trebuchet MS"/>
              </a:rPr>
              <a:t>.</a:t>
            </a:r>
            <a:r>
              <a:rPr sz="1900" spc="-2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{Hann</a:t>
            </a:r>
            <a:r>
              <a:rPr sz="1900" spc="-80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1900" spc="-145" dirty="0">
                <a:solidFill>
                  <a:srgbClr val="4F81BC"/>
                </a:solidFill>
                <a:latin typeface="Trebuchet MS"/>
                <a:cs typeface="Trebuchet MS"/>
              </a:rPr>
              <a:t>v</a:t>
            </a:r>
            <a:r>
              <a:rPr sz="1900" spc="-13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1900" spc="-17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1900" spc="-285" dirty="0">
                <a:solidFill>
                  <a:srgbClr val="4F81BC"/>
                </a:solidFill>
                <a:latin typeface="Trebuchet MS"/>
                <a:cs typeface="Trebuchet MS"/>
              </a:rPr>
              <a:t>,</a:t>
            </a:r>
            <a:r>
              <a:rPr sz="1900" spc="-21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4F81BC"/>
                </a:solidFill>
                <a:latin typeface="Trebuchet MS"/>
                <a:cs typeface="Trebuchet MS"/>
              </a:rPr>
              <a:t>BS,</a:t>
            </a:r>
            <a:r>
              <a:rPr sz="1900" spc="-229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470" dirty="0">
                <a:solidFill>
                  <a:srgbClr val="4F81BC"/>
                </a:solidFill>
                <a:latin typeface="Trebuchet MS"/>
                <a:cs typeface="Trebuchet MS"/>
              </a:rPr>
              <a:t>J</a:t>
            </a: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ohn}</a:t>
            </a:r>
            <a:endParaRPr sz="1900">
              <a:latin typeface="Trebuchet MS"/>
              <a:cs typeface="Trebuchet MS"/>
            </a:endParaRPr>
          </a:p>
          <a:p>
            <a:pPr marL="1155700" lvl="1" indent="-229235">
              <a:lnSpc>
                <a:spcPts val="2050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40" dirty="0">
                <a:solidFill>
                  <a:srgbClr val="4F81BC"/>
                </a:solidFill>
                <a:latin typeface="Trebuchet MS"/>
                <a:cs typeface="Trebuchet MS"/>
              </a:rPr>
              <a:t>[]:</a:t>
            </a:r>
            <a:r>
              <a:rPr sz="1900" spc="-2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4F81BC"/>
                </a:solidFill>
                <a:latin typeface="Trebuchet MS"/>
                <a:cs typeface="Trebuchet MS"/>
              </a:rPr>
              <a:t>text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95" dirty="0">
                <a:solidFill>
                  <a:srgbClr val="4F81BC"/>
                </a:solidFill>
                <a:latin typeface="Trebuchet MS"/>
                <a:cs typeface="Trebuchet MS"/>
              </a:rPr>
              <a:t>interpretation</a:t>
            </a:r>
            <a:r>
              <a:rPr sz="19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1900" spc="-4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4F81BC"/>
                </a:solidFill>
                <a:latin typeface="Trebuchet MS"/>
                <a:cs typeface="Trebuchet MS"/>
              </a:rPr>
              <a:t>numbers,</a:t>
            </a:r>
            <a:r>
              <a:rPr sz="1900" spc="-24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4F81BC"/>
                </a:solidFill>
                <a:latin typeface="Trebuchet MS"/>
                <a:cs typeface="Trebuchet MS"/>
              </a:rPr>
              <a:t>empty</a:t>
            </a:r>
            <a:r>
              <a:rPr sz="1900" spc="-3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05" dirty="0">
                <a:solidFill>
                  <a:srgbClr val="4F81BC"/>
                </a:solidFill>
                <a:latin typeface="Trebuchet MS"/>
                <a:cs typeface="Trebuchet MS"/>
              </a:rPr>
              <a:t>spaces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14" dirty="0">
                <a:solidFill>
                  <a:srgbClr val="4F81BC"/>
                </a:solidFill>
                <a:latin typeface="Trebuchet MS"/>
                <a:cs typeface="Trebuchet MS"/>
              </a:rPr>
              <a:t>between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words</a:t>
            </a:r>
            <a:r>
              <a:rPr sz="19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15" dirty="0">
                <a:solidFill>
                  <a:srgbClr val="4F81BC"/>
                </a:solidFill>
                <a:latin typeface="Trebuchet MS"/>
                <a:cs typeface="Trebuchet MS"/>
              </a:rPr>
              <a:t>or</a:t>
            </a:r>
            <a:r>
              <a:rPr sz="19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60" dirty="0">
                <a:solidFill>
                  <a:srgbClr val="4F81BC"/>
                </a:solidFill>
                <a:latin typeface="Trebuchet MS"/>
                <a:cs typeface="Trebuchet MS"/>
              </a:rPr>
              <a:t>other</a:t>
            </a:r>
            <a:endParaRPr sz="1900">
              <a:latin typeface="Trebuchet MS"/>
              <a:cs typeface="Trebuchet MS"/>
            </a:endParaRPr>
          </a:p>
          <a:p>
            <a:pPr marL="1155700">
              <a:lnSpc>
                <a:spcPts val="2050"/>
              </a:lnSpc>
            </a:pPr>
            <a:r>
              <a:rPr sz="1900" spc="-80" dirty="0">
                <a:solidFill>
                  <a:srgbClr val="4F81BC"/>
                </a:solidFill>
                <a:latin typeface="Trebuchet MS"/>
                <a:cs typeface="Trebuchet MS"/>
              </a:rPr>
              <a:t>symbols</a:t>
            </a:r>
            <a:endParaRPr sz="1900">
              <a:latin typeface="Trebuchet MS"/>
              <a:cs typeface="Trebuchet MS"/>
            </a:endParaRPr>
          </a:p>
          <a:p>
            <a:pPr marL="1384300">
              <a:lnSpc>
                <a:spcPts val="1914"/>
              </a:lnSpc>
              <a:spcBef>
                <a:spcPts val="10"/>
              </a:spcBef>
            </a:pPr>
            <a:r>
              <a:rPr sz="1600" spc="-5" dirty="0">
                <a:solidFill>
                  <a:srgbClr val="1F487C"/>
                </a:solidFill>
                <a:latin typeface="Arial MT"/>
                <a:cs typeface="Arial MT"/>
              </a:rPr>
              <a:t>–</a:t>
            </a:r>
            <a:r>
              <a:rPr sz="1600" spc="465" dirty="0">
                <a:solidFill>
                  <a:srgbClr val="1F487C"/>
                </a:solidFill>
                <a:latin typeface="Arial MT"/>
                <a:cs typeface="Arial MT"/>
              </a:rPr>
              <a:t> </a:t>
            </a:r>
            <a:r>
              <a:rPr sz="1600" spc="-170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1600" spc="-2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1600" spc="-75" dirty="0">
                <a:solidFill>
                  <a:srgbClr val="1F487C"/>
                </a:solidFill>
                <a:latin typeface="Trebuchet MS"/>
                <a:cs typeface="Trebuchet MS"/>
              </a:rPr>
              <a:t>[2015],</a:t>
            </a:r>
            <a:r>
              <a:rPr sz="1600" spc="-1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1600" spc="-80" dirty="0">
                <a:solidFill>
                  <a:srgbClr val="1F487C"/>
                </a:solidFill>
                <a:latin typeface="Trebuchet MS"/>
                <a:cs typeface="Trebuchet MS"/>
              </a:rPr>
              <a:t>[Frankfurt</a:t>
            </a:r>
            <a:r>
              <a:rPr sz="1600" spc="-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1600" spc="-130" dirty="0">
                <a:solidFill>
                  <a:srgbClr val="1F487C"/>
                </a:solidFill>
                <a:latin typeface="Trebuchet MS"/>
                <a:cs typeface="Trebuchet MS"/>
              </a:rPr>
              <a:t>am</a:t>
            </a:r>
            <a:r>
              <a:rPr sz="1600" spc="-2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1600" spc="-90" dirty="0">
                <a:solidFill>
                  <a:srgbClr val="1F487C"/>
                </a:solidFill>
                <a:latin typeface="Trebuchet MS"/>
                <a:cs typeface="Trebuchet MS"/>
              </a:rPr>
              <a:t>Main],</a:t>
            </a:r>
            <a:r>
              <a:rPr sz="1600" spc="-1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1600" spc="-5" dirty="0">
                <a:solidFill>
                  <a:srgbClr val="1F487C"/>
                </a:solidFill>
                <a:latin typeface="Trebuchet MS"/>
                <a:cs typeface="Trebuchet MS"/>
              </a:rPr>
              <a:t>[H&amp;M]</a:t>
            </a:r>
            <a:endParaRPr sz="1600">
              <a:latin typeface="Trebuchet MS"/>
              <a:cs typeface="Trebuchet MS"/>
            </a:endParaRPr>
          </a:p>
          <a:p>
            <a:pPr marL="1155700" lvl="1" indent="-229235">
              <a:lnSpc>
                <a:spcPts val="2275"/>
              </a:lnSpc>
              <a:buFont typeface="Arial MT"/>
              <a:buChar char="•"/>
              <a:tabLst>
                <a:tab pos="1155700" algn="l"/>
                <a:tab pos="1156335" algn="l"/>
              </a:tabLst>
            </a:pPr>
            <a:r>
              <a:rPr sz="1900" spc="-155" dirty="0">
                <a:solidFill>
                  <a:srgbClr val="4F81BC"/>
                </a:solidFill>
                <a:latin typeface="Trebuchet MS"/>
                <a:cs typeface="Trebuchet MS"/>
              </a:rPr>
              <a:t>():</a:t>
            </a:r>
            <a:r>
              <a:rPr sz="1900" spc="-24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20" dirty="0">
                <a:solidFill>
                  <a:srgbClr val="4F81BC"/>
                </a:solidFill>
                <a:latin typeface="Trebuchet MS"/>
                <a:cs typeface="Trebuchet MS"/>
              </a:rPr>
              <a:t>tuple</a:t>
            </a:r>
            <a:r>
              <a:rPr sz="1900" spc="-3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40" dirty="0">
                <a:solidFill>
                  <a:srgbClr val="4F81BC"/>
                </a:solidFill>
                <a:latin typeface="Trebuchet MS"/>
                <a:cs typeface="Trebuchet MS"/>
              </a:rPr>
              <a:t>e.g.WHERE</a:t>
            </a:r>
            <a:r>
              <a:rPr sz="1900" spc="-3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10" dirty="0">
                <a:solidFill>
                  <a:srgbClr val="4F81BC"/>
                </a:solidFill>
                <a:latin typeface="Trebuchet MS"/>
                <a:cs typeface="Trebuchet MS"/>
              </a:rPr>
              <a:t>(Measure.Sales,</a:t>
            </a:r>
            <a:r>
              <a:rPr sz="1900" spc="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100" dirty="0">
                <a:solidFill>
                  <a:srgbClr val="4F81BC"/>
                </a:solidFill>
                <a:latin typeface="Trebuchet MS"/>
                <a:cs typeface="Trebuchet MS"/>
              </a:rPr>
              <a:t>Time.[2015],</a:t>
            </a:r>
            <a:r>
              <a:rPr sz="1900" spc="-22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85" dirty="0">
                <a:solidFill>
                  <a:srgbClr val="4F81BC"/>
                </a:solidFill>
                <a:latin typeface="Trebuchet MS"/>
                <a:cs typeface="Trebuchet MS"/>
              </a:rPr>
              <a:t>Products.[All</a:t>
            </a:r>
            <a:r>
              <a:rPr sz="19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1900" spc="-70" dirty="0">
                <a:solidFill>
                  <a:srgbClr val="4F81BC"/>
                </a:solidFill>
                <a:latin typeface="Trebuchet MS"/>
                <a:cs typeface="Trebuchet MS"/>
              </a:rPr>
              <a:t>Products])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90" dirty="0"/>
              <a:t> </a:t>
            </a:r>
            <a:r>
              <a:rPr spc="40" dirty="0"/>
              <a:t>Basics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183880" cy="52978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5" dirty="0">
                <a:latin typeface="Trebuchet MS"/>
                <a:cs typeface="Trebuchet MS"/>
              </a:rPr>
              <a:t>Special</a:t>
            </a:r>
            <a:r>
              <a:rPr sz="3200" b="1" spc="-114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functions</a:t>
            </a:r>
            <a:r>
              <a:rPr sz="3200" b="1" spc="-140" dirty="0">
                <a:latin typeface="Trebuchet MS"/>
                <a:cs typeface="Trebuchet MS"/>
              </a:rPr>
              <a:t> </a:t>
            </a:r>
            <a:r>
              <a:rPr sz="3200" b="1" spc="-5" dirty="0">
                <a:latin typeface="Trebuchet MS"/>
                <a:cs typeface="Trebuchet MS"/>
              </a:rPr>
              <a:t>and</a:t>
            </a:r>
            <a:r>
              <a:rPr sz="3200" b="1" spc="-85" dirty="0">
                <a:latin typeface="Trebuchet MS"/>
                <a:cs typeface="Trebuchet MS"/>
              </a:rPr>
              <a:t> </a:t>
            </a:r>
            <a:r>
              <a:rPr sz="3200" b="1" spc="-55" dirty="0">
                <a:latin typeface="Trebuchet MS"/>
                <a:cs typeface="Trebuchet MS"/>
              </a:rPr>
              <a:t>filters</a:t>
            </a:r>
            <a:endParaRPr sz="3200">
              <a:latin typeface="Trebuchet MS"/>
              <a:cs typeface="Trebuchet MS"/>
            </a:endParaRPr>
          </a:p>
          <a:p>
            <a:pPr marL="756285" marR="23812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80" dirty="0">
                <a:solidFill>
                  <a:srgbClr val="1F487C"/>
                </a:solidFill>
                <a:latin typeface="Trebuchet MS"/>
                <a:cs typeface="Trebuchet MS"/>
              </a:rPr>
              <a:t>Special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functions</a:t>
            </a:r>
            <a:r>
              <a:rPr sz="2800" spc="-40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35" dirty="0">
                <a:solidFill>
                  <a:srgbClr val="1F487C"/>
                </a:solidFill>
                <a:latin typeface="Trebuchet MS"/>
                <a:cs typeface="Trebuchet MS"/>
              </a:rPr>
              <a:t>TOPCOUNT(),TOPPERCENT(),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20" dirty="0">
                <a:solidFill>
                  <a:srgbClr val="1F487C"/>
                </a:solidFill>
                <a:latin typeface="Trebuchet MS"/>
                <a:cs typeface="Trebuchet MS"/>
              </a:rPr>
              <a:t>TOPSUM()</a:t>
            </a:r>
            <a:endParaRPr sz="280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14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320" dirty="0">
                <a:solidFill>
                  <a:srgbClr val="4F81BC"/>
                </a:solidFill>
                <a:latin typeface="Trebuchet MS"/>
                <a:cs typeface="Trebuchet MS"/>
              </a:rPr>
              <a:t>.g</a:t>
            </a:r>
            <a:r>
              <a:rPr sz="2400" spc="-265" dirty="0">
                <a:solidFill>
                  <a:srgbClr val="4F81BC"/>
                </a:solidFill>
                <a:latin typeface="Trebuchet MS"/>
                <a:cs typeface="Trebuchet MS"/>
              </a:rPr>
              <a:t>.</a:t>
            </a:r>
            <a:r>
              <a:rPr sz="2400" spc="-30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top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5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reas</a:t>
            </a:r>
            <a:r>
              <a:rPr sz="2400" spc="-4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30" dirty="0">
                <a:solidFill>
                  <a:srgbClr val="4F81BC"/>
                </a:solidFill>
                <a:latin typeface="Trebuchet MS"/>
                <a:cs typeface="Trebuchet MS"/>
              </a:rPr>
              <a:t>of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85" dirty="0">
                <a:solidFill>
                  <a:srgbClr val="4F81BC"/>
                </a:solidFill>
                <a:latin typeface="Trebuchet MS"/>
                <a:cs typeface="Trebuchet MS"/>
              </a:rPr>
              <a:t>Germ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-165" dirty="0">
                <a:solidFill>
                  <a:srgbClr val="4F81BC"/>
                </a:solidFill>
                <a:latin typeface="Trebuchet MS"/>
                <a:cs typeface="Trebuchet MS"/>
              </a:rPr>
              <a:t>n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b</a:t>
            </a:r>
            <a:r>
              <a:rPr sz="2400" spc="-1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turn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170" dirty="0">
                <a:solidFill>
                  <a:srgbClr val="4F81BC"/>
                </a:solidFill>
                <a:latin typeface="Trebuchet MS"/>
                <a:cs typeface="Trebuchet MS"/>
              </a:rPr>
              <a:t>v</a:t>
            </a:r>
            <a:r>
              <a:rPr sz="2400" spc="-75" dirty="0">
                <a:solidFill>
                  <a:srgbClr val="4F81BC"/>
                </a:solidFill>
                <a:latin typeface="Trebuchet MS"/>
                <a:cs typeface="Trebuchet MS"/>
              </a:rPr>
              <a:t>er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on</a:t>
            </a:r>
            <a:r>
              <a:rPr sz="2400" spc="-5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5" dirty="0">
                <a:solidFill>
                  <a:srgbClr val="4F81BC"/>
                </a:solidFill>
                <a:latin typeface="Trebuchet MS"/>
                <a:cs typeface="Trebuchet MS"/>
              </a:rPr>
              <a:t>o</a:t>
            </a:r>
            <a:r>
              <a:rPr sz="2400" spc="-60" dirty="0">
                <a:solidFill>
                  <a:srgbClr val="4F81BC"/>
                </a:solidFill>
                <a:latin typeface="Trebuchet MS"/>
                <a:cs typeface="Trebuchet MS"/>
              </a:rPr>
              <a:t>ws</a:t>
            </a:r>
            <a:endParaRPr sz="2400">
              <a:latin typeface="Trebuchet MS"/>
              <a:cs typeface="Trebuchet MS"/>
            </a:endParaRPr>
          </a:p>
          <a:p>
            <a:pPr marL="1626870">
              <a:lnSpc>
                <a:spcPct val="100000"/>
              </a:lnSpc>
              <a:spcBef>
                <a:spcPts val="405"/>
              </a:spcBef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SELECT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{Time.CHILDREN}</a:t>
            </a:r>
            <a:r>
              <a:rPr sz="18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18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COLUMNS,</a:t>
            </a:r>
            <a:endParaRPr sz="1800">
              <a:latin typeface="Calibri"/>
              <a:cs typeface="Calibri"/>
            </a:endParaRPr>
          </a:p>
          <a:p>
            <a:pPr marL="2360295">
              <a:lnSpc>
                <a:spcPct val="100000"/>
              </a:lnSpc>
            </a:pPr>
            <a:r>
              <a:rPr sz="1800" spc="-15" dirty="0">
                <a:solidFill>
                  <a:srgbClr val="1F487C"/>
                </a:solidFill>
                <a:latin typeface="Calibri"/>
                <a:cs typeface="Calibri"/>
              </a:rPr>
              <a:t>{TOPCOUNT(Germany.CHILDREN,</a:t>
            </a:r>
            <a:r>
              <a:rPr sz="1800" spc="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5,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Sales.turnover)}</a:t>
            </a:r>
            <a:r>
              <a:rPr sz="18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  <a:p>
            <a:pPr marL="2098040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salesCube</a:t>
            </a:r>
            <a:endParaRPr sz="1800">
              <a:latin typeface="Calibri"/>
              <a:cs typeface="Calibri"/>
            </a:endParaRPr>
          </a:p>
          <a:p>
            <a:pPr marL="2098040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WHERE</a:t>
            </a:r>
            <a:r>
              <a:rPr sz="18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(Measure.Sales,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Time.[2015]);</a:t>
            </a:r>
            <a:endParaRPr sz="1800">
              <a:latin typeface="Calibri"/>
              <a:cs typeface="Calibri"/>
            </a:endParaRPr>
          </a:p>
          <a:p>
            <a:pPr marL="756285" marR="17780" lvl="1" indent="-287020">
              <a:lnSpc>
                <a:spcPct val="100000"/>
              </a:lnSpc>
              <a:spcBef>
                <a:spcPts val="126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Filter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function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00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2800" spc="-3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5" dirty="0">
                <a:solidFill>
                  <a:srgbClr val="1F487C"/>
                </a:solidFill>
                <a:latin typeface="Trebuchet MS"/>
                <a:cs typeface="Trebuchet MS"/>
              </a:rPr>
              <a:t>areas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of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20" dirty="0">
                <a:solidFill>
                  <a:srgbClr val="1F487C"/>
                </a:solidFill>
                <a:latin typeface="Trebuchet MS"/>
                <a:cs typeface="Trebuchet MS"/>
              </a:rPr>
              <a:t>Germany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with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increased </a:t>
            </a:r>
            <a:r>
              <a:rPr sz="2800" spc="-83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turnover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for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2016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compared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2015</a:t>
            </a:r>
            <a:endParaRPr sz="2800">
              <a:latin typeface="Trebuchet MS"/>
              <a:cs typeface="Trebuchet MS"/>
            </a:endParaRPr>
          </a:p>
          <a:p>
            <a:pPr marL="2527935" marR="100330" indent="-1414780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SELECT</a:t>
            </a:r>
            <a:r>
              <a:rPr sz="18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FILTER(Germany.CHILDREN,</a:t>
            </a:r>
            <a:r>
              <a:rPr sz="1800" spc="3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([2016],</a:t>
            </a:r>
            <a:r>
              <a:rPr sz="1800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Turnover)</a:t>
            </a:r>
            <a:r>
              <a:rPr sz="18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&gt;</a:t>
            </a:r>
            <a:r>
              <a:rPr sz="18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([2015],</a:t>
            </a:r>
            <a:r>
              <a:rPr sz="1800" spc="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Turnover)) </a:t>
            </a:r>
            <a:r>
              <a:rPr sz="1800" spc="-39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ON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 COLUMNS,</a:t>
            </a:r>
            <a:r>
              <a:rPr sz="18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Quarters.MEMBERS</a:t>
            </a:r>
            <a:r>
              <a:rPr sz="180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ON </a:t>
            </a:r>
            <a:r>
              <a:rPr sz="1800" spc="-20" dirty="0">
                <a:solidFill>
                  <a:srgbClr val="1F487C"/>
                </a:solidFill>
                <a:latin typeface="Calibri"/>
                <a:cs typeface="Calibri"/>
              </a:rPr>
              <a:t>ROWS</a:t>
            </a:r>
            <a:endParaRPr sz="1800">
              <a:latin typeface="Calibri"/>
              <a:cs typeface="Calibri"/>
            </a:endParaRPr>
          </a:p>
          <a:p>
            <a:pPr marL="2028189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FROM</a:t>
            </a:r>
            <a:r>
              <a:rPr sz="1800" spc="-3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salesCube</a:t>
            </a:r>
            <a:endParaRPr sz="1800">
              <a:latin typeface="Calibri"/>
              <a:cs typeface="Calibri"/>
            </a:endParaRPr>
          </a:p>
          <a:p>
            <a:pPr marL="2028189">
              <a:lnSpc>
                <a:spcPct val="100000"/>
              </a:lnSpc>
            </a:pP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WHERE</a:t>
            </a:r>
            <a:r>
              <a:rPr sz="1800" spc="2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(Measure.Sales,</a:t>
            </a:r>
            <a:r>
              <a:rPr sz="1800" spc="15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1F487C"/>
                </a:solidFill>
                <a:latin typeface="Calibri"/>
                <a:cs typeface="Calibri"/>
              </a:rPr>
              <a:t>Time.[2016],</a:t>
            </a:r>
            <a:r>
              <a:rPr sz="1800" spc="10" dirty="0">
                <a:solidFill>
                  <a:srgbClr val="1F487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1F487C"/>
                </a:solidFill>
                <a:latin typeface="Calibri"/>
                <a:cs typeface="Calibri"/>
              </a:rPr>
              <a:t>Products.Electronics);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90" dirty="0"/>
              <a:t> </a:t>
            </a:r>
            <a:r>
              <a:rPr spc="40" dirty="0"/>
              <a:t>Basics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014" y="1273548"/>
            <a:ext cx="8451215" cy="2910411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120" dirty="0">
                <a:latin typeface="Trebuchet MS"/>
                <a:cs typeface="Trebuchet MS"/>
              </a:rPr>
              <a:t>Time</a:t>
            </a:r>
            <a:r>
              <a:rPr sz="3200" b="1" spc="-120" dirty="0">
                <a:latin typeface="Trebuchet MS"/>
                <a:cs typeface="Trebuchet MS"/>
              </a:rPr>
              <a:t> </a:t>
            </a:r>
            <a:r>
              <a:rPr sz="3200" b="1" spc="-35" dirty="0">
                <a:latin typeface="Trebuchet MS"/>
                <a:cs typeface="Trebuchet MS"/>
              </a:rPr>
              <a:t>series</a:t>
            </a:r>
            <a:endParaRPr sz="32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Set</a:t>
            </a:r>
            <a:r>
              <a:rPr sz="2800" spc="-49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Value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Expressions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25" dirty="0">
                <a:solidFill>
                  <a:srgbClr val="1F487C"/>
                </a:solidFill>
                <a:latin typeface="Trebuchet MS"/>
                <a:cs typeface="Trebuchet MS"/>
              </a:rPr>
              <a:t>e.g.,</a:t>
            </a:r>
            <a:r>
              <a:rPr sz="2800" spc="-3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choosing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time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intervals</a:t>
            </a:r>
            <a:endParaRPr sz="28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solidFill>
                  <a:srgbClr val="4F81BC"/>
                </a:solidFill>
                <a:latin typeface="Trebuchet MS"/>
                <a:cs typeface="Trebuchet MS"/>
              </a:rPr>
              <a:t>PERIODSTODATE(Quarter,</a:t>
            </a:r>
            <a:r>
              <a:rPr sz="2400" spc="-32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[15-Nov-2016]):</a:t>
            </a:r>
            <a:endParaRPr sz="2400" dirty="0">
              <a:latin typeface="Trebuchet MS"/>
              <a:cs typeface="Trebuchet MS"/>
            </a:endParaRPr>
          </a:p>
          <a:p>
            <a:pPr marL="1155700">
              <a:lnSpc>
                <a:spcPct val="100000"/>
              </a:lnSpc>
            </a:pPr>
            <a:r>
              <a:rPr sz="2400" spc="-90" dirty="0">
                <a:solidFill>
                  <a:srgbClr val="4F81BC"/>
                </a:solidFill>
                <a:latin typeface="Trebuchet MS"/>
                <a:cs typeface="Trebuchet MS"/>
              </a:rPr>
              <a:t>returns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140" dirty="0">
                <a:solidFill>
                  <a:srgbClr val="4F81BC"/>
                </a:solidFill>
                <a:latin typeface="Trebuchet MS"/>
                <a:cs typeface="Trebuchet MS"/>
              </a:rPr>
              <a:t>1.10.-15.11.2016</a:t>
            </a:r>
            <a:endParaRPr sz="2400" dirty="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6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Member</a:t>
            </a:r>
            <a:r>
              <a:rPr sz="2800" spc="-49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Value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Expressions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00" dirty="0">
                <a:solidFill>
                  <a:srgbClr val="1F487C"/>
                </a:solidFill>
                <a:latin typeface="Trebuchet MS"/>
                <a:cs typeface="Trebuchet MS"/>
              </a:rPr>
              <a:t>e.g.</a:t>
            </a:r>
            <a:r>
              <a:rPr sz="2800" spc="-3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pre-periods</a:t>
            </a:r>
            <a:endParaRPr sz="2800" dirty="0">
              <a:latin typeface="Trebuchet MS"/>
              <a:cs typeface="Trebuchet MS"/>
            </a:endParaRPr>
          </a:p>
          <a:p>
            <a:pPr marL="1155700" lvl="2" indent="-229235">
              <a:lnSpc>
                <a:spcPct val="100000"/>
              </a:lnSpc>
              <a:spcBef>
                <a:spcPts val="590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310" dirty="0">
                <a:solidFill>
                  <a:srgbClr val="4F81BC"/>
                </a:solidFill>
                <a:latin typeface="Trebuchet MS"/>
                <a:cs typeface="Trebuchet MS"/>
              </a:rPr>
              <a:t>P</a:t>
            </a:r>
            <a:r>
              <a:rPr sz="2400" spc="140" dirty="0">
                <a:solidFill>
                  <a:srgbClr val="4F81BC"/>
                </a:solidFill>
                <a:latin typeface="Trebuchet MS"/>
                <a:cs typeface="Trebuchet MS"/>
              </a:rPr>
              <a:t>AR</a:t>
            </a:r>
            <a:r>
              <a:rPr sz="2400" spc="125" dirty="0">
                <a:solidFill>
                  <a:srgbClr val="4F81BC"/>
                </a:solidFill>
                <a:latin typeface="Trebuchet MS"/>
                <a:cs typeface="Trebuchet MS"/>
              </a:rPr>
              <a:t>A</a:t>
            </a:r>
            <a:r>
              <a:rPr sz="2400" spc="10" dirty="0">
                <a:solidFill>
                  <a:srgbClr val="4F81BC"/>
                </a:solidFill>
                <a:latin typeface="Trebuchet MS"/>
                <a:cs typeface="Trebuchet MS"/>
              </a:rPr>
              <a:t>LLELPERIOD(</a:t>
            </a:r>
            <a:r>
              <a:rPr sz="2400" spc="-235" dirty="0">
                <a:solidFill>
                  <a:srgbClr val="4F81BC"/>
                </a:solidFill>
                <a:latin typeface="Trebuchet MS"/>
                <a:cs typeface="Trebuchet MS"/>
              </a:rPr>
              <a:t>Y</a:t>
            </a:r>
            <a:r>
              <a:rPr sz="2400" spc="-200" dirty="0">
                <a:solidFill>
                  <a:srgbClr val="4F81BC"/>
                </a:solidFill>
                <a:latin typeface="Trebuchet MS"/>
                <a:cs typeface="Trebuchet MS"/>
              </a:rPr>
              <a:t>ea</a:t>
            </a:r>
            <a:r>
              <a:rPr sz="2400" spc="-235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355" dirty="0">
                <a:solidFill>
                  <a:srgbClr val="4F81BC"/>
                </a:solidFill>
                <a:latin typeface="Trebuchet MS"/>
                <a:cs typeface="Trebuchet MS"/>
              </a:rPr>
              <a:t>,</a:t>
            </a:r>
            <a:r>
              <a:rPr sz="2400" spc="-30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210" dirty="0">
                <a:solidFill>
                  <a:srgbClr val="4F81BC"/>
                </a:solidFill>
                <a:latin typeface="Trebuchet MS"/>
                <a:cs typeface="Trebuchet MS"/>
              </a:rPr>
              <a:t>3,</a:t>
            </a:r>
            <a:r>
              <a:rPr sz="2400" spc="-30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[S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e</a:t>
            </a:r>
            <a:r>
              <a:rPr sz="2400" spc="-145" dirty="0">
                <a:solidFill>
                  <a:srgbClr val="4F81BC"/>
                </a:solidFill>
                <a:latin typeface="Trebuchet MS"/>
                <a:cs typeface="Trebuchet MS"/>
              </a:rPr>
              <a:t>p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-</a:t>
            </a:r>
            <a:r>
              <a:rPr sz="2400" spc="-110" dirty="0">
                <a:solidFill>
                  <a:srgbClr val="4F81BC"/>
                </a:solidFill>
                <a:latin typeface="Trebuchet MS"/>
                <a:cs typeface="Trebuchet MS"/>
              </a:rPr>
              <a:t>2016]):</a:t>
            </a:r>
            <a:r>
              <a:rPr sz="2400" spc="-32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40" dirty="0">
                <a:solidFill>
                  <a:srgbClr val="4F81BC"/>
                </a:solidFill>
                <a:latin typeface="Trebuchet MS"/>
                <a:cs typeface="Trebuchet MS"/>
              </a:rPr>
              <a:t>r</a:t>
            </a:r>
            <a:r>
              <a:rPr sz="2400" spc="-95" dirty="0">
                <a:solidFill>
                  <a:srgbClr val="4F81BC"/>
                </a:solidFill>
                <a:latin typeface="Trebuchet MS"/>
                <a:cs typeface="Trebuchet MS"/>
              </a:rPr>
              <a:t>eturns</a:t>
            </a:r>
            <a:r>
              <a:rPr sz="2400" spc="-65" dirty="0">
                <a:solidFill>
                  <a:srgbClr val="4F81BC"/>
                </a:solidFill>
                <a:latin typeface="Trebuchet MS"/>
                <a:cs typeface="Trebuchet MS"/>
              </a:rPr>
              <a:t> 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[S</a:t>
            </a:r>
            <a:r>
              <a:rPr sz="2400" spc="-150" dirty="0">
                <a:solidFill>
                  <a:srgbClr val="4F81BC"/>
                </a:solidFill>
                <a:latin typeface="Trebuchet MS"/>
                <a:cs typeface="Trebuchet MS"/>
              </a:rPr>
              <a:t>ep</a:t>
            </a:r>
            <a:r>
              <a:rPr sz="2400" spc="-105" dirty="0">
                <a:solidFill>
                  <a:srgbClr val="4F81BC"/>
                </a:solidFill>
                <a:latin typeface="Trebuchet MS"/>
                <a:cs typeface="Trebuchet MS"/>
              </a:rPr>
              <a:t>-</a:t>
            </a:r>
            <a:r>
              <a:rPr sz="2400" spc="-70" dirty="0">
                <a:solidFill>
                  <a:srgbClr val="4F81BC"/>
                </a:solidFill>
                <a:latin typeface="Trebuchet MS"/>
                <a:cs typeface="Trebuchet MS"/>
              </a:rPr>
              <a:t>2013]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42551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90930" algn="l"/>
              </a:tabLst>
            </a:pPr>
            <a:r>
              <a:rPr spc="-240" dirty="0"/>
              <a:t>6.2	</a:t>
            </a:r>
            <a:r>
              <a:rPr spc="755" dirty="0"/>
              <a:t>MDX</a:t>
            </a:r>
            <a:r>
              <a:rPr spc="-190" dirty="0"/>
              <a:t> </a:t>
            </a:r>
            <a:r>
              <a:rPr spc="40" dirty="0"/>
              <a:t>Basics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2577" y="45275"/>
            <a:ext cx="2012187" cy="86602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3014" y="1273548"/>
            <a:ext cx="8169909" cy="46774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130" dirty="0">
                <a:latin typeface="Trebuchet MS"/>
                <a:cs typeface="Trebuchet MS"/>
              </a:rPr>
              <a:t>OLAP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Operations: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Rol</a:t>
            </a:r>
            <a:r>
              <a:rPr sz="2800" spc="-5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-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:</a:t>
            </a:r>
            <a:r>
              <a:rPr sz="2800" spc="-3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hi</a:t>
            </a:r>
            <a:r>
              <a:rPr sz="2800" spc="-2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chical,</a:t>
            </a:r>
            <a:r>
              <a:rPr sz="2800" spc="-32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70" dirty="0">
                <a:solidFill>
                  <a:srgbClr val="1F487C"/>
                </a:solidFill>
                <a:latin typeface="Trebuchet MS"/>
                <a:cs typeface="Trebuchet MS"/>
              </a:rPr>
              <a:t>dim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io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50" dirty="0">
                <a:solidFill>
                  <a:srgbClr val="1F487C"/>
                </a:solidFill>
                <a:latin typeface="Trebuchet MS"/>
                <a:cs typeface="Trebuchet MS"/>
              </a:rPr>
              <a:t>al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Drill-down:You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60" dirty="0">
                <a:solidFill>
                  <a:srgbClr val="1F487C"/>
                </a:solidFill>
                <a:latin typeface="Trebuchet MS"/>
                <a:cs typeface="Trebuchet MS"/>
              </a:rPr>
              <a:t>can’t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drill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65" dirty="0">
                <a:solidFill>
                  <a:srgbClr val="1F487C"/>
                </a:solidFill>
                <a:latin typeface="Trebuchet MS"/>
                <a:cs typeface="Trebuchet MS"/>
              </a:rPr>
              <a:t>if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you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don’t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9" dirty="0">
                <a:solidFill>
                  <a:srgbClr val="1F487C"/>
                </a:solidFill>
                <a:latin typeface="Trebuchet MS"/>
                <a:cs typeface="Trebuchet MS"/>
              </a:rPr>
              <a:t>have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the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data</a:t>
            </a:r>
            <a:endParaRPr sz="28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Slice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dic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Pi</a:t>
            </a:r>
            <a:r>
              <a:rPr sz="2800" spc="-235" dirty="0">
                <a:solidFill>
                  <a:srgbClr val="1F487C"/>
                </a:solidFill>
                <a:latin typeface="Trebuchet MS"/>
                <a:cs typeface="Trebuchet MS"/>
              </a:rPr>
              <a:t>v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ot</a:t>
            </a:r>
            <a:endParaRPr sz="28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80" dirty="0">
                <a:latin typeface="Trebuchet MS"/>
                <a:cs typeface="Trebuchet MS"/>
              </a:rPr>
              <a:t>Operations</a:t>
            </a:r>
            <a:r>
              <a:rPr sz="3200" spc="-120" dirty="0">
                <a:latin typeface="Trebuchet MS"/>
                <a:cs typeface="Trebuchet MS"/>
              </a:rPr>
              <a:t> </a:t>
            </a:r>
            <a:r>
              <a:rPr sz="3200" spc="-285" dirty="0">
                <a:latin typeface="Trebuchet MS"/>
                <a:cs typeface="Trebuchet MS"/>
              </a:rPr>
              <a:t>affect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245" dirty="0">
                <a:latin typeface="Trebuchet MS"/>
                <a:cs typeface="Trebuchet MS"/>
              </a:rPr>
              <a:t>data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through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query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15" dirty="0">
                <a:latin typeface="Trebuchet MS"/>
                <a:cs typeface="Trebuchet MS"/>
              </a:rPr>
              <a:t>languages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240" dirty="0">
                <a:latin typeface="Trebuchet MS"/>
                <a:cs typeface="Trebuchet MS"/>
              </a:rPr>
              <a:t>O</a:t>
            </a:r>
            <a:r>
              <a:rPr sz="3200" spc="190" dirty="0">
                <a:latin typeface="Trebuchet MS"/>
                <a:cs typeface="Trebuchet MS"/>
              </a:rPr>
              <a:t>L</a:t>
            </a:r>
            <a:r>
              <a:rPr sz="3200" spc="45" dirty="0">
                <a:latin typeface="Trebuchet MS"/>
                <a:cs typeface="Trebuchet MS"/>
              </a:rPr>
              <a:t>AP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75" dirty="0">
                <a:latin typeface="Trebuchet MS"/>
                <a:cs typeface="Trebuchet MS"/>
              </a:rPr>
              <a:t>Q</a:t>
            </a:r>
            <a:r>
              <a:rPr sz="3200" spc="150" dirty="0">
                <a:latin typeface="Trebuchet MS"/>
                <a:cs typeface="Trebuchet MS"/>
              </a:rPr>
              <a:t>u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15" dirty="0">
                <a:latin typeface="Trebuchet MS"/>
                <a:cs typeface="Trebuchet MS"/>
              </a:rPr>
              <a:t>r</a:t>
            </a:r>
            <a:r>
              <a:rPr sz="3200" spc="-175" dirty="0">
                <a:latin typeface="Trebuchet MS"/>
                <a:cs typeface="Trebuchet MS"/>
              </a:rPr>
              <a:t>y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la</a:t>
            </a:r>
            <a:r>
              <a:rPr sz="3200" spc="-275" dirty="0">
                <a:latin typeface="Trebuchet MS"/>
                <a:cs typeface="Trebuchet MS"/>
              </a:rPr>
              <a:t>n</a:t>
            </a:r>
            <a:r>
              <a:rPr sz="3200" spc="-245" dirty="0">
                <a:latin typeface="Trebuchet MS"/>
                <a:cs typeface="Trebuchet MS"/>
              </a:rPr>
              <a:t>guages: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114" dirty="0">
                <a:latin typeface="Trebuchet MS"/>
                <a:cs typeface="Trebuchet MS"/>
              </a:rPr>
              <a:t>SQ</a:t>
            </a:r>
            <a:r>
              <a:rPr sz="3200" spc="105" dirty="0">
                <a:latin typeface="Trebuchet MS"/>
                <a:cs typeface="Trebuchet MS"/>
              </a:rPr>
              <a:t>L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70" dirty="0">
                <a:latin typeface="Trebuchet MS"/>
                <a:cs typeface="Trebuchet MS"/>
              </a:rPr>
              <a:t>9</a:t>
            </a:r>
            <a:r>
              <a:rPr sz="3200" spc="-275" dirty="0">
                <a:latin typeface="Trebuchet MS"/>
                <a:cs typeface="Trebuchet MS"/>
              </a:rPr>
              <a:t>9,</a:t>
            </a:r>
            <a:r>
              <a:rPr sz="3200" spc="-409" dirty="0">
                <a:latin typeface="Trebuchet MS"/>
                <a:cs typeface="Trebuchet MS"/>
              </a:rPr>
              <a:t> </a:t>
            </a:r>
            <a:r>
              <a:rPr sz="3200" spc="385" dirty="0">
                <a:latin typeface="Trebuchet MS"/>
                <a:cs typeface="Trebuchet MS"/>
              </a:rPr>
              <a:t>MDX</a:t>
            </a:r>
            <a:endParaRPr sz="3200">
              <a:latin typeface="Trebuchet MS"/>
              <a:cs typeface="Trebuchet MS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55" dirty="0">
                <a:solidFill>
                  <a:srgbClr val="1F487C"/>
                </a:solidFill>
                <a:latin typeface="Trebuchet MS"/>
                <a:cs typeface="Trebuchet MS"/>
              </a:rPr>
              <a:t>SQL9</a:t>
            </a:r>
            <a:r>
              <a:rPr sz="2800" spc="-245" dirty="0">
                <a:solidFill>
                  <a:srgbClr val="1F487C"/>
                </a:solidFill>
                <a:latin typeface="Trebuchet MS"/>
                <a:cs typeface="Trebuchet MS"/>
              </a:rPr>
              <a:t>9:</a:t>
            </a:r>
            <a:r>
              <a:rPr sz="2800" spc="-3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14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15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4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pi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g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Se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5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90" dirty="0">
                <a:solidFill>
                  <a:srgbClr val="1F487C"/>
                </a:solidFill>
                <a:latin typeface="Trebuchet MS"/>
                <a:cs typeface="Trebuchet MS"/>
              </a:rPr>
              <a:t>Rol</a:t>
            </a:r>
            <a:r>
              <a:rPr sz="2800" spc="-40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-</a:t>
            </a:r>
            <a:r>
              <a:rPr sz="2800" spc="-15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22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1F487C"/>
                </a:solidFill>
                <a:latin typeface="Trebuchet MS"/>
                <a:cs typeface="Trebuchet MS"/>
              </a:rPr>
              <a:t>Cu</a:t>
            </a:r>
            <a:r>
              <a:rPr sz="2800" spc="5" dirty="0">
                <a:solidFill>
                  <a:srgbClr val="1F487C"/>
                </a:solidFill>
                <a:latin typeface="Trebuchet MS"/>
                <a:cs typeface="Trebuchet MS"/>
              </a:rPr>
              <a:t>b</a:t>
            </a:r>
            <a:r>
              <a:rPr sz="2800" spc="-19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op</a:t>
            </a:r>
            <a:r>
              <a:rPr sz="2800" spc="-100" dirty="0">
                <a:solidFill>
                  <a:srgbClr val="1F487C"/>
                </a:solidFill>
                <a:latin typeface="Trebuchet MS"/>
                <a:cs typeface="Trebuchet MS"/>
              </a:rPr>
              <a:t>e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20" dirty="0">
                <a:solidFill>
                  <a:srgbClr val="1F487C"/>
                </a:solidFill>
                <a:latin typeface="Trebuchet MS"/>
                <a:cs typeface="Trebuchet MS"/>
              </a:rPr>
              <a:t>rs</a:t>
            </a:r>
            <a:endParaRPr sz="2800">
              <a:latin typeface="Trebuchet MS"/>
              <a:cs typeface="Trebuchet MS"/>
            </a:endParaRPr>
          </a:p>
          <a:p>
            <a:pPr marL="756285" marR="84836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145" dirty="0">
                <a:solidFill>
                  <a:srgbClr val="1F487C"/>
                </a:solidFill>
                <a:latin typeface="Trebuchet MS"/>
                <a:cs typeface="Trebuchet MS"/>
              </a:rPr>
              <a:t>MDX: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55" dirty="0">
                <a:solidFill>
                  <a:srgbClr val="1F487C"/>
                </a:solidFill>
                <a:latin typeface="Trebuchet MS"/>
                <a:cs typeface="Trebuchet MS"/>
              </a:rPr>
              <a:t>Similar</a:t>
            </a:r>
            <a:r>
              <a:rPr sz="2800" spc="-5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to</a:t>
            </a:r>
            <a:r>
              <a:rPr sz="2800" spc="-6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30" dirty="0">
                <a:solidFill>
                  <a:srgbClr val="1F487C"/>
                </a:solidFill>
                <a:latin typeface="Trebuchet MS"/>
                <a:cs typeface="Trebuchet MS"/>
              </a:rPr>
              <a:t>SQL,</a:t>
            </a:r>
            <a:r>
              <a:rPr sz="2800" spc="-34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7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30" dirty="0">
                <a:solidFill>
                  <a:srgbClr val="1F487C"/>
                </a:solidFill>
                <a:latin typeface="Trebuchet MS"/>
                <a:cs typeface="Trebuchet MS"/>
              </a:rPr>
              <a:t>es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220" dirty="0">
                <a:solidFill>
                  <a:srgbClr val="1F487C"/>
                </a:solidFill>
                <a:latin typeface="Trebuchet MS"/>
                <a:cs typeface="Trebuchet MS"/>
              </a:rPr>
              <a:t>ecial</a:t>
            </a:r>
            <a:r>
              <a:rPr sz="2800" spc="-185" dirty="0">
                <a:solidFill>
                  <a:srgbClr val="1F487C"/>
                </a:solidFill>
                <a:latin typeface="Trebuchet MS"/>
                <a:cs typeface="Trebuchet MS"/>
              </a:rPr>
              <a:t>l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y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195" dirty="0">
                <a:solidFill>
                  <a:srgbClr val="1F487C"/>
                </a:solidFill>
                <a:latin typeface="Trebuchet MS"/>
                <a:cs typeface="Trebuchet MS"/>
              </a:rPr>
              <a:t>MOL</a:t>
            </a:r>
            <a:r>
              <a:rPr sz="2800" spc="170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P  </a:t>
            </a:r>
            <a:r>
              <a:rPr sz="2800" spc="-85" dirty="0">
                <a:solidFill>
                  <a:srgbClr val="1F487C"/>
                </a:solidFill>
                <a:latin typeface="Trebuchet MS"/>
                <a:cs typeface="Trebuchet MS"/>
              </a:rPr>
              <a:t>sol</a:t>
            </a:r>
            <a:r>
              <a:rPr sz="2800" spc="-105" dirty="0">
                <a:solidFill>
                  <a:srgbClr val="1F487C"/>
                </a:solidFill>
                <a:latin typeface="Trebuchet MS"/>
                <a:cs typeface="Trebuchet MS"/>
              </a:rPr>
              <a:t>u</a:t>
            </a:r>
            <a:r>
              <a:rPr sz="2800" spc="-95" dirty="0">
                <a:solidFill>
                  <a:srgbClr val="1F487C"/>
                </a:solidFill>
                <a:latin typeface="Trebuchet MS"/>
                <a:cs typeface="Trebuchet MS"/>
              </a:rPr>
              <a:t>ti</a:t>
            </a:r>
            <a:r>
              <a:rPr sz="2800" spc="-140" dirty="0">
                <a:solidFill>
                  <a:srgbClr val="1F487C"/>
                </a:solidFill>
                <a:latin typeface="Trebuchet MS"/>
                <a:cs typeface="Trebuchet MS"/>
              </a:rPr>
              <a:t>o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420" dirty="0">
                <a:solidFill>
                  <a:srgbClr val="1F487C"/>
                </a:solidFill>
                <a:latin typeface="Trebuchet MS"/>
                <a:cs typeface="Trebuchet MS"/>
              </a:rPr>
              <a:t>,</a:t>
            </a:r>
            <a:r>
              <a:rPr sz="2800" spc="-3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4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210" dirty="0">
                <a:solidFill>
                  <a:srgbClr val="1F487C"/>
                </a:solidFill>
                <a:latin typeface="Trebuchet MS"/>
                <a:cs typeface="Trebuchet MS"/>
              </a:rPr>
              <a:t>n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R</a:t>
            </a:r>
            <a:r>
              <a:rPr sz="2800" spc="105" dirty="0">
                <a:solidFill>
                  <a:srgbClr val="1F487C"/>
                </a:solidFill>
                <a:latin typeface="Trebuchet MS"/>
                <a:cs typeface="Trebuchet MS"/>
              </a:rPr>
              <a:t>OLAP</a:t>
            </a:r>
            <a:r>
              <a:rPr sz="2800" spc="-8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215" dirty="0">
                <a:solidFill>
                  <a:srgbClr val="1F487C"/>
                </a:solidFill>
                <a:latin typeface="Trebuchet MS"/>
                <a:cs typeface="Trebuchet MS"/>
              </a:rPr>
              <a:t>t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110" dirty="0">
                <a:solidFill>
                  <a:srgbClr val="1F487C"/>
                </a:solidFill>
                <a:latin typeface="Trebuchet MS"/>
                <a:cs typeface="Trebuchet MS"/>
              </a:rPr>
              <a:t>i</a:t>
            </a:r>
            <a:r>
              <a:rPr sz="2800" spc="-145" dirty="0">
                <a:solidFill>
                  <a:srgbClr val="1F487C"/>
                </a:solidFill>
                <a:latin typeface="Trebuchet MS"/>
                <a:cs typeface="Trebuchet MS"/>
              </a:rPr>
              <a:t>s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-275" dirty="0">
                <a:solidFill>
                  <a:srgbClr val="1F487C"/>
                </a:solidFill>
                <a:latin typeface="Trebuchet MS"/>
                <a:cs typeface="Trebuchet MS"/>
              </a:rPr>
              <a:t>m</a:t>
            </a:r>
            <a:r>
              <a:rPr sz="2800" spc="-204" dirty="0">
                <a:solidFill>
                  <a:srgbClr val="1F487C"/>
                </a:solidFill>
                <a:latin typeface="Trebuchet MS"/>
                <a:cs typeface="Trebuchet MS"/>
              </a:rPr>
              <a:t>a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60" dirty="0">
                <a:solidFill>
                  <a:srgbClr val="1F487C"/>
                </a:solidFill>
                <a:latin typeface="Trebuchet MS"/>
                <a:cs typeface="Trebuchet MS"/>
              </a:rPr>
              <a:t>p</a:t>
            </a:r>
            <a:r>
              <a:rPr sz="2800" spc="-165" dirty="0">
                <a:solidFill>
                  <a:srgbClr val="1F487C"/>
                </a:solidFill>
                <a:latin typeface="Trebuchet MS"/>
                <a:cs typeface="Trebuchet MS"/>
              </a:rPr>
              <a:t>ed</a:t>
            </a:r>
            <a:r>
              <a:rPr sz="2800" spc="-70" dirty="0">
                <a:solidFill>
                  <a:srgbClr val="1F487C"/>
                </a:solidFill>
                <a:latin typeface="Trebuchet MS"/>
                <a:cs typeface="Trebuchet MS"/>
              </a:rPr>
              <a:t> to</a:t>
            </a:r>
            <a:r>
              <a:rPr sz="2800" spc="-65" dirty="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sz="2800" spc="95" dirty="0">
                <a:solidFill>
                  <a:srgbClr val="1F487C"/>
                </a:solidFill>
                <a:latin typeface="Trebuchet MS"/>
                <a:cs typeface="Trebuchet MS"/>
              </a:rPr>
              <a:t>SQL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64741" y="94945"/>
            <a:ext cx="26149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95" dirty="0"/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11435</TotalTime>
  <Words>2191</Words>
  <Application>Microsoft Office PowerPoint</Application>
  <PresentationFormat>On-screen Show (4:3)</PresentationFormat>
  <Paragraphs>619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 MT</vt:lpstr>
      <vt:lpstr>Calibri</vt:lpstr>
      <vt:lpstr>Cambria Math</vt:lpstr>
      <vt:lpstr>Symbol</vt:lpstr>
      <vt:lpstr>Times New Roman</vt:lpstr>
      <vt:lpstr>Trebuchet MS</vt:lpstr>
      <vt:lpstr>Office Theme</vt:lpstr>
      <vt:lpstr>OLAP Operations &amp; Queries</vt:lpstr>
      <vt:lpstr>6.1 OLAP Operations</vt:lpstr>
      <vt:lpstr>6.1 Roll-up</vt:lpstr>
      <vt:lpstr>6.1 Roll-up</vt:lpstr>
      <vt:lpstr>6.1 Roll-up</vt:lpstr>
      <vt:lpstr>6.1 Roll-up</vt:lpstr>
      <vt:lpstr>6.1 Drill-down</vt:lpstr>
      <vt:lpstr>6.1 Roll-up Drill-down Example</vt:lpstr>
      <vt:lpstr>6.1 Slice</vt:lpstr>
      <vt:lpstr>6.1 Slice</vt:lpstr>
      <vt:lpstr>6.1 Dice</vt:lpstr>
      <vt:lpstr>6.1 Dice</vt:lpstr>
      <vt:lpstr>6.1 Pivot</vt:lpstr>
      <vt:lpstr>6.1 Pivot</vt:lpstr>
      <vt:lpstr>6.1 Pivot</vt:lpstr>
      <vt:lpstr>PowerPoint Presentation</vt:lpstr>
      <vt:lpstr>PowerPoint Presentation</vt:lpstr>
      <vt:lpstr>6.1 Typical Analytical Requests</vt:lpstr>
      <vt:lpstr>6.1 OLAP Data Visualization</vt:lpstr>
      <vt:lpstr>6.1 OLAP Data Visualization</vt:lpstr>
      <vt:lpstr>6.1 OLAP Data Visualization</vt:lpstr>
      <vt:lpstr>6.1 OLAP Data Visualization</vt:lpstr>
      <vt:lpstr>6.1 OLAP Data Visualization</vt:lpstr>
      <vt:lpstr>6.1 OLAP Data Visualization</vt:lpstr>
      <vt:lpstr>6.1 OLAP Data Visualization</vt:lpstr>
      <vt:lpstr>6.1 OLAP Server</vt:lpstr>
      <vt:lpstr>6.1 OLAP Server</vt:lpstr>
      <vt:lpstr>6.1 From Presentation to Data</vt:lpstr>
      <vt:lpstr>6.2 OLAP Query Languages</vt:lpstr>
      <vt:lpstr>6.2 SQL-99</vt:lpstr>
      <vt:lpstr>6.2 Roll-up</vt:lpstr>
      <vt:lpstr>6.2 CUBE Operator</vt:lpstr>
      <vt:lpstr>6.2 CUBE Operator</vt:lpstr>
      <vt:lpstr>PowerPoint Presentation</vt:lpstr>
      <vt:lpstr>6.2 MDX</vt:lpstr>
      <vt:lpstr>6.2 MDX Basics</vt:lpstr>
      <vt:lpstr>6.2 MDX Basic Elements</vt:lpstr>
      <vt:lpstr>6.2 MDX Basics</vt:lpstr>
      <vt:lpstr>6.2 MDX Basics</vt:lpstr>
      <vt:lpstr>6.2 MDX Basics</vt:lpstr>
      <vt:lpstr>6.2 MDX Basics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Warehousing with OLAP</dc:title>
  <dc:creator>sah</dc:creator>
  <cp:lastModifiedBy>usman shehzaib</cp:lastModifiedBy>
  <cp:revision>10</cp:revision>
  <dcterms:created xsi:type="dcterms:W3CDTF">2023-03-13T11:56:07Z</dcterms:created>
  <dcterms:modified xsi:type="dcterms:W3CDTF">2024-10-03T10:54:49Z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2016-11-21T00:00:00Z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2023-03-13T00:00:00Z</vt:filetime>
  </property>
</Properties>
</file>