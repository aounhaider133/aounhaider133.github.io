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13"/>
  </p:notesMasterIdLst>
  <p:handoutMasterIdLst>
    <p:handoutMasterId r:id="rId14"/>
  </p:handoutMasterIdLst>
  <p:sldIdLst>
    <p:sldId id="764" r:id="rId2"/>
    <p:sldId id="1020" r:id="rId3"/>
    <p:sldId id="1023" r:id="rId4"/>
    <p:sldId id="1021" r:id="rId5"/>
    <p:sldId id="1024" r:id="rId6"/>
    <p:sldId id="1025" r:id="rId7"/>
    <p:sldId id="769" r:id="rId8"/>
    <p:sldId id="770" r:id="rId9"/>
    <p:sldId id="1067" r:id="rId10"/>
    <p:sldId id="873" r:id="rId11"/>
    <p:sldId id="837" r:id="rId12"/>
  </p:sldIdLst>
  <p:sldSz cx="9144000" cy="6858000" type="screen4x3"/>
  <p:notesSz cx="7010400" cy="92360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9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E6EA"/>
    <a:srgbClr val="FAE2F6"/>
    <a:srgbClr val="170981"/>
    <a:srgbClr val="121328"/>
    <a:srgbClr val="D7FDF9"/>
    <a:srgbClr val="003366"/>
    <a:srgbClr val="FF7C80"/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9" autoAdjust="0"/>
    <p:restoredTop sz="94624" autoAdjust="0"/>
  </p:normalViewPr>
  <p:slideViewPr>
    <p:cSldViewPr>
      <p:cViewPr varScale="1">
        <p:scale>
          <a:sx n="68" d="100"/>
          <a:sy n="68" d="100"/>
        </p:scale>
        <p:origin x="1452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352"/>
    </p:cViewPr>
  </p:sorterViewPr>
  <p:notesViewPr>
    <p:cSldViewPr>
      <p:cViewPr varScale="1">
        <p:scale>
          <a:sx n="38" d="100"/>
          <a:sy n="38" d="100"/>
        </p:scale>
        <p:origin x="-1530" y="-72"/>
      </p:cViewPr>
      <p:guideLst>
        <p:guide orient="horz" pos="2909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10.xml"/><Relationship Id="rId2" Type="http://schemas.openxmlformats.org/officeDocument/2006/relationships/slide" Target="slides/slide8.xml"/><Relationship Id="rId1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t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925" y="0"/>
            <a:ext cx="30384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t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39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74113"/>
            <a:ext cx="30384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b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39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925" y="8774113"/>
            <a:ext cx="30384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b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6E6F2538-6BF4-41AA-8D6D-25FA08EC64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t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84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t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95388" y="692150"/>
            <a:ext cx="4619625" cy="34639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387850"/>
            <a:ext cx="5140325" cy="415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74113"/>
            <a:ext cx="30384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b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774113"/>
            <a:ext cx="30384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b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4321414C-6C13-464C-A6FA-6C5908E984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BC2917A-41C5-4673-ADDA-4E7AC2E6B9FF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475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DFB5663-5329-463C-BBCB-15EC114B3678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577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F9F8243-89FF-4893-883F-DF665D3F278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7BCAB98-4DA8-4960-8A87-A30AB359E3FC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8563" y="693738"/>
            <a:ext cx="4616450" cy="3462337"/>
          </a:xfrm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386263"/>
            <a:ext cx="5140325" cy="4156075"/>
          </a:xfrm>
          <a:noFill/>
          <a:ln/>
        </p:spPr>
        <p:txBody>
          <a:bodyPr lIns="90748" tIns="45373" rIns="90748" bIns="45373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1D39772-EEFF-421D-9590-3272FEF1524C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8563" y="693738"/>
            <a:ext cx="4616450" cy="3462337"/>
          </a:xfrm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386263"/>
            <a:ext cx="5140325" cy="4156075"/>
          </a:xfrm>
          <a:noFill/>
          <a:ln/>
        </p:spPr>
        <p:txBody>
          <a:bodyPr lIns="90748" tIns="45373" rIns="90748" bIns="45373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14B92DF-B1A0-4BF1-8E2F-68BC9B7840EA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8563" y="693738"/>
            <a:ext cx="4616450" cy="3462337"/>
          </a:xfrm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386263"/>
            <a:ext cx="5140325" cy="4156075"/>
          </a:xfrm>
          <a:noFill/>
          <a:ln/>
        </p:spPr>
        <p:txBody>
          <a:bodyPr lIns="90748" tIns="45373" rIns="90748" bIns="45373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D5B7487-D507-4722-A2A4-C403E4DACAA6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8875" y="673100"/>
            <a:ext cx="4692650" cy="3519488"/>
          </a:xfrm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5513" y="4418013"/>
            <a:ext cx="5159375" cy="4117975"/>
          </a:xfrm>
          <a:noFill/>
          <a:ln/>
        </p:spPr>
        <p:txBody>
          <a:bodyPr lIns="91262" tIns="45631" rIns="91262" bIns="45631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FDC62D3-3F9F-4785-8923-D257D2D9A7FA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8875" y="673100"/>
            <a:ext cx="4692650" cy="3519488"/>
          </a:xfrm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5513" y="4418013"/>
            <a:ext cx="5159375" cy="4117975"/>
          </a:xfrm>
          <a:noFill/>
          <a:ln/>
        </p:spPr>
        <p:txBody>
          <a:bodyPr lIns="91262" tIns="45631" rIns="91262" bIns="45631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35C378C-DCAD-47FF-BF2F-9065660F66D4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08088" y="700088"/>
            <a:ext cx="4598987" cy="3449637"/>
          </a:xfrm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387850"/>
            <a:ext cx="5141913" cy="4152900"/>
          </a:xfrm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33441C6-A8E8-4BEE-AC5E-3120EACBE13D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2980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29805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D8BFDB53-E2AC-4296-ACFC-4A8B5B9A839C}" type="datetime4">
              <a:rPr lang="en-US"/>
              <a:pPr>
                <a:defRPr/>
              </a:pPr>
              <a:t>November 8, 2020</a:t>
            </a:fld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AEA5819C-B127-4B95-A1D8-6CFA842C35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06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031100-237F-4951-92DC-670E5EEDC5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06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136E9D-C886-476B-86EB-1FF2B0D37C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295400"/>
            <a:ext cx="41148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295400"/>
            <a:ext cx="41148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06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085490-B6A7-4E49-B42F-981CA3AFE6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06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DCD77C-FC40-4315-9698-4A39C04711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06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75AD25-173F-40A0-9CE2-D452F1A497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6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A1AA27-7141-4710-806A-2A4DA8E1CD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06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B95E1D-89B7-4B67-B766-6907864B9E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06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095D87-C6B5-4DA2-A73C-09C7BA9D89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06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2B9ABA-EA8A-47B0-BDA8-B4A5DE3235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24650" y="304800"/>
            <a:ext cx="2190750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" y="304800"/>
            <a:ext cx="6419850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06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3BB403-A06C-4BE5-894A-C0274DA4CF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04800"/>
            <a:ext cx="87630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1295400"/>
            <a:ext cx="411480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572000" y="1295400"/>
            <a:ext cx="41148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0" y="3962400"/>
            <a:ext cx="41148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206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173595-0436-451F-9EF8-FB73902602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zo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04800"/>
            <a:ext cx="87630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1295400"/>
            <a:ext cx="411480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295400"/>
            <a:ext cx="411480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06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673F65-1C37-4ADE-BFF3-D2725A0C97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zo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04800"/>
            <a:ext cx="87630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1295400"/>
            <a:ext cx="411480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572000" y="1295400"/>
            <a:ext cx="4114800" cy="51816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206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878540-76F8-4D40-89AF-7ABC71B453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zo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152400" y="304800"/>
            <a:ext cx="87630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295400"/>
            <a:ext cx="41148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572000" y="1295400"/>
            <a:ext cx="41148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304800" y="3962400"/>
            <a:ext cx="41148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3962400"/>
            <a:ext cx="41148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06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5EA0FA-89DE-45BF-9DA2-CCEC70C85B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056"/>
          <p:cNvSpPr>
            <a:spLocks noChangeArrowheads="1"/>
          </p:cNvSpPr>
          <p:nvPr/>
        </p:nvSpPr>
        <p:spPr bwMode="gray">
          <a:xfrm>
            <a:off x="304800" y="1143000"/>
            <a:ext cx="8226425" cy="46038"/>
          </a:xfrm>
          <a:prstGeom prst="rect">
            <a:avLst/>
          </a:prstGeom>
          <a:gradFill rotWithShape="0">
            <a:gsLst>
              <a:gs pos="0">
                <a:srgbClr val="008080">
                  <a:alpha val="95000"/>
                </a:srgbClr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kumimoji="1" lang="en-US"/>
          </a:p>
        </p:txBody>
      </p:sp>
      <p:sp>
        <p:nvSpPr>
          <p:cNvPr id="2051" name="Rectangle 2057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304800"/>
            <a:ext cx="87630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2" name="Rectangle 2058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295400"/>
            <a:ext cx="83820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28781" name="Rectangle 206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C8C5BA87-CABA-43E0-9CBB-46E0999612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0" r:id="rId1"/>
    <p:sldLayoutId id="2147483826" r:id="rId2"/>
    <p:sldLayoutId id="2147483827" r:id="rId3"/>
    <p:sldLayoutId id="2147483828" r:id="rId4"/>
    <p:sldLayoutId id="2147483829" r:id="rId5"/>
    <p:sldLayoutId id="2147483830" r:id="rId6"/>
    <p:sldLayoutId id="2147483831" r:id="rId7"/>
    <p:sldLayoutId id="2147483832" r:id="rId8"/>
    <p:sldLayoutId id="2147483833" r:id="rId9"/>
    <p:sldLayoutId id="2147483834" r:id="rId10"/>
    <p:sldLayoutId id="2147483835" r:id="rId11"/>
    <p:sldLayoutId id="2147483836" r:id="rId12"/>
    <p:sldLayoutId id="2147483837" r:id="rId13"/>
    <p:sldLayoutId id="2147483838" r:id="rId14"/>
    <p:sldLayoutId id="2147483839" r:id="rId15"/>
  </p:sldLayoutIdLst>
  <p:transition>
    <p:zoom/>
  </p:transition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Berlin Sans FB Dem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Berlin Sans FB Dem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Berlin Sans FB Dem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Berlin Sans FB Dem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Berlin Sans FB Dem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Berlin Sans FB Dem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Berlin Sans FB Dem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Berlin Sans FB Dem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2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3.w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5.wmf"/><Relationship Id="rId4" Type="http://schemas.openxmlformats.org/officeDocument/2006/relationships/oleObject" Target="../embeddings/oleObject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1A4A5F7C-7299-4C30-8495-4C7F31C3FC8A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4099" name="Rectangle 1026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077200" cy="2895600"/>
          </a:xfrm>
        </p:spPr>
        <p:txBody>
          <a:bodyPr/>
          <a:lstStyle/>
          <a:p>
            <a:pPr eaLnBrk="1" hangingPunct="1"/>
            <a:r>
              <a:rPr lang="en-US" sz="6000" dirty="0"/>
              <a:t>Data Mining: </a:t>
            </a:r>
            <a:br>
              <a:rPr lang="en-US" sz="6000" dirty="0"/>
            </a:br>
            <a:r>
              <a:rPr lang="en-US" sz="6000" dirty="0"/>
              <a:t> </a:t>
            </a:r>
            <a:r>
              <a:rPr lang="en-US" sz="4800" dirty="0"/>
              <a:t>Concepts and Techniques</a:t>
            </a:r>
            <a:r>
              <a:rPr lang="en-US" sz="6000" dirty="0"/>
              <a:t> </a:t>
            </a:r>
            <a:br>
              <a:rPr lang="en-US" sz="6000" dirty="0"/>
            </a:br>
            <a:br>
              <a:rPr lang="en-US" sz="6000" dirty="0"/>
            </a:br>
            <a:r>
              <a:rPr lang="en-US" sz="2800" dirty="0"/>
              <a:t>— Chapter 2 —</a:t>
            </a:r>
            <a:br>
              <a:rPr lang="en-US" sz="2800" dirty="0"/>
            </a:br>
            <a:r>
              <a:rPr lang="en-US" sz="2800" dirty="0"/>
              <a:t>Know Your Data</a:t>
            </a:r>
          </a:p>
        </p:txBody>
      </p:sp>
    </p:spTree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C682E4E4-2E2D-4F21-9F93-EDE92A3AC9FD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/>
              <a:t>Data Objects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sz="2400"/>
              <a:t>Data sets are made up of data objects.</a:t>
            </a:r>
          </a:p>
          <a:p>
            <a:pPr eaLnBrk="1" hangingPunct="1">
              <a:lnSpc>
                <a:spcPct val="120000"/>
              </a:lnSpc>
            </a:pPr>
            <a:r>
              <a:rPr lang="en-US" sz="2400"/>
              <a:t>A </a:t>
            </a:r>
            <a:r>
              <a:rPr lang="en-US" sz="2400" b="1"/>
              <a:t>data object</a:t>
            </a:r>
            <a:r>
              <a:rPr lang="en-US" sz="2400"/>
              <a:t> represents an entity.</a:t>
            </a:r>
          </a:p>
          <a:p>
            <a:pPr eaLnBrk="1" hangingPunct="1">
              <a:lnSpc>
                <a:spcPct val="120000"/>
              </a:lnSpc>
            </a:pPr>
            <a:r>
              <a:rPr lang="en-US" sz="2400"/>
              <a:t>Examples: </a:t>
            </a:r>
          </a:p>
          <a:p>
            <a:pPr lvl="1" eaLnBrk="1" hangingPunct="1">
              <a:lnSpc>
                <a:spcPct val="120000"/>
              </a:lnSpc>
            </a:pPr>
            <a:r>
              <a:rPr lang="en-US" sz="2400"/>
              <a:t>sales database:  customers, store items, sales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sz="2400"/>
              <a:t>medical database: patients, treatments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sz="2400"/>
              <a:t>university database: students, professors, courses</a:t>
            </a:r>
          </a:p>
          <a:p>
            <a:pPr eaLnBrk="1" hangingPunct="1">
              <a:lnSpc>
                <a:spcPct val="120000"/>
              </a:lnSpc>
            </a:pPr>
            <a:r>
              <a:rPr lang="en-US" sz="2400"/>
              <a:t>Also called </a:t>
            </a:r>
            <a:r>
              <a:rPr lang="en-US" sz="2400" i="1"/>
              <a:t>samples , examples, instances, data points, objects, tuples</a:t>
            </a:r>
            <a:r>
              <a:rPr lang="en-US" sz="2400"/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en-US" sz="2400"/>
              <a:t>Data objects are described by </a:t>
            </a:r>
            <a:r>
              <a:rPr lang="en-US" sz="2400" b="1"/>
              <a:t>attributes</a:t>
            </a:r>
            <a:r>
              <a:rPr lang="en-US" sz="2400"/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en-US" sz="2400"/>
              <a:t>Database rows -&gt; data objects; columns -&gt;attributes.</a:t>
            </a:r>
          </a:p>
        </p:txBody>
      </p:sp>
    </p:spTree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88547CDA-6000-456D-BB10-0F7553FF695C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Attributes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686800" cy="5181600"/>
          </a:xfrm>
        </p:spPr>
        <p:txBody>
          <a:bodyPr/>
          <a:lstStyle/>
          <a:p>
            <a:pPr eaLnBrk="1" hangingPunct="1"/>
            <a:r>
              <a:rPr lang="en-US" b="1" dirty="0"/>
              <a:t>Attribute (</a:t>
            </a:r>
            <a:r>
              <a:rPr lang="en-US" dirty="0"/>
              <a:t>or</a:t>
            </a:r>
            <a:r>
              <a:rPr lang="en-US" b="1" dirty="0"/>
              <a:t> dimensions, features, variables</a:t>
            </a:r>
            <a:r>
              <a:rPr lang="en-US" dirty="0"/>
              <a:t>): a data field, representing a characteristic or feature of a data object.</a:t>
            </a:r>
          </a:p>
          <a:p>
            <a:pPr lvl="1" eaLnBrk="1" hangingPunct="1"/>
            <a:r>
              <a:rPr lang="en-US" i="1" dirty="0"/>
              <a:t>E.g., customer _ID, name, address</a:t>
            </a:r>
          </a:p>
          <a:p>
            <a:pPr eaLnBrk="1" hangingPunct="1"/>
            <a:r>
              <a:rPr lang="en-US" dirty="0"/>
              <a:t>Types:</a:t>
            </a:r>
          </a:p>
          <a:p>
            <a:pPr lvl="1" eaLnBrk="1" hangingPunct="1"/>
            <a:r>
              <a:rPr lang="en-US" dirty="0"/>
              <a:t>Nominal</a:t>
            </a:r>
          </a:p>
          <a:p>
            <a:pPr lvl="1" eaLnBrk="1" hangingPunct="1"/>
            <a:r>
              <a:rPr lang="en-US" dirty="0"/>
              <a:t>Binary</a:t>
            </a:r>
          </a:p>
          <a:p>
            <a:pPr lvl="1" eaLnBrk="1" hangingPunct="1"/>
            <a:r>
              <a:rPr lang="en-US" dirty="0"/>
              <a:t>Numeric: quantitative</a:t>
            </a:r>
          </a:p>
          <a:p>
            <a:pPr lvl="2" eaLnBrk="1" hangingPunct="1"/>
            <a:r>
              <a:rPr lang="en-US" sz="2800" dirty="0"/>
              <a:t>Interval-scaled</a:t>
            </a:r>
          </a:p>
          <a:p>
            <a:pPr lvl="2" eaLnBrk="1" hangingPunct="1"/>
            <a:r>
              <a:rPr lang="en-US" sz="2800" dirty="0"/>
              <a:t>Ratio-scaled</a:t>
            </a:r>
            <a:endParaRPr lang="en-US" dirty="0"/>
          </a:p>
        </p:txBody>
      </p:sp>
    </p:spTree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BC82EC31-CAC9-48B6-A7BF-7FC4CCD59383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solidFill>
                  <a:srgbClr val="170981"/>
                </a:solidFill>
              </a:rPr>
              <a:t>Attribute Types</a:t>
            </a:r>
            <a:r>
              <a:rPr lang="en-US">
                <a:solidFill>
                  <a:schemeClr val="hlink"/>
                </a:solidFill>
              </a:rPr>
              <a:t> 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292100" indent="-292100" eaLnBrk="1" hangingPunct="1">
              <a:lnSpc>
                <a:spcPct val="90000"/>
              </a:lnSpc>
            </a:pPr>
            <a:r>
              <a:rPr lang="en-US" sz="2000" b="1" dirty="0"/>
              <a:t>Nominal:</a:t>
            </a:r>
            <a:r>
              <a:rPr lang="en-US" sz="2000" dirty="0"/>
              <a:t> categories, states, or “names of things”</a:t>
            </a:r>
          </a:p>
          <a:p>
            <a:pPr marL="749300" lvl="1" indent="-342900" eaLnBrk="1" hangingPunct="1">
              <a:lnSpc>
                <a:spcPct val="90000"/>
              </a:lnSpc>
            </a:pPr>
            <a:r>
              <a:rPr lang="en-US" sz="2000" i="1" dirty="0" err="1"/>
              <a:t>Hair_color</a:t>
            </a:r>
            <a:r>
              <a:rPr lang="en-US" sz="2000" i="1" dirty="0"/>
              <a:t> = </a:t>
            </a:r>
            <a:r>
              <a:rPr lang="en-US" sz="2000" dirty="0"/>
              <a:t>{</a:t>
            </a:r>
            <a:r>
              <a:rPr lang="en-US" sz="2000" i="1" dirty="0"/>
              <a:t>auburn, black, blond, brown, grey, red, white</a:t>
            </a:r>
            <a:r>
              <a:rPr lang="en-US" sz="2000" dirty="0"/>
              <a:t>}</a:t>
            </a:r>
          </a:p>
          <a:p>
            <a:pPr marL="749300" lvl="1" indent="-342900" eaLnBrk="1" hangingPunct="1">
              <a:lnSpc>
                <a:spcPct val="90000"/>
              </a:lnSpc>
            </a:pPr>
            <a:r>
              <a:rPr lang="en-US" sz="2000" dirty="0"/>
              <a:t>marital status, occupation, ID numbers, zip codes</a:t>
            </a:r>
          </a:p>
          <a:p>
            <a:pPr marL="292100" indent="-292100" eaLnBrk="1" hangingPunct="1">
              <a:lnSpc>
                <a:spcPct val="90000"/>
              </a:lnSpc>
            </a:pPr>
            <a:r>
              <a:rPr lang="en-US" sz="2000" b="1" dirty="0"/>
              <a:t>Binary</a:t>
            </a:r>
          </a:p>
          <a:p>
            <a:pPr marL="749300" lvl="1" indent="-342900" eaLnBrk="1" hangingPunct="1">
              <a:lnSpc>
                <a:spcPct val="90000"/>
              </a:lnSpc>
            </a:pPr>
            <a:r>
              <a:rPr lang="en-US" sz="2000" dirty="0"/>
              <a:t>Nominal attribute with only 2 states (0 and 1)</a:t>
            </a:r>
          </a:p>
          <a:p>
            <a:pPr marL="749300" lvl="1" indent="-342900" eaLnBrk="1" hangingPunct="1">
              <a:lnSpc>
                <a:spcPct val="90000"/>
              </a:lnSpc>
            </a:pPr>
            <a:r>
              <a:rPr lang="en-US" sz="2000" u="sng" dirty="0"/>
              <a:t>Symmetric binary</a:t>
            </a:r>
            <a:r>
              <a:rPr lang="en-US" sz="2000" dirty="0"/>
              <a:t>: both outcomes equally important</a:t>
            </a:r>
          </a:p>
          <a:p>
            <a:pPr marL="1257300" lvl="2" indent="-393700" eaLnBrk="1" hangingPunct="1">
              <a:lnSpc>
                <a:spcPct val="90000"/>
              </a:lnSpc>
            </a:pPr>
            <a:r>
              <a:rPr lang="en-US" sz="2000" dirty="0"/>
              <a:t>e.g., gender</a:t>
            </a:r>
          </a:p>
          <a:p>
            <a:pPr marL="749300" lvl="1" indent="-342900" eaLnBrk="1" hangingPunct="1">
              <a:lnSpc>
                <a:spcPct val="90000"/>
              </a:lnSpc>
            </a:pPr>
            <a:r>
              <a:rPr lang="en-US" sz="2000" u="sng" dirty="0"/>
              <a:t>Asymmetric binary</a:t>
            </a:r>
            <a:r>
              <a:rPr lang="en-US" sz="2000" dirty="0"/>
              <a:t>: outcomes not equally important.  </a:t>
            </a:r>
          </a:p>
          <a:p>
            <a:pPr marL="1257300" lvl="2" indent="-393700" eaLnBrk="1" hangingPunct="1">
              <a:lnSpc>
                <a:spcPct val="90000"/>
              </a:lnSpc>
            </a:pPr>
            <a:r>
              <a:rPr lang="en-US" sz="2000" dirty="0"/>
              <a:t>e.g., medical test (positive vs. negative)</a:t>
            </a:r>
          </a:p>
          <a:p>
            <a:pPr marL="1257300" lvl="2" indent="-393700" eaLnBrk="1" hangingPunct="1">
              <a:lnSpc>
                <a:spcPct val="90000"/>
              </a:lnSpc>
            </a:pPr>
            <a:r>
              <a:rPr lang="en-US" sz="2000" dirty="0"/>
              <a:t>Convention: assign 1 to most important outcome (e.g., HIV positive rarest one)</a:t>
            </a:r>
          </a:p>
          <a:p>
            <a:pPr marL="292100" indent="-292100" eaLnBrk="1" hangingPunct="1">
              <a:lnSpc>
                <a:spcPct val="90000"/>
              </a:lnSpc>
            </a:pPr>
            <a:r>
              <a:rPr lang="en-US" sz="2000" b="1" dirty="0"/>
              <a:t>Ordinal</a:t>
            </a:r>
          </a:p>
          <a:p>
            <a:pPr marL="749300" lvl="1" indent="-342900" eaLnBrk="1" hangingPunct="1">
              <a:lnSpc>
                <a:spcPct val="90000"/>
              </a:lnSpc>
            </a:pPr>
            <a:r>
              <a:rPr lang="en-US" sz="2000" dirty="0"/>
              <a:t>Values have a meaningful order (ranking) but magnitude between successive values is not known.</a:t>
            </a:r>
          </a:p>
          <a:p>
            <a:pPr marL="749300" lvl="1" indent="-342900" eaLnBrk="1" hangingPunct="1">
              <a:lnSpc>
                <a:spcPct val="90000"/>
              </a:lnSpc>
            </a:pPr>
            <a:r>
              <a:rPr lang="en-US" sz="2000" i="1" dirty="0"/>
              <a:t>Size = </a:t>
            </a:r>
            <a:r>
              <a:rPr lang="en-US" sz="2000" dirty="0"/>
              <a:t>{</a:t>
            </a:r>
            <a:r>
              <a:rPr lang="en-US" sz="2000" i="1" dirty="0"/>
              <a:t>small, medium, large</a:t>
            </a:r>
            <a:r>
              <a:rPr lang="en-US" sz="2000" dirty="0"/>
              <a:t>}</a:t>
            </a:r>
            <a:r>
              <a:rPr lang="en-US" sz="2000" i="1" dirty="0"/>
              <a:t>,</a:t>
            </a:r>
            <a:r>
              <a:rPr lang="en-US" sz="2000" dirty="0"/>
              <a:t> grades (A, A+), army rankings</a:t>
            </a:r>
          </a:p>
        </p:txBody>
      </p:sp>
    </p:spTree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8B00B735-B1B9-440C-9E15-B01CEDEF1693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solidFill>
                  <a:srgbClr val="170981"/>
                </a:solidFill>
              </a:rPr>
              <a:t>Numeric Attribute Types</a:t>
            </a:r>
            <a:r>
              <a:rPr lang="en-US">
                <a:solidFill>
                  <a:schemeClr val="hlink"/>
                </a:solidFill>
              </a:rPr>
              <a:t> 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382000" cy="5257800"/>
          </a:xfrm>
        </p:spPr>
        <p:txBody>
          <a:bodyPr/>
          <a:lstStyle/>
          <a:p>
            <a:pPr marL="292100" indent="-292100" eaLnBrk="1" hangingPunct="1">
              <a:lnSpc>
                <a:spcPct val="90000"/>
              </a:lnSpc>
            </a:pPr>
            <a:r>
              <a:rPr lang="en-US" sz="2400" dirty="0"/>
              <a:t>Quantity (integer or real-valued)</a:t>
            </a:r>
          </a:p>
          <a:p>
            <a:pPr marL="292100" indent="-292100" eaLnBrk="1" hangingPunct="1">
              <a:lnSpc>
                <a:spcPct val="90000"/>
              </a:lnSpc>
            </a:pPr>
            <a:r>
              <a:rPr lang="en-US" sz="2400" b="1" dirty="0"/>
              <a:t>Interval</a:t>
            </a:r>
          </a:p>
          <a:p>
            <a:pPr marL="1257300" lvl="2" indent="-393700" eaLnBrk="1" hangingPunct="1">
              <a:lnSpc>
                <a:spcPct val="90000"/>
              </a:lnSpc>
            </a:pPr>
            <a:r>
              <a:rPr lang="en-US" dirty="0"/>
              <a:t>Measured on a scale of </a:t>
            </a:r>
            <a:r>
              <a:rPr lang="en-US" b="1" dirty="0"/>
              <a:t>equal-sized units</a:t>
            </a:r>
          </a:p>
          <a:p>
            <a:pPr marL="1257300" lvl="2" indent="-393700" eaLnBrk="1" hangingPunct="1">
              <a:lnSpc>
                <a:spcPct val="90000"/>
              </a:lnSpc>
            </a:pPr>
            <a:r>
              <a:rPr lang="en-US" dirty="0"/>
              <a:t>Values have order</a:t>
            </a:r>
          </a:p>
          <a:p>
            <a:pPr marL="1714500" lvl="3" indent="-393700" eaLnBrk="1" hangingPunct="1">
              <a:lnSpc>
                <a:spcPct val="90000"/>
              </a:lnSpc>
            </a:pPr>
            <a:r>
              <a:rPr lang="en-US" sz="2400" dirty="0"/>
              <a:t>E.g., </a:t>
            </a:r>
            <a:r>
              <a:rPr lang="en-US" sz="2400" i="1" dirty="0"/>
              <a:t>temperature in </a:t>
            </a:r>
            <a:r>
              <a:rPr lang="en-US" sz="2400" i="1" dirty="0" err="1"/>
              <a:t>C</a:t>
            </a:r>
            <a:r>
              <a:rPr lang="en-US" sz="2400" i="1" dirty="0" err="1">
                <a:cs typeface="Tahoma" pitchFamily="34" charset="0"/>
              </a:rPr>
              <a:t>˚</a:t>
            </a:r>
            <a:r>
              <a:rPr lang="en-US" sz="2400" i="1" dirty="0" err="1"/>
              <a:t>or</a:t>
            </a:r>
            <a:r>
              <a:rPr lang="en-US" sz="2400" i="1" dirty="0"/>
              <a:t> F</a:t>
            </a:r>
            <a:r>
              <a:rPr lang="en-US" sz="2400" i="1" dirty="0">
                <a:cs typeface="Tahoma" pitchFamily="34" charset="0"/>
              </a:rPr>
              <a:t>˚</a:t>
            </a:r>
            <a:r>
              <a:rPr lang="en-US" sz="2400" i="1" dirty="0"/>
              <a:t>, calendar dates</a:t>
            </a:r>
          </a:p>
          <a:p>
            <a:pPr marL="1257300" lvl="2" indent="-393700" eaLnBrk="1" hangingPunct="1">
              <a:lnSpc>
                <a:spcPct val="90000"/>
              </a:lnSpc>
            </a:pPr>
            <a:r>
              <a:rPr lang="en-US" dirty="0"/>
              <a:t>No true zero-point. its numeric so mean possible</a:t>
            </a:r>
          </a:p>
          <a:p>
            <a:pPr marL="1257300" lvl="2" indent="-393700" eaLnBrk="1" hangingPunct="1">
              <a:lnSpc>
                <a:spcPct val="90000"/>
              </a:lnSpc>
            </a:pPr>
            <a:r>
              <a:rPr lang="en-US" dirty="0"/>
              <a:t>Cant say 10 C is twice of 5C</a:t>
            </a:r>
          </a:p>
          <a:p>
            <a:pPr marL="292100" indent="-292100" eaLnBrk="1" hangingPunct="1">
              <a:lnSpc>
                <a:spcPct val="90000"/>
              </a:lnSpc>
            </a:pPr>
            <a:r>
              <a:rPr lang="en-US" sz="2400" b="1" dirty="0"/>
              <a:t>Ratio</a:t>
            </a:r>
          </a:p>
          <a:p>
            <a:pPr marL="1257300" lvl="2" indent="-393700" eaLnBrk="1" hangingPunct="1">
              <a:lnSpc>
                <a:spcPct val="90000"/>
              </a:lnSpc>
            </a:pPr>
            <a:r>
              <a:rPr lang="en-US" dirty="0"/>
              <a:t>Inherent </a:t>
            </a:r>
            <a:r>
              <a:rPr lang="en-US" b="1" dirty="0"/>
              <a:t>zero-point</a:t>
            </a:r>
          </a:p>
          <a:p>
            <a:pPr marL="1257300" lvl="2" indent="-393700" eaLnBrk="1" hangingPunct="1">
              <a:lnSpc>
                <a:spcPct val="90000"/>
              </a:lnSpc>
            </a:pPr>
            <a:r>
              <a:rPr lang="en-US" dirty="0"/>
              <a:t>We can speak of values as being an order of magnitude larger than the unit of measurement (10 K</a:t>
            </a:r>
            <a:r>
              <a:rPr lang="en-US" dirty="0">
                <a:cs typeface="Tahoma" pitchFamily="34" charset="0"/>
              </a:rPr>
              <a:t>˚</a:t>
            </a:r>
            <a:r>
              <a:rPr lang="en-US" dirty="0"/>
              <a:t> is twice as high as 5 K</a:t>
            </a:r>
            <a:r>
              <a:rPr lang="en-US" dirty="0">
                <a:cs typeface="Tahoma" pitchFamily="34" charset="0"/>
              </a:rPr>
              <a:t>˚</a:t>
            </a:r>
            <a:r>
              <a:rPr lang="en-US" dirty="0"/>
              <a:t>).</a:t>
            </a:r>
          </a:p>
          <a:p>
            <a:pPr marL="1714500" lvl="3" indent="-393700" eaLnBrk="1" hangingPunct="1">
              <a:lnSpc>
                <a:spcPct val="90000"/>
              </a:lnSpc>
            </a:pPr>
            <a:r>
              <a:rPr lang="en-US" sz="2400" dirty="0"/>
              <a:t>e.g., </a:t>
            </a:r>
            <a:r>
              <a:rPr lang="en-US" sz="2400" i="1" dirty="0"/>
              <a:t>temperature in Kelvin, length, counts, monetary quantities</a:t>
            </a:r>
            <a:endParaRPr lang="en-US" sz="1800" i="1" dirty="0"/>
          </a:p>
        </p:txBody>
      </p:sp>
    </p:spTree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B2C99BAA-2A31-46EC-B708-6A3AB70DB2AE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Discrete vs. Continuous Attributes 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19200"/>
            <a:ext cx="8534400" cy="5257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b="1" dirty="0"/>
              <a:t>Discrete</a:t>
            </a:r>
            <a:r>
              <a:rPr lang="en-US" sz="2400" dirty="0"/>
              <a:t> </a:t>
            </a:r>
            <a:r>
              <a:rPr lang="en-US" sz="2400" b="1" dirty="0"/>
              <a:t>Attribute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Has only a finite or </a:t>
            </a:r>
            <a:r>
              <a:rPr lang="en-US" sz="2400" dirty="0" err="1"/>
              <a:t>countably</a:t>
            </a:r>
            <a:r>
              <a:rPr lang="en-US" sz="2400" dirty="0"/>
              <a:t> infinite set of values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dirty="0"/>
              <a:t>E.g., zip codes, profession, or the set of words in a collection of documents (Binary or 0 to 110 for age)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Sometimes, represented as integer variables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Note: Binary attributes are a special case of discrete attributes 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b="1" dirty="0"/>
              <a:t>Continuous</a:t>
            </a:r>
            <a:r>
              <a:rPr lang="en-US" sz="2400" dirty="0"/>
              <a:t> </a:t>
            </a:r>
            <a:r>
              <a:rPr lang="en-US" sz="2400" b="1" dirty="0"/>
              <a:t>Attribute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Has real numbers as attribute values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dirty="0"/>
              <a:t>E.g., temperature, height, or weight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Practically, real values can only be measured and represented using a finite number of digits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Continuous attributes are typically represented as floating-point variables</a:t>
            </a:r>
          </a:p>
        </p:txBody>
      </p:sp>
    </p:spTree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6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5EA2E987-B08D-40D8-A69C-72F61AADFF43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solidFill>
                  <a:srgbClr val="170981"/>
                </a:solidFill>
              </a:rPr>
              <a:t>Measuring the Central Tendency</a:t>
            </a:r>
            <a:endParaRPr lang="en-US" sz="4000">
              <a:solidFill>
                <a:srgbClr val="170981"/>
              </a:solidFill>
            </a:endParaRP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1143000"/>
            <a:ext cx="6477000" cy="5029200"/>
          </a:xfrm>
        </p:spPr>
        <p:txBody>
          <a:bodyPr/>
          <a:lstStyle/>
          <a:p>
            <a:pPr eaLnBrk="1" hangingPunct="1">
              <a:lnSpc>
                <a:spcPct val="130000"/>
              </a:lnSpc>
              <a:buSzPct val="80000"/>
            </a:pPr>
            <a:r>
              <a:rPr lang="en-US" sz="1800" u="sng" dirty="0"/>
              <a:t>Mean (algebraic measure) (sample vs. population):</a:t>
            </a:r>
          </a:p>
          <a:p>
            <a:pPr lvl="1" eaLnBrk="1" hangingPunct="1">
              <a:lnSpc>
                <a:spcPct val="130000"/>
              </a:lnSpc>
              <a:buSzPct val="80000"/>
              <a:buFont typeface="Wingdings" pitchFamily="2" charset="2"/>
              <a:buNone/>
            </a:pPr>
            <a:r>
              <a:rPr lang="en-US" sz="1800" dirty="0"/>
              <a:t>Note: </a:t>
            </a:r>
            <a:r>
              <a:rPr lang="en-US" sz="1800" i="1" dirty="0"/>
              <a:t>n</a:t>
            </a:r>
            <a:r>
              <a:rPr lang="en-US" sz="1800" dirty="0"/>
              <a:t> is sample size and </a:t>
            </a:r>
            <a:r>
              <a:rPr lang="en-US" sz="1800" i="1" dirty="0"/>
              <a:t>N</a:t>
            </a:r>
            <a:r>
              <a:rPr lang="en-US" sz="1800" dirty="0"/>
              <a:t> is population size. </a:t>
            </a:r>
          </a:p>
          <a:p>
            <a:pPr lvl="1" eaLnBrk="1" hangingPunct="1">
              <a:lnSpc>
                <a:spcPct val="130000"/>
              </a:lnSpc>
              <a:buSzPct val="80000"/>
            </a:pPr>
            <a:r>
              <a:rPr lang="en-US" sz="1800" dirty="0"/>
              <a:t>Weighted arithmetic mean: (for frequency or importance)</a:t>
            </a:r>
          </a:p>
          <a:p>
            <a:pPr lvl="1" eaLnBrk="1" hangingPunct="1">
              <a:lnSpc>
                <a:spcPct val="130000"/>
              </a:lnSpc>
              <a:buSzPct val="80000"/>
            </a:pPr>
            <a:r>
              <a:rPr lang="en-US" sz="1800" dirty="0"/>
              <a:t>Trimmed mean: chopping extreme values say 2%</a:t>
            </a:r>
          </a:p>
          <a:p>
            <a:pPr eaLnBrk="1" hangingPunct="1">
              <a:lnSpc>
                <a:spcPct val="130000"/>
              </a:lnSpc>
              <a:buSzPct val="80000"/>
            </a:pPr>
            <a:r>
              <a:rPr lang="en-US" sz="1800" u="sng" dirty="0"/>
              <a:t>Median</a:t>
            </a:r>
            <a:r>
              <a:rPr lang="en-US" sz="1800" dirty="0"/>
              <a:t>: </a:t>
            </a:r>
          </a:p>
          <a:p>
            <a:pPr lvl="1" eaLnBrk="1" hangingPunct="1">
              <a:lnSpc>
                <a:spcPct val="130000"/>
              </a:lnSpc>
              <a:buSzPct val="80000"/>
            </a:pPr>
            <a:r>
              <a:rPr lang="en-US" sz="1800" dirty="0"/>
              <a:t>Middle value if odd, average of the middle two values </a:t>
            </a:r>
          </a:p>
          <a:p>
            <a:pPr eaLnBrk="1" hangingPunct="1">
              <a:lnSpc>
                <a:spcPct val="130000"/>
              </a:lnSpc>
              <a:buSzPct val="80000"/>
            </a:pPr>
            <a:r>
              <a:rPr lang="en-US" sz="1800" u="sng" dirty="0"/>
              <a:t>Mode</a:t>
            </a:r>
          </a:p>
          <a:p>
            <a:pPr lvl="1" eaLnBrk="1" hangingPunct="1">
              <a:lnSpc>
                <a:spcPct val="130000"/>
              </a:lnSpc>
              <a:buSzPct val="80000"/>
            </a:pPr>
            <a:r>
              <a:rPr lang="en-US" sz="1800" dirty="0"/>
              <a:t>Value that occurs most frequently in the data</a:t>
            </a:r>
          </a:p>
          <a:p>
            <a:pPr lvl="1" eaLnBrk="1" hangingPunct="1">
              <a:lnSpc>
                <a:spcPct val="130000"/>
              </a:lnSpc>
              <a:buSzPct val="80000"/>
            </a:pPr>
            <a:r>
              <a:rPr lang="en-US" sz="1800" dirty="0"/>
              <a:t>Unimodal, bimodal, trimodal</a:t>
            </a:r>
          </a:p>
          <a:p>
            <a:pPr marL="457200" lvl="1" indent="0" eaLnBrk="1" hangingPunct="1">
              <a:lnSpc>
                <a:spcPct val="130000"/>
              </a:lnSpc>
              <a:buSzPct val="80000"/>
              <a:buNone/>
            </a:pPr>
            <a:endParaRPr lang="en-US" sz="1800" dirty="0"/>
          </a:p>
          <a:p>
            <a:pPr eaLnBrk="1" hangingPunct="1">
              <a:lnSpc>
                <a:spcPct val="130000"/>
              </a:lnSpc>
              <a:buSzPct val="80000"/>
            </a:pPr>
            <a:endParaRPr lang="en-US" sz="1800" dirty="0"/>
          </a:p>
        </p:txBody>
      </p:sp>
      <p:graphicFrame>
        <p:nvGraphicFramePr>
          <p:cNvPr id="15365" name="Object 4"/>
          <p:cNvGraphicFramePr>
            <a:graphicFrameLocks noChangeAspect="1"/>
          </p:cNvGraphicFramePr>
          <p:nvPr/>
        </p:nvGraphicFramePr>
        <p:xfrm>
          <a:off x="6019800" y="1143000"/>
          <a:ext cx="1752600" cy="84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2" name="Microsoft Equation 3.0" r:id="rId4" imgW="710891" imgH="431613" progId="Equation.3">
                  <p:embed/>
                </p:oleObj>
              </mc:Choice>
              <mc:Fallback>
                <p:oleObj name="Microsoft Equation 3.0" r:id="rId4" imgW="710891" imgH="431613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1143000"/>
                        <a:ext cx="1752600" cy="846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6" name="Object 5"/>
          <p:cNvGraphicFramePr>
            <a:graphicFrameLocks noChangeAspect="1"/>
          </p:cNvGraphicFramePr>
          <p:nvPr/>
        </p:nvGraphicFramePr>
        <p:xfrm>
          <a:off x="5715000" y="1981200"/>
          <a:ext cx="1600200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3" name="Equation" r:id="rId6" imgW="749300" imgH="838200" progId="Equation.3">
                  <p:embed/>
                </p:oleObj>
              </mc:Choice>
              <mc:Fallback>
                <p:oleObj name="Equation" r:id="rId6" imgW="749300" imgH="838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1981200"/>
                        <a:ext cx="1600200" cy="1447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9" name="Object 8"/>
          <p:cNvGraphicFramePr>
            <a:graphicFrameLocks noGrp="1" noChangeAspect="1"/>
          </p:cNvGraphicFramePr>
          <p:nvPr>
            <p:ph sz="half" idx="2"/>
          </p:nvPr>
        </p:nvGraphicFramePr>
        <p:xfrm>
          <a:off x="8001000" y="1130300"/>
          <a:ext cx="10668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4" name="Equation" r:id="rId8" imgW="596900" imgH="431800" progId="Equation.3">
                  <p:embed/>
                </p:oleObj>
              </mc:Choice>
              <mc:Fallback>
                <p:oleObj name="Equation" r:id="rId8" imgW="596900" imgH="4318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0" y="1130300"/>
                        <a:ext cx="1066800" cy="771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6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AD2F445D-6A3C-4483-88AA-8C17E4F13410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solidFill>
                  <a:srgbClr val="170981"/>
                </a:solidFill>
              </a:rPr>
              <a:t>Measuring the Dispersion of Data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295400"/>
            <a:ext cx="8610600" cy="5029200"/>
          </a:xfrm>
        </p:spPr>
        <p:txBody>
          <a:bodyPr/>
          <a:lstStyle/>
          <a:p>
            <a:pPr eaLnBrk="1" hangingPunct="1">
              <a:lnSpc>
                <a:spcPct val="130000"/>
              </a:lnSpc>
              <a:buSzPct val="80000"/>
            </a:pPr>
            <a:r>
              <a:rPr lang="en-US" sz="1800" dirty="0"/>
              <a:t>Quartiles, outliers and </a:t>
            </a:r>
            <a:r>
              <a:rPr lang="en-US" sz="1800" dirty="0" err="1"/>
              <a:t>boxplots</a:t>
            </a:r>
            <a:endParaRPr lang="en-US" sz="1800" dirty="0"/>
          </a:p>
          <a:p>
            <a:pPr lvl="1" eaLnBrk="1" hangingPunct="1">
              <a:lnSpc>
                <a:spcPct val="130000"/>
              </a:lnSpc>
              <a:buSzPct val="80000"/>
            </a:pPr>
            <a:r>
              <a:rPr lang="en-US" sz="1800" b="1" dirty="0"/>
              <a:t>Quartiles</a:t>
            </a:r>
            <a:r>
              <a:rPr lang="en-US" sz="1800" dirty="0"/>
              <a:t>: Q</a:t>
            </a:r>
            <a:r>
              <a:rPr lang="en-US" sz="1800" baseline="-25000" dirty="0"/>
              <a:t>1</a:t>
            </a:r>
            <a:r>
              <a:rPr lang="en-US" sz="1800" dirty="0"/>
              <a:t> (25</a:t>
            </a:r>
            <a:r>
              <a:rPr lang="en-US" sz="1800" baseline="30000" dirty="0"/>
              <a:t>th</a:t>
            </a:r>
            <a:r>
              <a:rPr lang="en-US" sz="1800" dirty="0"/>
              <a:t> percentile), Q</a:t>
            </a:r>
            <a:r>
              <a:rPr lang="en-US" sz="1800" baseline="-25000" dirty="0"/>
              <a:t>3</a:t>
            </a:r>
            <a:r>
              <a:rPr lang="en-US" sz="1800" dirty="0"/>
              <a:t> (75</a:t>
            </a:r>
            <a:r>
              <a:rPr lang="en-US" sz="1800" baseline="30000" dirty="0"/>
              <a:t>th</a:t>
            </a:r>
            <a:r>
              <a:rPr lang="en-US" sz="1800" dirty="0"/>
              <a:t> percentile)</a:t>
            </a:r>
          </a:p>
          <a:p>
            <a:pPr lvl="1" eaLnBrk="1" hangingPunct="1">
              <a:lnSpc>
                <a:spcPct val="130000"/>
              </a:lnSpc>
              <a:buSzPct val="80000"/>
            </a:pPr>
            <a:r>
              <a:rPr lang="en-US" sz="1800" b="1" dirty="0"/>
              <a:t>Inter-quartile range</a:t>
            </a:r>
            <a:r>
              <a:rPr lang="en-US" sz="1800" dirty="0"/>
              <a:t>: IQR = Q</a:t>
            </a:r>
            <a:r>
              <a:rPr lang="en-US" sz="1800" baseline="-25000" dirty="0"/>
              <a:t>3 </a:t>
            </a:r>
            <a:r>
              <a:rPr lang="en-US" sz="1800" dirty="0"/>
              <a:t>–</a:t>
            </a:r>
            <a:r>
              <a:rPr lang="en-US" sz="1800" baseline="-25000" dirty="0"/>
              <a:t> </a:t>
            </a:r>
            <a:r>
              <a:rPr lang="en-US" sz="1800" dirty="0"/>
              <a:t>Q</a:t>
            </a:r>
            <a:r>
              <a:rPr lang="en-US" sz="1800" baseline="-25000" dirty="0"/>
              <a:t>1 </a:t>
            </a:r>
          </a:p>
          <a:p>
            <a:r>
              <a:rPr lang="en-US" sz="1800" b="1" dirty="0"/>
              <a:t>Outlier</a:t>
            </a:r>
            <a:r>
              <a:rPr lang="en-US" sz="1800" dirty="0"/>
              <a:t>: usually, a value higher/lower than 1.5 x IQR above 3</a:t>
            </a:r>
            <a:r>
              <a:rPr lang="en-US" sz="1800" baseline="30000" dirty="0"/>
              <a:t>rd</a:t>
            </a:r>
            <a:r>
              <a:rPr lang="en-US" sz="1800" dirty="0"/>
              <a:t> or below </a:t>
            </a:r>
            <a:r>
              <a:rPr lang="en-US" sz="1800" dirty="0" err="1"/>
              <a:t>ist</a:t>
            </a:r>
            <a:r>
              <a:rPr lang="en-US" sz="1800" dirty="0"/>
              <a:t> quartile. the whiskers terminate at the most extreme observations occurring within 1.5IQR of the quartiles. The remaining cases are plotted individually</a:t>
            </a:r>
          </a:p>
          <a:p>
            <a:pPr lvl="1" eaLnBrk="1" hangingPunct="1">
              <a:lnSpc>
                <a:spcPct val="130000"/>
              </a:lnSpc>
              <a:buSzPct val="80000"/>
            </a:pPr>
            <a:r>
              <a:rPr lang="en-US" sz="1800" b="1" dirty="0"/>
              <a:t>Variance</a:t>
            </a:r>
            <a:r>
              <a:rPr lang="en-US" sz="1800" dirty="0"/>
              <a:t>: (algebraic, scalable computation)</a:t>
            </a:r>
          </a:p>
          <a:p>
            <a:pPr lvl="1" eaLnBrk="1" hangingPunct="1">
              <a:lnSpc>
                <a:spcPct val="130000"/>
              </a:lnSpc>
              <a:buSzPct val="80000"/>
            </a:pPr>
            <a:r>
              <a:rPr lang="en-US" sz="1800" b="1" dirty="0"/>
              <a:t>Standard deviation</a:t>
            </a:r>
            <a:r>
              <a:rPr lang="en-US" sz="1800" i="1" dirty="0"/>
              <a:t> s (or </a:t>
            </a:r>
            <a:r>
              <a:rPr lang="el-GR" sz="1800" i="1" dirty="0"/>
              <a:t>σ</a:t>
            </a:r>
            <a:r>
              <a:rPr lang="en-US" sz="1800" i="1" dirty="0"/>
              <a:t>) </a:t>
            </a:r>
            <a:r>
              <a:rPr lang="en-US" sz="1800" dirty="0"/>
              <a:t>is the square root of variance </a:t>
            </a:r>
            <a:r>
              <a:rPr lang="en-US" sz="1800" i="1" dirty="0"/>
              <a:t>s</a:t>
            </a:r>
            <a:r>
              <a:rPr lang="en-US" sz="1800" i="1" baseline="30000" dirty="0"/>
              <a:t>2 (</a:t>
            </a:r>
            <a:r>
              <a:rPr lang="en-US" sz="1800" i="1" dirty="0"/>
              <a:t>or</a:t>
            </a:r>
            <a:r>
              <a:rPr lang="en-US" sz="1800" i="1" baseline="30000" dirty="0"/>
              <a:t> </a:t>
            </a:r>
            <a:r>
              <a:rPr lang="el-GR" sz="1800" i="1" dirty="0"/>
              <a:t>σ</a:t>
            </a:r>
            <a:r>
              <a:rPr lang="en-US" sz="1800" i="1" baseline="30000" dirty="0"/>
              <a:t>2)</a:t>
            </a:r>
          </a:p>
        </p:txBody>
      </p:sp>
    </p:spTree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0A1AA27-7141-4710-806A-2A4DA8E1CD88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pic>
        <p:nvPicPr>
          <p:cNvPr id="133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888" y="381000"/>
            <a:ext cx="8789462" cy="624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56BF4940-BEC3-4FFF-95C2-D83B3DC2E0EA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solidFill>
                  <a:srgbClr val="170981"/>
                </a:solidFill>
              </a:rPr>
              <a:t>Similarity and Dissimilarity</a:t>
            </a:r>
          </a:p>
        </p:txBody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534400" cy="5181600"/>
          </a:xfrm>
        </p:spPr>
        <p:txBody>
          <a:bodyPr/>
          <a:lstStyle/>
          <a:p>
            <a:pPr eaLnBrk="1" hangingPunct="1"/>
            <a:r>
              <a:rPr lang="en-US" sz="2400" b="1"/>
              <a:t>Similarity</a:t>
            </a:r>
          </a:p>
          <a:p>
            <a:pPr lvl="1" eaLnBrk="1" hangingPunct="1"/>
            <a:r>
              <a:rPr lang="en-US" sz="2400"/>
              <a:t>Numerical measure of how alike two data objects are</a:t>
            </a:r>
          </a:p>
          <a:p>
            <a:pPr lvl="1" eaLnBrk="1" hangingPunct="1"/>
            <a:r>
              <a:rPr lang="en-US" sz="2400"/>
              <a:t>Value is higher when objects are more alike</a:t>
            </a:r>
          </a:p>
          <a:p>
            <a:pPr lvl="1" eaLnBrk="1" hangingPunct="1"/>
            <a:r>
              <a:rPr lang="en-US" sz="2400"/>
              <a:t>Often falls in the range [0,1]</a:t>
            </a:r>
          </a:p>
          <a:p>
            <a:pPr eaLnBrk="1" hangingPunct="1"/>
            <a:r>
              <a:rPr lang="en-US" sz="2400" b="1"/>
              <a:t>Dissimilarity</a:t>
            </a:r>
            <a:r>
              <a:rPr lang="en-US" sz="2400"/>
              <a:t> (e.g., distance)</a:t>
            </a:r>
          </a:p>
          <a:p>
            <a:pPr lvl="1" eaLnBrk="1" hangingPunct="1"/>
            <a:r>
              <a:rPr lang="en-US" sz="2400"/>
              <a:t>Numerical measure of how different two data objects are</a:t>
            </a:r>
          </a:p>
          <a:p>
            <a:pPr lvl="1" eaLnBrk="1" hangingPunct="1"/>
            <a:r>
              <a:rPr lang="en-US" sz="2400"/>
              <a:t>Lower when objects are more alike</a:t>
            </a:r>
          </a:p>
          <a:p>
            <a:pPr lvl="1" eaLnBrk="1" hangingPunct="1"/>
            <a:r>
              <a:rPr lang="en-US" sz="2400"/>
              <a:t>Minimum dissimilarity is often 0</a:t>
            </a:r>
          </a:p>
          <a:p>
            <a:pPr lvl="1" eaLnBrk="1" hangingPunct="1"/>
            <a:r>
              <a:rPr lang="en-US" sz="2400"/>
              <a:t>Upper limit varies</a:t>
            </a:r>
          </a:p>
          <a:p>
            <a:pPr eaLnBrk="1" hangingPunct="1"/>
            <a:r>
              <a:rPr lang="en-US" sz="2400" b="1"/>
              <a:t>Proximity</a:t>
            </a:r>
            <a:r>
              <a:rPr lang="en-US" sz="2400"/>
              <a:t> refers to a similarity or dissimilarity</a:t>
            </a:r>
          </a:p>
        </p:txBody>
      </p:sp>
    </p:spTree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A04E78F9-0123-4906-9FD5-42215F727B7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427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001000" cy="609600"/>
          </a:xfrm>
        </p:spPr>
        <p:txBody>
          <a:bodyPr/>
          <a:lstStyle/>
          <a:p>
            <a:pPr eaLnBrk="1" hangingPunct="1"/>
            <a:r>
              <a:rPr lang="en-US"/>
              <a:t>Data Matrix and Dissimilarity Matrix</a:t>
            </a:r>
          </a:p>
        </p:txBody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143000"/>
            <a:ext cx="3962400" cy="5181600"/>
          </a:xfrm>
        </p:spPr>
        <p:txBody>
          <a:bodyPr/>
          <a:lstStyle/>
          <a:p>
            <a:pPr eaLnBrk="1" hangingPunct="1"/>
            <a:r>
              <a:rPr lang="en-US" sz="2400" dirty="0">
                <a:solidFill>
                  <a:schemeClr val="hlink"/>
                </a:solidFill>
              </a:rPr>
              <a:t>Data matrix</a:t>
            </a:r>
          </a:p>
          <a:p>
            <a:pPr lvl="1" eaLnBrk="1" hangingPunct="1"/>
            <a:r>
              <a:rPr lang="en-US" sz="2400" dirty="0"/>
              <a:t>Object by attribute structure(n x p)</a:t>
            </a:r>
          </a:p>
          <a:p>
            <a:pPr lvl="1" eaLnBrk="1" hangingPunct="1"/>
            <a:r>
              <a:rPr lang="en-US" sz="2400" dirty="0"/>
              <a:t>n data points with p dimensions</a:t>
            </a:r>
          </a:p>
          <a:p>
            <a:pPr lvl="1" eaLnBrk="1" hangingPunct="1"/>
            <a:r>
              <a:rPr lang="en-US" sz="2400" dirty="0"/>
              <a:t>Two modes</a:t>
            </a:r>
          </a:p>
          <a:p>
            <a:pPr eaLnBrk="1" hangingPunct="1"/>
            <a:r>
              <a:rPr lang="en-US" sz="2400" dirty="0">
                <a:solidFill>
                  <a:schemeClr val="hlink"/>
                </a:solidFill>
              </a:rPr>
              <a:t>Dissimilarity matrix</a:t>
            </a:r>
          </a:p>
          <a:p>
            <a:pPr lvl="1" eaLnBrk="1" hangingPunct="1"/>
            <a:r>
              <a:rPr lang="en-US" sz="2400" dirty="0"/>
              <a:t>Object by object structure(n x n)</a:t>
            </a:r>
          </a:p>
          <a:p>
            <a:pPr lvl="1" eaLnBrk="1" hangingPunct="1"/>
            <a:r>
              <a:rPr lang="en-US" sz="2400" dirty="0"/>
              <a:t>n data points, but registers only the distance </a:t>
            </a:r>
          </a:p>
          <a:p>
            <a:pPr lvl="1" eaLnBrk="1" hangingPunct="1"/>
            <a:r>
              <a:rPr lang="en-US" sz="2400" dirty="0"/>
              <a:t>A triangular matrix</a:t>
            </a:r>
          </a:p>
          <a:p>
            <a:pPr lvl="1" eaLnBrk="1" hangingPunct="1"/>
            <a:r>
              <a:rPr lang="en-US" sz="2400" dirty="0"/>
              <a:t>Single mode</a:t>
            </a:r>
          </a:p>
        </p:txBody>
      </p:sp>
      <p:graphicFrame>
        <p:nvGraphicFramePr>
          <p:cNvPr id="54277" name="Object 4"/>
          <p:cNvGraphicFramePr>
            <a:graphicFrameLocks noChangeAspect="1"/>
          </p:cNvGraphicFramePr>
          <p:nvPr/>
        </p:nvGraphicFramePr>
        <p:xfrm>
          <a:off x="4419600" y="1752600"/>
          <a:ext cx="3124200" cy="205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87" name="Equation" r:id="rId4" imgW="1778000" imgH="1244600" progId="Equation.3">
                  <p:embed/>
                </p:oleObj>
              </mc:Choice>
              <mc:Fallback>
                <p:oleObj name="Equation" r:id="rId4" imgW="1778000" imgH="1244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1752600"/>
                        <a:ext cx="3124200" cy="2058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8" name="Object 5"/>
          <p:cNvGraphicFramePr>
            <a:graphicFrameLocks noChangeAspect="1"/>
          </p:cNvGraphicFramePr>
          <p:nvPr/>
        </p:nvGraphicFramePr>
        <p:xfrm>
          <a:off x="4419600" y="4191000"/>
          <a:ext cx="3429000" cy="197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88" name="Equation" r:id="rId6" imgW="1828800" imgH="1143000" progId="Equation.3">
                  <p:embed/>
                </p:oleObj>
              </mc:Choice>
              <mc:Fallback>
                <p:oleObj name="Equation" r:id="rId6" imgW="1828800" imgH="11430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4191000"/>
                        <a:ext cx="3429000" cy="1970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Berlin Sans FB Demi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Watermark</Template>
  <TotalTime>13771</TotalTime>
  <Words>787</Words>
  <Application>Microsoft Office PowerPoint</Application>
  <PresentationFormat>On-screen Show (4:3)</PresentationFormat>
  <Paragraphs>116</Paragraphs>
  <Slides>11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Berlin Sans FB Demi</vt:lpstr>
      <vt:lpstr>Tahoma</vt:lpstr>
      <vt:lpstr>Times New Roman</vt:lpstr>
      <vt:lpstr>Wingdings</vt:lpstr>
      <vt:lpstr>Blends</vt:lpstr>
      <vt:lpstr>Microsoft Equation 3.0</vt:lpstr>
      <vt:lpstr>Equation</vt:lpstr>
      <vt:lpstr>Data Mining:   Concepts and Techniques   — Chapter 2 — Know Your Data</vt:lpstr>
      <vt:lpstr>Data Objects</vt:lpstr>
      <vt:lpstr>Attributes</vt:lpstr>
      <vt:lpstr>Attribute Types </vt:lpstr>
      <vt:lpstr>Numeric Attribute Types </vt:lpstr>
      <vt:lpstr>Discrete vs. Continuous Attributes </vt:lpstr>
      <vt:lpstr>Measuring the Central Tendency</vt:lpstr>
      <vt:lpstr>Measuring the Dispersion of Data</vt:lpstr>
      <vt:lpstr>PowerPoint Presentation</vt:lpstr>
      <vt:lpstr>Similarity and Dissimilarity</vt:lpstr>
      <vt:lpstr>Data Matrix and Dissimilarity Matrix</vt:lpstr>
    </vt:vector>
  </TitlesOfParts>
  <Company>S.F.U.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Jiawei Han</dc:creator>
  <cp:lastModifiedBy>pc</cp:lastModifiedBy>
  <cp:revision>795</cp:revision>
  <cp:lastPrinted>1999-09-10T20:38:56Z</cp:lastPrinted>
  <dcterms:created xsi:type="dcterms:W3CDTF">1998-06-19T04:38:52Z</dcterms:created>
  <dcterms:modified xsi:type="dcterms:W3CDTF">2020-11-08T09:32:33Z</dcterms:modified>
</cp:coreProperties>
</file>