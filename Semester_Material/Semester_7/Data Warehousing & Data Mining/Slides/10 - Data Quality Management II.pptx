
<file path=[Content_Types].xml><?xml version="1.0" encoding="utf-8"?>
<Types xmlns="http://schemas.openxmlformats.org/package/2006/content-types">
  <Default Extension="png" ContentType="image/png"/>
  <Default Extension="jpeg" ContentType="image/jpeg"/>
  <Default Extension="m4a" ContentType="audio/unknown"/>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65302" autoAdjust="0"/>
  </p:normalViewPr>
  <p:slideViewPr>
    <p:cSldViewPr>
      <p:cViewPr>
        <p:scale>
          <a:sx n="100" d="100"/>
          <a:sy n="100" d="100"/>
        </p:scale>
        <p:origin x="-516" y="1644"/>
      </p:cViewPr>
      <p:guideLst>
        <p:guide orient="horz" pos="2160"/>
        <p:guide pos="2880"/>
      </p:guideLst>
    </p:cSldViewPr>
  </p:slideViewPr>
  <p:outlineViewPr>
    <p:cViewPr>
      <p:scale>
        <a:sx n="33" d="100"/>
        <a:sy n="33" d="100"/>
      </p:scale>
      <p:origin x="0" y="2868"/>
    </p:cViewPr>
  </p:outlineViewPr>
  <p:notesTextViewPr>
    <p:cViewPr>
      <p:scale>
        <a:sx n="1" d="1"/>
        <a:sy n="1" d="1"/>
      </p:scale>
      <p:origin x="0" y="0"/>
    </p:cViewPr>
  </p:notesTextViewPr>
  <p:notesViewPr>
    <p:cSldViewPr>
      <p:cViewPr varScale="1">
        <p:scale>
          <a:sx n="56" d="100"/>
          <a:sy n="56" d="100"/>
        </p:scale>
        <p:origin x="-2838"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CA01772-1C00-4C9F-98F6-DA5D65E0E3EB}" type="datetimeFigureOut">
              <a:rPr lang="en-US" smtClean="0"/>
              <a:t>7/6/2020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3208497-4EC4-4467-A639-CDBE6BF368E4}" type="slidenum">
              <a:rPr lang="en-US" smtClean="0"/>
              <a:t>‹#›</a:t>
            </a:fld>
            <a:endParaRPr lang="en-US"/>
          </a:p>
        </p:txBody>
      </p:sp>
    </p:spTree>
    <p:extLst>
      <p:ext uri="{BB962C8B-B14F-4D97-AF65-F5344CB8AC3E}">
        <p14:creationId xmlns:p14="http://schemas.microsoft.com/office/powerpoint/2010/main" val="10210024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AoA</a:t>
            </a:r>
            <a:r>
              <a:rPr lang="en-US" dirty="0" smtClean="0"/>
              <a:t> Students, Welcome to another lecture of our audio based lectures series. In the last lecture, we started</a:t>
            </a:r>
            <a:r>
              <a:rPr lang="en-US" baseline="0" dirty="0" smtClean="0"/>
              <a:t> discussion on indicators of low quality data. In today’s lecture, we will discuss about possible causes of low quality data and source of data pollution.</a:t>
            </a:r>
            <a:endParaRPr lang="en-US" dirty="0" smtClean="0"/>
          </a:p>
        </p:txBody>
      </p:sp>
      <p:sp>
        <p:nvSpPr>
          <p:cNvPr id="4" name="Slide Number Placeholder 3"/>
          <p:cNvSpPr>
            <a:spLocks noGrp="1"/>
          </p:cNvSpPr>
          <p:nvPr>
            <p:ph type="sldNum" sz="quarter" idx="10"/>
          </p:nvPr>
        </p:nvSpPr>
        <p:spPr/>
        <p:txBody>
          <a:bodyPr/>
          <a:lstStyle/>
          <a:p>
            <a:fld id="{33208497-4EC4-4467-A639-CDBE6BF368E4}" type="slidenum">
              <a:rPr lang="en-US" smtClean="0"/>
              <a:t>1</a:t>
            </a:fld>
            <a:endParaRPr lang="en-US"/>
          </a:p>
        </p:txBody>
      </p:sp>
    </p:spTree>
    <p:extLst>
      <p:ext uri="{BB962C8B-B14F-4D97-AF65-F5344CB8AC3E}">
        <p14:creationId xmlns:p14="http://schemas.microsoft.com/office/powerpoint/2010/main" val="23929938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a:t>
            </a:r>
            <a:r>
              <a:rPr lang="en-US" baseline="0" dirty="0" smtClean="0"/>
              <a:t> this slide I will elaborate some possible causes of low quality. So here is the detail:</a:t>
            </a:r>
          </a:p>
          <a:p>
            <a:endParaRPr lang="en-US" baseline="0" dirty="0" smtClean="0"/>
          </a:p>
          <a:p>
            <a:pPr marL="228600" indent="-228600">
              <a:buAutoNum type="arabicPeriod"/>
            </a:pPr>
            <a:r>
              <a:rPr lang="en-US" baseline="0" dirty="0" smtClean="0"/>
              <a:t>Dummy values, some times people enter dummy values in a field. For example, to pass a check on postal code, we enter dummy or not precise information such as 4444 as dummy value or we may enter 54000 for all regions of Lahore.</a:t>
            </a:r>
          </a:p>
          <a:p>
            <a:pPr marL="228600" indent="-228600">
              <a:buAutoNum type="arabicPeriod"/>
            </a:pPr>
            <a:r>
              <a:rPr lang="en-US" baseline="0" dirty="0" smtClean="0"/>
              <a:t>Absence of data values: This means that the data values has not been entered. For example not a complete address where either city, country or other part of the address is missing.</a:t>
            </a:r>
          </a:p>
          <a:p>
            <a:pPr marL="228600" indent="-228600">
              <a:buAutoNum type="arabicPeriod"/>
            </a:pPr>
            <a:r>
              <a:rPr lang="en-US" baseline="0" dirty="0" smtClean="0"/>
              <a:t>Unofficial use of field: This means to enter an information in a field for which that field is not meant for. For example, writing comments in the contact field of the customer.</a:t>
            </a:r>
          </a:p>
          <a:p>
            <a:pPr marL="228600" indent="-228600">
              <a:buAutoNum type="arabicPeriod"/>
            </a:pPr>
            <a:endParaRPr lang="en-US" baseline="0" dirty="0" smtClean="0"/>
          </a:p>
          <a:p>
            <a:pPr marL="0" indent="0">
              <a:buNone/>
            </a:pPr>
            <a:r>
              <a:rPr lang="en-US" baseline="0" dirty="0" smtClean="0"/>
              <a:t>Please move to the next slide</a:t>
            </a:r>
          </a:p>
          <a:p>
            <a:pPr marL="0" indent="0">
              <a:buNone/>
            </a:pPr>
            <a:endParaRPr lang="en-US" dirty="0"/>
          </a:p>
        </p:txBody>
      </p:sp>
      <p:sp>
        <p:nvSpPr>
          <p:cNvPr id="4" name="Slide Number Placeholder 3"/>
          <p:cNvSpPr>
            <a:spLocks noGrp="1"/>
          </p:cNvSpPr>
          <p:nvPr>
            <p:ph type="sldNum" sz="quarter" idx="10"/>
          </p:nvPr>
        </p:nvSpPr>
        <p:spPr/>
        <p:txBody>
          <a:bodyPr/>
          <a:lstStyle/>
          <a:p>
            <a:fld id="{33208497-4EC4-4467-A639-CDBE6BF368E4}" type="slidenum">
              <a:rPr lang="en-US" smtClean="0"/>
              <a:t>2</a:t>
            </a:fld>
            <a:endParaRPr lang="en-US"/>
          </a:p>
        </p:txBody>
      </p:sp>
    </p:spTree>
    <p:extLst>
      <p:ext uri="{BB962C8B-B14F-4D97-AF65-F5344CB8AC3E}">
        <p14:creationId xmlns:p14="http://schemas.microsoft.com/office/powerpoint/2010/main" val="1060024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4. Cryptic Information. It</a:t>
            </a:r>
            <a:r>
              <a:rPr lang="en-US" baseline="0" dirty="0" smtClean="0"/>
              <a:t> means some reserve codes that were intended for something in past but over the time its meaning has changed. For example, at one time an operational system was using ‘R’ for ‘remove’ then later for ‘reduced’ and some other time point for ‘recovery’. It can be seen that the meaning of ‘R’ has changed over the period of time. We need to be careful while dealing with such situation and resolve this issue before loading data in data warehouse.</a:t>
            </a:r>
          </a:p>
          <a:p>
            <a:endParaRPr lang="en-US" baseline="0" dirty="0" smtClean="0"/>
          </a:p>
          <a:p>
            <a:r>
              <a:rPr lang="en-US" baseline="0" dirty="0" smtClean="0"/>
              <a:t>5. Contradicting values: It means that compatible fields must not contradict. For example. Two fields, i.e., zip code and city information can have values 54000 and Lahore respectively. However, if there is some entry of another city name with zip code 54000 that means that quality of data is low.</a:t>
            </a:r>
            <a:endParaRPr lang="en-US" dirty="0"/>
          </a:p>
        </p:txBody>
      </p:sp>
      <p:sp>
        <p:nvSpPr>
          <p:cNvPr id="4" name="Slide Number Placeholder 3"/>
          <p:cNvSpPr>
            <a:spLocks noGrp="1"/>
          </p:cNvSpPr>
          <p:nvPr>
            <p:ph type="sldNum" sz="quarter" idx="10"/>
          </p:nvPr>
        </p:nvSpPr>
        <p:spPr/>
        <p:txBody>
          <a:bodyPr/>
          <a:lstStyle/>
          <a:p>
            <a:fld id="{33208497-4EC4-4467-A639-CDBE6BF368E4}" type="slidenum">
              <a:rPr lang="en-US" smtClean="0"/>
              <a:t>3</a:t>
            </a:fld>
            <a:endParaRPr lang="en-US"/>
          </a:p>
        </p:txBody>
      </p:sp>
    </p:spTree>
    <p:extLst>
      <p:ext uri="{BB962C8B-B14F-4D97-AF65-F5344CB8AC3E}">
        <p14:creationId xmlns:p14="http://schemas.microsoft.com/office/powerpoint/2010/main" val="35485822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6. Violation of business rule. This means that while data</a:t>
            </a:r>
            <a:r>
              <a:rPr lang="en-US" baseline="0" dirty="0" smtClean="0"/>
              <a:t> storing in operational systems the business rules have not been enforced. For example issued loan cannot be negative.</a:t>
            </a:r>
          </a:p>
          <a:p>
            <a:endParaRPr lang="en-US" baseline="0" dirty="0" smtClean="0"/>
          </a:p>
          <a:p>
            <a:r>
              <a:rPr lang="en-US" baseline="0" dirty="0" smtClean="0"/>
              <a:t>7. Reused primary keys. This is also cause of low quality data. For example, a business has 2 digit primary key. It can have maximum 100 customer with keys from 00 to 99. Imagine when a 101th customer comes the business might archive the old customers and assign the new customer a primary key from the start. It might not be a problem for the operational system but we need to resolve such issues because DW keeps historical data.</a:t>
            </a:r>
            <a:endParaRPr lang="en-US" dirty="0"/>
          </a:p>
        </p:txBody>
      </p:sp>
      <p:sp>
        <p:nvSpPr>
          <p:cNvPr id="4" name="Slide Number Placeholder 3"/>
          <p:cNvSpPr>
            <a:spLocks noGrp="1"/>
          </p:cNvSpPr>
          <p:nvPr>
            <p:ph type="sldNum" sz="quarter" idx="10"/>
          </p:nvPr>
        </p:nvSpPr>
        <p:spPr/>
        <p:txBody>
          <a:bodyPr/>
          <a:lstStyle/>
          <a:p>
            <a:fld id="{33208497-4EC4-4467-A639-CDBE6BF368E4}" type="slidenum">
              <a:rPr lang="en-US" smtClean="0"/>
              <a:t>4</a:t>
            </a:fld>
            <a:endParaRPr lang="en-US"/>
          </a:p>
        </p:txBody>
      </p:sp>
    </p:spTree>
    <p:extLst>
      <p:ext uri="{BB962C8B-B14F-4D97-AF65-F5344CB8AC3E}">
        <p14:creationId xmlns:p14="http://schemas.microsoft.com/office/powerpoint/2010/main" val="39261456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8. Non-unique</a:t>
            </a:r>
            <a:r>
              <a:rPr lang="en-US" baseline="0" dirty="0" smtClean="0"/>
              <a:t> identifiers. This means for example that different codes are being used in different departments for different reasons. We need to resolve this issue before transferring data to DW.</a:t>
            </a:r>
          </a:p>
          <a:p>
            <a:endParaRPr lang="en-US" baseline="0" dirty="0" smtClean="0"/>
          </a:p>
          <a:p>
            <a:r>
              <a:rPr lang="en-US" baseline="0" dirty="0" smtClean="0"/>
              <a:t>9. Inconsistent values: This has been discussed earlier as well. Since in DW data comes from different sources; therefore, it is quite possible that different systems might be using different values to represent an attribute. For example, one system is using male/female to represent gender while other system might be using 1/0 to represent gender.</a:t>
            </a:r>
          </a:p>
          <a:p>
            <a:endParaRPr lang="en-US" baseline="0" dirty="0" smtClean="0"/>
          </a:p>
          <a:p>
            <a:r>
              <a:rPr lang="en-US" baseline="0" dirty="0" smtClean="0"/>
              <a:t>10. Incorrect values: Imagine there is a product code:466, product name: ‘crystal vas’, and height: 500 inch. These values seems not compatible as crystal vas of 500 inch. How is it possible? There might be a problem. It might be that either product name or height is wrong or maybe the product code as well. In this case we need to re-verify the given information. </a:t>
            </a:r>
            <a:endParaRPr lang="en-US" dirty="0"/>
          </a:p>
        </p:txBody>
      </p:sp>
      <p:sp>
        <p:nvSpPr>
          <p:cNvPr id="4" name="Slide Number Placeholder 3"/>
          <p:cNvSpPr>
            <a:spLocks noGrp="1"/>
          </p:cNvSpPr>
          <p:nvPr>
            <p:ph type="sldNum" sz="quarter" idx="10"/>
          </p:nvPr>
        </p:nvSpPr>
        <p:spPr/>
        <p:txBody>
          <a:bodyPr/>
          <a:lstStyle/>
          <a:p>
            <a:fld id="{33208497-4EC4-4467-A639-CDBE6BF368E4}" type="slidenum">
              <a:rPr lang="en-US" smtClean="0"/>
              <a:t>5</a:t>
            </a:fld>
            <a:endParaRPr lang="en-US"/>
          </a:p>
        </p:txBody>
      </p:sp>
    </p:spTree>
    <p:extLst>
      <p:ext uri="{BB962C8B-B14F-4D97-AF65-F5344CB8AC3E}">
        <p14:creationId xmlns:p14="http://schemas.microsoft.com/office/powerpoint/2010/main" val="21204955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11. Erroneous integration: Sometimes</a:t>
            </a:r>
            <a:r>
              <a:rPr lang="en-US" baseline="0" dirty="0" smtClean="0"/>
              <a:t> it happens that a person might be a buyer and  seller to your business. Your customers table might be storing such person with ID 222 while in seller table it might stored with ID 500. It DW, you might need to integrate this information to do some analysis. In this case you need to be careful as the persons with IDs 222 in both tables might not be the same person.</a:t>
            </a:r>
          </a:p>
          <a:p>
            <a:endParaRPr lang="en-US" baseline="0" dirty="0" smtClean="0"/>
          </a:p>
          <a:p>
            <a:r>
              <a:rPr lang="en-US" baseline="0" dirty="0" smtClean="0"/>
              <a:t>Having discussed some possible causes of low quality data. Let us now discuss some important sources of data pollution. For details please move to the next slide.</a:t>
            </a:r>
            <a:endParaRPr lang="en-US" dirty="0"/>
          </a:p>
        </p:txBody>
      </p:sp>
      <p:sp>
        <p:nvSpPr>
          <p:cNvPr id="4" name="Slide Number Placeholder 3"/>
          <p:cNvSpPr>
            <a:spLocks noGrp="1"/>
          </p:cNvSpPr>
          <p:nvPr>
            <p:ph type="sldNum" sz="quarter" idx="10"/>
          </p:nvPr>
        </p:nvSpPr>
        <p:spPr/>
        <p:txBody>
          <a:bodyPr/>
          <a:lstStyle/>
          <a:p>
            <a:fld id="{33208497-4EC4-4467-A639-CDBE6BF368E4}" type="slidenum">
              <a:rPr lang="en-US" smtClean="0"/>
              <a:t>6</a:t>
            </a:fld>
            <a:endParaRPr lang="en-US"/>
          </a:p>
        </p:txBody>
      </p:sp>
    </p:spTree>
    <p:extLst>
      <p:ext uri="{BB962C8B-B14F-4D97-AF65-F5344CB8AC3E}">
        <p14:creationId xmlns:p14="http://schemas.microsoft.com/office/powerpoint/2010/main" val="26466945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your DW project you might encounter different sources for</a:t>
            </a:r>
            <a:r>
              <a:rPr lang="en-US" baseline="0" dirty="0" smtClean="0"/>
              <a:t> data pollution. Here in this slide we discuss some of possible sources of data pollution.</a:t>
            </a:r>
          </a:p>
          <a:p>
            <a:endParaRPr lang="en-US" baseline="0" dirty="0" smtClean="0"/>
          </a:p>
          <a:p>
            <a:pPr marL="228600" indent="-228600">
              <a:buAutoNum type="arabicPeriod"/>
            </a:pPr>
            <a:r>
              <a:rPr lang="en-US" baseline="0" dirty="0" smtClean="0"/>
              <a:t>System migration or conversions: An operational system or systems might have evolved over the period of time. It might be possible that the underlying source system might be manual then it might had been converted on flat files. After that it might have shifted on hierarchal databases and later to relational databases and so on. If the operational system has undergone more migrations or conversions then you might have to face more inconsistencies or conversion problems before transferring data to your DW. </a:t>
            </a:r>
          </a:p>
          <a:p>
            <a:pPr marL="228600" indent="-228600">
              <a:buAutoNum type="arabicPeriod"/>
            </a:pPr>
            <a:r>
              <a:rPr lang="en-US" baseline="0" dirty="0" smtClean="0"/>
              <a:t>Integration of heterogeneous systems: This means more heterogeneity in operation systems that you are integrating then you have to face more problems.</a:t>
            </a:r>
          </a:p>
          <a:p>
            <a:pPr marL="228600" indent="-228600">
              <a:buAutoNum type="arabicPeriod"/>
            </a:pPr>
            <a:r>
              <a:rPr lang="en-US" baseline="0" dirty="0" smtClean="0"/>
              <a:t>Poor database design: As we already discussed, a poor database design can be a source of low quality data. For example, lack of business rules, lack of entity and referential integrity may be cause of low quality data for your DW. </a:t>
            </a:r>
          </a:p>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33208497-4EC4-4467-A639-CDBE6BF368E4}" type="slidenum">
              <a:rPr lang="en-US" smtClean="0"/>
              <a:t>7</a:t>
            </a:fld>
            <a:endParaRPr lang="en-US"/>
          </a:p>
        </p:txBody>
      </p:sp>
    </p:spTree>
    <p:extLst>
      <p:ext uri="{BB962C8B-B14F-4D97-AF65-F5344CB8AC3E}">
        <p14:creationId xmlns:p14="http://schemas.microsoft.com/office/powerpoint/2010/main" val="36414863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4. Incomplete data entry: for example,</a:t>
            </a:r>
            <a:r>
              <a:rPr lang="en-US" baseline="0" dirty="0" smtClean="0"/>
              <a:t> no city information in address</a:t>
            </a:r>
          </a:p>
          <a:p>
            <a:endParaRPr lang="en-US" baseline="0" dirty="0" smtClean="0"/>
          </a:p>
          <a:p>
            <a:r>
              <a:rPr lang="en-US" baseline="0" dirty="0" smtClean="0"/>
              <a:t>5. Wrong information during entry: For example, spelling mistakes or errors while entering data in operational system</a:t>
            </a:r>
          </a:p>
          <a:p>
            <a:endParaRPr lang="en-US" baseline="0" dirty="0" smtClean="0"/>
          </a:p>
          <a:p>
            <a:r>
              <a:rPr lang="en-US" baseline="0" dirty="0" smtClean="0"/>
              <a:t>I think we have discussed enough about indicators of low quality data, there possible causes and their possible sources. This discussion will help you to be better equipped while ensuing data quality in your DW project and to take appropriate actions to perform data cleansing. </a:t>
            </a:r>
          </a:p>
          <a:p>
            <a:endParaRPr lang="en-US" baseline="0" dirty="0" smtClean="0"/>
          </a:p>
          <a:p>
            <a:r>
              <a:rPr lang="en-US" baseline="0" dirty="0" smtClean="0"/>
              <a:t>Now, please move to the next slide to see the overall framework of data cleansing.</a:t>
            </a:r>
            <a:endParaRPr lang="en-US" dirty="0"/>
          </a:p>
        </p:txBody>
      </p:sp>
      <p:sp>
        <p:nvSpPr>
          <p:cNvPr id="4" name="Slide Number Placeholder 3"/>
          <p:cNvSpPr>
            <a:spLocks noGrp="1"/>
          </p:cNvSpPr>
          <p:nvPr>
            <p:ph type="sldNum" sz="quarter" idx="10"/>
          </p:nvPr>
        </p:nvSpPr>
        <p:spPr/>
        <p:txBody>
          <a:bodyPr/>
          <a:lstStyle/>
          <a:p>
            <a:fld id="{33208497-4EC4-4467-A639-CDBE6BF368E4}" type="slidenum">
              <a:rPr lang="en-US" smtClean="0"/>
              <a:t>8</a:t>
            </a:fld>
            <a:endParaRPr lang="en-US"/>
          </a:p>
        </p:txBody>
      </p:sp>
    </p:spTree>
    <p:extLst>
      <p:ext uri="{BB962C8B-B14F-4D97-AF65-F5344CB8AC3E}">
        <p14:creationId xmlns:p14="http://schemas.microsoft.com/office/powerpoint/2010/main" val="31244979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this slide you</a:t>
            </a:r>
            <a:r>
              <a:rPr lang="en-US" baseline="0" dirty="0" smtClean="0"/>
              <a:t> can see an overall data cleansing framework. Basically what it shows is that, before transferring data in DW in data staging area you need to use either vendor tool or write you own in-house programs/scripts to perform data cleaning of polluted data obtained from operational systems. After data cleansing the cleansed data is then transferred to DW for analysis or decision making. </a:t>
            </a:r>
          </a:p>
          <a:p>
            <a:endParaRPr lang="en-US" baseline="0" dirty="0" smtClean="0"/>
          </a:p>
          <a:p>
            <a:r>
              <a:rPr lang="en-US" baseline="0" dirty="0" smtClean="0"/>
              <a:t>Let us now move to the next slide to see some Vendors tools to perform data cleansing.  </a:t>
            </a:r>
            <a:endParaRPr lang="en-US" dirty="0"/>
          </a:p>
        </p:txBody>
      </p:sp>
      <p:sp>
        <p:nvSpPr>
          <p:cNvPr id="4" name="Slide Number Placeholder 3"/>
          <p:cNvSpPr>
            <a:spLocks noGrp="1"/>
          </p:cNvSpPr>
          <p:nvPr>
            <p:ph type="sldNum" sz="quarter" idx="10"/>
          </p:nvPr>
        </p:nvSpPr>
        <p:spPr/>
        <p:txBody>
          <a:bodyPr/>
          <a:lstStyle/>
          <a:p>
            <a:fld id="{33208497-4EC4-4467-A639-CDBE6BF368E4}" type="slidenum">
              <a:rPr lang="en-US" smtClean="0"/>
              <a:t>9</a:t>
            </a:fld>
            <a:endParaRPr lang="en-US"/>
          </a:p>
        </p:txBody>
      </p:sp>
    </p:spTree>
    <p:extLst>
      <p:ext uri="{BB962C8B-B14F-4D97-AF65-F5344CB8AC3E}">
        <p14:creationId xmlns:p14="http://schemas.microsoft.com/office/powerpoint/2010/main" val="7685408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Here in this slide,</a:t>
            </a:r>
            <a:r>
              <a:rPr lang="en-US" baseline="0" dirty="0" smtClean="0"/>
              <a:t> some examples of data cleaning tools have been listed. You can explore them by yourself. Remember if you could not find a suitable tool to perform data cleaning then you have to write your own programs or scripts to cleanse data as per your requirements.</a:t>
            </a:r>
          </a:p>
          <a:p>
            <a:endParaRPr lang="en-US" baseline="0" dirty="0" smtClean="0"/>
          </a:p>
          <a:p>
            <a:r>
              <a:rPr lang="en-US" baseline="0" dirty="0" smtClean="0"/>
              <a:t>I hope you liked our today’s lecture. IA we will meet in our next lecture. Till then Allah Hafiz and stay safe.</a:t>
            </a:r>
            <a:endParaRPr lang="en-US" dirty="0"/>
          </a:p>
        </p:txBody>
      </p:sp>
      <p:sp>
        <p:nvSpPr>
          <p:cNvPr id="4" name="Slide Number Placeholder 3"/>
          <p:cNvSpPr>
            <a:spLocks noGrp="1"/>
          </p:cNvSpPr>
          <p:nvPr>
            <p:ph type="sldNum" sz="quarter" idx="10"/>
          </p:nvPr>
        </p:nvSpPr>
        <p:spPr/>
        <p:txBody>
          <a:bodyPr/>
          <a:lstStyle/>
          <a:p>
            <a:fld id="{33208497-4EC4-4467-A639-CDBE6BF368E4}" type="slidenum">
              <a:rPr lang="en-US" smtClean="0"/>
              <a:t>10</a:t>
            </a:fld>
            <a:endParaRPr lang="en-US"/>
          </a:p>
        </p:txBody>
      </p:sp>
    </p:spTree>
    <p:extLst>
      <p:ext uri="{BB962C8B-B14F-4D97-AF65-F5344CB8AC3E}">
        <p14:creationId xmlns:p14="http://schemas.microsoft.com/office/powerpoint/2010/main" val="257437116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A5704A44-75DE-406F-815A-8307C67E9C1B}" type="datetimeFigureOut">
              <a:rPr lang="en-US" smtClean="0"/>
              <a:t>7/6/2020</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CBE70FE0-7488-4C37-B6A5-043351AE480F}"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A5704A44-75DE-406F-815A-8307C67E9C1B}" type="datetimeFigureOut">
              <a:rPr lang="en-US" smtClean="0"/>
              <a:t>7/6/2020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CBE70FE0-7488-4C37-B6A5-043351AE480F}" type="slidenum">
              <a:rPr lang="en-US" smtClean="0"/>
              <a:t>‹#›</a:t>
            </a:fld>
            <a:endParaRPr lang="en-US"/>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A5704A44-75DE-406F-815A-8307C67E9C1B}" type="datetimeFigureOut">
              <a:rPr lang="en-US" smtClean="0"/>
              <a:t>7/6/2020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CBE70FE0-7488-4C37-B6A5-043351AE480F}" type="slidenum">
              <a:rPr lang="en-US" smtClean="0"/>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A5704A44-75DE-406F-815A-8307C67E9C1B}" type="datetimeFigureOut">
              <a:rPr lang="en-US" smtClean="0"/>
              <a:t>7/6/2020</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CBE70FE0-7488-4C37-B6A5-043351AE480F}" type="slidenum">
              <a:rPr lang="en-US" smtClean="0"/>
              <a:t>‹#›</a:t>
            </a:fld>
            <a:endParaRPr lang="en-US"/>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A5704A44-75DE-406F-815A-8307C67E9C1B}" type="datetimeFigureOut">
              <a:rPr lang="en-US" smtClean="0"/>
              <a:t>7/6/2020</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CBE70FE0-7488-4C37-B6A5-043351AE480F}"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A5704A44-75DE-406F-815A-8307C67E9C1B}" type="datetimeFigureOut">
              <a:rPr lang="en-US" smtClean="0"/>
              <a:t>7/6/2020</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CBE70FE0-7488-4C37-B6A5-043351AE480F}" type="slidenum">
              <a:rPr lang="en-US" smtClean="0"/>
              <a:t>‹#›</a:t>
            </a:fld>
            <a:endParaRPr lang="en-US"/>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A5704A44-75DE-406F-815A-8307C67E9C1B}" type="datetimeFigureOut">
              <a:rPr lang="en-US" smtClean="0"/>
              <a:t>7/6/2020</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CBE70FE0-7488-4C37-B6A5-043351AE480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A5704A44-75DE-406F-815A-8307C67E9C1B}" type="datetimeFigureOut">
              <a:rPr lang="en-US" smtClean="0"/>
              <a:t>7/6/2020</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CBE70FE0-7488-4C37-B6A5-043351AE480F}"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A5704A44-75DE-406F-815A-8307C67E9C1B}" type="datetimeFigureOut">
              <a:rPr lang="en-US" smtClean="0"/>
              <a:t>7/6/2020</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CBE70FE0-7488-4C37-B6A5-043351AE480F}" type="slidenum">
              <a:rPr lang="en-US" smtClean="0"/>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A5704A44-75DE-406F-815A-8307C67E9C1B}" type="datetimeFigureOut">
              <a:rPr lang="en-US" smtClean="0"/>
              <a:t>7/6/2020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CBE70FE0-7488-4C37-B6A5-043351AE480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A5704A44-75DE-406F-815A-8307C67E9C1B}" type="datetimeFigureOut">
              <a:rPr lang="en-US" smtClean="0"/>
              <a:t>7/6/2020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CBE70FE0-7488-4C37-B6A5-043351AE480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A5704A44-75DE-406F-815A-8307C67E9C1B}" type="datetimeFigureOut">
              <a:rPr lang="en-US" smtClean="0"/>
              <a:t>7/6/2020</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CBE70FE0-7488-4C37-B6A5-043351AE480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4a"/><Relationship Id="rId1" Type="http://schemas.microsoft.com/office/2007/relationships/media" Target="../media/media2.m4a"/><Relationship Id="rId5"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4a"/><Relationship Id="rId1" Type="http://schemas.microsoft.com/office/2007/relationships/media" Target="../media/media3.m4a"/><Relationship Id="rId5"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m4a"/><Relationship Id="rId1" Type="http://schemas.microsoft.com/office/2007/relationships/media" Target="../media/media4.m4a"/><Relationship Id="rId5"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5.m4a"/><Relationship Id="rId1" Type="http://schemas.microsoft.com/office/2007/relationships/media" Target="../media/media5.m4a"/><Relationship Id="rId5"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6.m4a"/><Relationship Id="rId1" Type="http://schemas.microsoft.com/office/2007/relationships/media" Target="../media/media6.m4a"/><Relationship Id="rId5"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7.m4a"/><Relationship Id="rId1" Type="http://schemas.microsoft.com/office/2007/relationships/media" Target="../media/media7.m4a"/><Relationship Id="rId5" Type="http://schemas.openxmlformats.org/officeDocument/2006/relationships/image" Target="../media/image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8.m4a"/><Relationship Id="rId1" Type="http://schemas.microsoft.com/office/2007/relationships/media" Target="../media/media8.m4a"/><Relationship Id="rId5" Type="http://schemas.openxmlformats.org/officeDocument/2006/relationships/image" Target="../media/image2.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9.m4a"/><Relationship Id="rId1" Type="http://schemas.microsoft.com/office/2007/relationships/media" Target="../media/media9.m4a"/><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8" Type="http://schemas.openxmlformats.org/officeDocument/2006/relationships/hyperlink" Target="http://vis.stanford.edu/wrangler/" TargetMode="External"/><Relationship Id="rId3" Type="http://schemas.openxmlformats.org/officeDocument/2006/relationships/slideLayout" Target="../slideLayouts/slideLayout2.xml"/><Relationship Id="rId7" Type="http://schemas.openxmlformats.org/officeDocument/2006/relationships/hyperlink" Target="http://code.google.com/p/google-refine/" TargetMode="External"/><Relationship Id="rId2" Type="http://schemas.openxmlformats.org/officeDocument/2006/relationships/audio" Target="../media/media10.m4a"/><Relationship Id="rId1" Type="http://schemas.microsoft.com/office/2007/relationships/media" Target="../media/media10.m4a"/><Relationship Id="rId6" Type="http://schemas.openxmlformats.org/officeDocument/2006/relationships/hyperlink" Target="http://www.humaninference.com/master-data-management/data-quality/data-cleansing" TargetMode="External"/><Relationship Id="rId5" Type="http://schemas.openxmlformats.org/officeDocument/2006/relationships/hyperlink" Target="http://www.dataladder.com/products.html" TargetMode="External"/><Relationship Id="rId10" Type="http://schemas.openxmlformats.org/officeDocument/2006/relationships/image" Target="../media/image2.png"/><Relationship Id="rId4" Type="http://schemas.openxmlformats.org/officeDocument/2006/relationships/notesSlide" Target="../notesSlides/notesSlide10.xml"/><Relationship Id="rId9" Type="http://schemas.openxmlformats.org/officeDocument/2006/relationships/hyperlink" Target="http://www.datamystic.com/textpipe.html#.UKjm9eQ3vy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Data Warehousing and Data Mining</a:t>
            </a:r>
            <a:endParaRPr lang="en-US" dirty="0"/>
          </a:p>
        </p:txBody>
      </p:sp>
      <p:sp>
        <p:nvSpPr>
          <p:cNvPr id="3" name="Subtitle 2"/>
          <p:cNvSpPr>
            <a:spLocks noGrp="1"/>
          </p:cNvSpPr>
          <p:nvPr>
            <p:ph type="subTitle" idx="1"/>
          </p:nvPr>
        </p:nvSpPr>
        <p:spPr/>
        <p:txBody>
          <a:bodyPr/>
          <a:lstStyle/>
          <a:p>
            <a:r>
              <a:rPr lang="en-US" dirty="0" smtClean="0"/>
              <a:t>Audio_Lec_04</a:t>
            </a:r>
            <a:endParaRPr lang="en-US" dirty="0"/>
          </a:p>
        </p:txBody>
      </p:sp>
      <p:pic>
        <p:nvPicPr>
          <p:cNvPr id="4" name="slide_01.m4a">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4267200" y="3124200"/>
            <a:ext cx="609600" cy="609600"/>
          </a:xfrm>
          <a:prstGeom prst="rect">
            <a:avLst/>
          </a:prstGeom>
        </p:spPr>
      </p:pic>
    </p:spTree>
    <p:extLst>
      <p:ext uri="{BB962C8B-B14F-4D97-AF65-F5344CB8AC3E}">
        <p14:creationId xmlns:p14="http://schemas.microsoft.com/office/powerpoint/2010/main" val="145023363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29333" fill="hold"/>
                                        <p:tgtEl>
                                          <p:spTgt spid="4"/>
                                        </p:tgtEl>
                                      </p:cBhvr>
                                    </p:cmd>
                                  </p:childTnLst>
                                </p:cTn>
                              </p:par>
                            </p:childTnLst>
                          </p:cTn>
                        </p:par>
                      </p:childTnLst>
                    </p:cTn>
                  </p:par>
                </p:childTnLst>
              </p:cTn>
              <p:nextCondLst>
                <p:cond evt="onClick" delay="0">
                  <p:tgtEl>
                    <p:spTgt spid="4"/>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ea typeface="ＭＳ Ｐゴシック" pitchFamily="34" charset="-128"/>
              </a:rPr>
              <a:t>Dummy values: For example, to pass a check on postal code, entering dummy or not precise information such as 4444 (dummy) or 54000 for all regions of Lahore</a:t>
            </a:r>
          </a:p>
          <a:p>
            <a:r>
              <a:rPr lang="en-US" dirty="0">
                <a:ea typeface="ＭＳ Ｐゴシック" pitchFamily="34" charset="-128"/>
              </a:rPr>
              <a:t>Absence of data values: For example not a complete address</a:t>
            </a:r>
          </a:p>
          <a:p>
            <a:r>
              <a:rPr lang="en-US" dirty="0">
                <a:ea typeface="ＭＳ Ｐゴシック" pitchFamily="34" charset="-128"/>
              </a:rPr>
              <a:t>Unofficial use of field: For example writing comments in the contact field of the customer</a:t>
            </a:r>
          </a:p>
          <a:p>
            <a:endParaRPr lang="en-US" dirty="0"/>
          </a:p>
        </p:txBody>
      </p:sp>
      <p:sp>
        <p:nvSpPr>
          <p:cNvPr id="3" name="Title 2"/>
          <p:cNvSpPr>
            <a:spLocks noGrp="1"/>
          </p:cNvSpPr>
          <p:nvPr>
            <p:ph type="title"/>
          </p:nvPr>
        </p:nvSpPr>
        <p:spPr/>
        <p:txBody>
          <a:bodyPr>
            <a:normAutofit fontScale="90000"/>
          </a:bodyPr>
          <a:lstStyle/>
          <a:p>
            <a:r>
              <a:rPr lang="en-US" dirty="0">
                <a:ea typeface="ＭＳ Ｐゴシック" pitchFamily="34" charset="-128"/>
              </a:rPr>
              <a:t>Possible causes of low quality data</a:t>
            </a:r>
            <a:endParaRPr lang="en-US" dirty="0"/>
          </a:p>
        </p:txBody>
      </p:sp>
      <p:pic>
        <p:nvPicPr>
          <p:cNvPr id="4" name="slide_02.m4a">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4267200" y="3124200"/>
            <a:ext cx="609600" cy="609600"/>
          </a:xfrm>
          <a:prstGeom prst="rect">
            <a:avLst/>
          </a:prstGeom>
        </p:spPr>
      </p:pic>
    </p:spTree>
    <p:extLst>
      <p:ext uri="{BB962C8B-B14F-4D97-AF65-F5344CB8AC3E}">
        <p14:creationId xmlns:p14="http://schemas.microsoft.com/office/powerpoint/2010/main" val="347751639"/>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107946" fill="hold"/>
                                        <p:tgtEl>
                                          <p:spTgt spid="4"/>
                                        </p:tgtEl>
                                      </p:cBhvr>
                                    </p:cmd>
                                  </p:childTnLst>
                                </p:cTn>
                              </p:par>
                            </p:childTnLst>
                          </p:cTn>
                        </p:par>
                      </p:childTnLst>
                    </p:cTn>
                  </p:par>
                </p:childTnLst>
              </p:cTn>
              <p:nextCondLst>
                <p:cond evt="onClick" delay="0">
                  <p:tgtEl>
                    <p:spTgt spid="4"/>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ea typeface="ＭＳ Ｐゴシック" pitchFamily="34" charset="-128"/>
              </a:rPr>
              <a:t>Cryptic Information: At one time operation system was using ‘R’ for “remove” then later for “reduced” and some other time point for “recovery”</a:t>
            </a:r>
          </a:p>
          <a:p>
            <a:r>
              <a:rPr lang="en-US" dirty="0">
                <a:ea typeface="ＭＳ Ｐゴシック" pitchFamily="34" charset="-128"/>
              </a:rPr>
              <a:t>Contradicting values: compatible fields must not contradict, e.g., two </a:t>
            </a:r>
            <a:r>
              <a:rPr lang="en-US" dirty="0" err="1">
                <a:ea typeface="ＭＳ Ｐゴシック" pitchFamily="34" charset="-128"/>
              </a:rPr>
              <a:t>fileds</a:t>
            </a:r>
            <a:r>
              <a:rPr lang="en-US" dirty="0">
                <a:ea typeface="ＭＳ Ｐゴシック" pitchFamily="34" charset="-128"/>
              </a:rPr>
              <a:t> ZIP code and City can have values 54000 and Lahore but not some other city name for ZIP code 54000</a:t>
            </a:r>
          </a:p>
          <a:p>
            <a:endParaRPr lang="en-US" dirty="0"/>
          </a:p>
        </p:txBody>
      </p:sp>
      <p:sp>
        <p:nvSpPr>
          <p:cNvPr id="3" name="Title 2"/>
          <p:cNvSpPr>
            <a:spLocks noGrp="1"/>
          </p:cNvSpPr>
          <p:nvPr>
            <p:ph type="title"/>
          </p:nvPr>
        </p:nvSpPr>
        <p:spPr/>
        <p:txBody>
          <a:bodyPr>
            <a:normAutofit fontScale="90000"/>
          </a:bodyPr>
          <a:lstStyle/>
          <a:p>
            <a:r>
              <a:rPr lang="en-US" dirty="0">
                <a:ea typeface="ＭＳ Ｐゴシック" pitchFamily="34" charset="-128"/>
              </a:rPr>
              <a:t>Possible causes of low quality data</a:t>
            </a:r>
            <a:endParaRPr lang="en-US" dirty="0"/>
          </a:p>
        </p:txBody>
      </p:sp>
      <p:pic>
        <p:nvPicPr>
          <p:cNvPr id="4" name="slide_03.m4a">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4267200" y="3124200"/>
            <a:ext cx="609600" cy="609600"/>
          </a:xfrm>
          <a:prstGeom prst="rect">
            <a:avLst/>
          </a:prstGeom>
        </p:spPr>
      </p:pic>
    </p:spTree>
    <p:extLst>
      <p:ext uri="{BB962C8B-B14F-4D97-AF65-F5344CB8AC3E}">
        <p14:creationId xmlns:p14="http://schemas.microsoft.com/office/powerpoint/2010/main" val="2716123990"/>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91690" fill="hold"/>
                                        <p:tgtEl>
                                          <p:spTgt spid="4"/>
                                        </p:tgtEl>
                                      </p:cBhvr>
                                    </p:cmd>
                                  </p:childTnLst>
                                </p:cTn>
                              </p:par>
                            </p:childTnLst>
                          </p:cTn>
                        </p:par>
                      </p:childTnLst>
                    </p:cTn>
                  </p:par>
                </p:childTnLst>
              </p:cTn>
              <p:nextCondLst>
                <p:cond evt="onClick" delay="0">
                  <p:tgtEl>
                    <p:spTgt spid="4"/>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a:bodyPr>
          <a:lstStyle/>
          <a:p>
            <a:r>
              <a:rPr lang="en-US" sz="2800" dirty="0">
                <a:ea typeface="ＭＳ Ｐゴシック" pitchFamily="34" charset="-128"/>
              </a:rPr>
              <a:t>Violation of business rule: Issued loan is negative</a:t>
            </a:r>
          </a:p>
          <a:p>
            <a:r>
              <a:rPr lang="en-US" sz="2800" dirty="0">
                <a:ea typeface="ＭＳ Ｐゴシック" pitchFamily="34" charset="-128"/>
              </a:rPr>
              <a:t>Reused primary keys: For example, a business has 2 digit primary key. It can have maximum 100 customers. When a 101th customer comes the business might archive the old customers and assign the new customer a primary key from the start. It might not be a problem for the operational system but you need to resolve such issues because DW keeps historical data.</a:t>
            </a:r>
          </a:p>
          <a:p>
            <a:endParaRPr lang="en-US" dirty="0"/>
          </a:p>
        </p:txBody>
      </p:sp>
      <p:sp>
        <p:nvSpPr>
          <p:cNvPr id="3" name="Title 2"/>
          <p:cNvSpPr>
            <a:spLocks noGrp="1"/>
          </p:cNvSpPr>
          <p:nvPr>
            <p:ph type="title"/>
          </p:nvPr>
        </p:nvSpPr>
        <p:spPr/>
        <p:txBody>
          <a:bodyPr>
            <a:normAutofit fontScale="90000"/>
          </a:bodyPr>
          <a:lstStyle/>
          <a:p>
            <a:r>
              <a:rPr lang="en-US" dirty="0">
                <a:ea typeface="ＭＳ Ｐゴシック" pitchFamily="34" charset="-128"/>
              </a:rPr>
              <a:t>Possible causes of low quality data</a:t>
            </a:r>
            <a:endParaRPr lang="en-US" dirty="0"/>
          </a:p>
        </p:txBody>
      </p:sp>
      <p:pic>
        <p:nvPicPr>
          <p:cNvPr id="4" name="slide_04.m4a">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4267200" y="3124200"/>
            <a:ext cx="609600" cy="609600"/>
          </a:xfrm>
          <a:prstGeom prst="rect">
            <a:avLst/>
          </a:prstGeom>
        </p:spPr>
      </p:pic>
    </p:spTree>
    <p:extLst>
      <p:ext uri="{BB962C8B-B14F-4D97-AF65-F5344CB8AC3E}">
        <p14:creationId xmlns:p14="http://schemas.microsoft.com/office/powerpoint/2010/main" val="341977167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95615" fill="hold"/>
                                        <p:tgtEl>
                                          <p:spTgt spid="4"/>
                                        </p:tgtEl>
                                      </p:cBhvr>
                                    </p:cmd>
                                  </p:childTnLst>
                                </p:cTn>
                              </p:par>
                            </p:childTnLst>
                          </p:cTn>
                        </p:par>
                      </p:childTnLst>
                    </p:cTn>
                  </p:par>
                </p:childTnLst>
              </p:cTn>
              <p:nextCondLst>
                <p:cond evt="onClick" delay="0">
                  <p:tgtEl>
                    <p:spTgt spid="4"/>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nSpc>
                <a:spcPct val="90000"/>
              </a:lnSpc>
            </a:pPr>
            <a:r>
              <a:rPr lang="en-US" dirty="0">
                <a:ea typeface="ＭＳ Ｐゴシック" pitchFamily="34" charset="-128"/>
              </a:rPr>
              <a:t>Non-unique identifiers: For example different product codes in different departments</a:t>
            </a:r>
          </a:p>
          <a:p>
            <a:pPr>
              <a:lnSpc>
                <a:spcPct val="90000"/>
              </a:lnSpc>
            </a:pPr>
            <a:r>
              <a:rPr lang="en-US" dirty="0">
                <a:ea typeface="ＭＳ Ｐゴシック" pitchFamily="34" charset="-128"/>
              </a:rPr>
              <a:t>Inconsistent values: one system is using male/female to represent gender while other system is using  1/0 </a:t>
            </a:r>
          </a:p>
          <a:p>
            <a:pPr>
              <a:lnSpc>
                <a:spcPct val="90000"/>
              </a:lnSpc>
            </a:pPr>
            <a:r>
              <a:rPr lang="en-US" dirty="0">
                <a:ea typeface="ＭＳ Ｐゴシック" pitchFamily="34" charset="-128"/>
              </a:rPr>
              <a:t>Incorrect values: Product Code: 466, Product Name: “Crystal vas”, Height:”500 inch”. It means that product and height values are not compatible. Either product name or height is wrong or maybe the product code as well</a:t>
            </a:r>
          </a:p>
          <a:p>
            <a:endParaRPr lang="en-US" dirty="0"/>
          </a:p>
        </p:txBody>
      </p:sp>
      <p:sp>
        <p:nvSpPr>
          <p:cNvPr id="3" name="Title 2"/>
          <p:cNvSpPr>
            <a:spLocks noGrp="1"/>
          </p:cNvSpPr>
          <p:nvPr>
            <p:ph type="title"/>
          </p:nvPr>
        </p:nvSpPr>
        <p:spPr/>
        <p:txBody>
          <a:bodyPr>
            <a:normAutofit fontScale="90000"/>
          </a:bodyPr>
          <a:lstStyle/>
          <a:p>
            <a:r>
              <a:rPr lang="en-US" dirty="0">
                <a:ea typeface="ＭＳ Ｐゴシック" pitchFamily="34" charset="-128"/>
              </a:rPr>
              <a:t>Possible causes of low quality data</a:t>
            </a:r>
            <a:endParaRPr lang="en-US" dirty="0"/>
          </a:p>
        </p:txBody>
      </p:sp>
      <p:pic>
        <p:nvPicPr>
          <p:cNvPr id="4" name="slide_05.m4a">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4267200" y="3124200"/>
            <a:ext cx="609600" cy="609600"/>
          </a:xfrm>
          <a:prstGeom prst="rect">
            <a:avLst/>
          </a:prstGeom>
        </p:spPr>
      </p:pic>
    </p:spTree>
    <p:extLst>
      <p:ext uri="{BB962C8B-B14F-4D97-AF65-F5344CB8AC3E}">
        <p14:creationId xmlns:p14="http://schemas.microsoft.com/office/powerpoint/2010/main" val="222940444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104319" fill="hold"/>
                                        <p:tgtEl>
                                          <p:spTgt spid="4"/>
                                        </p:tgtEl>
                                      </p:cBhvr>
                                    </p:cmd>
                                  </p:childTnLst>
                                </p:cTn>
                              </p:par>
                            </p:childTnLst>
                          </p:cTn>
                        </p:par>
                      </p:childTnLst>
                    </p:cTn>
                  </p:par>
                </p:childTnLst>
              </p:cTn>
              <p:nextCondLst>
                <p:cond evt="onClick" delay="0">
                  <p:tgtEl>
                    <p:spTgt spid="4"/>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ea typeface="ＭＳ Ｐゴシック" pitchFamily="34" charset="-128"/>
              </a:rPr>
              <a:t>Erroneous integration: A person might be a buyer </a:t>
            </a:r>
            <a:r>
              <a:rPr lang="en-US" dirty="0" smtClean="0">
                <a:ea typeface="ＭＳ Ｐゴシック" pitchFamily="34" charset="-128"/>
              </a:rPr>
              <a:t>and seller </a:t>
            </a:r>
            <a:r>
              <a:rPr lang="en-US" dirty="0">
                <a:ea typeface="ＭＳ Ｐゴシック" pitchFamily="34" charset="-128"/>
              </a:rPr>
              <a:t>to your business. Your customer table might be storing such person with ID 222 while in seller table it might be 500. In data warehouse you might need to integrate this information. The persons with IDs 222 in both tables might not be same</a:t>
            </a:r>
          </a:p>
          <a:p>
            <a:endParaRPr lang="en-US" dirty="0"/>
          </a:p>
        </p:txBody>
      </p:sp>
      <p:sp>
        <p:nvSpPr>
          <p:cNvPr id="3" name="Title 2"/>
          <p:cNvSpPr>
            <a:spLocks noGrp="1"/>
          </p:cNvSpPr>
          <p:nvPr>
            <p:ph type="title"/>
          </p:nvPr>
        </p:nvSpPr>
        <p:spPr/>
        <p:txBody>
          <a:bodyPr>
            <a:normAutofit fontScale="90000"/>
          </a:bodyPr>
          <a:lstStyle/>
          <a:p>
            <a:r>
              <a:rPr lang="en-US" dirty="0">
                <a:ea typeface="ＭＳ Ｐゴシック" pitchFamily="34" charset="-128"/>
              </a:rPr>
              <a:t>Possible causes of low quality data</a:t>
            </a:r>
            <a:endParaRPr lang="en-US" dirty="0"/>
          </a:p>
        </p:txBody>
      </p:sp>
      <p:pic>
        <p:nvPicPr>
          <p:cNvPr id="4" name="slide_06.m4a">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4267200" y="3124200"/>
            <a:ext cx="609600" cy="609600"/>
          </a:xfrm>
          <a:prstGeom prst="rect">
            <a:avLst/>
          </a:prstGeom>
        </p:spPr>
      </p:pic>
    </p:spTree>
    <p:extLst>
      <p:ext uri="{BB962C8B-B14F-4D97-AF65-F5344CB8AC3E}">
        <p14:creationId xmlns:p14="http://schemas.microsoft.com/office/powerpoint/2010/main" val="2953959269"/>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94655" fill="hold"/>
                                        <p:tgtEl>
                                          <p:spTgt spid="4"/>
                                        </p:tgtEl>
                                      </p:cBhvr>
                                    </p:cmd>
                                  </p:childTnLst>
                                </p:cTn>
                              </p:par>
                            </p:childTnLst>
                          </p:cTn>
                        </p:par>
                      </p:childTnLst>
                    </p:cTn>
                  </p:par>
                </p:childTnLst>
              </p:cTn>
              <p:nextCondLst>
                <p:cond evt="onClick" delay="0">
                  <p:tgtEl>
                    <p:spTgt spid="4"/>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ea typeface="ＭＳ Ｐゴシック" pitchFamily="34" charset="-128"/>
              </a:rPr>
              <a:t>System migration or conversions: For example, from manual system</a:t>
            </a:r>
            <a:r>
              <a:rPr lang="en-US" dirty="0">
                <a:ea typeface="ＭＳ Ｐゴシック" pitchFamily="34" charset="-128"/>
                <a:sym typeface="Wingdings" pitchFamily="2" charset="2"/>
              </a:rPr>
              <a:t> Flat files  Hierarchal databases  relational databases….</a:t>
            </a:r>
          </a:p>
          <a:p>
            <a:r>
              <a:rPr lang="en-US" dirty="0">
                <a:ea typeface="ＭＳ Ｐゴシック" pitchFamily="34" charset="-128"/>
              </a:rPr>
              <a:t>Integration of heterogeneous systems: More heterogeneity means more problems</a:t>
            </a:r>
          </a:p>
          <a:p>
            <a:r>
              <a:rPr lang="en-US" dirty="0">
                <a:ea typeface="ＭＳ Ｐゴシック" pitchFamily="34" charset="-128"/>
              </a:rPr>
              <a:t>Poor database design: For example lack of business rules, lack of entity and referential integrity</a:t>
            </a:r>
          </a:p>
          <a:p>
            <a:endParaRPr lang="en-US" dirty="0"/>
          </a:p>
        </p:txBody>
      </p:sp>
      <p:sp>
        <p:nvSpPr>
          <p:cNvPr id="3" name="Title 2"/>
          <p:cNvSpPr>
            <a:spLocks noGrp="1"/>
          </p:cNvSpPr>
          <p:nvPr>
            <p:ph type="title"/>
          </p:nvPr>
        </p:nvSpPr>
        <p:spPr/>
        <p:txBody>
          <a:bodyPr/>
          <a:lstStyle/>
          <a:p>
            <a:r>
              <a:rPr lang="en-US" dirty="0">
                <a:ea typeface="ＭＳ Ｐゴシック" pitchFamily="34" charset="-128"/>
              </a:rPr>
              <a:t>Sources of data pollution</a:t>
            </a:r>
            <a:endParaRPr lang="en-US" dirty="0"/>
          </a:p>
        </p:txBody>
      </p:sp>
      <p:pic>
        <p:nvPicPr>
          <p:cNvPr id="4" name="slide_07.m4a">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4267200" y="3124200"/>
            <a:ext cx="609600" cy="609600"/>
          </a:xfrm>
          <a:prstGeom prst="rect">
            <a:avLst/>
          </a:prstGeom>
        </p:spPr>
      </p:pic>
    </p:spTree>
    <p:extLst>
      <p:ext uri="{BB962C8B-B14F-4D97-AF65-F5344CB8AC3E}">
        <p14:creationId xmlns:p14="http://schemas.microsoft.com/office/powerpoint/2010/main" val="54282900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135722" fill="hold"/>
                                        <p:tgtEl>
                                          <p:spTgt spid="4"/>
                                        </p:tgtEl>
                                      </p:cBhvr>
                                    </p:cmd>
                                  </p:childTnLst>
                                </p:cTn>
                              </p:par>
                            </p:childTnLst>
                          </p:cTn>
                        </p:par>
                      </p:childTnLst>
                    </p:cTn>
                  </p:par>
                </p:childTnLst>
              </p:cTn>
              <p:nextCondLst>
                <p:cond evt="onClick" delay="0">
                  <p:tgtEl>
                    <p:spTgt spid="4"/>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ea typeface="ＭＳ Ｐゴシック" pitchFamily="34" charset="-128"/>
              </a:rPr>
              <a:t>Incomplete data entry: For example, no city information</a:t>
            </a:r>
          </a:p>
          <a:p>
            <a:r>
              <a:rPr lang="en-US" dirty="0">
                <a:ea typeface="ＭＳ Ｐゴシック" pitchFamily="34" charset="-128"/>
              </a:rPr>
              <a:t>Wrong information during entry: For example United Kingdom </a:t>
            </a:r>
            <a:r>
              <a:rPr lang="en-US" dirty="0">
                <a:ea typeface="ＭＳ Ｐゴシック" pitchFamily="34" charset="-128"/>
                <a:sym typeface="Wingdings" pitchFamily="2" charset="2"/>
              </a:rPr>
              <a:t> </a:t>
            </a:r>
            <a:r>
              <a:rPr lang="en-US" dirty="0" err="1">
                <a:ea typeface="ＭＳ Ｐゴシック" pitchFamily="34" charset="-128"/>
                <a:sym typeface="Wingdings" pitchFamily="2" charset="2"/>
              </a:rPr>
              <a:t>Unted</a:t>
            </a:r>
            <a:r>
              <a:rPr lang="en-US" dirty="0">
                <a:ea typeface="ＭＳ Ｐゴシック" pitchFamily="34" charset="-128"/>
                <a:sym typeface="Wingdings" pitchFamily="2" charset="2"/>
              </a:rPr>
              <a:t> Kingdom</a:t>
            </a:r>
          </a:p>
          <a:p>
            <a:endParaRPr lang="en-US" dirty="0"/>
          </a:p>
        </p:txBody>
      </p:sp>
      <p:sp>
        <p:nvSpPr>
          <p:cNvPr id="3" name="Title 2"/>
          <p:cNvSpPr>
            <a:spLocks noGrp="1"/>
          </p:cNvSpPr>
          <p:nvPr>
            <p:ph type="title"/>
          </p:nvPr>
        </p:nvSpPr>
        <p:spPr/>
        <p:txBody>
          <a:bodyPr/>
          <a:lstStyle/>
          <a:p>
            <a:r>
              <a:rPr lang="en-US" dirty="0">
                <a:ea typeface="ＭＳ Ｐゴシック" pitchFamily="34" charset="-128"/>
              </a:rPr>
              <a:t>Sources of data pollution</a:t>
            </a:r>
            <a:endParaRPr lang="en-US" dirty="0"/>
          </a:p>
        </p:txBody>
      </p:sp>
      <p:pic>
        <p:nvPicPr>
          <p:cNvPr id="4" name="slide_08.m4a">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4267200" y="3124200"/>
            <a:ext cx="609600" cy="609600"/>
          </a:xfrm>
          <a:prstGeom prst="rect">
            <a:avLst/>
          </a:prstGeom>
        </p:spPr>
      </p:pic>
    </p:spTree>
    <p:extLst>
      <p:ext uri="{BB962C8B-B14F-4D97-AF65-F5344CB8AC3E}">
        <p14:creationId xmlns:p14="http://schemas.microsoft.com/office/powerpoint/2010/main" val="21245230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54570" fill="hold"/>
                                        <p:tgtEl>
                                          <p:spTgt spid="4"/>
                                        </p:tgtEl>
                                      </p:cBhvr>
                                    </p:cmd>
                                  </p:childTnLst>
                                </p:cTn>
                              </p:par>
                            </p:childTnLst>
                          </p:cTn>
                        </p:par>
                      </p:childTnLst>
                    </p:cTn>
                  </p:par>
                </p:childTnLst>
              </p:cTn>
              <p:nextCondLst>
                <p:cond evt="onClick" delay="0">
                  <p:tgtEl>
                    <p:spTgt spid="4"/>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slide_09.m4a">
            <a:hlinkClick r:id="" action="ppaction://media"/>
          </p:cNvPr>
          <p:cNvPicPr>
            <a:picLocks noGrp="1" noChangeAspect="1"/>
          </p:cNvPicPr>
          <p:nvPr>
            <p:ph idx="1"/>
            <a:audioFile r:link="rId2"/>
            <p:extLst>
              <p:ext uri="{DAA4B4D4-6D71-4841-9C94-3DE7FCFB9230}">
                <p14:media xmlns:p14="http://schemas.microsoft.com/office/powerpoint/2010/main" r:embed="rId1"/>
              </p:ext>
            </p:extLst>
          </p:nvPr>
        </p:nvPicPr>
        <p:blipFill>
          <a:blip r:embed="rId5"/>
          <a:stretch>
            <a:fillRect/>
          </a:stretch>
        </p:blipFill>
        <p:spPr>
          <a:xfrm>
            <a:off x="4267200" y="3438525"/>
            <a:ext cx="609600" cy="609600"/>
          </a:xfrm>
        </p:spPr>
      </p:pic>
      <p:sp>
        <p:nvSpPr>
          <p:cNvPr id="3" name="Title 2"/>
          <p:cNvSpPr>
            <a:spLocks noGrp="1"/>
          </p:cNvSpPr>
          <p:nvPr>
            <p:ph type="title"/>
          </p:nvPr>
        </p:nvSpPr>
        <p:spPr/>
        <p:txBody>
          <a:bodyPr/>
          <a:lstStyle/>
          <a:p>
            <a:r>
              <a:rPr lang="en-US" dirty="0">
                <a:ea typeface="ＭＳ Ｐゴシック" pitchFamily="34" charset="-128"/>
              </a:rPr>
              <a:t>Data Cleansing</a:t>
            </a:r>
            <a:endParaRPr lang="en-US" dirty="0"/>
          </a:p>
        </p:txBody>
      </p:sp>
      <p:pic>
        <p:nvPicPr>
          <p:cNvPr id="4" name="Picture 3"/>
          <p:cNvPicPr>
            <a:picLocks noChangeAspect="1" noChangeArrowheads="1"/>
          </p:cNvPicPr>
          <p:nvPr/>
        </p:nvPicPr>
        <p:blipFill>
          <a:blip r:embed="rId6">
            <a:extLst>
              <a:ext uri="{28A0092B-C50C-407E-A947-70E740481C1C}">
                <a14:useLocalDpi xmlns:a14="http://schemas.microsoft.com/office/drawing/2010/main" val="0"/>
              </a:ext>
            </a:extLst>
          </a:blip>
          <a:srcRect l="9259" t="23546" r="15741" b="9180"/>
          <a:stretch>
            <a:fillRect/>
          </a:stretch>
        </p:blipFill>
        <p:spPr>
          <a:xfrm>
            <a:off x="152400" y="1539875"/>
            <a:ext cx="8763000" cy="4327525"/>
          </a:xfrm>
          <a:prstGeom prst="rect">
            <a:avLst/>
          </a:prstGeom>
        </p:spPr>
      </p:pic>
      <p:pic>
        <p:nvPicPr>
          <p:cNvPr id="2" name="slide_09.m4a">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4267200" y="3124200"/>
            <a:ext cx="609600" cy="609600"/>
          </a:xfrm>
          <a:prstGeom prst="rect">
            <a:avLst/>
          </a:prstGeom>
        </p:spPr>
      </p:pic>
    </p:spTree>
    <p:extLst>
      <p:ext uri="{BB962C8B-B14F-4D97-AF65-F5344CB8AC3E}">
        <p14:creationId xmlns:p14="http://schemas.microsoft.com/office/powerpoint/2010/main" val="4190153992"/>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42730" fill="hold"/>
                                        <p:tgtEl>
                                          <p:spTgt spid="5"/>
                                        </p:tgtEl>
                                      </p:cBhvr>
                                    </p:cmd>
                                  </p:childTnLst>
                                </p:cTn>
                              </p:par>
                            </p:childTnLst>
                          </p:cTn>
                        </p:par>
                      </p:childTnLst>
                    </p:cTn>
                  </p:par>
                </p:childTnLst>
              </p:cTn>
              <p:nextCondLst>
                <p:cond evt="onClick" delay="0">
                  <p:tgtEl>
                    <p:spTgt spid="5"/>
                  </p:tgtEl>
                </p:cond>
              </p:nextCondLst>
            </p:seq>
            <p:audio>
              <p:cMediaNode vol="80000">
                <p:cTn id="7" fill="hold" display="0">
                  <p:stCondLst>
                    <p:cond delay="indefinite"/>
                  </p:stCondLst>
                  <p:endCondLst>
                    <p:cond evt="onStopAudio" delay="0">
                      <p:tgtEl>
                        <p:sldTgt/>
                      </p:tgtEl>
                    </p:cond>
                  </p:endCondLst>
                </p:cTn>
                <p:tgtEl>
                  <p:spTgt spid="5"/>
                </p:tgtEl>
              </p:cMediaNode>
            </p:audi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1" presetClass="mediacall" presetSubtype="0" fill="hold" nodeType="clickEffect">
                                  <p:stCondLst>
                                    <p:cond delay="0"/>
                                  </p:stCondLst>
                                  <p:childTnLst>
                                    <p:cmd type="call" cmd="playFrom(0.0)">
                                      <p:cBhvr>
                                        <p:cTn id="12" dur="42730" fill="hold"/>
                                        <p:tgtEl>
                                          <p:spTgt spid="2"/>
                                        </p:tgtEl>
                                      </p:cBhvr>
                                    </p:cmd>
                                  </p:childTnLst>
                                </p:cTn>
                              </p:par>
                            </p:childTnLst>
                          </p:cTn>
                        </p:par>
                      </p:childTnLst>
                    </p:cTn>
                  </p:par>
                </p:childTnLst>
              </p:cTn>
              <p:nextCondLst>
                <p:cond evt="onClick" delay="0">
                  <p:tgtEl>
                    <p:spTgt spid="2"/>
                  </p:tgtEl>
                </p:cond>
              </p:nextCondLst>
            </p:seq>
            <p:audio>
              <p:cMediaNode vol="80000">
                <p:cTn id="13" fill="hold" display="0">
                  <p:stCondLst>
                    <p:cond delay="indefinite"/>
                  </p:stCondLst>
                  <p:endCondLst>
                    <p:cond evt="onStopAudio" delay="0">
                      <p:tgtEl>
                        <p:sldTgt/>
                      </p:tgtEl>
                    </p:cond>
                  </p:endCondLst>
                </p:cTn>
                <p:tgtEl>
                  <p:spTgt spid="2"/>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pPr>
              <a:lnSpc>
                <a:spcPct val="90000"/>
              </a:lnSpc>
            </a:pPr>
            <a:r>
              <a:rPr lang="en-US" sz="2800" dirty="0">
                <a:ea typeface="ＭＳ Ｐゴシック" pitchFamily="34" charset="-128"/>
              </a:rPr>
              <a:t>Data Ladder, </a:t>
            </a:r>
            <a:r>
              <a:rPr lang="en-US" sz="2800" dirty="0">
                <a:ea typeface="ＭＳ Ｐゴシック" pitchFamily="34" charset="-128"/>
                <a:hlinkClick r:id="rId5"/>
              </a:rPr>
              <a:t>http://www.dataladder.com/products.html</a:t>
            </a:r>
            <a:endParaRPr lang="en-US" sz="2800" dirty="0">
              <a:ea typeface="ＭＳ Ｐゴシック" pitchFamily="34" charset="-128"/>
            </a:endParaRPr>
          </a:p>
          <a:p>
            <a:pPr>
              <a:lnSpc>
                <a:spcPct val="90000"/>
              </a:lnSpc>
            </a:pPr>
            <a:r>
              <a:rPr lang="en-US" sz="2800" dirty="0">
                <a:ea typeface="ＭＳ Ｐゴシック" pitchFamily="34" charset="-128"/>
              </a:rPr>
              <a:t>Human Inference,</a:t>
            </a:r>
          </a:p>
          <a:p>
            <a:pPr>
              <a:lnSpc>
                <a:spcPct val="90000"/>
              </a:lnSpc>
              <a:buFont typeface="Wingdings" pitchFamily="2" charset="2"/>
              <a:buNone/>
            </a:pPr>
            <a:r>
              <a:rPr lang="en-US" sz="2800" dirty="0">
                <a:ea typeface="ＭＳ Ｐゴシック" pitchFamily="34" charset="-128"/>
                <a:hlinkClick r:id="rId6"/>
              </a:rPr>
              <a:t>http://www.humaninference.com/master-data-management/data-quality/data-cleansing</a:t>
            </a:r>
            <a:endParaRPr lang="en-US" sz="2800" dirty="0">
              <a:ea typeface="ＭＳ Ｐゴシック" pitchFamily="34" charset="-128"/>
            </a:endParaRPr>
          </a:p>
          <a:p>
            <a:pPr>
              <a:lnSpc>
                <a:spcPct val="90000"/>
              </a:lnSpc>
            </a:pPr>
            <a:r>
              <a:rPr lang="en-US" sz="2800" dirty="0">
                <a:ea typeface="ＭＳ Ｐゴシック" pitchFamily="34" charset="-128"/>
              </a:rPr>
              <a:t>Google Refine,</a:t>
            </a:r>
          </a:p>
          <a:p>
            <a:pPr>
              <a:lnSpc>
                <a:spcPct val="90000"/>
              </a:lnSpc>
              <a:buFont typeface="Wingdings" pitchFamily="2" charset="2"/>
              <a:buNone/>
            </a:pPr>
            <a:r>
              <a:rPr lang="en-US" sz="2800" dirty="0">
                <a:ea typeface="ＭＳ Ｐゴシック" pitchFamily="34" charset="-128"/>
                <a:hlinkClick r:id="rId7"/>
              </a:rPr>
              <a:t>http://code.google.com/p/google-refine/</a:t>
            </a:r>
            <a:endParaRPr lang="en-US" sz="2800" dirty="0">
              <a:ea typeface="ＭＳ Ｐゴシック" pitchFamily="34" charset="-128"/>
            </a:endParaRPr>
          </a:p>
          <a:p>
            <a:pPr>
              <a:lnSpc>
                <a:spcPct val="90000"/>
              </a:lnSpc>
            </a:pPr>
            <a:r>
              <a:rPr lang="en-US" sz="2800" dirty="0">
                <a:ea typeface="ＭＳ Ｐゴシック" pitchFamily="34" charset="-128"/>
              </a:rPr>
              <a:t>Wrangler</a:t>
            </a:r>
          </a:p>
          <a:p>
            <a:pPr>
              <a:lnSpc>
                <a:spcPct val="90000"/>
              </a:lnSpc>
              <a:buFont typeface="Wingdings" pitchFamily="2" charset="2"/>
              <a:buNone/>
            </a:pPr>
            <a:r>
              <a:rPr lang="en-US" sz="2800" dirty="0">
                <a:ea typeface="ＭＳ Ｐゴシック" pitchFamily="34" charset="-128"/>
                <a:hlinkClick r:id="rId8"/>
              </a:rPr>
              <a:t>http://vis.stanford.edu/wrangler/</a:t>
            </a:r>
            <a:endParaRPr lang="en-US" sz="2800" dirty="0">
              <a:ea typeface="ＭＳ Ｐゴシック" pitchFamily="34" charset="-128"/>
            </a:endParaRPr>
          </a:p>
          <a:p>
            <a:pPr>
              <a:lnSpc>
                <a:spcPct val="90000"/>
              </a:lnSpc>
            </a:pPr>
            <a:r>
              <a:rPr lang="en-US" sz="2800" dirty="0">
                <a:ea typeface="ＭＳ Ｐゴシック" pitchFamily="34" charset="-128"/>
              </a:rPr>
              <a:t>Text Pipe Pro</a:t>
            </a:r>
          </a:p>
          <a:p>
            <a:pPr>
              <a:lnSpc>
                <a:spcPct val="90000"/>
              </a:lnSpc>
              <a:buFont typeface="Wingdings" pitchFamily="2" charset="2"/>
              <a:buNone/>
            </a:pPr>
            <a:r>
              <a:rPr lang="en-US" sz="2800" dirty="0">
                <a:ea typeface="ＭＳ Ｐゴシック" pitchFamily="34" charset="-128"/>
                <a:hlinkClick r:id="rId9"/>
              </a:rPr>
              <a:t>http://www.datamystic.com/textpipe.html#.UKjm9eQ3vyo</a:t>
            </a:r>
            <a:endParaRPr lang="en-US" sz="2800" dirty="0">
              <a:ea typeface="ＭＳ Ｐゴシック" pitchFamily="34" charset="-128"/>
            </a:endParaRPr>
          </a:p>
          <a:p>
            <a:endParaRPr lang="en-US" dirty="0"/>
          </a:p>
        </p:txBody>
      </p:sp>
      <p:sp>
        <p:nvSpPr>
          <p:cNvPr id="3" name="Title 2"/>
          <p:cNvSpPr>
            <a:spLocks noGrp="1"/>
          </p:cNvSpPr>
          <p:nvPr>
            <p:ph type="title"/>
          </p:nvPr>
        </p:nvSpPr>
        <p:spPr/>
        <p:txBody>
          <a:bodyPr>
            <a:normAutofit fontScale="90000"/>
          </a:bodyPr>
          <a:lstStyle/>
          <a:p>
            <a:r>
              <a:rPr lang="en-US" dirty="0">
                <a:ea typeface="ＭＳ Ｐゴシック" pitchFamily="34" charset="-128"/>
              </a:rPr>
              <a:t>Examples of data cleansing tools</a:t>
            </a:r>
            <a:endParaRPr lang="en-US" dirty="0"/>
          </a:p>
        </p:txBody>
      </p:sp>
      <p:pic>
        <p:nvPicPr>
          <p:cNvPr id="4" name="slide_10.m4a">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10"/>
          <a:stretch>
            <a:fillRect/>
          </a:stretch>
        </p:blipFill>
        <p:spPr>
          <a:xfrm>
            <a:off x="4267200" y="3124200"/>
            <a:ext cx="609600" cy="609600"/>
          </a:xfrm>
          <a:prstGeom prst="rect">
            <a:avLst/>
          </a:prstGeom>
        </p:spPr>
      </p:pic>
    </p:spTree>
    <p:extLst>
      <p:ext uri="{BB962C8B-B14F-4D97-AF65-F5344CB8AC3E}">
        <p14:creationId xmlns:p14="http://schemas.microsoft.com/office/powerpoint/2010/main" val="1708365022"/>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43775" fill="hold"/>
                                        <p:tgtEl>
                                          <p:spTgt spid="4"/>
                                        </p:tgtEl>
                                      </p:cBhvr>
                                    </p:cmd>
                                  </p:childTnLst>
                                </p:cTn>
                              </p:par>
                            </p:childTnLst>
                          </p:cTn>
                        </p:par>
                      </p:childTnLst>
                    </p:cTn>
                  </p:par>
                </p:childTnLst>
              </p:cTn>
              <p:nextCondLst>
                <p:cond evt="onClick" delay="0">
                  <p:tgtEl>
                    <p:spTgt spid="4"/>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2852</TotalTime>
  <Words>1705</Words>
  <Application>Microsoft Office PowerPoint</Application>
  <PresentationFormat>On-screen Show (4:3)</PresentationFormat>
  <Paragraphs>86</Paragraphs>
  <Slides>10</Slides>
  <Notes>10</Notes>
  <HiddenSlides>0</HiddenSlides>
  <MMClips>11</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Concourse</vt:lpstr>
      <vt:lpstr>Data Warehousing and Data Mining</vt:lpstr>
      <vt:lpstr>Possible causes of low quality data</vt:lpstr>
      <vt:lpstr>Possible causes of low quality data</vt:lpstr>
      <vt:lpstr>Possible causes of low quality data</vt:lpstr>
      <vt:lpstr>Possible causes of low quality data</vt:lpstr>
      <vt:lpstr>Possible causes of low quality data</vt:lpstr>
      <vt:lpstr>Sources of data pollution</vt:lpstr>
      <vt:lpstr>Sources of data pollution</vt:lpstr>
      <vt:lpstr>Data Cleansing</vt:lpstr>
      <vt:lpstr>Examples of data cleansing tools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Windows User</cp:lastModifiedBy>
  <cp:revision>139</cp:revision>
  <dcterms:created xsi:type="dcterms:W3CDTF">2020-03-25T05:59:07Z</dcterms:created>
  <dcterms:modified xsi:type="dcterms:W3CDTF">2020-07-06T16:18:39Z</dcterms:modified>
</cp:coreProperties>
</file>