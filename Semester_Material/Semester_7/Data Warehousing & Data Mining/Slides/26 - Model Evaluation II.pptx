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19"/>
  </p:notesMasterIdLst>
  <p:sldIdLst>
    <p:sldId id="561" r:id="rId2"/>
    <p:sldId id="559" r:id="rId3"/>
    <p:sldId id="562" r:id="rId4"/>
    <p:sldId id="551" r:id="rId5"/>
    <p:sldId id="552" r:id="rId6"/>
    <p:sldId id="553" r:id="rId7"/>
    <p:sldId id="563" r:id="rId8"/>
    <p:sldId id="555" r:id="rId9"/>
    <p:sldId id="554" r:id="rId10"/>
    <p:sldId id="556" r:id="rId11"/>
    <p:sldId id="557" r:id="rId12"/>
    <p:sldId id="558" r:id="rId13"/>
    <p:sldId id="517" r:id="rId14"/>
    <p:sldId id="470" r:id="rId15"/>
    <p:sldId id="471" r:id="rId16"/>
    <p:sldId id="473" r:id="rId17"/>
    <p:sldId id="560" r:id="rId1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4229" autoAdjust="0"/>
  </p:normalViewPr>
  <p:slideViewPr>
    <p:cSldViewPr>
      <p:cViewPr varScale="1">
        <p:scale>
          <a:sx n="61" d="100"/>
          <a:sy n="61" d="100"/>
        </p:scale>
        <p:origin x="-16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model-performance-cost-functions-for-classification-models-a7b1b00ba60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034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hlinkClick r:id="rId3"/>
              </a:rPr>
              <a:t>https://towardsdatascience.com/model-performance-cost-functions-for-classification-models-a7b1b00ba60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AC4160-D9F3-45E2-9DE0-B8B505BD6EB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1C92DB-6727-4345-AE51-E33248E07424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44108"/>
            <a:ext cx="5028579" cy="4116215"/>
          </a:xfrm>
          <a:noFill/>
          <a:ln/>
        </p:spPr>
        <p:txBody>
          <a:bodyPr lIns="86029" tIns="43014" rIns="86029" bIns="43014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790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  <p:sldLayoutId id="2147484182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471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pPr lvl="2"/>
            <a:r>
              <a:rPr lang="en-US" sz="3600" dirty="0" smtClean="0"/>
              <a:t>Classification Lecture 9</a:t>
            </a:r>
          </a:p>
          <a:p>
            <a:pPr lvl="2"/>
            <a:r>
              <a:rPr lang="en-US" sz="3600" b="0" dirty="0" smtClean="0"/>
              <a:t>Model Evaluation</a:t>
            </a:r>
          </a:p>
          <a:p>
            <a:pPr>
              <a:lnSpc>
                <a:spcPct val="90000"/>
              </a:lnSpc>
            </a:pPr>
            <a:endParaRPr lang="en-US" sz="3600" b="0" dirty="0"/>
          </a:p>
          <a:p>
            <a:r>
              <a:rPr lang="en-US" sz="2400" dirty="0"/>
              <a:t>(</a:t>
            </a:r>
            <a:r>
              <a:rPr lang="en-US" sz="2800" dirty="0"/>
              <a:t>Ch # </a:t>
            </a:r>
            <a:r>
              <a:rPr lang="en-US" sz="2800" dirty="0" smtClean="0"/>
              <a:t>8: Data Mining</a:t>
            </a:r>
            <a:r>
              <a:rPr lang="en-US" sz="2400" dirty="0" smtClean="0"/>
              <a:t>-Concepts and Techniques by Han and </a:t>
            </a:r>
            <a:r>
              <a:rPr lang="en-US" sz="2400" dirty="0" err="1" smtClean="0"/>
              <a:t>Kamber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sz="4000" dirty="0"/>
              <a:t>Computing Cost of Classification</a:t>
            </a:r>
          </a:p>
        </p:txBody>
      </p:sp>
      <p:sp>
        <p:nvSpPr>
          <p:cNvPr id="967752" name="Rectangle 1096"/>
          <p:cNvSpPr>
            <a:spLocks noChangeArrowheads="1"/>
          </p:cNvSpPr>
          <p:nvPr/>
        </p:nvSpPr>
        <p:spPr bwMode="auto">
          <a:xfrm>
            <a:off x="762000" y="57150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967753" name="Rectangle 1097"/>
          <p:cNvSpPr>
            <a:spLocks noChangeArrowheads="1"/>
          </p:cNvSpPr>
          <p:nvPr/>
        </p:nvSpPr>
        <p:spPr bwMode="auto">
          <a:xfrm>
            <a:off x="5181600" y="56388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3"/>
          <a:srcRect l="24118" t="17708" r="25294" b="10417"/>
          <a:stretch>
            <a:fillRect/>
          </a:stretch>
        </p:blipFill>
        <p:spPr bwMode="auto">
          <a:xfrm>
            <a:off x="152400" y="1143000"/>
            <a:ext cx="7924800" cy="5713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505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464898" name="Picture 2" descr="Coronavirus: surprisingly big problems caused by small errors in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609600"/>
            <a:ext cx="9144000" cy="746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sz="4000" dirty="0"/>
              <a:t>Computing Cost of Classification</a:t>
            </a:r>
          </a:p>
        </p:txBody>
      </p:sp>
      <p:graphicFrame>
        <p:nvGraphicFramePr>
          <p:cNvPr id="967683" name="Group 10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50733308"/>
              </p:ext>
            </p:extLst>
          </p:nvPr>
        </p:nvGraphicFramePr>
        <p:xfrm>
          <a:off x="2667000" y="1371600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 Matrix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06" name="Group 1050"/>
          <p:cNvGraphicFramePr>
            <a:graphicFrameLocks noGrp="1"/>
          </p:cNvGraphicFramePr>
          <p:nvPr/>
        </p:nvGraphicFramePr>
        <p:xfrm>
          <a:off x="4572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29" name="Group 1073"/>
          <p:cNvGraphicFramePr>
            <a:graphicFrameLocks noGrp="1"/>
          </p:cNvGraphicFramePr>
          <p:nvPr/>
        </p:nvGraphicFramePr>
        <p:xfrm>
          <a:off x="52578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67752" name="Rectangle 1096"/>
          <p:cNvSpPr>
            <a:spLocks noChangeArrowheads="1"/>
          </p:cNvSpPr>
          <p:nvPr/>
        </p:nvSpPr>
        <p:spPr bwMode="auto">
          <a:xfrm>
            <a:off x="762000" y="57150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80%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Cost = 3910</a:t>
            </a:r>
          </a:p>
        </p:txBody>
      </p:sp>
      <p:sp>
        <p:nvSpPr>
          <p:cNvPr id="967753" name="Rectangle 1097"/>
          <p:cNvSpPr>
            <a:spLocks noChangeArrowheads="1"/>
          </p:cNvSpPr>
          <p:nvPr/>
        </p:nvSpPr>
        <p:spPr bwMode="auto">
          <a:xfrm>
            <a:off x="5181600" y="56388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90%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Cost = 4255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505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Cost </a:t>
            </a:r>
            <a:r>
              <a:rPr lang="en-US" dirty="0" err="1"/>
              <a:t>vs</a:t>
            </a:r>
            <a:r>
              <a:rPr lang="en-US" dirty="0"/>
              <a:t> Accuracy</a:t>
            </a:r>
          </a:p>
        </p:txBody>
      </p:sp>
      <p:graphicFrame>
        <p:nvGraphicFramePr>
          <p:cNvPr id="968707" name="Group 3"/>
          <p:cNvGraphicFramePr>
            <a:graphicFrameLocks noGrp="1"/>
          </p:cNvGraphicFramePr>
          <p:nvPr>
            <p:ph idx="1"/>
          </p:nvPr>
        </p:nvGraphicFramePr>
        <p:xfrm>
          <a:off x="411163" y="1140460"/>
          <a:ext cx="4389437" cy="2183130"/>
        </p:xfrm>
        <a:graphic>
          <a:graphicData uri="http://schemas.openxmlformats.org/drawingml/2006/table">
            <a:tbl>
              <a:tblPr/>
              <a:tblGrid>
                <a:gridCol w="1096962"/>
                <a:gridCol w="1098550"/>
                <a:gridCol w="1096963"/>
                <a:gridCol w="1096962"/>
              </a:tblGrid>
              <a:tr h="6883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34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8730" name="Group 26"/>
          <p:cNvGraphicFramePr>
            <a:graphicFrameLocks noGrp="1"/>
          </p:cNvGraphicFramePr>
          <p:nvPr/>
        </p:nvGraphicFramePr>
        <p:xfrm>
          <a:off x="381000" y="3886200"/>
          <a:ext cx="4389438" cy="2243138"/>
        </p:xfrm>
        <a:graphic>
          <a:graphicData uri="http://schemas.openxmlformats.org/drawingml/2006/table">
            <a:tbl>
              <a:tblPr/>
              <a:tblGrid>
                <a:gridCol w="1096963"/>
                <a:gridCol w="1098550"/>
                <a:gridCol w="1096962"/>
                <a:gridCol w="1096963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6515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5105400" y="1143000"/>
            <a:ext cx="3733800" cy="4964113"/>
            <a:chOff x="3216" y="720"/>
            <a:chExt cx="2352" cy="3127"/>
          </a:xfrm>
        </p:grpSpPr>
        <p:sp>
          <p:nvSpPr>
            <p:cNvPr id="968754" name="Text Box 50"/>
            <p:cNvSpPr txBox="1">
              <a:spLocks noChangeArrowheads="1"/>
            </p:cNvSpPr>
            <p:nvPr/>
          </p:nvSpPr>
          <p:spPr bwMode="auto">
            <a:xfrm>
              <a:off x="3264" y="1536"/>
              <a:ext cx="2256" cy="23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N = a + b + c + d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Accuracy = (a + d)/N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Cost = p (a + d) + q (b + c)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p (a + d) + q (N – a – d)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q N – (q – p)(a + d)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N [q – (q-p) </a:t>
              </a:r>
              <a:r>
                <a:rPr lang="en-US" sz="1800" b="0" dirty="0">
                  <a:solidFill>
                    <a:schemeClr val="tx1"/>
                  </a:solidFill>
                  <a:sym typeface="Symbol" pitchFamily="18" charset="2"/>
                </a:rPr>
                <a:t> </a:t>
              </a:r>
              <a:r>
                <a:rPr lang="en-US" sz="1800" b="0" dirty="0">
                  <a:solidFill>
                    <a:schemeClr val="tx1"/>
                  </a:solidFill>
                </a:rPr>
                <a:t>Accuracy] 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</p:txBody>
        </p:sp>
        <p:sp>
          <p:nvSpPr>
            <p:cNvPr id="968755" name="Rectangle 51"/>
            <p:cNvSpPr>
              <a:spLocks noChangeArrowheads="1"/>
            </p:cNvSpPr>
            <p:nvPr/>
          </p:nvSpPr>
          <p:spPr bwMode="auto">
            <a:xfrm>
              <a:off x="3216" y="720"/>
              <a:ext cx="2352" cy="5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 dirty="0">
                  <a:solidFill>
                    <a:schemeClr val="tx1"/>
                  </a:solidFill>
                </a:rPr>
                <a:t>Accuracy is proportional to cost if</a:t>
              </a:r>
              <a:br>
                <a:rPr lang="en-US" sz="1800" b="0" dirty="0">
                  <a:solidFill>
                    <a:schemeClr val="tx1"/>
                  </a:solidFill>
                </a:rPr>
              </a:br>
              <a:r>
                <a:rPr lang="en-US" sz="1800" b="0" dirty="0">
                  <a:solidFill>
                    <a:schemeClr val="tx1"/>
                  </a:solidFill>
                </a:rPr>
                <a:t>1. C(</a:t>
              </a:r>
              <a:r>
                <a:rPr lang="en-US" sz="1800" b="0" dirty="0" err="1">
                  <a:solidFill>
                    <a:schemeClr val="tx1"/>
                  </a:solidFill>
                </a:rPr>
                <a:t>Yes|No</a:t>
              </a:r>
              <a:r>
                <a:rPr lang="en-US" sz="1800" b="0" dirty="0">
                  <a:solidFill>
                    <a:schemeClr val="tx1"/>
                  </a:solidFill>
                </a:rPr>
                <a:t>)=C(</a:t>
              </a:r>
              <a:r>
                <a:rPr lang="en-US" sz="1800" b="0" dirty="0" err="1">
                  <a:solidFill>
                    <a:schemeClr val="tx1"/>
                  </a:solidFill>
                </a:rPr>
                <a:t>No|Yes</a:t>
              </a:r>
              <a:r>
                <a:rPr lang="en-US" sz="1800" b="0" dirty="0">
                  <a:solidFill>
                    <a:schemeClr val="tx1"/>
                  </a:solidFill>
                </a:rPr>
                <a:t>) = q </a:t>
              </a:r>
              <a:br>
                <a:rPr lang="en-US" sz="1800" b="0" dirty="0">
                  <a:solidFill>
                    <a:schemeClr val="tx1"/>
                  </a:solidFill>
                </a:rPr>
              </a:br>
              <a:r>
                <a:rPr lang="en-US" sz="1800" b="0" dirty="0">
                  <a:solidFill>
                    <a:schemeClr val="tx1"/>
                  </a:solidFill>
                </a:rPr>
                <a:t>2. C(</a:t>
              </a:r>
              <a:r>
                <a:rPr lang="en-US" sz="1800" b="0" dirty="0" err="1">
                  <a:solidFill>
                    <a:schemeClr val="tx1"/>
                  </a:solidFill>
                </a:rPr>
                <a:t>Yes|Yes</a:t>
              </a:r>
              <a:r>
                <a:rPr lang="en-US" sz="1800" b="0" dirty="0">
                  <a:solidFill>
                    <a:schemeClr val="tx1"/>
                  </a:solidFill>
                </a:rPr>
                <a:t>)=C(</a:t>
              </a:r>
              <a:r>
                <a:rPr lang="en-US" sz="1800" b="0" dirty="0" err="1">
                  <a:solidFill>
                    <a:schemeClr val="tx1"/>
                  </a:solidFill>
                </a:rPr>
                <a:t>No|No</a:t>
              </a:r>
              <a:r>
                <a:rPr lang="en-US" sz="1800" b="0" dirty="0">
                  <a:solidFill>
                    <a:schemeClr val="tx1"/>
                  </a:solidFill>
                </a:rPr>
                <a:t>) = 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18458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893728" cy="914400"/>
          </a:xfrm>
        </p:spPr>
        <p:txBody>
          <a:bodyPr/>
          <a:lstStyle/>
          <a:p>
            <a:r>
              <a:rPr lang="en-US" dirty="0" smtClean="0"/>
              <a:t>Precision-Recall</a:t>
            </a:r>
            <a:endParaRPr lang="en-US" dirty="0"/>
          </a:p>
        </p:txBody>
      </p:sp>
      <p:graphicFrame>
        <p:nvGraphicFramePr>
          <p:cNvPr id="969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2112831"/>
              </p:ext>
            </p:extLst>
          </p:nvPr>
        </p:nvGraphicFramePr>
        <p:xfrm>
          <a:off x="457200" y="1872742"/>
          <a:ext cx="7386638" cy="2455862"/>
        </p:xfrm>
        <a:graphic>
          <a:graphicData uri="http://schemas.openxmlformats.org/presentationml/2006/ole">
            <p:oleObj spid="_x0000_s421890" name="Εξίσωση" r:id="rId3" imgW="4305240" imgH="1447560" progId="Equation.3">
              <p:embed/>
            </p:oleObj>
          </a:graphicData>
        </a:graphic>
      </p:graphicFrame>
      <p:sp>
        <p:nvSpPr>
          <p:cNvPr id="969732" name="Rectangle 4"/>
          <p:cNvSpPr>
            <a:spLocks noChangeArrowheads="1"/>
          </p:cNvSpPr>
          <p:nvPr/>
        </p:nvSpPr>
        <p:spPr bwMode="auto">
          <a:xfrm>
            <a:off x="533400" y="4495800"/>
            <a:ext cx="8479654" cy="213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 algn="l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Precision is biased towards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 err="1">
                <a:solidFill>
                  <a:srgbClr val="0070C0"/>
                </a:solidFill>
              </a:rPr>
              <a:t>|Yes</a:t>
            </a:r>
            <a:r>
              <a:rPr lang="en-US" sz="2400" b="1" dirty="0">
                <a:solidFill>
                  <a:srgbClr val="0070C0"/>
                </a:solidFill>
              </a:rPr>
              <a:t>) &amp; C(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 err="1">
                <a:solidFill>
                  <a:srgbClr val="0070C0"/>
                </a:solidFill>
              </a:rPr>
              <a:t>|No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marL="292100" indent="-292100" algn="l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Recall is biased towards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0070C0"/>
                </a:solidFill>
              </a:rPr>
              <a:t>Yes|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>
                <a:solidFill>
                  <a:srgbClr val="0070C0"/>
                </a:solidFill>
              </a:rPr>
              <a:t>) &amp; C(</a:t>
            </a:r>
            <a:r>
              <a:rPr lang="en-US" sz="2400" b="1" dirty="0" err="1">
                <a:solidFill>
                  <a:srgbClr val="0070C0"/>
                </a:solidFill>
              </a:rPr>
              <a:t>No|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marL="292100" indent="-292100" algn="l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F-measure is biased towards all </a:t>
            </a:r>
            <a:r>
              <a:rPr lang="en-US" sz="2400" b="0" dirty="0">
                <a:solidFill>
                  <a:schemeClr val="accent6">
                    <a:lumMod val="75000"/>
                  </a:schemeClr>
                </a:solidFill>
              </a:rPr>
              <a:t>except</a:t>
            </a:r>
            <a:r>
              <a:rPr lang="en-US" sz="2400" b="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0070C0"/>
                </a:solidFill>
              </a:rPr>
              <a:t>No|No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</p:txBody>
      </p:sp>
      <p:graphicFrame>
        <p:nvGraphicFramePr>
          <p:cNvPr id="6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900080878"/>
              </p:ext>
            </p:extLst>
          </p:nvPr>
        </p:nvGraphicFramePr>
        <p:xfrm>
          <a:off x="5105400" y="1543304"/>
          <a:ext cx="3558465" cy="1504696"/>
        </p:xfrm>
        <a:graphic>
          <a:graphicData uri="http://schemas.openxmlformats.org/drawingml/2006/table">
            <a:tbl>
              <a:tblPr/>
              <a:tblGrid>
                <a:gridCol w="889294"/>
                <a:gridCol w="890582"/>
                <a:gridCol w="889295"/>
                <a:gridCol w="889294"/>
              </a:tblGrid>
              <a:tr h="2963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992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76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46466" name="AutoShape 2" descr="blob:https://web.whatsapp.com/afa881e2-8a31-468c-9689-6699b52722a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6468" name="AutoShape 4" descr="blob:https://web.whatsapp.com/afa881e2-8a31-468c-9689-6699b52722a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6470" name="AutoShape 6" descr="blob:https://web.whatsapp.com/afa881e2-8a31-468c-9689-6699b52722a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6472" name="AutoShape 8" descr="blob:https://web.whatsapp.com/afa881e2-8a31-468c-9689-6699b52722a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 l="33974" t="13068" r="32746" b="12216"/>
          <a:stretch>
            <a:fillRect/>
          </a:stretch>
        </p:blipFill>
        <p:spPr bwMode="auto">
          <a:xfrm>
            <a:off x="457200" y="0"/>
            <a:ext cx="84582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Precision-Recall is a useful measure of success of prediction when the classes are very imbalanced. In information retrieval, precision is a measure of result relevancy, while recall is a measure of how many truly relevant results are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It shows the tradeoff between precision and recall for different threshold. A high area under the curve represents both high recall and high precision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1165" r="49240"/>
          <a:stretch/>
        </p:blipFill>
        <p:spPr>
          <a:xfrm>
            <a:off x="1524000" y="3429000"/>
            <a:ext cx="4748074" cy="3429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high precision relates to a low false positive rate, and high recall relates to a low false negative rate. High scores for both show that the classifier is returning accurate results (high precision), as well as returning a majority of all positive results (high recall).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A system with high recall but low precision returns many results, but most of its predicted labels are incorrect when compared to the training labels. A system with high precision but low recall is just the opposite, returning very few results, but most of its predicted labels are correct when compared to the training labels.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An ideal system with high precision and high recall will return many results, with all results labeled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91488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Evaluating Classifier Accuracy:</a:t>
            </a:r>
            <a:br>
              <a:rPr lang="en-US" smtClean="0"/>
            </a:br>
            <a:r>
              <a:rPr lang="en-US" smtClean="0"/>
              <a:t>Holdout &amp; Cross-Validation Methods</a:t>
            </a:r>
            <a:endParaRPr lang="en-US" sz="4000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763000" cy="52736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sz="2400" b="1" dirty="0" smtClean="0"/>
              <a:t>Holdout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Given data is randomly partitioned into two independent sets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Training set (e.g., 2/3) for model construction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Test set (e.g., 1/3) for accuracy estimation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u="sng" dirty="0" smtClean="0"/>
              <a:t>Random sampling</a:t>
            </a:r>
            <a:r>
              <a:rPr lang="en-US" sz="2400" dirty="0" smtClean="0"/>
              <a:t>: a variation of holdout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Repeat holdout k times, accuracy = avg. of the accuracies obtained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b="1" dirty="0" smtClean="0"/>
              <a:t>Cross-validation</a:t>
            </a:r>
            <a:r>
              <a:rPr lang="en-US" sz="2400" dirty="0" smtClean="0"/>
              <a:t> (</a:t>
            </a:r>
            <a:r>
              <a:rPr lang="en-US" sz="2400" i="1" dirty="0" smtClean="0"/>
              <a:t>k</a:t>
            </a:r>
            <a:r>
              <a:rPr lang="en-US" sz="2400" dirty="0" smtClean="0"/>
              <a:t>-fold, where k = 10 is most popular)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Randomly partition the data into </a:t>
            </a:r>
            <a:r>
              <a:rPr lang="en-US" sz="2400" i="1" dirty="0" smtClean="0"/>
              <a:t>k</a:t>
            </a:r>
            <a:r>
              <a:rPr lang="en-US" sz="2400" dirty="0" smtClean="0"/>
              <a:t> </a:t>
            </a:r>
            <a:r>
              <a:rPr lang="en-US" sz="2400" i="1" dirty="0" smtClean="0"/>
              <a:t>mutually exclusive</a:t>
            </a:r>
            <a:r>
              <a:rPr lang="en-US" sz="2400" dirty="0" smtClean="0"/>
              <a:t> subsets, each approximately equal size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At </a:t>
            </a:r>
            <a:r>
              <a:rPr lang="en-US" sz="2400" i="1" dirty="0" err="1" smtClean="0"/>
              <a:t>i</a:t>
            </a:r>
            <a:r>
              <a:rPr lang="en-US" sz="2400" dirty="0" err="1" smtClean="0"/>
              <a:t>-th</a:t>
            </a:r>
            <a:r>
              <a:rPr lang="en-US" sz="2400" dirty="0" smtClean="0"/>
              <a:t> iteration, use D</a:t>
            </a:r>
            <a:r>
              <a:rPr lang="en-US" sz="2400" baseline="-25000" dirty="0" smtClean="0"/>
              <a:t>i </a:t>
            </a:r>
            <a:r>
              <a:rPr lang="en-US" sz="2400" dirty="0" smtClean="0"/>
              <a:t>as test set and others as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u="sng" dirty="0" smtClean="0"/>
              <a:t>Leave-one-out</a:t>
            </a:r>
            <a:r>
              <a:rPr lang="en-US" sz="2400" dirty="0" smtClean="0"/>
              <a:t>: </a:t>
            </a:r>
            <a:r>
              <a:rPr lang="en-US" sz="2400" i="1" dirty="0" smtClean="0"/>
              <a:t>k</a:t>
            </a:r>
            <a:r>
              <a:rPr lang="en-US" sz="2400" dirty="0" smtClean="0"/>
              <a:t> folds where </a:t>
            </a:r>
            <a:r>
              <a:rPr lang="en-US" sz="2400" i="1" dirty="0" smtClean="0"/>
              <a:t>k</a:t>
            </a:r>
            <a:r>
              <a:rPr lang="en-US" sz="2400" dirty="0" smtClean="0"/>
              <a:t> = # of </a:t>
            </a:r>
            <a:r>
              <a:rPr lang="en-US" sz="2400" dirty="0" err="1" smtClean="0"/>
              <a:t>tuples</a:t>
            </a:r>
            <a:r>
              <a:rPr lang="en-US" sz="2400" dirty="0" smtClean="0"/>
              <a:t>, for small sized data</a:t>
            </a:r>
          </a:p>
        </p:txBody>
      </p:sp>
      <p:sp>
        <p:nvSpPr>
          <p:cNvPr id="5632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219EC19-DF45-4022-95DF-35396674A49C}" type="slidenum">
              <a:rPr lang="en-US" sz="1200" b="1">
                <a:latin typeface="Calibri" pitchFamily="34" charset="0"/>
              </a:rPr>
              <a:pPr algn="r"/>
              <a:t>13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114800"/>
          </a:xfrm>
        </p:spPr>
        <p:txBody>
          <a:bodyPr/>
          <a:lstStyle/>
          <a:p>
            <a:r>
              <a:rPr lang="en-US" dirty="0"/>
              <a:t>Metrics for Performance Evaluation</a:t>
            </a:r>
          </a:p>
          <a:p>
            <a:pPr lvl="1"/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Methods for Performance Evaluation</a:t>
            </a:r>
          </a:p>
          <a:p>
            <a:pPr lvl="1"/>
            <a:r>
              <a:rPr lang="en-US" dirty="0"/>
              <a:t>How to obtain reliable estimates?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3244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Methods for Performance Evaluation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r>
              <a:rPr lang="en-US" dirty="0"/>
              <a:t>How to obtain a reliable estimate of performance?</a:t>
            </a:r>
          </a:p>
          <a:p>
            <a:r>
              <a:rPr lang="en-US" dirty="0" smtClean="0"/>
              <a:t>Performance </a:t>
            </a:r>
            <a:r>
              <a:rPr lang="en-US" dirty="0"/>
              <a:t>of a model may depend on other factors besides the learning algorithm:</a:t>
            </a:r>
          </a:p>
          <a:p>
            <a:pPr lvl="1"/>
            <a:r>
              <a:rPr lang="en-US" dirty="0"/>
              <a:t>Class distribution</a:t>
            </a:r>
          </a:p>
          <a:p>
            <a:pPr lvl="1"/>
            <a:r>
              <a:rPr lang="en-US" dirty="0"/>
              <a:t>Cost of misclassification</a:t>
            </a:r>
          </a:p>
          <a:p>
            <a:pPr lvl="1"/>
            <a:r>
              <a:rPr lang="en-US" dirty="0"/>
              <a:t>Size of training and test sets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578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72400" cy="838200"/>
          </a:xfrm>
        </p:spPr>
        <p:txBody>
          <a:bodyPr/>
          <a:lstStyle/>
          <a:p>
            <a:r>
              <a:rPr lang="en-US" sz="4000" dirty="0" smtClean="0"/>
              <a:t>Dealing with class Imbalance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772400" cy="5181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If the class we are interested in is very rare, then the classifier will ignore it.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The class imbalance problem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Solution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We can modify the optimization criterion by using a cost sensitive metric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We can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balance</a:t>
            </a:r>
            <a:r>
              <a:rPr lang="en-US" dirty="0" smtClean="0"/>
              <a:t> the class distribution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Sample from the larger class so that the size of the two classes is the same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Replicate the data of the class of interest so that the classes are balanced </a:t>
            </a:r>
          </a:p>
          <a:p>
            <a:pPr lvl="3">
              <a:spcBef>
                <a:spcPts val="0"/>
              </a:spcBef>
            </a:pPr>
            <a:r>
              <a:rPr lang="en-US" dirty="0" smtClean="0"/>
              <a:t>Over-fitting 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8389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r>
              <a:rPr lang="en-US" sz="3200" b="0" smtClean="0"/>
              <a:t>Classification of Class-Imbalanced Data Sets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Typical methods for imbalance data in 2-class classification: 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/>
              <a:t>Oversampling</a:t>
            </a:r>
            <a:r>
              <a:rPr lang="en-US" sz="2400" dirty="0" smtClean="0"/>
              <a:t>: re-sampling of data from positive class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/>
              <a:t>Under-sampling</a:t>
            </a:r>
            <a:r>
              <a:rPr lang="en-US" sz="2400" dirty="0" smtClean="0"/>
              <a:t>: randomly eliminate 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from negative class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/>
              <a:t>Threshold-moving</a:t>
            </a:r>
            <a:r>
              <a:rPr lang="en-US" sz="2400" dirty="0" smtClean="0"/>
              <a:t>: moves the decision threshold, t, so that the rare class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are easier to classify, and hence, less chance of costly false negative errors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Ensemble techniques: Ensemble multiple classifiers introduced above</a:t>
            </a:r>
          </a:p>
        </p:txBody>
      </p:sp>
      <p:sp>
        <p:nvSpPr>
          <p:cNvPr id="7168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66ECBE1-5A5D-4F0E-A260-8A662E4214CB}" type="slidenum">
              <a:rPr lang="en-US" sz="1200" b="1">
                <a:latin typeface="Calibri" pitchFamily="34" charset="0"/>
              </a:rPr>
              <a:pPr algn="r"/>
              <a:t>17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21654</TotalTime>
  <Words>777</Words>
  <Application>Microsoft Office PowerPoint</Application>
  <PresentationFormat>On-screen Show (4:3)</PresentationFormat>
  <Paragraphs>168</Paragraphs>
  <Slides>17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Default Design</vt:lpstr>
      <vt:lpstr>Εξίσωση</vt:lpstr>
      <vt:lpstr>Slide 1</vt:lpstr>
      <vt:lpstr>Computing Cost of Classification</vt:lpstr>
      <vt:lpstr>Slide 3</vt:lpstr>
      <vt:lpstr>Computing Cost of Classification</vt:lpstr>
      <vt:lpstr>Cost vs Accuracy</vt:lpstr>
      <vt:lpstr>Precision-Recall</vt:lpstr>
      <vt:lpstr>Slide 7</vt:lpstr>
      <vt:lpstr>Precision-Recall plot</vt:lpstr>
      <vt:lpstr>Precision-Recall plot</vt:lpstr>
      <vt:lpstr>Precision-Recall plot</vt:lpstr>
      <vt:lpstr>Precision-Recall plot</vt:lpstr>
      <vt:lpstr>Precision-Recall plot</vt:lpstr>
      <vt:lpstr>Evaluating Classifier Accuracy: Holdout &amp; Cross-Validation Methods</vt:lpstr>
      <vt:lpstr>Model Evaluation</vt:lpstr>
      <vt:lpstr>Methods for Performance Evaluation</vt:lpstr>
      <vt:lpstr>Dealing with class Imbalance</vt:lpstr>
      <vt:lpstr>Classification of Class-Imbalanced Data Sets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502</cp:revision>
  <dcterms:created xsi:type="dcterms:W3CDTF">2006-02-06T02:43:57Z</dcterms:created>
  <dcterms:modified xsi:type="dcterms:W3CDTF">2020-07-14T05:41:24Z</dcterms:modified>
</cp:coreProperties>
</file>