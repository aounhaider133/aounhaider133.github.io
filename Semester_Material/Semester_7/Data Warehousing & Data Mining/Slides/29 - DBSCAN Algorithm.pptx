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3" r:id="rId3"/>
    <p:sldId id="264" r:id="rId4"/>
    <p:sldId id="265" r:id="rId5"/>
    <p:sldId id="257" r:id="rId6"/>
    <p:sldId id="266" r:id="rId7"/>
    <p:sldId id="258" r:id="rId8"/>
    <p:sldId id="267" r:id="rId9"/>
    <p:sldId id="259" r:id="rId10"/>
    <p:sldId id="260" r:id="rId11"/>
    <p:sldId id="268" r:id="rId12"/>
    <p:sldId id="261" r:id="rId13"/>
    <p:sldId id="269" r:id="rId14"/>
    <p:sldId id="262" r:id="rId15"/>
    <p:sldId id="276" r:id="rId16"/>
    <p:sldId id="271" r:id="rId17"/>
    <p:sldId id="272" r:id="rId18"/>
    <p:sldId id="273" r:id="rId19"/>
    <p:sldId id="274" r:id="rId20"/>
    <p:sldId id="275" r:id="rId21"/>
    <p:sldId id="270" r:id="rId22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45" d="100"/>
          <a:sy n="45" d="100"/>
        </p:scale>
        <p:origin x="142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1228"/>
            <a:ext cx="6336996" cy="85120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10200"/>
              </a:lnSpc>
              <a:spcBef>
                <a:spcPts val="85"/>
              </a:spcBef>
            </a:pPr>
            <a:r>
              <a:rPr sz="3600" dirty="0">
                <a:latin typeface="Calibri"/>
                <a:cs typeface="Calibri"/>
              </a:rPr>
              <a:t>DBSCAN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stands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for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Density-</a:t>
            </a:r>
            <a:r>
              <a:rPr sz="3600" dirty="0">
                <a:latin typeface="Calibri"/>
                <a:cs typeface="Calibri"/>
              </a:rPr>
              <a:t>Based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Spatial Clustering </a:t>
            </a:r>
            <a:r>
              <a:rPr sz="3600" spc="-10" dirty="0">
                <a:latin typeface="Calibri"/>
                <a:cs typeface="Calibri"/>
              </a:rPr>
              <a:t>Application </a:t>
            </a:r>
            <a:r>
              <a:rPr sz="3600" dirty="0">
                <a:latin typeface="Calibri"/>
                <a:cs typeface="Calibri"/>
              </a:rPr>
              <a:t>with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Noise.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It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is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</a:t>
            </a:r>
            <a:r>
              <a:rPr sz="3600" spc="-10" dirty="0">
                <a:latin typeface="Calibri"/>
                <a:cs typeface="Calibri"/>
              </a:rPr>
              <a:t> unsupervised</a:t>
            </a:r>
            <a:r>
              <a:rPr sz="3600" spc="50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machine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learning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algorithm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that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makes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clusters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based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upon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density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data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points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or how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close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data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is.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That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said,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points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which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are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outside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dense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regions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are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excluded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treated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as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noise</a:t>
            </a:r>
            <a:r>
              <a:rPr sz="3600" spc="50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or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outliers.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This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characteristic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DBSCAN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algorithm</a:t>
            </a:r>
            <a:r>
              <a:rPr sz="3600" spc="-10" dirty="0">
                <a:latin typeface="Calibri"/>
                <a:cs typeface="Calibri"/>
              </a:rPr>
              <a:t> makes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it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10" dirty="0">
                <a:latin typeface="Calibri"/>
                <a:cs typeface="Calibri"/>
              </a:rPr>
              <a:t> perfect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fit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for</a:t>
            </a:r>
            <a:r>
              <a:rPr sz="3600" spc="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outlier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detection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and </a:t>
            </a:r>
            <a:r>
              <a:rPr sz="3600" dirty="0">
                <a:latin typeface="Calibri"/>
                <a:cs typeface="Calibri"/>
              </a:rPr>
              <a:t>making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clusters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arbitrary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shape.</a:t>
            </a:r>
            <a:r>
              <a:rPr sz="3600" spc="-10" dirty="0">
                <a:latin typeface="Calibri"/>
                <a:cs typeface="Calibri"/>
              </a:rPr>
              <a:t> 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7BF1D-8889-2141-145B-81DE0C24D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6A6647BF-893C-C2AA-DA80-3BE25F9358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38200"/>
            <a:ext cx="7620000" cy="61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71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16F7-94C2-72EF-1021-16F4A488F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8158BED-E835-7BE1-9185-F05D3302B3DB}"/>
              </a:ext>
            </a:extLst>
          </p:cNvPr>
          <p:cNvSpPr txBox="1"/>
          <p:nvPr/>
        </p:nvSpPr>
        <p:spPr>
          <a:xfrm>
            <a:off x="902004" y="914400"/>
            <a:ext cx="6489396" cy="77559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5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possible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clusters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marked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graph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visualize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clusters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want.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(1,5)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(4,3)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(5,6)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above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graph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fall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outside</a:t>
            </a:r>
            <a:r>
              <a:rPr sz="2800" spc="-25" dirty="0">
                <a:latin typeface="Calibri"/>
                <a:cs typeface="Calibri"/>
              </a:rPr>
              <a:t> the</a:t>
            </a:r>
            <a:r>
              <a:rPr sz="2800" dirty="0">
                <a:latin typeface="Calibri"/>
                <a:cs typeface="Calibri"/>
              </a:rPr>
              <a:t> markings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hence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 treated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outliers.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DBSCAN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actually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clusters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exclude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outliers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graph.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Let’s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understand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various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steps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involved</a:t>
            </a:r>
            <a:r>
              <a:rPr sz="2800" dirty="0">
                <a:latin typeface="Calibri"/>
                <a:cs typeface="Calibri"/>
              </a:rPr>
              <a:t> in </a:t>
            </a:r>
            <a:r>
              <a:rPr sz="2800" spc="-25" dirty="0">
                <a:latin typeface="Calibri"/>
                <a:cs typeface="Calibri"/>
              </a:rPr>
              <a:t>it.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800" b="1" dirty="0">
                <a:latin typeface="Calibri"/>
                <a:cs typeface="Calibri"/>
              </a:rPr>
              <a:t>Logic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Steps:</a:t>
            </a:r>
            <a:endParaRPr sz="2800" dirty="0">
              <a:latin typeface="Calibri"/>
              <a:cs typeface="Calibri"/>
            </a:endParaRPr>
          </a:p>
          <a:p>
            <a:pPr marL="12700" marR="132080">
              <a:lnSpc>
                <a:spcPct val="110900"/>
              </a:lnSpc>
              <a:spcBef>
                <a:spcPts val="740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DBSCAN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takes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parameters.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Radius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around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 point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eps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minimum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points that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around that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radius (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MinPts</a:t>
            </a:r>
            <a:r>
              <a:rPr sz="2800" dirty="0">
                <a:latin typeface="Calibri"/>
                <a:cs typeface="Calibri"/>
              </a:rPr>
              <a:t>).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example,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0663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F2F4A-9587-91B0-69CF-E2BB6CBB8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30B4319-79FD-0675-1403-974C4AE19005}"/>
              </a:ext>
            </a:extLst>
          </p:cNvPr>
          <p:cNvSpPr txBox="1"/>
          <p:nvPr/>
        </p:nvSpPr>
        <p:spPr>
          <a:xfrm>
            <a:off x="902004" y="914400"/>
            <a:ext cx="6489396" cy="54716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800" b="1" dirty="0">
                <a:latin typeface="Calibri"/>
                <a:cs typeface="Calibri"/>
              </a:rPr>
              <a:t>Logic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Steps:</a:t>
            </a:r>
            <a:endParaRPr sz="2800" dirty="0">
              <a:latin typeface="Calibri"/>
              <a:cs typeface="Calibri"/>
            </a:endParaRPr>
          </a:p>
          <a:p>
            <a:pPr marL="12700" marR="132080">
              <a:lnSpc>
                <a:spcPct val="110900"/>
              </a:lnSpc>
              <a:spcBef>
                <a:spcPts val="740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DBSCAN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takes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parameters.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Radius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around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 point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eps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minimum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points that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around that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radius (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MinPts</a:t>
            </a:r>
            <a:r>
              <a:rPr sz="2800" dirty="0">
                <a:latin typeface="Calibri"/>
                <a:cs typeface="Calibri"/>
              </a:rPr>
              <a:t>).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example,</a:t>
            </a:r>
            <a:endParaRPr lang="en-US" sz="2800" spc="-10" dirty="0">
              <a:latin typeface="Calibri"/>
              <a:cs typeface="Calibri"/>
            </a:endParaRPr>
          </a:p>
          <a:p>
            <a:pPr marL="12700" marR="132080">
              <a:lnSpc>
                <a:spcPct val="110900"/>
              </a:lnSpc>
              <a:spcBef>
                <a:spcPts val="740"/>
              </a:spcBef>
            </a:pPr>
            <a:r>
              <a:rPr lang="en-US" sz="2800" dirty="0">
                <a:latin typeface="Calibri"/>
                <a:cs typeface="Calibri"/>
              </a:rPr>
              <a:t>consider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point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(1.5,2.5),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if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we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take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i="1" dirty="0">
                <a:latin typeface="Calibri"/>
                <a:cs typeface="Calibri"/>
              </a:rPr>
              <a:t>eps</a:t>
            </a:r>
            <a:r>
              <a:rPr lang="en-US" sz="2800" i="1" spc="-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=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0.3,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then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circle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around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point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with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radius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=</a:t>
            </a:r>
            <a:r>
              <a:rPr lang="en-US" sz="2800" spc="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0.3,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will </a:t>
            </a:r>
            <a:r>
              <a:rPr lang="en-US" sz="2800" dirty="0">
                <a:latin typeface="Calibri"/>
                <a:cs typeface="Calibri"/>
              </a:rPr>
              <a:t>contain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only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one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other</a:t>
            </a:r>
            <a:r>
              <a:rPr lang="en-US" sz="2800" spc="1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point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inside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it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(1.2,2.5) </a:t>
            </a:r>
            <a:r>
              <a:rPr lang="en-US" sz="2800" dirty="0">
                <a:latin typeface="Calibri"/>
                <a:cs typeface="Calibri"/>
              </a:rPr>
              <a:t>as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shown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below:</a:t>
            </a:r>
            <a:endParaRPr lang="en-US" sz="2800" dirty="0">
              <a:latin typeface="Calibri"/>
              <a:cs typeface="Calibri"/>
            </a:endParaRPr>
          </a:p>
          <a:p>
            <a:pPr marL="12700" marR="132080">
              <a:lnSpc>
                <a:spcPct val="110900"/>
              </a:lnSpc>
              <a:spcBef>
                <a:spcPts val="740"/>
              </a:spcBef>
            </a:pP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714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20731"/>
            <a:ext cx="6400800" cy="63516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A3C4D-1BFE-E100-02E8-57B700FE7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FD5F477-2A4A-596D-0E33-B8DF843D83E8}"/>
              </a:ext>
            </a:extLst>
          </p:cNvPr>
          <p:cNvSpPr txBox="1"/>
          <p:nvPr/>
        </p:nvSpPr>
        <p:spPr>
          <a:xfrm>
            <a:off x="920750" y="304800"/>
            <a:ext cx="5930900" cy="911570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93980">
              <a:lnSpc>
                <a:spcPct val="110000"/>
              </a:lnSpc>
              <a:spcBef>
                <a:spcPts val="85"/>
              </a:spcBef>
            </a:pPr>
            <a:r>
              <a:rPr sz="2000" dirty="0">
                <a:latin typeface="Calibri"/>
                <a:cs typeface="Calibri"/>
              </a:rPr>
              <a:t>Hence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(1.5,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2.5)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eps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0.3,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number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neighbourhood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point(s)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just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DBSCAN</a:t>
            </a:r>
            <a:r>
              <a:rPr sz="2000" spc="-20" dirty="0">
                <a:latin typeface="Calibri"/>
                <a:cs typeface="Calibri"/>
              </a:rPr>
              <a:t> each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checked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parameters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decision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clustering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described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below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steps:</a:t>
            </a:r>
            <a:endParaRPr sz="2000" dirty="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Choose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eps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MinPts</a:t>
            </a:r>
            <a:endParaRPr sz="2000" dirty="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particular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dirty="0">
                <a:latin typeface="Calibri"/>
                <a:cs typeface="Calibri"/>
              </a:rPr>
              <a:t>x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calculate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distance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datapoint.</a:t>
            </a:r>
            <a:endParaRPr sz="2000" dirty="0">
              <a:latin typeface="Calibri"/>
              <a:cs typeface="Calibri"/>
            </a:endParaRPr>
          </a:p>
          <a:p>
            <a:pPr marL="469900" marR="5080" indent="-229235">
              <a:lnSpc>
                <a:spcPct val="112700"/>
              </a:lnSpc>
              <a:spcBef>
                <a:spcPts val="720"/>
              </a:spcBef>
              <a:buAutoNum type="arabicPeriod"/>
              <a:tabLst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Find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neighbourhood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x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inside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circle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radius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i="1" dirty="0">
                <a:latin typeface="Calibri"/>
                <a:cs typeface="Calibri"/>
              </a:rPr>
              <a:t>eps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whose distance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 </a:t>
            </a:r>
            <a:r>
              <a:rPr sz="2000" b="1" dirty="0">
                <a:latin typeface="Calibri"/>
                <a:cs typeface="Calibri"/>
              </a:rPr>
              <a:t>x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eps.</a:t>
            </a:r>
            <a:endParaRPr sz="2000" dirty="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890"/>
              </a:spcBef>
              <a:buAutoNum type="arabicPeriod"/>
              <a:tabLst>
                <a:tab pos="469900" algn="l"/>
              </a:tabLst>
            </a:pPr>
            <a:r>
              <a:rPr sz="2000" spc="-20" dirty="0">
                <a:latin typeface="Calibri"/>
                <a:cs typeface="Calibri"/>
              </a:rPr>
              <a:t>Treat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x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 </a:t>
            </a:r>
            <a:r>
              <a:rPr sz="2000" b="1" spc="-10" dirty="0">
                <a:latin typeface="Calibri"/>
                <a:cs typeface="Calibri"/>
              </a:rPr>
              <a:t>visited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 neighbourhood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around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x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greater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equal</a:t>
            </a:r>
            <a:endParaRPr sz="2000" dirty="0">
              <a:latin typeface="Calibri"/>
              <a:cs typeface="Calibri"/>
            </a:endParaRPr>
          </a:p>
          <a:p>
            <a:pPr marL="469900" marR="19050">
              <a:lnSpc>
                <a:spcPct val="110900"/>
              </a:lnSpc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MinPts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x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core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point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cluster,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10" dirty="0">
                <a:latin typeface="Calibri"/>
                <a:cs typeface="Calibri"/>
              </a:rPr>
              <a:t> cluster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that.</a:t>
            </a:r>
            <a:endParaRPr sz="2000" dirty="0">
              <a:latin typeface="Calibri"/>
              <a:cs typeface="Calibri"/>
            </a:endParaRPr>
          </a:p>
          <a:p>
            <a:pPr marL="469900" marR="91440" indent="-229235">
              <a:lnSpc>
                <a:spcPct val="110900"/>
              </a:lnSpc>
              <a:spcBef>
                <a:spcPts val="770"/>
              </a:spcBef>
              <a:buAutoNum type="arabicPeriod" startAt="5"/>
              <a:tabLst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neighbourhood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around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x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MinPts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25" dirty="0">
                <a:latin typeface="Calibri"/>
                <a:cs typeface="Calibri"/>
              </a:rPr>
              <a:t> in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neighbourhood,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treat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border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point.</a:t>
            </a:r>
            <a:endParaRPr sz="2000" dirty="0">
              <a:latin typeface="Calibri"/>
              <a:cs typeface="Calibri"/>
            </a:endParaRPr>
          </a:p>
          <a:p>
            <a:pPr marL="469900" marR="285750" indent="-229235">
              <a:lnSpc>
                <a:spcPct val="110900"/>
              </a:lnSpc>
              <a:spcBef>
                <a:spcPts val="770"/>
              </a:spcBef>
              <a:buAutoNum type="arabicPeriod" startAt="5"/>
              <a:tabLst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Include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density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connected </a:t>
            </a:r>
            <a:r>
              <a:rPr sz="2000" b="1" dirty="0">
                <a:latin typeface="Calibri"/>
                <a:cs typeface="Calibri"/>
              </a:rPr>
              <a:t>points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cluster.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(What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density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points </a:t>
            </a:r>
            <a:r>
              <a:rPr sz="2000" dirty="0">
                <a:latin typeface="Calibri"/>
                <a:cs typeface="Calibri"/>
              </a:rPr>
              <a:t>mean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described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later)</a:t>
            </a:r>
            <a:endParaRPr sz="2000" dirty="0">
              <a:latin typeface="Calibri"/>
              <a:cs typeface="Calibri"/>
            </a:endParaRPr>
          </a:p>
          <a:p>
            <a:pPr marL="469900" marR="16510" indent="-229235">
              <a:lnSpc>
                <a:spcPct val="112700"/>
              </a:lnSpc>
              <a:spcBef>
                <a:spcPts val="745"/>
              </a:spcBef>
              <a:buAutoNum type="arabicPeriod" startAt="5"/>
              <a:tabLst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Repeat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unvisited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10" dirty="0">
                <a:latin typeface="Calibri"/>
                <a:cs typeface="Calibri"/>
              </a:rPr>
              <a:t> core,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border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outlier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points.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2801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8180"/>
            <a:ext cx="5915660" cy="8238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9865">
              <a:lnSpc>
                <a:spcPct val="1109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Please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constitute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recursive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process.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1st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calculations,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treated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border point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treated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10" dirty="0">
                <a:latin typeface="Calibri"/>
                <a:cs typeface="Calibri"/>
              </a:rPr>
              <a:t> loop.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10100"/>
              </a:lnSpc>
              <a:spcBef>
                <a:spcPts val="775"/>
              </a:spcBef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neighbourhood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around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x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greater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MinPts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x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treated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core </a:t>
            </a:r>
            <a:r>
              <a:rPr sz="2400" dirty="0">
                <a:latin typeface="Calibri"/>
                <a:cs typeface="Calibri"/>
              </a:rPr>
              <a:t>point,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neighbourhood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around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x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MinPts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treated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border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neither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border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x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treated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outlier.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below </a:t>
            </a:r>
            <a:r>
              <a:rPr sz="2400" dirty="0">
                <a:latin typeface="Calibri"/>
                <a:cs typeface="Calibri"/>
              </a:rPr>
              <a:t>graph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eps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 0.6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MinPts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=4,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tagged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 </a:t>
            </a:r>
            <a:r>
              <a:rPr sz="2400" spc="-50" dirty="0">
                <a:latin typeface="Calibri"/>
                <a:cs typeface="Calibri"/>
              </a:rPr>
              <a:t>4</a:t>
            </a:r>
            <a:r>
              <a:rPr sz="2400" dirty="0">
                <a:latin typeface="Calibri"/>
                <a:cs typeface="Calibri"/>
              </a:rPr>
              <a:t> other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(&gt;=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MinPts)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neighbourhood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 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tagged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border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neighbourhood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neighbourhood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(&lt;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MinPts).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outlier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neither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border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50F7-BE19-FFA6-8A38-DE7DC850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E590F3F-C211-9139-7482-29E3C2DBC62F}"/>
              </a:ext>
            </a:extLst>
          </p:cNvPr>
          <p:cNvSpPr txBox="1"/>
          <p:nvPr/>
        </p:nvSpPr>
        <p:spPr>
          <a:xfrm>
            <a:off x="902004" y="6499605"/>
            <a:ext cx="5933440" cy="27767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Algorithm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action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110300"/>
              </a:lnSpc>
              <a:spcBef>
                <a:spcPts val="775"/>
              </a:spcBef>
            </a:pPr>
            <a:r>
              <a:rPr sz="2000" spc="-10" dirty="0">
                <a:latin typeface="Calibri"/>
                <a:cs typeface="Calibri"/>
              </a:rPr>
              <a:t>Let’s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now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DBSCAN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above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  <a:r>
              <a:rPr sz="2000" spc="-10" dirty="0">
                <a:latin typeface="Calibri"/>
                <a:cs typeface="Calibri"/>
              </a:rPr>
              <a:t> clusters. We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choose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first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eps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MinPts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Let’s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choose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eps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0.6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MinPts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Let’s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25" dirty="0">
                <a:latin typeface="Calibri"/>
                <a:cs typeface="Calibri"/>
              </a:rPr>
              <a:t> in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dataset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(1,2)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calculate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data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set.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Calculated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below: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2801188-6E0B-5F0C-3E2D-914C556D1E6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762000"/>
            <a:ext cx="593344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6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765648"/>
            <a:ext cx="5902960" cy="36814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9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evident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 only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neighbourhood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2.5), </a:t>
            </a:r>
            <a:r>
              <a:rPr sz="2400" dirty="0">
                <a:latin typeface="Calibri"/>
                <a:cs typeface="Calibri"/>
              </a:rPr>
              <a:t>(1.2,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2.5)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 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eps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MinPts,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can’t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declare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Let’s </a:t>
            </a:r>
            <a:r>
              <a:rPr sz="2400" dirty="0">
                <a:latin typeface="Calibri"/>
                <a:cs typeface="Calibri"/>
              </a:rPr>
              <a:t>repeat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 every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neighbourhood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calculations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repeated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summarized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below: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1"/>
            <a:ext cx="590296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64008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8B7B-AA3F-6925-F869-6066B689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6803C8-44BB-A72B-B2F2-63B03230BC67}"/>
              </a:ext>
            </a:extLst>
          </p:cNvPr>
          <p:cNvSpPr txBox="1"/>
          <p:nvPr/>
        </p:nvSpPr>
        <p:spPr>
          <a:xfrm>
            <a:off x="762000" y="685800"/>
            <a:ext cx="6629400" cy="7384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10"/>
              </a:spcBef>
            </a:pPr>
            <a:r>
              <a:rPr lang="en-US" sz="2400" dirty="0">
                <a:latin typeface="Calibri"/>
                <a:cs typeface="Calibri"/>
              </a:rPr>
              <a:t>Observe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above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table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carefully,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left-most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column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contains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all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have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our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data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set.</a:t>
            </a:r>
            <a:r>
              <a:rPr lang="en-US" sz="2400" spc="500" dirty="0">
                <a:latin typeface="Calibri"/>
                <a:cs typeface="Calibri"/>
              </a:rPr>
              <a:t> </a:t>
            </a:r>
            <a:r>
              <a:rPr lang="en-US" sz="2400" spc="-60" dirty="0">
                <a:latin typeface="Calibri"/>
                <a:cs typeface="Calibri"/>
              </a:rPr>
              <a:t>To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right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them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data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which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there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their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neighbourhood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i.e.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whose distance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from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them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less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or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equal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25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eps</a:t>
            </a:r>
            <a:r>
              <a:rPr lang="en-US" sz="2400" i="1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value.</a:t>
            </a:r>
            <a:r>
              <a:rPr lang="en-US" sz="2400" spc="-10" dirty="0">
                <a:latin typeface="Calibri"/>
                <a:cs typeface="Calibri"/>
              </a:rPr>
              <a:t> There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three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data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set,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(2.8,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4.5)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(1.2, </a:t>
            </a:r>
            <a:r>
              <a:rPr lang="en-US" sz="2400" dirty="0">
                <a:latin typeface="Calibri"/>
                <a:cs typeface="Calibri"/>
              </a:rPr>
              <a:t>2.5)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(1,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2.5)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that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have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4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neighbourhood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around</a:t>
            </a:r>
            <a:r>
              <a:rPr lang="en-US" sz="2400" spc="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them,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hence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they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would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called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core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</a:t>
            </a:r>
            <a:r>
              <a:rPr lang="en-US" sz="2400" spc="-25" dirty="0">
                <a:latin typeface="Calibri"/>
                <a:cs typeface="Calibri"/>
              </a:rPr>
              <a:t> and </a:t>
            </a:r>
            <a:r>
              <a:rPr lang="en-US" sz="2400" dirty="0">
                <a:latin typeface="Calibri"/>
                <a:cs typeface="Calibri"/>
              </a:rPr>
              <a:t>as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already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mentioned,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if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core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not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assigned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any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cluster,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new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cluster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formed.</a:t>
            </a:r>
            <a:r>
              <a:rPr lang="en-US" sz="2400" spc="-10" dirty="0">
                <a:latin typeface="Calibri"/>
                <a:cs typeface="Calibri"/>
              </a:rPr>
              <a:t> Hence,</a:t>
            </a:r>
            <a:r>
              <a:rPr lang="en-US" sz="2400" spc="5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(2.8,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4.5)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assigned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new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cluster,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Cluster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1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 so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(1.2,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2.5),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Cluster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2.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Also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observe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that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core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(1.2,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2.5)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(1,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2.5)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share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least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one</a:t>
            </a:r>
            <a:r>
              <a:rPr lang="en-US" sz="2400" spc="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common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neighbourhood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(1,2)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so,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they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25" dirty="0">
                <a:latin typeface="Calibri"/>
                <a:cs typeface="Calibri"/>
              </a:rPr>
              <a:t>are </a:t>
            </a:r>
            <a:r>
              <a:rPr lang="en-US" sz="2400" dirty="0">
                <a:latin typeface="Calibri"/>
                <a:cs typeface="Calibri"/>
              </a:rPr>
              <a:t>assigned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same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cluster.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below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table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shows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categorization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all the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data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into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core, </a:t>
            </a:r>
            <a:r>
              <a:rPr lang="en-US" sz="2400" dirty="0">
                <a:latin typeface="Calibri"/>
                <a:cs typeface="Calibri"/>
              </a:rPr>
              <a:t>border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outlier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points.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Have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look:</a:t>
            </a:r>
            <a:endParaRPr lang="en-US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657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6477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0705D-49D5-68ED-306B-BB00400E6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201BD3-B0DE-9E97-0DA1-5BE4904F2D7A}"/>
              </a:ext>
            </a:extLst>
          </p:cNvPr>
          <p:cNvSpPr txBox="1"/>
          <p:nvPr/>
        </p:nvSpPr>
        <p:spPr>
          <a:xfrm>
            <a:off x="914717" y="685800"/>
            <a:ext cx="5942965" cy="37180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85"/>
              </a:spcBef>
            </a:pPr>
            <a:r>
              <a:rPr sz="2000" spc="-10" dirty="0">
                <a:latin typeface="Calibri"/>
                <a:cs typeface="Calibri"/>
              </a:rPr>
              <a:t>There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 three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dataset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 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DBSCAN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border</a:t>
            </a:r>
            <a:r>
              <a:rPr sz="2000" spc="-25" dirty="0">
                <a:latin typeface="Calibri"/>
                <a:cs typeface="Calibri"/>
              </a:rPr>
              <a:t> and </a:t>
            </a:r>
            <a:r>
              <a:rPr sz="2000" dirty="0">
                <a:latin typeface="Calibri"/>
                <a:cs typeface="Calibri"/>
              </a:rPr>
              <a:t>outliers.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Every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cluster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unless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share </a:t>
            </a:r>
            <a:r>
              <a:rPr sz="2000" dirty="0">
                <a:latin typeface="Calibri"/>
                <a:cs typeface="Calibri"/>
              </a:rPr>
              <a:t>neighbourhood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cluster.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Every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border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cluster-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neighbourhood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(1,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border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(1.2,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2.5)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 neighbourhood,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Cluster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hence,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(1,2)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will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Cluster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too.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categorization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summarized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below: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AD85F41-DA17-2410-FA56-F387CCFFE0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029201"/>
            <a:ext cx="59436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529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1228"/>
            <a:ext cx="5788025" cy="833959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10" dirty="0">
                <a:latin typeface="Calibri"/>
                <a:cs typeface="Calibri"/>
              </a:rPr>
              <a:t>Three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terms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necessary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understand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order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understand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DBSCAN:</a:t>
            </a:r>
            <a:endParaRPr lang="en-US" sz="2400" dirty="0">
              <a:latin typeface="Calibri"/>
              <a:cs typeface="Calibri"/>
            </a:endParaRPr>
          </a:p>
          <a:p>
            <a:pPr marL="12700" marR="5080">
              <a:lnSpc>
                <a:spcPct val="110900"/>
              </a:lnSpc>
              <a:spcBef>
                <a:spcPts val="745"/>
              </a:spcBef>
            </a:pPr>
            <a:r>
              <a:rPr lang="en-US" sz="2400" dirty="0">
                <a:latin typeface="Calibri"/>
                <a:cs typeface="Calibri"/>
              </a:rPr>
              <a:t>1.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Direct</a:t>
            </a:r>
            <a:r>
              <a:rPr lang="en-US" sz="2400" b="1" spc="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density</a:t>
            </a:r>
            <a:r>
              <a:rPr lang="en-US" sz="2400" b="1" spc="-2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reachable</a:t>
            </a:r>
            <a:r>
              <a:rPr lang="en-US" sz="2400" dirty="0">
                <a:latin typeface="Calibri"/>
                <a:cs typeface="Calibri"/>
              </a:rPr>
              <a:t>: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called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direct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density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reachable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if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it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has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core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25" dirty="0">
                <a:latin typeface="Calibri"/>
                <a:cs typeface="Calibri"/>
              </a:rPr>
              <a:t> its </a:t>
            </a:r>
            <a:r>
              <a:rPr lang="en-US" sz="2400" dirty="0" err="1">
                <a:latin typeface="Calibri"/>
                <a:cs typeface="Calibri"/>
              </a:rPr>
              <a:t>neighbourhood</a:t>
            </a:r>
            <a:r>
              <a:rPr lang="en-US" sz="2400" dirty="0">
                <a:latin typeface="Calibri"/>
                <a:cs typeface="Calibri"/>
              </a:rPr>
              <a:t>.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Consider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(1,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2),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it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has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core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(1.2,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2.5)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its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neighbourhood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hence,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it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will </a:t>
            </a:r>
            <a:r>
              <a:rPr lang="en-US" sz="2400" dirty="0">
                <a:latin typeface="Calibri"/>
                <a:cs typeface="Calibri"/>
              </a:rPr>
              <a:t>be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direct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density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reachable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point.</a:t>
            </a:r>
            <a:endParaRPr lang="en-US" sz="2400" dirty="0">
              <a:latin typeface="Calibri"/>
              <a:cs typeface="Calibri"/>
            </a:endParaRPr>
          </a:p>
          <a:p>
            <a:pPr marL="12700" marR="171450" indent="136525">
              <a:lnSpc>
                <a:spcPct val="110900"/>
              </a:lnSpc>
              <a:spcBef>
                <a:spcPts val="75"/>
              </a:spcBef>
              <a:buFont typeface="Calibri"/>
              <a:buAutoNum type="arabicPeriod" startAt="2"/>
              <a:tabLst>
                <a:tab pos="149225" algn="l"/>
              </a:tabLst>
            </a:pPr>
            <a:endParaRPr lang="en-US" sz="2400" b="1" dirty="0">
              <a:latin typeface="Calibri"/>
              <a:cs typeface="Calibri"/>
            </a:endParaRPr>
          </a:p>
          <a:p>
            <a:pPr marL="12700" marR="171450" indent="136525">
              <a:lnSpc>
                <a:spcPct val="110900"/>
              </a:lnSpc>
              <a:spcBef>
                <a:spcPts val="75"/>
              </a:spcBef>
              <a:buFont typeface="Calibri"/>
              <a:buAutoNum type="arabicPeriod" startAt="2"/>
              <a:tabLst>
                <a:tab pos="149225" algn="l"/>
              </a:tabLst>
            </a:pPr>
            <a:r>
              <a:rPr lang="en-US" sz="2400" b="1" dirty="0">
                <a:latin typeface="Calibri"/>
                <a:cs typeface="Calibri"/>
              </a:rPr>
              <a:t>Density</a:t>
            </a:r>
            <a:r>
              <a:rPr lang="en-US" sz="2400" b="1" spc="-2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Reachable</a:t>
            </a:r>
            <a:r>
              <a:rPr lang="en-US" sz="2400" dirty="0">
                <a:latin typeface="Calibri"/>
                <a:cs typeface="Calibri"/>
              </a:rPr>
              <a:t>: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called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density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reachable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from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another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if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they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connected </a:t>
            </a:r>
            <a:r>
              <a:rPr lang="en-US" sz="2400" dirty="0">
                <a:latin typeface="Calibri"/>
                <a:cs typeface="Calibri"/>
              </a:rPr>
              <a:t>through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series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core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points.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For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example,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consider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(1,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3)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(1.5,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2.5),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since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they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25" dirty="0">
                <a:latin typeface="Calibri"/>
                <a:cs typeface="Calibri"/>
              </a:rPr>
              <a:t>are </a:t>
            </a:r>
            <a:r>
              <a:rPr lang="en-US" sz="2400" dirty="0">
                <a:latin typeface="Calibri"/>
                <a:cs typeface="Calibri"/>
              </a:rPr>
              <a:t>connected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through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core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(1.2,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2.5),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they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called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density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reachable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from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each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other.</a:t>
            </a:r>
            <a:endParaRPr lang="en-US" sz="2400" dirty="0">
              <a:latin typeface="Calibri"/>
              <a:cs typeface="Calibri"/>
            </a:endParaRPr>
          </a:p>
          <a:p>
            <a:pPr marL="12700" marR="5080" indent="136525">
              <a:lnSpc>
                <a:spcPct val="112700"/>
              </a:lnSpc>
              <a:spcBef>
                <a:spcPts val="720"/>
              </a:spcBef>
              <a:buFont typeface="Calibri"/>
              <a:buAutoNum type="arabicPeriod" startAt="2"/>
              <a:tabLst>
                <a:tab pos="149225" algn="l"/>
              </a:tabLst>
            </a:pPr>
            <a:r>
              <a:rPr lang="en-US" sz="2400" b="1" dirty="0">
                <a:latin typeface="Calibri"/>
                <a:cs typeface="Calibri"/>
              </a:rPr>
              <a:t>Density</a:t>
            </a:r>
            <a:r>
              <a:rPr lang="en-US" sz="2400" b="1" spc="-2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Connected</a:t>
            </a:r>
            <a:r>
              <a:rPr lang="en-US" sz="2400" dirty="0">
                <a:latin typeface="Calibri"/>
                <a:cs typeface="Calibri"/>
              </a:rPr>
              <a:t>: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Two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called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density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connected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if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there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core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point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which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density </a:t>
            </a:r>
            <a:r>
              <a:rPr lang="en-US" sz="2400" dirty="0">
                <a:latin typeface="Calibri"/>
                <a:cs typeface="Calibri"/>
              </a:rPr>
              <a:t>reachable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from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both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points.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8E71-B28A-45D8-3A01-810F130ED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3539430"/>
          </a:xfrm>
        </p:spPr>
        <p:txBody>
          <a:bodyPr/>
          <a:lstStyle/>
          <a:p>
            <a:r>
              <a:rPr lang="en-US" sz="11500" dirty="0"/>
              <a:t>DBSCAN EXAMPLE</a:t>
            </a:r>
            <a:endParaRPr lang="en-PK" sz="11500" dirty="0"/>
          </a:p>
        </p:txBody>
      </p:sp>
    </p:spTree>
    <p:extLst>
      <p:ext uri="{BB962C8B-B14F-4D97-AF65-F5344CB8AC3E}">
        <p14:creationId xmlns:p14="http://schemas.microsoft.com/office/powerpoint/2010/main" val="1578237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EBCBE87-07BA-CE0D-FAC1-5858C1F6E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1" t="13381" r="10784" b="13381"/>
          <a:stretch/>
        </p:blipFill>
        <p:spPr>
          <a:xfrm>
            <a:off x="152399" y="1600200"/>
            <a:ext cx="7589157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31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F177B5C-B30F-1640-B92E-250ABDB95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08" b="8380"/>
          <a:stretch/>
        </p:blipFill>
        <p:spPr>
          <a:xfrm>
            <a:off x="0" y="1600200"/>
            <a:ext cx="77724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92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7EE5A72-E9D9-AE5E-C3D4-46D8035CF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73" t="11637" r="980" b="8150"/>
          <a:stretch/>
        </p:blipFill>
        <p:spPr>
          <a:xfrm>
            <a:off x="609600" y="457200"/>
            <a:ext cx="6400800" cy="863945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88DCED-18B2-2AF9-DA3A-DF7178D28B91}"/>
              </a:ext>
            </a:extLst>
          </p:cNvPr>
          <p:cNvSpPr/>
          <p:nvPr/>
        </p:nvSpPr>
        <p:spPr>
          <a:xfrm>
            <a:off x="5562600" y="8458200"/>
            <a:ext cx="1295400" cy="381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71591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8C0B2EA-6367-1EBF-4D40-D719118D3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" t="10404" r="23962" b="8102"/>
          <a:stretch/>
        </p:blipFill>
        <p:spPr>
          <a:xfrm>
            <a:off x="64851" y="1524000"/>
            <a:ext cx="7678366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33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02298D8E-6718-B5B3-71A6-A27669CAD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" t="9893" r="12381" b="8149"/>
          <a:stretch/>
        </p:blipFill>
        <p:spPr>
          <a:xfrm>
            <a:off x="0" y="1371600"/>
            <a:ext cx="7647562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19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st&#10;&#10;Description automatically generated">
            <a:extLst>
              <a:ext uri="{FF2B5EF4-FFF2-40B4-BE49-F238E27FC236}">
                <a16:creationId xmlns:a16="http://schemas.microsoft.com/office/drawing/2014/main" id="{50863118-F703-ED32-58CE-03BD4DDFE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3" y="0"/>
            <a:ext cx="6482953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64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1322</Words>
  <Application>Microsoft Office PowerPoint</Application>
  <PresentationFormat>Custom</PresentationFormat>
  <Paragraphs>29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DBSCAN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usman shehzaib</dc:creator>
  <cp:lastModifiedBy>usman shehzaib</cp:lastModifiedBy>
  <cp:revision>5</cp:revision>
  <dcterms:created xsi:type="dcterms:W3CDTF">2024-12-11T07:25:03Z</dcterms:created>
  <dcterms:modified xsi:type="dcterms:W3CDTF">2024-12-11T08:07:50Z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2024-12-11T00:00:00Z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2024-12-11T00:00:00Z</vt:filetime>
  </property>
  <property fmtid="{D5CDD505-2E9C-101B-9397-08002B2CF9AE}" pid="5" name="Producer">
    <vt:lpwstr>www.ilovepdf.com</vt:lpwstr>
  </property>
</Properties>
</file>