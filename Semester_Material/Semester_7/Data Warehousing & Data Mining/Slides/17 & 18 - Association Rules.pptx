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9" r:id="rId1"/>
  </p:sldMasterIdLst>
  <p:notesMasterIdLst>
    <p:notesMasterId r:id="rId36"/>
  </p:notesMasterIdLst>
  <p:handoutMasterIdLst>
    <p:handoutMasterId r:id="rId37"/>
  </p:handoutMasterIdLst>
  <p:sldIdLst>
    <p:sldId id="1375" r:id="rId2"/>
    <p:sldId id="1383" r:id="rId3"/>
    <p:sldId id="1184" r:id="rId4"/>
    <p:sldId id="1185" r:id="rId5"/>
    <p:sldId id="1295" r:id="rId6"/>
    <p:sldId id="1299" r:id="rId7"/>
    <p:sldId id="1398" r:id="rId8"/>
    <p:sldId id="1399" r:id="rId9"/>
    <p:sldId id="1400" r:id="rId10"/>
    <p:sldId id="1403" r:id="rId11"/>
    <p:sldId id="1402" r:id="rId12"/>
    <p:sldId id="1404" r:id="rId13"/>
    <p:sldId id="1377" r:id="rId14"/>
    <p:sldId id="1405" r:id="rId15"/>
    <p:sldId id="1190" r:id="rId16"/>
    <p:sldId id="1191" r:id="rId17"/>
    <p:sldId id="1033" r:id="rId18"/>
    <p:sldId id="1406" r:id="rId19"/>
    <p:sldId id="1407" r:id="rId20"/>
    <p:sldId id="1408" r:id="rId21"/>
    <p:sldId id="1416" r:id="rId22"/>
    <p:sldId id="1429" r:id="rId23"/>
    <p:sldId id="1417" r:id="rId24"/>
    <p:sldId id="1073" r:id="rId25"/>
    <p:sldId id="1410" r:id="rId26"/>
    <p:sldId id="1430" r:id="rId27"/>
    <p:sldId id="1431" r:id="rId28"/>
    <p:sldId id="1432" r:id="rId29"/>
    <p:sldId id="1433" r:id="rId30"/>
    <p:sldId id="1434" r:id="rId31"/>
    <p:sldId id="1435" r:id="rId32"/>
    <p:sldId id="1436" r:id="rId33"/>
    <p:sldId id="1437" r:id="rId34"/>
    <p:sldId id="1438" r:id="rId35"/>
  </p:sldIdLst>
  <p:sldSz cx="9144000" cy="6858000" type="screen4x3"/>
  <p:notesSz cx="7010400" cy="9296400"/>
  <p:defaultTextStyle>
    <a:defPPr>
      <a:defRPr lang="en-US"/>
    </a:defPPr>
    <a:lvl1pPr algn="l" rtl="0" fontAlgn="base">
      <a:spcBef>
        <a:spcPct val="0"/>
      </a:spcBef>
      <a:spcAft>
        <a:spcPct val="0"/>
      </a:spcAft>
      <a:defRPr sz="2400" kern="1200">
        <a:solidFill>
          <a:schemeClr val="tx1"/>
        </a:solidFill>
        <a:latin typeface="Tahoma" pitchFamily="34" charset="0"/>
        <a:ea typeface="+mn-ea"/>
        <a:cs typeface="+mn-cs"/>
      </a:defRPr>
    </a:lvl1pPr>
    <a:lvl2pPr marL="457200" algn="l" rtl="0" fontAlgn="base">
      <a:spcBef>
        <a:spcPct val="0"/>
      </a:spcBef>
      <a:spcAft>
        <a:spcPct val="0"/>
      </a:spcAft>
      <a:defRPr sz="2400" kern="1200">
        <a:solidFill>
          <a:schemeClr val="tx1"/>
        </a:solidFill>
        <a:latin typeface="Tahoma" pitchFamily="34" charset="0"/>
        <a:ea typeface="+mn-ea"/>
        <a:cs typeface="+mn-cs"/>
      </a:defRPr>
    </a:lvl2pPr>
    <a:lvl3pPr marL="914400" algn="l" rtl="0" fontAlgn="base">
      <a:spcBef>
        <a:spcPct val="0"/>
      </a:spcBef>
      <a:spcAft>
        <a:spcPct val="0"/>
      </a:spcAft>
      <a:defRPr sz="2400" kern="1200">
        <a:solidFill>
          <a:schemeClr val="tx1"/>
        </a:solidFill>
        <a:latin typeface="Tahoma" pitchFamily="34" charset="0"/>
        <a:ea typeface="+mn-ea"/>
        <a:cs typeface="+mn-cs"/>
      </a:defRPr>
    </a:lvl3pPr>
    <a:lvl4pPr marL="1371600" algn="l" rtl="0" fontAlgn="base">
      <a:spcBef>
        <a:spcPct val="0"/>
      </a:spcBef>
      <a:spcAft>
        <a:spcPct val="0"/>
      </a:spcAft>
      <a:defRPr sz="2400" kern="1200">
        <a:solidFill>
          <a:schemeClr val="tx1"/>
        </a:solidFill>
        <a:latin typeface="Tahoma" pitchFamily="34" charset="0"/>
        <a:ea typeface="+mn-ea"/>
        <a:cs typeface="+mn-cs"/>
      </a:defRPr>
    </a:lvl4pPr>
    <a:lvl5pPr marL="1828800" algn="l" rtl="0" fontAlgn="base">
      <a:spcBef>
        <a:spcPct val="0"/>
      </a:spcBef>
      <a:spcAft>
        <a:spcPct val="0"/>
      </a:spcAft>
      <a:defRPr sz="2400" kern="1200">
        <a:solidFill>
          <a:schemeClr val="tx1"/>
        </a:solidFill>
        <a:latin typeface="Tahoma" pitchFamily="34" charset="0"/>
        <a:ea typeface="+mn-ea"/>
        <a:cs typeface="+mn-cs"/>
      </a:defRPr>
    </a:lvl5pPr>
    <a:lvl6pPr marL="2286000" algn="l" defTabSz="914400" rtl="0" eaLnBrk="1" latinLnBrk="0" hangingPunct="1">
      <a:defRPr sz="2400" kern="1200">
        <a:solidFill>
          <a:schemeClr val="tx1"/>
        </a:solidFill>
        <a:latin typeface="Tahoma" pitchFamily="34" charset="0"/>
        <a:ea typeface="+mn-ea"/>
        <a:cs typeface="+mn-cs"/>
      </a:defRPr>
    </a:lvl6pPr>
    <a:lvl7pPr marL="2743200" algn="l" defTabSz="914400" rtl="0" eaLnBrk="1" latinLnBrk="0" hangingPunct="1">
      <a:defRPr sz="2400" kern="1200">
        <a:solidFill>
          <a:schemeClr val="tx1"/>
        </a:solidFill>
        <a:latin typeface="Tahoma" pitchFamily="34" charset="0"/>
        <a:ea typeface="+mn-ea"/>
        <a:cs typeface="+mn-cs"/>
      </a:defRPr>
    </a:lvl7pPr>
    <a:lvl8pPr marL="3200400" algn="l" defTabSz="914400" rtl="0" eaLnBrk="1" latinLnBrk="0" hangingPunct="1">
      <a:defRPr sz="2400" kern="1200">
        <a:solidFill>
          <a:schemeClr val="tx1"/>
        </a:solidFill>
        <a:latin typeface="Tahoma" pitchFamily="34" charset="0"/>
        <a:ea typeface="+mn-ea"/>
        <a:cs typeface="+mn-cs"/>
      </a:defRPr>
    </a:lvl8pPr>
    <a:lvl9pPr marL="3657600" algn="l" defTabSz="914400" rtl="0" eaLnBrk="1" latinLnBrk="0" hangingPunct="1">
      <a:defRPr sz="2400" kern="1200">
        <a:solidFill>
          <a:schemeClr val="tx1"/>
        </a:solidFill>
        <a:latin typeface="Tahoma" pitchFamily="34" charset="0"/>
        <a:ea typeface="+mn-ea"/>
        <a:cs typeface="+mn-cs"/>
      </a:defRPr>
    </a:lvl9pPr>
  </p:defaultTextStyle>
  <p:extLst>
    <p:ext uri="{EFAFB233-063F-42B5-8137-9DF3F51BA10A}">
      <p15:sldGuideLst xmlns:p15="http://schemas.microsoft.com/office/powerpoint/2012/main">
        <p15:guide id="1" orient="horz" pos="4319">
          <p15:clr>
            <a:srgbClr val="A4A3A4"/>
          </p15:clr>
        </p15:guide>
        <p15:guide id="2" pos="5759">
          <p15:clr>
            <a:srgbClr val="A4A3A4"/>
          </p15:clr>
        </p15:guide>
      </p15:sldGuideLst>
    </p:ext>
    <p:ext uri="{2D200454-40CA-4A62-9FC3-DE9A4176ACB9}">
      <p15:notesGuideLst xmlns:p15="http://schemas.microsoft.com/office/powerpoint/2012/main">
        <p15:guide id="1" orient="horz" pos="2929">
          <p15:clr>
            <a:srgbClr val="A4A3A4"/>
          </p15:clr>
        </p15:guide>
        <p15:guide id="2" pos="2209">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6E6EA"/>
    <a:srgbClr val="FAE2F6"/>
    <a:srgbClr val="170981"/>
    <a:srgbClr val="121328"/>
    <a:srgbClr val="D7FDF9"/>
    <a:srgbClr val="003366"/>
    <a:srgbClr val="006666"/>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672" autoAdjust="0"/>
    <p:restoredTop sz="99821" autoAdjust="0"/>
  </p:normalViewPr>
  <p:slideViewPr>
    <p:cSldViewPr>
      <p:cViewPr varScale="1">
        <p:scale>
          <a:sx n="70" d="100"/>
          <a:sy n="70" d="100"/>
        </p:scale>
        <p:origin x="456" y="48"/>
      </p:cViewPr>
      <p:guideLst>
        <p:guide orient="horz" pos="4319"/>
        <p:guide pos="5759"/>
      </p:guideLst>
    </p:cSldViewPr>
  </p:slideViewPr>
  <p:outlineViewPr>
    <p:cViewPr>
      <p:scale>
        <a:sx n="33" d="100"/>
        <a:sy n="33" d="100"/>
      </p:scale>
      <p:origin x="0" y="0"/>
    </p:cViewPr>
    <p:sldLst>
      <p:sld r:id="rId1" collapse="1"/>
      <p:sld r:id="rId2" collapse="1"/>
      <p:sld r:id="rId3" collapse="1"/>
      <p:sld r:id="rId4" collapse="1"/>
      <p:sld r:id="rId5" collapse="1"/>
      <p:sld r:id="rId6" collapse="1"/>
    </p:sldLst>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38" d="100"/>
          <a:sy n="38" d="100"/>
        </p:scale>
        <p:origin x="-1530" y="-72"/>
      </p:cViewPr>
      <p:guideLst>
        <p:guide orient="horz" pos="2929"/>
        <p:guide pos="2209"/>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_rels/viewProps.xml.rels><?xml version="1.0" encoding="UTF-8" standalone="yes"?>
<Relationships xmlns="http://schemas.openxmlformats.org/package/2006/relationships"><Relationship Id="rId3" Type="http://schemas.openxmlformats.org/officeDocument/2006/relationships/slide" Target="slides/slide7.xml"/><Relationship Id="rId2" Type="http://schemas.openxmlformats.org/officeDocument/2006/relationships/slide" Target="slides/slide4.xml"/><Relationship Id="rId1" Type="http://schemas.openxmlformats.org/officeDocument/2006/relationships/slide" Target="slides/slide2.xml"/><Relationship Id="rId6" Type="http://schemas.openxmlformats.org/officeDocument/2006/relationships/slide" Target="slides/slide24.xml"/><Relationship Id="rId5" Type="http://schemas.openxmlformats.org/officeDocument/2006/relationships/slide" Target="slides/slide17.xml"/><Relationship Id="rId4" Type="http://schemas.openxmlformats.org/officeDocument/2006/relationships/slide" Target="slides/slide1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3906" name="Rectangle 2"/>
          <p:cNvSpPr>
            <a:spLocks noGrp="1" noChangeArrowheads="1"/>
          </p:cNvSpPr>
          <p:nvPr>
            <p:ph type="hdr" sz="quarter"/>
          </p:nvPr>
        </p:nvSpPr>
        <p:spPr bwMode="auto">
          <a:xfrm>
            <a:off x="0" y="0"/>
            <a:ext cx="3038475" cy="465138"/>
          </a:xfrm>
          <a:prstGeom prst="rect">
            <a:avLst/>
          </a:prstGeom>
          <a:noFill/>
          <a:ln w="9525">
            <a:noFill/>
            <a:miter lim="800000"/>
            <a:headEnd/>
            <a:tailEnd/>
          </a:ln>
          <a:effectLst/>
        </p:spPr>
        <p:txBody>
          <a:bodyPr vert="horz" wrap="square" lIns="92305" tIns="46153" rIns="92305" bIns="46153" numCol="1" anchor="t" anchorCtr="0" compatLnSpc="1">
            <a:prstTxWarp prst="textNoShape">
              <a:avLst/>
            </a:prstTxWarp>
          </a:bodyPr>
          <a:lstStyle>
            <a:lvl1pPr defTabSz="922338" eaLnBrk="0" hangingPunct="0">
              <a:defRPr sz="1200">
                <a:latin typeface="Times New Roman" pitchFamily="18" charset="0"/>
              </a:defRPr>
            </a:lvl1pPr>
          </a:lstStyle>
          <a:p>
            <a:pPr>
              <a:defRPr/>
            </a:pPr>
            <a:endParaRPr lang="en-US"/>
          </a:p>
        </p:txBody>
      </p:sp>
      <p:sp>
        <p:nvSpPr>
          <p:cNvPr id="123907" name="Rectangle 3"/>
          <p:cNvSpPr>
            <a:spLocks noGrp="1" noChangeArrowheads="1"/>
          </p:cNvSpPr>
          <p:nvPr>
            <p:ph type="dt" sz="quarter" idx="1"/>
          </p:nvPr>
        </p:nvSpPr>
        <p:spPr bwMode="auto">
          <a:xfrm>
            <a:off x="3971925" y="0"/>
            <a:ext cx="3038475" cy="465138"/>
          </a:xfrm>
          <a:prstGeom prst="rect">
            <a:avLst/>
          </a:prstGeom>
          <a:noFill/>
          <a:ln w="9525">
            <a:noFill/>
            <a:miter lim="800000"/>
            <a:headEnd/>
            <a:tailEnd/>
          </a:ln>
          <a:effectLst/>
        </p:spPr>
        <p:txBody>
          <a:bodyPr vert="horz" wrap="square" lIns="92305" tIns="46153" rIns="92305" bIns="46153" numCol="1" anchor="t" anchorCtr="0" compatLnSpc="1">
            <a:prstTxWarp prst="textNoShape">
              <a:avLst/>
            </a:prstTxWarp>
          </a:bodyPr>
          <a:lstStyle>
            <a:lvl1pPr algn="r" defTabSz="922338" eaLnBrk="0" hangingPunct="0">
              <a:defRPr sz="1200">
                <a:latin typeface="Times New Roman" pitchFamily="18" charset="0"/>
              </a:defRPr>
            </a:lvl1pPr>
          </a:lstStyle>
          <a:p>
            <a:pPr>
              <a:defRPr/>
            </a:pPr>
            <a:endParaRPr lang="en-US"/>
          </a:p>
        </p:txBody>
      </p:sp>
      <p:sp>
        <p:nvSpPr>
          <p:cNvPr id="123908" name="Rectangle 4"/>
          <p:cNvSpPr>
            <a:spLocks noGrp="1" noChangeArrowheads="1"/>
          </p:cNvSpPr>
          <p:nvPr>
            <p:ph type="ftr" sz="quarter" idx="2"/>
          </p:nvPr>
        </p:nvSpPr>
        <p:spPr bwMode="auto">
          <a:xfrm>
            <a:off x="0" y="8831263"/>
            <a:ext cx="3038475" cy="465137"/>
          </a:xfrm>
          <a:prstGeom prst="rect">
            <a:avLst/>
          </a:prstGeom>
          <a:noFill/>
          <a:ln w="9525">
            <a:noFill/>
            <a:miter lim="800000"/>
            <a:headEnd/>
            <a:tailEnd/>
          </a:ln>
          <a:effectLst/>
        </p:spPr>
        <p:txBody>
          <a:bodyPr vert="horz" wrap="square" lIns="92305" tIns="46153" rIns="92305" bIns="46153" numCol="1" anchor="b" anchorCtr="0" compatLnSpc="1">
            <a:prstTxWarp prst="textNoShape">
              <a:avLst/>
            </a:prstTxWarp>
          </a:bodyPr>
          <a:lstStyle>
            <a:lvl1pPr defTabSz="922338" eaLnBrk="0" hangingPunct="0">
              <a:defRPr sz="1200">
                <a:latin typeface="Times New Roman" pitchFamily="18" charset="0"/>
              </a:defRPr>
            </a:lvl1pPr>
          </a:lstStyle>
          <a:p>
            <a:pPr>
              <a:defRPr/>
            </a:pPr>
            <a:endParaRPr lang="en-US"/>
          </a:p>
        </p:txBody>
      </p:sp>
      <p:sp>
        <p:nvSpPr>
          <p:cNvPr id="123909" name="Rectangle 5"/>
          <p:cNvSpPr>
            <a:spLocks noGrp="1" noChangeArrowheads="1"/>
          </p:cNvSpPr>
          <p:nvPr>
            <p:ph type="sldNum" sz="quarter" idx="3"/>
          </p:nvPr>
        </p:nvSpPr>
        <p:spPr bwMode="auto">
          <a:xfrm>
            <a:off x="3971925" y="8831263"/>
            <a:ext cx="3038475" cy="465137"/>
          </a:xfrm>
          <a:prstGeom prst="rect">
            <a:avLst/>
          </a:prstGeom>
          <a:noFill/>
          <a:ln w="9525">
            <a:noFill/>
            <a:miter lim="800000"/>
            <a:headEnd/>
            <a:tailEnd/>
          </a:ln>
          <a:effectLst/>
        </p:spPr>
        <p:txBody>
          <a:bodyPr vert="horz" wrap="square" lIns="92305" tIns="46153" rIns="92305" bIns="46153" numCol="1" anchor="b" anchorCtr="0" compatLnSpc="1">
            <a:prstTxWarp prst="textNoShape">
              <a:avLst/>
            </a:prstTxWarp>
          </a:bodyPr>
          <a:lstStyle>
            <a:lvl1pPr algn="r" defTabSz="922338" eaLnBrk="0" hangingPunct="0">
              <a:defRPr sz="1200">
                <a:latin typeface="Times New Roman" pitchFamily="18" charset="0"/>
              </a:defRPr>
            </a:lvl1pPr>
          </a:lstStyle>
          <a:p>
            <a:pPr>
              <a:defRPr/>
            </a:pPr>
            <a:fld id="{5D69D6B0-F8C2-48A5-8C7F-07575A32A1E6}" type="slidenum">
              <a:rPr lang="en-US"/>
              <a:pPr>
                <a:defRPr/>
              </a:pPr>
              <a:t>‹#›</a:t>
            </a:fld>
            <a:endParaRPr lang="en-US"/>
          </a:p>
        </p:txBody>
      </p:sp>
    </p:spTree>
    <p:extLst>
      <p:ext uri="{BB962C8B-B14F-4D97-AF65-F5344CB8AC3E}">
        <p14:creationId xmlns:p14="http://schemas.microsoft.com/office/powerpoint/2010/main" val="29224161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Rectangle 2"/>
          <p:cNvSpPr>
            <a:spLocks noGrp="1" noChangeArrowheads="1"/>
          </p:cNvSpPr>
          <p:nvPr>
            <p:ph type="hdr" sz="quarter"/>
          </p:nvPr>
        </p:nvSpPr>
        <p:spPr bwMode="auto">
          <a:xfrm>
            <a:off x="0" y="0"/>
            <a:ext cx="3038475" cy="465138"/>
          </a:xfrm>
          <a:prstGeom prst="rect">
            <a:avLst/>
          </a:prstGeom>
          <a:noFill/>
          <a:ln w="9525">
            <a:noFill/>
            <a:miter lim="800000"/>
            <a:headEnd/>
            <a:tailEnd/>
          </a:ln>
          <a:effectLst/>
        </p:spPr>
        <p:txBody>
          <a:bodyPr vert="horz" wrap="square" lIns="92305" tIns="46153" rIns="92305" bIns="46153" numCol="1" anchor="t" anchorCtr="0" compatLnSpc="1">
            <a:prstTxWarp prst="textNoShape">
              <a:avLst/>
            </a:prstTxWarp>
          </a:bodyPr>
          <a:lstStyle>
            <a:lvl1pPr defTabSz="922338" eaLnBrk="0" hangingPunct="0">
              <a:defRPr sz="1200">
                <a:latin typeface="Times New Roman" pitchFamily="18" charset="0"/>
              </a:defRPr>
            </a:lvl1pPr>
          </a:lstStyle>
          <a:p>
            <a:pPr>
              <a:defRPr/>
            </a:pPr>
            <a:endParaRPr lang="en-US"/>
          </a:p>
        </p:txBody>
      </p:sp>
      <p:sp>
        <p:nvSpPr>
          <p:cNvPr id="13315" name="Rectangle 3"/>
          <p:cNvSpPr>
            <a:spLocks noGrp="1" noChangeArrowheads="1"/>
          </p:cNvSpPr>
          <p:nvPr>
            <p:ph type="dt" idx="1"/>
          </p:nvPr>
        </p:nvSpPr>
        <p:spPr bwMode="auto">
          <a:xfrm>
            <a:off x="3971925" y="0"/>
            <a:ext cx="3038475" cy="465138"/>
          </a:xfrm>
          <a:prstGeom prst="rect">
            <a:avLst/>
          </a:prstGeom>
          <a:noFill/>
          <a:ln w="9525">
            <a:noFill/>
            <a:miter lim="800000"/>
            <a:headEnd/>
            <a:tailEnd/>
          </a:ln>
          <a:effectLst/>
        </p:spPr>
        <p:txBody>
          <a:bodyPr vert="horz" wrap="square" lIns="92305" tIns="46153" rIns="92305" bIns="46153" numCol="1" anchor="t" anchorCtr="0" compatLnSpc="1">
            <a:prstTxWarp prst="textNoShape">
              <a:avLst/>
            </a:prstTxWarp>
          </a:bodyPr>
          <a:lstStyle>
            <a:lvl1pPr algn="r" defTabSz="922338" eaLnBrk="0" hangingPunct="0">
              <a:defRPr sz="1200">
                <a:latin typeface="Times New Roman" pitchFamily="18" charset="0"/>
              </a:defRPr>
            </a:lvl1pPr>
          </a:lstStyle>
          <a:p>
            <a:pPr>
              <a:defRPr/>
            </a:pPr>
            <a:endParaRPr lang="en-US"/>
          </a:p>
        </p:txBody>
      </p:sp>
      <p:sp>
        <p:nvSpPr>
          <p:cNvPr id="80900" name="Rectangle 4"/>
          <p:cNvSpPr>
            <a:spLocks noGrp="1" noRot="1" noChangeAspect="1" noChangeArrowheads="1" noTextEdit="1"/>
          </p:cNvSpPr>
          <p:nvPr>
            <p:ph type="sldImg" idx="2"/>
          </p:nvPr>
        </p:nvSpPr>
        <p:spPr bwMode="auto">
          <a:xfrm>
            <a:off x="1181100" y="696913"/>
            <a:ext cx="4648200" cy="3486150"/>
          </a:xfrm>
          <a:prstGeom prst="rect">
            <a:avLst/>
          </a:prstGeom>
          <a:noFill/>
          <a:ln w="9525">
            <a:solidFill>
              <a:srgbClr val="000000"/>
            </a:solidFill>
            <a:miter lim="800000"/>
            <a:headEnd/>
            <a:tailEnd/>
          </a:ln>
        </p:spPr>
      </p:sp>
      <p:sp>
        <p:nvSpPr>
          <p:cNvPr id="13317" name="Rectangle 5"/>
          <p:cNvSpPr>
            <a:spLocks noGrp="1" noChangeArrowheads="1"/>
          </p:cNvSpPr>
          <p:nvPr>
            <p:ph type="body" sz="quarter" idx="3"/>
          </p:nvPr>
        </p:nvSpPr>
        <p:spPr bwMode="auto">
          <a:xfrm>
            <a:off x="935038" y="4416425"/>
            <a:ext cx="5140325" cy="4183063"/>
          </a:xfrm>
          <a:prstGeom prst="rect">
            <a:avLst/>
          </a:prstGeom>
          <a:noFill/>
          <a:ln w="9525">
            <a:noFill/>
            <a:miter lim="800000"/>
            <a:headEnd/>
            <a:tailEnd/>
          </a:ln>
          <a:effectLst/>
        </p:spPr>
        <p:txBody>
          <a:bodyPr vert="horz" wrap="square" lIns="92305" tIns="46153" rIns="92305" bIns="46153"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318" name="Rectangle 6"/>
          <p:cNvSpPr>
            <a:spLocks noGrp="1" noChangeArrowheads="1"/>
          </p:cNvSpPr>
          <p:nvPr>
            <p:ph type="ftr" sz="quarter" idx="4"/>
          </p:nvPr>
        </p:nvSpPr>
        <p:spPr bwMode="auto">
          <a:xfrm>
            <a:off x="0" y="8831263"/>
            <a:ext cx="3038475" cy="465137"/>
          </a:xfrm>
          <a:prstGeom prst="rect">
            <a:avLst/>
          </a:prstGeom>
          <a:noFill/>
          <a:ln w="9525">
            <a:noFill/>
            <a:miter lim="800000"/>
            <a:headEnd/>
            <a:tailEnd/>
          </a:ln>
          <a:effectLst/>
        </p:spPr>
        <p:txBody>
          <a:bodyPr vert="horz" wrap="square" lIns="92305" tIns="46153" rIns="92305" bIns="46153" numCol="1" anchor="b" anchorCtr="0" compatLnSpc="1">
            <a:prstTxWarp prst="textNoShape">
              <a:avLst/>
            </a:prstTxWarp>
          </a:bodyPr>
          <a:lstStyle>
            <a:lvl1pPr defTabSz="922338" eaLnBrk="0" hangingPunct="0">
              <a:defRPr sz="1200">
                <a:latin typeface="Times New Roman" pitchFamily="18" charset="0"/>
              </a:defRPr>
            </a:lvl1pPr>
          </a:lstStyle>
          <a:p>
            <a:pPr>
              <a:defRPr/>
            </a:pPr>
            <a:endParaRPr lang="en-US"/>
          </a:p>
        </p:txBody>
      </p:sp>
      <p:sp>
        <p:nvSpPr>
          <p:cNvPr id="13319" name="Rectangle 7"/>
          <p:cNvSpPr>
            <a:spLocks noGrp="1" noChangeArrowheads="1"/>
          </p:cNvSpPr>
          <p:nvPr>
            <p:ph type="sldNum" sz="quarter" idx="5"/>
          </p:nvPr>
        </p:nvSpPr>
        <p:spPr bwMode="auto">
          <a:xfrm>
            <a:off x="3971925" y="8831263"/>
            <a:ext cx="3038475" cy="465137"/>
          </a:xfrm>
          <a:prstGeom prst="rect">
            <a:avLst/>
          </a:prstGeom>
          <a:noFill/>
          <a:ln w="9525">
            <a:noFill/>
            <a:miter lim="800000"/>
            <a:headEnd/>
            <a:tailEnd/>
          </a:ln>
          <a:effectLst/>
        </p:spPr>
        <p:txBody>
          <a:bodyPr vert="horz" wrap="square" lIns="92305" tIns="46153" rIns="92305" bIns="46153" numCol="1" anchor="b" anchorCtr="0" compatLnSpc="1">
            <a:prstTxWarp prst="textNoShape">
              <a:avLst/>
            </a:prstTxWarp>
          </a:bodyPr>
          <a:lstStyle>
            <a:lvl1pPr algn="r" defTabSz="922338" eaLnBrk="0" hangingPunct="0">
              <a:defRPr sz="1200">
                <a:latin typeface="Times New Roman" pitchFamily="18" charset="0"/>
              </a:defRPr>
            </a:lvl1pPr>
          </a:lstStyle>
          <a:p>
            <a:pPr>
              <a:defRPr/>
            </a:pPr>
            <a:fld id="{0D74E18B-61BD-4556-9D1C-EAAB748BCC0E}" type="slidenum">
              <a:rPr lang="en-US"/>
              <a:pPr>
                <a:defRPr/>
              </a:pPr>
              <a:t>‹#›</a:t>
            </a:fld>
            <a:endParaRPr lang="en-US"/>
          </a:p>
        </p:txBody>
      </p:sp>
    </p:spTree>
    <p:extLst>
      <p:ext uri="{BB962C8B-B14F-4D97-AF65-F5344CB8AC3E}">
        <p14:creationId xmlns:p14="http://schemas.microsoft.com/office/powerpoint/2010/main" val="352222952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p:spPr>
        <p:txBody>
          <a:bodyPr/>
          <a:lstStyle/>
          <a:p>
            <a:fld id="{B69E5521-B058-4BBE-8037-E0E531D8BA53}" type="slidenum">
              <a:rPr lang="en-US" smtClean="0"/>
              <a:pPr/>
              <a:t>1</a:t>
            </a:fld>
            <a:endParaRPr lang="en-US"/>
          </a:p>
        </p:txBody>
      </p:sp>
      <p:sp>
        <p:nvSpPr>
          <p:cNvPr id="81923" name="Rectangle 7"/>
          <p:cNvSpPr txBox="1">
            <a:spLocks noGrp="1" noChangeArrowheads="1"/>
          </p:cNvSpPr>
          <p:nvPr/>
        </p:nvSpPr>
        <p:spPr bwMode="auto">
          <a:xfrm>
            <a:off x="3971925" y="8831263"/>
            <a:ext cx="3038475" cy="465137"/>
          </a:xfrm>
          <a:prstGeom prst="rect">
            <a:avLst/>
          </a:prstGeom>
          <a:noFill/>
          <a:ln w="9525">
            <a:noFill/>
            <a:miter lim="800000"/>
            <a:headEnd/>
            <a:tailEnd/>
          </a:ln>
        </p:spPr>
        <p:txBody>
          <a:bodyPr lIns="93170" tIns="46586" rIns="93170" bIns="46586" anchor="b"/>
          <a:lstStyle/>
          <a:p>
            <a:pPr algn="r" defTabSz="931863" eaLnBrk="0" hangingPunct="0"/>
            <a:fld id="{A5B7C4CB-A9D5-4895-9476-FB2C8937D538}" type="slidenum">
              <a:rPr lang="zh-CN" altLang="en-US" sz="1200">
                <a:latin typeface="Times New Roman" pitchFamily="18" charset="0"/>
              </a:rPr>
              <a:pPr algn="r" defTabSz="931863" eaLnBrk="0" hangingPunct="0"/>
              <a:t>1</a:t>
            </a:fld>
            <a:endParaRPr lang="en-US" altLang="zh-CN" sz="1200">
              <a:latin typeface="Times New Roman" pitchFamily="18" charset="0"/>
            </a:endParaRPr>
          </a:p>
        </p:txBody>
      </p:sp>
      <p:sp>
        <p:nvSpPr>
          <p:cNvPr id="81924" name="Rectangle 2"/>
          <p:cNvSpPr>
            <a:spLocks noGrp="1" noRot="1" noChangeAspect="1" noChangeArrowheads="1" noTextEdit="1"/>
          </p:cNvSpPr>
          <p:nvPr>
            <p:ph type="sldImg"/>
          </p:nvPr>
        </p:nvSpPr>
        <p:spPr>
          <a:ln/>
        </p:spPr>
      </p:sp>
      <p:sp>
        <p:nvSpPr>
          <p:cNvPr id="81925" name="Rectangle 3"/>
          <p:cNvSpPr>
            <a:spLocks noGrp="1" noChangeArrowheads="1"/>
          </p:cNvSpPr>
          <p:nvPr>
            <p:ph type="body" idx="1"/>
          </p:nvPr>
        </p:nvSpPr>
        <p:spPr>
          <a:noFill/>
          <a:ln/>
        </p:spPr>
        <p:txBody>
          <a:bodyPr lIns="93170" tIns="46586" rIns="93170" bIns="46586"/>
          <a:lstStyle/>
          <a:p>
            <a:endParaRPr lang="en-US"/>
          </a:p>
        </p:txBody>
      </p:sp>
    </p:spTree>
    <p:extLst>
      <p:ext uri="{BB962C8B-B14F-4D97-AF65-F5344CB8AC3E}">
        <p14:creationId xmlns:p14="http://schemas.microsoft.com/office/powerpoint/2010/main" val="1480525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fld id="{DF7B1508-224E-4F8B-9341-5F6B88F21CB6}" type="slidenum">
              <a:rPr lang="en-US" smtClean="0"/>
              <a:pPr/>
              <a:t>2</a:t>
            </a:fld>
            <a:endParaRPr lang="en-US"/>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28082736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p:spPr>
        <p:txBody>
          <a:bodyPr/>
          <a:lstStyle/>
          <a:p>
            <a:fld id="{AEF9561C-D282-4951-8E0E-CCE94D9B3623}" type="slidenum">
              <a:rPr lang="en-US" smtClean="0"/>
              <a:pPr/>
              <a:t>3</a:t>
            </a:fld>
            <a:endParaRPr lang="en-US"/>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11392974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p:spPr>
        <p:txBody>
          <a:bodyPr/>
          <a:lstStyle/>
          <a:p>
            <a:fld id="{690B16B3-7E4F-4D7D-AEE7-90D6B5F15721}" type="slidenum">
              <a:rPr lang="en-US" smtClean="0"/>
              <a:pPr/>
              <a:t>4</a:t>
            </a:fld>
            <a:endParaRPr lang="en-US"/>
          </a:p>
        </p:txBody>
      </p:sp>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25307141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p>
            <a:fld id="{AC6C6069-293F-4FF9-94BD-0E8CA075E909}" type="slidenum">
              <a:rPr lang="en-US" smtClean="0"/>
              <a:pPr/>
              <a:t>5</a:t>
            </a:fld>
            <a:endParaRPr lang="en-US"/>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2357070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p:spPr>
        <p:txBody>
          <a:bodyPr/>
          <a:lstStyle/>
          <a:p>
            <a:fld id="{210C25F2-30C1-4877-BBE1-5519AB6D9511}" type="slidenum">
              <a:rPr lang="en-US" smtClean="0"/>
              <a:pPr/>
              <a:t>6</a:t>
            </a:fld>
            <a:endParaRPr lang="en-US"/>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10105313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a:ln>
            <a:miter lim="800000"/>
            <a:headEnd/>
            <a:tailEnd/>
          </a:ln>
        </p:spPr>
        <p:txBody>
          <a:bodyPr/>
          <a:lstStyle/>
          <a:p>
            <a:fld id="{97D533CE-B4FF-425F-8836-4407388C973D}" type="slidenum">
              <a:rPr lang="en-US" altLang="en-US"/>
              <a:pPr/>
              <a:t>7</a:t>
            </a:fld>
            <a:endParaRPr lang="en-US" altLang="en-US"/>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a:noFill/>
        </p:spPr>
        <p:txBody>
          <a:bodyPr/>
          <a:lstStyle/>
          <a:p>
            <a:pPr eaLnBrk="1" hangingPunct="1"/>
            <a:endParaRPr lang="en-US" altLang="en-US">
              <a:latin typeface="Arial" pitchFamily="34" charset="0"/>
            </a:endParaRPr>
          </a:p>
        </p:txBody>
      </p:sp>
    </p:spTree>
    <p:extLst>
      <p:ext uri="{BB962C8B-B14F-4D97-AF65-F5344CB8AC3E}">
        <p14:creationId xmlns:p14="http://schemas.microsoft.com/office/powerpoint/2010/main" val="19028439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a:ln>
            <a:miter lim="800000"/>
            <a:headEnd/>
            <a:tailEnd/>
          </a:ln>
        </p:spPr>
        <p:txBody>
          <a:bodyPr/>
          <a:lstStyle/>
          <a:p>
            <a:fld id="{A6EB2684-9DD3-4EFA-A061-BA3CE58AA3BC}" type="slidenum">
              <a:rPr lang="en-US" altLang="en-US"/>
              <a:pPr/>
              <a:t>8</a:t>
            </a:fld>
            <a:endParaRPr lang="en-US" altLang="en-US"/>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p:spPr>
        <p:txBody>
          <a:bodyPr/>
          <a:lstStyle/>
          <a:p>
            <a:pPr eaLnBrk="1" hangingPunct="1"/>
            <a:endParaRPr lang="en-US" altLang="en-US">
              <a:latin typeface="Arial" pitchFamily="34" charset="0"/>
            </a:endParaRPr>
          </a:p>
        </p:txBody>
      </p:sp>
    </p:spTree>
    <p:extLst>
      <p:ext uri="{BB962C8B-B14F-4D97-AF65-F5344CB8AC3E}">
        <p14:creationId xmlns:p14="http://schemas.microsoft.com/office/powerpoint/2010/main" val="18978941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a:ln>
            <a:miter lim="800000"/>
            <a:headEnd/>
            <a:tailEnd/>
          </a:ln>
        </p:spPr>
        <p:txBody>
          <a:bodyPr/>
          <a:lstStyle/>
          <a:p>
            <a:fld id="{B82C9F1A-3C8B-41EF-B153-36E4B4256750}" type="slidenum">
              <a:rPr lang="en-US" altLang="en-US"/>
              <a:pPr/>
              <a:t>9</a:t>
            </a:fld>
            <a:endParaRPr lang="en-US" altLang="en-US"/>
          </a:p>
        </p:txBody>
      </p:sp>
      <p:sp>
        <p:nvSpPr>
          <p:cNvPr id="36867" name="Rectangle 2"/>
          <p:cNvSpPr>
            <a:spLocks noGrp="1" noRot="1" noChangeAspect="1" noChangeArrowheads="1" noTextEdit="1"/>
          </p:cNvSpPr>
          <p:nvPr>
            <p:ph type="sldImg"/>
          </p:nvPr>
        </p:nvSpPr>
        <p:spPr>
          <a:ln/>
        </p:spPr>
      </p:sp>
      <p:sp>
        <p:nvSpPr>
          <p:cNvPr id="36868" name="Rectangle 3"/>
          <p:cNvSpPr>
            <a:spLocks noGrp="1" noChangeArrowheads="1"/>
          </p:cNvSpPr>
          <p:nvPr>
            <p:ph type="body" idx="1"/>
          </p:nvPr>
        </p:nvSpPr>
        <p:spPr>
          <a:noFill/>
        </p:spPr>
        <p:txBody>
          <a:bodyPr/>
          <a:lstStyle/>
          <a:p>
            <a:pPr eaLnBrk="1" hangingPunct="1"/>
            <a:endParaRPr lang="en-US" altLang="en-US">
              <a:latin typeface="Arial" pitchFamily="34" charset="0"/>
            </a:endParaRPr>
          </a:p>
        </p:txBody>
      </p:sp>
    </p:spTree>
    <p:extLst>
      <p:ext uri="{BB962C8B-B14F-4D97-AF65-F5344CB8AC3E}">
        <p14:creationId xmlns:p14="http://schemas.microsoft.com/office/powerpoint/2010/main" val="8027937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p:spPr>
        <p:txBody>
          <a:bodyPr/>
          <a:lstStyle/>
          <a:p>
            <a:fld id="{F8C5848E-5BFE-4293-AF62-581E9E6EDBFB}" type="slidenum">
              <a:rPr lang="en-US" smtClean="0"/>
              <a:pPr/>
              <a:t>12</a:t>
            </a:fld>
            <a:endParaRPr lang="en-US"/>
          </a:p>
        </p:txBody>
      </p:sp>
      <p:sp>
        <p:nvSpPr>
          <p:cNvPr id="90115" name="Rectangle 2"/>
          <p:cNvSpPr>
            <a:spLocks noGrp="1" noRot="1" noChangeAspect="1" noChangeArrowheads="1" noTextEdit="1"/>
          </p:cNvSpPr>
          <p:nvPr>
            <p:ph type="sldImg"/>
          </p:nvPr>
        </p:nvSpPr>
        <p:spPr>
          <a:ln/>
        </p:spPr>
      </p:sp>
      <p:sp>
        <p:nvSpPr>
          <p:cNvPr id="90116"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13286028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p:spPr>
        <p:txBody>
          <a:bodyPr/>
          <a:lstStyle/>
          <a:p>
            <a:fld id="{6064A26E-1291-4860-91FA-ECF99D28AB51}" type="slidenum">
              <a:rPr lang="en-US" smtClean="0"/>
              <a:pPr/>
              <a:t>13</a:t>
            </a:fld>
            <a:endParaRPr lang="en-US"/>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26673670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p:spPr>
        <p:txBody>
          <a:bodyPr/>
          <a:lstStyle/>
          <a:p>
            <a:fld id="{726734AA-2544-4E02-81D7-DDC083BCE73E}" type="slidenum">
              <a:rPr lang="en-US" smtClean="0"/>
              <a:pPr/>
              <a:t>15</a:t>
            </a:fld>
            <a:endParaRPr lang="en-US"/>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39387042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p:spPr>
        <p:txBody>
          <a:bodyPr/>
          <a:lstStyle/>
          <a:p>
            <a:fld id="{5CF7FB11-C38C-4170-B8F5-2566A3C08B1A}" type="slidenum">
              <a:rPr lang="en-US" smtClean="0"/>
              <a:pPr/>
              <a:t>16</a:t>
            </a:fld>
            <a:endParaRPr lang="en-US"/>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22936949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p:spPr>
        <p:txBody>
          <a:bodyPr/>
          <a:lstStyle/>
          <a:p>
            <a:fld id="{60F5BDA0-B8BC-4F14-A76C-F9EC4F23847B}" type="slidenum">
              <a:rPr lang="en-US" smtClean="0"/>
              <a:pPr/>
              <a:t>17</a:t>
            </a:fld>
            <a:endParaRPr lang="en-US"/>
          </a:p>
        </p:txBody>
      </p:sp>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42049233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a:noFill/>
        </p:spPr>
        <p:txBody>
          <a:bodyPr/>
          <a:lstStyle/>
          <a:p>
            <a:fld id="{D545F35D-3E43-43F5-ACBD-DABBBCB30B41}" type="slidenum">
              <a:rPr lang="en-US" smtClean="0"/>
              <a:pPr/>
              <a:t>24</a:t>
            </a:fld>
            <a:endParaRPr lang="en-US"/>
          </a:p>
        </p:txBody>
      </p:sp>
      <p:sp>
        <p:nvSpPr>
          <p:cNvPr id="134147" name="Rectangle 2"/>
          <p:cNvSpPr>
            <a:spLocks noGrp="1" noRot="1" noChangeAspect="1" noChangeArrowheads="1" noTextEdit="1"/>
          </p:cNvSpPr>
          <p:nvPr>
            <p:ph type="sldImg"/>
          </p:nvPr>
        </p:nvSpPr>
        <p:spPr>
          <a:ln/>
        </p:spPr>
      </p:sp>
      <p:sp>
        <p:nvSpPr>
          <p:cNvPr id="134148"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14133002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txBox="1">
            <a:spLocks noGrp="1" noChangeArrowheads="1"/>
          </p:cNvSpPr>
          <p:nvPr/>
        </p:nvSpPr>
        <p:spPr bwMode="auto">
          <a:xfrm>
            <a:off x="3971925" y="8831263"/>
            <a:ext cx="3038475" cy="465137"/>
          </a:xfrm>
          <a:prstGeom prst="rect">
            <a:avLst/>
          </a:prstGeom>
          <a:noFill/>
          <a:ln w="9525">
            <a:noFill/>
            <a:miter lim="800000"/>
            <a:headEnd/>
            <a:tailEnd/>
          </a:ln>
        </p:spPr>
        <p:txBody>
          <a:bodyPr lIns="92305" tIns="46153" rIns="92305" bIns="46153" anchor="b"/>
          <a:lstStyle/>
          <a:p>
            <a:pPr algn="r" defTabSz="922338" eaLnBrk="0" hangingPunct="0"/>
            <a:fld id="{CC97341E-5995-4E09-B124-E9FAAA57F13B}" type="slidenum">
              <a:rPr lang="en-US" sz="1200">
                <a:latin typeface="Times New Roman" pitchFamily="18" charset="0"/>
              </a:rPr>
              <a:pPr algn="r" defTabSz="922338" eaLnBrk="0" hangingPunct="0"/>
              <a:t>27</a:t>
            </a:fld>
            <a:endParaRPr lang="en-US" sz="1200">
              <a:latin typeface="Times New Roman" pitchFamily="18" charset="0"/>
            </a:endParaRPr>
          </a:p>
        </p:txBody>
      </p:sp>
      <p:sp>
        <p:nvSpPr>
          <p:cNvPr id="107523" name="Rectangle 2"/>
          <p:cNvSpPr>
            <a:spLocks noGrp="1" noRot="1" noChangeAspect="1" noChangeArrowheads="1" noTextEdit="1"/>
          </p:cNvSpPr>
          <p:nvPr>
            <p:ph type="sldImg"/>
          </p:nvPr>
        </p:nvSpPr>
        <p:spPr>
          <a:ln/>
        </p:spPr>
      </p:sp>
      <p:sp>
        <p:nvSpPr>
          <p:cNvPr id="10752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p:spPr>
        <p:txBody>
          <a:bodyPr/>
          <a:lstStyle/>
          <a:p>
            <a:fld id="{FFF9490C-0AB3-443D-AB28-4048150B5248}" type="slidenum">
              <a:rPr lang="en-US" smtClean="0"/>
              <a:pPr/>
              <a:t>28</a:t>
            </a:fld>
            <a:endParaRPr lang="en-US"/>
          </a:p>
        </p:txBody>
      </p:sp>
      <p:sp>
        <p:nvSpPr>
          <p:cNvPr id="108547" name="Rectangle 2"/>
          <p:cNvSpPr>
            <a:spLocks noGrp="1" noRot="1" noChangeAspect="1" noChangeArrowheads="1" noTextEdit="1"/>
          </p:cNvSpPr>
          <p:nvPr>
            <p:ph type="sldImg"/>
          </p:nvPr>
        </p:nvSpPr>
        <p:spPr>
          <a:ln/>
        </p:spPr>
      </p:sp>
      <p:sp>
        <p:nvSpPr>
          <p:cNvPr id="10854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p:spPr>
        <p:txBody>
          <a:bodyPr/>
          <a:lstStyle/>
          <a:p>
            <a:fld id="{FFF9490C-0AB3-443D-AB28-4048150B5248}" type="slidenum">
              <a:rPr lang="en-US" smtClean="0"/>
              <a:pPr/>
              <a:t>29</a:t>
            </a:fld>
            <a:endParaRPr lang="en-US"/>
          </a:p>
        </p:txBody>
      </p:sp>
      <p:sp>
        <p:nvSpPr>
          <p:cNvPr id="108547" name="Rectangle 2"/>
          <p:cNvSpPr>
            <a:spLocks noGrp="1" noRot="1" noChangeAspect="1" noChangeArrowheads="1" noTextEdit="1"/>
          </p:cNvSpPr>
          <p:nvPr>
            <p:ph type="sldImg"/>
          </p:nvPr>
        </p:nvSpPr>
        <p:spPr>
          <a:ln/>
        </p:spPr>
      </p:sp>
      <p:sp>
        <p:nvSpPr>
          <p:cNvPr id="10854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p:spPr>
        <p:txBody>
          <a:bodyPr/>
          <a:lstStyle/>
          <a:p>
            <a:fld id="{FFF9490C-0AB3-443D-AB28-4048150B5248}" type="slidenum">
              <a:rPr lang="en-US" smtClean="0"/>
              <a:pPr/>
              <a:t>30</a:t>
            </a:fld>
            <a:endParaRPr lang="en-US"/>
          </a:p>
        </p:txBody>
      </p:sp>
      <p:sp>
        <p:nvSpPr>
          <p:cNvPr id="108547" name="Rectangle 2"/>
          <p:cNvSpPr>
            <a:spLocks noGrp="1" noRot="1" noChangeAspect="1" noChangeArrowheads="1" noTextEdit="1"/>
          </p:cNvSpPr>
          <p:nvPr>
            <p:ph type="sldImg"/>
          </p:nvPr>
        </p:nvSpPr>
        <p:spPr>
          <a:ln/>
        </p:spPr>
      </p:sp>
      <p:sp>
        <p:nvSpPr>
          <p:cNvPr id="10854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p:spPr>
        <p:txBody>
          <a:bodyPr/>
          <a:lstStyle/>
          <a:p>
            <a:fld id="{FFF9490C-0AB3-443D-AB28-4048150B5248}" type="slidenum">
              <a:rPr lang="en-US" smtClean="0"/>
              <a:pPr/>
              <a:t>31</a:t>
            </a:fld>
            <a:endParaRPr lang="en-US"/>
          </a:p>
        </p:txBody>
      </p:sp>
      <p:sp>
        <p:nvSpPr>
          <p:cNvPr id="108547" name="Rectangle 2"/>
          <p:cNvSpPr>
            <a:spLocks noGrp="1" noRot="1" noChangeAspect="1" noChangeArrowheads="1" noTextEdit="1"/>
          </p:cNvSpPr>
          <p:nvPr>
            <p:ph type="sldImg"/>
          </p:nvPr>
        </p:nvSpPr>
        <p:spPr>
          <a:ln/>
        </p:spPr>
      </p:sp>
      <p:sp>
        <p:nvSpPr>
          <p:cNvPr id="10854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p:spPr>
        <p:txBody>
          <a:bodyPr/>
          <a:lstStyle/>
          <a:p>
            <a:fld id="{FFF9490C-0AB3-443D-AB28-4048150B5248}" type="slidenum">
              <a:rPr lang="en-US" smtClean="0"/>
              <a:pPr/>
              <a:t>32</a:t>
            </a:fld>
            <a:endParaRPr lang="en-US"/>
          </a:p>
        </p:txBody>
      </p:sp>
      <p:sp>
        <p:nvSpPr>
          <p:cNvPr id="108547" name="Rectangle 2"/>
          <p:cNvSpPr>
            <a:spLocks noGrp="1" noRot="1" noChangeAspect="1" noChangeArrowheads="1" noTextEdit="1"/>
          </p:cNvSpPr>
          <p:nvPr>
            <p:ph type="sldImg"/>
          </p:nvPr>
        </p:nvSpPr>
        <p:spPr>
          <a:ln/>
        </p:spPr>
      </p:sp>
      <p:sp>
        <p:nvSpPr>
          <p:cNvPr id="10854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p:spPr>
        <p:txBody>
          <a:bodyPr/>
          <a:lstStyle/>
          <a:p>
            <a:fld id="{FFF9490C-0AB3-443D-AB28-4048150B5248}" type="slidenum">
              <a:rPr lang="en-US" smtClean="0"/>
              <a:pPr/>
              <a:t>33</a:t>
            </a:fld>
            <a:endParaRPr lang="en-US"/>
          </a:p>
        </p:txBody>
      </p:sp>
      <p:sp>
        <p:nvSpPr>
          <p:cNvPr id="108547" name="Rectangle 2"/>
          <p:cNvSpPr>
            <a:spLocks noGrp="1" noRot="1" noChangeAspect="1" noChangeArrowheads="1" noTextEdit="1"/>
          </p:cNvSpPr>
          <p:nvPr>
            <p:ph type="sldImg"/>
          </p:nvPr>
        </p:nvSpPr>
        <p:spPr>
          <a:ln/>
        </p:spPr>
      </p:sp>
      <p:sp>
        <p:nvSpPr>
          <p:cNvPr id="10854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a:spLocks noGrp="1" noChangeArrowheads="1"/>
          </p:cNvSpPr>
          <p:nvPr>
            <p:ph type="sldNum" sz="quarter" idx="5"/>
          </p:nvPr>
        </p:nvSpPr>
        <p:spPr>
          <a:noFill/>
        </p:spPr>
        <p:txBody>
          <a:bodyPr/>
          <a:lstStyle/>
          <a:p>
            <a:fld id="{FFCF34CF-4C1D-422C-80DC-BD6498FDEF38}" type="slidenum">
              <a:rPr lang="en-US" smtClean="0"/>
              <a:pPr/>
              <a:t>34</a:t>
            </a:fld>
            <a:endParaRPr lang="en-US"/>
          </a:p>
        </p:txBody>
      </p:sp>
      <p:sp>
        <p:nvSpPr>
          <p:cNvPr id="115715" name="Rectangle 2"/>
          <p:cNvSpPr>
            <a:spLocks noGrp="1" noRot="1" noChangeAspect="1" noChangeArrowheads="1" noTextEdit="1"/>
          </p:cNvSpPr>
          <p:nvPr>
            <p:ph type="sldImg"/>
          </p:nvPr>
        </p:nvSpPr>
        <p:spPr>
          <a:ln/>
        </p:spPr>
      </p:sp>
      <p:sp>
        <p:nvSpPr>
          <p:cNvPr id="115716" name="Rectangle 3"/>
          <p:cNvSpPr>
            <a:spLocks noGrp="1" noChangeArrowheads="1"/>
          </p:cNvSpPr>
          <p:nvPr>
            <p:ph type="body" idx="1"/>
          </p:nvPr>
        </p:nvSpPr>
        <p:spPr>
          <a:noFill/>
          <a:ln/>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0" y="2438400"/>
            <a:ext cx="9009063" cy="1052513"/>
            <a:chOff x="0" y="1536"/>
            <a:chExt cx="5675" cy="663"/>
          </a:xfrm>
        </p:grpSpPr>
        <p:grpSp>
          <p:nvGrpSpPr>
            <p:cNvPr id="5" name="Group 3"/>
            <p:cNvGrpSpPr>
              <a:grpSpLocks/>
            </p:cNvGrpSpPr>
            <p:nvPr/>
          </p:nvGrpSpPr>
          <p:grpSpPr bwMode="auto">
            <a:xfrm>
              <a:off x="185" y="1604"/>
              <a:ext cx="449"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w="9525">
                <a:noFill/>
                <a:miter lim="800000"/>
                <a:headEnd/>
                <a:tailEnd/>
              </a:ln>
            </p:spPr>
            <p:txBody>
              <a:bodyPr wrap="none" anchor="ctr"/>
              <a:lstStyle/>
              <a:p>
                <a:endParaRPr lang="en-US"/>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w="9525">
                <a:noFill/>
                <a:miter lim="800000"/>
                <a:headEnd/>
                <a:tailEnd/>
              </a:ln>
            </p:spPr>
            <p:txBody>
              <a:bodyPr wrap="none" anchor="ctr"/>
              <a:lstStyle/>
              <a:p>
                <a:endParaRPr lang="en-US"/>
              </a:p>
            </p:txBody>
          </p:sp>
        </p:grpSp>
        <p:grpSp>
          <p:nvGrpSpPr>
            <p:cNvPr id="6" name="Group 6"/>
            <p:cNvGrpSpPr>
              <a:grpSpLocks/>
            </p:cNvGrpSpPr>
            <p:nvPr/>
          </p:nvGrpSpPr>
          <p:grpSpPr bwMode="auto">
            <a:xfrm>
              <a:off x="263" y="1870"/>
              <a:ext cx="466"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w="9525">
                <a:noFill/>
                <a:miter lim="800000"/>
                <a:headEnd/>
                <a:tailEnd/>
              </a:ln>
            </p:spPr>
            <p:txBody>
              <a:bodyPr wrap="none" anchor="ctr"/>
              <a:lstStyle/>
              <a:p>
                <a:endParaRPr lang="en-US"/>
              </a:p>
            </p:txBody>
          </p:sp>
          <p:sp>
            <p:nvSpPr>
              <p:cNvPr id="11"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w="9525">
                <a:noFill/>
                <a:miter lim="800000"/>
                <a:headEnd/>
                <a:tailEnd/>
              </a:ln>
            </p:spPr>
            <p:txBody>
              <a:bodyPr wrap="none" anchor="ctr"/>
              <a:lstStyle/>
              <a:p>
                <a:endParaRPr lang="en-US"/>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w="9525">
              <a:noFill/>
              <a:miter lim="800000"/>
              <a:headEnd/>
              <a:tailEnd/>
            </a:ln>
          </p:spPr>
          <p:txBody>
            <a:bodyPr wrap="none" anchor="ctr"/>
            <a:lstStyle/>
            <a:p>
              <a:endParaRPr lang="en-US"/>
            </a:p>
          </p:txBody>
        </p:sp>
        <p:sp>
          <p:nvSpPr>
            <p:cNvPr id="8" name="Rectangle 10"/>
            <p:cNvSpPr>
              <a:spLocks noChangeArrowheads="1"/>
            </p:cNvSpPr>
            <p:nvPr/>
          </p:nvSpPr>
          <p:spPr bwMode="auto">
            <a:xfrm>
              <a:off x="400" y="1536"/>
              <a:ext cx="20" cy="663"/>
            </a:xfrm>
            <a:prstGeom prst="rect">
              <a:avLst/>
            </a:prstGeom>
            <a:solidFill>
              <a:schemeClr val="bg2"/>
            </a:solidFill>
            <a:ln w="9525">
              <a:noFill/>
              <a:miter lim="800000"/>
              <a:headEnd/>
              <a:tailEnd/>
            </a:ln>
          </p:spPr>
          <p:txBody>
            <a:bodyPr wrap="none" anchor="ctr"/>
            <a:lstStyle/>
            <a:p>
              <a:endParaRPr lang="en-US"/>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w="9525">
              <a:noFill/>
              <a:miter lim="800000"/>
              <a:headEnd/>
              <a:tailEnd/>
            </a:ln>
          </p:spPr>
          <p:txBody>
            <a:bodyPr wrap="none" anchor="ctr"/>
            <a:lstStyle/>
            <a:p>
              <a:endParaRPr lang="en-US"/>
            </a:p>
          </p:txBody>
        </p:sp>
      </p:grpSp>
      <p:sp>
        <p:nvSpPr>
          <p:cNvPr id="929804" name="Rectangle 12"/>
          <p:cNvSpPr>
            <a:spLocks noGrp="1" noChangeArrowheads="1"/>
          </p:cNvSpPr>
          <p:nvPr>
            <p:ph type="ctrTitle"/>
          </p:nvPr>
        </p:nvSpPr>
        <p:spPr>
          <a:xfrm>
            <a:off x="990600" y="1828800"/>
            <a:ext cx="7772400" cy="1143000"/>
          </a:xfrm>
        </p:spPr>
        <p:txBody>
          <a:bodyPr/>
          <a:lstStyle>
            <a:lvl1pPr>
              <a:defRPr sz="4000"/>
            </a:lvl1pPr>
          </a:lstStyle>
          <a:p>
            <a:r>
              <a:rPr lang="en-US"/>
              <a:t>Click to edit Master title style</a:t>
            </a:r>
          </a:p>
        </p:txBody>
      </p:sp>
      <p:sp>
        <p:nvSpPr>
          <p:cNvPr id="929805"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en-US"/>
              <a:t>Click to edit Master subtitle style</a:t>
            </a:r>
          </a:p>
        </p:txBody>
      </p:sp>
      <p:sp>
        <p:nvSpPr>
          <p:cNvPr id="14" name="Rectangle 14"/>
          <p:cNvSpPr>
            <a:spLocks noGrp="1" noChangeArrowheads="1"/>
          </p:cNvSpPr>
          <p:nvPr>
            <p:ph type="dt" sz="half" idx="10"/>
          </p:nvPr>
        </p:nvSpPr>
        <p:spPr>
          <a:xfrm>
            <a:off x="990600" y="6248400"/>
            <a:ext cx="1905000" cy="457200"/>
          </a:xfrm>
          <a:prstGeom prst="rect">
            <a:avLst/>
          </a:prstGeom>
        </p:spPr>
        <p:txBody>
          <a:bodyPr/>
          <a:lstStyle>
            <a:lvl1pPr>
              <a:defRPr sz="1400">
                <a:solidFill>
                  <a:schemeClr val="bg2"/>
                </a:solidFill>
              </a:defRPr>
            </a:lvl1pPr>
          </a:lstStyle>
          <a:p>
            <a:pPr>
              <a:defRPr/>
            </a:pPr>
            <a:fld id="{EC2241B4-87C4-482A-BED2-D94D3EE0B413}" type="datetime4">
              <a:rPr lang="en-US"/>
              <a:pPr>
                <a:defRPr/>
              </a:pPr>
              <a:t>December 3, 2024</a:t>
            </a:fld>
            <a:endParaRPr lang="en-US"/>
          </a:p>
        </p:txBody>
      </p:sp>
      <p:sp>
        <p:nvSpPr>
          <p:cNvPr id="15" name="Rectangle 15"/>
          <p:cNvSpPr>
            <a:spLocks noGrp="1" noChangeArrowheads="1"/>
          </p:cNvSpPr>
          <p:nvPr>
            <p:ph type="ftr" sz="quarter" idx="11"/>
          </p:nvPr>
        </p:nvSpPr>
        <p:spPr>
          <a:xfrm>
            <a:off x="3429000" y="6248400"/>
            <a:ext cx="2895600" cy="457200"/>
          </a:xfrm>
          <a:prstGeom prst="rect">
            <a:avLst/>
          </a:prstGeom>
        </p:spPr>
        <p:txBody>
          <a:bodyPr/>
          <a:lstStyle>
            <a:lvl1pPr>
              <a:defRPr sz="1400">
                <a:solidFill>
                  <a:schemeClr val="bg2"/>
                </a:solidFill>
              </a:defRPr>
            </a:lvl1pPr>
          </a:lstStyle>
          <a:p>
            <a:pPr>
              <a:defRPr/>
            </a:pPr>
            <a:r>
              <a:rPr lang="en-US"/>
              <a:t>Data Mining: Concepts and Techniques</a:t>
            </a:r>
          </a:p>
        </p:txBody>
      </p:sp>
      <p:sp>
        <p:nvSpPr>
          <p:cNvPr id="16" name="Rectangle 16"/>
          <p:cNvSpPr>
            <a:spLocks noGrp="1" noChangeArrowheads="1"/>
          </p:cNvSpPr>
          <p:nvPr>
            <p:ph type="sldNum" sz="quarter" idx="12"/>
          </p:nvPr>
        </p:nvSpPr>
        <p:spPr>
          <a:xfrm>
            <a:off x="6858000" y="6248400"/>
            <a:ext cx="1905000" cy="457200"/>
          </a:xfrm>
        </p:spPr>
        <p:txBody>
          <a:bodyPr/>
          <a:lstStyle>
            <a:lvl1pPr>
              <a:defRPr sz="1400">
                <a:solidFill>
                  <a:schemeClr val="bg2"/>
                </a:solidFill>
              </a:defRPr>
            </a:lvl1pPr>
          </a:lstStyle>
          <a:p>
            <a:pPr>
              <a:defRPr/>
            </a:pPr>
            <a:fld id="{135023B6-AF1F-459C-9DE9-A68B5798BD19}" type="slidenum">
              <a:rPr lang="en-US"/>
              <a:pPr>
                <a:defRPr/>
              </a:pPr>
              <a:t>‹#›</a:t>
            </a:fld>
            <a:endParaRPr lang="en-US"/>
          </a:p>
        </p:txBody>
      </p:sp>
    </p:spTree>
  </p:cSld>
  <p:clrMapOvr>
    <a:masterClrMapping/>
  </p:clrMapOvr>
  <p:transition spd="med">
    <p:zo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061"/>
          <p:cNvSpPr>
            <a:spLocks noGrp="1" noChangeArrowheads="1"/>
          </p:cNvSpPr>
          <p:nvPr>
            <p:ph type="sldNum" sz="quarter" idx="10"/>
          </p:nvPr>
        </p:nvSpPr>
        <p:spPr>
          <a:ln/>
        </p:spPr>
        <p:txBody>
          <a:bodyPr/>
          <a:lstStyle>
            <a:lvl1pPr>
              <a:defRPr/>
            </a:lvl1pPr>
          </a:lstStyle>
          <a:p>
            <a:pPr>
              <a:defRPr/>
            </a:pPr>
            <a:fld id="{18411881-BCF6-40F7-96CE-96EDB10FFC86}" type="slidenum">
              <a:rPr lang="en-US"/>
              <a:pPr>
                <a:defRPr/>
              </a:pPr>
              <a:t>‹#›</a:t>
            </a:fld>
            <a:endParaRPr lang="en-US"/>
          </a:p>
        </p:txBody>
      </p:sp>
    </p:spTree>
  </p:cSld>
  <p:clrMapOvr>
    <a:masterClrMapping/>
  </p:clrMapOvr>
  <p:transition spd="med">
    <p:zo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2059"/>
          <p:cNvSpPr>
            <a:spLocks noGrp="1" noChangeArrowheads="1"/>
          </p:cNvSpPr>
          <p:nvPr>
            <p:ph type="dt" sz="half" idx="10"/>
          </p:nvPr>
        </p:nvSpPr>
        <p:spPr>
          <a:xfrm>
            <a:off x="304800" y="6477000"/>
            <a:ext cx="1905000" cy="381000"/>
          </a:xfrm>
          <a:prstGeom prst="rect">
            <a:avLst/>
          </a:prstGeom>
        </p:spPr>
        <p:txBody>
          <a:bodyPr/>
          <a:lstStyle>
            <a:lvl1pPr>
              <a:defRPr/>
            </a:lvl1pPr>
          </a:lstStyle>
          <a:p>
            <a:pPr>
              <a:defRPr/>
            </a:pPr>
            <a:fld id="{F032EAEC-F989-402A-AA2E-6474D2D8C651}" type="datetime4">
              <a:rPr lang="en-US"/>
              <a:pPr>
                <a:defRPr/>
              </a:pPr>
              <a:t>December 3, 2024</a:t>
            </a:fld>
            <a:endParaRPr lang="en-US"/>
          </a:p>
        </p:txBody>
      </p:sp>
      <p:sp>
        <p:nvSpPr>
          <p:cNvPr id="5" name="Rectangle 2060"/>
          <p:cNvSpPr>
            <a:spLocks noGrp="1" noChangeArrowheads="1"/>
          </p:cNvSpPr>
          <p:nvPr>
            <p:ph type="ftr" sz="quarter" idx="11"/>
          </p:nvPr>
        </p:nvSpPr>
        <p:spPr>
          <a:xfrm>
            <a:off x="3352800" y="6477000"/>
            <a:ext cx="2895600" cy="381000"/>
          </a:xfrm>
          <a:prstGeom prst="rect">
            <a:avLst/>
          </a:prstGeom>
        </p:spPr>
        <p:txBody>
          <a:bodyPr/>
          <a:lstStyle>
            <a:lvl1pPr>
              <a:defRPr/>
            </a:lvl1pPr>
          </a:lstStyle>
          <a:p>
            <a:pPr>
              <a:defRPr/>
            </a:pPr>
            <a:r>
              <a:rPr lang="en-US"/>
              <a:t>Data Mining: Concepts and Techniques</a:t>
            </a:r>
          </a:p>
        </p:txBody>
      </p:sp>
      <p:sp>
        <p:nvSpPr>
          <p:cNvPr id="6" name="Rectangle 2061"/>
          <p:cNvSpPr>
            <a:spLocks noGrp="1" noChangeArrowheads="1"/>
          </p:cNvSpPr>
          <p:nvPr>
            <p:ph type="sldNum" sz="quarter" idx="12"/>
          </p:nvPr>
        </p:nvSpPr>
        <p:spPr/>
        <p:txBody>
          <a:bodyPr/>
          <a:lstStyle>
            <a:lvl1pPr>
              <a:defRPr/>
            </a:lvl1pPr>
          </a:lstStyle>
          <a:p>
            <a:pPr>
              <a:defRPr/>
            </a:pPr>
            <a:fld id="{C164EFA6-E136-4C25-A89C-49DB1A1E1E96}" type="slidenum">
              <a:rPr lang="en-US"/>
              <a:pPr>
                <a:defRPr/>
              </a:pPr>
              <a:t>‹#›</a:t>
            </a:fld>
            <a:endParaRPr lang="en-US"/>
          </a:p>
        </p:txBody>
      </p:sp>
    </p:spTree>
  </p:cSld>
  <p:clrMapOvr>
    <a:masterClrMapping/>
  </p:clrMapOvr>
  <p:transition spd="med">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81000" y="1371600"/>
            <a:ext cx="41148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371600"/>
            <a:ext cx="41148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059"/>
          <p:cNvSpPr>
            <a:spLocks noGrp="1" noChangeArrowheads="1"/>
          </p:cNvSpPr>
          <p:nvPr>
            <p:ph type="dt" sz="half" idx="10"/>
          </p:nvPr>
        </p:nvSpPr>
        <p:spPr>
          <a:xfrm>
            <a:off x="304800" y="6477000"/>
            <a:ext cx="1905000" cy="381000"/>
          </a:xfrm>
          <a:prstGeom prst="rect">
            <a:avLst/>
          </a:prstGeom>
        </p:spPr>
        <p:txBody>
          <a:bodyPr/>
          <a:lstStyle>
            <a:lvl1pPr>
              <a:defRPr/>
            </a:lvl1pPr>
          </a:lstStyle>
          <a:p>
            <a:pPr>
              <a:defRPr/>
            </a:pPr>
            <a:fld id="{E63ADA45-40C4-4265-9B13-0B45AC38E727}" type="datetime4">
              <a:rPr lang="en-US"/>
              <a:pPr>
                <a:defRPr/>
              </a:pPr>
              <a:t>December 3, 2024</a:t>
            </a:fld>
            <a:endParaRPr lang="en-US"/>
          </a:p>
        </p:txBody>
      </p:sp>
      <p:sp>
        <p:nvSpPr>
          <p:cNvPr id="6" name="Rectangle 2060"/>
          <p:cNvSpPr>
            <a:spLocks noGrp="1" noChangeArrowheads="1"/>
          </p:cNvSpPr>
          <p:nvPr>
            <p:ph type="ftr" sz="quarter" idx="11"/>
          </p:nvPr>
        </p:nvSpPr>
        <p:spPr>
          <a:xfrm>
            <a:off x="3352800" y="6477000"/>
            <a:ext cx="2895600" cy="381000"/>
          </a:xfrm>
          <a:prstGeom prst="rect">
            <a:avLst/>
          </a:prstGeom>
        </p:spPr>
        <p:txBody>
          <a:bodyPr/>
          <a:lstStyle>
            <a:lvl1pPr>
              <a:defRPr/>
            </a:lvl1pPr>
          </a:lstStyle>
          <a:p>
            <a:pPr>
              <a:defRPr/>
            </a:pPr>
            <a:r>
              <a:rPr lang="en-US"/>
              <a:t>Data Mining: Concepts and Techniques</a:t>
            </a:r>
          </a:p>
        </p:txBody>
      </p:sp>
      <p:sp>
        <p:nvSpPr>
          <p:cNvPr id="7" name="Rectangle 2061"/>
          <p:cNvSpPr>
            <a:spLocks noGrp="1" noChangeArrowheads="1"/>
          </p:cNvSpPr>
          <p:nvPr>
            <p:ph type="sldNum" sz="quarter" idx="12"/>
          </p:nvPr>
        </p:nvSpPr>
        <p:spPr/>
        <p:txBody>
          <a:bodyPr/>
          <a:lstStyle>
            <a:lvl1pPr>
              <a:defRPr/>
            </a:lvl1pPr>
          </a:lstStyle>
          <a:p>
            <a:pPr>
              <a:defRPr/>
            </a:pPr>
            <a:fld id="{6646D4E9-D3B9-495B-BE8F-868B916FB88B}" type="slidenum">
              <a:rPr lang="en-US"/>
              <a:pPr>
                <a:defRPr/>
              </a:pPr>
              <a:t>‹#›</a:t>
            </a:fld>
            <a:endParaRPr lang="en-US"/>
          </a:p>
        </p:txBody>
      </p:sp>
    </p:spTree>
  </p:cSld>
  <p:clrMapOvr>
    <a:masterClrMapping/>
  </p:clrMapOvr>
  <p:transition spd="med">
    <p:zo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059"/>
          <p:cNvSpPr>
            <a:spLocks noGrp="1" noChangeArrowheads="1"/>
          </p:cNvSpPr>
          <p:nvPr>
            <p:ph type="dt" sz="half" idx="10"/>
          </p:nvPr>
        </p:nvSpPr>
        <p:spPr>
          <a:xfrm>
            <a:off x="304800" y="6477000"/>
            <a:ext cx="1905000" cy="381000"/>
          </a:xfrm>
          <a:prstGeom prst="rect">
            <a:avLst/>
          </a:prstGeom>
        </p:spPr>
        <p:txBody>
          <a:bodyPr/>
          <a:lstStyle>
            <a:lvl1pPr>
              <a:defRPr/>
            </a:lvl1pPr>
          </a:lstStyle>
          <a:p>
            <a:pPr>
              <a:defRPr/>
            </a:pPr>
            <a:fld id="{2D042875-7EB9-4270-993D-BBC67F67528D}" type="datetime4">
              <a:rPr lang="en-US"/>
              <a:pPr>
                <a:defRPr/>
              </a:pPr>
              <a:t>December 3, 2024</a:t>
            </a:fld>
            <a:endParaRPr lang="en-US"/>
          </a:p>
        </p:txBody>
      </p:sp>
      <p:sp>
        <p:nvSpPr>
          <p:cNvPr id="8" name="Rectangle 2060"/>
          <p:cNvSpPr>
            <a:spLocks noGrp="1" noChangeArrowheads="1"/>
          </p:cNvSpPr>
          <p:nvPr>
            <p:ph type="ftr" sz="quarter" idx="11"/>
          </p:nvPr>
        </p:nvSpPr>
        <p:spPr>
          <a:xfrm>
            <a:off x="3352800" y="6477000"/>
            <a:ext cx="2895600" cy="381000"/>
          </a:xfrm>
          <a:prstGeom prst="rect">
            <a:avLst/>
          </a:prstGeom>
        </p:spPr>
        <p:txBody>
          <a:bodyPr/>
          <a:lstStyle>
            <a:lvl1pPr>
              <a:defRPr/>
            </a:lvl1pPr>
          </a:lstStyle>
          <a:p>
            <a:pPr>
              <a:defRPr/>
            </a:pPr>
            <a:r>
              <a:rPr lang="en-US"/>
              <a:t>Data Mining: Concepts and Techniques</a:t>
            </a:r>
          </a:p>
        </p:txBody>
      </p:sp>
      <p:sp>
        <p:nvSpPr>
          <p:cNvPr id="9" name="Rectangle 2061"/>
          <p:cNvSpPr>
            <a:spLocks noGrp="1" noChangeArrowheads="1"/>
          </p:cNvSpPr>
          <p:nvPr>
            <p:ph type="sldNum" sz="quarter" idx="12"/>
          </p:nvPr>
        </p:nvSpPr>
        <p:spPr/>
        <p:txBody>
          <a:bodyPr/>
          <a:lstStyle>
            <a:lvl1pPr>
              <a:defRPr/>
            </a:lvl1pPr>
          </a:lstStyle>
          <a:p>
            <a:pPr>
              <a:defRPr/>
            </a:pPr>
            <a:fld id="{8981A66C-354E-4CF3-BADF-717087719FA3}" type="slidenum">
              <a:rPr lang="en-US"/>
              <a:pPr>
                <a:defRPr/>
              </a:pPr>
              <a:t>‹#›</a:t>
            </a:fld>
            <a:endParaRPr lang="en-US"/>
          </a:p>
        </p:txBody>
      </p:sp>
    </p:spTree>
  </p:cSld>
  <p:clrMapOvr>
    <a:masterClrMapping/>
  </p:clrMapOvr>
  <p:transition spd="med">
    <p:zo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2059"/>
          <p:cNvSpPr>
            <a:spLocks noGrp="1" noChangeArrowheads="1"/>
          </p:cNvSpPr>
          <p:nvPr>
            <p:ph type="dt" sz="half" idx="10"/>
          </p:nvPr>
        </p:nvSpPr>
        <p:spPr>
          <a:xfrm>
            <a:off x="304800" y="6477000"/>
            <a:ext cx="1905000" cy="381000"/>
          </a:xfrm>
          <a:prstGeom prst="rect">
            <a:avLst/>
          </a:prstGeom>
        </p:spPr>
        <p:txBody>
          <a:bodyPr/>
          <a:lstStyle>
            <a:lvl1pPr>
              <a:defRPr/>
            </a:lvl1pPr>
          </a:lstStyle>
          <a:p>
            <a:pPr>
              <a:defRPr/>
            </a:pPr>
            <a:fld id="{09B144EA-8F21-4AB5-8877-7250EBE2A829}" type="datetime4">
              <a:rPr lang="en-US"/>
              <a:pPr>
                <a:defRPr/>
              </a:pPr>
              <a:t>December 3, 2024</a:t>
            </a:fld>
            <a:endParaRPr lang="en-US"/>
          </a:p>
        </p:txBody>
      </p:sp>
      <p:sp>
        <p:nvSpPr>
          <p:cNvPr id="4" name="Rectangle 2060"/>
          <p:cNvSpPr>
            <a:spLocks noGrp="1" noChangeArrowheads="1"/>
          </p:cNvSpPr>
          <p:nvPr>
            <p:ph type="ftr" sz="quarter" idx="11"/>
          </p:nvPr>
        </p:nvSpPr>
        <p:spPr>
          <a:xfrm>
            <a:off x="3352800" y="6477000"/>
            <a:ext cx="2895600" cy="381000"/>
          </a:xfrm>
          <a:prstGeom prst="rect">
            <a:avLst/>
          </a:prstGeom>
        </p:spPr>
        <p:txBody>
          <a:bodyPr/>
          <a:lstStyle>
            <a:lvl1pPr>
              <a:defRPr/>
            </a:lvl1pPr>
          </a:lstStyle>
          <a:p>
            <a:pPr>
              <a:defRPr/>
            </a:pPr>
            <a:r>
              <a:rPr lang="en-US"/>
              <a:t>Data Mining: Concepts and Techniques</a:t>
            </a:r>
          </a:p>
        </p:txBody>
      </p:sp>
      <p:sp>
        <p:nvSpPr>
          <p:cNvPr id="5" name="Rectangle 2061"/>
          <p:cNvSpPr>
            <a:spLocks noGrp="1" noChangeArrowheads="1"/>
          </p:cNvSpPr>
          <p:nvPr>
            <p:ph type="sldNum" sz="quarter" idx="12"/>
          </p:nvPr>
        </p:nvSpPr>
        <p:spPr/>
        <p:txBody>
          <a:bodyPr/>
          <a:lstStyle>
            <a:lvl1pPr>
              <a:defRPr/>
            </a:lvl1pPr>
          </a:lstStyle>
          <a:p>
            <a:pPr>
              <a:defRPr/>
            </a:pPr>
            <a:fld id="{1F122C7C-A336-44DD-9320-4914EC869D82}" type="slidenum">
              <a:rPr lang="en-US"/>
              <a:pPr>
                <a:defRPr/>
              </a:pPr>
              <a:t>‹#›</a:t>
            </a:fld>
            <a:endParaRPr lang="en-US"/>
          </a:p>
        </p:txBody>
      </p:sp>
    </p:spTree>
  </p:cSld>
  <p:clrMapOvr>
    <a:masterClrMapping/>
  </p:clrMapOvr>
  <p:transition spd="med">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059"/>
          <p:cNvSpPr>
            <a:spLocks noGrp="1" noChangeArrowheads="1"/>
          </p:cNvSpPr>
          <p:nvPr>
            <p:ph type="dt" sz="half" idx="10"/>
          </p:nvPr>
        </p:nvSpPr>
        <p:spPr>
          <a:xfrm>
            <a:off x="304800" y="6477000"/>
            <a:ext cx="1905000" cy="381000"/>
          </a:xfrm>
          <a:prstGeom prst="rect">
            <a:avLst/>
          </a:prstGeom>
        </p:spPr>
        <p:txBody>
          <a:bodyPr/>
          <a:lstStyle>
            <a:lvl1pPr>
              <a:defRPr/>
            </a:lvl1pPr>
          </a:lstStyle>
          <a:p>
            <a:pPr>
              <a:defRPr/>
            </a:pPr>
            <a:fld id="{023DB897-06E1-4BC2-8C1E-05124A71DD2A}" type="datetime4">
              <a:rPr lang="en-US"/>
              <a:pPr>
                <a:defRPr/>
              </a:pPr>
              <a:t>December 3, 2024</a:t>
            </a:fld>
            <a:endParaRPr lang="en-US"/>
          </a:p>
        </p:txBody>
      </p:sp>
      <p:sp>
        <p:nvSpPr>
          <p:cNvPr id="3" name="Rectangle 2060"/>
          <p:cNvSpPr>
            <a:spLocks noGrp="1" noChangeArrowheads="1"/>
          </p:cNvSpPr>
          <p:nvPr>
            <p:ph type="ftr" sz="quarter" idx="11"/>
          </p:nvPr>
        </p:nvSpPr>
        <p:spPr>
          <a:xfrm>
            <a:off x="3352800" y="6477000"/>
            <a:ext cx="2895600" cy="381000"/>
          </a:xfrm>
          <a:prstGeom prst="rect">
            <a:avLst/>
          </a:prstGeom>
        </p:spPr>
        <p:txBody>
          <a:bodyPr/>
          <a:lstStyle>
            <a:lvl1pPr>
              <a:defRPr/>
            </a:lvl1pPr>
          </a:lstStyle>
          <a:p>
            <a:pPr>
              <a:defRPr/>
            </a:pPr>
            <a:r>
              <a:rPr lang="en-US"/>
              <a:t>Data Mining: Concepts and Techniques</a:t>
            </a:r>
          </a:p>
        </p:txBody>
      </p:sp>
      <p:sp>
        <p:nvSpPr>
          <p:cNvPr id="4" name="Rectangle 2061"/>
          <p:cNvSpPr>
            <a:spLocks noGrp="1" noChangeArrowheads="1"/>
          </p:cNvSpPr>
          <p:nvPr>
            <p:ph type="sldNum" sz="quarter" idx="12"/>
          </p:nvPr>
        </p:nvSpPr>
        <p:spPr/>
        <p:txBody>
          <a:bodyPr/>
          <a:lstStyle>
            <a:lvl1pPr>
              <a:defRPr/>
            </a:lvl1pPr>
          </a:lstStyle>
          <a:p>
            <a:pPr>
              <a:defRPr/>
            </a:pPr>
            <a:fld id="{7FB9C459-472B-4F3F-A5D1-3FAD914CCE02}" type="slidenum">
              <a:rPr lang="en-US"/>
              <a:pPr>
                <a:defRPr/>
              </a:pPr>
              <a:t>‹#›</a:t>
            </a:fld>
            <a:endParaRPr lang="en-US"/>
          </a:p>
        </p:txBody>
      </p:sp>
    </p:spTree>
  </p:cSld>
  <p:clrMapOvr>
    <a:masterClrMapping/>
  </p:clrMapOvr>
  <p:transition spd="med">
    <p:zo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2059"/>
          <p:cNvSpPr>
            <a:spLocks noGrp="1" noChangeArrowheads="1"/>
          </p:cNvSpPr>
          <p:nvPr>
            <p:ph type="dt" sz="half" idx="10"/>
          </p:nvPr>
        </p:nvSpPr>
        <p:spPr>
          <a:xfrm>
            <a:off x="304800" y="6477000"/>
            <a:ext cx="1905000" cy="381000"/>
          </a:xfrm>
          <a:prstGeom prst="rect">
            <a:avLst/>
          </a:prstGeom>
        </p:spPr>
        <p:txBody>
          <a:bodyPr/>
          <a:lstStyle>
            <a:lvl1pPr>
              <a:defRPr/>
            </a:lvl1pPr>
          </a:lstStyle>
          <a:p>
            <a:pPr>
              <a:defRPr/>
            </a:pPr>
            <a:fld id="{1A8634A2-1EC4-498C-8341-FC67E2158798}" type="datetime4">
              <a:rPr lang="en-US"/>
              <a:pPr>
                <a:defRPr/>
              </a:pPr>
              <a:t>December 3, 2024</a:t>
            </a:fld>
            <a:endParaRPr lang="en-US"/>
          </a:p>
        </p:txBody>
      </p:sp>
      <p:sp>
        <p:nvSpPr>
          <p:cNvPr id="6" name="Rectangle 2060"/>
          <p:cNvSpPr>
            <a:spLocks noGrp="1" noChangeArrowheads="1"/>
          </p:cNvSpPr>
          <p:nvPr>
            <p:ph type="ftr" sz="quarter" idx="11"/>
          </p:nvPr>
        </p:nvSpPr>
        <p:spPr>
          <a:xfrm>
            <a:off x="3352800" y="6477000"/>
            <a:ext cx="2895600" cy="381000"/>
          </a:xfrm>
          <a:prstGeom prst="rect">
            <a:avLst/>
          </a:prstGeom>
        </p:spPr>
        <p:txBody>
          <a:bodyPr/>
          <a:lstStyle>
            <a:lvl1pPr>
              <a:defRPr/>
            </a:lvl1pPr>
          </a:lstStyle>
          <a:p>
            <a:pPr>
              <a:defRPr/>
            </a:pPr>
            <a:r>
              <a:rPr lang="en-US"/>
              <a:t>Data Mining: Concepts and Techniques</a:t>
            </a:r>
          </a:p>
        </p:txBody>
      </p:sp>
      <p:sp>
        <p:nvSpPr>
          <p:cNvPr id="7" name="Rectangle 2061"/>
          <p:cNvSpPr>
            <a:spLocks noGrp="1" noChangeArrowheads="1"/>
          </p:cNvSpPr>
          <p:nvPr>
            <p:ph type="sldNum" sz="quarter" idx="12"/>
          </p:nvPr>
        </p:nvSpPr>
        <p:spPr/>
        <p:txBody>
          <a:bodyPr/>
          <a:lstStyle>
            <a:lvl1pPr>
              <a:defRPr/>
            </a:lvl1pPr>
          </a:lstStyle>
          <a:p>
            <a:pPr>
              <a:defRPr/>
            </a:pPr>
            <a:fld id="{8926D56F-A617-4351-B941-C6F71B1C8C14}" type="slidenum">
              <a:rPr lang="en-US"/>
              <a:pPr>
                <a:defRPr/>
              </a:pPr>
              <a:t>‹#›</a:t>
            </a:fld>
            <a:endParaRPr lang="en-US"/>
          </a:p>
        </p:txBody>
      </p:sp>
    </p:spTree>
  </p:cSld>
  <p:clrMapOvr>
    <a:masterClrMapping/>
  </p:clrMapOvr>
  <p:transition spd="med">
    <p:zo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2059"/>
          <p:cNvSpPr>
            <a:spLocks noGrp="1" noChangeArrowheads="1"/>
          </p:cNvSpPr>
          <p:nvPr>
            <p:ph type="dt" sz="half" idx="10"/>
          </p:nvPr>
        </p:nvSpPr>
        <p:spPr>
          <a:xfrm>
            <a:off x="304800" y="6477000"/>
            <a:ext cx="1905000" cy="381000"/>
          </a:xfrm>
          <a:prstGeom prst="rect">
            <a:avLst/>
          </a:prstGeom>
        </p:spPr>
        <p:txBody>
          <a:bodyPr/>
          <a:lstStyle>
            <a:lvl1pPr>
              <a:defRPr/>
            </a:lvl1pPr>
          </a:lstStyle>
          <a:p>
            <a:pPr>
              <a:defRPr/>
            </a:pPr>
            <a:fld id="{1940FED3-F75D-4C57-9B47-AD23467AC9E6}" type="datetime4">
              <a:rPr lang="en-US"/>
              <a:pPr>
                <a:defRPr/>
              </a:pPr>
              <a:t>December 3, 2024</a:t>
            </a:fld>
            <a:endParaRPr lang="en-US"/>
          </a:p>
        </p:txBody>
      </p:sp>
      <p:sp>
        <p:nvSpPr>
          <p:cNvPr id="6" name="Rectangle 2060"/>
          <p:cNvSpPr>
            <a:spLocks noGrp="1" noChangeArrowheads="1"/>
          </p:cNvSpPr>
          <p:nvPr>
            <p:ph type="ftr" sz="quarter" idx="11"/>
          </p:nvPr>
        </p:nvSpPr>
        <p:spPr>
          <a:xfrm>
            <a:off x="3352800" y="6477000"/>
            <a:ext cx="2895600" cy="381000"/>
          </a:xfrm>
          <a:prstGeom prst="rect">
            <a:avLst/>
          </a:prstGeom>
        </p:spPr>
        <p:txBody>
          <a:bodyPr/>
          <a:lstStyle>
            <a:lvl1pPr>
              <a:defRPr/>
            </a:lvl1pPr>
          </a:lstStyle>
          <a:p>
            <a:pPr>
              <a:defRPr/>
            </a:pPr>
            <a:r>
              <a:rPr lang="en-US"/>
              <a:t>Data Mining: Concepts and Techniques</a:t>
            </a:r>
          </a:p>
        </p:txBody>
      </p:sp>
      <p:sp>
        <p:nvSpPr>
          <p:cNvPr id="7" name="Rectangle 2061"/>
          <p:cNvSpPr>
            <a:spLocks noGrp="1" noChangeArrowheads="1"/>
          </p:cNvSpPr>
          <p:nvPr>
            <p:ph type="sldNum" sz="quarter" idx="12"/>
          </p:nvPr>
        </p:nvSpPr>
        <p:spPr/>
        <p:txBody>
          <a:bodyPr/>
          <a:lstStyle>
            <a:lvl1pPr>
              <a:defRPr/>
            </a:lvl1pPr>
          </a:lstStyle>
          <a:p>
            <a:pPr>
              <a:defRPr/>
            </a:pPr>
            <a:fld id="{F17CAD6C-1BFE-4C23-8F13-89FE75D5804B}" type="slidenum">
              <a:rPr lang="en-US"/>
              <a:pPr>
                <a:defRPr/>
              </a:pPr>
              <a:t>‹#›</a:t>
            </a:fld>
            <a:endParaRPr lang="en-US"/>
          </a:p>
        </p:txBody>
      </p:sp>
    </p:spTree>
  </p:cSld>
  <p:clrMapOvr>
    <a:masterClrMapping/>
  </p:clrMapOvr>
  <p:transition spd="med">
    <p:zo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059"/>
          <p:cNvSpPr>
            <a:spLocks noGrp="1" noChangeArrowheads="1"/>
          </p:cNvSpPr>
          <p:nvPr>
            <p:ph type="dt" sz="half" idx="10"/>
          </p:nvPr>
        </p:nvSpPr>
        <p:spPr>
          <a:xfrm>
            <a:off x="304800" y="6477000"/>
            <a:ext cx="1905000" cy="381000"/>
          </a:xfrm>
          <a:prstGeom prst="rect">
            <a:avLst/>
          </a:prstGeom>
        </p:spPr>
        <p:txBody>
          <a:bodyPr/>
          <a:lstStyle>
            <a:lvl1pPr>
              <a:defRPr/>
            </a:lvl1pPr>
          </a:lstStyle>
          <a:p>
            <a:pPr>
              <a:defRPr/>
            </a:pPr>
            <a:fld id="{B979DE47-E696-4061-A46D-EE63067C7D31}" type="datetime4">
              <a:rPr lang="en-US"/>
              <a:pPr>
                <a:defRPr/>
              </a:pPr>
              <a:t>December 3, 2024</a:t>
            </a:fld>
            <a:endParaRPr lang="en-US"/>
          </a:p>
        </p:txBody>
      </p:sp>
      <p:sp>
        <p:nvSpPr>
          <p:cNvPr id="5" name="Rectangle 2060"/>
          <p:cNvSpPr>
            <a:spLocks noGrp="1" noChangeArrowheads="1"/>
          </p:cNvSpPr>
          <p:nvPr>
            <p:ph type="ftr" sz="quarter" idx="11"/>
          </p:nvPr>
        </p:nvSpPr>
        <p:spPr>
          <a:xfrm>
            <a:off x="3352800" y="6477000"/>
            <a:ext cx="2895600" cy="381000"/>
          </a:xfrm>
          <a:prstGeom prst="rect">
            <a:avLst/>
          </a:prstGeom>
        </p:spPr>
        <p:txBody>
          <a:bodyPr/>
          <a:lstStyle>
            <a:lvl1pPr>
              <a:defRPr/>
            </a:lvl1pPr>
          </a:lstStyle>
          <a:p>
            <a:pPr>
              <a:defRPr/>
            </a:pPr>
            <a:r>
              <a:rPr lang="en-US"/>
              <a:t>Data Mining: Concepts and Techniques</a:t>
            </a:r>
          </a:p>
        </p:txBody>
      </p:sp>
      <p:sp>
        <p:nvSpPr>
          <p:cNvPr id="6" name="Rectangle 2061"/>
          <p:cNvSpPr>
            <a:spLocks noGrp="1" noChangeArrowheads="1"/>
          </p:cNvSpPr>
          <p:nvPr>
            <p:ph type="sldNum" sz="quarter" idx="12"/>
          </p:nvPr>
        </p:nvSpPr>
        <p:spPr/>
        <p:txBody>
          <a:bodyPr/>
          <a:lstStyle>
            <a:lvl1pPr>
              <a:defRPr/>
            </a:lvl1pPr>
          </a:lstStyle>
          <a:p>
            <a:pPr>
              <a:defRPr/>
            </a:pPr>
            <a:fld id="{6D5E843B-C076-4012-9791-D36C5D538EF5}" type="slidenum">
              <a:rPr lang="en-US"/>
              <a:pPr>
                <a:defRPr/>
              </a:pPr>
              <a:t>‹#›</a:t>
            </a:fld>
            <a:endParaRPr lang="en-US"/>
          </a:p>
        </p:txBody>
      </p:sp>
    </p:spTree>
  </p:cSld>
  <p:clrMapOvr>
    <a:masterClrMapping/>
  </p:clrMapOvr>
  <p:transition spd="med">
    <p:zo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67500" y="381000"/>
            <a:ext cx="2095500" cy="6096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81000" y="381000"/>
            <a:ext cx="6134100" cy="6096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059"/>
          <p:cNvSpPr>
            <a:spLocks noGrp="1" noChangeArrowheads="1"/>
          </p:cNvSpPr>
          <p:nvPr>
            <p:ph type="dt" sz="half" idx="10"/>
          </p:nvPr>
        </p:nvSpPr>
        <p:spPr>
          <a:xfrm>
            <a:off x="304800" y="6477000"/>
            <a:ext cx="1905000" cy="381000"/>
          </a:xfrm>
          <a:prstGeom prst="rect">
            <a:avLst/>
          </a:prstGeom>
        </p:spPr>
        <p:txBody>
          <a:bodyPr/>
          <a:lstStyle>
            <a:lvl1pPr>
              <a:defRPr/>
            </a:lvl1pPr>
          </a:lstStyle>
          <a:p>
            <a:pPr>
              <a:defRPr/>
            </a:pPr>
            <a:fld id="{91C6F50C-97DB-4546-BC60-67A335F0756A}" type="datetime4">
              <a:rPr lang="en-US"/>
              <a:pPr>
                <a:defRPr/>
              </a:pPr>
              <a:t>December 3, 2024</a:t>
            </a:fld>
            <a:endParaRPr lang="en-US"/>
          </a:p>
        </p:txBody>
      </p:sp>
      <p:sp>
        <p:nvSpPr>
          <p:cNvPr id="5" name="Rectangle 2060"/>
          <p:cNvSpPr>
            <a:spLocks noGrp="1" noChangeArrowheads="1"/>
          </p:cNvSpPr>
          <p:nvPr>
            <p:ph type="ftr" sz="quarter" idx="11"/>
          </p:nvPr>
        </p:nvSpPr>
        <p:spPr>
          <a:xfrm>
            <a:off x="3352800" y="6477000"/>
            <a:ext cx="2895600" cy="381000"/>
          </a:xfrm>
          <a:prstGeom prst="rect">
            <a:avLst/>
          </a:prstGeom>
        </p:spPr>
        <p:txBody>
          <a:bodyPr/>
          <a:lstStyle>
            <a:lvl1pPr>
              <a:defRPr/>
            </a:lvl1pPr>
          </a:lstStyle>
          <a:p>
            <a:pPr>
              <a:defRPr/>
            </a:pPr>
            <a:r>
              <a:rPr lang="en-US"/>
              <a:t>Data Mining: Concepts and Techniques</a:t>
            </a:r>
          </a:p>
        </p:txBody>
      </p:sp>
      <p:sp>
        <p:nvSpPr>
          <p:cNvPr id="6" name="Rectangle 2061"/>
          <p:cNvSpPr>
            <a:spLocks noGrp="1" noChangeArrowheads="1"/>
          </p:cNvSpPr>
          <p:nvPr>
            <p:ph type="sldNum" sz="quarter" idx="12"/>
          </p:nvPr>
        </p:nvSpPr>
        <p:spPr/>
        <p:txBody>
          <a:bodyPr/>
          <a:lstStyle>
            <a:lvl1pPr>
              <a:defRPr/>
            </a:lvl1pPr>
          </a:lstStyle>
          <a:p>
            <a:pPr>
              <a:defRPr/>
            </a:pPr>
            <a:fld id="{DDAC2F5F-1056-4B7B-9665-850087DA719B}" type="slidenum">
              <a:rPr lang="en-US"/>
              <a:pPr>
                <a:defRPr/>
              </a:pPr>
              <a:t>‹#›</a:t>
            </a:fld>
            <a:endParaRPr lang="en-US"/>
          </a:p>
        </p:txBody>
      </p:sp>
    </p:spTree>
  </p:cSld>
  <p:clrMapOvr>
    <a:masterClrMapping/>
  </p:clrMapOvr>
  <p:transition spd="med">
    <p:zo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81000" y="381000"/>
            <a:ext cx="8305800" cy="609600"/>
          </a:xfrm>
        </p:spPr>
        <p:txBody>
          <a:bodyPr/>
          <a:lstStyle/>
          <a:p>
            <a:r>
              <a:rPr lang="en-US"/>
              <a:t>Click to edit Master title style</a:t>
            </a:r>
          </a:p>
        </p:txBody>
      </p:sp>
      <p:sp>
        <p:nvSpPr>
          <p:cNvPr id="3" name="Text Placeholder 2"/>
          <p:cNvSpPr>
            <a:spLocks noGrp="1"/>
          </p:cNvSpPr>
          <p:nvPr>
            <p:ph type="body" sz="half" idx="1"/>
          </p:nvPr>
        </p:nvSpPr>
        <p:spPr>
          <a:xfrm>
            <a:off x="381000" y="1371600"/>
            <a:ext cx="4114800" cy="5105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371600"/>
            <a:ext cx="4114800" cy="5105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059"/>
          <p:cNvSpPr>
            <a:spLocks noGrp="1" noChangeArrowheads="1"/>
          </p:cNvSpPr>
          <p:nvPr>
            <p:ph type="dt" sz="half" idx="10"/>
          </p:nvPr>
        </p:nvSpPr>
        <p:spPr>
          <a:xfrm>
            <a:off x="304800" y="6477000"/>
            <a:ext cx="1905000" cy="381000"/>
          </a:xfrm>
          <a:prstGeom prst="rect">
            <a:avLst/>
          </a:prstGeom>
        </p:spPr>
        <p:txBody>
          <a:bodyPr/>
          <a:lstStyle>
            <a:lvl1pPr>
              <a:defRPr/>
            </a:lvl1pPr>
          </a:lstStyle>
          <a:p>
            <a:pPr>
              <a:defRPr/>
            </a:pPr>
            <a:fld id="{257DCBB0-D710-4675-8B00-A91C3D7133CB}" type="datetime4">
              <a:rPr lang="en-US"/>
              <a:pPr>
                <a:defRPr/>
              </a:pPr>
              <a:t>December 3, 2024</a:t>
            </a:fld>
            <a:endParaRPr lang="en-US"/>
          </a:p>
        </p:txBody>
      </p:sp>
      <p:sp>
        <p:nvSpPr>
          <p:cNvPr id="6" name="Rectangle 2060"/>
          <p:cNvSpPr>
            <a:spLocks noGrp="1" noChangeArrowheads="1"/>
          </p:cNvSpPr>
          <p:nvPr>
            <p:ph type="ftr" sz="quarter" idx="11"/>
          </p:nvPr>
        </p:nvSpPr>
        <p:spPr>
          <a:xfrm>
            <a:off x="3352800" y="6477000"/>
            <a:ext cx="2895600" cy="381000"/>
          </a:xfrm>
          <a:prstGeom prst="rect">
            <a:avLst/>
          </a:prstGeom>
        </p:spPr>
        <p:txBody>
          <a:bodyPr/>
          <a:lstStyle>
            <a:lvl1pPr>
              <a:defRPr/>
            </a:lvl1pPr>
          </a:lstStyle>
          <a:p>
            <a:pPr>
              <a:defRPr/>
            </a:pPr>
            <a:r>
              <a:rPr lang="en-US"/>
              <a:t>Data Mining: Concepts and Techniques</a:t>
            </a:r>
          </a:p>
        </p:txBody>
      </p:sp>
      <p:sp>
        <p:nvSpPr>
          <p:cNvPr id="7" name="Rectangle 2061"/>
          <p:cNvSpPr>
            <a:spLocks noGrp="1" noChangeArrowheads="1"/>
          </p:cNvSpPr>
          <p:nvPr>
            <p:ph type="sldNum" sz="quarter" idx="12"/>
          </p:nvPr>
        </p:nvSpPr>
        <p:spPr/>
        <p:txBody>
          <a:bodyPr/>
          <a:lstStyle>
            <a:lvl1pPr>
              <a:defRPr/>
            </a:lvl1pPr>
          </a:lstStyle>
          <a:p>
            <a:pPr>
              <a:defRPr/>
            </a:pPr>
            <a:fld id="{394B74CC-34BE-4F12-9F30-795EE597768A}" type="slidenum">
              <a:rPr lang="en-US"/>
              <a:pPr>
                <a:defRPr/>
              </a:pPr>
              <a:t>‹#›</a:t>
            </a:fld>
            <a:endParaRPr lang="en-US"/>
          </a:p>
        </p:txBody>
      </p:sp>
    </p:spTree>
  </p:cSld>
  <p:clrMapOvr>
    <a:masterClrMapping/>
  </p:clrMapOvr>
  <p:transition spd="med">
    <p:zo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381000" y="381000"/>
            <a:ext cx="8305800" cy="609600"/>
          </a:xfrm>
        </p:spPr>
        <p:txBody>
          <a:bodyPr/>
          <a:lstStyle/>
          <a:p>
            <a:r>
              <a:rPr lang="en-US"/>
              <a:t>Click to edit Master title style</a:t>
            </a:r>
          </a:p>
        </p:txBody>
      </p:sp>
      <p:sp>
        <p:nvSpPr>
          <p:cNvPr id="3" name="Text Placeholder 2"/>
          <p:cNvSpPr>
            <a:spLocks noGrp="1"/>
          </p:cNvSpPr>
          <p:nvPr>
            <p:ph type="body" sz="half" idx="1"/>
          </p:nvPr>
        </p:nvSpPr>
        <p:spPr>
          <a:xfrm>
            <a:off x="381000" y="1371600"/>
            <a:ext cx="4114800" cy="5105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371600"/>
            <a:ext cx="4114800" cy="2476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4000500"/>
            <a:ext cx="4114800" cy="2476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2059"/>
          <p:cNvSpPr>
            <a:spLocks noGrp="1" noChangeArrowheads="1"/>
          </p:cNvSpPr>
          <p:nvPr>
            <p:ph type="dt" sz="half" idx="10"/>
          </p:nvPr>
        </p:nvSpPr>
        <p:spPr>
          <a:xfrm>
            <a:off x="304800" y="6477000"/>
            <a:ext cx="1905000" cy="381000"/>
          </a:xfrm>
          <a:prstGeom prst="rect">
            <a:avLst/>
          </a:prstGeom>
        </p:spPr>
        <p:txBody>
          <a:bodyPr/>
          <a:lstStyle>
            <a:lvl1pPr>
              <a:defRPr/>
            </a:lvl1pPr>
          </a:lstStyle>
          <a:p>
            <a:pPr>
              <a:defRPr/>
            </a:pPr>
            <a:fld id="{8AE3221F-E7A3-4DB4-99FB-185BDEE736EC}" type="datetime4">
              <a:rPr lang="en-US"/>
              <a:pPr>
                <a:defRPr/>
              </a:pPr>
              <a:t>December 3, 2024</a:t>
            </a:fld>
            <a:endParaRPr lang="en-US"/>
          </a:p>
        </p:txBody>
      </p:sp>
      <p:sp>
        <p:nvSpPr>
          <p:cNvPr id="7" name="Rectangle 2060"/>
          <p:cNvSpPr>
            <a:spLocks noGrp="1" noChangeArrowheads="1"/>
          </p:cNvSpPr>
          <p:nvPr>
            <p:ph type="ftr" sz="quarter" idx="11"/>
          </p:nvPr>
        </p:nvSpPr>
        <p:spPr>
          <a:xfrm>
            <a:off x="3352800" y="6477000"/>
            <a:ext cx="2895600" cy="381000"/>
          </a:xfrm>
          <a:prstGeom prst="rect">
            <a:avLst/>
          </a:prstGeom>
        </p:spPr>
        <p:txBody>
          <a:bodyPr/>
          <a:lstStyle>
            <a:lvl1pPr>
              <a:defRPr/>
            </a:lvl1pPr>
          </a:lstStyle>
          <a:p>
            <a:pPr>
              <a:defRPr/>
            </a:pPr>
            <a:r>
              <a:rPr lang="en-US"/>
              <a:t>Data Mining: Concepts and Techniques</a:t>
            </a:r>
          </a:p>
        </p:txBody>
      </p:sp>
      <p:sp>
        <p:nvSpPr>
          <p:cNvPr id="8" name="Rectangle 2061"/>
          <p:cNvSpPr>
            <a:spLocks noGrp="1" noChangeArrowheads="1"/>
          </p:cNvSpPr>
          <p:nvPr>
            <p:ph type="sldNum" sz="quarter" idx="12"/>
          </p:nvPr>
        </p:nvSpPr>
        <p:spPr/>
        <p:txBody>
          <a:bodyPr/>
          <a:lstStyle>
            <a:lvl1pPr>
              <a:defRPr/>
            </a:lvl1pPr>
          </a:lstStyle>
          <a:p>
            <a:pPr>
              <a:defRPr/>
            </a:pPr>
            <a:fld id="{A7300AF8-98A5-48C0-87EB-9DB7DE9BF2F8}" type="slidenum">
              <a:rPr lang="en-US"/>
              <a:pPr>
                <a:defRPr/>
              </a:pPr>
              <a:t>‹#›</a:t>
            </a:fld>
            <a:endParaRPr lang="en-US"/>
          </a:p>
        </p:txBody>
      </p:sp>
    </p:spTree>
  </p:cSld>
  <p:clrMapOvr>
    <a:masterClrMapping/>
  </p:clrMapOvr>
  <p:transition spd="med">
    <p:zo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056"/>
          <p:cNvSpPr>
            <a:spLocks noChangeArrowheads="1"/>
          </p:cNvSpPr>
          <p:nvPr/>
        </p:nvSpPr>
        <p:spPr bwMode="gray">
          <a:xfrm>
            <a:off x="381000" y="1219200"/>
            <a:ext cx="8410575" cy="46038"/>
          </a:xfrm>
          <a:prstGeom prst="rect">
            <a:avLst/>
          </a:prstGeom>
          <a:gradFill rotWithShape="0">
            <a:gsLst>
              <a:gs pos="0">
                <a:schemeClr val="accent1">
                  <a:alpha val="50000"/>
                </a:schemeClr>
              </a:gs>
              <a:gs pos="100000">
                <a:schemeClr val="folHlink">
                  <a:alpha val="50000"/>
                </a:schemeClr>
              </a:gs>
            </a:gsLst>
            <a:lin ang="0" scaled="1"/>
          </a:gradFill>
          <a:ln w="9525">
            <a:noFill/>
            <a:miter lim="800000"/>
            <a:headEnd/>
            <a:tailEnd/>
          </a:ln>
        </p:spPr>
        <p:txBody>
          <a:bodyPr wrap="none" anchor="ctr"/>
          <a:lstStyle/>
          <a:p>
            <a:pPr algn="ctr"/>
            <a:endParaRPr kumimoji="1" lang="en-US"/>
          </a:p>
        </p:txBody>
      </p:sp>
      <p:sp>
        <p:nvSpPr>
          <p:cNvPr id="1027" name="Rectangle 2057"/>
          <p:cNvSpPr>
            <a:spLocks noGrp="1" noChangeArrowheads="1"/>
          </p:cNvSpPr>
          <p:nvPr>
            <p:ph type="title"/>
          </p:nvPr>
        </p:nvSpPr>
        <p:spPr bwMode="auto">
          <a:xfrm>
            <a:off x="381000" y="381000"/>
            <a:ext cx="8305800" cy="609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a:t>Click to edit Master title style</a:t>
            </a:r>
          </a:p>
        </p:txBody>
      </p:sp>
      <p:sp>
        <p:nvSpPr>
          <p:cNvPr id="1028" name="Rectangle 2058"/>
          <p:cNvSpPr>
            <a:spLocks noGrp="1" noChangeArrowheads="1"/>
          </p:cNvSpPr>
          <p:nvPr>
            <p:ph type="body" idx="1"/>
          </p:nvPr>
        </p:nvSpPr>
        <p:spPr bwMode="auto">
          <a:xfrm>
            <a:off x="381000" y="1371600"/>
            <a:ext cx="8382000" cy="5105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28781" name="Rectangle 2061"/>
          <p:cNvSpPr>
            <a:spLocks noGrp="1" noChangeArrowheads="1"/>
          </p:cNvSpPr>
          <p:nvPr>
            <p:ph type="sldNum" sz="quarter" idx="4"/>
          </p:nvPr>
        </p:nvSpPr>
        <p:spPr bwMode="auto">
          <a:xfrm>
            <a:off x="7239000" y="6477000"/>
            <a:ext cx="1905000" cy="3810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704D5BCC-3A31-42F1-88F4-E37350743F5A}"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18" r:id="rId1"/>
    <p:sldLayoutId id="2147483717" r:id="rId2"/>
    <p:sldLayoutId id="2147483719" r:id="rId3"/>
    <p:sldLayoutId id="2147483720" r:id="rId4"/>
    <p:sldLayoutId id="2147483721" r:id="rId5"/>
    <p:sldLayoutId id="2147483722" r:id="rId6"/>
    <p:sldLayoutId id="2147483723" r:id="rId7"/>
    <p:sldLayoutId id="2147483724" r:id="rId8"/>
    <p:sldLayoutId id="2147483725" r:id="rId9"/>
    <p:sldLayoutId id="2147483726" r:id="rId10"/>
    <p:sldLayoutId id="2147483727" r:id="rId11"/>
    <p:sldLayoutId id="2147483728" r:id="rId12"/>
    <p:sldLayoutId id="2147483729" r:id="rId13"/>
  </p:sldLayoutIdLst>
  <p:transition spd="med">
    <p:zoom/>
  </p:transition>
  <p:hf hdr="0"/>
  <p:txStyles>
    <p:titleStyle>
      <a:lvl1pPr algn="ctr" rtl="0" eaLnBrk="0" fontAlgn="base" hangingPunct="0">
        <a:spcBef>
          <a:spcPct val="0"/>
        </a:spcBef>
        <a:spcAft>
          <a:spcPct val="0"/>
        </a:spcAft>
        <a:defRPr sz="3600">
          <a:solidFill>
            <a:schemeClr val="tx2"/>
          </a:solidFill>
          <a:latin typeface="+mj-lt"/>
          <a:ea typeface="+mj-ea"/>
          <a:cs typeface="+mj-cs"/>
        </a:defRPr>
      </a:lvl1pPr>
      <a:lvl2pPr algn="ctr" rtl="0" eaLnBrk="0" fontAlgn="base" hangingPunct="0">
        <a:spcBef>
          <a:spcPct val="0"/>
        </a:spcBef>
        <a:spcAft>
          <a:spcPct val="0"/>
        </a:spcAft>
        <a:defRPr sz="3600">
          <a:solidFill>
            <a:schemeClr val="tx2"/>
          </a:solidFill>
          <a:latin typeface="Berlin Sans FB Demi" pitchFamily="34" charset="0"/>
        </a:defRPr>
      </a:lvl2pPr>
      <a:lvl3pPr algn="ctr" rtl="0" eaLnBrk="0" fontAlgn="base" hangingPunct="0">
        <a:spcBef>
          <a:spcPct val="0"/>
        </a:spcBef>
        <a:spcAft>
          <a:spcPct val="0"/>
        </a:spcAft>
        <a:defRPr sz="3600">
          <a:solidFill>
            <a:schemeClr val="tx2"/>
          </a:solidFill>
          <a:latin typeface="Berlin Sans FB Demi" pitchFamily="34" charset="0"/>
        </a:defRPr>
      </a:lvl3pPr>
      <a:lvl4pPr algn="ctr" rtl="0" eaLnBrk="0" fontAlgn="base" hangingPunct="0">
        <a:spcBef>
          <a:spcPct val="0"/>
        </a:spcBef>
        <a:spcAft>
          <a:spcPct val="0"/>
        </a:spcAft>
        <a:defRPr sz="3600">
          <a:solidFill>
            <a:schemeClr val="tx2"/>
          </a:solidFill>
          <a:latin typeface="Berlin Sans FB Demi" pitchFamily="34" charset="0"/>
        </a:defRPr>
      </a:lvl4pPr>
      <a:lvl5pPr algn="ctr" rtl="0" eaLnBrk="0" fontAlgn="base" hangingPunct="0">
        <a:spcBef>
          <a:spcPct val="0"/>
        </a:spcBef>
        <a:spcAft>
          <a:spcPct val="0"/>
        </a:spcAft>
        <a:defRPr sz="3600">
          <a:solidFill>
            <a:schemeClr val="tx2"/>
          </a:solidFill>
          <a:latin typeface="Berlin Sans FB Demi" pitchFamily="34" charset="0"/>
        </a:defRPr>
      </a:lvl5pPr>
      <a:lvl6pPr marL="457200" algn="ctr" rtl="0" fontAlgn="base">
        <a:spcBef>
          <a:spcPct val="0"/>
        </a:spcBef>
        <a:spcAft>
          <a:spcPct val="0"/>
        </a:spcAft>
        <a:defRPr sz="3600">
          <a:solidFill>
            <a:schemeClr val="tx2"/>
          </a:solidFill>
          <a:latin typeface="Berlin Sans FB Demi" pitchFamily="34" charset="0"/>
        </a:defRPr>
      </a:lvl6pPr>
      <a:lvl7pPr marL="914400" algn="ctr" rtl="0" fontAlgn="base">
        <a:spcBef>
          <a:spcPct val="0"/>
        </a:spcBef>
        <a:spcAft>
          <a:spcPct val="0"/>
        </a:spcAft>
        <a:defRPr sz="3600">
          <a:solidFill>
            <a:schemeClr val="tx2"/>
          </a:solidFill>
          <a:latin typeface="Berlin Sans FB Demi" pitchFamily="34" charset="0"/>
        </a:defRPr>
      </a:lvl7pPr>
      <a:lvl8pPr marL="1371600" algn="ctr" rtl="0" fontAlgn="base">
        <a:spcBef>
          <a:spcPct val="0"/>
        </a:spcBef>
        <a:spcAft>
          <a:spcPct val="0"/>
        </a:spcAft>
        <a:defRPr sz="3600">
          <a:solidFill>
            <a:schemeClr val="tx2"/>
          </a:solidFill>
          <a:latin typeface="Berlin Sans FB Demi" pitchFamily="34" charset="0"/>
        </a:defRPr>
      </a:lvl8pPr>
      <a:lvl9pPr marL="1828800" algn="ctr" rtl="0" fontAlgn="base">
        <a:spcBef>
          <a:spcPct val="0"/>
        </a:spcBef>
        <a:spcAft>
          <a:spcPct val="0"/>
        </a:spcAft>
        <a:defRPr sz="3600">
          <a:solidFill>
            <a:schemeClr val="tx2"/>
          </a:solidFill>
          <a:latin typeface="Berlin Sans FB Demi" pitchFamily="34" charset="0"/>
        </a:defRPr>
      </a:lvl9pPr>
    </p:titleStyle>
    <p:bodyStyle>
      <a:lvl1pPr marL="342900" indent="-342900" algn="l" rtl="0" eaLnBrk="0" fontAlgn="base" hangingPunct="0">
        <a:spcBef>
          <a:spcPct val="20000"/>
        </a:spcBef>
        <a:spcAft>
          <a:spcPct val="0"/>
        </a:spcAft>
        <a:buClr>
          <a:schemeClr val="folHlink"/>
        </a:buClr>
        <a:buSzPct val="60000"/>
        <a:buFont typeface="Wingdings"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19.wmf"/><Relationship Id="rId3" Type="http://schemas.openxmlformats.org/officeDocument/2006/relationships/oleObject" Target="../embeddings/oleObject2.bin"/><Relationship Id="rId7" Type="http://schemas.openxmlformats.org/officeDocument/2006/relationships/oleObject" Target="../embeddings/oleObject4.bin"/><Relationship Id="rId2" Type="http://schemas.openxmlformats.org/officeDocument/2006/relationships/notesSlide" Target="../notesSlides/notesSlide15.xml"/><Relationship Id="rId1" Type="http://schemas.openxmlformats.org/officeDocument/2006/relationships/slideLayout" Target="../slideLayouts/slideLayout13.xml"/><Relationship Id="rId6" Type="http://schemas.openxmlformats.org/officeDocument/2006/relationships/image" Target="../media/image18.wmf"/><Relationship Id="rId5" Type="http://schemas.openxmlformats.org/officeDocument/2006/relationships/oleObject" Target="../embeddings/oleObject3.bin"/><Relationship Id="rId4" Type="http://schemas.openxmlformats.org/officeDocument/2006/relationships/image" Target="../media/image17.wm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3"/>
          <p:cNvSpPr>
            <a:spLocks noGrp="1"/>
          </p:cNvSpPr>
          <p:nvPr>
            <p:ph type="sldNum" sz="quarter" idx="12"/>
          </p:nvPr>
        </p:nvSpPr>
        <p:spPr>
          <a:noFill/>
        </p:spPr>
        <p:txBody>
          <a:bodyPr/>
          <a:lstStyle/>
          <a:p>
            <a:fld id="{098EE9F9-90D9-406A-B5F1-C162094B9490}" type="slidenum">
              <a:rPr lang="en-US" smtClean="0"/>
              <a:pPr/>
              <a:t>1</a:t>
            </a:fld>
            <a:endParaRPr lang="en-US"/>
          </a:p>
        </p:txBody>
      </p:sp>
      <p:sp>
        <p:nvSpPr>
          <p:cNvPr id="14339" name="Slide Number Placeholder 5"/>
          <p:cNvSpPr txBox="1">
            <a:spLocks noGrp="1"/>
          </p:cNvSpPr>
          <p:nvPr/>
        </p:nvSpPr>
        <p:spPr bwMode="auto">
          <a:xfrm>
            <a:off x="7239000" y="6400800"/>
            <a:ext cx="1905000" cy="457200"/>
          </a:xfrm>
          <a:prstGeom prst="rect">
            <a:avLst/>
          </a:prstGeom>
          <a:noFill/>
          <a:ln w="9525">
            <a:noFill/>
            <a:miter lim="800000"/>
            <a:headEnd/>
            <a:tailEnd/>
          </a:ln>
        </p:spPr>
        <p:txBody>
          <a:bodyPr anchor="b"/>
          <a:lstStyle/>
          <a:p>
            <a:pPr algn="r"/>
            <a:fld id="{F6E94FE2-8F88-47D8-84C1-D97594B42C21}" type="slidenum">
              <a:rPr lang="zh-CN" altLang="en-US" sz="1200">
                <a:ea typeface="SimSun" pitchFamily="2" charset="-122"/>
              </a:rPr>
              <a:pPr algn="r"/>
              <a:t>1</a:t>
            </a:fld>
            <a:endParaRPr lang="en-US" altLang="zh-CN" sz="1200">
              <a:ea typeface="SimSun" pitchFamily="2" charset="-122"/>
            </a:endParaRPr>
          </a:p>
        </p:txBody>
      </p:sp>
      <p:sp>
        <p:nvSpPr>
          <p:cNvPr id="14340" name="Rectangle 2"/>
          <p:cNvSpPr>
            <a:spLocks noGrp="1" noChangeArrowheads="1"/>
          </p:cNvSpPr>
          <p:nvPr>
            <p:ph type="title" idx="4294967295"/>
          </p:nvPr>
        </p:nvSpPr>
        <p:spPr>
          <a:xfrm>
            <a:off x="533400" y="152400"/>
            <a:ext cx="8077200" cy="3886200"/>
          </a:xfrm>
        </p:spPr>
        <p:txBody>
          <a:bodyPr/>
          <a:lstStyle/>
          <a:p>
            <a:pPr eaLnBrk="1" hangingPunct="1"/>
            <a:r>
              <a:rPr lang="en-US" sz="6000"/>
              <a:t>Data Mining: </a:t>
            </a:r>
            <a:br>
              <a:rPr lang="en-US" sz="6000"/>
            </a:br>
            <a:r>
              <a:rPr lang="en-US" sz="6000"/>
              <a:t> </a:t>
            </a:r>
            <a:r>
              <a:rPr lang="en-US" sz="4800"/>
              <a:t>Concepts and Techniques</a:t>
            </a:r>
            <a:br>
              <a:rPr lang="en-US" sz="4800"/>
            </a:br>
            <a:r>
              <a:rPr lang="en-US" sz="4800"/>
              <a:t> </a:t>
            </a:r>
            <a:r>
              <a:rPr lang="en-US" sz="2800"/>
              <a:t>(3</a:t>
            </a:r>
            <a:r>
              <a:rPr lang="en-US" sz="2800" baseline="30000"/>
              <a:t>rd</a:t>
            </a:r>
            <a:r>
              <a:rPr lang="en-US" sz="2800"/>
              <a:t> ed.)</a:t>
            </a:r>
            <a:br>
              <a:rPr lang="en-US" sz="4800"/>
            </a:br>
            <a:br>
              <a:rPr lang="en-US" sz="4800"/>
            </a:br>
            <a:r>
              <a:rPr lang="en-US" sz="3200"/>
              <a:t>— Chapter 6</a:t>
            </a:r>
            <a:r>
              <a:rPr lang="en-US" sz="2800"/>
              <a:t> —</a:t>
            </a:r>
          </a:p>
        </p:txBody>
      </p:sp>
      <p:sp>
        <p:nvSpPr>
          <p:cNvPr id="14341" name="Rectangle 3"/>
          <p:cNvSpPr>
            <a:spLocks noGrp="1" noChangeArrowheads="1"/>
          </p:cNvSpPr>
          <p:nvPr>
            <p:ph type="body" idx="4294967295"/>
          </p:nvPr>
        </p:nvSpPr>
        <p:spPr>
          <a:xfrm>
            <a:off x="304800" y="4419600"/>
            <a:ext cx="8610600" cy="1905000"/>
          </a:xfrm>
        </p:spPr>
        <p:txBody>
          <a:bodyPr/>
          <a:lstStyle/>
          <a:p>
            <a:pPr algn="ctr" eaLnBrk="1" hangingPunct="1">
              <a:lnSpc>
                <a:spcPct val="110000"/>
              </a:lnSpc>
              <a:buFont typeface="Wingdings" pitchFamily="2" charset="2"/>
              <a:buNone/>
            </a:pPr>
            <a:r>
              <a:rPr lang="en-US" sz="2400"/>
              <a:t>Jiawei Han, Micheline Kamber, and Jian Pei</a:t>
            </a:r>
          </a:p>
          <a:p>
            <a:pPr algn="ctr" eaLnBrk="1" hangingPunct="1">
              <a:lnSpc>
                <a:spcPct val="110000"/>
              </a:lnSpc>
              <a:buFont typeface="Wingdings" pitchFamily="2" charset="2"/>
              <a:buNone/>
            </a:pPr>
            <a:r>
              <a:rPr lang="en-US" sz="2400"/>
              <a:t>University of Illinois at Urbana-Champaign &amp;</a:t>
            </a:r>
          </a:p>
          <a:p>
            <a:pPr algn="ctr" eaLnBrk="1" hangingPunct="1">
              <a:lnSpc>
                <a:spcPct val="110000"/>
              </a:lnSpc>
              <a:buFont typeface="Wingdings" pitchFamily="2" charset="2"/>
              <a:buNone/>
            </a:pPr>
            <a:r>
              <a:rPr lang="en-US" sz="2400"/>
              <a:t>Simon Fraser University</a:t>
            </a:r>
          </a:p>
          <a:p>
            <a:pPr algn="ctr" eaLnBrk="1" hangingPunct="1">
              <a:lnSpc>
                <a:spcPct val="110000"/>
              </a:lnSpc>
              <a:buFont typeface="Wingdings" pitchFamily="2" charset="2"/>
              <a:buNone/>
            </a:pPr>
            <a:r>
              <a:rPr lang="en-US" sz="2400"/>
              <a:t>©2011 Han, Kamber &amp; Pei.  All rights reserved.</a:t>
            </a:r>
          </a:p>
        </p:txBody>
      </p:sp>
    </p:spTree>
  </p:cSld>
  <p:clrMapOvr>
    <a:masterClrMapping/>
  </p:clrMapOvr>
  <p:transition spd="med">
    <p:zo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6"/>
          <p:cNvSpPr>
            <a:spLocks noGrp="1"/>
          </p:cNvSpPr>
          <p:nvPr>
            <p:ph type="sldNum" sz="quarter" idx="12"/>
          </p:nvPr>
        </p:nvSpPr>
        <p:spPr>
          <a:noFill/>
        </p:spPr>
        <p:txBody>
          <a:bodyPr/>
          <a:lstStyle/>
          <a:p>
            <a:fld id="{196D3626-8C25-49B1-8611-0D5D0291549D}" type="slidenum">
              <a:rPr lang="en-US" smtClean="0"/>
              <a:pPr/>
              <a:t>2</a:t>
            </a:fld>
            <a:endParaRPr lang="en-US"/>
          </a:p>
        </p:txBody>
      </p:sp>
      <p:sp>
        <p:nvSpPr>
          <p:cNvPr id="15363" name="Rectangle 2"/>
          <p:cNvSpPr>
            <a:spLocks noGrp="1" noChangeArrowheads="1"/>
          </p:cNvSpPr>
          <p:nvPr>
            <p:ph type="title"/>
          </p:nvPr>
        </p:nvSpPr>
        <p:spPr>
          <a:xfrm>
            <a:off x="0" y="228600"/>
            <a:ext cx="9144000" cy="838200"/>
          </a:xfrm>
          <a:noFill/>
        </p:spPr>
        <p:txBody>
          <a:bodyPr lIns="92075" tIns="46038" rIns="92075" bIns="46038" anchor="ctr"/>
          <a:lstStyle/>
          <a:p>
            <a:pPr eaLnBrk="1" hangingPunct="1"/>
            <a:r>
              <a:rPr lang="en-US" sz="3200"/>
              <a:t>Chapter 5: Mining Frequent Patterns, Association and Correlations: Basic Concepts and Methods</a:t>
            </a:r>
          </a:p>
        </p:txBody>
      </p:sp>
      <p:sp>
        <p:nvSpPr>
          <p:cNvPr id="15364" name="Rectangle 3"/>
          <p:cNvSpPr>
            <a:spLocks noGrp="1" noChangeArrowheads="1"/>
          </p:cNvSpPr>
          <p:nvPr>
            <p:ph type="body" sz="half" idx="1"/>
          </p:nvPr>
        </p:nvSpPr>
        <p:spPr>
          <a:xfrm>
            <a:off x="457200" y="1371600"/>
            <a:ext cx="8458200" cy="5105400"/>
          </a:xfrm>
          <a:noFill/>
        </p:spPr>
        <p:txBody>
          <a:bodyPr lIns="92075" tIns="46038" rIns="92075" bIns="46038"/>
          <a:lstStyle/>
          <a:p>
            <a:pPr marL="457200" indent="-457200" eaLnBrk="1" hangingPunct="1">
              <a:lnSpc>
                <a:spcPct val="200000"/>
              </a:lnSpc>
              <a:buSzTx/>
            </a:pPr>
            <a:r>
              <a:rPr lang="en-US"/>
              <a:t>Basic Concepts</a:t>
            </a:r>
          </a:p>
          <a:p>
            <a:pPr marL="457200" indent="-457200" eaLnBrk="1" hangingPunct="1">
              <a:lnSpc>
                <a:spcPct val="200000"/>
              </a:lnSpc>
              <a:buSzTx/>
            </a:pPr>
            <a:r>
              <a:rPr lang="en-US"/>
              <a:t>Frequent Itemset Mining Methods </a:t>
            </a:r>
          </a:p>
          <a:p>
            <a:pPr marL="457200" indent="-457200" eaLnBrk="1" hangingPunct="1">
              <a:lnSpc>
                <a:spcPct val="200000"/>
              </a:lnSpc>
              <a:buSzTx/>
            </a:pPr>
            <a:r>
              <a:rPr lang="en-US"/>
              <a:t>Which Patterns Are Interesting?—Pattern Evaluation Methods</a:t>
            </a:r>
          </a:p>
          <a:p>
            <a:pPr marL="457200" indent="-457200" eaLnBrk="1" hangingPunct="1">
              <a:lnSpc>
                <a:spcPct val="200000"/>
              </a:lnSpc>
              <a:buSzTx/>
            </a:pPr>
            <a:r>
              <a:rPr lang="en-US"/>
              <a:t>Summary</a:t>
            </a:r>
          </a:p>
        </p:txBody>
      </p:sp>
      <p:sp>
        <p:nvSpPr>
          <p:cNvPr id="15365" name="AutoShape 4"/>
          <p:cNvSpPr>
            <a:spLocks noChangeArrowheads="1"/>
          </p:cNvSpPr>
          <p:nvPr/>
        </p:nvSpPr>
        <p:spPr bwMode="auto">
          <a:xfrm rot="-1053010">
            <a:off x="3657600" y="1593850"/>
            <a:ext cx="522288" cy="381000"/>
          </a:xfrm>
          <a:prstGeom prst="leftArrow">
            <a:avLst>
              <a:gd name="adj1" fmla="val 50000"/>
              <a:gd name="adj2" fmla="val 34271"/>
            </a:avLst>
          </a:prstGeom>
          <a:solidFill>
            <a:srgbClr val="00FF00"/>
          </a:solidFill>
          <a:ln w="9525">
            <a:solidFill>
              <a:schemeClr val="tx1"/>
            </a:solidFill>
            <a:miter lim="800000"/>
            <a:headEnd/>
            <a:tailEnd/>
          </a:ln>
        </p:spPr>
        <p:txBody>
          <a:bodyPr wrap="none" anchor="ctr"/>
          <a:lstStyle/>
          <a:p>
            <a:endParaRPr lang="en-US"/>
          </a:p>
        </p:txBody>
      </p:sp>
    </p:spTree>
  </p:cSld>
  <p:clrMapOvr>
    <a:masterClrMapping/>
  </p:clrMapOvr>
  <p:transition spd="med">
    <p:zo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5"/>
          <p:cNvSpPr>
            <a:spLocks noGrp="1"/>
          </p:cNvSpPr>
          <p:nvPr>
            <p:ph type="sldNum" sz="quarter" idx="10"/>
          </p:nvPr>
        </p:nvSpPr>
        <p:spPr>
          <a:noFill/>
        </p:spPr>
        <p:txBody>
          <a:bodyPr/>
          <a:lstStyle/>
          <a:p>
            <a:fld id="{BCBC2F24-A0C8-4762-8D1A-BDAE967E1D5A}" type="slidenum">
              <a:rPr lang="en-US" smtClean="0"/>
              <a:pPr/>
              <a:t>3</a:t>
            </a:fld>
            <a:endParaRPr lang="en-US"/>
          </a:p>
        </p:txBody>
      </p:sp>
      <p:sp>
        <p:nvSpPr>
          <p:cNvPr id="16387" name="Rectangle 2"/>
          <p:cNvSpPr>
            <a:spLocks noGrp="1" noChangeArrowheads="1"/>
          </p:cNvSpPr>
          <p:nvPr>
            <p:ph type="title"/>
          </p:nvPr>
        </p:nvSpPr>
        <p:spPr>
          <a:xfrm>
            <a:off x="914400" y="228600"/>
            <a:ext cx="7620000" cy="762000"/>
          </a:xfrm>
        </p:spPr>
        <p:txBody>
          <a:bodyPr/>
          <a:lstStyle/>
          <a:p>
            <a:pPr eaLnBrk="1" hangingPunct="1"/>
            <a:r>
              <a:rPr lang="en-US"/>
              <a:t>What Is Frequent Pattern Analysis?</a:t>
            </a:r>
          </a:p>
        </p:txBody>
      </p:sp>
      <p:sp>
        <p:nvSpPr>
          <p:cNvPr id="16388" name="Rectangle 3"/>
          <p:cNvSpPr>
            <a:spLocks noGrp="1" noChangeArrowheads="1"/>
          </p:cNvSpPr>
          <p:nvPr>
            <p:ph type="body" idx="1"/>
          </p:nvPr>
        </p:nvSpPr>
        <p:spPr>
          <a:xfrm>
            <a:off x="152400" y="1219200"/>
            <a:ext cx="8839200" cy="5181600"/>
          </a:xfrm>
        </p:spPr>
        <p:txBody>
          <a:bodyPr/>
          <a:lstStyle/>
          <a:p>
            <a:pPr eaLnBrk="1" hangingPunct="1">
              <a:lnSpc>
                <a:spcPct val="130000"/>
              </a:lnSpc>
            </a:pPr>
            <a:r>
              <a:rPr lang="en-US" sz="2000">
                <a:solidFill>
                  <a:schemeClr val="hlink"/>
                </a:solidFill>
              </a:rPr>
              <a:t>Frequent pattern</a:t>
            </a:r>
            <a:r>
              <a:rPr lang="en-US" sz="2000"/>
              <a:t>: a pattern (a set of items, subsequences, substructures, etc.) that occurs frequently in a data set </a:t>
            </a:r>
          </a:p>
          <a:p>
            <a:pPr eaLnBrk="1" hangingPunct="1">
              <a:lnSpc>
                <a:spcPct val="130000"/>
              </a:lnSpc>
              <a:buSzPct val="80000"/>
            </a:pPr>
            <a:r>
              <a:rPr lang="en-US" sz="2000"/>
              <a:t>First proposed by Agrawal, Imielinski, and Swami [AIS93] in the context of </a:t>
            </a:r>
            <a:r>
              <a:rPr lang="en-US" sz="2000">
                <a:solidFill>
                  <a:schemeClr val="hlink"/>
                </a:solidFill>
              </a:rPr>
              <a:t>frequent itemsets</a:t>
            </a:r>
            <a:r>
              <a:rPr lang="en-US" sz="2000"/>
              <a:t> and </a:t>
            </a:r>
            <a:r>
              <a:rPr lang="en-US" sz="2000">
                <a:solidFill>
                  <a:schemeClr val="hlink"/>
                </a:solidFill>
              </a:rPr>
              <a:t>association rule mining</a:t>
            </a:r>
          </a:p>
          <a:p>
            <a:pPr eaLnBrk="1" hangingPunct="1">
              <a:lnSpc>
                <a:spcPct val="130000"/>
              </a:lnSpc>
            </a:pPr>
            <a:r>
              <a:rPr lang="en-US" sz="2000"/>
              <a:t>Motivation: Finding inherent regularities in data</a:t>
            </a:r>
          </a:p>
          <a:p>
            <a:pPr lvl="1" eaLnBrk="1" hangingPunct="1">
              <a:lnSpc>
                <a:spcPct val="130000"/>
              </a:lnSpc>
            </a:pPr>
            <a:r>
              <a:rPr lang="en-US" sz="2000"/>
              <a:t>What products were often purchased together?— Beer and diapers?!</a:t>
            </a:r>
          </a:p>
          <a:p>
            <a:pPr lvl="1" eaLnBrk="1" hangingPunct="1">
              <a:lnSpc>
                <a:spcPct val="130000"/>
              </a:lnSpc>
            </a:pPr>
            <a:r>
              <a:rPr lang="en-US" sz="2000"/>
              <a:t>What are the subsequent purchases after buying a PC?</a:t>
            </a:r>
          </a:p>
          <a:p>
            <a:pPr lvl="1" eaLnBrk="1" hangingPunct="1">
              <a:lnSpc>
                <a:spcPct val="130000"/>
              </a:lnSpc>
            </a:pPr>
            <a:r>
              <a:rPr lang="en-US" sz="2000"/>
              <a:t>What kinds of DNA are sensitive to this new drug?</a:t>
            </a:r>
          </a:p>
          <a:p>
            <a:pPr lvl="1" eaLnBrk="1" hangingPunct="1">
              <a:lnSpc>
                <a:spcPct val="130000"/>
              </a:lnSpc>
            </a:pPr>
            <a:r>
              <a:rPr lang="en-US" sz="2000"/>
              <a:t>Can we automatically classify web documents?</a:t>
            </a:r>
          </a:p>
          <a:p>
            <a:pPr eaLnBrk="1" hangingPunct="1">
              <a:lnSpc>
                <a:spcPct val="130000"/>
              </a:lnSpc>
              <a:buSzPct val="80000"/>
            </a:pPr>
            <a:r>
              <a:rPr lang="en-US" sz="2000"/>
              <a:t>Applications</a:t>
            </a:r>
          </a:p>
          <a:p>
            <a:pPr lvl="1" eaLnBrk="1" hangingPunct="1">
              <a:lnSpc>
                <a:spcPct val="130000"/>
              </a:lnSpc>
              <a:buSzPct val="80000"/>
            </a:pPr>
            <a:r>
              <a:rPr lang="en-US" sz="2000"/>
              <a:t>Basket data analysis, cross-marketing, catalog design, sale campaign analysis, Web log (click stream) analysis, and DNA sequence analysis.</a:t>
            </a:r>
          </a:p>
        </p:txBody>
      </p:sp>
    </p:spTree>
  </p:cSld>
  <p:clrMapOvr>
    <a:masterClrMapping/>
  </p:clrMapOvr>
  <p:transition spd="med">
    <p:zo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5"/>
          <p:cNvSpPr>
            <a:spLocks noGrp="1"/>
          </p:cNvSpPr>
          <p:nvPr>
            <p:ph type="sldNum" sz="quarter" idx="10"/>
          </p:nvPr>
        </p:nvSpPr>
        <p:spPr>
          <a:noFill/>
        </p:spPr>
        <p:txBody>
          <a:bodyPr/>
          <a:lstStyle/>
          <a:p>
            <a:fld id="{EBA18ABA-30FF-4B93-B485-DED618ED5632}" type="slidenum">
              <a:rPr lang="en-US" smtClean="0"/>
              <a:pPr/>
              <a:t>4</a:t>
            </a:fld>
            <a:endParaRPr lang="en-US"/>
          </a:p>
        </p:txBody>
      </p:sp>
      <p:sp>
        <p:nvSpPr>
          <p:cNvPr id="17411" name="Rectangle 2"/>
          <p:cNvSpPr>
            <a:spLocks noGrp="1" noChangeArrowheads="1"/>
          </p:cNvSpPr>
          <p:nvPr>
            <p:ph type="title"/>
          </p:nvPr>
        </p:nvSpPr>
        <p:spPr>
          <a:xfrm>
            <a:off x="914400" y="304800"/>
            <a:ext cx="7620000" cy="685800"/>
          </a:xfrm>
        </p:spPr>
        <p:txBody>
          <a:bodyPr/>
          <a:lstStyle/>
          <a:p>
            <a:pPr eaLnBrk="1" hangingPunct="1"/>
            <a:r>
              <a:rPr lang="en-US" sz="3200"/>
              <a:t>Why Is Freq. Pattern Mining Important?</a:t>
            </a:r>
          </a:p>
        </p:txBody>
      </p:sp>
      <p:sp>
        <p:nvSpPr>
          <p:cNvPr id="17412" name="Rectangle 3"/>
          <p:cNvSpPr>
            <a:spLocks noGrp="1" noChangeArrowheads="1"/>
          </p:cNvSpPr>
          <p:nvPr>
            <p:ph type="body" idx="1"/>
          </p:nvPr>
        </p:nvSpPr>
        <p:spPr>
          <a:xfrm>
            <a:off x="304800" y="1371600"/>
            <a:ext cx="8534400" cy="5105400"/>
          </a:xfrm>
        </p:spPr>
        <p:txBody>
          <a:bodyPr/>
          <a:lstStyle/>
          <a:p>
            <a:pPr eaLnBrk="1" hangingPunct="1"/>
            <a:r>
              <a:rPr lang="en-US" dirty="0"/>
              <a:t>Freq. pattern: An intrinsic and important property of datasets </a:t>
            </a:r>
          </a:p>
          <a:p>
            <a:pPr eaLnBrk="1" hangingPunct="1"/>
            <a:r>
              <a:rPr lang="en-US" dirty="0"/>
              <a:t>Foundation for many essential data mining tasks</a:t>
            </a:r>
          </a:p>
          <a:p>
            <a:pPr lvl="1" eaLnBrk="1" hangingPunct="1"/>
            <a:r>
              <a:rPr lang="en-US" dirty="0"/>
              <a:t>Association, correlation</a:t>
            </a:r>
          </a:p>
          <a:p>
            <a:pPr lvl="1" eaLnBrk="1" hangingPunct="1"/>
            <a:r>
              <a:rPr lang="en-US" dirty="0"/>
              <a:t>Sequential, structural (e.g., sub-graph) patterns</a:t>
            </a:r>
          </a:p>
          <a:p>
            <a:pPr lvl="1" eaLnBrk="1" hangingPunct="1"/>
            <a:r>
              <a:rPr lang="en-US" dirty="0"/>
              <a:t>Pattern analysis in spatiotemporal, multimedia, time-series, and stream data </a:t>
            </a:r>
          </a:p>
          <a:p>
            <a:pPr lvl="1" eaLnBrk="1" hangingPunct="1"/>
            <a:r>
              <a:rPr lang="en-US" dirty="0"/>
              <a:t>Classification: discriminative, frequent pattern analysis</a:t>
            </a:r>
          </a:p>
          <a:p>
            <a:pPr lvl="1" eaLnBrk="1" hangingPunct="1"/>
            <a:r>
              <a:rPr lang="en-US" dirty="0"/>
              <a:t>Cluster analysis</a:t>
            </a:r>
            <a:r>
              <a:rPr lang="en-US" sz="2400" dirty="0"/>
              <a:t>: frequent pattern-based clustering</a:t>
            </a:r>
          </a:p>
        </p:txBody>
      </p:sp>
    </p:spTree>
  </p:cSld>
  <p:clrMapOvr>
    <a:masterClrMapping/>
  </p:clrMapOvr>
  <p:transition spd="med">
    <p:zoom/>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5"/>
          <p:cNvSpPr>
            <a:spLocks noGrp="1"/>
          </p:cNvSpPr>
          <p:nvPr>
            <p:ph type="sldNum" sz="quarter" idx="10"/>
          </p:nvPr>
        </p:nvSpPr>
        <p:spPr>
          <a:noFill/>
        </p:spPr>
        <p:txBody>
          <a:bodyPr/>
          <a:lstStyle/>
          <a:p>
            <a:fld id="{1339A477-C6EF-41FF-AF1A-9A284328F9A9}" type="slidenum">
              <a:rPr lang="en-US" smtClean="0"/>
              <a:pPr/>
              <a:t>5</a:t>
            </a:fld>
            <a:endParaRPr lang="en-US"/>
          </a:p>
        </p:txBody>
      </p:sp>
      <p:sp>
        <p:nvSpPr>
          <p:cNvPr id="18435" name="Rectangle 2"/>
          <p:cNvSpPr>
            <a:spLocks noGrp="1" noChangeArrowheads="1"/>
          </p:cNvSpPr>
          <p:nvPr>
            <p:ph type="title"/>
          </p:nvPr>
        </p:nvSpPr>
        <p:spPr>
          <a:xfrm>
            <a:off x="685800" y="228600"/>
            <a:ext cx="8001000" cy="762000"/>
          </a:xfrm>
        </p:spPr>
        <p:txBody>
          <a:bodyPr/>
          <a:lstStyle/>
          <a:p>
            <a:pPr eaLnBrk="1" hangingPunct="1"/>
            <a:r>
              <a:rPr lang="en-US"/>
              <a:t>Basic Concepts: Frequent Patterns</a:t>
            </a:r>
          </a:p>
        </p:txBody>
      </p:sp>
      <p:sp>
        <p:nvSpPr>
          <p:cNvPr id="18436" name="Rectangle 3"/>
          <p:cNvSpPr>
            <a:spLocks noGrp="1" noChangeArrowheads="1"/>
          </p:cNvSpPr>
          <p:nvPr>
            <p:ph type="body" idx="1"/>
          </p:nvPr>
        </p:nvSpPr>
        <p:spPr>
          <a:xfrm>
            <a:off x="4038600" y="1524000"/>
            <a:ext cx="4953000" cy="4953000"/>
          </a:xfrm>
        </p:spPr>
        <p:txBody>
          <a:bodyPr/>
          <a:lstStyle/>
          <a:p>
            <a:pPr eaLnBrk="1" hangingPunct="1">
              <a:lnSpc>
                <a:spcPct val="90000"/>
              </a:lnSpc>
            </a:pPr>
            <a:r>
              <a:rPr lang="en-US" sz="2400">
                <a:solidFill>
                  <a:schemeClr val="hlink"/>
                </a:solidFill>
              </a:rPr>
              <a:t>itemset</a:t>
            </a:r>
            <a:r>
              <a:rPr lang="en-US" sz="2400"/>
              <a:t>: A set of one or more items</a:t>
            </a:r>
          </a:p>
          <a:p>
            <a:pPr eaLnBrk="1" hangingPunct="1">
              <a:lnSpc>
                <a:spcPct val="90000"/>
              </a:lnSpc>
            </a:pPr>
            <a:r>
              <a:rPr lang="en-US" sz="2400">
                <a:solidFill>
                  <a:schemeClr val="hlink"/>
                </a:solidFill>
              </a:rPr>
              <a:t>k-itemset</a:t>
            </a:r>
            <a:r>
              <a:rPr lang="en-US" sz="2400"/>
              <a:t> X = {x</a:t>
            </a:r>
            <a:r>
              <a:rPr lang="en-US" sz="2400" baseline="-25000"/>
              <a:t>1</a:t>
            </a:r>
            <a:r>
              <a:rPr lang="en-US" sz="2400"/>
              <a:t>, …, x</a:t>
            </a:r>
            <a:r>
              <a:rPr lang="en-US" sz="2400" baseline="-25000"/>
              <a:t>k</a:t>
            </a:r>
            <a:r>
              <a:rPr lang="en-US" sz="2400"/>
              <a:t>}</a:t>
            </a:r>
          </a:p>
          <a:p>
            <a:pPr eaLnBrk="1" hangingPunct="1">
              <a:lnSpc>
                <a:spcPct val="90000"/>
              </a:lnSpc>
            </a:pPr>
            <a:r>
              <a:rPr lang="en-US" sz="2400" i="1">
                <a:solidFill>
                  <a:schemeClr val="hlink"/>
                </a:solidFill>
              </a:rPr>
              <a:t>(absolute) support</a:t>
            </a:r>
            <a:r>
              <a:rPr lang="en-US" sz="2400"/>
              <a:t>, or, </a:t>
            </a:r>
            <a:r>
              <a:rPr lang="en-US" sz="2400" i="1">
                <a:solidFill>
                  <a:schemeClr val="hlink"/>
                </a:solidFill>
              </a:rPr>
              <a:t>support count</a:t>
            </a:r>
            <a:r>
              <a:rPr lang="en-US" sz="2400"/>
              <a:t> of X: Frequency or occurrence of an itemset X</a:t>
            </a:r>
          </a:p>
          <a:p>
            <a:pPr eaLnBrk="1" hangingPunct="1">
              <a:lnSpc>
                <a:spcPct val="90000"/>
              </a:lnSpc>
            </a:pPr>
            <a:r>
              <a:rPr lang="en-US" sz="2400" i="1">
                <a:solidFill>
                  <a:schemeClr val="hlink"/>
                </a:solidFill>
              </a:rPr>
              <a:t>(relative)</a:t>
            </a:r>
            <a:r>
              <a:rPr lang="en-US" sz="2400"/>
              <a:t> </a:t>
            </a:r>
            <a:r>
              <a:rPr lang="en-US" sz="2400" i="1">
                <a:solidFill>
                  <a:schemeClr val="hlink"/>
                </a:solidFill>
                <a:sym typeface="Symbol" pitchFamily="18" charset="2"/>
              </a:rPr>
              <a:t>support</a:t>
            </a:r>
            <a:r>
              <a:rPr lang="en-US" sz="2400">
                <a:sym typeface="Symbol" pitchFamily="18" charset="2"/>
              </a:rPr>
              <a:t>, </a:t>
            </a:r>
            <a:r>
              <a:rPr lang="en-US" sz="2400" i="1">
                <a:sym typeface="Symbol" pitchFamily="18" charset="2"/>
              </a:rPr>
              <a:t>s</a:t>
            </a:r>
            <a:r>
              <a:rPr lang="en-US" sz="2400">
                <a:sym typeface="Symbol" pitchFamily="18" charset="2"/>
              </a:rPr>
              <a:t>, is the fraction of transactions that contains X (i.e., the </a:t>
            </a:r>
            <a:r>
              <a:rPr lang="en-US" sz="2400">
                <a:solidFill>
                  <a:schemeClr val="tx2"/>
                </a:solidFill>
                <a:sym typeface="Symbol" pitchFamily="18" charset="2"/>
              </a:rPr>
              <a:t>probability</a:t>
            </a:r>
            <a:r>
              <a:rPr lang="en-US" sz="2400">
                <a:sym typeface="Symbol" pitchFamily="18" charset="2"/>
              </a:rPr>
              <a:t> that a transaction contains X)</a:t>
            </a:r>
          </a:p>
          <a:p>
            <a:pPr eaLnBrk="1" hangingPunct="1">
              <a:lnSpc>
                <a:spcPct val="90000"/>
              </a:lnSpc>
            </a:pPr>
            <a:r>
              <a:rPr lang="en-US" sz="2400">
                <a:sym typeface="Symbol" pitchFamily="18" charset="2"/>
              </a:rPr>
              <a:t>An itemset X is </a:t>
            </a:r>
            <a:r>
              <a:rPr lang="en-US" sz="2400" i="1">
                <a:solidFill>
                  <a:schemeClr val="hlink"/>
                </a:solidFill>
                <a:sym typeface="Symbol" pitchFamily="18" charset="2"/>
              </a:rPr>
              <a:t>frequent</a:t>
            </a:r>
            <a:r>
              <a:rPr lang="en-US" sz="2400">
                <a:sym typeface="Symbol" pitchFamily="18" charset="2"/>
              </a:rPr>
              <a:t> if X’s support is no less than a </a:t>
            </a:r>
            <a:r>
              <a:rPr lang="en-US" sz="2400" i="1">
                <a:sym typeface="Symbol" pitchFamily="18" charset="2"/>
              </a:rPr>
              <a:t>minsup</a:t>
            </a:r>
            <a:r>
              <a:rPr lang="en-US" sz="2400">
                <a:sym typeface="Symbol" pitchFamily="18" charset="2"/>
              </a:rPr>
              <a:t> threshold</a:t>
            </a:r>
          </a:p>
        </p:txBody>
      </p:sp>
      <p:grpSp>
        <p:nvGrpSpPr>
          <p:cNvPr id="18437" name="Group 5"/>
          <p:cNvGrpSpPr>
            <a:grpSpLocks/>
          </p:cNvGrpSpPr>
          <p:nvPr/>
        </p:nvGrpSpPr>
        <p:grpSpPr bwMode="auto">
          <a:xfrm>
            <a:off x="152400" y="3810000"/>
            <a:ext cx="3886200" cy="2630488"/>
            <a:chOff x="192" y="2400"/>
            <a:chExt cx="2448" cy="1657"/>
          </a:xfrm>
        </p:grpSpPr>
        <p:sp>
          <p:nvSpPr>
            <p:cNvPr id="18461" name="Oval 6"/>
            <p:cNvSpPr>
              <a:spLocks noChangeArrowheads="1"/>
            </p:cNvSpPr>
            <p:nvPr/>
          </p:nvSpPr>
          <p:spPr bwMode="auto">
            <a:xfrm>
              <a:off x="384" y="2736"/>
              <a:ext cx="1200" cy="864"/>
            </a:xfrm>
            <a:prstGeom prst="ellipse">
              <a:avLst/>
            </a:prstGeom>
            <a:solidFill>
              <a:srgbClr val="FFFF00"/>
            </a:solidFill>
            <a:ln w="25400">
              <a:solidFill>
                <a:schemeClr val="tx2"/>
              </a:solidFill>
              <a:round/>
              <a:headEnd/>
              <a:tailEnd/>
            </a:ln>
          </p:spPr>
          <p:txBody>
            <a:bodyPr wrap="none" anchor="ctr"/>
            <a:lstStyle/>
            <a:p>
              <a:endParaRPr lang="en-US"/>
            </a:p>
          </p:txBody>
        </p:sp>
        <p:sp>
          <p:nvSpPr>
            <p:cNvPr id="18462" name="Oval 7"/>
            <p:cNvSpPr>
              <a:spLocks noChangeArrowheads="1"/>
            </p:cNvSpPr>
            <p:nvPr/>
          </p:nvSpPr>
          <p:spPr bwMode="auto">
            <a:xfrm>
              <a:off x="1008" y="2736"/>
              <a:ext cx="1200" cy="960"/>
            </a:xfrm>
            <a:prstGeom prst="ellipse">
              <a:avLst/>
            </a:prstGeom>
            <a:solidFill>
              <a:srgbClr val="99CCFF">
                <a:alpha val="50195"/>
              </a:srgbClr>
            </a:solidFill>
            <a:ln w="25400">
              <a:solidFill>
                <a:schemeClr val="hlink"/>
              </a:solidFill>
              <a:round/>
              <a:headEnd/>
              <a:tailEnd/>
            </a:ln>
          </p:spPr>
          <p:txBody>
            <a:bodyPr wrap="none" anchor="ctr"/>
            <a:lstStyle/>
            <a:p>
              <a:endParaRPr lang="en-US"/>
            </a:p>
          </p:txBody>
        </p:sp>
        <p:sp>
          <p:nvSpPr>
            <p:cNvPr id="18463" name="Line 8"/>
            <p:cNvSpPr>
              <a:spLocks noChangeShapeType="1"/>
            </p:cNvSpPr>
            <p:nvPr/>
          </p:nvSpPr>
          <p:spPr bwMode="auto">
            <a:xfrm flipH="1">
              <a:off x="576" y="3168"/>
              <a:ext cx="144" cy="480"/>
            </a:xfrm>
            <a:prstGeom prst="line">
              <a:avLst/>
            </a:prstGeom>
            <a:noFill/>
            <a:ln w="9525">
              <a:solidFill>
                <a:schemeClr val="tx2"/>
              </a:solidFill>
              <a:round/>
              <a:headEnd/>
              <a:tailEnd/>
            </a:ln>
          </p:spPr>
          <p:txBody>
            <a:bodyPr wrap="none" anchor="ctr"/>
            <a:lstStyle/>
            <a:p>
              <a:endParaRPr lang="en-US"/>
            </a:p>
          </p:txBody>
        </p:sp>
        <p:sp>
          <p:nvSpPr>
            <p:cNvPr id="18464" name="Line 9"/>
            <p:cNvSpPr>
              <a:spLocks noChangeShapeType="1"/>
            </p:cNvSpPr>
            <p:nvPr/>
          </p:nvSpPr>
          <p:spPr bwMode="auto">
            <a:xfrm flipV="1">
              <a:off x="2016" y="2832"/>
              <a:ext cx="144" cy="432"/>
            </a:xfrm>
            <a:prstGeom prst="line">
              <a:avLst/>
            </a:prstGeom>
            <a:noFill/>
            <a:ln w="9525">
              <a:solidFill>
                <a:schemeClr val="hlink"/>
              </a:solidFill>
              <a:round/>
              <a:headEnd/>
              <a:tailEnd/>
            </a:ln>
          </p:spPr>
          <p:txBody>
            <a:bodyPr wrap="none" anchor="ctr"/>
            <a:lstStyle/>
            <a:p>
              <a:endParaRPr lang="en-US"/>
            </a:p>
          </p:txBody>
        </p:sp>
        <p:sp>
          <p:nvSpPr>
            <p:cNvPr id="18465" name="Line 10"/>
            <p:cNvSpPr>
              <a:spLocks noChangeShapeType="1"/>
            </p:cNvSpPr>
            <p:nvPr/>
          </p:nvSpPr>
          <p:spPr bwMode="auto">
            <a:xfrm flipH="1" flipV="1">
              <a:off x="1440" y="2592"/>
              <a:ext cx="0" cy="576"/>
            </a:xfrm>
            <a:prstGeom prst="line">
              <a:avLst/>
            </a:prstGeom>
            <a:noFill/>
            <a:ln w="9525">
              <a:solidFill>
                <a:srgbClr val="008000"/>
              </a:solidFill>
              <a:round/>
              <a:headEnd/>
              <a:tailEnd/>
            </a:ln>
          </p:spPr>
          <p:txBody>
            <a:bodyPr wrap="none" anchor="ctr"/>
            <a:lstStyle/>
            <a:p>
              <a:endParaRPr lang="en-US"/>
            </a:p>
          </p:txBody>
        </p:sp>
        <p:sp>
          <p:nvSpPr>
            <p:cNvPr id="18466" name="Text Box 11"/>
            <p:cNvSpPr txBox="1">
              <a:spLocks noChangeArrowheads="1"/>
            </p:cNvSpPr>
            <p:nvPr/>
          </p:nvSpPr>
          <p:spPr bwMode="auto">
            <a:xfrm>
              <a:off x="1824" y="2448"/>
              <a:ext cx="768" cy="396"/>
            </a:xfrm>
            <a:prstGeom prst="rect">
              <a:avLst/>
            </a:prstGeom>
            <a:noFill/>
            <a:ln w="9525">
              <a:noFill/>
              <a:miter lim="800000"/>
              <a:headEnd/>
              <a:tailEnd/>
            </a:ln>
          </p:spPr>
          <p:txBody>
            <a:bodyPr>
              <a:spAutoFit/>
            </a:bodyPr>
            <a:lstStyle/>
            <a:p>
              <a:pPr eaLnBrk="0" hangingPunct="0">
                <a:lnSpc>
                  <a:spcPct val="110000"/>
                </a:lnSpc>
              </a:pPr>
              <a:r>
                <a:rPr lang="en-US" sz="1600" b="1">
                  <a:solidFill>
                    <a:schemeClr val="hlink"/>
                  </a:solidFill>
                  <a:latin typeface="Times New Roman" pitchFamily="18" charset="0"/>
                </a:rPr>
                <a:t>Customer</a:t>
              </a:r>
            </a:p>
            <a:p>
              <a:pPr eaLnBrk="0" hangingPunct="0">
                <a:lnSpc>
                  <a:spcPct val="110000"/>
                </a:lnSpc>
              </a:pPr>
              <a:r>
                <a:rPr lang="en-US" sz="1600" b="1">
                  <a:solidFill>
                    <a:schemeClr val="hlink"/>
                  </a:solidFill>
                  <a:latin typeface="Times New Roman" pitchFamily="18" charset="0"/>
                </a:rPr>
                <a:t>buys diaper</a:t>
              </a:r>
              <a:endParaRPr lang="en-US" sz="1800" b="1" u="sng">
                <a:latin typeface="Times New Roman" pitchFamily="18" charset="0"/>
              </a:endParaRPr>
            </a:p>
          </p:txBody>
        </p:sp>
        <p:sp>
          <p:nvSpPr>
            <p:cNvPr id="18467" name="Text Box 12"/>
            <p:cNvSpPr txBox="1">
              <a:spLocks noChangeArrowheads="1"/>
            </p:cNvSpPr>
            <p:nvPr/>
          </p:nvSpPr>
          <p:spPr bwMode="auto">
            <a:xfrm>
              <a:off x="960" y="2400"/>
              <a:ext cx="657" cy="396"/>
            </a:xfrm>
            <a:prstGeom prst="rect">
              <a:avLst/>
            </a:prstGeom>
            <a:noFill/>
            <a:ln w="9525">
              <a:noFill/>
              <a:miter lim="800000"/>
              <a:headEnd/>
              <a:tailEnd/>
            </a:ln>
          </p:spPr>
          <p:txBody>
            <a:bodyPr>
              <a:spAutoFit/>
            </a:bodyPr>
            <a:lstStyle/>
            <a:p>
              <a:pPr eaLnBrk="0" hangingPunct="0">
                <a:lnSpc>
                  <a:spcPct val="110000"/>
                </a:lnSpc>
              </a:pPr>
              <a:r>
                <a:rPr lang="en-US" sz="1600" b="1">
                  <a:solidFill>
                    <a:srgbClr val="5FA180"/>
                  </a:solidFill>
                  <a:latin typeface="Times New Roman" pitchFamily="18" charset="0"/>
                </a:rPr>
                <a:t>Customer</a:t>
              </a:r>
            </a:p>
            <a:p>
              <a:pPr eaLnBrk="0" hangingPunct="0">
                <a:lnSpc>
                  <a:spcPct val="110000"/>
                </a:lnSpc>
              </a:pPr>
              <a:r>
                <a:rPr lang="en-US" sz="1600" b="1">
                  <a:solidFill>
                    <a:srgbClr val="5FA180"/>
                  </a:solidFill>
                  <a:latin typeface="Times New Roman" pitchFamily="18" charset="0"/>
                </a:rPr>
                <a:t>buys both</a:t>
              </a:r>
              <a:endParaRPr lang="en-US" sz="1800" b="1" u="sng">
                <a:solidFill>
                  <a:srgbClr val="5FA180"/>
                </a:solidFill>
                <a:latin typeface="Times New Roman" pitchFamily="18" charset="0"/>
              </a:endParaRPr>
            </a:p>
          </p:txBody>
        </p:sp>
        <p:sp>
          <p:nvSpPr>
            <p:cNvPr id="18468" name="Text Box 13"/>
            <p:cNvSpPr txBox="1">
              <a:spLocks noChangeArrowheads="1"/>
            </p:cNvSpPr>
            <p:nvPr/>
          </p:nvSpPr>
          <p:spPr bwMode="auto">
            <a:xfrm>
              <a:off x="384" y="3600"/>
              <a:ext cx="657" cy="396"/>
            </a:xfrm>
            <a:prstGeom prst="rect">
              <a:avLst/>
            </a:prstGeom>
            <a:noFill/>
            <a:ln w="9525">
              <a:noFill/>
              <a:miter lim="800000"/>
              <a:headEnd/>
              <a:tailEnd/>
            </a:ln>
          </p:spPr>
          <p:txBody>
            <a:bodyPr wrap="none">
              <a:spAutoFit/>
            </a:bodyPr>
            <a:lstStyle/>
            <a:p>
              <a:pPr eaLnBrk="0" hangingPunct="0">
                <a:lnSpc>
                  <a:spcPct val="110000"/>
                </a:lnSpc>
              </a:pPr>
              <a:r>
                <a:rPr lang="en-US" sz="1600" b="1">
                  <a:solidFill>
                    <a:schemeClr val="tx2"/>
                  </a:solidFill>
                  <a:latin typeface="Times New Roman" pitchFamily="18" charset="0"/>
                </a:rPr>
                <a:t>Customer</a:t>
              </a:r>
            </a:p>
            <a:p>
              <a:pPr eaLnBrk="0" hangingPunct="0">
                <a:lnSpc>
                  <a:spcPct val="110000"/>
                </a:lnSpc>
              </a:pPr>
              <a:r>
                <a:rPr lang="en-US" sz="1600" b="1">
                  <a:solidFill>
                    <a:schemeClr val="tx2"/>
                  </a:solidFill>
                  <a:latin typeface="Times New Roman" pitchFamily="18" charset="0"/>
                </a:rPr>
                <a:t>buys beer</a:t>
              </a:r>
              <a:endParaRPr lang="en-US" sz="1800" b="1" u="sng">
                <a:latin typeface="Times New Roman" pitchFamily="18" charset="0"/>
              </a:endParaRPr>
            </a:p>
          </p:txBody>
        </p:sp>
        <p:sp>
          <p:nvSpPr>
            <p:cNvPr id="18469" name="Rectangle 14"/>
            <p:cNvSpPr>
              <a:spLocks noChangeArrowheads="1"/>
            </p:cNvSpPr>
            <p:nvPr/>
          </p:nvSpPr>
          <p:spPr bwMode="auto">
            <a:xfrm>
              <a:off x="192" y="2400"/>
              <a:ext cx="2448" cy="1657"/>
            </a:xfrm>
            <a:prstGeom prst="rect">
              <a:avLst/>
            </a:prstGeom>
            <a:noFill/>
            <a:ln w="9525">
              <a:solidFill>
                <a:schemeClr val="tx1"/>
              </a:solidFill>
              <a:miter lim="800000"/>
              <a:headEnd/>
              <a:tailEnd/>
            </a:ln>
          </p:spPr>
          <p:txBody>
            <a:bodyPr wrap="none" anchor="ctr"/>
            <a:lstStyle/>
            <a:p>
              <a:endParaRPr lang="en-US"/>
            </a:p>
          </p:txBody>
        </p:sp>
      </p:grpSp>
      <p:graphicFrame>
        <p:nvGraphicFramePr>
          <p:cNvPr id="1767468" name="Group 44"/>
          <p:cNvGraphicFramePr>
            <a:graphicFrameLocks noGrp="1"/>
          </p:cNvGraphicFramePr>
          <p:nvPr/>
        </p:nvGraphicFramePr>
        <p:xfrm>
          <a:off x="152400" y="1524000"/>
          <a:ext cx="3886200" cy="2130460"/>
        </p:xfrm>
        <a:graphic>
          <a:graphicData uri="http://schemas.openxmlformats.org/drawingml/2006/table">
            <a:tbl>
              <a:tblPr/>
              <a:tblGrid>
                <a:gridCol w="533400">
                  <a:extLst>
                    <a:ext uri="{9D8B030D-6E8A-4147-A177-3AD203B41FA5}">
                      <a16:colId xmlns:a16="http://schemas.microsoft.com/office/drawing/2014/main" val="20000"/>
                    </a:ext>
                  </a:extLst>
                </a:gridCol>
                <a:gridCol w="3352800">
                  <a:extLst>
                    <a:ext uri="{9D8B030D-6E8A-4147-A177-3AD203B41FA5}">
                      <a16:colId xmlns:a16="http://schemas.microsoft.com/office/drawing/2014/main" val="20001"/>
                    </a:ext>
                  </a:extLst>
                </a:gridCol>
              </a:tblGrid>
              <a:tr h="364992">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600" b="1" i="0" u="none" strike="noStrike" cap="none" normalizeH="0" baseline="0">
                          <a:ln>
                            <a:noFill/>
                          </a:ln>
                          <a:solidFill>
                            <a:schemeClr val="hlink"/>
                          </a:solidFill>
                          <a:effectLst/>
                          <a:latin typeface="Tahoma" pitchFamily="34" charset="0"/>
                        </a:rPr>
                        <a:t>Tid</a:t>
                      </a:r>
                    </a:p>
                  </a:txBody>
                  <a:tcPr marT="45703" marB="4570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600" b="1" i="0" u="none" strike="noStrike" cap="none" normalizeH="0" baseline="0">
                          <a:ln>
                            <a:noFill/>
                          </a:ln>
                          <a:solidFill>
                            <a:schemeClr val="hlink"/>
                          </a:solidFill>
                          <a:effectLst/>
                          <a:latin typeface="Tahoma" pitchFamily="34" charset="0"/>
                        </a:rPr>
                        <a:t>Items bought</a:t>
                      </a:r>
                    </a:p>
                  </a:txBody>
                  <a:tcPr marT="45703" marB="4570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64992">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10</a:t>
                      </a:r>
                    </a:p>
                  </a:txBody>
                  <a:tcPr marT="45703" marB="4570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Beer, Nuts, Diaper</a:t>
                      </a:r>
                    </a:p>
                  </a:txBody>
                  <a:tcPr marT="45703" marB="4570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4992">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20</a:t>
                      </a:r>
                    </a:p>
                  </a:txBody>
                  <a:tcPr marT="45703" marB="4570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Beer, Coffee, Diaper</a:t>
                      </a:r>
                    </a:p>
                  </a:txBody>
                  <a:tcPr marT="45703" marB="4570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4992">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30</a:t>
                      </a:r>
                    </a:p>
                  </a:txBody>
                  <a:tcPr marT="45703" marB="4570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Beer, Diaper, Eggs</a:t>
                      </a:r>
                    </a:p>
                  </a:txBody>
                  <a:tcPr marT="45703" marB="4570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5229">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40</a:t>
                      </a:r>
                    </a:p>
                  </a:txBody>
                  <a:tcPr marT="45703" marB="4570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Nuts, Eggs, Milk</a:t>
                      </a:r>
                    </a:p>
                  </a:txBody>
                  <a:tcPr marT="45703" marB="4570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5229">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50</a:t>
                      </a:r>
                    </a:p>
                  </a:txBody>
                  <a:tcPr marT="45703" marB="4570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Nuts, Coffee, Diaper, Eggs, Milk</a:t>
                      </a:r>
                    </a:p>
                  </a:txBody>
                  <a:tcPr marT="45703" marB="4570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cSld>
  <p:clrMapOvr>
    <a:masterClrMapping/>
  </p:clrMapOvr>
  <p:transition spd="med">
    <p:zo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5"/>
          <p:cNvSpPr>
            <a:spLocks noGrp="1"/>
          </p:cNvSpPr>
          <p:nvPr>
            <p:ph type="sldNum" sz="quarter" idx="10"/>
          </p:nvPr>
        </p:nvSpPr>
        <p:spPr>
          <a:noFill/>
        </p:spPr>
        <p:txBody>
          <a:bodyPr/>
          <a:lstStyle/>
          <a:p>
            <a:fld id="{4D26753D-4D92-48DE-96A6-2C9754A9C447}" type="slidenum">
              <a:rPr lang="en-US" smtClean="0"/>
              <a:pPr/>
              <a:t>6</a:t>
            </a:fld>
            <a:endParaRPr lang="en-US"/>
          </a:p>
        </p:txBody>
      </p:sp>
      <p:sp>
        <p:nvSpPr>
          <p:cNvPr id="19459" name="Rectangle 2"/>
          <p:cNvSpPr>
            <a:spLocks noGrp="1" noChangeArrowheads="1"/>
          </p:cNvSpPr>
          <p:nvPr>
            <p:ph type="title"/>
          </p:nvPr>
        </p:nvSpPr>
        <p:spPr>
          <a:xfrm>
            <a:off x="685800" y="228600"/>
            <a:ext cx="8001000" cy="762000"/>
          </a:xfrm>
        </p:spPr>
        <p:txBody>
          <a:bodyPr/>
          <a:lstStyle/>
          <a:p>
            <a:pPr eaLnBrk="1" hangingPunct="1"/>
            <a:r>
              <a:rPr lang="en-US"/>
              <a:t>Basic Concepts: Association Rules</a:t>
            </a:r>
          </a:p>
        </p:txBody>
      </p:sp>
      <p:sp>
        <p:nvSpPr>
          <p:cNvPr id="19460" name="Rectangle 3"/>
          <p:cNvSpPr>
            <a:spLocks noGrp="1" noChangeArrowheads="1"/>
          </p:cNvSpPr>
          <p:nvPr>
            <p:ph type="body" idx="1"/>
          </p:nvPr>
        </p:nvSpPr>
        <p:spPr>
          <a:xfrm>
            <a:off x="3657600" y="1524000"/>
            <a:ext cx="5334000" cy="4953000"/>
          </a:xfrm>
        </p:spPr>
        <p:txBody>
          <a:bodyPr/>
          <a:lstStyle/>
          <a:p>
            <a:pPr marL="457200" indent="-457200" eaLnBrk="1" hangingPunct="1"/>
            <a:r>
              <a:rPr lang="en-US" sz="2400"/>
              <a:t>Find all the rules </a:t>
            </a:r>
            <a:r>
              <a:rPr lang="en-US" sz="2400" i="1"/>
              <a:t>X </a:t>
            </a:r>
            <a:r>
              <a:rPr lang="en-US" sz="2400">
                <a:sym typeface="Wingdings" pitchFamily="2" charset="2"/>
              </a:rPr>
              <a:t> </a:t>
            </a:r>
            <a:r>
              <a:rPr lang="en-US" sz="2400" i="1">
                <a:sym typeface="Wingdings" pitchFamily="2" charset="2"/>
              </a:rPr>
              <a:t>Y</a:t>
            </a:r>
            <a:r>
              <a:rPr lang="en-US" sz="2400" i="1">
                <a:sym typeface="Symbol" pitchFamily="18" charset="2"/>
              </a:rPr>
              <a:t> </a:t>
            </a:r>
            <a:r>
              <a:rPr lang="en-US" sz="2400"/>
              <a:t>with minimum support and confidence</a:t>
            </a:r>
            <a:endParaRPr lang="en-US" sz="2400">
              <a:sym typeface="Symbol" pitchFamily="18" charset="2"/>
            </a:endParaRPr>
          </a:p>
          <a:p>
            <a:pPr marL="914400" lvl="1" indent="-457200" eaLnBrk="1" hangingPunct="1"/>
            <a:r>
              <a:rPr lang="en-US" sz="2400">
                <a:solidFill>
                  <a:schemeClr val="hlink"/>
                </a:solidFill>
                <a:sym typeface="Symbol" pitchFamily="18" charset="2"/>
              </a:rPr>
              <a:t>support</a:t>
            </a:r>
            <a:r>
              <a:rPr lang="en-US" sz="2400">
                <a:sym typeface="Symbol" pitchFamily="18" charset="2"/>
              </a:rPr>
              <a:t>, </a:t>
            </a:r>
            <a:r>
              <a:rPr lang="en-US" sz="2400" i="1">
                <a:sym typeface="Symbol" pitchFamily="18" charset="2"/>
              </a:rPr>
              <a:t>s</a:t>
            </a:r>
            <a:r>
              <a:rPr lang="en-US" sz="2400">
                <a:sym typeface="Symbol" pitchFamily="18" charset="2"/>
              </a:rPr>
              <a:t>, </a:t>
            </a:r>
            <a:r>
              <a:rPr lang="en-US" sz="2400">
                <a:solidFill>
                  <a:schemeClr val="tx2"/>
                </a:solidFill>
                <a:sym typeface="Symbol" pitchFamily="18" charset="2"/>
              </a:rPr>
              <a:t>probability</a:t>
            </a:r>
            <a:r>
              <a:rPr lang="en-US" sz="2400">
                <a:sym typeface="Symbol" pitchFamily="18" charset="2"/>
              </a:rPr>
              <a:t> that a transaction contains X  Y</a:t>
            </a:r>
          </a:p>
          <a:p>
            <a:pPr marL="914400" lvl="1" indent="-457200" eaLnBrk="1" hangingPunct="1"/>
            <a:r>
              <a:rPr lang="en-US" sz="2400">
                <a:solidFill>
                  <a:schemeClr val="hlink"/>
                </a:solidFill>
                <a:sym typeface="Symbol" pitchFamily="18" charset="2"/>
              </a:rPr>
              <a:t>confidence</a:t>
            </a:r>
            <a:r>
              <a:rPr lang="en-US" sz="2400">
                <a:sym typeface="Symbol" pitchFamily="18" charset="2"/>
              </a:rPr>
              <a:t>, </a:t>
            </a:r>
            <a:r>
              <a:rPr lang="en-US" sz="2400" i="1">
                <a:sym typeface="Symbol" pitchFamily="18" charset="2"/>
              </a:rPr>
              <a:t>c,</a:t>
            </a:r>
            <a:r>
              <a:rPr lang="en-US" sz="2400">
                <a:sym typeface="Symbol" pitchFamily="18" charset="2"/>
              </a:rPr>
              <a:t> </a:t>
            </a:r>
            <a:r>
              <a:rPr lang="en-US" sz="2400">
                <a:solidFill>
                  <a:schemeClr val="tx2"/>
                </a:solidFill>
                <a:sym typeface="Symbol" pitchFamily="18" charset="2"/>
              </a:rPr>
              <a:t>conditional probability</a:t>
            </a:r>
            <a:r>
              <a:rPr lang="en-US" sz="2400">
                <a:sym typeface="Symbol" pitchFamily="18" charset="2"/>
              </a:rPr>
              <a:t> that a transaction having X also contains </a:t>
            </a:r>
            <a:r>
              <a:rPr lang="en-US" sz="2400" i="1">
                <a:sym typeface="Symbol" pitchFamily="18" charset="2"/>
              </a:rPr>
              <a:t>Y</a:t>
            </a:r>
          </a:p>
          <a:p>
            <a:pPr marL="457200" indent="-457200" eaLnBrk="1" hangingPunct="1">
              <a:buFont typeface="Wingdings" pitchFamily="2" charset="2"/>
              <a:buNone/>
            </a:pPr>
            <a:r>
              <a:rPr lang="en-US" sz="2000" i="1"/>
              <a:t>Let  minsup = 50%, minconf = 50%</a:t>
            </a:r>
          </a:p>
          <a:p>
            <a:pPr marL="457200" indent="-457200" eaLnBrk="1" hangingPunct="1">
              <a:buFont typeface="Wingdings" pitchFamily="2" charset="2"/>
              <a:buNone/>
            </a:pPr>
            <a:r>
              <a:rPr lang="en-US" sz="2000" i="1"/>
              <a:t>Freq. Pat.: </a:t>
            </a:r>
            <a:r>
              <a:rPr lang="en-US" sz="2000"/>
              <a:t>Beer:3, Nuts:3, Diaper:4, Eggs:3, {Beer, Diaper}:3</a:t>
            </a:r>
          </a:p>
        </p:txBody>
      </p:sp>
      <p:sp>
        <p:nvSpPr>
          <p:cNvPr id="19461" name="Oval 5"/>
          <p:cNvSpPr>
            <a:spLocks noChangeArrowheads="1"/>
          </p:cNvSpPr>
          <p:nvPr/>
        </p:nvSpPr>
        <p:spPr bwMode="auto">
          <a:xfrm>
            <a:off x="492125" y="3927475"/>
            <a:ext cx="1643063" cy="1168400"/>
          </a:xfrm>
          <a:prstGeom prst="ellipse">
            <a:avLst/>
          </a:prstGeom>
          <a:solidFill>
            <a:srgbClr val="FFFF00"/>
          </a:solidFill>
          <a:ln w="25400">
            <a:solidFill>
              <a:schemeClr val="tx2"/>
            </a:solidFill>
            <a:round/>
            <a:headEnd/>
            <a:tailEnd/>
          </a:ln>
        </p:spPr>
        <p:txBody>
          <a:bodyPr wrap="none" anchor="ctr"/>
          <a:lstStyle/>
          <a:p>
            <a:endParaRPr lang="en-US"/>
          </a:p>
        </p:txBody>
      </p:sp>
      <p:sp>
        <p:nvSpPr>
          <p:cNvPr id="19462" name="Oval 6"/>
          <p:cNvSpPr>
            <a:spLocks noChangeArrowheads="1"/>
          </p:cNvSpPr>
          <p:nvPr/>
        </p:nvSpPr>
        <p:spPr bwMode="auto">
          <a:xfrm>
            <a:off x="1346200" y="3927475"/>
            <a:ext cx="1643063" cy="1298575"/>
          </a:xfrm>
          <a:prstGeom prst="ellipse">
            <a:avLst/>
          </a:prstGeom>
          <a:solidFill>
            <a:srgbClr val="99CCFF">
              <a:alpha val="50195"/>
            </a:srgbClr>
          </a:solidFill>
          <a:ln w="25400">
            <a:solidFill>
              <a:schemeClr val="hlink"/>
            </a:solidFill>
            <a:round/>
            <a:headEnd/>
            <a:tailEnd/>
          </a:ln>
        </p:spPr>
        <p:txBody>
          <a:bodyPr wrap="none" anchor="ctr"/>
          <a:lstStyle/>
          <a:p>
            <a:endParaRPr lang="en-US"/>
          </a:p>
        </p:txBody>
      </p:sp>
      <p:sp>
        <p:nvSpPr>
          <p:cNvPr id="19463" name="Line 7"/>
          <p:cNvSpPr>
            <a:spLocks noChangeShapeType="1"/>
          </p:cNvSpPr>
          <p:nvPr/>
        </p:nvSpPr>
        <p:spPr bwMode="auto">
          <a:xfrm flipH="1">
            <a:off x="754063" y="4511675"/>
            <a:ext cx="198437" cy="649288"/>
          </a:xfrm>
          <a:prstGeom prst="line">
            <a:avLst/>
          </a:prstGeom>
          <a:noFill/>
          <a:ln w="9525">
            <a:solidFill>
              <a:schemeClr val="tx2"/>
            </a:solidFill>
            <a:round/>
            <a:headEnd/>
            <a:tailEnd/>
          </a:ln>
        </p:spPr>
        <p:txBody>
          <a:bodyPr wrap="none" anchor="ctr"/>
          <a:lstStyle/>
          <a:p>
            <a:endParaRPr lang="en-US"/>
          </a:p>
        </p:txBody>
      </p:sp>
      <p:sp>
        <p:nvSpPr>
          <p:cNvPr id="19464" name="Line 8"/>
          <p:cNvSpPr>
            <a:spLocks noChangeShapeType="1"/>
          </p:cNvSpPr>
          <p:nvPr/>
        </p:nvSpPr>
        <p:spPr bwMode="auto">
          <a:xfrm flipV="1">
            <a:off x="2727325" y="4057650"/>
            <a:ext cx="196850" cy="584200"/>
          </a:xfrm>
          <a:prstGeom prst="line">
            <a:avLst/>
          </a:prstGeom>
          <a:noFill/>
          <a:ln w="9525">
            <a:solidFill>
              <a:schemeClr val="hlink"/>
            </a:solidFill>
            <a:round/>
            <a:headEnd/>
            <a:tailEnd/>
          </a:ln>
        </p:spPr>
        <p:txBody>
          <a:bodyPr wrap="none" anchor="ctr"/>
          <a:lstStyle/>
          <a:p>
            <a:endParaRPr lang="en-US"/>
          </a:p>
        </p:txBody>
      </p:sp>
      <p:sp>
        <p:nvSpPr>
          <p:cNvPr id="19465" name="Line 9"/>
          <p:cNvSpPr>
            <a:spLocks noChangeShapeType="1"/>
          </p:cNvSpPr>
          <p:nvPr/>
        </p:nvSpPr>
        <p:spPr bwMode="auto">
          <a:xfrm flipH="1" flipV="1">
            <a:off x="1938338" y="3732213"/>
            <a:ext cx="0" cy="779462"/>
          </a:xfrm>
          <a:prstGeom prst="line">
            <a:avLst/>
          </a:prstGeom>
          <a:noFill/>
          <a:ln w="9525">
            <a:solidFill>
              <a:srgbClr val="008000"/>
            </a:solidFill>
            <a:round/>
            <a:headEnd/>
            <a:tailEnd/>
          </a:ln>
        </p:spPr>
        <p:txBody>
          <a:bodyPr wrap="none" anchor="ctr"/>
          <a:lstStyle/>
          <a:p>
            <a:endParaRPr lang="en-US"/>
          </a:p>
        </p:txBody>
      </p:sp>
      <p:sp>
        <p:nvSpPr>
          <p:cNvPr id="19466" name="Text Box 10"/>
          <p:cNvSpPr txBox="1">
            <a:spLocks noChangeArrowheads="1"/>
          </p:cNvSpPr>
          <p:nvPr/>
        </p:nvSpPr>
        <p:spPr bwMode="auto">
          <a:xfrm>
            <a:off x="2463800" y="3536950"/>
            <a:ext cx="1052513" cy="896938"/>
          </a:xfrm>
          <a:prstGeom prst="rect">
            <a:avLst/>
          </a:prstGeom>
          <a:noFill/>
          <a:ln w="9525">
            <a:noFill/>
            <a:miter lim="800000"/>
            <a:headEnd/>
            <a:tailEnd/>
          </a:ln>
        </p:spPr>
        <p:txBody>
          <a:bodyPr>
            <a:spAutoFit/>
          </a:bodyPr>
          <a:lstStyle/>
          <a:p>
            <a:pPr eaLnBrk="0" hangingPunct="0">
              <a:lnSpc>
                <a:spcPct val="110000"/>
              </a:lnSpc>
            </a:pPr>
            <a:r>
              <a:rPr lang="en-US" sz="1600" b="1">
                <a:solidFill>
                  <a:schemeClr val="hlink"/>
                </a:solidFill>
                <a:latin typeface="Times New Roman" pitchFamily="18" charset="0"/>
              </a:rPr>
              <a:t>Customer</a:t>
            </a:r>
          </a:p>
          <a:p>
            <a:pPr eaLnBrk="0" hangingPunct="0">
              <a:lnSpc>
                <a:spcPct val="110000"/>
              </a:lnSpc>
            </a:pPr>
            <a:r>
              <a:rPr lang="en-US" sz="1600" b="1">
                <a:solidFill>
                  <a:schemeClr val="hlink"/>
                </a:solidFill>
                <a:latin typeface="Times New Roman" pitchFamily="18" charset="0"/>
              </a:rPr>
              <a:t>buys diaper</a:t>
            </a:r>
            <a:endParaRPr lang="en-US" sz="1800" b="1" u="sng">
              <a:latin typeface="Times New Roman" pitchFamily="18" charset="0"/>
            </a:endParaRPr>
          </a:p>
        </p:txBody>
      </p:sp>
      <p:sp>
        <p:nvSpPr>
          <p:cNvPr id="19467" name="Text Box 11"/>
          <p:cNvSpPr txBox="1">
            <a:spLocks noChangeArrowheads="1"/>
          </p:cNvSpPr>
          <p:nvPr/>
        </p:nvSpPr>
        <p:spPr bwMode="auto">
          <a:xfrm>
            <a:off x="1143000" y="3473450"/>
            <a:ext cx="1066800" cy="558800"/>
          </a:xfrm>
          <a:prstGeom prst="rect">
            <a:avLst/>
          </a:prstGeom>
          <a:noFill/>
          <a:ln w="9525">
            <a:noFill/>
            <a:miter lim="800000"/>
            <a:headEnd/>
            <a:tailEnd/>
          </a:ln>
        </p:spPr>
        <p:txBody>
          <a:bodyPr>
            <a:spAutoFit/>
          </a:bodyPr>
          <a:lstStyle/>
          <a:p>
            <a:pPr eaLnBrk="0" hangingPunct="0">
              <a:lnSpc>
                <a:spcPct val="110000"/>
              </a:lnSpc>
            </a:pPr>
            <a:r>
              <a:rPr lang="en-US" sz="1400" b="1">
                <a:solidFill>
                  <a:srgbClr val="5FA180"/>
                </a:solidFill>
                <a:latin typeface="Times New Roman" pitchFamily="18" charset="0"/>
              </a:rPr>
              <a:t>Customer</a:t>
            </a:r>
          </a:p>
          <a:p>
            <a:pPr eaLnBrk="0" hangingPunct="0">
              <a:lnSpc>
                <a:spcPct val="110000"/>
              </a:lnSpc>
            </a:pPr>
            <a:r>
              <a:rPr lang="en-US" sz="1400" b="1">
                <a:solidFill>
                  <a:srgbClr val="5FA180"/>
                </a:solidFill>
                <a:latin typeface="Times New Roman" pitchFamily="18" charset="0"/>
              </a:rPr>
              <a:t>buys both</a:t>
            </a:r>
            <a:endParaRPr lang="en-US" sz="1600" b="1" u="sng">
              <a:solidFill>
                <a:srgbClr val="5FA180"/>
              </a:solidFill>
              <a:latin typeface="Times New Roman" pitchFamily="18" charset="0"/>
            </a:endParaRPr>
          </a:p>
        </p:txBody>
      </p:sp>
      <p:sp>
        <p:nvSpPr>
          <p:cNvPr id="19468" name="Text Box 12"/>
          <p:cNvSpPr txBox="1">
            <a:spLocks noChangeArrowheads="1"/>
          </p:cNvSpPr>
          <p:nvPr/>
        </p:nvSpPr>
        <p:spPr bwMode="auto">
          <a:xfrm>
            <a:off x="492125" y="5095875"/>
            <a:ext cx="1042988" cy="628650"/>
          </a:xfrm>
          <a:prstGeom prst="rect">
            <a:avLst/>
          </a:prstGeom>
          <a:noFill/>
          <a:ln w="9525">
            <a:noFill/>
            <a:miter lim="800000"/>
            <a:headEnd/>
            <a:tailEnd/>
          </a:ln>
        </p:spPr>
        <p:txBody>
          <a:bodyPr wrap="none">
            <a:spAutoFit/>
          </a:bodyPr>
          <a:lstStyle/>
          <a:p>
            <a:pPr eaLnBrk="0" hangingPunct="0">
              <a:lnSpc>
                <a:spcPct val="110000"/>
              </a:lnSpc>
            </a:pPr>
            <a:r>
              <a:rPr lang="en-US" sz="1600" b="1">
                <a:solidFill>
                  <a:schemeClr val="tx2"/>
                </a:solidFill>
                <a:latin typeface="Times New Roman" pitchFamily="18" charset="0"/>
              </a:rPr>
              <a:t>Customer</a:t>
            </a:r>
          </a:p>
          <a:p>
            <a:pPr eaLnBrk="0" hangingPunct="0">
              <a:lnSpc>
                <a:spcPct val="110000"/>
              </a:lnSpc>
            </a:pPr>
            <a:r>
              <a:rPr lang="en-US" sz="1600" b="1">
                <a:solidFill>
                  <a:schemeClr val="tx2"/>
                </a:solidFill>
                <a:latin typeface="Times New Roman" pitchFamily="18" charset="0"/>
              </a:rPr>
              <a:t>buys beer</a:t>
            </a:r>
            <a:endParaRPr lang="en-US" sz="1800" b="1" u="sng">
              <a:latin typeface="Times New Roman" pitchFamily="18" charset="0"/>
            </a:endParaRPr>
          </a:p>
        </p:txBody>
      </p:sp>
      <p:sp>
        <p:nvSpPr>
          <p:cNvPr id="19469" name="Rectangle 13"/>
          <p:cNvSpPr>
            <a:spLocks noChangeArrowheads="1"/>
          </p:cNvSpPr>
          <p:nvPr/>
        </p:nvSpPr>
        <p:spPr bwMode="auto">
          <a:xfrm>
            <a:off x="228600" y="3473450"/>
            <a:ext cx="3352800" cy="2241550"/>
          </a:xfrm>
          <a:prstGeom prst="rect">
            <a:avLst/>
          </a:prstGeom>
          <a:noFill/>
          <a:ln w="9525">
            <a:solidFill>
              <a:schemeClr val="tx1"/>
            </a:solidFill>
            <a:miter lim="800000"/>
            <a:headEnd/>
            <a:tailEnd/>
          </a:ln>
        </p:spPr>
        <p:txBody>
          <a:bodyPr wrap="none" anchor="ctr"/>
          <a:lstStyle/>
          <a:p>
            <a:endParaRPr lang="en-US"/>
          </a:p>
        </p:txBody>
      </p:sp>
      <p:sp>
        <p:nvSpPr>
          <p:cNvPr id="19470" name="Rectangle 15"/>
          <p:cNvSpPr>
            <a:spLocks noChangeArrowheads="1"/>
          </p:cNvSpPr>
          <p:nvPr/>
        </p:nvSpPr>
        <p:spPr bwMode="auto">
          <a:xfrm>
            <a:off x="688975" y="2768600"/>
            <a:ext cx="2892425" cy="285750"/>
          </a:xfrm>
          <a:prstGeom prst="rect">
            <a:avLst/>
          </a:prstGeom>
          <a:noFill/>
          <a:ln w="9525">
            <a:noFill/>
            <a:miter lim="800000"/>
            <a:headEnd/>
            <a:tailEnd/>
          </a:ln>
        </p:spPr>
        <p:txBody>
          <a:bodyPr/>
          <a:lstStyle/>
          <a:p>
            <a:pPr algn="ctr">
              <a:spcBef>
                <a:spcPct val="20000"/>
              </a:spcBef>
              <a:buClr>
                <a:schemeClr val="folHlink"/>
              </a:buClr>
              <a:buSzPct val="60000"/>
              <a:buFont typeface="Wingdings" pitchFamily="2" charset="2"/>
              <a:buNone/>
            </a:pPr>
            <a:r>
              <a:rPr lang="en-US" sz="1600"/>
              <a:t>Nuts, Eggs, Milk</a:t>
            </a:r>
          </a:p>
        </p:txBody>
      </p:sp>
      <p:sp>
        <p:nvSpPr>
          <p:cNvPr id="19471" name="Rectangle 16"/>
          <p:cNvSpPr>
            <a:spLocks noChangeArrowheads="1"/>
          </p:cNvSpPr>
          <p:nvPr/>
        </p:nvSpPr>
        <p:spPr bwMode="auto">
          <a:xfrm>
            <a:off x="228600" y="2768600"/>
            <a:ext cx="460375" cy="285750"/>
          </a:xfrm>
          <a:prstGeom prst="rect">
            <a:avLst/>
          </a:prstGeom>
          <a:noFill/>
          <a:ln w="9525">
            <a:noFill/>
            <a:miter lim="800000"/>
            <a:headEnd/>
            <a:tailEnd/>
          </a:ln>
        </p:spPr>
        <p:txBody>
          <a:bodyPr/>
          <a:lstStyle/>
          <a:p>
            <a:pPr algn="ctr">
              <a:spcBef>
                <a:spcPct val="20000"/>
              </a:spcBef>
              <a:buClr>
                <a:schemeClr val="folHlink"/>
              </a:buClr>
              <a:buSzPct val="60000"/>
              <a:buFont typeface="Wingdings" pitchFamily="2" charset="2"/>
              <a:buNone/>
            </a:pPr>
            <a:r>
              <a:rPr lang="en-US" sz="1600"/>
              <a:t>40</a:t>
            </a:r>
          </a:p>
        </p:txBody>
      </p:sp>
      <p:sp>
        <p:nvSpPr>
          <p:cNvPr id="19472" name="Rectangle 17"/>
          <p:cNvSpPr>
            <a:spLocks noChangeArrowheads="1"/>
          </p:cNvSpPr>
          <p:nvPr/>
        </p:nvSpPr>
        <p:spPr bwMode="auto">
          <a:xfrm>
            <a:off x="688975" y="3054350"/>
            <a:ext cx="2892425" cy="285750"/>
          </a:xfrm>
          <a:prstGeom prst="rect">
            <a:avLst/>
          </a:prstGeom>
          <a:noFill/>
          <a:ln w="9525">
            <a:noFill/>
            <a:miter lim="800000"/>
            <a:headEnd/>
            <a:tailEnd/>
          </a:ln>
        </p:spPr>
        <p:txBody>
          <a:bodyPr/>
          <a:lstStyle/>
          <a:p>
            <a:pPr algn="ctr">
              <a:spcBef>
                <a:spcPct val="20000"/>
              </a:spcBef>
              <a:buClr>
                <a:schemeClr val="folHlink"/>
              </a:buClr>
              <a:buSzPct val="60000"/>
              <a:buFont typeface="Wingdings" pitchFamily="2" charset="2"/>
              <a:buNone/>
            </a:pPr>
            <a:r>
              <a:rPr lang="en-US" sz="1400"/>
              <a:t>Nuts, Coffee, Diaper, Eggs, Milk</a:t>
            </a:r>
          </a:p>
        </p:txBody>
      </p:sp>
      <p:sp>
        <p:nvSpPr>
          <p:cNvPr id="19473" name="Rectangle 18"/>
          <p:cNvSpPr>
            <a:spLocks noChangeArrowheads="1"/>
          </p:cNvSpPr>
          <p:nvPr/>
        </p:nvSpPr>
        <p:spPr bwMode="auto">
          <a:xfrm>
            <a:off x="228600" y="3054350"/>
            <a:ext cx="460375" cy="285750"/>
          </a:xfrm>
          <a:prstGeom prst="rect">
            <a:avLst/>
          </a:prstGeom>
          <a:noFill/>
          <a:ln w="9525">
            <a:noFill/>
            <a:miter lim="800000"/>
            <a:headEnd/>
            <a:tailEnd/>
          </a:ln>
        </p:spPr>
        <p:txBody>
          <a:bodyPr/>
          <a:lstStyle/>
          <a:p>
            <a:pPr algn="ctr">
              <a:spcBef>
                <a:spcPct val="20000"/>
              </a:spcBef>
              <a:buClr>
                <a:schemeClr val="folHlink"/>
              </a:buClr>
              <a:buSzPct val="60000"/>
              <a:buFont typeface="Wingdings" pitchFamily="2" charset="2"/>
              <a:buNone/>
            </a:pPr>
            <a:r>
              <a:rPr lang="en-US" sz="1600"/>
              <a:t>50</a:t>
            </a:r>
          </a:p>
        </p:txBody>
      </p:sp>
      <p:sp>
        <p:nvSpPr>
          <p:cNvPr id="19474" name="Rectangle 19"/>
          <p:cNvSpPr>
            <a:spLocks noChangeArrowheads="1"/>
          </p:cNvSpPr>
          <p:nvPr/>
        </p:nvSpPr>
        <p:spPr bwMode="auto">
          <a:xfrm>
            <a:off x="688975" y="2457450"/>
            <a:ext cx="2892425" cy="311150"/>
          </a:xfrm>
          <a:prstGeom prst="rect">
            <a:avLst/>
          </a:prstGeom>
          <a:noFill/>
          <a:ln w="9525">
            <a:noFill/>
            <a:miter lim="800000"/>
            <a:headEnd/>
            <a:tailEnd/>
          </a:ln>
        </p:spPr>
        <p:txBody>
          <a:bodyPr/>
          <a:lstStyle/>
          <a:p>
            <a:pPr algn="ctr">
              <a:spcBef>
                <a:spcPct val="20000"/>
              </a:spcBef>
              <a:buClr>
                <a:schemeClr val="folHlink"/>
              </a:buClr>
              <a:buSzPct val="60000"/>
              <a:buFont typeface="Wingdings" pitchFamily="2" charset="2"/>
              <a:buNone/>
            </a:pPr>
            <a:r>
              <a:rPr lang="en-US" sz="1600"/>
              <a:t>Beer, Diaper, Eggs</a:t>
            </a:r>
          </a:p>
        </p:txBody>
      </p:sp>
      <p:sp>
        <p:nvSpPr>
          <p:cNvPr id="19475" name="Rectangle 20"/>
          <p:cNvSpPr>
            <a:spLocks noChangeArrowheads="1"/>
          </p:cNvSpPr>
          <p:nvPr/>
        </p:nvSpPr>
        <p:spPr bwMode="auto">
          <a:xfrm>
            <a:off x="228600" y="2457450"/>
            <a:ext cx="460375" cy="311150"/>
          </a:xfrm>
          <a:prstGeom prst="rect">
            <a:avLst/>
          </a:prstGeom>
          <a:noFill/>
          <a:ln w="9525">
            <a:noFill/>
            <a:miter lim="800000"/>
            <a:headEnd/>
            <a:tailEnd/>
          </a:ln>
        </p:spPr>
        <p:txBody>
          <a:bodyPr/>
          <a:lstStyle/>
          <a:p>
            <a:pPr algn="ctr">
              <a:spcBef>
                <a:spcPct val="20000"/>
              </a:spcBef>
              <a:buClr>
                <a:schemeClr val="folHlink"/>
              </a:buClr>
              <a:buSzPct val="60000"/>
              <a:buFont typeface="Wingdings" pitchFamily="2" charset="2"/>
              <a:buNone/>
            </a:pPr>
            <a:r>
              <a:rPr lang="en-US" sz="1600"/>
              <a:t>30</a:t>
            </a:r>
          </a:p>
        </p:txBody>
      </p:sp>
      <p:sp>
        <p:nvSpPr>
          <p:cNvPr id="19476" name="Rectangle 21"/>
          <p:cNvSpPr>
            <a:spLocks noChangeArrowheads="1"/>
          </p:cNvSpPr>
          <p:nvPr/>
        </p:nvSpPr>
        <p:spPr bwMode="auto">
          <a:xfrm>
            <a:off x="688975" y="2146300"/>
            <a:ext cx="2892425" cy="311150"/>
          </a:xfrm>
          <a:prstGeom prst="rect">
            <a:avLst/>
          </a:prstGeom>
          <a:noFill/>
          <a:ln w="9525">
            <a:noFill/>
            <a:miter lim="800000"/>
            <a:headEnd/>
            <a:tailEnd/>
          </a:ln>
        </p:spPr>
        <p:txBody>
          <a:bodyPr/>
          <a:lstStyle/>
          <a:p>
            <a:pPr algn="ctr">
              <a:spcBef>
                <a:spcPct val="20000"/>
              </a:spcBef>
              <a:buClr>
                <a:schemeClr val="folHlink"/>
              </a:buClr>
              <a:buSzPct val="60000"/>
              <a:buFont typeface="Wingdings" pitchFamily="2" charset="2"/>
              <a:buNone/>
            </a:pPr>
            <a:r>
              <a:rPr lang="en-US" sz="1600"/>
              <a:t>Beer, Coffee, Diaper</a:t>
            </a:r>
          </a:p>
        </p:txBody>
      </p:sp>
      <p:sp>
        <p:nvSpPr>
          <p:cNvPr id="19477" name="Rectangle 22"/>
          <p:cNvSpPr>
            <a:spLocks noChangeArrowheads="1"/>
          </p:cNvSpPr>
          <p:nvPr/>
        </p:nvSpPr>
        <p:spPr bwMode="auto">
          <a:xfrm>
            <a:off x="228600" y="2146300"/>
            <a:ext cx="460375" cy="311150"/>
          </a:xfrm>
          <a:prstGeom prst="rect">
            <a:avLst/>
          </a:prstGeom>
          <a:noFill/>
          <a:ln w="9525">
            <a:noFill/>
            <a:miter lim="800000"/>
            <a:headEnd/>
            <a:tailEnd/>
          </a:ln>
        </p:spPr>
        <p:txBody>
          <a:bodyPr/>
          <a:lstStyle/>
          <a:p>
            <a:pPr algn="ctr">
              <a:spcBef>
                <a:spcPct val="20000"/>
              </a:spcBef>
              <a:buClr>
                <a:schemeClr val="folHlink"/>
              </a:buClr>
              <a:buSzPct val="60000"/>
              <a:buFont typeface="Wingdings" pitchFamily="2" charset="2"/>
              <a:buNone/>
            </a:pPr>
            <a:r>
              <a:rPr lang="en-US" sz="1600"/>
              <a:t>20</a:t>
            </a:r>
          </a:p>
        </p:txBody>
      </p:sp>
      <p:sp>
        <p:nvSpPr>
          <p:cNvPr id="19478" name="Rectangle 23"/>
          <p:cNvSpPr>
            <a:spLocks noChangeArrowheads="1"/>
          </p:cNvSpPr>
          <p:nvPr/>
        </p:nvSpPr>
        <p:spPr bwMode="auto">
          <a:xfrm>
            <a:off x="688975" y="1835150"/>
            <a:ext cx="2892425" cy="311150"/>
          </a:xfrm>
          <a:prstGeom prst="rect">
            <a:avLst/>
          </a:prstGeom>
          <a:noFill/>
          <a:ln w="9525">
            <a:noFill/>
            <a:miter lim="800000"/>
            <a:headEnd/>
            <a:tailEnd/>
          </a:ln>
        </p:spPr>
        <p:txBody>
          <a:bodyPr/>
          <a:lstStyle/>
          <a:p>
            <a:pPr algn="ctr">
              <a:spcBef>
                <a:spcPct val="20000"/>
              </a:spcBef>
              <a:buClr>
                <a:schemeClr val="folHlink"/>
              </a:buClr>
              <a:buSzPct val="60000"/>
              <a:buFont typeface="Wingdings" pitchFamily="2" charset="2"/>
              <a:buNone/>
            </a:pPr>
            <a:r>
              <a:rPr lang="en-US" sz="1600"/>
              <a:t>Beer, Nuts, Diaper</a:t>
            </a:r>
          </a:p>
        </p:txBody>
      </p:sp>
      <p:sp>
        <p:nvSpPr>
          <p:cNvPr id="19479" name="Rectangle 24"/>
          <p:cNvSpPr>
            <a:spLocks noChangeArrowheads="1"/>
          </p:cNvSpPr>
          <p:nvPr/>
        </p:nvSpPr>
        <p:spPr bwMode="auto">
          <a:xfrm>
            <a:off x="228600" y="1835150"/>
            <a:ext cx="460375" cy="311150"/>
          </a:xfrm>
          <a:prstGeom prst="rect">
            <a:avLst/>
          </a:prstGeom>
          <a:noFill/>
          <a:ln w="9525">
            <a:noFill/>
            <a:miter lim="800000"/>
            <a:headEnd/>
            <a:tailEnd/>
          </a:ln>
        </p:spPr>
        <p:txBody>
          <a:bodyPr/>
          <a:lstStyle/>
          <a:p>
            <a:pPr algn="ctr">
              <a:spcBef>
                <a:spcPct val="20000"/>
              </a:spcBef>
              <a:buClr>
                <a:schemeClr val="folHlink"/>
              </a:buClr>
              <a:buSzPct val="60000"/>
              <a:buFont typeface="Wingdings" pitchFamily="2" charset="2"/>
              <a:buNone/>
            </a:pPr>
            <a:r>
              <a:rPr lang="en-US" sz="1600"/>
              <a:t>10</a:t>
            </a:r>
          </a:p>
        </p:txBody>
      </p:sp>
      <p:sp>
        <p:nvSpPr>
          <p:cNvPr id="19480" name="Rectangle 25"/>
          <p:cNvSpPr>
            <a:spLocks noChangeArrowheads="1"/>
          </p:cNvSpPr>
          <p:nvPr/>
        </p:nvSpPr>
        <p:spPr bwMode="auto">
          <a:xfrm>
            <a:off x="688975" y="1524000"/>
            <a:ext cx="2892425" cy="311150"/>
          </a:xfrm>
          <a:prstGeom prst="rect">
            <a:avLst/>
          </a:prstGeom>
          <a:solidFill>
            <a:schemeClr val="accent1"/>
          </a:solidFill>
          <a:ln w="9525">
            <a:noFill/>
            <a:miter lim="800000"/>
            <a:headEnd/>
            <a:tailEnd/>
          </a:ln>
        </p:spPr>
        <p:txBody>
          <a:bodyPr/>
          <a:lstStyle/>
          <a:p>
            <a:pPr algn="ctr">
              <a:spcBef>
                <a:spcPct val="20000"/>
              </a:spcBef>
              <a:buClr>
                <a:schemeClr val="folHlink"/>
              </a:buClr>
              <a:buSzPct val="60000"/>
              <a:buFont typeface="Wingdings" pitchFamily="2" charset="2"/>
              <a:buNone/>
            </a:pPr>
            <a:r>
              <a:rPr lang="en-US" sz="1600" b="1">
                <a:solidFill>
                  <a:schemeClr val="hlink"/>
                </a:solidFill>
              </a:rPr>
              <a:t>Items bought</a:t>
            </a:r>
          </a:p>
        </p:txBody>
      </p:sp>
      <p:sp>
        <p:nvSpPr>
          <p:cNvPr id="19481" name="Rectangle 26"/>
          <p:cNvSpPr>
            <a:spLocks noChangeArrowheads="1"/>
          </p:cNvSpPr>
          <p:nvPr/>
        </p:nvSpPr>
        <p:spPr bwMode="auto">
          <a:xfrm>
            <a:off x="228600" y="1524000"/>
            <a:ext cx="460375" cy="311150"/>
          </a:xfrm>
          <a:prstGeom prst="rect">
            <a:avLst/>
          </a:prstGeom>
          <a:solidFill>
            <a:schemeClr val="accent1"/>
          </a:solidFill>
          <a:ln w="9525">
            <a:noFill/>
            <a:miter lim="800000"/>
            <a:headEnd/>
            <a:tailEnd/>
          </a:ln>
        </p:spPr>
        <p:txBody>
          <a:bodyPr/>
          <a:lstStyle/>
          <a:p>
            <a:pPr algn="ctr">
              <a:spcBef>
                <a:spcPct val="20000"/>
              </a:spcBef>
              <a:buClr>
                <a:schemeClr val="folHlink"/>
              </a:buClr>
              <a:buSzPct val="60000"/>
              <a:buFont typeface="Wingdings" pitchFamily="2" charset="2"/>
              <a:buNone/>
            </a:pPr>
            <a:r>
              <a:rPr lang="en-US" sz="1400" b="1">
                <a:solidFill>
                  <a:schemeClr val="hlink"/>
                </a:solidFill>
              </a:rPr>
              <a:t>Tid</a:t>
            </a:r>
          </a:p>
        </p:txBody>
      </p:sp>
      <p:sp>
        <p:nvSpPr>
          <p:cNvPr id="19482" name="Line 27"/>
          <p:cNvSpPr>
            <a:spLocks noChangeShapeType="1"/>
          </p:cNvSpPr>
          <p:nvPr/>
        </p:nvSpPr>
        <p:spPr bwMode="auto">
          <a:xfrm>
            <a:off x="228600" y="1524000"/>
            <a:ext cx="3352800" cy="0"/>
          </a:xfrm>
          <a:prstGeom prst="line">
            <a:avLst/>
          </a:prstGeom>
          <a:noFill/>
          <a:ln w="28575" cap="sq">
            <a:solidFill>
              <a:schemeClr val="tx1"/>
            </a:solidFill>
            <a:miter lim="800000"/>
            <a:headEnd/>
            <a:tailEnd/>
          </a:ln>
        </p:spPr>
        <p:txBody>
          <a:bodyPr wrap="none"/>
          <a:lstStyle/>
          <a:p>
            <a:endParaRPr lang="en-US"/>
          </a:p>
        </p:txBody>
      </p:sp>
      <p:sp>
        <p:nvSpPr>
          <p:cNvPr id="19483" name="Line 28"/>
          <p:cNvSpPr>
            <a:spLocks noChangeShapeType="1"/>
          </p:cNvSpPr>
          <p:nvPr/>
        </p:nvSpPr>
        <p:spPr bwMode="auto">
          <a:xfrm>
            <a:off x="228600" y="1835150"/>
            <a:ext cx="3352800" cy="0"/>
          </a:xfrm>
          <a:prstGeom prst="line">
            <a:avLst/>
          </a:prstGeom>
          <a:noFill/>
          <a:ln w="28575">
            <a:solidFill>
              <a:schemeClr val="tx1"/>
            </a:solidFill>
            <a:miter lim="800000"/>
            <a:headEnd/>
            <a:tailEnd/>
          </a:ln>
        </p:spPr>
        <p:txBody>
          <a:bodyPr wrap="none"/>
          <a:lstStyle/>
          <a:p>
            <a:endParaRPr lang="en-US"/>
          </a:p>
        </p:txBody>
      </p:sp>
      <p:sp>
        <p:nvSpPr>
          <p:cNvPr id="19484" name="Line 29"/>
          <p:cNvSpPr>
            <a:spLocks noChangeShapeType="1"/>
          </p:cNvSpPr>
          <p:nvPr/>
        </p:nvSpPr>
        <p:spPr bwMode="auto">
          <a:xfrm>
            <a:off x="228600" y="2146300"/>
            <a:ext cx="3352800" cy="0"/>
          </a:xfrm>
          <a:prstGeom prst="line">
            <a:avLst/>
          </a:prstGeom>
          <a:noFill/>
          <a:ln w="12700">
            <a:solidFill>
              <a:schemeClr val="tx1"/>
            </a:solidFill>
            <a:miter lim="800000"/>
            <a:headEnd/>
            <a:tailEnd/>
          </a:ln>
        </p:spPr>
        <p:txBody>
          <a:bodyPr wrap="none"/>
          <a:lstStyle/>
          <a:p>
            <a:endParaRPr lang="en-US"/>
          </a:p>
        </p:txBody>
      </p:sp>
      <p:sp>
        <p:nvSpPr>
          <p:cNvPr id="19485" name="Line 30"/>
          <p:cNvSpPr>
            <a:spLocks noChangeShapeType="1"/>
          </p:cNvSpPr>
          <p:nvPr/>
        </p:nvSpPr>
        <p:spPr bwMode="auto">
          <a:xfrm>
            <a:off x="228600" y="2457450"/>
            <a:ext cx="3352800" cy="0"/>
          </a:xfrm>
          <a:prstGeom prst="line">
            <a:avLst/>
          </a:prstGeom>
          <a:noFill/>
          <a:ln w="12700">
            <a:solidFill>
              <a:schemeClr val="tx1"/>
            </a:solidFill>
            <a:miter lim="800000"/>
            <a:headEnd/>
            <a:tailEnd/>
          </a:ln>
        </p:spPr>
        <p:txBody>
          <a:bodyPr wrap="none"/>
          <a:lstStyle/>
          <a:p>
            <a:endParaRPr lang="en-US"/>
          </a:p>
        </p:txBody>
      </p:sp>
      <p:sp>
        <p:nvSpPr>
          <p:cNvPr id="19486" name="Line 31"/>
          <p:cNvSpPr>
            <a:spLocks noChangeShapeType="1"/>
          </p:cNvSpPr>
          <p:nvPr/>
        </p:nvSpPr>
        <p:spPr bwMode="auto">
          <a:xfrm>
            <a:off x="228600" y="2768600"/>
            <a:ext cx="3352800" cy="0"/>
          </a:xfrm>
          <a:prstGeom prst="line">
            <a:avLst/>
          </a:prstGeom>
          <a:noFill/>
          <a:ln w="12700">
            <a:solidFill>
              <a:schemeClr val="tx1"/>
            </a:solidFill>
            <a:miter lim="800000"/>
            <a:headEnd/>
            <a:tailEnd/>
          </a:ln>
        </p:spPr>
        <p:txBody>
          <a:bodyPr wrap="none"/>
          <a:lstStyle/>
          <a:p>
            <a:endParaRPr lang="en-US"/>
          </a:p>
        </p:txBody>
      </p:sp>
      <p:sp>
        <p:nvSpPr>
          <p:cNvPr id="19487" name="Line 32"/>
          <p:cNvSpPr>
            <a:spLocks noChangeShapeType="1"/>
          </p:cNvSpPr>
          <p:nvPr/>
        </p:nvSpPr>
        <p:spPr bwMode="auto">
          <a:xfrm>
            <a:off x="228600" y="3340100"/>
            <a:ext cx="3352800" cy="0"/>
          </a:xfrm>
          <a:prstGeom prst="line">
            <a:avLst/>
          </a:prstGeom>
          <a:noFill/>
          <a:ln w="28575" cap="sq">
            <a:solidFill>
              <a:schemeClr val="tx1"/>
            </a:solidFill>
            <a:miter lim="800000"/>
            <a:headEnd/>
            <a:tailEnd/>
          </a:ln>
        </p:spPr>
        <p:txBody>
          <a:bodyPr wrap="none"/>
          <a:lstStyle/>
          <a:p>
            <a:endParaRPr lang="en-US"/>
          </a:p>
        </p:txBody>
      </p:sp>
      <p:sp>
        <p:nvSpPr>
          <p:cNvPr id="19488" name="Line 33"/>
          <p:cNvSpPr>
            <a:spLocks noChangeShapeType="1"/>
          </p:cNvSpPr>
          <p:nvPr/>
        </p:nvSpPr>
        <p:spPr bwMode="auto">
          <a:xfrm>
            <a:off x="228600" y="1524000"/>
            <a:ext cx="0" cy="1816100"/>
          </a:xfrm>
          <a:prstGeom prst="line">
            <a:avLst/>
          </a:prstGeom>
          <a:noFill/>
          <a:ln w="28575" cap="sq">
            <a:solidFill>
              <a:schemeClr val="tx1"/>
            </a:solidFill>
            <a:miter lim="800000"/>
            <a:headEnd/>
            <a:tailEnd/>
          </a:ln>
        </p:spPr>
        <p:txBody>
          <a:bodyPr wrap="none"/>
          <a:lstStyle/>
          <a:p>
            <a:endParaRPr lang="en-US"/>
          </a:p>
        </p:txBody>
      </p:sp>
      <p:sp>
        <p:nvSpPr>
          <p:cNvPr id="19489" name="Line 34"/>
          <p:cNvSpPr>
            <a:spLocks noChangeShapeType="1"/>
          </p:cNvSpPr>
          <p:nvPr/>
        </p:nvSpPr>
        <p:spPr bwMode="auto">
          <a:xfrm>
            <a:off x="688975" y="1524000"/>
            <a:ext cx="0" cy="1816100"/>
          </a:xfrm>
          <a:prstGeom prst="line">
            <a:avLst/>
          </a:prstGeom>
          <a:noFill/>
          <a:ln w="28575">
            <a:solidFill>
              <a:schemeClr val="tx1"/>
            </a:solidFill>
            <a:miter lim="800000"/>
            <a:headEnd/>
            <a:tailEnd/>
          </a:ln>
        </p:spPr>
        <p:txBody>
          <a:bodyPr wrap="none"/>
          <a:lstStyle/>
          <a:p>
            <a:endParaRPr lang="en-US"/>
          </a:p>
        </p:txBody>
      </p:sp>
      <p:sp>
        <p:nvSpPr>
          <p:cNvPr id="19490" name="Line 35"/>
          <p:cNvSpPr>
            <a:spLocks noChangeShapeType="1"/>
          </p:cNvSpPr>
          <p:nvPr/>
        </p:nvSpPr>
        <p:spPr bwMode="auto">
          <a:xfrm>
            <a:off x="3581400" y="1524000"/>
            <a:ext cx="0" cy="1816100"/>
          </a:xfrm>
          <a:prstGeom prst="line">
            <a:avLst/>
          </a:prstGeom>
          <a:noFill/>
          <a:ln w="28575" cap="sq">
            <a:solidFill>
              <a:schemeClr val="tx1"/>
            </a:solidFill>
            <a:miter lim="800000"/>
            <a:headEnd/>
            <a:tailEnd/>
          </a:ln>
        </p:spPr>
        <p:txBody>
          <a:bodyPr wrap="none"/>
          <a:lstStyle/>
          <a:p>
            <a:endParaRPr lang="en-US"/>
          </a:p>
        </p:txBody>
      </p:sp>
      <p:sp>
        <p:nvSpPr>
          <p:cNvPr id="19491" name="Line 36"/>
          <p:cNvSpPr>
            <a:spLocks noChangeShapeType="1"/>
          </p:cNvSpPr>
          <p:nvPr/>
        </p:nvSpPr>
        <p:spPr bwMode="auto">
          <a:xfrm>
            <a:off x="228600" y="3054350"/>
            <a:ext cx="3352800" cy="0"/>
          </a:xfrm>
          <a:prstGeom prst="line">
            <a:avLst/>
          </a:prstGeom>
          <a:noFill/>
          <a:ln w="12700">
            <a:solidFill>
              <a:schemeClr val="tx1"/>
            </a:solidFill>
            <a:miter lim="800000"/>
            <a:headEnd/>
            <a:tailEnd/>
          </a:ln>
        </p:spPr>
        <p:txBody>
          <a:bodyPr wrap="none"/>
          <a:lstStyle/>
          <a:p>
            <a:endParaRPr lang="en-US"/>
          </a:p>
        </p:txBody>
      </p:sp>
      <p:sp>
        <p:nvSpPr>
          <p:cNvPr id="19492" name="Rectangle 38"/>
          <p:cNvSpPr>
            <a:spLocks noChangeArrowheads="1"/>
          </p:cNvSpPr>
          <p:nvPr/>
        </p:nvSpPr>
        <p:spPr bwMode="auto">
          <a:xfrm>
            <a:off x="3733800" y="5410200"/>
            <a:ext cx="5334000" cy="1219200"/>
          </a:xfrm>
          <a:prstGeom prst="rect">
            <a:avLst/>
          </a:prstGeom>
          <a:noFill/>
          <a:ln w="9525">
            <a:noFill/>
            <a:miter lim="800000"/>
            <a:headEnd/>
            <a:tailEnd/>
          </a:ln>
        </p:spPr>
        <p:txBody>
          <a:bodyPr/>
          <a:lstStyle/>
          <a:p>
            <a:pPr marL="457200" indent="-457200">
              <a:lnSpc>
                <a:spcPct val="80000"/>
              </a:lnSpc>
              <a:spcBef>
                <a:spcPct val="20000"/>
              </a:spcBef>
              <a:buClr>
                <a:schemeClr val="folHlink"/>
              </a:buClr>
              <a:buSzPct val="60000"/>
              <a:buFont typeface="Wingdings" pitchFamily="2" charset="2"/>
              <a:buChar char="n"/>
            </a:pPr>
            <a:r>
              <a:rPr lang="en-US"/>
              <a:t>Association rules: (many more!)</a:t>
            </a:r>
          </a:p>
          <a:p>
            <a:pPr marL="914400" lvl="1" indent="-457200">
              <a:lnSpc>
                <a:spcPct val="80000"/>
              </a:lnSpc>
              <a:spcBef>
                <a:spcPct val="20000"/>
              </a:spcBef>
              <a:buClr>
                <a:schemeClr val="hlink"/>
              </a:buClr>
              <a:buSzPct val="55000"/>
              <a:buFont typeface="Wingdings" pitchFamily="2" charset="2"/>
              <a:buChar char="n"/>
            </a:pPr>
            <a:r>
              <a:rPr lang="en-US" i="1"/>
              <a:t>Beer </a:t>
            </a:r>
            <a:r>
              <a:rPr lang="en-US">
                <a:sym typeface="Wingdings" pitchFamily="2" charset="2"/>
              </a:rPr>
              <a:t></a:t>
            </a:r>
            <a:r>
              <a:rPr lang="en-US" i="1">
                <a:sym typeface="Symbol" pitchFamily="18" charset="2"/>
              </a:rPr>
              <a:t> Diaper  </a:t>
            </a:r>
            <a:r>
              <a:rPr lang="en-US">
                <a:sym typeface="Symbol" pitchFamily="18" charset="2"/>
              </a:rPr>
              <a:t>(60%, 100%)</a:t>
            </a:r>
          </a:p>
          <a:p>
            <a:pPr marL="914400" lvl="1" indent="-457200">
              <a:lnSpc>
                <a:spcPct val="80000"/>
              </a:lnSpc>
              <a:spcBef>
                <a:spcPct val="20000"/>
              </a:spcBef>
              <a:buClr>
                <a:schemeClr val="hlink"/>
              </a:buClr>
              <a:buSzPct val="55000"/>
              <a:buFont typeface="Wingdings" pitchFamily="2" charset="2"/>
              <a:buChar char="n"/>
            </a:pPr>
            <a:r>
              <a:rPr lang="en-US" i="1"/>
              <a:t>Diaper </a:t>
            </a:r>
            <a:r>
              <a:rPr lang="en-US">
                <a:sym typeface="Wingdings" pitchFamily="2" charset="2"/>
              </a:rPr>
              <a:t></a:t>
            </a:r>
            <a:r>
              <a:rPr lang="en-US" i="1">
                <a:sym typeface="Symbol" pitchFamily="18" charset="2"/>
              </a:rPr>
              <a:t> Beer  </a:t>
            </a:r>
            <a:r>
              <a:rPr lang="en-US">
                <a:sym typeface="Symbol" pitchFamily="18" charset="2"/>
              </a:rPr>
              <a:t>(60%, 75%)</a:t>
            </a:r>
          </a:p>
        </p:txBody>
      </p:sp>
    </p:spTree>
  </p:cSld>
  <p:clrMapOvr>
    <a:masterClrMapping/>
  </p:clrMapOvr>
  <p:transition spd="med">
    <p:zo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3"/>
          <p:cNvSpPr>
            <a:spLocks noChangeArrowheads="1"/>
          </p:cNvSpPr>
          <p:nvPr/>
        </p:nvSpPr>
        <p:spPr bwMode="auto">
          <a:xfrm>
            <a:off x="304800" y="1447800"/>
            <a:ext cx="8305800" cy="2819400"/>
          </a:xfrm>
          <a:prstGeom prst="rect">
            <a:avLst/>
          </a:prstGeom>
          <a:noFill/>
          <a:ln w="9525">
            <a:noFill/>
            <a:miter lim="800000"/>
            <a:headEnd/>
            <a:tailEnd/>
          </a:ln>
        </p:spPr>
        <p:txBody>
          <a:bodyPr/>
          <a:lstStyle/>
          <a:p>
            <a:pPr marL="457200" indent="-457200" eaLnBrk="1" hangingPunct="1">
              <a:spcBef>
                <a:spcPct val="20000"/>
              </a:spcBef>
            </a:pPr>
            <a:r>
              <a:rPr lang="en-US" altLang="en-US" sz="2800" b="0">
                <a:latin typeface="Tahoma" pitchFamily="34" charset="0"/>
              </a:rPr>
              <a:t>The most commonly used “</a:t>
            </a:r>
            <a:r>
              <a:rPr lang="en-US" altLang="en-US" sz="2800" b="0">
                <a:solidFill>
                  <a:srgbClr val="C00000"/>
                </a:solidFill>
                <a:latin typeface="Tahoma" pitchFamily="34" charset="0"/>
              </a:rPr>
              <a:t>interestingness</a:t>
            </a:r>
            <a:r>
              <a:rPr lang="en-US" altLang="en-US" sz="2800" b="0">
                <a:latin typeface="Tahoma" pitchFamily="34" charset="0"/>
              </a:rPr>
              <a:t>” measures are:</a:t>
            </a:r>
          </a:p>
          <a:p>
            <a:pPr marL="914400" lvl="1" indent="-457200" eaLnBrk="1" hangingPunct="1">
              <a:spcBef>
                <a:spcPct val="20000"/>
              </a:spcBef>
              <a:buFontTx/>
              <a:buAutoNum type="arabicPeriod"/>
            </a:pPr>
            <a:r>
              <a:rPr lang="en-US" altLang="en-US" sz="2800" b="0">
                <a:latin typeface="Tahoma" pitchFamily="34" charset="0"/>
              </a:rPr>
              <a:t>Support</a:t>
            </a:r>
          </a:p>
          <a:p>
            <a:pPr marL="914400" lvl="1" indent="-457200" eaLnBrk="1" hangingPunct="1">
              <a:spcBef>
                <a:spcPct val="20000"/>
              </a:spcBef>
              <a:buFontTx/>
              <a:buAutoNum type="arabicPeriod"/>
            </a:pPr>
            <a:r>
              <a:rPr lang="en-US" altLang="en-US" sz="2800" b="0">
                <a:latin typeface="Tahoma" pitchFamily="34" charset="0"/>
              </a:rPr>
              <a:t>Confidence</a:t>
            </a:r>
          </a:p>
        </p:txBody>
      </p:sp>
      <p:sp>
        <p:nvSpPr>
          <p:cNvPr id="31747" name="Rectangle 8"/>
          <p:cNvSpPr>
            <a:spLocks noGrp="1" noChangeArrowheads="1"/>
          </p:cNvSpPr>
          <p:nvPr>
            <p:ph type="title"/>
          </p:nvPr>
        </p:nvSpPr>
        <p:spPr>
          <a:xfrm>
            <a:off x="685800" y="152400"/>
            <a:ext cx="7772400" cy="1143000"/>
          </a:xfrm>
        </p:spPr>
        <p:txBody>
          <a:bodyPr/>
          <a:lstStyle/>
          <a:p>
            <a:pPr eaLnBrk="1" hangingPunct="1"/>
            <a:r>
              <a:rPr lang="en-US" altLang="en-US" sz="4000"/>
              <a:t>Association Rules Measurement</a:t>
            </a:r>
          </a:p>
        </p:txBody>
      </p:sp>
    </p:spTree>
  </p:cSld>
  <p:clrMapOvr>
    <a:masterClrMapping/>
  </p:clrMapOvr>
  <p:transition spd="med">
    <p:zoom/>
  </p:transition>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609600" y="228600"/>
            <a:ext cx="7772400" cy="914400"/>
          </a:xfrm>
        </p:spPr>
        <p:txBody>
          <a:bodyPr/>
          <a:lstStyle/>
          <a:p>
            <a:pPr eaLnBrk="1" hangingPunct="1"/>
            <a:r>
              <a:rPr lang="en-US" altLang="en-US"/>
              <a:t>Itemset Support</a:t>
            </a:r>
          </a:p>
        </p:txBody>
      </p:sp>
      <p:sp>
        <p:nvSpPr>
          <p:cNvPr id="346115" name="Rectangle 3"/>
          <p:cNvSpPr>
            <a:spLocks noGrp="1" noChangeArrowheads="1"/>
          </p:cNvSpPr>
          <p:nvPr>
            <p:ph type="body" idx="1"/>
          </p:nvPr>
        </p:nvSpPr>
        <p:spPr>
          <a:xfrm>
            <a:off x="685800" y="1143000"/>
            <a:ext cx="7772400" cy="4724400"/>
          </a:xfrm>
        </p:spPr>
        <p:txBody>
          <a:bodyPr/>
          <a:lstStyle/>
          <a:p>
            <a:pPr marL="457200" indent="-457200" eaLnBrk="1" hangingPunct="1"/>
            <a:r>
              <a:rPr lang="en-US" altLang="en-US" b="1" u="sng"/>
              <a:t>Support</a:t>
            </a:r>
            <a:r>
              <a:rPr lang="en-US" altLang="en-US"/>
              <a:t>: A measure of the frequency with which an itemset occurs in a DB.</a:t>
            </a:r>
          </a:p>
          <a:p>
            <a:pPr marL="457200" indent="-457200" eaLnBrk="1" hangingPunct="1"/>
            <a:endParaRPr lang="en-US" altLang="en-US"/>
          </a:p>
          <a:p>
            <a:pPr marL="457200" indent="-457200" eaLnBrk="1" hangingPunct="1"/>
            <a:endParaRPr lang="en-US" altLang="en-US"/>
          </a:p>
          <a:p>
            <a:pPr marL="457200" indent="-457200" eaLnBrk="1" hangingPunct="1"/>
            <a:r>
              <a:rPr lang="en-US" altLang="en-US"/>
              <a:t>If an itemset has support higher than some specified threshold we say that the itemset is </a:t>
            </a:r>
            <a:r>
              <a:rPr lang="en-US" altLang="en-US" i="1"/>
              <a:t>supported</a:t>
            </a:r>
            <a:r>
              <a:rPr lang="en-US" altLang="en-US"/>
              <a:t> or </a:t>
            </a:r>
            <a:r>
              <a:rPr lang="en-US" altLang="en-US" i="1"/>
              <a:t>frequent</a:t>
            </a:r>
            <a:r>
              <a:rPr lang="en-US" altLang="en-US"/>
              <a:t> (some authors use the term </a:t>
            </a:r>
            <a:r>
              <a:rPr lang="en-US" altLang="en-US" i="1"/>
              <a:t>large</a:t>
            </a:r>
            <a:r>
              <a:rPr lang="en-US" altLang="en-US"/>
              <a:t>).</a:t>
            </a:r>
          </a:p>
          <a:p>
            <a:pPr marL="457200" indent="-457200" eaLnBrk="1" hangingPunct="1"/>
            <a:r>
              <a:rPr lang="en-US" altLang="en-US"/>
              <a:t>Support threshold is normally set reasonably low (say) 1%.</a:t>
            </a:r>
          </a:p>
        </p:txBody>
      </p:sp>
      <p:sp>
        <p:nvSpPr>
          <p:cNvPr id="346116" name="Rectangle 4"/>
          <p:cNvSpPr>
            <a:spLocks noChangeArrowheads="1"/>
          </p:cNvSpPr>
          <p:nvPr/>
        </p:nvSpPr>
        <p:spPr bwMode="auto">
          <a:xfrm>
            <a:off x="457200" y="2133600"/>
            <a:ext cx="8382000" cy="1143000"/>
          </a:xfrm>
          <a:prstGeom prst="rect">
            <a:avLst/>
          </a:prstGeom>
          <a:solidFill>
            <a:schemeClr val="bg1"/>
          </a:solidFill>
          <a:ln w="19050">
            <a:solidFill>
              <a:schemeClr val="tx2"/>
            </a:solidFill>
            <a:miter lim="800000"/>
            <a:headEnd/>
            <a:tailEnd/>
          </a:ln>
        </p:spPr>
        <p:txBody>
          <a:bodyPr/>
          <a:lstStyle/>
          <a:p>
            <a:pPr marL="342900" indent="-342900" algn="ctr" eaLnBrk="1" hangingPunct="1">
              <a:spcBef>
                <a:spcPct val="20000"/>
              </a:spcBef>
            </a:pPr>
            <a:r>
              <a:rPr lang="en-US" altLang="en-US" sz="2800">
                <a:latin typeface="Tahoma" pitchFamily="34" charset="0"/>
              </a:rPr>
              <a:t>supp(A) = # records that contain A</a:t>
            </a:r>
          </a:p>
          <a:p>
            <a:pPr marL="342900" indent="-342900" algn="ctr" eaLnBrk="1" hangingPunct="1">
              <a:spcBef>
                <a:spcPct val="20000"/>
              </a:spcBef>
            </a:pPr>
            <a:r>
              <a:rPr lang="en-US" altLang="en-US" sz="2800">
                <a:latin typeface="Tahoma" pitchFamily="34" charset="0"/>
              </a:rPr>
              <a:t>         m</a:t>
            </a:r>
          </a:p>
        </p:txBody>
      </p:sp>
      <p:sp>
        <p:nvSpPr>
          <p:cNvPr id="346117" name="Line 5"/>
          <p:cNvSpPr>
            <a:spLocks noChangeShapeType="1"/>
          </p:cNvSpPr>
          <p:nvPr/>
        </p:nvSpPr>
        <p:spPr bwMode="auto">
          <a:xfrm>
            <a:off x="3276600" y="2819400"/>
            <a:ext cx="4664075" cy="0"/>
          </a:xfrm>
          <a:prstGeom prst="line">
            <a:avLst/>
          </a:prstGeom>
          <a:noFill/>
          <a:ln w="28575">
            <a:solidFill>
              <a:schemeClr val="tx1"/>
            </a:solidFill>
            <a:miter lim="800000"/>
            <a:headEnd/>
            <a:tailEnd/>
          </a:ln>
        </p:spPr>
        <p:txBody>
          <a:bodyPr anchor="ctr"/>
          <a:lstStyle/>
          <a:p>
            <a:endParaRPr lang="en-US"/>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611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461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46117"/>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46115">
                                            <p:txEl>
                                              <p:pRg st="3" end="3"/>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4611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6115" grpId="0" build="p"/>
      <p:bldP spid="346116" grpId="0" animBg="1"/>
      <p:bldP spid="346117" grpId="0" animBg="1"/>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609600" y="152400"/>
            <a:ext cx="7772400" cy="762000"/>
          </a:xfrm>
        </p:spPr>
        <p:txBody>
          <a:bodyPr/>
          <a:lstStyle/>
          <a:p>
            <a:pPr eaLnBrk="1" hangingPunct="1"/>
            <a:r>
              <a:rPr lang="en-US" altLang="en-US"/>
              <a:t>Confidence</a:t>
            </a:r>
          </a:p>
        </p:txBody>
      </p:sp>
      <p:sp>
        <p:nvSpPr>
          <p:cNvPr id="347139" name="Rectangle 3"/>
          <p:cNvSpPr>
            <a:spLocks noGrp="1" noChangeArrowheads="1"/>
          </p:cNvSpPr>
          <p:nvPr>
            <p:ph type="body" idx="1"/>
          </p:nvPr>
        </p:nvSpPr>
        <p:spPr>
          <a:xfrm>
            <a:off x="685800" y="990600"/>
            <a:ext cx="7772400" cy="4114800"/>
          </a:xfrm>
        </p:spPr>
        <p:txBody>
          <a:bodyPr/>
          <a:lstStyle/>
          <a:p>
            <a:pPr eaLnBrk="1" hangingPunct="1"/>
            <a:r>
              <a:rPr lang="en-US" altLang="en-US" b="1" u="sng"/>
              <a:t>Confidence</a:t>
            </a:r>
            <a:r>
              <a:rPr lang="en-US" altLang="en-US"/>
              <a:t>: A measure, expressed as a ratio, of the support for an AR compared to the support of its </a:t>
            </a:r>
            <a:r>
              <a:rPr lang="en-US" altLang="en-US" sz="4000"/>
              <a:t>antecedent</a:t>
            </a:r>
            <a:r>
              <a:rPr lang="en-US" altLang="en-US"/>
              <a:t>.</a:t>
            </a:r>
          </a:p>
          <a:p>
            <a:pPr eaLnBrk="1" hangingPunct="1"/>
            <a:endParaRPr lang="en-US" altLang="en-US"/>
          </a:p>
          <a:p>
            <a:pPr eaLnBrk="1" hangingPunct="1"/>
            <a:endParaRPr lang="en-US" altLang="en-US"/>
          </a:p>
          <a:p>
            <a:pPr eaLnBrk="1" hangingPunct="1"/>
            <a:r>
              <a:rPr lang="en-US" altLang="en-US"/>
              <a:t>We say that we are confident in a rule if its confidence exceeds some threshold (normally set reasonably high, say, 80%).</a:t>
            </a:r>
          </a:p>
          <a:p>
            <a:pPr eaLnBrk="1" hangingPunct="1">
              <a:buFontTx/>
              <a:buNone/>
            </a:pPr>
            <a:endParaRPr lang="en-US" altLang="en-US"/>
          </a:p>
          <a:p>
            <a:pPr eaLnBrk="1" hangingPunct="1"/>
            <a:endParaRPr lang="en-US" altLang="en-US"/>
          </a:p>
        </p:txBody>
      </p:sp>
      <p:sp>
        <p:nvSpPr>
          <p:cNvPr id="347140" name="Rectangle 4"/>
          <p:cNvSpPr>
            <a:spLocks noChangeArrowheads="1"/>
          </p:cNvSpPr>
          <p:nvPr/>
        </p:nvSpPr>
        <p:spPr bwMode="auto">
          <a:xfrm>
            <a:off x="762000" y="3276600"/>
            <a:ext cx="7848600" cy="1143000"/>
          </a:xfrm>
          <a:prstGeom prst="rect">
            <a:avLst/>
          </a:prstGeom>
          <a:solidFill>
            <a:srgbClr val="FFFFFF"/>
          </a:solidFill>
          <a:ln w="19050">
            <a:solidFill>
              <a:schemeClr val="tx2"/>
            </a:solidFill>
            <a:miter lim="800000"/>
            <a:headEnd/>
            <a:tailEnd/>
          </a:ln>
        </p:spPr>
        <p:txBody>
          <a:bodyPr/>
          <a:lstStyle/>
          <a:p>
            <a:pPr marL="342900" indent="-342900" algn="ctr" eaLnBrk="1" hangingPunct="1">
              <a:spcBef>
                <a:spcPct val="20000"/>
              </a:spcBef>
            </a:pPr>
            <a:r>
              <a:rPr lang="en-US" altLang="en-US" sz="2800">
                <a:solidFill>
                  <a:schemeClr val="tx2"/>
                </a:solidFill>
                <a:latin typeface="Tahoma" pitchFamily="34" charset="0"/>
              </a:rPr>
              <a:t>conf(A</a:t>
            </a:r>
            <a:r>
              <a:rPr lang="en-US" altLang="en-US" sz="2800">
                <a:solidFill>
                  <a:schemeClr val="tx2"/>
                </a:solidFill>
                <a:latin typeface="Tahoma" pitchFamily="34" charset="0"/>
                <a:sym typeface="Symbol" pitchFamily="18" charset="2"/>
              </a:rPr>
              <a:t></a:t>
            </a:r>
            <a:r>
              <a:rPr lang="en-US" altLang="en-US" sz="2800">
                <a:solidFill>
                  <a:schemeClr val="tx2"/>
                </a:solidFill>
                <a:latin typeface="Tahoma" pitchFamily="34" charset="0"/>
              </a:rPr>
              <a:t>B) = supp(A</a:t>
            </a:r>
            <a:r>
              <a:rPr lang="en-US" altLang="en-US" sz="2800">
                <a:solidFill>
                  <a:schemeClr val="tx2"/>
                </a:solidFill>
                <a:latin typeface="Tahoma" pitchFamily="34" charset="0"/>
                <a:sym typeface="Symbol" pitchFamily="18" charset="2"/>
              </a:rPr>
              <a:t></a:t>
            </a:r>
            <a:r>
              <a:rPr lang="en-US" altLang="en-US" sz="2800">
                <a:solidFill>
                  <a:schemeClr val="tx2"/>
                </a:solidFill>
                <a:latin typeface="Tahoma" pitchFamily="34" charset="0"/>
              </a:rPr>
              <a:t>B)</a:t>
            </a:r>
          </a:p>
          <a:p>
            <a:pPr marL="342900" indent="-342900" algn="ctr" eaLnBrk="1" hangingPunct="1">
              <a:spcBef>
                <a:spcPct val="20000"/>
              </a:spcBef>
            </a:pPr>
            <a:r>
              <a:rPr lang="en-US" altLang="en-US" sz="2800">
                <a:solidFill>
                  <a:schemeClr val="tx2"/>
                </a:solidFill>
                <a:latin typeface="Tahoma" pitchFamily="34" charset="0"/>
              </a:rPr>
              <a:t>                        supp(A)</a:t>
            </a:r>
          </a:p>
        </p:txBody>
      </p:sp>
      <p:sp>
        <p:nvSpPr>
          <p:cNvPr id="347141" name="Line 5"/>
          <p:cNvSpPr>
            <a:spLocks noChangeShapeType="1"/>
          </p:cNvSpPr>
          <p:nvPr/>
        </p:nvSpPr>
        <p:spPr bwMode="auto">
          <a:xfrm>
            <a:off x="4724400" y="3810000"/>
            <a:ext cx="2468563" cy="0"/>
          </a:xfrm>
          <a:prstGeom prst="line">
            <a:avLst/>
          </a:prstGeom>
          <a:noFill/>
          <a:ln w="28575">
            <a:solidFill>
              <a:schemeClr val="tx1"/>
            </a:solidFill>
            <a:miter lim="800000"/>
            <a:headEnd/>
            <a:tailEnd/>
          </a:ln>
        </p:spPr>
        <p:txBody>
          <a:bodyPr anchor="ctr"/>
          <a:lstStyle/>
          <a:p>
            <a:endParaRPr lang="en-US"/>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713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4714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47141"/>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4713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7139" grpId="0" build="p"/>
      <p:bldP spid="347140" grpId="0" animBg="1"/>
      <p:bldP spid="34714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Association Rule Mining</a:t>
            </a:r>
          </a:p>
        </p:txBody>
      </p:sp>
      <p:sp>
        <p:nvSpPr>
          <p:cNvPr id="3" name="Content Placeholder 2"/>
          <p:cNvSpPr>
            <a:spLocks noGrp="1"/>
          </p:cNvSpPr>
          <p:nvPr>
            <p:ph idx="1"/>
          </p:nvPr>
        </p:nvSpPr>
        <p:spPr/>
        <p:txBody>
          <a:bodyPr/>
          <a:lstStyle/>
          <a:p>
            <a:pPr>
              <a:buNone/>
            </a:pPr>
            <a:r>
              <a:rPr lang="en-US" dirty="0">
                <a:solidFill>
                  <a:schemeClr val="tx1"/>
                </a:solidFill>
                <a:latin typeface="+mn-lt"/>
                <a:ea typeface="+mn-ea"/>
                <a:cs typeface="+mn-cs"/>
              </a:rPr>
              <a:t>In general, association rule mining can be viewed as a two-step process:</a:t>
            </a:r>
          </a:p>
          <a:p>
            <a:r>
              <a:rPr lang="en-US" b="1" dirty="0">
                <a:solidFill>
                  <a:schemeClr val="tx1"/>
                </a:solidFill>
                <a:latin typeface="+mn-lt"/>
                <a:ea typeface="+mn-ea"/>
                <a:cs typeface="+mn-cs"/>
              </a:rPr>
              <a:t>1. Find all frequent </a:t>
            </a:r>
            <a:r>
              <a:rPr lang="en-US" b="1" dirty="0" err="1">
                <a:solidFill>
                  <a:schemeClr val="tx1"/>
                </a:solidFill>
                <a:latin typeface="+mn-lt"/>
                <a:ea typeface="+mn-ea"/>
                <a:cs typeface="+mn-cs"/>
              </a:rPr>
              <a:t>itemsets</a:t>
            </a:r>
            <a:r>
              <a:rPr lang="en-US" b="1" dirty="0">
                <a:solidFill>
                  <a:schemeClr val="tx1"/>
                </a:solidFill>
                <a:latin typeface="+mn-lt"/>
                <a:ea typeface="+mn-ea"/>
                <a:cs typeface="+mn-cs"/>
              </a:rPr>
              <a:t>: </a:t>
            </a:r>
            <a:r>
              <a:rPr lang="en-US" dirty="0"/>
              <a:t>By definition, each of these </a:t>
            </a:r>
            <a:r>
              <a:rPr lang="en-US" dirty="0" err="1"/>
              <a:t>itemsets</a:t>
            </a:r>
            <a:r>
              <a:rPr lang="en-US" dirty="0"/>
              <a:t> will occur at least as frequently as a predetermined minimum support </a:t>
            </a:r>
            <a:r>
              <a:rPr lang="en-US" dirty="0">
                <a:solidFill>
                  <a:schemeClr val="tx1"/>
                </a:solidFill>
                <a:latin typeface="+mn-lt"/>
                <a:ea typeface="+mn-ea"/>
                <a:cs typeface="+mn-cs"/>
              </a:rPr>
              <a:t>count, </a:t>
            </a:r>
            <a:r>
              <a:rPr lang="en-US" i="1" dirty="0">
                <a:solidFill>
                  <a:schemeClr val="tx1"/>
                </a:solidFill>
                <a:latin typeface="+mn-lt"/>
                <a:ea typeface="+mn-ea"/>
                <a:cs typeface="+mn-cs"/>
              </a:rPr>
              <a:t>min sup.</a:t>
            </a:r>
          </a:p>
          <a:p>
            <a:r>
              <a:rPr lang="en-US" b="1" dirty="0">
                <a:solidFill>
                  <a:schemeClr val="tx1"/>
                </a:solidFill>
                <a:latin typeface="+mn-lt"/>
                <a:ea typeface="+mn-ea"/>
                <a:cs typeface="+mn-cs"/>
              </a:rPr>
              <a:t>2. Generate strong association rules from the frequent </a:t>
            </a:r>
            <a:r>
              <a:rPr lang="en-US" b="1" dirty="0" err="1">
                <a:solidFill>
                  <a:schemeClr val="tx1"/>
                </a:solidFill>
                <a:latin typeface="+mn-lt"/>
                <a:ea typeface="+mn-ea"/>
                <a:cs typeface="+mn-cs"/>
              </a:rPr>
              <a:t>itemsets</a:t>
            </a:r>
            <a:r>
              <a:rPr lang="en-US" b="1" dirty="0">
                <a:solidFill>
                  <a:schemeClr val="tx1"/>
                </a:solidFill>
                <a:latin typeface="+mn-lt"/>
                <a:ea typeface="+mn-ea"/>
                <a:cs typeface="+mn-cs"/>
              </a:rPr>
              <a:t>: </a:t>
            </a:r>
            <a:r>
              <a:rPr lang="en-US" dirty="0"/>
              <a:t>By definition, these rules must satisfy minimum support and minimum confidence.</a:t>
            </a:r>
          </a:p>
        </p:txBody>
      </p:sp>
      <p:sp>
        <p:nvSpPr>
          <p:cNvPr id="4" name="Slide Number Placeholder 3"/>
          <p:cNvSpPr>
            <a:spLocks noGrp="1"/>
          </p:cNvSpPr>
          <p:nvPr>
            <p:ph type="sldNum" sz="quarter" idx="10"/>
          </p:nvPr>
        </p:nvSpPr>
        <p:spPr/>
        <p:txBody>
          <a:bodyPr/>
          <a:lstStyle/>
          <a:p>
            <a:pPr>
              <a:defRPr/>
            </a:pPr>
            <a:fld id="{18411881-BCF6-40F7-96CE-96EDB10FFC86}" type="slidenum">
              <a:rPr lang="en-US" smtClean="0"/>
              <a:pPr>
                <a:defRPr/>
              </a:pPr>
              <a:t>10</a:t>
            </a:fld>
            <a:endParaRPr lang="en-US"/>
          </a:p>
        </p:txBody>
      </p:sp>
    </p:spTree>
  </p:cSld>
  <p:clrMapOvr>
    <a:masterClrMapping/>
  </p:clrMapOvr>
  <p:transition spd="med">
    <p:zo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1394" name="Rectangle 2"/>
          <p:cNvSpPr>
            <a:spLocks noGrp="1" noChangeArrowheads="1"/>
          </p:cNvSpPr>
          <p:nvPr>
            <p:ph type="title"/>
          </p:nvPr>
        </p:nvSpPr>
        <p:spPr/>
        <p:txBody>
          <a:bodyPr/>
          <a:lstStyle/>
          <a:p>
            <a:r>
              <a:rPr lang="en-US"/>
              <a:t>Mining Association Rules</a:t>
            </a:r>
          </a:p>
        </p:txBody>
      </p:sp>
      <p:sp>
        <p:nvSpPr>
          <p:cNvPr id="1211396" name="Text Box 4"/>
          <p:cNvSpPr txBox="1">
            <a:spLocks noChangeArrowheads="1"/>
          </p:cNvSpPr>
          <p:nvPr/>
        </p:nvSpPr>
        <p:spPr bwMode="auto">
          <a:xfrm>
            <a:off x="4267200" y="1219200"/>
            <a:ext cx="4724400" cy="2438400"/>
          </a:xfrm>
          <a:prstGeom prst="rect">
            <a:avLst/>
          </a:prstGeom>
          <a:noFill/>
          <a:ln w="12700">
            <a:noFill/>
            <a:miter lim="800000"/>
            <a:headEnd/>
            <a:tailEnd/>
          </a:ln>
          <a:effectLst/>
        </p:spPr>
        <p:txBody>
          <a:bodyPr>
            <a:spAutoFit/>
          </a:bodyPr>
          <a:lstStyle/>
          <a:p>
            <a:r>
              <a:rPr lang="en-US" sz="2400" b="0">
                <a:solidFill>
                  <a:srgbClr val="CC3300"/>
                </a:solidFill>
                <a:sym typeface="Symbol" pitchFamily="18" charset="2"/>
              </a:rPr>
              <a:t>Example of Rules:</a:t>
            </a:r>
            <a:br>
              <a:rPr lang="en-US" sz="2400" b="0">
                <a:solidFill>
                  <a:srgbClr val="CC3300"/>
                </a:solidFill>
                <a:sym typeface="Symbol" pitchFamily="18" charset="2"/>
              </a:rPr>
            </a:br>
            <a:endParaRPr lang="en-US" sz="1000" b="0">
              <a:solidFill>
                <a:srgbClr val="CC3300"/>
              </a:solidFill>
              <a:sym typeface="Symbol" pitchFamily="18" charset="2"/>
            </a:endParaRPr>
          </a:p>
          <a:p>
            <a:r>
              <a:rPr lang="en-US" sz="2000" b="0"/>
              <a:t>{Milk,Diaper} </a:t>
            </a:r>
            <a:r>
              <a:rPr lang="en-US" sz="2000" b="0">
                <a:sym typeface="Symbol" pitchFamily="18" charset="2"/>
              </a:rPr>
              <a:t> {Beer} (s=0.4, c=0.67)</a:t>
            </a:r>
            <a:br>
              <a:rPr lang="en-US" sz="2000" b="0">
                <a:sym typeface="Symbol" pitchFamily="18" charset="2"/>
              </a:rPr>
            </a:br>
            <a:r>
              <a:rPr lang="en-US" sz="2000" b="0"/>
              <a:t>{Milk,Beer} </a:t>
            </a:r>
            <a:r>
              <a:rPr lang="en-US" sz="2000" b="0">
                <a:sym typeface="Symbol" pitchFamily="18" charset="2"/>
              </a:rPr>
              <a:t> {Diaper} (s=0.4, c=1.0)</a:t>
            </a:r>
          </a:p>
          <a:p>
            <a:r>
              <a:rPr lang="en-US" sz="2000" b="0"/>
              <a:t>{Diaper,Beer} </a:t>
            </a:r>
            <a:r>
              <a:rPr lang="en-US" sz="2000" b="0">
                <a:sym typeface="Symbol" pitchFamily="18" charset="2"/>
              </a:rPr>
              <a:t> {Milk} (s=0.4, c=0.67)</a:t>
            </a:r>
          </a:p>
          <a:p>
            <a:r>
              <a:rPr lang="en-US" sz="2000" b="0">
                <a:sym typeface="Symbol" pitchFamily="18" charset="2"/>
              </a:rPr>
              <a:t>{Beer}  {Milk,Diaper} (s=0.4, c=0.67) </a:t>
            </a:r>
            <a:br>
              <a:rPr lang="en-US" sz="2000" b="0">
                <a:sym typeface="Symbol" pitchFamily="18" charset="2"/>
              </a:rPr>
            </a:br>
            <a:r>
              <a:rPr lang="en-US" sz="2000" b="0">
                <a:sym typeface="Symbol" pitchFamily="18" charset="2"/>
              </a:rPr>
              <a:t>{Diaper}  {Milk,Beer} (s=0.4, c=0.5) </a:t>
            </a:r>
          </a:p>
          <a:p>
            <a:r>
              <a:rPr lang="en-US" sz="2000" b="0">
                <a:sym typeface="Symbol" pitchFamily="18" charset="2"/>
              </a:rPr>
              <a:t>{Milk}  {Diaper,Beer} (s=0.4, c=0.5)</a:t>
            </a:r>
          </a:p>
        </p:txBody>
      </p:sp>
      <p:graphicFrame>
        <p:nvGraphicFramePr>
          <p:cNvPr id="1211397" name="Object 5"/>
          <p:cNvGraphicFramePr>
            <a:graphicFrameLocks noGrp="1" noChangeAspect="1"/>
          </p:cNvGraphicFramePr>
          <p:nvPr>
            <p:ph idx="1"/>
          </p:nvPr>
        </p:nvGraphicFramePr>
        <p:xfrm>
          <a:off x="304800" y="1524000"/>
          <a:ext cx="3733800" cy="2241550"/>
        </p:xfrm>
        <a:graphic>
          <a:graphicData uri="http://schemas.openxmlformats.org/presentationml/2006/ole">
            <mc:AlternateContent xmlns:mc="http://schemas.openxmlformats.org/markup-compatibility/2006">
              <mc:Choice xmlns:v="urn:schemas-microsoft-com:vml" Requires="v">
                <p:oleObj name="Document" r:id="rId2" imgW="3359338" imgH="2015504" progId="Word.Document.8">
                  <p:embed/>
                </p:oleObj>
              </mc:Choice>
              <mc:Fallback>
                <p:oleObj name="Document" r:id="rId2" imgW="3359338" imgH="2015504" progId="Word.Document.8">
                  <p:embed/>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1524000"/>
                        <a:ext cx="3733800" cy="2241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11399" name="Text Box 7"/>
          <p:cNvSpPr txBox="1">
            <a:spLocks noChangeArrowheads="1"/>
          </p:cNvSpPr>
          <p:nvPr/>
        </p:nvSpPr>
        <p:spPr bwMode="auto">
          <a:xfrm>
            <a:off x="381000" y="3886200"/>
            <a:ext cx="7924800" cy="2438400"/>
          </a:xfrm>
          <a:prstGeom prst="rect">
            <a:avLst/>
          </a:prstGeom>
          <a:noFill/>
          <a:ln w="12700">
            <a:noFill/>
            <a:miter lim="800000"/>
            <a:headEnd/>
            <a:tailEnd/>
          </a:ln>
          <a:effectLst/>
        </p:spPr>
        <p:txBody>
          <a:bodyPr>
            <a:spAutoFit/>
          </a:bodyPr>
          <a:lstStyle/>
          <a:p>
            <a:r>
              <a:rPr lang="en-US" sz="2400" b="0">
                <a:solidFill>
                  <a:srgbClr val="CC3300"/>
                </a:solidFill>
                <a:sym typeface="Symbol" pitchFamily="18" charset="2"/>
              </a:rPr>
              <a:t>Observations:</a:t>
            </a:r>
          </a:p>
          <a:p>
            <a:pPr>
              <a:spcBef>
                <a:spcPct val="50000"/>
              </a:spcBef>
              <a:buFontTx/>
              <a:buChar char="•"/>
            </a:pPr>
            <a:r>
              <a:rPr lang="en-US" sz="2000" b="0">
                <a:sym typeface="Symbol" pitchFamily="18" charset="2"/>
              </a:rPr>
              <a:t> All the above rules are binary partitions of the same itemset: </a:t>
            </a:r>
            <a:br>
              <a:rPr lang="en-US" sz="2000" b="0">
                <a:sym typeface="Symbol" pitchFamily="18" charset="2"/>
              </a:rPr>
            </a:br>
            <a:r>
              <a:rPr lang="en-US" sz="2000" b="0">
                <a:sym typeface="Symbol" pitchFamily="18" charset="2"/>
              </a:rPr>
              <a:t>	{Milk, Diaper, Beer}</a:t>
            </a:r>
          </a:p>
          <a:p>
            <a:pPr>
              <a:spcBef>
                <a:spcPct val="50000"/>
              </a:spcBef>
              <a:buFontTx/>
              <a:buChar char="•"/>
            </a:pPr>
            <a:r>
              <a:rPr lang="en-US" sz="2000" b="0">
                <a:sym typeface="Symbol" pitchFamily="18" charset="2"/>
              </a:rPr>
              <a:t> Rules originating from the same itemset have identical support but</a:t>
            </a:r>
            <a:br>
              <a:rPr lang="en-US" sz="2000" b="0">
                <a:sym typeface="Symbol" pitchFamily="18" charset="2"/>
              </a:rPr>
            </a:br>
            <a:r>
              <a:rPr lang="en-US" sz="2000" b="0">
                <a:sym typeface="Symbol" pitchFamily="18" charset="2"/>
              </a:rPr>
              <a:t>  can have different confidence</a:t>
            </a:r>
          </a:p>
          <a:p>
            <a:pPr>
              <a:spcBef>
                <a:spcPct val="50000"/>
              </a:spcBef>
              <a:buFontTx/>
              <a:buChar char="•"/>
            </a:pPr>
            <a:r>
              <a:rPr lang="en-US" sz="2000" b="0">
                <a:sym typeface="Symbol" pitchFamily="18" charset="2"/>
              </a:rPr>
              <a:t> Thus, we may decouple the support and confidence requirements</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113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139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5"/>
          <p:cNvSpPr>
            <a:spLocks noGrp="1"/>
          </p:cNvSpPr>
          <p:nvPr>
            <p:ph type="sldNum" sz="quarter" idx="10"/>
          </p:nvPr>
        </p:nvSpPr>
        <p:spPr>
          <a:noFill/>
        </p:spPr>
        <p:txBody>
          <a:bodyPr/>
          <a:lstStyle/>
          <a:p>
            <a:fld id="{CC383651-90E3-4BC1-AA76-2C996DB0A748}" type="slidenum">
              <a:rPr lang="en-US" smtClean="0"/>
              <a:pPr/>
              <a:t>12</a:t>
            </a:fld>
            <a:endParaRPr lang="en-US"/>
          </a:p>
        </p:txBody>
      </p:sp>
      <p:sp>
        <p:nvSpPr>
          <p:cNvPr id="22531" name="Rectangle 2"/>
          <p:cNvSpPr>
            <a:spLocks noGrp="1" noChangeArrowheads="1"/>
          </p:cNvSpPr>
          <p:nvPr>
            <p:ph type="title"/>
          </p:nvPr>
        </p:nvSpPr>
        <p:spPr>
          <a:xfrm>
            <a:off x="-152400" y="304800"/>
            <a:ext cx="9372600" cy="685800"/>
          </a:xfrm>
          <a:noFill/>
        </p:spPr>
        <p:txBody>
          <a:bodyPr lIns="92075" tIns="46038" rIns="92075" bIns="46038" anchor="ctr"/>
          <a:lstStyle/>
          <a:p>
            <a:pPr eaLnBrk="1" hangingPunct="1"/>
            <a:r>
              <a:rPr lang="en-US" sz="3200"/>
              <a:t>Computational Complexity of Frequent Itemset Mining</a:t>
            </a:r>
          </a:p>
        </p:txBody>
      </p:sp>
      <p:sp>
        <p:nvSpPr>
          <p:cNvPr id="22532" name="Rectangle 3"/>
          <p:cNvSpPr>
            <a:spLocks noGrp="1" noChangeArrowheads="1"/>
          </p:cNvSpPr>
          <p:nvPr>
            <p:ph type="body" idx="1"/>
          </p:nvPr>
        </p:nvSpPr>
        <p:spPr>
          <a:xfrm>
            <a:off x="381000" y="1447800"/>
            <a:ext cx="8229600" cy="5029200"/>
          </a:xfrm>
          <a:noFill/>
        </p:spPr>
        <p:txBody>
          <a:bodyPr lIns="92075" tIns="46038" rIns="92075" bIns="46038"/>
          <a:lstStyle/>
          <a:p>
            <a:pPr eaLnBrk="1" hangingPunct="1">
              <a:lnSpc>
                <a:spcPct val="120000"/>
              </a:lnSpc>
            </a:pPr>
            <a:endParaRPr lang="en-US" altLang="zh-CN" sz="1800" dirty="0">
              <a:ea typeface="SimSun" pitchFamily="2" charset="-122"/>
            </a:endParaRPr>
          </a:p>
        </p:txBody>
      </p:sp>
      <p:pic>
        <p:nvPicPr>
          <p:cNvPr id="22533" name="Picture 5"/>
          <p:cNvPicPr>
            <a:picLocks noChangeAspect="1" noChangeArrowheads="1"/>
          </p:cNvPicPr>
          <p:nvPr/>
        </p:nvPicPr>
        <p:blipFill>
          <a:blip r:embed="rId3"/>
          <a:srcRect/>
          <a:stretch>
            <a:fillRect/>
          </a:stretch>
        </p:blipFill>
        <p:spPr bwMode="auto">
          <a:xfrm>
            <a:off x="-1" y="1524000"/>
            <a:ext cx="9144001" cy="4724400"/>
          </a:xfrm>
          <a:prstGeom prst="rect">
            <a:avLst/>
          </a:prstGeom>
          <a:noFill/>
          <a:ln w="9525" cap="flat" cmpd="sng">
            <a:noFill/>
            <a:prstDash val="solid"/>
            <a:miter lim="800000"/>
            <a:headEnd type="none" w="med" len="med"/>
            <a:tailEnd type="none" w="med" len="med"/>
          </a:ln>
          <a:effectLst/>
        </p:spPr>
      </p:pic>
    </p:spTree>
  </p:cSld>
  <p:clrMapOvr>
    <a:masterClrMapping/>
  </p:clrMapOvr>
  <p:transition>
    <p:zo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5"/>
          <p:cNvSpPr>
            <a:spLocks noGrp="1"/>
          </p:cNvSpPr>
          <p:nvPr>
            <p:ph type="sldNum" sz="quarter" idx="10"/>
          </p:nvPr>
        </p:nvSpPr>
        <p:spPr>
          <a:noFill/>
        </p:spPr>
        <p:txBody>
          <a:bodyPr/>
          <a:lstStyle/>
          <a:p>
            <a:fld id="{7EE2B390-099B-44F4-A792-2D254F033F5C}" type="slidenum">
              <a:rPr lang="en-US" smtClean="0"/>
              <a:pPr/>
              <a:t>13</a:t>
            </a:fld>
            <a:endParaRPr lang="en-US"/>
          </a:p>
        </p:txBody>
      </p:sp>
      <p:sp>
        <p:nvSpPr>
          <p:cNvPr id="24579" name="Rectangle 2"/>
          <p:cNvSpPr>
            <a:spLocks noGrp="1" noChangeArrowheads="1"/>
          </p:cNvSpPr>
          <p:nvPr>
            <p:ph type="title"/>
          </p:nvPr>
        </p:nvSpPr>
        <p:spPr>
          <a:xfrm>
            <a:off x="0" y="381000"/>
            <a:ext cx="9144000" cy="762000"/>
          </a:xfrm>
        </p:spPr>
        <p:txBody>
          <a:bodyPr/>
          <a:lstStyle/>
          <a:p>
            <a:pPr eaLnBrk="1" hangingPunct="1"/>
            <a:r>
              <a:rPr lang="en-US"/>
              <a:t>Scalable Frequent Itemset Mining Methods</a:t>
            </a:r>
          </a:p>
        </p:txBody>
      </p:sp>
      <p:sp>
        <p:nvSpPr>
          <p:cNvPr id="24580" name="Rectangle 3"/>
          <p:cNvSpPr>
            <a:spLocks noGrp="1" noChangeArrowheads="1"/>
          </p:cNvSpPr>
          <p:nvPr>
            <p:ph type="body" idx="1"/>
          </p:nvPr>
        </p:nvSpPr>
        <p:spPr/>
        <p:txBody>
          <a:bodyPr/>
          <a:lstStyle/>
          <a:p>
            <a:pPr eaLnBrk="1" hangingPunct="1">
              <a:lnSpc>
                <a:spcPct val="180000"/>
              </a:lnSpc>
            </a:pPr>
            <a:r>
              <a:rPr lang="en-US"/>
              <a:t>Apriori: A Candidate Generation-and-Test Approach</a:t>
            </a:r>
          </a:p>
          <a:p>
            <a:pPr eaLnBrk="1" hangingPunct="1">
              <a:lnSpc>
                <a:spcPct val="180000"/>
              </a:lnSpc>
            </a:pPr>
            <a:r>
              <a:rPr lang="en-US"/>
              <a:t>Improving the Efficiency of Apriori</a:t>
            </a:r>
          </a:p>
          <a:p>
            <a:pPr eaLnBrk="1" hangingPunct="1">
              <a:lnSpc>
                <a:spcPct val="180000"/>
              </a:lnSpc>
            </a:pPr>
            <a:r>
              <a:rPr lang="en-US"/>
              <a:t>FPGrowth:  A Frequent Pattern-Growth Approach</a:t>
            </a:r>
          </a:p>
          <a:p>
            <a:pPr eaLnBrk="1" hangingPunct="1">
              <a:lnSpc>
                <a:spcPct val="180000"/>
              </a:lnSpc>
            </a:pPr>
            <a:r>
              <a:rPr lang="en-US"/>
              <a:t>ECLAT: Frequent Pattern Mining with Vertical Data Format</a:t>
            </a:r>
          </a:p>
        </p:txBody>
      </p:sp>
      <p:sp>
        <p:nvSpPr>
          <p:cNvPr id="24581" name="AutoShape 4"/>
          <p:cNvSpPr>
            <a:spLocks noChangeArrowheads="1"/>
          </p:cNvSpPr>
          <p:nvPr/>
        </p:nvSpPr>
        <p:spPr bwMode="auto">
          <a:xfrm rot="269203">
            <a:off x="7848600" y="2057400"/>
            <a:ext cx="533400" cy="485775"/>
          </a:xfrm>
          <a:prstGeom prst="leftArrow">
            <a:avLst>
              <a:gd name="adj1" fmla="val 50000"/>
              <a:gd name="adj2" fmla="val 27451"/>
            </a:avLst>
          </a:prstGeom>
          <a:solidFill>
            <a:srgbClr val="CCFFCC"/>
          </a:solidFill>
          <a:ln w="9525">
            <a:solidFill>
              <a:schemeClr val="tx1"/>
            </a:solidFill>
            <a:miter lim="800000"/>
            <a:headEnd/>
            <a:tailEnd/>
          </a:ln>
        </p:spPr>
        <p:txBody>
          <a:bodyPr wrap="none" anchor="ctr"/>
          <a:lstStyle/>
          <a:p>
            <a:endParaRPr lang="en-US"/>
          </a:p>
        </p:txBody>
      </p:sp>
    </p:spTree>
  </p:cSld>
  <p:clrMapOvr>
    <a:masterClrMapping/>
  </p:clrMapOvr>
  <p:transition spd="med">
    <p:zo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Apriori</a:t>
            </a:r>
            <a:r>
              <a:rPr lang="en-US" dirty="0"/>
              <a:t> Property</a:t>
            </a:r>
          </a:p>
        </p:txBody>
      </p:sp>
      <p:sp>
        <p:nvSpPr>
          <p:cNvPr id="3" name="Content Placeholder 2"/>
          <p:cNvSpPr>
            <a:spLocks noGrp="1"/>
          </p:cNvSpPr>
          <p:nvPr>
            <p:ph idx="1"/>
          </p:nvPr>
        </p:nvSpPr>
        <p:spPr/>
        <p:txBody>
          <a:bodyPr/>
          <a:lstStyle/>
          <a:p>
            <a:r>
              <a:rPr lang="en-US" i="1" dirty="0">
                <a:solidFill>
                  <a:schemeClr val="tx1"/>
                </a:solidFill>
                <a:latin typeface="+mn-lt"/>
                <a:ea typeface="+mn-ea"/>
                <a:cs typeface="+mn-cs"/>
              </a:rPr>
              <a:t>All nonempty subsets of a frequent </a:t>
            </a:r>
            <a:r>
              <a:rPr lang="en-US" i="1" dirty="0" err="1">
                <a:solidFill>
                  <a:schemeClr val="tx1"/>
                </a:solidFill>
                <a:latin typeface="+mn-lt"/>
                <a:ea typeface="+mn-ea"/>
                <a:cs typeface="+mn-cs"/>
              </a:rPr>
              <a:t>itemset</a:t>
            </a:r>
            <a:r>
              <a:rPr lang="en-US" i="1" dirty="0">
                <a:solidFill>
                  <a:schemeClr val="tx1"/>
                </a:solidFill>
                <a:latin typeface="+mn-lt"/>
                <a:ea typeface="+mn-ea"/>
                <a:cs typeface="+mn-cs"/>
              </a:rPr>
              <a:t> must also be frequent.</a:t>
            </a:r>
          </a:p>
          <a:p>
            <a:r>
              <a:rPr lang="en-US" dirty="0">
                <a:solidFill>
                  <a:schemeClr val="tx1"/>
                </a:solidFill>
                <a:latin typeface="+mn-lt"/>
                <a:ea typeface="+mn-ea"/>
                <a:cs typeface="+mn-cs"/>
              </a:rPr>
              <a:t>The </a:t>
            </a:r>
            <a:r>
              <a:rPr lang="en-US" dirty="0" err="1">
                <a:solidFill>
                  <a:schemeClr val="tx1"/>
                </a:solidFill>
                <a:latin typeface="+mn-lt"/>
                <a:ea typeface="+mn-ea"/>
                <a:cs typeface="+mn-cs"/>
              </a:rPr>
              <a:t>Apriori</a:t>
            </a:r>
            <a:r>
              <a:rPr lang="en-US" dirty="0">
                <a:solidFill>
                  <a:schemeClr val="tx1"/>
                </a:solidFill>
                <a:latin typeface="+mn-lt"/>
                <a:ea typeface="+mn-ea"/>
                <a:cs typeface="+mn-cs"/>
              </a:rPr>
              <a:t> property is based on the following observation. By definition, if an </a:t>
            </a:r>
            <a:r>
              <a:rPr lang="en-US" dirty="0" err="1">
                <a:solidFill>
                  <a:schemeClr val="tx1"/>
                </a:solidFill>
                <a:latin typeface="+mn-lt"/>
                <a:ea typeface="+mn-ea"/>
                <a:cs typeface="+mn-cs"/>
              </a:rPr>
              <a:t>itemset</a:t>
            </a:r>
            <a:r>
              <a:rPr lang="en-US" dirty="0"/>
              <a:t> </a:t>
            </a:r>
            <a:r>
              <a:rPr lang="en-US" i="1" dirty="0">
                <a:solidFill>
                  <a:schemeClr val="tx1"/>
                </a:solidFill>
                <a:latin typeface="+mn-lt"/>
                <a:ea typeface="+mn-ea"/>
                <a:cs typeface="+mn-cs"/>
              </a:rPr>
              <a:t>I does not satisfy the minimum support threshold, min sup, then I is not frequent, </a:t>
            </a:r>
            <a:r>
              <a:rPr lang="en-US" dirty="0">
                <a:solidFill>
                  <a:schemeClr val="tx1"/>
                </a:solidFill>
                <a:latin typeface="+mn-lt"/>
                <a:ea typeface="+mn-ea"/>
                <a:cs typeface="+mn-cs"/>
              </a:rPr>
              <a:t>that is, </a:t>
            </a:r>
            <a:r>
              <a:rPr lang="en-US" i="1" dirty="0">
                <a:solidFill>
                  <a:schemeClr val="tx1"/>
                </a:solidFill>
                <a:latin typeface="+mn-lt"/>
                <a:ea typeface="+mn-ea"/>
                <a:cs typeface="+mn-cs"/>
              </a:rPr>
              <a:t>P.I/ &lt; min sup. </a:t>
            </a:r>
          </a:p>
          <a:p>
            <a:r>
              <a:rPr lang="en-US" i="1" dirty="0">
                <a:solidFill>
                  <a:schemeClr val="tx1"/>
                </a:solidFill>
                <a:latin typeface="+mn-lt"/>
                <a:ea typeface="+mn-ea"/>
                <a:cs typeface="+mn-cs"/>
              </a:rPr>
              <a:t>If an item A is added to the </a:t>
            </a:r>
            <a:r>
              <a:rPr lang="en-US" i="1" dirty="0" err="1">
                <a:solidFill>
                  <a:schemeClr val="tx1"/>
                </a:solidFill>
                <a:latin typeface="+mn-lt"/>
                <a:ea typeface="+mn-ea"/>
                <a:cs typeface="+mn-cs"/>
              </a:rPr>
              <a:t>itemset</a:t>
            </a:r>
            <a:r>
              <a:rPr lang="en-US" i="1" dirty="0">
                <a:solidFill>
                  <a:schemeClr val="tx1"/>
                </a:solidFill>
                <a:latin typeface="+mn-lt"/>
                <a:ea typeface="+mn-ea"/>
                <a:cs typeface="+mn-cs"/>
              </a:rPr>
              <a:t> I, then the resulting </a:t>
            </a:r>
            <a:r>
              <a:rPr lang="en-US" i="1" dirty="0" err="1">
                <a:solidFill>
                  <a:schemeClr val="tx1"/>
                </a:solidFill>
                <a:latin typeface="+mn-lt"/>
                <a:ea typeface="+mn-ea"/>
                <a:cs typeface="+mn-cs"/>
              </a:rPr>
              <a:t>itemset</a:t>
            </a:r>
            <a:r>
              <a:rPr lang="en-US" i="1" dirty="0">
                <a:solidFill>
                  <a:schemeClr val="tx1"/>
                </a:solidFill>
                <a:latin typeface="+mn-lt"/>
                <a:ea typeface="+mn-ea"/>
                <a:cs typeface="+mn-cs"/>
              </a:rPr>
              <a:t>  cannot occur more frequently than I. Therefore, I [A is not frequent either, </a:t>
            </a:r>
            <a:r>
              <a:rPr lang="en-US" dirty="0">
                <a:solidFill>
                  <a:schemeClr val="tx1"/>
                </a:solidFill>
                <a:latin typeface="+mn-lt"/>
                <a:ea typeface="+mn-ea"/>
                <a:cs typeface="+mn-cs"/>
              </a:rPr>
              <a:t>that is, </a:t>
            </a:r>
            <a:r>
              <a:rPr lang="en-US" i="1" dirty="0">
                <a:solidFill>
                  <a:schemeClr val="tx1"/>
                </a:solidFill>
                <a:latin typeface="+mn-lt"/>
                <a:ea typeface="+mn-ea"/>
                <a:cs typeface="+mn-cs"/>
              </a:rPr>
              <a:t>P(I U A)/&lt; min sup.</a:t>
            </a:r>
            <a:endParaRPr lang="en-US" dirty="0"/>
          </a:p>
        </p:txBody>
      </p:sp>
      <p:sp>
        <p:nvSpPr>
          <p:cNvPr id="4" name="Slide Number Placeholder 3"/>
          <p:cNvSpPr>
            <a:spLocks noGrp="1"/>
          </p:cNvSpPr>
          <p:nvPr>
            <p:ph type="sldNum" sz="quarter" idx="10"/>
          </p:nvPr>
        </p:nvSpPr>
        <p:spPr/>
        <p:txBody>
          <a:bodyPr/>
          <a:lstStyle/>
          <a:p>
            <a:pPr>
              <a:defRPr/>
            </a:pPr>
            <a:fld id="{18411881-BCF6-40F7-96CE-96EDB10FFC86}" type="slidenum">
              <a:rPr lang="en-US" smtClean="0"/>
              <a:pPr>
                <a:defRPr/>
              </a:pPr>
              <a:t>14</a:t>
            </a:fld>
            <a:endParaRPr lang="en-US"/>
          </a:p>
        </p:txBody>
      </p:sp>
    </p:spTree>
  </p:cSld>
  <p:clrMapOvr>
    <a:masterClrMapping/>
  </p:clrMapOvr>
  <p:transition spd="med">
    <p:zo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5"/>
          <p:cNvSpPr>
            <a:spLocks noGrp="1"/>
          </p:cNvSpPr>
          <p:nvPr>
            <p:ph type="sldNum" sz="quarter" idx="10"/>
          </p:nvPr>
        </p:nvSpPr>
        <p:spPr>
          <a:noFill/>
        </p:spPr>
        <p:txBody>
          <a:bodyPr/>
          <a:lstStyle/>
          <a:p>
            <a:fld id="{C74013CD-2977-46EC-A52A-1FE503E73630}" type="slidenum">
              <a:rPr lang="en-US" smtClean="0"/>
              <a:pPr/>
              <a:t>15</a:t>
            </a:fld>
            <a:endParaRPr lang="en-US"/>
          </a:p>
        </p:txBody>
      </p:sp>
      <p:sp>
        <p:nvSpPr>
          <p:cNvPr id="26627" name="Rectangle 2"/>
          <p:cNvSpPr>
            <a:spLocks noGrp="1" noChangeArrowheads="1"/>
          </p:cNvSpPr>
          <p:nvPr>
            <p:ph type="title"/>
          </p:nvPr>
        </p:nvSpPr>
        <p:spPr>
          <a:xfrm>
            <a:off x="-152400" y="228600"/>
            <a:ext cx="9448800" cy="762000"/>
          </a:xfrm>
        </p:spPr>
        <p:txBody>
          <a:bodyPr/>
          <a:lstStyle/>
          <a:p>
            <a:pPr eaLnBrk="1" hangingPunct="1">
              <a:tabLst>
                <a:tab pos="2570163" algn="l"/>
              </a:tabLst>
            </a:pPr>
            <a:r>
              <a:rPr lang="en-US" sz="3200"/>
              <a:t>Apriori: A Candidate Generation &amp; Test Approach</a:t>
            </a:r>
          </a:p>
        </p:txBody>
      </p:sp>
      <p:sp>
        <p:nvSpPr>
          <p:cNvPr id="26628" name="Rectangle 3"/>
          <p:cNvSpPr>
            <a:spLocks noGrp="1" noChangeArrowheads="1"/>
          </p:cNvSpPr>
          <p:nvPr>
            <p:ph type="body" idx="1"/>
          </p:nvPr>
        </p:nvSpPr>
        <p:spPr>
          <a:xfrm>
            <a:off x="381000" y="1447800"/>
            <a:ext cx="8610600" cy="5181600"/>
          </a:xfrm>
        </p:spPr>
        <p:txBody>
          <a:bodyPr/>
          <a:lstStyle/>
          <a:p>
            <a:pPr eaLnBrk="1" hangingPunct="1">
              <a:lnSpc>
                <a:spcPct val="120000"/>
              </a:lnSpc>
            </a:pPr>
            <a:r>
              <a:rPr lang="en-US" sz="2400" u="sng">
                <a:solidFill>
                  <a:schemeClr val="hlink"/>
                </a:solidFill>
              </a:rPr>
              <a:t>Apriori pruning principle</a:t>
            </a:r>
            <a:r>
              <a:rPr lang="en-US" sz="2400">
                <a:solidFill>
                  <a:schemeClr val="hlink"/>
                </a:solidFill>
              </a:rPr>
              <a:t>: </a:t>
            </a:r>
            <a:r>
              <a:rPr lang="en-US" sz="2400">
                <a:solidFill>
                  <a:schemeClr val="tx2"/>
                </a:solidFill>
              </a:rPr>
              <a:t>If there is </a:t>
            </a:r>
            <a:r>
              <a:rPr lang="en-US" sz="2400">
                <a:solidFill>
                  <a:schemeClr val="hlink"/>
                </a:solidFill>
              </a:rPr>
              <a:t>any</a:t>
            </a:r>
            <a:r>
              <a:rPr lang="en-US" sz="2400">
                <a:solidFill>
                  <a:schemeClr val="tx2"/>
                </a:solidFill>
              </a:rPr>
              <a:t> itemset which is infrequent, its superset should not be generated/tested! (</a:t>
            </a:r>
            <a:r>
              <a:rPr lang="en-US" sz="2400">
                <a:solidFill>
                  <a:schemeClr val="bg2"/>
                </a:solidFill>
              </a:rPr>
              <a:t>Agrawal &amp; Srikant @VLDB’94, Mannila, et al. @ KDD’ 94)</a:t>
            </a:r>
            <a:endParaRPr lang="en-US" sz="2400">
              <a:solidFill>
                <a:schemeClr val="tx2"/>
              </a:solidFill>
            </a:endParaRPr>
          </a:p>
          <a:p>
            <a:pPr eaLnBrk="1" hangingPunct="1">
              <a:lnSpc>
                <a:spcPct val="120000"/>
              </a:lnSpc>
            </a:pPr>
            <a:r>
              <a:rPr lang="en-US" sz="2400">
                <a:solidFill>
                  <a:schemeClr val="bg2"/>
                </a:solidFill>
              </a:rPr>
              <a:t>Method: </a:t>
            </a:r>
          </a:p>
          <a:p>
            <a:pPr lvl="1" eaLnBrk="1" hangingPunct="1">
              <a:lnSpc>
                <a:spcPct val="120000"/>
              </a:lnSpc>
            </a:pPr>
            <a:r>
              <a:rPr lang="en-US" sz="2400"/>
              <a:t>Initially, scan DB once to get frequent 1-itemset</a:t>
            </a:r>
          </a:p>
          <a:p>
            <a:pPr lvl="1" eaLnBrk="1" hangingPunct="1">
              <a:lnSpc>
                <a:spcPct val="120000"/>
              </a:lnSpc>
            </a:pPr>
            <a:r>
              <a:rPr lang="en-US" sz="2400">
                <a:solidFill>
                  <a:schemeClr val="hlink"/>
                </a:solidFill>
              </a:rPr>
              <a:t>Generate</a:t>
            </a:r>
            <a:r>
              <a:rPr lang="en-US" sz="2400">
                <a:solidFill>
                  <a:schemeClr val="bg2"/>
                </a:solidFill>
              </a:rPr>
              <a:t> length (k+1) </a:t>
            </a:r>
            <a:r>
              <a:rPr lang="en-US" sz="2400">
                <a:solidFill>
                  <a:schemeClr val="hlink"/>
                </a:solidFill>
              </a:rPr>
              <a:t>candidate</a:t>
            </a:r>
            <a:r>
              <a:rPr lang="en-US" sz="2400">
                <a:solidFill>
                  <a:schemeClr val="bg2"/>
                </a:solidFill>
              </a:rPr>
              <a:t> itemsets from length k </a:t>
            </a:r>
            <a:r>
              <a:rPr lang="en-US" sz="2400">
                <a:solidFill>
                  <a:schemeClr val="hlink"/>
                </a:solidFill>
              </a:rPr>
              <a:t>frequent</a:t>
            </a:r>
            <a:r>
              <a:rPr lang="en-US" sz="2400">
                <a:solidFill>
                  <a:schemeClr val="bg2"/>
                </a:solidFill>
              </a:rPr>
              <a:t> itemsets</a:t>
            </a:r>
          </a:p>
          <a:p>
            <a:pPr lvl="1" eaLnBrk="1" hangingPunct="1">
              <a:lnSpc>
                <a:spcPct val="120000"/>
              </a:lnSpc>
            </a:pPr>
            <a:r>
              <a:rPr lang="en-US" sz="2400">
                <a:solidFill>
                  <a:schemeClr val="hlink"/>
                </a:solidFill>
              </a:rPr>
              <a:t>Test </a:t>
            </a:r>
            <a:r>
              <a:rPr lang="en-US" sz="2400">
                <a:solidFill>
                  <a:schemeClr val="bg2"/>
                </a:solidFill>
              </a:rPr>
              <a:t>the candidates against DB</a:t>
            </a:r>
          </a:p>
          <a:p>
            <a:pPr lvl="1" eaLnBrk="1" hangingPunct="1">
              <a:lnSpc>
                <a:spcPct val="120000"/>
              </a:lnSpc>
            </a:pPr>
            <a:r>
              <a:rPr lang="en-US" sz="2400">
                <a:solidFill>
                  <a:schemeClr val="bg2"/>
                </a:solidFill>
              </a:rPr>
              <a:t>Terminate when no frequent or candidate set can be generated</a:t>
            </a:r>
          </a:p>
        </p:txBody>
      </p:sp>
    </p:spTree>
  </p:cSld>
  <p:clrMapOvr>
    <a:masterClrMapping/>
  </p:clrMapOvr>
  <p:transition spd="med">
    <p:zo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5"/>
          <p:cNvSpPr>
            <a:spLocks noGrp="1"/>
          </p:cNvSpPr>
          <p:nvPr>
            <p:ph type="sldNum" sz="quarter" idx="10"/>
          </p:nvPr>
        </p:nvSpPr>
        <p:spPr>
          <a:noFill/>
        </p:spPr>
        <p:txBody>
          <a:bodyPr/>
          <a:lstStyle/>
          <a:p>
            <a:fld id="{D180E8BB-1D56-4876-AC65-85865D8C81E4}" type="slidenum">
              <a:rPr lang="en-US" smtClean="0"/>
              <a:pPr/>
              <a:t>16</a:t>
            </a:fld>
            <a:endParaRPr lang="en-US"/>
          </a:p>
        </p:txBody>
      </p:sp>
      <p:sp>
        <p:nvSpPr>
          <p:cNvPr id="27651" name="Rectangle 2"/>
          <p:cNvSpPr>
            <a:spLocks noGrp="1" noChangeArrowheads="1"/>
          </p:cNvSpPr>
          <p:nvPr>
            <p:ph type="title"/>
          </p:nvPr>
        </p:nvSpPr>
        <p:spPr>
          <a:xfrm>
            <a:off x="838200" y="304800"/>
            <a:ext cx="7793038" cy="609600"/>
          </a:xfrm>
        </p:spPr>
        <p:txBody>
          <a:bodyPr/>
          <a:lstStyle/>
          <a:p>
            <a:pPr eaLnBrk="1" hangingPunct="1"/>
            <a:r>
              <a:rPr lang="en-US" sz="3200"/>
              <a:t>The Apriori Algorithm—An Example </a:t>
            </a:r>
          </a:p>
        </p:txBody>
      </p:sp>
      <p:sp>
        <p:nvSpPr>
          <p:cNvPr id="27652" name="Text Box 3"/>
          <p:cNvSpPr txBox="1">
            <a:spLocks noChangeArrowheads="1"/>
          </p:cNvSpPr>
          <p:nvPr/>
        </p:nvSpPr>
        <p:spPr bwMode="auto">
          <a:xfrm>
            <a:off x="0" y="1371600"/>
            <a:ext cx="1985963" cy="457200"/>
          </a:xfrm>
          <a:prstGeom prst="rect">
            <a:avLst/>
          </a:prstGeom>
          <a:noFill/>
          <a:ln w="9525">
            <a:noFill/>
            <a:miter lim="800000"/>
            <a:headEnd/>
            <a:tailEnd/>
          </a:ln>
        </p:spPr>
        <p:txBody>
          <a:bodyPr wrap="none" anchor="ctr">
            <a:spAutoFit/>
          </a:bodyPr>
          <a:lstStyle/>
          <a:p>
            <a:pPr algn="ctr" eaLnBrk="0" hangingPunct="0"/>
            <a:r>
              <a:rPr lang="en-US">
                <a:latin typeface="Times New Roman" pitchFamily="18" charset="0"/>
              </a:rPr>
              <a:t>Database TDB</a:t>
            </a:r>
          </a:p>
        </p:txBody>
      </p:sp>
      <p:sp>
        <p:nvSpPr>
          <p:cNvPr id="27653" name="Text Box 4"/>
          <p:cNvSpPr txBox="1">
            <a:spLocks noChangeArrowheads="1"/>
          </p:cNvSpPr>
          <p:nvPr/>
        </p:nvSpPr>
        <p:spPr bwMode="auto">
          <a:xfrm>
            <a:off x="2176463" y="2273300"/>
            <a:ext cx="1090612" cy="457200"/>
          </a:xfrm>
          <a:prstGeom prst="rect">
            <a:avLst/>
          </a:prstGeom>
          <a:noFill/>
          <a:ln w="9525">
            <a:noFill/>
            <a:miter lim="800000"/>
            <a:headEnd/>
            <a:tailEnd/>
          </a:ln>
        </p:spPr>
        <p:txBody>
          <a:bodyPr wrap="none" anchor="ctr">
            <a:spAutoFit/>
          </a:bodyPr>
          <a:lstStyle/>
          <a:p>
            <a:pPr algn="ctr" eaLnBrk="0" hangingPunct="0"/>
            <a:r>
              <a:rPr lang="en-US">
                <a:latin typeface="Times New Roman" pitchFamily="18" charset="0"/>
              </a:rPr>
              <a:t>1</a:t>
            </a:r>
            <a:r>
              <a:rPr lang="en-US" baseline="30000">
                <a:latin typeface="Times New Roman" pitchFamily="18" charset="0"/>
              </a:rPr>
              <a:t>st</a:t>
            </a:r>
            <a:r>
              <a:rPr lang="en-US">
                <a:latin typeface="Times New Roman" pitchFamily="18" charset="0"/>
              </a:rPr>
              <a:t> scan</a:t>
            </a:r>
          </a:p>
        </p:txBody>
      </p:sp>
      <p:sp>
        <p:nvSpPr>
          <p:cNvPr id="27654" name="Line 5"/>
          <p:cNvSpPr>
            <a:spLocks noChangeShapeType="1"/>
          </p:cNvSpPr>
          <p:nvPr/>
        </p:nvSpPr>
        <p:spPr bwMode="auto">
          <a:xfrm>
            <a:off x="2297113" y="2719388"/>
            <a:ext cx="831850" cy="0"/>
          </a:xfrm>
          <a:prstGeom prst="line">
            <a:avLst/>
          </a:prstGeom>
          <a:noFill/>
          <a:ln w="9525">
            <a:solidFill>
              <a:srgbClr val="000000"/>
            </a:solidFill>
            <a:round/>
            <a:headEnd/>
            <a:tailEnd type="triangle" w="med" len="med"/>
          </a:ln>
        </p:spPr>
        <p:txBody>
          <a:bodyPr anchor="ctr">
            <a:spAutoFit/>
          </a:bodyPr>
          <a:lstStyle/>
          <a:p>
            <a:endParaRPr lang="en-US"/>
          </a:p>
        </p:txBody>
      </p:sp>
      <p:sp>
        <p:nvSpPr>
          <p:cNvPr id="27655" name="Text Box 6"/>
          <p:cNvSpPr txBox="1">
            <a:spLocks noChangeArrowheads="1"/>
          </p:cNvSpPr>
          <p:nvPr/>
        </p:nvSpPr>
        <p:spPr bwMode="auto">
          <a:xfrm>
            <a:off x="2759075" y="1720850"/>
            <a:ext cx="488950" cy="457200"/>
          </a:xfrm>
          <a:prstGeom prst="rect">
            <a:avLst/>
          </a:prstGeom>
          <a:noFill/>
          <a:ln w="9525">
            <a:noFill/>
            <a:miter lim="800000"/>
            <a:headEnd/>
            <a:tailEnd/>
          </a:ln>
        </p:spPr>
        <p:txBody>
          <a:bodyPr wrap="none" anchor="ctr">
            <a:spAutoFit/>
          </a:bodyPr>
          <a:lstStyle/>
          <a:p>
            <a:pPr algn="ctr" eaLnBrk="0" hangingPunct="0"/>
            <a:r>
              <a:rPr lang="en-US" i="1">
                <a:latin typeface="Times New Roman" pitchFamily="18" charset="0"/>
              </a:rPr>
              <a:t>C</a:t>
            </a:r>
            <a:r>
              <a:rPr lang="en-US" i="1" baseline="-25000">
                <a:latin typeface="Times New Roman" pitchFamily="18" charset="0"/>
              </a:rPr>
              <a:t>1</a:t>
            </a:r>
          </a:p>
        </p:txBody>
      </p:sp>
      <p:sp>
        <p:nvSpPr>
          <p:cNvPr id="27656" name="Text Box 7"/>
          <p:cNvSpPr txBox="1">
            <a:spLocks noChangeArrowheads="1"/>
          </p:cNvSpPr>
          <p:nvPr/>
        </p:nvSpPr>
        <p:spPr bwMode="auto">
          <a:xfrm>
            <a:off x="5346700" y="1563688"/>
            <a:ext cx="455613" cy="457200"/>
          </a:xfrm>
          <a:prstGeom prst="rect">
            <a:avLst/>
          </a:prstGeom>
          <a:noFill/>
          <a:ln w="9525">
            <a:noFill/>
            <a:miter lim="800000"/>
            <a:headEnd/>
            <a:tailEnd/>
          </a:ln>
        </p:spPr>
        <p:txBody>
          <a:bodyPr wrap="none" anchor="ctr">
            <a:spAutoFit/>
          </a:bodyPr>
          <a:lstStyle/>
          <a:p>
            <a:pPr algn="ctr" eaLnBrk="0" hangingPunct="0"/>
            <a:r>
              <a:rPr lang="en-US" i="1">
                <a:latin typeface="Times New Roman" pitchFamily="18" charset="0"/>
              </a:rPr>
              <a:t>L</a:t>
            </a:r>
            <a:r>
              <a:rPr lang="en-US" i="1" baseline="-25000">
                <a:latin typeface="Times New Roman" pitchFamily="18" charset="0"/>
              </a:rPr>
              <a:t>1</a:t>
            </a:r>
          </a:p>
        </p:txBody>
      </p:sp>
      <p:sp>
        <p:nvSpPr>
          <p:cNvPr id="27657" name="Text Box 8"/>
          <p:cNvSpPr txBox="1">
            <a:spLocks noChangeArrowheads="1"/>
          </p:cNvSpPr>
          <p:nvPr/>
        </p:nvSpPr>
        <p:spPr bwMode="auto">
          <a:xfrm>
            <a:off x="301625" y="3729038"/>
            <a:ext cx="455613" cy="457200"/>
          </a:xfrm>
          <a:prstGeom prst="rect">
            <a:avLst/>
          </a:prstGeom>
          <a:noFill/>
          <a:ln w="9525">
            <a:noFill/>
            <a:miter lim="800000"/>
            <a:headEnd/>
            <a:tailEnd/>
          </a:ln>
        </p:spPr>
        <p:txBody>
          <a:bodyPr wrap="none" anchor="ctr">
            <a:spAutoFit/>
          </a:bodyPr>
          <a:lstStyle/>
          <a:p>
            <a:pPr algn="ctr" eaLnBrk="0" hangingPunct="0"/>
            <a:r>
              <a:rPr lang="en-US" i="1">
                <a:latin typeface="Times New Roman" pitchFamily="18" charset="0"/>
              </a:rPr>
              <a:t>L</a:t>
            </a:r>
            <a:r>
              <a:rPr lang="en-US" i="1" baseline="-25000">
                <a:latin typeface="Times New Roman" pitchFamily="18" charset="0"/>
              </a:rPr>
              <a:t>2</a:t>
            </a:r>
          </a:p>
        </p:txBody>
      </p:sp>
      <p:sp>
        <p:nvSpPr>
          <p:cNvPr id="27658" name="Text Box 9"/>
          <p:cNvSpPr txBox="1">
            <a:spLocks noChangeArrowheads="1"/>
          </p:cNvSpPr>
          <p:nvPr/>
        </p:nvSpPr>
        <p:spPr bwMode="auto">
          <a:xfrm>
            <a:off x="2728913" y="3332163"/>
            <a:ext cx="488950" cy="457200"/>
          </a:xfrm>
          <a:prstGeom prst="rect">
            <a:avLst/>
          </a:prstGeom>
          <a:noFill/>
          <a:ln w="9525">
            <a:noFill/>
            <a:miter lim="800000"/>
            <a:headEnd/>
            <a:tailEnd/>
          </a:ln>
        </p:spPr>
        <p:txBody>
          <a:bodyPr wrap="none" anchor="ctr">
            <a:spAutoFit/>
          </a:bodyPr>
          <a:lstStyle/>
          <a:p>
            <a:pPr algn="ctr" eaLnBrk="0" hangingPunct="0"/>
            <a:r>
              <a:rPr lang="en-US" i="1">
                <a:latin typeface="Times New Roman" pitchFamily="18" charset="0"/>
              </a:rPr>
              <a:t>C</a:t>
            </a:r>
            <a:r>
              <a:rPr lang="en-US" i="1" baseline="-25000">
                <a:latin typeface="Times New Roman" pitchFamily="18" charset="0"/>
              </a:rPr>
              <a:t>2</a:t>
            </a:r>
          </a:p>
        </p:txBody>
      </p:sp>
      <p:sp>
        <p:nvSpPr>
          <p:cNvPr id="27659" name="Text Box 10"/>
          <p:cNvSpPr txBox="1">
            <a:spLocks noChangeArrowheads="1"/>
          </p:cNvSpPr>
          <p:nvPr/>
        </p:nvSpPr>
        <p:spPr bwMode="auto">
          <a:xfrm>
            <a:off x="6016625" y="3382963"/>
            <a:ext cx="488950" cy="457200"/>
          </a:xfrm>
          <a:prstGeom prst="rect">
            <a:avLst/>
          </a:prstGeom>
          <a:noFill/>
          <a:ln w="9525">
            <a:noFill/>
            <a:miter lim="800000"/>
            <a:headEnd/>
            <a:tailEnd/>
          </a:ln>
        </p:spPr>
        <p:txBody>
          <a:bodyPr wrap="none" anchor="ctr">
            <a:spAutoFit/>
          </a:bodyPr>
          <a:lstStyle/>
          <a:p>
            <a:pPr algn="ctr" eaLnBrk="0" hangingPunct="0"/>
            <a:r>
              <a:rPr lang="en-US" i="1">
                <a:latin typeface="Times New Roman" pitchFamily="18" charset="0"/>
              </a:rPr>
              <a:t>C</a:t>
            </a:r>
            <a:r>
              <a:rPr lang="en-US" i="1" baseline="-25000">
                <a:latin typeface="Times New Roman" pitchFamily="18" charset="0"/>
              </a:rPr>
              <a:t>2</a:t>
            </a:r>
          </a:p>
        </p:txBody>
      </p:sp>
      <p:sp>
        <p:nvSpPr>
          <p:cNvPr id="27660" name="Line 11"/>
          <p:cNvSpPr>
            <a:spLocks noChangeShapeType="1"/>
          </p:cNvSpPr>
          <p:nvPr/>
        </p:nvSpPr>
        <p:spPr bwMode="auto">
          <a:xfrm flipH="1">
            <a:off x="5127625" y="4252913"/>
            <a:ext cx="1120775" cy="0"/>
          </a:xfrm>
          <a:prstGeom prst="line">
            <a:avLst/>
          </a:prstGeom>
          <a:noFill/>
          <a:ln w="9525">
            <a:solidFill>
              <a:srgbClr val="000000"/>
            </a:solidFill>
            <a:round/>
            <a:headEnd/>
            <a:tailEnd type="triangle" w="med" len="med"/>
          </a:ln>
        </p:spPr>
        <p:txBody>
          <a:bodyPr wrap="none" anchor="ctr">
            <a:spAutoFit/>
          </a:bodyPr>
          <a:lstStyle/>
          <a:p>
            <a:endParaRPr lang="en-US"/>
          </a:p>
        </p:txBody>
      </p:sp>
      <p:sp>
        <p:nvSpPr>
          <p:cNvPr id="27661" name="Text Box 12"/>
          <p:cNvSpPr txBox="1">
            <a:spLocks noChangeArrowheads="1"/>
          </p:cNvSpPr>
          <p:nvPr/>
        </p:nvSpPr>
        <p:spPr bwMode="auto">
          <a:xfrm>
            <a:off x="5108575" y="3751263"/>
            <a:ext cx="1157288" cy="457200"/>
          </a:xfrm>
          <a:prstGeom prst="rect">
            <a:avLst/>
          </a:prstGeom>
          <a:noFill/>
          <a:ln w="9525">
            <a:noFill/>
            <a:miter lim="800000"/>
            <a:headEnd/>
            <a:tailEnd/>
          </a:ln>
        </p:spPr>
        <p:txBody>
          <a:bodyPr wrap="none" anchor="ctr">
            <a:spAutoFit/>
          </a:bodyPr>
          <a:lstStyle/>
          <a:p>
            <a:pPr algn="ctr" eaLnBrk="0" hangingPunct="0"/>
            <a:r>
              <a:rPr lang="en-US">
                <a:latin typeface="Times New Roman" pitchFamily="18" charset="0"/>
              </a:rPr>
              <a:t>2</a:t>
            </a:r>
            <a:r>
              <a:rPr lang="en-US" baseline="30000">
                <a:latin typeface="Times New Roman" pitchFamily="18" charset="0"/>
              </a:rPr>
              <a:t>nd</a:t>
            </a:r>
            <a:r>
              <a:rPr lang="en-US">
                <a:latin typeface="Times New Roman" pitchFamily="18" charset="0"/>
              </a:rPr>
              <a:t> scan</a:t>
            </a:r>
          </a:p>
        </p:txBody>
      </p:sp>
      <p:sp>
        <p:nvSpPr>
          <p:cNvPr id="27662" name="AutoShape 13"/>
          <p:cNvSpPr>
            <a:spLocks noChangeArrowheads="1"/>
          </p:cNvSpPr>
          <p:nvPr/>
        </p:nvSpPr>
        <p:spPr bwMode="auto">
          <a:xfrm>
            <a:off x="7861300" y="3070225"/>
            <a:ext cx="627063" cy="855663"/>
          </a:xfrm>
          <a:prstGeom prst="curvedLeftArrow">
            <a:avLst>
              <a:gd name="adj1" fmla="val 27291"/>
              <a:gd name="adj2" fmla="val 54582"/>
              <a:gd name="adj3" fmla="val 33333"/>
            </a:avLst>
          </a:prstGeom>
          <a:solidFill>
            <a:srgbClr val="FFFFFF"/>
          </a:solidFill>
          <a:ln w="9525">
            <a:solidFill>
              <a:srgbClr val="000000"/>
            </a:solidFill>
            <a:miter lim="800000"/>
            <a:headEnd/>
            <a:tailEnd/>
          </a:ln>
        </p:spPr>
        <p:txBody>
          <a:bodyPr anchor="ctr">
            <a:spAutoFit/>
          </a:bodyPr>
          <a:lstStyle/>
          <a:p>
            <a:endParaRPr lang="en-US"/>
          </a:p>
        </p:txBody>
      </p:sp>
      <p:sp>
        <p:nvSpPr>
          <p:cNvPr id="27663" name="Line 14"/>
          <p:cNvSpPr>
            <a:spLocks noChangeShapeType="1"/>
          </p:cNvSpPr>
          <p:nvPr/>
        </p:nvSpPr>
        <p:spPr bwMode="auto">
          <a:xfrm>
            <a:off x="2535238" y="6299200"/>
            <a:ext cx="1692275" cy="0"/>
          </a:xfrm>
          <a:prstGeom prst="line">
            <a:avLst/>
          </a:prstGeom>
          <a:noFill/>
          <a:ln w="9525">
            <a:solidFill>
              <a:srgbClr val="000000"/>
            </a:solidFill>
            <a:round/>
            <a:headEnd/>
            <a:tailEnd type="triangle" w="med" len="med"/>
          </a:ln>
        </p:spPr>
        <p:txBody>
          <a:bodyPr wrap="none" anchor="ctr">
            <a:spAutoFit/>
          </a:bodyPr>
          <a:lstStyle/>
          <a:p>
            <a:endParaRPr lang="en-US"/>
          </a:p>
        </p:txBody>
      </p:sp>
      <p:sp>
        <p:nvSpPr>
          <p:cNvPr id="27664" name="Text Box 15"/>
          <p:cNvSpPr txBox="1">
            <a:spLocks noChangeArrowheads="1"/>
          </p:cNvSpPr>
          <p:nvPr/>
        </p:nvSpPr>
        <p:spPr bwMode="auto">
          <a:xfrm>
            <a:off x="698500" y="5802313"/>
            <a:ext cx="488950" cy="457200"/>
          </a:xfrm>
          <a:prstGeom prst="rect">
            <a:avLst/>
          </a:prstGeom>
          <a:noFill/>
          <a:ln w="9525">
            <a:noFill/>
            <a:miter lim="800000"/>
            <a:headEnd/>
            <a:tailEnd/>
          </a:ln>
        </p:spPr>
        <p:txBody>
          <a:bodyPr wrap="none" anchor="ctr">
            <a:spAutoFit/>
          </a:bodyPr>
          <a:lstStyle/>
          <a:p>
            <a:pPr algn="ctr" eaLnBrk="0" hangingPunct="0"/>
            <a:r>
              <a:rPr lang="en-US" i="1">
                <a:latin typeface="Times New Roman" pitchFamily="18" charset="0"/>
              </a:rPr>
              <a:t>C</a:t>
            </a:r>
            <a:r>
              <a:rPr lang="en-US" i="1" baseline="-25000">
                <a:latin typeface="Times New Roman" pitchFamily="18" charset="0"/>
              </a:rPr>
              <a:t>3</a:t>
            </a:r>
          </a:p>
        </p:txBody>
      </p:sp>
      <p:sp>
        <p:nvSpPr>
          <p:cNvPr id="27665" name="Text Box 16"/>
          <p:cNvSpPr txBox="1">
            <a:spLocks noChangeArrowheads="1"/>
          </p:cNvSpPr>
          <p:nvPr/>
        </p:nvSpPr>
        <p:spPr bwMode="auto">
          <a:xfrm>
            <a:off x="4114800" y="5791200"/>
            <a:ext cx="455613" cy="457200"/>
          </a:xfrm>
          <a:prstGeom prst="rect">
            <a:avLst/>
          </a:prstGeom>
          <a:noFill/>
          <a:ln w="9525">
            <a:noFill/>
            <a:miter lim="800000"/>
            <a:headEnd/>
            <a:tailEnd/>
          </a:ln>
        </p:spPr>
        <p:txBody>
          <a:bodyPr wrap="none" anchor="ctr">
            <a:spAutoFit/>
          </a:bodyPr>
          <a:lstStyle/>
          <a:p>
            <a:pPr algn="ctr" eaLnBrk="0" hangingPunct="0"/>
            <a:r>
              <a:rPr lang="en-US" i="1">
                <a:latin typeface="Times New Roman" pitchFamily="18" charset="0"/>
              </a:rPr>
              <a:t>L</a:t>
            </a:r>
            <a:r>
              <a:rPr lang="en-US" i="1" baseline="-25000">
                <a:latin typeface="Times New Roman" pitchFamily="18" charset="0"/>
              </a:rPr>
              <a:t>3</a:t>
            </a:r>
          </a:p>
        </p:txBody>
      </p:sp>
      <p:sp>
        <p:nvSpPr>
          <p:cNvPr id="27666" name="Text Box 17"/>
          <p:cNvSpPr txBox="1">
            <a:spLocks noChangeArrowheads="1"/>
          </p:cNvSpPr>
          <p:nvPr/>
        </p:nvSpPr>
        <p:spPr bwMode="auto">
          <a:xfrm>
            <a:off x="2708275" y="5881688"/>
            <a:ext cx="1123950" cy="457200"/>
          </a:xfrm>
          <a:prstGeom prst="rect">
            <a:avLst/>
          </a:prstGeom>
          <a:noFill/>
          <a:ln w="9525">
            <a:noFill/>
            <a:miter lim="800000"/>
            <a:headEnd/>
            <a:tailEnd/>
          </a:ln>
        </p:spPr>
        <p:txBody>
          <a:bodyPr wrap="none" anchor="ctr">
            <a:spAutoFit/>
          </a:bodyPr>
          <a:lstStyle/>
          <a:p>
            <a:pPr algn="ctr" eaLnBrk="0" hangingPunct="0"/>
            <a:r>
              <a:rPr lang="en-US">
                <a:latin typeface="Times New Roman" pitchFamily="18" charset="0"/>
              </a:rPr>
              <a:t>3</a:t>
            </a:r>
            <a:r>
              <a:rPr lang="en-US" baseline="30000">
                <a:latin typeface="Times New Roman" pitchFamily="18" charset="0"/>
              </a:rPr>
              <a:t>rd</a:t>
            </a:r>
            <a:r>
              <a:rPr lang="en-US">
                <a:latin typeface="Times New Roman" pitchFamily="18" charset="0"/>
              </a:rPr>
              <a:t> scan</a:t>
            </a:r>
          </a:p>
        </p:txBody>
      </p:sp>
      <p:sp>
        <p:nvSpPr>
          <p:cNvPr id="27667" name="AutoShape 18"/>
          <p:cNvSpPr>
            <a:spLocks noChangeArrowheads="1"/>
          </p:cNvSpPr>
          <p:nvPr/>
        </p:nvSpPr>
        <p:spPr bwMode="auto">
          <a:xfrm>
            <a:off x="201613" y="4846638"/>
            <a:ext cx="441325" cy="1249362"/>
          </a:xfrm>
          <a:prstGeom prst="curvedRightArrow">
            <a:avLst>
              <a:gd name="adj1" fmla="val 56619"/>
              <a:gd name="adj2" fmla="val 113237"/>
              <a:gd name="adj3" fmla="val 33333"/>
            </a:avLst>
          </a:prstGeom>
          <a:solidFill>
            <a:srgbClr val="FFFFFF"/>
          </a:solidFill>
          <a:ln w="9525">
            <a:solidFill>
              <a:srgbClr val="000000"/>
            </a:solidFill>
            <a:miter lim="800000"/>
            <a:headEnd/>
            <a:tailEnd/>
          </a:ln>
        </p:spPr>
        <p:txBody>
          <a:bodyPr wrap="none" anchor="ctr">
            <a:spAutoFit/>
          </a:bodyPr>
          <a:lstStyle/>
          <a:p>
            <a:endParaRPr lang="en-US"/>
          </a:p>
        </p:txBody>
      </p:sp>
      <p:sp>
        <p:nvSpPr>
          <p:cNvPr id="27668" name="Line 19"/>
          <p:cNvSpPr>
            <a:spLocks noChangeShapeType="1"/>
          </p:cNvSpPr>
          <p:nvPr/>
        </p:nvSpPr>
        <p:spPr bwMode="auto">
          <a:xfrm>
            <a:off x="5334000" y="2438400"/>
            <a:ext cx="527050" cy="0"/>
          </a:xfrm>
          <a:prstGeom prst="line">
            <a:avLst/>
          </a:prstGeom>
          <a:noFill/>
          <a:ln w="9525">
            <a:solidFill>
              <a:srgbClr val="000000"/>
            </a:solidFill>
            <a:round/>
            <a:headEnd/>
            <a:tailEnd type="triangle" w="med" len="med"/>
          </a:ln>
        </p:spPr>
        <p:txBody>
          <a:bodyPr anchor="ctr">
            <a:spAutoFit/>
          </a:bodyPr>
          <a:lstStyle/>
          <a:p>
            <a:endParaRPr lang="en-US"/>
          </a:p>
        </p:txBody>
      </p:sp>
      <p:sp>
        <p:nvSpPr>
          <p:cNvPr id="27669" name="Line 20"/>
          <p:cNvSpPr>
            <a:spLocks noChangeShapeType="1"/>
          </p:cNvSpPr>
          <p:nvPr/>
        </p:nvSpPr>
        <p:spPr bwMode="auto">
          <a:xfrm flipH="1">
            <a:off x="2667000" y="4648200"/>
            <a:ext cx="381000" cy="0"/>
          </a:xfrm>
          <a:prstGeom prst="line">
            <a:avLst/>
          </a:prstGeom>
          <a:noFill/>
          <a:ln w="9525">
            <a:solidFill>
              <a:srgbClr val="000000"/>
            </a:solidFill>
            <a:round/>
            <a:headEnd/>
            <a:tailEnd type="triangle" w="med" len="med"/>
          </a:ln>
        </p:spPr>
        <p:txBody>
          <a:bodyPr anchor="ctr">
            <a:spAutoFit/>
          </a:bodyPr>
          <a:lstStyle/>
          <a:p>
            <a:endParaRPr lang="en-US"/>
          </a:p>
        </p:txBody>
      </p:sp>
      <p:graphicFrame>
        <p:nvGraphicFramePr>
          <p:cNvPr id="1532949" name="Group 21"/>
          <p:cNvGraphicFramePr>
            <a:graphicFrameLocks noGrp="1"/>
          </p:cNvGraphicFramePr>
          <p:nvPr/>
        </p:nvGraphicFramePr>
        <p:xfrm>
          <a:off x="152400" y="1828800"/>
          <a:ext cx="1905000" cy="1554320"/>
        </p:xfrm>
        <a:graphic>
          <a:graphicData uri="http://schemas.openxmlformats.org/drawingml/2006/table">
            <a:tbl>
              <a:tblPr/>
              <a:tblGrid>
                <a:gridCol w="6858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tblGrid>
              <a:tr h="310833">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1" i="0" u="none" strike="noStrike" cap="none" normalizeH="0" baseline="0">
                          <a:ln>
                            <a:noFill/>
                          </a:ln>
                          <a:solidFill>
                            <a:schemeClr val="hlink"/>
                          </a:solidFill>
                          <a:effectLst/>
                          <a:latin typeface="Tahoma" pitchFamily="34" charset="0"/>
                        </a:rPr>
                        <a:t>Tid</a:t>
                      </a:r>
                    </a:p>
                  </a:txBody>
                  <a:tcPr marT="45704" marB="45704"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1" i="0" u="none" strike="noStrike" cap="none" normalizeH="0" baseline="0">
                          <a:ln>
                            <a:noFill/>
                          </a:ln>
                          <a:solidFill>
                            <a:schemeClr val="hlink"/>
                          </a:solidFill>
                          <a:effectLst/>
                          <a:latin typeface="Tahoma" pitchFamily="34" charset="0"/>
                        </a:rPr>
                        <a:t>Items</a:t>
                      </a:r>
                    </a:p>
                  </a:txBody>
                  <a:tcPr marT="45704" marB="45704"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10833">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10</a:t>
                      </a:r>
                    </a:p>
                  </a:txBody>
                  <a:tcPr marT="45704" marB="45704"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A, C, D</a:t>
                      </a:r>
                    </a:p>
                  </a:txBody>
                  <a:tcPr marT="45704" marB="45704"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10833">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20</a:t>
                      </a:r>
                    </a:p>
                  </a:txBody>
                  <a:tcPr marT="45704" marB="45704"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B, C, E</a:t>
                      </a:r>
                    </a:p>
                  </a:txBody>
                  <a:tcPr marT="45704" marB="45704"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0833">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30</a:t>
                      </a:r>
                    </a:p>
                  </a:txBody>
                  <a:tcPr marT="45704" marB="45704"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A, B, C, E</a:t>
                      </a:r>
                    </a:p>
                  </a:txBody>
                  <a:tcPr marT="45704" marB="45704"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10833">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40</a:t>
                      </a:r>
                    </a:p>
                  </a:txBody>
                  <a:tcPr marT="45704" marB="45704"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B, E</a:t>
                      </a:r>
                    </a:p>
                  </a:txBody>
                  <a:tcPr marT="45704" marB="45704"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1532969" name="Group 41"/>
          <p:cNvGraphicFramePr>
            <a:graphicFrameLocks noGrp="1"/>
          </p:cNvGraphicFramePr>
          <p:nvPr/>
        </p:nvGraphicFramePr>
        <p:xfrm>
          <a:off x="3429000" y="1219200"/>
          <a:ext cx="1752600" cy="1865340"/>
        </p:xfrm>
        <a:graphic>
          <a:graphicData uri="http://schemas.openxmlformats.org/drawingml/2006/table">
            <a:tbl>
              <a:tblPr/>
              <a:tblGrid>
                <a:gridCol w="11430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10886">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1" i="0" u="none" strike="noStrike" cap="none" normalizeH="0" baseline="0">
                          <a:ln>
                            <a:noFill/>
                          </a:ln>
                          <a:solidFill>
                            <a:schemeClr val="hlink"/>
                          </a:solidFill>
                          <a:effectLst/>
                          <a:latin typeface="Tahoma" pitchFamily="34" charset="0"/>
                        </a:rPr>
                        <a:t>Itemset</a:t>
                      </a:r>
                    </a:p>
                  </a:txBody>
                  <a:tcPr marT="45717" marB="45717"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1" i="0" u="none" strike="noStrike" cap="none" normalizeH="0" baseline="0">
                          <a:ln>
                            <a:noFill/>
                          </a:ln>
                          <a:solidFill>
                            <a:schemeClr val="hlink"/>
                          </a:solidFill>
                          <a:effectLst/>
                          <a:latin typeface="Tahoma" pitchFamily="34" charset="0"/>
                        </a:rPr>
                        <a:t>sup</a:t>
                      </a:r>
                    </a:p>
                  </a:txBody>
                  <a:tcPr marT="45717" marB="45717"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310886">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{A}</a:t>
                      </a:r>
                    </a:p>
                  </a:txBody>
                  <a:tcPr marT="45717" marB="45717"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2</a:t>
                      </a:r>
                    </a:p>
                  </a:txBody>
                  <a:tcPr marT="45717" marB="45717"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10886">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{B}</a:t>
                      </a:r>
                    </a:p>
                  </a:txBody>
                  <a:tcPr marT="45717" marB="45717"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3</a:t>
                      </a:r>
                    </a:p>
                  </a:txBody>
                  <a:tcPr marT="45717" marB="45717"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0886">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{C}</a:t>
                      </a:r>
                    </a:p>
                  </a:txBody>
                  <a:tcPr marT="45717" marB="45717"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3</a:t>
                      </a:r>
                    </a:p>
                  </a:txBody>
                  <a:tcPr marT="45717" marB="45717"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10886">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{D}</a:t>
                      </a:r>
                    </a:p>
                  </a:txBody>
                  <a:tcPr marT="45717" marB="45717"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1</a:t>
                      </a:r>
                    </a:p>
                  </a:txBody>
                  <a:tcPr marT="45717" marB="45717"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hlink"/>
                    </a:solidFill>
                  </a:tcPr>
                </a:tc>
                <a:extLst>
                  <a:ext uri="{0D108BD9-81ED-4DB2-BD59-A6C34878D82A}">
                    <a16:rowId xmlns:a16="http://schemas.microsoft.com/office/drawing/2014/main" val="10004"/>
                  </a:ext>
                </a:extLst>
              </a:tr>
              <a:tr h="310886">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{E}</a:t>
                      </a:r>
                    </a:p>
                  </a:txBody>
                  <a:tcPr marT="45717" marB="45717"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3</a:t>
                      </a:r>
                    </a:p>
                  </a:txBody>
                  <a:tcPr marT="45717" marB="45717"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graphicFrame>
        <p:nvGraphicFramePr>
          <p:cNvPr id="1532992" name="Group 64"/>
          <p:cNvGraphicFramePr>
            <a:graphicFrameLocks noGrp="1"/>
          </p:cNvGraphicFramePr>
          <p:nvPr/>
        </p:nvGraphicFramePr>
        <p:xfrm>
          <a:off x="5943600" y="1371600"/>
          <a:ext cx="1752600" cy="1554320"/>
        </p:xfrm>
        <a:graphic>
          <a:graphicData uri="http://schemas.openxmlformats.org/drawingml/2006/table">
            <a:tbl>
              <a:tblPr/>
              <a:tblGrid>
                <a:gridCol w="11430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10833">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1" i="0" u="none" strike="noStrike" cap="none" normalizeH="0" baseline="0">
                          <a:ln>
                            <a:noFill/>
                          </a:ln>
                          <a:solidFill>
                            <a:schemeClr val="hlink"/>
                          </a:solidFill>
                          <a:effectLst/>
                          <a:latin typeface="Tahoma" pitchFamily="34" charset="0"/>
                        </a:rPr>
                        <a:t>Itemset</a:t>
                      </a:r>
                    </a:p>
                  </a:txBody>
                  <a:tcPr marT="45704" marB="45704"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1" i="0" u="none" strike="noStrike" cap="none" normalizeH="0" baseline="0">
                          <a:ln>
                            <a:noFill/>
                          </a:ln>
                          <a:solidFill>
                            <a:schemeClr val="hlink"/>
                          </a:solidFill>
                          <a:effectLst/>
                          <a:latin typeface="Tahoma" pitchFamily="34" charset="0"/>
                        </a:rPr>
                        <a:t>sup</a:t>
                      </a:r>
                    </a:p>
                  </a:txBody>
                  <a:tcPr marT="45704" marB="45704"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310833">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{A}</a:t>
                      </a:r>
                    </a:p>
                  </a:txBody>
                  <a:tcPr marT="45704" marB="45704"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2</a:t>
                      </a:r>
                    </a:p>
                  </a:txBody>
                  <a:tcPr marT="45704" marB="45704"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10833">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{B}</a:t>
                      </a:r>
                    </a:p>
                  </a:txBody>
                  <a:tcPr marT="45704" marB="45704"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3</a:t>
                      </a:r>
                    </a:p>
                  </a:txBody>
                  <a:tcPr marT="45704" marB="45704"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0833">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{C}</a:t>
                      </a:r>
                    </a:p>
                  </a:txBody>
                  <a:tcPr marT="45704" marB="45704"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3</a:t>
                      </a:r>
                    </a:p>
                  </a:txBody>
                  <a:tcPr marT="45704" marB="45704"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10833">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{E}</a:t>
                      </a:r>
                    </a:p>
                  </a:txBody>
                  <a:tcPr marT="45704" marB="45704"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3</a:t>
                      </a:r>
                    </a:p>
                  </a:txBody>
                  <a:tcPr marT="45704" marB="45704"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1533012" name="Group 84"/>
          <p:cNvGraphicFramePr>
            <a:graphicFrameLocks noGrp="1"/>
          </p:cNvGraphicFramePr>
          <p:nvPr/>
        </p:nvGraphicFramePr>
        <p:xfrm>
          <a:off x="6553200" y="3581400"/>
          <a:ext cx="1143000" cy="2176461"/>
        </p:xfrm>
        <a:graphic>
          <a:graphicData uri="http://schemas.openxmlformats.org/drawingml/2006/table">
            <a:tbl>
              <a:tblPr/>
              <a:tblGrid>
                <a:gridCol w="1143000">
                  <a:extLst>
                    <a:ext uri="{9D8B030D-6E8A-4147-A177-3AD203B41FA5}">
                      <a16:colId xmlns:a16="http://schemas.microsoft.com/office/drawing/2014/main" val="20000"/>
                    </a:ext>
                  </a:extLst>
                </a:gridCol>
              </a:tblGrid>
              <a:tr h="310923">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1" i="0" u="none" strike="noStrike" cap="none" normalizeH="0" baseline="0">
                          <a:ln>
                            <a:noFill/>
                          </a:ln>
                          <a:solidFill>
                            <a:schemeClr val="hlink"/>
                          </a:solidFill>
                          <a:effectLst/>
                          <a:latin typeface="Tahoma" pitchFamily="34" charset="0"/>
                        </a:rPr>
                        <a:t>Itemset</a:t>
                      </a:r>
                    </a:p>
                  </a:txBody>
                  <a:tcPr marT="45724" marB="45724"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310923">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{A, B}</a:t>
                      </a:r>
                    </a:p>
                  </a:txBody>
                  <a:tcPr marT="45724" marB="45724"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10923">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{A, C}</a:t>
                      </a:r>
                    </a:p>
                  </a:txBody>
                  <a:tcPr marT="45724" marB="45724"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0923">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{A, E}</a:t>
                      </a:r>
                    </a:p>
                  </a:txBody>
                  <a:tcPr marT="45724" marB="45724"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10923">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{B, C}</a:t>
                      </a:r>
                    </a:p>
                  </a:txBody>
                  <a:tcPr marT="45724" marB="45724"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10923">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{B, E}</a:t>
                      </a:r>
                    </a:p>
                  </a:txBody>
                  <a:tcPr marT="45724" marB="45724"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10923">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{C, E}</a:t>
                      </a:r>
                    </a:p>
                  </a:txBody>
                  <a:tcPr marT="45724" marB="45724"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graphicFrame>
        <p:nvGraphicFramePr>
          <p:cNvPr id="1533030" name="Group 102"/>
          <p:cNvGraphicFramePr>
            <a:graphicFrameLocks noGrp="1"/>
          </p:cNvGraphicFramePr>
          <p:nvPr/>
        </p:nvGraphicFramePr>
        <p:xfrm>
          <a:off x="3200400" y="3429000"/>
          <a:ext cx="1752600" cy="2005276"/>
        </p:xfrm>
        <a:graphic>
          <a:graphicData uri="http://schemas.openxmlformats.org/drawingml/2006/table">
            <a:tbl>
              <a:tblPr/>
              <a:tblGrid>
                <a:gridCol w="11430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286430">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1" i="0" u="none" strike="noStrike" cap="none" normalizeH="0" baseline="0">
                          <a:ln>
                            <a:noFill/>
                          </a:ln>
                          <a:solidFill>
                            <a:schemeClr val="hlink"/>
                          </a:solidFill>
                          <a:effectLst/>
                          <a:latin typeface="Tahoma" pitchFamily="34" charset="0"/>
                        </a:rPr>
                        <a:t>Itemset</a:t>
                      </a:r>
                    </a:p>
                  </a:txBody>
                  <a:tcPr marT="45698" marB="45698"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1" i="0" u="none" strike="noStrike" cap="none" normalizeH="0" baseline="0">
                          <a:ln>
                            <a:noFill/>
                          </a:ln>
                          <a:solidFill>
                            <a:schemeClr val="hlink"/>
                          </a:solidFill>
                          <a:effectLst/>
                          <a:latin typeface="Tahoma" pitchFamily="34" charset="0"/>
                        </a:rPr>
                        <a:t>sup</a:t>
                      </a:r>
                    </a:p>
                  </a:txBody>
                  <a:tcPr marT="45698" marB="45698"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286430">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{A, B}</a:t>
                      </a:r>
                    </a:p>
                  </a:txBody>
                  <a:tcPr marT="45698" marB="45698"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1</a:t>
                      </a:r>
                    </a:p>
                  </a:txBody>
                  <a:tcPr marT="45698" marB="45698"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hlink"/>
                    </a:solidFill>
                  </a:tcPr>
                </a:tc>
                <a:extLst>
                  <a:ext uri="{0D108BD9-81ED-4DB2-BD59-A6C34878D82A}">
                    <a16:rowId xmlns:a16="http://schemas.microsoft.com/office/drawing/2014/main" val="10001"/>
                  </a:ext>
                </a:extLst>
              </a:tr>
              <a:tr h="286430">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{A, C}</a:t>
                      </a:r>
                    </a:p>
                  </a:txBody>
                  <a:tcPr marT="45698" marB="45698"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2</a:t>
                      </a:r>
                    </a:p>
                  </a:txBody>
                  <a:tcPr marT="45698" marB="45698"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86430">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{A, E}</a:t>
                      </a:r>
                    </a:p>
                  </a:txBody>
                  <a:tcPr marT="45698" marB="45698"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1</a:t>
                      </a:r>
                    </a:p>
                  </a:txBody>
                  <a:tcPr marT="45698" marB="45698"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hlink"/>
                    </a:solidFill>
                  </a:tcPr>
                </a:tc>
                <a:extLst>
                  <a:ext uri="{0D108BD9-81ED-4DB2-BD59-A6C34878D82A}">
                    <a16:rowId xmlns:a16="http://schemas.microsoft.com/office/drawing/2014/main" val="10003"/>
                  </a:ext>
                </a:extLst>
              </a:tr>
              <a:tr h="286430">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{B, C}</a:t>
                      </a:r>
                    </a:p>
                  </a:txBody>
                  <a:tcPr marT="45698" marB="45698"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2</a:t>
                      </a:r>
                    </a:p>
                  </a:txBody>
                  <a:tcPr marT="45698" marB="45698"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86430">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{B, E}</a:t>
                      </a:r>
                    </a:p>
                  </a:txBody>
                  <a:tcPr marT="45698" marB="45698"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3</a:t>
                      </a:r>
                    </a:p>
                  </a:txBody>
                  <a:tcPr marT="45698" marB="45698"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86430">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{C, E}</a:t>
                      </a:r>
                    </a:p>
                  </a:txBody>
                  <a:tcPr marT="45698" marB="45698"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2</a:t>
                      </a:r>
                    </a:p>
                  </a:txBody>
                  <a:tcPr marT="45698" marB="45698"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graphicFrame>
        <p:nvGraphicFramePr>
          <p:cNvPr id="1533056" name="Group 128"/>
          <p:cNvGraphicFramePr>
            <a:graphicFrameLocks noGrp="1"/>
          </p:cNvGraphicFramePr>
          <p:nvPr/>
        </p:nvGraphicFramePr>
        <p:xfrm>
          <a:off x="762000" y="3862388"/>
          <a:ext cx="1752600" cy="1432220"/>
        </p:xfrm>
        <a:graphic>
          <a:graphicData uri="http://schemas.openxmlformats.org/drawingml/2006/table">
            <a:tbl>
              <a:tblPr/>
              <a:tblGrid>
                <a:gridCol w="11430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286385">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1" i="0" u="none" strike="noStrike" cap="none" normalizeH="0" baseline="0">
                          <a:ln>
                            <a:noFill/>
                          </a:ln>
                          <a:solidFill>
                            <a:schemeClr val="hlink"/>
                          </a:solidFill>
                          <a:effectLst/>
                          <a:latin typeface="Tahoma" pitchFamily="34" charset="0"/>
                        </a:rPr>
                        <a:t>Itemset</a:t>
                      </a:r>
                    </a:p>
                  </a:txBody>
                  <a:tcPr marT="45686" marB="45686"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1" i="0" u="none" strike="noStrike" cap="none" normalizeH="0" baseline="0">
                          <a:ln>
                            <a:noFill/>
                          </a:ln>
                          <a:solidFill>
                            <a:schemeClr val="hlink"/>
                          </a:solidFill>
                          <a:effectLst/>
                          <a:latin typeface="Tahoma" pitchFamily="34" charset="0"/>
                        </a:rPr>
                        <a:t>sup</a:t>
                      </a:r>
                    </a:p>
                  </a:txBody>
                  <a:tcPr marT="45686" marB="45686"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286385">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{A, C}</a:t>
                      </a:r>
                    </a:p>
                  </a:txBody>
                  <a:tcPr marT="45686" marB="45686"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2</a:t>
                      </a:r>
                    </a:p>
                  </a:txBody>
                  <a:tcPr marT="45686" marB="45686"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86385">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{B, C}</a:t>
                      </a:r>
                    </a:p>
                  </a:txBody>
                  <a:tcPr marT="45686" marB="45686"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2</a:t>
                      </a:r>
                    </a:p>
                  </a:txBody>
                  <a:tcPr marT="45686" marB="45686"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86385">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{B, E}</a:t>
                      </a:r>
                    </a:p>
                  </a:txBody>
                  <a:tcPr marT="45686" marB="45686"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3</a:t>
                      </a:r>
                    </a:p>
                  </a:txBody>
                  <a:tcPr marT="45686" marB="45686"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86385">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{C, E}</a:t>
                      </a:r>
                    </a:p>
                  </a:txBody>
                  <a:tcPr marT="45686" marB="45686"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2</a:t>
                      </a:r>
                    </a:p>
                  </a:txBody>
                  <a:tcPr marT="45686" marB="45686"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1533076" name="Group 148"/>
          <p:cNvGraphicFramePr>
            <a:graphicFrameLocks noGrp="1"/>
          </p:cNvGraphicFramePr>
          <p:nvPr/>
        </p:nvGraphicFramePr>
        <p:xfrm>
          <a:off x="1143000" y="5867400"/>
          <a:ext cx="1143000" cy="658813"/>
        </p:xfrm>
        <a:graphic>
          <a:graphicData uri="http://schemas.openxmlformats.org/drawingml/2006/table">
            <a:tbl>
              <a:tblPr/>
              <a:tblGrid>
                <a:gridCol w="1143000">
                  <a:extLst>
                    <a:ext uri="{9D8B030D-6E8A-4147-A177-3AD203B41FA5}">
                      <a16:colId xmlns:a16="http://schemas.microsoft.com/office/drawing/2014/main" val="20000"/>
                    </a:ext>
                  </a:extLst>
                </a:gridCol>
              </a:tblGrid>
              <a:tr h="311016">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1" i="0" u="none" strike="noStrike" cap="none" normalizeH="0" baseline="0">
                          <a:ln>
                            <a:noFill/>
                          </a:ln>
                          <a:solidFill>
                            <a:schemeClr val="hlink"/>
                          </a:solidFill>
                          <a:effectLst/>
                          <a:latin typeface="Tahoma" pitchFamily="34" charset="0"/>
                        </a:rPr>
                        <a:t>Itemset</a:t>
                      </a:r>
                    </a:p>
                  </a:txBody>
                  <a:tcPr marT="45738" marB="45738"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347797">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{B, C, E}</a:t>
                      </a:r>
                    </a:p>
                  </a:txBody>
                  <a:tcPr marT="45738" marB="45738"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1533084" name="Group 156"/>
          <p:cNvGraphicFramePr>
            <a:graphicFrameLocks noGrp="1"/>
          </p:cNvGraphicFramePr>
          <p:nvPr/>
        </p:nvGraphicFramePr>
        <p:xfrm>
          <a:off x="4572000" y="5867400"/>
          <a:ext cx="1752600" cy="619126"/>
        </p:xfrm>
        <a:graphic>
          <a:graphicData uri="http://schemas.openxmlformats.org/drawingml/2006/table">
            <a:tbl>
              <a:tblPr/>
              <a:tblGrid>
                <a:gridCol w="11430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09563">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1" i="0" u="none" strike="noStrike" cap="none" normalizeH="0" baseline="0">
                          <a:ln>
                            <a:noFill/>
                          </a:ln>
                          <a:solidFill>
                            <a:schemeClr val="hlink"/>
                          </a:solidFill>
                          <a:effectLst/>
                          <a:latin typeface="Tahoma" pitchFamily="34" charset="0"/>
                        </a:rPr>
                        <a:t>Itemset</a:t>
                      </a:r>
                    </a:p>
                  </a:txBody>
                  <a:tcPr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1" i="0" u="none" strike="noStrike" cap="none" normalizeH="0" baseline="0">
                          <a:ln>
                            <a:noFill/>
                          </a:ln>
                          <a:solidFill>
                            <a:schemeClr val="hlink"/>
                          </a:solidFill>
                          <a:effectLst/>
                          <a:latin typeface="Tahoma" pitchFamily="34" charset="0"/>
                        </a:rPr>
                        <a:t>sup</a:t>
                      </a:r>
                    </a:p>
                  </a:txBody>
                  <a:tcPr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309563">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{B, C, E}</a:t>
                      </a:r>
                    </a:p>
                  </a:txBody>
                  <a:tcPr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2</a:t>
                      </a:r>
                    </a:p>
                  </a:txBody>
                  <a:tcPr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7816" name="Text Box 167"/>
          <p:cNvSpPr txBox="1">
            <a:spLocks noChangeArrowheads="1"/>
          </p:cNvSpPr>
          <p:nvPr/>
        </p:nvSpPr>
        <p:spPr bwMode="auto">
          <a:xfrm>
            <a:off x="1828800" y="1143000"/>
            <a:ext cx="1752600" cy="457200"/>
          </a:xfrm>
          <a:prstGeom prst="rect">
            <a:avLst/>
          </a:prstGeom>
          <a:noFill/>
          <a:ln w="9525">
            <a:noFill/>
            <a:miter lim="800000"/>
            <a:headEnd/>
            <a:tailEnd/>
          </a:ln>
        </p:spPr>
        <p:txBody>
          <a:bodyPr>
            <a:spAutoFit/>
          </a:bodyPr>
          <a:lstStyle/>
          <a:p>
            <a:pPr>
              <a:spcBef>
                <a:spcPct val="50000"/>
              </a:spcBef>
            </a:pPr>
            <a:r>
              <a:rPr lang="en-US"/>
              <a:t>Sup</a:t>
            </a:r>
            <a:r>
              <a:rPr lang="en-US" baseline="-25000"/>
              <a:t>min</a:t>
            </a:r>
            <a:r>
              <a:rPr lang="en-US"/>
              <a:t> = 2</a:t>
            </a:r>
          </a:p>
        </p:txBody>
      </p:sp>
    </p:spTree>
  </p:cSld>
  <p:clrMapOvr>
    <a:masterClrMapping/>
  </p:clrMapOvr>
  <p:transition spd="med">
    <p:zoom/>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5"/>
          <p:cNvSpPr>
            <a:spLocks noGrp="1"/>
          </p:cNvSpPr>
          <p:nvPr>
            <p:ph type="sldNum" sz="quarter" idx="10"/>
          </p:nvPr>
        </p:nvSpPr>
        <p:spPr>
          <a:noFill/>
        </p:spPr>
        <p:txBody>
          <a:bodyPr/>
          <a:lstStyle/>
          <a:p>
            <a:fld id="{A030517C-4657-4445-8613-4CFAC4A2B12F}" type="slidenum">
              <a:rPr lang="en-US" smtClean="0"/>
              <a:pPr/>
              <a:t>17</a:t>
            </a:fld>
            <a:endParaRPr lang="en-US"/>
          </a:p>
        </p:txBody>
      </p:sp>
      <p:sp>
        <p:nvSpPr>
          <p:cNvPr id="28675" name="Rectangle 2"/>
          <p:cNvSpPr>
            <a:spLocks noGrp="1" noChangeArrowheads="1"/>
          </p:cNvSpPr>
          <p:nvPr>
            <p:ph type="title"/>
          </p:nvPr>
        </p:nvSpPr>
        <p:spPr>
          <a:xfrm>
            <a:off x="762000" y="304800"/>
            <a:ext cx="7543800" cy="762000"/>
          </a:xfrm>
        </p:spPr>
        <p:txBody>
          <a:bodyPr/>
          <a:lstStyle/>
          <a:p>
            <a:pPr eaLnBrk="1" hangingPunct="1"/>
            <a:r>
              <a:rPr lang="en-US"/>
              <a:t>The Apriori Algorithm (</a:t>
            </a:r>
            <a:r>
              <a:rPr lang="en-US" sz="3200"/>
              <a:t>Pseudo-Code</a:t>
            </a:r>
            <a:r>
              <a:rPr lang="en-US" sz="3200" u="sng"/>
              <a:t>)</a:t>
            </a:r>
          </a:p>
        </p:txBody>
      </p:sp>
      <p:sp>
        <p:nvSpPr>
          <p:cNvPr id="28676" name="Rectangle 3"/>
          <p:cNvSpPr>
            <a:spLocks noGrp="1" noChangeArrowheads="1"/>
          </p:cNvSpPr>
          <p:nvPr>
            <p:ph type="body" idx="1"/>
          </p:nvPr>
        </p:nvSpPr>
        <p:spPr>
          <a:xfrm>
            <a:off x="685800" y="1447800"/>
            <a:ext cx="7924800" cy="5181600"/>
          </a:xfrm>
        </p:spPr>
        <p:txBody>
          <a:bodyPr/>
          <a:lstStyle/>
          <a:p>
            <a:pPr eaLnBrk="1" hangingPunct="1">
              <a:lnSpc>
                <a:spcPct val="110000"/>
              </a:lnSpc>
              <a:buFont typeface="Wingdings" pitchFamily="2" charset="2"/>
              <a:buNone/>
            </a:pPr>
            <a:r>
              <a:rPr lang="en-US" sz="2400" i="1"/>
              <a:t>C</a:t>
            </a:r>
            <a:r>
              <a:rPr lang="en-US" sz="2400" i="1" baseline="-25000"/>
              <a:t>k</a:t>
            </a:r>
            <a:r>
              <a:rPr lang="en-US" sz="2400"/>
              <a:t>: Candidate itemset of size k</a:t>
            </a:r>
          </a:p>
          <a:p>
            <a:pPr eaLnBrk="1" hangingPunct="1">
              <a:lnSpc>
                <a:spcPct val="110000"/>
              </a:lnSpc>
              <a:spcBef>
                <a:spcPct val="0"/>
              </a:spcBef>
              <a:buFont typeface="Wingdings" pitchFamily="2" charset="2"/>
              <a:buNone/>
            </a:pPr>
            <a:r>
              <a:rPr lang="en-US" sz="2400" i="1"/>
              <a:t>L</a:t>
            </a:r>
            <a:r>
              <a:rPr lang="en-US" sz="2400" i="1" baseline="-25000"/>
              <a:t>k</a:t>
            </a:r>
            <a:r>
              <a:rPr lang="en-US" sz="2400"/>
              <a:t> : frequent itemset of size k</a:t>
            </a:r>
          </a:p>
          <a:p>
            <a:pPr eaLnBrk="1" hangingPunct="1">
              <a:lnSpc>
                <a:spcPct val="110000"/>
              </a:lnSpc>
              <a:spcBef>
                <a:spcPct val="0"/>
              </a:spcBef>
              <a:buFont typeface="Wingdings" pitchFamily="2" charset="2"/>
              <a:buNone/>
            </a:pPr>
            <a:endParaRPr lang="en-US" sz="2400"/>
          </a:p>
          <a:p>
            <a:pPr eaLnBrk="1" hangingPunct="1">
              <a:lnSpc>
                <a:spcPct val="110000"/>
              </a:lnSpc>
              <a:spcBef>
                <a:spcPct val="0"/>
              </a:spcBef>
              <a:buFont typeface="Wingdings" pitchFamily="2" charset="2"/>
              <a:buNone/>
            </a:pPr>
            <a:r>
              <a:rPr lang="en-US" sz="2400" i="1"/>
              <a:t>L</a:t>
            </a:r>
            <a:r>
              <a:rPr lang="en-US" sz="2400" i="1" baseline="-25000"/>
              <a:t>1</a:t>
            </a:r>
            <a:r>
              <a:rPr lang="en-US" sz="2400"/>
              <a:t> = {frequent items};</a:t>
            </a:r>
          </a:p>
          <a:p>
            <a:pPr eaLnBrk="1" hangingPunct="1">
              <a:lnSpc>
                <a:spcPct val="110000"/>
              </a:lnSpc>
              <a:spcBef>
                <a:spcPct val="0"/>
              </a:spcBef>
              <a:buFont typeface="Wingdings" pitchFamily="2" charset="2"/>
              <a:buNone/>
            </a:pPr>
            <a:r>
              <a:rPr lang="en-US" sz="2400" b="1">
                <a:solidFill>
                  <a:srgbClr val="F83F24"/>
                </a:solidFill>
              </a:rPr>
              <a:t>for</a:t>
            </a:r>
            <a:r>
              <a:rPr lang="en-US" sz="2400" b="1"/>
              <a:t> </a:t>
            </a:r>
            <a:r>
              <a:rPr lang="en-US" sz="2400"/>
              <a:t>(</a:t>
            </a:r>
            <a:r>
              <a:rPr lang="en-US" sz="2400" i="1"/>
              <a:t>k</a:t>
            </a:r>
            <a:r>
              <a:rPr lang="en-US" sz="2400"/>
              <a:t> = 1; </a:t>
            </a:r>
            <a:r>
              <a:rPr lang="en-US" sz="2400" i="1"/>
              <a:t>L</a:t>
            </a:r>
            <a:r>
              <a:rPr lang="en-US" sz="2400" i="1" baseline="-25000"/>
              <a:t>k</a:t>
            </a:r>
            <a:r>
              <a:rPr lang="en-US" sz="2400"/>
              <a:t> !=</a:t>
            </a:r>
            <a:r>
              <a:rPr lang="en-US" sz="2400">
                <a:sym typeface="Symbol" pitchFamily="18" charset="2"/>
              </a:rPr>
              <a:t></a:t>
            </a:r>
            <a:r>
              <a:rPr lang="en-US" sz="2400"/>
              <a:t>; </a:t>
            </a:r>
            <a:r>
              <a:rPr lang="en-US" sz="2400" i="1"/>
              <a:t>k</a:t>
            </a:r>
            <a:r>
              <a:rPr lang="en-US" sz="2400"/>
              <a:t>++) </a:t>
            </a:r>
            <a:r>
              <a:rPr lang="en-US" sz="2400" b="1">
                <a:solidFill>
                  <a:srgbClr val="F83F24"/>
                </a:solidFill>
              </a:rPr>
              <a:t>do begin</a:t>
            </a:r>
            <a:endParaRPr lang="en-US" sz="2400"/>
          </a:p>
          <a:p>
            <a:pPr eaLnBrk="1" hangingPunct="1">
              <a:lnSpc>
                <a:spcPct val="110000"/>
              </a:lnSpc>
              <a:spcBef>
                <a:spcPct val="0"/>
              </a:spcBef>
              <a:buFont typeface="Wingdings" pitchFamily="2" charset="2"/>
              <a:buNone/>
            </a:pPr>
            <a:r>
              <a:rPr lang="en-US" sz="2400"/>
              <a:t>    </a:t>
            </a:r>
            <a:r>
              <a:rPr lang="en-US" sz="2400" i="1"/>
              <a:t>C</a:t>
            </a:r>
            <a:r>
              <a:rPr lang="en-US" sz="2400" i="1" baseline="-25000"/>
              <a:t>k+1</a:t>
            </a:r>
            <a:r>
              <a:rPr lang="en-US" sz="2400"/>
              <a:t> = candidates generated from </a:t>
            </a:r>
            <a:r>
              <a:rPr lang="en-US" sz="2400" i="1"/>
              <a:t>L</a:t>
            </a:r>
            <a:r>
              <a:rPr lang="en-US" sz="2400" i="1" baseline="-25000"/>
              <a:t>k</a:t>
            </a:r>
            <a:r>
              <a:rPr lang="en-US" sz="2400"/>
              <a:t>;</a:t>
            </a:r>
          </a:p>
          <a:p>
            <a:pPr eaLnBrk="1" hangingPunct="1">
              <a:lnSpc>
                <a:spcPct val="110000"/>
              </a:lnSpc>
              <a:spcBef>
                <a:spcPct val="0"/>
              </a:spcBef>
              <a:buFont typeface="Wingdings" pitchFamily="2" charset="2"/>
              <a:buNone/>
            </a:pPr>
            <a:r>
              <a:rPr lang="en-US" sz="2400"/>
              <a:t>    </a:t>
            </a:r>
            <a:r>
              <a:rPr lang="en-US" sz="2400" b="1">
                <a:solidFill>
                  <a:srgbClr val="F83F24"/>
                </a:solidFill>
              </a:rPr>
              <a:t>for each</a:t>
            </a:r>
            <a:r>
              <a:rPr lang="en-US" sz="2400"/>
              <a:t> transaction </a:t>
            </a:r>
            <a:r>
              <a:rPr lang="en-US" sz="2400" i="1"/>
              <a:t>t</a:t>
            </a:r>
            <a:r>
              <a:rPr lang="en-US" sz="2400"/>
              <a:t> in database do</a:t>
            </a:r>
          </a:p>
          <a:p>
            <a:pPr lvl="1" eaLnBrk="1" hangingPunct="1">
              <a:lnSpc>
                <a:spcPct val="110000"/>
              </a:lnSpc>
              <a:spcBef>
                <a:spcPct val="0"/>
              </a:spcBef>
              <a:buFont typeface="Wingdings" pitchFamily="2" charset="2"/>
              <a:buNone/>
            </a:pPr>
            <a:r>
              <a:rPr lang="en-US" sz="2400"/>
              <a:t>  increment the count of all candidates in </a:t>
            </a:r>
            <a:r>
              <a:rPr lang="en-US" sz="2400" i="1"/>
              <a:t>C</a:t>
            </a:r>
            <a:r>
              <a:rPr lang="en-US" sz="2400" i="1" baseline="-25000"/>
              <a:t>k+1</a:t>
            </a:r>
            <a:r>
              <a:rPr lang="en-US" sz="2400"/>
              <a:t> that are contained in </a:t>
            </a:r>
            <a:r>
              <a:rPr lang="en-US" sz="2400" i="1"/>
              <a:t>t</a:t>
            </a:r>
            <a:endParaRPr lang="en-US" sz="2400"/>
          </a:p>
          <a:p>
            <a:pPr eaLnBrk="1" hangingPunct="1">
              <a:lnSpc>
                <a:spcPct val="110000"/>
              </a:lnSpc>
              <a:spcBef>
                <a:spcPct val="0"/>
              </a:spcBef>
              <a:buFont typeface="Wingdings" pitchFamily="2" charset="2"/>
              <a:buNone/>
            </a:pPr>
            <a:r>
              <a:rPr lang="en-US" sz="2400"/>
              <a:t>    </a:t>
            </a:r>
            <a:r>
              <a:rPr lang="en-US" sz="2400" i="1"/>
              <a:t>L</a:t>
            </a:r>
            <a:r>
              <a:rPr lang="en-US" sz="2400" i="1" baseline="-25000"/>
              <a:t>k+1</a:t>
            </a:r>
            <a:r>
              <a:rPr lang="en-US" sz="2400"/>
              <a:t>  = candidates in </a:t>
            </a:r>
            <a:r>
              <a:rPr lang="en-US" sz="2400" i="1"/>
              <a:t>C</a:t>
            </a:r>
            <a:r>
              <a:rPr lang="en-US" sz="2400" i="1" baseline="-25000"/>
              <a:t>k+1</a:t>
            </a:r>
            <a:r>
              <a:rPr lang="en-US" sz="2400"/>
              <a:t> with min_support</a:t>
            </a:r>
          </a:p>
          <a:p>
            <a:pPr eaLnBrk="1" hangingPunct="1">
              <a:lnSpc>
                <a:spcPct val="110000"/>
              </a:lnSpc>
              <a:spcBef>
                <a:spcPct val="0"/>
              </a:spcBef>
              <a:buFont typeface="Wingdings" pitchFamily="2" charset="2"/>
              <a:buNone/>
            </a:pPr>
            <a:r>
              <a:rPr lang="en-US" sz="2400"/>
              <a:t>   </a:t>
            </a:r>
            <a:r>
              <a:rPr lang="en-US" sz="2400" b="1">
                <a:solidFill>
                  <a:srgbClr val="F83F24"/>
                </a:solidFill>
              </a:rPr>
              <a:t> end</a:t>
            </a:r>
            <a:endParaRPr lang="en-US" sz="2400"/>
          </a:p>
          <a:p>
            <a:pPr eaLnBrk="1" hangingPunct="1">
              <a:lnSpc>
                <a:spcPct val="110000"/>
              </a:lnSpc>
              <a:spcBef>
                <a:spcPct val="0"/>
              </a:spcBef>
              <a:buFont typeface="Wingdings" pitchFamily="2" charset="2"/>
              <a:buNone/>
            </a:pPr>
            <a:r>
              <a:rPr lang="en-US" sz="2400" b="1">
                <a:solidFill>
                  <a:srgbClr val="F83F24"/>
                </a:solidFill>
              </a:rPr>
              <a:t>return</a:t>
            </a:r>
            <a:r>
              <a:rPr lang="en-US" sz="2400"/>
              <a:t> </a:t>
            </a:r>
            <a:r>
              <a:rPr lang="en-US" sz="2400">
                <a:sym typeface="Symbol" pitchFamily="18" charset="2"/>
              </a:rPr>
              <a:t></a:t>
            </a:r>
            <a:r>
              <a:rPr lang="en-US" sz="2400" i="1" baseline="-25000"/>
              <a:t>k</a:t>
            </a:r>
            <a:r>
              <a:rPr lang="en-US" sz="2400"/>
              <a:t> </a:t>
            </a:r>
            <a:r>
              <a:rPr lang="en-US" sz="2400" i="1"/>
              <a:t>L</a:t>
            </a:r>
            <a:r>
              <a:rPr lang="en-US" sz="2400" i="1" baseline="-25000"/>
              <a:t>k</a:t>
            </a:r>
            <a:r>
              <a:rPr lang="en-US" sz="2400"/>
              <a:t>;</a:t>
            </a:r>
          </a:p>
        </p:txBody>
      </p:sp>
    </p:spTree>
  </p:cSld>
  <p:clrMapOvr>
    <a:masterClrMapping/>
  </p:clrMapOvr>
  <p:transition spd="med">
    <p:zo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371" name="Picture 4"/>
          <p:cNvPicPr>
            <a:picLocks noChangeAspect="1"/>
          </p:cNvPicPr>
          <p:nvPr/>
        </p:nvPicPr>
        <p:blipFill>
          <a:blip r:embed="rId2"/>
          <a:srcRect/>
          <a:stretch>
            <a:fillRect/>
          </a:stretch>
        </p:blipFill>
        <p:spPr bwMode="auto">
          <a:xfrm>
            <a:off x="-228600" y="19050"/>
            <a:ext cx="4143375" cy="3209925"/>
          </a:xfrm>
          <a:prstGeom prst="rect">
            <a:avLst/>
          </a:prstGeom>
          <a:noFill/>
          <a:ln w="9525">
            <a:noFill/>
            <a:miter lim="800000"/>
            <a:headEnd/>
            <a:tailEnd/>
          </a:ln>
        </p:spPr>
      </p:pic>
      <p:pic>
        <p:nvPicPr>
          <p:cNvPr id="6" name="Picture 5"/>
          <p:cNvPicPr>
            <a:picLocks noChangeAspect="1"/>
          </p:cNvPicPr>
          <p:nvPr/>
        </p:nvPicPr>
        <p:blipFill>
          <a:blip r:embed="rId3"/>
          <a:srcRect/>
          <a:stretch>
            <a:fillRect/>
          </a:stretch>
        </p:blipFill>
        <p:spPr bwMode="auto">
          <a:xfrm>
            <a:off x="3810000" y="1085850"/>
            <a:ext cx="2381250" cy="1400175"/>
          </a:xfrm>
          <a:prstGeom prst="rect">
            <a:avLst/>
          </a:prstGeom>
          <a:noFill/>
          <a:ln w="9525">
            <a:noFill/>
            <a:miter lim="800000"/>
            <a:headEnd/>
            <a:tailEnd/>
          </a:ln>
        </p:spPr>
      </p:pic>
      <p:pic>
        <p:nvPicPr>
          <p:cNvPr id="7" name="Picture 6"/>
          <p:cNvPicPr>
            <a:picLocks noChangeAspect="1"/>
          </p:cNvPicPr>
          <p:nvPr/>
        </p:nvPicPr>
        <p:blipFill>
          <a:blip r:embed="rId4"/>
          <a:srcRect/>
          <a:stretch>
            <a:fillRect/>
          </a:stretch>
        </p:blipFill>
        <p:spPr bwMode="auto">
          <a:xfrm>
            <a:off x="6343650" y="1085850"/>
            <a:ext cx="2657475" cy="1362075"/>
          </a:xfrm>
          <a:prstGeom prst="rect">
            <a:avLst/>
          </a:prstGeom>
          <a:noFill/>
          <a:ln w="9525">
            <a:noFill/>
            <a:miter lim="800000"/>
            <a:headEnd/>
            <a:tailEnd/>
          </a:ln>
        </p:spPr>
      </p:pic>
      <p:pic>
        <p:nvPicPr>
          <p:cNvPr id="8" name="Picture 7"/>
          <p:cNvPicPr>
            <a:picLocks noChangeAspect="1"/>
          </p:cNvPicPr>
          <p:nvPr/>
        </p:nvPicPr>
        <p:blipFill>
          <a:blip r:embed="rId5"/>
          <a:srcRect/>
          <a:stretch>
            <a:fillRect/>
          </a:stretch>
        </p:blipFill>
        <p:spPr bwMode="auto">
          <a:xfrm>
            <a:off x="0" y="3352800"/>
            <a:ext cx="1600200" cy="2105025"/>
          </a:xfrm>
          <a:prstGeom prst="rect">
            <a:avLst/>
          </a:prstGeom>
          <a:noFill/>
          <a:ln w="9525">
            <a:noFill/>
            <a:miter lim="800000"/>
            <a:headEnd/>
            <a:tailEnd/>
          </a:ln>
        </p:spPr>
      </p:pic>
      <p:pic>
        <p:nvPicPr>
          <p:cNvPr id="9" name="Picture 8"/>
          <p:cNvPicPr>
            <a:picLocks noChangeAspect="1"/>
          </p:cNvPicPr>
          <p:nvPr/>
        </p:nvPicPr>
        <p:blipFill>
          <a:blip r:embed="rId6"/>
          <a:srcRect/>
          <a:stretch>
            <a:fillRect/>
          </a:stretch>
        </p:blipFill>
        <p:spPr bwMode="auto">
          <a:xfrm>
            <a:off x="1647825" y="3352800"/>
            <a:ext cx="2162175" cy="2066925"/>
          </a:xfrm>
          <a:prstGeom prst="rect">
            <a:avLst/>
          </a:prstGeom>
          <a:noFill/>
          <a:ln w="9525">
            <a:noFill/>
            <a:miter lim="800000"/>
            <a:headEnd/>
            <a:tailEnd/>
          </a:ln>
        </p:spPr>
      </p:pic>
      <p:pic>
        <p:nvPicPr>
          <p:cNvPr id="10" name="Picture 9"/>
          <p:cNvPicPr>
            <a:picLocks noChangeAspect="1"/>
          </p:cNvPicPr>
          <p:nvPr/>
        </p:nvPicPr>
        <p:blipFill>
          <a:blip r:embed="rId7"/>
          <a:srcRect/>
          <a:stretch>
            <a:fillRect/>
          </a:stretch>
        </p:blipFill>
        <p:spPr bwMode="auto">
          <a:xfrm>
            <a:off x="3886200" y="3533775"/>
            <a:ext cx="2495550" cy="1676400"/>
          </a:xfrm>
          <a:prstGeom prst="rect">
            <a:avLst/>
          </a:prstGeom>
          <a:noFill/>
          <a:ln w="9525">
            <a:noFill/>
            <a:miter lim="800000"/>
            <a:headEnd/>
            <a:tailEnd/>
          </a:ln>
        </p:spPr>
      </p:pic>
      <p:pic>
        <p:nvPicPr>
          <p:cNvPr id="11" name="Picture 10"/>
          <p:cNvPicPr>
            <a:picLocks noChangeAspect="1"/>
          </p:cNvPicPr>
          <p:nvPr/>
        </p:nvPicPr>
        <p:blipFill>
          <a:blip r:embed="rId8"/>
          <a:srcRect/>
          <a:stretch>
            <a:fillRect/>
          </a:stretch>
        </p:blipFill>
        <p:spPr bwMode="auto">
          <a:xfrm>
            <a:off x="609600" y="5610225"/>
            <a:ext cx="6191250" cy="1085850"/>
          </a:xfrm>
          <a:prstGeom prst="rect">
            <a:avLst/>
          </a:prstGeom>
          <a:noFill/>
          <a:ln w="9525">
            <a:noFill/>
            <a:miter lim="800000"/>
            <a:headEnd/>
            <a:tailEnd/>
          </a:ln>
        </p:spPr>
      </p:pic>
      <p:pic>
        <p:nvPicPr>
          <p:cNvPr id="12" name="Picture 11"/>
          <p:cNvPicPr>
            <a:picLocks noChangeAspect="1"/>
          </p:cNvPicPr>
          <p:nvPr/>
        </p:nvPicPr>
        <p:blipFill>
          <a:blip r:embed="rId9"/>
          <a:srcRect/>
          <a:stretch>
            <a:fillRect/>
          </a:stretch>
        </p:blipFill>
        <p:spPr bwMode="auto">
          <a:xfrm>
            <a:off x="4029075" y="2514600"/>
            <a:ext cx="5114925" cy="923925"/>
          </a:xfrm>
          <a:prstGeom prst="rect">
            <a:avLst/>
          </a:prstGeom>
          <a:noFill/>
          <a:ln w="9525">
            <a:noFill/>
            <a:miter lim="800000"/>
            <a:headEnd/>
            <a:tailEnd/>
          </a:ln>
        </p:spPr>
      </p:pic>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p:cNvSpPr>
            <a:spLocks noGrp="1"/>
          </p:cNvSpPr>
          <p:nvPr>
            <p:ph type="title"/>
          </p:nvPr>
        </p:nvSpPr>
        <p:spPr/>
        <p:txBody>
          <a:bodyPr/>
          <a:lstStyle/>
          <a:p>
            <a:endParaRPr lang="en-US" altLang="en-US"/>
          </a:p>
        </p:txBody>
      </p:sp>
      <p:pic>
        <p:nvPicPr>
          <p:cNvPr id="59395" name="Content Placeholder 5"/>
          <p:cNvPicPr>
            <a:picLocks noGrp="1" noChangeAspect="1"/>
          </p:cNvPicPr>
          <p:nvPr>
            <p:ph idx="1"/>
          </p:nvPr>
        </p:nvPicPr>
        <p:blipFill>
          <a:blip r:embed="rId2"/>
          <a:srcRect/>
          <a:stretch>
            <a:fillRect/>
          </a:stretch>
        </p:blipFill>
        <p:spPr>
          <a:xfrm>
            <a:off x="2033588" y="3414713"/>
            <a:ext cx="5076825" cy="1247775"/>
          </a:xfrm>
        </p:spPr>
      </p:pic>
      <p:pic>
        <p:nvPicPr>
          <p:cNvPr id="59397" name="Picture 4"/>
          <p:cNvPicPr>
            <a:picLocks noChangeAspect="1"/>
          </p:cNvPicPr>
          <p:nvPr/>
        </p:nvPicPr>
        <p:blipFill>
          <a:blip r:embed="rId3"/>
          <a:srcRect/>
          <a:stretch>
            <a:fillRect/>
          </a:stretch>
        </p:blipFill>
        <p:spPr bwMode="auto">
          <a:xfrm>
            <a:off x="1279525" y="223838"/>
            <a:ext cx="6584950" cy="4457700"/>
          </a:xfrm>
          <a:prstGeom prst="rect">
            <a:avLst/>
          </a:prstGeom>
          <a:noFill/>
          <a:ln w="9525">
            <a:noFill/>
            <a:miter lim="800000"/>
            <a:headEnd/>
            <a:tailEnd/>
          </a:ln>
        </p:spPr>
      </p:pic>
      <p:pic>
        <p:nvPicPr>
          <p:cNvPr id="59398" name="Picture 6"/>
          <p:cNvPicPr>
            <a:picLocks noChangeAspect="1"/>
          </p:cNvPicPr>
          <p:nvPr/>
        </p:nvPicPr>
        <p:blipFill>
          <a:blip r:embed="rId2"/>
          <a:srcRect/>
          <a:stretch>
            <a:fillRect/>
          </a:stretch>
        </p:blipFill>
        <p:spPr bwMode="auto">
          <a:xfrm>
            <a:off x="1828800" y="5067300"/>
            <a:ext cx="5076825" cy="1247775"/>
          </a:xfrm>
          <a:prstGeom prst="rect">
            <a:avLst/>
          </a:prstGeom>
          <a:noFill/>
          <a:ln w="9525">
            <a:noFill/>
            <a:miter lim="800000"/>
            <a:headEnd/>
            <a:tailEnd/>
          </a:ln>
        </p:spPr>
      </p:pic>
    </p:spTree>
  </p:cSld>
  <p:clrMapOvr>
    <a:masterClrMapping/>
  </p:clrMapOvr>
  <p:transition spd="med">
    <p:zo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p:cNvSpPr>
            <a:spLocks noGrp="1"/>
          </p:cNvSpPr>
          <p:nvPr>
            <p:ph type="title"/>
          </p:nvPr>
        </p:nvSpPr>
        <p:spPr/>
        <p:txBody>
          <a:bodyPr/>
          <a:lstStyle/>
          <a:p>
            <a:r>
              <a:rPr lang="en-US" dirty="0"/>
              <a:t>Generating Association Rules Example</a:t>
            </a:r>
          </a:p>
        </p:txBody>
      </p:sp>
      <p:pic>
        <p:nvPicPr>
          <p:cNvPr id="60419" name="Content Placeholder 4"/>
          <p:cNvPicPr>
            <a:picLocks noGrp="1" noChangeAspect="1"/>
          </p:cNvPicPr>
          <p:nvPr>
            <p:ph idx="1"/>
          </p:nvPr>
        </p:nvPicPr>
        <p:blipFill>
          <a:blip r:embed="rId2"/>
          <a:srcRect/>
          <a:stretch>
            <a:fillRect/>
          </a:stretch>
        </p:blipFill>
        <p:spPr>
          <a:xfrm>
            <a:off x="685800" y="1905000"/>
            <a:ext cx="8043863" cy="3800475"/>
          </a:xfrm>
        </p:spPr>
      </p:pic>
      <p:sp>
        <p:nvSpPr>
          <p:cNvPr id="60420" name="Slide Number Placeholder 3"/>
          <p:cNvSpPr>
            <a:spLocks noGrp="1"/>
          </p:cNvSpPr>
          <p:nvPr>
            <p:ph type="sldNum" sz="quarter" idx="4294967295"/>
          </p:nvPr>
        </p:nvSpPr>
        <p:spPr>
          <a:xfrm>
            <a:off x="6553200" y="6248400"/>
            <a:ext cx="1905000" cy="457200"/>
          </a:xfrm>
          <a:prstGeom prst="rect">
            <a:avLst/>
          </a:prstGeom>
          <a:noFill/>
        </p:spPr>
        <p:txBody>
          <a:bodyPr/>
          <a:lstStyle/>
          <a:p>
            <a:fld id="{64208627-5A70-4C0F-AEF7-31EFEDCE24FC}" type="slidenum">
              <a:rPr lang="en-US" altLang="en-US"/>
              <a:pPr/>
              <a:t>20</a:t>
            </a:fld>
            <a:endParaRPr lang="en-US" altLang="en-US"/>
          </a:p>
        </p:txBody>
      </p:sp>
    </p:spTree>
  </p:cSld>
  <p:clrMapOvr>
    <a:masterClrMapping/>
  </p:clrMapOvr>
  <p:transition spd="med">
    <p:zo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18411881-BCF6-40F7-96CE-96EDB10FFC86}" type="slidenum">
              <a:rPr lang="en-US" smtClean="0"/>
              <a:pPr>
                <a:defRPr/>
              </a:pPr>
              <a:t>21</a:t>
            </a:fld>
            <a:endParaRPr lang="en-US"/>
          </a:p>
        </p:txBody>
      </p:sp>
      <p:pic>
        <p:nvPicPr>
          <p:cNvPr id="164866" name="Picture 2"/>
          <p:cNvPicPr>
            <a:picLocks noGrp="1" noChangeAspect="1" noChangeArrowheads="1"/>
          </p:cNvPicPr>
          <p:nvPr>
            <p:ph idx="1"/>
          </p:nvPr>
        </p:nvPicPr>
        <p:blipFill>
          <a:blip r:embed="rId2"/>
          <a:srcRect/>
          <a:stretch>
            <a:fillRect/>
          </a:stretch>
        </p:blipFill>
        <p:spPr bwMode="auto">
          <a:xfrm>
            <a:off x="0" y="0"/>
            <a:ext cx="8686800" cy="6950661"/>
          </a:xfrm>
          <a:prstGeom prst="rect">
            <a:avLst/>
          </a:prstGeom>
          <a:noFill/>
          <a:ln w="9525" cap="flat" cmpd="sng">
            <a:noFill/>
            <a:prstDash val="solid"/>
            <a:miter lim="800000"/>
            <a:headEnd type="none" w="med" len="med"/>
            <a:tailEnd type="none" w="med" len="med"/>
          </a:ln>
          <a:effectLst/>
        </p:spPr>
      </p:pic>
    </p:spTree>
  </p:cSld>
  <p:clrMapOvr>
    <a:masterClrMapping/>
  </p:clrMapOvr>
  <p:transition spd="med">
    <p:zo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7FB9C459-472B-4F3F-A5D1-3FAD914CCE02}" type="slidenum">
              <a:rPr lang="en-US" smtClean="0"/>
              <a:pPr>
                <a:defRPr/>
              </a:pPr>
              <a:t>22</a:t>
            </a:fld>
            <a:endParaRPr lang="en-US"/>
          </a:p>
        </p:txBody>
      </p:sp>
      <p:pic>
        <p:nvPicPr>
          <p:cNvPr id="253954" name="Picture 2"/>
          <p:cNvPicPr>
            <a:picLocks noChangeAspect="1" noChangeArrowheads="1"/>
          </p:cNvPicPr>
          <p:nvPr/>
        </p:nvPicPr>
        <p:blipFill>
          <a:blip r:embed="rId2"/>
          <a:srcRect/>
          <a:stretch>
            <a:fillRect/>
          </a:stretch>
        </p:blipFill>
        <p:spPr bwMode="auto">
          <a:xfrm>
            <a:off x="1" y="1219200"/>
            <a:ext cx="9144000" cy="4495800"/>
          </a:xfrm>
          <a:prstGeom prst="rect">
            <a:avLst/>
          </a:prstGeom>
          <a:noFill/>
          <a:ln w="9525">
            <a:noFill/>
            <a:miter lim="800000"/>
            <a:headEnd/>
            <a:tailEnd/>
          </a:ln>
          <a:effectLst/>
        </p:spPr>
      </p:pic>
    </p:spTree>
  </p:cSld>
  <p:clrMapOvr>
    <a:masterClrMapping/>
  </p:clrMapOvr>
  <p:transition spd="med">
    <p:zo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6.9</a:t>
            </a:r>
          </a:p>
        </p:txBody>
      </p:sp>
      <p:sp>
        <p:nvSpPr>
          <p:cNvPr id="4" name="Slide Number Placeholder 3"/>
          <p:cNvSpPr>
            <a:spLocks noGrp="1"/>
          </p:cNvSpPr>
          <p:nvPr>
            <p:ph type="sldNum" sz="quarter" idx="10"/>
          </p:nvPr>
        </p:nvSpPr>
        <p:spPr/>
        <p:txBody>
          <a:bodyPr/>
          <a:lstStyle/>
          <a:p>
            <a:pPr>
              <a:defRPr/>
            </a:pPr>
            <a:fld id="{18411881-BCF6-40F7-96CE-96EDB10FFC86}" type="slidenum">
              <a:rPr lang="en-US" smtClean="0"/>
              <a:pPr>
                <a:defRPr/>
              </a:pPr>
              <a:t>23</a:t>
            </a:fld>
            <a:endParaRPr lang="en-US"/>
          </a:p>
        </p:txBody>
      </p:sp>
      <p:pic>
        <p:nvPicPr>
          <p:cNvPr id="165890" name="Picture 2"/>
          <p:cNvPicPr>
            <a:picLocks noGrp="1" noChangeAspect="1" noChangeArrowheads="1"/>
          </p:cNvPicPr>
          <p:nvPr>
            <p:ph idx="1"/>
          </p:nvPr>
        </p:nvPicPr>
        <p:blipFill>
          <a:blip r:embed="rId2"/>
          <a:srcRect/>
          <a:stretch>
            <a:fillRect/>
          </a:stretch>
        </p:blipFill>
        <p:spPr bwMode="auto">
          <a:xfrm>
            <a:off x="0" y="990600"/>
            <a:ext cx="8763000" cy="5410200"/>
          </a:xfrm>
          <a:prstGeom prst="rect">
            <a:avLst/>
          </a:prstGeom>
          <a:noFill/>
          <a:ln w="9525" cap="flat" cmpd="sng">
            <a:noFill/>
            <a:prstDash val="solid"/>
            <a:miter lim="800000"/>
            <a:headEnd type="none" w="med" len="med"/>
            <a:tailEnd type="none" w="med" len="med"/>
          </a:ln>
          <a:effectLst/>
        </p:spPr>
      </p:pic>
    </p:spTree>
  </p:cSld>
  <p:clrMapOvr>
    <a:masterClrMapping/>
  </p:clrMapOvr>
  <p:transition spd="med">
    <p:zo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Number Placeholder 7"/>
          <p:cNvSpPr>
            <a:spLocks noGrp="1"/>
          </p:cNvSpPr>
          <p:nvPr>
            <p:ph type="sldNum" sz="quarter" idx="12"/>
          </p:nvPr>
        </p:nvSpPr>
        <p:spPr>
          <a:noFill/>
        </p:spPr>
        <p:txBody>
          <a:bodyPr/>
          <a:lstStyle/>
          <a:p>
            <a:fld id="{E3FC1633-9E6D-4BE5-817C-697C7F6FEEA8}" type="slidenum">
              <a:rPr lang="en-US" smtClean="0"/>
              <a:pPr/>
              <a:t>24</a:t>
            </a:fld>
            <a:endParaRPr lang="en-US"/>
          </a:p>
        </p:txBody>
      </p:sp>
      <p:sp>
        <p:nvSpPr>
          <p:cNvPr id="67587" name="Rectangle 2"/>
          <p:cNvSpPr>
            <a:spLocks noGrp="1" noChangeArrowheads="1"/>
          </p:cNvSpPr>
          <p:nvPr>
            <p:ph type="title"/>
          </p:nvPr>
        </p:nvSpPr>
        <p:spPr/>
        <p:txBody>
          <a:bodyPr/>
          <a:lstStyle/>
          <a:p>
            <a:pPr eaLnBrk="1" hangingPunct="1"/>
            <a:r>
              <a:rPr lang="en-US" sz="3200"/>
              <a:t>Interestingness Measure: Correlations (Lift)</a:t>
            </a:r>
          </a:p>
        </p:txBody>
      </p:sp>
      <p:sp>
        <p:nvSpPr>
          <p:cNvPr id="67588" name="Rectangle 3"/>
          <p:cNvSpPr>
            <a:spLocks noGrp="1" noChangeArrowheads="1"/>
          </p:cNvSpPr>
          <p:nvPr>
            <p:ph type="body" sz="half" idx="1"/>
          </p:nvPr>
        </p:nvSpPr>
        <p:spPr>
          <a:xfrm>
            <a:off x="381000" y="1295400"/>
            <a:ext cx="8534400" cy="2895600"/>
          </a:xfrm>
        </p:spPr>
        <p:txBody>
          <a:bodyPr/>
          <a:lstStyle/>
          <a:p>
            <a:pPr eaLnBrk="1" hangingPunct="1">
              <a:lnSpc>
                <a:spcPct val="130000"/>
              </a:lnSpc>
            </a:pPr>
            <a:r>
              <a:rPr lang="en-US" sz="2000" i="1" dirty="0"/>
              <a:t>play basketball</a:t>
            </a:r>
            <a:r>
              <a:rPr lang="en-US" sz="2000" dirty="0"/>
              <a:t>  </a:t>
            </a:r>
            <a:r>
              <a:rPr lang="en-US" sz="2000" dirty="0">
                <a:sym typeface="Symbol" pitchFamily="18" charset="2"/>
              </a:rPr>
              <a:t> </a:t>
            </a:r>
            <a:r>
              <a:rPr lang="en-US" sz="2000" i="1" dirty="0">
                <a:sym typeface="Symbol" pitchFamily="18" charset="2"/>
              </a:rPr>
              <a:t>eat cereal</a:t>
            </a:r>
            <a:r>
              <a:rPr lang="en-US" sz="2000" dirty="0">
                <a:sym typeface="Symbol" pitchFamily="18" charset="2"/>
              </a:rPr>
              <a:t> [40%, 66.7%]  is misleading</a:t>
            </a:r>
          </a:p>
          <a:p>
            <a:pPr lvl="1" eaLnBrk="1" hangingPunct="1">
              <a:lnSpc>
                <a:spcPct val="130000"/>
              </a:lnSpc>
            </a:pPr>
            <a:r>
              <a:rPr lang="en-US" sz="2000" dirty="0">
                <a:sym typeface="Symbol" pitchFamily="18" charset="2"/>
              </a:rPr>
              <a:t>The overall % of students eating cereal is 75% &gt; 66.7%.</a:t>
            </a:r>
          </a:p>
          <a:p>
            <a:pPr eaLnBrk="1" hangingPunct="1">
              <a:lnSpc>
                <a:spcPct val="130000"/>
              </a:lnSpc>
            </a:pPr>
            <a:r>
              <a:rPr lang="en-US" sz="2000" i="1" dirty="0"/>
              <a:t>play basketball</a:t>
            </a:r>
            <a:r>
              <a:rPr lang="en-US" sz="2000" dirty="0"/>
              <a:t>  </a:t>
            </a:r>
            <a:r>
              <a:rPr lang="en-US" sz="2000" dirty="0">
                <a:sym typeface="Symbol" pitchFamily="18" charset="2"/>
              </a:rPr>
              <a:t> </a:t>
            </a:r>
            <a:r>
              <a:rPr lang="en-US" sz="2000" i="1" dirty="0">
                <a:sym typeface="Symbol" pitchFamily="18" charset="2"/>
              </a:rPr>
              <a:t>not eat cereal</a:t>
            </a:r>
            <a:r>
              <a:rPr lang="en-US" sz="2000" dirty="0">
                <a:sym typeface="Symbol" pitchFamily="18" charset="2"/>
              </a:rPr>
              <a:t> [20%, 33.3%] is more accurate, although with lower support and confidence</a:t>
            </a:r>
          </a:p>
          <a:p>
            <a:pPr eaLnBrk="1" hangingPunct="1">
              <a:lnSpc>
                <a:spcPct val="130000"/>
              </a:lnSpc>
            </a:pPr>
            <a:r>
              <a:rPr lang="en-US" sz="2000" dirty="0">
                <a:sym typeface="Symbol" pitchFamily="18" charset="2"/>
              </a:rPr>
              <a:t>Measure of dependent/correlated events: </a:t>
            </a:r>
            <a:r>
              <a:rPr lang="en-US" sz="2000" dirty="0">
                <a:solidFill>
                  <a:schemeClr val="hlink"/>
                </a:solidFill>
                <a:sym typeface="Symbol" pitchFamily="18" charset="2"/>
              </a:rPr>
              <a:t>lift</a:t>
            </a:r>
          </a:p>
          <a:p>
            <a:pPr eaLnBrk="1" hangingPunct="1">
              <a:lnSpc>
                <a:spcPct val="130000"/>
              </a:lnSpc>
            </a:pPr>
            <a:r>
              <a:rPr lang="en-US" sz="2000" dirty="0">
                <a:solidFill>
                  <a:schemeClr val="hlink"/>
                </a:solidFill>
                <a:sym typeface="Symbol" pitchFamily="18" charset="2"/>
              </a:rPr>
              <a:t>Less than 1 negative correlation Greater than 1 positive correlation</a:t>
            </a:r>
          </a:p>
          <a:p>
            <a:pPr eaLnBrk="1" hangingPunct="1">
              <a:lnSpc>
                <a:spcPct val="130000"/>
              </a:lnSpc>
            </a:pPr>
            <a:endParaRPr lang="en-US" sz="2000" dirty="0">
              <a:solidFill>
                <a:schemeClr val="hlink"/>
              </a:solidFill>
              <a:sym typeface="Symbol" pitchFamily="18" charset="2"/>
            </a:endParaRPr>
          </a:p>
        </p:txBody>
      </p:sp>
      <p:graphicFrame>
        <p:nvGraphicFramePr>
          <p:cNvPr id="67589" name="Object 36"/>
          <p:cNvGraphicFramePr>
            <a:graphicFrameLocks noGrp="1" noChangeAspect="1"/>
          </p:cNvGraphicFramePr>
          <p:nvPr>
            <p:ph sz="quarter" idx="3"/>
          </p:nvPr>
        </p:nvGraphicFramePr>
        <p:xfrm>
          <a:off x="76200" y="4724400"/>
          <a:ext cx="4267200" cy="623888"/>
        </p:xfrm>
        <a:graphic>
          <a:graphicData uri="http://schemas.openxmlformats.org/presentationml/2006/ole">
            <mc:AlternateContent xmlns:mc="http://schemas.openxmlformats.org/markup-compatibility/2006">
              <mc:Choice xmlns:v="urn:schemas-microsoft-com:vml" Requires="v">
                <p:oleObj name="Equation" r:id="rId3" imgW="2679700" imgH="393700" progId="Equation.3">
                  <p:embed/>
                </p:oleObj>
              </mc:Choice>
              <mc:Fallback>
                <p:oleObj name="Equation" r:id="rId3" imgW="2679700" imgH="393700" progId="Equation.3">
                  <p:embed/>
                  <p:pic>
                    <p:nvPicPr>
                      <p:cNvPr id="0" name="Object 3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4724400"/>
                        <a:ext cx="4267200" cy="6238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08050" name="Group 50"/>
          <p:cNvGraphicFramePr>
            <a:graphicFrameLocks noGrp="1"/>
          </p:cNvGraphicFramePr>
          <p:nvPr>
            <p:extLst>
              <p:ext uri="{D42A27DB-BD31-4B8C-83A1-F6EECF244321}">
                <p14:modId xmlns:p14="http://schemas.microsoft.com/office/powerpoint/2010/main" val="1134798570"/>
              </p:ext>
            </p:extLst>
          </p:nvPr>
        </p:nvGraphicFramePr>
        <p:xfrm>
          <a:off x="4533900" y="4419600"/>
          <a:ext cx="4495800" cy="1557336"/>
        </p:xfrm>
        <a:graphic>
          <a:graphicData uri="http://schemas.openxmlformats.org/drawingml/2006/table">
            <a:tbl>
              <a:tblPr/>
              <a:tblGrid>
                <a:gridCol w="1066800">
                  <a:extLst>
                    <a:ext uri="{9D8B030D-6E8A-4147-A177-3AD203B41FA5}">
                      <a16:colId xmlns:a16="http://schemas.microsoft.com/office/drawing/2014/main" val="20000"/>
                    </a:ext>
                  </a:extLst>
                </a:gridCol>
                <a:gridCol w="1044575">
                  <a:extLst>
                    <a:ext uri="{9D8B030D-6E8A-4147-A177-3AD203B41FA5}">
                      <a16:colId xmlns:a16="http://schemas.microsoft.com/office/drawing/2014/main" val="20001"/>
                    </a:ext>
                  </a:extLst>
                </a:gridCol>
                <a:gridCol w="1317625">
                  <a:extLst>
                    <a:ext uri="{9D8B030D-6E8A-4147-A177-3AD203B41FA5}">
                      <a16:colId xmlns:a16="http://schemas.microsoft.com/office/drawing/2014/main" val="20002"/>
                    </a:ext>
                  </a:extLst>
                </a:gridCol>
                <a:gridCol w="1066800">
                  <a:extLst>
                    <a:ext uri="{9D8B030D-6E8A-4147-A177-3AD203B41FA5}">
                      <a16:colId xmlns:a16="http://schemas.microsoft.com/office/drawing/2014/main" val="20003"/>
                    </a:ext>
                  </a:extLst>
                </a:gridCol>
              </a:tblGrid>
              <a:tr h="3048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1400" b="0" i="0" u="none" strike="noStrike" cap="none" normalizeH="0" baseline="0" dirty="0">
                        <a:ln>
                          <a:noFill/>
                        </a:ln>
                        <a:solidFill>
                          <a:schemeClr val="tx1"/>
                        </a:solidFill>
                        <a:effectLst/>
                        <a:latin typeface="Tahoma" pitchFamily="34" charset="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400" b="0" i="0" u="none" strike="noStrike" cap="none" normalizeH="0" baseline="0">
                          <a:ln>
                            <a:noFill/>
                          </a:ln>
                          <a:solidFill>
                            <a:schemeClr val="tx1"/>
                          </a:solidFill>
                          <a:effectLst/>
                          <a:latin typeface="Tahoma" pitchFamily="34" charset="0"/>
                        </a:rPr>
                        <a:t>Basketball</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400" b="0" i="0" u="none" strike="noStrike" cap="none" normalizeH="0" baseline="0">
                          <a:ln>
                            <a:noFill/>
                          </a:ln>
                          <a:solidFill>
                            <a:schemeClr val="tx1"/>
                          </a:solidFill>
                          <a:effectLst/>
                          <a:latin typeface="Tahoma" pitchFamily="34" charset="0"/>
                        </a:rPr>
                        <a:t>Not basketball</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400" b="0" i="0" u="none" strike="noStrike" cap="none" normalizeH="0" baseline="0">
                          <a:ln>
                            <a:noFill/>
                          </a:ln>
                          <a:solidFill>
                            <a:schemeClr val="tx1"/>
                          </a:solidFill>
                          <a:effectLst/>
                          <a:latin typeface="Tahoma" pitchFamily="34" charset="0"/>
                        </a:rPr>
                        <a:t>Sum (row)</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7512">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400" b="0" i="0" u="none" strike="noStrike" cap="none" normalizeH="0" baseline="0">
                          <a:ln>
                            <a:noFill/>
                          </a:ln>
                          <a:solidFill>
                            <a:schemeClr val="tx1"/>
                          </a:solidFill>
                          <a:effectLst/>
                          <a:latin typeface="Tahoma" pitchFamily="34" charset="0"/>
                        </a:rPr>
                        <a:t>Cereal</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400" b="0" i="0" u="none" strike="noStrike" cap="none" normalizeH="0" baseline="0">
                          <a:ln>
                            <a:noFill/>
                          </a:ln>
                          <a:solidFill>
                            <a:schemeClr val="tx1"/>
                          </a:solidFill>
                          <a:effectLst/>
                          <a:latin typeface="Tahoma" pitchFamily="34" charset="0"/>
                        </a:rPr>
                        <a:t>2000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400" b="0" i="0" u="none" strike="noStrike" cap="none" normalizeH="0" baseline="0">
                          <a:ln>
                            <a:noFill/>
                          </a:ln>
                          <a:solidFill>
                            <a:schemeClr val="tx1"/>
                          </a:solidFill>
                          <a:effectLst/>
                          <a:latin typeface="Tahoma" pitchFamily="34" charset="0"/>
                        </a:rPr>
                        <a:t>1750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400" b="0" i="0" u="none" strike="noStrike" cap="none" normalizeH="0" baseline="0">
                          <a:ln>
                            <a:noFill/>
                          </a:ln>
                          <a:solidFill>
                            <a:schemeClr val="tx1"/>
                          </a:solidFill>
                          <a:effectLst/>
                          <a:latin typeface="Tahoma" pitchFamily="34" charset="0"/>
                        </a:rPr>
                        <a:t>3750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7512">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400" b="0" i="0" u="none" strike="noStrike" cap="none" normalizeH="0" baseline="0">
                          <a:ln>
                            <a:noFill/>
                          </a:ln>
                          <a:solidFill>
                            <a:schemeClr val="tx1"/>
                          </a:solidFill>
                          <a:effectLst/>
                          <a:latin typeface="Tahoma" pitchFamily="34" charset="0"/>
                        </a:rPr>
                        <a:t>Not cereal</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400" b="0" i="0" u="none" strike="noStrike" cap="none" normalizeH="0" baseline="0" dirty="0">
                          <a:ln>
                            <a:noFill/>
                          </a:ln>
                          <a:solidFill>
                            <a:schemeClr val="tx1"/>
                          </a:solidFill>
                          <a:effectLst/>
                          <a:latin typeface="Tahoma" pitchFamily="34" charset="0"/>
                        </a:rPr>
                        <a:t>1000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400" b="0" i="0" u="none" strike="noStrike" cap="none" normalizeH="0" baseline="0">
                          <a:ln>
                            <a:noFill/>
                          </a:ln>
                          <a:solidFill>
                            <a:schemeClr val="tx1"/>
                          </a:solidFill>
                          <a:effectLst/>
                          <a:latin typeface="Tahoma" pitchFamily="34" charset="0"/>
                        </a:rPr>
                        <a:t>250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400" b="0" i="0" u="none" strike="noStrike" cap="none" normalizeH="0" baseline="0">
                          <a:ln>
                            <a:noFill/>
                          </a:ln>
                          <a:solidFill>
                            <a:schemeClr val="tx1"/>
                          </a:solidFill>
                          <a:effectLst/>
                          <a:latin typeface="Tahoma" pitchFamily="34" charset="0"/>
                        </a:rPr>
                        <a:t>1250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7512">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400" b="0" i="0" u="none" strike="noStrike" cap="none" normalizeH="0" baseline="0">
                          <a:ln>
                            <a:noFill/>
                          </a:ln>
                          <a:solidFill>
                            <a:schemeClr val="tx1"/>
                          </a:solidFill>
                          <a:effectLst/>
                          <a:latin typeface="Tahoma" pitchFamily="34" charset="0"/>
                        </a:rPr>
                        <a:t>Sum(col.)</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400" b="0" i="0" u="none" strike="noStrike" cap="none" normalizeH="0" baseline="0">
                          <a:ln>
                            <a:noFill/>
                          </a:ln>
                          <a:solidFill>
                            <a:schemeClr val="tx1"/>
                          </a:solidFill>
                          <a:effectLst/>
                          <a:latin typeface="Tahoma" pitchFamily="34" charset="0"/>
                        </a:rPr>
                        <a:t>3000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400" b="0" i="0" u="none" strike="noStrike" cap="none" normalizeH="0" baseline="0">
                          <a:ln>
                            <a:noFill/>
                          </a:ln>
                          <a:solidFill>
                            <a:schemeClr val="tx1"/>
                          </a:solidFill>
                          <a:effectLst/>
                          <a:latin typeface="Tahoma" pitchFamily="34" charset="0"/>
                        </a:rPr>
                        <a:t>2000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400" b="0" i="0" u="none" strike="noStrike" cap="none" normalizeH="0" baseline="0" dirty="0">
                          <a:ln>
                            <a:noFill/>
                          </a:ln>
                          <a:solidFill>
                            <a:schemeClr val="tx1"/>
                          </a:solidFill>
                          <a:effectLst/>
                          <a:latin typeface="Tahoma" pitchFamily="34" charset="0"/>
                        </a:rPr>
                        <a:t>5000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67617" name="Object 31"/>
          <p:cNvGraphicFramePr>
            <a:graphicFrameLocks noChangeAspect="1"/>
          </p:cNvGraphicFramePr>
          <p:nvPr>
            <p:extLst>
              <p:ext uri="{D42A27DB-BD31-4B8C-83A1-F6EECF244321}">
                <p14:modId xmlns:p14="http://schemas.microsoft.com/office/powerpoint/2010/main" val="1493893311"/>
              </p:ext>
            </p:extLst>
          </p:nvPr>
        </p:nvGraphicFramePr>
        <p:xfrm>
          <a:off x="990600" y="3829843"/>
          <a:ext cx="2209800" cy="954088"/>
        </p:xfrm>
        <a:graphic>
          <a:graphicData uri="http://schemas.openxmlformats.org/presentationml/2006/ole">
            <mc:AlternateContent xmlns:mc="http://schemas.openxmlformats.org/markup-compatibility/2006">
              <mc:Choice xmlns:v="urn:schemas-microsoft-com:vml" Requires="v">
                <p:oleObj name="Equation" r:id="rId5" imgW="1028700" imgH="419100" progId="Equation.3">
                  <p:embed/>
                </p:oleObj>
              </mc:Choice>
              <mc:Fallback>
                <p:oleObj name="Equation" r:id="rId5" imgW="1028700" imgH="419100" progId="Equation.3">
                  <p:embed/>
                  <p:pic>
                    <p:nvPicPr>
                      <p:cNvPr id="0" name="Object 3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90600" y="3829843"/>
                        <a:ext cx="2209800" cy="9540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7618" name="Object 39"/>
          <p:cNvGraphicFramePr>
            <a:graphicFrameLocks noGrp="1" noChangeAspect="1"/>
          </p:cNvGraphicFramePr>
          <p:nvPr>
            <p:ph sz="quarter" idx="2"/>
          </p:nvPr>
        </p:nvGraphicFramePr>
        <p:xfrm>
          <a:off x="76200" y="5464175"/>
          <a:ext cx="4419600" cy="631825"/>
        </p:xfrm>
        <a:graphic>
          <a:graphicData uri="http://schemas.openxmlformats.org/presentationml/2006/ole">
            <mc:AlternateContent xmlns:mc="http://schemas.openxmlformats.org/markup-compatibility/2006">
              <mc:Choice xmlns:v="urn:schemas-microsoft-com:vml" Requires="v">
                <p:oleObj name="Equation" r:id="rId7" imgW="2755900" imgH="393700" progId="Equation.3">
                  <p:embed/>
                </p:oleObj>
              </mc:Choice>
              <mc:Fallback>
                <p:oleObj name="Equation" r:id="rId7" imgW="2755900" imgH="393700" progId="Equation.3">
                  <p:embed/>
                  <p:pic>
                    <p:nvPicPr>
                      <p:cNvPr id="0" name="Object 3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6200" y="5464175"/>
                        <a:ext cx="4419600" cy="631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spd="med">
    <p:zoom/>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42" name="Rectangle 2"/>
          <p:cNvSpPr>
            <a:spLocks noGrp="1" noChangeArrowheads="1"/>
          </p:cNvSpPr>
          <p:nvPr>
            <p:ph type="title"/>
          </p:nvPr>
        </p:nvSpPr>
        <p:spPr/>
        <p:txBody>
          <a:bodyPr/>
          <a:lstStyle/>
          <a:p>
            <a:r>
              <a:rPr lang="en-US"/>
              <a:t>Computing Interestingness Measure</a:t>
            </a:r>
          </a:p>
        </p:txBody>
      </p:sp>
      <p:sp>
        <p:nvSpPr>
          <p:cNvPr id="1290243" name="Rectangle 3"/>
          <p:cNvSpPr>
            <a:spLocks noGrp="1" noChangeArrowheads="1"/>
          </p:cNvSpPr>
          <p:nvPr>
            <p:ph type="body" idx="1"/>
          </p:nvPr>
        </p:nvSpPr>
        <p:spPr>
          <a:xfrm>
            <a:off x="152400" y="1143000"/>
            <a:ext cx="8610600" cy="914400"/>
          </a:xfrm>
        </p:spPr>
        <p:txBody>
          <a:bodyPr/>
          <a:lstStyle/>
          <a:p>
            <a:pPr marL="284163" indent="-284163"/>
            <a:r>
              <a:rPr lang="en-US" sz="2400"/>
              <a:t>Given a rule X </a:t>
            </a:r>
            <a:r>
              <a:rPr lang="en-US" sz="2400">
                <a:sym typeface="Symbol" pitchFamily="18" charset="2"/>
              </a:rPr>
              <a:t> Y, i</a:t>
            </a:r>
            <a:r>
              <a:rPr lang="en-US" sz="2400"/>
              <a:t>nformation needed to compute rule interestingness can be obtained from a contingency table</a:t>
            </a:r>
          </a:p>
        </p:txBody>
      </p:sp>
      <p:graphicFrame>
        <p:nvGraphicFramePr>
          <p:cNvPr id="1290244" name="Group 4"/>
          <p:cNvGraphicFramePr>
            <a:graphicFrameLocks noGrp="1"/>
          </p:cNvGraphicFramePr>
          <p:nvPr/>
        </p:nvGraphicFramePr>
        <p:xfrm>
          <a:off x="533400" y="2595563"/>
          <a:ext cx="3581400" cy="1676400"/>
        </p:xfrm>
        <a:graphic>
          <a:graphicData uri="http://schemas.openxmlformats.org/drawingml/2006/table">
            <a:tbl>
              <a:tblPr/>
              <a:tblGrid>
                <a:gridCol w="895350">
                  <a:extLst>
                    <a:ext uri="{9D8B030D-6E8A-4147-A177-3AD203B41FA5}">
                      <a16:colId xmlns:a16="http://schemas.microsoft.com/office/drawing/2014/main" val="20000"/>
                    </a:ext>
                  </a:extLst>
                </a:gridCol>
                <a:gridCol w="933450">
                  <a:extLst>
                    <a:ext uri="{9D8B030D-6E8A-4147-A177-3AD203B41FA5}">
                      <a16:colId xmlns:a16="http://schemas.microsoft.com/office/drawing/2014/main" val="20001"/>
                    </a:ext>
                  </a:extLst>
                </a:gridCol>
                <a:gridCol w="857250">
                  <a:extLst>
                    <a:ext uri="{9D8B030D-6E8A-4147-A177-3AD203B41FA5}">
                      <a16:colId xmlns:a16="http://schemas.microsoft.com/office/drawing/2014/main" val="20002"/>
                    </a:ext>
                  </a:extLst>
                </a:gridCol>
                <a:gridCol w="895350">
                  <a:extLst>
                    <a:ext uri="{9D8B030D-6E8A-4147-A177-3AD203B41FA5}">
                      <a16:colId xmlns:a16="http://schemas.microsoft.com/office/drawing/2014/main" val="20003"/>
                    </a:ext>
                  </a:extLst>
                </a:gridCol>
              </a:tblGrid>
              <a:tr h="419100">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sz="1800" b="0" i="0" u="none" strike="noStrike" cap="none" normalizeH="0" baseline="0">
                        <a:ln>
                          <a:noFill/>
                        </a:ln>
                        <a:solidFill>
                          <a:schemeClr val="tx1"/>
                        </a:solidFill>
                        <a:effectLst/>
                        <a:latin typeface="Arial" pitchFamily="34" charset="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800" b="0" i="0" u="none" strike="noStrike" cap="none" normalizeH="0" baseline="0">
                          <a:ln>
                            <a:noFill/>
                          </a:ln>
                          <a:solidFill>
                            <a:schemeClr val="tx1"/>
                          </a:solidFill>
                          <a:effectLst/>
                          <a:latin typeface="Arial" pitchFamily="34" charset="0"/>
                        </a:rPr>
                        <a:t>Y</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800" b="0" i="0" u="none" strike="noStrike" cap="none" normalizeH="0" baseline="0">
                          <a:ln>
                            <a:noFill/>
                          </a:ln>
                          <a:solidFill>
                            <a:schemeClr val="tx1"/>
                          </a:solidFill>
                          <a:effectLst/>
                          <a:latin typeface="Arial" pitchFamily="34" charset="0"/>
                        </a:rPr>
                        <a:t>Y </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sz="1800" b="0" i="0" u="none" strike="noStrike" cap="none" normalizeH="0" baseline="0">
                        <a:ln>
                          <a:noFill/>
                        </a:ln>
                        <a:solidFill>
                          <a:schemeClr val="tx1"/>
                        </a:solidFill>
                        <a:effectLst/>
                        <a:latin typeface="Arial" pitchFamily="34" charset="0"/>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9100">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800" b="0" i="0" u="none" strike="noStrike" cap="none" normalizeH="0" baseline="0">
                          <a:ln>
                            <a:noFill/>
                          </a:ln>
                          <a:solidFill>
                            <a:schemeClr val="tx1"/>
                          </a:solidFill>
                          <a:effectLst/>
                          <a:latin typeface="Arial" pitchFamily="34" charset="0"/>
                        </a:rPr>
                        <a:t>X</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800" b="0" i="0" u="none" strike="noStrike" cap="none" normalizeH="0" baseline="0">
                          <a:ln>
                            <a:noFill/>
                          </a:ln>
                          <a:solidFill>
                            <a:schemeClr val="tx1"/>
                          </a:solidFill>
                          <a:effectLst/>
                          <a:latin typeface="Arial" pitchFamily="34" charset="0"/>
                        </a:rPr>
                        <a:t>f</a:t>
                      </a:r>
                      <a:r>
                        <a:rPr kumimoji="0" lang="en-US" sz="1800" b="0" i="0" u="none" strike="noStrike" cap="none" normalizeH="0" baseline="-25000">
                          <a:ln>
                            <a:noFill/>
                          </a:ln>
                          <a:solidFill>
                            <a:schemeClr val="tx1"/>
                          </a:solidFill>
                          <a:effectLst/>
                          <a:latin typeface="Arial" pitchFamily="34" charset="0"/>
                        </a:rPr>
                        <a:t>11</a:t>
                      </a:r>
                      <a:endParaRPr kumimoji="0" lang="en-US" sz="1800" b="0" i="0" u="none" strike="noStrike" cap="none" normalizeH="0" baseline="0">
                        <a:ln>
                          <a:noFill/>
                        </a:ln>
                        <a:solidFill>
                          <a:schemeClr val="tx1"/>
                        </a:solidFill>
                        <a:effectLst/>
                        <a:latin typeface="Arial" pitchFamily="34"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800" b="0" i="0" u="none" strike="noStrike" cap="none" normalizeH="0" baseline="0">
                          <a:ln>
                            <a:noFill/>
                          </a:ln>
                          <a:solidFill>
                            <a:schemeClr val="tx1"/>
                          </a:solidFill>
                          <a:effectLst/>
                          <a:latin typeface="Arial" pitchFamily="34" charset="0"/>
                        </a:rPr>
                        <a:t>f</a:t>
                      </a:r>
                      <a:r>
                        <a:rPr kumimoji="0" lang="en-US" sz="1800" b="0" i="0" u="none" strike="noStrike" cap="none" normalizeH="0" baseline="-25000">
                          <a:ln>
                            <a:noFill/>
                          </a:ln>
                          <a:solidFill>
                            <a:schemeClr val="tx1"/>
                          </a:solidFill>
                          <a:effectLst/>
                          <a:latin typeface="Arial" pitchFamily="34" charset="0"/>
                        </a:rPr>
                        <a:t>10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800" b="0" i="0" u="none" strike="noStrike" cap="none" normalizeH="0" baseline="0">
                          <a:ln>
                            <a:noFill/>
                          </a:ln>
                          <a:solidFill>
                            <a:schemeClr val="tx1"/>
                          </a:solidFill>
                          <a:effectLst/>
                          <a:latin typeface="Arial" pitchFamily="34" charset="0"/>
                        </a:rPr>
                        <a:t>f</a:t>
                      </a:r>
                      <a:r>
                        <a:rPr kumimoji="0" lang="en-US" sz="1800" b="0" i="0" u="none" strike="noStrike" cap="none" normalizeH="0" baseline="-25000">
                          <a:ln>
                            <a:noFill/>
                          </a:ln>
                          <a:solidFill>
                            <a:schemeClr val="tx1"/>
                          </a:solidFill>
                          <a:effectLst/>
                          <a:latin typeface="Arial" pitchFamily="34" charset="0"/>
                        </a:rPr>
                        <a:t>1+</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9100">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800" b="0" i="0" u="none" strike="noStrike" cap="none" normalizeH="0" baseline="0">
                          <a:ln>
                            <a:noFill/>
                          </a:ln>
                          <a:solidFill>
                            <a:schemeClr val="tx1"/>
                          </a:solidFill>
                          <a:effectLst/>
                          <a:latin typeface="Arial" pitchFamily="34" charset="0"/>
                        </a:rPr>
                        <a:t>X </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800" b="0" i="0" u="none" strike="noStrike" cap="none" normalizeH="0" baseline="0">
                          <a:ln>
                            <a:noFill/>
                          </a:ln>
                          <a:solidFill>
                            <a:schemeClr val="tx1"/>
                          </a:solidFill>
                          <a:effectLst/>
                          <a:latin typeface="Arial" pitchFamily="34" charset="0"/>
                        </a:rPr>
                        <a:t>f</a:t>
                      </a:r>
                      <a:r>
                        <a:rPr kumimoji="0" lang="en-US" sz="1800" b="0" i="0" u="none" strike="noStrike" cap="none" normalizeH="0" baseline="-25000">
                          <a:ln>
                            <a:noFill/>
                          </a:ln>
                          <a:solidFill>
                            <a:schemeClr val="tx1"/>
                          </a:solidFill>
                          <a:effectLst/>
                          <a:latin typeface="Arial" pitchFamily="34" charset="0"/>
                        </a:rPr>
                        <a:t>01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800" b="0" i="0" u="none" strike="noStrike" cap="none" normalizeH="0" baseline="0">
                          <a:ln>
                            <a:noFill/>
                          </a:ln>
                          <a:solidFill>
                            <a:schemeClr val="tx1"/>
                          </a:solidFill>
                          <a:effectLst/>
                          <a:latin typeface="Arial" pitchFamily="34" charset="0"/>
                        </a:rPr>
                        <a:t>f</a:t>
                      </a:r>
                      <a:r>
                        <a:rPr kumimoji="0" lang="en-US" sz="1800" b="0" i="0" u="none" strike="noStrike" cap="none" normalizeH="0" baseline="-25000">
                          <a:ln>
                            <a:noFill/>
                          </a:ln>
                          <a:solidFill>
                            <a:schemeClr val="tx1"/>
                          </a:solidFill>
                          <a:effectLst/>
                          <a:latin typeface="Arial" pitchFamily="34" charset="0"/>
                        </a:rPr>
                        <a:t>00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800" b="0" i="0" u="none" strike="noStrike" cap="none" normalizeH="0" baseline="0">
                          <a:ln>
                            <a:noFill/>
                          </a:ln>
                          <a:solidFill>
                            <a:schemeClr val="tx1"/>
                          </a:solidFill>
                          <a:effectLst/>
                          <a:latin typeface="Arial" pitchFamily="34" charset="0"/>
                        </a:rPr>
                        <a:t>f</a:t>
                      </a:r>
                      <a:r>
                        <a:rPr kumimoji="0" lang="en-US" sz="1800" b="0" i="0" u="none" strike="noStrike" cap="none" normalizeH="0" baseline="-25000">
                          <a:ln>
                            <a:noFill/>
                          </a:ln>
                          <a:solidFill>
                            <a:schemeClr val="tx1"/>
                          </a:solidFill>
                          <a:effectLst/>
                          <a:latin typeface="Arial" pitchFamily="34" charset="0"/>
                        </a:rPr>
                        <a:t>o+</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9100">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sz="1800" b="0" i="0" u="none" strike="noStrike" cap="none" normalizeH="0" baseline="0">
                        <a:ln>
                          <a:noFill/>
                        </a:ln>
                        <a:solidFill>
                          <a:schemeClr val="tx1"/>
                        </a:solidFill>
                        <a:effectLst/>
                        <a:latin typeface="Arial" pitchFamily="34" charset="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800" b="0" i="0" u="none" strike="noStrike" cap="none" normalizeH="0" baseline="0">
                          <a:ln>
                            <a:noFill/>
                          </a:ln>
                          <a:solidFill>
                            <a:schemeClr val="tx1"/>
                          </a:solidFill>
                          <a:effectLst/>
                          <a:latin typeface="Arial" pitchFamily="34" charset="0"/>
                        </a:rPr>
                        <a:t>f</a:t>
                      </a:r>
                      <a:r>
                        <a:rPr kumimoji="0" lang="en-US" sz="1800" b="0" i="0" u="none" strike="noStrike" cap="none" normalizeH="0" baseline="-25000">
                          <a:ln>
                            <a:noFill/>
                          </a:ln>
                          <a:solidFill>
                            <a:schemeClr val="tx1"/>
                          </a:solidFill>
                          <a:effectLst/>
                          <a:latin typeface="Arial" pitchFamily="34" charset="0"/>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800" b="0" i="0" u="none" strike="noStrike" cap="none" normalizeH="0" baseline="0">
                          <a:ln>
                            <a:noFill/>
                          </a:ln>
                          <a:solidFill>
                            <a:schemeClr val="tx1"/>
                          </a:solidFill>
                          <a:effectLst/>
                          <a:latin typeface="Arial" pitchFamily="34" charset="0"/>
                        </a:rPr>
                        <a:t>f</a:t>
                      </a:r>
                      <a:r>
                        <a:rPr kumimoji="0" lang="en-US" sz="1800" b="0" i="0" u="none" strike="noStrike" cap="none" normalizeH="0" baseline="-25000">
                          <a:ln>
                            <a:noFill/>
                          </a:ln>
                          <a:solidFill>
                            <a:schemeClr val="tx1"/>
                          </a:solidFill>
                          <a:effectLst/>
                          <a:latin typeface="Arial" pitchFamily="34" charset="0"/>
                        </a:rPr>
                        <a:t>+0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sz="1800" b="0" i="0" u="none" strike="noStrike" cap="none" normalizeH="0" baseline="0">
                          <a:ln>
                            <a:noFill/>
                          </a:ln>
                          <a:solidFill>
                            <a:schemeClr val="tx1"/>
                          </a:solidFill>
                          <a:effectLst/>
                          <a:latin typeface="Arial" pitchFamily="34" charset="0"/>
                        </a:rPr>
                        <a:t>|T|</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290271" name="Text Box 31"/>
          <p:cNvSpPr txBox="1">
            <a:spLocks noChangeArrowheads="1"/>
          </p:cNvSpPr>
          <p:nvPr/>
        </p:nvSpPr>
        <p:spPr bwMode="auto">
          <a:xfrm>
            <a:off x="381000" y="2133600"/>
            <a:ext cx="4191000" cy="457200"/>
          </a:xfrm>
          <a:prstGeom prst="rect">
            <a:avLst/>
          </a:prstGeom>
          <a:noFill/>
          <a:ln w="12700">
            <a:noFill/>
            <a:miter lim="800000"/>
            <a:headEnd/>
            <a:tailEnd/>
          </a:ln>
          <a:effectLst/>
        </p:spPr>
        <p:txBody>
          <a:bodyPr>
            <a:spAutoFit/>
          </a:bodyPr>
          <a:lstStyle/>
          <a:p>
            <a:pPr>
              <a:spcBef>
                <a:spcPct val="50000"/>
              </a:spcBef>
              <a:buClr>
                <a:schemeClr val="accent2"/>
              </a:buClr>
              <a:buSzPct val="75000"/>
              <a:buFont typeface="Monotype Sorts" pitchFamily="2" charset="2"/>
              <a:buNone/>
            </a:pPr>
            <a:r>
              <a:rPr lang="en-US" sz="2000" b="0">
                <a:solidFill>
                  <a:srgbClr val="CC0000"/>
                </a:solidFill>
              </a:rPr>
              <a:t>Contingency table</a:t>
            </a:r>
            <a:r>
              <a:rPr lang="en-US" sz="2000" b="0">
                <a:sym typeface="Symbol" pitchFamily="18" charset="2"/>
              </a:rPr>
              <a:t> for </a:t>
            </a:r>
            <a:r>
              <a:rPr lang="en-US" sz="2400" b="0"/>
              <a:t>X </a:t>
            </a:r>
            <a:r>
              <a:rPr lang="en-US" sz="2400" b="0">
                <a:sym typeface="Symbol" pitchFamily="18" charset="2"/>
              </a:rPr>
              <a:t> Y</a:t>
            </a:r>
          </a:p>
        </p:txBody>
      </p:sp>
      <p:grpSp>
        <p:nvGrpSpPr>
          <p:cNvPr id="2" name="Group 32"/>
          <p:cNvGrpSpPr>
            <a:grpSpLocks/>
          </p:cNvGrpSpPr>
          <p:nvPr/>
        </p:nvGrpSpPr>
        <p:grpSpPr bwMode="auto">
          <a:xfrm>
            <a:off x="4800600" y="2590800"/>
            <a:ext cx="4114800" cy="1552575"/>
            <a:chOff x="1152" y="3024"/>
            <a:chExt cx="2592" cy="978"/>
          </a:xfrm>
        </p:grpSpPr>
        <p:sp>
          <p:nvSpPr>
            <p:cNvPr id="1290273" name="Text Box 33"/>
            <p:cNvSpPr txBox="1">
              <a:spLocks noChangeArrowheads="1"/>
            </p:cNvSpPr>
            <p:nvPr/>
          </p:nvSpPr>
          <p:spPr bwMode="auto">
            <a:xfrm>
              <a:off x="1152" y="3024"/>
              <a:ext cx="2592" cy="978"/>
            </a:xfrm>
            <a:prstGeom prst="rect">
              <a:avLst/>
            </a:prstGeom>
            <a:noFill/>
            <a:ln w="12700">
              <a:noFill/>
              <a:miter lim="800000"/>
              <a:headEnd/>
              <a:tailEnd/>
            </a:ln>
            <a:effectLst/>
          </p:spPr>
          <p:txBody>
            <a:bodyPr>
              <a:spAutoFit/>
            </a:bodyPr>
            <a:lstStyle/>
            <a:p>
              <a:pPr>
                <a:spcBef>
                  <a:spcPct val="50000"/>
                </a:spcBef>
                <a:buClr>
                  <a:schemeClr val="accent2"/>
                </a:buClr>
                <a:buSzPct val="75000"/>
                <a:buFont typeface="Monotype Sorts" pitchFamily="2" charset="2"/>
                <a:buNone/>
              </a:pPr>
              <a:r>
                <a:rPr lang="en-US" sz="2400" b="0"/>
                <a:t>f</a:t>
              </a:r>
              <a:r>
                <a:rPr lang="en-US" sz="2000" b="0" baseline="-25000"/>
                <a:t>11</a:t>
              </a:r>
              <a:r>
                <a:rPr lang="en-US" sz="2400" b="0"/>
                <a:t>: support of X and Y</a:t>
              </a:r>
              <a:br>
                <a:rPr lang="en-US" sz="2400" b="0"/>
              </a:br>
              <a:r>
                <a:rPr lang="en-US" sz="2400" b="0"/>
                <a:t>f</a:t>
              </a:r>
              <a:r>
                <a:rPr lang="en-US" sz="2000" b="0" baseline="-25000"/>
                <a:t>10</a:t>
              </a:r>
              <a:r>
                <a:rPr lang="en-US" sz="2400" b="0"/>
                <a:t>: support of X and Y</a:t>
              </a:r>
              <a:br>
                <a:rPr lang="en-US" sz="2400" b="0"/>
              </a:br>
              <a:r>
                <a:rPr lang="en-US" sz="2400" b="0"/>
                <a:t>f</a:t>
              </a:r>
              <a:r>
                <a:rPr lang="en-US" sz="2000" b="0" baseline="-25000"/>
                <a:t>01</a:t>
              </a:r>
              <a:r>
                <a:rPr lang="en-US" sz="2400" b="0"/>
                <a:t>: support of X and Y</a:t>
              </a:r>
              <a:br>
                <a:rPr lang="en-US" sz="2400" b="0"/>
              </a:br>
              <a:r>
                <a:rPr lang="en-US" sz="2400" b="0"/>
                <a:t>f</a:t>
              </a:r>
              <a:r>
                <a:rPr lang="en-US" sz="2000" b="0" baseline="-25000"/>
                <a:t>00</a:t>
              </a:r>
              <a:r>
                <a:rPr lang="en-US" sz="2400" b="0"/>
                <a:t>: support of X and Y</a:t>
              </a:r>
            </a:p>
          </p:txBody>
        </p:sp>
        <p:sp>
          <p:nvSpPr>
            <p:cNvPr id="1290274" name="Line 34"/>
            <p:cNvSpPr>
              <a:spLocks noChangeShapeType="1"/>
            </p:cNvSpPr>
            <p:nvPr/>
          </p:nvSpPr>
          <p:spPr bwMode="auto">
            <a:xfrm>
              <a:off x="2928" y="3312"/>
              <a:ext cx="144" cy="0"/>
            </a:xfrm>
            <a:prstGeom prst="line">
              <a:avLst/>
            </a:prstGeom>
            <a:noFill/>
            <a:ln w="12700">
              <a:solidFill>
                <a:schemeClr val="tx1"/>
              </a:solidFill>
              <a:round/>
              <a:headEnd/>
              <a:tailEnd/>
            </a:ln>
            <a:effectLst/>
          </p:spPr>
          <p:txBody>
            <a:bodyPr/>
            <a:lstStyle/>
            <a:p>
              <a:endParaRPr lang="en-US"/>
            </a:p>
          </p:txBody>
        </p:sp>
        <p:sp>
          <p:nvSpPr>
            <p:cNvPr id="1290275" name="Line 35"/>
            <p:cNvSpPr>
              <a:spLocks noChangeShapeType="1"/>
            </p:cNvSpPr>
            <p:nvPr/>
          </p:nvSpPr>
          <p:spPr bwMode="auto">
            <a:xfrm>
              <a:off x="2400" y="3744"/>
              <a:ext cx="144" cy="0"/>
            </a:xfrm>
            <a:prstGeom prst="line">
              <a:avLst/>
            </a:prstGeom>
            <a:noFill/>
            <a:ln w="12700">
              <a:solidFill>
                <a:schemeClr val="tx1"/>
              </a:solidFill>
              <a:round/>
              <a:headEnd/>
              <a:tailEnd/>
            </a:ln>
            <a:effectLst/>
          </p:spPr>
          <p:txBody>
            <a:bodyPr/>
            <a:lstStyle/>
            <a:p>
              <a:endParaRPr lang="en-US"/>
            </a:p>
          </p:txBody>
        </p:sp>
        <p:sp>
          <p:nvSpPr>
            <p:cNvPr id="1290276" name="Line 36"/>
            <p:cNvSpPr>
              <a:spLocks noChangeShapeType="1"/>
            </p:cNvSpPr>
            <p:nvPr/>
          </p:nvSpPr>
          <p:spPr bwMode="auto">
            <a:xfrm>
              <a:off x="2389" y="3512"/>
              <a:ext cx="144" cy="0"/>
            </a:xfrm>
            <a:prstGeom prst="line">
              <a:avLst/>
            </a:prstGeom>
            <a:noFill/>
            <a:ln w="12700">
              <a:solidFill>
                <a:schemeClr val="tx1"/>
              </a:solidFill>
              <a:round/>
              <a:headEnd/>
              <a:tailEnd/>
            </a:ln>
            <a:effectLst/>
          </p:spPr>
          <p:txBody>
            <a:bodyPr/>
            <a:lstStyle/>
            <a:p>
              <a:endParaRPr lang="en-US"/>
            </a:p>
          </p:txBody>
        </p:sp>
        <p:sp>
          <p:nvSpPr>
            <p:cNvPr id="1290277" name="Line 37"/>
            <p:cNvSpPr>
              <a:spLocks noChangeShapeType="1"/>
            </p:cNvSpPr>
            <p:nvPr/>
          </p:nvSpPr>
          <p:spPr bwMode="auto">
            <a:xfrm>
              <a:off x="2928" y="3744"/>
              <a:ext cx="144" cy="0"/>
            </a:xfrm>
            <a:prstGeom prst="line">
              <a:avLst/>
            </a:prstGeom>
            <a:noFill/>
            <a:ln w="12700">
              <a:solidFill>
                <a:schemeClr val="tx1"/>
              </a:solidFill>
              <a:round/>
              <a:headEnd/>
              <a:tailEnd/>
            </a:ln>
            <a:effectLst/>
          </p:spPr>
          <p:txBody>
            <a:bodyPr/>
            <a:lstStyle/>
            <a:p>
              <a:endParaRPr lang="en-US"/>
            </a:p>
          </p:txBody>
        </p:sp>
      </p:grpSp>
      <p:sp>
        <p:nvSpPr>
          <p:cNvPr id="1290278" name="Text Box 38"/>
          <p:cNvSpPr txBox="1">
            <a:spLocks noChangeArrowheads="1"/>
          </p:cNvSpPr>
          <p:nvPr/>
        </p:nvSpPr>
        <p:spPr bwMode="auto">
          <a:xfrm>
            <a:off x="4038600" y="4724400"/>
            <a:ext cx="4876800" cy="1382713"/>
          </a:xfrm>
          <a:prstGeom prst="rect">
            <a:avLst/>
          </a:prstGeom>
          <a:noFill/>
          <a:ln w="12700">
            <a:solidFill>
              <a:srgbClr val="FF0000"/>
            </a:solidFill>
            <a:miter lim="800000"/>
            <a:headEnd/>
            <a:tailEnd/>
          </a:ln>
          <a:effectLst/>
        </p:spPr>
        <p:txBody>
          <a:bodyPr>
            <a:spAutoFit/>
          </a:bodyPr>
          <a:lstStyle/>
          <a:p>
            <a:pPr>
              <a:spcBef>
                <a:spcPct val="50000"/>
              </a:spcBef>
              <a:buClr>
                <a:schemeClr val="accent2"/>
              </a:buClr>
              <a:buSzPct val="75000"/>
              <a:buFont typeface="Monotype Sorts" pitchFamily="2" charset="2"/>
              <a:buNone/>
            </a:pPr>
            <a:r>
              <a:rPr lang="en-US" sz="2400" b="0">
                <a:solidFill>
                  <a:srgbClr val="FF0000"/>
                </a:solidFill>
              </a:rPr>
              <a:t>Used to define various measures</a:t>
            </a:r>
          </a:p>
          <a:p>
            <a:pPr>
              <a:spcBef>
                <a:spcPct val="50000"/>
              </a:spcBef>
              <a:buClr>
                <a:schemeClr val="accent2"/>
              </a:buClr>
              <a:buSzPct val="75000"/>
              <a:buFont typeface="Monotype Sorts" pitchFamily="2" charset="2"/>
              <a:buChar char="u"/>
            </a:pPr>
            <a:r>
              <a:rPr lang="en-US" sz="2400" b="0"/>
              <a:t> support, confidence, lift, Gini,</a:t>
            </a:r>
            <a:br>
              <a:rPr lang="en-US" sz="2400" b="0"/>
            </a:br>
            <a:r>
              <a:rPr lang="en-US" sz="2400" b="0"/>
              <a:t>   J-measure, etc.</a:t>
            </a:r>
          </a:p>
        </p:txBody>
      </p:sp>
      <p:sp>
        <p:nvSpPr>
          <p:cNvPr id="1290279" name="Line 39"/>
          <p:cNvSpPr>
            <a:spLocks noChangeShapeType="1"/>
          </p:cNvSpPr>
          <p:nvPr/>
        </p:nvSpPr>
        <p:spPr bwMode="auto">
          <a:xfrm flipH="1" flipV="1">
            <a:off x="2743200" y="4271963"/>
            <a:ext cx="1295400" cy="762000"/>
          </a:xfrm>
          <a:prstGeom prst="line">
            <a:avLst/>
          </a:prstGeom>
          <a:noFill/>
          <a:ln w="25400">
            <a:solidFill>
              <a:srgbClr val="FF0000"/>
            </a:solidFill>
            <a:round/>
            <a:headEnd type="triangle" w="lg" len="lg"/>
            <a:tailEnd/>
          </a:ln>
          <a:effectLst/>
        </p:spPr>
        <p:txBody>
          <a:bodyPr/>
          <a:lstStyle/>
          <a:p>
            <a:endParaRPr lang="en-US"/>
          </a:p>
        </p:txBody>
      </p:sp>
      <p:sp>
        <p:nvSpPr>
          <p:cNvPr id="1290280" name="Line 40"/>
          <p:cNvSpPr>
            <a:spLocks noChangeShapeType="1"/>
          </p:cNvSpPr>
          <p:nvPr/>
        </p:nvSpPr>
        <p:spPr bwMode="auto">
          <a:xfrm flipH="1">
            <a:off x="2667000" y="2667000"/>
            <a:ext cx="228600" cy="0"/>
          </a:xfrm>
          <a:prstGeom prst="line">
            <a:avLst/>
          </a:prstGeom>
          <a:noFill/>
          <a:ln w="38100">
            <a:solidFill>
              <a:schemeClr val="tx1"/>
            </a:solidFill>
            <a:round/>
            <a:headEnd/>
            <a:tailEnd/>
          </a:ln>
          <a:effectLst/>
        </p:spPr>
        <p:txBody>
          <a:bodyPr/>
          <a:lstStyle/>
          <a:p>
            <a:endParaRPr lang="en-US"/>
          </a:p>
        </p:txBody>
      </p:sp>
      <p:sp>
        <p:nvSpPr>
          <p:cNvPr id="1290281" name="Line 41"/>
          <p:cNvSpPr>
            <a:spLocks noChangeShapeType="1"/>
          </p:cNvSpPr>
          <p:nvPr/>
        </p:nvSpPr>
        <p:spPr bwMode="auto">
          <a:xfrm>
            <a:off x="914400" y="3505200"/>
            <a:ext cx="152400" cy="0"/>
          </a:xfrm>
          <a:prstGeom prst="line">
            <a:avLst/>
          </a:prstGeom>
          <a:noFill/>
          <a:ln w="38100">
            <a:solidFill>
              <a:schemeClr val="tx1"/>
            </a:solidFill>
            <a:round/>
            <a:headEnd/>
            <a:tailEnd/>
          </a:ln>
          <a:effectLst/>
        </p:spPr>
        <p:txBody>
          <a:bodyPr/>
          <a:lstStyle/>
          <a:p>
            <a:endParaRPr lang="en-US"/>
          </a:p>
        </p:txBody>
      </p:sp>
    </p:spTree>
  </p:cSld>
  <p:clrMapOvr>
    <a:masterClrMapping/>
  </p:clrMapOvr>
  <p:transition spd="med">
    <p:zoom/>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7FB9C459-472B-4F3F-A5D1-3FAD914CCE02}" type="slidenum">
              <a:rPr lang="en-US" smtClean="0"/>
              <a:pPr>
                <a:defRPr/>
              </a:pPr>
              <a:t>26</a:t>
            </a:fld>
            <a:endParaRPr lang="en-US"/>
          </a:p>
        </p:txBody>
      </p:sp>
      <p:pic>
        <p:nvPicPr>
          <p:cNvPr id="254978" name="Picture 2"/>
          <p:cNvPicPr>
            <a:picLocks noChangeAspect="1" noChangeArrowheads="1"/>
          </p:cNvPicPr>
          <p:nvPr/>
        </p:nvPicPr>
        <p:blipFill>
          <a:blip r:embed="rId2"/>
          <a:srcRect l="33537" t="19017" r="17683" b="16197"/>
          <a:stretch>
            <a:fillRect/>
          </a:stretch>
        </p:blipFill>
        <p:spPr bwMode="auto">
          <a:xfrm>
            <a:off x="0" y="19050"/>
            <a:ext cx="9144000" cy="6838950"/>
          </a:xfrm>
          <a:prstGeom prst="rect">
            <a:avLst/>
          </a:prstGeom>
          <a:noFill/>
          <a:ln w="9525">
            <a:noFill/>
            <a:miter lim="800000"/>
            <a:headEnd/>
            <a:tailEnd/>
          </a:ln>
          <a:effectLst/>
        </p:spPr>
      </p:pic>
    </p:spTree>
  </p:cSld>
  <p:clrMapOvr>
    <a:masterClrMapping/>
  </p:clrMapOvr>
  <p:transition spd="med">
    <p:zo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5"/>
          <p:cNvSpPr txBox="1">
            <a:spLocks noGrp="1"/>
          </p:cNvSpPr>
          <p:nvPr/>
        </p:nvSpPr>
        <p:spPr bwMode="auto">
          <a:xfrm>
            <a:off x="7239000" y="6477000"/>
            <a:ext cx="1905000" cy="381000"/>
          </a:xfrm>
          <a:prstGeom prst="rect">
            <a:avLst/>
          </a:prstGeom>
          <a:noFill/>
          <a:ln w="9525">
            <a:noFill/>
            <a:miter lim="800000"/>
            <a:headEnd/>
            <a:tailEnd/>
          </a:ln>
        </p:spPr>
        <p:txBody>
          <a:bodyPr anchor="b"/>
          <a:lstStyle/>
          <a:p>
            <a:pPr algn="r"/>
            <a:fld id="{C2A26437-2969-4204-A195-132D2DA24DCB}" type="slidenum">
              <a:rPr lang="en-US" sz="1200"/>
              <a:pPr algn="r"/>
              <a:t>27</a:t>
            </a:fld>
            <a:endParaRPr lang="en-US" sz="1200"/>
          </a:p>
        </p:txBody>
      </p:sp>
      <p:sp>
        <p:nvSpPr>
          <p:cNvPr id="39939" name="Rectangle 2"/>
          <p:cNvSpPr>
            <a:spLocks noGrp="1" noChangeArrowheads="1"/>
          </p:cNvSpPr>
          <p:nvPr>
            <p:ph type="title" idx="4294967295"/>
          </p:nvPr>
        </p:nvSpPr>
        <p:spPr>
          <a:xfrm>
            <a:off x="0" y="381000"/>
            <a:ext cx="9144000" cy="762000"/>
          </a:xfrm>
        </p:spPr>
        <p:txBody>
          <a:bodyPr/>
          <a:lstStyle/>
          <a:p>
            <a:pPr eaLnBrk="1" hangingPunct="1"/>
            <a:r>
              <a:rPr lang="en-US"/>
              <a:t>Scalable Frequent Itemset Mining Methods</a:t>
            </a:r>
          </a:p>
        </p:txBody>
      </p:sp>
      <p:sp>
        <p:nvSpPr>
          <p:cNvPr id="39940" name="Rectangle 3"/>
          <p:cNvSpPr>
            <a:spLocks noGrp="1" noChangeArrowheads="1"/>
          </p:cNvSpPr>
          <p:nvPr>
            <p:ph type="body" idx="4294967295"/>
          </p:nvPr>
        </p:nvSpPr>
        <p:spPr/>
        <p:txBody>
          <a:bodyPr/>
          <a:lstStyle/>
          <a:p>
            <a:pPr eaLnBrk="1" hangingPunct="1">
              <a:lnSpc>
                <a:spcPct val="240000"/>
              </a:lnSpc>
            </a:pPr>
            <a:r>
              <a:rPr lang="en-US" sz="2400"/>
              <a:t>Apriori: A Candidate Generation-and-Test Approach</a:t>
            </a:r>
          </a:p>
          <a:p>
            <a:pPr eaLnBrk="1" hangingPunct="1">
              <a:lnSpc>
                <a:spcPct val="240000"/>
              </a:lnSpc>
            </a:pPr>
            <a:r>
              <a:rPr lang="en-US" sz="2400"/>
              <a:t>Improving the Efficiency of Apriori</a:t>
            </a:r>
          </a:p>
          <a:p>
            <a:pPr eaLnBrk="1" hangingPunct="1">
              <a:lnSpc>
                <a:spcPct val="240000"/>
              </a:lnSpc>
            </a:pPr>
            <a:r>
              <a:rPr lang="en-US" sz="2400"/>
              <a:t>FPGrowth:  A Frequent Pattern-Growth Approach</a:t>
            </a:r>
          </a:p>
          <a:p>
            <a:pPr eaLnBrk="1" hangingPunct="1">
              <a:lnSpc>
                <a:spcPct val="240000"/>
              </a:lnSpc>
            </a:pPr>
            <a:r>
              <a:rPr lang="en-US" sz="2400"/>
              <a:t>ECLAT: Frequent Pattern Mining with Vertical Data Format</a:t>
            </a:r>
          </a:p>
          <a:p>
            <a:pPr eaLnBrk="1" hangingPunct="1">
              <a:lnSpc>
                <a:spcPct val="240000"/>
              </a:lnSpc>
            </a:pPr>
            <a:r>
              <a:rPr lang="en-US" sz="2400"/>
              <a:t>Mining Close Frequent Patterns and Maxpatterns</a:t>
            </a:r>
          </a:p>
        </p:txBody>
      </p:sp>
      <p:sp>
        <p:nvSpPr>
          <p:cNvPr id="39941" name="AutoShape 4"/>
          <p:cNvSpPr>
            <a:spLocks noChangeArrowheads="1"/>
          </p:cNvSpPr>
          <p:nvPr/>
        </p:nvSpPr>
        <p:spPr bwMode="auto">
          <a:xfrm rot="1206592">
            <a:off x="7458650" y="3886889"/>
            <a:ext cx="533400" cy="485775"/>
          </a:xfrm>
          <a:prstGeom prst="leftArrow">
            <a:avLst>
              <a:gd name="adj1" fmla="val 50000"/>
              <a:gd name="adj2" fmla="val 27451"/>
            </a:avLst>
          </a:prstGeom>
          <a:solidFill>
            <a:srgbClr val="CCFFCC"/>
          </a:solidFill>
          <a:ln w="9525">
            <a:solidFill>
              <a:schemeClr val="tx1"/>
            </a:solidFill>
            <a:miter lim="800000"/>
            <a:headEnd/>
            <a:tailEnd/>
          </a:ln>
        </p:spPr>
        <p:txBody>
          <a:bodyPr wrap="none" anchor="ctr"/>
          <a:lstStyle/>
          <a:p>
            <a:endParaRPr lang="en-US"/>
          </a:p>
        </p:txBody>
      </p:sp>
    </p:spTree>
    <p:extLst>
      <p:ext uri="{BB962C8B-B14F-4D97-AF65-F5344CB8AC3E}">
        <p14:creationId xmlns:p14="http://schemas.microsoft.com/office/powerpoint/2010/main" val="3991220463"/>
      </p:ext>
    </p:extLst>
  </p:cSld>
  <p:clrMapOvr>
    <a:masterClrMapping/>
  </p:clrMapOvr>
  <p:transition spd="med">
    <p:zoom/>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5"/>
          <p:cNvSpPr>
            <a:spLocks noGrp="1"/>
          </p:cNvSpPr>
          <p:nvPr>
            <p:ph type="sldNum" sz="quarter" idx="10"/>
          </p:nvPr>
        </p:nvSpPr>
        <p:spPr>
          <a:noFill/>
        </p:spPr>
        <p:txBody>
          <a:bodyPr/>
          <a:lstStyle/>
          <a:p>
            <a:fld id="{10FF2648-121C-4463-90FF-BDD757ACDA32}" type="slidenum">
              <a:rPr lang="en-US" smtClean="0"/>
              <a:pPr/>
              <a:t>28</a:t>
            </a:fld>
            <a:endParaRPr lang="en-US"/>
          </a:p>
        </p:txBody>
      </p:sp>
      <p:sp>
        <p:nvSpPr>
          <p:cNvPr id="40963" name="Rectangle 2"/>
          <p:cNvSpPr>
            <a:spLocks noGrp="1" noChangeArrowheads="1"/>
          </p:cNvSpPr>
          <p:nvPr>
            <p:ph type="title"/>
          </p:nvPr>
        </p:nvSpPr>
        <p:spPr>
          <a:xfrm>
            <a:off x="0" y="228600"/>
            <a:ext cx="9144000" cy="914400"/>
          </a:xfrm>
        </p:spPr>
        <p:txBody>
          <a:bodyPr/>
          <a:lstStyle/>
          <a:p>
            <a:pPr eaLnBrk="1" hangingPunct="1"/>
            <a:r>
              <a:rPr lang="en-US" sz="3200" dirty="0"/>
              <a:t>Pattern-Growth Approach: Mining Frequent Patterns Without Candidate Generation</a:t>
            </a:r>
          </a:p>
        </p:txBody>
      </p:sp>
      <p:sp>
        <p:nvSpPr>
          <p:cNvPr id="40964" name="Rectangle 3"/>
          <p:cNvSpPr>
            <a:spLocks noGrp="1" noChangeArrowheads="1"/>
          </p:cNvSpPr>
          <p:nvPr>
            <p:ph type="body" idx="1"/>
          </p:nvPr>
        </p:nvSpPr>
        <p:spPr>
          <a:xfrm>
            <a:off x="304800" y="1447800"/>
            <a:ext cx="8597900" cy="5054600"/>
          </a:xfrm>
        </p:spPr>
        <p:txBody>
          <a:bodyPr/>
          <a:lstStyle/>
          <a:p>
            <a:r>
              <a:rPr lang="en-US" sz="2400" b="1" dirty="0"/>
              <a:t>FP-growth, which adopts a </a:t>
            </a:r>
            <a:r>
              <a:rPr lang="en-US" sz="2400" b="1" i="1" dirty="0"/>
              <a:t>divide-and-conquer </a:t>
            </a:r>
            <a:r>
              <a:rPr lang="en-US" sz="2400" dirty="0"/>
              <a:t>strategy as follows. First, it compresses the database representing frequent items into a </a:t>
            </a:r>
            <a:r>
              <a:rPr lang="en-US" sz="2400" b="1" dirty="0"/>
              <a:t>frequent pattern tree, or FP-tree, which retains the </a:t>
            </a:r>
            <a:r>
              <a:rPr lang="en-US" sz="2400" b="1" dirty="0" err="1"/>
              <a:t>itemset</a:t>
            </a:r>
            <a:r>
              <a:rPr lang="en-US" sz="2400" b="1" dirty="0"/>
              <a:t> association information. </a:t>
            </a:r>
          </a:p>
          <a:p>
            <a:r>
              <a:rPr lang="en-US" sz="2400" b="1" dirty="0"/>
              <a:t>It </a:t>
            </a:r>
            <a:r>
              <a:rPr lang="en-US" sz="2400" dirty="0"/>
              <a:t>then divides the compressed database into a set of </a:t>
            </a:r>
            <a:r>
              <a:rPr lang="en-US" sz="2400" i="1" dirty="0"/>
              <a:t>conditional databases (a special kind of </a:t>
            </a:r>
            <a:r>
              <a:rPr lang="en-US" sz="2400" dirty="0"/>
              <a:t>projected database), each associated with one frequent item or “pattern fragment,” and mines each database separately</a:t>
            </a:r>
          </a:p>
          <a:p>
            <a:r>
              <a:rPr lang="en-US" sz="2400" dirty="0"/>
              <a:t>For each “pattern fragment,” only its associated data sets need to be examined. Therefore, this approach may substantially reduce the size of the data sets to be searched, along with the “growth” of patterns being examined</a:t>
            </a:r>
            <a:endParaRPr lang="en-US" sz="2400" dirty="0">
              <a:sym typeface="Wingdings" pitchFamily="2" charset="2"/>
            </a:endParaRPr>
          </a:p>
        </p:txBody>
      </p:sp>
    </p:spTree>
    <p:extLst>
      <p:ext uri="{BB962C8B-B14F-4D97-AF65-F5344CB8AC3E}">
        <p14:creationId xmlns:p14="http://schemas.microsoft.com/office/powerpoint/2010/main" val="4102476425"/>
      </p:ext>
    </p:extLst>
  </p:cSld>
  <p:clrMapOvr>
    <a:masterClrMapping/>
  </p:clrMapOvr>
  <p:transition spd="med">
    <p:zo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5"/>
          <p:cNvSpPr>
            <a:spLocks noGrp="1"/>
          </p:cNvSpPr>
          <p:nvPr>
            <p:ph type="sldNum" sz="quarter" idx="10"/>
          </p:nvPr>
        </p:nvSpPr>
        <p:spPr>
          <a:noFill/>
        </p:spPr>
        <p:txBody>
          <a:bodyPr/>
          <a:lstStyle/>
          <a:p>
            <a:fld id="{10FF2648-121C-4463-90FF-BDD757ACDA32}" type="slidenum">
              <a:rPr lang="en-US" smtClean="0"/>
              <a:pPr/>
              <a:t>29</a:t>
            </a:fld>
            <a:endParaRPr lang="en-US"/>
          </a:p>
        </p:txBody>
      </p:sp>
      <p:sp>
        <p:nvSpPr>
          <p:cNvPr id="40963" name="Rectangle 2"/>
          <p:cNvSpPr>
            <a:spLocks noGrp="1" noChangeArrowheads="1"/>
          </p:cNvSpPr>
          <p:nvPr>
            <p:ph type="title"/>
          </p:nvPr>
        </p:nvSpPr>
        <p:spPr>
          <a:xfrm>
            <a:off x="0" y="228600"/>
            <a:ext cx="9144000" cy="914400"/>
          </a:xfrm>
        </p:spPr>
        <p:txBody>
          <a:bodyPr/>
          <a:lstStyle/>
          <a:p>
            <a:pPr eaLnBrk="1" hangingPunct="1"/>
            <a:r>
              <a:rPr lang="en-US" sz="3200" dirty="0"/>
              <a:t>Pattern-Growth Approach: Mining Frequent Patterns Without Candidate Generation</a:t>
            </a:r>
          </a:p>
        </p:txBody>
      </p:sp>
      <p:sp>
        <p:nvSpPr>
          <p:cNvPr id="40964" name="Rectangle 3"/>
          <p:cNvSpPr>
            <a:spLocks noGrp="1" noChangeArrowheads="1"/>
          </p:cNvSpPr>
          <p:nvPr>
            <p:ph type="body" idx="1"/>
          </p:nvPr>
        </p:nvSpPr>
        <p:spPr>
          <a:xfrm>
            <a:off x="304800" y="1447800"/>
            <a:ext cx="8597900" cy="5054600"/>
          </a:xfrm>
        </p:spPr>
        <p:txBody>
          <a:bodyPr/>
          <a:lstStyle/>
          <a:p>
            <a:r>
              <a:rPr lang="en-US" sz="2400" dirty="0"/>
              <a:t>The first scan of the database is the same as </a:t>
            </a:r>
            <a:r>
              <a:rPr lang="en-US" sz="2400" dirty="0" err="1"/>
              <a:t>Apriori</a:t>
            </a:r>
            <a:r>
              <a:rPr lang="en-US" sz="2400" dirty="0"/>
              <a:t>, which derives the set of frequent items (1-itemsets) and their support counts (frequencies). </a:t>
            </a:r>
          </a:p>
          <a:p>
            <a:r>
              <a:rPr lang="en-US" sz="2400" dirty="0"/>
              <a:t>Let the minimum support count be 2. The set of frequent items is sorted in the order of descending support count.</a:t>
            </a:r>
          </a:p>
          <a:p>
            <a:r>
              <a:rPr lang="en-US" sz="2400" dirty="0"/>
              <a:t>This resulting set or </a:t>
            </a:r>
            <a:r>
              <a:rPr lang="en-US" sz="2400" i="1" dirty="0"/>
              <a:t>list is denoted by L.  For Table 6.1</a:t>
            </a:r>
            <a:endParaRPr lang="en-US" sz="2400" dirty="0">
              <a:sym typeface="Wingdings" pitchFamily="2" charset="2"/>
            </a:endParaRPr>
          </a:p>
        </p:txBody>
      </p:sp>
      <p:pic>
        <p:nvPicPr>
          <p:cNvPr id="5" name="Picture 4"/>
          <p:cNvPicPr>
            <a:picLocks noChangeAspect="1"/>
          </p:cNvPicPr>
          <p:nvPr/>
        </p:nvPicPr>
        <p:blipFill>
          <a:blip r:embed="rId3"/>
          <a:srcRect/>
          <a:stretch>
            <a:fillRect/>
          </a:stretch>
        </p:blipFill>
        <p:spPr bwMode="auto">
          <a:xfrm>
            <a:off x="304800" y="3886201"/>
            <a:ext cx="4143375" cy="2971800"/>
          </a:xfrm>
          <a:prstGeom prst="rect">
            <a:avLst/>
          </a:prstGeom>
          <a:noFill/>
          <a:ln w="9525">
            <a:noFill/>
            <a:miter lim="800000"/>
            <a:headEnd/>
            <a:tailEnd/>
          </a:ln>
        </p:spPr>
      </p:pic>
      <p:pic>
        <p:nvPicPr>
          <p:cNvPr id="304130" name="Picture 2"/>
          <p:cNvPicPr>
            <a:picLocks noChangeAspect="1" noChangeArrowheads="1"/>
          </p:cNvPicPr>
          <p:nvPr/>
        </p:nvPicPr>
        <p:blipFill>
          <a:blip r:embed="rId4"/>
          <a:srcRect/>
          <a:stretch>
            <a:fillRect/>
          </a:stretch>
        </p:blipFill>
        <p:spPr bwMode="auto">
          <a:xfrm>
            <a:off x="5334000" y="3962400"/>
            <a:ext cx="1447800" cy="2688771"/>
          </a:xfrm>
          <a:prstGeom prst="rect">
            <a:avLst/>
          </a:prstGeom>
          <a:noFill/>
          <a:ln w="9525">
            <a:noFill/>
            <a:miter lim="800000"/>
            <a:headEnd/>
            <a:tailEnd/>
          </a:ln>
          <a:effectLst/>
        </p:spPr>
      </p:pic>
    </p:spTree>
    <p:extLst>
      <p:ext uri="{BB962C8B-B14F-4D97-AF65-F5344CB8AC3E}">
        <p14:creationId xmlns:p14="http://schemas.microsoft.com/office/powerpoint/2010/main" val="2715965166"/>
      </p:ext>
    </p:extLst>
  </p:cSld>
  <p:clrMapOvr>
    <a:masterClrMapping/>
  </p:clrMapOvr>
  <p:transition spd="med">
    <p:zoom/>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5"/>
          <p:cNvSpPr>
            <a:spLocks noGrp="1"/>
          </p:cNvSpPr>
          <p:nvPr>
            <p:ph type="sldNum" sz="quarter" idx="10"/>
          </p:nvPr>
        </p:nvSpPr>
        <p:spPr>
          <a:noFill/>
        </p:spPr>
        <p:txBody>
          <a:bodyPr/>
          <a:lstStyle/>
          <a:p>
            <a:fld id="{10FF2648-121C-4463-90FF-BDD757ACDA32}" type="slidenum">
              <a:rPr lang="en-US" smtClean="0"/>
              <a:pPr/>
              <a:t>30</a:t>
            </a:fld>
            <a:endParaRPr lang="en-US"/>
          </a:p>
        </p:txBody>
      </p:sp>
      <p:sp>
        <p:nvSpPr>
          <p:cNvPr id="40963" name="Rectangle 2"/>
          <p:cNvSpPr>
            <a:spLocks noGrp="1" noChangeArrowheads="1"/>
          </p:cNvSpPr>
          <p:nvPr>
            <p:ph type="title"/>
          </p:nvPr>
        </p:nvSpPr>
        <p:spPr>
          <a:xfrm>
            <a:off x="0" y="228600"/>
            <a:ext cx="9144000" cy="914400"/>
          </a:xfrm>
        </p:spPr>
        <p:txBody>
          <a:bodyPr/>
          <a:lstStyle/>
          <a:p>
            <a:pPr eaLnBrk="1" hangingPunct="1"/>
            <a:r>
              <a:rPr lang="en-US" sz="3200" dirty="0"/>
              <a:t>Constructing an FP Tree</a:t>
            </a:r>
          </a:p>
        </p:txBody>
      </p:sp>
      <p:sp>
        <p:nvSpPr>
          <p:cNvPr id="40964" name="Rectangle 3"/>
          <p:cNvSpPr>
            <a:spLocks noGrp="1" noChangeArrowheads="1"/>
          </p:cNvSpPr>
          <p:nvPr>
            <p:ph type="body" idx="1"/>
          </p:nvPr>
        </p:nvSpPr>
        <p:spPr>
          <a:xfrm>
            <a:off x="304800" y="1447800"/>
            <a:ext cx="8597900" cy="5054600"/>
          </a:xfrm>
        </p:spPr>
        <p:txBody>
          <a:bodyPr/>
          <a:lstStyle/>
          <a:p>
            <a:r>
              <a:rPr lang="en-US" sz="2400" dirty="0"/>
              <a:t>First, create the root of the tree, labeled with “null.” Scan database </a:t>
            </a:r>
            <a:r>
              <a:rPr lang="en-US" sz="2400" i="1" dirty="0"/>
              <a:t>D a second time. The items in each transaction are processed </a:t>
            </a:r>
            <a:r>
              <a:rPr lang="en-US" sz="2400" dirty="0"/>
              <a:t>in </a:t>
            </a:r>
            <a:r>
              <a:rPr lang="en-US" sz="2400" i="1" dirty="0"/>
              <a:t>L order (</a:t>
            </a:r>
            <a:r>
              <a:rPr lang="en-US" sz="2400" i="1" dirty="0" err="1"/>
              <a:t>i.e</a:t>
            </a:r>
            <a:r>
              <a:rPr lang="en-US" sz="2400" i="1" dirty="0"/>
              <a:t> descending support count), and a branch is created </a:t>
            </a:r>
            <a:r>
              <a:rPr lang="en-US" sz="2400" dirty="0"/>
              <a:t>for each transaction.</a:t>
            </a:r>
            <a:endParaRPr lang="en-US" sz="2400" dirty="0">
              <a:sym typeface="Wingdings" pitchFamily="2" charset="2"/>
            </a:endParaRPr>
          </a:p>
        </p:txBody>
      </p:sp>
      <p:pic>
        <p:nvPicPr>
          <p:cNvPr id="5" name="Picture 4"/>
          <p:cNvPicPr>
            <a:picLocks noChangeAspect="1"/>
          </p:cNvPicPr>
          <p:nvPr/>
        </p:nvPicPr>
        <p:blipFill>
          <a:blip r:embed="rId3"/>
          <a:srcRect/>
          <a:stretch>
            <a:fillRect/>
          </a:stretch>
        </p:blipFill>
        <p:spPr bwMode="auto">
          <a:xfrm>
            <a:off x="1" y="3048000"/>
            <a:ext cx="3581399" cy="2743200"/>
          </a:xfrm>
          <a:prstGeom prst="rect">
            <a:avLst/>
          </a:prstGeom>
          <a:noFill/>
          <a:ln w="9525">
            <a:noFill/>
            <a:miter lim="800000"/>
            <a:headEnd/>
            <a:tailEnd/>
          </a:ln>
        </p:spPr>
      </p:pic>
      <p:pic>
        <p:nvPicPr>
          <p:cNvPr id="305154" name="Picture 2"/>
          <p:cNvPicPr>
            <a:picLocks noChangeAspect="1" noChangeArrowheads="1"/>
          </p:cNvPicPr>
          <p:nvPr/>
        </p:nvPicPr>
        <p:blipFill>
          <a:blip r:embed="rId4"/>
          <a:srcRect/>
          <a:stretch>
            <a:fillRect/>
          </a:stretch>
        </p:blipFill>
        <p:spPr bwMode="auto">
          <a:xfrm>
            <a:off x="3352800" y="2971800"/>
            <a:ext cx="5553075" cy="3505200"/>
          </a:xfrm>
          <a:prstGeom prst="rect">
            <a:avLst/>
          </a:prstGeom>
          <a:noFill/>
          <a:ln w="9525">
            <a:noFill/>
            <a:miter lim="800000"/>
            <a:headEnd/>
            <a:tailEnd/>
          </a:ln>
          <a:effectLst/>
        </p:spPr>
      </p:pic>
    </p:spTree>
    <p:extLst>
      <p:ext uri="{BB962C8B-B14F-4D97-AF65-F5344CB8AC3E}">
        <p14:creationId xmlns:p14="http://schemas.microsoft.com/office/powerpoint/2010/main" val="3630809088"/>
      </p:ext>
    </p:extLst>
  </p:cSld>
  <p:clrMapOvr>
    <a:masterClrMapping/>
  </p:clrMapOvr>
  <p:transition spd="med">
    <p:zoom/>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5"/>
          <p:cNvSpPr>
            <a:spLocks noGrp="1"/>
          </p:cNvSpPr>
          <p:nvPr>
            <p:ph type="sldNum" sz="quarter" idx="10"/>
          </p:nvPr>
        </p:nvSpPr>
        <p:spPr>
          <a:noFill/>
        </p:spPr>
        <p:txBody>
          <a:bodyPr/>
          <a:lstStyle/>
          <a:p>
            <a:fld id="{10FF2648-121C-4463-90FF-BDD757ACDA32}" type="slidenum">
              <a:rPr lang="en-US" smtClean="0"/>
              <a:pPr/>
              <a:t>31</a:t>
            </a:fld>
            <a:endParaRPr lang="en-US"/>
          </a:p>
        </p:txBody>
      </p:sp>
      <p:sp>
        <p:nvSpPr>
          <p:cNvPr id="40963" name="Rectangle 2"/>
          <p:cNvSpPr>
            <a:spLocks noGrp="1" noChangeArrowheads="1"/>
          </p:cNvSpPr>
          <p:nvPr>
            <p:ph type="title"/>
          </p:nvPr>
        </p:nvSpPr>
        <p:spPr>
          <a:xfrm>
            <a:off x="0" y="228600"/>
            <a:ext cx="9144000" cy="914400"/>
          </a:xfrm>
        </p:spPr>
        <p:txBody>
          <a:bodyPr/>
          <a:lstStyle/>
          <a:p>
            <a:pPr eaLnBrk="1" hangingPunct="1"/>
            <a:r>
              <a:rPr lang="en-US" sz="3200" dirty="0"/>
              <a:t>Mining an FP Tree</a:t>
            </a:r>
          </a:p>
        </p:txBody>
      </p:sp>
      <p:sp>
        <p:nvSpPr>
          <p:cNvPr id="40964" name="Rectangle 3"/>
          <p:cNvSpPr>
            <a:spLocks noGrp="1" noChangeArrowheads="1"/>
          </p:cNvSpPr>
          <p:nvPr>
            <p:ph type="body" idx="1"/>
          </p:nvPr>
        </p:nvSpPr>
        <p:spPr>
          <a:xfrm>
            <a:off x="304800" y="1447800"/>
            <a:ext cx="8597900" cy="5054600"/>
          </a:xfrm>
        </p:spPr>
        <p:txBody>
          <a:bodyPr/>
          <a:lstStyle/>
          <a:p>
            <a:r>
              <a:rPr lang="en-US" sz="2400" dirty="0"/>
              <a:t>Start from each frequent length-1 pattern (as an initial </a:t>
            </a:r>
            <a:r>
              <a:rPr lang="en-US" sz="2400" b="1" dirty="0"/>
              <a:t>suffix pattern), construct its conditional pattern base (a “sub-database,” which </a:t>
            </a:r>
            <a:r>
              <a:rPr lang="en-US" sz="2400" dirty="0"/>
              <a:t>consists of the set of </a:t>
            </a:r>
            <a:r>
              <a:rPr lang="en-US" sz="2400" i="1" dirty="0"/>
              <a:t>prefix paths in the FP-tree co-occurring with the suffix pattern),</a:t>
            </a:r>
          </a:p>
          <a:p>
            <a:r>
              <a:rPr lang="en-US" sz="2400" dirty="0"/>
              <a:t>then construct its (</a:t>
            </a:r>
            <a:r>
              <a:rPr lang="en-US" sz="2400" i="1" dirty="0"/>
              <a:t>conditional) FP-tree, and perform mining recursively on the tree. The </a:t>
            </a:r>
            <a:r>
              <a:rPr lang="en-US" sz="2400" dirty="0"/>
              <a:t>pattern growth is achieved by the concatenation of the suffix pattern with the frequent patterns generated from a conditional FP-tree.</a:t>
            </a:r>
            <a:endParaRPr lang="en-US" sz="2400" dirty="0">
              <a:sym typeface="Wingdings" pitchFamily="2" charset="2"/>
            </a:endParaRPr>
          </a:p>
        </p:txBody>
      </p:sp>
    </p:spTree>
    <p:extLst>
      <p:ext uri="{BB962C8B-B14F-4D97-AF65-F5344CB8AC3E}">
        <p14:creationId xmlns:p14="http://schemas.microsoft.com/office/powerpoint/2010/main" val="1427601314"/>
      </p:ext>
    </p:extLst>
  </p:cSld>
  <p:clrMapOvr>
    <a:masterClrMapping/>
  </p:clrMapOvr>
  <p:transition spd="med">
    <p:zoom/>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5"/>
          <p:cNvSpPr>
            <a:spLocks noGrp="1"/>
          </p:cNvSpPr>
          <p:nvPr>
            <p:ph type="sldNum" sz="quarter" idx="10"/>
          </p:nvPr>
        </p:nvSpPr>
        <p:spPr>
          <a:noFill/>
        </p:spPr>
        <p:txBody>
          <a:bodyPr/>
          <a:lstStyle/>
          <a:p>
            <a:fld id="{10FF2648-121C-4463-90FF-BDD757ACDA32}" type="slidenum">
              <a:rPr lang="en-US" smtClean="0"/>
              <a:pPr/>
              <a:t>32</a:t>
            </a:fld>
            <a:endParaRPr lang="en-US"/>
          </a:p>
        </p:txBody>
      </p:sp>
      <p:sp>
        <p:nvSpPr>
          <p:cNvPr id="40963" name="Rectangle 2"/>
          <p:cNvSpPr>
            <a:spLocks noGrp="1" noChangeArrowheads="1"/>
          </p:cNvSpPr>
          <p:nvPr>
            <p:ph type="title"/>
          </p:nvPr>
        </p:nvSpPr>
        <p:spPr>
          <a:xfrm>
            <a:off x="0" y="228600"/>
            <a:ext cx="9144000" cy="914400"/>
          </a:xfrm>
        </p:spPr>
        <p:txBody>
          <a:bodyPr/>
          <a:lstStyle/>
          <a:p>
            <a:pPr eaLnBrk="1" hangingPunct="1"/>
            <a:r>
              <a:rPr lang="en-US" sz="3200" dirty="0"/>
              <a:t>Mining an FP Tree</a:t>
            </a:r>
          </a:p>
        </p:txBody>
      </p:sp>
      <p:sp>
        <p:nvSpPr>
          <p:cNvPr id="40964" name="Rectangle 3"/>
          <p:cNvSpPr>
            <a:spLocks noGrp="1" noChangeArrowheads="1"/>
          </p:cNvSpPr>
          <p:nvPr>
            <p:ph type="body" idx="1"/>
          </p:nvPr>
        </p:nvSpPr>
        <p:spPr>
          <a:xfrm>
            <a:off x="304800" y="1447800"/>
            <a:ext cx="8597900" cy="5054600"/>
          </a:xfrm>
        </p:spPr>
        <p:txBody>
          <a:bodyPr/>
          <a:lstStyle/>
          <a:p>
            <a:r>
              <a:rPr lang="en-US" sz="2400" dirty="0"/>
              <a:t>Start from each frequent length-1 pattern (as an initial </a:t>
            </a:r>
            <a:r>
              <a:rPr lang="en-US" sz="2400" b="1" dirty="0"/>
              <a:t>suffix pattern), construct its conditional pattern base (a “sub-database,” which </a:t>
            </a:r>
            <a:r>
              <a:rPr lang="en-US" sz="2400" dirty="0"/>
              <a:t>consists of the set of </a:t>
            </a:r>
            <a:r>
              <a:rPr lang="en-US" sz="2400" i="1" dirty="0"/>
              <a:t>prefix paths in the FP-tree co-occurring with the suffix pattern),</a:t>
            </a:r>
          </a:p>
          <a:p>
            <a:r>
              <a:rPr lang="en-US" sz="2400" dirty="0"/>
              <a:t>then construct its (</a:t>
            </a:r>
            <a:r>
              <a:rPr lang="en-US" sz="2400" i="1" dirty="0"/>
              <a:t>conditional) FP-tree, and perform mining recursively on the tree. The </a:t>
            </a:r>
            <a:r>
              <a:rPr lang="en-US" sz="2400" dirty="0"/>
              <a:t>pattern growth is achieved by the concatenation of the suffix pattern with the frequent patterns generated from a conditional FP-tree.</a:t>
            </a:r>
            <a:endParaRPr lang="en-US" sz="2400" dirty="0">
              <a:sym typeface="Wingdings" pitchFamily="2" charset="2"/>
            </a:endParaRPr>
          </a:p>
        </p:txBody>
      </p:sp>
    </p:spTree>
    <p:extLst>
      <p:ext uri="{BB962C8B-B14F-4D97-AF65-F5344CB8AC3E}">
        <p14:creationId xmlns:p14="http://schemas.microsoft.com/office/powerpoint/2010/main" val="2469929109"/>
      </p:ext>
    </p:extLst>
  </p:cSld>
  <p:clrMapOvr>
    <a:masterClrMapping/>
  </p:clrMapOvr>
  <p:transition spd="med">
    <p:zoom/>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5"/>
          <p:cNvSpPr>
            <a:spLocks noGrp="1"/>
          </p:cNvSpPr>
          <p:nvPr>
            <p:ph type="sldNum" sz="quarter" idx="10"/>
          </p:nvPr>
        </p:nvSpPr>
        <p:spPr>
          <a:noFill/>
        </p:spPr>
        <p:txBody>
          <a:bodyPr/>
          <a:lstStyle/>
          <a:p>
            <a:fld id="{10FF2648-121C-4463-90FF-BDD757ACDA32}" type="slidenum">
              <a:rPr lang="en-US" smtClean="0"/>
              <a:pPr/>
              <a:t>33</a:t>
            </a:fld>
            <a:endParaRPr lang="en-US"/>
          </a:p>
        </p:txBody>
      </p:sp>
      <p:sp>
        <p:nvSpPr>
          <p:cNvPr id="40963" name="Rectangle 2"/>
          <p:cNvSpPr>
            <a:spLocks noGrp="1" noChangeArrowheads="1"/>
          </p:cNvSpPr>
          <p:nvPr>
            <p:ph type="title"/>
          </p:nvPr>
        </p:nvSpPr>
        <p:spPr>
          <a:xfrm>
            <a:off x="0" y="0"/>
            <a:ext cx="9144000" cy="914400"/>
          </a:xfrm>
        </p:spPr>
        <p:txBody>
          <a:bodyPr/>
          <a:lstStyle/>
          <a:p>
            <a:pPr eaLnBrk="1" hangingPunct="1"/>
            <a:r>
              <a:rPr lang="en-US" sz="3200" dirty="0"/>
              <a:t>Mining an FP Tree</a:t>
            </a:r>
          </a:p>
        </p:txBody>
      </p:sp>
      <p:sp>
        <p:nvSpPr>
          <p:cNvPr id="40964" name="Rectangle 3"/>
          <p:cNvSpPr>
            <a:spLocks noGrp="1" noChangeArrowheads="1"/>
          </p:cNvSpPr>
          <p:nvPr>
            <p:ph type="body" idx="1"/>
          </p:nvPr>
        </p:nvSpPr>
        <p:spPr>
          <a:xfrm>
            <a:off x="304800" y="1066800"/>
            <a:ext cx="8674100" cy="5359400"/>
          </a:xfrm>
        </p:spPr>
        <p:txBody>
          <a:bodyPr/>
          <a:lstStyle/>
          <a:p>
            <a:pPr>
              <a:buNone/>
            </a:pPr>
            <a:r>
              <a:rPr lang="en-US" sz="2400" dirty="0">
                <a:sym typeface="Wingdings" pitchFamily="2" charset="2"/>
              </a:rPr>
              <a:t>Mining</a:t>
            </a:r>
          </a:p>
        </p:txBody>
      </p:sp>
      <p:pic>
        <p:nvPicPr>
          <p:cNvPr id="305154" name="Picture 2"/>
          <p:cNvPicPr>
            <a:picLocks noChangeAspect="1" noChangeArrowheads="1"/>
          </p:cNvPicPr>
          <p:nvPr/>
        </p:nvPicPr>
        <p:blipFill>
          <a:blip r:embed="rId3"/>
          <a:srcRect/>
          <a:stretch>
            <a:fillRect/>
          </a:stretch>
        </p:blipFill>
        <p:spPr bwMode="auto">
          <a:xfrm>
            <a:off x="1295400" y="990600"/>
            <a:ext cx="6096000" cy="3505200"/>
          </a:xfrm>
          <a:prstGeom prst="rect">
            <a:avLst/>
          </a:prstGeom>
          <a:noFill/>
          <a:ln w="9525">
            <a:noFill/>
            <a:miter lim="800000"/>
            <a:headEnd/>
            <a:tailEnd/>
          </a:ln>
          <a:effectLst/>
        </p:spPr>
      </p:pic>
      <p:pic>
        <p:nvPicPr>
          <p:cNvPr id="306178" name="Picture 2"/>
          <p:cNvPicPr>
            <a:picLocks noChangeAspect="1" noChangeArrowheads="1"/>
          </p:cNvPicPr>
          <p:nvPr/>
        </p:nvPicPr>
        <p:blipFill>
          <a:blip r:embed="rId4"/>
          <a:srcRect/>
          <a:stretch>
            <a:fillRect/>
          </a:stretch>
        </p:blipFill>
        <p:spPr bwMode="auto">
          <a:xfrm>
            <a:off x="533400" y="4572000"/>
            <a:ext cx="7924800" cy="2286000"/>
          </a:xfrm>
          <a:prstGeom prst="rect">
            <a:avLst/>
          </a:prstGeom>
          <a:noFill/>
          <a:ln w="9525">
            <a:noFill/>
            <a:miter lim="800000"/>
            <a:headEnd/>
            <a:tailEnd/>
          </a:ln>
          <a:effectLst/>
        </p:spPr>
      </p:pic>
    </p:spTree>
    <p:extLst>
      <p:ext uri="{BB962C8B-B14F-4D97-AF65-F5344CB8AC3E}">
        <p14:creationId xmlns:p14="http://schemas.microsoft.com/office/powerpoint/2010/main" val="3238474156"/>
      </p:ext>
    </p:extLst>
  </p:cSld>
  <p:clrMapOvr>
    <a:masterClrMapping/>
  </p:clrMapOvr>
  <p:transition spd="med">
    <p:zoom/>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Number Placeholder 5"/>
          <p:cNvSpPr>
            <a:spLocks noGrp="1"/>
          </p:cNvSpPr>
          <p:nvPr>
            <p:ph type="sldNum" sz="quarter" idx="10"/>
          </p:nvPr>
        </p:nvSpPr>
        <p:spPr>
          <a:noFill/>
        </p:spPr>
        <p:txBody>
          <a:bodyPr/>
          <a:lstStyle/>
          <a:p>
            <a:fld id="{018F80C6-CC44-4829-86AF-260334DA4AC9}" type="slidenum">
              <a:rPr lang="en-US" smtClean="0"/>
              <a:pPr/>
              <a:t>34</a:t>
            </a:fld>
            <a:endParaRPr lang="en-US"/>
          </a:p>
        </p:txBody>
      </p:sp>
      <p:sp>
        <p:nvSpPr>
          <p:cNvPr id="48131" name="Rectangle 2"/>
          <p:cNvSpPr>
            <a:spLocks noGrp="1" noChangeArrowheads="1"/>
          </p:cNvSpPr>
          <p:nvPr>
            <p:ph type="title"/>
          </p:nvPr>
        </p:nvSpPr>
        <p:spPr>
          <a:xfrm>
            <a:off x="623888" y="422275"/>
            <a:ext cx="7989887" cy="568325"/>
          </a:xfrm>
        </p:spPr>
        <p:txBody>
          <a:bodyPr/>
          <a:lstStyle/>
          <a:p>
            <a:pPr eaLnBrk="1" hangingPunct="1"/>
            <a:r>
              <a:rPr lang="en-US" sz="3200"/>
              <a:t>Benefits of the FP-tree Structure</a:t>
            </a:r>
          </a:p>
        </p:txBody>
      </p:sp>
      <p:sp>
        <p:nvSpPr>
          <p:cNvPr id="48132" name="Rectangle 3"/>
          <p:cNvSpPr>
            <a:spLocks noGrp="1" noChangeArrowheads="1"/>
          </p:cNvSpPr>
          <p:nvPr>
            <p:ph type="body" idx="1"/>
          </p:nvPr>
        </p:nvSpPr>
        <p:spPr>
          <a:xfrm>
            <a:off x="304800" y="1447800"/>
            <a:ext cx="8610600" cy="5029200"/>
          </a:xfrm>
          <a:noFill/>
        </p:spPr>
        <p:txBody>
          <a:bodyPr/>
          <a:lstStyle/>
          <a:p>
            <a:r>
              <a:rPr lang="en-US" sz="2400" dirty="0"/>
              <a:t>The FP-growth method transforms the problem of finding long frequent patterns into searching for shorter ones in much smaller conditional databases recursively and then concatenating the suffix. It uses the least frequent items as a suffix, offering good selectivity. The method substantially reduces the search costs.</a:t>
            </a:r>
          </a:p>
          <a:p>
            <a:r>
              <a:rPr lang="en-US" sz="2400" dirty="0"/>
              <a:t>When the database is large, it is sometimes unrealistic to construct a main memory based FP-tree. An interesting alternative is to first partition the database into a set of projected databases, and then construct an FP-tree and mine it in each projected database. This process can be recursively applied to any projected database if its FP-tree still cannot fit in main memory.</a:t>
            </a:r>
          </a:p>
        </p:txBody>
      </p:sp>
    </p:spTree>
    <p:extLst>
      <p:ext uri="{BB962C8B-B14F-4D97-AF65-F5344CB8AC3E}">
        <p14:creationId xmlns:p14="http://schemas.microsoft.com/office/powerpoint/2010/main" val="2164539889"/>
      </p:ext>
    </p:extLst>
  </p:cSld>
  <p:clrMapOvr>
    <a:masterClrMapping/>
  </p:clrMapOvr>
  <p:transition spd="med">
    <p:zoom/>
  </p:transition>
</p:sld>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Berlin Sans FB Demi"/>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Designs\Blends.pot</Template>
  <TotalTime>13670</TotalTime>
  <Words>2296</Words>
  <Application>Microsoft Office PowerPoint</Application>
  <PresentationFormat>On-screen Show (4:3)</PresentationFormat>
  <Paragraphs>344</Paragraphs>
  <Slides>34</Slides>
  <Notes>23</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2</vt:i4>
      </vt:variant>
      <vt:variant>
        <vt:lpstr>Slide Titles</vt:lpstr>
      </vt:variant>
      <vt:variant>
        <vt:i4>34</vt:i4>
      </vt:variant>
    </vt:vector>
  </HeadingPairs>
  <TitlesOfParts>
    <vt:vector size="45" baseType="lpstr">
      <vt:lpstr>SimSun</vt:lpstr>
      <vt:lpstr>Arial</vt:lpstr>
      <vt:lpstr>Berlin Sans FB Demi</vt:lpstr>
      <vt:lpstr>Monotype Sorts</vt:lpstr>
      <vt:lpstr>Symbol</vt:lpstr>
      <vt:lpstr>Tahoma</vt:lpstr>
      <vt:lpstr>Times New Roman</vt:lpstr>
      <vt:lpstr>Wingdings</vt:lpstr>
      <vt:lpstr>Blends</vt:lpstr>
      <vt:lpstr>Document</vt:lpstr>
      <vt:lpstr>Equation</vt:lpstr>
      <vt:lpstr>Data Mining:   Concepts and Techniques  (3rd ed.)  — Chapter 6 —</vt:lpstr>
      <vt:lpstr>Chapter 5: Mining Frequent Patterns, Association and Correlations: Basic Concepts and Methods</vt:lpstr>
      <vt:lpstr>What Is Frequent Pattern Analysis?</vt:lpstr>
      <vt:lpstr>Why Is Freq. Pattern Mining Important?</vt:lpstr>
      <vt:lpstr>Basic Concepts: Frequent Patterns</vt:lpstr>
      <vt:lpstr>Basic Concepts: Association Rules</vt:lpstr>
      <vt:lpstr>Association Rules Measurement</vt:lpstr>
      <vt:lpstr>Itemset Support</vt:lpstr>
      <vt:lpstr>Confidence</vt:lpstr>
      <vt:lpstr>Association Rule Mining</vt:lpstr>
      <vt:lpstr>Mining Association Rules</vt:lpstr>
      <vt:lpstr>Computational Complexity of Frequent Itemset Mining</vt:lpstr>
      <vt:lpstr>Scalable Frequent Itemset Mining Methods</vt:lpstr>
      <vt:lpstr>Apriori Property</vt:lpstr>
      <vt:lpstr>Apriori: A Candidate Generation &amp; Test Approach</vt:lpstr>
      <vt:lpstr>The Apriori Algorithm—An Example </vt:lpstr>
      <vt:lpstr>The Apriori Algorithm (Pseudo-Code)</vt:lpstr>
      <vt:lpstr>PowerPoint Presentation</vt:lpstr>
      <vt:lpstr>PowerPoint Presentation</vt:lpstr>
      <vt:lpstr>Generating Association Rules Example</vt:lpstr>
      <vt:lpstr>PowerPoint Presentation</vt:lpstr>
      <vt:lpstr>PowerPoint Presentation</vt:lpstr>
      <vt:lpstr>Example 6.9</vt:lpstr>
      <vt:lpstr>Interestingness Measure: Correlations (Lift)</vt:lpstr>
      <vt:lpstr>Computing Interestingness Measure</vt:lpstr>
      <vt:lpstr>PowerPoint Presentation</vt:lpstr>
      <vt:lpstr>Scalable Frequent Itemset Mining Methods</vt:lpstr>
      <vt:lpstr>Pattern-Growth Approach: Mining Frequent Patterns Without Candidate Generation</vt:lpstr>
      <vt:lpstr>Pattern-Growth Approach: Mining Frequent Patterns Without Candidate Generation</vt:lpstr>
      <vt:lpstr>Constructing an FP Tree</vt:lpstr>
      <vt:lpstr>Mining an FP Tree</vt:lpstr>
      <vt:lpstr>Mining an FP Tree</vt:lpstr>
      <vt:lpstr>Mining an FP Tree</vt:lpstr>
      <vt:lpstr>Benefits of the FP-tree Structure</vt:lpstr>
    </vt:vector>
  </TitlesOfParts>
  <Company>S.F.U.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Jiawei Han</dc:creator>
  <cp:lastModifiedBy>usman shehzaib</cp:lastModifiedBy>
  <cp:revision>569</cp:revision>
  <cp:lastPrinted>2010-10-01T20:10:01Z</cp:lastPrinted>
  <dcterms:created xsi:type="dcterms:W3CDTF">1998-06-19T04:38:52Z</dcterms:created>
  <dcterms:modified xsi:type="dcterms:W3CDTF">2024-12-03T08:40:20Z</dcterms:modified>
</cp:coreProperties>
</file>