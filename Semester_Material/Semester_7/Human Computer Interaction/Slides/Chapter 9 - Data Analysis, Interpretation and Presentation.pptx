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6858000" cx="9144000"/>
  <p:notesSz cx="6799250" cy="9929800"/>
  <p:embeddedFontLst>
    <p:embeddedFont>
      <p:font typeface="Gill Sans"/>
      <p:regular r:id="rId64"/>
      <p:bold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66" roundtripDataSignature="AMtx7mgjLuJjqhMWSu/VgLNF/QuoK0fl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F9A73B-F162-454B-B621-5FB6A12E282D}">
  <a:tblStyle styleId="{62F9A73B-F162-454B-B621-5FB6A12E282D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GillSans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GillSan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855d404b0_0_0:notes"/>
          <p:cNvSpPr/>
          <p:nvPr>
            <p:ph idx="2" type="sldImg"/>
          </p:nvPr>
        </p:nvSpPr>
        <p:spPr>
          <a:xfrm>
            <a:off x="917575" y="744538"/>
            <a:ext cx="49641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2855d404b0_0_0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2855d404b0_0_0:notes"/>
          <p:cNvSpPr txBox="1"/>
          <p:nvPr>
            <p:ph idx="12" type="sldNum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8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5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58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5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5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60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0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6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" name="Google Shape;41;p60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60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60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2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2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62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3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6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64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5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5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6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66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66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66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66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66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7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6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8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8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6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5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57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57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5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5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5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5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5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57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ara.muneeb@cuilahore.edu.p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Data Analysis, Interpretation and Presentation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432560" y="3733800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GB"/>
              <a:t>Sara Muneeb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sara.muneeb@cuilahore.edu.pk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GB"/>
              <a:t>Computer Science Department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Introduction 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Qualitative and quantitative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Mix methods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Ratio, averages, percentages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Data cleansing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Investigator beliefs and biases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Claims that go beyond data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Support conclusion by results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Data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Qualitative data is in the form of words and images, and it includes descriptions, quotes from interviewees, vignettes of activity, and photos.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Qualitative analysis focuses on the nature of something and can be represented by themes, patterns, and stories.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For example, in describing the same population, a qualitative analysis might conclude that the average person is tall, thin, and middle-aged.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Quantitative Data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Quantitative data is in the form of numbers, or data that can easily be translated into numbers.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Quantitative analysis uses numerical methods to ascertain the magnitude, amount, or size of something (the attributes, behavior, or strength of opinion of the participants). 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/>
              <a:t>For example, in describing a population, a quantitative analysis might conclude that the average person is 5 feet 11 inches tall, weighs 180 pounds, and is 45 years old.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1</a:t>
            </a:r>
            <a:r>
              <a:rPr baseline="30000" lang="en-GB"/>
              <a:t>st</a:t>
            </a:r>
            <a:r>
              <a:rPr lang="en-GB"/>
              <a:t> Step in Analyzing Data </a:t>
            </a:r>
            <a:endParaRPr/>
          </a:p>
        </p:txBody>
      </p:sp>
      <p:pic>
        <p:nvPicPr>
          <p:cNvPr id="129" name="Google Shape;12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677" y="1447800"/>
            <a:ext cx="5820196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Quantitative Analysis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Percentages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Percentages are useful for standardizing the data, particularly to compare two or more large sets of responses.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Averages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GB"/>
              <a:t>Mean</a:t>
            </a:r>
            <a:r>
              <a:rPr lang="en-GB"/>
              <a:t> refers to the commonly understood interpretation of average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GB"/>
              <a:t>Median</a:t>
            </a:r>
            <a:r>
              <a:rPr lang="en-GB"/>
              <a:t> is the middle value of the data when the numbers are ranked.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GB"/>
              <a:t>Mode</a:t>
            </a:r>
            <a:r>
              <a:rPr lang="en-GB"/>
              <a:t> is the most commonly occurring number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Example : http://memorymirror.com/</a:t>
            </a:r>
            <a:endParaRPr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738" y="2297196"/>
            <a:ext cx="7499350" cy="3951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GB"/>
              <a:t>Questions: “How do you feel about this new app?”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Responses to this will be varied and may include that it is cool, impressive, realistic, clunky, technically complex, and so on.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GB"/>
              <a:t>Alternative Question:  “In your experience, are virtual try-on holographs realistic, clunky, or distorted?”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This clearly reduces the number of options and the responses would be recorded as “realistic,” “clunky,” or “distorted.”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pic>
        <p:nvPicPr>
          <p:cNvPr id="154" name="Google Shape;15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3200400"/>
            <a:ext cx="7499350" cy="222885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1325880" y="2514600"/>
            <a:ext cx="7498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 table, initial analysis of this data might look like the following: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1325880" y="5694925"/>
            <a:ext cx="5608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** Protect participants’ privacy by anonymizing the name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Another alternative that might be used in a questionnaire is to phrase the question in terms of a </a:t>
            </a:r>
            <a:r>
              <a:rPr b="1" lang="en-GB" sz="2800"/>
              <a:t>Likert scale</a:t>
            </a:r>
            <a:r>
              <a:rPr lang="en-GB" sz="2800"/>
              <a:t>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9933" y="3200400"/>
            <a:ext cx="7907867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Basic Tools for Collation and Analysis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Excel and Google Sheets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offers a variety of numerical manipulations and graphical representations.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T-tests and A/B testing tools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for performing specific statistical tests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Outliers</a:t>
            </a:r>
            <a:endParaRPr/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Outliers : values that are significantly different from the majority, and hence not common.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Outliers are usually removed from the main data set because they distort the general patterns. 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However, outliers may also be interesting cases to investigate further in case there are special circumstances surrounding those users and their session.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Presentations</a:t>
            </a:r>
            <a:endParaRPr/>
          </a:p>
        </p:txBody>
      </p:sp>
      <p:pic>
        <p:nvPicPr>
          <p:cNvPr id="181" name="Google Shape;18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905000"/>
            <a:ext cx="5335839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1435608" y="1422718"/>
            <a:ext cx="6565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Example: Data gathered during a study of a photo sharing app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Presentations</a:t>
            </a:r>
            <a:endParaRPr/>
          </a:p>
        </p:txBody>
      </p:sp>
      <p:pic>
        <p:nvPicPr>
          <p:cNvPr id="188" name="Google Shape;18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833414"/>
            <a:ext cx="7499350" cy="4029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 </a:t>
            </a:r>
            <a:endParaRPr/>
          </a:p>
        </p:txBody>
      </p:sp>
      <p:pic>
        <p:nvPicPr>
          <p:cNvPr id="194" name="Google Shape;19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3912" y="1900237"/>
            <a:ext cx="618172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 </a:t>
            </a:r>
            <a:endParaRPr/>
          </a:p>
        </p:txBody>
      </p:sp>
      <p:pic>
        <p:nvPicPr>
          <p:cNvPr id="200" name="Google Shape;20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50" y="1919287"/>
            <a:ext cx="725805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1555750" y="5781992"/>
            <a:ext cx="7207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Using a scatter diagram helps to identify outliers in your data quite quickly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The data in the following table represents the time taken for a group of users to select and buy an item from an online shopping website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9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9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900"/>
          </a:p>
        </p:txBody>
      </p:sp>
      <p:graphicFrame>
        <p:nvGraphicFramePr>
          <p:cNvPr id="208" name="Google Shape;208;p17"/>
          <p:cNvGraphicFramePr/>
          <p:nvPr/>
        </p:nvGraphicFramePr>
        <p:xfrm>
          <a:off x="1435608" y="3581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{62F9A73B-F162-454B-B621-5FB6A12E282D}</a:tableStyleId>
              </a:tblPr>
              <a:tblGrid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  <a:gridCol w="374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User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A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B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C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D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E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F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G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H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I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J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K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L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M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N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O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P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Q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R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Time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15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12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14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13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11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18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14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17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20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15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18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24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12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16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18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20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/>
                        <a:t>26</a:t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 – Bar Graph</a:t>
            </a:r>
            <a:endParaRPr/>
          </a:p>
        </p:txBody>
      </p:sp>
      <p:pic>
        <p:nvPicPr>
          <p:cNvPr id="214" name="Google Shape;21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127326"/>
            <a:ext cx="7499350" cy="3441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 – Scatter Diagram</a:t>
            </a:r>
            <a:endParaRPr/>
          </a:p>
        </p:txBody>
      </p:sp>
      <p:pic>
        <p:nvPicPr>
          <p:cNvPr id="220" name="Google Shape;22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074897"/>
            <a:ext cx="7499350" cy="354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</a:t>
            </a:r>
            <a:endParaRPr/>
          </a:p>
        </p:txBody>
      </p:sp>
      <p:sp>
        <p:nvSpPr>
          <p:cNvPr id="226" name="Google Shape;226;p2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The following question was asked in a questionnaire to evaluate two different smartphone designs: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590800"/>
            <a:ext cx="6007893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Phone 1</a:t>
            </a:r>
            <a:endParaRPr/>
          </a:p>
        </p:txBody>
      </p:sp>
      <p:pic>
        <p:nvPicPr>
          <p:cNvPr id="233" name="Google Shape;23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264118"/>
            <a:ext cx="7499350" cy="316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Phone 2</a:t>
            </a:r>
            <a:endParaRPr/>
          </a:p>
        </p:txBody>
      </p:sp>
      <p:pic>
        <p:nvPicPr>
          <p:cNvPr id="239" name="Google Shape;23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253997"/>
            <a:ext cx="7499350" cy="3188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Bar Graph</a:t>
            </a:r>
            <a:endParaRPr/>
          </a:p>
        </p:txBody>
      </p:sp>
      <p:pic>
        <p:nvPicPr>
          <p:cNvPr id="245" name="Google Shape;24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1037" y="1928812"/>
            <a:ext cx="6467475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1956117" y="5792787"/>
            <a:ext cx="64623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graphical comparison of two smartphone designs according to whether they are perceived as modern or dated.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Analysis</a:t>
            </a:r>
            <a:endParaRPr/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Gain an overall impression of the data and to start looking for interesting features, topics, repeated observations, or things that stands out.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It is important to confirm and re-confirm findings to make sure that initial impressions don’t bias analysis.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Analysis </a:t>
            </a:r>
            <a:endParaRPr/>
          </a:p>
        </p:txBody>
      </p:sp>
      <p:sp>
        <p:nvSpPr>
          <p:cNvPr id="258" name="Google Shape;258;p2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Three basic approaches to qualitative analysis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identifying themes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categorizing data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analyzing critical incidents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Critical incident analysis is a way to isolate subsets of data for more detailed analysis, perhaps by identifying themes or applying categories.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Identify Themes</a:t>
            </a:r>
            <a:endParaRPr/>
          </a:p>
        </p:txBody>
      </p:sp>
      <p:sp>
        <p:nvSpPr>
          <p:cNvPr id="264" name="Google Shape;264;p2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Theme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is something important about the data in relation to the study goal.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Represents a particular topic or feature found in the data set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Thematic Analysis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widely used analytical technique that aims to identify, analyze, and report patterns in the data.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Thematic Analysis</a:t>
            </a:r>
            <a:endParaRPr/>
          </a:p>
        </p:txBody>
      </p: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Inductive Analysis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Identify themes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Performed iteratively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Determine meaningful code that are orthogonal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Decide appropriate granularity </a:t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Thematic Analysis</a:t>
            </a:r>
            <a:endParaRPr/>
          </a:p>
        </p:txBody>
      </p:sp>
      <p:sp>
        <p:nvSpPr>
          <p:cNvPr id="276" name="Google Shape;276;p2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Deductive Analysis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Categorize data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Apply build themes to new data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Performed iteratively </a:t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General Steps</a:t>
            </a:r>
            <a:endParaRPr/>
          </a:p>
        </p:txBody>
      </p:sp>
      <p:sp>
        <p:nvSpPr>
          <p:cNvPr id="282" name="Google Shape;282;p2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Initial pass to look for themes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Look for more systematic themes to confirm and disconfirm the initial impression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Check consistency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Refined themes</a:t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Affinity Diagrams</a:t>
            </a:r>
            <a:endParaRPr/>
          </a:p>
        </p:txBody>
      </p:sp>
      <p:sp>
        <p:nvSpPr>
          <p:cNvPr id="288" name="Google Shape;288;p3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The approach seeks to organize individual ideas and insights into a hierarchy showing common structures and themes.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Notes are grouped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Groups emerged from the data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Diagram start from one note</a:t>
            </a:r>
            <a:endParaRPr sz="2400"/>
          </a:p>
        </p:txBody>
      </p:sp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4343400"/>
            <a:ext cx="4495800" cy="24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Categorizing Data</a:t>
            </a:r>
            <a:endParaRPr/>
          </a:p>
        </p:txBody>
      </p:sp>
      <p:sp>
        <p:nvSpPr>
          <p:cNvPr id="295" name="Google Shape;295;p3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In this procedure the analysis frame (the set of categories used) is chosen beforehand, based on the study goal.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In that case, analysis proceeds deductively. F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301" name="Google Shape;301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905000"/>
            <a:ext cx="6496050" cy="393984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1450340" y="6247229"/>
            <a:ext cx="7239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Excerpt from a transcript of a think-aloud protocol when using an online educational environment.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308" name="Google Shape;30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600200"/>
            <a:ext cx="533477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 txBox="1"/>
          <p:nvPr/>
        </p:nvSpPr>
        <p:spPr>
          <a:xfrm>
            <a:off x="1435608" y="6488668"/>
            <a:ext cx="7498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Criteria for identifying usability problems from verbal protocol transcriptions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315" name="Google Shape;31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828800"/>
            <a:ext cx="6648450" cy="419158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4"/>
          <p:cNvSpPr txBox="1"/>
          <p:nvPr/>
        </p:nvSpPr>
        <p:spPr>
          <a:xfrm>
            <a:off x="1524000" y="6398696"/>
            <a:ext cx="762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excerpt on Slide 31 coded using the categorization scheme on Slide 32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Critical Incident Analysis</a:t>
            </a:r>
            <a:endParaRPr/>
          </a:p>
        </p:txBody>
      </p:sp>
      <p:sp>
        <p:nvSpPr>
          <p:cNvPr id="322" name="Google Shape;322;p3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Critical incident analysis is one approach that helps to identify significant subsets of the data for more detailed analysis. 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It has two basic principles:</a:t>
            </a:r>
            <a:endParaRPr/>
          </a:p>
          <a:p>
            <a:pPr indent="-514350" lvl="0" marL="59664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Font typeface="Gill Sans"/>
              <a:buAutoNum type="arabicPeriod"/>
            </a:pPr>
            <a:r>
              <a:rPr lang="en-GB" sz="2400"/>
              <a:t>reporting facts regarding behavior is preferable to the collection of interpretations, ratings, and opinions based on general impressions.</a:t>
            </a:r>
            <a:endParaRPr/>
          </a:p>
          <a:p>
            <a:pPr indent="-514350" lvl="0" marL="59664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Font typeface="Gill Sans"/>
              <a:buAutoNum type="arabicPeriod"/>
            </a:pPr>
            <a:r>
              <a:rPr lang="en-GB" sz="2400"/>
              <a:t>reporting should be limited to those behaviors which, according to competent observers, make a significant contribution to the activity.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Critical Incident Analysis</a:t>
            </a:r>
            <a:endParaRPr/>
          </a:p>
        </p:txBody>
      </p:sp>
      <p:sp>
        <p:nvSpPr>
          <p:cNvPr id="328" name="Google Shape;328;p3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In the interaction design context, the use of well-planned observation sessions satisfies the first principle. 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The second principle refers to critical incidents, that is, incidents that are significant or pivotal to the activity being observed, in either a desirable or an undesirable way.</a:t>
            </a:r>
            <a:endParaRPr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Analytical Frameworks</a:t>
            </a:r>
            <a:endParaRPr/>
          </a:p>
        </p:txBody>
      </p:sp>
      <p:sp>
        <p:nvSpPr>
          <p:cNvPr id="334" name="Google Shape;334;p3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There are six different analytical frameworks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Can be used to analyze and interpret data from a qualitative study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Differ in terms of their granularity, that is, the level of detail involved.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g22855d404b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75" y="152400"/>
            <a:ext cx="850105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Conversation analysis (CA)</a:t>
            </a:r>
            <a:endParaRPr/>
          </a:p>
        </p:txBody>
      </p:sp>
      <p:sp>
        <p:nvSpPr>
          <p:cNvPr id="346" name="Google Shape;346;p3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Conversation analysis (CA) examines the semantics of a conversation in fine detail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lang="en-GB"/>
              <a:t>The focus is on how a conversation is conducted</a:t>
            </a:r>
            <a:endParaRPr/>
          </a:p>
          <a:p>
            <a:pPr indent="-145287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how conversations start and how turn-taking is structured</a:t>
            </a:r>
            <a:endParaRPr/>
          </a:p>
          <a:p>
            <a:pPr indent="-145287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used to analyze interactions in a range of settings</a:t>
            </a:r>
            <a:endParaRPr/>
          </a:p>
          <a:p>
            <a:pPr indent="-145287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has influenced designers’ understanding of users’ needs in their environments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	</a:t>
            </a:r>
            <a:endParaRPr/>
          </a:p>
        </p:txBody>
      </p:sp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can also be used to compare conversations that take place through different media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for example, face-to-face conversations versus those conducted through social media. 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More recently, it has been used to analyze the conversations that take place with voice-assisted technologies and chatbots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Voice assistants (also called smart speakers), like Amazon Echo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358" name="Google Shape;358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8644" y="1905000"/>
            <a:ext cx="557212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0"/>
          <p:cNvSpPr txBox="1"/>
          <p:nvPr/>
        </p:nvSpPr>
        <p:spPr>
          <a:xfrm>
            <a:off x="1173162" y="5486400"/>
            <a:ext cx="79430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extract of the conversation between the family and Alexa, marked up for conversation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Source: Porcheron et al. (2018), fragment 1. Reproduced with permission of ACM Publications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Discourse Analysis</a:t>
            </a:r>
            <a:endParaRPr/>
          </a:p>
        </p:txBody>
      </p:sp>
      <p:sp>
        <p:nvSpPr>
          <p:cNvPr id="365" name="Google Shape;365;p4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Discourse analysis focuses on dialogue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GB"/>
              <a:t>the meaning of what is said and how words are used to convey meaning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Discourse analysis is strongly interpretive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GB"/>
              <a:t>pays great attention to context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GB"/>
              <a:t>and views language not only as reflecting psychological and social aspects but also as constructing them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discourse analysis provides a way of focusing on how people use language to construct versions of their worlds</a:t>
            </a:r>
            <a:endParaRPr/>
          </a:p>
          <a:p>
            <a:pPr indent="-157480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underlying philosophy of discourse analysis is similar to that of ethnography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Discourse analysis is useful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when trying to identify subtle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and implicit meaning in what people are writing about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what is trending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what is fake news, and so on</a:t>
            </a:r>
            <a:endParaRPr/>
          </a:p>
        </p:txBody>
      </p:sp>
      <p:pic>
        <p:nvPicPr>
          <p:cNvPr id="372" name="Google Shape;37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5130787"/>
            <a:ext cx="7499350" cy="1092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Content Analysis</a:t>
            </a:r>
            <a:endParaRPr/>
          </a:p>
        </p:txBody>
      </p:sp>
      <p:sp>
        <p:nvSpPr>
          <p:cNvPr id="378" name="Google Shape;378;p4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Content analysis typically involves classifying the data into themes or categories and then studying the frequency of category occurrences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The technique can be used for any text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where “text” refers to a range of media including video, newspapers, advertisements, survey responses, images, sounds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It can be used to analyze any online content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including the text of tweets, links, animated gifs, videos, and images.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It considers wider context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84" name="Google Shape;384;p4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Mark Blythe and Paul Cairns (2009) analyzed 100 videos from a YouTube search by relevance for “iPhone 3G” using content analysis. 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They categorized the videos into seven categories: 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review, reportage, “unboxing,” demonstration, satire, advertisement, and vlog commentaries (such as, complaints about queues)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Interaction Analysis</a:t>
            </a:r>
            <a:endParaRPr/>
          </a:p>
        </p:txBody>
      </p:sp>
      <p:sp>
        <p:nvSpPr>
          <p:cNvPr id="390" name="Google Shape;390;p4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Interaction analysis is a way of investigating and understanding the interactions of human beings with each other and objects in their environment.</a:t>
            </a:r>
            <a:endParaRPr/>
          </a:p>
          <a:p>
            <a:pPr indent="-157480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It is based on video recordings</a:t>
            </a:r>
            <a:endParaRPr/>
          </a:p>
          <a:p>
            <a:pPr indent="-157480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This technique focuses on both talk and nonverbal interactions with artifacts and technologies</a:t>
            </a:r>
            <a:endParaRPr/>
          </a:p>
          <a:p>
            <a:pPr indent="-157480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Interaction analysis is an inductive process</a:t>
            </a:r>
            <a:endParaRPr/>
          </a:p>
          <a:p>
            <a:pPr indent="-157480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interaction analysis is conducted collaboratively by a team of researchers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Anna Xambo et al.’s (2013) study of how groups of musicians improvise and learn to play together when using a novel collaborative tabletop technology. </a:t>
            </a:r>
            <a:endParaRPr/>
          </a:p>
          <a:p>
            <a:pPr indent="-457199" lvl="2" marL="1115568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Video data was collected</a:t>
            </a:r>
            <a:endParaRPr/>
          </a:p>
          <a:p>
            <a:pPr indent="-457199" lvl="2" marL="1115568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Representative video extracts were repeatedly viewed and discussed by a team of researchers</a:t>
            </a:r>
            <a:endParaRPr/>
          </a:p>
          <a:p>
            <a:pPr indent="-457199" lvl="2" marL="1115568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These themes were categorized into whether they were musical, physical, or interface-related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Grounded Theory</a:t>
            </a:r>
            <a:endParaRPr/>
          </a:p>
        </p:txBody>
      </p:sp>
      <p:sp>
        <p:nvSpPr>
          <p:cNvPr id="402" name="Google Shape;402;p4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The goal of grounded theory is to develop theory from a systematic analysis and interpretation of empirical data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lang="en-GB"/>
              <a:t>that is, the derived theory is grounded in the data</a:t>
            </a:r>
            <a:endParaRPr/>
          </a:p>
          <a:p>
            <a:pPr indent="0" lvl="2" marL="603504" rtl="0" algn="just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It is an inductive approach to developing theory</a:t>
            </a:r>
            <a:endParaRPr/>
          </a:p>
          <a:p>
            <a:pPr indent="-145287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Theory is: “a set of well-developed concepts related through statements of relationship, which together constitute an integrated framework that can be used to explain or predict phenomena”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Steps</a:t>
            </a:r>
            <a:endParaRPr/>
          </a:p>
        </p:txBody>
      </p:sp>
      <p:sp>
        <p:nvSpPr>
          <p:cNvPr id="408" name="Google Shape;408;p4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first data is collected and analyzed to identify themes (coding)</a:t>
            </a:r>
            <a:endParaRPr/>
          </a:p>
          <a:p>
            <a:pPr indent="-514350" lvl="0" marL="59664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then that analysis may lead to further data collection and analysis </a:t>
            </a:r>
            <a:endParaRPr/>
          </a:p>
          <a:p>
            <a:pPr indent="-514350" lvl="0" marL="59664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refine the themes, and so on</a:t>
            </a:r>
            <a:endParaRPr/>
          </a:p>
          <a:p>
            <a:pPr indent="-351790" lvl="0" marL="59664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This approach continues until no new insights emerge and the theory is well-developed.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Coding </a:t>
            </a:r>
            <a:endParaRPr/>
          </a:p>
        </p:txBody>
      </p:sp>
      <p:sp>
        <p:nvSpPr>
          <p:cNvPr id="414" name="Google Shape;414;p4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b="1" lang="en-GB"/>
              <a:t>Open coding </a:t>
            </a:r>
            <a:r>
              <a:rPr lang="en-GB"/>
              <a:t>is the process through which categories, their properties, and dimensions are discovered in the data. </a:t>
            </a:r>
            <a:endParaRPr/>
          </a:p>
          <a:p>
            <a:pPr indent="-133096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lang="en-GB"/>
              <a:t>Axial coding </a:t>
            </a:r>
            <a:r>
              <a:rPr lang="en-GB"/>
              <a:t>is the process of systematically fleshing out categories and relating them to their subcategories. </a:t>
            </a:r>
            <a:endParaRPr/>
          </a:p>
          <a:p>
            <a:pPr indent="-133096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lang="en-GB"/>
              <a:t>Selective coding </a:t>
            </a:r>
            <a:r>
              <a:rPr lang="en-GB"/>
              <a:t>is the process of refining and integrating categories to form a larger theoretical scheme.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System Based Framework</a:t>
            </a:r>
            <a:endParaRPr/>
          </a:p>
        </p:txBody>
      </p:sp>
      <p:sp>
        <p:nvSpPr>
          <p:cNvPr id="420" name="Google Shape;420;p5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For large projects where the researcher is interested in investigating 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how a new technology should best be introduced 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GB"/>
              <a:t>and what its impact is afterward</a:t>
            </a:r>
            <a:endParaRPr/>
          </a:p>
          <a:p>
            <a:pPr indent="0" lvl="2" marL="6583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It is necessary to analyze many sources of data collected over a long period of time.</a:t>
            </a:r>
            <a:endParaRPr/>
          </a:p>
          <a:p>
            <a:pPr indent="-133096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Two such frameworks are introduced next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Socio-technical systems theory 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Distributed Cognition of Teamwork framework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Socio-technical Systems Theory</a:t>
            </a:r>
            <a:endParaRPr/>
          </a:p>
        </p:txBody>
      </p:sp>
      <p:sp>
        <p:nvSpPr>
          <p:cNvPr id="426" name="Google Shape;426;p5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Socio-technical systems (STS) theory makes explicit the fact that the technology and the people in a work system are interdependent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GB"/>
              <a:t>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There five significant and enduring aspects of STS theory 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Task interdependencies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Socio-technical systems are “open systems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Heterogeneity of system components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Practical contributions</a:t>
            </a:r>
            <a:endParaRPr/>
          </a:p>
          <a:p>
            <a:pPr indent="-457199" lvl="2" marL="1115568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GB"/>
              <a:t>Fragmentation of design processes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Distributed Cognition of Teamwork</a:t>
            </a:r>
            <a:endParaRPr/>
          </a:p>
        </p:txBody>
      </p:sp>
      <p:sp>
        <p:nvSpPr>
          <p:cNvPr id="432" name="Google Shape;432;p5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“Cognitive Aspects,” as an approach to studying the nature of cognitive phenomena across individuals, artifacts, and internal and external representations.</a:t>
            </a:r>
            <a:endParaRPr/>
          </a:p>
          <a:p>
            <a:pPr indent="-133096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Investigating how information is propagated through different media is a key goal of this approach</a:t>
            </a:r>
            <a:endParaRPr/>
          </a:p>
          <a:p>
            <a:pPr indent="-133096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GB"/>
              <a:t>While distributed cognition provides a good theoretical framework for analyzing systems, it can be difficult to apply in practice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Models of DiCoT</a:t>
            </a:r>
            <a:endParaRPr/>
          </a:p>
        </p:txBody>
      </p:sp>
      <p:sp>
        <p:nvSpPr>
          <p:cNvPr id="438" name="Google Shape;438;p5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Information Flow Model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Physical Model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Artifact Model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Social Structure Model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System Evolution Model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Which Kind of Analytic Framework to Use?</a:t>
            </a:r>
            <a:endParaRPr/>
          </a:p>
        </p:txBody>
      </p:sp>
      <p:pic>
        <p:nvPicPr>
          <p:cNvPr id="444" name="Google Shape;444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693" y="1570633"/>
            <a:ext cx="5432707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4"/>
          <p:cNvSpPr txBox="1"/>
          <p:nvPr/>
        </p:nvSpPr>
        <p:spPr>
          <a:xfrm>
            <a:off x="2209800" y="6477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Overview of analytical frameworks used in interaction Design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Tools to Support Data Analysis</a:t>
            </a:r>
            <a:endParaRPr/>
          </a:p>
        </p:txBody>
      </p:sp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Nvivo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Nvivo supports the annotation and coding of data including PDF documents, photos, and video and audio files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Dedoose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Statistical Analysis Software (SAS) and Statistical Package for the Social Sciences (SPSS)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are popular quantitative analysis packages that support the use of statistical tests.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GB"/>
              <a:t>Interpreting and Presenting the Findings</a:t>
            </a:r>
            <a:endParaRPr/>
          </a:p>
        </p:txBody>
      </p:sp>
      <p:sp>
        <p:nvSpPr>
          <p:cNvPr id="457" name="Google Shape;457;p5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2018-08-15T12:40:21Z</dcterms:created>
  <dc:creator>adnan</dc:creator>
</cp:coreProperties>
</file>