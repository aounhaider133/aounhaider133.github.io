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y="6858000" cx="9144000"/>
  <p:notesSz cx="6799250" cy="9929800"/>
  <p:embeddedFontLst>
    <p:embeddedFont>
      <p:font typeface="Gill Sans"/>
      <p:regular r:id="rId79"/>
      <p:bold r:id="rId8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81" roundtripDataSignature="AMtx7mhd7flSLKB92+7HmJX4J3UUBTnQ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GillSans-bold.fntdata"/><Relationship Id="rId81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GillSans-regular.fntdata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51342" y="0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32b2701d2_0_5:notes"/>
          <p:cNvSpPr/>
          <p:nvPr>
            <p:ph idx="2" type="sldImg"/>
          </p:nvPr>
        </p:nvSpPr>
        <p:spPr>
          <a:xfrm>
            <a:off x="917575" y="744538"/>
            <a:ext cx="49641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32b2701d2_0_5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2132b2701d2_0_5:notes"/>
          <p:cNvSpPr txBox="1"/>
          <p:nvPr>
            <p:ph idx="12" type="sldNum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3:notes"/>
          <p:cNvSpPr txBox="1"/>
          <p:nvPr>
            <p:ph idx="12" type="sldNum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32b2701d2_0_13:notes"/>
          <p:cNvSpPr/>
          <p:nvPr>
            <p:ph idx="2" type="sldImg"/>
          </p:nvPr>
        </p:nvSpPr>
        <p:spPr>
          <a:xfrm>
            <a:off x="917575" y="744538"/>
            <a:ext cx="4964100" cy="372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132b2701d2_0_13:notes"/>
          <p:cNvSpPr txBox="1"/>
          <p:nvPr>
            <p:ph idx="1" type="body"/>
          </p:nvPr>
        </p:nvSpPr>
        <p:spPr>
          <a:xfrm>
            <a:off x="679927" y="4716661"/>
            <a:ext cx="5439300" cy="4468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2132b2701d2_0_13:notes"/>
          <p:cNvSpPr txBox="1"/>
          <p:nvPr>
            <p:ph idx="12" type="sldNum"/>
          </p:nvPr>
        </p:nvSpPr>
        <p:spPr>
          <a:xfrm>
            <a:off x="3851342" y="9431599"/>
            <a:ext cx="2946300" cy="496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4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5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5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5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5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5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6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6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2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62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63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4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4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5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65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6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66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7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7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8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68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9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9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0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70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1:notes"/>
          <p:cNvSpPr txBox="1"/>
          <p:nvPr>
            <p:ph idx="1" type="body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71:notes"/>
          <p:cNvSpPr/>
          <p:nvPr>
            <p:ph idx="2" type="sldImg"/>
          </p:nvPr>
        </p:nvSpPr>
        <p:spPr>
          <a:xfrm>
            <a:off x="917575" y="744538"/>
            <a:ext cx="4964113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3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3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7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73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73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7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5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75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5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7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75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7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75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6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6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76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7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7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7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77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77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77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7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8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9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7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79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0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80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80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8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1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8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81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81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5" name="Google Shape;85;p81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1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1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82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8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8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3"/>
          <p:cNvSpPr txBox="1"/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83"/>
          <p:cNvSpPr txBox="1"/>
          <p:nvPr>
            <p:ph idx="1" type="body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8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8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8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72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72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72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7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7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7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7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7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72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sara.muneeb@cuilahore.edu.pk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4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1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jpg"/><Relationship Id="rId4" Type="http://schemas.openxmlformats.org/officeDocument/2006/relationships/image" Target="../media/image4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7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Relationship Id="rId4" Type="http://schemas.openxmlformats.org/officeDocument/2006/relationships/image" Target="../media/image5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1.png"/><Relationship Id="rId4" Type="http://schemas.openxmlformats.org/officeDocument/2006/relationships/image" Target="../media/image7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4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6.png"/><Relationship Id="rId4" Type="http://schemas.openxmlformats.org/officeDocument/2006/relationships/image" Target="../media/image7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1.png"/><Relationship Id="rId4" Type="http://schemas.openxmlformats.org/officeDocument/2006/relationships/image" Target="../media/image6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8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7.gif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png"/><Relationship Id="rId4" Type="http://schemas.openxmlformats.org/officeDocument/2006/relationships/image" Target="../media/image69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5.png"/><Relationship Id="rId4" Type="http://schemas.openxmlformats.org/officeDocument/2006/relationships/image" Target="../media/image5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3.png"/><Relationship Id="rId4" Type="http://schemas.openxmlformats.org/officeDocument/2006/relationships/image" Target="../media/image6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2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Cognitive Aspects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432560" y="3733800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80"/>
              <a:buNone/>
            </a:pPr>
            <a:r>
              <a:rPr lang="en-US"/>
              <a:t>Sara Muneeb</a:t>
            </a:r>
            <a:endParaRPr/>
          </a:p>
          <a:p>
            <a:pPr indent="0" lvl="0" marL="2743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sara.muneeb@cuilahore.edu.pk</a:t>
            </a:r>
            <a:endParaRPr/>
          </a:p>
          <a:p>
            <a:pPr indent="0" lvl="0" marL="2743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US"/>
              <a:t>Computer Science Department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What is Cognition?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3000"/>
              <a:t>The mental action or process of acquiring knowledge and understanding through thought, experience, and the senses.</a:t>
            </a:r>
            <a:endParaRPr sz="3000"/>
          </a:p>
        </p:txBody>
      </p:sp>
      <p:pic>
        <p:nvPicPr>
          <p:cNvPr descr="What Is Cognition?"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584" y="3200400"/>
            <a:ext cx="5321808" cy="3547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Experimental Cognition 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Experimental Cognition is a state of mind where people perceive, act, and react to events around them intuitively and effortlessly. It requires reaching a certain level of expertise and engagement.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Examples include driving a car, reading a book, having a conversation, and watching a video. 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1,998 Teenager Driving Illustrations &amp; Clip Art - iStock"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3713797"/>
            <a:ext cx="360045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Reflective Cognition 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/>
              <a:t>Reflective Cognition involves mental effort, attention, judgment, and decision-making, which can lead to new ideas and creativity.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Examples include designing, learning, and writing a report.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285749" lvl="2" marL="889253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Fast Thinking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	5*7 = ?</a:t>
            </a:r>
            <a:endParaRPr/>
          </a:p>
          <a:p>
            <a:pPr indent="-285749" lvl="2" marL="889253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Slow Thinking</a:t>
            </a:r>
            <a:endParaRPr/>
          </a:p>
          <a:p>
            <a:pPr indent="0" lvl="2" marL="603504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/>
              <a:t>	29*35 = ?</a:t>
            </a:r>
            <a:endParaRPr sz="1800"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b="8798" l="0" r="0" t="0"/>
          <a:stretch/>
        </p:blipFill>
        <p:spPr>
          <a:xfrm>
            <a:off x="5715000" y="3627120"/>
            <a:ext cx="2715768" cy="2671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Attention 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1435608" y="1447800"/>
            <a:ext cx="71749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Attention is central to everyday life.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The extent to which this process is easy or difficult depends on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AutoNum type="arabicPeriod"/>
            </a:pPr>
            <a:r>
              <a:rPr lang="en-US" sz="2800"/>
              <a:t>whether someone has clear goals and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AutoNum type="arabicPeriod"/>
            </a:pPr>
            <a:r>
              <a:rPr lang="en-US" sz="2800"/>
              <a:t>whether the information they need is salient in the environment.</a:t>
            </a:r>
            <a:endParaRPr sz="2800"/>
          </a:p>
        </p:txBody>
      </p:sp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/>
          </a:blip>
          <a:srcRect b="8527" l="0" r="0" t="0"/>
          <a:stretch/>
        </p:blipFill>
        <p:spPr>
          <a:xfrm>
            <a:off x="6930771" y="4795864"/>
            <a:ext cx="1555241" cy="1300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Attention </a:t>
            </a:r>
            <a:endParaRPr/>
          </a:p>
        </p:txBody>
      </p:sp>
      <p:sp>
        <p:nvSpPr>
          <p:cNvPr id="139" name="Google Shape;139;p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Clear Goals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Information Presentation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Multitasking and Attention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32b2701d2_0_5"/>
          <p:cNvSpPr txBox="1"/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Information presentation</a:t>
            </a:r>
            <a:endParaRPr/>
          </a:p>
        </p:txBody>
      </p:sp>
      <p:pic>
        <p:nvPicPr>
          <p:cNvPr id="146" name="Google Shape;146;g2132b2701d2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8074" y="3334888"/>
            <a:ext cx="3414713" cy="2610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2132b2701d2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9080" y="3365830"/>
            <a:ext cx="3414713" cy="2549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Design Implication:  Attention </a:t>
            </a:r>
            <a:endParaRPr/>
          </a:p>
        </p:txBody>
      </p:sp>
      <p:sp>
        <p:nvSpPr>
          <p:cNvPr id="153" name="Google Shape;153;p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Consider context</a:t>
            </a:r>
            <a:endParaRPr/>
          </a:p>
          <a:p>
            <a:pPr indent="-169671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Make information salient when it requires attention at a given stage of a task.</a:t>
            </a:r>
            <a:endParaRPr/>
          </a:p>
          <a:p>
            <a:pPr indent="-169671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Use techniques to achieve this when designing visual interfaces.</a:t>
            </a:r>
            <a:endParaRPr/>
          </a:p>
          <a:p>
            <a:pPr indent="-169671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Avoid cluttering visual interfaces with too much information. This applies especially to the use of color and graphics.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Consider designing different ways of supporting effective switching and returning to a particular interface.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website&#10;&#10;Description automatically generated" id="159" name="Google Shape;159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973" y="1752600"/>
            <a:ext cx="7499350" cy="421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/>
          <p:nvPr/>
        </p:nvSpPr>
        <p:spPr>
          <a:xfrm>
            <a:off x="6858000" y="4191000"/>
            <a:ext cx="990600" cy="5334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7089975" y="3359700"/>
            <a:ext cx="194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login form is not where we expect it to be -&gt; more attention grabbing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application&#10;&#10;Description automatically generated" id="167" name="Google Shape;16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115" y="1981200"/>
            <a:ext cx="347741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&#10;&#10;Description automatically generated" id="168" name="Google Shape;16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9610" y="1981200"/>
            <a:ext cx="4241579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9"/>
          <p:cNvSpPr/>
          <p:nvPr/>
        </p:nvSpPr>
        <p:spPr>
          <a:xfrm>
            <a:off x="6172199" y="2057400"/>
            <a:ext cx="1676400" cy="228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5538600" y="1149900"/>
            <a:ext cx="3320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Status msg is not in the periphery of where task was being done.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text, application&#10;&#10;Description automatically generated" id="176" name="Google Shape;17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800" y="1417638"/>
            <a:ext cx="3410806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6974000" y="1710875"/>
            <a:ext cx="198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error msg should be at the place where error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occurred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not at the bottom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application, Teams&#10;&#10;Description automatically generated" id="183" name="Google Shape;18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2351648"/>
            <a:ext cx="7499350" cy="299290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1"/>
          <p:cNvSpPr txBox="1"/>
          <p:nvPr/>
        </p:nvSpPr>
        <p:spPr>
          <a:xfrm>
            <a:off x="2856300" y="1565875"/>
            <a:ext cx="423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msg should ne next to the item being deleted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Perception </a:t>
            </a: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1435608" y="1447800"/>
            <a:ext cx="72511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82296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Perception refers to how information is acquired from the environment via the five senses and are transformed into experiences of objects, events, sounds, and tastes (Roth, 1986).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 sz="2400"/>
              <a:t>Additional sense of </a:t>
            </a:r>
            <a:r>
              <a:rPr b="1" lang="en-US" sz="2400"/>
              <a:t>kinaesthesia</a:t>
            </a:r>
            <a:r>
              <a:rPr lang="en-US" sz="2400"/>
              <a:t>,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 sz="2400"/>
              <a:t>relates to the awareness of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 sz="2400"/>
              <a:t>the position and movement of the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 sz="2400"/>
              <a:t>parts of the body through internal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 sz="2400"/>
              <a:t>sensory organs.</a:t>
            </a:r>
            <a:endParaRPr b="1" sz="2400"/>
          </a:p>
        </p:txBody>
      </p:sp>
      <p:pic>
        <p:nvPicPr>
          <p:cNvPr descr="Cognition and Perception in HCI. My key takeaways from the IDF's lessons… |  by Avi Mair | Medium" id="191" name="Google Shape;19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3382962"/>
            <a:ext cx="32004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Perceptual Store</a:t>
            </a:r>
            <a:endParaRPr/>
          </a:p>
        </p:txBody>
      </p:sp>
      <p:pic>
        <p:nvPicPr>
          <p:cNvPr id="198" name="Google Shape;198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1703836"/>
            <a:ext cx="7499350" cy="4288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04" name="Google Shape;204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7038" y="1670507"/>
            <a:ext cx="7930762" cy="404449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4"/>
          <p:cNvSpPr txBox="1"/>
          <p:nvPr/>
        </p:nvSpPr>
        <p:spPr>
          <a:xfrm>
            <a:off x="1040382" y="5867400"/>
            <a:ext cx="58176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Expertise or rehearsal delays the decay of perceptual buffer.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Design Implication: Perception </a:t>
            </a:r>
            <a:endParaRPr/>
          </a:p>
        </p:txBody>
      </p:sp>
      <p:sp>
        <p:nvSpPr>
          <p:cNvPr id="211" name="Google Shape;211;p1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Representations of information need to be designed to be perceptible and recognizable across different media. </a:t>
            </a:r>
            <a:endParaRPr/>
          </a:p>
          <a:p>
            <a:pPr indent="-1717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Design icons and other graphical representations.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Obvious separators and white space</a:t>
            </a:r>
            <a:endParaRPr/>
          </a:p>
          <a:p>
            <a:pPr indent="-1717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Design clearly distinguishable audio sounds for events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Research proper color contrast</a:t>
            </a:r>
            <a:endParaRPr/>
          </a:p>
          <a:p>
            <a:pPr indent="-1717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None/>
            </a:pPr>
            <a:r>
              <a:t/>
            </a:r>
            <a:endParaRPr sz="22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60"/>
              <a:buChar char="⚫"/>
            </a:pPr>
            <a:r>
              <a:rPr lang="en-US" sz="2200"/>
              <a:t>Haptic feedback should be used judiciously. </a:t>
            </a:r>
            <a:endParaRPr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Examples</a:t>
            </a:r>
            <a:endParaRPr/>
          </a:p>
        </p:txBody>
      </p:sp>
      <p:pic>
        <p:nvPicPr>
          <p:cNvPr id="217" name="Google Shape;217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52087" y="1542625"/>
            <a:ext cx="5381700" cy="45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6"/>
          <p:cNvSpPr txBox="1"/>
          <p:nvPr/>
        </p:nvSpPr>
        <p:spPr>
          <a:xfrm>
            <a:off x="304500" y="2000850"/>
            <a:ext cx="262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Gill Sans"/>
                <a:ea typeface="Gill Sans"/>
                <a:cs typeface="Gill Sans"/>
                <a:sym typeface="Gill Sans"/>
              </a:rPr>
              <a:t>A study found that people took less time to locate info that was grouped by borders as compared to info that was grouped by color contrast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&#10;&#10;Description automatically generated" id="224" name="Google Shape;224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1110" l="17151" r="16710" t="11111"/>
          <a:stretch/>
        </p:blipFill>
        <p:spPr>
          <a:xfrm>
            <a:off x="2133600" y="1981200"/>
            <a:ext cx="6019800" cy="4719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text, application, email&#10;&#10;Description automatically generated" id="230" name="Google Shape;230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1417638"/>
            <a:ext cx="1906858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&#10;&#10;Description automatically generated with medium confidence" id="231" name="Google Shape;2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4544" y="1417638"/>
            <a:ext cx="2644337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text, application, email&#10;&#10;Description automatically generated" id="237" name="Google Shape;23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586" l="1812" r="0" t="0"/>
          <a:stretch/>
        </p:blipFill>
        <p:spPr>
          <a:xfrm>
            <a:off x="1105096" y="2320167"/>
            <a:ext cx="4079552" cy="3542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phical user interface, text, application, email&#10;&#10;Description automatically generated" id="238" name="Google Shape;2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534" y="2286000"/>
            <a:ext cx="3542154" cy="3610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A picture containing text, black, microwave, silver&#10;&#10;Description automatically generated" id="244" name="Google Shape;244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3679" l="4936" r="0" t="0"/>
          <a:stretch/>
        </p:blipFill>
        <p:spPr>
          <a:xfrm>
            <a:off x="1219200" y="2209800"/>
            <a:ext cx="2934935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ext, electronics, black&#10;&#10;Description automatically generated" id="245" name="Google Shape;24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8088" y="2209800"/>
            <a:ext cx="41656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 txBox="1"/>
          <p:nvPr/>
        </p:nvSpPr>
        <p:spPr>
          <a:xfrm>
            <a:off x="2117559" y="5638800"/>
            <a:ext cx="9829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Samsung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6534961" y="5530334"/>
            <a:ext cx="7040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Haier</a:t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Memory</a:t>
            </a:r>
            <a:endParaRPr/>
          </a:p>
        </p:txBody>
      </p:sp>
      <p:sp>
        <p:nvSpPr>
          <p:cNvPr id="253" name="Google Shape;253;p21"/>
          <p:cNvSpPr txBox="1"/>
          <p:nvPr>
            <p:ph idx="1" type="body"/>
          </p:nvPr>
        </p:nvSpPr>
        <p:spPr>
          <a:xfrm>
            <a:off x="1435608" y="1447800"/>
            <a:ext cx="74035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Memory involves recalling various kinds of knowledge that allow people to act appropriately.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Initially, encoding takes place, determining  which information is paid attention to in the environment and how it is interpreted.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>
              <a:solidFill>
                <a:srgbClr val="425519"/>
              </a:solidFill>
            </a:endParaRPr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solidFill>
                  <a:srgbClr val="425519"/>
                </a:solidFill>
              </a:rPr>
              <a:t>Recognition is better than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solidFill>
                  <a:srgbClr val="425519"/>
                </a:solidFill>
              </a:rPr>
              <a:t>Recall.</a:t>
            </a:r>
            <a:endParaRPr sz="2400">
              <a:solidFill>
                <a:srgbClr val="425519"/>
              </a:solidFill>
            </a:endParaRPr>
          </a:p>
        </p:txBody>
      </p:sp>
      <p:pic>
        <p:nvPicPr>
          <p:cNvPr descr="The Role of Memory in HCI. My key takeaways from the IDF's lessons… | by  Avi Mair | Medium" id="254" name="Google Shape;2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7984" y="4049712"/>
            <a:ext cx="3812102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9906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Memory</a:t>
            </a:r>
            <a:endParaRPr/>
          </a:p>
        </p:txBody>
      </p:sp>
      <p:sp>
        <p:nvSpPr>
          <p:cNvPr id="260" name="Google Shape;260;p2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i="0" lang="en-US" sz="2400">
                <a:latin typeface="arial"/>
                <a:ea typeface="arial"/>
                <a:cs typeface="arial"/>
                <a:sym typeface="arial"/>
              </a:rPr>
              <a:t>Short-term memory </a:t>
            </a:r>
            <a:r>
              <a:rPr i="0" lang="en-US" sz="2400">
                <a:latin typeface="arial"/>
                <a:ea typeface="arial"/>
                <a:cs typeface="arial"/>
                <a:sym typeface="arial"/>
              </a:rPr>
              <a:t>is the capacity to store a small amount of information in mind and keep it available for a short time.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b="1" i="0" lang="en-US" sz="2400">
                <a:latin typeface="arial"/>
                <a:ea typeface="arial"/>
                <a:cs typeface="arial"/>
                <a:sym typeface="arial"/>
              </a:rPr>
              <a:t>Long-term memory </a:t>
            </a:r>
            <a:r>
              <a:rPr i="0" lang="en-US" sz="2400">
                <a:latin typeface="arial"/>
                <a:ea typeface="arial"/>
                <a:cs typeface="arial"/>
                <a:sym typeface="arial"/>
              </a:rPr>
              <a:t>refers to unlimited storage information to be maintained for long periods, even for life.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</p:txBody>
      </p:sp>
      <p:pic>
        <p:nvPicPr>
          <p:cNvPr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6310" y="4181475"/>
            <a:ext cx="641667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82296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/>
              <a:t>Personal Information Management</a:t>
            </a:r>
            <a:endParaRPr/>
          </a:p>
        </p:txBody>
      </p:sp>
      <p:sp>
        <p:nvSpPr>
          <p:cNvPr id="267" name="Google Shape;267;p2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PIM </a:t>
            </a:r>
            <a:r>
              <a:rPr b="0" i="0" lang="en-US" sz="2400">
                <a:latin typeface="arial"/>
                <a:ea typeface="arial"/>
                <a:cs typeface="arial"/>
                <a:sym typeface="arial"/>
              </a:rPr>
              <a:t>concerns how people organize and maintain personal information collections, and methods that can help people in doing so.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2400">
              <a:latin typeface="arial"/>
              <a:ea typeface="arial"/>
              <a:cs typeface="arial"/>
              <a:sym typeface="arial"/>
            </a:endParaRPr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2400">
              <a:latin typeface="arial"/>
              <a:ea typeface="arial"/>
              <a:cs typeface="arial"/>
              <a:sym typeface="arial"/>
            </a:endParaRPr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Steve Whittaker, 2016 Model of PIM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Gill Sans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How to decide what personal information to keep?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Gill Sans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How to organize that information when sorting it?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Gill Sans"/>
              <a:buAutoNum type="arabicPeriod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Which strategies to use to retrieve it later</a:t>
            </a:r>
            <a:endParaRPr sz="1800"/>
          </a:p>
        </p:txBody>
      </p:sp>
      <p:pic>
        <p:nvPicPr>
          <p:cNvPr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875" y="4352925"/>
            <a:ext cx="2524125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74" name="Google Shape;2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873" y="1905000"/>
            <a:ext cx="706755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text, application&#10;&#10;Description automatically generated" id="280" name="Google Shape;28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0593" y="1293135"/>
            <a:ext cx="2443630" cy="5290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video game&#10;&#10;Description automatically generated with medium confidence" id="281" name="Google Shape;28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1592" y="1304459"/>
            <a:ext cx="2438400" cy="5278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Memory Load and Password</a:t>
            </a:r>
            <a:endParaRPr/>
          </a:p>
        </p:txBody>
      </p:sp>
      <p:sp>
        <p:nvSpPr>
          <p:cNvPr id="287" name="Google Shape;287;p2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Remembering small chunks of information that do not require frequent recall.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288" name="Google Shape;2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623" y="2819400"/>
            <a:ext cx="5734050" cy="3087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Memory Activity </a:t>
            </a:r>
            <a:endParaRPr/>
          </a:p>
        </p:txBody>
      </p:sp>
      <p:pic>
        <p:nvPicPr>
          <p:cNvPr id="294" name="Google Shape;294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209800"/>
            <a:ext cx="6572250" cy="36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Memory Activity </a:t>
            </a:r>
            <a:endParaRPr/>
          </a:p>
        </p:txBody>
      </p:sp>
      <p:pic>
        <p:nvPicPr>
          <p:cNvPr descr="A close up of text on a white background&#10;&#10;Description automatically generated" id="300" name="Google Shape;300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7609" y="1600200"/>
            <a:ext cx="4774077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Memory Activity</a:t>
            </a:r>
            <a:endParaRPr/>
          </a:p>
        </p:txBody>
      </p:sp>
      <p:pic>
        <p:nvPicPr>
          <p:cNvPr descr="A close up of a piece of paper&#10;&#10;Description automatically generated" id="306" name="Google Shape;30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5307" y="1447800"/>
            <a:ext cx="4778936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pic>
        <p:nvPicPr>
          <p:cNvPr id="312" name="Google Shape;312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1981200"/>
            <a:ext cx="6267450" cy="3474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/>
              <a:t>Short-Term Memory and Recognition</a:t>
            </a:r>
            <a:endParaRPr/>
          </a:p>
        </p:txBody>
      </p:sp>
      <p:pic>
        <p:nvPicPr>
          <p:cNvPr id="318" name="Google Shape;318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286000"/>
            <a:ext cx="6724650" cy="3494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Solution</a:t>
            </a:r>
            <a:endParaRPr/>
          </a:p>
        </p:txBody>
      </p:sp>
      <p:pic>
        <p:nvPicPr>
          <p:cNvPr id="324" name="Google Shape;324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2286000"/>
            <a:ext cx="6508750" cy="3243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Short-Term Memory Takeaways</a:t>
            </a:r>
            <a:endParaRPr/>
          </a:p>
        </p:txBody>
      </p:sp>
      <p:pic>
        <p:nvPicPr>
          <p:cNvPr id="330" name="Google Shape;330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4014" y="2831182"/>
            <a:ext cx="4050289" cy="797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4038600"/>
            <a:ext cx="3695989" cy="732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Short-Term Memory Takeaways</a:t>
            </a:r>
            <a:endParaRPr/>
          </a:p>
        </p:txBody>
      </p:sp>
      <p:pic>
        <p:nvPicPr>
          <p:cNvPr id="337" name="Google Shape;337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2590800"/>
            <a:ext cx="3429000" cy="2435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132b2701d2_0_13"/>
          <p:cNvSpPr txBox="1"/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Memory: Design Implications</a:t>
            </a:r>
            <a:endParaRPr/>
          </a:p>
        </p:txBody>
      </p:sp>
      <p:sp>
        <p:nvSpPr>
          <p:cNvPr id="344" name="Google Shape;344;g2132b2701d2_0_13"/>
          <p:cNvSpPr txBox="1"/>
          <p:nvPr>
            <p:ph idx="1" type="body"/>
          </p:nvPr>
        </p:nvSpPr>
        <p:spPr>
          <a:xfrm>
            <a:off x="1435608" y="1447800"/>
            <a:ext cx="74982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spcBef>
                <a:spcPts val="600"/>
              </a:spcBef>
              <a:spcAft>
                <a:spcPts val="0"/>
              </a:spcAft>
              <a:buSzPts val="1440"/>
              <a:buChar char="⚫"/>
            </a:pPr>
            <a:r>
              <a:rPr lang="en-US"/>
              <a:t>Avoid long and complicated procedures for carrying out tasks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⚫"/>
            </a:pPr>
            <a:r>
              <a:rPr lang="en-US"/>
              <a:t>Promote recognition rather than recall by using familiar interaction patterns, menus, icons and objects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⚫"/>
            </a:pPr>
            <a:r>
              <a:rPr lang="en-US"/>
              <a:t>Provide variety of ways of labelling information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erus - /SLASH/" id="349" name="Google Shape;3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2789" y="2843212"/>
            <a:ext cx="3010899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Learning </a:t>
            </a:r>
            <a:endParaRPr/>
          </a:p>
        </p:txBody>
      </p:sp>
      <p:sp>
        <p:nvSpPr>
          <p:cNvPr id="351" name="Google Shape;351;p3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It involves the accumulation of skills and knowledge that would be impossible to achieve without memory.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AutoNum type="arabicPeriod"/>
            </a:pPr>
            <a:r>
              <a:rPr lang="en-US" sz="2800"/>
              <a:t>Incidental Learning</a:t>
            </a:r>
            <a:endParaRPr/>
          </a:p>
          <a:p>
            <a:pPr indent="0" lvl="1" marL="356616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occurs without any intention to learn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AutoNum type="arabicPeriod"/>
            </a:pPr>
            <a:r>
              <a:rPr lang="en-US" sz="2800"/>
              <a:t>Intentional Learning</a:t>
            </a:r>
            <a:endParaRPr/>
          </a:p>
          <a:p>
            <a:pPr indent="0" lvl="1" marL="356616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is goal-directed with the goal of being able to remember it</a:t>
            </a:r>
            <a:endParaRPr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Design Implication : Learning </a:t>
            </a:r>
            <a:endParaRPr/>
          </a:p>
        </p:txBody>
      </p:sp>
      <p:sp>
        <p:nvSpPr>
          <p:cNvPr id="357" name="Google Shape;357;p3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Design interfaces that encourage exploration.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Design interfaces that constrain and guide users to select appropriate actions when initially learning.</a:t>
            </a:r>
            <a:endParaRPr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363" name="Google Shape;363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1962749"/>
            <a:ext cx="7499350" cy="377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website&#10;&#10;Description automatically generated" id="369" name="Google Shape;369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2133600"/>
            <a:ext cx="6191250" cy="3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Reading, Speaking and Listening</a:t>
            </a:r>
            <a:endParaRPr/>
          </a:p>
        </p:txBody>
      </p:sp>
      <p:sp>
        <p:nvSpPr>
          <p:cNvPr id="375" name="Google Shape;375;p39"/>
          <p:cNvSpPr txBox="1"/>
          <p:nvPr>
            <p:ph idx="1" type="body"/>
          </p:nvPr>
        </p:nvSpPr>
        <p:spPr>
          <a:xfrm>
            <a:off x="1435608" y="1447800"/>
            <a:ext cx="7498080" cy="47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Reading, speaking, and listening are three forms of language processing that have some similar and some different properties.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Written language is permanent while listening is transient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Written language tends to be grammatical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Reading can be quicker than speaking or listening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Listening requires less cognitive effort than reading or speaking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 sz="2600"/>
          </a:p>
        </p:txBody>
      </p:sp>
      <p:pic>
        <p:nvPicPr>
          <p:cNvPr descr="The Four Essential Language Skills LSRW" id="376" name="Google Shape;3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5410200"/>
            <a:ext cx="4797552" cy="138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Design Implications : R,S &amp; L</a:t>
            </a:r>
            <a:endParaRPr/>
          </a:p>
        </p:txBody>
      </p:sp>
      <p:sp>
        <p:nvSpPr>
          <p:cNvPr id="382" name="Google Shape;382;p4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Keep the length of speech-based menus and instructions to a minimum. 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Accentuate the intonation of artificially generated speech voices, as they are harder to understand than human voices.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Provide opportunities for making text large on a screen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/>
              <a:t>Problem Solving, Planning, Reasoning and Decision Making</a:t>
            </a:r>
            <a:endParaRPr/>
          </a:p>
        </p:txBody>
      </p:sp>
      <p:sp>
        <p:nvSpPr>
          <p:cNvPr id="388" name="Google Shape;388;p4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Problem-solving, planning, reasoning, and decision-making are processes involving reflective cognition.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They include thinking about what to do, what the available options are, and what the consequences might be of carrying out a given action.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This is assumed to involve exhaustively processing the information and making trade-offs between features.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This suggests that an effective design strategy is to make key information about a product highly salient.</a:t>
            </a:r>
            <a:endParaRPr sz="2400"/>
          </a:p>
        </p:txBody>
      </p:sp>
      <p:pic>
        <p:nvPicPr>
          <p:cNvPr descr="227,080 Problem solving Images, Stock Photos &amp; Vectors | Shutterstock" id="389" name="Google Shape;389;p41"/>
          <p:cNvPicPr preferRelativeResize="0"/>
          <p:nvPr/>
        </p:nvPicPr>
        <p:blipFill rotWithShape="1">
          <a:blip r:embed="rId3">
            <a:alphaModFix/>
          </a:blip>
          <a:srcRect b="15714" l="0" r="0" t="0"/>
          <a:stretch/>
        </p:blipFill>
        <p:spPr>
          <a:xfrm>
            <a:off x="3505200" y="5105400"/>
            <a:ext cx="2954465" cy="1566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/>
              <a:t>Design Implications : PS, P, R &amp; DM</a:t>
            </a:r>
            <a:endParaRPr/>
          </a:p>
        </p:txBody>
      </p:sp>
      <p:sp>
        <p:nvSpPr>
          <p:cNvPr id="395" name="Google Shape;395;p4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Provide information and help pages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Use simple and memorable functions to support rapid decision-making and planning. 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Enable users to set or save their own criteria or preferences.</a:t>
            </a:r>
            <a:endParaRPr/>
          </a:p>
          <a:p>
            <a:pPr indent="-16154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⚫"/>
            </a:pPr>
            <a:r>
              <a:rPr lang="en-US" sz="2400"/>
              <a:t>Avoid decision paralysis</a:t>
            </a:r>
            <a:endParaRPr sz="2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application&#10;&#10;Description automatically generated" id="401" name="Google Shape;401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2018079"/>
            <a:ext cx="7499350" cy="3660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descr="Graphical user interface, application, Teams&#10;&#10;Description automatically generated" id="407" name="Google Shape;407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752600"/>
            <a:ext cx="7499350" cy="41890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Representation </a:t>
            </a:r>
            <a:endParaRPr/>
          </a:p>
        </p:txBody>
      </p:sp>
      <p:pic>
        <p:nvPicPr>
          <p:cNvPr descr="A picture containing writing implement, stationary, indoor, pencil&#10;&#10;Description automatically generated" id="413" name="Google Shape;413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1879521"/>
            <a:ext cx="7499350" cy="3937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Cognitive Frameworks</a:t>
            </a:r>
            <a:endParaRPr/>
          </a:p>
        </p:txBody>
      </p:sp>
      <p:sp>
        <p:nvSpPr>
          <p:cNvPr id="419" name="Google Shape;419;p4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Mental model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Gulf of Evaluation and Execution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Information Processing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Distributed Cognition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External Cognition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Embodied Interactions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Mental Model</a:t>
            </a:r>
            <a:endParaRPr/>
          </a:p>
        </p:txBody>
      </p:sp>
      <p:sp>
        <p:nvSpPr>
          <p:cNvPr id="425" name="Google Shape;425;p4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Metal Model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An internal,  simulatable understanding of external reality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Simulated model helps you to make predictions and understands the real world around you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For example, when you bounce a ball</a:t>
            </a:r>
            <a:endParaRPr/>
          </a:p>
          <a:p>
            <a:pPr indent="0" lvl="1" marL="402336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Mental Model</a:t>
            </a:r>
            <a:endParaRPr/>
          </a:p>
        </p:txBody>
      </p:sp>
      <p:sp>
        <p:nvSpPr>
          <p:cNvPr id="431" name="Google Shape;431;p4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Make sure that user’s mental model matches the way our system work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Two ways to do this by designing systems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That act the way user expect them to act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That teach the user how they will act.</a:t>
            </a:r>
            <a:endParaRPr/>
          </a:p>
          <a:p>
            <a:pPr indent="-599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Metal Model and Education</a:t>
            </a:r>
            <a:endParaRPr/>
          </a:p>
        </p:txBody>
      </p:sp>
      <p:sp>
        <p:nvSpPr>
          <p:cNvPr id="437" name="Google Shape;437;p4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Teaching analogy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Design interface that teach user while they are using it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Good representation show the user exactly how the system actually works.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Mental Model</a:t>
            </a:r>
            <a:endParaRPr/>
          </a:p>
        </p:txBody>
      </p:sp>
      <p:sp>
        <p:nvSpPr>
          <p:cNvPr id="443" name="Google Shape;443;p5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33096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Affordance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What the user can see that a object does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Mapping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Relation between control and their effects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Constraints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The state of being checked, restricted or compelled to avoid or perform some action.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Causality 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The thing that happen right after an action is assumed by people to be caused by that action.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Affordance</a:t>
            </a:r>
            <a:endParaRPr/>
          </a:p>
        </p:txBody>
      </p:sp>
      <p:sp>
        <p:nvSpPr>
          <p:cNvPr id="449" name="Google Shape;449;p51"/>
          <p:cNvSpPr txBox="1"/>
          <p:nvPr>
            <p:ph idx="1" type="body"/>
          </p:nvPr>
        </p:nvSpPr>
        <p:spPr>
          <a:xfrm>
            <a:off x="1435608" y="1447800"/>
            <a:ext cx="42031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Perceived affordance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Types od action user perceives to be possible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Real affordance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</a:pPr>
            <a:r>
              <a:rPr lang="en-US"/>
              <a:t>Actual actionable properties of object</a:t>
            </a:r>
            <a:endParaRPr/>
          </a:p>
        </p:txBody>
      </p:sp>
      <p:pic>
        <p:nvPicPr>
          <p:cNvPr id="450" name="Google Shape;45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1457739"/>
            <a:ext cx="3198686" cy="2109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3859" y="5157984"/>
            <a:ext cx="4547414" cy="1319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Mapping</a:t>
            </a:r>
            <a:endParaRPr/>
          </a:p>
        </p:txBody>
      </p:sp>
      <p:pic>
        <p:nvPicPr>
          <p:cNvPr id="457" name="Google Shape;457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2252662"/>
            <a:ext cx="314325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2252662"/>
            <a:ext cx="2809875" cy="374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Constraints </a:t>
            </a:r>
            <a:endParaRPr/>
          </a:p>
        </p:txBody>
      </p:sp>
      <p:pic>
        <p:nvPicPr>
          <p:cNvPr id="464" name="Google Shape;464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08" y="2362200"/>
            <a:ext cx="724319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Constraints </a:t>
            </a:r>
            <a:endParaRPr/>
          </a:p>
        </p:txBody>
      </p:sp>
      <p:pic>
        <p:nvPicPr>
          <p:cNvPr id="470" name="Google Shape;470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0662" y="1676400"/>
            <a:ext cx="3667972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Causality </a:t>
            </a:r>
            <a:endParaRPr/>
          </a:p>
        </p:txBody>
      </p:sp>
      <p:pic>
        <p:nvPicPr>
          <p:cNvPr id="476" name="Google Shape;476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4312" y="2228850"/>
            <a:ext cx="7400925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Gulf of Execution and Evaluation </a:t>
            </a:r>
            <a:endParaRPr/>
          </a:p>
        </p:txBody>
      </p:sp>
      <p:sp>
        <p:nvSpPr>
          <p:cNvPr id="482" name="Google Shape;482;p56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The gulf of execution and the gulf of evaluation describe the gaps that exist between the user and the interface </a:t>
            </a:r>
            <a:r>
              <a:rPr lang="en-US" sz="2000"/>
              <a:t>(Norman, 1986; Hutchins et al., 1986)</a:t>
            </a:r>
            <a:endParaRPr sz="2800"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The gulfs are intended to show how to design the interface to enable the user to cope with them. </a:t>
            </a:r>
            <a:endParaRPr sz="2800"/>
          </a:p>
        </p:txBody>
      </p:sp>
      <p:pic>
        <p:nvPicPr>
          <p:cNvPr id="483" name="Google Shape;48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207" y="3828097"/>
            <a:ext cx="5381625" cy="27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Gulf of Execution </a:t>
            </a:r>
            <a:endParaRPr/>
          </a:p>
        </p:txBody>
      </p:sp>
      <p:pic>
        <p:nvPicPr>
          <p:cNvPr id="489" name="Google Shape;489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1507" r="0" t="0"/>
          <a:stretch/>
        </p:blipFill>
        <p:spPr>
          <a:xfrm>
            <a:off x="3048000" y="2014370"/>
            <a:ext cx="5886450" cy="3667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490" name="Google Shape;49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4648" y="2971800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Tip to bridge GoExe</a:t>
            </a:r>
            <a:endParaRPr/>
          </a:p>
        </p:txBody>
      </p:sp>
      <p:pic>
        <p:nvPicPr>
          <p:cNvPr id="496" name="Google Shape;496;p5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0530" y="1447800"/>
            <a:ext cx="498849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Gulf of Evaluation</a:t>
            </a:r>
            <a:endParaRPr/>
          </a:p>
        </p:txBody>
      </p:sp>
      <p:sp>
        <p:nvSpPr>
          <p:cNvPr id="502" name="Google Shape;502;p5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090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503" name="Google Shape;50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209800"/>
            <a:ext cx="63436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504" name="Google Shape;504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2793366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Components</a:t>
            </a:r>
            <a:endParaRPr/>
          </a:p>
        </p:txBody>
      </p:sp>
      <p:sp>
        <p:nvSpPr>
          <p:cNvPr id="510" name="Google Shape;510;p6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0903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id="511" name="Google Shape;51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7638" y="2057400"/>
            <a:ext cx="64960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512" name="Google Shape;51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5400" y="2743200"/>
            <a:ext cx="2007234" cy="2007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Tips to Bridge GoEva</a:t>
            </a:r>
            <a:endParaRPr/>
          </a:p>
        </p:txBody>
      </p:sp>
      <p:pic>
        <p:nvPicPr>
          <p:cNvPr id="518" name="Google Shape;518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5729" y="1447800"/>
            <a:ext cx="5078091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524" name="Google Shape;524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08" y="1453198"/>
            <a:ext cx="7258050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6968" y="5334000"/>
            <a:ext cx="7186690" cy="819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Feed Back is IMP!!!</a:t>
            </a:r>
            <a:endParaRPr/>
          </a:p>
        </p:txBody>
      </p:sp>
      <p:pic>
        <p:nvPicPr>
          <p:cNvPr id="531" name="Google Shape;531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600" y="1600200"/>
            <a:ext cx="3435429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Information Processing </a:t>
            </a:r>
            <a:endParaRPr/>
          </a:p>
        </p:txBody>
      </p:sp>
      <p:sp>
        <p:nvSpPr>
          <p:cNvPr id="537" name="Google Shape;537;p6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The information processing model provides a basis from which to make predictions about human performance.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Hypotheses can be made about how long someone will take to perceive and respond to a stimulus (also known as reaction time). </a:t>
            </a:r>
            <a:endParaRPr sz="2800"/>
          </a:p>
        </p:txBody>
      </p:sp>
      <p:pic>
        <p:nvPicPr>
          <p:cNvPr descr="Cognitive Frameworks for HCI" id="538" name="Google Shape;538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4495800"/>
            <a:ext cx="6460620" cy="2202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Distributed Cognition</a:t>
            </a:r>
            <a:endParaRPr/>
          </a:p>
        </p:txBody>
      </p:sp>
      <p:pic>
        <p:nvPicPr>
          <p:cNvPr id="544" name="Google Shape;544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676400"/>
            <a:ext cx="5915025" cy="185737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65"/>
          <p:cNvSpPr txBox="1"/>
          <p:nvPr/>
        </p:nvSpPr>
        <p:spPr>
          <a:xfrm>
            <a:off x="1219200" y="4648200"/>
            <a:ext cx="418576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 Add two big numbers</a:t>
            </a:r>
            <a:endParaRPr/>
          </a:p>
        </p:txBody>
      </p:sp>
      <p:pic>
        <p:nvPicPr>
          <p:cNvPr descr="A picture containing text&#10;&#10;Description automatically generated" id="546" name="Google Shape;54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2600" y="4683125"/>
            <a:ext cx="3581400" cy="2014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Cognitive Load	</a:t>
            </a:r>
            <a:endParaRPr/>
          </a:p>
        </p:txBody>
      </p:sp>
      <p:pic>
        <p:nvPicPr>
          <p:cNvPr id="552" name="Google Shape;552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1" y="1923178"/>
            <a:ext cx="3276600" cy="3563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5801" y="1981200"/>
            <a:ext cx="4038600" cy="353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Cognitive Load	</a:t>
            </a:r>
            <a:endParaRPr/>
          </a:p>
        </p:txBody>
      </p:sp>
      <p:pic>
        <p:nvPicPr>
          <p:cNvPr id="559" name="Google Shape;559;p6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0368" y="3060000"/>
            <a:ext cx="2819400" cy="2909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4519" y="3124200"/>
            <a:ext cx="4122276" cy="2793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566" name="Google Shape;566;p6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6053" y="1787842"/>
            <a:ext cx="5657189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External Cognition </a:t>
            </a:r>
            <a:endParaRPr/>
          </a:p>
        </p:txBody>
      </p:sp>
      <p:sp>
        <p:nvSpPr>
          <p:cNvPr id="572" name="Google Shape;572;p6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 sz="2800"/>
              <a:t>External cognition is concerned with explaining the cognitive processes involved when we interact with different external representations such as graphical images, multimedia, and virtual reality.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 sz="2800"/>
          </a:p>
          <a:p>
            <a:pPr indent="-342900" lvl="0" marL="4251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AutoNum type="arabicPeriod"/>
            </a:pPr>
            <a:r>
              <a:rPr lang="en-US" sz="2800"/>
              <a:t>Externalizing to reduce memory load</a:t>
            </a:r>
            <a:endParaRPr/>
          </a:p>
          <a:p>
            <a:pPr indent="-342900" lvl="0" marL="4251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AutoNum type="arabicPeriod"/>
            </a:pPr>
            <a:r>
              <a:rPr lang="en-US" sz="2800"/>
              <a:t>Computational offloading </a:t>
            </a:r>
            <a:endParaRPr/>
          </a:p>
          <a:p>
            <a:pPr indent="-342900" lvl="0" marL="4251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Font typeface="Gill Sans"/>
              <a:buAutoNum type="arabicPeriod"/>
            </a:pPr>
            <a:r>
              <a:rPr lang="en-US" sz="2800"/>
              <a:t>Annotating and cognitive tracing</a:t>
            </a:r>
            <a:endParaRPr sz="4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Embodied Interactions </a:t>
            </a:r>
            <a:endParaRPr/>
          </a:p>
        </p:txBody>
      </p:sp>
      <p:sp>
        <p:nvSpPr>
          <p:cNvPr id="578" name="Google Shape;578;p70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It involves practical engagement with the social and physical environment by creating, manipulating, and making meaning through our engaged interaction with physical things.</a:t>
            </a:r>
            <a:endParaRPr/>
          </a:p>
        </p:txBody>
      </p:sp>
      <p:pic>
        <p:nvPicPr>
          <p:cNvPr id="579" name="Google Shape;579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8641" y="3999331"/>
            <a:ext cx="4314159" cy="2584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Conclusion 	</a:t>
            </a:r>
            <a:endParaRPr/>
          </a:p>
        </p:txBody>
      </p:sp>
      <p:sp>
        <p:nvSpPr>
          <p:cNvPr id="585" name="Google Shape;585;p71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Cognition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Components of Cognition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Frameworks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2018-08-15T12:40:21Z</dcterms:created>
  <dc:creator>adnan</dc:creator>
</cp:coreProperties>
</file>