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799250" cy="9929800"/>
  <p:embeddedFontLst>
    <p:embeddedFont>
      <p:font typeface="Roboto"/>
      <p:regular r:id="rId31"/>
      <p:bold r:id="rId32"/>
      <p:italic r:id="rId33"/>
      <p:boldItalic r:id="rId34"/>
    </p:embeddedFont>
    <p:embeddedFont>
      <p:font typeface="Gill Sans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7" roundtripDataSignature="AMtx7mgLzzgdGv3nar+tA5OfNayY6/FS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italic.fntdata"/><Relationship Id="rId10" Type="http://schemas.openxmlformats.org/officeDocument/2006/relationships/slide" Target="slides/slide5.xml"/><Relationship Id="rId32" Type="http://schemas.openxmlformats.org/officeDocument/2006/relationships/font" Target="fonts/Roboto-bold.fntdata"/><Relationship Id="rId13" Type="http://schemas.openxmlformats.org/officeDocument/2006/relationships/slide" Target="slides/slide8.xml"/><Relationship Id="rId35" Type="http://schemas.openxmlformats.org/officeDocument/2006/relationships/font" Target="fonts/GillSans-regular.fntdata"/><Relationship Id="rId12" Type="http://schemas.openxmlformats.org/officeDocument/2006/relationships/slide" Target="slides/slide7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Gill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1342" y="0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122b3805b8_0_0:notes"/>
          <p:cNvSpPr/>
          <p:nvPr>
            <p:ph idx="2" type="sldImg"/>
          </p:nvPr>
        </p:nvSpPr>
        <p:spPr>
          <a:xfrm>
            <a:off x="917575" y="744538"/>
            <a:ext cx="49641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122b3805b8_0_0:notes"/>
          <p:cNvSpPr txBox="1"/>
          <p:nvPr>
            <p:ph idx="1" type="body"/>
          </p:nvPr>
        </p:nvSpPr>
        <p:spPr>
          <a:xfrm>
            <a:off x="679927" y="4716661"/>
            <a:ext cx="5439300" cy="446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122b3805b8_0_0:notes"/>
          <p:cNvSpPr txBox="1"/>
          <p:nvPr>
            <p:ph idx="12" type="sldNum"/>
          </p:nvPr>
        </p:nvSpPr>
        <p:spPr>
          <a:xfrm>
            <a:off x="3851342" y="9431599"/>
            <a:ext cx="2946300" cy="496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subTitle"/>
          </p:nvPr>
        </p:nvSpPr>
        <p:spPr>
          <a:xfrm>
            <a:off x="1432560" y="1850064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26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26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" name="Google Shape;36;p28"/>
          <p:cNvSpPr txBox="1"/>
          <p:nvPr>
            <p:ph type="title"/>
          </p:nvPr>
        </p:nvSpPr>
        <p:spPr>
          <a:xfrm>
            <a:off x="2578392" y="2600325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" type="body"/>
          </p:nvPr>
        </p:nvSpPr>
        <p:spPr>
          <a:xfrm>
            <a:off x="2578392" y="1066800"/>
            <a:ext cx="64008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28"/>
          <p:cNvSpPr/>
          <p:nvPr/>
        </p:nvSpPr>
        <p:spPr>
          <a:xfrm>
            <a:off x="2286000" y="0"/>
            <a:ext cx="76200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" name="Google Shape;42;p28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" name="Google Shape;43;p2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143560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2" type="body"/>
          </p:nvPr>
        </p:nvSpPr>
        <p:spPr>
          <a:xfrm>
            <a:off x="527608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0"/>
          <p:cNvSpPr txBox="1"/>
          <p:nvPr>
            <p:ph type="title"/>
          </p:nvPr>
        </p:nvSpPr>
        <p:spPr>
          <a:xfrm>
            <a:off x="457200" y="5160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" type="body"/>
          </p:nvPr>
        </p:nvSpPr>
        <p:spPr>
          <a:xfrm>
            <a:off x="45720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2" type="body"/>
          </p:nvPr>
        </p:nvSpPr>
        <p:spPr>
          <a:xfrm>
            <a:off x="466344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3" type="body"/>
          </p:nvPr>
        </p:nvSpPr>
        <p:spPr>
          <a:xfrm>
            <a:off x="45720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4" type="body"/>
          </p:nvPr>
        </p:nvSpPr>
        <p:spPr>
          <a:xfrm>
            <a:off x="466344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1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" name="Google Shape;67;p32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32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3"/>
          <p:cNvSpPr txBox="1"/>
          <p:nvPr>
            <p:ph type="title"/>
          </p:nvPr>
        </p:nvSpPr>
        <p:spPr>
          <a:xfrm>
            <a:off x="457200" y="216778"/>
            <a:ext cx="3810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b="1" sz="2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" type="body"/>
          </p:nvPr>
        </p:nvSpPr>
        <p:spPr>
          <a:xfrm>
            <a:off x="457200" y="1406964"/>
            <a:ext cx="381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2" type="body"/>
          </p:nvPr>
        </p:nvSpPr>
        <p:spPr>
          <a:xfrm>
            <a:off x="457200" y="2133600"/>
            <a:ext cx="8153400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>
            <a:off x="5886896" y="1066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b="1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3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rm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" name="Google Shape;84;p34"/>
          <p:cNvSpPr/>
          <p:nvPr>
            <p:ph idx="2" type="pic"/>
          </p:nvPr>
        </p:nvSpPr>
        <p:spPr>
          <a:xfrm>
            <a:off x="838200" y="1143003"/>
            <a:ext cx="4419600" cy="3514531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5" name="Google Shape;85;p34"/>
          <p:cNvSpPr/>
          <p:nvPr/>
        </p:nvSpPr>
        <p:spPr>
          <a:xfrm rot="-2131329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34"/>
          <p:cNvSpPr/>
          <p:nvPr/>
        </p:nvSpPr>
        <p:spPr>
          <a:xfrm flipH="1" rot="2103354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34"/>
          <p:cNvSpPr txBox="1"/>
          <p:nvPr>
            <p:ph idx="1" type="body"/>
          </p:nvPr>
        </p:nvSpPr>
        <p:spPr>
          <a:xfrm>
            <a:off x="838200" y="4800600"/>
            <a:ext cx="441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5"/>
          <p:cNvSpPr txBox="1"/>
          <p:nvPr>
            <p:ph idx="1" type="body"/>
          </p:nvPr>
        </p:nvSpPr>
        <p:spPr>
          <a:xfrm rot="5400000">
            <a:off x="2784348" y="99060"/>
            <a:ext cx="4800600" cy="749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35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5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6"/>
          <p:cNvSpPr txBox="1"/>
          <p:nvPr>
            <p:ph type="title"/>
          </p:nvPr>
        </p:nvSpPr>
        <p:spPr>
          <a:xfrm rot="5400000">
            <a:off x="4846638" y="2286002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6"/>
          <p:cNvSpPr txBox="1"/>
          <p:nvPr>
            <p:ph idx="1" type="body"/>
          </p:nvPr>
        </p:nvSpPr>
        <p:spPr>
          <a:xfrm rot="5400000">
            <a:off x="9985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36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25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25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25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Google Shape;14;p2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b="0" i="0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25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ara.muneeb@cuilahore.edu.p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18.png"/><Relationship Id="rId7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Relationship Id="rId4" Type="http://schemas.openxmlformats.org/officeDocument/2006/relationships/image" Target="../media/image17.jpg"/><Relationship Id="rId5" Type="http://schemas.openxmlformats.org/officeDocument/2006/relationships/image" Target="../media/image6.png"/><Relationship Id="rId6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jpg"/><Relationship Id="rId4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youtube.com/watch?v=Cn4vC80Pv6Q" TargetMode="External"/><Relationship Id="rId4" Type="http://schemas.openxmlformats.org/officeDocument/2006/relationships/hyperlink" Target="https://www.youtube.com/watch?v=HGYFEI6uLy0" TargetMode="External"/><Relationship Id="rId5" Type="http://schemas.openxmlformats.org/officeDocument/2006/relationships/hyperlink" Target="https://www.youtube.com/watch?v=NjYTzvAVozo" TargetMode="External"/><Relationship Id="rId6" Type="http://schemas.openxmlformats.org/officeDocument/2006/relationships/hyperlink" Target="https://www.youtube.com/watch?v=NjYTzvAVozo" TargetMode="External"/><Relationship Id="rId7" Type="http://schemas.openxmlformats.org/officeDocument/2006/relationships/hyperlink" Target="https://www.youtube.com/watch?v=NjYTzvAVozo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Conceptualizing Interactions </a:t>
            </a: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432560" y="3733800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2743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80"/>
              <a:buNone/>
            </a:pPr>
            <a:r>
              <a:rPr lang="en-US"/>
              <a:t>Sara Muneeb</a:t>
            </a:r>
            <a:endParaRPr/>
          </a:p>
          <a:p>
            <a:pPr indent="0" lvl="0" marL="27432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sara.muneeb@cuilahore.edu.pk</a:t>
            </a:r>
            <a:endParaRPr/>
          </a:p>
          <a:p>
            <a:pPr indent="0" lvl="0" marL="27432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</a:pPr>
            <a:r>
              <a:rPr lang="en-US"/>
              <a:t>Computer Science Department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Introduction </a:t>
            </a:r>
            <a:endParaRPr/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Proof of concept: conceptualize ideas in terms of what the proposed product will do.	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id="112" name="Google Shape;1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0885" y="3048000"/>
            <a:ext cx="6867525" cy="368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Power of Slides</a:t>
            </a:r>
            <a:endParaRPr/>
          </a:p>
        </p:txBody>
      </p:sp>
      <p:pic>
        <p:nvPicPr>
          <p:cNvPr descr="A close up of text on a white background&#10;&#10;Description automatically generated" id="118" name="Google Shape;118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600200"/>
            <a:ext cx="6181725" cy="47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Conceptualizing Interaction </a:t>
            </a:r>
            <a:endParaRPr/>
          </a:p>
        </p:txBody>
      </p:sp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It is important to be clear about underlying assumptions and claims.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Assumptions: taking something for granted that needs further investigation.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Claims: stating something to be true when it is still open to question.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US"/>
              <a:t>Framework to Conceptualized Interactions</a:t>
            </a:r>
            <a:endParaRPr/>
          </a:p>
        </p:txBody>
      </p:sp>
      <p:sp>
        <p:nvSpPr>
          <p:cNvPr id="130" name="Google Shape;130;p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Framework to aid design team in conceptualizing interactions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Are there problems with an existing product or user experience? If so, what are they?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Why do you think there are problems?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What evidence do you have to support the existence of these problems?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US" sz="2800"/>
              <a:t>How do you think your proposed design ideas might overcome these problems?</a:t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Benefits of Conceptualization </a:t>
            </a:r>
            <a:endParaRPr/>
          </a:p>
        </p:txBody>
      </p:sp>
      <p:sp>
        <p:nvSpPr>
          <p:cNvPr id="136" name="Google Shape;136;p6"/>
          <p:cNvSpPr txBox="1"/>
          <p:nvPr>
            <p:ph idx="1" type="body"/>
          </p:nvPr>
        </p:nvSpPr>
        <p:spPr>
          <a:xfrm>
            <a:off x="1435608" y="1447800"/>
            <a:ext cx="6793992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b="1" lang="en-US" sz="2800"/>
              <a:t>Orientation </a:t>
            </a:r>
            <a:r>
              <a:rPr lang="en-US" sz="2800"/>
              <a:t>Enabling the design team to ask specific kinds of questions about how the conceptual model will be understood by the targeted users.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28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b="1" lang="en-US" sz="2800"/>
              <a:t>Open-Mindedness</a:t>
            </a:r>
            <a:r>
              <a:rPr lang="en-US" sz="2800"/>
              <a:t> Allowing the team to explore a range of different ideas to address the problems identified.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28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b="1" lang="en-US" sz="2800"/>
              <a:t>Common Ground </a:t>
            </a:r>
            <a:r>
              <a:rPr lang="en-US" sz="2800"/>
              <a:t>Allowing the design team to establish a set of common terms that all can understand and agree upon, reducing the chance of misunderstandings and confusion arising later.</a:t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Conceptual Model</a:t>
            </a:r>
            <a:endParaRPr/>
          </a:p>
        </p:txBody>
      </p:sp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b="1" lang="en-US"/>
              <a:t>Model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A model is a simplified description of a system and process that help describe how it works.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b="1" lang="en-US"/>
              <a:t>Conceptual Model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Particular kind of model used in interaction design intended to articulate the problem and design space.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More Definitions </a:t>
            </a:r>
            <a:endParaRPr/>
          </a:p>
        </p:txBody>
      </p:sp>
      <p:sp>
        <p:nvSpPr>
          <p:cNvPr id="148" name="Google Shape;148;p8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A highlevel definition of how a system is organized and operates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Designers to straighten out their thinking before the start laying out their widgets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			-Jeff and Autsin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US"/>
              <a:t>Components of Conceptual Model</a:t>
            </a:r>
            <a:endParaRPr/>
          </a:p>
        </p:txBody>
      </p:sp>
      <p:sp>
        <p:nvSpPr>
          <p:cNvPr id="154" name="Google Shape;154;p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Metaphors and Analogies </a:t>
            </a:r>
            <a:endParaRPr/>
          </a:p>
          <a:p>
            <a:pPr indent="0" lvl="1" marL="356616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None/>
            </a:pPr>
            <a:r>
              <a:rPr lang="en-US"/>
              <a:t>To understand what a product is used for and how to use it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The Concepts to which people are exposed through the product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The relationship between those concepts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The mapping between the concepts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New Conceptual Model</a:t>
            </a:r>
            <a:endParaRPr/>
          </a:p>
        </p:txBody>
      </p:sp>
      <p:sp>
        <p:nvSpPr>
          <p:cNvPr id="160" name="Google Shape;160;p1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Its rare for completely new conceptual models to emerge that transform the way daily work activities are carried out at an interface.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The Desktop (GUI)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Digital Spreadsheet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World Wide Web </a:t>
            </a:r>
            <a:endParaRPr/>
          </a:p>
        </p:txBody>
      </p:sp>
      <p:pic>
        <p:nvPicPr>
          <p:cNvPr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3276600"/>
            <a:ext cx="3186113" cy="2396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Interface Metaphors </a:t>
            </a:r>
            <a:endParaRPr/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1435608" y="1447800"/>
            <a:ext cx="5193792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Central component of conceptual model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Similar to familiar entity but have their own behavior and properties.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For example </a:t>
            </a:r>
            <a:endParaRPr/>
          </a:p>
          <a:p>
            <a:pPr indent="-228599" lvl="2" marL="886967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Desktop </a:t>
            </a:r>
            <a:endParaRPr/>
          </a:p>
          <a:p>
            <a:pPr indent="-228599" lvl="2" marL="886967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Browser</a:t>
            </a:r>
            <a:endParaRPr/>
          </a:p>
          <a:p>
            <a:pPr indent="-228599" lvl="2" marL="886967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Recycle bin</a:t>
            </a:r>
            <a:endParaRPr/>
          </a:p>
          <a:p>
            <a:pPr indent="-228599" lvl="2" marL="886967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Cart</a:t>
            </a:r>
            <a:endParaRPr/>
          </a:p>
          <a:p>
            <a:pPr indent="-228599" lvl="2" marL="886967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Checkout</a:t>
            </a:r>
            <a:endParaRPr/>
          </a:p>
          <a:p>
            <a:pPr indent="-228599" lvl="2" marL="886967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Card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Intended to readily understand the underlaying conceptual model. </a:t>
            </a:r>
            <a:endParaRPr/>
          </a:p>
        </p:txBody>
      </p:sp>
      <p:pic>
        <p:nvPicPr>
          <p:cNvPr id="168" name="Google Shape;1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6295" y="1447800"/>
            <a:ext cx="2566127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Usage of Metaphors</a:t>
            </a:r>
            <a:endParaRPr/>
          </a:p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9664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As a way of conceptualizing what we are doing (for instance, surfing the web)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As a conceptual model instantiated at the interface level (for example, the card metaphor)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As a way of visualizing an operation (shopping cart)</a:t>
            </a:r>
            <a:endParaRPr/>
          </a:p>
        </p:txBody>
      </p:sp>
      <p:pic>
        <p:nvPicPr>
          <p:cNvPr descr="How Designers Create Change Using Visual Metaphors | Adobe XD Ideas" id="175" name="Google Shape;1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5392" y="5029200"/>
            <a:ext cx="4953000" cy="1681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Metaphors and Analogies</a:t>
            </a:r>
            <a:endParaRPr/>
          </a:p>
        </p:txBody>
      </p:sp>
      <p:pic>
        <p:nvPicPr>
          <p:cNvPr descr="A screenshot of a cell phone&#10;&#10;Description automatically generated" id="181" name="Google Shape;181;p13"/>
          <p:cNvPicPr preferRelativeResize="0"/>
          <p:nvPr/>
        </p:nvPicPr>
        <p:blipFill rotWithShape="1">
          <a:blip r:embed="rId3">
            <a:alphaModFix/>
          </a:blip>
          <a:srcRect b="59616" l="0" r="0" t="0"/>
          <a:stretch/>
        </p:blipFill>
        <p:spPr>
          <a:xfrm>
            <a:off x="1396368" y="5181600"/>
            <a:ext cx="5137150" cy="10788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computer keyboard&#10;&#10;Description automatically generated" id="182" name="Google Shape;182;p13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5608" y="2062341"/>
            <a:ext cx="2585338" cy="985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keyboard&#10;&#10;Description automatically generated" id="183" name="Google Shape;18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0092" y="3429000"/>
            <a:ext cx="1596370" cy="114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58579" y="2485676"/>
            <a:ext cx="2390672" cy="1709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86884" y="2023093"/>
            <a:ext cx="1278281" cy="2548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Interaction Types	</a:t>
            </a:r>
            <a:endParaRPr/>
          </a:p>
        </p:txBody>
      </p:sp>
      <p:sp>
        <p:nvSpPr>
          <p:cNvPr id="191" name="Google Shape;191;p14"/>
          <p:cNvSpPr txBox="1"/>
          <p:nvPr>
            <p:ph idx="1" type="body"/>
          </p:nvPr>
        </p:nvSpPr>
        <p:spPr>
          <a:xfrm>
            <a:off x="1435608" y="1447800"/>
            <a:ext cx="7498080" cy="513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Ways of interaction with a product or application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eriod"/>
            </a:pPr>
            <a:r>
              <a:rPr lang="en-US"/>
              <a:t>Instructing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eriod"/>
            </a:pPr>
            <a:r>
              <a:rPr lang="en-US"/>
              <a:t>Conversing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eriod"/>
            </a:pPr>
            <a:r>
              <a:rPr lang="en-US"/>
              <a:t>Manipulating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eriod"/>
            </a:pPr>
            <a:r>
              <a:rPr lang="en-US"/>
              <a:t>Exploring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eriod"/>
            </a:pPr>
            <a:r>
              <a:rPr lang="en-US"/>
              <a:t>Responding</a:t>
            </a:r>
            <a:endParaRPr/>
          </a:p>
          <a:p>
            <a:pPr indent="-376174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/>
          </a:p>
          <a:p>
            <a:pPr indent="-376174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/>
          </a:p>
          <a:p>
            <a:pPr indent="0" lvl="0" marL="82296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rPr lang="en-US"/>
              <a:t>Deciding upon which on the interaction type to use and why, can help designers formulate a conceptual model before committing to a particular interface. </a:t>
            </a:r>
            <a:endParaRPr/>
          </a:p>
        </p:txBody>
      </p:sp>
      <p:pic>
        <p:nvPicPr>
          <p:cNvPr descr="7 UX Mistakes Every Designer Unknowingly Commits (And How To Fix Them) |  Conceptual, Design, User experience" id="192" name="Google Shape;1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2209800"/>
            <a:ext cx="3810000" cy="2645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Interaction Type</a:t>
            </a:r>
            <a:endParaRPr/>
          </a:p>
        </p:txBody>
      </p:sp>
      <p:sp>
        <p:nvSpPr>
          <p:cNvPr id="198" name="Google Shape;198;p1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514350" lvl="0" marL="59664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Gill Sans"/>
              <a:buAutoNum type="arabicPeriod"/>
            </a:pPr>
            <a:r>
              <a:rPr lang="en-US"/>
              <a:t>Instructing: Where users issue instructions to a system. 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lang="en-US"/>
              <a:t>(typing in commands, selecting options from menu, multitouch screen, speaking aloud commands, gesturing, pressing buttons, or using a combination of function keys)</a:t>
            </a:r>
            <a:endParaRPr/>
          </a:p>
          <a:p>
            <a:pPr indent="-388366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eriod"/>
            </a:pPr>
            <a:r>
              <a:rPr lang="en-US"/>
              <a:t>Conversing: Where users have a dialog with a system. 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lang="en-US"/>
              <a:t>(Users can speak via an interface or type in questions to which the system replies via text or speech output.)</a:t>
            </a:r>
            <a:endParaRPr/>
          </a:p>
          <a:p>
            <a:pPr indent="-388366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eriod"/>
            </a:pPr>
            <a:r>
              <a:rPr lang="en-US"/>
              <a:t>Manipulating: Where users interact with objects in a virtual or physical space by manipulating them.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lang="en-US"/>
              <a:t>(for instance, opening, holding, closing, and placing).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Interaction Type</a:t>
            </a:r>
            <a:endParaRPr/>
          </a:p>
        </p:txBody>
      </p:sp>
      <p:sp>
        <p:nvSpPr>
          <p:cNvPr id="204" name="Google Shape;204;p16"/>
          <p:cNvSpPr txBox="1"/>
          <p:nvPr>
            <p:ph idx="1" type="body"/>
          </p:nvPr>
        </p:nvSpPr>
        <p:spPr>
          <a:xfrm>
            <a:off x="1435608" y="1447800"/>
            <a:ext cx="74980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514350" lvl="0" marL="59664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Gill Sans"/>
              <a:buAutoNum type="arabicPeriod" startAt="4"/>
            </a:pPr>
            <a:r>
              <a:rPr lang="en-US"/>
              <a:t>Exploring: Where users move through a virtual environment or a physical space. 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lang="en-US"/>
              <a:t>(Virtual environments include 3D worlds and augmented and virtual reality systems. Physical spaces that use sensor-based technologies include smart rooms and ambient environments)</a:t>
            </a:r>
            <a:endParaRPr/>
          </a:p>
          <a:p>
            <a:pPr indent="-388366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None/>
            </a:pPr>
            <a:r>
              <a:t/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Font typeface="Gill Sans"/>
              <a:buAutoNum type="arabicPeriod" startAt="4"/>
            </a:pPr>
            <a:r>
              <a:rPr lang="en-US"/>
              <a:t>Responding: Where the system initiates the interaction and the user chooses whether to respond. 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lang="en-US"/>
              <a:t>(For example, proactive mobile location-based technology can alert people to points of interest. They can choose to look at the information popping up on their phone or ignore it)</a:t>
            </a:r>
            <a:endParaRPr/>
          </a:p>
        </p:txBody>
      </p:sp>
      <p:pic>
        <p:nvPicPr>
          <p:cNvPr descr="Meme Maker - INTERACTIONS INTERACTIONS EVERYWHERE Meme Generator!" id="205" name="Google Shape;2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5181600"/>
            <a:ext cx="1905000" cy="1448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Direct Manipulation </a:t>
            </a:r>
            <a:endParaRPr/>
          </a:p>
        </p:txBody>
      </p:sp>
      <p:sp>
        <p:nvSpPr>
          <p:cNvPr id="211" name="Google Shape;211;p1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Enables users to directly control the digital objects represented by the computers.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Helping beginners learn basic functionality rapidly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Enabling experienced users to work rapidly on a wide range of tasks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Allowing infrequent users to remember how to carry out operations over time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Preventing the need for error messages, except rarely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Showing users immediately how their actions are furthering their goals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Reducing users’ experiences of anxiety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Helping users gain confidence and mastery and feel in control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Examples Direct Manipulation </a:t>
            </a:r>
            <a:endParaRPr/>
          </a:p>
        </p:txBody>
      </p:sp>
      <p:pic>
        <p:nvPicPr>
          <p:cNvPr id="217" name="Google Shape;217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8532" y="1905000"/>
            <a:ext cx="320353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4648" y="1905000"/>
            <a:ext cx="35322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lock, meter&#10;&#10;Description automatically generated" id="219" name="Google Shape;21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0993" y="5029200"/>
            <a:ext cx="3056157" cy="1018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/>
          <p:cNvPicPr preferRelativeResize="0"/>
          <p:nvPr/>
        </p:nvPicPr>
        <p:blipFill rotWithShape="1">
          <a:blip r:embed="rId6">
            <a:alphaModFix/>
          </a:blip>
          <a:srcRect b="7037" l="7621" r="7621" t="10000"/>
          <a:stretch/>
        </p:blipFill>
        <p:spPr>
          <a:xfrm>
            <a:off x="1348532" y="4495800"/>
            <a:ext cx="3268894" cy="2133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Stylus VS Mouse</a:t>
            </a:r>
            <a:endParaRPr/>
          </a:p>
        </p:txBody>
      </p:sp>
      <p:pic>
        <p:nvPicPr>
          <p:cNvPr id="226" name="Google Shape;226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100" y="1755180"/>
            <a:ext cx="7499350" cy="418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More on Conceptual Model</a:t>
            </a:r>
            <a:endParaRPr/>
          </a:p>
        </p:txBody>
      </p:sp>
      <p:sp>
        <p:nvSpPr>
          <p:cNvPr id="232" name="Google Shape;232;p20"/>
          <p:cNvSpPr txBox="1"/>
          <p:nvPr>
            <p:ph idx="1" type="body"/>
          </p:nvPr>
        </p:nvSpPr>
        <p:spPr>
          <a:xfrm>
            <a:off x="1435608" y="1447800"/>
            <a:ext cx="6489192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Paradigms</a:t>
            </a:r>
            <a:endParaRPr/>
          </a:p>
          <a:p>
            <a:pPr indent="-237743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ct val="100000"/>
              <a:buChar char="◦"/>
            </a:pPr>
            <a:r>
              <a:rPr lang="en-US"/>
              <a:t>Adopting a set of practices upon which a community has agreed.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Vision</a:t>
            </a:r>
            <a:endParaRPr/>
          </a:p>
          <a:p>
            <a:pPr indent="-237743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ct val="100000"/>
              <a:buChar char="◦"/>
            </a:pPr>
            <a:r>
              <a:rPr lang="en-US"/>
              <a:t>Vision of the future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Theories</a:t>
            </a:r>
            <a:endParaRPr/>
          </a:p>
          <a:p>
            <a:pPr indent="-237743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ct val="100000"/>
              <a:buChar char="◦"/>
            </a:pPr>
            <a:r>
              <a:rPr lang="en-US"/>
              <a:t>Cognitive, social, affective and organizational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Models</a:t>
            </a:r>
            <a:endParaRPr/>
          </a:p>
          <a:p>
            <a:pPr indent="-237743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ct val="100000"/>
              <a:buChar char="◦"/>
            </a:pPr>
            <a:r>
              <a:rPr lang="en-US"/>
              <a:t>Aspects of human behavior or HCI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Frameworks</a:t>
            </a:r>
            <a:endParaRPr/>
          </a:p>
          <a:p>
            <a:pPr indent="-237743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ct val="100000"/>
              <a:buChar char="◦"/>
            </a:pPr>
            <a:r>
              <a:rPr lang="en-US"/>
              <a:t>Offers advise to designers as to what to design and what to look for.</a:t>
            </a:r>
            <a:endParaRPr/>
          </a:p>
          <a:p>
            <a:pPr indent="-145287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Examples of Models</a:t>
            </a:r>
            <a:endParaRPr/>
          </a:p>
        </p:txBody>
      </p:sp>
      <p:pic>
        <p:nvPicPr>
          <p:cNvPr descr="User Experience and Experience Design | The Encyclopedia of Human-Computer  Interaction, 2nd Ed." id="238" name="Google Shape;2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4832" y="1286479"/>
            <a:ext cx="3305335" cy="2477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6760" y="4124960"/>
            <a:ext cx="4517423" cy="246856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2057400" y="4897576"/>
            <a:ext cx="2209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Seven stages of interaction (Don Norman, 1988)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2062480" y="2160307"/>
            <a:ext cx="22098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Marc Hassenzahl’s (2010) model of experience design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 of Framework</a:t>
            </a:r>
            <a:endParaRPr/>
          </a:p>
        </p:txBody>
      </p:sp>
      <p:pic>
        <p:nvPicPr>
          <p:cNvPr id="247" name="Google Shape;247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2057400"/>
            <a:ext cx="7499350" cy="310842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4195434" y="6019800"/>
            <a:ext cx="19784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Don Norman,1988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54" name="Google Shape;254;p2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Conceptualizing Interactions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Conceptual Models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Interface Metaphors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Interaction Types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Paradigm, Vision, Theory, Model, Framework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Links to Watch</a:t>
            </a:r>
            <a:endParaRPr/>
          </a:p>
        </p:txBody>
      </p:sp>
      <p:sp>
        <p:nvSpPr>
          <p:cNvPr id="260" name="Google Shape;260;p24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 u="sng">
                <a:solidFill>
                  <a:schemeClr val="hlink"/>
                </a:solidFill>
                <a:hlinkClick r:id="rId3"/>
              </a:rPr>
              <a:t>Xerox Star User Interface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 u="sng">
                <a:solidFill>
                  <a:schemeClr val="hlink"/>
                </a:solidFill>
                <a:hlinkClick r:id="rId4"/>
              </a:rPr>
              <a:t>Apple Knowledge Navigator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 u="sng">
                <a:solidFill>
                  <a:schemeClr val="hlink"/>
                </a:solidFill>
                <a:hlinkClick r:id="rId5"/>
              </a:rPr>
              <a:t>Internet of Things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 u="sng">
                <a:solidFill>
                  <a:schemeClr val="hlink"/>
                </a:solidFill>
                <a:hlinkClick r:id="rId6"/>
              </a:rPr>
              <a:t>Exploring Sacred Sites with Virtual Reality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 u="sng">
                <a:solidFill>
                  <a:schemeClr val="hlink"/>
                </a:solidFill>
                <a:hlinkClick r:id="rId7"/>
              </a:rPr>
              <a:t>Volkswagen I.D. VIZZION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122b3805b8_0_0"/>
          <p:cNvSpPr txBox="1"/>
          <p:nvPr>
            <p:ph type="title"/>
          </p:nvPr>
        </p:nvSpPr>
        <p:spPr>
          <a:xfrm>
            <a:off x="1435608" y="274638"/>
            <a:ext cx="74982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Reading Assignment </a:t>
            </a:r>
            <a:endParaRPr/>
          </a:p>
        </p:txBody>
      </p:sp>
      <p:sp>
        <p:nvSpPr>
          <p:cNvPr id="267" name="Google Shape;267;g2122b3805b8_0_0"/>
          <p:cNvSpPr txBox="1"/>
          <p:nvPr>
            <p:ph idx="1" type="body"/>
          </p:nvPr>
        </p:nvSpPr>
        <p:spPr>
          <a:xfrm>
            <a:off x="1435608" y="1447800"/>
            <a:ext cx="74982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Reading Assignment 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1. From Book : Interaction design beyond HCI (sharp) section 3.4-3.5</a:t>
            </a:r>
            <a:endParaRPr sz="10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2018-08-15T12:40:21Z</dcterms:created>
  <dc:creator>adnan</dc:creator>
</cp:coreProperties>
</file>