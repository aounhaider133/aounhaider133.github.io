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6858000" cy="9144000"/>
  <p:embeddedFontLst>
    <p:embeddedFont>
      <p:font typeface="Gill Sans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1" roundtripDataSignature="AMtx7mgZmh4+6SWnbagEXXAE3oDsyq7d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ill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GillSans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10bdd7b7f4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10bdd7b7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210bdd7b7f4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 txBox="1"/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" type="subTitle"/>
          </p:nvPr>
        </p:nvSpPr>
        <p:spPr>
          <a:xfrm>
            <a:off x="1432560" y="1850064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  <a:defRPr sz="2600">
                <a:solidFill>
                  <a:srgbClr val="341108"/>
                </a:solidFill>
              </a:defRPr>
            </a:lvl1pPr>
            <a:lvl2pPr lvl="1" algn="ctr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24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" name="Google Shape;27;p24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5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" name="Google Shape;36;p26"/>
          <p:cNvSpPr txBox="1"/>
          <p:nvPr>
            <p:ph type="title"/>
          </p:nvPr>
        </p:nvSpPr>
        <p:spPr>
          <a:xfrm>
            <a:off x="2578392" y="2600325"/>
            <a:ext cx="6400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000"/>
              <a:buFont typeface="Gill San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" type="body"/>
          </p:nvPr>
        </p:nvSpPr>
        <p:spPr>
          <a:xfrm>
            <a:off x="2578392" y="1066800"/>
            <a:ext cx="64008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34110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26"/>
          <p:cNvSpPr/>
          <p:nvPr/>
        </p:nvSpPr>
        <p:spPr>
          <a:xfrm>
            <a:off x="2286000" y="0"/>
            <a:ext cx="76200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" name="Google Shape;42;p26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>
            <a:gsLst>
              <a:gs pos="0">
                <a:srgbClr val="D7F6FF">
                  <a:alpha val="94901"/>
                </a:srgbClr>
              </a:gs>
              <a:gs pos="50000">
                <a:srgbClr val="C0E3F0">
                  <a:alpha val="89803"/>
                </a:srgbClr>
              </a:gs>
              <a:gs pos="95000">
                <a:srgbClr val="65C6EA">
                  <a:alpha val="87843"/>
                </a:srgbClr>
              </a:gs>
              <a:gs pos="100000">
                <a:srgbClr val="00BBF1">
                  <a:alpha val="84705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2F8DA4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3" name="Google Shape;43;p26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cap="rnd" cmpd="sng" w="12700">
            <a:solidFill>
              <a:srgbClr val="317F92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143560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2" type="body"/>
          </p:nvPr>
        </p:nvSpPr>
        <p:spPr>
          <a:xfrm>
            <a:off x="5276088" y="1524000"/>
            <a:ext cx="3657600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08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⚫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8"/>
          <p:cNvSpPr txBox="1"/>
          <p:nvPr>
            <p:ph type="title"/>
          </p:nvPr>
        </p:nvSpPr>
        <p:spPr>
          <a:xfrm>
            <a:off x="457200" y="51603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500"/>
              <a:buFont typeface="Gill Sans"/>
              <a:buNone/>
              <a:defRPr b="1" sz="4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idx="1" type="body"/>
          </p:nvPr>
        </p:nvSpPr>
        <p:spPr>
          <a:xfrm>
            <a:off x="45720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2" type="body"/>
          </p:nvPr>
        </p:nvSpPr>
        <p:spPr>
          <a:xfrm>
            <a:off x="4663440" y="328278"/>
            <a:ext cx="4023360" cy="640080"/>
          </a:xfrm>
          <a:prstGeom prst="rect">
            <a:avLst/>
          </a:prstGeom>
          <a:solidFill>
            <a:schemeClr val="lt1"/>
          </a:solidFill>
          <a:ln cap="flat" cmpd="sng" w="107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1520"/>
              <a:buNone/>
              <a:defRPr b="0" sz="19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3" type="body"/>
          </p:nvPr>
        </p:nvSpPr>
        <p:spPr>
          <a:xfrm>
            <a:off x="45720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4" type="body"/>
          </p:nvPr>
        </p:nvSpPr>
        <p:spPr>
          <a:xfrm>
            <a:off x="4663440" y="969336"/>
            <a:ext cx="4023360" cy="4114800"/>
          </a:xfrm>
          <a:prstGeom prst="rect">
            <a:avLst/>
          </a:prstGeom>
          <a:noFill/>
          <a:ln cap="flat" cmpd="sng" w="107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052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20"/>
              <a:buChar char="⚫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9"/>
          <p:cNvSpPr txBox="1"/>
          <p:nvPr>
            <p:ph type="title"/>
          </p:nvPr>
        </p:nvSpPr>
        <p:spPr>
          <a:xfrm>
            <a:off x="1435608" y="274320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7" name="Google Shape;67;p30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0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0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" name="Google Shape;70;p30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1"/>
          <p:cNvSpPr txBox="1"/>
          <p:nvPr>
            <p:ph type="title"/>
          </p:nvPr>
        </p:nvSpPr>
        <p:spPr>
          <a:xfrm>
            <a:off x="457200" y="216778"/>
            <a:ext cx="38100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200"/>
              <a:buFont typeface="Gill Sans"/>
              <a:buNone/>
              <a:defRPr b="1" sz="2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idx="1" type="body"/>
          </p:nvPr>
        </p:nvSpPr>
        <p:spPr>
          <a:xfrm>
            <a:off x="457200" y="1406964"/>
            <a:ext cx="38100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2" type="body"/>
          </p:nvPr>
        </p:nvSpPr>
        <p:spPr>
          <a:xfrm>
            <a:off x="457200" y="2133600"/>
            <a:ext cx="8153400" cy="3992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>
            <a:off x="5886896" y="1066800"/>
            <a:ext cx="2743200" cy="198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2100"/>
              <a:buFont typeface="Gill Sans"/>
              <a:buNone/>
              <a:defRPr b="1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32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cap="sq" cmpd="sng" w="8890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5500" rotWithShape="0" algn="tl" dir="5400000" dist="185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274300">
            <a:normAutofit/>
          </a:bodyPr>
          <a:lstStyle/>
          <a:p>
            <a:pPr indent="0" lvl="0" marL="0" marR="0" rtl="0" algn="l">
              <a:lnSpc>
                <a:spcPct val="937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" name="Google Shape;84;p32"/>
          <p:cNvSpPr/>
          <p:nvPr>
            <p:ph idx="2" type="pic"/>
          </p:nvPr>
        </p:nvSpPr>
        <p:spPr>
          <a:xfrm>
            <a:off x="838200" y="1143003"/>
            <a:ext cx="4419600" cy="3514531"/>
          </a:xfrm>
          <a:prstGeom prst="roundRect">
            <a:avLst>
              <a:gd fmla="val 783" name="adj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85" name="Google Shape;85;p32"/>
          <p:cNvSpPr/>
          <p:nvPr/>
        </p:nvSpPr>
        <p:spPr>
          <a:xfrm rot="-2131329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rgbClr val="EAD8B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32"/>
          <p:cNvSpPr/>
          <p:nvPr/>
        </p:nvSpPr>
        <p:spPr>
          <a:xfrm flipH="1" rot="2103354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4705"/>
            </a:srgbClr>
          </a:solidFill>
          <a:ln cap="rnd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sx="96000" rotWithShape="0" algn="tl" dir="3300000" dist="25400" sy="96000">
              <a:schemeClr val="lt2">
                <a:alpha val="20000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32"/>
          <p:cNvSpPr txBox="1"/>
          <p:nvPr>
            <p:ph idx="1" type="body"/>
          </p:nvPr>
        </p:nvSpPr>
        <p:spPr>
          <a:xfrm>
            <a:off x="838200" y="4800600"/>
            <a:ext cx="441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777777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" type="body"/>
          </p:nvPr>
        </p:nvSpPr>
        <p:spPr>
          <a:xfrm rot="5400000">
            <a:off x="2784348" y="99060"/>
            <a:ext cx="4800600" cy="7498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1" name="Google Shape;91;p33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3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/>
          <p:nvPr>
            <p:ph type="title"/>
          </p:nvPr>
        </p:nvSpPr>
        <p:spPr>
          <a:xfrm rot="5400000">
            <a:off x="4846638" y="2286002"/>
            <a:ext cx="585152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4"/>
          <p:cNvSpPr txBox="1"/>
          <p:nvPr>
            <p:ph idx="1" type="body"/>
          </p:nvPr>
        </p:nvSpPr>
        <p:spPr>
          <a:xfrm rot="5400000">
            <a:off x="998538" y="419103"/>
            <a:ext cx="5851525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⚫"/>
              <a:defRPr/>
            </a:lvl1pPr>
            <a:lvl2pPr indent="-342900" lvl="1" marL="91440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34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4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4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xy" tx="0" sx="90000" ty="0" sy="9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fmla="val 0" name="adj1"/>
              <a:gd fmla="val 5402120" name="adj2"/>
            </a:avLst>
          </a:prstGeom>
          <a:solidFill>
            <a:srgbClr val="FEF9F3">
              <a:alpha val="32941"/>
            </a:srgbClr>
          </a:solidFill>
          <a:ln cap="rnd" cmpd="sng" w="9525">
            <a:solidFill>
              <a:srgbClr val="D1C1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" name="Google Shape;11;p23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cap="rnd" cmpd="sng" w="27300">
            <a:solidFill>
              <a:srgbClr val="FFF5DB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tl" dir="5400000" dist="25400">
              <a:srgbClr val="ADA48C">
                <a:alpha val="8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" name="Google Shape;12;p23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fmla="val 11833" name="adj"/>
            </a:avLst>
          </a:prstGeom>
          <a:gradFill>
            <a:gsLst>
              <a:gs pos="0">
                <a:srgbClr val="FEFBF4">
                  <a:alpha val="69803"/>
                </a:srgbClr>
              </a:gs>
              <a:gs pos="70000">
                <a:srgbClr val="FFFDF8">
                  <a:alpha val="54901"/>
                </a:srgbClr>
              </a:gs>
              <a:gs pos="100000">
                <a:srgbClr val="EDCF8C">
                  <a:alpha val="60000"/>
                </a:srgbClr>
              </a:gs>
            </a:gsLst>
            <a:path path="circle">
              <a:fillToRect b="100%" r="100%"/>
            </a:path>
            <a:tileRect l="-100%" t="-100%"/>
          </a:gradFill>
          <a:ln cap="rnd" cmpd="sng" w="9525">
            <a:solidFill>
              <a:srgbClr val="C5B39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tl" dir="4500000" dist="15000">
              <a:srgbClr val="564E4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" name="Google Shape;13;p23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" name="Google Shape;14;p2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  <a:defRPr b="0" i="0" sz="4300" u="none" cap="none" strike="noStrike">
                <a:solidFill>
                  <a:srgbClr val="56221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5" name="Google Shape;15;p23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Char char="⚫"/>
              <a:defRPr b="0" i="0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Verdana"/>
              <a:buChar char="◦"/>
              <a:defRPr b="0" i="0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6" name="Google Shape;16;p23"/>
          <p:cNvSpPr txBox="1"/>
          <p:nvPr>
            <p:ph idx="10" type="dt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7" name="Google Shape;17;p23"/>
          <p:cNvSpPr txBox="1"/>
          <p:nvPr>
            <p:ph idx="11" type="ftr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idx="12" type="sldNum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rgbClr val="B3A787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3"/>
          <p:cNvSpPr/>
          <p:nvPr/>
        </p:nvSpPr>
        <p:spPr>
          <a:xfrm>
            <a:off x="1014984" y="-54"/>
            <a:ext cx="73152" cy="685805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550" rotWithShape="0" algn="tl" dir="10800000" dist="38000">
              <a:srgbClr val="6F6A5F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1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jpg"/><Relationship Id="rId4" Type="http://schemas.openxmlformats.org/officeDocument/2006/relationships/image" Target="../media/image1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"/>
          <p:cNvSpPr txBox="1"/>
          <p:nvPr>
            <p:ph type="ctrTitle"/>
          </p:nvPr>
        </p:nvSpPr>
        <p:spPr>
          <a:xfrm>
            <a:off x="1432560" y="359898"/>
            <a:ext cx="7406640" cy="14721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The Process of Interaction Design</a:t>
            </a:r>
            <a:endParaRPr/>
          </a:p>
        </p:txBody>
      </p:sp>
      <p:sp>
        <p:nvSpPr>
          <p:cNvPr id="105" name="Google Shape;105;p1"/>
          <p:cNvSpPr txBox="1"/>
          <p:nvPr>
            <p:ph idx="1" type="subTitle"/>
          </p:nvPr>
        </p:nvSpPr>
        <p:spPr>
          <a:xfrm>
            <a:off x="1432560" y="1832082"/>
            <a:ext cx="740664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0" lvl="0" marL="27432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80"/>
              <a:buNone/>
            </a:pPr>
            <a:r>
              <a:rPr lang="en-US"/>
              <a:t>Computer Science Department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Introduction </a:t>
            </a:r>
            <a:endParaRPr/>
          </a:p>
        </p:txBody>
      </p:sp>
      <p:sp>
        <p:nvSpPr>
          <p:cNvPr id="111" name="Google Shape;111;p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Phycology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ct val="100000"/>
              <a:buChar char="◦"/>
            </a:pPr>
            <a:r>
              <a:rPr lang="en-US"/>
              <a:t>Of what humans can do.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Input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ct val="100000"/>
              <a:buChar char="◦"/>
            </a:pPr>
            <a:r>
              <a:rPr lang="en-US"/>
              <a:t>How stimuli are sent from the world and perceived inside the mind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Processing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ct val="100000"/>
              <a:buChar char="◦"/>
            </a:pPr>
            <a:r>
              <a:rPr lang="en-US"/>
              <a:t>Cognition, how the brain store and reason with the input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Output</a:t>
            </a:r>
            <a:endParaRPr/>
          </a:p>
          <a:p>
            <a:pPr indent="-237744" lvl="1" marL="64008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SzPct val="100000"/>
              <a:buChar char="◦"/>
            </a:pPr>
            <a:r>
              <a:rPr lang="en-US"/>
              <a:t>How the brain controls the individual actions out in the world. </a:t>
            </a:r>
            <a:endParaRPr/>
          </a:p>
          <a:p>
            <a:pPr indent="-133096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Interaction </a:t>
            </a:r>
            <a:endParaRPr/>
          </a:p>
        </p:txBody>
      </p:sp>
      <p:pic>
        <p:nvPicPr>
          <p:cNvPr id="117" name="Google Shape;117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41819" r="0" t="0"/>
          <a:stretch/>
        </p:blipFill>
        <p:spPr>
          <a:xfrm>
            <a:off x="4800600" y="2224087"/>
            <a:ext cx="2732087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User" id="118" name="Google Shape;11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0940" y="2456973"/>
            <a:ext cx="2419827" cy="24198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Interaction Design</a:t>
            </a:r>
            <a:endParaRPr/>
          </a:p>
        </p:txBody>
      </p:sp>
      <p:sp>
        <p:nvSpPr>
          <p:cNvPr id="124" name="Google Shape;124;p4"/>
          <p:cNvSpPr txBox="1"/>
          <p:nvPr>
            <p:ph idx="1" type="body"/>
          </p:nvPr>
        </p:nvSpPr>
        <p:spPr>
          <a:xfrm>
            <a:off x="1066800" y="16764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Designing interactive products to support the way people communicate and interact in their everyday and working life.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pic>
        <p:nvPicPr>
          <p:cNvPr descr="visual representation of all the interaction design types" id="125" name="Google Shape;12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3429000"/>
            <a:ext cx="5181600" cy="286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Interaction Design Cycle	</a:t>
            </a:r>
            <a:endParaRPr/>
          </a:p>
        </p:txBody>
      </p:sp>
      <p:sp>
        <p:nvSpPr>
          <p:cNvPr id="131" name="Google Shape;131;p5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9664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Discover: Designers try to gather insights about the problem.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Define: Designers develop a clear brief that frames the design challenge.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Develop: Solutions or concepts are created, prototyped, tested, and iterated.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Deliver: The resulting project is finalized, produced, and launched.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The Double Diamond of Design</a:t>
            </a:r>
            <a:endParaRPr/>
          </a:p>
        </p:txBody>
      </p:sp>
      <p:pic>
        <p:nvPicPr>
          <p:cNvPr id="137" name="Google Shape;13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752600"/>
            <a:ext cx="7543800" cy="446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075" y="6331267"/>
            <a:ext cx="81724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Design Trade-off	</a:t>
            </a:r>
            <a:endParaRPr/>
          </a:p>
        </p:txBody>
      </p:sp>
      <p:sp>
        <p:nvSpPr>
          <p:cNvPr id="144" name="Google Shape;144;p7"/>
          <p:cNvSpPr txBox="1"/>
          <p:nvPr>
            <p:ph idx="1" type="body"/>
          </p:nvPr>
        </p:nvSpPr>
        <p:spPr>
          <a:xfrm>
            <a:off x="1435608" y="1447800"/>
            <a:ext cx="3517392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Deciding how choice should be given to user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and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how much direction system should offer. </a:t>
            </a:r>
            <a:endParaRPr/>
          </a:p>
        </p:txBody>
      </p:sp>
      <p:pic>
        <p:nvPicPr>
          <p:cNvPr descr="Synergies &amp; Trade-Offs | SVSS - YouTube"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3988" y="2829791"/>
            <a:ext cx="3830012" cy="2154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ct val="100000"/>
              <a:buFont typeface="Gill Sans"/>
              <a:buNone/>
            </a:pPr>
            <a:r>
              <a:rPr lang="en-US"/>
              <a:t>Understanding the Problem Space</a:t>
            </a:r>
            <a:endParaRPr/>
          </a:p>
        </p:txBody>
      </p:sp>
      <p:sp>
        <p:nvSpPr>
          <p:cNvPr id="151" name="Google Shape;151;p8"/>
          <p:cNvSpPr txBox="1"/>
          <p:nvPr>
            <p:ph idx="1" type="body"/>
          </p:nvPr>
        </p:nvSpPr>
        <p:spPr>
          <a:xfrm>
            <a:off x="1435608" y="1447800"/>
            <a:ext cx="4050792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What is current user experience of the product?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Why change is needed?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How change will improve the user experience?</a:t>
            </a:r>
            <a:endParaRPr/>
          </a:p>
        </p:txBody>
      </p:sp>
      <p:pic>
        <p:nvPicPr>
          <p:cNvPr id="152" name="Google Shape;1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1714510"/>
            <a:ext cx="3248152" cy="4267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91416" y="6059082"/>
            <a:ext cx="5986463" cy="706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Communicating designs</a:t>
            </a:r>
            <a:endParaRPr/>
          </a:p>
        </p:txBody>
      </p:sp>
      <p:sp>
        <p:nvSpPr>
          <p:cNvPr id="159" name="Google Shape;159;p9"/>
          <p:cNvSpPr txBox="1"/>
          <p:nvPr>
            <p:ph idx="1" type="body"/>
          </p:nvPr>
        </p:nvSpPr>
        <p:spPr>
          <a:xfrm>
            <a:off x="1435608" y="1447800"/>
            <a:ext cx="7403592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Design and potential solution need to be communicated with people (i.e. actual users) other than the original designers.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Sketches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Descriptions in natural languages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Series of diagrams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Prototyping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165" name="Google Shape;165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100" y="1901326"/>
            <a:ext cx="7499350" cy="38935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Importance of Involving Users	</a:t>
            </a:r>
            <a:endParaRPr/>
          </a:p>
        </p:txBody>
      </p:sp>
      <p:sp>
        <p:nvSpPr>
          <p:cNvPr id="171" name="Google Shape;171;p11"/>
          <p:cNvSpPr txBox="1"/>
          <p:nvPr>
            <p:ph idx="1" type="body"/>
          </p:nvPr>
        </p:nvSpPr>
        <p:spPr>
          <a:xfrm>
            <a:off x="1435608" y="1447800"/>
            <a:ext cx="749808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0000"/>
              <a:buNone/>
            </a:pPr>
            <a:r>
              <a:rPr lang="en-US"/>
              <a:t>Product owner (proxy users) is different from actual users.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rPr lang="en-US"/>
              <a:t>To make the product usable two things are important from users prospective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Expectation management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Char char="⚫"/>
            </a:pPr>
            <a:r>
              <a:rPr lang="en-US"/>
              <a:t>Ownership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rPr lang="en-US"/>
              <a:t>User involvement require careful consideration and balance to be beneficial.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80000"/>
              <a:buNone/>
            </a:pPr>
            <a:r>
              <a:t/>
            </a:r>
            <a:endParaRPr/>
          </a:p>
        </p:txBody>
      </p:sp>
      <p:pic>
        <p:nvPicPr>
          <p:cNvPr descr="Managing unrealistic expectations | WorksheetCloud" id="172" name="Google Shape;1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0148" y="4648200"/>
            <a:ext cx="3429000" cy="1794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Degree of User Involvement </a:t>
            </a:r>
            <a:endParaRPr/>
          </a:p>
        </p:txBody>
      </p:sp>
      <p:sp>
        <p:nvSpPr>
          <p:cNvPr id="178" name="Google Shape;178;p1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Interviews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Focus groups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Online Feedback Exchange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Crowd sourcing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Participatory Design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A/B testing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 </a:t>
            </a:r>
            <a:endParaRPr/>
          </a:p>
          <a:p>
            <a:pPr indent="-120903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User Centered Approach	</a:t>
            </a:r>
            <a:endParaRPr/>
          </a:p>
        </p:txBody>
      </p:sp>
      <p:sp>
        <p:nvSpPr>
          <p:cNvPr id="184" name="Google Shape;184;p13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9664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Early focus on users and task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Empirical measurement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Iterative Design </a:t>
            </a:r>
            <a:endParaRPr/>
          </a:p>
          <a:p>
            <a:pPr indent="-35179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None/>
            </a:pPr>
            <a:r>
              <a:t/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</a:pPr>
            <a:r>
              <a:rPr lang="en-US" sz="1800"/>
              <a:t>(John Gould and Clayton Lewis , 1985)</a:t>
            </a:r>
            <a:endParaRPr sz="1800"/>
          </a:p>
        </p:txBody>
      </p:sp>
      <p:pic>
        <p:nvPicPr>
          <p:cNvPr id="185" name="Google Shape;1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3048000"/>
            <a:ext cx="2928938" cy="3014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Interaction Design Life Cycle </a:t>
            </a:r>
            <a:endParaRPr/>
          </a:p>
        </p:txBody>
      </p:sp>
      <p:sp>
        <p:nvSpPr>
          <p:cNvPr id="191" name="Google Shape;191;p14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9664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Discovering Requirement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Designing Alternatives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Prototyping </a:t>
            </a:r>
            <a:endParaRPr/>
          </a:p>
          <a:p>
            <a:pPr indent="-51435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AutoNum type="arabicPeriod"/>
            </a:pPr>
            <a:r>
              <a:rPr lang="en-US"/>
              <a:t>Evaluating </a:t>
            </a:r>
            <a:endParaRPr/>
          </a:p>
          <a:p>
            <a:pPr indent="-351790" lvl="0" marL="59664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Font typeface="Gill Sans"/>
              <a:buNone/>
            </a:pPr>
            <a:r>
              <a:t/>
            </a:r>
            <a:endParaRPr/>
          </a:p>
        </p:txBody>
      </p:sp>
      <p:pic>
        <p:nvPicPr>
          <p:cNvPr descr="5 Benefits of User-Centered Design &amp; Process to Use it · Itspresso" id="192" name="Google Shape;1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3664203"/>
            <a:ext cx="6077298" cy="2885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Interaction Design Life Cycle</a:t>
            </a:r>
            <a:endParaRPr/>
          </a:p>
        </p:txBody>
      </p:sp>
      <p:pic>
        <p:nvPicPr>
          <p:cNvPr id="198" name="Google Shape;198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100" y="2071354"/>
            <a:ext cx="7499350" cy="3553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Google Design Sprint</a:t>
            </a:r>
            <a:endParaRPr/>
          </a:p>
        </p:txBody>
      </p:sp>
      <p:pic>
        <p:nvPicPr>
          <p:cNvPr id="204" name="Google Shape;204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1828800"/>
            <a:ext cx="7499350" cy="19117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ID | Design Sprint | How to use the Google method" id="205" name="Google Shape;20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1500" y="4151721"/>
            <a:ext cx="3867150" cy="2156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Who are the Users?</a:t>
            </a:r>
            <a:endParaRPr/>
          </a:p>
        </p:txBody>
      </p:sp>
      <p:sp>
        <p:nvSpPr>
          <p:cNvPr id="211" name="Google Shape;211;p17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Stakeholders (users) are the individuals or groups that can influence or be influenced by (directly or indirectly) the success or failure of a project. </a:t>
            </a:r>
            <a:endParaRPr/>
          </a:p>
        </p:txBody>
      </p:sp>
      <p:pic>
        <p:nvPicPr>
          <p:cNvPr id="212" name="Google Shape;2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3448" y="3733800"/>
            <a:ext cx="3962400" cy="2983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8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What are the User’s Needs?</a:t>
            </a:r>
            <a:endParaRPr/>
          </a:p>
        </p:txBody>
      </p:sp>
      <p:sp>
        <p:nvSpPr>
          <p:cNvPr id="218" name="Google Shape;218;p18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Explore the problem space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Investigate users and their activities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What can be improved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Try out potential ideas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Feedback</a:t>
            </a:r>
            <a:endParaRPr/>
          </a:p>
        </p:txBody>
      </p:sp>
      <p:pic>
        <p:nvPicPr>
          <p:cNvPr id="219" name="Google Shape;21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9148" y="4439340"/>
            <a:ext cx="4191000" cy="1941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Generate Design Alternatives</a:t>
            </a:r>
            <a:endParaRPr/>
          </a:p>
        </p:txBody>
      </p:sp>
      <p:sp>
        <p:nvSpPr>
          <p:cNvPr id="225" name="Google Shape;225;p19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None/>
            </a:pPr>
            <a:r>
              <a:rPr lang="en-US"/>
              <a:t>Comes from seeking different perspectives and looking at other designs. 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rPr lang="en-US"/>
              <a:t>This is the process of inspiration and creativity. 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8229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Comes from seeking different perspectives and looking at other designs. </a:t>
            </a:r>
            <a:endParaRPr/>
          </a:p>
          <a:p>
            <a:pPr indent="0" lvl="0" marL="82296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56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This is the process of inspiration and creativity. </a:t>
            </a:r>
            <a:endParaRPr b="0" i="0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Premium Vector | Sign up form, web design, ui ux registration interface  with gradient" id="227" name="Google Shape;227;p19"/>
          <p:cNvPicPr preferRelativeResize="0"/>
          <p:nvPr/>
        </p:nvPicPr>
        <p:blipFill rotWithShape="1">
          <a:blip r:embed="rId3">
            <a:alphaModFix/>
          </a:blip>
          <a:srcRect b="15076" l="9559" r="10783" t="25697"/>
          <a:stretch/>
        </p:blipFill>
        <p:spPr>
          <a:xfrm>
            <a:off x="1407899" y="4008438"/>
            <a:ext cx="3810000" cy="22399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ow to Make Your Sign Up Process Sing in 8 Steps. | by Ben Luby | Medium" id="228" name="Google Shape;228;p19"/>
          <p:cNvPicPr preferRelativeResize="0"/>
          <p:nvPr/>
        </p:nvPicPr>
        <p:blipFill rotWithShape="1">
          <a:blip r:embed="rId4">
            <a:alphaModFix/>
          </a:blip>
          <a:srcRect b="16128" l="11295" r="11845" t="14546"/>
          <a:stretch/>
        </p:blipFill>
        <p:spPr>
          <a:xfrm>
            <a:off x="5562600" y="4043074"/>
            <a:ext cx="3085960" cy="2087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Prototyping </a:t>
            </a:r>
            <a:endParaRPr/>
          </a:p>
        </p:txBody>
      </p:sp>
      <p:pic>
        <p:nvPicPr>
          <p:cNvPr descr="How To Create A Low-Fidelity Prototype Like An App Expert | ThinkLions" id="234" name="Google Shape;234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3048000"/>
            <a:ext cx="7499350" cy="346405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1219200" y="1542871"/>
            <a:ext cx="757555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 prototype is a draft version of a product that allows you to explore your ideas and show the intention behind a feature or the overall design concept</a:t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1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Evaluation </a:t>
            </a:r>
            <a:endParaRPr/>
          </a:p>
        </p:txBody>
      </p:sp>
      <p:pic>
        <p:nvPicPr>
          <p:cNvPr descr="A beginner's guide to qualitative and quantitative research - Optimal  Workshop" id="241" name="Google Shape;241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531" y="2508245"/>
            <a:ext cx="6342888" cy="3964304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1219200" y="1542871"/>
            <a:ext cx="757555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Evaluation is the process of measuring the usability and functionality of a system. </a:t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 txBox="1"/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62214"/>
              </a:buClr>
              <a:buSzPts val="4300"/>
              <a:buFont typeface="Gill Sans"/>
              <a:buNone/>
            </a:pPr>
            <a:r>
              <a:rPr lang="en-US"/>
              <a:t>Conclusion 	</a:t>
            </a:r>
            <a:endParaRPr/>
          </a:p>
        </p:txBody>
      </p:sp>
      <p:sp>
        <p:nvSpPr>
          <p:cNvPr id="248" name="Google Shape;248;p22"/>
          <p:cNvSpPr txBox="1"/>
          <p:nvPr>
            <p:ph idx="1" type="body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3464" lvl="0" marL="3657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Interaction Design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Problem Space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User Involvement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User Centered Design </a:t>
            </a:r>
            <a:endParaRPr/>
          </a:p>
          <a:p>
            <a:pPr indent="-283464" lvl="0" marL="36576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Char char="⚫"/>
            </a:pPr>
            <a:r>
              <a:rPr lang="en-US"/>
              <a:t>Design Life Cycle</a:t>
            </a:r>
            <a:endParaRPr/>
          </a:p>
          <a:p>
            <a:pPr indent="0" lvl="0" marL="82296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10bdd7b7f4_0_0"/>
          <p:cNvSpPr txBox="1"/>
          <p:nvPr>
            <p:ph type="title"/>
          </p:nvPr>
        </p:nvSpPr>
        <p:spPr>
          <a:xfrm>
            <a:off x="1435608" y="274638"/>
            <a:ext cx="74982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Reading assignment</a:t>
            </a:r>
            <a:endParaRPr/>
          </a:p>
        </p:txBody>
      </p:sp>
      <p:sp>
        <p:nvSpPr>
          <p:cNvPr id="255" name="Google Shape;255;g210bdd7b7f4_0_0"/>
          <p:cNvSpPr txBox="1"/>
          <p:nvPr>
            <p:ph idx="1" type="body"/>
          </p:nvPr>
        </p:nvSpPr>
        <p:spPr>
          <a:xfrm>
            <a:off x="1435608" y="1447800"/>
            <a:ext cx="7498200" cy="48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From book Interaction Design beyond human computer interaction (sharp)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0040" lvl="0" marL="457200" rtl="0" algn="l">
              <a:spcBef>
                <a:spcPts val="600"/>
              </a:spcBef>
              <a:spcAft>
                <a:spcPts val="0"/>
              </a:spcAft>
              <a:buSzPts val="1440"/>
              <a:buChar char="⚫"/>
            </a:pPr>
            <a:r>
              <a:rPr lang="en-US"/>
              <a:t>Section 2.2.1-2.2.5</a:t>
            </a:r>
            <a:endParaRPr/>
          </a:p>
          <a:p>
            <a:pPr indent="-320040" lvl="0" marL="457200" rtl="0" algn="l">
              <a:spcBef>
                <a:spcPts val="0"/>
              </a:spcBef>
              <a:spcAft>
                <a:spcPts val="0"/>
              </a:spcAft>
              <a:buSzPts val="1440"/>
              <a:buChar char="⚫"/>
            </a:pPr>
            <a:r>
              <a:rPr lang="en-US"/>
              <a:t>Activity 2.1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olstice">
  <a:themeElements>
    <a:clrScheme name="Solstice">
      <a:dk1>
        <a:srgbClr val="000000"/>
      </a:dk1>
      <a:lt1>
        <a:srgbClr val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2018-08-15T12:40:21Z</dcterms:created>
  <dc:creator>adnan</dc:creator>
</cp:coreProperties>
</file>