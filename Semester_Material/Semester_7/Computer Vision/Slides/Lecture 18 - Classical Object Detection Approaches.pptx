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61" r:id="rId5"/>
    <p:sldId id="259" r:id="rId6"/>
    <p:sldId id="260" r:id="rId7"/>
    <p:sldId id="279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76" r:id="rId16"/>
    <p:sldId id="274" r:id="rId17"/>
    <p:sldId id="275" r:id="rId18"/>
    <p:sldId id="277" r:id="rId19"/>
    <p:sldId id="272" r:id="rId20"/>
    <p:sldId id="268" r:id="rId21"/>
    <p:sldId id="269" r:id="rId22"/>
    <p:sldId id="270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77C9D-C3C4-4970-83B1-29D17D35E6A7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D291D-360D-4E92-A699-8137A9065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D291D-360D-4E92-A699-8137A906503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63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DD596-9C0F-4811-FB82-D529B908D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2A4D9-6404-34A4-404A-5C7CED621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0F4B8-2A26-2A17-7550-ADE03EBA8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E8732-A905-0D23-B36B-3C4D2775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AB3D5-D4C3-E3B4-5E9A-17DB3272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73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AF55-A023-DB8F-706C-EE2BFC57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40C3C-B97C-2B11-3A79-BBAB43ED3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F837-E62C-A976-B28C-41994BFFD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9E916-37BC-AF13-EECA-A52D23148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BF554-7FB5-F2FC-6B30-48885F4B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3E9EB-F9BB-7057-7F43-A28FB8DCE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7B435-B4B4-0455-02A7-C73DF9FB1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B1C6C-70E5-9BB8-EC36-CDDC0B749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D2DBA-8ED2-1EE8-6877-14C96450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05CE5-75EF-22C4-570F-28F890FF2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22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BC93-ABA7-5115-7A8C-A81C287E1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0DDBF-9C83-7E9C-1F79-F757CC0C8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E1158-FC64-F65C-C189-CCF22457C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1074A-6BDA-0CCD-F856-07283DB40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5E90C-B841-1CEC-30F7-AE6FE4D8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5B872-69C6-322F-DD0E-B0C44197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2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A2C4-903A-8260-1FB9-EBD9765F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2B25F-4B43-2DCC-5BEC-9C89993C4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9F75C-EB17-BEC5-C453-D79E07304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8DE20-CED7-0B87-F226-C76E10C8D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7F823-B071-E2BF-103C-E29B35C8D0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52C42-3E6D-9922-96F7-0A34D3EE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CAA39-9544-2946-C061-5790D68B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8F73F-75DE-821D-3CED-FF8CB840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93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34BE-72B6-CF8F-D6EF-E0785237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91BD37-99CE-D4CB-492C-62C3AD836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C91BA5-BA5A-6AFB-9DE9-EEA389C4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00D30-0F4E-658E-3EB0-508A4EC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6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D2EC3-87DC-6FF4-7C79-A62C9FBF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A2416-3C16-CA09-9EE1-90F49946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66436-0A0F-768F-6F24-416092B9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9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D4B6-F320-F52C-6FB5-BFE6C32B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D0253-8314-2982-6C6E-FF804BBE5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5592C-6634-40FA-8C4A-6D96C734E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FF62E-2E82-829B-0EA8-B19B5760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A9B8D-A948-9E58-7182-5CA57960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C2FAC-4D79-77EE-1BF0-08C4C170A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8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E4B92-81D0-BC51-1FD0-37E4ADA3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B59DC-BEAC-B9D0-DE42-588DDC477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75D32-F395-0876-0066-489562004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B08CB-3C26-1E66-0904-254768E39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8629C-419E-2FBB-6FC4-47030DEF1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7F6E2-DD3C-85C5-5A49-72BF1FC11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2D0D-289F-FF6C-B6E2-777CE677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53DFC-0CA8-0C40-3CAC-A60A51412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4462C-768A-367A-02F0-5F7EE24F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1C89F-72A5-B150-36C8-CB5BBF09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89CC-BA84-EE15-49AB-9CB74C883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10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B9BC08-D799-A1DA-AF0B-7B127AB4A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FB6F1-4B1A-72CD-9A7A-D73F21C93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D2437-1283-D0A0-2B45-B8A0186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A95EC-7ED3-CFC9-F1FD-EE57A4BA2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5FD22-B7C4-9D13-005D-721FCB6C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2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82EE37-E0F4-D39A-822F-4A317F18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787F0-01D7-498F-E156-44F0307D6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35F75-0F65-02DE-8C8A-12A09E45A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B8618-5F06-4B6D-8AFB-A3BC4C807FB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D1068-2B8C-BF1B-F0D9-30C75F44F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EBB5D-7D24-D30F-9735-739654995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3B916-0722-438F-82D1-D7EC93DB0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6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C03A-FCDA-FD49-5FE1-DEE406001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Classical Object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5A1D8-6893-AC83-DE1B-3ACFD8F31A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94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1817-8EEA-8624-95FF-998DD4B20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5742C-7EDE-2F71-0E0D-1A9A5E62B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Classical Object Detection vs. Modern Object Detection</a:t>
            </a:r>
          </a:p>
          <a:p>
            <a:r>
              <a:rPr lang="en-US" dirty="0"/>
              <a:t>Classical Object Detection approaches</a:t>
            </a:r>
          </a:p>
          <a:p>
            <a:pPr lvl="1"/>
            <a:r>
              <a:rPr lang="en-US" dirty="0"/>
              <a:t>Object detection by classification</a:t>
            </a:r>
          </a:p>
          <a:p>
            <a:pPr lvl="1"/>
            <a:r>
              <a:rPr lang="en-US" dirty="0"/>
              <a:t>Sliding window based object detection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11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70E3-A5F7-F32F-DA63-F924C95D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Object detection vs. Modern 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8AF2A-DC75-430E-0043-C427AD198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 classical object detection approaches,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feature-based methods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play a critical role.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They rely heavily on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hand-engineered features (like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SIFT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or </a:t>
            </a:r>
            <a:r>
              <a:rPr lang="en-US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Haar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features) and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traditional machine learning algorithms (like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SVM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or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AdaBoost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). </a:t>
            </a:r>
          </a:p>
          <a:p>
            <a:endParaRPr lang="en-US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process often involves separate stages for feature extraction, object localization (e.g.,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sliding windows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), and classification.</a:t>
            </a:r>
          </a:p>
          <a:p>
            <a:pPr lvl="1"/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11804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70E3-A5F7-F32F-DA63-F924C95D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Object detection vs. Modern 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8AF2A-DC75-430E-0043-C427AD198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Modern object detection approaches use deep learning models, particularly Convolutional Neural Networks (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CNNs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), to automatically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learn feature representations from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 without manual intervention.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These approaches often integrate object localization and classification into a single end-to-end trainable model, such as with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Faster R-CNN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YOLO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(You Only Look Once), or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SSD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(Single Shot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Multibox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Detector).</a:t>
            </a:r>
          </a:p>
        </p:txBody>
      </p:sp>
    </p:spTree>
    <p:extLst>
      <p:ext uri="{BB962C8B-B14F-4D97-AF65-F5344CB8AC3E}">
        <p14:creationId xmlns:p14="http://schemas.microsoft.com/office/powerpoint/2010/main" val="122075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38DE-9693-4A23-2F4E-C8FCFEDD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Object Detection approaches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70588-A268-6A58-B4A6-6F65CB41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Object detection by classification</a:t>
            </a:r>
          </a:p>
          <a:p>
            <a:pPr lvl="1"/>
            <a:r>
              <a:rPr lang="en-US" dirty="0"/>
              <a:t>Sliding window based object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91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FBB4-9E3C-925F-5FCA-70699E58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by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80BC-A4A0-C250-CE53-438CE9E7B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These approaches rely on extracting distinctive and informative features from images to train classifiers that can recognize objects within new images.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 its basic form, this approach focuses on determining whether an object (or objects) of interest is present in an image, often without specifying the location.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It's similar in concept to image classification but focused on specific objects.</a:t>
            </a:r>
          </a:p>
          <a:p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Important design considerations in this approach are the choice of features (feature extraction techniques) and classifier used for object detection. </a:t>
            </a:r>
          </a:p>
        </p:txBody>
      </p:sp>
    </p:spTree>
    <p:extLst>
      <p:ext uri="{BB962C8B-B14F-4D97-AF65-F5344CB8AC3E}">
        <p14:creationId xmlns:p14="http://schemas.microsoft.com/office/powerpoint/2010/main" val="298908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A3F8-DB4D-7E7F-B12D-8D1EC723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365125"/>
            <a:ext cx="11969496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Object detection by classification – Typical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8EBEF-A009-B98F-A132-9F7342186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888"/>
            <a:ext cx="10878312" cy="546811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Required Inputs: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Training Data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set of labeled images where the presence or absence of objects of interest is marked.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Feature Extractor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method to extract relevant features from images (e.g., HOG, SIFT, SURF).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Classifier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machine learning model to classify images as containing the object or not (e.g., SVM, Random Forest).</a:t>
            </a: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Training Phase: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Feature Extraction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1200150" lvl="2" indent="-285750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Extract features from the entire image, both from images with objects (positive samples) and without objects (negative samples).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Train Classifier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1200150" lvl="2" indent="-285750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Use the extracted features to train the classifier to distinguish between images that contain objects and those that do not.</a:t>
            </a: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Testing/Detection Phase: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Feature Extraction on New Image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1200150" lvl="2" indent="-285750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For each new image, extract features using the same method employed during training.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Classification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1200150" lvl="2" indent="-285750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Use the trained classifier to predict whether the entire image contains the object.</a:t>
            </a: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Output: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classifier provides a binary output indicating the presence or absence of the object in the image, without specifying the object's location.</a:t>
            </a:r>
          </a:p>
        </p:txBody>
      </p:sp>
    </p:spTree>
    <p:extLst>
      <p:ext uri="{BB962C8B-B14F-4D97-AF65-F5344CB8AC3E}">
        <p14:creationId xmlns:p14="http://schemas.microsoft.com/office/powerpoint/2010/main" val="104653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FBB4-9E3C-925F-5FCA-70699E58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by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80BC-A4A0-C250-CE53-438CE9E7B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Example Features: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HOG (Histogram of Oriented Gradients)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HOG involves dividing an image into small connected regions called cells, and for each cell, accumulating a histogram of gradient directions (or edge orientations) for the pixels within the cell.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HOG features are famously used in pedestrian detection systems because human forms typically have distinct edge structures that are well-captured by gradient histograms.</a:t>
            </a:r>
          </a:p>
        </p:txBody>
      </p:sp>
    </p:spTree>
    <p:extLst>
      <p:ext uri="{BB962C8B-B14F-4D97-AF65-F5344CB8AC3E}">
        <p14:creationId xmlns:p14="http://schemas.microsoft.com/office/powerpoint/2010/main" val="61278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2D12FA-B83D-59C2-565A-941DB073543F}"/>
              </a:ext>
            </a:extLst>
          </p:cNvPr>
          <p:cNvSpPr txBox="1"/>
          <p:nvPr/>
        </p:nvSpPr>
        <p:spPr>
          <a:xfrm>
            <a:off x="502920" y="1847088"/>
            <a:ext cx="5486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numpy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np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matplotlib.pyplot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skimage.io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imread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skimage.transform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resize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skimage.feature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hog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skimage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exposure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sklearn.model_selection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train_test_split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sklearn.svm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LinearSVC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sklearn.metrics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accuracy_score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classification_report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13B239A-F8DD-0946-ED4E-16AF8BA3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Object detection by classification – example code</a:t>
            </a:r>
          </a:p>
        </p:txBody>
      </p:sp>
    </p:spTree>
    <p:extLst>
      <p:ext uri="{BB962C8B-B14F-4D97-AF65-F5344CB8AC3E}">
        <p14:creationId xmlns:p14="http://schemas.microsoft.com/office/powerpoint/2010/main" val="2487337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2D12FA-B83D-59C2-565A-941DB073543F}"/>
              </a:ext>
            </a:extLst>
          </p:cNvPr>
          <p:cNvSpPr txBox="1"/>
          <p:nvPr/>
        </p:nvSpPr>
        <p:spPr>
          <a:xfrm>
            <a:off x="265176" y="1563624"/>
            <a:ext cx="114208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Load your dataset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For the demo, we assume `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positive_images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` and `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negative_images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` are lists of image file paths.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load_images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image_files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images = [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imread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(file)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file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image_files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images = [resize(image, (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128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image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images]  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Resize images to a consistent size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images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extract_features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(images):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hog_features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[]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image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images: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hog_image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hog(image, orientations=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pixels_per_cell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cells_per_block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 visualize=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multichannel=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hog_features.append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hog_features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B9DFA3-4199-7762-F6C7-4CCA308F8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Object detection by classification – example code</a:t>
            </a:r>
          </a:p>
        </p:txBody>
      </p:sp>
    </p:spTree>
    <p:extLst>
      <p:ext uri="{BB962C8B-B14F-4D97-AF65-F5344CB8AC3E}">
        <p14:creationId xmlns:p14="http://schemas.microsoft.com/office/powerpoint/2010/main" val="1652582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2D12FA-B83D-59C2-565A-941DB073543F}"/>
              </a:ext>
            </a:extLst>
          </p:cNvPr>
          <p:cNvSpPr txBox="1"/>
          <p:nvPr/>
        </p:nvSpPr>
        <p:spPr>
          <a:xfrm>
            <a:off x="384048" y="1690688"/>
            <a:ext cx="116494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Example data loading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positive_images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load_images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(['path/to/pos1.jpg', 'path/to/pos2.jpg', ...])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negative_images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load_images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(['path/to/neg1.jpg', 'path/to/neg2.jpg', ...])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Assume images are loaded into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positive_images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and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negative_images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as lists of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numpy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arrays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Extract features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positive_features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extract_features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positive_images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negative_features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extract_features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negative_images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Create labels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labels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np.array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*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positive_features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+ 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*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negative_features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features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np.array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positive_features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negative_features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Split data into training and testing sets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X_train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X_test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y_train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y_test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train_test_split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(features, labels,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test_size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0.2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8EAFC6-144E-39DC-5183-1B3CDE0D3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Object detection by classification – example code</a:t>
            </a:r>
          </a:p>
        </p:txBody>
      </p:sp>
    </p:spTree>
    <p:extLst>
      <p:ext uri="{BB962C8B-B14F-4D97-AF65-F5344CB8AC3E}">
        <p14:creationId xmlns:p14="http://schemas.microsoft.com/office/powerpoint/2010/main" val="2162551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2D12FA-B83D-59C2-565A-941DB073543F}"/>
              </a:ext>
            </a:extLst>
          </p:cNvPr>
          <p:cNvSpPr txBox="1"/>
          <p:nvPr/>
        </p:nvSpPr>
        <p:spPr>
          <a:xfrm>
            <a:off x="484632" y="1316736"/>
            <a:ext cx="109545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Train a classifier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LinearSVC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clf.fit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X_train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y_train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Test the classifier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y_pred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clf.predict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X_test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print(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"Classification report:"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classification_report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y_test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y_pred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Function to test new images using the trained classifier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detect_object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threshold=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0.5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img_resized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resize(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128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 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Resize the image to the same size as training data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_ = hog(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img_resized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orientations=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pixels_per_cell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cells_per_block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 visualize=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multichannel=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pred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clf.decision_function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pred &gt; threshold: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"Object detected"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"No object detected"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E773E5-A876-AB3C-8910-FD50F51C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Object detection by classification – example code</a:t>
            </a:r>
          </a:p>
        </p:txBody>
      </p:sp>
    </p:spTree>
    <p:extLst>
      <p:ext uri="{BB962C8B-B14F-4D97-AF65-F5344CB8AC3E}">
        <p14:creationId xmlns:p14="http://schemas.microsoft.com/office/powerpoint/2010/main" val="67022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2D12FA-B83D-59C2-565A-941DB073543F}"/>
              </a:ext>
            </a:extLst>
          </p:cNvPr>
          <p:cNvSpPr txBox="1"/>
          <p:nvPr/>
        </p:nvSpPr>
        <p:spPr>
          <a:xfrm>
            <a:off x="512064" y="1690688"/>
            <a:ext cx="10954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Example usage: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test_img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imread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('path/to/test_image.jpg')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result =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detect_object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test_img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print(result)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FBE8CD-45E3-AF7C-E0A9-FC8AD5E9A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Object detection by classification – example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6B42A5-039F-314F-00B1-3F54637FC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25" y="3016251"/>
            <a:ext cx="2509848" cy="31817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852F74-7D08-E3CF-7C58-AD8ED83A9438}"/>
              </a:ext>
            </a:extLst>
          </p:cNvPr>
          <p:cNvSpPr txBox="1"/>
          <p:nvPr/>
        </p:nvSpPr>
        <p:spPr>
          <a:xfrm>
            <a:off x="1238161" y="6198027"/>
            <a:ext cx="209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Object detected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2B1D51-B209-C9A8-66ED-20E8ACC5278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2228" y="3031577"/>
            <a:ext cx="4804731" cy="32031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02CE2A-0821-CCAD-12EB-D3D8A3D3A444}"/>
              </a:ext>
            </a:extLst>
          </p:cNvPr>
          <p:cNvSpPr txBox="1"/>
          <p:nvPr/>
        </p:nvSpPr>
        <p:spPr>
          <a:xfrm>
            <a:off x="6185709" y="6198027"/>
            <a:ext cx="275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Object not detected</a:t>
            </a:r>
          </a:p>
        </p:txBody>
      </p:sp>
    </p:spTree>
    <p:extLst>
      <p:ext uri="{BB962C8B-B14F-4D97-AF65-F5344CB8AC3E}">
        <p14:creationId xmlns:p14="http://schemas.microsoft.com/office/powerpoint/2010/main" val="145456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F7BB8-5F47-36C0-0961-8BAA6F13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based 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211AC-45B6-B074-7B63-A8278422D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8988" cy="4351338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 the sliding window technique, a window of a fixed size moves across the image at all positions and scales.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At each position, the features within the window are extracted and fed into a classifier to determine whether an object is present.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FF9546-7D0B-B7EB-637B-751C09609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361417"/>
              </p:ext>
            </p:extLst>
          </p:nvPr>
        </p:nvGraphicFramePr>
        <p:xfrm>
          <a:off x="8719450" y="1825626"/>
          <a:ext cx="3094140" cy="1647255"/>
        </p:xfrm>
        <a:graphic>
          <a:graphicData uri="http://schemas.openxmlformats.org/drawingml/2006/table">
            <a:tbl>
              <a:tblPr firstRow="1" bandRow="1"/>
              <a:tblGrid>
                <a:gridCol w="221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9FACE00-46D0-4BE2-A327-9B4F4BF97A77}"/>
              </a:ext>
            </a:extLst>
          </p:cNvPr>
          <p:cNvSpPr/>
          <p:nvPr/>
        </p:nvSpPr>
        <p:spPr>
          <a:xfrm>
            <a:off x="8719450" y="1825625"/>
            <a:ext cx="443066" cy="981928"/>
          </a:xfrm>
          <a:prstGeom prst="rect">
            <a:avLst/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FA2AB6-3844-23B9-51B2-21803ABF5074}"/>
              </a:ext>
            </a:extLst>
          </p:cNvPr>
          <p:cNvSpPr/>
          <p:nvPr/>
        </p:nvSpPr>
        <p:spPr>
          <a:xfrm>
            <a:off x="8933916" y="1825625"/>
            <a:ext cx="443066" cy="981928"/>
          </a:xfrm>
          <a:prstGeom prst="rect">
            <a:avLst/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1705AC-71D1-8690-D431-B79E323920D9}"/>
              </a:ext>
            </a:extLst>
          </p:cNvPr>
          <p:cNvSpPr/>
          <p:nvPr/>
        </p:nvSpPr>
        <p:spPr>
          <a:xfrm>
            <a:off x="9163245" y="1825625"/>
            <a:ext cx="443066" cy="981928"/>
          </a:xfrm>
          <a:prstGeom prst="rect">
            <a:avLst/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C0D8A-6701-D7C9-C712-F4F52334E392}"/>
              </a:ext>
            </a:extLst>
          </p:cNvPr>
          <p:cNvSpPr/>
          <p:nvPr/>
        </p:nvSpPr>
        <p:spPr>
          <a:xfrm>
            <a:off x="9385507" y="1825625"/>
            <a:ext cx="443066" cy="981928"/>
          </a:xfrm>
          <a:prstGeom prst="rect">
            <a:avLst/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96875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F7BB8-5F47-36C0-0961-8BAA6F13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based 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211AC-45B6-B074-7B63-A8278422D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8988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This not only detects the object in an input image, but also provides its location as specified by the sliding window coordinates for the object is detected. </a:t>
            </a:r>
          </a:p>
          <a:p>
            <a:pPr lvl="1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Thus, this approach is a simple extension to the previous approach, as it simply applied ‘object detection by classification’ to each sliding window.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FF9546-7D0B-B7EB-637B-751C09609667}"/>
              </a:ext>
            </a:extLst>
          </p:cNvPr>
          <p:cNvGraphicFramePr>
            <a:graphicFrameLocks noGrp="1"/>
          </p:cNvGraphicFramePr>
          <p:nvPr/>
        </p:nvGraphicFramePr>
        <p:xfrm>
          <a:off x="8719450" y="1825626"/>
          <a:ext cx="3094140" cy="1647255"/>
        </p:xfrm>
        <a:graphic>
          <a:graphicData uri="http://schemas.openxmlformats.org/drawingml/2006/table">
            <a:tbl>
              <a:tblPr firstRow="1" bandRow="1"/>
              <a:tblGrid>
                <a:gridCol w="221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101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4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9FACE00-46D0-4BE2-A327-9B4F4BF97A77}"/>
              </a:ext>
            </a:extLst>
          </p:cNvPr>
          <p:cNvSpPr/>
          <p:nvPr/>
        </p:nvSpPr>
        <p:spPr>
          <a:xfrm>
            <a:off x="8719450" y="1825625"/>
            <a:ext cx="443066" cy="981928"/>
          </a:xfrm>
          <a:prstGeom prst="rect">
            <a:avLst/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FA2AB6-3844-23B9-51B2-21803ABF5074}"/>
              </a:ext>
            </a:extLst>
          </p:cNvPr>
          <p:cNvSpPr/>
          <p:nvPr/>
        </p:nvSpPr>
        <p:spPr>
          <a:xfrm>
            <a:off x="8933916" y="1825625"/>
            <a:ext cx="443066" cy="981928"/>
          </a:xfrm>
          <a:prstGeom prst="rect">
            <a:avLst/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1705AC-71D1-8690-D431-B79E323920D9}"/>
              </a:ext>
            </a:extLst>
          </p:cNvPr>
          <p:cNvSpPr/>
          <p:nvPr/>
        </p:nvSpPr>
        <p:spPr>
          <a:xfrm>
            <a:off x="9163245" y="1825625"/>
            <a:ext cx="443066" cy="981928"/>
          </a:xfrm>
          <a:prstGeom prst="rect">
            <a:avLst/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C0D8A-6701-D7C9-C712-F4F52334E392}"/>
              </a:ext>
            </a:extLst>
          </p:cNvPr>
          <p:cNvSpPr/>
          <p:nvPr/>
        </p:nvSpPr>
        <p:spPr>
          <a:xfrm>
            <a:off x="9385507" y="1825625"/>
            <a:ext cx="443066" cy="981928"/>
          </a:xfrm>
          <a:prstGeom prst="rect">
            <a:avLst/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358034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method - dealing with scale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1376" y="2349499"/>
            <a:ext cx="4924425" cy="32829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1375" y="2349500"/>
          <a:ext cx="4924430" cy="3282950"/>
        </p:xfrm>
        <a:graphic>
          <a:graphicData uri="http://schemas.openxmlformats.org/drawingml/2006/table">
            <a:tbl>
              <a:tblPr firstRow="1" bandRow="1"/>
              <a:tblGrid>
                <a:gridCol w="351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17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6565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5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5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076374" y="3009047"/>
            <a:ext cx="1054426" cy="19503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6540175" y="3682145"/>
            <a:ext cx="368627" cy="12772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38592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method - dealing with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9DF2E-6181-734F-815F-14BFABFE7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same window size, but run on </a:t>
            </a:r>
            <a:r>
              <a:rPr lang="en-US" i="1" dirty="0"/>
              <a:t>image pyramid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7703" y="3682145"/>
            <a:ext cx="3268358" cy="217890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67703" y="3682145"/>
          <a:ext cx="3268356" cy="2178911"/>
        </p:xfrm>
        <a:graphic>
          <a:graphicData uri="http://schemas.openxmlformats.org/drawingml/2006/table">
            <a:tbl>
              <a:tblPr firstRow="1" bandRow="1"/>
              <a:tblGrid>
                <a:gridCol w="233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34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11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273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273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54698" y="4326320"/>
            <a:ext cx="444500" cy="8905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8988" y="2190844"/>
            <a:ext cx="1923013" cy="128201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18988" y="2190936"/>
          <a:ext cx="1923012" cy="1281920"/>
        </p:xfrm>
        <a:graphic>
          <a:graphicData uri="http://schemas.openxmlformats.org/drawingml/2006/table">
            <a:tbl>
              <a:tblPr firstRow="1" bandRow="1"/>
              <a:tblGrid>
                <a:gridCol w="213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3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3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36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63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384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3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384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3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l Sans"/>
                          <a:ea typeface="Gill Sans"/>
                          <a:cs typeface="Gill Sans"/>
                        </a:defRPr>
                      </a:lvl9pPr>
                    </a:lstStyle>
                    <a:p>
                      <a:endParaRPr lang="en-US" sz="100" dirty="0"/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33851" y="2458429"/>
            <a:ext cx="425450" cy="7737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59202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A3F8-DB4D-7E7F-B12D-8D1EC723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Sliding Window Technique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8EBEF-A009-B98F-A132-9F7342186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904"/>
            <a:ext cx="10515600" cy="5193791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Required Inputs:</a:t>
            </a:r>
          </a:p>
          <a:p>
            <a:pPr lvl="1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Training Data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set of labeled images where objects of interest are marked.</a:t>
            </a:r>
          </a:p>
          <a:p>
            <a:pPr lvl="1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Feature Extractor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method to extract relevant features from images (e.g., HOG,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Haar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).</a:t>
            </a:r>
          </a:p>
          <a:p>
            <a:pPr lvl="1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Classifier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machine learning model to classify regions as containing the object or not (e.g., SVM, AdaBoost).</a:t>
            </a: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Training Phase:</a:t>
            </a:r>
          </a:p>
          <a:p>
            <a:pPr lvl="1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Feature Extraction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lvl="2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Extract features from labeled regions of interest (positive samples) and regions without objects (negative samples) using the chosen feature extractor.</a:t>
            </a:r>
          </a:p>
          <a:p>
            <a:pPr lvl="1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Train Classifier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lvl="2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Use the extracted features to train the classifier to distinguish between positive and negative examples.</a:t>
            </a: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Testing/Detection Phase:</a:t>
            </a:r>
          </a:p>
          <a:p>
            <a:pPr lvl="1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Feature Extraction on New Image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lvl="2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Apply the sliding window across the entire image at multiple scales and locations.</a:t>
            </a:r>
          </a:p>
          <a:p>
            <a:pPr lvl="2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Extract features from each window using the same method used during training.</a:t>
            </a:r>
          </a:p>
          <a:p>
            <a:pPr lvl="1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Classification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lvl="2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Use the trained classifier to predict whether each window contains the object.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8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F7BB8-5F47-36C0-0961-8BAA6F13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Sliding window method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211AC-45B6-B074-7B63-A8278422D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Example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common example is face detection, where a sliding window moves across the image, and at each step,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HOG or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Haar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features are extracted and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evaluated by an SVM or AdaBoost classifier to determine whether a face is present in the window.</a:t>
            </a:r>
          </a:p>
        </p:txBody>
      </p:sp>
    </p:spTree>
    <p:extLst>
      <p:ext uri="{BB962C8B-B14F-4D97-AF65-F5344CB8AC3E}">
        <p14:creationId xmlns:p14="http://schemas.microsoft.com/office/powerpoint/2010/main" val="3167655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A742-F932-339C-6396-914E93AC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Sliding Window Method – example code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FD4E9-CB93-57AA-D869-D82C7864A062}"/>
              </a:ext>
            </a:extLst>
          </p:cNvPr>
          <p:cNvSpPr txBox="1"/>
          <p:nvPr/>
        </p:nvSpPr>
        <p:spPr>
          <a:xfrm>
            <a:off x="1639323" y="1820221"/>
            <a:ext cx="103138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numpy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np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matplotlib.pyplot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skimage.io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imread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skimage.transform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resize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skimage.feature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hog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skimage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exposure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sklearn.model_selection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train_test_split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sklearn.svm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LinearSVC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sklearn.metrics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accuracy_score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classification_report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Define the sliding window function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sliding_window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(image,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step_size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"""Slide a window across the image"""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y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range(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image.shape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-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step_size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x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range(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image.shape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-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step_size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yield the current window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(x, y, image[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y:y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 x:x +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]])</a:t>
            </a:r>
          </a:p>
        </p:txBody>
      </p:sp>
    </p:spTree>
    <p:extLst>
      <p:ext uri="{BB962C8B-B14F-4D97-AF65-F5344CB8AC3E}">
        <p14:creationId xmlns:p14="http://schemas.microsoft.com/office/powerpoint/2010/main" val="2953931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A742-F932-339C-6396-914E93AC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Sliding Window Method – example code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FD4E9-CB93-57AA-D869-D82C7864A062}"/>
              </a:ext>
            </a:extLst>
          </p:cNvPr>
          <p:cNvSpPr txBox="1"/>
          <p:nvPr/>
        </p:nvSpPr>
        <p:spPr>
          <a:xfrm>
            <a:off x="838200" y="1308157"/>
            <a:ext cx="111678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Function to detect objects in an image using sliding windows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detect_objects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(image,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128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64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step_size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32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pPr lvl="1"/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scale =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detections = []</a:t>
            </a:r>
          </a:p>
          <a:p>
            <a:pPr lvl="1"/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resized_img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image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Loop over the sliding window for each layer of the pyramid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(x, y, window)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sliding_window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resized_img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step_size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step_size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If the window does not meet our desired window size, ignore it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window.shape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!=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or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window.shape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!=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continue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Extract HOG features from the window captured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fd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hog_image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hog(window, orientations=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pixels_per_cell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cells_per_block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 visualize=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multichannel=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fd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fd.reshape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pred =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clf.predict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fd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Check to see if our classifier predicts an object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pred ==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detections.append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((x, y,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clf.decision_function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fd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 scale))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Rescale image for next iteration to form an image pyramid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scale +=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detections</a:t>
            </a:r>
          </a:p>
        </p:txBody>
      </p:sp>
    </p:spTree>
    <p:extLst>
      <p:ext uri="{BB962C8B-B14F-4D97-AF65-F5344CB8AC3E}">
        <p14:creationId xmlns:p14="http://schemas.microsoft.com/office/powerpoint/2010/main" val="1896620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A742-F932-339C-6396-914E93AC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Sliding Window Method – example code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FD4E9-CB93-57AA-D869-D82C7864A062}"/>
              </a:ext>
            </a:extLst>
          </p:cNvPr>
          <p:cNvSpPr txBox="1"/>
          <p:nvPr/>
        </p:nvSpPr>
        <p:spPr>
          <a:xfrm>
            <a:off x="1639323" y="1820221"/>
            <a:ext cx="67000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Example of using </a:t>
            </a:r>
            <a:r>
              <a:rPr lang="en-US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detect_objects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function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Load an image, run the detection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test_img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imread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'path/to/test_image.jpg'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detected_objects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detect_objects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test_img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Visualize the detections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fig, ax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plt.subplots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figsize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ax.imshow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test_img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(x, y, _, scale)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detected_objects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draw bounding boxes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rect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plt.Rectangle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((x, y),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128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linewidth=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edgecolor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'r'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facecolor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'none'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ax.add_patch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rect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plt.show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AEBACE-66A5-B3C3-83DC-A3CA288869CE}"/>
              </a:ext>
            </a:extLst>
          </p:cNvPr>
          <p:cNvGrpSpPr/>
          <p:nvPr/>
        </p:nvGrpSpPr>
        <p:grpSpPr>
          <a:xfrm>
            <a:off x="8339328" y="1950505"/>
            <a:ext cx="3363327" cy="4263745"/>
            <a:chOff x="4896483" y="1209424"/>
            <a:chExt cx="3363327" cy="42637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7A6177-59AA-963E-9998-4D67458D2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6483" y="1209424"/>
              <a:ext cx="3363327" cy="42637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08ADEC-5472-6C8F-7301-124D18EAB7FD}"/>
                </a:ext>
              </a:extLst>
            </p:cNvPr>
            <p:cNvSpPr/>
            <p:nvPr/>
          </p:nvSpPr>
          <p:spPr>
            <a:xfrm>
              <a:off x="5197642" y="3200400"/>
              <a:ext cx="1191126" cy="139566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23EEFA-46C1-DCF4-09E3-29F0C7B595D1}"/>
                </a:ext>
              </a:extLst>
            </p:cNvPr>
            <p:cNvSpPr/>
            <p:nvPr/>
          </p:nvSpPr>
          <p:spPr>
            <a:xfrm>
              <a:off x="6436895" y="3376863"/>
              <a:ext cx="1728537" cy="151999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09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CDE67-97EE-3E8E-4388-2ADA3EBD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Object Detection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24F42-CC68-4160-1232-6C21565DA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Integral images for rapid Feature evaluation</a:t>
            </a:r>
          </a:p>
          <a:p>
            <a:pPr lvl="1"/>
            <a:r>
              <a:rPr lang="en-US" dirty="0"/>
              <a:t>Viola-Jones framework for face detection</a:t>
            </a:r>
          </a:p>
          <a:p>
            <a:pPr lvl="1"/>
            <a:r>
              <a:rPr lang="en-US" dirty="0"/>
              <a:t>Deformable part models</a:t>
            </a:r>
          </a:p>
          <a:p>
            <a:endParaRPr lang="en-US" dirty="0"/>
          </a:p>
          <a:p>
            <a:r>
              <a:rPr lang="en-US" dirty="0"/>
              <a:t>Continued…</a:t>
            </a:r>
          </a:p>
        </p:txBody>
      </p:sp>
    </p:spTree>
    <p:extLst>
      <p:ext uri="{BB962C8B-B14F-4D97-AF65-F5344CB8AC3E}">
        <p14:creationId xmlns:p14="http://schemas.microsoft.com/office/powerpoint/2010/main" val="2747761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7C5B84-2F1E-B669-6777-7B36D079B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48" y="3566"/>
            <a:ext cx="10943303" cy="685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46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1F9101-26F6-9CCC-A3BE-E3F571B56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995" y="1247470"/>
            <a:ext cx="7240010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98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54FB3B-632B-433A-751A-639C526C3641}"/>
              </a:ext>
            </a:extLst>
          </p:cNvPr>
          <p:cNvSpPr txBox="1"/>
          <p:nvPr/>
        </p:nvSpPr>
        <p:spPr>
          <a:xfrm>
            <a:off x="621323" y="820615"/>
            <a:ext cx="5134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integral image for stereo image of given input.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916309-321A-DBB8-2E02-25A2536EB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020287"/>
              </p:ext>
            </p:extLst>
          </p:nvPr>
        </p:nvGraphicFramePr>
        <p:xfrm>
          <a:off x="742462" y="1396477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132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D5349-639D-C8B2-9665-A74EFD21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510C32-EB27-D200-C6A9-958B1506B1C3}"/>
              </a:ext>
            </a:extLst>
          </p:cNvPr>
          <p:cNvSpPr txBox="1"/>
          <p:nvPr/>
        </p:nvSpPr>
        <p:spPr>
          <a:xfrm>
            <a:off x="4067908" y="0"/>
            <a:ext cx="31918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Solutions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72694B-4552-1A53-5A82-3A3BAD991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526012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1EECA76-B91E-EC64-7A75-35F5E61BA4F3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2AAAEB-21BD-8C1E-F7A5-28B870B40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790677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A54315-8DEC-55C5-999F-2C424BA170EE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00486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24F4-BE27-8078-6476-FE4AA233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8243A2-E749-EAE1-16CE-B956DC00D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118215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D63F7D-81BB-DB06-F9C4-322824FEA6AE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640909-7BAD-C055-1E58-AF6D7CD72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923334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1697CF-6504-6938-E013-CE532CFC0C77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092845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3B3A-9101-377C-5207-10BE633E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8805BD-2720-6BEE-C644-A1F2920CF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817770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BC3E8D1-2B32-25EF-1329-DB6ABD678CBF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6DE91D-0CCD-B881-973C-B2B6D39F7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810521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6F3747-F1F2-6D7E-3EC0-387CD690BE60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52912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113C-06A0-F128-C0CE-99B7321E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DAF786-EB40-58A7-02C8-BD2BEB800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636612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25EE341-FA42-CFF2-BF13-588FF9D20377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492197-953F-043A-BCD7-78CE83126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599462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8B6C74-1130-36A2-6183-080C4F6E4431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77399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C0CB0-BF5A-64B0-30AF-97DA3C09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A3842F-B07D-9F38-0C39-16C87429E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912678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3A2256A-1E88-1737-4EAA-48000F4A129E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814CFF-8D81-AC4B-92B2-1247EC9B6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140073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183B08-AFCC-74BF-7A91-F10D36898D29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29818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24729-1DB7-194F-77EF-56984ED5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0A4ABC-B532-1F4A-9E85-21D097FA1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967898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687DE6F-1D2D-7FF8-98F6-417029B367AA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D1192C-7C99-B87C-FE2C-80EA02035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038445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82B3E14-9F1C-A155-C99D-454793B21159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84307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C1FE9-7C54-934E-8F6C-40D11CD5A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A3388D-37D1-542B-6926-59A65D7FE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802174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A9BD339-0CDA-B9C4-236F-75C8C5AADD7F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86EB70-E416-A3B4-E079-2126AC7A3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029933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CE60F4-4CCA-50CC-0ECF-15BA5CDA7ACD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330723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016CC-B97D-6BC8-0F56-89E6893B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DF1776-4377-AAB4-BDE6-4D6C5E152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389502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FB06C3F-5266-DB15-899D-00B9BA2A0829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9879A7-F5E6-2707-913A-B4279E3FC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843677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C5F713-35CF-85B2-5F54-AFE3A42CBF7C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93869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530D-8CE7-E7F2-ECAC-5EDFCA0B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CE1DA6-BBBB-8A4D-E36C-821E85ADC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56000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6945A1A-C2B1-560A-81C7-F9184B8C2B25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AACE28-62AD-5B3D-BCE3-48B361760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940622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D227F9-D2AD-2398-5E27-385704CA884F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54175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B5300-A6C4-125C-F744-710433A5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FA4A5D-EAA8-C291-B775-53ADBD7CD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503344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67DF502-3CE6-F0E9-3EC6-F7B2C7908BC6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86028C-9810-3A39-3332-B10E63653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024388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DDF1A0-DB52-A555-79F2-26002D16585B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799923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D8A8-60FA-17CA-0340-9C22E50E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FCB8D8-FE62-7159-1704-E08520079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854781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1DC12-0237-C94A-259E-C7D32550D591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AE8F8E-745E-3998-63A7-BD06EEFE8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916652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03688A7-E2A3-6C05-A6B3-81A656EE494A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129636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2DBBF-CEF2-8C7E-1DBD-D3442F17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860E16-2D9A-2150-F1A0-2116750D3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412967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DB30145-D277-7128-BFC5-1C25E3C45E91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ECBC98-D407-DE5C-A40A-503CB0CFB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423188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8B170AA-DEB1-5696-656B-3A0C309B9E77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890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2DDE-6663-508F-17E8-419D503A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7771AB-F99A-9966-B302-9180A3960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571429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1469443-B4F3-5644-CD43-F6A8AED7FA8A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0AD504-23A9-AE3A-44A8-C6F90090E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34619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F33A1B-7204-9249-3AEB-D6B539DC800C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734228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6897-F5CA-65AE-D7FF-78E2B09B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3D8A8F-44D8-CAFD-3B37-099397611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877073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0A30554-785B-642E-352E-EC88AFD3BAE2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13375C-8720-1EBD-6218-B516A85CE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798577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0A78FA-F21D-30B6-7794-84E58195DC1D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453459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D86D-C624-CE90-D927-DF10DF7E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605382-1CB1-A340-F444-655D51D6B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56991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EB08ABD-B22C-C80E-4880-9B6B30783931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E69EE7-A65A-EEB7-BEBA-6B175578B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026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F428EF-37F7-3336-6679-7B564FF5C0F9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170538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8B1F-EA4F-7615-0D9B-FCC304A1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8DC2DA-23C7-C84A-F6AF-1FFCE67FE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161840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0215420-2142-A307-3CE6-FCF566654A51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4110B1-E0FE-AEA0-C16B-CFE6994C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738141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C638B7-F080-EF25-49A0-47A018A9518A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9225052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4A12-5F46-627C-6350-9D16E54A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60C9EF-9611-3D13-1B6A-289A11BE4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476660"/>
              </p:ext>
            </p:extLst>
          </p:nvPr>
        </p:nvGraphicFramePr>
        <p:xfrm>
          <a:off x="601785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E3453C3-C403-4F5E-B12D-AEF6593E8863}"/>
              </a:ext>
            </a:extLst>
          </p:cNvPr>
          <p:cNvSpPr txBox="1"/>
          <p:nvPr/>
        </p:nvSpPr>
        <p:spPr>
          <a:xfrm>
            <a:off x="492370" y="135987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981F8B-B9BC-C0C6-A586-5070EB514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727511"/>
              </p:ext>
            </p:extLst>
          </p:nvPr>
        </p:nvGraphicFramePr>
        <p:xfrm>
          <a:off x="5982677" y="1818508"/>
          <a:ext cx="41460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516">
                  <a:extLst>
                    <a:ext uri="{9D8B030D-6E8A-4147-A177-3AD203B41FA5}">
                      <a16:colId xmlns:a16="http://schemas.microsoft.com/office/drawing/2014/main" val="1590616493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3894778588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026568151"/>
                    </a:ext>
                  </a:extLst>
                </a:gridCol>
                <a:gridCol w="1036516">
                  <a:extLst>
                    <a:ext uri="{9D8B030D-6E8A-4147-A177-3AD203B41FA5}">
                      <a16:colId xmlns:a16="http://schemas.microsoft.com/office/drawing/2014/main" val="2969180814"/>
                    </a:ext>
                  </a:extLst>
                </a:gridCol>
              </a:tblGrid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8783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91139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25610"/>
                  </a:ext>
                </a:extLst>
              </a:tr>
              <a:tr h="286987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53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A93762-2BE4-8CA5-8CCC-8F5EAFC3BC7F}"/>
              </a:ext>
            </a:extLst>
          </p:cNvPr>
          <p:cNvSpPr txBox="1"/>
          <p:nvPr/>
        </p:nvSpPr>
        <p:spPr>
          <a:xfrm>
            <a:off x="5873263" y="135987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80252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2676</Words>
  <Application>Microsoft Office PowerPoint</Application>
  <PresentationFormat>Widescreen</PresentationFormat>
  <Paragraphs>659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Consolas</vt:lpstr>
      <vt:lpstr>Söhne</vt:lpstr>
      <vt:lpstr>Office Theme</vt:lpstr>
      <vt:lpstr>Classical Object Detection</vt:lpstr>
      <vt:lpstr>Outline</vt:lpstr>
      <vt:lpstr>Classical Object detection vs. Modern object detection</vt:lpstr>
      <vt:lpstr>Classical Object detection vs. Modern object detection</vt:lpstr>
      <vt:lpstr>Classical Object Detection approaches </vt:lpstr>
      <vt:lpstr>Object detection by classification</vt:lpstr>
      <vt:lpstr>Object detection by classification – Typical workflow</vt:lpstr>
      <vt:lpstr>Object detection by classification</vt:lpstr>
      <vt:lpstr>Object detection by classification – example code</vt:lpstr>
      <vt:lpstr>Object detection by classification – example code</vt:lpstr>
      <vt:lpstr>Object detection by classification – example code</vt:lpstr>
      <vt:lpstr>Object detection by classification – example code</vt:lpstr>
      <vt:lpstr>Object detection by classification – example code</vt:lpstr>
      <vt:lpstr>Sliding window based object detection</vt:lpstr>
      <vt:lpstr>Sliding window based object detection</vt:lpstr>
      <vt:lpstr>Sliding window method - dealing with scale</vt:lpstr>
      <vt:lpstr>Sliding window method - dealing with scale</vt:lpstr>
      <vt:lpstr>Sliding Window Technique Workflow</vt:lpstr>
      <vt:lpstr>Sliding window method - example</vt:lpstr>
      <vt:lpstr>Sliding Window Method – example code</vt:lpstr>
      <vt:lpstr>Sliding Window Method – example code</vt:lpstr>
      <vt:lpstr>Sliding Window Method – example code</vt:lpstr>
      <vt:lpstr>Classical Object Detection approaches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Classical Object Detection</dc:title>
  <dc:creator>Dr. Muhammad Aksam Iftikhar</dc:creator>
  <cp:lastModifiedBy>FA21-BAF-072 (MUHAMMAD KAWISH  )</cp:lastModifiedBy>
  <cp:revision>23</cp:revision>
  <dcterms:created xsi:type="dcterms:W3CDTF">2024-04-18T05:13:32Z</dcterms:created>
  <dcterms:modified xsi:type="dcterms:W3CDTF">2025-01-04T19:12:56Z</dcterms:modified>
</cp:coreProperties>
</file>