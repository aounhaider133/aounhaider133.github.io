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4"/>
  </p:notesMasterIdLst>
  <p:handoutMasterIdLst>
    <p:handoutMasterId r:id="rId85"/>
  </p:handoutMasterIdLst>
  <p:sldIdLst>
    <p:sldId id="256" r:id="rId2"/>
    <p:sldId id="612" r:id="rId3"/>
    <p:sldId id="574" r:id="rId4"/>
    <p:sldId id="405" r:id="rId5"/>
    <p:sldId id="366" r:id="rId6"/>
    <p:sldId id="367" r:id="rId7"/>
    <p:sldId id="369" r:id="rId8"/>
    <p:sldId id="370" r:id="rId9"/>
    <p:sldId id="371" r:id="rId10"/>
    <p:sldId id="372" r:id="rId11"/>
    <p:sldId id="373" r:id="rId12"/>
    <p:sldId id="393" r:id="rId13"/>
    <p:sldId id="374" r:id="rId14"/>
    <p:sldId id="375" r:id="rId15"/>
    <p:sldId id="395" r:id="rId16"/>
    <p:sldId id="397" r:id="rId17"/>
    <p:sldId id="398" r:id="rId18"/>
    <p:sldId id="399" r:id="rId19"/>
    <p:sldId id="396" r:id="rId20"/>
    <p:sldId id="390" r:id="rId21"/>
    <p:sldId id="391" r:id="rId22"/>
    <p:sldId id="392" r:id="rId23"/>
    <p:sldId id="380" r:id="rId24"/>
    <p:sldId id="381" r:id="rId25"/>
    <p:sldId id="400" r:id="rId26"/>
    <p:sldId id="401" r:id="rId27"/>
    <p:sldId id="402" r:id="rId28"/>
    <p:sldId id="382" r:id="rId29"/>
    <p:sldId id="419" r:id="rId30"/>
    <p:sldId id="418" r:id="rId31"/>
    <p:sldId id="406" r:id="rId32"/>
    <p:sldId id="427" r:id="rId33"/>
    <p:sldId id="428" r:id="rId34"/>
    <p:sldId id="413" r:id="rId35"/>
    <p:sldId id="422" r:id="rId36"/>
    <p:sldId id="423" r:id="rId37"/>
    <p:sldId id="424" r:id="rId38"/>
    <p:sldId id="425" r:id="rId39"/>
    <p:sldId id="426" r:id="rId40"/>
    <p:sldId id="617" r:id="rId41"/>
    <p:sldId id="449" r:id="rId42"/>
    <p:sldId id="450" r:id="rId43"/>
    <p:sldId id="461" r:id="rId44"/>
    <p:sldId id="432" r:id="rId45"/>
    <p:sldId id="433" r:id="rId46"/>
    <p:sldId id="434" r:id="rId47"/>
    <p:sldId id="613" r:id="rId48"/>
    <p:sldId id="615" r:id="rId49"/>
    <p:sldId id="448" r:id="rId50"/>
    <p:sldId id="436" r:id="rId51"/>
    <p:sldId id="437" r:id="rId52"/>
    <p:sldId id="438" r:id="rId53"/>
    <p:sldId id="439" r:id="rId54"/>
    <p:sldId id="440" r:id="rId55"/>
    <p:sldId id="441" r:id="rId56"/>
    <p:sldId id="442" r:id="rId57"/>
    <p:sldId id="443" r:id="rId58"/>
    <p:sldId id="444" r:id="rId59"/>
    <p:sldId id="445" r:id="rId60"/>
    <p:sldId id="446" r:id="rId61"/>
    <p:sldId id="447" r:id="rId62"/>
    <p:sldId id="451" r:id="rId63"/>
    <p:sldId id="452" r:id="rId64"/>
    <p:sldId id="453" r:id="rId65"/>
    <p:sldId id="454" r:id="rId66"/>
    <p:sldId id="455" r:id="rId67"/>
    <p:sldId id="456" r:id="rId68"/>
    <p:sldId id="457" r:id="rId69"/>
    <p:sldId id="458" r:id="rId70"/>
    <p:sldId id="459" r:id="rId71"/>
    <p:sldId id="460" r:id="rId72"/>
    <p:sldId id="616" r:id="rId73"/>
    <p:sldId id="462" r:id="rId74"/>
    <p:sldId id="365" r:id="rId75"/>
    <p:sldId id="386" r:id="rId76"/>
    <p:sldId id="609" r:id="rId77"/>
    <p:sldId id="610" r:id="rId78"/>
    <p:sldId id="607" r:id="rId79"/>
    <p:sldId id="608" r:id="rId80"/>
    <p:sldId id="387" r:id="rId81"/>
    <p:sldId id="388" r:id="rId82"/>
    <p:sldId id="389" r:id="rId83"/>
  </p:sldIdLst>
  <p:sldSz cx="12192000" cy="6858000"/>
  <p:notesSz cx="6858000" cy="9144000"/>
  <p:embeddedFontLst>
    <p:embeddedFont>
      <p:font typeface="Century Gothic" panose="020B0502020202020204" pitchFamily="34" charset="0"/>
      <p:regular r:id="rId86"/>
      <p:bold r:id="rId87"/>
      <p:italic r:id="rId88"/>
      <p:boldItalic r:id="rId8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80"/>
    <a:srgbClr val="0000FF"/>
    <a:srgbClr val="EAF1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228" autoAdjust="0"/>
    <p:restoredTop sz="93858" autoAdjust="0"/>
  </p:normalViewPr>
  <p:slideViewPr>
    <p:cSldViewPr>
      <p:cViewPr varScale="1">
        <p:scale>
          <a:sx n="66" d="100"/>
          <a:sy n="66" d="100"/>
        </p:scale>
        <p:origin x="132" y="6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font" Target="fonts/font4.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3.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5DA5527-8220-42B8-ACF3-24A1AB195A99}" type="datetimeFigureOut">
              <a:rPr lang="en-US" smtClean="0"/>
              <a:pPr/>
              <a:t>12/9/2024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5A17DC7-5FA3-4B0E-8E6A-F6882B79CF07}" type="slidenum">
              <a:rPr lang="en-US" smtClean="0"/>
              <a:pPr/>
              <a:t>‹#›</a:t>
            </a:fld>
            <a:endParaRPr lang="en-US"/>
          </a:p>
        </p:txBody>
      </p:sp>
    </p:spTree>
    <p:extLst>
      <p:ext uri="{BB962C8B-B14F-4D97-AF65-F5344CB8AC3E}">
        <p14:creationId xmlns:p14="http://schemas.microsoft.com/office/powerpoint/2010/main" val="5727112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2C77E45-76C1-48AC-8770-A01EE13E3D9C}" type="datetimeFigureOut">
              <a:rPr lang="en-US" smtClean="0"/>
              <a:pPr/>
              <a:t>12/9/2024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308B8D-8E1E-4C22-9F0A-2468901663B5}" type="slidenum">
              <a:rPr lang="en-US" smtClean="0"/>
              <a:pPr/>
              <a:t>‹#›</a:t>
            </a:fld>
            <a:endParaRPr lang="en-US"/>
          </a:p>
        </p:txBody>
      </p:sp>
    </p:spTree>
    <p:extLst>
      <p:ext uri="{BB962C8B-B14F-4D97-AF65-F5344CB8AC3E}">
        <p14:creationId xmlns:p14="http://schemas.microsoft.com/office/powerpoint/2010/main" val="254943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en.wikipedia.org/wiki/Iris_flower_data_set"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en.wikipedia.org/wiki/Deep_learning"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en.wikipedia.org/wiki/Deep_learning"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en.wikipedia.org/wiki/Deep_learning"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1</a:t>
            </a:fld>
            <a:endParaRPr lang="en-US"/>
          </a:p>
        </p:txBody>
      </p:sp>
    </p:spTree>
    <p:extLst>
      <p:ext uri="{BB962C8B-B14F-4D97-AF65-F5344CB8AC3E}">
        <p14:creationId xmlns:p14="http://schemas.microsoft.com/office/powerpoint/2010/main" val="4271205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Handouts: http://cs231n.github.io/classification/#intro</a:t>
            </a:r>
          </a:p>
        </p:txBody>
      </p:sp>
      <p:sp>
        <p:nvSpPr>
          <p:cNvPr id="4" name="Slide Number Placeholder 3"/>
          <p:cNvSpPr>
            <a:spLocks noGrp="1"/>
          </p:cNvSpPr>
          <p:nvPr>
            <p:ph type="sldNum" sz="quarter" idx="10"/>
          </p:nvPr>
        </p:nvSpPr>
        <p:spPr/>
        <p:txBody>
          <a:bodyPr/>
          <a:lstStyle/>
          <a:p>
            <a:fld id="{76308B8D-8E1E-4C22-9F0A-2468901663B5}" type="slidenum">
              <a:rPr lang="en-US" smtClean="0"/>
              <a:pPr/>
              <a:t>5</a:t>
            </a:fld>
            <a:endParaRPr lang="en-US"/>
          </a:p>
        </p:txBody>
      </p:sp>
    </p:spTree>
    <p:extLst>
      <p:ext uri="{BB962C8B-B14F-4D97-AF65-F5344CB8AC3E}">
        <p14:creationId xmlns:p14="http://schemas.microsoft.com/office/powerpoint/2010/main" val="1500438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6</a:t>
            </a:fld>
            <a:endParaRPr lang="en-US"/>
          </a:p>
        </p:txBody>
      </p:sp>
    </p:spTree>
    <p:extLst>
      <p:ext uri="{BB962C8B-B14F-4D97-AF65-F5344CB8AC3E}">
        <p14:creationId xmlns:p14="http://schemas.microsoft.com/office/powerpoint/2010/main" val="2617126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7</a:t>
            </a:fld>
            <a:endParaRPr lang="en-US"/>
          </a:p>
        </p:txBody>
      </p:sp>
    </p:spTree>
    <p:extLst>
      <p:ext uri="{BB962C8B-B14F-4D97-AF65-F5344CB8AC3E}">
        <p14:creationId xmlns:p14="http://schemas.microsoft.com/office/powerpoint/2010/main" val="559751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8</a:t>
            </a:fld>
            <a:endParaRPr lang="en-US"/>
          </a:p>
        </p:txBody>
      </p:sp>
    </p:spTree>
    <p:extLst>
      <p:ext uri="{BB962C8B-B14F-4D97-AF65-F5344CB8AC3E}">
        <p14:creationId xmlns:p14="http://schemas.microsoft.com/office/powerpoint/2010/main" val="3013567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9</a:t>
            </a:fld>
            <a:endParaRPr lang="en-US"/>
          </a:p>
        </p:txBody>
      </p:sp>
    </p:spTree>
    <p:extLst>
      <p:ext uri="{BB962C8B-B14F-4D97-AF65-F5344CB8AC3E}">
        <p14:creationId xmlns:p14="http://schemas.microsoft.com/office/powerpoint/2010/main" val="1908452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10</a:t>
            </a:fld>
            <a:endParaRPr lang="en-US"/>
          </a:p>
        </p:txBody>
      </p:sp>
    </p:spTree>
    <p:extLst>
      <p:ext uri="{BB962C8B-B14F-4D97-AF65-F5344CB8AC3E}">
        <p14:creationId xmlns:p14="http://schemas.microsoft.com/office/powerpoint/2010/main" val="1705004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11</a:t>
            </a:fld>
            <a:endParaRPr lang="en-US"/>
          </a:p>
        </p:txBody>
      </p:sp>
    </p:spTree>
    <p:extLst>
      <p:ext uri="{BB962C8B-B14F-4D97-AF65-F5344CB8AC3E}">
        <p14:creationId xmlns:p14="http://schemas.microsoft.com/office/powerpoint/2010/main" val="41707761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12</a:t>
            </a:fld>
            <a:endParaRPr lang="en-US"/>
          </a:p>
        </p:txBody>
      </p:sp>
    </p:spTree>
    <p:extLst>
      <p:ext uri="{BB962C8B-B14F-4D97-AF65-F5344CB8AC3E}">
        <p14:creationId xmlns:p14="http://schemas.microsoft.com/office/powerpoint/2010/main" val="1122050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http://people.ee.ethz.ch/~daid/EnPro/</a:t>
            </a:r>
          </a:p>
        </p:txBody>
      </p:sp>
      <p:sp>
        <p:nvSpPr>
          <p:cNvPr id="4" name="Slide Number Placeholder 3"/>
          <p:cNvSpPr>
            <a:spLocks noGrp="1"/>
          </p:cNvSpPr>
          <p:nvPr>
            <p:ph type="sldNum" sz="quarter" idx="10"/>
          </p:nvPr>
        </p:nvSpPr>
        <p:spPr/>
        <p:txBody>
          <a:bodyPr/>
          <a:lstStyle/>
          <a:p>
            <a:fld id="{76308B8D-8E1E-4C22-9F0A-2468901663B5}" type="slidenum">
              <a:rPr lang="en-US" smtClean="0"/>
              <a:pPr/>
              <a:t>13</a:t>
            </a:fld>
            <a:endParaRPr lang="en-US"/>
          </a:p>
        </p:txBody>
      </p:sp>
    </p:spTree>
    <p:extLst>
      <p:ext uri="{BB962C8B-B14F-4D97-AF65-F5344CB8AC3E}">
        <p14:creationId xmlns:p14="http://schemas.microsoft.com/office/powerpoint/2010/main" val="306557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14</a:t>
            </a:fld>
            <a:endParaRPr lang="en-US"/>
          </a:p>
        </p:txBody>
      </p:sp>
    </p:spTree>
    <p:extLst>
      <p:ext uri="{BB962C8B-B14F-4D97-AF65-F5344CB8AC3E}">
        <p14:creationId xmlns:p14="http://schemas.microsoft.com/office/powerpoint/2010/main" val="3259009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15</a:t>
            </a:fld>
            <a:endParaRPr lang="en-US"/>
          </a:p>
        </p:txBody>
      </p:sp>
    </p:spTree>
    <p:extLst>
      <p:ext uri="{BB962C8B-B14F-4D97-AF65-F5344CB8AC3E}">
        <p14:creationId xmlns:p14="http://schemas.microsoft.com/office/powerpoint/2010/main" val="1385185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16</a:t>
            </a:fld>
            <a:endParaRPr lang="en-US"/>
          </a:p>
        </p:txBody>
      </p:sp>
    </p:spTree>
    <p:extLst>
      <p:ext uri="{BB962C8B-B14F-4D97-AF65-F5344CB8AC3E}">
        <p14:creationId xmlns:p14="http://schemas.microsoft.com/office/powerpoint/2010/main" val="2912051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17</a:t>
            </a:fld>
            <a:endParaRPr lang="en-US"/>
          </a:p>
        </p:txBody>
      </p:sp>
    </p:spTree>
    <p:extLst>
      <p:ext uri="{BB962C8B-B14F-4D97-AF65-F5344CB8AC3E}">
        <p14:creationId xmlns:p14="http://schemas.microsoft.com/office/powerpoint/2010/main" val="12286246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18</a:t>
            </a:fld>
            <a:endParaRPr lang="en-US"/>
          </a:p>
        </p:txBody>
      </p:sp>
    </p:spTree>
    <p:extLst>
      <p:ext uri="{BB962C8B-B14F-4D97-AF65-F5344CB8AC3E}">
        <p14:creationId xmlns:p14="http://schemas.microsoft.com/office/powerpoint/2010/main" val="28288142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19</a:t>
            </a:fld>
            <a:endParaRPr lang="en-US"/>
          </a:p>
        </p:txBody>
      </p:sp>
    </p:spTree>
    <p:extLst>
      <p:ext uri="{BB962C8B-B14F-4D97-AF65-F5344CB8AC3E}">
        <p14:creationId xmlns:p14="http://schemas.microsoft.com/office/powerpoint/2010/main" val="3208079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hlinkClick r:id="rId3"/>
              </a:rPr>
              <a:t>KNN.mlx</a:t>
            </a:r>
            <a:endParaRPr lang="en-US" dirty="0">
              <a:hlinkClick r:id="rId3"/>
            </a:endParaRPr>
          </a:p>
          <a:p>
            <a:r>
              <a:rPr lang="en-US" dirty="0" err="1">
                <a:hlinkClick r:id="rId3"/>
              </a:rPr>
              <a:t>ClassifyingQueryDataUsingKnnsearchExample.mlx</a:t>
            </a:r>
            <a:endParaRPr lang="en-US" dirty="0">
              <a:hlinkClick r:id="rId3"/>
            </a:endParaRPr>
          </a:p>
          <a:p>
            <a:r>
              <a:rPr lang="en-US" dirty="0">
                <a:hlinkClick r:id="rId3"/>
              </a:rPr>
              <a:t>http://en.wikipedia.org/wiki/Iris_flower_data_set</a:t>
            </a:r>
            <a:endParaRPr lang="en-US" dirty="0">
              <a:hlinkClick r:id="" action="ppaction://noaction"/>
            </a:endParaRPr>
          </a:p>
          <a:p>
            <a:r>
              <a:rPr lang="en-US" dirty="0">
                <a:hlinkClick r:id="" action="ppaction://noaction"/>
              </a:rPr>
              <a:t>http://www.bliasoft.com/data-mining-software-iris.html</a:t>
            </a:r>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20</a:t>
            </a:fld>
            <a:endParaRPr lang="en-US"/>
          </a:p>
        </p:txBody>
      </p:sp>
    </p:spTree>
    <p:extLst>
      <p:ext uri="{BB962C8B-B14F-4D97-AF65-F5344CB8AC3E}">
        <p14:creationId xmlns:p14="http://schemas.microsoft.com/office/powerpoint/2010/main" val="33004345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21</a:t>
            </a:fld>
            <a:endParaRPr lang="en-US"/>
          </a:p>
        </p:txBody>
      </p:sp>
    </p:spTree>
    <p:extLst>
      <p:ext uri="{BB962C8B-B14F-4D97-AF65-F5344CB8AC3E}">
        <p14:creationId xmlns:p14="http://schemas.microsoft.com/office/powerpoint/2010/main" val="10272859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22</a:t>
            </a:fld>
            <a:endParaRPr lang="en-US"/>
          </a:p>
        </p:txBody>
      </p:sp>
    </p:spTree>
    <p:extLst>
      <p:ext uri="{BB962C8B-B14F-4D97-AF65-F5344CB8AC3E}">
        <p14:creationId xmlns:p14="http://schemas.microsoft.com/office/powerpoint/2010/main" val="1052939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23</a:t>
            </a:fld>
            <a:endParaRPr lang="en-US"/>
          </a:p>
        </p:txBody>
      </p:sp>
    </p:spTree>
    <p:extLst>
      <p:ext uri="{BB962C8B-B14F-4D97-AF65-F5344CB8AC3E}">
        <p14:creationId xmlns:p14="http://schemas.microsoft.com/office/powerpoint/2010/main" val="16378060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24</a:t>
            </a:fld>
            <a:endParaRPr lang="en-US"/>
          </a:p>
        </p:txBody>
      </p:sp>
    </p:spTree>
    <p:extLst>
      <p:ext uri="{BB962C8B-B14F-4D97-AF65-F5344CB8AC3E}">
        <p14:creationId xmlns:p14="http://schemas.microsoft.com/office/powerpoint/2010/main" val="1974775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25</a:t>
            </a:fld>
            <a:endParaRPr lang="en-US"/>
          </a:p>
        </p:txBody>
      </p:sp>
    </p:spTree>
    <p:extLst>
      <p:ext uri="{BB962C8B-B14F-4D97-AF65-F5344CB8AC3E}">
        <p14:creationId xmlns:p14="http://schemas.microsoft.com/office/powerpoint/2010/main" val="20874540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26</a:t>
            </a:fld>
            <a:endParaRPr lang="en-US"/>
          </a:p>
        </p:txBody>
      </p:sp>
    </p:spTree>
    <p:extLst>
      <p:ext uri="{BB962C8B-B14F-4D97-AF65-F5344CB8AC3E}">
        <p14:creationId xmlns:p14="http://schemas.microsoft.com/office/powerpoint/2010/main" val="22972821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27</a:t>
            </a:fld>
            <a:endParaRPr lang="en-US"/>
          </a:p>
        </p:txBody>
      </p:sp>
    </p:spTree>
    <p:extLst>
      <p:ext uri="{BB962C8B-B14F-4D97-AF65-F5344CB8AC3E}">
        <p14:creationId xmlns:p14="http://schemas.microsoft.com/office/powerpoint/2010/main" val="13758528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28</a:t>
            </a:fld>
            <a:endParaRPr lang="en-US"/>
          </a:p>
        </p:txBody>
      </p:sp>
    </p:spTree>
    <p:extLst>
      <p:ext uri="{BB962C8B-B14F-4D97-AF65-F5344CB8AC3E}">
        <p14:creationId xmlns:p14="http://schemas.microsoft.com/office/powerpoint/2010/main" val="3211458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09F742"/>
                </a:solidFill>
              </a:rPr>
              <a:t>Vikramaditya</a:t>
            </a:r>
            <a:r>
              <a:rPr lang="en-US" sz="1200" dirty="0">
                <a:solidFill>
                  <a:srgbClr val="09F742"/>
                </a:solidFill>
              </a:rPr>
              <a:t> </a:t>
            </a:r>
            <a:r>
              <a:rPr lang="en-US" sz="1200" dirty="0" err="1">
                <a:solidFill>
                  <a:srgbClr val="09F742"/>
                </a:solidFill>
              </a:rPr>
              <a:t>Jakkula</a:t>
            </a:r>
            <a:r>
              <a:rPr lang="en-US" sz="1200" dirty="0">
                <a:solidFill>
                  <a:srgbClr val="09F742"/>
                </a:solidFill>
              </a:rPr>
              <a:t> : “Tutorial on Support vector machines” school of EECS Washington State University .</a:t>
            </a:r>
          </a:p>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29</a:t>
            </a:fld>
            <a:endParaRPr lang="en-US"/>
          </a:p>
        </p:txBody>
      </p:sp>
    </p:spTree>
    <p:extLst>
      <p:ext uri="{BB962C8B-B14F-4D97-AF65-F5344CB8AC3E}">
        <p14:creationId xmlns:p14="http://schemas.microsoft.com/office/powerpoint/2010/main" val="27780868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09F742"/>
                </a:solidFill>
                <a:latin typeface="Times New Roman" panose="02020603050405020304" pitchFamily="18" charset="0"/>
                <a:cs typeface="Times New Roman" panose="02020603050405020304" pitchFamily="18" charset="0"/>
              </a:rPr>
              <a:t>Vikramaditya</a:t>
            </a:r>
            <a:r>
              <a:rPr lang="en-US" sz="1200" dirty="0">
                <a:solidFill>
                  <a:srgbClr val="09F742"/>
                </a:solidFill>
                <a:latin typeface="Times New Roman" panose="02020603050405020304" pitchFamily="18" charset="0"/>
                <a:cs typeface="Times New Roman" panose="02020603050405020304" pitchFamily="18" charset="0"/>
              </a:rPr>
              <a:t> </a:t>
            </a:r>
            <a:r>
              <a:rPr lang="en-US" sz="1200" dirty="0" err="1">
                <a:solidFill>
                  <a:srgbClr val="09F742"/>
                </a:solidFill>
                <a:latin typeface="Times New Roman" panose="02020603050405020304" pitchFamily="18" charset="0"/>
                <a:cs typeface="Times New Roman" panose="02020603050405020304" pitchFamily="18" charset="0"/>
              </a:rPr>
              <a:t>Jakkula</a:t>
            </a:r>
            <a:r>
              <a:rPr lang="en-US" sz="1200" dirty="0">
                <a:solidFill>
                  <a:srgbClr val="09F742"/>
                </a:solidFill>
                <a:latin typeface="Times New Roman" panose="02020603050405020304" pitchFamily="18" charset="0"/>
                <a:cs typeface="Times New Roman" panose="02020603050405020304" pitchFamily="18" charset="0"/>
              </a:rPr>
              <a:t> : “Tutorial on Support vector machines” school of EECS Washington State University .</a:t>
            </a:r>
          </a:p>
        </p:txBody>
      </p:sp>
      <p:sp>
        <p:nvSpPr>
          <p:cNvPr id="4" name="Slide Number Placeholder 3"/>
          <p:cNvSpPr>
            <a:spLocks noGrp="1"/>
          </p:cNvSpPr>
          <p:nvPr>
            <p:ph type="sldNum" sz="quarter" idx="10"/>
          </p:nvPr>
        </p:nvSpPr>
        <p:spPr/>
        <p:txBody>
          <a:bodyPr/>
          <a:lstStyle/>
          <a:p>
            <a:fld id="{76308B8D-8E1E-4C22-9F0A-2468901663B5}" type="slidenum">
              <a:rPr lang="en-US" smtClean="0"/>
              <a:pPr/>
              <a:t>30</a:t>
            </a:fld>
            <a:endParaRPr lang="en-US"/>
          </a:p>
        </p:txBody>
      </p:sp>
    </p:spTree>
    <p:extLst>
      <p:ext uri="{BB962C8B-B14F-4D97-AF65-F5344CB8AC3E}">
        <p14:creationId xmlns:p14="http://schemas.microsoft.com/office/powerpoint/2010/main" val="34654795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https://www.vision.caltech.edu/datasets/</a:t>
            </a:r>
          </a:p>
        </p:txBody>
      </p:sp>
      <p:sp>
        <p:nvSpPr>
          <p:cNvPr id="4" name="Slide Number Placeholder 3"/>
          <p:cNvSpPr>
            <a:spLocks noGrp="1"/>
          </p:cNvSpPr>
          <p:nvPr>
            <p:ph type="sldNum" sz="quarter" idx="10"/>
          </p:nvPr>
        </p:nvSpPr>
        <p:spPr/>
        <p:txBody>
          <a:bodyPr/>
          <a:lstStyle/>
          <a:p>
            <a:fld id="{76308B8D-8E1E-4C22-9F0A-2468901663B5}" type="slidenum">
              <a:rPr lang="en-US" smtClean="0"/>
              <a:pPr/>
              <a:t>31</a:t>
            </a:fld>
            <a:endParaRPr lang="en-US"/>
          </a:p>
        </p:txBody>
      </p:sp>
    </p:spTree>
    <p:extLst>
      <p:ext uri="{BB962C8B-B14F-4D97-AF65-F5344CB8AC3E}">
        <p14:creationId xmlns:p14="http://schemas.microsoft.com/office/powerpoint/2010/main" val="37684383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http://www.vision.caltech.edu/Image_Datasets/Caltech101/</a:t>
            </a:r>
          </a:p>
        </p:txBody>
      </p:sp>
      <p:sp>
        <p:nvSpPr>
          <p:cNvPr id="4" name="Slide Number Placeholder 3"/>
          <p:cNvSpPr>
            <a:spLocks noGrp="1"/>
          </p:cNvSpPr>
          <p:nvPr>
            <p:ph type="sldNum" sz="quarter" idx="10"/>
          </p:nvPr>
        </p:nvSpPr>
        <p:spPr/>
        <p:txBody>
          <a:bodyPr/>
          <a:lstStyle/>
          <a:p>
            <a:fld id="{76308B8D-8E1E-4C22-9F0A-2468901663B5}" type="slidenum">
              <a:rPr lang="en-US" smtClean="0"/>
              <a:pPr/>
              <a:t>32</a:t>
            </a:fld>
            <a:endParaRPr lang="en-US"/>
          </a:p>
        </p:txBody>
      </p:sp>
    </p:spTree>
    <p:extLst>
      <p:ext uri="{BB962C8B-B14F-4D97-AF65-F5344CB8AC3E}">
        <p14:creationId xmlns:p14="http://schemas.microsoft.com/office/powerpoint/2010/main" val="36075621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http://www.vision.caltech.edu/Image_Datasets/Caltech101/</a:t>
            </a:r>
          </a:p>
        </p:txBody>
      </p:sp>
      <p:sp>
        <p:nvSpPr>
          <p:cNvPr id="4" name="Slide Number Placeholder 3"/>
          <p:cNvSpPr>
            <a:spLocks noGrp="1"/>
          </p:cNvSpPr>
          <p:nvPr>
            <p:ph type="sldNum" sz="quarter" idx="10"/>
          </p:nvPr>
        </p:nvSpPr>
        <p:spPr/>
        <p:txBody>
          <a:bodyPr/>
          <a:lstStyle/>
          <a:p>
            <a:fld id="{76308B8D-8E1E-4C22-9F0A-2468901663B5}" type="slidenum">
              <a:rPr lang="en-US" smtClean="0"/>
              <a:pPr/>
              <a:t>33</a:t>
            </a:fld>
            <a:endParaRPr lang="en-US"/>
          </a:p>
        </p:txBody>
      </p:sp>
    </p:spTree>
    <p:extLst>
      <p:ext uri="{BB962C8B-B14F-4D97-AF65-F5344CB8AC3E}">
        <p14:creationId xmlns:p14="http://schemas.microsoft.com/office/powerpoint/2010/main" val="38192529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36</a:t>
            </a:fld>
            <a:endParaRPr lang="en-US"/>
          </a:p>
        </p:txBody>
      </p:sp>
    </p:spTree>
    <p:extLst>
      <p:ext uri="{BB962C8B-B14F-4D97-AF65-F5344CB8AC3E}">
        <p14:creationId xmlns:p14="http://schemas.microsoft.com/office/powerpoint/2010/main" val="38367941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38</a:t>
            </a:fld>
            <a:endParaRPr lang="en-US"/>
          </a:p>
        </p:txBody>
      </p:sp>
    </p:spTree>
    <p:extLst>
      <p:ext uri="{BB962C8B-B14F-4D97-AF65-F5344CB8AC3E}">
        <p14:creationId xmlns:p14="http://schemas.microsoft.com/office/powerpoint/2010/main" val="30659954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39</a:t>
            </a:fld>
            <a:endParaRPr lang="en-US"/>
          </a:p>
        </p:txBody>
      </p:sp>
    </p:spTree>
    <p:extLst>
      <p:ext uri="{BB962C8B-B14F-4D97-AF65-F5344CB8AC3E}">
        <p14:creationId xmlns:p14="http://schemas.microsoft.com/office/powerpoint/2010/main" val="39568007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https://en.wikipedia.org/wiki/Deep_learning</a:t>
            </a:r>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41</a:t>
            </a:fld>
            <a:endParaRPr lang="en-US"/>
          </a:p>
        </p:txBody>
      </p:sp>
    </p:spTree>
    <p:extLst>
      <p:ext uri="{BB962C8B-B14F-4D97-AF65-F5344CB8AC3E}">
        <p14:creationId xmlns:p14="http://schemas.microsoft.com/office/powerpoint/2010/main" val="14082771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https://en.wikipedia.org/wiki/Deep_learning</a:t>
            </a:r>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42</a:t>
            </a:fld>
            <a:endParaRPr lang="en-US"/>
          </a:p>
        </p:txBody>
      </p:sp>
    </p:spTree>
    <p:extLst>
      <p:ext uri="{BB962C8B-B14F-4D97-AF65-F5344CB8AC3E}">
        <p14:creationId xmlns:p14="http://schemas.microsoft.com/office/powerpoint/2010/main" val="8848747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https://en.wikipedia.org/wiki/Deep_learning</a:t>
            </a:r>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43</a:t>
            </a:fld>
            <a:endParaRPr lang="en-US"/>
          </a:p>
        </p:txBody>
      </p:sp>
    </p:spTree>
    <p:extLst>
      <p:ext uri="{BB962C8B-B14F-4D97-AF65-F5344CB8AC3E}">
        <p14:creationId xmlns:p14="http://schemas.microsoft.com/office/powerpoint/2010/main" val="17869129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Try Deep Learning in 10 Lines of MATLAB Code</a:t>
            </a:r>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44</a:t>
            </a:fld>
            <a:endParaRPr lang="en-US"/>
          </a:p>
        </p:txBody>
      </p:sp>
    </p:spTree>
    <p:extLst>
      <p:ext uri="{BB962C8B-B14F-4D97-AF65-F5344CB8AC3E}">
        <p14:creationId xmlns:p14="http://schemas.microsoft.com/office/powerpoint/2010/main" val="23962488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45</a:t>
            </a:fld>
            <a:endParaRPr lang="en-US"/>
          </a:p>
        </p:txBody>
      </p:sp>
    </p:spTree>
    <p:extLst>
      <p:ext uri="{BB962C8B-B14F-4D97-AF65-F5344CB8AC3E}">
        <p14:creationId xmlns:p14="http://schemas.microsoft.com/office/powerpoint/2010/main" val="3962092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46</a:t>
            </a:fld>
            <a:endParaRPr lang="en-US"/>
          </a:p>
        </p:txBody>
      </p:sp>
    </p:spTree>
    <p:extLst>
      <p:ext uri="{BB962C8B-B14F-4D97-AF65-F5344CB8AC3E}">
        <p14:creationId xmlns:p14="http://schemas.microsoft.com/office/powerpoint/2010/main" val="32191291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47</a:t>
            </a:fld>
            <a:endParaRPr lang="en-US"/>
          </a:p>
        </p:txBody>
      </p:sp>
    </p:spTree>
    <p:extLst>
      <p:ext uri="{BB962C8B-B14F-4D97-AF65-F5344CB8AC3E}">
        <p14:creationId xmlns:p14="http://schemas.microsoft.com/office/powerpoint/2010/main" val="40674112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48</a:t>
            </a:fld>
            <a:endParaRPr lang="en-US"/>
          </a:p>
        </p:txBody>
      </p:sp>
    </p:spTree>
    <p:extLst>
      <p:ext uri="{BB962C8B-B14F-4D97-AF65-F5344CB8AC3E}">
        <p14:creationId xmlns:p14="http://schemas.microsoft.com/office/powerpoint/2010/main" val="24657195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49</a:t>
            </a:fld>
            <a:endParaRPr lang="en-US"/>
          </a:p>
        </p:txBody>
      </p:sp>
    </p:spTree>
    <p:extLst>
      <p:ext uri="{BB962C8B-B14F-4D97-AF65-F5344CB8AC3E}">
        <p14:creationId xmlns:p14="http://schemas.microsoft.com/office/powerpoint/2010/main" val="31412533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TransferLearningUsingAlexNetExample.mlx</a:t>
            </a:r>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50</a:t>
            </a:fld>
            <a:endParaRPr lang="en-US"/>
          </a:p>
        </p:txBody>
      </p:sp>
    </p:spTree>
    <p:extLst>
      <p:ext uri="{BB962C8B-B14F-4D97-AF65-F5344CB8AC3E}">
        <p14:creationId xmlns:p14="http://schemas.microsoft.com/office/powerpoint/2010/main" val="19032325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51</a:t>
            </a:fld>
            <a:endParaRPr lang="en-US"/>
          </a:p>
        </p:txBody>
      </p:sp>
    </p:spTree>
    <p:extLst>
      <p:ext uri="{BB962C8B-B14F-4D97-AF65-F5344CB8AC3E}">
        <p14:creationId xmlns:p14="http://schemas.microsoft.com/office/powerpoint/2010/main" val="3605602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52</a:t>
            </a:fld>
            <a:endParaRPr lang="en-US"/>
          </a:p>
        </p:txBody>
      </p:sp>
    </p:spTree>
    <p:extLst>
      <p:ext uri="{BB962C8B-B14F-4D97-AF65-F5344CB8AC3E}">
        <p14:creationId xmlns:p14="http://schemas.microsoft.com/office/powerpoint/2010/main" val="15823680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53</a:t>
            </a:fld>
            <a:endParaRPr lang="en-US"/>
          </a:p>
        </p:txBody>
      </p:sp>
    </p:spTree>
    <p:extLst>
      <p:ext uri="{BB962C8B-B14F-4D97-AF65-F5344CB8AC3E}">
        <p14:creationId xmlns:p14="http://schemas.microsoft.com/office/powerpoint/2010/main" val="361004006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54</a:t>
            </a:fld>
            <a:endParaRPr lang="en-US"/>
          </a:p>
        </p:txBody>
      </p:sp>
    </p:spTree>
    <p:extLst>
      <p:ext uri="{BB962C8B-B14F-4D97-AF65-F5344CB8AC3E}">
        <p14:creationId xmlns:p14="http://schemas.microsoft.com/office/powerpoint/2010/main" val="3292859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55</a:t>
            </a:fld>
            <a:endParaRPr lang="en-US"/>
          </a:p>
        </p:txBody>
      </p:sp>
    </p:spTree>
    <p:extLst>
      <p:ext uri="{BB962C8B-B14F-4D97-AF65-F5344CB8AC3E}">
        <p14:creationId xmlns:p14="http://schemas.microsoft.com/office/powerpoint/2010/main" val="21033428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56</a:t>
            </a:fld>
            <a:endParaRPr lang="en-US"/>
          </a:p>
        </p:txBody>
      </p:sp>
    </p:spTree>
    <p:extLst>
      <p:ext uri="{BB962C8B-B14F-4D97-AF65-F5344CB8AC3E}">
        <p14:creationId xmlns:p14="http://schemas.microsoft.com/office/powerpoint/2010/main" val="12507256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57</a:t>
            </a:fld>
            <a:endParaRPr lang="en-US"/>
          </a:p>
        </p:txBody>
      </p:sp>
    </p:spTree>
    <p:extLst>
      <p:ext uri="{BB962C8B-B14F-4D97-AF65-F5344CB8AC3E}">
        <p14:creationId xmlns:p14="http://schemas.microsoft.com/office/powerpoint/2010/main" val="71032502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58</a:t>
            </a:fld>
            <a:endParaRPr lang="en-US"/>
          </a:p>
        </p:txBody>
      </p:sp>
    </p:spTree>
    <p:extLst>
      <p:ext uri="{BB962C8B-B14F-4D97-AF65-F5344CB8AC3E}">
        <p14:creationId xmlns:p14="http://schemas.microsoft.com/office/powerpoint/2010/main" val="39857062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59</a:t>
            </a:fld>
            <a:endParaRPr lang="en-US"/>
          </a:p>
        </p:txBody>
      </p:sp>
    </p:spTree>
    <p:extLst>
      <p:ext uri="{BB962C8B-B14F-4D97-AF65-F5344CB8AC3E}">
        <p14:creationId xmlns:p14="http://schemas.microsoft.com/office/powerpoint/2010/main" val="32189514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60</a:t>
            </a:fld>
            <a:endParaRPr lang="en-US"/>
          </a:p>
        </p:txBody>
      </p:sp>
    </p:spTree>
    <p:extLst>
      <p:ext uri="{BB962C8B-B14F-4D97-AF65-F5344CB8AC3E}">
        <p14:creationId xmlns:p14="http://schemas.microsoft.com/office/powerpoint/2010/main" val="290544207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61</a:t>
            </a:fld>
            <a:endParaRPr lang="en-US"/>
          </a:p>
        </p:txBody>
      </p:sp>
    </p:spTree>
    <p:extLst>
      <p:ext uri="{BB962C8B-B14F-4D97-AF65-F5344CB8AC3E}">
        <p14:creationId xmlns:p14="http://schemas.microsoft.com/office/powerpoint/2010/main" val="388873840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TrainABasicConvolutionalNeuralNetworkForClassificationExample.mlx or</a:t>
            </a:r>
          </a:p>
          <a:p>
            <a:r>
              <a:rPr lang="en-US" dirty="0" err="1"/>
              <a:t>Deep_Learning_HandWritten_Digits_Classification.mlx</a:t>
            </a:r>
            <a:endParaRPr lang="en-US" dirty="0"/>
          </a:p>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62</a:t>
            </a:fld>
            <a:endParaRPr lang="en-US"/>
          </a:p>
        </p:txBody>
      </p:sp>
    </p:spTree>
    <p:extLst>
      <p:ext uri="{BB962C8B-B14F-4D97-AF65-F5344CB8AC3E}">
        <p14:creationId xmlns:p14="http://schemas.microsoft.com/office/powerpoint/2010/main" val="86855220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63</a:t>
            </a:fld>
            <a:endParaRPr lang="en-US"/>
          </a:p>
        </p:txBody>
      </p:sp>
    </p:spTree>
    <p:extLst>
      <p:ext uri="{BB962C8B-B14F-4D97-AF65-F5344CB8AC3E}">
        <p14:creationId xmlns:p14="http://schemas.microsoft.com/office/powerpoint/2010/main" val="131326773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64</a:t>
            </a:fld>
            <a:endParaRPr lang="en-US"/>
          </a:p>
        </p:txBody>
      </p:sp>
    </p:spTree>
    <p:extLst>
      <p:ext uri="{BB962C8B-B14F-4D97-AF65-F5344CB8AC3E}">
        <p14:creationId xmlns:p14="http://schemas.microsoft.com/office/powerpoint/2010/main" val="37767793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65</a:t>
            </a:fld>
            <a:endParaRPr lang="en-US"/>
          </a:p>
        </p:txBody>
      </p:sp>
    </p:spTree>
    <p:extLst>
      <p:ext uri="{BB962C8B-B14F-4D97-AF65-F5344CB8AC3E}">
        <p14:creationId xmlns:p14="http://schemas.microsoft.com/office/powerpoint/2010/main" val="167303972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66</a:t>
            </a:fld>
            <a:endParaRPr lang="en-US"/>
          </a:p>
        </p:txBody>
      </p:sp>
    </p:spTree>
    <p:extLst>
      <p:ext uri="{BB962C8B-B14F-4D97-AF65-F5344CB8AC3E}">
        <p14:creationId xmlns:p14="http://schemas.microsoft.com/office/powerpoint/2010/main" val="3960472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67</a:t>
            </a:fld>
            <a:endParaRPr lang="en-US"/>
          </a:p>
        </p:txBody>
      </p:sp>
    </p:spTree>
    <p:extLst>
      <p:ext uri="{BB962C8B-B14F-4D97-AF65-F5344CB8AC3E}">
        <p14:creationId xmlns:p14="http://schemas.microsoft.com/office/powerpoint/2010/main" val="356569911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68</a:t>
            </a:fld>
            <a:endParaRPr lang="en-US"/>
          </a:p>
        </p:txBody>
      </p:sp>
    </p:spTree>
    <p:extLst>
      <p:ext uri="{BB962C8B-B14F-4D97-AF65-F5344CB8AC3E}">
        <p14:creationId xmlns:p14="http://schemas.microsoft.com/office/powerpoint/2010/main" val="396129143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69</a:t>
            </a:fld>
            <a:endParaRPr lang="en-US"/>
          </a:p>
        </p:txBody>
      </p:sp>
    </p:spTree>
    <p:extLst>
      <p:ext uri="{BB962C8B-B14F-4D97-AF65-F5344CB8AC3E}">
        <p14:creationId xmlns:p14="http://schemas.microsoft.com/office/powerpoint/2010/main" val="325350079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70</a:t>
            </a:fld>
            <a:endParaRPr lang="en-US"/>
          </a:p>
        </p:txBody>
      </p:sp>
    </p:spTree>
    <p:extLst>
      <p:ext uri="{BB962C8B-B14F-4D97-AF65-F5344CB8AC3E}">
        <p14:creationId xmlns:p14="http://schemas.microsoft.com/office/powerpoint/2010/main" val="10959326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71</a:t>
            </a:fld>
            <a:endParaRPr lang="en-US"/>
          </a:p>
        </p:txBody>
      </p:sp>
    </p:spTree>
    <p:extLst>
      <p:ext uri="{BB962C8B-B14F-4D97-AF65-F5344CB8AC3E}">
        <p14:creationId xmlns:p14="http://schemas.microsoft.com/office/powerpoint/2010/main" val="308857302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MATLAB R2012a: vision.CascadeObjectDetector</a:t>
            </a:r>
          </a:p>
        </p:txBody>
      </p:sp>
      <p:sp>
        <p:nvSpPr>
          <p:cNvPr id="4" name="Slide Number Placeholder 3"/>
          <p:cNvSpPr>
            <a:spLocks noGrp="1"/>
          </p:cNvSpPr>
          <p:nvPr>
            <p:ph type="sldNum" sz="quarter" idx="10"/>
          </p:nvPr>
        </p:nvSpPr>
        <p:spPr/>
        <p:txBody>
          <a:bodyPr/>
          <a:lstStyle/>
          <a:p>
            <a:fld id="{76308B8D-8E1E-4C22-9F0A-2468901663B5}" type="slidenum">
              <a:rPr lang="en-US" smtClean="0"/>
              <a:pPr/>
              <a:t>76</a:t>
            </a:fld>
            <a:endParaRPr lang="en-US"/>
          </a:p>
        </p:txBody>
      </p:sp>
    </p:spTree>
    <p:extLst>
      <p:ext uri="{BB962C8B-B14F-4D97-AF65-F5344CB8AC3E}">
        <p14:creationId xmlns:p14="http://schemas.microsoft.com/office/powerpoint/2010/main" val="916737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MATLAB R2012a</a:t>
            </a:r>
          </a:p>
        </p:txBody>
      </p:sp>
      <p:sp>
        <p:nvSpPr>
          <p:cNvPr id="4" name="Slide Number Placeholder 3"/>
          <p:cNvSpPr>
            <a:spLocks noGrp="1"/>
          </p:cNvSpPr>
          <p:nvPr>
            <p:ph type="sldNum" sz="quarter" idx="10"/>
          </p:nvPr>
        </p:nvSpPr>
        <p:spPr/>
        <p:txBody>
          <a:bodyPr/>
          <a:lstStyle/>
          <a:p>
            <a:fld id="{76308B8D-8E1E-4C22-9F0A-2468901663B5}" type="slidenum">
              <a:rPr lang="en-US" smtClean="0"/>
              <a:pPr/>
              <a:t>78</a:t>
            </a:fld>
            <a:endParaRPr lang="en-US"/>
          </a:p>
        </p:txBody>
      </p:sp>
    </p:spTree>
    <p:extLst>
      <p:ext uri="{BB962C8B-B14F-4D97-AF65-F5344CB8AC3E}">
        <p14:creationId xmlns:p14="http://schemas.microsoft.com/office/powerpoint/2010/main" val="198329343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MATLAB R2012a</a:t>
            </a:r>
          </a:p>
        </p:txBody>
      </p:sp>
      <p:sp>
        <p:nvSpPr>
          <p:cNvPr id="4" name="Slide Number Placeholder 3"/>
          <p:cNvSpPr>
            <a:spLocks noGrp="1"/>
          </p:cNvSpPr>
          <p:nvPr>
            <p:ph type="sldNum" sz="quarter" idx="10"/>
          </p:nvPr>
        </p:nvSpPr>
        <p:spPr/>
        <p:txBody>
          <a:bodyPr/>
          <a:lstStyle/>
          <a:p>
            <a:fld id="{76308B8D-8E1E-4C22-9F0A-2468901663B5}" type="slidenum">
              <a:rPr lang="en-US" smtClean="0"/>
              <a:pPr/>
              <a:t>79</a:t>
            </a:fld>
            <a:endParaRPr lang="en-US"/>
          </a:p>
        </p:txBody>
      </p:sp>
    </p:spTree>
    <p:extLst>
      <p:ext uri="{BB962C8B-B14F-4D97-AF65-F5344CB8AC3E}">
        <p14:creationId xmlns:p14="http://schemas.microsoft.com/office/powerpoint/2010/main" val="413950096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80</a:t>
            </a:fld>
            <a:endParaRPr lang="en-US"/>
          </a:p>
        </p:txBody>
      </p:sp>
    </p:spTree>
    <p:extLst>
      <p:ext uri="{BB962C8B-B14F-4D97-AF65-F5344CB8AC3E}">
        <p14:creationId xmlns:p14="http://schemas.microsoft.com/office/powerpoint/2010/main" val="104223543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81</a:t>
            </a:fld>
            <a:endParaRPr lang="en-US"/>
          </a:p>
        </p:txBody>
      </p:sp>
    </p:spTree>
    <p:extLst>
      <p:ext uri="{BB962C8B-B14F-4D97-AF65-F5344CB8AC3E}">
        <p14:creationId xmlns:p14="http://schemas.microsoft.com/office/powerpoint/2010/main" val="404617037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82</a:t>
            </a:fld>
            <a:endParaRPr lang="en-US"/>
          </a:p>
        </p:txBody>
      </p:sp>
    </p:spTree>
    <p:extLst>
      <p:ext uri="{BB962C8B-B14F-4D97-AF65-F5344CB8AC3E}">
        <p14:creationId xmlns:p14="http://schemas.microsoft.com/office/powerpoint/2010/main" val="1664365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9581" y="142852"/>
            <a:ext cx="10458451" cy="857256"/>
          </a:xfrm>
        </p:spPr>
        <p:txBody>
          <a:bodyPr>
            <a:normAutofit/>
          </a:bodyPr>
          <a:lstStyle>
            <a:lvl1pPr algn="l">
              <a:defRPr sz="4400"/>
            </a:lvl1pPr>
          </a:lstStyle>
          <a:p>
            <a:r>
              <a:rPr lang="en-US" dirty="0"/>
              <a:t>Click to edit Master title style</a:t>
            </a:r>
          </a:p>
        </p:txBody>
      </p:sp>
      <p:sp>
        <p:nvSpPr>
          <p:cNvPr id="3" name="Subtitle 2"/>
          <p:cNvSpPr>
            <a:spLocks noGrp="1"/>
          </p:cNvSpPr>
          <p:nvPr>
            <p:ph type="subTitle" idx="1"/>
          </p:nvPr>
        </p:nvSpPr>
        <p:spPr>
          <a:xfrm>
            <a:off x="190459" y="1285860"/>
            <a:ext cx="11715832" cy="535785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xfrm>
            <a:off x="1219200" y="6324600"/>
            <a:ext cx="2540000" cy="457200"/>
          </a:xfrm>
          <a:prstGeom prst="rect">
            <a:avLst/>
          </a:prstGeom>
          <a:ln/>
        </p:spPr>
        <p:txBody>
          <a:bodyPr/>
          <a:lstStyle>
            <a:lvl1pPr>
              <a:defRPr/>
            </a:lvl1pPr>
          </a:lstStyle>
          <a:p>
            <a:pPr>
              <a:defRPr/>
            </a:pPr>
            <a:endParaRPr lang="th-TH"/>
          </a:p>
        </p:txBody>
      </p:sp>
      <p:sp>
        <p:nvSpPr>
          <p:cNvPr id="5" name="Rectangle 12"/>
          <p:cNvSpPr>
            <a:spLocks noGrp="1" noChangeArrowheads="1"/>
          </p:cNvSpPr>
          <p:nvPr>
            <p:ph type="ftr" sz="quarter" idx="11"/>
          </p:nvPr>
        </p:nvSpPr>
        <p:spPr>
          <a:xfrm>
            <a:off x="4470400" y="6324600"/>
            <a:ext cx="3860800" cy="457200"/>
          </a:xfrm>
          <a:prstGeom prst="rect">
            <a:avLst/>
          </a:prstGeom>
          <a:ln/>
        </p:spPr>
        <p:txBody>
          <a:bodyPr/>
          <a:lstStyle>
            <a:lvl1pPr>
              <a:defRPr/>
            </a:lvl1pPr>
          </a:lstStyle>
          <a:p>
            <a:pPr>
              <a:defRPr/>
            </a:pPr>
            <a:endParaRPr lang="th-TH"/>
          </a:p>
        </p:txBody>
      </p:sp>
      <p:sp>
        <p:nvSpPr>
          <p:cNvPr id="6" name="Rectangle 13"/>
          <p:cNvSpPr>
            <a:spLocks noGrp="1" noChangeArrowheads="1"/>
          </p:cNvSpPr>
          <p:nvPr>
            <p:ph type="sldNum" sz="quarter" idx="12"/>
          </p:nvPr>
        </p:nvSpPr>
        <p:spPr>
          <a:xfrm>
            <a:off x="9042400" y="6324600"/>
            <a:ext cx="2540000" cy="457200"/>
          </a:xfrm>
          <a:prstGeom prst="rect">
            <a:avLst/>
          </a:prstGeom>
          <a:ln/>
        </p:spPr>
        <p:txBody>
          <a:bodyPr/>
          <a:lstStyle>
            <a:lvl1pPr>
              <a:defRPr/>
            </a:lvl1pPr>
          </a:lstStyle>
          <a:p>
            <a:pPr>
              <a:defRPr/>
            </a:pPr>
            <a:fld id="{734235E4-7E4F-4E21-B451-3954ADC1CD4B}" type="slidenum">
              <a:rPr lang="en-US"/>
              <a:pPr>
                <a:defRPr/>
              </a:pPr>
              <a:t>‹#›</a:t>
            </a:fld>
            <a:endParaRPr lang="th-TH"/>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0459" y="71414"/>
            <a:ext cx="10001320" cy="92869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90459" y="1285860"/>
            <a:ext cx="11715832" cy="5500726"/>
          </a:xfrm>
          <a:prstGeom prst="rect">
            <a:avLst/>
          </a:prstGeom>
        </p:spPr>
        <p:txBody>
          <a:bodyPr vert="horz" lIns="91440" tIns="45720" rIns="91440" bIns="45720" rtlCol="0">
            <a:normAutofit/>
          </a:bodyPr>
          <a:lstStyle/>
          <a:p>
            <a:pPr lvl="0"/>
            <a:r>
              <a:rPr lang="en-US" dirty="0"/>
              <a:t>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9" name="Rectangle 8"/>
          <p:cNvSpPr/>
          <p:nvPr userDrawn="1"/>
        </p:nvSpPr>
        <p:spPr>
          <a:xfrm>
            <a:off x="190501" y="1071546"/>
            <a:ext cx="10607040" cy="7143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742754" y="44624"/>
            <a:ext cx="1113886" cy="1134112"/>
          </a:xfrm>
          <a:prstGeom prst="rect">
            <a:avLst/>
          </a:prstGeom>
        </p:spPr>
      </p:pic>
      <p:sp>
        <p:nvSpPr>
          <p:cNvPr id="10" name="Text Box 11"/>
          <p:cNvSpPr txBox="1">
            <a:spLocks noChangeArrowheads="1"/>
          </p:cNvSpPr>
          <p:nvPr userDrawn="1"/>
        </p:nvSpPr>
        <p:spPr bwMode="auto">
          <a:xfrm>
            <a:off x="11622509" y="807095"/>
            <a:ext cx="543739" cy="461665"/>
          </a:xfrm>
          <a:prstGeom prst="rect">
            <a:avLst/>
          </a:prstGeom>
          <a:noFill/>
          <a:ln w="9525">
            <a:noFill/>
            <a:miter lim="800000"/>
            <a:headEnd/>
            <a:tailEnd/>
          </a:ln>
          <a:effectLst/>
        </p:spPr>
        <p:txBody>
          <a:bodyPr wrap="none">
            <a:spAutoFit/>
          </a:bodyPr>
          <a:lstStyle/>
          <a:p>
            <a:fld id="{E4FF5167-E4CB-45F3-85CD-7EC8641D6DEE}" type="slidenum">
              <a:rPr lang="en-US" sz="2400" b="1">
                <a:solidFill>
                  <a:srgbClr val="FF0000"/>
                </a:solidFill>
              </a:rPr>
              <a:pPr/>
              <a:t>‹#›</a:t>
            </a:fld>
            <a:endParaRPr lang="en-US" sz="2400" b="1" dirty="0">
              <a:solidFill>
                <a:srgbClr val="FF0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p:titleStyle>
    <p:bodyStyle>
      <a:lvl1pPr marL="342900" indent="-342900" algn="just" defTabSz="914400" rtl="0" eaLnBrk="1" latinLnBrk="0" hangingPunct="1">
        <a:spcBef>
          <a:spcPct val="20000"/>
        </a:spcBef>
        <a:buFont typeface="Arial" pitchFamily="34" charset="0"/>
        <a:buNone/>
        <a:defRPr sz="3200" kern="1200">
          <a:solidFill>
            <a:schemeClr val="tx1"/>
          </a:solidFill>
          <a:latin typeface="Times New Roman" pitchFamily="18" charset="0"/>
          <a:ea typeface="+mn-ea"/>
          <a:cs typeface="Times New Roman" pitchFamily="18" charset="0"/>
        </a:defRPr>
      </a:lvl1pPr>
      <a:lvl2pPr marL="742950" indent="-285750" algn="just" defTabSz="914400" rtl="0" eaLnBrk="1" latinLnBrk="0" hangingPunct="1">
        <a:spcBef>
          <a:spcPct val="20000"/>
        </a:spcBef>
        <a:buFont typeface="Wingdings" pitchFamily="2" charset="2"/>
        <a:buChar char="Ø"/>
        <a:defRPr sz="2800" kern="1200">
          <a:solidFill>
            <a:schemeClr val="tx1"/>
          </a:solidFill>
          <a:latin typeface="Times New Roman" pitchFamily="18" charset="0"/>
          <a:ea typeface="+mn-ea"/>
          <a:cs typeface="Times New Roman" pitchFamily="18" charset="0"/>
        </a:defRPr>
      </a:lvl2pPr>
      <a:lvl3pPr marL="1143000" indent="-228600" algn="just" defTabSz="914400" rtl="0" eaLnBrk="1" latinLnBrk="0" hangingPunct="1">
        <a:spcBef>
          <a:spcPct val="20000"/>
        </a:spcBef>
        <a:buFont typeface="Wingdings" pitchFamily="2" charset="2"/>
        <a:buChar char="v"/>
        <a:defRPr sz="2400" kern="1200">
          <a:solidFill>
            <a:schemeClr val="tx1"/>
          </a:solidFill>
          <a:latin typeface="Times New Roman" pitchFamily="18" charset="0"/>
          <a:ea typeface="+mn-ea"/>
          <a:cs typeface="Times New Roman" pitchFamily="18" charset="0"/>
        </a:defRPr>
      </a:lvl3pPr>
      <a:lvl4pPr marL="1600200" indent="-228600" algn="just" defTabSz="914400" rtl="0" eaLnBrk="1" latinLnBrk="0" hangingPunct="1">
        <a:spcBef>
          <a:spcPct val="20000"/>
        </a:spcBef>
        <a:buFont typeface="Wingdings" pitchFamily="2" charset="2"/>
        <a:buChar char="§"/>
        <a:defRPr sz="2000" kern="1200">
          <a:solidFill>
            <a:schemeClr val="tx1"/>
          </a:solidFill>
          <a:latin typeface="Times New Roman" pitchFamily="18" charset="0"/>
          <a:ea typeface="+mn-ea"/>
          <a:cs typeface="Times New Roman" pitchFamily="18" charset="0"/>
        </a:defRPr>
      </a:lvl4pPr>
      <a:lvl5pPr marL="2057400" indent="-228600" algn="just" defTabSz="914400" rtl="0" eaLnBrk="1" latinLnBrk="0" hangingPunct="1">
        <a:spcBef>
          <a:spcPct val="20000"/>
        </a:spcBef>
        <a:buFont typeface="Courier New" pitchFamily="49" charset="0"/>
        <a:buChar char="o"/>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vig.cuilahore.edu.pk/" TargetMode="External"/><Relationship Id="rId4" Type="http://schemas.openxmlformats.org/officeDocument/2006/relationships/hyperlink" Target="https://nptel.ac.in/courses/106/105/106105216/"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1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nptel.ac.in/courses/106/105/106105216/"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hyperlink" Target="http://www.bliasoft.com/Documents/DataIris.txt"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28.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s://nptel.ac.in/courses/106/105/106105216/"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0.gif"/></Relationships>
</file>

<file path=ppt/slides/_rels/slide31.xml.rels><?xml version="1.0" encoding="UTF-8" standalone="yes"?>
<Relationships xmlns="http://schemas.openxmlformats.org/package/2006/relationships"><Relationship Id="rId3" Type="http://schemas.openxmlformats.org/officeDocument/2006/relationships/hyperlink" Target="https://data.caltech.edu/records/20086"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4.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2.e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hyperlink" Target="https://youtube.com/playlist?list=PLd3hlSJsX_InWyCQtwqQ7y6KnwhxNCgRf&amp;si=qdrWQ5kIZrPsSG6I"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vision.stanford.edu/" TargetMode="External"/><Relationship Id="rId7" Type="http://schemas.openxmlformats.org/officeDocument/2006/relationships/hyperlink" Target="http://dipwm.blogspot.com/2013/01/svm-support-vector-machine-with-matlab.html" TargetMode="External"/><Relationship Id="rId2" Type="http://schemas.openxmlformats.org/officeDocument/2006/relationships/hyperlink" Target="https://www.youtube.com/@UCFCRCV/videos" TargetMode="External"/><Relationship Id="rId1" Type="http://schemas.openxmlformats.org/officeDocument/2006/relationships/slideLayout" Target="../slideLayouts/slideLayout2.xml"/><Relationship Id="rId6" Type="http://schemas.openxmlformats.org/officeDocument/2006/relationships/hyperlink" Target="http://natureofcode.com/book/chapter-10-neural-networks/" TargetMode="External"/><Relationship Id="rId5" Type="http://schemas.openxmlformats.org/officeDocument/2006/relationships/hyperlink" Target="http://www.vision.ee.ethz.ch/~daid/EnProDeepFets/" TargetMode="External"/><Relationship Id="rId4" Type="http://schemas.openxmlformats.org/officeDocument/2006/relationships/hyperlink" Target="http://cs.stanford.edu/people/karpathy/"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55.emf"/></Relationships>
</file>

<file path=ppt/slides/_rels/slide82.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chine Learning:. Machine learning is just to give… | by Saravana Prakash  | codeburst">
            <a:extLst>
              <a:ext uri="{FF2B5EF4-FFF2-40B4-BE49-F238E27FC236}">
                <a16:creationId xmlns:a16="http://schemas.microsoft.com/office/drawing/2014/main" id="{BC6B2D1B-43C5-2A08-2F80-68A3EFC59B8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71" t="14714" r="2191" b="10862"/>
          <a:stretch/>
        </p:blipFill>
        <p:spPr bwMode="auto">
          <a:xfrm>
            <a:off x="1703512" y="1621001"/>
            <a:ext cx="8493164" cy="370610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209581" y="142852"/>
            <a:ext cx="10190553" cy="857256"/>
          </a:xfrm>
        </p:spPr>
        <p:txBody>
          <a:bodyPr>
            <a:noAutofit/>
          </a:bodyPr>
          <a:lstStyle/>
          <a:p>
            <a:r>
              <a:rPr lang="en-US" altLang="zh-TW" sz="5400" dirty="0"/>
              <a:t>Visual Classification</a:t>
            </a:r>
            <a:endParaRPr lang="en-US" sz="8000" dirty="0"/>
          </a:p>
        </p:txBody>
      </p:sp>
      <p:sp>
        <p:nvSpPr>
          <p:cNvPr id="4" name="TextBox 7"/>
          <p:cNvSpPr txBox="1">
            <a:spLocks noChangeArrowheads="1"/>
          </p:cNvSpPr>
          <p:nvPr/>
        </p:nvSpPr>
        <p:spPr bwMode="auto">
          <a:xfrm>
            <a:off x="4799576" y="1142984"/>
            <a:ext cx="2860078" cy="400110"/>
          </a:xfrm>
          <a:prstGeom prst="rect">
            <a:avLst/>
          </a:prstGeom>
          <a:noFill/>
          <a:ln w="9525">
            <a:noFill/>
            <a:miter lim="800000"/>
            <a:headEnd/>
            <a:tailEnd/>
          </a:ln>
        </p:spPr>
        <p:txBody>
          <a:bodyPr wrap="none">
            <a:spAutoFit/>
          </a:bodyPr>
          <a:lstStyle/>
          <a:p>
            <a:pPr algn="ctr"/>
            <a:r>
              <a:rPr lang="en-US" sz="2000" i="1" dirty="0">
                <a:latin typeface="Times New Roman" pitchFamily="18" charset="0"/>
                <a:cs typeface="Times New Roman" pitchFamily="18" charset="0"/>
              </a:rPr>
              <a:t>Last updated: 14-04-2024</a:t>
            </a:r>
          </a:p>
        </p:txBody>
      </p:sp>
      <p:sp>
        <p:nvSpPr>
          <p:cNvPr id="10" name="Rectangle 9"/>
          <p:cNvSpPr/>
          <p:nvPr/>
        </p:nvSpPr>
        <p:spPr>
          <a:xfrm>
            <a:off x="263353" y="5489096"/>
            <a:ext cx="6840760" cy="1200329"/>
          </a:xfrm>
          <a:prstGeom prst="rect">
            <a:avLst/>
          </a:prstGeom>
        </p:spPr>
        <p:txBody>
          <a:bodyPr wrap="square">
            <a:spAutoFit/>
          </a:bodyPr>
          <a:lstStyle/>
          <a:p>
            <a:pPr>
              <a:spcBef>
                <a:spcPts val="600"/>
              </a:spcBef>
              <a:spcAft>
                <a:spcPts val="600"/>
              </a:spcAft>
              <a:defRPr/>
            </a:pPr>
            <a:r>
              <a:rPr lang="en-US" sz="2400" kern="0" dirty="0">
                <a:solidFill>
                  <a:sysClr val="windowText" lastClr="000000"/>
                </a:solidFill>
                <a:latin typeface="Times New Roman" pitchFamily="18" charset="0"/>
                <a:cs typeface="Times New Roman" pitchFamily="18" charset="0"/>
              </a:rPr>
              <a:t>[NCV] Computer Vision, The National </a:t>
            </a:r>
            <a:r>
              <a:rPr lang="en-US" sz="2400" kern="0" dirty="0" err="1">
                <a:solidFill>
                  <a:sysClr val="windowText" lastClr="000000"/>
                </a:solidFill>
                <a:latin typeface="Times New Roman" pitchFamily="18" charset="0"/>
                <a:cs typeface="Times New Roman" pitchFamily="18" charset="0"/>
              </a:rPr>
              <a:t>Programme</a:t>
            </a:r>
            <a:r>
              <a:rPr lang="en-US" sz="2400" kern="0" dirty="0">
                <a:solidFill>
                  <a:sysClr val="windowText" lastClr="000000"/>
                </a:solidFill>
                <a:latin typeface="Times New Roman" pitchFamily="18" charset="0"/>
                <a:cs typeface="Times New Roman" pitchFamily="18" charset="0"/>
              </a:rPr>
              <a:t> on Technology Enhanced Learning (NPTEL), </a:t>
            </a:r>
            <a:r>
              <a:rPr lang="en-US" sz="2400" kern="0" dirty="0">
                <a:solidFill>
                  <a:sysClr val="windowText" lastClr="000000"/>
                </a:solidFill>
                <a:latin typeface="Times New Roman" pitchFamily="18" charset="0"/>
                <a:cs typeface="Times New Roman" pitchFamily="18" charset="0"/>
                <a:hlinkClick r:id="rId4"/>
              </a:rPr>
              <a:t>https://nptel.ac.in/courses/106/105/106105216/</a:t>
            </a:r>
            <a:r>
              <a:rPr lang="en-US" sz="2400" kern="0" dirty="0">
                <a:solidFill>
                  <a:sysClr val="windowText" lastClr="000000"/>
                </a:solidFill>
                <a:latin typeface="Times New Roman" pitchFamily="18" charset="0"/>
                <a:cs typeface="Times New Roman" pitchFamily="18" charset="0"/>
              </a:rPr>
              <a:t> </a:t>
            </a:r>
          </a:p>
        </p:txBody>
      </p:sp>
      <p:sp>
        <p:nvSpPr>
          <p:cNvPr id="13" name="TextBox 12"/>
          <p:cNvSpPr txBox="1"/>
          <p:nvPr/>
        </p:nvSpPr>
        <p:spPr>
          <a:xfrm>
            <a:off x="7608168" y="5612206"/>
            <a:ext cx="4404796" cy="954107"/>
          </a:xfrm>
          <a:prstGeom prst="rect">
            <a:avLst/>
          </a:prstGeom>
          <a:solidFill>
            <a:srgbClr val="00CC99">
              <a:lumMod val="75000"/>
            </a:srgbClr>
          </a:solidFill>
        </p:spPr>
        <p:txBody>
          <a:bodyPr wrap="non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Times New Roman" pitchFamily="18" charset="0"/>
                <a:ea typeface="+mn-ea"/>
                <a:cs typeface="+mn-cs"/>
              </a:rPr>
              <a:t>Dr. Zulfiqar Habib, Professor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1" u="none" strike="noStrike" kern="1200" cap="none" spc="0" normalizeH="0" baseline="0" noProof="0" dirty="0">
                <a:ln>
                  <a:noFill/>
                </a:ln>
                <a:solidFill>
                  <a:srgbClr val="000000"/>
                </a:solidFill>
                <a:effectLst/>
                <a:uLnTx/>
                <a:uFillTx/>
                <a:latin typeface="Times New Roman" pitchFamily="18" charset="0"/>
                <a:ea typeface="+mn-ea"/>
                <a:cs typeface="+mn-cs"/>
                <a:hlinkClick r:id="rId5"/>
              </a:rPr>
              <a:t>http://vig.cuilahore.edu.pk</a:t>
            </a:r>
            <a:r>
              <a:rPr kumimoji="0" lang="en-US" sz="2800" b="0" i="1" u="none" strike="noStrike" kern="1200" cap="none" spc="0" normalizeH="0" baseline="0" noProof="0" dirty="0">
                <a:ln>
                  <a:noFill/>
                </a:ln>
                <a:solidFill>
                  <a:srgbClr val="000000"/>
                </a:solidFill>
                <a:effectLst/>
                <a:uLnTx/>
                <a:uFillTx/>
                <a:latin typeface="Times New Roman" pitchFamily="18" charset="0"/>
                <a:ea typeface="+mn-ea"/>
                <a:cs typeface="+mn-cs"/>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83CE5-2FD7-3FD4-A7DB-53C84D4882CD}"/>
              </a:ext>
            </a:extLst>
          </p:cNvPr>
          <p:cNvSpPr>
            <a:spLocks noGrp="1"/>
          </p:cNvSpPr>
          <p:nvPr>
            <p:ph type="title"/>
          </p:nvPr>
        </p:nvSpPr>
        <p:spPr/>
        <p:txBody>
          <a:bodyPr>
            <a:normAutofit/>
          </a:bodyPr>
          <a:lstStyle/>
          <a:p>
            <a:pPr algn="ctr"/>
            <a:r>
              <a:rPr lang="en-US" sz="5400" dirty="0"/>
              <a:t>Teacher Appreciation</a:t>
            </a:r>
          </a:p>
        </p:txBody>
      </p:sp>
      <p:sp>
        <p:nvSpPr>
          <p:cNvPr id="3" name="Content Placeholder 2">
            <a:extLst>
              <a:ext uri="{FF2B5EF4-FFF2-40B4-BE49-F238E27FC236}">
                <a16:creationId xmlns:a16="http://schemas.microsoft.com/office/drawing/2014/main" id="{7CD1E28B-0EC6-77A8-B144-CECBEA0042A6}"/>
              </a:ext>
            </a:extLst>
          </p:cNvPr>
          <p:cNvSpPr>
            <a:spLocks noGrp="1"/>
          </p:cNvSpPr>
          <p:nvPr>
            <p:ph idx="1"/>
          </p:nvPr>
        </p:nvSpPr>
        <p:spPr>
          <a:xfrm>
            <a:off x="190459" y="1285860"/>
            <a:ext cx="10001320" cy="5500726"/>
          </a:xfrm>
        </p:spPr>
        <p:txBody>
          <a:bodyPr>
            <a:normAutofit/>
          </a:bodyPr>
          <a:lstStyle/>
          <a:p>
            <a:pPr algn="ctr"/>
            <a:r>
              <a:rPr lang="en-US" sz="4000" dirty="0"/>
              <a:t>“A student's progress should be measured in terms of the questions they are asking, not merely by the answers that they are reciting”</a:t>
            </a:r>
          </a:p>
          <a:p>
            <a:pPr algn="ctr"/>
            <a:endParaRPr lang="en-US" sz="4000" dirty="0"/>
          </a:p>
          <a:p>
            <a:pPr algn="ctr"/>
            <a:r>
              <a:rPr lang="en-US" sz="4000" dirty="0"/>
              <a:t>- Robert John Meehan -</a:t>
            </a:r>
          </a:p>
        </p:txBody>
      </p:sp>
    </p:spTree>
    <p:extLst>
      <p:ext uri="{BB962C8B-B14F-4D97-AF65-F5344CB8AC3E}">
        <p14:creationId xmlns:p14="http://schemas.microsoft.com/office/powerpoint/2010/main" val="1574073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09581" y="142852"/>
            <a:ext cx="10458451" cy="857256"/>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altLang="zh-TW" sz="4000" dirty="0"/>
              <a:t>Common Approach</a:t>
            </a:r>
            <a:endParaRPr lang="en-US" sz="6000" dirty="0"/>
          </a:p>
        </p:txBody>
      </p:sp>
      <p:sp>
        <p:nvSpPr>
          <p:cNvPr id="2" name="TextBox 1">
            <a:extLst>
              <a:ext uri="{FF2B5EF4-FFF2-40B4-BE49-F238E27FC236}">
                <a16:creationId xmlns:a16="http://schemas.microsoft.com/office/drawing/2014/main" id="{C428321A-D5C9-516D-FD6F-8BA1CEB2FA01}"/>
              </a:ext>
            </a:extLst>
          </p:cNvPr>
          <p:cNvSpPr txBox="1"/>
          <p:nvPr/>
        </p:nvSpPr>
        <p:spPr>
          <a:xfrm>
            <a:off x="6246969" y="2023233"/>
            <a:ext cx="11110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Training</a:t>
            </a:r>
          </a:p>
        </p:txBody>
      </p:sp>
      <p:sp>
        <p:nvSpPr>
          <p:cNvPr id="3" name="TextBox 2">
            <a:extLst>
              <a:ext uri="{FF2B5EF4-FFF2-40B4-BE49-F238E27FC236}">
                <a16:creationId xmlns:a16="http://schemas.microsoft.com/office/drawing/2014/main" id="{C025629F-A188-7D85-6C09-746850660585}"/>
              </a:ext>
            </a:extLst>
          </p:cNvPr>
          <p:cNvSpPr txBox="1"/>
          <p:nvPr/>
        </p:nvSpPr>
        <p:spPr>
          <a:xfrm rot="19511313">
            <a:off x="8120292" y="2286527"/>
            <a:ext cx="10939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Testing</a:t>
            </a:r>
          </a:p>
        </p:txBody>
      </p:sp>
      <p:grpSp>
        <p:nvGrpSpPr>
          <p:cNvPr id="5" name="Group 4">
            <a:extLst>
              <a:ext uri="{FF2B5EF4-FFF2-40B4-BE49-F238E27FC236}">
                <a16:creationId xmlns:a16="http://schemas.microsoft.com/office/drawing/2014/main" id="{E0E1F507-5CA6-4683-B902-7C559CFBED4D}"/>
              </a:ext>
            </a:extLst>
          </p:cNvPr>
          <p:cNvGrpSpPr/>
          <p:nvPr/>
        </p:nvGrpSpPr>
        <p:grpSpPr>
          <a:xfrm>
            <a:off x="263352" y="1412776"/>
            <a:ext cx="10633982" cy="4896544"/>
            <a:chOff x="107504" y="2276872"/>
            <a:chExt cx="8496944" cy="4032448"/>
          </a:xfrm>
        </p:grpSpPr>
        <p:grpSp>
          <p:nvGrpSpPr>
            <p:cNvPr id="6" name="Canvas 379">
              <a:extLst>
                <a:ext uri="{FF2B5EF4-FFF2-40B4-BE49-F238E27FC236}">
                  <a16:creationId xmlns:a16="http://schemas.microsoft.com/office/drawing/2014/main" id="{947D8548-F924-FE24-D138-39B6C5F03EF7}"/>
                </a:ext>
              </a:extLst>
            </p:cNvPr>
            <p:cNvGrpSpPr/>
            <p:nvPr/>
          </p:nvGrpSpPr>
          <p:grpSpPr>
            <a:xfrm>
              <a:off x="107504" y="2708920"/>
              <a:ext cx="8496944" cy="3600400"/>
              <a:chOff x="0" y="-154446"/>
              <a:chExt cx="6171690" cy="1544461"/>
            </a:xfrm>
          </p:grpSpPr>
          <p:sp>
            <p:nvSpPr>
              <p:cNvPr id="39" name="Rectangle 38">
                <a:extLst>
                  <a:ext uri="{FF2B5EF4-FFF2-40B4-BE49-F238E27FC236}">
                    <a16:creationId xmlns:a16="http://schemas.microsoft.com/office/drawing/2014/main" id="{F3B34180-D134-B895-A8E4-AF297F3B438C}"/>
                  </a:ext>
                </a:extLst>
              </p:cNvPr>
              <p:cNvSpPr/>
              <p:nvPr/>
            </p:nvSpPr>
            <p:spPr>
              <a:xfrm>
                <a:off x="0" y="0"/>
                <a:ext cx="5857875" cy="1390015"/>
              </a:xfrm>
              <a:prstGeom prst="rect">
                <a:avLst/>
              </a:prstGeom>
            </p:spPr>
            <p:txBody>
              <a:bodyPr/>
              <a:lstStyle/>
              <a:p>
                <a:endParaRPr lang="en-US"/>
              </a:p>
            </p:txBody>
          </p:sp>
          <p:sp>
            <p:nvSpPr>
              <p:cNvPr id="40" name="Cloud Callout 14">
                <a:extLst>
                  <a:ext uri="{FF2B5EF4-FFF2-40B4-BE49-F238E27FC236}">
                    <a16:creationId xmlns:a16="http://schemas.microsoft.com/office/drawing/2014/main" id="{E2DB1966-818F-1707-F9A1-0CD6462DF704}"/>
                  </a:ext>
                </a:extLst>
              </p:cNvPr>
              <p:cNvSpPr/>
              <p:nvPr/>
            </p:nvSpPr>
            <p:spPr>
              <a:xfrm>
                <a:off x="26738" y="742489"/>
                <a:ext cx="1072896" cy="621792"/>
              </a:xfrm>
              <a:prstGeom prst="cloudCallout">
                <a:avLst>
                  <a:gd name="adj1" fmla="val -4185"/>
                  <a:gd name="adj2" fmla="val -83096"/>
                </a:avLst>
              </a:prstGeom>
              <a:gradFill flip="none" rotWithShape="1">
                <a:gsLst>
                  <a:gs pos="0">
                    <a:srgbClr val="5B9BD5">
                      <a:tint val="66000"/>
                      <a:satMod val="160000"/>
                    </a:srgbClr>
                  </a:gs>
                  <a:gs pos="50000">
                    <a:srgbClr val="5B9BD5">
                      <a:tint val="44500"/>
                      <a:satMod val="160000"/>
                    </a:srgbClr>
                  </a:gs>
                  <a:gs pos="100000">
                    <a:srgbClr val="5B9BD5">
                      <a:tint val="23500"/>
                      <a:satMod val="160000"/>
                    </a:srgbClr>
                  </a:gs>
                </a:gsLst>
                <a:lin ang="0" scaled="1"/>
                <a:tileRect/>
              </a:gra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just">
                  <a:lnSpc>
                    <a:spcPct val="125000"/>
                  </a:lnSpc>
                </a:pP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Problem domain</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1" name="Rounded Rectangle 15">
                <a:extLst>
                  <a:ext uri="{FF2B5EF4-FFF2-40B4-BE49-F238E27FC236}">
                    <a16:creationId xmlns:a16="http://schemas.microsoft.com/office/drawing/2014/main" id="{4188C1FA-1859-2EC0-615D-C6C4EB1255D4}"/>
                  </a:ext>
                </a:extLst>
              </p:cNvPr>
              <p:cNvSpPr/>
              <p:nvPr/>
            </p:nvSpPr>
            <p:spPr>
              <a:xfrm>
                <a:off x="139221" y="25302"/>
                <a:ext cx="919876" cy="505968"/>
              </a:xfrm>
              <a:prstGeom prst="round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25000"/>
                  </a:lnSpc>
                </a:pP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Image acquisition</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42" name="Straight Arrow Connector 41">
                <a:extLst>
                  <a:ext uri="{FF2B5EF4-FFF2-40B4-BE49-F238E27FC236}">
                    <a16:creationId xmlns:a16="http://schemas.microsoft.com/office/drawing/2014/main" id="{F51EF08F-72A4-76BE-B93F-3C0C865F063B}"/>
                  </a:ext>
                </a:extLst>
              </p:cNvPr>
              <p:cNvCxnSpPr>
                <a:stCxn id="41" idx="3"/>
              </p:cNvCxnSpPr>
              <p:nvPr/>
            </p:nvCxnSpPr>
            <p:spPr>
              <a:xfrm>
                <a:off x="1059097" y="278286"/>
                <a:ext cx="180000" cy="0"/>
              </a:xfrm>
              <a:prstGeom prst="straightConnector1">
                <a:avLst/>
              </a:prstGeom>
              <a:noFill/>
              <a:ln w="6350" cap="flat" cmpd="sng" algn="ctr">
                <a:solidFill>
                  <a:sysClr val="windowText" lastClr="000000"/>
                </a:solidFill>
                <a:prstDash val="solid"/>
                <a:miter lim="800000"/>
                <a:tailEnd type="triangle"/>
              </a:ln>
              <a:effectLst/>
            </p:spPr>
          </p:cxnSp>
          <p:sp>
            <p:nvSpPr>
              <p:cNvPr id="43" name="Rounded Rectangle 17">
                <a:extLst>
                  <a:ext uri="{FF2B5EF4-FFF2-40B4-BE49-F238E27FC236}">
                    <a16:creationId xmlns:a16="http://schemas.microsoft.com/office/drawing/2014/main" id="{BC2473FA-D4CC-567D-4EF0-ABBEEE14131F}"/>
                  </a:ext>
                </a:extLst>
              </p:cNvPr>
              <p:cNvSpPr/>
              <p:nvPr/>
            </p:nvSpPr>
            <p:spPr>
              <a:xfrm>
                <a:off x="1233129" y="30972"/>
                <a:ext cx="1066239" cy="505460"/>
              </a:xfrm>
              <a:prstGeom prst="round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6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Preprocessing</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44" name="Straight Arrow Connector 43">
                <a:extLst>
                  <a:ext uri="{FF2B5EF4-FFF2-40B4-BE49-F238E27FC236}">
                    <a16:creationId xmlns:a16="http://schemas.microsoft.com/office/drawing/2014/main" id="{6E0A2911-34A2-7DE7-9014-FEFA473E4852}"/>
                  </a:ext>
                </a:extLst>
              </p:cNvPr>
              <p:cNvCxnSpPr/>
              <p:nvPr/>
            </p:nvCxnSpPr>
            <p:spPr>
              <a:xfrm>
                <a:off x="2293813" y="283735"/>
                <a:ext cx="179705" cy="0"/>
              </a:xfrm>
              <a:prstGeom prst="straightConnector1">
                <a:avLst/>
              </a:prstGeom>
              <a:noFill/>
              <a:ln w="6350" cap="flat" cmpd="sng" algn="ctr">
                <a:solidFill>
                  <a:sysClr val="windowText" lastClr="000000"/>
                </a:solidFill>
                <a:prstDash val="solid"/>
                <a:miter lim="800000"/>
                <a:tailEnd type="triangle"/>
              </a:ln>
              <a:effectLst/>
            </p:spPr>
          </p:cxnSp>
          <p:sp>
            <p:nvSpPr>
              <p:cNvPr id="45" name="Rounded Rectangle 19">
                <a:extLst>
                  <a:ext uri="{FF2B5EF4-FFF2-40B4-BE49-F238E27FC236}">
                    <a16:creationId xmlns:a16="http://schemas.microsoft.com/office/drawing/2014/main" id="{29C9BAD2-3518-6868-C2E4-1A013FB2ED15}"/>
                  </a:ext>
                </a:extLst>
              </p:cNvPr>
              <p:cNvSpPr/>
              <p:nvPr/>
            </p:nvSpPr>
            <p:spPr>
              <a:xfrm>
                <a:off x="2471614" y="37313"/>
                <a:ext cx="1030797" cy="505460"/>
              </a:xfrm>
              <a:prstGeom prst="round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Segmentation</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46" name="Straight Arrow Connector 45">
                <a:extLst>
                  <a:ext uri="{FF2B5EF4-FFF2-40B4-BE49-F238E27FC236}">
                    <a16:creationId xmlns:a16="http://schemas.microsoft.com/office/drawing/2014/main" id="{1274F5A0-3366-A3B3-B478-22E1AC8203EC}"/>
                  </a:ext>
                </a:extLst>
              </p:cNvPr>
              <p:cNvCxnSpPr/>
              <p:nvPr/>
            </p:nvCxnSpPr>
            <p:spPr>
              <a:xfrm>
                <a:off x="3510474" y="290043"/>
                <a:ext cx="179705" cy="0"/>
              </a:xfrm>
              <a:prstGeom prst="straightConnector1">
                <a:avLst/>
              </a:prstGeom>
              <a:noFill/>
              <a:ln w="6350" cap="flat" cmpd="sng" algn="ctr">
                <a:solidFill>
                  <a:sysClr val="windowText" lastClr="000000"/>
                </a:solidFill>
                <a:prstDash val="solid"/>
                <a:miter lim="800000"/>
                <a:tailEnd type="triangle"/>
              </a:ln>
              <a:effectLst/>
            </p:spPr>
          </p:cxnSp>
          <p:sp>
            <p:nvSpPr>
              <p:cNvPr id="47" name="Rounded Rectangle 21">
                <a:extLst>
                  <a:ext uri="{FF2B5EF4-FFF2-40B4-BE49-F238E27FC236}">
                    <a16:creationId xmlns:a16="http://schemas.microsoft.com/office/drawing/2014/main" id="{182B56CF-697A-4556-7ACF-6E4C0BF55D9B}"/>
                  </a:ext>
                </a:extLst>
              </p:cNvPr>
              <p:cNvSpPr/>
              <p:nvPr/>
            </p:nvSpPr>
            <p:spPr>
              <a:xfrm>
                <a:off x="3682404" y="43622"/>
                <a:ext cx="854225" cy="505460"/>
              </a:xfrm>
              <a:prstGeom prst="round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Feature extraction</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48" name="Straight Arrow Connector 47">
                <a:extLst>
                  <a:ext uri="{FF2B5EF4-FFF2-40B4-BE49-F238E27FC236}">
                    <a16:creationId xmlns:a16="http://schemas.microsoft.com/office/drawing/2014/main" id="{349C5CAF-51E0-1374-2EE6-1F36C965CAB1}"/>
                  </a:ext>
                </a:extLst>
              </p:cNvPr>
              <p:cNvCxnSpPr/>
              <p:nvPr/>
            </p:nvCxnSpPr>
            <p:spPr>
              <a:xfrm flipV="1">
                <a:off x="4538387" y="-154446"/>
                <a:ext cx="616688" cy="247114"/>
              </a:xfrm>
              <a:prstGeom prst="straightConnector1">
                <a:avLst/>
              </a:prstGeom>
              <a:noFill/>
              <a:ln w="6350" cap="flat" cmpd="sng" algn="ctr">
                <a:solidFill>
                  <a:sysClr val="windowText" lastClr="000000"/>
                </a:solidFill>
                <a:prstDash val="solid"/>
                <a:miter lim="800000"/>
                <a:tailEnd type="triangle"/>
              </a:ln>
              <a:effectLst/>
            </p:spPr>
          </p:cxnSp>
          <p:sp>
            <p:nvSpPr>
              <p:cNvPr id="49" name="Rounded Rectangle 23">
                <a:extLst>
                  <a:ext uri="{FF2B5EF4-FFF2-40B4-BE49-F238E27FC236}">
                    <a16:creationId xmlns:a16="http://schemas.microsoft.com/office/drawing/2014/main" id="{2799A317-1FCF-80C2-F061-D91B9148743E}"/>
                  </a:ext>
                </a:extLst>
              </p:cNvPr>
              <p:cNvSpPr/>
              <p:nvPr/>
            </p:nvSpPr>
            <p:spPr>
              <a:xfrm>
                <a:off x="5141085" y="49925"/>
                <a:ext cx="1030605" cy="505460"/>
              </a:xfrm>
              <a:prstGeom prst="round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Recognition</a:t>
                </a:r>
              </a:p>
              <a:p>
                <a:pPr algn="ctr"/>
                <a:r>
                  <a:rPr lang="en-US" sz="20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Classification</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Regression </a:t>
                </a:r>
              </a:p>
              <a:p>
                <a:pPr algn="ct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Clustering</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0" name="Oval 49">
                <a:extLst>
                  <a:ext uri="{FF2B5EF4-FFF2-40B4-BE49-F238E27FC236}">
                    <a16:creationId xmlns:a16="http://schemas.microsoft.com/office/drawing/2014/main" id="{394AD675-705E-1808-FD7C-8671927B5B8F}"/>
                  </a:ext>
                </a:extLst>
              </p:cNvPr>
              <p:cNvSpPr/>
              <p:nvPr/>
            </p:nvSpPr>
            <p:spPr>
              <a:xfrm>
                <a:off x="2339692" y="771719"/>
                <a:ext cx="1318228" cy="605395"/>
              </a:xfrm>
              <a:prstGeom prst="ellipse">
                <a:avLst/>
              </a:prstGeom>
              <a:solidFill>
                <a:srgbClr val="5B9BD5"/>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25000"/>
                  </a:lnSpc>
                </a:pP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Knowledge base</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51" name="Straight Arrow Connector 50">
                <a:extLst>
                  <a:ext uri="{FF2B5EF4-FFF2-40B4-BE49-F238E27FC236}">
                    <a16:creationId xmlns:a16="http://schemas.microsoft.com/office/drawing/2014/main" id="{EC4C8F46-3ED4-F300-7E0F-B095166728AB}"/>
                  </a:ext>
                </a:extLst>
              </p:cNvPr>
              <p:cNvCxnSpPr>
                <a:endCxn id="45" idx="2"/>
              </p:cNvCxnSpPr>
              <p:nvPr/>
            </p:nvCxnSpPr>
            <p:spPr>
              <a:xfrm flipV="1">
                <a:off x="2986724" y="542773"/>
                <a:ext cx="0" cy="216000"/>
              </a:xfrm>
              <a:prstGeom prst="straightConnector1">
                <a:avLst/>
              </a:prstGeom>
              <a:noFill/>
              <a:ln w="6350" cap="flat" cmpd="sng" algn="ctr">
                <a:solidFill>
                  <a:sysClr val="windowText" lastClr="000000"/>
                </a:solidFill>
                <a:prstDash val="solid"/>
                <a:miter lim="800000"/>
                <a:headEnd type="triangle"/>
                <a:tailEnd type="triangle"/>
              </a:ln>
              <a:effectLst/>
            </p:spPr>
          </p:cxnSp>
          <p:cxnSp>
            <p:nvCxnSpPr>
              <p:cNvPr id="52" name="Straight Arrow Connector 51">
                <a:extLst>
                  <a:ext uri="{FF2B5EF4-FFF2-40B4-BE49-F238E27FC236}">
                    <a16:creationId xmlns:a16="http://schemas.microsoft.com/office/drawing/2014/main" id="{8CB3E044-EB5E-A7B6-CB2D-1A7F7447B227}"/>
                  </a:ext>
                </a:extLst>
              </p:cNvPr>
              <p:cNvCxnSpPr>
                <a:stCxn id="43" idx="2"/>
                <a:endCxn id="50" idx="1"/>
              </p:cNvCxnSpPr>
              <p:nvPr/>
            </p:nvCxnSpPr>
            <p:spPr>
              <a:xfrm>
                <a:off x="1766249" y="536432"/>
                <a:ext cx="766493" cy="323945"/>
              </a:xfrm>
              <a:prstGeom prst="straightConnector1">
                <a:avLst/>
              </a:prstGeom>
              <a:noFill/>
              <a:ln w="6350" cap="flat" cmpd="sng" algn="ctr">
                <a:solidFill>
                  <a:sysClr val="windowText" lastClr="000000"/>
                </a:solidFill>
                <a:prstDash val="solid"/>
                <a:miter lim="800000"/>
                <a:headEnd type="triangle"/>
                <a:tailEnd type="triangle"/>
              </a:ln>
              <a:effectLst/>
            </p:spPr>
          </p:cxnSp>
          <p:cxnSp>
            <p:nvCxnSpPr>
              <p:cNvPr id="53" name="Straight Arrow Connector 52">
                <a:extLst>
                  <a:ext uri="{FF2B5EF4-FFF2-40B4-BE49-F238E27FC236}">
                    <a16:creationId xmlns:a16="http://schemas.microsoft.com/office/drawing/2014/main" id="{B982D5C1-0CFC-D356-DE17-EBB268404BE1}"/>
                  </a:ext>
                </a:extLst>
              </p:cNvPr>
              <p:cNvCxnSpPr>
                <a:stCxn id="41" idx="2"/>
                <a:endCxn id="50" idx="2"/>
              </p:cNvCxnSpPr>
              <p:nvPr/>
            </p:nvCxnSpPr>
            <p:spPr>
              <a:xfrm>
                <a:off x="599159" y="531270"/>
                <a:ext cx="1740533" cy="543147"/>
              </a:xfrm>
              <a:prstGeom prst="straightConnector1">
                <a:avLst/>
              </a:prstGeom>
              <a:noFill/>
              <a:ln w="6350" cap="flat" cmpd="sng" algn="ctr">
                <a:solidFill>
                  <a:sysClr val="windowText" lastClr="000000"/>
                </a:solidFill>
                <a:prstDash val="solid"/>
                <a:miter lim="800000"/>
                <a:headEnd type="triangle"/>
                <a:tailEnd type="triangle"/>
              </a:ln>
              <a:effectLst/>
            </p:spPr>
          </p:cxnSp>
          <p:cxnSp>
            <p:nvCxnSpPr>
              <p:cNvPr id="54" name="Straight Arrow Connector 53">
                <a:extLst>
                  <a:ext uri="{FF2B5EF4-FFF2-40B4-BE49-F238E27FC236}">
                    <a16:creationId xmlns:a16="http://schemas.microsoft.com/office/drawing/2014/main" id="{278FB666-3A29-CB45-DB71-B9481DA1EF57}"/>
                  </a:ext>
                </a:extLst>
              </p:cNvPr>
              <p:cNvCxnSpPr>
                <a:stCxn id="49" idx="2"/>
                <a:endCxn id="50" idx="6"/>
              </p:cNvCxnSpPr>
              <p:nvPr/>
            </p:nvCxnSpPr>
            <p:spPr>
              <a:xfrm flipH="1">
                <a:off x="3657919" y="555385"/>
                <a:ext cx="1998468" cy="519031"/>
              </a:xfrm>
              <a:prstGeom prst="straightConnector1">
                <a:avLst/>
              </a:prstGeom>
              <a:noFill/>
              <a:ln w="6350" cap="flat" cmpd="sng" algn="ctr">
                <a:solidFill>
                  <a:sysClr val="windowText" lastClr="000000"/>
                </a:solidFill>
                <a:prstDash val="solid"/>
                <a:miter lim="800000"/>
                <a:headEnd type="triangle"/>
                <a:tailEnd type="triangle"/>
              </a:ln>
              <a:effectLst/>
            </p:spPr>
          </p:cxnSp>
          <p:cxnSp>
            <p:nvCxnSpPr>
              <p:cNvPr id="55" name="Straight Arrow Connector 54">
                <a:extLst>
                  <a:ext uri="{FF2B5EF4-FFF2-40B4-BE49-F238E27FC236}">
                    <a16:creationId xmlns:a16="http://schemas.microsoft.com/office/drawing/2014/main" id="{E1FF03B3-AA7F-34B8-E017-1C0CA173ACB6}"/>
                  </a:ext>
                </a:extLst>
              </p:cNvPr>
              <p:cNvCxnSpPr>
                <a:stCxn id="47" idx="2"/>
                <a:endCxn id="50" idx="7"/>
              </p:cNvCxnSpPr>
              <p:nvPr/>
            </p:nvCxnSpPr>
            <p:spPr>
              <a:xfrm flipH="1">
                <a:off x="3464870" y="548884"/>
                <a:ext cx="644647" cy="311183"/>
              </a:xfrm>
              <a:prstGeom prst="straightConnector1">
                <a:avLst/>
              </a:prstGeom>
              <a:noFill/>
              <a:ln w="6350" cap="flat" cmpd="sng" algn="ctr">
                <a:solidFill>
                  <a:sysClr val="windowText" lastClr="000000"/>
                </a:solidFill>
                <a:prstDash val="solid"/>
                <a:miter lim="800000"/>
                <a:headEnd type="triangle"/>
                <a:tailEnd type="triangle"/>
              </a:ln>
              <a:effectLst/>
            </p:spPr>
          </p:cxnSp>
          <p:sp>
            <p:nvSpPr>
              <p:cNvPr id="56" name="Down Arrow 30">
                <a:extLst>
                  <a:ext uri="{FF2B5EF4-FFF2-40B4-BE49-F238E27FC236}">
                    <a16:creationId xmlns:a16="http://schemas.microsoft.com/office/drawing/2014/main" id="{15A1A01A-D6E9-79F6-1BB3-DA83CA1A6E7E}"/>
                  </a:ext>
                </a:extLst>
              </p:cNvPr>
              <p:cNvSpPr/>
              <p:nvPr/>
            </p:nvSpPr>
            <p:spPr>
              <a:xfrm>
                <a:off x="5765799" y="556006"/>
                <a:ext cx="144379" cy="277972"/>
              </a:xfrm>
              <a:prstGeom prst="downArrow">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4400">
                  <a:latin typeface="Times New Roman" panose="02020603050405020304" pitchFamily="18" charset="0"/>
                  <a:cs typeface="Times New Roman" panose="02020603050405020304" pitchFamily="18" charset="0"/>
                </a:endParaRPr>
              </a:p>
            </p:txBody>
          </p:sp>
          <p:sp>
            <p:nvSpPr>
              <p:cNvPr id="57" name="Cloud 56">
                <a:extLst>
                  <a:ext uri="{FF2B5EF4-FFF2-40B4-BE49-F238E27FC236}">
                    <a16:creationId xmlns:a16="http://schemas.microsoft.com/office/drawing/2014/main" id="{A38361F0-FC00-6EA7-3EB4-C0B4EFAE41B5}"/>
                  </a:ext>
                </a:extLst>
              </p:cNvPr>
              <p:cNvSpPr/>
              <p:nvPr/>
            </p:nvSpPr>
            <p:spPr>
              <a:xfrm>
                <a:off x="4850034" y="829897"/>
                <a:ext cx="1217051" cy="470569"/>
              </a:xfrm>
              <a:prstGeom prst="cloud">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25000"/>
                  </a:lnSpc>
                </a:pP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Result</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grpSp>
        <p:cxnSp>
          <p:nvCxnSpPr>
            <p:cNvPr id="34" name="Straight Arrow Connector 33">
              <a:extLst>
                <a:ext uri="{FF2B5EF4-FFF2-40B4-BE49-F238E27FC236}">
                  <a16:creationId xmlns:a16="http://schemas.microsoft.com/office/drawing/2014/main" id="{579C3012-0D97-4F17-7013-284A1CC79B3B}"/>
                </a:ext>
              </a:extLst>
            </p:cNvPr>
            <p:cNvCxnSpPr/>
            <p:nvPr/>
          </p:nvCxnSpPr>
          <p:spPr>
            <a:xfrm flipV="1">
              <a:off x="5760477" y="2708920"/>
              <a:ext cx="0" cy="46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Rounded Rectangle 9">
              <a:extLst>
                <a:ext uri="{FF2B5EF4-FFF2-40B4-BE49-F238E27FC236}">
                  <a16:creationId xmlns:a16="http://schemas.microsoft.com/office/drawing/2014/main" id="{77DD9A8C-5ADB-D83A-5A19-8F77F1833FA6}"/>
                </a:ext>
              </a:extLst>
            </p:cNvPr>
            <p:cNvSpPr/>
            <p:nvPr/>
          </p:nvSpPr>
          <p:spPr>
            <a:xfrm>
              <a:off x="5220071" y="2276872"/>
              <a:ext cx="1133287" cy="432048"/>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Model Generation</a:t>
              </a:r>
            </a:p>
          </p:txBody>
        </p:sp>
        <p:cxnSp>
          <p:nvCxnSpPr>
            <p:cNvPr id="36" name="Straight Arrow Connector 35">
              <a:extLst>
                <a:ext uri="{FF2B5EF4-FFF2-40B4-BE49-F238E27FC236}">
                  <a16:creationId xmlns:a16="http://schemas.microsoft.com/office/drawing/2014/main" id="{BAD3CABD-A16F-C256-4A76-4F74BB7E60E8}"/>
                </a:ext>
              </a:extLst>
            </p:cNvPr>
            <p:cNvCxnSpPr/>
            <p:nvPr/>
          </p:nvCxnSpPr>
          <p:spPr>
            <a:xfrm>
              <a:off x="6340812" y="2492896"/>
              <a:ext cx="864000" cy="0"/>
            </a:xfrm>
            <a:prstGeom prst="straightConnector1">
              <a:avLst/>
            </a:prstGeom>
            <a:noFill/>
            <a:ln w="6350" cap="flat" cmpd="sng" algn="ctr">
              <a:solidFill>
                <a:sysClr val="windowText" lastClr="000000"/>
              </a:solidFill>
              <a:prstDash val="solid"/>
              <a:miter lim="800000"/>
              <a:tailEnd type="triangle"/>
            </a:ln>
            <a:effectLst/>
          </p:spPr>
        </p:cxnSp>
        <p:sp>
          <p:nvSpPr>
            <p:cNvPr id="37" name="Rounded Rectangle 11">
              <a:extLst>
                <a:ext uri="{FF2B5EF4-FFF2-40B4-BE49-F238E27FC236}">
                  <a16:creationId xmlns:a16="http://schemas.microsoft.com/office/drawing/2014/main" id="{75B78E4B-418B-967C-BF23-D9DA826D199E}"/>
                </a:ext>
              </a:extLst>
            </p:cNvPr>
            <p:cNvSpPr/>
            <p:nvPr/>
          </p:nvSpPr>
          <p:spPr>
            <a:xfrm>
              <a:off x="7190894" y="2276872"/>
              <a:ext cx="1413554" cy="432048"/>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Models</a:t>
              </a:r>
            </a:p>
          </p:txBody>
        </p:sp>
        <p:cxnSp>
          <p:nvCxnSpPr>
            <p:cNvPr id="38" name="Straight Arrow Connector 37">
              <a:extLst>
                <a:ext uri="{FF2B5EF4-FFF2-40B4-BE49-F238E27FC236}">
                  <a16:creationId xmlns:a16="http://schemas.microsoft.com/office/drawing/2014/main" id="{7C79267A-BA99-5BFF-3B9E-22B11DCEBCCD}"/>
                </a:ext>
              </a:extLst>
            </p:cNvPr>
            <p:cNvCxnSpPr/>
            <p:nvPr/>
          </p:nvCxnSpPr>
          <p:spPr>
            <a:xfrm flipV="1">
              <a:off x="7950010" y="2708920"/>
              <a:ext cx="6366" cy="50400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8" name="Rounded Rectangle 32">
            <a:extLst>
              <a:ext uri="{FF2B5EF4-FFF2-40B4-BE49-F238E27FC236}">
                <a16:creationId xmlns:a16="http://schemas.microsoft.com/office/drawing/2014/main" id="{32835FDE-C08A-6327-AFA4-92EE799FC770}"/>
              </a:ext>
            </a:extLst>
          </p:cNvPr>
          <p:cNvSpPr/>
          <p:nvPr/>
        </p:nvSpPr>
        <p:spPr>
          <a:xfrm>
            <a:off x="9107351" y="2534809"/>
            <a:ext cx="1789983" cy="139824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3518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Popular Classifiers</a:t>
            </a:r>
          </a:p>
        </p:txBody>
      </p:sp>
      <p:sp>
        <p:nvSpPr>
          <p:cNvPr id="3" name="Subtitle 2"/>
          <p:cNvSpPr>
            <a:spLocks noGrp="1"/>
          </p:cNvSpPr>
          <p:nvPr>
            <p:ph type="subTitle" idx="1"/>
          </p:nvPr>
        </p:nvSpPr>
        <p:spPr/>
        <p:txBody>
          <a:bodyPr>
            <a:normAutofit/>
          </a:bodyPr>
          <a:lstStyle/>
          <a:p>
            <a:pPr marL="442913" indent="-442913">
              <a:buFont typeface="Wingdings" pitchFamily="2" charset="2"/>
              <a:buChar char="§"/>
            </a:pPr>
            <a:r>
              <a:rPr lang="en-US" sz="4000" dirty="0"/>
              <a:t>K-Nearest Neighbor (KNN)</a:t>
            </a:r>
          </a:p>
          <a:p>
            <a:pPr marL="442913" indent="-442913">
              <a:buFont typeface="Wingdings" pitchFamily="2" charset="2"/>
              <a:buChar char="§"/>
            </a:pPr>
            <a:r>
              <a:rPr lang="en-US" sz="4000" dirty="0"/>
              <a:t>SVM</a:t>
            </a:r>
          </a:p>
          <a:p>
            <a:pPr marL="811213" lvl="1" indent="-354013" algn="l">
              <a:buFont typeface="Courier New" pitchFamily="49" charset="0"/>
              <a:buChar char="o"/>
            </a:pPr>
            <a:r>
              <a:rPr lang="en-US" dirty="0" err="1">
                <a:solidFill>
                  <a:schemeClr val="tx1"/>
                </a:solidFill>
              </a:rPr>
              <a:t>SVMLight</a:t>
            </a:r>
            <a:endParaRPr lang="en-US" dirty="0">
              <a:solidFill>
                <a:schemeClr val="tx1"/>
              </a:solidFill>
            </a:endParaRPr>
          </a:p>
          <a:p>
            <a:pPr marL="811213" lvl="1" indent="-354013" algn="l">
              <a:buFont typeface="Courier New" pitchFamily="49" charset="0"/>
              <a:buChar char="o"/>
            </a:pPr>
            <a:r>
              <a:rPr lang="en-US" dirty="0">
                <a:solidFill>
                  <a:schemeClr val="tx1"/>
                </a:solidFill>
              </a:rPr>
              <a:t>LIBSVM (Library for Support Vector Machines)</a:t>
            </a:r>
          </a:p>
          <a:p>
            <a:pPr marL="571500" indent="-571500">
              <a:buFont typeface="Wingdings" panose="05000000000000000000" pitchFamily="2" charset="2"/>
              <a:buChar char="§"/>
            </a:pPr>
            <a:r>
              <a:rPr lang="en-US" sz="4000" dirty="0"/>
              <a:t>Neural </a:t>
            </a:r>
            <a:r>
              <a:rPr lang="en-US" sz="4000" dirty="0" err="1"/>
              <a:t>Netwroks</a:t>
            </a:r>
            <a:endParaRPr lang="en-US" sz="4000" dirty="0"/>
          </a:p>
          <a:p>
            <a:pPr marL="808038" lvl="2" indent="-350838" algn="l">
              <a:buFont typeface="Courier New" panose="02070309020205020404" pitchFamily="49" charset="0"/>
              <a:buChar char="o"/>
            </a:pPr>
            <a:r>
              <a:rPr lang="en-US" sz="2800" dirty="0">
                <a:solidFill>
                  <a:schemeClr val="tx1"/>
                </a:solidFill>
              </a:rPr>
              <a:t>Deep Learning</a:t>
            </a:r>
          </a:p>
          <a:p>
            <a:pPr marL="808038" lvl="2" indent="-350838" algn="l">
              <a:buFont typeface="Courier New" panose="02070309020205020404" pitchFamily="49" charset="0"/>
              <a:buChar char="o"/>
            </a:pPr>
            <a:r>
              <a:rPr lang="en-US" sz="2800" dirty="0">
                <a:solidFill>
                  <a:schemeClr val="tx1"/>
                </a:solidFill>
              </a:rPr>
              <a:t>Transfer Learning</a:t>
            </a:r>
          </a:p>
          <a:p>
            <a:pPr marL="808038" lvl="2" indent="-350838" algn="l">
              <a:buFont typeface="Courier New" panose="02070309020205020404" pitchFamily="49" charset="0"/>
              <a:buChar char="o"/>
            </a:pPr>
            <a:r>
              <a:rPr lang="en-US" sz="2800" dirty="0">
                <a:solidFill>
                  <a:schemeClr val="tx1"/>
                </a:solidFill>
              </a:rPr>
              <a:t>Extreme Learning Machines (ELM) </a:t>
            </a:r>
          </a:p>
          <a:p>
            <a:pPr marL="808038" lvl="2" indent="-350838" algn="l">
              <a:buFont typeface="Courier New" panose="02070309020205020404" pitchFamily="49" charset="0"/>
              <a:buChar char="o"/>
            </a:pPr>
            <a:r>
              <a:rPr lang="en-US" sz="2800" dirty="0">
                <a:solidFill>
                  <a:schemeClr val="tx1"/>
                </a:solidFill>
              </a:rPr>
              <a:t>Reinforcement learning</a:t>
            </a:r>
          </a:p>
        </p:txBody>
      </p:sp>
    </p:spTree>
    <p:extLst>
      <p:ext uri="{BB962C8B-B14F-4D97-AF65-F5344CB8AC3E}">
        <p14:creationId xmlns:p14="http://schemas.microsoft.com/office/powerpoint/2010/main" val="3515159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Classification</a:t>
            </a:r>
          </a:p>
        </p:txBody>
      </p:sp>
      <p:sp>
        <p:nvSpPr>
          <p:cNvPr id="3" name="Content Placeholder 2"/>
          <p:cNvSpPr>
            <a:spLocks noGrp="1"/>
          </p:cNvSpPr>
          <p:nvPr>
            <p:ph idx="1"/>
          </p:nvPr>
        </p:nvSpPr>
        <p:spPr/>
        <p:txBody>
          <a:bodyPr>
            <a:normAutofit/>
          </a:bodyPr>
          <a:lstStyle/>
          <a:p>
            <a:r>
              <a:rPr lang="en-GB" sz="3600" dirty="0"/>
              <a:t>A core task in computer vision</a:t>
            </a:r>
          </a:p>
          <a:p>
            <a:endParaRPr lang="en-GB" sz="3600" dirty="0"/>
          </a:p>
          <a:p>
            <a:r>
              <a:rPr lang="en-GB" dirty="0"/>
              <a:t>Given a set of discrete labels: </a:t>
            </a:r>
            <a:r>
              <a:rPr lang="en-US" dirty="0"/>
              <a:t>{rabbit, cat, glass, plane, ...}</a:t>
            </a:r>
            <a:endParaRPr lang="en-GB" dirty="0"/>
          </a:p>
        </p:txBody>
      </p:sp>
      <p:pic>
        <p:nvPicPr>
          <p:cNvPr id="1026" name="Picture 2" descr="http://sciencenordic.com/sites/default/files/imagecache/620x/rabbit_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529" y="3645304"/>
            <a:ext cx="3374513" cy="2520000"/>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p:cNvSpPr/>
          <p:nvPr/>
        </p:nvSpPr>
        <p:spPr>
          <a:xfrm>
            <a:off x="5807968" y="4653136"/>
            <a:ext cx="648072"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104113" y="4500409"/>
            <a:ext cx="1279517" cy="584775"/>
          </a:xfrm>
          <a:prstGeom prst="rect">
            <a:avLst/>
          </a:prstGeom>
          <a:noFill/>
        </p:spPr>
        <p:txBody>
          <a:bodyPr wrap="none" rtlCol="0">
            <a:spAutoFit/>
          </a:bodyPr>
          <a:lstStyle/>
          <a:p>
            <a:r>
              <a:rPr lang="en-US" sz="3200" dirty="0">
                <a:latin typeface="Times New Roman" panose="02020603050405020304" pitchFamily="18" charset="0"/>
                <a:cs typeface="Times New Roman" panose="02020603050405020304" pitchFamily="18" charset="0"/>
              </a:rPr>
              <a:t>Rabbit</a:t>
            </a:r>
          </a:p>
        </p:txBody>
      </p:sp>
    </p:spTree>
    <p:extLst>
      <p:ext uri="{BB962C8B-B14F-4D97-AF65-F5344CB8AC3E}">
        <p14:creationId xmlns:p14="http://schemas.microsoft.com/office/powerpoint/2010/main" val="3042495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Image Classification: The Problem</a:t>
            </a:r>
          </a:p>
        </p:txBody>
      </p:sp>
      <p:sp>
        <p:nvSpPr>
          <p:cNvPr id="3" name="Content Placeholder 2"/>
          <p:cNvSpPr>
            <a:spLocks noGrp="1"/>
          </p:cNvSpPr>
          <p:nvPr>
            <p:ph idx="1"/>
          </p:nvPr>
        </p:nvSpPr>
        <p:spPr>
          <a:xfrm>
            <a:off x="190459" y="1196752"/>
            <a:ext cx="10298029" cy="5500726"/>
          </a:xfrm>
        </p:spPr>
        <p:txBody>
          <a:bodyPr>
            <a:normAutofit/>
          </a:bodyPr>
          <a:lstStyle/>
          <a:p>
            <a:r>
              <a:rPr lang="en-US" dirty="0"/>
              <a:t>Human vs Machine Perception: </a:t>
            </a:r>
            <a:r>
              <a:rPr lang="en-GB" sz="2400" dirty="0"/>
              <a:t>Images are represented as </a:t>
            </a:r>
            <a:r>
              <a:rPr lang="en-GB" sz="2400" i="1" dirty="0"/>
              <a:t>R</a:t>
            </a:r>
            <a:r>
              <a:rPr lang="en-GB" sz="2400" i="1" baseline="30000" dirty="0"/>
              <a:t>d</a:t>
            </a:r>
            <a:r>
              <a:rPr lang="en-GB" sz="2400" dirty="0"/>
              <a:t> </a:t>
            </a:r>
            <a:r>
              <a:rPr lang="en-US" sz="2400" dirty="0"/>
              <a:t>arrays of numbers, e.g., </a:t>
            </a:r>
            <a:r>
              <a:rPr lang="en-US" sz="2400" i="1" dirty="0"/>
              <a:t>R</a:t>
            </a:r>
            <a:r>
              <a:rPr lang="en-US" sz="2400" baseline="30000" dirty="0"/>
              <a:t>3</a:t>
            </a:r>
            <a:r>
              <a:rPr lang="en-US" sz="2400" dirty="0"/>
              <a:t> with integers between [0, 255], where </a:t>
            </a:r>
            <a:r>
              <a:rPr lang="en-US" sz="2400" i="1" dirty="0"/>
              <a:t>d </a:t>
            </a:r>
            <a:r>
              <a:rPr lang="en-US" sz="2400" dirty="0"/>
              <a:t>= 3 represents 3 color channels (RGB)</a:t>
            </a:r>
            <a:endParaRPr lang="en-GB" sz="2000" dirty="0"/>
          </a:p>
        </p:txBody>
      </p:sp>
      <p:pic>
        <p:nvPicPr>
          <p:cNvPr id="4" name="Picture 3"/>
          <p:cNvPicPr>
            <a:picLocks noChangeAspect="1"/>
          </p:cNvPicPr>
          <p:nvPr/>
        </p:nvPicPr>
        <p:blipFill rotWithShape="1">
          <a:blip r:embed="rId3"/>
          <a:srcRect l="23821" b="4838"/>
          <a:stretch/>
        </p:blipFill>
        <p:spPr>
          <a:xfrm>
            <a:off x="1631505" y="2546493"/>
            <a:ext cx="6072337" cy="4266883"/>
          </a:xfrm>
          <a:prstGeom prst="rect">
            <a:avLst/>
          </a:prstGeom>
        </p:spPr>
      </p:pic>
      <p:cxnSp>
        <p:nvCxnSpPr>
          <p:cNvPr id="9" name="Straight Arrow Connector 8"/>
          <p:cNvCxnSpPr/>
          <p:nvPr/>
        </p:nvCxnSpPr>
        <p:spPr>
          <a:xfrm flipV="1">
            <a:off x="4151784" y="5517232"/>
            <a:ext cx="504056" cy="57606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Oval Callout 10"/>
          <p:cNvSpPr/>
          <p:nvPr/>
        </p:nvSpPr>
        <p:spPr>
          <a:xfrm>
            <a:off x="8184232" y="2559564"/>
            <a:ext cx="2304256" cy="2160240"/>
          </a:xfrm>
          <a:prstGeom prst="wedgeEllipseCallout">
            <a:avLst>
              <a:gd name="adj1" fmla="val -62280"/>
              <a:gd name="adj2" fmla="val 4650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What the machine (computer) sees</a:t>
            </a:r>
          </a:p>
        </p:txBody>
      </p:sp>
    </p:spTree>
    <p:extLst>
      <p:ext uri="{BB962C8B-B14F-4D97-AF65-F5344CB8AC3E}">
        <p14:creationId xmlns:p14="http://schemas.microsoft.com/office/powerpoint/2010/main" val="3853029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Image Classification: Challenges</a:t>
            </a:r>
          </a:p>
        </p:txBody>
      </p:sp>
      <p:sp>
        <p:nvSpPr>
          <p:cNvPr id="3" name="Content Placeholder 2"/>
          <p:cNvSpPr>
            <a:spLocks noGrp="1"/>
          </p:cNvSpPr>
          <p:nvPr>
            <p:ph idx="1"/>
          </p:nvPr>
        </p:nvSpPr>
        <p:spPr>
          <a:xfrm>
            <a:off x="1629607" y="1196752"/>
            <a:ext cx="2790489" cy="5500726"/>
          </a:xfrm>
        </p:spPr>
        <p:txBody>
          <a:bodyPr>
            <a:normAutofit/>
          </a:bodyPr>
          <a:lstStyle/>
          <a:p>
            <a:endParaRPr lang="en-US" dirty="0"/>
          </a:p>
          <a:p>
            <a:endParaRPr lang="en-US" dirty="0"/>
          </a:p>
          <a:p>
            <a:pPr marL="182563" indent="-182563"/>
            <a:r>
              <a:rPr lang="en-US" dirty="0"/>
              <a:t>Viewpoint  variation</a:t>
            </a:r>
          </a:p>
          <a:p>
            <a:endParaRPr lang="en-US" dirty="0"/>
          </a:p>
          <a:p>
            <a:endParaRPr lang="en-US" dirty="0"/>
          </a:p>
          <a:p>
            <a:r>
              <a:rPr lang="en-US" dirty="0"/>
              <a:t>Illumination</a:t>
            </a:r>
            <a:endParaRPr lang="en-GB" sz="2000" dirty="0"/>
          </a:p>
        </p:txBody>
      </p:sp>
      <p:pic>
        <p:nvPicPr>
          <p:cNvPr id="5" name="Picture 4"/>
          <p:cNvPicPr>
            <a:picLocks noChangeAspect="1"/>
          </p:cNvPicPr>
          <p:nvPr/>
        </p:nvPicPr>
        <p:blipFill>
          <a:blip r:embed="rId3"/>
          <a:stretch>
            <a:fillRect/>
          </a:stretch>
        </p:blipFill>
        <p:spPr>
          <a:xfrm>
            <a:off x="4329656" y="1616668"/>
            <a:ext cx="2064000" cy="2335300"/>
          </a:xfrm>
          <a:prstGeom prst="rect">
            <a:avLst/>
          </a:prstGeom>
        </p:spPr>
      </p:pic>
      <p:pic>
        <p:nvPicPr>
          <p:cNvPr id="6" name="Picture 5"/>
          <p:cNvPicPr>
            <a:picLocks noChangeAspect="1"/>
          </p:cNvPicPr>
          <p:nvPr/>
        </p:nvPicPr>
        <p:blipFill>
          <a:blip r:embed="rId4"/>
          <a:stretch>
            <a:fillRect/>
          </a:stretch>
        </p:blipFill>
        <p:spPr>
          <a:xfrm>
            <a:off x="6583472" y="1484785"/>
            <a:ext cx="1960800" cy="2599067"/>
          </a:xfrm>
          <a:prstGeom prst="rect">
            <a:avLst/>
          </a:prstGeom>
        </p:spPr>
      </p:pic>
      <p:pic>
        <p:nvPicPr>
          <p:cNvPr id="8" name="Picture 7"/>
          <p:cNvPicPr>
            <a:picLocks noChangeAspect="1"/>
          </p:cNvPicPr>
          <p:nvPr/>
        </p:nvPicPr>
        <p:blipFill>
          <a:blip r:embed="rId5"/>
          <a:stretch>
            <a:fillRect/>
          </a:stretch>
        </p:blipFill>
        <p:spPr>
          <a:xfrm>
            <a:off x="8702896" y="1484785"/>
            <a:ext cx="1857600" cy="2560467"/>
          </a:xfrm>
          <a:prstGeom prst="rect">
            <a:avLst/>
          </a:prstGeom>
        </p:spPr>
      </p:pic>
      <p:pic>
        <p:nvPicPr>
          <p:cNvPr id="4" name="Picture 3"/>
          <p:cNvPicPr>
            <a:picLocks noChangeAspect="1"/>
          </p:cNvPicPr>
          <p:nvPr/>
        </p:nvPicPr>
        <p:blipFill>
          <a:blip r:embed="rId6"/>
          <a:stretch>
            <a:fillRect/>
          </a:stretch>
        </p:blipFill>
        <p:spPr>
          <a:xfrm>
            <a:off x="4420096" y="4204152"/>
            <a:ext cx="6140401" cy="2393200"/>
          </a:xfrm>
          <a:prstGeom prst="rect">
            <a:avLst/>
          </a:prstGeom>
        </p:spPr>
      </p:pic>
      <p:sp>
        <p:nvSpPr>
          <p:cNvPr id="7" name="Rectangle 6"/>
          <p:cNvSpPr/>
          <p:nvPr/>
        </p:nvSpPr>
        <p:spPr>
          <a:xfrm>
            <a:off x="4105703" y="1252292"/>
            <a:ext cx="2511906"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Michelangelo 1475-1564</a:t>
            </a:r>
          </a:p>
        </p:txBody>
      </p:sp>
    </p:spTree>
    <p:extLst>
      <p:ext uri="{BB962C8B-B14F-4D97-AF65-F5344CB8AC3E}">
        <p14:creationId xmlns:p14="http://schemas.microsoft.com/office/powerpoint/2010/main" val="3302385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Image Classification: Challenges</a:t>
            </a:r>
          </a:p>
        </p:txBody>
      </p:sp>
      <p:sp>
        <p:nvSpPr>
          <p:cNvPr id="3" name="Content Placeholder 2"/>
          <p:cNvSpPr>
            <a:spLocks noGrp="1"/>
          </p:cNvSpPr>
          <p:nvPr>
            <p:ph idx="1"/>
          </p:nvPr>
        </p:nvSpPr>
        <p:spPr>
          <a:xfrm>
            <a:off x="1629607" y="1196752"/>
            <a:ext cx="2790489" cy="5500726"/>
          </a:xfrm>
        </p:spPr>
        <p:txBody>
          <a:bodyPr>
            <a:normAutofit/>
          </a:bodyPr>
          <a:lstStyle/>
          <a:p>
            <a:endParaRPr lang="en-US" dirty="0"/>
          </a:p>
          <a:p>
            <a:endParaRPr lang="en-US" dirty="0"/>
          </a:p>
          <a:p>
            <a:pPr marL="0" indent="0"/>
            <a:r>
              <a:rPr lang="en-US" dirty="0"/>
              <a:t>Scale</a:t>
            </a:r>
            <a:endParaRPr lang="en-GB" sz="2000" dirty="0"/>
          </a:p>
        </p:txBody>
      </p:sp>
      <p:pic>
        <p:nvPicPr>
          <p:cNvPr id="7" name="Picture 6"/>
          <p:cNvPicPr>
            <a:picLocks noChangeAspect="1"/>
          </p:cNvPicPr>
          <p:nvPr/>
        </p:nvPicPr>
        <p:blipFill>
          <a:blip r:embed="rId3"/>
          <a:stretch>
            <a:fillRect/>
          </a:stretch>
        </p:blipFill>
        <p:spPr>
          <a:xfrm>
            <a:off x="5605800" y="3861049"/>
            <a:ext cx="980400" cy="1479667"/>
          </a:xfrm>
          <a:prstGeom prst="rect">
            <a:avLst/>
          </a:prstGeom>
        </p:spPr>
      </p:pic>
      <p:pic>
        <p:nvPicPr>
          <p:cNvPr id="9" name="Picture 8"/>
          <p:cNvPicPr>
            <a:picLocks noChangeAspect="1"/>
          </p:cNvPicPr>
          <p:nvPr/>
        </p:nvPicPr>
        <p:blipFill>
          <a:blip r:embed="rId4"/>
          <a:stretch>
            <a:fillRect/>
          </a:stretch>
        </p:blipFill>
        <p:spPr>
          <a:xfrm>
            <a:off x="7151072" y="1489350"/>
            <a:ext cx="1393200" cy="3879300"/>
          </a:xfrm>
          <a:prstGeom prst="rect">
            <a:avLst/>
          </a:prstGeom>
        </p:spPr>
      </p:pic>
    </p:spTree>
    <p:extLst>
      <p:ext uri="{BB962C8B-B14F-4D97-AF65-F5344CB8AC3E}">
        <p14:creationId xmlns:p14="http://schemas.microsoft.com/office/powerpoint/2010/main" val="867894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Image Classification: Challenges</a:t>
            </a:r>
          </a:p>
        </p:txBody>
      </p:sp>
      <p:sp>
        <p:nvSpPr>
          <p:cNvPr id="3" name="Content Placeholder 2"/>
          <p:cNvSpPr>
            <a:spLocks noGrp="1"/>
          </p:cNvSpPr>
          <p:nvPr>
            <p:ph idx="1"/>
          </p:nvPr>
        </p:nvSpPr>
        <p:spPr>
          <a:xfrm>
            <a:off x="1629607" y="1196752"/>
            <a:ext cx="2790489" cy="5500726"/>
          </a:xfrm>
        </p:spPr>
        <p:txBody>
          <a:bodyPr>
            <a:normAutofit/>
          </a:bodyPr>
          <a:lstStyle/>
          <a:p>
            <a:endParaRPr lang="en-US" dirty="0"/>
          </a:p>
          <a:p>
            <a:endParaRPr lang="en-US" dirty="0"/>
          </a:p>
          <a:p>
            <a:pPr marL="0" indent="0"/>
            <a:r>
              <a:rPr lang="en-US" dirty="0"/>
              <a:t>Deformation</a:t>
            </a:r>
          </a:p>
          <a:p>
            <a:pPr marL="0" indent="0"/>
            <a:endParaRPr lang="en-US" sz="2000" dirty="0"/>
          </a:p>
          <a:p>
            <a:pPr marL="0" indent="0"/>
            <a:endParaRPr lang="en-US" sz="2000" dirty="0"/>
          </a:p>
          <a:p>
            <a:pPr marL="0" indent="0"/>
            <a:endParaRPr lang="en-US" sz="2000" dirty="0"/>
          </a:p>
          <a:p>
            <a:pPr marL="0" indent="0"/>
            <a:endParaRPr lang="en-US" sz="2000" dirty="0"/>
          </a:p>
          <a:p>
            <a:pPr marL="0" indent="0"/>
            <a:endParaRPr lang="en-US" sz="2000" dirty="0"/>
          </a:p>
          <a:p>
            <a:pPr marL="0" indent="0"/>
            <a:r>
              <a:rPr lang="en-US" dirty="0"/>
              <a:t>Occlusion</a:t>
            </a:r>
            <a:endParaRPr lang="en-GB" dirty="0"/>
          </a:p>
        </p:txBody>
      </p:sp>
      <p:pic>
        <p:nvPicPr>
          <p:cNvPr id="4" name="Picture 3"/>
          <p:cNvPicPr>
            <a:picLocks noChangeAspect="1"/>
          </p:cNvPicPr>
          <p:nvPr/>
        </p:nvPicPr>
        <p:blipFill>
          <a:blip r:embed="rId3"/>
          <a:stretch>
            <a:fillRect/>
          </a:stretch>
        </p:blipFill>
        <p:spPr>
          <a:xfrm>
            <a:off x="4511825" y="1340769"/>
            <a:ext cx="5805001" cy="2225933"/>
          </a:xfrm>
          <a:prstGeom prst="rect">
            <a:avLst/>
          </a:prstGeom>
        </p:spPr>
      </p:pic>
      <p:pic>
        <p:nvPicPr>
          <p:cNvPr id="5" name="Picture 4"/>
          <p:cNvPicPr>
            <a:picLocks noChangeAspect="1"/>
          </p:cNvPicPr>
          <p:nvPr/>
        </p:nvPicPr>
        <p:blipFill>
          <a:blip r:embed="rId4"/>
          <a:stretch>
            <a:fillRect/>
          </a:stretch>
        </p:blipFill>
        <p:spPr>
          <a:xfrm>
            <a:off x="4511824" y="3616171"/>
            <a:ext cx="2789190" cy="3197205"/>
          </a:xfrm>
          <a:prstGeom prst="rect">
            <a:avLst/>
          </a:prstGeom>
        </p:spPr>
      </p:pic>
    </p:spTree>
    <p:extLst>
      <p:ext uri="{BB962C8B-B14F-4D97-AF65-F5344CB8AC3E}">
        <p14:creationId xmlns:p14="http://schemas.microsoft.com/office/powerpoint/2010/main" val="1444111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Image Classification: Challenges</a:t>
            </a:r>
          </a:p>
        </p:txBody>
      </p:sp>
      <p:sp>
        <p:nvSpPr>
          <p:cNvPr id="3" name="Content Placeholder 2"/>
          <p:cNvSpPr>
            <a:spLocks noGrp="1"/>
          </p:cNvSpPr>
          <p:nvPr>
            <p:ph idx="1"/>
          </p:nvPr>
        </p:nvSpPr>
        <p:spPr>
          <a:xfrm>
            <a:off x="263352" y="1424867"/>
            <a:ext cx="8640960" cy="2130998"/>
          </a:xfrm>
        </p:spPr>
        <p:txBody>
          <a:bodyPr>
            <a:normAutofit/>
          </a:bodyPr>
          <a:lstStyle/>
          <a:p>
            <a:pPr algn="r"/>
            <a:r>
              <a:rPr lang="en-US" dirty="0"/>
              <a:t>Background clutter</a:t>
            </a:r>
          </a:p>
          <a:p>
            <a:endParaRPr lang="en-US" dirty="0"/>
          </a:p>
          <a:p>
            <a:r>
              <a:rPr lang="en-US" dirty="0"/>
              <a:t>Intra-class variation</a:t>
            </a:r>
            <a:endParaRPr lang="en-GB" dirty="0"/>
          </a:p>
        </p:txBody>
      </p:sp>
      <p:pic>
        <p:nvPicPr>
          <p:cNvPr id="6" name="Picture 5"/>
          <p:cNvPicPr>
            <a:picLocks noChangeAspect="1"/>
          </p:cNvPicPr>
          <p:nvPr/>
        </p:nvPicPr>
        <p:blipFill>
          <a:blip r:embed="rId3"/>
          <a:stretch>
            <a:fillRect/>
          </a:stretch>
        </p:blipFill>
        <p:spPr>
          <a:xfrm>
            <a:off x="9064848" y="1568884"/>
            <a:ext cx="2863800" cy="3660567"/>
          </a:xfrm>
          <a:prstGeom prst="rect">
            <a:avLst/>
          </a:prstGeom>
        </p:spPr>
      </p:pic>
      <p:pic>
        <p:nvPicPr>
          <p:cNvPr id="7" name="Picture 6"/>
          <p:cNvPicPr>
            <a:picLocks noChangeAspect="1"/>
          </p:cNvPicPr>
          <p:nvPr/>
        </p:nvPicPr>
        <p:blipFill>
          <a:blip r:embed="rId4"/>
          <a:stretch>
            <a:fillRect/>
          </a:stretch>
        </p:blipFill>
        <p:spPr>
          <a:xfrm>
            <a:off x="191344" y="3212976"/>
            <a:ext cx="5650201" cy="3557634"/>
          </a:xfrm>
          <a:prstGeom prst="rect">
            <a:avLst/>
          </a:prstGeom>
        </p:spPr>
      </p:pic>
      <p:sp>
        <p:nvSpPr>
          <p:cNvPr id="8" name="Rectangle 7"/>
          <p:cNvSpPr/>
          <p:nvPr/>
        </p:nvSpPr>
        <p:spPr>
          <a:xfrm>
            <a:off x="9478389" y="5219908"/>
            <a:ext cx="2198038" cy="369332"/>
          </a:xfrm>
          <a:prstGeom prst="rect">
            <a:avLst/>
          </a:prstGeom>
        </p:spPr>
        <p:txBody>
          <a:bodyPr wrap="none">
            <a:spAutoFit/>
          </a:bodyPr>
          <a:lstStyle/>
          <a:p>
            <a:r>
              <a:rPr lang="en-US" dirty="0" err="1">
                <a:latin typeface="Times New Roman" panose="02020603050405020304" pitchFamily="18" charset="0"/>
                <a:cs typeface="Times New Roman" panose="02020603050405020304" pitchFamily="18" charset="0"/>
              </a:rPr>
              <a:t>Kilmeny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Niland</a:t>
            </a:r>
            <a:r>
              <a:rPr lang="en-US" dirty="0">
                <a:latin typeface="Times New Roman" panose="02020603050405020304" pitchFamily="18" charset="0"/>
                <a:cs typeface="Times New Roman" panose="02020603050405020304" pitchFamily="18" charset="0"/>
              </a:rPr>
              <a:t> 1995</a:t>
            </a:r>
          </a:p>
        </p:txBody>
      </p:sp>
    </p:spTree>
    <p:extLst>
      <p:ext uri="{BB962C8B-B14F-4D97-AF65-F5344CB8AC3E}">
        <p14:creationId xmlns:p14="http://schemas.microsoft.com/office/powerpoint/2010/main" val="3389720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An Image Classifier</a:t>
            </a:r>
          </a:p>
        </p:txBody>
      </p:sp>
      <p:sp>
        <p:nvSpPr>
          <p:cNvPr id="3" name="Content Placeholder 2"/>
          <p:cNvSpPr>
            <a:spLocks noGrp="1"/>
          </p:cNvSpPr>
          <p:nvPr>
            <p:ph idx="1"/>
          </p:nvPr>
        </p:nvSpPr>
        <p:spPr>
          <a:xfrm>
            <a:off x="190459" y="3314226"/>
            <a:ext cx="8281805" cy="2130998"/>
          </a:xfrm>
        </p:spPr>
        <p:txBody>
          <a:bodyPr>
            <a:normAutofit/>
          </a:bodyPr>
          <a:lstStyle/>
          <a:p>
            <a:r>
              <a:rPr lang="en-GB" b="1" dirty="0"/>
              <a:t>no obvious way</a:t>
            </a:r>
            <a:r>
              <a:rPr lang="en-GB" dirty="0"/>
              <a:t> to hard-code the algorithm for recognizing a cat, or other classes.</a:t>
            </a:r>
          </a:p>
        </p:txBody>
      </p:sp>
      <p:sp>
        <p:nvSpPr>
          <p:cNvPr id="4" name="Rectangle 3"/>
          <p:cNvSpPr/>
          <p:nvPr/>
        </p:nvSpPr>
        <p:spPr>
          <a:xfrm>
            <a:off x="191344" y="1412776"/>
            <a:ext cx="5904656" cy="1569660"/>
          </a:xfrm>
          <a:prstGeom prst="rect">
            <a:avLst/>
          </a:prstGeom>
          <a:ln w="3175">
            <a:solidFill>
              <a:schemeClr val="tx1"/>
            </a:solidFill>
          </a:ln>
        </p:spPr>
        <p:txBody>
          <a:bodyPr wrap="square">
            <a:spAutoFit/>
          </a:bodyPr>
          <a:lstStyle/>
          <a:p>
            <a:r>
              <a:rPr lang="en-US" sz="3200" dirty="0"/>
              <a:t>&gt;&gt; f = </a:t>
            </a:r>
            <a:r>
              <a:rPr lang="en-US" sz="3200" dirty="0" err="1"/>
              <a:t>imread</a:t>
            </a:r>
            <a:r>
              <a:rPr lang="en-US" sz="3200" dirty="0"/>
              <a:t>('rabbit.jpg');</a:t>
            </a:r>
          </a:p>
          <a:p>
            <a:r>
              <a:rPr lang="en-US" sz="3200" dirty="0"/>
              <a:t>&gt;&gt; predict(f)</a:t>
            </a:r>
          </a:p>
          <a:p>
            <a:r>
              <a:rPr lang="en-US" sz="3200" dirty="0"/>
              <a:t>	????</a:t>
            </a:r>
          </a:p>
        </p:txBody>
      </p:sp>
      <p:sp>
        <p:nvSpPr>
          <p:cNvPr id="5" name="Rectangular Callout 4"/>
          <p:cNvSpPr/>
          <p:nvPr/>
        </p:nvSpPr>
        <p:spPr>
          <a:xfrm>
            <a:off x="7464152" y="1412776"/>
            <a:ext cx="3312368" cy="1548752"/>
          </a:xfrm>
          <a:prstGeom prst="wedgeRectCallout">
            <a:avLst>
              <a:gd name="adj1" fmla="val -86958"/>
              <a:gd name="adj2" fmla="val -66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a:latin typeface="Times New Roman" panose="02020603050405020304" pitchFamily="18" charset="0"/>
                <a:cs typeface="Times New Roman" panose="02020603050405020304" pitchFamily="18" charset="0"/>
              </a:rPr>
              <a:t>Unlike, e.g., sorting a list of numbers,</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2385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71414"/>
            <a:ext cx="9361040" cy="928694"/>
          </a:xfrm>
        </p:spPr>
        <p:txBody>
          <a:bodyPr>
            <a:normAutofit/>
          </a:bodyPr>
          <a:lstStyle/>
          <a:p>
            <a:r>
              <a:rPr lang="en-US" dirty="0"/>
              <a:t>An Image Classifier: </a:t>
            </a:r>
            <a:r>
              <a:rPr lang="en-US" sz="3100" dirty="0"/>
              <a:t>Data-driven approach</a:t>
            </a:r>
          </a:p>
        </p:txBody>
      </p:sp>
      <p:sp>
        <p:nvSpPr>
          <p:cNvPr id="3" name="Content Placeholder 2"/>
          <p:cNvSpPr>
            <a:spLocks noGrp="1"/>
          </p:cNvSpPr>
          <p:nvPr>
            <p:ph idx="1"/>
          </p:nvPr>
        </p:nvSpPr>
        <p:spPr>
          <a:xfrm>
            <a:off x="191344" y="1730050"/>
            <a:ext cx="10225136" cy="2130998"/>
          </a:xfrm>
        </p:spPr>
        <p:txBody>
          <a:bodyPr>
            <a:noAutofit/>
          </a:bodyPr>
          <a:lstStyle/>
          <a:p>
            <a:pPr marL="571500" indent="-571500">
              <a:buFont typeface="Wingdings" panose="05000000000000000000" pitchFamily="2" charset="2"/>
              <a:buChar char="§"/>
            </a:pPr>
            <a:r>
              <a:rPr lang="en-GB" sz="3600" dirty="0"/>
              <a:t>Use Machine Learning to train an image classifier on some part of annotated data</a:t>
            </a:r>
          </a:p>
          <a:p>
            <a:pPr marL="571500" indent="-571500">
              <a:buFont typeface="Wingdings" panose="05000000000000000000" pitchFamily="2" charset="2"/>
              <a:buChar char="§"/>
            </a:pPr>
            <a:r>
              <a:rPr lang="en-GB" sz="3600" dirty="0"/>
              <a:t>Evaluate the classifier on a withheld set of test images</a:t>
            </a:r>
          </a:p>
        </p:txBody>
      </p:sp>
    </p:spTree>
    <p:extLst>
      <p:ext uri="{BB962C8B-B14F-4D97-AF65-F5344CB8AC3E}">
        <p14:creationId xmlns:p14="http://schemas.microsoft.com/office/powerpoint/2010/main" val="3282593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Ensemble Project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344" y="1268760"/>
            <a:ext cx="11665295" cy="3744016"/>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p:cNvSpPr>
            <a:spLocks noGrp="1"/>
          </p:cNvSpPr>
          <p:nvPr>
            <p:ph type="title"/>
          </p:nvPr>
        </p:nvSpPr>
        <p:spPr>
          <a:xfrm>
            <a:off x="191344" y="71414"/>
            <a:ext cx="9361040" cy="928694"/>
          </a:xfrm>
        </p:spPr>
        <p:txBody>
          <a:bodyPr>
            <a:normAutofit/>
          </a:bodyPr>
          <a:lstStyle/>
          <a:p>
            <a:r>
              <a:rPr lang="en-US" dirty="0"/>
              <a:t>The Image Classification Pipeline</a:t>
            </a:r>
            <a:endParaRPr lang="en-US" sz="3100" dirty="0"/>
          </a:p>
        </p:txBody>
      </p:sp>
      <p:sp>
        <p:nvSpPr>
          <p:cNvPr id="8" name="Oval 7"/>
          <p:cNvSpPr/>
          <p:nvPr/>
        </p:nvSpPr>
        <p:spPr>
          <a:xfrm>
            <a:off x="191344" y="5157192"/>
            <a:ext cx="3384376" cy="15841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Times New Roman" panose="02020603050405020304" pitchFamily="18" charset="0"/>
                <a:cs typeface="Times New Roman" panose="02020603050405020304" pitchFamily="18" charset="0"/>
              </a:rPr>
              <a:t>(Input)</a:t>
            </a:r>
          </a:p>
          <a:p>
            <a:pPr algn="ctr"/>
            <a:r>
              <a:rPr lang="en-GB" sz="2400" dirty="0">
                <a:latin typeface="Times New Roman" panose="02020603050405020304" pitchFamily="18" charset="0"/>
                <a:cs typeface="Times New Roman" panose="02020603050405020304" pitchFamily="18" charset="0"/>
              </a:rPr>
              <a:t>Dataset collection &amp; labelling</a:t>
            </a:r>
          </a:p>
        </p:txBody>
      </p:sp>
      <p:sp>
        <p:nvSpPr>
          <p:cNvPr id="12" name="Oval 11"/>
          <p:cNvSpPr/>
          <p:nvPr/>
        </p:nvSpPr>
        <p:spPr>
          <a:xfrm>
            <a:off x="3287688" y="5157192"/>
            <a:ext cx="3384376" cy="15841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Times New Roman" panose="02020603050405020304" pitchFamily="18" charset="0"/>
                <a:cs typeface="Times New Roman" panose="02020603050405020304" pitchFamily="18" charset="0"/>
              </a:rPr>
              <a:t>(Learning)</a:t>
            </a:r>
          </a:p>
          <a:p>
            <a:pPr algn="ctr"/>
            <a:r>
              <a:rPr lang="en-GB" sz="2400" dirty="0">
                <a:latin typeface="Times New Roman" panose="02020603050405020304" pitchFamily="18" charset="0"/>
                <a:cs typeface="Times New Roman" panose="02020603050405020304" pitchFamily="18" charset="0"/>
              </a:rPr>
              <a:t>Learning &amp; training an image classifier</a:t>
            </a:r>
          </a:p>
        </p:txBody>
      </p:sp>
      <p:sp>
        <p:nvSpPr>
          <p:cNvPr id="13" name="Oval 12"/>
          <p:cNvSpPr/>
          <p:nvPr/>
        </p:nvSpPr>
        <p:spPr>
          <a:xfrm>
            <a:off x="6528048" y="5157192"/>
            <a:ext cx="3384376" cy="15841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Times New Roman" panose="02020603050405020304" pitchFamily="18" charset="0"/>
                <a:cs typeface="Times New Roman" panose="02020603050405020304" pitchFamily="18" charset="0"/>
              </a:rPr>
              <a:t>(Evaluation)</a:t>
            </a:r>
          </a:p>
          <a:p>
            <a:pPr algn="ctr"/>
            <a:r>
              <a:rPr lang="en-GB" sz="2400" dirty="0">
                <a:latin typeface="Times New Roman" panose="02020603050405020304" pitchFamily="18" charset="0"/>
                <a:cs typeface="Times New Roman" panose="02020603050405020304" pitchFamily="18" charset="0"/>
              </a:rPr>
              <a:t>Testing of classifier on withheld images</a:t>
            </a:r>
          </a:p>
        </p:txBody>
      </p:sp>
    </p:spTree>
    <p:extLst>
      <p:ext uri="{BB962C8B-B14F-4D97-AF65-F5344CB8AC3E}">
        <p14:creationId xmlns:p14="http://schemas.microsoft.com/office/powerpoint/2010/main" val="1074444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1+#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1+#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71414"/>
            <a:ext cx="9361040" cy="928694"/>
          </a:xfrm>
        </p:spPr>
        <p:txBody>
          <a:bodyPr>
            <a:normAutofit/>
          </a:bodyPr>
          <a:lstStyle/>
          <a:p>
            <a:r>
              <a:rPr lang="en-US" dirty="0"/>
              <a:t>The Image Classification Pipeline</a:t>
            </a:r>
            <a:endParaRPr lang="en-US" sz="3100" dirty="0"/>
          </a:p>
        </p:txBody>
      </p:sp>
      <p:sp>
        <p:nvSpPr>
          <p:cNvPr id="3" name="Content Placeholder 2"/>
          <p:cNvSpPr>
            <a:spLocks noGrp="1"/>
          </p:cNvSpPr>
          <p:nvPr>
            <p:ph idx="1"/>
          </p:nvPr>
        </p:nvSpPr>
        <p:spPr>
          <a:xfrm>
            <a:off x="191344" y="1340768"/>
            <a:ext cx="10369152" cy="5400600"/>
          </a:xfrm>
        </p:spPr>
        <p:txBody>
          <a:bodyPr>
            <a:normAutofit/>
          </a:bodyPr>
          <a:lstStyle/>
          <a:p>
            <a:r>
              <a:rPr lang="en-GB" sz="2800" b="1" dirty="0"/>
              <a:t>Input:</a:t>
            </a:r>
            <a:r>
              <a:rPr lang="en-GB" sz="2800" dirty="0"/>
              <a:t> Our input consists of a set of </a:t>
            </a:r>
            <a:r>
              <a:rPr lang="en-GB" sz="2800" i="1" dirty="0"/>
              <a:t>N</a:t>
            </a:r>
            <a:r>
              <a:rPr lang="en-GB" sz="2800" dirty="0"/>
              <a:t> images, each labelled with one of </a:t>
            </a:r>
            <a:r>
              <a:rPr lang="en-GB" sz="2800" i="1" dirty="0"/>
              <a:t>K</a:t>
            </a:r>
            <a:r>
              <a:rPr lang="en-GB" sz="2800" dirty="0"/>
              <a:t> different classes. We refer to this data as the </a:t>
            </a:r>
            <a:r>
              <a:rPr lang="en-GB" sz="2800" i="1" dirty="0">
                <a:solidFill>
                  <a:srgbClr val="FF0000"/>
                </a:solidFill>
              </a:rPr>
              <a:t>training set</a:t>
            </a:r>
            <a:r>
              <a:rPr lang="en-GB" sz="2800" dirty="0"/>
              <a:t>.</a:t>
            </a:r>
          </a:p>
          <a:p>
            <a:r>
              <a:rPr lang="en-GB" sz="2800" b="1" dirty="0"/>
              <a:t>Learning:</a:t>
            </a:r>
            <a:r>
              <a:rPr lang="en-GB" sz="2800" dirty="0"/>
              <a:t> Our task is to use the training set to learn what every one of the classes looks like. We refer to this step as </a:t>
            </a:r>
            <a:r>
              <a:rPr lang="en-GB" sz="2800" i="1" dirty="0">
                <a:solidFill>
                  <a:srgbClr val="FF0000"/>
                </a:solidFill>
              </a:rPr>
              <a:t>training a classifier</a:t>
            </a:r>
            <a:r>
              <a:rPr lang="en-GB" sz="2800" dirty="0">
                <a:solidFill>
                  <a:srgbClr val="FF0000"/>
                </a:solidFill>
              </a:rPr>
              <a:t>, or </a:t>
            </a:r>
            <a:r>
              <a:rPr lang="en-GB" sz="2800" i="1" dirty="0">
                <a:solidFill>
                  <a:srgbClr val="FF0000"/>
                </a:solidFill>
              </a:rPr>
              <a:t>learning a model</a:t>
            </a:r>
            <a:r>
              <a:rPr lang="en-GB" sz="2800" dirty="0"/>
              <a:t>.</a:t>
            </a:r>
          </a:p>
          <a:p>
            <a:r>
              <a:rPr lang="en-GB" sz="2800" b="1" dirty="0"/>
              <a:t>Evaluation:</a:t>
            </a:r>
            <a:r>
              <a:rPr lang="en-GB" sz="2800" dirty="0"/>
              <a:t> Evaluate the quality of the classifier by asking it to predict labels for a new set of images that it has never seen before. We will then compare the true labels of these images to the ones predicted by the classifier. Intuitively, we're hoping that a lot of the predictions match up with the true answers (which we call the </a:t>
            </a:r>
            <a:r>
              <a:rPr lang="en-GB" sz="2800" i="1" dirty="0">
                <a:solidFill>
                  <a:srgbClr val="FF0000"/>
                </a:solidFill>
              </a:rPr>
              <a:t>ground truth</a:t>
            </a:r>
            <a:r>
              <a:rPr lang="en-GB" sz="2800" dirty="0"/>
              <a:t>).</a:t>
            </a:r>
          </a:p>
        </p:txBody>
      </p:sp>
    </p:spTree>
    <p:extLst>
      <p:ext uri="{BB962C8B-B14F-4D97-AF65-F5344CB8AC3E}">
        <p14:creationId xmlns:p14="http://schemas.microsoft.com/office/powerpoint/2010/main" val="3408274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71414"/>
            <a:ext cx="9361040" cy="928694"/>
          </a:xfrm>
        </p:spPr>
        <p:txBody>
          <a:bodyPr>
            <a:normAutofit/>
          </a:bodyPr>
          <a:lstStyle/>
          <a:p>
            <a:r>
              <a:rPr lang="en-US" dirty="0"/>
              <a:t>The Machine Learning Framework</a:t>
            </a:r>
            <a:endParaRPr lang="en-US" sz="3100" dirty="0"/>
          </a:p>
        </p:txBody>
      </p:sp>
      <p:sp>
        <p:nvSpPr>
          <p:cNvPr id="4" name="Content Placeholder 3"/>
          <p:cNvSpPr>
            <a:spLocks noGrp="1"/>
          </p:cNvSpPr>
          <p:nvPr>
            <p:ph idx="1"/>
          </p:nvPr>
        </p:nvSpPr>
        <p:spPr>
          <a:xfrm>
            <a:off x="263352" y="1340768"/>
            <a:ext cx="10297144" cy="4968552"/>
          </a:xfrm>
        </p:spPr>
        <p:txBody>
          <a:bodyPr>
            <a:noAutofit/>
          </a:bodyPr>
          <a:lstStyle/>
          <a:p>
            <a:pPr algn="ctr"/>
            <a:r>
              <a:rPr lang="en-GB" sz="6000" i="1" dirty="0"/>
              <a:t>y</a:t>
            </a:r>
            <a:r>
              <a:rPr lang="en-GB" sz="6000" dirty="0"/>
              <a:t> = </a:t>
            </a:r>
            <a:r>
              <a:rPr lang="en-GB" sz="6000" i="1" dirty="0"/>
              <a:t>f</a:t>
            </a:r>
            <a:r>
              <a:rPr lang="en-GB" sz="6000" dirty="0"/>
              <a:t>(</a:t>
            </a:r>
            <a:r>
              <a:rPr lang="en-GB" sz="6000" i="1" dirty="0"/>
              <a:t>x</a:t>
            </a:r>
            <a:r>
              <a:rPr lang="en-GB" sz="6000" dirty="0"/>
              <a:t>)</a:t>
            </a:r>
          </a:p>
          <a:p>
            <a:pPr algn="ctr"/>
            <a:endParaRPr lang="en-GB" sz="2400" dirty="0"/>
          </a:p>
          <a:p>
            <a:pPr algn="ctr"/>
            <a:r>
              <a:rPr lang="en-GB" sz="2400" dirty="0"/>
              <a:t>Output	   Prediction function     Image feature</a:t>
            </a:r>
          </a:p>
          <a:p>
            <a:pPr algn="ctr"/>
            <a:endParaRPr lang="en-GB" sz="2400" dirty="0"/>
          </a:p>
          <a:p>
            <a:r>
              <a:rPr lang="en-GB" sz="2800" dirty="0"/>
              <a:t>Training: given a training set of labelled examples {(</a:t>
            </a:r>
            <a:r>
              <a:rPr lang="en-GB" sz="2800" i="1" dirty="0"/>
              <a:t>x</a:t>
            </a:r>
            <a:r>
              <a:rPr lang="en-GB" sz="2800" baseline="-25000" dirty="0"/>
              <a:t>1</a:t>
            </a:r>
            <a:r>
              <a:rPr lang="en-GB" sz="2800" dirty="0"/>
              <a:t>,</a:t>
            </a:r>
            <a:r>
              <a:rPr lang="en-GB" sz="2800" i="1" dirty="0"/>
              <a:t>y</a:t>
            </a:r>
            <a:r>
              <a:rPr lang="en-GB" sz="2800" baseline="-25000" dirty="0"/>
              <a:t>1</a:t>
            </a:r>
            <a:r>
              <a:rPr lang="en-GB" sz="2800" dirty="0"/>
              <a:t>), …, (</a:t>
            </a:r>
            <a:r>
              <a:rPr lang="en-GB" sz="2800" i="1" dirty="0" err="1"/>
              <a:t>x</a:t>
            </a:r>
            <a:r>
              <a:rPr lang="en-GB" sz="2800" i="1" baseline="-25000" dirty="0" err="1"/>
              <a:t>N</a:t>
            </a:r>
            <a:r>
              <a:rPr lang="en-GB" sz="2800" dirty="0" err="1"/>
              <a:t>,</a:t>
            </a:r>
            <a:r>
              <a:rPr lang="en-GB" sz="2800" i="1" dirty="0" err="1"/>
              <a:t>y</a:t>
            </a:r>
            <a:r>
              <a:rPr lang="en-GB" sz="2800" i="1" baseline="-25000" dirty="0" err="1"/>
              <a:t>N</a:t>
            </a:r>
            <a:r>
              <a:rPr lang="en-GB" sz="2800" dirty="0"/>
              <a:t>)}, estimate the prediction function </a:t>
            </a:r>
            <a:r>
              <a:rPr lang="en-GB" sz="2800" i="1" dirty="0"/>
              <a:t>f</a:t>
            </a:r>
            <a:r>
              <a:rPr lang="en-GB" sz="2800" dirty="0"/>
              <a:t> by minimizing the prediction error on the training set </a:t>
            </a:r>
          </a:p>
          <a:p>
            <a:r>
              <a:rPr lang="en-GB" sz="2800" dirty="0"/>
              <a:t>Testing: apply </a:t>
            </a:r>
            <a:r>
              <a:rPr lang="en-GB" sz="2800" i="1" dirty="0"/>
              <a:t>f</a:t>
            </a:r>
            <a:r>
              <a:rPr lang="en-GB" sz="2800" dirty="0"/>
              <a:t> to a never before seen test example </a:t>
            </a:r>
            <a:r>
              <a:rPr lang="en-GB" sz="2800" i="1" dirty="0"/>
              <a:t>x</a:t>
            </a:r>
            <a:r>
              <a:rPr lang="en-GB" sz="2800" dirty="0"/>
              <a:t> and output the predicted value </a:t>
            </a:r>
            <a:r>
              <a:rPr lang="en-GB" sz="2800" i="1" dirty="0"/>
              <a:t>y</a:t>
            </a:r>
            <a:r>
              <a:rPr lang="en-GB" sz="2800" dirty="0"/>
              <a:t> = </a:t>
            </a:r>
            <a:r>
              <a:rPr lang="en-GB" sz="2800" i="1" dirty="0"/>
              <a:t>f</a:t>
            </a:r>
            <a:r>
              <a:rPr lang="en-GB" sz="2800" dirty="0"/>
              <a:t>(</a:t>
            </a:r>
            <a:r>
              <a:rPr lang="en-GB" sz="2800" i="1" dirty="0"/>
              <a:t>x</a:t>
            </a:r>
            <a:r>
              <a:rPr lang="en-GB" sz="2800" dirty="0"/>
              <a:t>)  </a:t>
            </a:r>
            <a:endParaRPr lang="en-US" sz="2800" dirty="0"/>
          </a:p>
        </p:txBody>
      </p:sp>
      <p:cxnSp>
        <p:nvCxnSpPr>
          <p:cNvPr id="9" name="Straight Arrow Connector 8"/>
          <p:cNvCxnSpPr/>
          <p:nvPr/>
        </p:nvCxnSpPr>
        <p:spPr>
          <a:xfrm flipV="1">
            <a:off x="3199828" y="2132856"/>
            <a:ext cx="864096" cy="6480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4990483" y="2308807"/>
            <a:ext cx="342370" cy="504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6044197" y="2218725"/>
            <a:ext cx="633548" cy="6480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8400256" y="5733256"/>
            <a:ext cx="3672408" cy="100811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New Roman" panose="02020603050405020304" pitchFamily="18" charset="0"/>
                <a:cs typeface="Times New Roman" panose="02020603050405020304" pitchFamily="18" charset="0"/>
              </a:rPr>
              <a:t>For further detail watch</a:t>
            </a:r>
          </a:p>
          <a:p>
            <a:pPr algn="ctr"/>
            <a:r>
              <a:rPr lang="en-US" sz="2800" dirty="0">
                <a:solidFill>
                  <a:schemeClr val="tx1"/>
                </a:solidFill>
                <a:latin typeface="Times New Roman" panose="02020603050405020304" pitchFamily="18" charset="0"/>
                <a:cs typeface="Times New Roman" panose="02020603050405020304" pitchFamily="18" charset="0"/>
                <a:hlinkClick r:id="rId3"/>
              </a:rPr>
              <a:t>Lecture</a:t>
            </a:r>
            <a:r>
              <a:rPr lang="en-US" sz="2800" dirty="0">
                <a:solidFill>
                  <a:schemeClr val="tx1"/>
                </a:solidFill>
                <a:latin typeface="Times New Roman" panose="02020603050405020304" pitchFamily="18" charset="0"/>
                <a:cs typeface="Times New Roman" panose="02020603050405020304" pitchFamily="18" charset="0"/>
              </a:rPr>
              <a:t> 46, 47</a:t>
            </a:r>
          </a:p>
        </p:txBody>
      </p:sp>
    </p:spTree>
    <p:extLst>
      <p:ext uri="{BB962C8B-B14F-4D97-AF65-F5344CB8AC3E}">
        <p14:creationId xmlns:p14="http://schemas.microsoft.com/office/powerpoint/2010/main" val="2425216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71414"/>
            <a:ext cx="9361040" cy="928694"/>
          </a:xfrm>
        </p:spPr>
        <p:txBody>
          <a:bodyPr>
            <a:normAutofit/>
          </a:bodyPr>
          <a:lstStyle/>
          <a:p>
            <a:r>
              <a:rPr lang="en-US" dirty="0"/>
              <a:t>Nearest Neighbor Classifier </a:t>
            </a:r>
            <a:endParaRPr lang="en-US" sz="3100" dirty="0"/>
          </a:p>
        </p:txBody>
      </p:sp>
      <p:sp>
        <p:nvSpPr>
          <p:cNvPr id="4" name="Content Placeholder 3"/>
          <p:cNvSpPr>
            <a:spLocks noGrp="1"/>
          </p:cNvSpPr>
          <p:nvPr>
            <p:ph idx="1"/>
          </p:nvPr>
        </p:nvSpPr>
        <p:spPr>
          <a:xfrm>
            <a:off x="191344" y="1340768"/>
            <a:ext cx="10369152" cy="4968552"/>
          </a:xfrm>
        </p:spPr>
        <p:txBody>
          <a:bodyPr>
            <a:noAutofit/>
          </a:bodyPr>
          <a:lstStyle/>
          <a:p>
            <a:r>
              <a:rPr lang="en-GB" dirty="0"/>
              <a:t>Assign label of nearest training data point to each test data point</a:t>
            </a:r>
            <a:endParaRPr lang="en-US" dirty="0"/>
          </a:p>
        </p:txBody>
      </p:sp>
      <p:pic>
        <p:nvPicPr>
          <p:cNvPr id="3" name="Picture 2"/>
          <p:cNvPicPr>
            <a:picLocks noChangeAspect="1"/>
          </p:cNvPicPr>
          <p:nvPr/>
        </p:nvPicPr>
        <p:blipFill>
          <a:blip r:embed="rId3"/>
          <a:stretch>
            <a:fillRect/>
          </a:stretch>
        </p:blipFill>
        <p:spPr>
          <a:xfrm>
            <a:off x="2855640" y="2478222"/>
            <a:ext cx="7527802" cy="3399050"/>
          </a:xfrm>
          <a:prstGeom prst="rect">
            <a:avLst/>
          </a:prstGeom>
        </p:spPr>
      </p:pic>
    </p:spTree>
    <p:extLst>
      <p:ext uri="{BB962C8B-B14F-4D97-AF65-F5344CB8AC3E}">
        <p14:creationId xmlns:p14="http://schemas.microsoft.com/office/powerpoint/2010/main" val="640164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71414"/>
            <a:ext cx="9361040" cy="928694"/>
          </a:xfrm>
        </p:spPr>
        <p:txBody>
          <a:bodyPr>
            <a:normAutofit/>
          </a:bodyPr>
          <a:lstStyle/>
          <a:p>
            <a:r>
              <a:rPr lang="en-US" dirty="0"/>
              <a:t>Nearest Neighbor Classifier </a:t>
            </a:r>
            <a:endParaRPr lang="en-US" sz="3100" dirty="0"/>
          </a:p>
        </p:txBody>
      </p:sp>
      <p:sp>
        <p:nvSpPr>
          <p:cNvPr id="4" name="Content Placeholder 3"/>
          <p:cNvSpPr>
            <a:spLocks noGrp="1"/>
          </p:cNvSpPr>
          <p:nvPr>
            <p:ph idx="1"/>
          </p:nvPr>
        </p:nvSpPr>
        <p:spPr>
          <a:xfrm>
            <a:off x="191344" y="1340768"/>
            <a:ext cx="10009112" cy="4968552"/>
          </a:xfrm>
        </p:spPr>
        <p:txBody>
          <a:bodyPr>
            <a:noAutofit/>
          </a:bodyPr>
          <a:lstStyle/>
          <a:p>
            <a:r>
              <a:rPr lang="en-US" dirty="0"/>
              <a:t>Assign label of nearest training data point to each test data point</a:t>
            </a:r>
          </a:p>
          <a:p>
            <a:endParaRPr lang="en-US" dirty="0"/>
          </a:p>
          <a:p>
            <a:endParaRPr lang="en-US" dirty="0"/>
          </a:p>
          <a:p>
            <a:endParaRPr lang="en-US" dirty="0"/>
          </a:p>
          <a:p>
            <a:endParaRPr lang="en-US" dirty="0"/>
          </a:p>
          <a:p>
            <a:endParaRPr lang="en-US" dirty="0"/>
          </a:p>
          <a:p>
            <a:endParaRPr lang="en-US" dirty="0"/>
          </a:p>
          <a:p>
            <a:pPr algn="ctr"/>
            <a:r>
              <a:rPr lang="en-US" sz="2400" dirty="0"/>
              <a:t>Partitioning of feature space </a:t>
            </a:r>
            <a:r>
              <a:rPr lang="en-GB" sz="2400" dirty="0"/>
              <a:t>for two-category 2D and 3D data</a:t>
            </a:r>
            <a:endParaRPr lang="en-US" sz="2400" dirty="0"/>
          </a:p>
        </p:txBody>
      </p:sp>
      <p:pic>
        <p:nvPicPr>
          <p:cNvPr id="5" name="Picture 4"/>
          <p:cNvPicPr>
            <a:picLocks noChangeAspect="1"/>
          </p:cNvPicPr>
          <p:nvPr/>
        </p:nvPicPr>
        <p:blipFill>
          <a:blip r:embed="rId3"/>
          <a:stretch>
            <a:fillRect/>
          </a:stretch>
        </p:blipFill>
        <p:spPr>
          <a:xfrm>
            <a:off x="3028631" y="2492897"/>
            <a:ext cx="5918715" cy="3148491"/>
          </a:xfrm>
          <a:prstGeom prst="rect">
            <a:avLst/>
          </a:prstGeom>
        </p:spPr>
      </p:pic>
    </p:spTree>
    <p:extLst>
      <p:ext uri="{BB962C8B-B14F-4D97-AF65-F5344CB8AC3E}">
        <p14:creationId xmlns:p14="http://schemas.microsoft.com/office/powerpoint/2010/main" val="3556636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71414"/>
            <a:ext cx="9361040" cy="928694"/>
          </a:xfrm>
        </p:spPr>
        <p:txBody>
          <a:bodyPr>
            <a:normAutofit/>
          </a:bodyPr>
          <a:lstStyle/>
          <a:p>
            <a:r>
              <a:rPr lang="en-US" dirty="0"/>
              <a:t>K Nearest Neighbor (KNN)</a:t>
            </a:r>
            <a:endParaRPr lang="en-US" sz="3100" dirty="0"/>
          </a:p>
        </p:txBody>
      </p:sp>
      <p:sp>
        <p:nvSpPr>
          <p:cNvPr id="4" name="Content Placeholder 3"/>
          <p:cNvSpPr>
            <a:spLocks noGrp="1"/>
          </p:cNvSpPr>
          <p:nvPr>
            <p:ph idx="1"/>
          </p:nvPr>
        </p:nvSpPr>
        <p:spPr>
          <a:xfrm>
            <a:off x="191344" y="1412776"/>
            <a:ext cx="6336704" cy="3384376"/>
          </a:xfrm>
        </p:spPr>
        <p:txBody>
          <a:bodyPr>
            <a:noAutofit/>
          </a:bodyPr>
          <a:lstStyle/>
          <a:p>
            <a:r>
              <a:rPr lang="en-US" dirty="0"/>
              <a:t>Distance measure: Euclidean</a:t>
            </a:r>
          </a:p>
          <a:p>
            <a:endParaRPr lang="en-US" dirty="0"/>
          </a:p>
          <a:p>
            <a:endParaRPr lang="en-US" dirty="0"/>
          </a:p>
          <a:p>
            <a:r>
              <a:rPr lang="en-GB" sz="2800" dirty="0"/>
              <a:t>where </a:t>
            </a:r>
            <a:r>
              <a:rPr lang="en-GB" sz="2800" i="1" dirty="0" err="1"/>
              <a:t>X</a:t>
            </a:r>
            <a:r>
              <a:rPr lang="en-GB" sz="2800" i="1" baseline="30000" dirty="0" err="1"/>
              <a:t>n</a:t>
            </a:r>
            <a:r>
              <a:rPr lang="en-GB" sz="2800" dirty="0"/>
              <a:t> and </a:t>
            </a:r>
            <a:r>
              <a:rPr lang="en-GB" sz="2800" i="1" dirty="0" err="1"/>
              <a:t>X</a:t>
            </a:r>
            <a:r>
              <a:rPr lang="en-GB" sz="2800" i="1" baseline="30000" dirty="0" err="1"/>
              <a:t>m</a:t>
            </a:r>
            <a:r>
              <a:rPr lang="en-GB" sz="2800" dirty="0"/>
              <a:t> are the </a:t>
            </a:r>
            <a:r>
              <a:rPr lang="en-GB" sz="2800" i="1" dirty="0"/>
              <a:t>n</a:t>
            </a:r>
            <a:r>
              <a:rPr lang="en-GB" sz="2800" dirty="0"/>
              <a:t>-</a:t>
            </a:r>
            <a:r>
              <a:rPr lang="en-GB" sz="2800" dirty="0" err="1"/>
              <a:t>th</a:t>
            </a:r>
            <a:r>
              <a:rPr lang="en-GB" sz="2800" dirty="0"/>
              <a:t> and </a:t>
            </a:r>
            <a:r>
              <a:rPr lang="en-GB" sz="2800" i="1" dirty="0"/>
              <a:t>m</a:t>
            </a:r>
            <a:r>
              <a:rPr lang="en-GB" sz="2800" dirty="0"/>
              <a:t>-</a:t>
            </a:r>
            <a:r>
              <a:rPr lang="en-GB" sz="2800" dirty="0" err="1"/>
              <a:t>th</a:t>
            </a:r>
            <a:r>
              <a:rPr lang="en-GB" sz="2800" dirty="0"/>
              <a:t> data points</a:t>
            </a:r>
            <a:endParaRPr lang="en-US" sz="2000" dirty="0"/>
          </a:p>
        </p:txBody>
      </p:sp>
      <p:pic>
        <p:nvPicPr>
          <p:cNvPr id="6" name="Picture 5"/>
          <p:cNvPicPr>
            <a:picLocks noChangeAspect="1"/>
          </p:cNvPicPr>
          <p:nvPr/>
        </p:nvPicPr>
        <p:blipFill>
          <a:blip r:embed="rId3"/>
          <a:stretch>
            <a:fillRect/>
          </a:stretch>
        </p:blipFill>
        <p:spPr>
          <a:xfrm>
            <a:off x="1055440" y="2014993"/>
            <a:ext cx="4248472" cy="1197983"/>
          </a:xfrm>
          <a:prstGeom prst="rect">
            <a:avLst/>
          </a:prstGeom>
        </p:spPr>
      </p:pic>
      <p:pic>
        <p:nvPicPr>
          <p:cNvPr id="12290" name="Picture 2" descr="https://upload.wikimedia.org/wikipedia/commons/thumb/e/e7/KnnClassification.svg/1024px-KnnClassification.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08619" y="1412776"/>
            <a:ext cx="3348021" cy="302433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51584" y="4494599"/>
            <a:ext cx="9649072" cy="2246769"/>
          </a:xfrm>
          <a:prstGeom prst="rect">
            <a:avLst/>
          </a:prstGeom>
          <a:solidFill>
            <a:schemeClr val="accent3">
              <a:lumMod val="40000"/>
              <a:lumOff val="60000"/>
            </a:schemeClr>
          </a:solidFill>
        </p:spPr>
        <p:txBody>
          <a:bodyPr wrap="square">
            <a:spAutoFit/>
          </a:bodyPr>
          <a:lstStyle/>
          <a:p>
            <a:pPr algn="just"/>
            <a:r>
              <a:rPr lang="en-US" sz="2800" dirty="0">
                <a:solidFill>
                  <a:srgbClr val="222222"/>
                </a:solidFill>
                <a:latin typeface="Times New Roman" panose="02020603050405020304" pitchFamily="18" charset="0"/>
                <a:cs typeface="Times New Roman" panose="02020603050405020304" pitchFamily="18" charset="0"/>
              </a:rPr>
              <a:t>The test sample (green dot) should be classified either to blue squares or to red triangles. If </a:t>
            </a:r>
            <a:r>
              <a:rPr lang="en-US" sz="2800" i="1" dirty="0">
                <a:solidFill>
                  <a:srgbClr val="222222"/>
                </a:solidFill>
                <a:latin typeface="Times New Roman" panose="02020603050405020304" pitchFamily="18" charset="0"/>
                <a:cs typeface="Times New Roman" panose="02020603050405020304" pitchFamily="18" charset="0"/>
              </a:rPr>
              <a:t>k = </a:t>
            </a:r>
            <a:r>
              <a:rPr lang="en-US" sz="2800" dirty="0">
                <a:solidFill>
                  <a:srgbClr val="222222"/>
                </a:solidFill>
                <a:latin typeface="Times New Roman" panose="02020603050405020304" pitchFamily="18" charset="0"/>
                <a:cs typeface="Times New Roman" panose="02020603050405020304" pitchFamily="18" charset="0"/>
              </a:rPr>
              <a:t>3 (solid line circle) it is assigned to the red triangles because there are 2 triangles and only 1 square inside the inner circle. If </a:t>
            </a:r>
            <a:r>
              <a:rPr lang="en-US" sz="2800" i="1" dirty="0">
                <a:solidFill>
                  <a:srgbClr val="222222"/>
                </a:solidFill>
                <a:latin typeface="Times New Roman" panose="02020603050405020304" pitchFamily="18" charset="0"/>
                <a:cs typeface="Times New Roman" panose="02020603050405020304" pitchFamily="18" charset="0"/>
              </a:rPr>
              <a:t>k = </a:t>
            </a:r>
            <a:r>
              <a:rPr lang="en-US" sz="2800" dirty="0">
                <a:solidFill>
                  <a:srgbClr val="222222"/>
                </a:solidFill>
                <a:latin typeface="Times New Roman" panose="02020603050405020304" pitchFamily="18" charset="0"/>
                <a:cs typeface="Times New Roman" panose="02020603050405020304" pitchFamily="18" charset="0"/>
              </a:rPr>
              <a:t>5 (dashed line circle) it is assigned to the blue squares (3 squares vs. 2 triangles inside the outer circle).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33282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71414"/>
            <a:ext cx="9361040" cy="928694"/>
          </a:xfrm>
        </p:spPr>
        <p:txBody>
          <a:bodyPr>
            <a:normAutofit/>
          </a:bodyPr>
          <a:lstStyle/>
          <a:p>
            <a:r>
              <a:rPr lang="en-US" dirty="0"/>
              <a:t>KNN vs K-Means Clustering</a:t>
            </a:r>
            <a:endParaRPr lang="en-US" sz="3100" dirty="0"/>
          </a:p>
        </p:txBody>
      </p:sp>
      <p:sp>
        <p:nvSpPr>
          <p:cNvPr id="4" name="Content Placeholder 3"/>
          <p:cNvSpPr>
            <a:spLocks noGrp="1"/>
          </p:cNvSpPr>
          <p:nvPr>
            <p:ph idx="1"/>
          </p:nvPr>
        </p:nvSpPr>
        <p:spPr>
          <a:xfrm>
            <a:off x="263352" y="4526220"/>
            <a:ext cx="10441160" cy="2215148"/>
          </a:xfrm>
        </p:spPr>
        <p:txBody>
          <a:bodyPr>
            <a:normAutofit/>
          </a:bodyPr>
          <a:lstStyle/>
          <a:p>
            <a:r>
              <a:rPr lang="en-US" sz="2800" dirty="0"/>
              <a:t>Q: What is the complexity of the 1-NN classifier w.r.t. training </a:t>
            </a:r>
            <a:r>
              <a:rPr lang="en-GB" sz="2800" dirty="0"/>
              <a:t>set of N images and test </a:t>
            </a:r>
            <a:r>
              <a:rPr lang="en-US" sz="2800" dirty="0"/>
              <a:t>set of M images?</a:t>
            </a:r>
          </a:p>
          <a:p>
            <a:pPr marL="514350" indent="-514350">
              <a:buAutoNum type="arabicPeriod"/>
            </a:pPr>
            <a:r>
              <a:rPr lang="en-US" sz="2800" dirty="0"/>
              <a:t>at training time? </a:t>
            </a:r>
          </a:p>
          <a:p>
            <a:pPr marL="514350" indent="-514350">
              <a:buAutoNum type="arabicPeriod"/>
            </a:pPr>
            <a:r>
              <a:rPr lang="en-US" sz="2800" dirty="0"/>
              <a:t>at test time?		</a:t>
            </a:r>
          </a:p>
        </p:txBody>
      </p:sp>
      <p:pic>
        <p:nvPicPr>
          <p:cNvPr id="10" name="Picture 9"/>
          <p:cNvPicPr>
            <a:picLocks noChangeAspect="1"/>
          </p:cNvPicPr>
          <p:nvPr/>
        </p:nvPicPr>
        <p:blipFill>
          <a:blip r:embed="rId3"/>
          <a:stretch>
            <a:fillRect/>
          </a:stretch>
        </p:blipFill>
        <p:spPr>
          <a:xfrm>
            <a:off x="3575720" y="5415432"/>
            <a:ext cx="1091279" cy="749873"/>
          </a:xfrm>
          <a:prstGeom prst="rect">
            <a:avLst/>
          </a:prstGeom>
        </p:spPr>
      </p:pic>
      <p:pic>
        <p:nvPicPr>
          <p:cNvPr id="12" name="Picture 11"/>
          <p:cNvPicPr>
            <a:picLocks noChangeAspect="1"/>
          </p:cNvPicPr>
          <p:nvPr/>
        </p:nvPicPr>
        <p:blipFill>
          <a:blip r:embed="rId4"/>
          <a:stretch>
            <a:fillRect/>
          </a:stretch>
        </p:blipFill>
        <p:spPr>
          <a:xfrm>
            <a:off x="2999656" y="5920815"/>
            <a:ext cx="1487553" cy="749873"/>
          </a:xfrm>
          <a:prstGeom prst="rect">
            <a:avLst/>
          </a:prstGeom>
        </p:spPr>
      </p:pic>
      <p:sp>
        <p:nvSpPr>
          <p:cNvPr id="3" name="Rectangle 2"/>
          <p:cNvSpPr/>
          <p:nvPr/>
        </p:nvSpPr>
        <p:spPr>
          <a:xfrm>
            <a:off x="263352" y="1340768"/>
            <a:ext cx="10441160" cy="2554545"/>
          </a:xfrm>
          <a:prstGeom prst="rect">
            <a:avLst/>
          </a:prstGeom>
        </p:spPr>
        <p:txBody>
          <a:bodyPr wrap="square">
            <a:spAutoFit/>
          </a:bodyPr>
          <a:lstStyle/>
          <a:p>
            <a:pPr algn="just"/>
            <a:r>
              <a:rPr lang="en-US" sz="3200" b="1" dirty="0">
                <a:solidFill>
                  <a:srgbClr val="222222"/>
                </a:solidFill>
                <a:latin typeface="Times New Roman" panose="02020603050405020304" pitchFamily="18" charset="0"/>
                <a:cs typeface="Times New Roman" panose="02020603050405020304" pitchFamily="18" charset="0"/>
              </a:rPr>
              <a:t>KNN</a:t>
            </a:r>
            <a:r>
              <a:rPr lang="en-US" sz="3200" dirty="0">
                <a:solidFill>
                  <a:srgbClr val="222222"/>
                </a:solidFill>
                <a:latin typeface="Times New Roman" panose="02020603050405020304" pitchFamily="18" charset="0"/>
                <a:cs typeface="Times New Roman" panose="02020603050405020304" pitchFamily="18" charset="0"/>
              </a:rPr>
              <a:t> represents a </a:t>
            </a:r>
            <a:r>
              <a:rPr lang="en-US" sz="3200" b="1" dirty="0">
                <a:solidFill>
                  <a:srgbClr val="222222"/>
                </a:solidFill>
                <a:latin typeface="Times New Roman" panose="02020603050405020304" pitchFamily="18" charset="0"/>
                <a:cs typeface="Times New Roman" panose="02020603050405020304" pitchFamily="18" charset="0"/>
              </a:rPr>
              <a:t>supervised</a:t>
            </a:r>
            <a:r>
              <a:rPr lang="en-US" sz="3200" dirty="0">
                <a:solidFill>
                  <a:srgbClr val="222222"/>
                </a:solidFill>
                <a:latin typeface="Times New Roman" panose="02020603050405020304" pitchFamily="18" charset="0"/>
                <a:cs typeface="Times New Roman" panose="02020603050405020304" pitchFamily="18" charset="0"/>
              </a:rPr>
              <a:t> classification algorithm that will give new data points accordingly to the k number or the closest data points, while </a:t>
            </a:r>
            <a:r>
              <a:rPr lang="en-US" sz="3200" b="1" dirty="0">
                <a:solidFill>
                  <a:srgbClr val="222222"/>
                </a:solidFill>
                <a:latin typeface="Times New Roman" panose="02020603050405020304" pitchFamily="18" charset="0"/>
                <a:cs typeface="Times New Roman" panose="02020603050405020304" pitchFamily="18" charset="0"/>
              </a:rPr>
              <a:t>K-Means</a:t>
            </a:r>
            <a:r>
              <a:rPr lang="en-US" sz="3200" dirty="0">
                <a:solidFill>
                  <a:srgbClr val="222222"/>
                </a:solidFill>
                <a:latin typeface="Times New Roman" panose="02020603050405020304" pitchFamily="18" charset="0"/>
                <a:cs typeface="Times New Roman" panose="02020603050405020304" pitchFamily="18" charset="0"/>
              </a:rPr>
              <a:t> clustering is an </a:t>
            </a:r>
            <a:r>
              <a:rPr lang="en-US" sz="3200" b="1" dirty="0">
                <a:solidFill>
                  <a:srgbClr val="222222"/>
                </a:solidFill>
                <a:latin typeface="Times New Roman" panose="02020603050405020304" pitchFamily="18" charset="0"/>
                <a:cs typeface="Times New Roman" panose="02020603050405020304" pitchFamily="18" charset="0"/>
              </a:rPr>
              <a:t>unsupervised</a:t>
            </a:r>
            <a:r>
              <a:rPr lang="en-US" sz="3200" dirty="0">
                <a:solidFill>
                  <a:srgbClr val="222222"/>
                </a:solidFill>
                <a:latin typeface="Times New Roman" panose="02020603050405020304" pitchFamily="18" charset="0"/>
                <a:cs typeface="Times New Roman" panose="02020603050405020304" pitchFamily="18" charset="0"/>
              </a:rPr>
              <a:t> clustering algorithm that gathers and groups data into k number of clusters.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9949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Autofit/>
          </a:bodyPr>
          <a:lstStyle/>
          <a:p>
            <a:r>
              <a:rPr lang="en-US" dirty="0"/>
              <a:t>Given: Fisher's Iris dataset: </a:t>
            </a:r>
            <a:r>
              <a:rPr lang="en-US" dirty="0" err="1">
                <a:hlinkClick r:id="rId3"/>
              </a:rPr>
              <a:t>DataIris</a:t>
            </a:r>
            <a:r>
              <a:rPr lang="en-US" dirty="0"/>
              <a:t> </a:t>
            </a:r>
            <a:r>
              <a:rPr lang="en-US" sz="2800" dirty="0"/>
              <a:t>(data size = 150)</a:t>
            </a:r>
          </a:p>
          <a:p>
            <a:r>
              <a:rPr lang="en-US" dirty="0"/>
              <a:t>Species of Iris:                    		     </a:t>
            </a:r>
            <a:r>
              <a:rPr lang="en-US" sz="2400" dirty="0"/>
              <a:t>petal   sepal</a:t>
            </a:r>
            <a:endParaRPr lang="en-US" dirty="0"/>
          </a:p>
          <a:p>
            <a:endParaRPr lang="en-US" sz="3600" dirty="0"/>
          </a:p>
          <a:p>
            <a:endParaRPr lang="en-US" sz="3600" dirty="0"/>
          </a:p>
          <a:p>
            <a:endParaRPr lang="en-US" sz="1200" dirty="0"/>
          </a:p>
          <a:p>
            <a:r>
              <a:rPr lang="en-US" sz="3600" dirty="0"/>
              <a:t>       		    </a:t>
            </a:r>
            <a:r>
              <a:rPr lang="en-US" dirty="0" err="1"/>
              <a:t>Setosa</a:t>
            </a:r>
            <a:r>
              <a:rPr lang="en-US" dirty="0"/>
              <a:t>              Versicolor             </a:t>
            </a:r>
            <a:r>
              <a:rPr lang="en-US" dirty="0" err="1"/>
              <a:t>Virginica</a:t>
            </a:r>
            <a:endParaRPr lang="en-US" sz="3600" dirty="0"/>
          </a:p>
          <a:p>
            <a:endParaRPr lang="en-US" sz="1800" dirty="0"/>
          </a:p>
          <a:p>
            <a:pPr marL="274638" indent="-274638" algn="just">
              <a:buFont typeface="Courier New" pitchFamily="49" charset="0"/>
              <a:buChar char="o"/>
            </a:pPr>
            <a:r>
              <a:rPr lang="en-US" sz="2800" dirty="0"/>
              <a:t>The data set consists of 50 samples from each of three species of Iris.</a:t>
            </a:r>
          </a:p>
          <a:p>
            <a:pPr marL="274638" indent="-274638" algn="just">
              <a:buFont typeface="Courier New" pitchFamily="49" charset="0"/>
              <a:buChar char="o"/>
            </a:pPr>
            <a:r>
              <a:rPr lang="en-US" sz="2800" dirty="0"/>
              <a:t>Four features were measured from each sample: the length and the width of the sepals and petals, in centimeters.</a:t>
            </a:r>
          </a:p>
          <a:p>
            <a:endParaRPr lang="en-US" dirty="0"/>
          </a:p>
        </p:txBody>
      </p:sp>
      <p:pic>
        <p:nvPicPr>
          <p:cNvPr id="1027" name="Picture 3" descr="http://upload.wikimedia.org/wikipedia/commons/thumb/5/56/Kosaciec_szczecinkowaty_Iris_setosa.jpg/220px-Kosaciec_szczecinkowaty_Iris_setosa.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1544" y="2487563"/>
            <a:ext cx="2095500" cy="1571626"/>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http://upload.wikimedia.org/wikipedia/commons/thumb/4/41/Iris_versicolor_3.jpg/220px-Iris_versicolor_3.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1864" y="2484939"/>
            <a:ext cx="2095500" cy="1571626"/>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http://upload.wikimedia.org/wikipedia/commons/thumb/9/9f/Iris_virginica.jpg/220px-Iris_virginica.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80176" y="2420888"/>
            <a:ext cx="2095500" cy="1704976"/>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p:cNvCxnSpPr/>
          <p:nvPr/>
        </p:nvCxnSpPr>
        <p:spPr>
          <a:xfrm flipH="1">
            <a:off x="6456040" y="2420888"/>
            <a:ext cx="864096" cy="12239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6312024" y="2420968"/>
            <a:ext cx="144016" cy="7200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1" name="Title 1"/>
          <p:cNvSpPr>
            <a:spLocks noGrp="1"/>
          </p:cNvSpPr>
          <p:nvPr>
            <p:ph type="ctrTitle"/>
          </p:nvPr>
        </p:nvSpPr>
        <p:spPr>
          <a:xfrm>
            <a:off x="190459" y="142852"/>
            <a:ext cx="9334565" cy="857256"/>
          </a:xfrm>
        </p:spPr>
        <p:txBody>
          <a:bodyPr/>
          <a:lstStyle/>
          <a:p>
            <a:r>
              <a:rPr lang="en-US" dirty="0"/>
              <a:t>Example: Sample of data set</a:t>
            </a:r>
          </a:p>
        </p:txBody>
      </p:sp>
    </p:spTree>
    <p:extLst>
      <p:ext uri="{BB962C8B-B14F-4D97-AF65-F5344CB8AC3E}">
        <p14:creationId xmlns:p14="http://schemas.microsoft.com/office/powerpoint/2010/main" val="1197694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Example: Sample of data set</a:t>
            </a:r>
          </a:p>
        </p:txBody>
      </p:sp>
      <p:graphicFrame>
        <p:nvGraphicFramePr>
          <p:cNvPr id="7" name="Group 402"/>
          <p:cNvGraphicFramePr>
            <a:graphicFrameLocks/>
          </p:cNvGraphicFramePr>
          <p:nvPr/>
        </p:nvGraphicFramePr>
        <p:xfrm>
          <a:off x="2135014" y="1458876"/>
          <a:ext cx="7345362" cy="4490404"/>
        </p:xfrm>
        <a:graphic>
          <a:graphicData uri="http://schemas.openxmlformats.org/drawingml/2006/table">
            <a:tbl>
              <a:tblPr/>
              <a:tblGrid>
                <a:gridCol w="1220787">
                  <a:extLst>
                    <a:ext uri="{9D8B030D-6E8A-4147-A177-3AD203B41FA5}">
                      <a16:colId xmlns:a16="http://schemas.microsoft.com/office/drawing/2014/main" val="20000"/>
                    </a:ext>
                  </a:extLst>
                </a:gridCol>
                <a:gridCol w="1235075">
                  <a:extLst>
                    <a:ext uri="{9D8B030D-6E8A-4147-A177-3AD203B41FA5}">
                      <a16:colId xmlns:a16="http://schemas.microsoft.com/office/drawing/2014/main" val="20001"/>
                    </a:ext>
                  </a:extLst>
                </a:gridCol>
                <a:gridCol w="1222375">
                  <a:extLst>
                    <a:ext uri="{9D8B030D-6E8A-4147-A177-3AD203B41FA5}">
                      <a16:colId xmlns:a16="http://schemas.microsoft.com/office/drawing/2014/main" val="20002"/>
                    </a:ext>
                  </a:extLst>
                </a:gridCol>
                <a:gridCol w="1222375">
                  <a:extLst>
                    <a:ext uri="{9D8B030D-6E8A-4147-A177-3AD203B41FA5}">
                      <a16:colId xmlns:a16="http://schemas.microsoft.com/office/drawing/2014/main" val="20003"/>
                    </a:ext>
                  </a:extLst>
                </a:gridCol>
                <a:gridCol w="1222375">
                  <a:extLst>
                    <a:ext uri="{9D8B030D-6E8A-4147-A177-3AD203B41FA5}">
                      <a16:colId xmlns:a16="http://schemas.microsoft.com/office/drawing/2014/main" val="20004"/>
                    </a:ext>
                  </a:extLst>
                </a:gridCol>
                <a:gridCol w="1222375">
                  <a:extLst>
                    <a:ext uri="{9D8B030D-6E8A-4147-A177-3AD203B41FA5}">
                      <a16:colId xmlns:a16="http://schemas.microsoft.com/office/drawing/2014/main" val="20005"/>
                    </a:ext>
                  </a:extLst>
                </a:gridCol>
              </a:tblGrid>
              <a:tr h="67468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No.</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Sepal.</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length</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Sepal.</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width</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Petal.</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length</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Petal.</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width</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Species</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064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1</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5.1</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3.5</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1.4</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0.2</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setosa</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064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2</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4.9</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3.0</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1.4</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0.2</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setosa</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0798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3</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4.7</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3.2</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1.3</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0.2</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setosa</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064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4</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4.6</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3.1</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1.5</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0.2</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setosa</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674688">
                <a:tc gridSpan="6">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TW" sz="2000" b="0" i="0" u="none" strike="noStrike" cap="none" normalizeH="0" baseline="0">
                          <a:ln>
                            <a:noFill/>
                          </a:ln>
                          <a:solidFill>
                            <a:schemeClr val="tx1"/>
                          </a:solidFill>
                          <a:effectLst/>
                          <a:latin typeface="Century Gothic" pitchFamily="34" charset="0"/>
                          <a:ea typeface="標楷體" pitchFamily="65" charset="-120"/>
                        </a:rPr>
                        <a:t>…</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4064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76</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6.6</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3.0</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4.4</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1.4</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versicolor</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674688">
                <a:tc gridSpan="6">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TW" sz="2000" b="0" i="0" u="none" strike="noStrike" cap="none" normalizeH="0" baseline="0">
                          <a:ln>
                            <a:noFill/>
                          </a:ln>
                          <a:solidFill>
                            <a:schemeClr val="tx1"/>
                          </a:solidFill>
                          <a:effectLst/>
                          <a:latin typeface="Century Gothic" pitchFamily="34" charset="0"/>
                          <a:ea typeface="標楷體" pitchFamily="65" charset="-120"/>
                        </a:rPr>
                        <a:t>…</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4064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150</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5.9</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3.0</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5.1</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1.8</a:t>
                      </a:r>
                      <a:endParaRPr kumimoji="1" lang="en-US" altLang="zh-TW" sz="2000" b="0"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dirty="0" err="1">
                          <a:ln>
                            <a:noFill/>
                          </a:ln>
                          <a:solidFill>
                            <a:schemeClr val="tx1"/>
                          </a:solidFill>
                          <a:effectLst/>
                          <a:latin typeface="Times New Roman" pitchFamily="18" charset="0"/>
                          <a:ea typeface="新細明體" pitchFamily="18" charset="-120"/>
                          <a:cs typeface="Times New Roman" pitchFamily="18" charset="0"/>
                        </a:rPr>
                        <a:t>virginica</a:t>
                      </a:r>
                      <a:endParaRPr kumimoji="1" lang="en-US" altLang="zh-TW" sz="2000" b="0" i="0" u="none" strike="noStrike" cap="none" normalizeH="0" baseline="0" dirty="0">
                        <a:ln>
                          <a:noFill/>
                        </a:ln>
                        <a:solidFill>
                          <a:schemeClr val="tx1"/>
                        </a:solidFill>
                        <a:effectLst/>
                        <a:latin typeface="Arial" charset="0"/>
                        <a:ea typeface="新細明體" pitchFamily="18" charset="-120"/>
                        <a:cs typeface="Times New Roman"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131653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Example </a:t>
            </a:r>
          </a:p>
        </p:txBody>
      </p:sp>
      <p:sp>
        <p:nvSpPr>
          <p:cNvPr id="3" name="Subtitle 2"/>
          <p:cNvSpPr>
            <a:spLocks noGrp="1"/>
          </p:cNvSpPr>
          <p:nvPr>
            <p:ph type="subTitle" idx="1"/>
          </p:nvPr>
        </p:nvSpPr>
        <p:spPr/>
        <p:txBody>
          <a:bodyPr>
            <a:noAutofit/>
          </a:bodyPr>
          <a:lstStyle/>
          <a:p>
            <a:pPr marL="1158875" indent="-1158875"/>
            <a:r>
              <a:rPr lang="en-US" sz="3600" dirty="0"/>
              <a:t>Task: </a:t>
            </a:r>
            <a:r>
              <a:rPr lang="en-US" dirty="0"/>
              <a:t>To classify a sample of 150 irises in the 3 following species: </a:t>
            </a:r>
            <a:r>
              <a:rPr lang="en-US" dirty="0" err="1"/>
              <a:t>versicolor</a:t>
            </a:r>
            <a:r>
              <a:rPr lang="en-US" dirty="0"/>
              <a:t>, </a:t>
            </a:r>
            <a:r>
              <a:rPr lang="en-US" dirty="0" err="1"/>
              <a:t>virginica</a:t>
            </a:r>
            <a:r>
              <a:rPr lang="en-US" dirty="0"/>
              <a:t> and </a:t>
            </a:r>
            <a:r>
              <a:rPr lang="en-US" dirty="0" err="1"/>
              <a:t>setosa</a:t>
            </a:r>
            <a:endParaRPr lang="en-US" dirty="0"/>
          </a:p>
          <a:p>
            <a:r>
              <a:rPr lang="en-US" sz="3600" dirty="0"/>
              <a:t>Number of given attributes: </a:t>
            </a:r>
            <a:r>
              <a:rPr lang="en-US" dirty="0"/>
              <a:t>4 </a:t>
            </a:r>
          </a:p>
          <a:p>
            <a:pPr marL="808038" algn="just"/>
            <a:r>
              <a:rPr lang="en-US" sz="2800" dirty="0"/>
              <a:t>From 4 characteristics measured on the flowers (the length of the sepal, the width of the sepal, the length of the petal and the width of the petal). In this example, only last 2 attributes are considered.</a:t>
            </a:r>
            <a:endParaRPr lang="en-US" sz="3600" dirty="0"/>
          </a:p>
          <a:p>
            <a:r>
              <a:rPr lang="en-US" sz="3600" dirty="0"/>
              <a:t>Type of attribute to be predicted: </a:t>
            </a:r>
          </a:p>
          <a:p>
            <a:r>
              <a:rPr lang="en-US" sz="3600" dirty="0"/>
              <a:t>	Discrete with 3 classes</a:t>
            </a:r>
          </a:p>
        </p:txBody>
      </p:sp>
    </p:spTree>
    <p:extLst>
      <p:ext uri="{BB962C8B-B14F-4D97-AF65-F5344CB8AC3E}">
        <p14:creationId xmlns:p14="http://schemas.microsoft.com/office/powerpoint/2010/main" val="98022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71414"/>
            <a:ext cx="9361040" cy="928694"/>
          </a:xfrm>
        </p:spPr>
        <p:txBody>
          <a:bodyPr>
            <a:normAutofit/>
          </a:bodyPr>
          <a:lstStyle/>
          <a:p>
            <a:r>
              <a:rPr lang="en-US" sz="4000" dirty="0"/>
              <a:t>Example: Code…</a:t>
            </a:r>
          </a:p>
        </p:txBody>
      </p:sp>
      <p:sp>
        <p:nvSpPr>
          <p:cNvPr id="7" name="Subtitle 2"/>
          <p:cNvSpPr txBox="1">
            <a:spLocks/>
          </p:cNvSpPr>
          <p:nvPr/>
        </p:nvSpPr>
        <p:spPr>
          <a:xfrm>
            <a:off x="191344" y="1285860"/>
            <a:ext cx="10262374" cy="3007236"/>
          </a:xfrm>
          <a:prstGeom prst="rect">
            <a:avLst/>
          </a:prstGeom>
        </p:spPr>
        <p:txBody>
          <a:bodyPr vert="horz" lIns="91440" tIns="45720" rIns="91440" bIns="45720" rtlCol="0">
            <a:noAutofit/>
          </a:bodyPr>
          <a:lstStyle>
            <a:lvl1pPr marL="342900" indent="-342900" algn="just" defTabSz="914400" rtl="0" eaLnBrk="1" latinLnBrk="0" hangingPunct="1">
              <a:spcBef>
                <a:spcPct val="20000"/>
              </a:spcBef>
              <a:buFont typeface="Arial" pitchFamily="34" charset="0"/>
              <a:buNone/>
              <a:defRPr sz="3200" kern="1200">
                <a:solidFill>
                  <a:schemeClr val="tx1"/>
                </a:solidFill>
                <a:latin typeface="Times New Roman" pitchFamily="18" charset="0"/>
                <a:ea typeface="+mn-ea"/>
                <a:cs typeface="Times New Roman" pitchFamily="18" charset="0"/>
              </a:defRPr>
            </a:lvl1pPr>
            <a:lvl2pPr marL="742950" indent="-285750" algn="just" defTabSz="914400" rtl="0" eaLnBrk="1" latinLnBrk="0" hangingPunct="1">
              <a:spcBef>
                <a:spcPct val="20000"/>
              </a:spcBef>
              <a:buFont typeface="Wingdings" pitchFamily="2" charset="2"/>
              <a:buChar char="Ø"/>
              <a:defRPr sz="2800" kern="1200">
                <a:solidFill>
                  <a:schemeClr val="tx1"/>
                </a:solidFill>
                <a:latin typeface="Times New Roman" pitchFamily="18" charset="0"/>
                <a:ea typeface="+mn-ea"/>
                <a:cs typeface="Times New Roman" pitchFamily="18" charset="0"/>
              </a:defRPr>
            </a:lvl2pPr>
            <a:lvl3pPr marL="1143000" indent="-228600" algn="just" defTabSz="914400" rtl="0" eaLnBrk="1" latinLnBrk="0" hangingPunct="1">
              <a:spcBef>
                <a:spcPct val="20000"/>
              </a:spcBef>
              <a:buFont typeface="Wingdings" pitchFamily="2" charset="2"/>
              <a:buChar char="v"/>
              <a:defRPr sz="2400" kern="1200">
                <a:solidFill>
                  <a:schemeClr val="tx1"/>
                </a:solidFill>
                <a:latin typeface="Times New Roman" pitchFamily="18" charset="0"/>
                <a:ea typeface="+mn-ea"/>
                <a:cs typeface="Times New Roman" pitchFamily="18" charset="0"/>
              </a:defRPr>
            </a:lvl3pPr>
            <a:lvl4pPr marL="1600200" indent="-228600" algn="just" defTabSz="914400" rtl="0" eaLnBrk="1" latinLnBrk="0" hangingPunct="1">
              <a:spcBef>
                <a:spcPct val="20000"/>
              </a:spcBef>
              <a:buFont typeface="Wingdings" pitchFamily="2" charset="2"/>
              <a:buChar char="§"/>
              <a:defRPr sz="2000" kern="1200">
                <a:solidFill>
                  <a:schemeClr val="tx1"/>
                </a:solidFill>
                <a:latin typeface="Times New Roman" pitchFamily="18" charset="0"/>
                <a:ea typeface="+mn-ea"/>
                <a:cs typeface="Times New Roman" pitchFamily="18" charset="0"/>
              </a:defRPr>
            </a:lvl4pPr>
            <a:lvl5pPr marL="2057400" indent="-228600" algn="just" defTabSz="914400" rtl="0" eaLnBrk="1" latinLnBrk="0" hangingPunct="1">
              <a:spcBef>
                <a:spcPct val="20000"/>
              </a:spcBef>
              <a:buFont typeface="Courier New" pitchFamily="49" charset="0"/>
              <a:buChar char="o"/>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altLang="zh-TW" sz="2800" dirty="0">
                <a:solidFill>
                  <a:srgbClr val="00B050"/>
                </a:solidFill>
              </a:rPr>
              <a:t>% Load the sample data, which includes Fisher's iris data of 5 measurements on a sample of 150 irises. </a:t>
            </a:r>
          </a:p>
          <a:p>
            <a:pPr>
              <a:lnSpc>
                <a:spcPct val="90000"/>
              </a:lnSpc>
            </a:pPr>
            <a:r>
              <a:rPr lang="en-US" altLang="zh-TW" sz="2800" dirty="0">
                <a:latin typeface="Arial" pitchFamily="34" charset="0"/>
                <a:cs typeface="Arial" pitchFamily="34" charset="0"/>
              </a:rPr>
              <a:t>&gt;&gt; load </a:t>
            </a:r>
            <a:r>
              <a:rPr lang="en-US" altLang="zh-TW" sz="2800" dirty="0" err="1">
                <a:latin typeface="Arial" pitchFamily="34" charset="0"/>
                <a:cs typeface="Arial" pitchFamily="34" charset="0"/>
              </a:rPr>
              <a:t>fisheriris</a:t>
            </a:r>
            <a:r>
              <a:rPr lang="en-US" altLang="zh-TW" sz="2800" dirty="0">
                <a:latin typeface="Arial" pitchFamily="34" charset="0"/>
                <a:cs typeface="Arial" pitchFamily="34" charset="0"/>
              </a:rPr>
              <a:t> </a:t>
            </a:r>
          </a:p>
          <a:p>
            <a:pPr>
              <a:lnSpc>
                <a:spcPct val="90000"/>
              </a:lnSpc>
            </a:pPr>
            <a:r>
              <a:rPr lang="en-US" altLang="zh-TW" sz="2400" dirty="0">
                <a:solidFill>
                  <a:schemeClr val="tx2"/>
                </a:solidFill>
              </a:rPr>
              <a:t>&gt;&gt; </a:t>
            </a:r>
            <a:r>
              <a:rPr lang="en-US" altLang="zh-TW" sz="2400" dirty="0" err="1">
                <a:solidFill>
                  <a:schemeClr val="tx2"/>
                </a:solidFill>
              </a:rPr>
              <a:t>whos</a:t>
            </a:r>
            <a:endParaRPr lang="en-US" altLang="zh-TW" sz="2400" dirty="0">
              <a:solidFill>
                <a:schemeClr val="tx2"/>
              </a:solidFill>
            </a:endParaRPr>
          </a:p>
          <a:p>
            <a:pPr>
              <a:lnSpc>
                <a:spcPct val="90000"/>
              </a:lnSpc>
            </a:pPr>
            <a:r>
              <a:rPr lang="en-US" altLang="zh-TW" sz="2000" dirty="0">
                <a:solidFill>
                  <a:schemeClr val="tx2"/>
                </a:solidFill>
              </a:rPr>
              <a:t>  Name           Size            Bytes     Class     Attributes</a:t>
            </a:r>
          </a:p>
          <a:p>
            <a:pPr>
              <a:lnSpc>
                <a:spcPct val="90000"/>
              </a:lnSpc>
            </a:pPr>
            <a:r>
              <a:rPr lang="en-US" altLang="zh-TW" sz="2000" dirty="0">
                <a:solidFill>
                  <a:schemeClr val="tx2"/>
                </a:solidFill>
              </a:rPr>
              <a:t>  </a:t>
            </a:r>
            <a:r>
              <a:rPr lang="en-US" altLang="zh-TW" sz="2000" dirty="0" err="1">
                <a:solidFill>
                  <a:schemeClr val="tx2"/>
                </a:solidFill>
              </a:rPr>
              <a:t>meas</a:t>
            </a:r>
            <a:r>
              <a:rPr lang="en-US" altLang="zh-TW" sz="2000" dirty="0">
                <a:solidFill>
                  <a:schemeClr val="tx2"/>
                </a:solidFill>
              </a:rPr>
              <a:t>         150x4              4800    double              </a:t>
            </a:r>
          </a:p>
          <a:p>
            <a:pPr>
              <a:lnSpc>
                <a:spcPct val="90000"/>
              </a:lnSpc>
            </a:pPr>
            <a:r>
              <a:rPr lang="en-US" altLang="zh-TW" sz="2000" dirty="0">
                <a:solidFill>
                  <a:schemeClr val="tx2"/>
                </a:solidFill>
              </a:rPr>
              <a:t>  species      150x1             19300   cell </a:t>
            </a:r>
          </a:p>
        </p:txBody>
      </p:sp>
      <p:sp>
        <p:nvSpPr>
          <p:cNvPr id="8" name="Rectangle 7"/>
          <p:cNvSpPr/>
          <p:nvPr/>
        </p:nvSpPr>
        <p:spPr>
          <a:xfrm>
            <a:off x="9912424" y="2586384"/>
            <a:ext cx="2160240" cy="4154984"/>
          </a:xfrm>
          <a:prstGeom prst="rect">
            <a:avLst/>
          </a:prstGeom>
          <a:solidFill>
            <a:srgbClr val="92D050"/>
          </a:solidFill>
        </p:spPr>
        <p:txBody>
          <a:bodyPr wrap="square">
            <a:spAutoFit/>
          </a:bodyPr>
          <a:lstStyle/>
          <a:p>
            <a:r>
              <a:rPr lang="en-US" sz="2400" dirty="0">
                <a:latin typeface="Times New Roman" pitchFamily="18" charset="0"/>
                <a:cs typeface="Times New Roman" pitchFamily="18" charset="0"/>
              </a:rPr>
              <a:t>&gt;&gt; species</a:t>
            </a:r>
          </a:p>
          <a:p>
            <a:r>
              <a:rPr lang="en-US" sz="2400" dirty="0">
                <a:latin typeface="Times New Roman" pitchFamily="18" charset="0"/>
                <a:cs typeface="Times New Roman" pitchFamily="18" charset="0"/>
              </a:rPr>
              <a:t>species = </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setosa</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setosa</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versicolor</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versicolor</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virginica</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virginica</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     -------</a:t>
            </a:r>
          </a:p>
        </p:txBody>
      </p:sp>
      <p:sp>
        <p:nvSpPr>
          <p:cNvPr id="9" name="Rectangle 8"/>
          <p:cNvSpPr/>
          <p:nvPr/>
        </p:nvSpPr>
        <p:spPr>
          <a:xfrm>
            <a:off x="4871864" y="4077072"/>
            <a:ext cx="4824536" cy="2677656"/>
          </a:xfrm>
          <a:prstGeom prst="rect">
            <a:avLst/>
          </a:prstGeom>
          <a:solidFill>
            <a:srgbClr val="92D050"/>
          </a:solidFill>
        </p:spPr>
        <p:txBody>
          <a:bodyPr wrap="square">
            <a:spAutoFit/>
          </a:bodyPr>
          <a:lstStyle/>
          <a:p>
            <a:r>
              <a:rPr lang="en-US" sz="2400" dirty="0">
                <a:latin typeface="Times New Roman" pitchFamily="18" charset="0"/>
                <a:cs typeface="Times New Roman" pitchFamily="18" charset="0"/>
              </a:rPr>
              <a:t>&gt;&gt; </a:t>
            </a:r>
            <a:r>
              <a:rPr lang="en-US" sz="2400" dirty="0" err="1">
                <a:latin typeface="Times New Roman" pitchFamily="18" charset="0"/>
                <a:cs typeface="Times New Roman" pitchFamily="18" charset="0"/>
              </a:rPr>
              <a:t>meas</a:t>
            </a:r>
            <a:endParaRPr lang="en-US" sz="2400" dirty="0">
              <a:latin typeface="Times New Roman" pitchFamily="18" charset="0"/>
              <a:cs typeface="Times New Roman" pitchFamily="18" charset="0"/>
            </a:endParaRPr>
          </a:p>
          <a:p>
            <a:r>
              <a:rPr lang="en-US" sz="2400" dirty="0" err="1">
                <a:latin typeface="Times New Roman" pitchFamily="18" charset="0"/>
                <a:cs typeface="Times New Roman" pitchFamily="18" charset="0"/>
              </a:rPr>
              <a:t>meas</a:t>
            </a:r>
            <a:r>
              <a:rPr lang="en-US" sz="2400" dirty="0">
                <a:latin typeface="Times New Roman" pitchFamily="18" charset="0"/>
                <a:cs typeface="Times New Roman" pitchFamily="18" charset="0"/>
              </a:rPr>
              <a:t> =</a:t>
            </a:r>
            <a:endParaRPr lang="en-US" sz="2000" dirty="0">
              <a:latin typeface="Times New Roman" pitchFamily="18" charset="0"/>
              <a:cs typeface="Times New Roman" pitchFamily="18" charset="0"/>
            </a:endParaRPr>
          </a:p>
          <a:p>
            <a:r>
              <a:rPr lang="en-US" sz="2400" dirty="0">
                <a:latin typeface="Times New Roman" pitchFamily="18" charset="0"/>
                <a:cs typeface="Times New Roman" pitchFamily="18" charset="0"/>
              </a:rPr>
              <a:t>    5.1000    3.5000    1.4000    0.2000</a:t>
            </a:r>
          </a:p>
          <a:p>
            <a:pPr>
              <a:lnSpc>
                <a:spcPct val="80000"/>
              </a:lnSpc>
            </a:pPr>
            <a:r>
              <a:rPr lang="en-US" sz="2400" dirty="0">
                <a:latin typeface="Times New Roman" pitchFamily="18" charset="0"/>
                <a:cs typeface="Times New Roman" pitchFamily="18" charset="0"/>
              </a:rPr>
              <a:t>    4.9000    3.0000    1.4000    0.2000</a:t>
            </a:r>
          </a:p>
          <a:p>
            <a:pPr>
              <a:lnSpc>
                <a:spcPct val="80000"/>
              </a:lnSpc>
            </a:pPr>
            <a:r>
              <a:rPr lang="en-US" sz="2400" dirty="0">
                <a:latin typeface="Times New Roman" pitchFamily="18" charset="0"/>
                <a:cs typeface="Times New Roman" pitchFamily="18" charset="0"/>
              </a:rPr>
              <a:t>    4.7000    3.2000    1.3000    0.2000</a:t>
            </a:r>
          </a:p>
          <a:p>
            <a:pPr>
              <a:lnSpc>
                <a:spcPct val="80000"/>
              </a:lnSpc>
            </a:pPr>
            <a:r>
              <a:rPr lang="en-US" sz="2400" dirty="0">
                <a:latin typeface="Times New Roman" pitchFamily="18" charset="0"/>
                <a:cs typeface="Times New Roman" pitchFamily="18" charset="0"/>
              </a:rPr>
              <a:t>    4.6000    3.1000    1.5000    0.2000</a:t>
            </a:r>
          </a:p>
          <a:p>
            <a:pPr>
              <a:lnSpc>
                <a:spcPct val="80000"/>
              </a:lnSpc>
            </a:pPr>
            <a:r>
              <a:rPr lang="en-US" sz="2400" dirty="0">
                <a:latin typeface="Times New Roman" pitchFamily="18" charset="0"/>
                <a:cs typeface="Times New Roman" pitchFamily="18" charset="0"/>
              </a:rPr>
              <a:t>    5.0000    3.6000    1.4000    0.2000</a:t>
            </a:r>
          </a:p>
          <a:p>
            <a:pPr>
              <a:lnSpc>
                <a:spcPct val="80000"/>
              </a:lnSpc>
            </a:pPr>
            <a:r>
              <a:rPr lang="en-US" sz="2400" dirty="0">
                <a:latin typeface="Times New Roman" pitchFamily="18" charset="0"/>
                <a:cs typeface="Times New Roman" pitchFamily="18" charset="0"/>
              </a:rPr>
              <a:t>    --------     -------      -------     --------</a:t>
            </a:r>
          </a:p>
        </p:txBody>
      </p:sp>
      <p:sp>
        <p:nvSpPr>
          <p:cNvPr id="5" name="Rounded Rectangle 4"/>
          <p:cNvSpPr/>
          <p:nvPr/>
        </p:nvSpPr>
        <p:spPr>
          <a:xfrm>
            <a:off x="7464152" y="4797152"/>
            <a:ext cx="2160240" cy="187220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9912424" y="2586384"/>
            <a:ext cx="1800200" cy="408297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364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5"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3352" y="1268761"/>
            <a:ext cx="9865096" cy="5262979"/>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&gt;&gt; x = </a:t>
            </a:r>
            <a:r>
              <a:rPr lang="en-US" sz="2400" dirty="0" err="1">
                <a:latin typeface="Arial" panose="020B0604020202020204" pitchFamily="34" charset="0"/>
                <a:cs typeface="Arial" panose="020B0604020202020204" pitchFamily="34" charset="0"/>
              </a:rPr>
              <a:t>meas</a:t>
            </a:r>
            <a:r>
              <a:rPr lang="en-US" sz="2400" dirty="0">
                <a:latin typeface="Arial" panose="020B0604020202020204" pitchFamily="34" charset="0"/>
                <a:cs typeface="Arial" panose="020B0604020202020204" pitchFamily="34" charset="0"/>
              </a:rPr>
              <a:t>(:, 3:4); </a:t>
            </a:r>
            <a:r>
              <a:rPr lang="en-US" sz="2400" dirty="0">
                <a:solidFill>
                  <a:srgbClr val="00B050"/>
                </a:solidFill>
                <a:latin typeface="Arial" panose="020B0604020202020204" pitchFamily="34" charset="0"/>
                <a:cs typeface="Arial" panose="020B0604020202020204" pitchFamily="34" charset="0"/>
              </a:rPr>
              <a:t>% use data of last 2 columns for fitting</a:t>
            </a:r>
          </a:p>
          <a:p>
            <a:r>
              <a:rPr lang="en-US" sz="2400" dirty="0">
                <a:latin typeface="Arial" panose="020B0604020202020204" pitchFamily="34" charset="0"/>
                <a:cs typeface="Arial" panose="020B0604020202020204" pitchFamily="34" charset="0"/>
              </a:rPr>
              <a:t>&gt;&gt; y = species; </a:t>
            </a:r>
            <a:r>
              <a:rPr lang="en-US" sz="2400" dirty="0">
                <a:solidFill>
                  <a:srgbClr val="00B050"/>
                </a:solidFill>
                <a:latin typeface="Arial" panose="020B0604020202020204" pitchFamily="34" charset="0"/>
                <a:cs typeface="Arial" panose="020B0604020202020204" pitchFamily="34" charset="0"/>
              </a:rPr>
              <a:t>% response data</a:t>
            </a:r>
          </a:p>
          <a:p>
            <a:r>
              <a:rPr lang="en-US" sz="2400" dirty="0">
                <a:latin typeface="Arial" panose="020B0604020202020204" pitchFamily="34" charset="0"/>
                <a:cs typeface="Arial" panose="020B0604020202020204" pitchFamily="34" charset="0"/>
              </a:rPr>
              <a:t>&gt;&gt; mdl = </a:t>
            </a:r>
            <a:r>
              <a:rPr lang="en-US" sz="2400" dirty="0" err="1">
                <a:latin typeface="Arial" panose="020B0604020202020204" pitchFamily="34" charset="0"/>
                <a:cs typeface="Arial" panose="020B0604020202020204" pitchFamily="34" charset="0"/>
              </a:rPr>
              <a:t>ClassificationKNN.fit</a:t>
            </a:r>
            <a:r>
              <a:rPr lang="en-US" sz="2400" dirty="0">
                <a:latin typeface="Arial" panose="020B0604020202020204" pitchFamily="34" charset="0"/>
                <a:cs typeface="Arial" panose="020B0604020202020204" pitchFamily="34" charset="0"/>
              </a:rPr>
              <a:t>(x, y) </a:t>
            </a:r>
            <a:r>
              <a:rPr lang="en-US" sz="2400" dirty="0">
                <a:solidFill>
                  <a:srgbClr val="00B050"/>
                </a:solidFill>
                <a:latin typeface="Arial" panose="020B0604020202020204" pitchFamily="34" charset="0"/>
                <a:cs typeface="Arial" panose="020B0604020202020204" pitchFamily="34" charset="0"/>
              </a:rPr>
              <a:t>% 1NN</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mdl = </a:t>
            </a:r>
          </a:p>
          <a:p>
            <a:endParaRPr lang="en-US" sz="2400" dirty="0">
              <a:latin typeface="Arial" panose="020B0604020202020204" pitchFamily="34" charset="0"/>
              <a:cs typeface="Arial" panose="020B0604020202020204" pitchFamily="34" charset="0"/>
            </a:endParaRPr>
          </a:p>
          <a:p>
            <a:r>
              <a:rPr lang="en-US" sz="2400" dirty="0" err="1">
                <a:latin typeface="Arial" panose="020B0604020202020204" pitchFamily="34" charset="0"/>
                <a:cs typeface="Arial" panose="020B0604020202020204" pitchFamily="34" charset="0"/>
              </a:rPr>
              <a:t>ClassificationKNN</a:t>
            </a:r>
            <a:r>
              <a:rPr lang="en-US" sz="2400" dirty="0">
                <a:latin typeface="Arial" panose="020B0604020202020204" pitchFamily="34" charset="0"/>
                <a:cs typeface="Arial" panose="020B0604020202020204" pitchFamily="34" charset="0"/>
              </a:rPr>
              <a:t>:</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PredictorNames</a:t>
            </a:r>
            <a:r>
              <a:rPr lang="en-US" sz="2400" dirty="0">
                <a:latin typeface="Arial" panose="020B0604020202020204" pitchFamily="34" charset="0"/>
                <a:cs typeface="Arial" panose="020B0604020202020204" pitchFamily="34" charset="0"/>
              </a:rPr>
              <a:t>: {'x1'  'x2'}</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ResponseName</a:t>
            </a:r>
            <a:r>
              <a:rPr lang="en-US" sz="2400" dirty="0">
                <a:latin typeface="Arial" panose="020B0604020202020204" pitchFamily="34" charset="0"/>
                <a:cs typeface="Arial" panose="020B0604020202020204" pitchFamily="34" charset="0"/>
              </a:rPr>
              <a:t>: 'Y'</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ClassNames</a:t>
            </a:r>
            <a:r>
              <a:rPr lang="en-US" sz="2400" dirty="0">
                <a:latin typeface="Arial" panose="020B0604020202020204" pitchFamily="34" charset="0"/>
                <a:cs typeface="Arial" panose="020B0604020202020204" pitchFamily="34" charset="0"/>
              </a:rPr>
              <a:t>: {1x3 cell}</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ScoreTransform</a:t>
            </a:r>
            <a:r>
              <a:rPr lang="en-US" sz="2400" dirty="0">
                <a:latin typeface="Arial" panose="020B0604020202020204" pitchFamily="34" charset="0"/>
                <a:cs typeface="Arial" panose="020B0604020202020204" pitchFamily="34" charset="0"/>
              </a:rPr>
              <a:t>: 'none'</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NObservations</a:t>
            </a:r>
            <a:r>
              <a:rPr lang="en-US" sz="2400" dirty="0">
                <a:latin typeface="Arial" panose="020B0604020202020204" pitchFamily="34" charset="0"/>
                <a:cs typeface="Arial" panose="020B0604020202020204" pitchFamily="34" charset="0"/>
              </a:rPr>
              <a:t>: 150</a:t>
            </a:r>
          </a:p>
          <a:p>
            <a:r>
              <a:rPr lang="en-US" sz="2400" dirty="0">
                <a:latin typeface="Arial" panose="020B0604020202020204" pitchFamily="34" charset="0"/>
                <a:cs typeface="Arial" panose="020B0604020202020204" pitchFamily="34" charset="0"/>
              </a:rPr>
              <a:t>          Distance: '</a:t>
            </a:r>
            <a:r>
              <a:rPr lang="en-US" sz="2400" dirty="0" err="1">
                <a:latin typeface="Arial" panose="020B0604020202020204" pitchFamily="34" charset="0"/>
                <a:cs typeface="Arial" panose="020B0604020202020204" pitchFamily="34" charset="0"/>
              </a:rPr>
              <a:t>euclidean</a:t>
            </a:r>
            <a:r>
              <a:rPr lang="en-US" sz="2400" dirty="0">
                <a:latin typeface="Arial" panose="020B0604020202020204" pitchFamily="34" charset="0"/>
                <a:cs typeface="Arial" panose="020B0604020202020204" pitchFamily="34" charset="0"/>
              </a:rPr>
              <a:t>'</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NumNeighbors</a:t>
            </a:r>
            <a:r>
              <a:rPr lang="en-US" sz="2400" dirty="0">
                <a:latin typeface="Arial" panose="020B0604020202020204" pitchFamily="34" charset="0"/>
                <a:cs typeface="Arial" panose="020B0604020202020204" pitchFamily="34" charset="0"/>
              </a:rPr>
              <a:t>: 1</a:t>
            </a:r>
          </a:p>
        </p:txBody>
      </p:sp>
      <p:sp>
        <p:nvSpPr>
          <p:cNvPr id="10" name="Title 1"/>
          <p:cNvSpPr>
            <a:spLocks noGrp="1"/>
          </p:cNvSpPr>
          <p:nvPr>
            <p:ph type="title"/>
          </p:nvPr>
        </p:nvSpPr>
        <p:spPr>
          <a:xfrm>
            <a:off x="191344" y="71414"/>
            <a:ext cx="9361040" cy="928694"/>
          </a:xfrm>
        </p:spPr>
        <p:txBody>
          <a:bodyPr>
            <a:normAutofit/>
          </a:bodyPr>
          <a:lstStyle/>
          <a:p>
            <a:r>
              <a:rPr lang="en-US" sz="4000" dirty="0"/>
              <a:t>Example: Code…</a:t>
            </a:r>
          </a:p>
        </p:txBody>
      </p:sp>
    </p:spTree>
    <p:extLst>
      <p:ext uri="{BB962C8B-B14F-4D97-AF65-F5344CB8AC3E}">
        <p14:creationId xmlns:p14="http://schemas.microsoft.com/office/powerpoint/2010/main" val="42560842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1344" y="1268760"/>
            <a:ext cx="8280920" cy="2677656"/>
          </a:xfrm>
          <a:prstGeom prst="rect">
            <a:avLst/>
          </a:prstGeom>
        </p:spPr>
        <p:txBody>
          <a:bodyPr wrap="square">
            <a:spAutoFit/>
          </a:bodyPr>
          <a:lstStyle/>
          <a:p>
            <a:r>
              <a:rPr lang="en-GB" sz="2400" dirty="0">
                <a:solidFill>
                  <a:srgbClr val="00B050"/>
                </a:solidFill>
                <a:latin typeface="Arial" panose="020B0604020202020204" pitchFamily="34" charset="0"/>
                <a:cs typeface="Arial" panose="020B0604020202020204" pitchFamily="34" charset="0"/>
              </a:rPr>
              <a:t>% Predict the classification of an average flower</a:t>
            </a:r>
          </a:p>
          <a:p>
            <a:r>
              <a:rPr lang="en-GB" sz="2400" dirty="0">
                <a:latin typeface="Arial" panose="020B0604020202020204" pitchFamily="34" charset="0"/>
                <a:cs typeface="Arial" panose="020B0604020202020204" pitchFamily="34" charset="0"/>
              </a:rPr>
              <a:t>&gt;&gt; </a:t>
            </a:r>
            <a:r>
              <a:rPr lang="en-GB" sz="2400" dirty="0" err="1">
                <a:latin typeface="Arial" panose="020B0604020202020204" pitchFamily="34" charset="0"/>
                <a:cs typeface="Arial" panose="020B0604020202020204" pitchFamily="34" charset="0"/>
              </a:rPr>
              <a:t>flwr</a:t>
            </a:r>
            <a:r>
              <a:rPr lang="en-GB" sz="2400" dirty="0">
                <a:latin typeface="Arial" panose="020B0604020202020204" pitchFamily="34" charset="0"/>
                <a:cs typeface="Arial" panose="020B0604020202020204" pitchFamily="34" charset="0"/>
              </a:rPr>
              <a:t> = mean(x) </a:t>
            </a:r>
            <a:r>
              <a:rPr lang="en-GB" sz="2400" dirty="0">
                <a:solidFill>
                  <a:srgbClr val="00B050"/>
                </a:solidFill>
                <a:latin typeface="Arial" panose="020B0604020202020204" pitchFamily="34" charset="0"/>
                <a:cs typeface="Arial" panose="020B0604020202020204" pitchFamily="34" charset="0"/>
              </a:rPr>
              <a:t>% an average flower</a:t>
            </a:r>
          </a:p>
          <a:p>
            <a:r>
              <a:rPr lang="en-GB" sz="2400" dirty="0" err="1">
                <a:latin typeface="Arial" panose="020B0604020202020204" pitchFamily="34" charset="0"/>
                <a:cs typeface="Arial" panose="020B0604020202020204" pitchFamily="34" charset="0"/>
              </a:rPr>
              <a:t>flwr</a:t>
            </a:r>
            <a:r>
              <a:rPr lang="en-GB" sz="2400" dirty="0">
                <a:latin typeface="Arial" panose="020B0604020202020204" pitchFamily="34" charset="0"/>
                <a:cs typeface="Arial" panose="020B0604020202020204" pitchFamily="34" charset="0"/>
              </a:rPr>
              <a:t> =</a:t>
            </a:r>
          </a:p>
          <a:p>
            <a:r>
              <a:rPr lang="en-GB" sz="2400" dirty="0">
                <a:latin typeface="Arial" panose="020B0604020202020204" pitchFamily="34" charset="0"/>
                <a:cs typeface="Arial" panose="020B0604020202020204" pitchFamily="34" charset="0"/>
              </a:rPr>
              <a:t>    3.7580    1.1993</a:t>
            </a:r>
          </a:p>
          <a:p>
            <a:r>
              <a:rPr lang="en-GB" sz="2400" dirty="0">
                <a:latin typeface="Arial" panose="020B0604020202020204" pitchFamily="34" charset="0"/>
                <a:cs typeface="Arial" panose="020B0604020202020204" pitchFamily="34" charset="0"/>
              </a:rPr>
              <a:t>&gt;&gt; </a:t>
            </a:r>
            <a:r>
              <a:rPr lang="en-GB" sz="2400" dirty="0" err="1">
                <a:latin typeface="Arial" panose="020B0604020202020204" pitchFamily="34" charset="0"/>
                <a:cs typeface="Arial" panose="020B0604020202020204" pitchFamily="34" charset="0"/>
              </a:rPr>
              <a:t>flwrClass</a:t>
            </a:r>
            <a:r>
              <a:rPr lang="en-GB" sz="2400" dirty="0">
                <a:latin typeface="Arial" panose="020B0604020202020204" pitchFamily="34" charset="0"/>
                <a:cs typeface="Arial" panose="020B0604020202020204" pitchFamily="34" charset="0"/>
              </a:rPr>
              <a:t> = predict(mdl, </a:t>
            </a:r>
            <a:r>
              <a:rPr lang="en-GB" sz="2400" dirty="0" err="1">
                <a:latin typeface="Arial" panose="020B0604020202020204" pitchFamily="34" charset="0"/>
                <a:cs typeface="Arial" panose="020B0604020202020204" pitchFamily="34" charset="0"/>
              </a:rPr>
              <a:t>flwr</a:t>
            </a:r>
            <a:r>
              <a:rPr lang="en-GB" sz="2400" dirty="0">
                <a:latin typeface="Arial" panose="020B0604020202020204" pitchFamily="34" charset="0"/>
                <a:cs typeface="Arial" panose="020B0604020202020204" pitchFamily="34" charset="0"/>
              </a:rPr>
              <a:t>)</a:t>
            </a:r>
          </a:p>
          <a:p>
            <a:r>
              <a:rPr lang="en-GB" sz="2400" dirty="0" err="1">
                <a:latin typeface="Arial" panose="020B0604020202020204" pitchFamily="34" charset="0"/>
                <a:cs typeface="Arial" panose="020B0604020202020204" pitchFamily="34" charset="0"/>
              </a:rPr>
              <a:t>flwrClass</a:t>
            </a:r>
            <a:r>
              <a:rPr lang="en-GB" sz="2400" dirty="0">
                <a:latin typeface="Arial" panose="020B0604020202020204" pitchFamily="34" charset="0"/>
                <a:cs typeface="Arial" panose="020B0604020202020204" pitchFamily="34" charset="0"/>
              </a:rPr>
              <a:t> = </a:t>
            </a:r>
          </a:p>
          <a:p>
            <a:r>
              <a:rPr lang="en-GB" sz="2400" dirty="0">
                <a:latin typeface="Arial" panose="020B0604020202020204" pitchFamily="34" charset="0"/>
                <a:cs typeface="Arial" panose="020B0604020202020204" pitchFamily="34" charset="0"/>
              </a:rPr>
              <a:t>    'versicolor‘</a:t>
            </a:r>
          </a:p>
        </p:txBody>
      </p:sp>
      <p:sp>
        <p:nvSpPr>
          <p:cNvPr id="10" name="Title 1"/>
          <p:cNvSpPr>
            <a:spLocks noGrp="1"/>
          </p:cNvSpPr>
          <p:nvPr>
            <p:ph type="title"/>
          </p:nvPr>
        </p:nvSpPr>
        <p:spPr>
          <a:xfrm>
            <a:off x="191344" y="71414"/>
            <a:ext cx="9361040" cy="928694"/>
          </a:xfrm>
        </p:spPr>
        <p:txBody>
          <a:bodyPr>
            <a:normAutofit/>
          </a:bodyPr>
          <a:lstStyle/>
          <a:p>
            <a:r>
              <a:rPr lang="en-US" sz="4000" dirty="0"/>
              <a:t>Example: Code…</a:t>
            </a:r>
          </a:p>
        </p:txBody>
      </p:sp>
      <p:pic>
        <p:nvPicPr>
          <p:cNvPr id="2" name="Picture 1"/>
          <p:cNvPicPr>
            <a:picLocks noChangeAspect="1"/>
          </p:cNvPicPr>
          <p:nvPr/>
        </p:nvPicPr>
        <p:blipFill rotWithShape="1">
          <a:blip r:embed="rId3"/>
          <a:srcRect l="4866" r="38053" b="37583"/>
          <a:stretch/>
        </p:blipFill>
        <p:spPr>
          <a:xfrm>
            <a:off x="6384033" y="1739342"/>
            <a:ext cx="5760640" cy="4713994"/>
          </a:xfrm>
          <a:prstGeom prst="rect">
            <a:avLst/>
          </a:prstGeom>
        </p:spPr>
      </p:pic>
      <p:sp>
        <p:nvSpPr>
          <p:cNvPr id="5" name="Rectangle 4"/>
          <p:cNvSpPr/>
          <p:nvPr/>
        </p:nvSpPr>
        <p:spPr>
          <a:xfrm>
            <a:off x="119336" y="4581128"/>
            <a:ext cx="6120680" cy="1815882"/>
          </a:xfrm>
          <a:prstGeom prst="rect">
            <a:avLst/>
          </a:prstGeom>
          <a:ln w="9525">
            <a:solidFill>
              <a:schemeClr val="tx1"/>
            </a:solidFill>
          </a:ln>
        </p:spPr>
        <p:txBody>
          <a:bodyPr wrap="square">
            <a:spAutoFit/>
          </a:bodyPr>
          <a:lstStyle/>
          <a:p>
            <a:r>
              <a:rPr lang="en-US" sz="2800" dirty="0"/>
              <a:t>&gt;&gt; </a:t>
            </a:r>
            <a:r>
              <a:rPr lang="en-US" sz="2800" dirty="0" err="1"/>
              <a:t>gscatter</a:t>
            </a:r>
            <a:r>
              <a:rPr lang="en-US" sz="2800" dirty="0"/>
              <a:t>(x(:, 1), x(:, 2), species)</a:t>
            </a:r>
          </a:p>
          <a:p>
            <a:r>
              <a:rPr lang="en-US" sz="2800" dirty="0"/>
              <a:t>&gt;&gt; set(legend, 'location', 'best')</a:t>
            </a:r>
          </a:p>
          <a:p>
            <a:r>
              <a:rPr lang="en-US" sz="2800" dirty="0"/>
              <a:t>&gt;&gt; line(</a:t>
            </a:r>
            <a:r>
              <a:rPr lang="en-US" sz="2800" dirty="0" err="1"/>
              <a:t>flwr</a:t>
            </a:r>
            <a:r>
              <a:rPr lang="en-US" sz="2800" dirty="0"/>
              <a:t>(1), </a:t>
            </a:r>
            <a:r>
              <a:rPr lang="en-US" sz="2800" dirty="0" err="1"/>
              <a:t>flwr</a:t>
            </a:r>
            <a:r>
              <a:rPr lang="en-US" sz="2800" dirty="0"/>
              <a:t>(2), 'marker', 'x', 'color', 'k', '</a:t>
            </a:r>
            <a:r>
              <a:rPr lang="en-US" sz="2800" dirty="0" err="1"/>
              <a:t>markersize</a:t>
            </a:r>
            <a:r>
              <a:rPr lang="en-US" sz="2800" dirty="0"/>
              <a:t>', 10, 'linewidth', 2)</a:t>
            </a:r>
          </a:p>
        </p:txBody>
      </p:sp>
      <p:sp>
        <p:nvSpPr>
          <p:cNvPr id="3" name="TextBox 2"/>
          <p:cNvSpPr txBox="1"/>
          <p:nvPr/>
        </p:nvSpPr>
        <p:spPr>
          <a:xfrm>
            <a:off x="8904312" y="6413266"/>
            <a:ext cx="158417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Petal length</a:t>
            </a:r>
          </a:p>
        </p:txBody>
      </p:sp>
      <p:sp>
        <p:nvSpPr>
          <p:cNvPr id="7" name="TextBox 6"/>
          <p:cNvSpPr txBox="1"/>
          <p:nvPr/>
        </p:nvSpPr>
        <p:spPr>
          <a:xfrm rot="16200000">
            <a:off x="5571909" y="3336957"/>
            <a:ext cx="1512168"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Petal width</a:t>
            </a:r>
          </a:p>
        </p:txBody>
      </p:sp>
    </p:spTree>
    <p:extLst>
      <p:ext uri="{BB962C8B-B14F-4D97-AF65-F5344CB8AC3E}">
        <p14:creationId xmlns:p14="http://schemas.microsoft.com/office/powerpoint/2010/main" val="2664060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1344" y="1268761"/>
            <a:ext cx="10153128" cy="4524315"/>
          </a:xfrm>
          <a:prstGeom prst="rect">
            <a:avLst/>
          </a:prstGeom>
        </p:spPr>
        <p:txBody>
          <a:bodyPr wrap="square">
            <a:spAutoFit/>
          </a:bodyPr>
          <a:lstStyle/>
          <a:p>
            <a:r>
              <a:rPr lang="en-GB" sz="2400" dirty="0">
                <a:solidFill>
                  <a:srgbClr val="00B050"/>
                </a:solidFill>
                <a:latin typeface="Arial" panose="020B0604020202020204" pitchFamily="34" charset="0"/>
                <a:cs typeface="Arial" panose="020B0604020202020204" pitchFamily="34" charset="0"/>
              </a:rPr>
              <a:t>% Predict another flower</a:t>
            </a:r>
          </a:p>
          <a:p>
            <a:r>
              <a:rPr lang="en-GB" sz="2400" dirty="0">
                <a:latin typeface="Arial" panose="020B0604020202020204" pitchFamily="34" charset="0"/>
                <a:cs typeface="Arial" panose="020B0604020202020204" pitchFamily="34" charset="0"/>
              </a:rPr>
              <a:t>&gt;&gt; </a:t>
            </a:r>
            <a:r>
              <a:rPr lang="en-GB" sz="2400" dirty="0" err="1">
                <a:latin typeface="Arial" panose="020B0604020202020204" pitchFamily="34" charset="0"/>
                <a:cs typeface="Arial" panose="020B0604020202020204" pitchFamily="34" charset="0"/>
              </a:rPr>
              <a:t>flwr</a:t>
            </a:r>
            <a:r>
              <a:rPr lang="en-GB" sz="2400" dirty="0">
                <a:latin typeface="Arial" panose="020B0604020202020204" pitchFamily="34" charset="0"/>
                <a:cs typeface="Arial" panose="020B0604020202020204" pitchFamily="34" charset="0"/>
              </a:rPr>
              <a:t> = [5 1.55]; </a:t>
            </a:r>
            <a:r>
              <a:rPr lang="en-GB" sz="2400" dirty="0">
                <a:solidFill>
                  <a:srgbClr val="00B050"/>
                </a:solidFill>
                <a:latin typeface="Arial" panose="020B0604020202020204" pitchFamily="34" charset="0"/>
                <a:cs typeface="Arial" panose="020B0604020202020204" pitchFamily="34" charset="0"/>
              </a:rPr>
              <a:t>% Given (petal length, petal width)</a:t>
            </a:r>
          </a:p>
          <a:p>
            <a:r>
              <a:rPr lang="en-GB" sz="2400" dirty="0">
                <a:latin typeface="Arial" panose="020B0604020202020204" pitchFamily="34" charset="0"/>
                <a:cs typeface="Arial" panose="020B0604020202020204" pitchFamily="34" charset="0"/>
              </a:rPr>
              <a:t>&gt;&gt; </a:t>
            </a:r>
            <a:r>
              <a:rPr lang="en-GB" sz="2400" dirty="0" err="1">
                <a:latin typeface="Arial" panose="020B0604020202020204" pitchFamily="34" charset="0"/>
                <a:cs typeface="Arial" panose="020B0604020202020204" pitchFamily="34" charset="0"/>
              </a:rPr>
              <a:t>flwrClass</a:t>
            </a:r>
            <a:r>
              <a:rPr lang="en-GB" sz="2400" dirty="0">
                <a:latin typeface="Arial" panose="020B0604020202020204" pitchFamily="34" charset="0"/>
                <a:cs typeface="Arial" panose="020B0604020202020204" pitchFamily="34" charset="0"/>
              </a:rPr>
              <a:t> = predict(mdl, </a:t>
            </a:r>
            <a:r>
              <a:rPr lang="en-GB" sz="2400" dirty="0" err="1">
                <a:latin typeface="Arial" panose="020B0604020202020204" pitchFamily="34" charset="0"/>
                <a:cs typeface="Arial" panose="020B0604020202020204" pitchFamily="34" charset="0"/>
              </a:rPr>
              <a:t>flwr</a:t>
            </a:r>
            <a:r>
              <a:rPr lang="en-GB" sz="2400" dirty="0">
                <a:latin typeface="Arial" panose="020B0604020202020204" pitchFamily="34" charset="0"/>
                <a:cs typeface="Arial" panose="020B0604020202020204" pitchFamily="34" charset="0"/>
              </a:rPr>
              <a:t>) </a:t>
            </a:r>
            <a:r>
              <a:rPr lang="en-GB" sz="2400" dirty="0">
                <a:solidFill>
                  <a:srgbClr val="00B050"/>
                </a:solidFill>
                <a:latin typeface="Arial" panose="020B0604020202020204" pitchFamily="34" charset="0"/>
                <a:cs typeface="Arial" panose="020B0604020202020204" pitchFamily="34" charset="0"/>
              </a:rPr>
              <a:t>% prediction by 1NN</a:t>
            </a:r>
          </a:p>
          <a:p>
            <a:r>
              <a:rPr lang="en-GB" sz="2400" dirty="0" err="1">
                <a:latin typeface="Arial" panose="020B0604020202020204" pitchFamily="34" charset="0"/>
                <a:cs typeface="Arial" panose="020B0604020202020204" pitchFamily="34" charset="0"/>
              </a:rPr>
              <a:t>flwrClass</a:t>
            </a:r>
            <a:r>
              <a:rPr lang="en-GB" sz="2400" dirty="0">
                <a:latin typeface="Arial" panose="020B0604020202020204" pitchFamily="34" charset="0"/>
                <a:cs typeface="Arial" panose="020B0604020202020204" pitchFamily="34" charset="0"/>
              </a:rPr>
              <a:t> =</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    '</a:t>
            </a:r>
            <a:r>
              <a:rPr lang="en-GB" sz="2400" dirty="0" err="1">
                <a:latin typeface="Arial" panose="020B0604020202020204" pitchFamily="34" charset="0"/>
                <a:cs typeface="Arial" panose="020B0604020202020204" pitchFamily="34" charset="0"/>
              </a:rPr>
              <a:t>virginica</a:t>
            </a:r>
            <a:r>
              <a:rPr lang="en-GB" sz="2400" dirty="0">
                <a:latin typeface="Arial" panose="020B0604020202020204" pitchFamily="34" charset="0"/>
                <a:cs typeface="Arial" panose="020B0604020202020204" pitchFamily="34" charset="0"/>
              </a:rPr>
              <a:t>‘</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&gt;&gt; md5 = </a:t>
            </a:r>
            <a:r>
              <a:rPr lang="en-GB" sz="2400" dirty="0" err="1">
                <a:latin typeface="Arial" panose="020B0604020202020204" pitchFamily="34" charset="0"/>
                <a:cs typeface="Arial" panose="020B0604020202020204" pitchFamily="34" charset="0"/>
              </a:rPr>
              <a:t>ClassificationKNN.fit</a:t>
            </a:r>
            <a:r>
              <a:rPr lang="en-GB" sz="2400" dirty="0">
                <a:latin typeface="Arial" panose="020B0604020202020204" pitchFamily="34" charset="0"/>
                <a:cs typeface="Arial" panose="020B0604020202020204" pitchFamily="34" charset="0"/>
              </a:rPr>
              <a:t>(x,y,'NumNeighbors',5); </a:t>
            </a:r>
            <a:r>
              <a:rPr lang="en-US" sz="2400" dirty="0">
                <a:solidFill>
                  <a:srgbClr val="00B050"/>
                </a:solidFill>
                <a:latin typeface="Arial" panose="020B0604020202020204" pitchFamily="34" charset="0"/>
                <a:cs typeface="Arial" panose="020B0604020202020204" pitchFamily="34" charset="0"/>
              </a:rPr>
              <a:t>% 5NN</a:t>
            </a:r>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&gt;&gt; </a:t>
            </a:r>
            <a:r>
              <a:rPr lang="en-GB" sz="2400" dirty="0" err="1">
                <a:latin typeface="Arial" panose="020B0604020202020204" pitchFamily="34" charset="0"/>
                <a:cs typeface="Arial" panose="020B0604020202020204" pitchFamily="34" charset="0"/>
              </a:rPr>
              <a:t>flwrClass</a:t>
            </a:r>
            <a:r>
              <a:rPr lang="en-GB" sz="2400" dirty="0">
                <a:latin typeface="Arial" panose="020B0604020202020204" pitchFamily="34" charset="0"/>
                <a:cs typeface="Arial" panose="020B0604020202020204" pitchFamily="34" charset="0"/>
              </a:rPr>
              <a:t> = predict(md5, </a:t>
            </a:r>
            <a:r>
              <a:rPr lang="en-GB" sz="2400" dirty="0" err="1">
                <a:latin typeface="Arial" panose="020B0604020202020204" pitchFamily="34" charset="0"/>
                <a:cs typeface="Arial" panose="020B0604020202020204" pitchFamily="34" charset="0"/>
              </a:rPr>
              <a:t>flwr</a:t>
            </a:r>
            <a:r>
              <a:rPr lang="en-GB" sz="2400" dirty="0">
                <a:latin typeface="Arial" panose="020B0604020202020204" pitchFamily="34" charset="0"/>
                <a:cs typeface="Arial" panose="020B0604020202020204" pitchFamily="34" charset="0"/>
              </a:rPr>
              <a:t>) </a:t>
            </a:r>
            <a:r>
              <a:rPr lang="en-GB" sz="2400" dirty="0">
                <a:solidFill>
                  <a:srgbClr val="00B050"/>
                </a:solidFill>
                <a:latin typeface="Arial" panose="020B0604020202020204" pitchFamily="34" charset="0"/>
                <a:cs typeface="Arial" panose="020B0604020202020204" pitchFamily="34" charset="0"/>
              </a:rPr>
              <a:t>% prediction by 5NN</a:t>
            </a:r>
            <a:endParaRPr lang="en-GB" sz="2400" dirty="0">
              <a:latin typeface="Arial" panose="020B0604020202020204" pitchFamily="34" charset="0"/>
              <a:cs typeface="Arial" panose="020B0604020202020204" pitchFamily="34" charset="0"/>
            </a:endParaRPr>
          </a:p>
          <a:p>
            <a:r>
              <a:rPr lang="en-GB" sz="2400" dirty="0" err="1">
                <a:latin typeface="Arial" panose="020B0604020202020204" pitchFamily="34" charset="0"/>
                <a:cs typeface="Arial" panose="020B0604020202020204" pitchFamily="34" charset="0"/>
              </a:rPr>
              <a:t>flwrClass</a:t>
            </a:r>
            <a:r>
              <a:rPr lang="en-GB" sz="2400" dirty="0">
                <a:latin typeface="Arial" panose="020B0604020202020204" pitchFamily="34" charset="0"/>
                <a:cs typeface="Arial" panose="020B0604020202020204" pitchFamily="34" charset="0"/>
              </a:rPr>
              <a:t> = </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    '</a:t>
            </a:r>
            <a:r>
              <a:rPr lang="en-GB" sz="2400" dirty="0" err="1">
                <a:latin typeface="Arial" panose="020B0604020202020204" pitchFamily="34" charset="0"/>
                <a:cs typeface="Arial" panose="020B0604020202020204" pitchFamily="34" charset="0"/>
              </a:rPr>
              <a:t>versicolor</a:t>
            </a:r>
            <a:r>
              <a:rPr lang="en-GB" sz="2400" dirty="0">
                <a:latin typeface="Arial" panose="020B0604020202020204" pitchFamily="34" charset="0"/>
                <a:cs typeface="Arial" panose="020B0604020202020204" pitchFamily="34" charset="0"/>
              </a:rPr>
              <a:t>'</a:t>
            </a:r>
          </a:p>
        </p:txBody>
      </p:sp>
      <p:sp>
        <p:nvSpPr>
          <p:cNvPr id="10" name="Title 1"/>
          <p:cNvSpPr>
            <a:spLocks noGrp="1"/>
          </p:cNvSpPr>
          <p:nvPr>
            <p:ph type="title"/>
          </p:nvPr>
        </p:nvSpPr>
        <p:spPr>
          <a:xfrm>
            <a:off x="191344" y="71414"/>
            <a:ext cx="9361040" cy="928694"/>
          </a:xfrm>
        </p:spPr>
        <p:txBody>
          <a:bodyPr>
            <a:normAutofit/>
          </a:bodyPr>
          <a:lstStyle/>
          <a:p>
            <a:r>
              <a:rPr lang="en-US" sz="4000" dirty="0"/>
              <a:t>Example: Code</a:t>
            </a:r>
          </a:p>
        </p:txBody>
      </p:sp>
      <p:cxnSp>
        <p:nvCxnSpPr>
          <p:cNvPr id="13" name="Straight Arrow Connector 12"/>
          <p:cNvCxnSpPr/>
          <p:nvPr/>
        </p:nvCxnSpPr>
        <p:spPr>
          <a:xfrm flipH="1" flipV="1">
            <a:off x="2063552" y="3429000"/>
            <a:ext cx="4320480" cy="2232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3647728" y="5619150"/>
            <a:ext cx="2736304" cy="420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538582" y="5399638"/>
            <a:ext cx="2355197" cy="523220"/>
          </a:xfrm>
          <a:prstGeom prst="rect">
            <a:avLst/>
          </a:prstGeom>
          <a:noFill/>
        </p:spPr>
        <p:txBody>
          <a:bodyPr wrap="none" rtlCol="0">
            <a:spAutoFit/>
          </a:bodyPr>
          <a:lstStyle/>
          <a:p>
            <a:r>
              <a:rPr lang="en-US" sz="2800" dirty="0">
                <a:solidFill>
                  <a:srgbClr val="FF0000"/>
                </a:solidFill>
                <a:latin typeface="Times New Roman" panose="02020603050405020304" pitchFamily="18" charset="0"/>
                <a:cs typeface="Times New Roman" panose="02020603050405020304" pitchFamily="18" charset="0"/>
              </a:rPr>
              <a:t>Why different?</a:t>
            </a:r>
          </a:p>
        </p:txBody>
      </p:sp>
    </p:spTree>
    <p:extLst>
      <p:ext uri="{BB962C8B-B14F-4D97-AF65-F5344CB8AC3E}">
        <p14:creationId xmlns:p14="http://schemas.microsoft.com/office/powerpoint/2010/main" val="2201143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5376" y="1313446"/>
            <a:ext cx="5026528" cy="1938992"/>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Species	   Length   Width   Distance</a:t>
            </a:r>
            <a:endParaRPr lang="en-GB" sz="2000" b="1" dirty="0">
              <a:latin typeface="Times New Roman" panose="02020603050405020304" pitchFamily="18" charset="0"/>
              <a:cs typeface="Times New Roman" panose="02020603050405020304" pitchFamily="18" charset="0"/>
            </a:endParaRPr>
          </a:p>
          <a:p>
            <a:r>
              <a:rPr lang="en-GB" sz="2000" dirty="0" err="1">
                <a:latin typeface="Times New Roman" panose="02020603050405020304" pitchFamily="18" charset="0"/>
                <a:cs typeface="Times New Roman" panose="02020603050405020304" pitchFamily="18" charset="0"/>
              </a:rPr>
              <a:t>virginica</a:t>
            </a:r>
            <a:r>
              <a:rPr lang="en-GB" sz="2000" dirty="0">
                <a:latin typeface="Times New Roman" panose="02020603050405020304" pitchFamily="18" charset="0"/>
                <a:cs typeface="Times New Roman" panose="02020603050405020304" pitchFamily="18" charset="0"/>
              </a:rPr>
              <a:t>    5.0000    1.5000    0.0500</a:t>
            </a:r>
          </a:p>
          <a:p>
            <a:r>
              <a:rPr lang="en-GB" sz="2000" dirty="0" err="1">
                <a:latin typeface="Times New Roman" panose="02020603050405020304" pitchFamily="18" charset="0"/>
                <a:cs typeface="Times New Roman" panose="02020603050405020304" pitchFamily="18" charset="0"/>
              </a:rPr>
              <a:t>versicolor</a:t>
            </a:r>
            <a:r>
              <a:rPr lang="en-GB" sz="2000" dirty="0">
                <a:latin typeface="Times New Roman" panose="02020603050405020304" pitchFamily="18" charset="0"/>
                <a:cs typeface="Times New Roman" panose="02020603050405020304" pitchFamily="18" charset="0"/>
              </a:rPr>
              <a:t>  4.9000    1.5000    0.1118</a:t>
            </a:r>
          </a:p>
          <a:p>
            <a:r>
              <a:rPr lang="en-GB" sz="2000" dirty="0" err="1">
                <a:latin typeface="Times New Roman" panose="02020603050405020304" pitchFamily="18" charset="0"/>
                <a:cs typeface="Times New Roman" panose="02020603050405020304" pitchFamily="18" charset="0"/>
              </a:rPr>
              <a:t>versicolor</a:t>
            </a:r>
            <a:r>
              <a:rPr lang="en-GB" sz="2000" dirty="0">
                <a:latin typeface="Times New Roman" panose="02020603050405020304" pitchFamily="18" charset="0"/>
                <a:cs typeface="Times New Roman" panose="02020603050405020304" pitchFamily="18" charset="0"/>
              </a:rPr>
              <a:t>  4.9000    1.5000    0.1118</a:t>
            </a:r>
          </a:p>
          <a:p>
            <a:r>
              <a:rPr lang="en-GB" sz="2000" dirty="0" err="1">
                <a:latin typeface="Times New Roman" panose="02020603050405020304" pitchFamily="18" charset="0"/>
                <a:cs typeface="Times New Roman" panose="02020603050405020304" pitchFamily="18" charset="0"/>
              </a:rPr>
              <a:t>versicolor</a:t>
            </a:r>
            <a:r>
              <a:rPr lang="en-GB" sz="2000" dirty="0">
                <a:latin typeface="Times New Roman" panose="02020603050405020304" pitchFamily="18" charset="0"/>
                <a:cs typeface="Times New Roman" panose="02020603050405020304" pitchFamily="18" charset="0"/>
              </a:rPr>
              <a:t>  5.1000    1.6000    0.1118</a:t>
            </a:r>
          </a:p>
          <a:p>
            <a:r>
              <a:rPr lang="en-GB" sz="2000" dirty="0" err="1">
                <a:latin typeface="Times New Roman" panose="02020603050405020304" pitchFamily="18" charset="0"/>
                <a:cs typeface="Times New Roman" panose="02020603050405020304" pitchFamily="18" charset="0"/>
              </a:rPr>
              <a:t>virginica</a:t>
            </a:r>
            <a:r>
              <a:rPr lang="en-GB" sz="2000" dirty="0">
                <a:latin typeface="Times New Roman" panose="02020603050405020304" pitchFamily="18" charset="0"/>
                <a:cs typeface="Times New Roman" panose="02020603050405020304" pitchFamily="18" charset="0"/>
              </a:rPr>
              <a:t>    5.1000    1.5000    0.1118</a:t>
            </a:r>
          </a:p>
        </p:txBody>
      </p:sp>
      <p:sp>
        <p:nvSpPr>
          <p:cNvPr id="10" name="Title 1"/>
          <p:cNvSpPr>
            <a:spLocks noGrp="1"/>
          </p:cNvSpPr>
          <p:nvPr>
            <p:ph type="title"/>
          </p:nvPr>
        </p:nvSpPr>
        <p:spPr>
          <a:xfrm>
            <a:off x="205376" y="71414"/>
            <a:ext cx="9347008" cy="928694"/>
          </a:xfrm>
        </p:spPr>
        <p:txBody>
          <a:bodyPr>
            <a:normAutofit/>
          </a:bodyPr>
          <a:lstStyle/>
          <a:p>
            <a:r>
              <a:rPr lang="en-US" sz="4000" dirty="0"/>
              <a:t>Example: Analysis</a:t>
            </a:r>
          </a:p>
        </p:txBody>
      </p:sp>
      <p:pic>
        <p:nvPicPr>
          <p:cNvPr id="3" name="Picture 2"/>
          <p:cNvPicPr>
            <a:picLocks noChangeAspect="1"/>
          </p:cNvPicPr>
          <p:nvPr/>
        </p:nvPicPr>
        <p:blipFill rotWithShape="1">
          <a:blip r:embed="rId3"/>
          <a:srcRect l="13992" r="28963" b="25302"/>
          <a:stretch/>
        </p:blipFill>
        <p:spPr>
          <a:xfrm>
            <a:off x="1852036" y="3258000"/>
            <a:ext cx="3667901" cy="3600000"/>
          </a:xfrm>
          <a:prstGeom prst="rect">
            <a:avLst/>
          </a:prstGeom>
        </p:spPr>
      </p:pic>
      <p:pic>
        <p:nvPicPr>
          <p:cNvPr id="6" name="Picture 5"/>
          <p:cNvPicPr>
            <a:picLocks noChangeAspect="1"/>
          </p:cNvPicPr>
          <p:nvPr/>
        </p:nvPicPr>
        <p:blipFill rotWithShape="1">
          <a:blip r:embed="rId4"/>
          <a:srcRect l="6947" r="27397" b="25588"/>
          <a:stretch/>
        </p:blipFill>
        <p:spPr>
          <a:xfrm>
            <a:off x="6384032" y="1251426"/>
            <a:ext cx="4237804" cy="3600000"/>
          </a:xfrm>
          <a:prstGeom prst="rect">
            <a:avLst/>
          </a:prstGeom>
        </p:spPr>
      </p:pic>
      <p:sp>
        <p:nvSpPr>
          <p:cNvPr id="7" name="Rectangle 6"/>
          <p:cNvSpPr/>
          <p:nvPr/>
        </p:nvSpPr>
        <p:spPr>
          <a:xfrm>
            <a:off x="6528048" y="5301209"/>
            <a:ext cx="3312368" cy="1015663"/>
          </a:xfrm>
          <a:prstGeom prst="rect">
            <a:avLst/>
          </a:prstGeom>
        </p:spPr>
        <p:txBody>
          <a:bodyPr wrap="square">
            <a:spAutoFit/>
          </a:bodyPr>
          <a:lstStyle/>
          <a:p>
            <a:r>
              <a:rPr lang="en-GB" sz="2000" dirty="0">
                <a:latin typeface="Times New Roman" panose="02020603050405020304" pitchFamily="18" charset="0"/>
                <a:cs typeface="Times New Roman" panose="02020603050405020304" pitchFamily="18" charset="0"/>
              </a:rPr>
              <a:t>       Value    Count   Percent</a:t>
            </a:r>
          </a:p>
          <a:p>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virginica</a:t>
            </a:r>
            <a:r>
              <a:rPr lang="en-GB" sz="2000" dirty="0">
                <a:latin typeface="Times New Roman" panose="02020603050405020304" pitchFamily="18" charset="0"/>
                <a:cs typeface="Times New Roman" panose="02020603050405020304" pitchFamily="18" charset="0"/>
              </a:rPr>
              <a:t>        2     40.00%</a:t>
            </a:r>
          </a:p>
          <a:p>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versicolor</a:t>
            </a:r>
            <a:r>
              <a:rPr lang="en-GB" sz="2000" dirty="0">
                <a:latin typeface="Times New Roman" panose="02020603050405020304" pitchFamily="18" charset="0"/>
                <a:cs typeface="Times New Roman" panose="02020603050405020304" pitchFamily="18" charset="0"/>
              </a:rPr>
              <a:t>       3     60.00%</a:t>
            </a:r>
          </a:p>
        </p:txBody>
      </p:sp>
    </p:spTree>
    <p:extLst>
      <p:ext uri="{BB962C8B-B14F-4D97-AF65-F5344CB8AC3E}">
        <p14:creationId xmlns:p14="http://schemas.microsoft.com/office/powerpoint/2010/main" val="1955787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71414"/>
            <a:ext cx="9361040" cy="928694"/>
          </a:xfrm>
        </p:spPr>
        <p:txBody>
          <a:bodyPr>
            <a:normAutofit/>
          </a:bodyPr>
          <a:lstStyle/>
          <a:p>
            <a:r>
              <a:rPr lang="en-US" sz="3600" dirty="0"/>
              <a:t>K Nearest Neighbor (KNN)</a:t>
            </a:r>
          </a:p>
        </p:txBody>
      </p:sp>
      <p:sp>
        <p:nvSpPr>
          <p:cNvPr id="3" name="TextBox 2"/>
          <p:cNvSpPr txBox="1"/>
          <p:nvPr/>
        </p:nvSpPr>
        <p:spPr>
          <a:xfrm>
            <a:off x="191344" y="1263526"/>
            <a:ext cx="9420230" cy="5693866"/>
          </a:xfrm>
          <a:prstGeom prst="rect">
            <a:avLst/>
          </a:prstGeom>
          <a:noFill/>
        </p:spPr>
        <p:txBody>
          <a:bodyPr wrap="square" rtlCol="0">
            <a:spAutoFit/>
          </a:bodyPr>
          <a:lstStyle/>
          <a:p>
            <a:r>
              <a:rPr lang="en-GB" sz="2800" dirty="0">
                <a:latin typeface="Times New Roman" panose="02020603050405020304" pitchFamily="18" charset="0"/>
                <a:cs typeface="Times New Roman" panose="02020603050405020304" pitchFamily="18" charset="0"/>
              </a:rPr>
              <a:t>Find the k nearest images, have them vote on the label</a:t>
            </a:r>
          </a:p>
          <a:p>
            <a:endParaRPr lang="en-GB" sz="2800" dirty="0">
              <a:latin typeface="Times New Roman" panose="02020603050405020304" pitchFamily="18" charset="0"/>
              <a:cs typeface="Times New Roman" panose="02020603050405020304" pitchFamily="18" charset="0"/>
            </a:endParaRPr>
          </a:p>
          <a:p>
            <a:endParaRPr lang="en-GB" sz="2800" dirty="0">
              <a:latin typeface="Times New Roman" panose="02020603050405020304" pitchFamily="18" charset="0"/>
              <a:cs typeface="Times New Roman" panose="02020603050405020304" pitchFamily="18" charset="0"/>
            </a:endParaRPr>
          </a:p>
          <a:p>
            <a:endParaRPr lang="en-GB" sz="2800" dirty="0">
              <a:latin typeface="Times New Roman" panose="02020603050405020304" pitchFamily="18" charset="0"/>
              <a:cs typeface="Times New Roman" panose="02020603050405020304" pitchFamily="18" charset="0"/>
            </a:endParaRPr>
          </a:p>
          <a:p>
            <a:endParaRPr lang="en-GB" sz="2800" dirty="0">
              <a:latin typeface="Times New Roman" panose="02020603050405020304" pitchFamily="18" charset="0"/>
              <a:cs typeface="Times New Roman" panose="02020603050405020304" pitchFamily="18" charset="0"/>
            </a:endParaRPr>
          </a:p>
          <a:p>
            <a:endParaRPr lang="en-GB" sz="2800" dirty="0">
              <a:latin typeface="Times New Roman" panose="02020603050405020304" pitchFamily="18" charset="0"/>
              <a:cs typeface="Times New Roman" panose="02020603050405020304" pitchFamily="18" charset="0"/>
            </a:endParaRPr>
          </a:p>
          <a:p>
            <a:endParaRPr lang="en-GB" sz="2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What is the best distance to use?</a:t>
            </a:r>
          </a:p>
          <a:p>
            <a:r>
              <a:rPr lang="en-GB" sz="2800" dirty="0">
                <a:latin typeface="Times New Roman" panose="02020603050405020304" pitchFamily="18" charset="0"/>
                <a:cs typeface="Times New Roman" panose="02020603050405020304" pitchFamily="18" charset="0"/>
              </a:rPr>
              <a:t>What is the best value of k to use?</a:t>
            </a:r>
          </a:p>
          <a:p>
            <a:r>
              <a:rPr lang="en-GB" sz="2800" dirty="0">
                <a:latin typeface="Times New Roman" panose="02020603050405020304" pitchFamily="18" charset="0"/>
                <a:cs typeface="Times New Roman" panose="02020603050405020304" pitchFamily="18" charset="0"/>
              </a:rPr>
              <a:t>i.e. how do we set the </a:t>
            </a:r>
            <a:r>
              <a:rPr lang="en-GB" sz="2800" dirty="0" err="1">
                <a:latin typeface="Times New Roman" panose="02020603050405020304" pitchFamily="18" charset="0"/>
                <a:cs typeface="Times New Roman" panose="02020603050405020304" pitchFamily="18" charset="0"/>
              </a:rPr>
              <a:t>hyperparameters</a:t>
            </a:r>
            <a:r>
              <a:rPr lang="en-GB" sz="2800" dirty="0">
                <a:latin typeface="Times New Roman" panose="02020603050405020304" pitchFamily="18" charset="0"/>
                <a:cs typeface="Times New Roman" panose="02020603050405020304" pitchFamily="18" charset="0"/>
              </a:rPr>
              <a:t>?</a:t>
            </a:r>
          </a:p>
          <a:p>
            <a:endParaRPr lang="en-GB"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	</a:t>
            </a:r>
            <a:r>
              <a:rPr lang="en-GB" sz="2800" dirty="0">
                <a:solidFill>
                  <a:srgbClr val="000080"/>
                </a:solidFill>
                <a:latin typeface="Times New Roman" panose="02020603050405020304" pitchFamily="18" charset="0"/>
                <a:cs typeface="Times New Roman" panose="02020603050405020304" pitchFamily="18" charset="0"/>
              </a:rPr>
              <a:t>Very problem-dependent.</a:t>
            </a:r>
          </a:p>
          <a:p>
            <a:r>
              <a:rPr lang="en-GB" sz="2800" dirty="0">
                <a:solidFill>
                  <a:srgbClr val="000080"/>
                </a:solidFill>
                <a:latin typeface="Times New Roman" panose="02020603050405020304" pitchFamily="18" charset="0"/>
                <a:cs typeface="Times New Roman" panose="02020603050405020304" pitchFamily="18" charset="0"/>
              </a:rPr>
              <a:t>	Must try them all out and see what works best.</a:t>
            </a:r>
            <a:endParaRPr lang="en-US" sz="2800" dirty="0">
              <a:solidFill>
                <a:srgbClr val="00008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3262236" y="1916832"/>
            <a:ext cx="8810428" cy="2304256"/>
          </a:xfrm>
          <a:prstGeom prst="rect">
            <a:avLst/>
          </a:prstGeom>
        </p:spPr>
      </p:pic>
      <p:sp>
        <p:nvSpPr>
          <p:cNvPr id="6" name="Rounded Rectangle 5"/>
          <p:cNvSpPr/>
          <p:nvPr/>
        </p:nvSpPr>
        <p:spPr>
          <a:xfrm>
            <a:off x="8400256" y="5733256"/>
            <a:ext cx="3672408" cy="100811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New Roman" panose="02020603050405020304" pitchFamily="18" charset="0"/>
                <a:cs typeface="Times New Roman" panose="02020603050405020304" pitchFamily="18" charset="0"/>
              </a:rPr>
              <a:t>For further detail watch</a:t>
            </a:r>
          </a:p>
          <a:p>
            <a:pPr algn="ctr"/>
            <a:r>
              <a:rPr lang="en-US" sz="2800" dirty="0">
                <a:solidFill>
                  <a:schemeClr val="tx1"/>
                </a:solidFill>
                <a:latin typeface="Times New Roman" panose="02020603050405020304" pitchFamily="18" charset="0"/>
                <a:cs typeface="Times New Roman" panose="02020603050405020304" pitchFamily="18" charset="0"/>
                <a:hlinkClick r:id="rId4"/>
              </a:rPr>
              <a:t>Lecture</a:t>
            </a:r>
            <a:r>
              <a:rPr lang="en-US" sz="2800" dirty="0">
                <a:solidFill>
                  <a:schemeClr val="tx1"/>
                </a:solidFill>
                <a:latin typeface="Times New Roman" panose="02020603050405020304" pitchFamily="18" charset="0"/>
                <a:cs typeface="Times New Roman" panose="02020603050405020304" pitchFamily="18" charset="0"/>
              </a:rPr>
              <a:t> 48</a:t>
            </a:r>
          </a:p>
        </p:txBody>
      </p:sp>
    </p:spTree>
    <p:extLst>
      <p:ext uri="{BB962C8B-B14F-4D97-AF65-F5344CB8AC3E}">
        <p14:creationId xmlns:p14="http://schemas.microsoft.com/office/powerpoint/2010/main" val="3514712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SVM</a:t>
            </a:r>
          </a:p>
        </p:txBody>
      </p:sp>
      <p:sp>
        <p:nvSpPr>
          <p:cNvPr id="3" name="Subtitle 2"/>
          <p:cNvSpPr>
            <a:spLocks noGrp="1"/>
          </p:cNvSpPr>
          <p:nvPr>
            <p:ph type="subTitle" idx="1"/>
          </p:nvPr>
        </p:nvSpPr>
        <p:spPr>
          <a:xfrm>
            <a:off x="190459" y="1285860"/>
            <a:ext cx="10477573" cy="5357850"/>
          </a:xfrm>
        </p:spPr>
        <p:txBody>
          <a:bodyPr>
            <a:normAutofit lnSpcReduction="10000"/>
          </a:bodyPr>
          <a:lstStyle/>
          <a:p>
            <a:pPr algn="just">
              <a:spcBef>
                <a:spcPts val="600"/>
              </a:spcBef>
              <a:spcAft>
                <a:spcPts val="600"/>
              </a:spcAft>
            </a:pPr>
            <a:r>
              <a:rPr lang="en-US" dirty="0"/>
              <a:t>Support Vector Machine (SVM) is a supervised learning algorithm developed by Vladimir </a:t>
            </a:r>
            <a:r>
              <a:rPr lang="en-US" dirty="0" err="1"/>
              <a:t>Vapnik</a:t>
            </a:r>
            <a:r>
              <a:rPr lang="en-US" dirty="0"/>
              <a:t> and it was first heard in 1992, introduced by </a:t>
            </a:r>
            <a:r>
              <a:rPr lang="en-US" dirty="0" err="1"/>
              <a:t>Vapnik</a:t>
            </a:r>
            <a:r>
              <a:rPr lang="en-US" dirty="0"/>
              <a:t>, </a:t>
            </a:r>
            <a:r>
              <a:rPr lang="en-US" dirty="0" err="1"/>
              <a:t>Boser</a:t>
            </a:r>
            <a:r>
              <a:rPr lang="en-US" dirty="0"/>
              <a:t> and </a:t>
            </a:r>
            <a:r>
              <a:rPr lang="en-US" dirty="0" err="1"/>
              <a:t>Guyon</a:t>
            </a:r>
            <a:r>
              <a:rPr lang="en-US" dirty="0"/>
              <a:t> in COLT-92.</a:t>
            </a:r>
          </a:p>
          <a:p>
            <a:pPr algn="just">
              <a:spcBef>
                <a:spcPts val="600"/>
              </a:spcBef>
              <a:spcAft>
                <a:spcPts val="600"/>
              </a:spcAft>
            </a:pPr>
            <a:r>
              <a:rPr lang="en-US" dirty="0"/>
              <a:t>SVM can be used for both classification or regression challenges. However, it is mostly used in classification problems.</a:t>
            </a:r>
          </a:p>
          <a:p>
            <a:pPr algn="just">
              <a:spcBef>
                <a:spcPts val="600"/>
              </a:spcBef>
              <a:spcAft>
                <a:spcPts val="600"/>
              </a:spcAft>
            </a:pPr>
            <a:r>
              <a:rPr lang="en-US" dirty="0"/>
              <a:t>SVM works by mapping data to a high-dimensional feature space so that data points can be categorized, even when the data are not otherwise linearly separable. A separator between the categories is found, then the data are transformed in such a way that the separator could be drawn as a hyperplane.</a:t>
            </a:r>
          </a:p>
          <a:p>
            <a:pPr algn="just">
              <a:spcBef>
                <a:spcPts val="600"/>
              </a:spcBef>
              <a:spcAft>
                <a:spcPts val="600"/>
              </a:spcAft>
            </a:pPr>
            <a:endParaRPr lang="en-US" dirty="0"/>
          </a:p>
        </p:txBody>
      </p:sp>
    </p:spTree>
    <p:extLst>
      <p:ext uri="{BB962C8B-B14F-4D97-AF65-F5344CB8AC3E}">
        <p14:creationId xmlns:p14="http://schemas.microsoft.com/office/powerpoint/2010/main" val="2640954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SVM</a:t>
            </a:r>
          </a:p>
        </p:txBody>
      </p:sp>
      <p:sp>
        <p:nvSpPr>
          <p:cNvPr id="3" name="Rounded Rectangle 2"/>
          <p:cNvSpPr/>
          <p:nvPr/>
        </p:nvSpPr>
        <p:spPr>
          <a:xfrm>
            <a:off x="9480376" y="5345303"/>
            <a:ext cx="2448272" cy="13681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For detail </a:t>
            </a:r>
          </a:p>
          <a:p>
            <a:pPr algn="ctr"/>
            <a:r>
              <a:rPr lang="en-US" sz="3600" dirty="0">
                <a:latin typeface="Times New Roman" panose="02020603050405020304" pitchFamily="18" charset="0"/>
                <a:cs typeface="Times New Roman" panose="02020603050405020304" pitchFamily="18" charset="0"/>
              </a:rPr>
              <a:t>SVM.pptx</a:t>
            </a:r>
          </a:p>
        </p:txBody>
      </p:sp>
      <p:pic>
        <p:nvPicPr>
          <p:cNvPr id="1026" name="Picture 2" descr="Machine Learning: How Support Vector Machines can be used in Trading - MQL5  Articles">
            <a:extLst>
              <a:ext uri="{FF2B5EF4-FFF2-40B4-BE49-F238E27FC236}">
                <a16:creationId xmlns:a16="http://schemas.microsoft.com/office/drawing/2014/main" id="{86ABBB75-78F3-2FCF-408F-356E58AFB7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6015" y="4509120"/>
            <a:ext cx="2806329" cy="220450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FB-301-CV: Infografis Support Vector Machine (SVM)">
            <a:extLst>
              <a:ext uri="{FF2B5EF4-FFF2-40B4-BE49-F238E27FC236}">
                <a16:creationId xmlns:a16="http://schemas.microsoft.com/office/drawing/2014/main" id="{DDB57A53-CF8E-6EBD-BD65-8C381CBEFA6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0469" r="3341" b="16809"/>
          <a:stretch/>
        </p:blipFill>
        <p:spPr bwMode="auto">
          <a:xfrm>
            <a:off x="190853" y="1340768"/>
            <a:ext cx="9505056" cy="3083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09495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Example: </a:t>
            </a:r>
            <a:r>
              <a:rPr lang="en-US" sz="4000" dirty="0"/>
              <a:t>Visual Classification by SVM</a:t>
            </a:r>
          </a:p>
        </p:txBody>
      </p:sp>
      <p:sp>
        <p:nvSpPr>
          <p:cNvPr id="3" name="Subtitle 2"/>
          <p:cNvSpPr>
            <a:spLocks noGrp="1"/>
          </p:cNvSpPr>
          <p:nvPr>
            <p:ph type="subTitle" idx="1"/>
          </p:nvPr>
        </p:nvSpPr>
        <p:spPr/>
        <p:txBody>
          <a:bodyPr>
            <a:noAutofit/>
          </a:bodyPr>
          <a:lstStyle/>
          <a:p>
            <a:r>
              <a:rPr lang="en-US" dirty="0"/>
              <a:t>Given: Caltech 101 dataset [1]. </a:t>
            </a:r>
          </a:p>
          <a:p>
            <a:r>
              <a:rPr lang="en-US" sz="2800" dirty="0"/>
              <a:t>We consider its 2 folders only: “</a:t>
            </a:r>
            <a:r>
              <a:rPr lang="en-US" sz="2800" dirty="0" err="1"/>
              <a:t>aeroplane</a:t>
            </a:r>
            <a:r>
              <a:rPr lang="en-US" sz="2800" dirty="0"/>
              <a:t>” and “faces”</a:t>
            </a:r>
          </a:p>
          <a:p>
            <a:r>
              <a:rPr lang="en-US" sz="2800" dirty="0"/>
              <a:t>Make two folders: </a:t>
            </a:r>
            <a:r>
              <a:rPr lang="en-US" sz="2800" dirty="0" err="1"/>
              <a:t>TrainSet</a:t>
            </a:r>
            <a:r>
              <a:rPr lang="en-US" sz="2800" dirty="0"/>
              <a:t> &amp; </a:t>
            </a:r>
            <a:r>
              <a:rPr lang="en-US" sz="2800" dirty="0" err="1"/>
              <a:t>TestSet</a:t>
            </a:r>
            <a:r>
              <a:rPr lang="en-US" sz="2800" dirty="0"/>
              <a:t>. Copy pictures </a:t>
            </a:r>
          </a:p>
          <a:p>
            <a:r>
              <a:rPr lang="en-US" sz="2800" dirty="0"/>
              <a:t>	01-50 from “</a:t>
            </a:r>
            <a:r>
              <a:rPr lang="en-US" sz="2800" dirty="0" err="1"/>
              <a:t>aeroplane</a:t>
            </a:r>
            <a:r>
              <a:rPr lang="en-US" sz="2800" dirty="0"/>
              <a:t>” to </a:t>
            </a:r>
            <a:r>
              <a:rPr lang="en-US" sz="2800" dirty="0" err="1"/>
              <a:t>TrainSet</a:t>
            </a:r>
            <a:endParaRPr lang="en-US" sz="2800" dirty="0"/>
          </a:p>
          <a:p>
            <a:r>
              <a:rPr lang="en-US" sz="2800" dirty="0"/>
              <a:t>	51-100 from “faces” to </a:t>
            </a:r>
            <a:r>
              <a:rPr lang="en-US" sz="2800" dirty="0" err="1"/>
              <a:t>TrainSet</a:t>
            </a:r>
            <a:endParaRPr lang="en-US" sz="2800" dirty="0"/>
          </a:p>
          <a:p>
            <a:r>
              <a:rPr lang="en-US" sz="2800" dirty="0"/>
              <a:t>	01-50 from “faces” to </a:t>
            </a:r>
            <a:r>
              <a:rPr lang="en-US" sz="2800" dirty="0" err="1"/>
              <a:t>TestSet</a:t>
            </a:r>
            <a:endParaRPr lang="en-US" sz="2800" dirty="0"/>
          </a:p>
          <a:p>
            <a:r>
              <a:rPr lang="en-US" sz="2800" dirty="0"/>
              <a:t>	51-100 from “</a:t>
            </a:r>
            <a:r>
              <a:rPr lang="en-US" sz="2800" dirty="0" err="1"/>
              <a:t>aeroplane</a:t>
            </a:r>
            <a:r>
              <a:rPr lang="en-US" sz="2800" dirty="0"/>
              <a:t>” to </a:t>
            </a:r>
            <a:r>
              <a:rPr lang="en-US" sz="2800" dirty="0" err="1"/>
              <a:t>TestSet</a:t>
            </a:r>
            <a:endParaRPr lang="en-US" sz="2800" dirty="0"/>
          </a:p>
          <a:p>
            <a:endParaRPr lang="en-US" sz="2800" dirty="0"/>
          </a:p>
          <a:p>
            <a:endParaRPr lang="en-US" sz="2800" dirty="0"/>
          </a:p>
        </p:txBody>
      </p:sp>
      <p:sp>
        <p:nvSpPr>
          <p:cNvPr id="4" name="Rounded Rectangle 3"/>
          <p:cNvSpPr/>
          <p:nvPr/>
        </p:nvSpPr>
        <p:spPr>
          <a:xfrm>
            <a:off x="6888088" y="4653136"/>
            <a:ext cx="5112568" cy="1368152"/>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800" dirty="0">
                <a:solidFill>
                  <a:schemeClr val="tx1"/>
                </a:solidFill>
                <a:latin typeface="Times New Roman" panose="02020603050405020304" pitchFamily="18" charset="0"/>
                <a:cs typeface="Times New Roman" panose="02020603050405020304" pitchFamily="18" charset="0"/>
              </a:rPr>
              <a:t>Download from</a:t>
            </a:r>
          </a:p>
          <a:p>
            <a:pPr algn="ctr">
              <a:defRPr/>
            </a:pPr>
            <a:r>
              <a:rPr lang="en-US" sz="2400" dirty="0">
                <a:solidFill>
                  <a:schemeClr val="tx1"/>
                </a:solidFill>
                <a:latin typeface="Times New Roman" panose="02020603050405020304" pitchFamily="18" charset="0"/>
                <a:cs typeface="Times New Roman" panose="02020603050405020304" pitchFamily="18" charset="0"/>
                <a:hlinkClick r:id="rId3"/>
              </a:rPr>
              <a:t>https://data.caltech.edu/records/20086</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23222" y="6167045"/>
            <a:ext cx="12168777" cy="646331"/>
          </a:xfrm>
          <a:prstGeom prst="rect">
            <a:avLst/>
          </a:prstGeom>
          <a:solidFill>
            <a:srgbClr val="FFFF00"/>
          </a:solidFill>
        </p:spPr>
        <p:txBody>
          <a:bodyPr wrap="square">
            <a:spAutoFit/>
          </a:bodyPr>
          <a:lstStyle/>
          <a:p>
            <a:pPr algn="just"/>
            <a:r>
              <a:rPr lang="en-US" dirty="0">
                <a:solidFill>
                  <a:srgbClr val="000000"/>
                </a:solidFill>
                <a:latin typeface="Times New Roman" panose="02020603050405020304" pitchFamily="18" charset="0"/>
                <a:cs typeface="Times New Roman" panose="02020603050405020304" pitchFamily="18" charset="0"/>
              </a:rPr>
              <a:t>[1] L. </a:t>
            </a:r>
            <a:r>
              <a:rPr lang="en-US" dirty="0" err="1">
                <a:solidFill>
                  <a:srgbClr val="000000"/>
                </a:solidFill>
                <a:latin typeface="Times New Roman" panose="02020603050405020304" pitchFamily="18" charset="0"/>
                <a:cs typeface="Times New Roman" panose="02020603050405020304" pitchFamily="18" charset="0"/>
              </a:rPr>
              <a:t>Fei-Fei</a:t>
            </a:r>
            <a:r>
              <a:rPr lang="en-US" dirty="0">
                <a:solidFill>
                  <a:srgbClr val="000000"/>
                </a:solidFill>
                <a:latin typeface="Times New Roman" panose="02020603050405020304" pitchFamily="18" charset="0"/>
                <a:cs typeface="Times New Roman" panose="02020603050405020304" pitchFamily="18" charset="0"/>
              </a:rPr>
              <a:t>, R. Fergus and P. </a:t>
            </a:r>
            <a:r>
              <a:rPr lang="en-US" dirty="0" err="1">
                <a:solidFill>
                  <a:srgbClr val="000000"/>
                </a:solidFill>
                <a:latin typeface="Times New Roman" panose="02020603050405020304" pitchFamily="18" charset="0"/>
                <a:cs typeface="Times New Roman" panose="02020603050405020304" pitchFamily="18" charset="0"/>
              </a:rPr>
              <a:t>Perona</a:t>
            </a:r>
            <a:r>
              <a:rPr lang="en-US" dirty="0">
                <a:solidFill>
                  <a:srgbClr val="000000"/>
                </a:solidFill>
                <a:latin typeface="Times New Roman" panose="02020603050405020304" pitchFamily="18" charset="0"/>
                <a:cs typeface="Times New Roman" panose="02020603050405020304" pitchFamily="18" charset="0"/>
              </a:rPr>
              <a:t>.</a:t>
            </a:r>
            <a:r>
              <a:rPr lang="en-US" i="1" dirty="0">
                <a:solidFill>
                  <a:srgbClr val="000000"/>
                </a:solidFill>
                <a:latin typeface="Times New Roman" panose="02020603050405020304" pitchFamily="18" charset="0"/>
                <a:cs typeface="Times New Roman" panose="02020603050405020304" pitchFamily="18" charset="0"/>
              </a:rPr>
              <a:t> Learning generative visual models from few training examples: an incremental Bayesian approach tested on 101 object categories</a:t>
            </a:r>
            <a:r>
              <a:rPr lang="en-US" dirty="0">
                <a:solidFill>
                  <a:srgbClr val="000000"/>
                </a:solidFill>
                <a:latin typeface="Times New Roman" panose="02020603050405020304" pitchFamily="18" charset="0"/>
                <a:cs typeface="Times New Roman" panose="02020603050405020304" pitchFamily="18" charset="0"/>
              </a:rPr>
              <a:t>. IEEE. CVPR 2004, Workshop on Generative-Model Based Vision. 2004</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5155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Example: </a:t>
            </a:r>
            <a:r>
              <a:rPr lang="en-US" sz="4000" dirty="0"/>
              <a:t>Visual Classification by SVM</a:t>
            </a:r>
          </a:p>
        </p:txBody>
      </p:sp>
      <p:pic>
        <p:nvPicPr>
          <p:cNvPr id="3" name="Picture 2"/>
          <p:cNvPicPr>
            <a:picLocks noChangeAspect="1"/>
          </p:cNvPicPr>
          <p:nvPr/>
        </p:nvPicPr>
        <p:blipFill rotWithShape="1">
          <a:blip r:embed="rId3"/>
          <a:srcRect l="13650" t="12847" b="3441"/>
          <a:stretch/>
        </p:blipFill>
        <p:spPr>
          <a:xfrm>
            <a:off x="228872" y="1484784"/>
            <a:ext cx="11627768" cy="5256584"/>
          </a:xfrm>
          <a:prstGeom prst="rect">
            <a:avLst/>
          </a:prstGeom>
        </p:spPr>
      </p:pic>
      <p:sp>
        <p:nvSpPr>
          <p:cNvPr id="6" name="TextBox 5"/>
          <p:cNvSpPr txBox="1"/>
          <p:nvPr/>
        </p:nvSpPr>
        <p:spPr>
          <a:xfrm>
            <a:off x="5015880" y="6093296"/>
            <a:ext cx="2106667" cy="584775"/>
          </a:xfrm>
          <a:prstGeom prst="rect">
            <a:avLst/>
          </a:prstGeom>
          <a:noFill/>
        </p:spPr>
        <p:txBody>
          <a:bodyPr wrap="none" rtlCol="0">
            <a:spAutoFit/>
          </a:bodyPr>
          <a:lstStyle/>
          <a:p>
            <a:r>
              <a:rPr lang="en-US" sz="3200" dirty="0" err="1">
                <a:latin typeface="Times New Roman" panose="02020603050405020304" pitchFamily="18" charset="0"/>
                <a:cs typeface="Times New Roman" panose="02020603050405020304" pitchFamily="18" charset="0"/>
              </a:rPr>
              <a:t>TrainingSet</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29092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a:srcRect l="13649" t="12847" r="932" b="3479"/>
          <a:stretch/>
        </p:blipFill>
        <p:spPr>
          <a:xfrm>
            <a:off x="119336" y="1412776"/>
            <a:ext cx="11809312" cy="5345542"/>
          </a:xfrm>
          <a:prstGeom prst="rect">
            <a:avLst/>
          </a:prstGeom>
        </p:spPr>
      </p:pic>
      <p:sp>
        <p:nvSpPr>
          <p:cNvPr id="2" name="Title 1"/>
          <p:cNvSpPr>
            <a:spLocks noGrp="1"/>
          </p:cNvSpPr>
          <p:nvPr>
            <p:ph type="ctrTitle"/>
          </p:nvPr>
        </p:nvSpPr>
        <p:spPr/>
        <p:txBody>
          <a:bodyPr>
            <a:normAutofit/>
          </a:bodyPr>
          <a:lstStyle/>
          <a:p>
            <a:r>
              <a:rPr lang="en-US" dirty="0"/>
              <a:t>Example: </a:t>
            </a:r>
            <a:r>
              <a:rPr lang="en-US" sz="4000" dirty="0"/>
              <a:t>Visual Classification by SVM</a:t>
            </a:r>
          </a:p>
        </p:txBody>
      </p:sp>
      <p:sp>
        <p:nvSpPr>
          <p:cNvPr id="6" name="TextBox 5"/>
          <p:cNvSpPr txBox="1"/>
          <p:nvPr/>
        </p:nvSpPr>
        <p:spPr>
          <a:xfrm>
            <a:off x="5231904" y="6237312"/>
            <a:ext cx="1387111" cy="584775"/>
          </a:xfrm>
          <a:prstGeom prst="rect">
            <a:avLst/>
          </a:prstGeom>
          <a:noFill/>
        </p:spPr>
        <p:txBody>
          <a:bodyPr wrap="none" rtlCol="0">
            <a:spAutoFit/>
          </a:bodyPr>
          <a:lstStyle/>
          <a:p>
            <a:r>
              <a:rPr lang="en-US" sz="3200" dirty="0" err="1">
                <a:latin typeface="Times New Roman" panose="02020603050405020304" pitchFamily="18" charset="0"/>
                <a:cs typeface="Times New Roman" panose="02020603050405020304" pitchFamily="18" charset="0"/>
              </a:rPr>
              <a:t>TestSet</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88210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SVM: Code…</a:t>
            </a:r>
          </a:p>
        </p:txBody>
      </p:sp>
      <p:sp>
        <p:nvSpPr>
          <p:cNvPr id="3" name="Subtitle 2"/>
          <p:cNvSpPr>
            <a:spLocks noGrp="1"/>
          </p:cNvSpPr>
          <p:nvPr>
            <p:ph type="subTitle" idx="1"/>
          </p:nvPr>
        </p:nvSpPr>
        <p:spPr>
          <a:xfrm>
            <a:off x="209581" y="1285860"/>
            <a:ext cx="11215011" cy="5383500"/>
          </a:xfrm>
        </p:spPr>
        <p:txBody>
          <a:bodyPr>
            <a:noAutofit/>
          </a:bodyPr>
          <a:lstStyle/>
          <a:p>
            <a:pPr>
              <a:spcBef>
                <a:spcPts val="0"/>
              </a:spcBef>
            </a:pPr>
            <a:r>
              <a:rPr lang="en-US" sz="2400" dirty="0" err="1">
                <a:latin typeface="Arial" panose="020B0604020202020204" pitchFamily="34" charset="0"/>
                <a:cs typeface="Arial" panose="020B0604020202020204" pitchFamily="34" charset="0"/>
              </a:rPr>
              <a:t>clc</a:t>
            </a:r>
            <a:r>
              <a:rPr lang="en-US" sz="2400" dirty="0">
                <a:latin typeface="Arial" panose="020B0604020202020204" pitchFamily="34" charset="0"/>
                <a:cs typeface="Arial" panose="020B0604020202020204" pitchFamily="34" charset="0"/>
              </a:rPr>
              <a:t>; clear; </a:t>
            </a:r>
            <a:r>
              <a:rPr lang="en-US" sz="2400" dirty="0" err="1">
                <a:latin typeface="Arial" panose="020B0604020202020204" pitchFamily="34" charset="0"/>
                <a:cs typeface="Arial" panose="020B0604020202020204" pitchFamily="34" charset="0"/>
              </a:rPr>
              <a:t>clearvars</a:t>
            </a:r>
            <a:r>
              <a:rPr lang="en-US" sz="2400" dirty="0">
                <a:latin typeface="Arial" panose="020B0604020202020204" pitchFamily="34" charset="0"/>
                <a:cs typeface="Arial" panose="020B0604020202020204" pitchFamily="34" charset="0"/>
              </a:rPr>
              <a:t>; close all;</a:t>
            </a:r>
          </a:p>
          <a:p>
            <a:r>
              <a:rPr lang="en-US" sz="2400" dirty="0">
                <a:solidFill>
                  <a:srgbClr val="00B050"/>
                </a:solidFill>
                <a:latin typeface="Arial" panose="020B0604020202020204" pitchFamily="34" charset="0"/>
                <a:cs typeface="Arial" panose="020B0604020202020204" pitchFamily="34" charset="0"/>
              </a:rPr>
              <a:t>% Load datasets</a:t>
            </a:r>
          </a:p>
          <a:p>
            <a:r>
              <a:rPr lang="en-US" sz="2400" dirty="0" err="1">
                <a:latin typeface="Arial" panose="020B0604020202020204" pitchFamily="34" charset="0"/>
                <a:cs typeface="Arial" panose="020B0604020202020204" pitchFamily="34" charset="0"/>
              </a:rPr>
              <a:t>TrainImageSet</a:t>
            </a:r>
            <a:r>
              <a:rPr lang="en-US" sz="2400" dirty="0">
                <a:latin typeface="Arial" panose="020B0604020202020204" pitchFamily="34" charset="0"/>
                <a:cs typeface="Arial" panose="020B0604020202020204" pitchFamily="34" charset="0"/>
              </a:rPr>
              <a:t> = 'D:\Classification\Data\101_ObjectCategories\</a:t>
            </a:r>
            <a:r>
              <a:rPr lang="en-US" sz="2400" dirty="0" err="1">
                <a:latin typeface="Arial" panose="020B0604020202020204" pitchFamily="34" charset="0"/>
                <a:cs typeface="Arial" panose="020B0604020202020204" pitchFamily="34" charset="0"/>
              </a:rPr>
              <a:t>TrainingSet</a:t>
            </a:r>
            <a:r>
              <a:rPr lang="en-US" sz="2400" dirty="0">
                <a:latin typeface="Arial" panose="020B0604020202020204" pitchFamily="34" charset="0"/>
                <a:cs typeface="Arial" panose="020B0604020202020204" pitchFamily="34" charset="0"/>
              </a:rPr>
              <a:t>';</a:t>
            </a:r>
          </a:p>
          <a:p>
            <a:r>
              <a:rPr lang="en-US" sz="2400" dirty="0" err="1">
                <a:latin typeface="Arial" panose="020B0604020202020204" pitchFamily="34" charset="0"/>
                <a:cs typeface="Arial" panose="020B0604020202020204" pitchFamily="34" charset="0"/>
              </a:rPr>
              <a:t>TestImageSet</a:t>
            </a:r>
            <a:r>
              <a:rPr lang="en-US" sz="2400" dirty="0">
                <a:latin typeface="Arial" panose="020B0604020202020204" pitchFamily="34" charset="0"/>
                <a:cs typeface="Arial" panose="020B0604020202020204" pitchFamily="34" charset="0"/>
              </a:rPr>
              <a:t> = 'D:\Classification\Data\101_ObjectCategories\</a:t>
            </a:r>
            <a:r>
              <a:rPr lang="en-US" sz="2400" dirty="0" err="1">
                <a:latin typeface="Arial" panose="020B0604020202020204" pitchFamily="34" charset="0"/>
                <a:cs typeface="Arial" panose="020B0604020202020204" pitchFamily="34" charset="0"/>
              </a:rPr>
              <a:t>TestSet</a:t>
            </a:r>
            <a:r>
              <a:rPr lang="en-US" sz="2400" dirty="0">
                <a:latin typeface="Arial" panose="020B0604020202020204" pitchFamily="34" charset="0"/>
                <a:cs typeface="Arial" panose="020B0604020202020204" pitchFamily="34" charset="0"/>
              </a:rPr>
              <a:t>';</a:t>
            </a:r>
          </a:p>
          <a:p>
            <a:r>
              <a:rPr lang="en-GB" sz="2400" dirty="0">
                <a:solidFill>
                  <a:srgbClr val="00B050"/>
                </a:solidFill>
                <a:latin typeface="Arial" panose="020B0604020202020204" pitchFamily="34" charset="0"/>
                <a:cs typeface="Arial" panose="020B0604020202020204" pitchFamily="34" charset="0"/>
              </a:rPr>
              <a:t>% </a:t>
            </a:r>
            <a:r>
              <a:rPr lang="en-GB" sz="2400" dirty="0" err="1">
                <a:solidFill>
                  <a:srgbClr val="00B050"/>
                </a:solidFill>
                <a:latin typeface="Arial" panose="020B0604020202020204" pitchFamily="34" charset="0"/>
                <a:cs typeface="Arial" panose="020B0604020202020204" pitchFamily="34" charset="0"/>
              </a:rPr>
              <a:t>struct</a:t>
            </a:r>
            <a:r>
              <a:rPr lang="en-GB" sz="2400" dirty="0">
                <a:solidFill>
                  <a:srgbClr val="00B050"/>
                </a:solidFill>
                <a:latin typeface="Arial" panose="020B0604020202020204" pitchFamily="34" charset="0"/>
                <a:cs typeface="Arial" panose="020B0604020202020204" pitchFamily="34" charset="0"/>
              </a:rPr>
              <a:t> array with fields: name, date, bytes, </a:t>
            </a:r>
            <a:r>
              <a:rPr lang="en-GB" sz="2400" dirty="0" err="1">
                <a:solidFill>
                  <a:srgbClr val="00B050"/>
                </a:solidFill>
                <a:latin typeface="Arial" panose="020B0604020202020204" pitchFamily="34" charset="0"/>
                <a:cs typeface="Arial" panose="020B0604020202020204" pitchFamily="34" charset="0"/>
              </a:rPr>
              <a:t>isdir</a:t>
            </a:r>
            <a:r>
              <a:rPr lang="en-GB" sz="2400" dirty="0">
                <a:solidFill>
                  <a:srgbClr val="00B050"/>
                </a:solidFill>
                <a:latin typeface="Arial" panose="020B0604020202020204" pitchFamily="34" charset="0"/>
                <a:cs typeface="Arial" panose="020B0604020202020204" pitchFamily="34" charset="0"/>
              </a:rPr>
              <a:t>, </a:t>
            </a:r>
            <a:r>
              <a:rPr lang="en-GB" sz="2400" dirty="0" err="1">
                <a:solidFill>
                  <a:srgbClr val="00B050"/>
                </a:solidFill>
                <a:latin typeface="Arial" panose="020B0604020202020204" pitchFamily="34" charset="0"/>
                <a:cs typeface="Arial" panose="020B0604020202020204" pitchFamily="34" charset="0"/>
              </a:rPr>
              <a:t>datenum</a:t>
            </a:r>
            <a:endParaRPr lang="en-US"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k = </a:t>
            </a:r>
            <a:r>
              <a:rPr lang="en-GB" sz="2400" dirty="0" err="1">
                <a:latin typeface="Arial" panose="020B0604020202020204" pitchFamily="34" charset="0"/>
                <a:cs typeface="Arial" panose="020B0604020202020204" pitchFamily="34" charset="0"/>
              </a:rPr>
              <a:t>dir</a:t>
            </a:r>
            <a:r>
              <a:rPr lang="en-GB" sz="2400" dirty="0">
                <a:latin typeface="Arial" panose="020B0604020202020204" pitchFamily="34" charset="0"/>
                <a:cs typeface="Arial" panose="020B0604020202020204" pitchFamily="34" charset="0"/>
              </a:rPr>
              <a:t>(</a:t>
            </a:r>
            <a:r>
              <a:rPr lang="en-GB" sz="2400" dirty="0" err="1">
                <a:latin typeface="Arial" panose="020B0604020202020204" pitchFamily="34" charset="0"/>
                <a:cs typeface="Arial" panose="020B0604020202020204" pitchFamily="34" charset="0"/>
              </a:rPr>
              <a:t>fullfile</a:t>
            </a:r>
            <a:r>
              <a:rPr lang="en-GB" sz="2400" dirty="0">
                <a:latin typeface="Arial" panose="020B0604020202020204" pitchFamily="34" charset="0"/>
                <a:cs typeface="Arial" panose="020B0604020202020204" pitchFamily="34" charset="0"/>
              </a:rPr>
              <a:t>(</a:t>
            </a:r>
            <a:r>
              <a:rPr lang="en-GB" sz="2400" dirty="0" err="1">
                <a:latin typeface="Arial" panose="020B0604020202020204" pitchFamily="34" charset="0"/>
                <a:cs typeface="Arial" panose="020B0604020202020204" pitchFamily="34" charset="0"/>
              </a:rPr>
              <a:t>TrainImageSet</a:t>
            </a:r>
            <a:r>
              <a:rPr lang="en-GB" sz="2400" dirty="0">
                <a:latin typeface="Arial" panose="020B0604020202020204" pitchFamily="34" charset="0"/>
                <a:cs typeface="Arial" panose="020B0604020202020204" pitchFamily="34" charset="0"/>
              </a:rPr>
              <a:t>,'*.jpg')); </a:t>
            </a:r>
            <a:endParaRPr lang="en-GB" sz="2400" dirty="0">
              <a:solidFill>
                <a:srgbClr val="00B050"/>
              </a:solidFill>
              <a:latin typeface="Arial" panose="020B0604020202020204" pitchFamily="34" charset="0"/>
              <a:cs typeface="Arial" panose="020B0604020202020204" pitchFamily="34" charset="0"/>
            </a:endParaRPr>
          </a:p>
          <a:p>
            <a:r>
              <a:rPr lang="en-GB" sz="2400" dirty="0" err="1">
                <a:latin typeface="Arial" panose="020B0604020202020204" pitchFamily="34" charset="0"/>
                <a:cs typeface="Arial" panose="020B0604020202020204" pitchFamily="34" charset="0"/>
              </a:rPr>
              <a:t>TrainFN</a:t>
            </a:r>
            <a:r>
              <a:rPr lang="en-GB" sz="2400" dirty="0">
                <a:latin typeface="Arial" panose="020B0604020202020204" pitchFamily="34" charset="0"/>
                <a:cs typeface="Arial" panose="020B0604020202020204" pitchFamily="34" charset="0"/>
              </a:rPr>
              <a:t> = {k(~[</a:t>
            </a:r>
            <a:r>
              <a:rPr lang="en-GB" sz="2400" dirty="0" err="1">
                <a:latin typeface="Arial" panose="020B0604020202020204" pitchFamily="34" charset="0"/>
                <a:cs typeface="Arial" panose="020B0604020202020204" pitchFamily="34" charset="0"/>
              </a:rPr>
              <a:t>k.isdir</a:t>
            </a:r>
            <a:r>
              <a:rPr lang="en-GB" sz="2400" dirty="0">
                <a:latin typeface="Arial" panose="020B0604020202020204" pitchFamily="34" charset="0"/>
                <a:cs typeface="Arial" panose="020B0604020202020204" pitchFamily="34" charset="0"/>
              </a:rPr>
              <a:t>]).name}; </a:t>
            </a:r>
            <a:r>
              <a:rPr lang="en-GB" sz="2400" dirty="0">
                <a:solidFill>
                  <a:srgbClr val="00B050"/>
                </a:solidFill>
                <a:latin typeface="Arial" panose="020B0604020202020204" pitchFamily="34" charset="0"/>
                <a:cs typeface="Arial" panose="020B0604020202020204" pitchFamily="34" charset="0"/>
              </a:rPr>
              <a:t>% store file names of all images, not directories</a:t>
            </a:r>
          </a:p>
          <a:p>
            <a:r>
              <a:rPr lang="en-US" sz="2400" dirty="0" err="1">
                <a:latin typeface="Arial" panose="020B0604020202020204" pitchFamily="34" charset="0"/>
                <a:cs typeface="Arial" panose="020B0604020202020204" pitchFamily="34" charset="0"/>
              </a:rPr>
              <a:t>TrainSetSize</a:t>
            </a:r>
            <a:r>
              <a:rPr lang="en-US" sz="2400" dirty="0">
                <a:latin typeface="Arial" panose="020B0604020202020204" pitchFamily="34" charset="0"/>
                <a:cs typeface="Arial" panose="020B0604020202020204" pitchFamily="34" charset="0"/>
              </a:rPr>
              <a:t> = length(</a:t>
            </a:r>
            <a:r>
              <a:rPr lang="en-US" sz="2400" dirty="0" err="1">
                <a:latin typeface="Arial" panose="020B0604020202020204" pitchFamily="34" charset="0"/>
                <a:cs typeface="Arial" panose="020B0604020202020204" pitchFamily="34" charset="0"/>
              </a:rPr>
              <a:t>TrainFN</a:t>
            </a:r>
            <a:r>
              <a:rPr lang="en-US" sz="2400" dirty="0">
                <a:latin typeface="Arial" panose="020B0604020202020204" pitchFamily="34" charset="0"/>
                <a:cs typeface="Arial" panose="020B0604020202020204" pitchFamily="34" charset="0"/>
              </a:rPr>
              <a:t>);</a:t>
            </a:r>
          </a:p>
          <a:p>
            <a:r>
              <a:rPr lang="en-US" sz="2400" dirty="0">
                <a:latin typeface="Arial" panose="020B0604020202020204" pitchFamily="34" charset="0"/>
                <a:cs typeface="Arial" panose="020B0604020202020204" pitchFamily="34" charset="0"/>
              </a:rPr>
              <a:t>k = </a:t>
            </a:r>
            <a:r>
              <a:rPr lang="en-US" sz="2400" dirty="0" err="1">
                <a:latin typeface="Arial" panose="020B0604020202020204" pitchFamily="34" charset="0"/>
                <a:cs typeface="Arial" panose="020B0604020202020204" pitchFamily="34" charset="0"/>
              </a:rPr>
              <a:t>dir</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fullfile</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TestImageSet</a:t>
            </a:r>
            <a:r>
              <a:rPr lang="en-US" sz="2400" dirty="0">
                <a:latin typeface="Arial" panose="020B0604020202020204" pitchFamily="34" charset="0"/>
                <a:cs typeface="Arial" panose="020B0604020202020204" pitchFamily="34" charset="0"/>
              </a:rPr>
              <a:t>,'*.jpg'));</a:t>
            </a:r>
          </a:p>
          <a:p>
            <a:r>
              <a:rPr lang="en-US" sz="2400" dirty="0" err="1">
                <a:latin typeface="Arial" panose="020B0604020202020204" pitchFamily="34" charset="0"/>
                <a:cs typeface="Arial" panose="020B0604020202020204" pitchFamily="34" charset="0"/>
              </a:rPr>
              <a:t>TestFN</a:t>
            </a:r>
            <a:r>
              <a:rPr lang="en-US" sz="2400" dirty="0">
                <a:latin typeface="Arial" panose="020B0604020202020204" pitchFamily="34" charset="0"/>
                <a:cs typeface="Arial" panose="020B0604020202020204" pitchFamily="34" charset="0"/>
              </a:rPr>
              <a:t> = {k(~[</a:t>
            </a:r>
            <a:r>
              <a:rPr lang="en-US" sz="2400" dirty="0" err="1">
                <a:latin typeface="Arial" panose="020B0604020202020204" pitchFamily="34" charset="0"/>
                <a:cs typeface="Arial" panose="020B0604020202020204" pitchFamily="34" charset="0"/>
              </a:rPr>
              <a:t>k.isdir</a:t>
            </a:r>
            <a:r>
              <a:rPr lang="en-US" sz="2400" dirty="0">
                <a:latin typeface="Arial" panose="020B0604020202020204" pitchFamily="34" charset="0"/>
                <a:cs typeface="Arial" panose="020B0604020202020204" pitchFamily="34" charset="0"/>
              </a:rPr>
              <a:t>]).name};</a:t>
            </a:r>
          </a:p>
          <a:p>
            <a:r>
              <a:rPr lang="en-US" sz="2400" dirty="0" err="1">
                <a:latin typeface="Arial" panose="020B0604020202020204" pitchFamily="34" charset="0"/>
                <a:cs typeface="Arial" panose="020B0604020202020204" pitchFamily="34" charset="0"/>
              </a:rPr>
              <a:t>TestSetSize</a:t>
            </a:r>
            <a:r>
              <a:rPr lang="en-US" sz="2400" dirty="0">
                <a:latin typeface="Arial" panose="020B0604020202020204" pitchFamily="34" charset="0"/>
                <a:cs typeface="Arial" panose="020B0604020202020204" pitchFamily="34" charset="0"/>
              </a:rPr>
              <a:t> = length(</a:t>
            </a:r>
            <a:r>
              <a:rPr lang="en-US" sz="2400" dirty="0" err="1">
                <a:latin typeface="Arial" panose="020B0604020202020204" pitchFamily="34" charset="0"/>
                <a:cs typeface="Arial" panose="020B0604020202020204" pitchFamily="34" charset="0"/>
              </a:rPr>
              <a:t>TestFN</a:t>
            </a:r>
            <a:r>
              <a:rPr lang="en-US" sz="2400" dirty="0">
                <a:latin typeface="Arial" panose="020B0604020202020204" pitchFamily="34" charset="0"/>
                <a:cs typeface="Arial" panose="020B0604020202020204" pitchFamily="34" charset="0"/>
              </a:rPr>
              <a:t>);</a:t>
            </a:r>
          </a:p>
          <a:p>
            <a:pPr>
              <a:spcBef>
                <a:spcPts val="0"/>
              </a:spcBef>
            </a:pPr>
            <a:endParaRPr lang="en-GB" sz="2400"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25258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SVM: Code…</a:t>
            </a:r>
          </a:p>
        </p:txBody>
      </p:sp>
      <p:sp>
        <p:nvSpPr>
          <p:cNvPr id="3" name="Subtitle 2"/>
          <p:cNvSpPr>
            <a:spLocks noGrp="1"/>
          </p:cNvSpPr>
          <p:nvPr>
            <p:ph type="subTitle" idx="1"/>
          </p:nvPr>
        </p:nvSpPr>
        <p:spPr>
          <a:xfrm>
            <a:off x="209581" y="1285860"/>
            <a:ext cx="10244137" cy="5383500"/>
          </a:xfrm>
        </p:spPr>
        <p:txBody>
          <a:bodyPr>
            <a:noAutofit/>
          </a:bodyPr>
          <a:lstStyle/>
          <a:p>
            <a:r>
              <a:rPr lang="en-US" sz="2400" dirty="0">
                <a:solidFill>
                  <a:srgbClr val="00B050"/>
                </a:solidFill>
                <a:latin typeface="Arial" panose="020B0604020202020204" pitchFamily="34" charset="0"/>
                <a:cs typeface="Arial" panose="020B0604020202020204" pitchFamily="34" charset="0"/>
              </a:rPr>
              <a:t>% Labelling, </a:t>
            </a:r>
            <a:r>
              <a:rPr lang="en-GB" sz="2400" dirty="0">
                <a:solidFill>
                  <a:srgbClr val="00B050"/>
                </a:solidFill>
                <a:latin typeface="Arial" panose="020B0604020202020204" pitchFamily="34" charset="0"/>
                <a:cs typeface="Arial" panose="020B0604020202020204" pitchFamily="34" charset="0"/>
              </a:rPr>
              <a:t>it is always better to label your images numerically</a:t>
            </a:r>
            <a:endParaRPr lang="en-US" sz="2400" dirty="0">
              <a:solidFill>
                <a:srgbClr val="00B050"/>
              </a:solidFill>
              <a:latin typeface="Arial" panose="020B0604020202020204" pitchFamily="34" charset="0"/>
              <a:cs typeface="Arial" panose="020B0604020202020204" pitchFamily="34" charset="0"/>
            </a:endParaRPr>
          </a:p>
          <a:p>
            <a:r>
              <a:rPr lang="en-US" sz="2400" dirty="0" err="1">
                <a:latin typeface="Arial" panose="020B0604020202020204" pitchFamily="34" charset="0"/>
                <a:cs typeface="Arial" panose="020B0604020202020204" pitchFamily="34" charset="0"/>
              </a:rPr>
              <a:t>TrainLabel</a:t>
            </a:r>
            <a:r>
              <a:rPr lang="en-US" sz="2400" dirty="0">
                <a:latin typeface="Arial" panose="020B0604020202020204" pitchFamily="34" charset="0"/>
                <a:cs typeface="Arial" panose="020B0604020202020204" pitchFamily="34" charset="0"/>
              </a:rPr>
              <a:t> = zeros(size(TestSetSize,1),1);</a:t>
            </a:r>
          </a:p>
          <a:p>
            <a:r>
              <a:rPr lang="en-US" sz="2400" dirty="0" err="1">
                <a:latin typeface="Arial" panose="020B0604020202020204" pitchFamily="34" charset="0"/>
                <a:cs typeface="Arial" panose="020B0604020202020204" pitchFamily="34" charset="0"/>
              </a:rPr>
              <a:t>TrainLabel</a:t>
            </a:r>
            <a:r>
              <a:rPr lang="en-US" sz="2400" dirty="0">
                <a:latin typeface="Arial" panose="020B0604020202020204" pitchFamily="34" charset="0"/>
                <a:cs typeface="Arial" panose="020B0604020202020204" pitchFamily="34" charset="0"/>
              </a:rPr>
              <a:t>(1:50,1) = 1;         </a:t>
            </a:r>
            <a:r>
              <a:rPr lang="en-US" sz="2400" dirty="0">
                <a:solidFill>
                  <a:srgbClr val="00B050"/>
                </a:solidFill>
                <a:latin typeface="Arial" panose="020B0604020202020204" pitchFamily="34" charset="0"/>
                <a:cs typeface="Arial" panose="020B0604020202020204" pitchFamily="34" charset="0"/>
              </a:rPr>
              <a:t>% 1 = Airplanes</a:t>
            </a:r>
          </a:p>
          <a:p>
            <a:r>
              <a:rPr lang="en-US" sz="2400" dirty="0" err="1">
                <a:latin typeface="Arial" panose="020B0604020202020204" pitchFamily="34" charset="0"/>
                <a:cs typeface="Arial" panose="020B0604020202020204" pitchFamily="34" charset="0"/>
              </a:rPr>
              <a:t>TrainLabel</a:t>
            </a:r>
            <a:r>
              <a:rPr lang="en-US" sz="2400" dirty="0">
                <a:latin typeface="Arial" panose="020B0604020202020204" pitchFamily="34" charset="0"/>
                <a:cs typeface="Arial" panose="020B0604020202020204" pitchFamily="34" charset="0"/>
              </a:rPr>
              <a:t>(51:100,1) = 2;      </a:t>
            </a:r>
            <a:r>
              <a:rPr lang="en-US" sz="2400" dirty="0">
                <a:solidFill>
                  <a:srgbClr val="00B050"/>
                </a:solidFill>
                <a:latin typeface="Arial" panose="020B0604020202020204" pitchFamily="34" charset="0"/>
                <a:cs typeface="Arial" panose="020B0604020202020204" pitchFamily="34" charset="0"/>
              </a:rPr>
              <a:t>% 2 = Faces</a:t>
            </a:r>
          </a:p>
          <a:p>
            <a:r>
              <a:rPr lang="en-US" sz="2400" dirty="0" err="1">
                <a:latin typeface="Arial" panose="020B0604020202020204" pitchFamily="34" charset="0"/>
                <a:cs typeface="Arial" panose="020B0604020202020204" pitchFamily="34" charset="0"/>
              </a:rPr>
              <a:t>TestLabel</a:t>
            </a:r>
            <a:r>
              <a:rPr lang="en-US" sz="2400" dirty="0">
                <a:latin typeface="Arial" panose="020B0604020202020204" pitchFamily="34" charset="0"/>
                <a:cs typeface="Arial" panose="020B0604020202020204" pitchFamily="34" charset="0"/>
              </a:rPr>
              <a:t> = zeros(size(TestSetSize,1),1);</a:t>
            </a:r>
          </a:p>
          <a:p>
            <a:r>
              <a:rPr lang="en-US" sz="2400" dirty="0" err="1">
                <a:latin typeface="Arial" panose="020B0604020202020204" pitchFamily="34" charset="0"/>
                <a:cs typeface="Arial" panose="020B0604020202020204" pitchFamily="34" charset="0"/>
              </a:rPr>
              <a:t>TestLabel</a:t>
            </a:r>
            <a:r>
              <a:rPr lang="en-US" sz="2400" dirty="0">
                <a:latin typeface="Arial" panose="020B0604020202020204" pitchFamily="34" charset="0"/>
                <a:cs typeface="Arial" panose="020B0604020202020204" pitchFamily="34" charset="0"/>
              </a:rPr>
              <a:t>(1:50,1) = 2;         </a:t>
            </a:r>
            <a:r>
              <a:rPr lang="en-US" sz="2400" dirty="0">
                <a:solidFill>
                  <a:srgbClr val="00B050"/>
                </a:solidFill>
                <a:latin typeface="Arial" panose="020B0604020202020204" pitchFamily="34" charset="0"/>
                <a:cs typeface="Arial" panose="020B0604020202020204" pitchFamily="34" charset="0"/>
              </a:rPr>
              <a:t>% 2 = Faces</a:t>
            </a:r>
          </a:p>
          <a:p>
            <a:r>
              <a:rPr lang="en-US" sz="2400" dirty="0" err="1">
                <a:latin typeface="Arial" panose="020B0604020202020204" pitchFamily="34" charset="0"/>
                <a:cs typeface="Arial" panose="020B0604020202020204" pitchFamily="34" charset="0"/>
              </a:rPr>
              <a:t>TestLabel</a:t>
            </a:r>
            <a:r>
              <a:rPr lang="en-US" sz="2400" dirty="0">
                <a:latin typeface="Arial" panose="020B0604020202020204" pitchFamily="34" charset="0"/>
                <a:cs typeface="Arial" panose="020B0604020202020204" pitchFamily="34" charset="0"/>
              </a:rPr>
              <a:t>(51:100,1) = 1;      </a:t>
            </a:r>
            <a:r>
              <a:rPr lang="en-US" sz="2400" dirty="0">
                <a:solidFill>
                  <a:srgbClr val="00B050"/>
                </a:solidFill>
                <a:latin typeface="Arial" panose="020B0604020202020204" pitchFamily="34" charset="0"/>
                <a:cs typeface="Arial" panose="020B0604020202020204" pitchFamily="34" charset="0"/>
              </a:rPr>
              <a:t>% 1 = Airplanes</a:t>
            </a:r>
          </a:p>
          <a:p>
            <a:pPr>
              <a:spcBef>
                <a:spcPts val="0"/>
              </a:spcBef>
            </a:pPr>
            <a:endParaRPr lang="en-GB" sz="2400"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27671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SVM: Code…</a:t>
            </a:r>
          </a:p>
        </p:txBody>
      </p:sp>
      <p:sp>
        <p:nvSpPr>
          <p:cNvPr id="3" name="Subtitle 2"/>
          <p:cNvSpPr>
            <a:spLocks noGrp="1"/>
          </p:cNvSpPr>
          <p:nvPr>
            <p:ph type="subTitle" idx="1"/>
          </p:nvPr>
        </p:nvSpPr>
        <p:spPr>
          <a:xfrm>
            <a:off x="209581" y="1285860"/>
            <a:ext cx="8982763" cy="5383500"/>
          </a:xfrm>
        </p:spPr>
        <p:txBody>
          <a:bodyPr>
            <a:noAutofit/>
          </a:bodyPr>
          <a:lstStyle/>
          <a:p>
            <a:r>
              <a:rPr lang="en-GB" sz="1800" dirty="0">
                <a:solidFill>
                  <a:srgbClr val="00B050"/>
                </a:solidFill>
                <a:latin typeface="Arial" panose="020B0604020202020204" pitchFamily="34" charset="0"/>
                <a:cs typeface="Arial" panose="020B0604020202020204" pitchFamily="34" charset="0"/>
              </a:rPr>
              <a:t>% Normalization: Conversion into grayscale if not already &amp; resizing into same size</a:t>
            </a:r>
          </a:p>
          <a:p>
            <a:r>
              <a:rPr lang="en-GB" sz="2000" dirty="0">
                <a:latin typeface="Arial" panose="020B0604020202020204" pitchFamily="34" charset="0"/>
                <a:cs typeface="Arial" panose="020B0604020202020204" pitchFamily="34" charset="0"/>
              </a:rPr>
              <a:t>width = 8; height = 8; </a:t>
            </a:r>
            <a:r>
              <a:rPr lang="en-GB" sz="2000" dirty="0">
                <a:solidFill>
                  <a:srgbClr val="00B050"/>
                </a:solidFill>
                <a:latin typeface="Arial" panose="020B0604020202020204" pitchFamily="34" charset="0"/>
                <a:cs typeface="Arial" panose="020B0604020202020204" pitchFamily="34" charset="0"/>
              </a:rPr>
              <a:t>% Normalized image size</a:t>
            </a:r>
          </a:p>
          <a:p>
            <a:r>
              <a:rPr lang="en-US" sz="2000" dirty="0">
                <a:solidFill>
                  <a:srgbClr val="00B050"/>
                </a:solidFill>
                <a:latin typeface="Arial" panose="020B0604020202020204" pitchFamily="34" charset="0"/>
                <a:cs typeface="Arial" panose="020B0604020202020204" pitchFamily="34" charset="0"/>
              </a:rPr>
              <a:t>% Normalization of training images</a:t>
            </a:r>
            <a:endParaRPr lang="en-GB" sz="2000" dirty="0">
              <a:solidFill>
                <a:srgbClr val="00B050"/>
              </a:solidFill>
              <a:latin typeface="Arial" panose="020B0604020202020204" pitchFamily="34" charset="0"/>
              <a:cs typeface="Arial" panose="020B0604020202020204" pitchFamily="34" charset="0"/>
            </a:endParaRPr>
          </a:p>
          <a:p>
            <a:r>
              <a:rPr lang="en-US" sz="2000" dirty="0" err="1">
                <a:latin typeface="Arial" panose="020B0604020202020204" pitchFamily="34" charset="0"/>
                <a:cs typeface="Arial" panose="020B0604020202020204" pitchFamily="34" charset="0"/>
              </a:rPr>
              <a:t>TrainSet</a:t>
            </a:r>
            <a:r>
              <a:rPr lang="en-US" sz="2000" dirty="0">
                <a:latin typeface="Arial" panose="020B0604020202020204" pitchFamily="34" charset="0"/>
                <a:cs typeface="Arial" panose="020B0604020202020204" pitchFamily="34" charset="0"/>
              </a:rPr>
              <a:t> = cell([], 1);</a:t>
            </a:r>
          </a:p>
          <a:p>
            <a:r>
              <a:rPr lang="en-US" sz="2000" dirty="0">
                <a:latin typeface="Arial" panose="020B0604020202020204" pitchFamily="34" charset="0"/>
                <a:cs typeface="Arial" panose="020B0604020202020204" pitchFamily="34" charset="0"/>
              </a:rPr>
              <a:t>for j=1:TrainSetSize</a:t>
            </a:r>
            <a:endParaRPr lang="en-US" sz="2000" dirty="0">
              <a:solidFill>
                <a:srgbClr val="00B050"/>
              </a:solidFill>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tempImage</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imread</a:t>
            </a: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horzcat</a:t>
            </a: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TrainImageSet,filesep,TrainFN</a:t>
            </a:r>
            <a:r>
              <a:rPr lang="en-US" sz="2000" dirty="0">
                <a:latin typeface="Arial" panose="020B0604020202020204" pitchFamily="34" charset="0"/>
                <a:cs typeface="Arial" panose="020B0604020202020204" pitchFamily="34" charset="0"/>
              </a:rPr>
              <a:t>{j}));</a:t>
            </a: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imgInfo</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imfinfo</a:t>
            </a: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horzcat</a:t>
            </a: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TrainImageSet,filesep,TrainFN</a:t>
            </a:r>
            <a:r>
              <a:rPr lang="en-US" sz="2000" dirty="0">
                <a:latin typeface="Arial" panose="020B0604020202020204" pitchFamily="34" charset="0"/>
                <a:cs typeface="Arial" panose="020B0604020202020204" pitchFamily="34" charset="0"/>
              </a:rPr>
              <a:t>{j}));</a:t>
            </a:r>
            <a:endParaRPr lang="en-US" sz="2000" dirty="0">
              <a:solidFill>
                <a:srgbClr val="00B050"/>
              </a:solidFill>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if </a:t>
            </a:r>
            <a:r>
              <a:rPr lang="en-US" sz="2000" dirty="0" err="1">
                <a:latin typeface="Arial" panose="020B0604020202020204" pitchFamily="34" charset="0"/>
                <a:cs typeface="Arial" panose="020B0604020202020204" pitchFamily="34" charset="0"/>
              </a:rPr>
              <a:t>strcmp</a:t>
            </a:r>
            <a:r>
              <a:rPr lang="en-US" sz="2000" dirty="0">
                <a:latin typeface="Arial" panose="020B0604020202020204" pitchFamily="34" charset="0"/>
                <a:cs typeface="Arial" panose="020B0604020202020204" pitchFamily="34" charset="0"/>
              </a:rPr>
              <a:t>(imgInfo.</a:t>
            </a:r>
            <a:r>
              <a:rPr lang="en-US" sz="2000" dirty="0" err="1">
                <a:latin typeface="Arial" panose="020B0604020202020204" pitchFamily="34" charset="0"/>
                <a:cs typeface="Arial" panose="020B0604020202020204" pitchFamily="34" charset="0"/>
              </a:rPr>
              <a:t>ColorType</a:t>
            </a:r>
            <a:r>
              <a:rPr lang="en-US" sz="2000" dirty="0">
                <a:latin typeface="Arial" panose="020B0604020202020204" pitchFamily="34" charset="0"/>
                <a:cs typeface="Arial" panose="020B0604020202020204" pitchFamily="34" charset="0"/>
              </a:rPr>
              <a:t>,'grayscale')</a:t>
            </a: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TrainSet</a:t>
            </a:r>
            <a:r>
              <a:rPr lang="en-US" sz="2000" dirty="0">
                <a:latin typeface="Arial" panose="020B0604020202020204" pitchFamily="34" charset="0"/>
                <a:cs typeface="Arial" panose="020B0604020202020204" pitchFamily="34" charset="0"/>
              </a:rPr>
              <a:t>{j} = </a:t>
            </a:r>
            <a:r>
              <a:rPr lang="en-US" sz="2000" dirty="0" err="1">
                <a:latin typeface="Arial" panose="020B0604020202020204" pitchFamily="34" charset="0"/>
                <a:cs typeface="Arial" panose="020B0604020202020204" pitchFamily="34" charset="0"/>
              </a:rPr>
              <a:t>imresize</a:t>
            </a: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tempImage</a:t>
            </a:r>
            <a:r>
              <a:rPr lang="en-US" sz="2000" dirty="0">
                <a:latin typeface="Arial" panose="020B0604020202020204" pitchFamily="34" charset="0"/>
                <a:cs typeface="Arial" panose="020B0604020202020204" pitchFamily="34" charset="0"/>
              </a:rPr>
              <a:t>,[width height]); </a:t>
            </a:r>
          </a:p>
          <a:p>
            <a:r>
              <a:rPr lang="en-US" sz="2000" dirty="0">
                <a:latin typeface="Arial" panose="020B0604020202020204" pitchFamily="34" charset="0"/>
                <a:cs typeface="Arial" panose="020B0604020202020204" pitchFamily="34" charset="0"/>
              </a:rPr>
              <a:t>      else</a:t>
            </a: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TrainSet</a:t>
            </a:r>
            <a:r>
              <a:rPr lang="en-US" sz="2000" dirty="0">
                <a:latin typeface="Arial" panose="020B0604020202020204" pitchFamily="34" charset="0"/>
                <a:cs typeface="Arial" panose="020B0604020202020204" pitchFamily="34" charset="0"/>
              </a:rPr>
              <a:t>{j} = </a:t>
            </a:r>
            <a:r>
              <a:rPr lang="en-US" sz="2000" dirty="0" err="1">
                <a:latin typeface="Arial" panose="020B0604020202020204" pitchFamily="34" charset="0"/>
                <a:cs typeface="Arial" panose="020B0604020202020204" pitchFamily="34" charset="0"/>
              </a:rPr>
              <a:t>imresize</a:t>
            </a:r>
            <a:r>
              <a:rPr lang="en-US" sz="2000" dirty="0">
                <a:latin typeface="Arial" panose="020B0604020202020204" pitchFamily="34" charset="0"/>
                <a:cs typeface="Arial" panose="020B0604020202020204" pitchFamily="34" charset="0"/>
              </a:rPr>
              <a:t>(rgb2gray(</a:t>
            </a:r>
            <a:r>
              <a:rPr lang="en-US" sz="2000" dirty="0" err="1">
                <a:latin typeface="Arial" panose="020B0604020202020204" pitchFamily="34" charset="0"/>
                <a:cs typeface="Arial" panose="020B0604020202020204" pitchFamily="34" charset="0"/>
              </a:rPr>
              <a:t>tempImage</a:t>
            </a:r>
            <a:r>
              <a:rPr lang="en-US" sz="2000" dirty="0">
                <a:latin typeface="Arial" panose="020B0604020202020204" pitchFamily="34" charset="0"/>
                <a:cs typeface="Arial" panose="020B0604020202020204" pitchFamily="34" charset="0"/>
              </a:rPr>
              <a:t>),[width height]); </a:t>
            </a:r>
          </a:p>
          <a:p>
            <a:r>
              <a:rPr lang="en-US" sz="2000" dirty="0">
                <a:latin typeface="Arial" panose="020B0604020202020204" pitchFamily="34" charset="0"/>
                <a:cs typeface="Arial" panose="020B0604020202020204" pitchFamily="34" charset="0"/>
              </a:rPr>
              <a:t>      end</a:t>
            </a:r>
          </a:p>
          <a:p>
            <a:r>
              <a:rPr lang="en-US" sz="2000" dirty="0">
                <a:latin typeface="Arial" panose="020B0604020202020204" pitchFamily="34" charset="0"/>
                <a:cs typeface="Arial" panose="020B0604020202020204" pitchFamily="34" charset="0"/>
              </a:rPr>
              <a:t>end</a:t>
            </a:r>
          </a:p>
        </p:txBody>
      </p:sp>
      <p:pic>
        <p:nvPicPr>
          <p:cNvPr id="4" name="Picture 3"/>
          <p:cNvPicPr>
            <a:picLocks noChangeAspect="1"/>
          </p:cNvPicPr>
          <p:nvPr/>
        </p:nvPicPr>
        <p:blipFill rotWithShape="1">
          <a:blip r:embed="rId3"/>
          <a:srcRect l="23444" t="14632" r="25563" b="34159"/>
          <a:stretch/>
        </p:blipFill>
        <p:spPr>
          <a:xfrm>
            <a:off x="10704512" y="2708920"/>
            <a:ext cx="1230414" cy="615207"/>
          </a:xfrm>
          <a:prstGeom prst="rect">
            <a:avLst/>
          </a:prstGeom>
        </p:spPr>
      </p:pic>
      <p:sp>
        <p:nvSpPr>
          <p:cNvPr id="6" name="Rectangle 5"/>
          <p:cNvSpPr/>
          <p:nvPr/>
        </p:nvSpPr>
        <p:spPr>
          <a:xfrm>
            <a:off x="8112224" y="2693819"/>
            <a:ext cx="4007768" cy="2031325"/>
          </a:xfrm>
          <a:prstGeom prst="rect">
            <a:avLst/>
          </a:prstGeom>
          <a:ln>
            <a:solidFill>
              <a:schemeClr val="tx1"/>
            </a:solidFill>
          </a:ln>
        </p:spPr>
        <p:txBody>
          <a:bodyPr wrap="square">
            <a:spAutoFit/>
          </a:bodyPr>
          <a:lstStyle/>
          <a:p>
            <a:r>
              <a:rPr lang="en-US" dirty="0"/>
              <a:t>j=1;</a:t>
            </a:r>
          </a:p>
          <a:p>
            <a:r>
              <a:rPr lang="en-US" dirty="0"/>
              <a:t>&gt;&gt; </a:t>
            </a:r>
            <a:r>
              <a:rPr lang="en-US" dirty="0" err="1"/>
              <a:t>imshow</a:t>
            </a:r>
            <a:r>
              <a:rPr lang="en-US" dirty="0"/>
              <a:t>(</a:t>
            </a:r>
            <a:r>
              <a:rPr lang="en-US" dirty="0" err="1"/>
              <a:t>tempImage</a:t>
            </a:r>
            <a:r>
              <a:rPr lang="en-US" dirty="0"/>
              <a:t>)</a:t>
            </a:r>
          </a:p>
          <a:p>
            <a:r>
              <a:rPr lang="en-US" dirty="0"/>
              <a:t>&gt;&gt; </a:t>
            </a:r>
            <a:r>
              <a:rPr lang="en-US" dirty="0" err="1"/>
              <a:t>strcmp</a:t>
            </a:r>
            <a:r>
              <a:rPr lang="en-US" dirty="0"/>
              <a:t>(imgInfo.</a:t>
            </a:r>
            <a:r>
              <a:rPr lang="en-US" dirty="0" err="1"/>
              <a:t>ColorType</a:t>
            </a:r>
            <a:r>
              <a:rPr lang="en-US" dirty="0"/>
              <a:t>,'grayscale')</a:t>
            </a:r>
          </a:p>
          <a:p>
            <a:r>
              <a:rPr lang="en-US" dirty="0" err="1"/>
              <a:t>ans</a:t>
            </a:r>
            <a:r>
              <a:rPr lang="en-US" dirty="0"/>
              <a:t> =</a:t>
            </a:r>
          </a:p>
          <a:p>
            <a:r>
              <a:rPr lang="en-US" dirty="0"/>
              <a:t>  logical</a:t>
            </a:r>
          </a:p>
          <a:p>
            <a:r>
              <a:rPr lang="en-US" dirty="0"/>
              <a:t>   0</a:t>
            </a:r>
          </a:p>
          <a:p>
            <a:r>
              <a:rPr lang="en-US" dirty="0"/>
              <a:t>&gt;&gt; </a:t>
            </a:r>
            <a:r>
              <a:rPr lang="en-US" dirty="0" err="1"/>
              <a:t>imshow</a:t>
            </a:r>
            <a:r>
              <a:rPr lang="en-US" dirty="0"/>
              <a:t>(</a:t>
            </a:r>
            <a:r>
              <a:rPr lang="en-US" dirty="0" err="1"/>
              <a:t>TrainSet</a:t>
            </a:r>
            <a:r>
              <a:rPr lang="en-US" dirty="0"/>
              <a:t>{j})</a:t>
            </a:r>
          </a:p>
        </p:txBody>
      </p:sp>
      <p:pic>
        <p:nvPicPr>
          <p:cNvPr id="7" name="Picture 6"/>
          <p:cNvPicPr>
            <a:picLocks noChangeAspect="1"/>
          </p:cNvPicPr>
          <p:nvPr/>
        </p:nvPicPr>
        <p:blipFill rotWithShape="1">
          <a:blip r:embed="rId4"/>
          <a:srcRect l="48055" t="25607" r="47966" b="68396"/>
          <a:stretch/>
        </p:blipFill>
        <p:spPr>
          <a:xfrm>
            <a:off x="11280576" y="4149080"/>
            <a:ext cx="448050" cy="504056"/>
          </a:xfrm>
          <a:prstGeom prst="rect">
            <a:avLst/>
          </a:prstGeom>
        </p:spPr>
      </p:pic>
    </p:spTree>
    <p:extLst>
      <p:ext uri="{BB962C8B-B14F-4D97-AF65-F5344CB8AC3E}">
        <p14:creationId xmlns:p14="http://schemas.microsoft.com/office/powerpoint/2010/main" val="10326961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SVM: Code…</a:t>
            </a:r>
          </a:p>
        </p:txBody>
      </p:sp>
      <p:sp>
        <p:nvSpPr>
          <p:cNvPr id="3" name="Subtitle 2"/>
          <p:cNvSpPr>
            <a:spLocks noGrp="1"/>
          </p:cNvSpPr>
          <p:nvPr>
            <p:ph type="subTitle" idx="1"/>
          </p:nvPr>
        </p:nvSpPr>
        <p:spPr>
          <a:xfrm>
            <a:off x="209581" y="1285860"/>
            <a:ext cx="10244137" cy="5383500"/>
          </a:xfrm>
        </p:spPr>
        <p:txBody>
          <a:bodyPr>
            <a:noAutofit/>
          </a:bodyPr>
          <a:lstStyle/>
          <a:p>
            <a:r>
              <a:rPr lang="en-GB" sz="2400" dirty="0">
                <a:solidFill>
                  <a:srgbClr val="00B050"/>
                </a:solidFill>
                <a:latin typeface="Arial" panose="020B0604020202020204" pitchFamily="34" charset="0"/>
                <a:cs typeface="Arial" panose="020B0604020202020204" pitchFamily="34" charset="0"/>
              </a:rPr>
              <a:t>% Normalization of test images</a:t>
            </a:r>
          </a:p>
          <a:p>
            <a:r>
              <a:rPr lang="en-US" sz="2400" dirty="0" err="1">
                <a:latin typeface="Arial" panose="020B0604020202020204" pitchFamily="34" charset="0"/>
                <a:cs typeface="Arial" panose="020B0604020202020204" pitchFamily="34" charset="0"/>
              </a:rPr>
              <a:t>TestSet</a:t>
            </a:r>
            <a:r>
              <a:rPr lang="en-US" sz="2400" dirty="0">
                <a:latin typeface="Arial" panose="020B0604020202020204" pitchFamily="34" charset="0"/>
                <a:cs typeface="Arial" panose="020B0604020202020204" pitchFamily="34" charset="0"/>
              </a:rPr>
              <a:t> =  cell([], 1);</a:t>
            </a:r>
          </a:p>
          <a:p>
            <a:r>
              <a:rPr lang="en-US" sz="2400" dirty="0">
                <a:latin typeface="Arial" panose="020B0604020202020204" pitchFamily="34" charset="0"/>
                <a:cs typeface="Arial" panose="020B0604020202020204" pitchFamily="34" charset="0"/>
              </a:rPr>
              <a:t> for j=1:TestSetSize</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tempImage</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imread</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horzcat</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TestImageSet,filesep,TestFN</a:t>
            </a:r>
            <a:r>
              <a:rPr lang="en-US" sz="2400" dirty="0">
                <a:latin typeface="Arial" panose="020B0604020202020204" pitchFamily="34" charset="0"/>
                <a:cs typeface="Arial" panose="020B0604020202020204" pitchFamily="34" charset="0"/>
              </a:rPr>
              <a:t>{j}));</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imgInfo</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imfinfo</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horzcat</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TestImageSet,filesep,TestFN</a:t>
            </a:r>
            <a:r>
              <a:rPr lang="en-US" sz="2400" dirty="0">
                <a:latin typeface="Arial" panose="020B0604020202020204" pitchFamily="34" charset="0"/>
                <a:cs typeface="Arial" panose="020B0604020202020204" pitchFamily="34" charset="0"/>
              </a:rPr>
              <a:t>{j}));</a:t>
            </a:r>
            <a:endParaRPr lang="en-US" sz="2400" dirty="0">
              <a:solidFill>
                <a:srgbClr val="00B050"/>
              </a:solidFill>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      if </a:t>
            </a:r>
            <a:r>
              <a:rPr lang="en-US" sz="2400" dirty="0" err="1">
                <a:latin typeface="Arial" panose="020B0604020202020204" pitchFamily="34" charset="0"/>
                <a:cs typeface="Arial" panose="020B0604020202020204" pitchFamily="34" charset="0"/>
              </a:rPr>
              <a:t>strcmp</a:t>
            </a:r>
            <a:r>
              <a:rPr lang="en-US" sz="2400" dirty="0">
                <a:latin typeface="Arial" panose="020B0604020202020204" pitchFamily="34" charset="0"/>
                <a:cs typeface="Arial" panose="020B0604020202020204" pitchFamily="34" charset="0"/>
              </a:rPr>
              <a:t>(imgInfo.</a:t>
            </a:r>
            <a:r>
              <a:rPr lang="en-US" sz="2400" dirty="0" err="1">
                <a:latin typeface="Arial" panose="020B0604020202020204" pitchFamily="34" charset="0"/>
                <a:cs typeface="Arial" panose="020B0604020202020204" pitchFamily="34" charset="0"/>
              </a:rPr>
              <a:t>ColorType</a:t>
            </a:r>
            <a:r>
              <a:rPr lang="en-US" sz="2400" dirty="0">
                <a:latin typeface="Arial" panose="020B0604020202020204" pitchFamily="34" charset="0"/>
                <a:cs typeface="Arial" panose="020B0604020202020204" pitchFamily="34" charset="0"/>
              </a:rPr>
              <a:t>,'grayscale')</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TestSet</a:t>
            </a:r>
            <a:r>
              <a:rPr lang="en-US" sz="2400" dirty="0">
                <a:latin typeface="Arial" panose="020B0604020202020204" pitchFamily="34" charset="0"/>
                <a:cs typeface="Arial" panose="020B0604020202020204" pitchFamily="34" charset="0"/>
              </a:rPr>
              <a:t>{j} = </a:t>
            </a:r>
            <a:r>
              <a:rPr lang="en-US" sz="2400" dirty="0" err="1">
                <a:latin typeface="Arial" panose="020B0604020202020204" pitchFamily="34" charset="0"/>
                <a:cs typeface="Arial" panose="020B0604020202020204" pitchFamily="34" charset="0"/>
              </a:rPr>
              <a:t>imresize</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tempImage</a:t>
            </a:r>
            <a:r>
              <a:rPr lang="en-US" sz="2400" dirty="0">
                <a:latin typeface="Arial" panose="020B0604020202020204" pitchFamily="34" charset="0"/>
                <a:cs typeface="Arial" panose="020B0604020202020204" pitchFamily="34" charset="0"/>
              </a:rPr>
              <a:t>,[width height]); </a:t>
            </a:r>
          </a:p>
          <a:p>
            <a:r>
              <a:rPr lang="en-US" sz="2400" dirty="0">
                <a:latin typeface="Arial" panose="020B0604020202020204" pitchFamily="34" charset="0"/>
                <a:cs typeface="Arial" panose="020B0604020202020204" pitchFamily="34" charset="0"/>
              </a:rPr>
              <a:t>      else</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TestSet</a:t>
            </a:r>
            <a:r>
              <a:rPr lang="en-US" sz="2400" dirty="0">
                <a:latin typeface="Arial" panose="020B0604020202020204" pitchFamily="34" charset="0"/>
                <a:cs typeface="Arial" panose="020B0604020202020204" pitchFamily="34" charset="0"/>
              </a:rPr>
              <a:t>{j} = </a:t>
            </a:r>
            <a:r>
              <a:rPr lang="en-US" sz="2400" dirty="0" err="1">
                <a:latin typeface="Arial" panose="020B0604020202020204" pitchFamily="34" charset="0"/>
                <a:cs typeface="Arial" panose="020B0604020202020204" pitchFamily="34" charset="0"/>
              </a:rPr>
              <a:t>imresize</a:t>
            </a:r>
            <a:r>
              <a:rPr lang="en-US" sz="2400" dirty="0">
                <a:latin typeface="Arial" panose="020B0604020202020204" pitchFamily="34" charset="0"/>
                <a:cs typeface="Arial" panose="020B0604020202020204" pitchFamily="34" charset="0"/>
              </a:rPr>
              <a:t>(rgb2gray(</a:t>
            </a:r>
            <a:r>
              <a:rPr lang="en-US" sz="2400" dirty="0" err="1">
                <a:latin typeface="Arial" panose="020B0604020202020204" pitchFamily="34" charset="0"/>
                <a:cs typeface="Arial" panose="020B0604020202020204" pitchFamily="34" charset="0"/>
              </a:rPr>
              <a:t>tempImage</a:t>
            </a:r>
            <a:r>
              <a:rPr lang="en-US" sz="2400" dirty="0">
                <a:latin typeface="Arial" panose="020B0604020202020204" pitchFamily="34" charset="0"/>
                <a:cs typeface="Arial" panose="020B0604020202020204" pitchFamily="34" charset="0"/>
              </a:rPr>
              <a:t>),[width height]); </a:t>
            </a:r>
          </a:p>
          <a:p>
            <a:r>
              <a:rPr lang="en-US" sz="2400" dirty="0">
                <a:latin typeface="Arial" panose="020B0604020202020204" pitchFamily="34" charset="0"/>
                <a:cs typeface="Arial" panose="020B0604020202020204" pitchFamily="34" charset="0"/>
              </a:rPr>
              <a:t>      end</a:t>
            </a:r>
          </a:p>
          <a:p>
            <a:r>
              <a:rPr lang="en-US" sz="2400" dirty="0">
                <a:latin typeface="Arial" panose="020B0604020202020204" pitchFamily="34" charset="0"/>
                <a:cs typeface="Arial" panose="020B0604020202020204" pitchFamily="34" charset="0"/>
              </a:rPr>
              <a:t> end</a:t>
            </a:r>
          </a:p>
        </p:txBody>
      </p:sp>
    </p:spTree>
    <p:extLst>
      <p:ext uri="{BB962C8B-B14F-4D97-AF65-F5344CB8AC3E}">
        <p14:creationId xmlns:p14="http://schemas.microsoft.com/office/powerpoint/2010/main" val="10394107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SVM: Code…</a:t>
            </a:r>
          </a:p>
        </p:txBody>
      </p:sp>
      <p:sp>
        <p:nvSpPr>
          <p:cNvPr id="3" name="Subtitle 2"/>
          <p:cNvSpPr>
            <a:spLocks noGrp="1"/>
          </p:cNvSpPr>
          <p:nvPr>
            <p:ph type="subTitle" idx="1"/>
          </p:nvPr>
        </p:nvSpPr>
        <p:spPr>
          <a:xfrm>
            <a:off x="191344" y="1285860"/>
            <a:ext cx="11089232" cy="5383500"/>
          </a:xfrm>
        </p:spPr>
        <p:txBody>
          <a:bodyPr>
            <a:noAutofit/>
          </a:bodyPr>
          <a:lstStyle/>
          <a:p>
            <a:r>
              <a:rPr lang="en-GB" sz="2000" dirty="0">
                <a:solidFill>
                  <a:srgbClr val="00B050"/>
                </a:solidFill>
                <a:latin typeface="Arial" panose="020B0604020202020204" pitchFamily="34" charset="0"/>
                <a:cs typeface="Arial" panose="020B0604020202020204" pitchFamily="34" charset="0"/>
              </a:rPr>
              <a:t>% Numeric matrix of features, every row is a feature vector for 1 image</a:t>
            </a:r>
          </a:p>
          <a:p>
            <a:r>
              <a:rPr lang="en-US" sz="2000" dirty="0" err="1">
                <a:latin typeface="Arial" panose="020B0604020202020204" pitchFamily="34" charset="0"/>
                <a:cs typeface="Arial" panose="020B0604020202020204" pitchFamily="34" charset="0"/>
              </a:rPr>
              <a:t>Training_Set</a:t>
            </a:r>
            <a:r>
              <a:rPr lang="en-US" sz="2000" dirty="0">
                <a:latin typeface="Arial" panose="020B0604020202020204" pitchFamily="34" charset="0"/>
                <a:cs typeface="Arial" panose="020B0604020202020204" pitchFamily="34" charset="0"/>
              </a:rPr>
              <a:t> = uint8(zeros(</a:t>
            </a:r>
            <a:r>
              <a:rPr lang="en-US" sz="2000" dirty="0" err="1">
                <a:latin typeface="Arial" panose="020B0604020202020204" pitchFamily="34" charset="0"/>
                <a:cs typeface="Arial" panose="020B0604020202020204" pitchFamily="34" charset="0"/>
              </a:rPr>
              <a:t>TrainSetSize,width</a:t>
            </a:r>
            <a:r>
              <a:rPr lang="en-US" sz="2000" dirty="0">
                <a:latin typeface="Arial" panose="020B0604020202020204" pitchFamily="34" charset="0"/>
                <a:cs typeface="Arial" panose="020B0604020202020204" pitchFamily="34" charset="0"/>
              </a:rPr>
              <a:t>*height)); </a:t>
            </a:r>
            <a:r>
              <a:rPr lang="en-US" sz="1600" dirty="0">
                <a:solidFill>
                  <a:srgbClr val="00B050"/>
                </a:solidFill>
                <a:latin typeface="Arial" panose="020B0604020202020204" pitchFamily="34" charset="0"/>
                <a:cs typeface="Arial" panose="020B0604020202020204" pitchFamily="34" charset="0"/>
              </a:rPr>
              <a:t>% code optimization by </a:t>
            </a:r>
            <a:r>
              <a:rPr lang="en-US" sz="1600" dirty="0" err="1">
                <a:solidFill>
                  <a:srgbClr val="00B050"/>
                </a:solidFill>
                <a:latin typeface="Arial" panose="020B0604020202020204" pitchFamily="34" charset="0"/>
                <a:cs typeface="Arial" panose="020B0604020202020204" pitchFamily="34" charset="0"/>
              </a:rPr>
              <a:t>preallocating</a:t>
            </a:r>
            <a:r>
              <a:rPr lang="en-US" sz="1600" dirty="0">
                <a:solidFill>
                  <a:srgbClr val="00B050"/>
                </a:solidFill>
                <a:latin typeface="Arial" panose="020B0604020202020204" pitchFamily="34" charset="0"/>
                <a:cs typeface="Arial" panose="020B0604020202020204" pitchFamily="34" charset="0"/>
              </a:rPr>
              <a:t> the memory</a:t>
            </a:r>
            <a:endParaRPr lang="en-US" sz="2000" dirty="0">
              <a:solidFill>
                <a:srgbClr val="00B050"/>
              </a:solidFill>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for j=1:length(</a:t>
            </a:r>
            <a:r>
              <a:rPr lang="en-US" sz="2000" dirty="0" err="1">
                <a:latin typeface="Arial" panose="020B0604020202020204" pitchFamily="34" charset="0"/>
                <a:cs typeface="Arial" panose="020B0604020202020204" pitchFamily="34" charset="0"/>
              </a:rPr>
              <a:t>TrainSet</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Training_Set</a:t>
            </a:r>
            <a:r>
              <a:rPr lang="en-US" sz="2000" dirty="0">
                <a:latin typeface="Arial" panose="020B0604020202020204" pitchFamily="34" charset="0"/>
                <a:cs typeface="Arial" panose="020B0604020202020204" pitchFamily="34" charset="0"/>
              </a:rPr>
              <a:t>(j,:) = reshape(</a:t>
            </a:r>
            <a:r>
              <a:rPr lang="en-US" sz="2000" dirty="0" err="1">
                <a:latin typeface="Arial" panose="020B0604020202020204" pitchFamily="34" charset="0"/>
                <a:cs typeface="Arial" panose="020B0604020202020204" pitchFamily="34" charset="0"/>
              </a:rPr>
              <a:t>TrainSet</a:t>
            </a:r>
            <a:r>
              <a:rPr lang="en-US" sz="2000" dirty="0">
                <a:latin typeface="Arial" panose="020B0604020202020204" pitchFamily="34" charset="0"/>
                <a:cs typeface="Arial" panose="020B0604020202020204" pitchFamily="34" charset="0"/>
              </a:rPr>
              <a:t>{j},1, width*height);</a:t>
            </a:r>
          </a:p>
          <a:p>
            <a:r>
              <a:rPr lang="en-US" sz="2000" dirty="0">
                <a:latin typeface="Arial" panose="020B0604020202020204" pitchFamily="34" charset="0"/>
                <a:cs typeface="Arial" panose="020B0604020202020204" pitchFamily="34" charset="0"/>
              </a:rPr>
              <a:t>end</a:t>
            </a:r>
          </a:p>
          <a:p>
            <a:r>
              <a:rPr lang="en-US" sz="2000" dirty="0" err="1">
                <a:latin typeface="Arial" panose="020B0604020202020204" pitchFamily="34" charset="0"/>
                <a:cs typeface="Arial" panose="020B0604020202020204" pitchFamily="34" charset="0"/>
              </a:rPr>
              <a:t>Test_Set</a:t>
            </a:r>
            <a:r>
              <a:rPr lang="en-US" sz="2000" dirty="0">
                <a:latin typeface="Arial" panose="020B0604020202020204" pitchFamily="34" charset="0"/>
                <a:cs typeface="Arial" panose="020B0604020202020204" pitchFamily="34" charset="0"/>
              </a:rPr>
              <a:t> = uint8(zeros(</a:t>
            </a:r>
            <a:r>
              <a:rPr lang="en-US" sz="2000" dirty="0" err="1">
                <a:latin typeface="Arial" panose="020B0604020202020204" pitchFamily="34" charset="0"/>
                <a:cs typeface="Arial" panose="020B0604020202020204" pitchFamily="34" charset="0"/>
              </a:rPr>
              <a:t>TestSetSize,width</a:t>
            </a:r>
            <a:r>
              <a:rPr lang="en-US" sz="2000" dirty="0">
                <a:latin typeface="Arial" panose="020B0604020202020204" pitchFamily="34" charset="0"/>
                <a:cs typeface="Arial" panose="020B0604020202020204" pitchFamily="34" charset="0"/>
              </a:rPr>
              <a:t>*height));</a:t>
            </a:r>
          </a:p>
          <a:p>
            <a:r>
              <a:rPr lang="en-US" sz="2000" dirty="0">
                <a:latin typeface="Arial" panose="020B0604020202020204" pitchFamily="34" charset="0"/>
                <a:cs typeface="Arial" panose="020B0604020202020204" pitchFamily="34" charset="0"/>
              </a:rPr>
              <a:t>for j=1:length(</a:t>
            </a:r>
            <a:r>
              <a:rPr lang="en-US" sz="2000" dirty="0" err="1">
                <a:latin typeface="Arial" panose="020B0604020202020204" pitchFamily="34" charset="0"/>
                <a:cs typeface="Arial" panose="020B0604020202020204" pitchFamily="34" charset="0"/>
              </a:rPr>
              <a:t>TestSet</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Test_Set</a:t>
            </a:r>
            <a:r>
              <a:rPr lang="en-US" sz="2000" dirty="0">
                <a:latin typeface="Arial" panose="020B0604020202020204" pitchFamily="34" charset="0"/>
                <a:cs typeface="Arial" panose="020B0604020202020204" pitchFamily="34" charset="0"/>
              </a:rPr>
              <a:t>(j,:) = reshape(</a:t>
            </a:r>
            <a:r>
              <a:rPr lang="en-US" sz="2000" dirty="0" err="1">
                <a:latin typeface="Arial" panose="020B0604020202020204" pitchFamily="34" charset="0"/>
                <a:cs typeface="Arial" panose="020B0604020202020204" pitchFamily="34" charset="0"/>
              </a:rPr>
              <a:t>TestSet</a:t>
            </a:r>
            <a:r>
              <a:rPr lang="en-US" sz="2000" dirty="0">
                <a:latin typeface="Arial" panose="020B0604020202020204" pitchFamily="34" charset="0"/>
                <a:cs typeface="Arial" panose="020B0604020202020204" pitchFamily="34" charset="0"/>
              </a:rPr>
              <a:t>{j},1, width*height);</a:t>
            </a:r>
          </a:p>
          <a:p>
            <a:r>
              <a:rPr lang="en-US" sz="2000" dirty="0">
                <a:latin typeface="Arial" panose="020B0604020202020204" pitchFamily="34" charset="0"/>
                <a:cs typeface="Arial" panose="020B0604020202020204" pitchFamily="34" charset="0"/>
              </a:rPr>
              <a:t>end</a:t>
            </a:r>
          </a:p>
        </p:txBody>
      </p:sp>
      <p:sp>
        <p:nvSpPr>
          <p:cNvPr id="4" name="Rectangle 3"/>
          <p:cNvSpPr/>
          <p:nvPr/>
        </p:nvSpPr>
        <p:spPr>
          <a:xfrm>
            <a:off x="4799856" y="4293096"/>
            <a:ext cx="7344816" cy="2492990"/>
          </a:xfrm>
          <a:prstGeom prst="rect">
            <a:avLst/>
          </a:prstGeom>
          <a:ln>
            <a:solidFill>
              <a:schemeClr val="tx1"/>
            </a:solidFill>
          </a:ln>
        </p:spPr>
        <p:txBody>
          <a:bodyPr wrap="square">
            <a:spAutoFit/>
          </a:bodyPr>
          <a:lstStyle/>
          <a:p>
            <a:r>
              <a:rPr lang="en-US" sz="2000" dirty="0">
                <a:latin typeface="Arial" panose="020B0604020202020204" pitchFamily="34" charset="0"/>
                <a:cs typeface="Arial" panose="020B0604020202020204" pitchFamily="34" charset="0"/>
              </a:rPr>
              <a:t>&gt;&gt; j=1;</a:t>
            </a:r>
          </a:p>
          <a:p>
            <a:r>
              <a:rPr lang="en-US" sz="2000" dirty="0">
                <a:latin typeface="Arial" panose="020B0604020202020204" pitchFamily="34" charset="0"/>
                <a:cs typeface="Arial" panose="020B0604020202020204" pitchFamily="34" charset="0"/>
              </a:rPr>
              <a:t>&gt;&gt; </a:t>
            </a:r>
            <a:r>
              <a:rPr lang="en-US" sz="2000" dirty="0" err="1">
                <a:latin typeface="Arial" panose="020B0604020202020204" pitchFamily="34" charset="0"/>
                <a:cs typeface="Arial" panose="020B0604020202020204" pitchFamily="34" charset="0"/>
              </a:rPr>
              <a:t>Training_Set_tmp</a:t>
            </a:r>
            <a:r>
              <a:rPr lang="en-US" sz="2000" dirty="0">
                <a:latin typeface="Arial" panose="020B0604020202020204" pitchFamily="34" charset="0"/>
                <a:cs typeface="Arial" panose="020B0604020202020204" pitchFamily="34" charset="0"/>
              </a:rPr>
              <a:t>  = reshape(</a:t>
            </a:r>
            <a:r>
              <a:rPr lang="en-US" sz="2000" dirty="0" err="1">
                <a:latin typeface="Arial" panose="020B0604020202020204" pitchFamily="34" charset="0"/>
                <a:cs typeface="Arial" panose="020B0604020202020204" pitchFamily="34" charset="0"/>
              </a:rPr>
              <a:t>TrainSet</a:t>
            </a:r>
            <a:r>
              <a:rPr lang="en-US" sz="2000" dirty="0">
                <a:latin typeface="Arial" panose="020B0604020202020204" pitchFamily="34" charset="0"/>
                <a:cs typeface="Arial" panose="020B0604020202020204" pitchFamily="34" charset="0"/>
              </a:rPr>
              <a:t>{j},1, width*height)</a:t>
            </a:r>
          </a:p>
          <a:p>
            <a:r>
              <a:rPr lang="en-US" sz="2000" dirty="0" err="1">
                <a:latin typeface="Arial" panose="020B0604020202020204" pitchFamily="34" charset="0"/>
                <a:cs typeface="Arial" panose="020B0604020202020204" pitchFamily="34" charset="0"/>
              </a:rPr>
              <a:t>Training_Set_tmp</a:t>
            </a:r>
            <a:r>
              <a:rPr lang="en-US" sz="2000" dirty="0">
                <a:latin typeface="Arial" panose="020B0604020202020204" pitchFamily="34" charset="0"/>
                <a:cs typeface="Arial" panose="020B0604020202020204" pitchFamily="34" charset="0"/>
              </a:rPr>
              <a:t> = 1×64 uint8 row vector</a:t>
            </a:r>
          </a:p>
          <a:p>
            <a:r>
              <a:rPr lang="en-US" sz="1200" dirty="0">
                <a:latin typeface="Arial" panose="020B0604020202020204" pitchFamily="34" charset="0"/>
                <a:cs typeface="Arial" panose="020B0604020202020204" pitchFamily="34" charset="0"/>
              </a:rPr>
              <a:t> Columns 1 through 19</a:t>
            </a:r>
          </a:p>
          <a:p>
            <a:r>
              <a:rPr lang="en-US" sz="1200" dirty="0">
                <a:latin typeface="Arial" panose="020B0604020202020204" pitchFamily="34" charset="0"/>
                <a:cs typeface="Arial" panose="020B0604020202020204" pitchFamily="34" charset="0"/>
              </a:rPr>
              <a:t> 247   249   252   230   202   219   215   228   233   210   184   166    87   122   125   173   225   223   205</a:t>
            </a:r>
          </a:p>
          <a:p>
            <a:r>
              <a:rPr lang="en-US" sz="1200" dirty="0">
                <a:latin typeface="Arial" panose="020B0604020202020204" pitchFamily="34" charset="0"/>
                <a:cs typeface="Arial" panose="020B0604020202020204" pitchFamily="34" charset="0"/>
              </a:rPr>
              <a:t> Columns 20 through 38</a:t>
            </a:r>
          </a:p>
          <a:p>
            <a:r>
              <a:rPr lang="en-US" sz="1200" dirty="0">
                <a:latin typeface="Arial" panose="020B0604020202020204" pitchFamily="34" charset="0"/>
                <a:cs typeface="Arial" panose="020B0604020202020204" pitchFamily="34" charset="0"/>
              </a:rPr>
              <a:t> 156   149   109   129   171   219   218   223   179   143    62   100   169   218   217   217   189   152    92</a:t>
            </a:r>
          </a:p>
          <a:p>
            <a:r>
              <a:rPr lang="en-US" sz="1200" dirty="0">
                <a:latin typeface="Arial" panose="020B0604020202020204" pitchFamily="34" charset="0"/>
                <a:cs typeface="Arial" panose="020B0604020202020204" pitchFamily="34" charset="0"/>
              </a:rPr>
              <a:t> Columns 39 through 57</a:t>
            </a:r>
          </a:p>
          <a:p>
            <a:r>
              <a:rPr lang="en-US" sz="1200" dirty="0">
                <a:latin typeface="Arial" panose="020B0604020202020204" pitchFamily="34" charset="0"/>
                <a:cs typeface="Arial" panose="020B0604020202020204" pitchFamily="34" charset="0"/>
              </a:rPr>
              <a:t> 106   167   215   216   217   189   144    86   113   163   209   202   181   122    84   116   109   153   232</a:t>
            </a:r>
          </a:p>
          <a:p>
            <a:r>
              <a:rPr lang="en-US" sz="1200" dirty="0">
                <a:latin typeface="Arial" panose="020B0604020202020204" pitchFamily="34" charset="0"/>
                <a:cs typeface="Arial" panose="020B0604020202020204" pitchFamily="34" charset="0"/>
              </a:rPr>
              <a:t> Columns 58 through 64</a:t>
            </a:r>
          </a:p>
          <a:p>
            <a:r>
              <a:rPr lang="en-US" sz="1200" dirty="0">
                <a:latin typeface="Arial" panose="020B0604020202020204" pitchFamily="34" charset="0"/>
                <a:cs typeface="Arial" panose="020B0604020202020204" pitchFamily="34" charset="0"/>
              </a:rPr>
              <a:t> 218   179   158   167   198   185   201</a:t>
            </a:r>
          </a:p>
        </p:txBody>
      </p:sp>
    </p:spTree>
    <p:extLst>
      <p:ext uri="{BB962C8B-B14F-4D97-AF65-F5344CB8AC3E}">
        <p14:creationId xmlns:p14="http://schemas.microsoft.com/office/powerpoint/2010/main" val="20477865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SVM: Code</a:t>
            </a:r>
          </a:p>
        </p:txBody>
      </p:sp>
      <p:sp>
        <p:nvSpPr>
          <p:cNvPr id="3" name="Subtitle 2"/>
          <p:cNvSpPr>
            <a:spLocks noGrp="1"/>
          </p:cNvSpPr>
          <p:nvPr>
            <p:ph type="subTitle" idx="1"/>
          </p:nvPr>
        </p:nvSpPr>
        <p:spPr>
          <a:xfrm>
            <a:off x="191344" y="1285860"/>
            <a:ext cx="7560840" cy="2719204"/>
          </a:xfrm>
        </p:spPr>
        <p:txBody>
          <a:bodyPr>
            <a:noAutofit/>
          </a:bodyPr>
          <a:lstStyle/>
          <a:p>
            <a:r>
              <a:rPr lang="en-GB" sz="2000" dirty="0">
                <a:solidFill>
                  <a:srgbClr val="00B050"/>
                </a:solidFill>
                <a:latin typeface="Arial" panose="020B0604020202020204" pitchFamily="34" charset="0"/>
                <a:cs typeface="Arial" panose="020B0604020202020204" pitchFamily="34" charset="0"/>
              </a:rPr>
              <a:t>% SVM training</a:t>
            </a:r>
          </a:p>
          <a:p>
            <a:r>
              <a:rPr lang="en-US" sz="2000" dirty="0" err="1">
                <a:latin typeface="Arial" panose="020B0604020202020204" pitchFamily="34" charset="0"/>
                <a:cs typeface="Arial" panose="020B0604020202020204" pitchFamily="34" charset="0"/>
              </a:rPr>
              <a:t>SVMModel</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fitcsvm</a:t>
            </a:r>
            <a:r>
              <a:rPr lang="en-US" sz="2000" dirty="0">
                <a:latin typeface="Arial" panose="020B0604020202020204" pitchFamily="34" charset="0"/>
                <a:cs typeface="Arial" panose="020B0604020202020204" pitchFamily="34" charset="0"/>
              </a:rPr>
              <a:t>(double(</a:t>
            </a:r>
            <a:r>
              <a:rPr lang="en-US" sz="2000" dirty="0" err="1">
                <a:latin typeface="Arial" panose="020B0604020202020204" pitchFamily="34" charset="0"/>
                <a:cs typeface="Arial" panose="020B0604020202020204" pitchFamily="34" charset="0"/>
              </a:rPr>
              <a:t>Training_Set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TrainLabel</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Classes = predict(</a:t>
            </a:r>
            <a:r>
              <a:rPr lang="en-US" sz="2000" dirty="0" err="1">
                <a:latin typeface="Arial" panose="020B0604020202020204" pitchFamily="34" charset="0"/>
                <a:cs typeface="Arial" panose="020B0604020202020204" pitchFamily="34" charset="0"/>
              </a:rPr>
              <a:t>SVMModel</a:t>
            </a:r>
            <a:r>
              <a:rPr lang="en-US" sz="2000" dirty="0">
                <a:latin typeface="Arial" panose="020B0604020202020204" pitchFamily="34" charset="0"/>
                <a:cs typeface="Arial" panose="020B0604020202020204" pitchFamily="34" charset="0"/>
              </a:rPr>
              <a:t>, double(</a:t>
            </a:r>
            <a:r>
              <a:rPr lang="en-US" sz="2000" dirty="0" err="1">
                <a:latin typeface="Arial" panose="020B0604020202020204" pitchFamily="34" charset="0"/>
                <a:cs typeface="Arial" panose="020B0604020202020204" pitchFamily="34" charset="0"/>
              </a:rPr>
              <a:t>Test_Set</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 </a:t>
            </a:r>
          </a:p>
          <a:p>
            <a:r>
              <a:rPr lang="en-GB" sz="2000" dirty="0">
                <a:solidFill>
                  <a:srgbClr val="00B050"/>
                </a:solidFill>
                <a:latin typeface="Arial" panose="020B0604020202020204" pitchFamily="34" charset="0"/>
                <a:cs typeface="Arial" panose="020B0604020202020204" pitchFamily="34" charset="0"/>
              </a:rPr>
              <a:t>% SVM testing</a:t>
            </a:r>
          </a:p>
          <a:p>
            <a:r>
              <a:rPr lang="en-US" sz="2000" dirty="0" err="1">
                <a:latin typeface="Arial" panose="020B0604020202020204" pitchFamily="34" charset="0"/>
                <a:cs typeface="Arial" panose="020B0604020202020204" pitchFamily="34" charset="0"/>
              </a:rPr>
              <a:t>MissClassified</a:t>
            </a:r>
            <a:r>
              <a:rPr lang="en-US" sz="2000" dirty="0">
                <a:latin typeface="Arial" panose="020B0604020202020204" pitchFamily="34" charset="0"/>
                <a:cs typeface="Arial" panose="020B0604020202020204" pitchFamily="34" charset="0"/>
              </a:rPr>
              <a:t> = find(</a:t>
            </a:r>
            <a:r>
              <a:rPr lang="en-US" sz="2000" dirty="0" err="1">
                <a:latin typeface="Arial" panose="020B0604020202020204" pitchFamily="34" charset="0"/>
                <a:cs typeface="Arial" panose="020B0604020202020204" pitchFamily="34" charset="0"/>
              </a:rPr>
              <a:t>TestLabel</a:t>
            </a:r>
            <a:r>
              <a:rPr lang="en-US" sz="2000" dirty="0">
                <a:latin typeface="Arial" panose="020B0604020202020204" pitchFamily="34" charset="0"/>
                <a:cs typeface="Arial" panose="020B0604020202020204" pitchFamily="34" charset="0"/>
              </a:rPr>
              <a:t>-Classes).'</a:t>
            </a:r>
          </a:p>
          <a:p>
            <a:r>
              <a:rPr lang="en-US" sz="2000" dirty="0">
                <a:latin typeface="Arial" panose="020B0604020202020204" pitchFamily="34" charset="0"/>
                <a:cs typeface="Arial" panose="020B0604020202020204" pitchFamily="34" charset="0"/>
              </a:rPr>
              <a:t>Accuracy = (</a:t>
            </a:r>
            <a:r>
              <a:rPr lang="en-US" sz="2000" dirty="0" err="1">
                <a:latin typeface="Arial" panose="020B0604020202020204" pitchFamily="34" charset="0"/>
                <a:cs typeface="Arial" panose="020B0604020202020204" pitchFamily="34" charset="0"/>
              </a:rPr>
              <a:t>TestSetSize</a:t>
            </a:r>
            <a:r>
              <a:rPr lang="en-US" sz="2000" dirty="0">
                <a:latin typeface="Arial" panose="020B0604020202020204" pitchFamily="34" charset="0"/>
                <a:cs typeface="Arial" panose="020B0604020202020204" pitchFamily="34" charset="0"/>
              </a:rPr>
              <a:t>-length(</a:t>
            </a:r>
            <a:r>
              <a:rPr lang="en-US" sz="2000" dirty="0" err="1">
                <a:latin typeface="Arial" panose="020B0604020202020204" pitchFamily="34" charset="0"/>
                <a:cs typeface="Arial" panose="020B0604020202020204" pitchFamily="34" charset="0"/>
              </a:rPr>
              <a:t>MissClassified</a:t>
            </a: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TestSetSize</a:t>
            </a:r>
            <a:r>
              <a:rPr lang="en-US" sz="2000" dirty="0">
                <a:latin typeface="Arial" panose="020B0604020202020204" pitchFamily="34" charset="0"/>
                <a:cs typeface="Arial" panose="020B0604020202020204" pitchFamily="34" charset="0"/>
              </a:rPr>
              <a:t>*100</a:t>
            </a:r>
          </a:p>
        </p:txBody>
      </p:sp>
      <p:sp>
        <p:nvSpPr>
          <p:cNvPr id="4" name="TextBox 3"/>
          <p:cNvSpPr txBox="1"/>
          <p:nvPr/>
        </p:nvSpPr>
        <p:spPr>
          <a:xfrm>
            <a:off x="191344" y="4149080"/>
            <a:ext cx="5112568" cy="1015663"/>
          </a:xfrm>
          <a:prstGeom prst="rect">
            <a:avLst/>
          </a:prstGeom>
          <a:noFill/>
          <a:ln>
            <a:solidFill>
              <a:srgbClr val="C00000"/>
            </a:solidFill>
          </a:ln>
        </p:spPr>
        <p:txBody>
          <a:bodyPr wrap="square" rtlCol="0">
            <a:spAutoFit/>
          </a:bodyPr>
          <a:lstStyle/>
          <a:p>
            <a:r>
              <a:rPr lang="en-GB" sz="2000" dirty="0" err="1">
                <a:latin typeface="Arial" panose="020B0604020202020204" pitchFamily="34" charset="0"/>
                <a:cs typeface="Arial" panose="020B0604020202020204" pitchFamily="34" charset="0"/>
              </a:rPr>
              <a:t>MissClassified</a:t>
            </a:r>
            <a:r>
              <a:rPr lang="en-GB" sz="2000" dirty="0">
                <a:latin typeface="Arial" panose="020B0604020202020204" pitchFamily="34" charset="0"/>
                <a:cs typeface="Arial" panose="020B0604020202020204" pitchFamily="34" charset="0"/>
              </a:rPr>
              <a:t> = 1×7 </a:t>
            </a:r>
          </a:p>
          <a:p>
            <a:r>
              <a:rPr lang="en-GB" sz="2000" dirty="0">
                <a:latin typeface="Arial" panose="020B0604020202020204" pitchFamily="34" charset="0"/>
                <a:cs typeface="Arial" panose="020B0604020202020204" pitchFamily="34" charset="0"/>
              </a:rPr>
              <a:t>			1 3 14 15 16 21 45 </a:t>
            </a:r>
          </a:p>
          <a:p>
            <a:r>
              <a:rPr lang="en-GB" sz="2000" dirty="0">
                <a:latin typeface="Arial" panose="020B0604020202020204" pitchFamily="34" charset="0"/>
                <a:cs typeface="Arial" panose="020B0604020202020204" pitchFamily="34" charset="0"/>
              </a:rPr>
              <a:t>Accuracy = 93</a:t>
            </a:r>
            <a:endParaRPr lang="en-US" sz="2000" dirty="0">
              <a:latin typeface="Arial" panose="020B0604020202020204" pitchFamily="34" charset="0"/>
              <a:cs typeface="Arial" panose="020B0604020202020204" pitchFamily="34" charset="0"/>
            </a:endParaRPr>
          </a:p>
        </p:txBody>
      </p:sp>
      <p:sp>
        <p:nvSpPr>
          <p:cNvPr id="6" name="Rounded Rectangle 5"/>
          <p:cNvSpPr/>
          <p:nvPr/>
        </p:nvSpPr>
        <p:spPr>
          <a:xfrm>
            <a:off x="659396" y="5445224"/>
            <a:ext cx="4176464"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1"/>
                </a:solidFill>
                <a:latin typeface="Times New Roman" panose="02020603050405020304" pitchFamily="18" charset="0"/>
                <a:cs typeface="Times New Roman" panose="02020603050405020304" pitchFamily="18" charset="0"/>
              </a:rPr>
              <a:t>Accuracy is 90% for 5x5, 93% for 8x8, 10x10 or 100x100</a:t>
            </a: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5" name="Rectangle 4"/>
          <p:cNvSpPr/>
          <p:nvPr/>
        </p:nvSpPr>
        <p:spPr>
          <a:xfrm>
            <a:off x="6672064" y="4730368"/>
            <a:ext cx="5375920" cy="1938992"/>
          </a:xfrm>
          <a:prstGeom prst="rect">
            <a:avLst/>
          </a:prstGeom>
          <a:ln>
            <a:solidFill>
              <a:schemeClr val="tx1"/>
            </a:solidFill>
          </a:ln>
        </p:spPr>
        <p:txBody>
          <a:bodyPr wrap="square">
            <a:spAutoFit/>
          </a:bodyPr>
          <a:lstStyle/>
          <a:p>
            <a:r>
              <a:rPr lang="en-US" sz="2000" dirty="0">
                <a:latin typeface="Arial" panose="020B0604020202020204" pitchFamily="34" charset="0"/>
                <a:cs typeface="Arial" panose="020B0604020202020204" pitchFamily="34" charset="0"/>
              </a:rPr>
              <a:t>&gt;&gt; predict(</a:t>
            </a:r>
            <a:r>
              <a:rPr lang="en-US" sz="2000" dirty="0" err="1">
                <a:latin typeface="Arial" panose="020B0604020202020204" pitchFamily="34" charset="0"/>
                <a:cs typeface="Arial" panose="020B0604020202020204" pitchFamily="34" charset="0"/>
              </a:rPr>
              <a:t>SVMModel</a:t>
            </a:r>
            <a:r>
              <a:rPr lang="en-US" sz="2000" dirty="0">
                <a:latin typeface="Arial" panose="020B0604020202020204" pitchFamily="34" charset="0"/>
                <a:cs typeface="Arial" panose="020B0604020202020204" pitchFamily="34" charset="0"/>
              </a:rPr>
              <a:t>, double(</a:t>
            </a:r>
            <a:r>
              <a:rPr lang="en-US" sz="2000" dirty="0" err="1">
                <a:latin typeface="Arial" panose="020B0604020202020204" pitchFamily="34" charset="0"/>
                <a:cs typeface="Arial" panose="020B0604020202020204" pitchFamily="34" charset="0"/>
              </a:rPr>
              <a:t>Test_Set</a:t>
            </a:r>
            <a:r>
              <a:rPr lang="en-US" sz="2000" dirty="0">
                <a:latin typeface="Arial" panose="020B0604020202020204" pitchFamily="34" charset="0"/>
                <a:cs typeface="Arial" panose="020B0604020202020204" pitchFamily="34" charset="0"/>
              </a:rPr>
              <a:t>(50,:)))</a:t>
            </a:r>
          </a:p>
          <a:p>
            <a:r>
              <a:rPr lang="en-US" sz="2000" dirty="0" err="1">
                <a:latin typeface="Arial" panose="020B0604020202020204" pitchFamily="34" charset="0"/>
                <a:cs typeface="Arial" panose="020B0604020202020204" pitchFamily="34" charset="0"/>
              </a:rPr>
              <a:t>ans</a:t>
            </a:r>
            <a:r>
              <a:rPr lang="en-US" sz="2000" dirty="0">
                <a:latin typeface="Arial" panose="020B0604020202020204" pitchFamily="34" charset="0"/>
                <a:cs typeface="Arial" panose="020B0604020202020204" pitchFamily="34" charset="0"/>
              </a:rPr>
              <a:t> =  </a:t>
            </a:r>
          </a:p>
          <a:p>
            <a:r>
              <a:rPr lang="en-US" sz="2000" dirty="0">
                <a:latin typeface="Arial" panose="020B0604020202020204" pitchFamily="34" charset="0"/>
                <a:cs typeface="Arial" panose="020B0604020202020204" pitchFamily="34" charset="0"/>
              </a:rPr>
              <a:t>      2</a:t>
            </a:r>
          </a:p>
          <a:p>
            <a:r>
              <a:rPr lang="en-US" sz="2000" dirty="0">
                <a:latin typeface="Arial" panose="020B0604020202020204" pitchFamily="34" charset="0"/>
                <a:cs typeface="Arial" panose="020B0604020202020204" pitchFamily="34" charset="0"/>
              </a:rPr>
              <a:t>&gt;&gt; predict(</a:t>
            </a:r>
            <a:r>
              <a:rPr lang="en-US" sz="2000" dirty="0" err="1">
                <a:latin typeface="Arial" panose="020B0604020202020204" pitchFamily="34" charset="0"/>
                <a:cs typeface="Arial" panose="020B0604020202020204" pitchFamily="34" charset="0"/>
              </a:rPr>
              <a:t>SVMModel</a:t>
            </a:r>
            <a:r>
              <a:rPr lang="en-US" sz="2000" dirty="0">
                <a:latin typeface="Arial" panose="020B0604020202020204" pitchFamily="34" charset="0"/>
                <a:cs typeface="Arial" panose="020B0604020202020204" pitchFamily="34" charset="0"/>
              </a:rPr>
              <a:t>, double(</a:t>
            </a:r>
            <a:r>
              <a:rPr lang="en-US" sz="2000" dirty="0" err="1">
                <a:latin typeface="Arial" panose="020B0604020202020204" pitchFamily="34" charset="0"/>
                <a:cs typeface="Arial" panose="020B0604020202020204" pitchFamily="34" charset="0"/>
              </a:rPr>
              <a:t>Test_Set</a:t>
            </a:r>
            <a:r>
              <a:rPr lang="en-US" sz="2000" dirty="0">
                <a:latin typeface="Arial" panose="020B0604020202020204" pitchFamily="34" charset="0"/>
                <a:cs typeface="Arial" panose="020B0604020202020204" pitchFamily="34" charset="0"/>
              </a:rPr>
              <a:t>(51,:)))</a:t>
            </a:r>
          </a:p>
          <a:p>
            <a:r>
              <a:rPr lang="en-US" sz="2000" dirty="0" err="1">
                <a:latin typeface="Arial" panose="020B0604020202020204" pitchFamily="34" charset="0"/>
                <a:cs typeface="Arial" panose="020B0604020202020204" pitchFamily="34" charset="0"/>
              </a:rPr>
              <a:t>ans</a:t>
            </a:r>
            <a:r>
              <a:rPr lang="en-US" sz="2000" dirty="0">
                <a:latin typeface="Arial" panose="020B0604020202020204" pitchFamily="34" charset="0"/>
                <a:cs typeface="Arial" panose="020B0604020202020204" pitchFamily="34" charset="0"/>
              </a:rPr>
              <a:t> = </a:t>
            </a:r>
          </a:p>
          <a:p>
            <a:r>
              <a:rPr lang="en-US" sz="2000" dirty="0">
                <a:latin typeface="Arial" panose="020B0604020202020204" pitchFamily="34" charset="0"/>
                <a:cs typeface="Arial" panose="020B0604020202020204" pitchFamily="34" charset="0"/>
              </a:rPr>
              <a:t>      1</a:t>
            </a:r>
          </a:p>
        </p:txBody>
      </p:sp>
      <p:sp>
        <p:nvSpPr>
          <p:cNvPr id="7" name="Rounded Rectangle 6"/>
          <p:cNvSpPr/>
          <p:nvPr/>
        </p:nvSpPr>
        <p:spPr>
          <a:xfrm>
            <a:off x="7608168" y="5219908"/>
            <a:ext cx="1152128"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Face</a:t>
            </a:r>
          </a:p>
        </p:txBody>
      </p:sp>
      <p:sp>
        <p:nvSpPr>
          <p:cNvPr id="8" name="Rounded Rectangle 7"/>
          <p:cNvSpPr/>
          <p:nvPr/>
        </p:nvSpPr>
        <p:spPr>
          <a:xfrm>
            <a:off x="7608168" y="6156012"/>
            <a:ext cx="1512168"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latin typeface="Times New Roman" panose="02020603050405020304" pitchFamily="18" charset="0"/>
                <a:cs typeface="Times New Roman" panose="02020603050405020304" pitchFamily="18" charset="0"/>
              </a:rPr>
              <a:t>Aeroplane</a:t>
            </a:r>
            <a:endParaRPr lang="en-US" sz="24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rotWithShape="1">
          <a:blip r:embed="rId3"/>
          <a:srcRect l="58217" t="19972" r="10557" b="9374"/>
          <a:stretch/>
        </p:blipFill>
        <p:spPr>
          <a:xfrm>
            <a:off x="10560496" y="1628800"/>
            <a:ext cx="1368152" cy="2880320"/>
          </a:xfrm>
          <a:prstGeom prst="rect">
            <a:avLst/>
          </a:prstGeom>
        </p:spPr>
      </p:pic>
    </p:spTree>
    <p:extLst>
      <p:ext uri="{BB962C8B-B14F-4D97-AF65-F5344CB8AC3E}">
        <p14:creationId xmlns:p14="http://schemas.microsoft.com/office/powerpoint/2010/main" val="34839790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artoon of a person sitting at a desk with a computer and a person talking&#10;&#10;Description automatically generated">
            <a:extLst>
              <a:ext uri="{FF2B5EF4-FFF2-40B4-BE49-F238E27FC236}">
                <a16:creationId xmlns:a16="http://schemas.microsoft.com/office/drawing/2014/main" id="{E3EE7882-40EA-E212-DF6C-6B43EF8646FF}"/>
              </a:ext>
            </a:extLst>
          </p:cNvPr>
          <p:cNvPicPr>
            <a:picLocks noChangeAspect="1"/>
          </p:cNvPicPr>
          <p:nvPr/>
        </p:nvPicPr>
        <p:blipFill>
          <a:blip r:embed="rId2">
            <a:extLst>
              <a:ext uri="{28A0092B-C50C-407E-A947-70E740481C1C}">
                <a14:useLocalDpi xmlns:a14="http://schemas.microsoft.com/office/drawing/2010/main" val="0"/>
              </a:ext>
            </a:extLst>
          </a:blip>
          <a:srcRect t="4436"/>
          <a:stretch/>
        </p:blipFill>
        <p:spPr>
          <a:xfrm>
            <a:off x="119336" y="77771"/>
            <a:ext cx="5879732" cy="6702457"/>
          </a:xfrm>
          <a:prstGeom prst="rect">
            <a:avLst/>
          </a:prstGeom>
        </p:spPr>
      </p:pic>
    </p:spTree>
    <p:extLst>
      <p:ext uri="{BB962C8B-B14F-4D97-AF65-F5344CB8AC3E}">
        <p14:creationId xmlns:p14="http://schemas.microsoft.com/office/powerpoint/2010/main" val="11305951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71414"/>
            <a:ext cx="10874094" cy="928694"/>
          </a:xfrm>
        </p:spPr>
        <p:txBody>
          <a:bodyPr>
            <a:noAutofit/>
          </a:bodyPr>
          <a:lstStyle/>
          <a:p>
            <a:r>
              <a:rPr lang="en-US" sz="5400" dirty="0"/>
              <a:t>Neural Network =&gt; Deep Learning</a:t>
            </a:r>
          </a:p>
        </p:txBody>
      </p:sp>
      <p:sp>
        <p:nvSpPr>
          <p:cNvPr id="9" name="Rectangle 8"/>
          <p:cNvSpPr/>
          <p:nvPr/>
        </p:nvSpPr>
        <p:spPr>
          <a:xfrm>
            <a:off x="119335" y="1252492"/>
            <a:ext cx="5040561" cy="4985980"/>
          </a:xfrm>
          <a:prstGeom prst="rect">
            <a:avLst/>
          </a:prstGeom>
        </p:spPr>
        <p:txBody>
          <a:bodyPr wrap="square">
            <a:spAutoFit/>
          </a:bodyPr>
          <a:lstStyle/>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Deep learning is a class of machine learning algorithms that uses multiple layers to progressively extract higher level features from the raw input. </a:t>
            </a:r>
          </a:p>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For example, in image processing, lower layers may identify edges, while higher layers may identify the concepts relevant to a human such as digits or letters or faces.</a:t>
            </a:r>
          </a:p>
        </p:txBody>
      </p:sp>
      <p:pic>
        <p:nvPicPr>
          <p:cNvPr id="1026" name="Picture 2" descr="Representing Images on Multiple Layers of Abstraction in Deep Learn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3912" y="1252492"/>
            <a:ext cx="6804248" cy="5555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92439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71414"/>
            <a:ext cx="10874094" cy="928694"/>
          </a:xfrm>
        </p:spPr>
        <p:txBody>
          <a:bodyPr>
            <a:noAutofit/>
          </a:bodyPr>
          <a:lstStyle/>
          <a:p>
            <a:r>
              <a:rPr lang="en-US" sz="5400" dirty="0"/>
              <a:t>Neural Network =&gt; Deep Learning</a:t>
            </a:r>
          </a:p>
        </p:txBody>
      </p:sp>
      <p:sp>
        <p:nvSpPr>
          <p:cNvPr id="9" name="Rectangle 8"/>
          <p:cNvSpPr/>
          <p:nvPr/>
        </p:nvSpPr>
        <p:spPr>
          <a:xfrm>
            <a:off x="119335" y="1252492"/>
            <a:ext cx="10657185" cy="1815882"/>
          </a:xfrm>
          <a:prstGeom prst="rect">
            <a:avLst/>
          </a:prstGeom>
        </p:spPr>
        <p:txBody>
          <a:bodyPr wrap="square">
            <a:spAutoFit/>
          </a:bodyPr>
          <a:lstStyle/>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Deep learning (also known as deep structured learning) is part of a broader family of machine learning methods based on artificial neural networks with representation learning. Learning can be supervised, semi-supervised or unsupervised.</a:t>
            </a:r>
          </a:p>
        </p:txBody>
      </p:sp>
      <p:pic>
        <p:nvPicPr>
          <p:cNvPr id="11266" name="Picture 2" descr="Difference between traditional machine learning and deep learning (Alex, 2017)"/>
          <p:cNvPicPr>
            <a:picLocks noChangeAspect="1" noChangeArrowheads="1"/>
          </p:cNvPicPr>
          <p:nvPr/>
        </p:nvPicPr>
        <p:blipFill rotWithShape="1">
          <a:blip r:embed="rId3">
            <a:extLst>
              <a:ext uri="{28A0092B-C50C-407E-A947-70E740481C1C}">
                <a14:useLocalDpi xmlns:a14="http://schemas.microsoft.com/office/drawing/2010/main" val="0"/>
              </a:ext>
            </a:extLst>
          </a:blip>
          <a:srcRect t="13072"/>
          <a:stretch/>
        </p:blipFill>
        <p:spPr bwMode="auto">
          <a:xfrm>
            <a:off x="3935760" y="3436193"/>
            <a:ext cx="8092802" cy="28731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5667101" y="2932137"/>
            <a:ext cx="4677371" cy="523220"/>
          </a:xfrm>
          <a:prstGeom prst="rect">
            <a:avLst/>
          </a:prstGeom>
          <a:noFill/>
        </p:spPr>
        <p:txBody>
          <a:bodyPr wrap="none" rtlCol="0">
            <a:spAutoFit/>
          </a:bodyPr>
          <a:lstStyle/>
          <a:p>
            <a:r>
              <a:rPr lang="en-US" sz="2800" dirty="0"/>
              <a:t>Handcrafted Machine Learning</a:t>
            </a:r>
          </a:p>
        </p:txBody>
      </p:sp>
      <p:sp>
        <p:nvSpPr>
          <p:cNvPr id="4" name="TextBox 3"/>
          <p:cNvSpPr txBox="1"/>
          <p:nvPr/>
        </p:nvSpPr>
        <p:spPr>
          <a:xfrm>
            <a:off x="7012539" y="6309320"/>
            <a:ext cx="3619965" cy="338554"/>
          </a:xfrm>
          <a:prstGeom prst="rect">
            <a:avLst/>
          </a:prstGeom>
          <a:noFill/>
        </p:spPr>
        <p:txBody>
          <a:bodyPr wrap="none" rtlCol="0">
            <a:spAutoFit/>
          </a:bodyPr>
          <a:lstStyle/>
          <a:p>
            <a:r>
              <a:rPr lang="en-US" sz="1600" dirty="0"/>
              <a:t>Input layer – Hidden layers – output layer</a:t>
            </a:r>
          </a:p>
        </p:txBody>
      </p:sp>
    </p:spTree>
    <p:extLst>
      <p:ext uri="{BB962C8B-B14F-4D97-AF65-F5344CB8AC3E}">
        <p14:creationId xmlns:p14="http://schemas.microsoft.com/office/powerpoint/2010/main" val="20923473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71414"/>
            <a:ext cx="10874094" cy="928694"/>
          </a:xfrm>
        </p:spPr>
        <p:txBody>
          <a:bodyPr>
            <a:noAutofit/>
          </a:bodyPr>
          <a:lstStyle/>
          <a:p>
            <a:r>
              <a:rPr lang="en-US" sz="5400" dirty="0"/>
              <a:t>Neural Network =&gt; Deep Learning</a:t>
            </a:r>
          </a:p>
        </p:txBody>
      </p:sp>
      <p:sp>
        <p:nvSpPr>
          <p:cNvPr id="9" name="Rectangle 8"/>
          <p:cNvSpPr/>
          <p:nvPr/>
        </p:nvSpPr>
        <p:spPr>
          <a:xfrm>
            <a:off x="119335" y="1252492"/>
            <a:ext cx="10657185" cy="4832092"/>
          </a:xfrm>
          <a:prstGeom prst="rect">
            <a:avLst/>
          </a:prstGeom>
        </p:spPr>
        <p:txBody>
          <a:bodyPr wrap="square">
            <a:spAutoFit/>
          </a:bodyPr>
          <a:lstStyle/>
          <a:p>
            <a:pPr algn="just">
              <a:spcBef>
                <a:spcPts val="600"/>
              </a:spcBef>
              <a:spcAft>
                <a:spcPts val="600"/>
              </a:spcAft>
            </a:pPr>
            <a:r>
              <a:rPr lang="en-US" sz="3200" dirty="0">
                <a:latin typeface="Times New Roman" panose="02020603050405020304" pitchFamily="18" charset="0"/>
                <a:cs typeface="Times New Roman" panose="02020603050405020304" pitchFamily="18" charset="0"/>
              </a:rPr>
              <a:t>Deep learning architectures such as deep neural networks, deep belief networks, recurrent neural networks and convolutional neural networks (CNN) have been applied to fields including:</a:t>
            </a:r>
          </a:p>
          <a:p>
            <a:pPr algn="just">
              <a:spcBef>
                <a:spcPts val="600"/>
              </a:spcBef>
              <a:spcAft>
                <a:spcPts val="600"/>
              </a:spcAft>
            </a:pPr>
            <a:r>
              <a:rPr lang="en-US" sz="3200" dirty="0">
                <a:latin typeface="Times New Roman" panose="02020603050405020304" pitchFamily="18" charset="0"/>
                <a:cs typeface="Times New Roman" panose="02020603050405020304" pitchFamily="18" charset="0"/>
              </a:rPr>
              <a:t>Computer vision, speech recognition, natural language processing, audio recognition, social network filtering, machine translation, bioinformatics, drug design, medical image analysis, material inspection and board game programs. </a:t>
            </a:r>
          </a:p>
          <a:p>
            <a:pPr algn="just">
              <a:spcBef>
                <a:spcPts val="600"/>
              </a:spcBef>
              <a:spcAft>
                <a:spcPts val="600"/>
              </a:spcAft>
            </a:pPr>
            <a:r>
              <a:rPr lang="en-US" sz="3200" dirty="0">
                <a:latin typeface="Times New Roman" panose="02020603050405020304" pitchFamily="18" charset="0"/>
                <a:cs typeface="Times New Roman" panose="02020603050405020304" pitchFamily="18" charset="0"/>
              </a:rPr>
              <a:t>Results are produced comparable to and in some cases surpassing human expert performance.</a:t>
            </a:r>
          </a:p>
        </p:txBody>
      </p:sp>
    </p:spTree>
    <p:extLst>
      <p:ext uri="{BB962C8B-B14F-4D97-AF65-F5344CB8AC3E}">
        <p14:creationId xmlns:p14="http://schemas.microsoft.com/office/powerpoint/2010/main" val="23894388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71414"/>
            <a:ext cx="10874094" cy="928694"/>
          </a:xfrm>
        </p:spPr>
        <p:txBody>
          <a:bodyPr>
            <a:noAutofit/>
          </a:bodyPr>
          <a:lstStyle/>
          <a:p>
            <a:r>
              <a:rPr lang="en-US" sz="3600" dirty="0"/>
              <a:t>Neural Network =&gt; Deep Learning =&gt; Transfer Learning</a:t>
            </a:r>
          </a:p>
        </p:txBody>
      </p:sp>
      <p:sp>
        <p:nvSpPr>
          <p:cNvPr id="9" name="Rectangle 8"/>
          <p:cNvSpPr/>
          <p:nvPr/>
        </p:nvSpPr>
        <p:spPr>
          <a:xfrm>
            <a:off x="119335" y="1364570"/>
            <a:ext cx="10657185" cy="5016758"/>
          </a:xfrm>
          <a:prstGeom prst="rect">
            <a:avLst/>
          </a:prstGeom>
        </p:spPr>
        <p:txBody>
          <a:bodyPr wrap="square">
            <a:spAutoFit/>
          </a:bodyPr>
          <a:lstStyle/>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Transfer learning is commonly used in deep learning applications. You can take a </a:t>
            </a:r>
            <a:r>
              <a:rPr lang="en-US" sz="2800" dirty="0" err="1">
                <a:latin typeface="Times New Roman" panose="02020603050405020304" pitchFamily="18" charset="0"/>
                <a:cs typeface="Times New Roman" panose="02020603050405020304" pitchFamily="18" charset="0"/>
              </a:rPr>
              <a:t>pretrained</a:t>
            </a:r>
            <a:r>
              <a:rPr lang="en-US" sz="2800" dirty="0">
                <a:latin typeface="Times New Roman" panose="02020603050405020304" pitchFamily="18" charset="0"/>
                <a:cs typeface="Times New Roman" panose="02020603050405020304" pitchFamily="18" charset="0"/>
              </a:rPr>
              <a:t> network and use it as a starting point to learn a new task. </a:t>
            </a:r>
          </a:p>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Fine-tuning a network with transfer learning is usually much faster and easier than training a network with randomly initialized weights from scratch. You can quickly transfer learned features to a new task using a smaller number of training images. Popular </a:t>
            </a:r>
            <a:r>
              <a:rPr lang="en-US" sz="2800" dirty="0" err="1">
                <a:latin typeface="Times New Roman" panose="02020603050405020304" pitchFamily="18" charset="0"/>
                <a:cs typeface="Times New Roman" panose="02020603050405020304" pitchFamily="18" charset="0"/>
              </a:rPr>
              <a:t>pretrained</a:t>
            </a:r>
            <a:r>
              <a:rPr lang="en-US" sz="2800" dirty="0">
                <a:latin typeface="Times New Roman" panose="02020603050405020304" pitchFamily="18" charset="0"/>
                <a:cs typeface="Times New Roman" panose="02020603050405020304" pitchFamily="18" charset="0"/>
              </a:rPr>
              <a:t> CNN models are:</a:t>
            </a:r>
          </a:p>
          <a:p>
            <a:pPr marL="457200" indent="-457200" algn="just">
              <a:spcBef>
                <a:spcPts val="600"/>
              </a:spcBef>
              <a:spcAft>
                <a:spcPts val="600"/>
              </a:spcAft>
              <a:buFont typeface="Courier New" panose="02070309020205020404" pitchFamily="49" charset="0"/>
              <a:buChar char="o"/>
            </a:pPr>
            <a:r>
              <a:rPr lang="en-US" sz="2800" dirty="0" err="1">
                <a:latin typeface="Times New Roman" panose="02020603050405020304" pitchFamily="18" charset="0"/>
                <a:cs typeface="Times New Roman" panose="02020603050405020304" pitchFamily="18" charset="0"/>
              </a:rPr>
              <a:t>AlexNet</a:t>
            </a:r>
            <a:endParaRPr lang="en-US" sz="2800" dirty="0">
              <a:latin typeface="Times New Roman" panose="02020603050405020304" pitchFamily="18" charset="0"/>
              <a:cs typeface="Times New Roman" panose="02020603050405020304" pitchFamily="18" charset="0"/>
            </a:endParaRPr>
          </a:p>
          <a:p>
            <a:pPr marL="457200" indent="-457200" algn="just">
              <a:spcBef>
                <a:spcPts val="600"/>
              </a:spcBef>
              <a:spcAft>
                <a:spcPts val="600"/>
              </a:spcAft>
              <a:buFont typeface="Courier New" panose="02070309020205020404" pitchFamily="49" charset="0"/>
              <a:buChar char="o"/>
            </a:pPr>
            <a:r>
              <a:rPr lang="en-US" sz="2800" dirty="0" err="1">
                <a:latin typeface="Times New Roman" panose="02020603050405020304" pitchFamily="18" charset="0"/>
                <a:cs typeface="Times New Roman" panose="02020603050405020304" pitchFamily="18" charset="0"/>
              </a:rPr>
              <a:t>GoogLeNet</a:t>
            </a:r>
            <a:endParaRPr lang="en-US" sz="2800" dirty="0">
              <a:latin typeface="Times New Roman" panose="02020603050405020304" pitchFamily="18" charset="0"/>
              <a:cs typeface="Times New Roman" panose="02020603050405020304" pitchFamily="18" charset="0"/>
            </a:endParaRPr>
          </a:p>
          <a:p>
            <a:pPr marL="457200" indent="-457200" algn="just">
              <a:spcBef>
                <a:spcPts val="600"/>
              </a:spcBef>
              <a:spcAft>
                <a:spcPts val="600"/>
              </a:spcAft>
              <a:buFont typeface="Courier New" panose="02070309020205020404" pitchFamily="49" charset="0"/>
              <a:buChar char="o"/>
            </a:pPr>
            <a:r>
              <a:rPr lang="en-US" sz="2800" dirty="0" err="1">
                <a:latin typeface="Times New Roman" panose="02020603050405020304" pitchFamily="18" charset="0"/>
                <a:cs typeface="Times New Roman" panose="02020603050405020304" pitchFamily="18" charset="0"/>
              </a:rPr>
              <a:t>ResNet</a:t>
            </a:r>
            <a:r>
              <a:rPr lang="en-US" sz="2800" dirty="0">
                <a:latin typeface="Times New Roman" panose="02020603050405020304" pitchFamily="18" charset="0"/>
                <a:cs typeface="Times New Roman" panose="02020603050405020304" pitchFamily="18" charset="0"/>
              </a:rPr>
              <a:t> (18, 50, 101)</a:t>
            </a:r>
          </a:p>
        </p:txBody>
      </p:sp>
    </p:spTree>
    <p:extLst>
      <p:ext uri="{BB962C8B-B14F-4D97-AF65-F5344CB8AC3E}">
        <p14:creationId xmlns:p14="http://schemas.microsoft.com/office/powerpoint/2010/main" val="41520302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Transfer Learning Using </a:t>
            </a:r>
            <a:r>
              <a:rPr lang="en-US" sz="5400" dirty="0" err="1"/>
              <a:t>AlexNet</a:t>
            </a:r>
            <a:endParaRPr lang="en-US" sz="5400" dirty="0"/>
          </a:p>
        </p:txBody>
      </p:sp>
      <p:sp>
        <p:nvSpPr>
          <p:cNvPr id="9" name="Rectangle 8"/>
          <p:cNvSpPr/>
          <p:nvPr/>
        </p:nvSpPr>
        <p:spPr>
          <a:xfrm>
            <a:off x="119336" y="1383154"/>
            <a:ext cx="10657185" cy="5324535"/>
          </a:xfrm>
          <a:prstGeom prst="rect">
            <a:avLst/>
          </a:prstGeom>
        </p:spPr>
        <p:txBody>
          <a:bodyPr wrap="square">
            <a:spAutoFit/>
          </a:bodyPr>
          <a:lstStyle/>
          <a:p>
            <a:pPr algn="just">
              <a:spcBef>
                <a:spcPts val="600"/>
              </a:spcBef>
              <a:spcAft>
                <a:spcPts val="600"/>
              </a:spcAft>
            </a:pPr>
            <a:r>
              <a:rPr lang="en-US" sz="3200" dirty="0" err="1">
                <a:latin typeface="Times New Roman" panose="02020603050405020304" pitchFamily="18" charset="0"/>
                <a:cs typeface="Times New Roman" panose="02020603050405020304" pitchFamily="18" charset="0"/>
              </a:rPr>
              <a:t>AlexNet</a:t>
            </a:r>
            <a:r>
              <a:rPr lang="en-US" sz="3200" dirty="0">
                <a:latin typeface="Times New Roman" panose="02020603050405020304" pitchFamily="18" charset="0"/>
                <a:cs typeface="Times New Roman" panose="02020603050405020304" pitchFamily="18" charset="0"/>
              </a:rPr>
              <a:t> is a </a:t>
            </a:r>
            <a:r>
              <a:rPr lang="en-US" sz="3200" dirty="0" err="1">
                <a:latin typeface="Times New Roman" panose="02020603050405020304" pitchFamily="18" charset="0"/>
                <a:cs typeface="Times New Roman" panose="02020603050405020304" pitchFamily="18" charset="0"/>
              </a:rPr>
              <a:t>pretrained</a:t>
            </a:r>
            <a:r>
              <a:rPr lang="en-US" sz="3200" dirty="0">
                <a:latin typeface="Times New Roman" panose="02020603050405020304" pitchFamily="18" charset="0"/>
                <a:cs typeface="Times New Roman" panose="02020603050405020304" pitchFamily="18" charset="0"/>
              </a:rPr>
              <a:t> convolutional neural network. It can be fine-tuned to perform classification on a new collection of images.</a:t>
            </a:r>
          </a:p>
          <a:p>
            <a:pPr algn="just">
              <a:spcBef>
                <a:spcPts val="600"/>
              </a:spcBef>
              <a:spcAft>
                <a:spcPts val="600"/>
              </a:spcAft>
            </a:pPr>
            <a:r>
              <a:rPr lang="en-US" sz="3200" dirty="0" err="1">
                <a:latin typeface="Times New Roman" panose="02020603050405020304" pitchFamily="18" charset="0"/>
                <a:cs typeface="Times New Roman" panose="02020603050405020304" pitchFamily="18" charset="0"/>
              </a:rPr>
              <a:t>AlexNet</a:t>
            </a:r>
            <a:r>
              <a:rPr lang="en-US" sz="3200" dirty="0">
                <a:latin typeface="Times New Roman" panose="02020603050405020304" pitchFamily="18" charset="0"/>
                <a:cs typeface="Times New Roman" panose="02020603050405020304" pitchFamily="18" charset="0"/>
              </a:rPr>
              <a:t> has been trained on over a million images and can classify images into 1000 object categories (such as keyboard, coffee mug, pencil, and many animals). </a:t>
            </a:r>
          </a:p>
          <a:p>
            <a:pPr algn="just">
              <a:spcBef>
                <a:spcPts val="600"/>
              </a:spcBef>
              <a:spcAft>
                <a:spcPts val="600"/>
              </a:spcAft>
            </a:pPr>
            <a:r>
              <a:rPr lang="en-US" sz="3200" dirty="0">
                <a:latin typeface="Times New Roman" panose="02020603050405020304" pitchFamily="18" charset="0"/>
                <a:cs typeface="Times New Roman" panose="02020603050405020304" pitchFamily="18" charset="0"/>
              </a:rPr>
              <a:t>The network has learned rich feature representations for a wide range of images. The network takes an image as input and outputs a label for the object in the image together with the probabilities for each of the object categories.</a:t>
            </a:r>
          </a:p>
        </p:txBody>
      </p:sp>
    </p:spTree>
    <p:extLst>
      <p:ext uri="{BB962C8B-B14F-4D97-AF65-F5344CB8AC3E}">
        <p14:creationId xmlns:p14="http://schemas.microsoft.com/office/powerpoint/2010/main" val="23940769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Transfer Learning Using </a:t>
            </a:r>
            <a:r>
              <a:rPr lang="en-US" sz="5400" dirty="0" err="1"/>
              <a:t>AlexNet</a:t>
            </a:r>
            <a:endParaRPr lang="en-US" sz="5400" dirty="0"/>
          </a:p>
        </p:txBody>
      </p:sp>
      <p:pic>
        <p:nvPicPr>
          <p:cNvPr id="5" name="Picture 10" descr="C:\Users\drzha\AppData\Local\Temp\ConnectorClipboard186833696578391943\image1587452268823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27" y="1988840"/>
            <a:ext cx="12152013" cy="3816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79245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Transfer Learning Using </a:t>
            </a:r>
            <a:r>
              <a:rPr lang="en-US" sz="5400" dirty="0" err="1"/>
              <a:t>AlexNet</a:t>
            </a:r>
            <a:endParaRPr lang="en-US" sz="5400" dirty="0"/>
          </a:p>
        </p:txBody>
      </p:sp>
      <p:pic>
        <p:nvPicPr>
          <p:cNvPr id="5" name="Picture 10" descr="C:\Users\drzha\AppData\Local\Temp\ConnectorClipboard186833696578391943\image15874522688230.png"/>
          <p:cNvPicPr>
            <a:picLocks noChangeAspect="1" noChangeArrowheads="1"/>
          </p:cNvPicPr>
          <p:nvPr/>
        </p:nvPicPr>
        <p:blipFill rotWithShape="1">
          <a:blip r:embed="rId3">
            <a:extLst>
              <a:ext uri="{28A0092B-C50C-407E-A947-70E740481C1C}">
                <a14:useLocalDpi xmlns:a14="http://schemas.microsoft.com/office/drawing/2010/main" val="0"/>
              </a:ext>
            </a:extLst>
          </a:blip>
          <a:srcRect t="9434" r="57928" b="20755"/>
          <a:stretch/>
        </p:blipFill>
        <p:spPr bwMode="auto">
          <a:xfrm>
            <a:off x="190459" y="2852936"/>
            <a:ext cx="8099925" cy="422108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10" descr="C:\Users\drzha\AppData\Local\Temp\ConnectorClipboard186833696578391943\image15874522688230.png">
            <a:extLst>
              <a:ext uri="{FF2B5EF4-FFF2-40B4-BE49-F238E27FC236}">
                <a16:creationId xmlns:a16="http://schemas.microsoft.com/office/drawing/2014/main" id="{E7F80E6E-88E3-3D84-8C4B-2E336AC991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6040" y="1267715"/>
            <a:ext cx="5544617" cy="17413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E1A067E3-A9D6-C1B8-CD69-60D25A7DE743}"/>
              </a:ext>
            </a:extLst>
          </p:cNvPr>
          <p:cNvSpPr/>
          <p:nvPr/>
        </p:nvSpPr>
        <p:spPr>
          <a:xfrm>
            <a:off x="6456040" y="1412776"/>
            <a:ext cx="2304256" cy="1224136"/>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Left 5">
            <a:extLst>
              <a:ext uri="{FF2B5EF4-FFF2-40B4-BE49-F238E27FC236}">
                <a16:creationId xmlns:a16="http://schemas.microsoft.com/office/drawing/2014/main" id="{9086EF95-402C-9DC5-B534-B68F81505EB9}"/>
              </a:ext>
            </a:extLst>
          </p:cNvPr>
          <p:cNvSpPr/>
          <p:nvPr/>
        </p:nvSpPr>
        <p:spPr>
          <a:xfrm rot="19270292">
            <a:off x="7392144" y="2724580"/>
            <a:ext cx="360040" cy="22811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29530562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Transfer Learning Using </a:t>
            </a:r>
            <a:r>
              <a:rPr lang="en-US" sz="5400" dirty="0" err="1"/>
              <a:t>AlexNet</a:t>
            </a:r>
            <a:endParaRPr lang="en-US" sz="5400" dirty="0"/>
          </a:p>
        </p:txBody>
      </p:sp>
      <p:pic>
        <p:nvPicPr>
          <p:cNvPr id="5" name="Picture 10" descr="C:\Users\drzha\AppData\Local\Temp\ConnectorClipboard186833696578391943\image15874522688230.png"/>
          <p:cNvPicPr>
            <a:picLocks noChangeAspect="1" noChangeArrowheads="1"/>
          </p:cNvPicPr>
          <p:nvPr/>
        </p:nvPicPr>
        <p:blipFill rotWithShape="1">
          <a:blip r:embed="rId3">
            <a:extLst>
              <a:ext uri="{28A0092B-C50C-407E-A947-70E740481C1C}">
                <a14:useLocalDpi xmlns:a14="http://schemas.microsoft.com/office/drawing/2010/main" val="0"/>
              </a:ext>
            </a:extLst>
          </a:blip>
          <a:srcRect l="42642" t="9434" r="1256" b="20755"/>
          <a:stretch/>
        </p:blipFill>
        <p:spPr bwMode="auto">
          <a:xfrm>
            <a:off x="47328" y="2852936"/>
            <a:ext cx="10801200" cy="422108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10" descr="C:\Users\drzha\AppData\Local\Temp\ConnectorClipboard186833696578391943\image15874522688230.png">
            <a:extLst>
              <a:ext uri="{FF2B5EF4-FFF2-40B4-BE49-F238E27FC236}">
                <a16:creationId xmlns:a16="http://schemas.microsoft.com/office/drawing/2014/main" id="{E7F80E6E-88E3-3D84-8C4B-2E336AC991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6040" y="1267715"/>
            <a:ext cx="5544617" cy="17413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E1A067E3-A9D6-C1B8-CD69-60D25A7DE743}"/>
              </a:ext>
            </a:extLst>
          </p:cNvPr>
          <p:cNvSpPr/>
          <p:nvPr/>
        </p:nvSpPr>
        <p:spPr>
          <a:xfrm>
            <a:off x="8832303" y="1412776"/>
            <a:ext cx="3168353" cy="1224136"/>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Left 5">
            <a:extLst>
              <a:ext uri="{FF2B5EF4-FFF2-40B4-BE49-F238E27FC236}">
                <a16:creationId xmlns:a16="http://schemas.microsoft.com/office/drawing/2014/main" id="{A78E8CCA-8FCA-36B8-7E70-B9B06F5F5A97}"/>
              </a:ext>
            </a:extLst>
          </p:cNvPr>
          <p:cNvSpPr/>
          <p:nvPr/>
        </p:nvSpPr>
        <p:spPr>
          <a:xfrm rot="20288226">
            <a:off x="8584547" y="2724580"/>
            <a:ext cx="360040" cy="22811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4006699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Transfer Learning Using </a:t>
            </a:r>
            <a:r>
              <a:rPr lang="en-US" sz="4000" dirty="0" err="1"/>
              <a:t>AlexNet</a:t>
            </a:r>
            <a:r>
              <a:rPr lang="en-US" sz="4000" dirty="0"/>
              <a:t>: Example… </a:t>
            </a:r>
          </a:p>
        </p:txBody>
      </p:sp>
      <p:pic>
        <p:nvPicPr>
          <p:cNvPr id="3" name="Picture 2"/>
          <p:cNvPicPr>
            <a:picLocks noChangeAspect="1"/>
          </p:cNvPicPr>
          <p:nvPr/>
        </p:nvPicPr>
        <p:blipFill>
          <a:blip r:embed="rId3"/>
          <a:stretch>
            <a:fillRect/>
          </a:stretch>
        </p:blipFill>
        <p:spPr>
          <a:xfrm>
            <a:off x="190458" y="1196751"/>
            <a:ext cx="11882206" cy="5547337"/>
          </a:xfrm>
          <a:prstGeom prst="rect">
            <a:avLst/>
          </a:prstGeom>
        </p:spPr>
      </p:pic>
    </p:spTree>
    <p:extLst>
      <p:ext uri="{BB962C8B-B14F-4D97-AF65-F5344CB8AC3E}">
        <p14:creationId xmlns:p14="http://schemas.microsoft.com/office/powerpoint/2010/main" val="8740934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Transfer Learning Using </a:t>
            </a:r>
            <a:r>
              <a:rPr lang="en-US" sz="4000" dirty="0" err="1"/>
              <a:t>AlexNet</a:t>
            </a:r>
            <a:r>
              <a:rPr lang="en-US" sz="4000" dirty="0"/>
              <a:t>: Example… </a:t>
            </a:r>
          </a:p>
        </p:txBody>
      </p:sp>
      <p:sp>
        <p:nvSpPr>
          <p:cNvPr id="4" name="Rectangle 3"/>
          <p:cNvSpPr/>
          <p:nvPr/>
        </p:nvSpPr>
        <p:spPr>
          <a:xfrm>
            <a:off x="119336" y="1340768"/>
            <a:ext cx="10585176" cy="2677656"/>
          </a:xfrm>
          <a:prstGeom prst="rect">
            <a:avLst/>
          </a:prstGeom>
        </p:spPr>
        <p:txBody>
          <a:bodyPr wrap="square">
            <a:spAutoFit/>
          </a:bodyPr>
          <a:lstStyle/>
          <a:p>
            <a:pPr algn="just">
              <a:spcBef>
                <a:spcPts val="600"/>
              </a:spcBef>
              <a:spcAft>
                <a:spcPts val="600"/>
              </a:spcAft>
            </a:pPr>
            <a:r>
              <a:rPr lang="en-US" sz="2800" b="1" dirty="0">
                <a:solidFill>
                  <a:srgbClr val="3C3C3C"/>
                </a:solidFill>
                <a:latin typeface="Times New Roman" panose="02020603050405020304" pitchFamily="18" charset="0"/>
                <a:cs typeface="Times New Roman" panose="02020603050405020304" pitchFamily="18" charset="0"/>
              </a:rPr>
              <a:t>Load Data: </a:t>
            </a:r>
            <a:r>
              <a:rPr lang="en-US" sz="2800" dirty="0">
                <a:solidFill>
                  <a:srgbClr val="000000"/>
                </a:solidFill>
                <a:latin typeface="Times New Roman" panose="02020603050405020304" pitchFamily="18" charset="0"/>
                <a:cs typeface="Times New Roman" panose="02020603050405020304" pitchFamily="18" charset="0"/>
              </a:rPr>
              <a:t>Unzip and load the new images as an image </a:t>
            </a:r>
            <a:r>
              <a:rPr lang="en-US" sz="2800" dirty="0" err="1">
                <a:solidFill>
                  <a:srgbClr val="000000"/>
                </a:solidFill>
                <a:latin typeface="Times New Roman" panose="02020603050405020304" pitchFamily="18" charset="0"/>
                <a:cs typeface="Times New Roman" panose="02020603050405020304" pitchFamily="18" charset="0"/>
              </a:rPr>
              <a:t>datastore</a:t>
            </a:r>
            <a:r>
              <a:rPr lang="en-US" sz="2800" dirty="0">
                <a:solidFill>
                  <a:srgbClr val="000000"/>
                </a:solidFill>
                <a:latin typeface="Times New Roman" panose="02020603050405020304" pitchFamily="18" charset="0"/>
                <a:cs typeface="Times New Roman" panose="02020603050405020304" pitchFamily="18" charset="0"/>
              </a:rPr>
              <a:t>. </a:t>
            </a:r>
            <a:r>
              <a:rPr lang="en-US" sz="2800" dirty="0" err="1">
                <a:solidFill>
                  <a:srgbClr val="000000"/>
                </a:solidFill>
                <a:latin typeface="Times New Roman" panose="02020603050405020304" pitchFamily="18" charset="0"/>
                <a:cs typeface="Times New Roman" panose="02020603050405020304" pitchFamily="18" charset="0"/>
              </a:rPr>
              <a:t>imageDatastore</a:t>
            </a:r>
            <a:r>
              <a:rPr lang="en-US" sz="2800" dirty="0">
                <a:solidFill>
                  <a:srgbClr val="000000"/>
                </a:solidFill>
                <a:latin typeface="Times New Roman" panose="02020603050405020304" pitchFamily="18" charset="0"/>
                <a:cs typeface="Times New Roman" panose="02020603050405020304" pitchFamily="18" charset="0"/>
              </a:rPr>
              <a:t> automatically labels the images based on folder names and stores the data as an </a:t>
            </a:r>
            <a:r>
              <a:rPr lang="en-US" sz="2800" dirty="0" err="1">
                <a:solidFill>
                  <a:srgbClr val="000000"/>
                </a:solidFill>
                <a:latin typeface="Times New Roman" panose="02020603050405020304" pitchFamily="18" charset="0"/>
                <a:cs typeface="Times New Roman" panose="02020603050405020304" pitchFamily="18" charset="0"/>
              </a:rPr>
              <a:t>ImageDatastore</a:t>
            </a:r>
            <a:r>
              <a:rPr lang="en-US" sz="2800" dirty="0">
                <a:solidFill>
                  <a:srgbClr val="000000"/>
                </a:solidFill>
                <a:latin typeface="Times New Roman" panose="02020603050405020304" pitchFamily="18" charset="0"/>
                <a:cs typeface="Times New Roman" panose="02020603050405020304" pitchFamily="18" charset="0"/>
              </a:rPr>
              <a:t> object. An image </a:t>
            </a:r>
            <a:r>
              <a:rPr lang="en-US" sz="2800" dirty="0" err="1">
                <a:solidFill>
                  <a:srgbClr val="000000"/>
                </a:solidFill>
                <a:latin typeface="Times New Roman" panose="02020603050405020304" pitchFamily="18" charset="0"/>
                <a:cs typeface="Times New Roman" panose="02020603050405020304" pitchFamily="18" charset="0"/>
              </a:rPr>
              <a:t>datastore</a:t>
            </a:r>
            <a:r>
              <a:rPr lang="en-US" sz="2800" dirty="0">
                <a:solidFill>
                  <a:srgbClr val="000000"/>
                </a:solidFill>
                <a:latin typeface="Times New Roman" panose="02020603050405020304" pitchFamily="18" charset="0"/>
                <a:cs typeface="Times New Roman" panose="02020603050405020304" pitchFamily="18" charset="0"/>
              </a:rPr>
              <a:t> enables you to store large image data, including data that does not fit in memory, and efficiently read batches of images during training of a convolutional neural network.</a:t>
            </a:r>
            <a:endParaRPr lang="en-US" sz="2800" b="0" i="0" u="none" strike="noStrike" dirty="0">
              <a:solidFill>
                <a:srgbClr val="000000"/>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144016" y="4077072"/>
            <a:ext cx="5951984" cy="1569660"/>
          </a:xfrm>
          <a:prstGeom prst="rect">
            <a:avLst/>
          </a:prstGeom>
        </p:spPr>
        <p:txBody>
          <a:bodyPr wrap="square">
            <a:spAutoFit/>
          </a:bodyPr>
          <a:lstStyle/>
          <a:p>
            <a:r>
              <a:rPr lang="en-US" sz="2400" dirty="0">
                <a:solidFill>
                  <a:srgbClr val="000000"/>
                </a:solidFill>
                <a:latin typeface="Arial" panose="020B0604020202020204" pitchFamily="34" charset="0"/>
                <a:cs typeface="Arial" panose="020B0604020202020204" pitchFamily="34" charset="0"/>
              </a:rPr>
              <a:t>unzip(</a:t>
            </a:r>
            <a:r>
              <a:rPr lang="en-US" sz="2400" dirty="0">
                <a:solidFill>
                  <a:srgbClr val="A020F0"/>
                </a:solidFill>
                <a:latin typeface="Arial" panose="020B0604020202020204" pitchFamily="34" charset="0"/>
                <a:cs typeface="Arial" panose="020B0604020202020204" pitchFamily="34" charset="0"/>
              </a:rPr>
              <a:t>'MerchData.zip'</a:t>
            </a:r>
            <a:r>
              <a:rPr lang="en-US" sz="2400" dirty="0">
                <a:solidFill>
                  <a:srgbClr val="000000"/>
                </a:solidFill>
                <a:latin typeface="Arial" panose="020B0604020202020204" pitchFamily="34" charset="0"/>
                <a:cs typeface="Arial" panose="020B0604020202020204" pitchFamily="34" charset="0"/>
              </a:rPr>
              <a:t>);</a:t>
            </a:r>
          </a:p>
          <a:p>
            <a:r>
              <a:rPr lang="en-US" sz="2400" dirty="0" err="1">
                <a:solidFill>
                  <a:srgbClr val="000000"/>
                </a:solidFill>
                <a:latin typeface="Arial" panose="020B0604020202020204" pitchFamily="34" charset="0"/>
                <a:cs typeface="Arial" panose="020B0604020202020204" pitchFamily="34" charset="0"/>
              </a:rPr>
              <a:t>imds</a:t>
            </a:r>
            <a:r>
              <a:rPr lang="en-US" sz="2400" dirty="0">
                <a:solidFill>
                  <a:srgbClr val="000000"/>
                </a:solidFill>
                <a:latin typeface="Arial" panose="020B0604020202020204" pitchFamily="34" charset="0"/>
                <a:cs typeface="Arial" panose="020B0604020202020204" pitchFamily="34" charset="0"/>
              </a:rPr>
              <a:t> = </a:t>
            </a:r>
            <a:r>
              <a:rPr lang="en-US" sz="2400" dirty="0" err="1">
                <a:solidFill>
                  <a:srgbClr val="000000"/>
                </a:solidFill>
                <a:latin typeface="Arial" panose="020B0604020202020204" pitchFamily="34" charset="0"/>
                <a:cs typeface="Arial" panose="020B0604020202020204" pitchFamily="34" charset="0"/>
              </a:rPr>
              <a:t>imageDatastore</a:t>
            </a:r>
            <a:r>
              <a:rPr lang="en-US" sz="2400" dirty="0">
                <a:solidFill>
                  <a:srgbClr val="000000"/>
                </a:solidFill>
                <a:latin typeface="Arial" panose="020B0604020202020204" pitchFamily="34" charset="0"/>
                <a:cs typeface="Arial" panose="020B0604020202020204" pitchFamily="34" charset="0"/>
              </a:rPr>
              <a:t>(</a:t>
            </a:r>
            <a:r>
              <a:rPr lang="en-US" sz="2400" dirty="0">
                <a:solidFill>
                  <a:srgbClr val="A020F0"/>
                </a:solidFill>
                <a:latin typeface="Arial" panose="020B0604020202020204" pitchFamily="34" charset="0"/>
                <a:cs typeface="Arial" panose="020B0604020202020204" pitchFamily="34" charset="0"/>
              </a:rPr>
              <a:t>'</a:t>
            </a:r>
            <a:r>
              <a:rPr lang="en-US" sz="2400" dirty="0" err="1">
                <a:solidFill>
                  <a:srgbClr val="A020F0"/>
                </a:solidFill>
                <a:latin typeface="Arial" panose="020B0604020202020204" pitchFamily="34" charset="0"/>
                <a:cs typeface="Arial" panose="020B0604020202020204" pitchFamily="34" charset="0"/>
              </a:rPr>
              <a:t>MerchData</a:t>
            </a:r>
            <a:r>
              <a:rPr lang="en-US" sz="2400" dirty="0">
                <a:solidFill>
                  <a:srgbClr val="A020F0"/>
                </a:solidFill>
                <a:latin typeface="Arial" panose="020B0604020202020204" pitchFamily="34" charset="0"/>
                <a:cs typeface="Arial" panose="020B0604020202020204" pitchFamily="34" charset="0"/>
              </a:rPr>
              <a:t>'</a:t>
            </a:r>
            <a:r>
              <a:rPr lang="en-US" sz="2400" dirty="0">
                <a:solidFill>
                  <a:srgbClr val="000000"/>
                </a:solidFill>
                <a:latin typeface="Arial" panose="020B0604020202020204" pitchFamily="34" charset="0"/>
                <a:cs typeface="Arial" panose="020B0604020202020204" pitchFamily="34" charset="0"/>
              </a:rPr>
              <a:t>, </a:t>
            </a:r>
            <a:r>
              <a:rPr lang="en-US" sz="2400" dirty="0">
                <a:solidFill>
                  <a:srgbClr val="0000FF"/>
                </a:solidFill>
                <a:latin typeface="Arial" panose="020B0604020202020204" pitchFamily="34" charset="0"/>
                <a:cs typeface="Arial" panose="020B0604020202020204" pitchFamily="34" charset="0"/>
              </a:rPr>
              <a:t>...</a:t>
            </a:r>
            <a:endParaRPr lang="en-US" sz="2400" dirty="0">
              <a:solidFill>
                <a:srgbClr val="000000"/>
              </a:solidFill>
              <a:latin typeface="Arial" panose="020B0604020202020204" pitchFamily="34" charset="0"/>
              <a:cs typeface="Arial" panose="020B0604020202020204" pitchFamily="34" charset="0"/>
            </a:endParaRPr>
          </a:p>
          <a:p>
            <a:r>
              <a:rPr lang="en-US" sz="2400" dirty="0">
                <a:solidFill>
                  <a:srgbClr val="A020F0"/>
                </a:solidFill>
                <a:latin typeface="Arial" panose="020B0604020202020204" pitchFamily="34" charset="0"/>
                <a:cs typeface="Arial" panose="020B0604020202020204" pitchFamily="34" charset="0"/>
              </a:rPr>
              <a:t>'</a:t>
            </a:r>
            <a:r>
              <a:rPr lang="en-US" sz="2400" dirty="0" err="1">
                <a:solidFill>
                  <a:srgbClr val="A020F0"/>
                </a:solidFill>
                <a:latin typeface="Arial" panose="020B0604020202020204" pitchFamily="34" charset="0"/>
                <a:cs typeface="Arial" panose="020B0604020202020204" pitchFamily="34" charset="0"/>
              </a:rPr>
              <a:t>IncludeSubfolders</a:t>
            </a:r>
            <a:r>
              <a:rPr lang="en-US" sz="2400" dirty="0">
                <a:solidFill>
                  <a:srgbClr val="A020F0"/>
                </a:solidFill>
                <a:latin typeface="Arial" panose="020B0604020202020204" pitchFamily="34" charset="0"/>
                <a:cs typeface="Arial" panose="020B0604020202020204" pitchFamily="34" charset="0"/>
              </a:rPr>
              <a:t>'</a:t>
            </a:r>
            <a:r>
              <a:rPr lang="en-US" sz="2400" dirty="0">
                <a:solidFill>
                  <a:srgbClr val="000000"/>
                </a:solidFill>
                <a:latin typeface="Arial" panose="020B0604020202020204" pitchFamily="34" charset="0"/>
                <a:cs typeface="Arial" panose="020B0604020202020204" pitchFamily="34" charset="0"/>
              </a:rPr>
              <a:t>,true, </a:t>
            </a:r>
            <a:r>
              <a:rPr lang="en-US" sz="2400" dirty="0">
                <a:solidFill>
                  <a:srgbClr val="0000FF"/>
                </a:solidFill>
                <a:latin typeface="Arial" panose="020B0604020202020204" pitchFamily="34" charset="0"/>
                <a:cs typeface="Arial" panose="020B0604020202020204" pitchFamily="34" charset="0"/>
              </a:rPr>
              <a:t>...</a:t>
            </a:r>
            <a:endParaRPr lang="en-US" sz="2400" dirty="0">
              <a:solidFill>
                <a:srgbClr val="000000"/>
              </a:solidFill>
              <a:latin typeface="Arial" panose="020B0604020202020204" pitchFamily="34" charset="0"/>
              <a:cs typeface="Arial" panose="020B0604020202020204" pitchFamily="34" charset="0"/>
            </a:endParaRPr>
          </a:p>
          <a:p>
            <a:r>
              <a:rPr lang="en-US" sz="2400" dirty="0">
                <a:solidFill>
                  <a:srgbClr val="A020F0"/>
                </a:solidFill>
                <a:latin typeface="Arial" panose="020B0604020202020204" pitchFamily="34" charset="0"/>
                <a:cs typeface="Arial" panose="020B0604020202020204" pitchFamily="34" charset="0"/>
              </a:rPr>
              <a:t>'</a:t>
            </a:r>
            <a:r>
              <a:rPr lang="en-US" sz="2400" dirty="0" err="1">
                <a:solidFill>
                  <a:srgbClr val="A020F0"/>
                </a:solidFill>
                <a:latin typeface="Arial" panose="020B0604020202020204" pitchFamily="34" charset="0"/>
                <a:cs typeface="Arial" panose="020B0604020202020204" pitchFamily="34" charset="0"/>
              </a:rPr>
              <a:t>LabelSource</a:t>
            </a:r>
            <a:r>
              <a:rPr lang="en-US" sz="2400" dirty="0">
                <a:solidFill>
                  <a:srgbClr val="A020F0"/>
                </a:solidFill>
                <a:latin typeface="Arial" panose="020B0604020202020204" pitchFamily="34" charset="0"/>
                <a:cs typeface="Arial" panose="020B0604020202020204" pitchFamily="34" charset="0"/>
              </a:rPr>
              <a:t>'</a:t>
            </a:r>
            <a:r>
              <a:rPr lang="en-US" sz="2400" dirty="0">
                <a:solidFill>
                  <a:srgbClr val="000000"/>
                </a:solidFill>
                <a:latin typeface="Arial" panose="020B0604020202020204" pitchFamily="34" charset="0"/>
                <a:cs typeface="Arial" panose="020B0604020202020204" pitchFamily="34" charset="0"/>
              </a:rPr>
              <a:t>,</a:t>
            </a:r>
            <a:r>
              <a:rPr lang="en-US" sz="2400" dirty="0">
                <a:solidFill>
                  <a:srgbClr val="A020F0"/>
                </a:solidFill>
                <a:latin typeface="Arial" panose="020B0604020202020204" pitchFamily="34" charset="0"/>
                <a:cs typeface="Arial" panose="020B0604020202020204" pitchFamily="34" charset="0"/>
              </a:rPr>
              <a:t>'</a:t>
            </a:r>
            <a:r>
              <a:rPr lang="en-US" sz="2400" dirty="0" err="1">
                <a:solidFill>
                  <a:srgbClr val="A020F0"/>
                </a:solidFill>
                <a:latin typeface="Arial" panose="020B0604020202020204" pitchFamily="34" charset="0"/>
                <a:cs typeface="Arial" panose="020B0604020202020204" pitchFamily="34" charset="0"/>
              </a:rPr>
              <a:t>foldernames</a:t>
            </a:r>
            <a:r>
              <a:rPr lang="en-US" sz="2400" dirty="0">
                <a:solidFill>
                  <a:srgbClr val="A020F0"/>
                </a:solidFill>
                <a:latin typeface="Arial" panose="020B0604020202020204" pitchFamily="34" charset="0"/>
                <a:cs typeface="Arial" panose="020B0604020202020204" pitchFamily="34" charset="0"/>
              </a:rPr>
              <a:t>'</a:t>
            </a:r>
            <a:r>
              <a:rPr lang="en-US" sz="2400" dirty="0">
                <a:solidFill>
                  <a:srgbClr val="000000"/>
                </a:solidFill>
                <a:latin typeface="Arial" panose="020B0604020202020204" pitchFamily="34" charset="0"/>
                <a:cs typeface="Arial" panose="020B0604020202020204" pitchFamily="34" charset="0"/>
              </a:rPr>
              <a:t>);</a:t>
            </a:r>
          </a:p>
        </p:txBody>
      </p:sp>
      <p:sp>
        <p:nvSpPr>
          <p:cNvPr id="6" name="Rectangle 5"/>
          <p:cNvSpPr/>
          <p:nvPr/>
        </p:nvSpPr>
        <p:spPr>
          <a:xfrm>
            <a:off x="7248128" y="3898791"/>
            <a:ext cx="3384376" cy="2554545"/>
          </a:xfrm>
          <a:prstGeom prst="rect">
            <a:avLst/>
          </a:prstGeom>
          <a:ln>
            <a:solidFill>
              <a:schemeClr val="tx1"/>
            </a:solidFill>
          </a:ln>
        </p:spPr>
        <p:txBody>
          <a:bodyPr wrap="square">
            <a:spAutoFit/>
          </a:bodyPr>
          <a:lstStyle/>
          <a:p>
            <a:r>
              <a:rPr lang="en-US" sz="2000" dirty="0">
                <a:solidFill>
                  <a:srgbClr val="000000"/>
                </a:solidFill>
                <a:latin typeface="Arial" panose="020B0604020202020204" pitchFamily="34" charset="0"/>
                <a:cs typeface="Arial" panose="020B0604020202020204" pitchFamily="34" charset="0"/>
              </a:rPr>
              <a:t>&gt;&gt; </a:t>
            </a:r>
            <a:r>
              <a:rPr lang="en-US" sz="2000" dirty="0" err="1">
                <a:solidFill>
                  <a:srgbClr val="000000"/>
                </a:solidFill>
                <a:latin typeface="Arial" panose="020B0604020202020204" pitchFamily="34" charset="0"/>
                <a:cs typeface="Arial" panose="020B0604020202020204" pitchFamily="34" charset="0"/>
              </a:rPr>
              <a:t>numel</a:t>
            </a:r>
            <a:r>
              <a:rPr lang="en-US" sz="2000" dirty="0">
                <a:solidFill>
                  <a:srgbClr val="000000"/>
                </a:solidFill>
                <a:latin typeface="Arial" panose="020B0604020202020204" pitchFamily="34" charset="0"/>
                <a:cs typeface="Arial" panose="020B0604020202020204" pitchFamily="34" charset="0"/>
              </a:rPr>
              <a:t>(</a:t>
            </a:r>
            <a:r>
              <a:rPr lang="en-US" sz="2000" dirty="0" err="1">
                <a:solidFill>
                  <a:srgbClr val="000000"/>
                </a:solidFill>
                <a:latin typeface="Arial" panose="020B0604020202020204" pitchFamily="34" charset="0"/>
                <a:cs typeface="Arial" panose="020B0604020202020204" pitchFamily="34" charset="0"/>
              </a:rPr>
              <a:t>imds.Labels</a:t>
            </a:r>
            <a:r>
              <a:rPr lang="en-US" sz="2000" dirty="0">
                <a:solidFill>
                  <a:srgbClr val="000000"/>
                </a:solidFill>
                <a:latin typeface="Arial" panose="020B0604020202020204" pitchFamily="34" charset="0"/>
                <a:cs typeface="Arial" panose="020B0604020202020204" pitchFamily="34" charset="0"/>
              </a:rPr>
              <a:t>)</a:t>
            </a:r>
          </a:p>
          <a:p>
            <a:r>
              <a:rPr lang="en-US" sz="2000" dirty="0" err="1">
                <a:solidFill>
                  <a:srgbClr val="000000"/>
                </a:solidFill>
                <a:latin typeface="Arial" panose="020B0604020202020204" pitchFamily="34" charset="0"/>
                <a:cs typeface="Arial" panose="020B0604020202020204" pitchFamily="34" charset="0"/>
              </a:rPr>
              <a:t>ans</a:t>
            </a:r>
            <a:r>
              <a:rPr lang="en-US" sz="2000" dirty="0">
                <a:solidFill>
                  <a:srgbClr val="000000"/>
                </a:solidFill>
                <a:latin typeface="Arial" panose="020B0604020202020204" pitchFamily="34" charset="0"/>
                <a:cs typeface="Arial" panose="020B0604020202020204" pitchFamily="34" charset="0"/>
              </a:rPr>
              <a:t> = 75</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&gt;&gt; I = </a:t>
            </a:r>
            <a:r>
              <a:rPr lang="en-US" sz="2000" dirty="0" err="1">
                <a:latin typeface="Arial" panose="020B0604020202020204" pitchFamily="34" charset="0"/>
                <a:cs typeface="Arial" panose="020B0604020202020204" pitchFamily="34" charset="0"/>
              </a:rPr>
              <a:t>readimage</a:t>
            </a:r>
            <a:r>
              <a:rPr lang="en-US" sz="2000" dirty="0">
                <a:latin typeface="Arial" panose="020B0604020202020204" pitchFamily="34" charset="0"/>
                <a:cs typeface="Arial" panose="020B0604020202020204" pitchFamily="34" charset="0"/>
              </a:rPr>
              <a:t>(imds,5);</a:t>
            </a:r>
          </a:p>
          <a:p>
            <a:r>
              <a:rPr lang="en-US" sz="2000" dirty="0">
                <a:latin typeface="Arial" panose="020B0604020202020204" pitchFamily="34" charset="0"/>
                <a:cs typeface="Arial" panose="020B0604020202020204" pitchFamily="34" charset="0"/>
              </a:rPr>
              <a:t>&gt;&gt; </a:t>
            </a:r>
            <a:r>
              <a:rPr lang="en-US" sz="2000" dirty="0" err="1">
                <a:latin typeface="Arial" panose="020B0604020202020204" pitchFamily="34" charset="0"/>
                <a:cs typeface="Arial" panose="020B0604020202020204" pitchFamily="34" charset="0"/>
              </a:rPr>
              <a:t>imshow</a:t>
            </a:r>
            <a:r>
              <a:rPr lang="en-US" sz="2000" dirty="0">
                <a:latin typeface="Arial" panose="020B0604020202020204" pitchFamily="34" charset="0"/>
                <a:cs typeface="Arial" panose="020B0604020202020204" pitchFamily="34" charset="0"/>
              </a:rPr>
              <a:t>(I)</a:t>
            </a:r>
          </a:p>
          <a:p>
            <a:r>
              <a:rPr lang="en-US" sz="2000" dirty="0">
                <a:latin typeface="Arial" panose="020B0604020202020204" pitchFamily="34" charset="0"/>
                <a:cs typeface="Arial" panose="020B0604020202020204" pitchFamily="34" charset="0"/>
              </a:rPr>
              <a:t>&gt;&gt; I = </a:t>
            </a:r>
            <a:r>
              <a:rPr lang="en-US" sz="2000" dirty="0" err="1">
                <a:latin typeface="Arial" panose="020B0604020202020204" pitchFamily="34" charset="0"/>
                <a:cs typeface="Arial" panose="020B0604020202020204" pitchFamily="34" charset="0"/>
              </a:rPr>
              <a:t>readimage</a:t>
            </a:r>
            <a:r>
              <a:rPr lang="en-US" sz="2000" dirty="0">
                <a:latin typeface="Arial" panose="020B0604020202020204" pitchFamily="34" charset="0"/>
                <a:cs typeface="Arial" panose="020B0604020202020204" pitchFamily="34" charset="0"/>
              </a:rPr>
              <a:t>(imds,52);</a:t>
            </a:r>
          </a:p>
          <a:p>
            <a:r>
              <a:rPr lang="en-US" sz="2000" dirty="0">
                <a:latin typeface="Arial" panose="020B0604020202020204" pitchFamily="34" charset="0"/>
                <a:cs typeface="Arial" panose="020B0604020202020204" pitchFamily="34" charset="0"/>
              </a:rPr>
              <a:t>&gt;&gt; </a:t>
            </a:r>
            <a:r>
              <a:rPr lang="en-US" sz="2000" dirty="0" err="1">
                <a:latin typeface="Arial" panose="020B0604020202020204" pitchFamily="34" charset="0"/>
                <a:cs typeface="Arial" panose="020B0604020202020204" pitchFamily="34" charset="0"/>
              </a:rPr>
              <a:t>imshow</a:t>
            </a:r>
            <a:r>
              <a:rPr lang="en-US" sz="2000" dirty="0">
                <a:latin typeface="Arial" panose="020B0604020202020204" pitchFamily="34" charset="0"/>
                <a:cs typeface="Arial" panose="020B0604020202020204" pitchFamily="34" charset="0"/>
              </a:rPr>
              <a:t>(I)</a:t>
            </a:r>
          </a:p>
          <a:p>
            <a:r>
              <a:rPr lang="en-US" sz="2000" dirty="0">
                <a:latin typeface="Arial" panose="020B0604020202020204" pitchFamily="34" charset="0"/>
                <a:cs typeface="Arial" panose="020B0604020202020204" pitchFamily="34" charset="0"/>
              </a:rPr>
              <a:t>&gt;&gt; size(I)</a:t>
            </a:r>
          </a:p>
          <a:p>
            <a:r>
              <a:rPr lang="en-US" sz="2000" dirty="0" err="1">
                <a:latin typeface="Arial" panose="020B0604020202020204" pitchFamily="34" charset="0"/>
                <a:cs typeface="Arial" panose="020B0604020202020204" pitchFamily="34" charset="0"/>
              </a:rPr>
              <a:t>ans</a:t>
            </a:r>
            <a:r>
              <a:rPr lang="en-US" sz="2000" dirty="0">
                <a:latin typeface="Arial" panose="020B0604020202020204" pitchFamily="34" charset="0"/>
                <a:cs typeface="Arial" panose="020B0604020202020204" pitchFamily="34" charset="0"/>
              </a:rPr>
              <a:t> = 227   227     3</a:t>
            </a:r>
          </a:p>
        </p:txBody>
      </p:sp>
      <p:pic>
        <p:nvPicPr>
          <p:cNvPr id="7" name="Picture 6"/>
          <p:cNvPicPr>
            <a:picLocks noChangeAspect="1"/>
          </p:cNvPicPr>
          <p:nvPr/>
        </p:nvPicPr>
        <p:blipFill rotWithShape="1">
          <a:blip r:embed="rId3"/>
          <a:srcRect l="25025" t="9692" r="25024" b="28297"/>
          <a:stretch/>
        </p:blipFill>
        <p:spPr>
          <a:xfrm>
            <a:off x="10704512" y="3677358"/>
            <a:ext cx="1440160" cy="1440160"/>
          </a:xfrm>
          <a:prstGeom prst="rect">
            <a:avLst/>
          </a:prstGeom>
        </p:spPr>
      </p:pic>
      <p:pic>
        <p:nvPicPr>
          <p:cNvPr id="8" name="Picture 7"/>
          <p:cNvPicPr>
            <a:picLocks noChangeAspect="1"/>
          </p:cNvPicPr>
          <p:nvPr/>
        </p:nvPicPr>
        <p:blipFill rotWithShape="1">
          <a:blip r:embed="rId4"/>
          <a:srcRect l="25025" t="9693" r="25024" b="25196"/>
          <a:stretch/>
        </p:blipFill>
        <p:spPr>
          <a:xfrm>
            <a:off x="10704512" y="5301208"/>
            <a:ext cx="1440160" cy="1512168"/>
          </a:xfrm>
          <a:prstGeom prst="rect">
            <a:avLst/>
          </a:prstGeom>
        </p:spPr>
      </p:pic>
      <p:sp>
        <p:nvSpPr>
          <p:cNvPr id="10" name="Rounded Rectangle 9"/>
          <p:cNvSpPr/>
          <p:nvPr/>
        </p:nvSpPr>
        <p:spPr>
          <a:xfrm>
            <a:off x="2927648" y="5733256"/>
            <a:ext cx="4104456" cy="1008112"/>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600"/>
              </a:spcBef>
              <a:spcAft>
                <a:spcPts val="600"/>
              </a:spcAft>
            </a:pPr>
            <a:r>
              <a:rPr lang="en-US" sz="2800" dirty="0">
                <a:solidFill>
                  <a:srgbClr val="3C3C3C"/>
                </a:solidFill>
                <a:latin typeface="Times New Roman" panose="02020603050405020304" pitchFamily="18" charset="0"/>
                <a:cs typeface="Times New Roman" panose="02020603050405020304" pitchFamily="18" charset="0"/>
              </a:rPr>
              <a:t>This is very small data set contains only 75 images. </a:t>
            </a:r>
          </a:p>
        </p:txBody>
      </p:sp>
    </p:spTree>
    <p:extLst>
      <p:ext uri="{BB962C8B-B14F-4D97-AF65-F5344CB8AC3E}">
        <p14:creationId xmlns:p14="http://schemas.microsoft.com/office/powerpoint/2010/main" val="40916220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Transfer Learning Using </a:t>
            </a:r>
            <a:r>
              <a:rPr lang="en-US" sz="4000" dirty="0" err="1"/>
              <a:t>AlexNet</a:t>
            </a:r>
            <a:r>
              <a:rPr lang="en-US" sz="4000" dirty="0"/>
              <a:t>: Example… </a:t>
            </a:r>
          </a:p>
        </p:txBody>
      </p:sp>
      <p:sp>
        <p:nvSpPr>
          <p:cNvPr id="4" name="Rectangle 3"/>
          <p:cNvSpPr/>
          <p:nvPr/>
        </p:nvSpPr>
        <p:spPr>
          <a:xfrm>
            <a:off x="119336" y="1340768"/>
            <a:ext cx="10585176" cy="1384995"/>
          </a:xfrm>
          <a:prstGeom prst="rect">
            <a:avLst/>
          </a:prstGeom>
        </p:spPr>
        <p:txBody>
          <a:bodyPr wrap="square">
            <a:spAutoFit/>
          </a:bodyPr>
          <a:lstStyle/>
          <a:p>
            <a:pPr algn="just">
              <a:spcBef>
                <a:spcPts val="600"/>
              </a:spcBef>
              <a:spcAft>
                <a:spcPts val="600"/>
              </a:spcAft>
            </a:pPr>
            <a:r>
              <a:rPr lang="en-US" sz="2800" b="1" dirty="0">
                <a:solidFill>
                  <a:srgbClr val="3C3C3C"/>
                </a:solidFill>
                <a:latin typeface="Times New Roman" panose="02020603050405020304" pitchFamily="18" charset="0"/>
                <a:cs typeface="Times New Roman" panose="02020603050405020304" pitchFamily="18" charset="0"/>
              </a:rPr>
              <a:t>Divide the data</a:t>
            </a:r>
            <a:r>
              <a:rPr lang="en-US" sz="2800" dirty="0">
                <a:solidFill>
                  <a:srgbClr val="3C3C3C"/>
                </a:solidFill>
                <a:latin typeface="Times New Roman" panose="02020603050405020304" pitchFamily="18" charset="0"/>
                <a:cs typeface="Times New Roman" panose="02020603050405020304" pitchFamily="18" charset="0"/>
              </a:rPr>
              <a:t> into training and validation data sets. Use 70% of the images for training and 30% for validation. </a:t>
            </a:r>
            <a:r>
              <a:rPr lang="en-US" sz="2800" dirty="0" err="1">
                <a:solidFill>
                  <a:srgbClr val="3C3C3C"/>
                </a:solidFill>
                <a:latin typeface="Times New Roman" panose="02020603050405020304" pitchFamily="18" charset="0"/>
                <a:cs typeface="Times New Roman" panose="02020603050405020304" pitchFamily="18" charset="0"/>
              </a:rPr>
              <a:t>splitEachLabel</a:t>
            </a:r>
            <a:r>
              <a:rPr lang="en-US" sz="2800" dirty="0">
                <a:solidFill>
                  <a:srgbClr val="3C3C3C"/>
                </a:solidFill>
                <a:latin typeface="Times New Roman" panose="02020603050405020304" pitchFamily="18" charset="0"/>
                <a:cs typeface="Times New Roman" panose="02020603050405020304" pitchFamily="18" charset="0"/>
              </a:rPr>
              <a:t> splits the images </a:t>
            </a:r>
            <a:r>
              <a:rPr lang="en-US" sz="2800" dirty="0" err="1">
                <a:solidFill>
                  <a:srgbClr val="3C3C3C"/>
                </a:solidFill>
                <a:latin typeface="Times New Roman" panose="02020603050405020304" pitchFamily="18" charset="0"/>
                <a:cs typeface="Times New Roman" panose="02020603050405020304" pitchFamily="18" charset="0"/>
              </a:rPr>
              <a:t>datastore</a:t>
            </a:r>
            <a:r>
              <a:rPr lang="en-US" sz="2800" dirty="0">
                <a:solidFill>
                  <a:srgbClr val="3C3C3C"/>
                </a:solidFill>
                <a:latin typeface="Times New Roman" panose="02020603050405020304" pitchFamily="18" charset="0"/>
                <a:cs typeface="Times New Roman" panose="02020603050405020304" pitchFamily="18" charset="0"/>
              </a:rPr>
              <a:t> into two new </a:t>
            </a:r>
            <a:r>
              <a:rPr lang="en-US" sz="2800" dirty="0" err="1">
                <a:solidFill>
                  <a:srgbClr val="3C3C3C"/>
                </a:solidFill>
                <a:latin typeface="Times New Roman" panose="02020603050405020304" pitchFamily="18" charset="0"/>
                <a:cs typeface="Times New Roman" panose="02020603050405020304" pitchFamily="18" charset="0"/>
              </a:rPr>
              <a:t>datastores</a:t>
            </a:r>
            <a:r>
              <a:rPr lang="en-US" sz="2800" dirty="0">
                <a:solidFill>
                  <a:srgbClr val="3C3C3C"/>
                </a:solidFill>
                <a:latin typeface="Times New Roman" panose="02020603050405020304" pitchFamily="18" charset="0"/>
                <a:cs typeface="Times New Roman" panose="02020603050405020304" pitchFamily="18" charset="0"/>
              </a:rPr>
              <a:t>.</a:t>
            </a:r>
            <a:endParaRPr lang="en-US" sz="2800" i="0" u="none" strike="noStrike" dirty="0">
              <a:solidFill>
                <a:srgbClr val="000000"/>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144015" y="2996952"/>
            <a:ext cx="10047763" cy="461665"/>
          </a:xfrm>
          <a:prstGeom prst="rect">
            <a:avLst/>
          </a:prstGeom>
        </p:spPr>
        <p:txBody>
          <a:bodyPr wrap="square">
            <a:spAutoFit/>
          </a:bodyPr>
          <a:lstStyle/>
          <a:p>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latin typeface="Arial" panose="020B0604020202020204" pitchFamily="34" charset="0"/>
                <a:cs typeface="Arial" panose="020B0604020202020204" pitchFamily="34" charset="0"/>
              </a:rPr>
              <a:t>imdsTrain,imdsValidation</a:t>
            </a:r>
            <a:r>
              <a:rPr lang="en-US" sz="2400" dirty="0">
                <a:solidFill>
                  <a:srgbClr val="000000"/>
                </a:solidFill>
                <a:latin typeface="Arial" panose="020B0604020202020204" pitchFamily="34" charset="0"/>
                <a:cs typeface="Arial" panose="020B0604020202020204" pitchFamily="34" charset="0"/>
              </a:rPr>
              <a:t>] = </a:t>
            </a:r>
            <a:r>
              <a:rPr lang="en-US" sz="2400" dirty="0" err="1">
                <a:solidFill>
                  <a:srgbClr val="000000"/>
                </a:solidFill>
                <a:latin typeface="Arial" panose="020B0604020202020204" pitchFamily="34" charset="0"/>
                <a:cs typeface="Arial" panose="020B0604020202020204" pitchFamily="34" charset="0"/>
              </a:rPr>
              <a:t>splitEachLabel</a:t>
            </a:r>
            <a:r>
              <a:rPr lang="en-US" sz="2400" dirty="0">
                <a:solidFill>
                  <a:srgbClr val="000000"/>
                </a:solidFill>
                <a:latin typeface="Arial" panose="020B0604020202020204" pitchFamily="34" charset="0"/>
                <a:cs typeface="Arial" panose="020B0604020202020204" pitchFamily="34" charset="0"/>
              </a:rPr>
              <a:t>(imds,0.7,'randomized');</a:t>
            </a:r>
          </a:p>
        </p:txBody>
      </p:sp>
      <p:sp>
        <p:nvSpPr>
          <p:cNvPr id="9" name="Rectangle 8"/>
          <p:cNvSpPr/>
          <p:nvPr/>
        </p:nvSpPr>
        <p:spPr>
          <a:xfrm>
            <a:off x="7032104" y="3820398"/>
            <a:ext cx="5040560" cy="646331"/>
          </a:xfrm>
          <a:prstGeom prst="rect">
            <a:avLst/>
          </a:prstGeom>
          <a:ln>
            <a:solidFill>
              <a:schemeClr val="tx1"/>
            </a:solidFill>
          </a:ln>
        </p:spPr>
        <p:txBody>
          <a:bodyPr wrap="square">
            <a:spAutoFit/>
          </a:bodyPr>
          <a:lstStyle/>
          <a:p>
            <a:r>
              <a:rPr lang="en-US" dirty="0">
                <a:solidFill>
                  <a:srgbClr val="000000"/>
                </a:solidFill>
                <a:latin typeface="Arial" panose="020B0604020202020204" pitchFamily="34" charset="0"/>
                <a:cs typeface="Arial" panose="020B0604020202020204" pitchFamily="34" charset="0"/>
              </a:rPr>
              <a:t>&gt;&gt; </a:t>
            </a:r>
            <a:r>
              <a:rPr lang="en-US" dirty="0" err="1">
                <a:solidFill>
                  <a:srgbClr val="000000"/>
                </a:solidFill>
                <a:latin typeface="Arial" panose="020B0604020202020204" pitchFamily="34" charset="0"/>
                <a:cs typeface="Arial" panose="020B0604020202020204" pitchFamily="34" charset="0"/>
              </a:rPr>
              <a:t>numTrainImages</a:t>
            </a:r>
            <a:r>
              <a:rPr lang="en-US" dirty="0">
                <a:solidFill>
                  <a:srgbClr val="000000"/>
                </a:solidFill>
                <a:latin typeface="Arial" panose="020B0604020202020204" pitchFamily="34" charset="0"/>
                <a:cs typeface="Arial" panose="020B0604020202020204" pitchFamily="34" charset="0"/>
              </a:rPr>
              <a:t> = </a:t>
            </a:r>
            <a:r>
              <a:rPr lang="en-US" dirty="0" err="1">
                <a:solidFill>
                  <a:srgbClr val="000000"/>
                </a:solidFill>
                <a:latin typeface="Arial" panose="020B0604020202020204" pitchFamily="34" charset="0"/>
                <a:cs typeface="Arial" panose="020B0604020202020204" pitchFamily="34" charset="0"/>
              </a:rPr>
              <a:t>numel</a:t>
            </a:r>
            <a:r>
              <a:rPr lang="en-US" dirty="0">
                <a:solidFill>
                  <a:srgbClr val="000000"/>
                </a:solidFill>
                <a:latin typeface="Arial" panose="020B0604020202020204" pitchFamily="34" charset="0"/>
                <a:cs typeface="Arial" panose="020B0604020202020204" pitchFamily="34" charset="0"/>
              </a:rPr>
              <a:t>(</a:t>
            </a:r>
            <a:r>
              <a:rPr lang="en-US" dirty="0" err="1">
                <a:solidFill>
                  <a:srgbClr val="000000"/>
                </a:solidFill>
                <a:latin typeface="Arial" panose="020B0604020202020204" pitchFamily="34" charset="0"/>
                <a:cs typeface="Arial" panose="020B0604020202020204" pitchFamily="34" charset="0"/>
              </a:rPr>
              <a:t>imdsTrain.Labels</a:t>
            </a:r>
            <a:r>
              <a:rPr lang="en-US" dirty="0">
                <a:solidFill>
                  <a:srgbClr val="000000"/>
                </a:solidFill>
                <a:latin typeface="Arial" panose="020B0604020202020204" pitchFamily="34" charset="0"/>
                <a:cs typeface="Arial" panose="020B0604020202020204" pitchFamily="34" charset="0"/>
              </a:rPr>
              <a:t>)</a:t>
            </a:r>
          </a:p>
          <a:p>
            <a:r>
              <a:rPr lang="en-US" dirty="0" err="1">
                <a:solidFill>
                  <a:srgbClr val="000000"/>
                </a:solidFill>
                <a:latin typeface="Arial" panose="020B0604020202020204" pitchFamily="34" charset="0"/>
                <a:cs typeface="Arial" panose="020B0604020202020204" pitchFamily="34" charset="0"/>
              </a:rPr>
              <a:t>numTrainImages</a:t>
            </a:r>
            <a:r>
              <a:rPr lang="en-US" dirty="0">
                <a:solidFill>
                  <a:srgbClr val="000000"/>
                </a:solidFill>
                <a:latin typeface="Arial" panose="020B0604020202020204" pitchFamily="34" charset="0"/>
                <a:cs typeface="Arial" panose="020B0604020202020204" pitchFamily="34" charset="0"/>
              </a:rPr>
              <a:t> =  55</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34880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Transfer Learning Using </a:t>
            </a:r>
            <a:r>
              <a:rPr lang="en-US" sz="4000" dirty="0" err="1"/>
              <a:t>AlexNet</a:t>
            </a:r>
            <a:r>
              <a:rPr lang="en-US" sz="4000" dirty="0"/>
              <a:t>: Example… </a:t>
            </a:r>
          </a:p>
        </p:txBody>
      </p:sp>
      <p:sp>
        <p:nvSpPr>
          <p:cNvPr id="4" name="Rectangle 3"/>
          <p:cNvSpPr/>
          <p:nvPr/>
        </p:nvSpPr>
        <p:spPr>
          <a:xfrm>
            <a:off x="119336" y="1340768"/>
            <a:ext cx="10585176" cy="2677656"/>
          </a:xfrm>
          <a:prstGeom prst="rect">
            <a:avLst/>
          </a:prstGeom>
        </p:spPr>
        <p:txBody>
          <a:bodyPr wrap="square">
            <a:spAutoFit/>
          </a:bodyPr>
          <a:lstStyle/>
          <a:p>
            <a:pPr algn="just">
              <a:spcBef>
                <a:spcPts val="600"/>
              </a:spcBef>
              <a:spcAft>
                <a:spcPts val="600"/>
              </a:spcAft>
            </a:pPr>
            <a:r>
              <a:rPr lang="en-US" sz="2800" b="1" dirty="0">
                <a:solidFill>
                  <a:srgbClr val="3C3C3C"/>
                </a:solidFill>
                <a:latin typeface="Times New Roman" panose="02020603050405020304" pitchFamily="18" charset="0"/>
                <a:cs typeface="Times New Roman" panose="02020603050405020304" pitchFamily="18" charset="0"/>
              </a:rPr>
              <a:t>Load the </a:t>
            </a:r>
            <a:r>
              <a:rPr lang="en-US" sz="2800" b="1" dirty="0" err="1">
                <a:solidFill>
                  <a:srgbClr val="3C3C3C"/>
                </a:solidFill>
                <a:latin typeface="Times New Roman" panose="02020603050405020304" pitchFamily="18" charset="0"/>
                <a:cs typeface="Times New Roman" panose="02020603050405020304" pitchFamily="18" charset="0"/>
              </a:rPr>
              <a:t>pretrained</a:t>
            </a:r>
            <a:r>
              <a:rPr lang="en-US" sz="2800" b="1" dirty="0">
                <a:solidFill>
                  <a:srgbClr val="3C3C3C"/>
                </a:solidFill>
                <a:latin typeface="Times New Roman" panose="02020603050405020304" pitchFamily="18" charset="0"/>
                <a:cs typeface="Times New Roman" panose="02020603050405020304" pitchFamily="18" charset="0"/>
              </a:rPr>
              <a:t> </a:t>
            </a:r>
            <a:r>
              <a:rPr lang="en-US" sz="2800" b="1" dirty="0" err="1">
                <a:solidFill>
                  <a:srgbClr val="3C3C3C"/>
                </a:solidFill>
                <a:latin typeface="Times New Roman" panose="02020603050405020304" pitchFamily="18" charset="0"/>
                <a:cs typeface="Times New Roman" panose="02020603050405020304" pitchFamily="18" charset="0"/>
              </a:rPr>
              <a:t>AlexNet</a:t>
            </a:r>
            <a:r>
              <a:rPr lang="en-US" sz="2800" b="1" dirty="0">
                <a:solidFill>
                  <a:srgbClr val="3C3C3C"/>
                </a:solidFill>
                <a:latin typeface="Times New Roman" panose="02020603050405020304" pitchFamily="18" charset="0"/>
                <a:cs typeface="Times New Roman" panose="02020603050405020304" pitchFamily="18" charset="0"/>
              </a:rPr>
              <a:t> neural network.</a:t>
            </a:r>
            <a:r>
              <a:rPr lang="en-US" sz="2800" dirty="0">
                <a:solidFill>
                  <a:srgbClr val="3C3C3C"/>
                </a:solidFill>
                <a:latin typeface="Times New Roman" panose="02020603050405020304" pitchFamily="18" charset="0"/>
                <a:cs typeface="Times New Roman" panose="02020603050405020304" pitchFamily="18" charset="0"/>
              </a:rPr>
              <a:t> If Neural Network Toolbox™ Model for </a:t>
            </a:r>
            <a:r>
              <a:rPr lang="en-US" sz="2800" dirty="0" err="1">
                <a:solidFill>
                  <a:srgbClr val="3C3C3C"/>
                </a:solidFill>
                <a:latin typeface="Times New Roman" panose="02020603050405020304" pitchFamily="18" charset="0"/>
                <a:cs typeface="Times New Roman" panose="02020603050405020304" pitchFamily="18" charset="0"/>
              </a:rPr>
              <a:t>AlexNet</a:t>
            </a:r>
            <a:r>
              <a:rPr lang="en-US" sz="2800" dirty="0">
                <a:solidFill>
                  <a:srgbClr val="3C3C3C"/>
                </a:solidFill>
                <a:latin typeface="Times New Roman" panose="02020603050405020304" pitchFamily="18" charset="0"/>
                <a:cs typeface="Times New Roman" panose="02020603050405020304" pitchFamily="18" charset="0"/>
              </a:rPr>
              <a:t> Network is not installed, then the software provides a download link. </a:t>
            </a:r>
            <a:r>
              <a:rPr lang="en-US" sz="2800" dirty="0" err="1">
                <a:solidFill>
                  <a:srgbClr val="3C3C3C"/>
                </a:solidFill>
                <a:latin typeface="Times New Roman" panose="02020603050405020304" pitchFamily="18" charset="0"/>
                <a:cs typeface="Times New Roman" panose="02020603050405020304" pitchFamily="18" charset="0"/>
              </a:rPr>
              <a:t>AlexNet</a:t>
            </a:r>
            <a:r>
              <a:rPr lang="en-US" sz="2800" dirty="0">
                <a:solidFill>
                  <a:srgbClr val="3C3C3C"/>
                </a:solidFill>
                <a:latin typeface="Times New Roman" panose="02020603050405020304" pitchFamily="18" charset="0"/>
                <a:cs typeface="Times New Roman" panose="02020603050405020304" pitchFamily="18" charset="0"/>
              </a:rPr>
              <a:t> is trained on more than one million images and can classify images into 1000 object categories, such as keyboard, mouse, pencil, and many animals. As a result, the model has learned rich feature representations for a wide range of images. </a:t>
            </a:r>
          </a:p>
        </p:txBody>
      </p:sp>
      <p:sp>
        <p:nvSpPr>
          <p:cNvPr id="5" name="Rectangle 4"/>
          <p:cNvSpPr/>
          <p:nvPr/>
        </p:nvSpPr>
        <p:spPr>
          <a:xfrm>
            <a:off x="144015" y="4365104"/>
            <a:ext cx="10704513" cy="461665"/>
          </a:xfrm>
          <a:prstGeom prst="rect">
            <a:avLst/>
          </a:prstGeom>
        </p:spPr>
        <p:txBody>
          <a:bodyPr wrap="square">
            <a:spAutoFit/>
          </a:bodyPr>
          <a:lstStyle/>
          <a:p>
            <a:r>
              <a:rPr lang="en-US" sz="2400" dirty="0">
                <a:solidFill>
                  <a:srgbClr val="000000"/>
                </a:solidFill>
                <a:latin typeface="Arial" panose="020B0604020202020204" pitchFamily="34" charset="0"/>
                <a:cs typeface="Arial" panose="020B0604020202020204" pitchFamily="34" charset="0"/>
              </a:rPr>
              <a:t>net = </a:t>
            </a:r>
            <a:r>
              <a:rPr lang="en-US" sz="2400" dirty="0" err="1">
                <a:solidFill>
                  <a:srgbClr val="000000"/>
                </a:solidFill>
                <a:latin typeface="Arial" panose="020B0604020202020204" pitchFamily="34" charset="0"/>
                <a:cs typeface="Arial" panose="020B0604020202020204" pitchFamily="34" charset="0"/>
              </a:rPr>
              <a:t>alexnet</a:t>
            </a:r>
            <a:r>
              <a:rPr lang="en-US" sz="2400" dirty="0">
                <a:solidFill>
                  <a:srgbClr val="00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9461088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Transfer Learning Using </a:t>
            </a:r>
            <a:r>
              <a:rPr lang="en-US" sz="4000" dirty="0" err="1"/>
              <a:t>AlexNet</a:t>
            </a:r>
            <a:r>
              <a:rPr lang="en-US" sz="4000" dirty="0"/>
              <a:t>: Example… </a:t>
            </a:r>
          </a:p>
        </p:txBody>
      </p:sp>
      <p:sp>
        <p:nvSpPr>
          <p:cNvPr id="6" name="Rectangle 5"/>
          <p:cNvSpPr/>
          <p:nvPr/>
        </p:nvSpPr>
        <p:spPr>
          <a:xfrm>
            <a:off x="119336" y="1268760"/>
            <a:ext cx="7776864" cy="5632311"/>
          </a:xfrm>
          <a:prstGeom prst="rect">
            <a:avLst/>
          </a:prstGeom>
          <a:ln>
            <a:solidFill>
              <a:schemeClr val="tx1"/>
            </a:solidFill>
          </a:ln>
        </p:spPr>
        <p:txBody>
          <a:bodyPr wrap="square">
            <a:spAutoFit/>
          </a:bodyPr>
          <a:lstStyle/>
          <a:p>
            <a:r>
              <a:rPr lang="en-US" sz="2000" dirty="0"/>
              <a:t>&gt;&gt; </a:t>
            </a:r>
            <a:r>
              <a:rPr lang="en-US" sz="2000" dirty="0" err="1"/>
              <a:t>net.Layers</a:t>
            </a:r>
            <a:r>
              <a:rPr lang="en-US" sz="2000" dirty="0"/>
              <a:t>  </a:t>
            </a:r>
            <a:r>
              <a:rPr lang="en-US" sz="2000" dirty="0">
                <a:solidFill>
                  <a:srgbClr val="00B050"/>
                </a:solidFill>
              </a:rPr>
              <a:t>%  or </a:t>
            </a:r>
            <a:r>
              <a:rPr lang="en-US" sz="2000" dirty="0" err="1">
                <a:solidFill>
                  <a:srgbClr val="00B050"/>
                </a:solidFill>
              </a:rPr>
              <a:t>analyzeNetwork</a:t>
            </a:r>
            <a:r>
              <a:rPr lang="en-US" sz="2000" dirty="0">
                <a:solidFill>
                  <a:srgbClr val="00B050"/>
                </a:solidFill>
              </a:rPr>
              <a:t>(net)</a:t>
            </a:r>
          </a:p>
          <a:p>
            <a:r>
              <a:rPr lang="en-US" sz="2000" dirty="0" err="1"/>
              <a:t>ans</a:t>
            </a:r>
            <a:r>
              <a:rPr lang="en-US" sz="2000" dirty="0"/>
              <a:t> = 25x1 Layer array with layers:</a:t>
            </a:r>
            <a:endParaRPr lang="en-US" dirty="0"/>
          </a:p>
          <a:p>
            <a:endParaRPr lang="en-US" sz="1200" dirty="0"/>
          </a:p>
          <a:p>
            <a:r>
              <a:rPr lang="en-US" sz="1200" dirty="0"/>
              <a:t>     1   'data'     Image Input              227x227x3 images with '</a:t>
            </a:r>
            <a:r>
              <a:rPr lang="en-US" sz="1200" dirty="0" err="1"/>
              <a:t>zerocenter</a:t>
            </a:r>
            <a:r>
              <a:rPr lang="en-US" sz="1200" dirty="0"/>
              <a:t>' normalization (i.e., mean 0, standard deviation 1)</a:t>
            </a:r>
          </a:p>
          <a:p>
            <a:r>
              <a:rPr lang="en-US" sz="1200" dirty="0"/>
              <a:t>     2   'conv1'    Convolution            96 11x11x3 convolutions with stride [4  4] and padding [0  0  0  0]</a:t>
            </a:r>
          </a:p>
          <a:p>
            <a:r>
              <a:rPr lang="en-US" sz="1200" dirty="0"/>
              <a:t>     3   'relu1'    </a:t>
            </a:r>
            <a:r>
              <a:rPr lang="en-US" sz="1200" dirty="0" err="1"/>
              <a:t>ReLU</a:t>
            </a:r>
            <a:r>
              <a:rPr lang="en-US" sz="1200" dirty="0"/>
              <a:t>                          </a:t>
            </a:r>
            <a:r>
              <a:rPr lang="en-US" sz="1200" dirty="0" err="1"/>
              <a:t>ReLU</a:t>
            </a:r>
            <a:r>
              <a:rPr lang="en-US" sz="1200" dirty="0"/>
              <a:t> (Rectified Linear Unit)</a:t>
            </a:r>
          </a:p>
          <a:p>
            <a:r>
              <a:rPr lang="en-US" sz="1200" dirty="0"/>
              <a:t>     4   'norm1'    Cross Channel Normalization   cross channel normalization with 5 channels per element</a:t>
            </a:r>
          </a:p>
          <a:p>
            <a:r>
              <a:rPr lang="en-US" sz="1200" dirty="0"/>
              <a:t>     5   'pool1'    Max Pooling            3x3 max pooling with stride [2  2] and padding [0  0  0  0]</a:t>
            </a:r>
          </a:p>
          <a:p>
            <a:r>
              <a:rPr lang="en-US" sz="1200" dirty="0"/>
              <a:t>     6   'conv2'    Grouped Convolution            2 groups of 128 5x5x48 convolutions with stride [1  1] and padding [2  2  2  2]</a:t>
            </a:r>
          </a:p>
          <a:p>
            <a:r>
              <a:rPr lang="en-US" sz="1200" dirty="0"/>
              <a:t>     7   'relu2'    </a:t>
            </a:r>
            <a:r>
              <a:rPr lang="en-US" sz="1200" dirty="0" err="1"/>
              <a:t>ReLU</a:t>
            </a:r>
            <a:r>
              <a:rPr lang="en-US" sz="1200" dirty="0"/>
              <a:t>                          </a:t>
            </a:r>
            <a:r>
              <a:rPr lang="en-US" sz="1200" dirty="0" err="1"/>
              <a:t>ReLU</a:t>
            </a:r>
            <a:endParaRPr lang="en-US" sz="1200" dirty="0"/>
          </a:p>
          <a:p>
            <a:r>
              <a:rPr lang="en-US" sz="1200" dirty="0"/>
              <a:t>     8   'norm2'    Cross Channel Normalization   cross channel normalization with 5 channels per element</a:t>
            </a:r>
          </a:p>
          <a:p>
            <a:r>
              <a:rPr lang="en-US" sz="1200" dirty="0"/>
              <a:t>     9   'pool2'    Max Pooling            3x3 max pooling with stride [2  2] and padding [0  0  0  0]</a:t>
            </a:r>
          </a:p>
          <a:p>
            <a:r>
              <a:rPr lang="en-US" sz="1200" dirty="0"/>
              <a:t>    10   'conv3'    Convolution           384 3x3x256 convolutions with stride [1  1] and padding [1  1  1  1]</a:t>
            </a:r>
          </a:p>
          <a:p>
            <a:r>
              <a:rPr lang="en-US" sz="1200" dirty="0"/>
              <a:t>    11   'relu3'    </a:t>
            </a:r>
            <a:r>
              <a:rPr lang="en-US" sz="1200" dirty="0" err="1"/>
              <a:t>ReLU</a:t>
            </a:r>
            <a:r>
              <a:rPr lang="en-US" sz="1200" dirty="0"/>
              <a:t>                         </a:t>
            </a:r>
            <a:r>
              <a:rPr lang="en-US" sz="1200" dirty="0" err="1"/>
              <a:t>ReLU</a:t>
            </a:r>
            <a:endParaRPr lang="en-US" sz="1200" dirty="0"/>
          </a:p>
          <a:p>
            <a:r>
              <a:rPr lang="en-US" sz="1200" dirty="0"/>
              <a:t>    12   'conv4'    Grouped Convolution           2 groups of 192 3x3x192 convolutions with stride [1  1] and padding [1  1  1  1]</a:t>
            </a:r>
          </a:p>
          <a:p>
            <a:r>
              <a:rPr lang="en-US" sz="1200" dirty="0"/>
              <a:t>    13   'relu4'    </a:t>
            </a:r>
            <a:r>
              <a:rPr lang="en-US" sz="1200" dirty="0" err="1"/>
              <a:t>ReLU</a:t>
            </a:r>
            <a:r>
              <a:rPr lang="en-US" sz="1200" dirty="0"/>
              <a:t>                         </a:t>
            </a:r>
            <a:r>
              <a:rPr lang="en-US" sz="1200" dirty="0" err="1"/>
              <a:t>ReLU</a:t>
            </a:r>
            <a:endParaRPr lang="en-US" sz="1200" dirty="0"/>
          </a:p>
          <a:p>
            <a:r>
              <a:rPr lang="en-US" sz="1200" dirty="0"/>
              <a:t>    14   'conv5'    Grouped Convolution           2 groups of 128 3x3x192 convolutions with stride [1  1] and padding [1  1  1  1]</a:t>
            </a:r>
          </a:p>
          <a:p>
            <a:r>
              <a:rPr lang="en-US" sz="1200" dirty="0"/>
              <a:t>    15   'relu5'    </a:t>
            </a:r>
            <a:r>
              <a:rPr lang="en-US" sz="1200" dirty="0" err="1"/>
              <a:t>ReLU</a:t>
            </a:r>
            <a:r>
              <a:rPr lang="en-US" sz="1200" dirty="0"/>
              <a:t>                         </a:t>
            </a:r>
            <a:r>
              <a:rPr lang="en-US" sz="1200" dirty="0" err="1"/>
              <a:t>ReLU</a:t>
            </a:r>
            <a:endParaRPr lang="en-US" sz="1200" dirty="0"/>
          </a:p>
          <a:p>
            <a:r>
              <a:rPr lang="en-US" sz="1200" dirty="0"/>
              <a:t>    16   'pool5'    Max Pooling           3x3 max pooling with stride [2  2] and padding [0  0  0  0]</a:t>
            </a:r>
          </a:p>
          <a:p>
            <a:r>
              <a:rPr lang="en-US" sz="1200" dirty="0"/>
              <a:t>    17   'fc6'      Fully Connected       4096 fully connected layer</a:t>
            </a:r>
          </a:p>
          <a:p>
            <a:r>
              <a:rPr lang="en-US" sz="1200" dirty="0"/>
              <a:t>    18   'relu6'    </a:t>
            </a:r>
            <a:r>
              <a:rPr lang="en-US" sz="1200" dirty="0" err="1"/>
              <a:t>ReLU</a:t>
            </a:r>
            <a:r>
              <a:rPr lang="en-US" sz="1200" dirty="0"/>
              <a:t>                         </a:t>
            </a:r>
            <a:r>
              <a:rPr lang="en-US" sz="1200" dirty="0" err="1"/>
              <a:t>ReLU</a:t>
            </a:r>
            <a:endParaRPr lang="en-US" sz="1200" dirty="0"/>
          </a:p>
          <a:p>
            <a:r>
              <a:rPr lang="en-US" sz="1200" dirty="0"/>
              <a:t>    19   'drop6'    Dropout                  50% dropout</a:t>
            </a:r>
          </a:p>
          <a:p>
            <a:r>
              <a:rPr lang="en-US" sz="1200" dirty="0"/>
              <a:t>    20   'fc7'      Fully Connected        4096 fully connected layer</a:t>
            </a:r>
          </a:p>
          <a:p>
            <a:r>
              <a:rPr lang="en-US" sz="1200" dirty="0"/>
              <a:t>    21   'relu7'    </a:t>
            </a:r>
            <a:r>
              <a:rPr lang="en-US" sz="1200" dirty="0" err="1"/>
              <a:t>ReLU</a:t>
            </a:r>
            <a:r>
              <a:rPr lang="en-US" sz="1200" dirty="0"/>
              <a:t>                         </a:t>
            </a:r>
            <a:r>
              <a:rPr lang="en-US" sz="1200" dirty="0" err="1"/>
              <a:t>ReLU</a:t>
            </a:r>
            <a:endParaRPr lang="en-US" sz="1200" dirty="0"/>
          </a:p>
          <a:p>
            <a:r>
              <a:rPr lang="en-US" sz="1200" dirty="0"/>
              <a:t>    22   'drop7'    Dropout                  50% dropout</a:t>
            </a:r>
          </a:p>
          <a:p>
            <a:r>
              <a:rPr lang="en-US" sz="1200" dirty="0"/>
              <a:t>    23   'fc8'      Fully Connected        1000 fully connected layer</a:t>
            </a:r>
          </a:p>
          <a:p>
            <a:r>
              <a:rPr lang="en-US" sz="1200" dirty="0"/>
              <a:t>    24   '</a:t>
            </a:r>
            <a:r>
              <a:rPr lang="en-US" sz="1200" dirty="0" err="1"/>
              <a:t>prob</a:t>
            </a:r>
            <a:r>
              <a:rPr lang="en-US" sz="1200" dirty="0"/>
              <a:t>'     </a:t>
            </a:r>
            <a:r>
              <a:rPr lang="en-US" sz="1200" dirty="0" err="1"/>
              <a:t>Softmax</a:t>
            </a:r>
            <a:r>
              <a:rPr lang="en-US" sz="1200" dirty="0"/>
              <a:t>                    </a:t>
            </a:r>
            <a:r>
              <a:rPr lang="en-US" sz="1200" dirty="0" err="1"/>
              <a:t>softmax</a:t>
            </a:r>
            <a:endParaRPr lang="en-US" sz="1200" dirty="0"/>
          </a:p>
          <a:p>
            <a:r>
              <a:rPr lang="en-US" sz="1200" dirty="0"/>
              <a:t>    25   'output'   Classification Output         </a:t>
            </a:r>
            <a:r>
              <a:rPr lang="en-US" sz="1200" dirty="0" err="1"/>
              <a:t>crossentropyex</a:t>
            </a:r>
            <a:r>
              <a:rPr lang="en-US" sz="1200" dirty="0"/>
              <a:t> with '</a:t>
            </a:r>
            <a:r>
              <a:rPr lang="en-US" sz="1200" dirty="0" err="1"/>
              <a:t>tench</a:t>
            </a:r>
            <a:r>
              <a:rPr lang="en-US" sz="1200" dirty="0"/>
              <a:t>' and 999 other classes</a:t>
            </a:r>
          </a:p>
        </p:txBody>
      </p:sp>
      <p:sp>
        <p:nvSpPr>
          <p:cNvPr id="7" name="Rounded Rectangle 6"/>
          <p:cNvSpPr/>
          <p:nvPr/>
        </p:nvSpPr>
        <p:spPr>
          <a:xfrm>
            <a:off x="8760296" y="2132856"/>
            <a:ext cx="3384376" cy="1800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600"/>
              </a:spcBef>
              <a:spcAft>
                <a:spcPts val="600"/>
              </a:spcAft>
            </a:pPr>
            <a:r>
              <a:rPr lang="en-US" sz="2800">
                <a:solidFill>
                  <a:srgbClr val="3C3C3C"/>
                </a:solidFill>
                <a:latin typeface="Times New Roman" panose="02020603050405020304" pitchFamily="18" charset="0"/>
                <a:cs typeface="Times New Roman" panose="02020603050405020304" pitchFamily="18" charset="0"/>
              </a:rPr>
              <a:t>The network has five convolutional layers and three fully connected layers.</a:t>
            </a:r>
            <a:endParaRPr lang="en-US" sz="2800" dirty="0">
              <a:solidFill>
                <a:srgbClr val="0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7968208" y="4725144"/>
            <a:ext cx="4128120" cy="646331"/>
          </a:xfrm>
          <a:prstGeom prst="rect">
            <a:avLst/>
          </a:prstGeom>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&gt;&gt; </a:t>
            </a:r>
            <a:r>
              <a:rPr lang="en-US" dirty="0" err="1">
                <a:latin typeface="Arial" panose="020B0604020202020204" pitchFamily="34" charset="0"/>
                <a:cs typeface="Arial" panose="020B0604020202020204" pitchFamily="34" charset="0"/>
              </a:rPr>
              <a:t>inputSize</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net.Layers</a:t>
            </a:r>
            <a:r>
              <a:rPr lang="en-US" dirty="0">
                <a:latin typeface="Arial" panose="020B0604020202020204" pitchFamily="34" charset="0"/>
                <a:cs typeface="Arial" panose="020B0604020202020204" pitchFamily="34" charset="0"/>
              </a:rPr>
              <a:t>(1).</a:t>
            </a:r>
            <a:r>
              <a:rPr lang="en-US" dirty="0" err="1">
                <a:latin typeface="Arial" panose="020B0604020202020204" pitchFamily="34" charset="0"/>
                <a:cs typeface="Arial" panose="020B0604020202020204" pitchFamily="34" charset="0"/>
              </a:rPr>
              <a:t>InputSize</a:t>
            </a:r>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inputSize</a:t>
            </a:r>
            <a:r>
              <a:rPr lang="en-US" dirty="0">
                <a:latin typeface="Arial" panose="020B0604020202020204" pitchFamily="34" charset="0"/>
                <a:cs typeface="Arial" panose="020B0604020202020204" pitchFamily="34" charset="0"/>
              </a:rPr>
              <a:t> =  227   227     3</a:t>
            </a:r>
          </a:p>
        </p:txBody>
      </p:sp>
      <p:sp>
        <p:nvSpPr>
          <p:cNvPr id="9" name="Rounded Rectangle 8"/>
          <p:cNvSpPr/>
          <p:nvPr/>
        </p:nvSpPr>
        <p:spPr>
          <a:xfrm>
            <a:off x="6303640" y="5496111"/>
            <a:ext cx="5841032" cy="117324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600"/>
              </a:spcBef>
              <a:spcAft>
                <a:spcPts val="600"/>
              </a:spcAft>
            </a:pPr>
            <a:r>
              <a:rPr lang="en-US" sz="2400" dirty="0">
                <a:solidFill>
                  <a:srgbClr val="3C3C3C"/>
                </a:solidFill>
                <a:latin typeface="Times New Roman" panose="02020603050405020304" pitchFamily="18" charset="0"/>
                <a:cs typeface="Times New Roman" panose="02020603050405020304" pitchFamily="18" charset="0"/>
              </a:rPr>
              <a:t>The first layer, the image input layer, requires input images of size 227-by-227-by-3, where 3 is the number of color channels.</a:t>
            </a:r>
            <a:endParaRPr 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4123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Transfer Learning Using </a:t>
            </a:r>
            <a:r>
              <a:rPr lang="en-US" sz="4000" dirty="0" err="1"/>
              <a:t>AlexNet</a:t>
            </a:r>
            <a:r>
              <a:rPr lang="en-US" sz="4000" dirty="0"/>
              <a:t>: Example… </a:t>
            </a:r>
          </a:p>
        </p:txBody>
      </p:sp>
      <p:sp>
        <p:nvSpPr>
          <p:cNvPr id="4" name="Rectangle 3"/>
          <p:cNvSpPr/>
          <p:nvPr/>
        </p:nvSpPr>
        <p:spPr>
          <a:xfrm>
            <a:off x="119336" y="1340768"/>
            <a:ext cx="10801200" cy="4985980"/>
          </a:xfrm>
          <a:prstGeom prst="rect">
            <a:avLst/>
          </a:prstGeom>
        </p:spPr>
        <p:txBody>
          <a:bodyPr wrap="square">
            <a:spAutoFit/>
          </a:bodyPr>
          <a:lstStyle/>
          <a:p>
            <a:pPr algn="just">
              <a:spcBef>
                <a:spcPts val="600"/>
              </a:spcBef>
              <a:spcAft>
                <a:spcPts val="600"/>
              </a:spcAft>
            </a:pPr>
            <a:r>
              <a:rPr lang="en-US" sz="2800" b="1" dirty="0">
                <a:solidFill>
                  <a:srgbClr val="3C3C3C"/>
                </a:solidFill>
                <a:latin typeface="Times New Roman" panose="02020603050405020304" pitchFamily="18" charset="0"/>
                <a:cs typeface="Times New Roman" panose="02020603050405020304" pitchFamily="18" charset="0"/>
              </a:rPr>
              <a:t>Replace Final Layers:</a:t>
            </a:r>
            <a:r>
              <a:rPr lang="en-US" sz="2800" dirty="0">
                <a:solidFill>
                  <a:srgbClr val="3C3C3C"/>
                </a:solidFill>
                <a:latin typeface="Times New Roman" panose="02020603050405020304" pitchFamily="18" charset="0"/>
                <a:cs typeface="Times New Roman" panose="02020603050405020304" pitchFamily="18" charset="0"/>
              </a:rPr>
              <a:t> The last three layers of the </a:t>
            </a:r>
            <a:r>
              <a:rPr lang="en-US" sz="2800" dirty="0" err="1">
                <a:solidFill>
                  <a:srgbClr val="3C3C3C"/>
                </a:solidFill>
                <a:latin typeface="Times New Roman" panose="02020603050405020304" pitchFamily="18" charset="0"/>
                <a:cs typeface="Times New Roman" panose="02020603050405020304" pitchFamily="18" charset="0"/>
              </a:rPr>
              <a:t>pretrained</a:t>
            </a:r>
            <a:r>
              <a:rPr lang="en-US" sz="2800" dirty="0">
                <a:solidFill>
                  <a:srgbClr val="3C3C3C"/>
                </a:solidFill>
                <a:latin typeface="Times New Roman" panose="02020603050405020304" pitchFamily="18" charset="0"/>
                <a:cs typeface="Times New Roman" panose="02020603050405020304" pitchFamily="18" charset="0"/>
              </a:rPr>
              <a:t> network net are configured for 1000 classes. These three layers must be fine-tuned for the new classification problem. Extract all layers, except the last three, from the </a:t>
            </a:r>
            <a:r>
              <a:rPr lang="en-US" sz="2800" dirty="0" err="1">
                <a:solidFill>
                  <a:srgbClr val="3C3C3C"/>
                </a:solidFill>
                <a:latin typeface="Times New Roman" panose="02020603050405020304" pitchFamily="18" charset="0"/>
                <a:cs typeface="Times New Roman" panose="02020603050405020304" pitchFamily="18" charset="0"/>
              </a:rPr>
              <a:t>pretrained</a:t>
            </a:r>
            <a:r>
              <a:rPr lang="en-US" sz="2800" dirty="0">
                <a:solidFill>
                  <a:srgbClr val="3C3C3C"/>
                </a:solidFill>
                <a:latin typeface="Times New Roman" panose="02020603050405020304" pitchFamily="18" charset="0"/>
                <a:cs typeface="Times New Roman" panose="02020603050405020304" pitchFamily="18" charset="0"/>
              </a:rPr>
              <a:t> network.</a:t>
            </a:r>
          </a:p>
          <a:p>
            <a:pPr algn="just">
              <a:spcBef>
                <a:spcPts val="600"/>
              </a:spcBef>
              <a:spcAft>
                <a:spcPts val="600"/>
              </a:spcAft>
            </a:pPr>
            <a:r>
              <a:rPr lang="en-US" sz="2800" dirty="0">
                <a:solidFill>
                  <a:srgbClr val="000000"/>
                </a:solidFill>
                <a:latin typeface="Times New Roman" panose="02020603050405020304" pitchFamily="18" charset="0"/>
                <a:cs typeface="Times New Roman" panose="02020603050405020304" pitchFamily="18" charset="0"/>
              </a:rPr>
              <a:t>Transfer the layers to the new classification task by replacing the last three layers with a fully connected layer, a </a:t>
            </a:r>
            <a:r>
              <a:rPr lang="en-US" sz="2800" dirty="0" err="1">
                <a:solidFill>
                  <a:srgbClr val="000000"/>
                </a:solidFill>
                <a:latin typeface="Times New Roman" panose="02020603050405020304" pitchFamily="18" charset="0"/>
                <a:cs typeface="Times New Roman" panose="02020603050405020304" pitchFamily="18" charset="0"/>
              </a:rPr>
              <a:t>softmax</a:t>
            </a:r>
            <a:r>
              <a:rPr lang="en-US" sz="2800" dirty="0">
                <a:solidFill>
                  <a:srgbClr val="000000"/>
                </a:solidFill>
                <a:latin typeface="Times New Roman" panose="02020603050405020304" pitchFamily="18" charset="0"/>
                <a:cs typeface="Times New Roman" panose="02020603050405020304" pitchFamily="18" charset="0"/>
              </a:rPr>
              <a:t> layer, and a classification output layer. Specify the options of the new fully connected layer according to the new data. Set the fully connected layer to have the same size as the number of classes in the new data. To learn faster in the new layers than in the transferred layers, increase the </a:t>
            </a:r>
            <a:r>
              <a:rPr lang="en-US" sz="2800" dirty="0" err="1">
                <a:solidFill>
                  <a:srgbClr val="000000"/>
                </a:solidFill>
                <a:latin typeface="Times New Roman" panose="02020603050405020304" pitchFamily="18" charset="0"/>
                <a:cs typeface="Times New Roman" panose="02020603050405020304" pitchFamily="18" charset="0"/>
              </a:rPr>
              <a:t>WeightLearnRateFactor</a:t>
            </a:r>
            <a:r>
              <a:rPr lang="en-US" sz="2800" dirty="0">
                <a:solidFill>
                  <a:srgbClr val="000000"/>
                </a:solidFill>
                <a:latin typeface="Times New Roman" panose="02020603050405020304" pitchFamily="18" charset="0"/>
                <a:cs typeface="Times New Roman" panose="02020603050405020304" pitchFamily="18" charset="0"/>
              </a:rPr>
              <a:t> and </a:t>
            </a:r>
            <a:r>
              <a:rPr lang="en-US" sz="2800" dirty="0" err="1">
                <a:solidFill>
                  <a:srgbClr val="000000"/>
                </a:solidFill>
                <a:latin typeface="Times New Roman" panose="02020603050405020304" pitchFamily="18" charset="0"/>
                <a:cs typeface="Times New Roman" panose="02020603050405020304" pitchFamily="18" charset="0"/>
              </a:rPr>
              <a:t>BiasLearnRateFactor</a:t>
            </a:r>
            <a:r>
              <a:rPr lang="en-US" sz="2800" dirty="0">
                <a:solidFill>
                  <a:srgbClr val="000000"/>
                </a:solidFill>
                <a:latin typeface="Times New Roman" panose="02020603050405020304" pitchFamily="18" charset="0"/>
                <a:cs typeface="Times New Roman" panose="02020603050405020304" pitchFamily="18" charset="0"/>
              </a:rPr>
              <a:t> values of the fully connected layer.</a:t>
            </a:r>
            <a:endParaRPr lang="en-US" sz="2800" i="0" u="none" strike="noStrike"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63074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Transfer Learning Using </a:t>
            </a:r>
            <a:r>
              <a:rPr lang="en-US" sz="4000" dirty="0" err="1"/>
              <a:t>AlexNet</a:t>
            </a:r>
            <a:r>
              <a:rPr lang="en-US" sz="4000" dirty="0"/>
              <a:t>: Example… </a:t>
            </a:r>
          </a:p>
        </p:txBody>
      </p:sp>
      <p:sp>
        <p:nvSpPr>
          <p:cNvPr id="5" name="Rectangle 4"/>
          <p:cNvSpPr/>
          <p:nvPr/>
        </p:nvSpPr>
        <p:spPr>
          <a:xfrm>
            <a:off x="144015" y="1471424"/>
            <a:ext cx="11856641" cy="2616101"/>
          </a:xfrm>
          <a:prstGeom prst="rect">
            <a:avLst/>
          </a:prstGeom>
        </p:spPr>
        <p:txBody>
          <a:bodyPr wrap="square">
            <a:spAutoFit/>
          </a:bodyPr>
          <a:lstStyle/>
          <a:p>
            <a:r>
              <a:rPr lang="en-US" sz="2400" dirty="0" err="1">
                <a:solidFill>
                  <a:srgbClr val="000000"/>
                </a:solidFill>
                <a:latin typeface="Arial" panose="020B0604020202020204" pitchFamily="34" charset="0"/>
                <a:cs typeface="Arial" panose="020B0604020202020204" pitchFamily="34" charset="0"/>
              </a:rPr>
              <a:t>layersTransfer</a:t>
            </a:r>
            <a:r>
              <a:rPr lang="en-US" sz="2400" dirty="0">
                <a:solidFill>
                  <a:srgbClr val="000000"/>
                </a:solidFill>
                <a:latin typeface="Arial" panose="020B0604020202020204" pitchFamily="34" charset="0"/>
                <a:cs typeface="Arial" panose="020B0604020202020204" pitchFamily="34" charset="0"/>
              </a:rPr>
              <a:t> = </a:t>
            </a:r>
            <a:r>
              <a:rPr lang="en-US" sz="2400" dirty="0" err="1">
                <a:solidFill>
                  <a:srgbClr val="000000"/>
                </a:solidFill>
                <a:latin typeface="Arial" panose="020B0604020202020204" pitchFamily="34" charset="0"/>
                <a:cs typeface="Arial" panose="020B0604020202020204" pitchFamily="34" charset="0"/>
              </a:rPr>
              <a:t>net.Layers</a:t>
            </a:r>
            <a:r>
              <a:rPr lang="en-US" sz="2400" dirty="0">
                <a:solidFill>
                  <a:srgbClr val="000000"/>
                </a:solidFill>
                <a:latin typeface="Arial" panose="020B0604020202020204" pitchFamily="34" charset="0"/>
                <a:cs typeface="Arial" panose="020B0604020202020204" pitchFamily="34" charset="0"/>
              </a:rPr>
              <a:t>(1:end-3);</a:t>
            </a:r>
          </a:p>
          <a:p>
            <a:r>
              <a:rPr lang="en-US" sz="2400" dirty="0" err="1">
                <a:latin typeface="Arial" panose="020B0604020202020204" pitchFamily="34" charset="0"/>
                <a:cs typeface="Arial" panose="020B0604020202020204" pitchFamily="34" charset="0"/>
              </a:rPr>
              <a:t>numClasses</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numel</a:t>
            </a:r>
            <a:r>
              <a:rPr lang="en-US" sz="2400" dirty="0">
                <a:latin typeface="Arial" panose="020B0604020202020204" pitchFamily="34" charset="0"/>
                <a:cs typeface="Arial" panose="020B0604020202020204" pitchFamily="34" charset="0"/>
              </a:rPr>
              <a:t>(categories(</a:t>
            </a:r>
            <a:r>
              <a:rPr lang="en-US" sz="2400" dirty="0" err="1">
                <a:latin typeface="Arial" panose="020B0604020202020204" pitchFamily="34" charset="0"/>
                <a:cs typeface="Arial" panose="020B0604020202020204" pitchFamily="34" charset="0"/>
              </a:rPr>
              <a:t>imds.Labels</a:t>
            </a:r>
            <a:r>
              <a:rPr lang="en-US" sz="2400" dirty="0">
                <a:latin typeface="Arial" panose="020B0604020202020204" pitchFamily="34" charset="0"/>
                <a:cs typeface="Arial" panose="020B0604020202020204" pitchFamily="34" charset="0"/>
              </a:rPr>
              <a:t>))</a:t>
            </a:r>
            <a:endParaRPr lang="en-US" sz="2400" dirty="0">
              <a:solidFill>
                <a:srgbClr val="000000"/>
              </a:solidFill>
              <a:latin typeface="Arial" panose="020B0604020202020204" pitchFamily="34" charset="0"/>
              <a:cs typeface="Arial" panose="020B0604020202020204" pitchFamily="34" charset="0"/>
            </a:endParaRPr>
          </a:p>
          <a:p>
            <a:r>
              <a:rPr lang="en-US" sz="2400" dirty="0">
                <a:solidFill>
                  <a:srgbClr val="000000"/>
                </a:solidFill>
                <a:latin typeface="Arial" panose="020B0604020202020204" pitchFamily="34" charset="0"/>
                <a:cs typeface="Arial" panose="020B0604020202020204" pitchFamily="34" charset="0"/>
              </a:rPr>
              <a:t>layers = [</a:t>
            </a:r>
          </a:p>
          <a:p>
            <a:r>
              <a:rPr lang="en-US" sz="2400" dirty="0">
                <a:solidFill>
                  <a:srgbClr val="000000"/>
                </a:solidFill>
                <a:latin typeface="Arial" panose="020B0604020202020204" pitchFamily="34" charset="0"/>
                <a:cs typeface="Arial" panose="020B0604020202020204" pitchFamily="34" charset="0"/>
              </a:rPr>
              <a:t>    </a:t>
            </a:r>
            <a:r>
              <a:rPr lang="en-US" sz="2400" dirty="0" err="1">
                <a:solidFill>
                  <a:srgbClr val="000000"/>
                </a:solidFill>
                <a:latin typeface="Arial" panose="020B0604020202020204" pitchFamily="34" charset="0"/>
                <a:cs typeface="Arial" panose="020B0604020202020204" pitchFamily="34" charset="0"/>
              </a:rPr>
              <a:t>layersTransfer</a:t>
            </a:r>
            <a:endParaRPr lang="en-US" sz="2400" dirty="0">
              <a:solidFill>
                <a:srgbClr val="000000"/>
              </a:solidFill>
              <a:latin typeface="Arial" panose="020B0604020202020204" pitchFamily="34" charset="0"/>
              <a:cs typeface="Arial" panose="020B0604020202020204" pitchFamily="34" charset="0"/>
            </a:endParaRPr>
          </a:p>
          <a:p>
            <a:r>
              <a:rPr lang="en-US" sz="2000" dirty="0">
                <a:solidFill>
                  <a:srgbClr val="000000"/>
                </a:solidFill>
                <a:latin typeface="Arial" panose="020B0604020202020204" pitchFamily="34" charset="0"/>
                <a:cs typeface="Arial" panose="020B0604020202020204" pitchFamily="34" charset="0"/>
              </a:rPr>
              <a:t>     </a:t>
            </a:r>
            <a:r>
              <a:rPr lang="en-US" sz="2000" dirty="0" err="1">
                <a:solidFill>
                  <a:srgbClr val="000000"/>
                </a:solidFill>
                <a:latin typeface="Arial" panose="020B0604020202020204" pitchFamily="34" charset="0"/>
                <a:cs typeface="Arial" panose="020B0604020202020204" pitchFamily="34" charset="0"/>
              </a:rPr>
              <a:t>fullyConnectedLayer</a:t>
            </a:r>
            <a:r>
              <a:rPr lang="en-US" sz="2000" dirty="0">
                <a:solidFill>
                  <a:srgbClr val="000000"/>
                </a:solidFill>
                <a:latin typeface="Arial" panose="020B0604020202020204" pitchFamily="34" charset="0"/>
                <a:cs typeface="Arial" panose="020B0604020202020204" pitchFamily="34" charset="0"/>
              </a:rPr>
              <a:t>(numClasses,'WeightLearnRateFactor',20,'BiasLearnRateFactor',20)</a:t>
            </a:r>
            <a:endParaRPr lang="en-US" sz="2400" dirty="0">
              <a:solidFill>
                <a:srgbClr val="000000"/>
              </a:solidFill>
              <a:latin typeface="Arial" panose="020B0604020202020204" pitchFamily="34" charset="0"/>
              <a:cs typeface="Arial" panose="020B0604020202020204" pitchFamily="34" charset="0"/>
            </a:endParaRPr>
          </a:p>
          <a:p>
            <a:r>
              <a:rPr lang="en-US" sz="2400" dirty="0">
                <a:solidFill>
                  <a:srgbClr val="000000"/>
                </a:solidFill>
                <a:latin typeface="Arial" panose="020B0604020202020204" pitchFamily="34" charset="0"/>
                <a:cs typeface="Arial" panose="020B0604020202020204" pitchFamily="34" charset="0"/>
              </a:rPr>
              <a:t>    </a:t>
            </a:r>
            <a:r>
              <a:rPr lang="en-US" sz="2400" dirty="0" err="1">
                <a:solidFill>
                  <a:srgbClr val="000000"/>
                </a:solidFill>
                <a:latin typeface="Arial" panose="020B0604020202020204" pitchFamily="34" charset="0"/>
                <a:cs typeface="Arial" panose="020B0604020202020204" pitchFamily="34" charset="0"/>
              </a:rPr>
              <a:t>softmaxLayer</a:t>
            </a:r>
            <a:endParaRPr lang="en-US" sz="2400" dirty="0">
              <a:solidFill>
                <a:srgbClr val="000000"/>
              </a:solidFill>
              <a:latin typeface="Arial" panose="020B0604020202020204" pitchFamily="34" charset="0"/>
              <a:cs typeface="Arial" panose="020B0604020202020204" pitchFamily="34" charset="0"/>
            </a:endParaRPr>
          </a:p>
          <a:p>
            <a:r>
              <a:rPr lang="en-US" sz="2400" dirty="0">
                <a:solidFill>
                  <a:srgbClr val="000000"/>
                </a:solidFill>
                <a:latin typeface="Arial" panose="020B0604020202020204" pitchFamily="34" charset="0"/>
                <a:cs typeface="Arial" panose="020B0604020202020204" pitchFamily="34" charset="0"/>
              </a:rPr>
              <a:t>    </a:t>
            </a:r>
            <a:r>
              <a:rPr lang="en-US" sz="2400" dirty="0" err="1">
                <a:solidFill>
                  <a:srgbClr val="000000"/>
                </a:solidFill>
                <a:latin typeface="Arial" panose="020B0604020202020204" pitchFamily="34" charset="0"/>
                <a:cs typeface="Arial" panose="020B0604020202020204" pitchFamily="34" charset="0"/>
              </a:rPr>
              <a:t>classificationLayer</a:t>
            </a:r>
            <a:r>
              <a:rPr lang="en-US" sz="2400" dirty="0">
                <a:solidFill>
                  <a:srgbClr val="000000"/>
                </a:solidFill>
                <a:latin typeface="Arial" panose="020B0604020202020204" pitchFamily="34" charset="0"/>
                <a:cs typeface="Arial" panose="020B0604020202020204" pitchFamily="34" charset="0"/>
              </a:rPr>
              <a:t>];</a:t>
            </a:r>
          </a:p>
        </p:txBody>
      </p:sp>
      <p:sp>
        <p:nvSpPr>
          <p:cNvPr id="4" name="Rectangle 3"/>
          <p:cNvSpPr/>
          <p:nvPr/>
        </p:nvSpPr>
        <p:spPr>
          <a:xfrm>
            <a:off x="9264352" y="1844824"/>
            <a:ext cx="2520280" cy="461665"/>
          </a:xfrm>
          <a:prstGeom prst="rect">
            <a:avLst/>
          </a:prstGeom>
          <a:ln>
            <a:solidFill>
              <a:schemeClr val="tx1"/>
            </a:solidFill>
          </a:ln>
        </p:spPr>
        <p:txBody>
          <a:bodyPr wrap="square">
            <a:spAutoFit/>
          </a:bodyPr>
          <a:lstStyle/>
          <a:p>
            <a:r>
              <a:rPr lang="en-US" sz="2400" dirty="0" err="1">
                <a:latin typeface="Arial" panose="020B0604020202020204" pitchFamily="34" charset="0"/>
                <a:cs typeface="Arial" panose="020B0604020202020204" pitchFamily="34" charset="0"/>
              </a:rPr>
              <a:t>numClasses</a:t>
            </a:r>
            <a:r>
              <a:rPr lang="en-US" sz="2400" dirty="0">
                <a:latin typeface="Arial" panose="020B0604020202020204" pitchFamily="34" charset="0"/>
                <a:cs typeface="Arial" panose="020B0604020202020204" pitchFamily="34" charset="0"/>
              </a:rPr>
              <a:t> = 5</a:t>
            </a:r>
          </a:p>
        </p:txBody>
      </p:sp>
    </p:spTree>
    <p:extLst>
      <p:ext uri="{BB962C8B-B14F-4D97-AF65-F5344CB8AC3E}">
        <p14:creationId xmlns:p14="http://schemas.microsoft.com/office/powerpoint/2010/main" val="38703400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Transfer Learning Using </a:t>
            </a:r>
            <a:r>
              <a:rPr lang="en-US" sz="4000" dirty="0" err="1"/>
              <a:t>AlexNet</a:t>
            </a:r>
            <a:r>
              <a:rPr lang="en-US" sz="4000" dirty="0"/>
              <a:t>: Example… </a:t>
            </a:r>
          </a:p>
        </p:txBody>
      </p:sp>
      <p:sp>
        <p:nvSpPr>
          <p:cNvPr id="4" name="Rectangle 3"/>
          <p:cNvSpPr/>
          <p:nvPr/>
        </p:nvSpPr>
        <p:spPr>
          <a:xfrm>
            <a:off x="119336" y="1257722"/>
            <a:ext cx="11665296" cy="3108543"/>
          </a:xfrm>
          <a:prstGeom prst="rect">
            <a:avLst/>
          </a:prstGeom>
        </p:spPr>
        <p:txBody>
          <a:bodyPr wrap="square">
            <a:spAutoFit/>
          </a:bodyPr>
          <a:lstStyle/>
          <a:p>
            <a:pPr algn="just">
              <a:spcBef>
                <a:spcPts val="600"/>
              </a:spcBef>
              <a:spcAft>
                <a:spcPts val="600"/>
              </a:spcAft>
            </a:pPr>
            <a:r>
              <a:rPr lang="en-US" sz="2800" b="1" dirty="0">
                <a:solidFill>
                  <a:srgbClr val="3C3C3C"/>
                </a:solidFill>
                <a:latin typeface="Times New Roman" panose="02020603050405020304" pitchFamily="18" charset="0"/>
                <a:cs typeface="Times New Roman" panose="02020603050405020304" pitchFamily="18" charset="0"/>
              </a:rPr>
              <a:t>Train Network: </a:t>
            </a:r>
            <a:r>
              <a:rPr lang="en-US" sz="2800" dirty="0">
                <a:solidFill>
                  <a:srgbClr val="3C3C3C"/>
                </a:solidFill>
                <a:latin typeface="Times New Roman" panose="02020603050405020304" pitchFamily="18" charset="0"/>
                <a:cs typeface="Times New Roman" panose="02020603050405020304" pitchFamily="18" charset="0"/>
              </a:rPr>
              <a:t>The network requires input images of size 227-by-227-by-3, but the images in the image </a:t>
            </a:r>
            <a:r>
              <a:rPr lang="en-US" sz="2800" dirty="0" err="1">
                <a:solidFill>
                  <a:srgbClr val="3C3C3C"/>
                </a:solidFill>
                <a:latin typeface="Times New Roman" panose="02020603050405020304" pitchFamily="18" charset="0"/>
                <a:cs typeface="Times New Roman" panose="02020603050405020304" pitchFamily="18" charset="0"/>
              </a:rPr>
              <a:t>datastores</a:t>
            </a:r>
            <a:r>
              <a:rPr lang="en-US" sz="2800" dirty="0">
                <a:solidFill>
                  <a:srgbClr val="3C3C3C"/>
                </a:solidFill>
                <a:latin typeface="Times New Roman" panose="02020603050405020304" pitchFamily="18" charset="0"/>
                <a:cs typeface="Times New Roman" panose="02020603050405020304" pitchFamily="18" charset="0"/>
              </a:rPr>
              <a:t> have different sizes. Use an augmented image </a:t>
            </a:r>
            <a:r>
              <a:rPr lang="en-US" sz="2800" dirty="0" err="1">
                <a:solidFill>
                  <a:srgbClr val="3C3C3C"/>
                </a:solidFill>
                <a:latin typeface="Times New Roman" panose="02020603050405020304" pitchFamily="18" charset="0"/>
                <a:cs typeface="Times New Roman" panose="02020603050405020304" pitchFamily="18" charset="0"/>
              </a:rPr>
              <a:t>datastore</a:t>
            </a:r>
            <a:r>
              <a:rPr lang="en-US" sz="2800" dirty="0">
                <a:solidFill>
                  <a:srgbClr val="3C3C3C"/>
                </a:solidFill>
                <a:latin typeface="Times New Roman" panose="02020603050405020304" pitchFamily="18" charset="0"/>
                <a:cs typeface="Times New Roman" panose="02020603050405020304" pitchFamily="18" charset="0"/>
              </a:rPr>
              <a:t> to automatically resize the training images. Specify additional augmentation operations to perform on the training images: randomly flip the training images along the vertical axis, and randomly translate them up to 30 pixels horizontally and vertically. Data augmentation helps prevent the network from overfitting and memorizing the exact details of the training images. </a:t>
            </a:r>
          </a:p>
        </p:txBody>
      </p:sp>
      <p:sp>
        <p:nvSpPr>
          <p:cNvPr id="5" name="Rectangle 4"/>
          <p:cNvSpPr/>
          <p:nvPr/>
        </p:nvSpPr>
        <p:spPr>
          <a:xfrm>
            <a:off x="144015" y="4422591"/>
            <a:ext cx="8256241" cy="2246769"/>
          </a:xfrm>
          <a:prstGeom prst="rect">
            <a:avLst/>
          </a:prstGeom>
        </p:spPr>
        <p:txBody>
          <a:bodyPr wrap="square">
            <a:spAutoFit/>
          </a:bodyPr>
          <a:lstStyle/>
          <a:p>
            <a:r>
              <a:rPr lang="en-US" sz="2000" dirty="0" err="1">
                <a:solidFill>
                  <a:srgbClr val="000000"/>
                </a:solidFill>
                <a:latin typeface="Arial" panose="020B0604020202020204" pitchFamily="34" charset="0"/>
                <a:cs typeface="Arial" panose="020B0604020202020204" pitchFamily="34" charset="0"/>
              </a:rPr>
              <a:t>pixelRange</a:t>
            </a:r>
            <a:r>
              <a:rPr lang="en-US" sz="2000" dirty="0">
                <a:solidFill>
                  <a:srgbClr val="000000"/>
                </a:solidFill>
                <a:latin typeface="Arial" panose="020B0604020202020204" pitchFamily="34" charset="0"/>
                <a:cs typeface="Arial" panose="020B0604020202020204" pitchFamily="34" charset="0"/>
              </a:rPr>
              <a:t> = [-30 30];</a:t>
            </a:r>
          </a:p>
          <a:p>
            <a:r>
              <a:rPr lang="en-US" sz="2000" dirty="0" err="1">
                <a:solidFill>
                  <a:srgbClr val="000000"/>
                </a:solidFill>
                <a:latin typeface="Arial" panose="020B0604020202020204" pitchFamily="34" charset="0"/>
                <a:cs typeface="Arial" panose="020B0604020202020204" pitchFamily="34" charset="0"/>
              </a:rPr>
              <a:t>imageAugmenter</a:t>
            </a:r>
            <a:r>
              <a:rPr lang="en-US" sz="2000" dirty="0">
                <a:solidFill>
                  <a:srgbClr val="000000"/>
                </a:solidFill>
                <a:latin typeface="Arial" panose="020B0604020202020204" pitchFamily="34" charset="0"/>
                <a:cs typeface="Arial" panose="020B0604020202020204" pitchFamily="34" charset="0"/>
              </a:rPr>
              <a:t> = </a:t>
            </a:r>
            <a:r>
              <a:rPr lang="en-US" sz="2000" dirty="0" err="1">
                <a:solidFill>
                  <a:srgbClr val="000000"/>
                </a:solidFill>
                <a:latin typeface="Arial" panose="020B0604020202020204" pitchFamily="34" charset="0"/>
                <a:cs typeface="Arial" panose="020B0604020202020204" pitchFamily="34" charset="0"/>
              </a:rPr>
              <a:t>imageDataAugmenter</a:t>
            </a:r>
            <a:r>
              <a:rPr lang="en-US" sz="2000" dirty="0">
                <a:solidFill>
                  <a:srgbClr val="000000"/>
                </a:solidFill>
                <a:latin typeface="Arial" panose="020B0604020202020204" pitchFamily="34" charset="0"/>
                <a:cs typeface="Arial" panose="020B0604020202020204" pitchFamily="34" charset="0"/>
              </a:rPr>
              <a:t>( ...</a:t>
            </a:r>
          </a:p>
          <a:p>
            <a:r>
              <a:rPr lang="en-US" sz="2000" dirty="0">
                <a:solidFill>
                  <a:srgbClr val="000000"/>
                </a:solidFill>
                <a:latin typeface="Arial" panose="020B0604020202020204" pitchFamily="34" charset="0"/>
                <a:cs typeface="Arial" panose="020B0604020202020204" pitchFamily="34" charset="0"/>
              </a:rPr>
              <a:t>    '</a:t>
            </a:r>
            <a:r>
              <a:rPr lang="en-US" sz="2000" dirty="0" err="1">
                <a:solidFill>
                  <a:srgbClr val="000000"/>
                </a:solidFill>
                <a:latin typeface="Arial" panose="020B0604020202020204" pitchFamily="34" charset="0"/>
                <a:cs typeface="Arial" panose="020B0604020202020204" pitchFamily="34" charset="0"/>
              </a:rPr>
              <a:t>RandXReflection</a:t>
            </a:r>
            <a:r>
              <a:rPr lang="en-US" sz="2000" dirty="0">
                <a:solidFill>
                  <a:srgbClr val="000000"/>
                </a:solidFill>
                <a:latin typeface="Arial" panose="020B0604020202020204" pitchFamily="34" charset="0"/>
                <a:cs typeface="Arial" panose="020B0604020202020204" pitchFamily="34" charset="0"/>
              </a:rPr>
              <a:t>',true, ...</a:t>
            </a:r>
          </a:p>
          <a:p>
            <a:r>
              <a:rPr lang="en-US" sz="2000" dirty="0">
                <a:solidFill>
                  <a:srgbClr val="000000"/>
                </a:solidFill>
                <a:latin typeface="Arial" panose="020B0604020202020204" pitchFamily="34" charset="0"/>
                <a:cs typeface="Arial" panose="020B0604020202020204" pitchFamily="34" charset="0"/>
              </a:rPr>
              <a:t>    '</a:t>
            </a:r>
            <a:r>
              <a:rPr lang="en-US" sz="2000" dirty="0" err="1">
                <a:solidFill>
                  <a:srgbClr val="000000"/>
                </a:solidFill>
                <a:latin typeface="Arial" panose="020B0604020202020204" pitchFamily="34" charset="0"/>
                <a:cs typeface="Arial" panose="020B0604020202020204" pitchFamily="34" charset="0"/>
              </a:rPr>
              <a:t>RandXTranslation</a:t>
            </a:r>
            <a:r>
              <a:rPr lang="en-US" sz="2000" dirty="0">
                <a:solidFill>
                  <a:srgbClr val="000000"/>
                </a:solidFill>
                <a:latin typeface="Arial" panose="020B0604020202020204" pitchFamily="34" charset="0"/>
                <a:cs typeface="Arial" panose="020B0604020202020204" pitchFamily="34" charset="0"/>
              </a:rPr>
              <a:t>',</a:t>
            </a:r>
            <a:r>
              <a:rPr lang="en-US" sz="2000" dirty="0" err="1">
                <a:solidFill>
                  <a:srgbClr val="000000"/>
                </a:solidFill>
                <a:latin typeface="Arial" panose="020B0604020202020204" pitchFamily="34" charset="0"/>
                <a:cs typeface="Arial" panose="020B0604020202020204" pitchFamily="34" charset="0"/>
              </a:rPr>
              <a:t>pixelRange</a:t>
            </a:r>
            <a:r>
              <a:rPr lang="en-US" sz="2000" dirty="0">
                <a:solidFill>
                  <a:srgbClr val="000000"/>
                </a:solidFill>
                <a:latin typeface="Arial" panose="020B0604020202020204" pitchFamily="34" charset="0"/>
                <a:cs typeface="Arial" panose="020B0604020202020204" pitchFamily="34" charset="0"/>
              </a:rPr>
              <a:t>, ...</a:t>
            </a:r>
          </a:p>
          <a:p>
            <a:r>
              <a:rPr lang="en-US" sz="2000" dirty="0">
                <a:solidFill>
                  <a:srgbClr val="000000"/>
                </a:solidFill>
                <a:latin typeface="Arial" panose="020B0604020202020204" pitchFamily="34" charset="0"/>
                <a:cs typeface="Arial" panose="020B0604020202020204" pitchFamily="34" charset="0"/>
              </a:rPr>
              <a:t>    '</a:t>
            </a:r>
            <a:r>
              <a:rPr lang="en-US" sz="2000" dirty="0" err="1">
                <a:solidFill>
                  <a:srgbClr val="000000"/>
                </a:solidFill>
                <a:latin typeface="Arial" panose="020B0604020202020204" pitchFamily="34" charset="0"/>
                <a:cs typeface="Arial" panose="020B0604020202020204" pitchFamily="34" charset="0"/>
              </a:rPr>
              <a:t>RandYTranslation</a:t>
            </a:r>
            <a:r>
              <a:rPr lang="en-US" sz="2000" dirty="0">
                <a:solidFill>
                  <a:srgbClr val="000000"/>
                </a:solidFill>
                <a:latin typeface="Arial" panose="020B0604020202020204" pitchFamily="34" charset="0"/>
                <a:cs typeface="Arial" panose="020B0604020202020204" pitchFamily="34" charset="0"/>
              </a:rPr>
              <a:t>',</a:t>
            </a:r>
            <a:r>
              <a:rPr lang="en-US" sz="2000" dirty="0" err="1">
                <a:solidFill>
                  <a:srgbClr val="000000"/>
                </a:solidFill>
                <a:latin typeface="Arial" panose="020B0604020202020204" pitchFamily="34" charset="0"/>
                <a:cs typeface="Arial" panose="020B0604020202020204" pitchFamily="34" charset="0"/>
              </a:rPr>
              <a:t>pixelRange</a:t>
            </a:r>
            <a:r>
              <a:rPr lang="en-US" sz="2000" dirty="0">
                <a:solidFill>
                  <a:srgbClr val="000000"/>
                </a:solidFill>
                <a:latin typeface="Arial" panose="020B0604020202020204" pitchFamily="34" charset="0"/>
                <a:cs typeface="Arial" panose="020B0604020202020204" pitchFamily="34" charset="0"/>
              </a:rPr>
              <a:t>);</a:t>
            </a:r>
          </a:p>
          <a:p>
            <a:r>
              <a:rPr lang="en-US" sz="2000" dirty="0" err="1">
                <a:solidFill>
                  <a:srgbClr val="000000"/>
                </a:solidFill>
                <a:latin typeface="Arial" panose="020B0604020202020204" pitchFamily="34" charset="0"/>
                <a:cs typeface="Arial" panose="020B0604020202020204" pitchFamily="34" charset="0"/>
              </a:rPr>
              <a:t>augimdsTrain</a:t>
            </a:r>
            <a:r>
              <a:rPr lang="en-US" sz="2000" dirty="0">
                <a:solidFill>
                  <a:srgbClr val="000000"/>
                </a:solidFill>
                <a:latin typeface="Arial" panose="020B0604020202020204" pitchFamily="34" charset="0"/>
                <a:cs typeface="Arial" panose="020B0604020202020204" pitchFamily="34" charset="0"/>
              </a:rPr>
              <a:t> = </a:t>
            </a:r>
            <a:r>
              <a:rPr lang="en-US" sz="2000" dirty="0" err="1">
                <a:solidFill>
                  <a:srgbClr val="000000"/>
                </a:solidFill>
                <a:latin typeface="Arial" panose="020B0604020202020204" pitchFamily="34" charset="0"/>
                <a:cs typeface="Arial" panose="020B0604020202020204" pitchFamily="34" charset="0"/>
              </a:rPr>
              <a:t>augmentedImageDatastore</a:t>
            </a:r>
            <a:r>
              <a:rPr lang="en-US" sz="2000" dirty="0">
                <a:solidFill>
                  <a:srgbClr val="000000"/>
                </a:solidFill>
                <a:latin typeface="Arial" panose="020B0604020202020204" pitchFamily="34" charset="0"/>
                <a:cs typeface="Arial" panose="020B0604020202020204" pitchFamily="34" charset="0"/>
              </a:rPr>
              <a:t>(</a:t>
            </a:r>
            <a:r>
              <a:rPr lang="en-US" sz="2000" dirty="0" err="1">
                <a:solidFill>
                  <a:srgbClr val="000000"/>
                </a:solidFill>
                <a:latin typeface="Arial" panose="020B0604020202020204" pitchFamily="34" charset="0"/>
                <a:cs typeface="Arial" panose="020B0604020202020204" pitchFamily="34" charset="0"/>
              </a:rPr>
              <a:t>inputSize</a:t>
            </a:r>
            <a:r>
              <a:rPr lang="en-US" sz="2000" dirty="0">
                <a:solidFill>
                  <a:srgbClr val="000000"/>
                </a:solidFill>
                <a:latin typeface="Arial" panose="020B0604020202020204" pitchFamily="34" charset="0"/>
                <a:cs typeface="Arial" panose="020B0604020202020204" pitchFamily="34" charset="0"/>
              </a:rPr>
              <a:t>(1:2),</a:t>
            </a:r>
            <a:r>
              <a:rPr lang="en-US" sz="2000" dirty="0" err="1">
                <a:solidFill>
                  <a:srgbClr val="000000"/>
                </a:solidFill>
                <a:latin typeface="Arial" panose="020B0604020202020204" pitchFamily="34" charset="0"/>
                <a:cs typeface="Arial" panose="020B0604020202020204" pitchFamily="34" charset="0"/>
              </a:rPr>
              <a:t>imdsTrain</a:t>
            </a:r>
            <a:r>
              <a:rPr lang="en-US" sz="2000" dirty="0">
                <a:solidFill>
                  <a:srgbClr val="000000"/>
                </a:solidFill>
                <a:latin typeface="Arial" panose="020B0604020202020204" pitchFamily="34" charset="0"/>
                <a:cs typeface="Arial" panose="020B0604020202020204" pitchFamily="34" charset="0"/>
              </a:rPr>
              <a:t>, ...</a:t>
            </a:r>
          </a:p>
          <a:p>
            <a:r>
              <a:rPr lang="en-US" sz="2000" dirty="0">
                <a:solidFill>
                  <a:srgbClr val="000000"/>
                </a:solidFill>
                <a:latin typeface="Arial" panose="020B0604020202020204" pitchFamily="34" charset="0"/>
                <a:cs typeface="Arial" panose="020B0604020202020204" pitchFamily="34" charset="0"/>
              </a:rPr>
              <a:t>    '</a:t>
            </a:r>
            <a:r>
              <a:rPr lang="en-US" sz="2000" dirty="0" err="1">
                <a:solidFill>
                  <a:srgbClr val="000000"/>
                </a:solidFill>
                <a:latin typeface="Arial" panose="020B0604020202020204" pitchFamily="34" charset="0"/>
                <a:cs typeface="Arial" panose="020B0604020202020204" pitchFamily="34" charset="0"/>
              </a:rPr>
              <a:t>DataAugmentation</a:t>
            </a:r>
            <a:r>
              <a:rPr lang="en-US" sz="2000" dirty="0">
                <a:solidFill>
                  <a:srgbClr val="000000"/>
                </a:solidFill>
                <a:latin typeface="Arial" panose="020B0604020202020204" pitchFamily="34" charset="0"/>
                <a:cs typeface="Arial" panose="020B0604020202020204" pitchFamily="34" charset="0"/>
              </a:rPr>
              <a:t>',</a:t>
            </a:r>
            <a:r>
              <a:rPr lang="en-US" sz="2000" dirty="0" err="1">
                <a:solidFill>
                  <a:srgbClr val="000000"/>
                </a:solidFill>
                <a:latin typeface="Arial" panose="020B0604020202020204" pitchFamily="34" charset="0"/>
                <a:cs typeface="Arial" panose="020B0604020202020204" pitchFamily="34" charset="0"/>
              </a:rPr>
              <a:t>imageAugmenter</a:t>
            </a:r>
            <a:r>
              <a:rPr lang="en-US" sz="2000" dirty="0">
                <a:solidFill>
                  <a:srgbClr val="00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710950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Transfer Learning Using </a:t>
            </a:r>
            <a:r>
              <a:rPr lang="en-US" sz="4000" dirty="0" err="1"/>
              <a:t>AlexNet</a:t>
            </a:r>
            <a:r>
              <a:rPr lang="en-US" sz="4000" dirty="0"/>
              <a:t>: Example… </a:t>
            </a:r>
          </a:p>
        </p:txBody>
      </p:sp>
      <p:sp>
        <p:nvSpPr>
          <p:cNvPr id="4" name="Rectangle 3"/>
          <p:cNvSpPr/>
          <p:nvPr/>
        </p:nvSpPr>
        <p:spPr>
          <a:xfrm>
            <a:off x="119336" y="1257722"/>
            <a:ext cx="11449272" cy="4678204"/>
          </a:xfrm>
          <a:prstGeom prst="rect">
            <a:avLst/>
          </a:prstGeom>
        </p:spPr>
        <p:txBody>
          <a:bodyPr wrap="square">
            <a:spAutoFit/>
          </a:bodyPr>
          <a:lstStyle/>
          <a:p>
            <a:pPr algn="just">
              <a:spcBef>
                <a:spcPts val="600"/>
              </a:spcBef>
              <a:spcAft>
                <a:spcPts val="600"/>
              </a:spcAft>
            </a:pPr>
            <a:r>
              <a:rPr lang="en-US" sz="2400" dirty="0">
                <a:solidFill>
                  <a:srgbClr val="3C3C3C"/>
                </a:solidFill>
                <a:latin typeface="Times New Roman" panose="02020603050405020304" pitchFamily="18" charset="0"/>
                <a:cs typeface="Times New Roman" panose="02020603050405020304" pitchFamily="18" charset="0"/>
              </a:rPr>
              <a:t>To automatically resize the validation images without performing further data augmentation, use an augmented image </a:t>
            </a:r>
            <a:r>
              <a:rPr lang="en-US" sz="2400" dirty="0" err="1">
                <a:solidFill>
                  <a:srgbClr val="3C3C3C"/>
                </a:solidFill>
                <a:latin typeface="Times New Roman" panose="02020603050405020304" pitchFamily="18" charset="0"/>
                <a:cs typeface="Times New Roman" panose="02020603050405020304" pitchFamily="18" charset="0"/>
              </a:rPr>
              <a:t>datastore</a:t>
            </a:r>
            <a:r>
              <a:rPr lang="en-US" sz="2400" dirty="0">
                <a:solidFill>
                  <a:srgbClr val="3C3C3C"/>
                </a:solidFill>
                <a:latin typeface="Times New Roman" panose="02020603050405020304" pitchFamily="18" charset="0"/>
                <a:cs typeface="Times New Roman" panose="02020603050405020304" pitchFamily="18" charset="0"/>
              </a:rPr>
              <a:t> without specifying any additional preprocessing operations.</a:t>
            </a:r>
          </a:p>
          <a:p>
            <a:pPr algn="just">
              <a:spcBef>
                <a:spcPts val="600"/>
              </a:spcBef>
              <a:spcAft>
                <a:spcPts val="600"/>
              </a:spcAft>
            </a:pPr>
            <a:r>
              <a:rPr lang="en-US" sz="2400" dirty="0">
                <a:solidFill>
                  <a:srgbClr val="3C3C3C"/>
                </a:solidFill>
                <a:latin typeface="Times New Roman" panose="02020603050405020304" pitchFamily="18" charset="0"/>
                <a:cs typeface="Times New Roman" panose="02020603050405020304" pitchFamily="18" charset="0"/>
              </a:rPr>
              <a:t>Specify the training options. For transfer learning, keep the features from the early layers of the </a:t>
            </a:r>
            <a:r>
              <a:rPr lang="en-US" sz="2400" dirty="0" err="1">
                <a:solidFill>
                  <a:srgbClr val="3C3C3C"/>
                </a:solidFill>
                <a:latin typeface="Times New Roman" panose="02020603050405020304" pitchFamily="18" charset="0"/>
                <a:cs typeface="Times New Roman" panose="02020603050405020304" pitchFamily="18" charset="0"/>
              </a:rPr>
              <a:t>pretrained</a:t>
            </a:r>
            <a:r>
              <a:rPr lang="en-US" sz="2400" dirty="0">
                <a:solidFill>
                  <a:srgbClr val="3C3C3C"/>
                </a:solidFill>
                <a:latin typeface="Times New Roman" panose="02020603050405020304" pitchFamily="18" charset="0"/>
                <a:cs typeface="Times New Roman" panose="02020603050405020304" pitchFamily="18" charset="0"/>
              </a:rPr>
              <a:t> network (the transferred layer weights). To slow down learning in the transferred layers, set the initial learning rate to a small value. In the previous step, you increased the learning rate factors for the fully connected layer to speed up learning in the new final layers. This combination of learning rate settings results in fast learning only in the new layers and slower learning in the other layers. When performing transfer learning, you do not need to train for as many epochs. An epoch is a full training cycle on the entire training data set. Specify the mini-batch size and validation data. The software validates the network every </a:t>
            </a:r>
            <a:r>
              <a:rPr lang="en-US" sz="2400" dirty="0" err="1">
                <a:solidFill>
                  <a:srgbClr val="3C3C3C"/>
                </a:solidFill>
                <a:latin typeface="Times New Roman" panose="02020603050405020304" pitchFamily="18" charset="0"/>
                <a:cs typeface="Times New Roman" panose="02020603050405020304" pitchFamily="18" charset="0"/>
              </a:rPr>
              <a:t>ValidationFrequency</a:t>
            </a:r>
            <a:r>
              <a:rPr lang="en-US" sz="2400" dirty="0">
                <a:solidFill>
                  <a:srgbClr val="3C3C3C"/>
                </a:solidFill>
                <a:latin typeface="Times New Roman" panose="02020603050405020304" pitchFamily="18" charset="0"/>
                <a:cs typeface="Times New Roman" panose="02020603050405020304" pitchFamily="18" charset="0"/>
              </a:rPr>
              <a:t> iterations during training.</a:t>
            </a:r>
          </a:p>
        </p:txBody>
      </p:sp>
    </p:spTree>
    <p:extLst>
      <p:ext uri="{BB962C8B-B14F-4D97-AF65-F5344CB8AC3E}">
        <p14:creationId xmlns:p14="http://schemas.microsoft.com/office/powerpoint/2010/main" val="37595740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Transfer Learning Using </a:t>
            </a:r>
            <a:r>
              <a:rPr lang="en-US" sz="4000" dirty="0" err="1"/>
              <a:t>AlexNet</a:t>
            </a:r>
            <a:r>
              <a:rPr lang="en-US" sz="4000" dirty="0"/>
              <a:t>: Example… </a:t>
            </a:r>
          </a:p>
        </p:txBody>
      </p:sp>
      <p:sp>
        <p:nvSpPr>
          <p:cNvPr id="5" name="Rectangle 4"/>
          <p:cNvSpPr/>
          <p:nvPr/>
        </p:nvSpPr>
        <p:spPr>
          <a:xfrm>
            <a:off x="72007" y="1196752"/>
            <a:ext cx="10992545" cy="5632311"/>
          </a:xfrm>
          <a:prstGeom prst="rect">
            <a:avLst/>
          </a:prstGeom>
        </p:spPr>
        <p:txBody>
          <a:bodyPr wrap="square">
            <a:spAutoFit/>
          </a:bodyPr>
          <a:lstStyle/>
          <a:p>
            <a:r>
              <a:rPr lang="en-US" sz="2400" dirty="0" err="1">
                <a:solidFill>
                  <a:srgbClr val="000000"/>
                </a:solidFill>
                <a:latin typeface="Arial" panose="020B0604020202020204" pitchFamily="34" charset="0"/>
                <a:cs typeface="Arial" panose="020B0604020202020204" pitchFamily="34" charset="0"/>
              </a:rPr>
              <a:t>augimdsValidation</a:t>
            </a:r>
            <a:r>
              <a:rPr lang="en-US" sz="2400" dirty="0">
                <a:solidFill>
                  <a:srgbClr val="000000"/>
                </a:solidFill>
                <a:latin typeface="Arial" panose="020B0604020202020204" pitchFamily="34" charset="0"/>
                <a:cs typeface="Arial" panose="020B0604020202020204" pitchFamily="34" charset="0"/>
              </a:rPr>
              <a:t> = </a:t>
            </a:r>
            <a:r>
              <a:rPr lang="en-US" sz="2400" dirty="0" err="1">
                <a:solidFill>
                  <a:srgbClr val="000000"/>
                </a:solidFill>
                <a:latin typeface="Arial" panose="020B0604020202020204" pitchFamily="34" charset="0"/>
                <a:cs typeface="Arial" panose="020B0604020202020204" pitchFamily="34" charset="0"/>
              </a:rPr>
              <a:t>augmentedImageDatastore</a:t>
            </a:r>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latin typeface="Arial" panose="020B0604020202020204" pitchFamily="34" charset="0"/>
                <a:cs typeface="Arial" panose="020B0604020202020204" pitchFamily="34" charset="0"/>
              </a:rPr>
              <a:t>inputSize</a:t>
            </a:r>
            <a:r>
              <a:rPr lang="en-US" sz="2400" dirty="0">
                <a:solidFill>
                  <a:srgbClr val="000000"/>
                </a:solidFill>
                <a:latin typeface="Arial" panose="020B0604020202020204" pitchFamily="34" charset="0"/>
                <a:cs typeface="Arial" panose="020B0604020202020204" pitchFamily="34" charset="0"/>
              </a:rPr>
              <a:t>(1:2),</a:t>
            </a:r>
            <a:r>
              <a:rPr lang="en-US" sz="2400" dirty="0" err="1">
                <a:solidFill>
                  <a:srgbClr val="000000"/>
                </a:solidFill>
                <a:latin typeface="Arial" panose="020B0604020202020204" pitchFamily="34" charset="0"/>
                <a:cs typeface="Arial" panose="020B0604020202020204" pitchFamily="34" charset="0"/>
              </a:rPr>
              <a:t>imdsValidation</a:t>
            </a:r>
            <a:r>
              <a:rPr lang="en-US" sz="2400" dirty="0">
                <a:solidFill>
                  <a:srgbClr val="000000"/>
                </a:solidFill>
                <a:latin typeface="Arial" panose="020B0604020202020204" pitchFamily="34" charset="0"/>
                <a:cs typeface="Arial" panose="020B0604020202020204" pitchFamily="34" charset="0"/>
              </a:rPr>
              <a:t>);</a:t>
            </a:r>
          </a:p>
          <a:p>
            <a:r>
              <a:rPr lang="en-US" sz="2400" dirty="0">
                <a:solidFill>
                  <a:srgbClr val="000000"/>
                </a:solidFill>
                <a:latin typeface="Arial" panose="020B0604020202020204" pitchFamily="34" charset="0"/>
                <a:cs typeface="Arial" panose="020B0604020202020204" pitchFamily="34" charset="0"/>
              </a:rPr>
              <a:t>options = </a:t>
            </a:r>
            <a:r>
              <a:rPr lang="en-US" sz="2400" dirty="0" err="1">
                <a:solidFill>
                  <a:srgbClr val="000000"/>
                </a:solidFill>
                <a:latin typeface="Arial" panose="020B0604020202020204" pitchFamily="34" charset="0"/>
                <a:cs typeface="Arial" panose="020B0604020202020204" pitchFamily="34" charset="0"/>
              </a:rPr>
              <a:t>trainingOptions</a:t>
            </a:r>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latin typeface="Arial" panose="020B0604020202020204" pitchFamily="34" charset="0"/>
                <a:cs typeface="Arial" panose="020B0604020202020204" pitchFamily="34" charset="0"/>
              </a:rPr>
              <a:t>sgdm</a:t>
            </a:r>
            <a:r>
              <a:rPr lang="en-US" sz="2400" dirty="0">
                <a:solidFill>
                  <a:srgbClr val="000000"/>
                </a:solidFill>
                <a:latin typeface="Arial" panose="020B0604020202020204" pitchFamily="34" charset="0"/>
                <a:cs typeface="Arial" panose="020B0604020202020204" pitchFamily="34" charset="0"/>
              </a:rPr>
              <a:t>', ...</a:t>
            </a:r>
          </a:p>
          <a:p>
            <a:r>
              <a:rPr lang="en-US" sz="2400" dirty="0">
                <a:solidFill>
                  <a:srgbClr val="000000"/>
                </a:solidFill>
                <a:latin typeface="Arial" panose="020B0604020202020204" pitchFamily="34" charset="0"/>
                <a:cs typeface="Arial" panose="020B0604020202020204" pitchFamily="34" charset="0"/>
              </a:rPr>
              <a:t>    'MiniBatchSize',10, ...</a:t>
            </a:r>
          </a:p>
          <a:p>
            <a:r>
              <a:rPr lang="en-US" sz="2400" dirty="0">
                <a:solidFill>
                  <a:srgbClr val="000000"/>
                </a:solidFill>
                <a:latin typeface="Arial" panose="020B0604020202020204" pitchFamily="34" charset="0"/>
                <a:cs typeface="Arial" panose="020B0604020202020204" pitchFamily="34" charset="0"/>
              </a:rPr>
              <a:t>    'MaxEpochs',6, ...</a:t>
            </a:r>
          </a:p>
          <a:p>
            <a:r>
              <a:rPr lang="en-US" sz="2400" dirty="0">
                <a:solidFill>
                  <a:srgbClr val="000000"/>
                </a:solidFill>
                <a:latin typeface="Arial" panose="020B0604020202020204" pitchFamily="34" charset="0"/>
                <a:cs typeface="Arial" panose="020B0604020202020204" pitchFamily="34" charset="0"/>
              </a:rPr>
              <a:t>    'InitialLearnRate',1e-4, ...</a:t>
            </a:r>
          </a:p>
          <a:p>
            <a:r>
              <a:rPr lang="en-US" sz="2400" dirty="0">
                <a:solidFill>
                  <a:srgbClr val="000000"/>
                </a:solidFill>
                <a:latin typeface="Arial" panose="020B0604020202020204" pitchFamily="34" charset="0"/>
                <a:cs typeface="Arial" panose="020B0604020202020204" pitchFamily="34" charset="0"/>
              </a:rPr>
              <a:t>    '</a:t>
            </a:r>
            <a:r>
              <a:rPr lang="en-US" sz="2400" dirty="0" err="1">
                <a:solidFill>
                  <a:srgbClr val="000000"/>
                </a:solidFill>
                <a:latin typeface="Arial" panose="020B0604020202020204" pitchFamily="34" charset="0"/>
                <a:cs typeface="Arial" panose="020B0604020202020204" pitchFamily="34" charset="0"/>
              </a:rPr>
              <a:t>ValidationData</a:t>
            </a:r>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latin typeface="Arial" panose="020B0604020202020204" pitchFamily="34" charset="0"/>
                <a:cs typeface="Arial" panose="020B0604020202020204" pitchFamily="34" charset="0"/>
              </a:rPr>
              <a:t>augimdsValidation</a:t>
            </a:r>
            <a:r>
              <a:rPr lang="en-US" sz="2400" dirty="0">
                <a:solidFill>
                  <a:srgbClr val="000000"/>
                </a:solidFill>
                <a:latin typeface="Arial" panose="020B0604020202020204" pitchFamily="34" charset="0"/>
                <a:cs typeface="Arial" panose="020B0604020202020204" pitchFamily="34" charset="0"/>
              </a:rPr>
              <a:t>, ...</a:t>
            </a:r>
          </a:p>
          <a:p>
            <a:r>
              <a:rPr lang="en-US" sz="2400" dirty="0">
                <a:solidFill>
                  <a:srgbClr val="000000"/>
                </a:solidFill>
                <a:latin typeface="Arial" panose="020B0604020202020204" pitchFamily="34" charset="0"/>
                <a:cs typeface="Arial" panose="020B0604020202020204" pitchFamily="34" charset="0"/>
              </a:rPr>
              <a:t>    'ValidationFrequency',3, ...</a:t>
            </a:r>
          </a:p>
          <a:p>
            <a:r>
              <a:rPr lang="en-US" sz="2400" dirty="0">
                <a:solidFill>
                  <a:srgbClr val="000000"/>
                </a:solidFill>
                <a:latin typeface="Arial" panose="020B0604020202020204" pitchFamily="34" charset="0"/>
                <a:cs typeface="Arial" panose="020B0604020202020204" pitchFamily="34" charset="0"/>
              </a:rPr>
              <a:t>    '</a:t>
            </a:r>
            <a:r>
              <a:rPr lang="en-US" sz="2400" dirty="0" err="1">
                <a:solidFill>
                  <a:srgbClr val="000000"/>
                </a:solidFill>
                <a:latin typeface="Arial" panose="020B0604020202020204" pitchFamily="34" charset="0"/>
                <a:cs typeface="Arial" panose="020B0604020202020204" pitchFamily="34" charset="0"/>
              </a:rPr>
              <a:t>ValidationPatience</a:t>
            </a:r>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latin typeface="Arial" panose="020B0604020202020204" pitchFamily="34" charset="0"/>
                <a:cs typeface="Arial" panose="020B0604020202020204" pitchFamily="34" charset="0"/>
              </a:rPr>
              <a:t>Inf</a:t>
            </a:r>
            <a:r>
              <a:rPr lang="en-US" sz="2400" dirty="0">
                <a:solidFill>
                  <a:srgbClr val="000000"/>
                </a:solidFill>
                <a:latin typeface="Arial" panose="020B0604020202020204" pitchFamily="34" charset="0"/>
                <a:cs typeface="Arial" panose="020B0604020202020204" pitchFamily="34" charset="0"/>
              </a:rPr>
              <a:t>, ...</a:t>
            </a:r>
          </a:p>
          <a:p>
            <a:r>
              <a:rPr lang="en-US" sz="2400" dirty="0">
                <a:solidFill>
                  <a:srgbClr val="000000"/>
                </a:solidFill>
                <a:latin typeface="Arial" panose="020B0604020202020204" pitchFamily="34" charset="0"/>
                <a:cs typeface="Arial" panose="020B0604020202020204" pitchFamily="34" charset="0"/>
              </a:rPr>
              <a:t>    '</a:t>
            </a:r>
            <a:r>
              <a:rPr lang="en-US" sz="2400" dirty="0" err="1">
                <a:solidFill>
                  <a:srgbClr val="000000"/>
                </a:solidFill>
                <a:latin typeface="Arial" panose="020B0604020202020204" pitchFamily="34" charset="0"/>
                <a:cs typeface="Arial" panose="020B0604020202020204" pitchFamily="34" charset="0"/>
              </a:rPr>
              <a:t>Verbose',false</a:t>
            </a:r>
            <a:r>
              <a:rPr lang="en-US" sz="2400" dirty="0">
                <a:solidFill>
                  <a:srgbClr val="000000"/>
                </a:solidFill>
                <a:latin typeface="Arial" panose="020B0604020202020204" pitchFamily="34" charset="0"/>
                <a:cs typeface="Arial" panose="020B0604020202020204" pitchFamily="34" charset="0"/>
              </a:rPr>
              <a:t>, ...</a:t>
            </a:r>
          </a:p>
          <a:p>
            <a:r>
              <a:rPr lang="en-US" sz="2400" dirty="0">
                <a:solidFill>
                  <a:srgbClr val="000000"/>
                </a:solidFill>
                <a:latin typeface="Arial" panose="020B0604020202020204" pitchFamily="34" charset="0"/>
                <a:cs typeface="Arial" panose="020B0604020202020204" pitchFamily="34" charset="0"/>
              </a:rPr>
              <a:t>    '</a:t>
            </a:r>
            <a:r>
              <a:rPr lang="en-US" sz="2400" dirty="0" err="1">
                <a:solidFill>
                  <a:srgbClr val="000000"/>
                </a:solidFill>
                <a:latin typeface="Arial" panose="020B0604020202020204" pitchFamily="34" charset="0"/>
                <a:cs typeface="Arial" panose="020B0604020202020204" pitchFamily="34" charset="0"/>
              </a:rPr>
              <a:t>Plots','training</a:t>
            </a:r>
            <a:r>
              <a:rPr lang="en-US" sz="2400" dirty="0">
                <a:solidFill>
                  <a:srgbClr val="000000"/>
                </a:solidFill>
                <a:latin typeface="Arial" panose="020B0604020202020204" pitchFamily="34" charset="0"/>
                <a:cs typeface="Arial" panose="020B0604020202020204" pitchFamily="34" charset="0"/>
              </a:rPr>
              <a:t>-progress');</a:t>
            </a:r>
          </a:p>
          <a:p>
            <a:endParaRPr lang="en-US" sz="2400" dirty="0">
              <a:solidFill>
                <a:srgbClr val="000000"/>
              </a:solidFill>
              <a:latin typeface="Arial" panose="020B0604020202020204" pitchFamily="34" charset="0"/>
              <a:cs typeface="Arial" panose="020B0604020202020204" pitchFamily="34" charset="0"/>
            </a:endParaRPr>
          </a:p>
          <a:p>
            <a:endParaRPr lang="en-US" sz="2400" dirty="0">
              <a:solidFill>
                <a:srgbClr val="000000"/>
              </a:solidFill>
              <a:latin typeface="Arial" panose="020B0604020202020204" pitchFamily="34" charset="0"/>
              <a:cs typeface="Arial" panose="020B0604020202020204" pitchFamily="34" charset="0"/>
            </a:endParaRPr>
          </a:p>
          <a:p>
            <a:endParaRPr lang="en-US" sz="2400" dirty="0">
              <a:solidFill>
                <a:srgbClr val="000000"/>
              </a:solidFill>
              <a:latin typeface="Arial" panose="020B0604020202020204" pitchFamily="34" charset="0"/>
              <a:cs typeface="Arial" panose="020B0604020202020204" pitchFamily="34" charset="0"/>
            </a:endParaRPr>
          </a:p>
          <a:p>
            <a:endParaRPr lang="en-US" sz="2400" dirty="0">
              <a:solidFill>
                <a:srgbClr val="000000"/>
              </a:solidFill>
              <a:latin typeface="Arial" panose="020B0604020202020204" pitchFamily="34" charset="0"/>
              <a:cs typeface="Arial" panose="020B0604020202020204" pitchFamily="34" charset="0"/>
            </a:endParaRPr>
          </a:p>
          <a:p>
            <a:r>
              <a:rPr lang="en-US" sz="2400" dirty="0" err="1">
                <a:solidFill>
                  <a:srgbClr val="000000"/>
                </a:solidFill>
                <a:latin typeface="Arial" panose="020B0604020202020204" pitchFamily="34" charset="0"/>
                <a:cs typeface="Arial" panose="020B0604020202020204" pitchFamily="34" charset="0"/>
              </a:rPr>
              <a:t>netTransfer</a:t>
            </a:r>
            <a:r>
              <a:rPr lang="en-US" sz="2400" dirty="0">
                <a:solidFill>
                  <a:srgbClr val="000000"/>
                </a:solidFill>
                <a:latin typeface="Arial" panose="020B0604020202020204" pitchFamily="34" charset="0"/>
                <a:cs typeface="Arial" panose="020B0604020202020204" pitchFamily="34" charset="0"/>
              </a:rPr>
              <a:t> = </a:t>
            </a:r>
            <a:r>
              <a:rPr lang="en-US" sz="2400" dirty="0" err="1">
                <a:solidFill>
                  <a:srgbClr val="000000"/>
                </a:solidFill>
                <a:latin typeface="Arial" panose="020B0604020202020204" pitchFamily="34" charset="0"/>
                <a:cs typeface="Arial" panose="020B0604020202020204" pitchFamily="34" charset="0"/>
              </a:rPr>
              <a:t>trainNetwork</a:t>
            </a:r>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latin typeface="Arial" panose="020B0604020202020204" pitchFamily="34" charset="0"/>
                <a:cs typeface="Arial" panose="020B0604020202020204" pitchFamily="34" charset="0"/>
              </a:rPr>
              <a:t>augimdsTrain,layers,options</a:t>
            </a:r>
            <a:r>
              <a:rPr lang="en-US" sz="2400" dirty="0">
                <a:solidFill>
                  <a:srgbClr val="000000"/>
                </a:solidFill>
                <a:latin typeface="Arial" panose="020B0604020202020204" pitchFamily="34" charset="0"/>
                <a:cs typeface="Arial" panose="020B0604020202020204" pitchFamily="34" charset="0"/>
              </a:rPr>
              <a:t>);</a:t>
            </a:r>
          </a:p>
        </p:txBody>
      </p:sp>
      <p:sp>
        <p:nvSpPr>
          <p:cNvPr id="7" name="Rounded Rectangle 6"/>
          <p:cNvSpPr/>
          <p:nvPr/>
        </p:nvSpPr>
        <p:spPr>
          <a:xfrm>
            <a:off x="5663952" y="1772816"/>
            <a:ext cx="6480720" cy="453650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600"/>
              </a:spcBef>
              <a:spcAft>
                <a:spcPts val="600"/>
              </a:spcAft>
            </a:pPr>
            <a:r>
              <a:rPr lang="en-US" sz="2800" dirty="0">
                <a:solidFill>
                  <a:srgbClr val="3C3C3C"/>
                </a:solidFill>
                <a:latin typeface="Times New Roman" panose="02020603050405020304" pitchFamily="18" charset="0"/>
                <a:cs typeface="Times New Roman" panose="02020603050405020304" pitchFamily="18" charset="0"/>
              </a:rPr>
              <a:t>Train the network that consists of the transferred and new layers. By default, </a:t>
            </a:r>
            <a:r>
              <a:rPr lang="en-US" sz="2800" dirty="0" err="1">
                <a:solidFill>
                  <a:srgbClr val="3C3C3C"/>
                </a:solidFill>
                <a:latin typeface="Times New Roman" panose="02020603050405020304" pitchFamily="18" charset="0"/>
                <a:cs typeface="Times New Roman" panose="02020603050405020304" pitchFamily="18" charset="0"/>
              </a:rPr>
              <a:t>trainNetwork</a:t>
            </a:r>
            <a:r>
              <a:rPr lang="en-US" sz="2800" dirty="0">
                <a:solidFill>
                  <a:srgbClr val="3C3C3C"/>
                </a:solidFill>
                <a:latin typeface="Times New Roman" panose="02020603050405020304" pitchFamily="18" charset="0"/>
                <a:cs typeface="Times New Roman" panose="02020603050405020304" pitchFamily="18" charset="0"/>
              </a:rPr>
              <a:t> uses a GPU if one is available (requires Parallel Computing Toolbox™ and a CUDA® enabled GPU with compute capability 3.0 or higher). Otherwise, it uses a CPU. You can also specify the execution environment by using the '</a:t>
            </a:r>
            <a:r>
              <a:rPr lang="en-US" sz="2800" dirty="0" err="1">
                <a:solidFill>
                  <a:srgbClr val="3C3C3C"/>
                </a:solidFill>
                <a:latin typeface="Times New Roman" panose="02020603050405020304" pitchFamily="18" charset="0"/>
                <a:cs typeface="Times New Roman" panose="02020603050405020304" pitchFamily="18" charset="0"/>
              </a:rPr>
              <a:t>ExecutionEnvironment</a:t>
            </a:r>
            <a:r>
              <a:rPr lang="en-US" sz="2800" dirty="0">
                <a:solidFill>
                  <a:srgbClr val="3C3C3C"/>
                </a:solidFill>
                <a:latin typeface="Times New Roman" panose="02020603050405020304" pitchFamily="18" charset="0"/>
                <a:cs typeface="Times New Roman" panose="02020603050405020304" pitchFamily="18" charset="0"/>
              </a:rPr>
              <a:t>' name-value pair argument of </a:t>
            </a:r>
            <a:r>
              <a:rPr lang="en-US" sz="2800" dirty="0" err="1">
                <a:solidFill>
                  <a:srgbClr val="3C3C3C"/>
                </a:solidFill>
                <a:latin typeface="Times New Roman" panose="02020603050405020304" pitchFamily="18" charset="0"/>
                <a:cs typeface="Times New Roman" panose="02020603050405020304" pitchFamily="18" charset="0"/>
              </a:rPr>
              <a:t>trainingOptions</a:t>
            </a:r>
            <a:r>
              <a:rPr lang="en-US" sz="2800" dirty="0">
                <a:solidFill>
                  <a:srgbClr val="3C3C3C"/>
                </a:solidFill>
                <a:latin typeface="Times New Roman" panose="02020603050405020304" pitchFamily="18" charset="0"/>
                <a:cs typeface="Times New Roman" panose="02020603050405020304" pitchFamily="18" charset="0"/>
              </a:rPr>
              <a:t>.</a:t>
            </a:r>
            <a:endParaRPr 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04809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Transfer Learning Using </a:t>
            </a:r>
            <a:r>
              <a:rPr lang="en-US" sz="4000" dirty="0" err="1"/>
              <a:t>AlexNet</a:t>
            </a:r>
            <a:r>
              <a:rPr lang="en-US" sz="4000" dirty="0"/>
              <a:t>: Example… </a:t>
            </a:r>
          </a:p>
        </p:txBody>
      </p:sp>
      <p:pic>
        <p:nvPicPr>
          <p:cNvPr id="10241" name="Picture 1" descr="C:\Users\drzha\AppData\Local\Temp\ConnectorClipboard186833696578391943\image1587461226279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28" y="1152128"/>
            <a:ext cx="12071649" cy="5661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03365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Transfer Learning Using </a:t>
            </a:r>
            <a:r>
              <a:rPr lang="en-US" sz="4000" dirty="0" err="1"/>
              <a:t>AlexNet</a:t>
            </a:r>
            <a:r>
              <a:rPr lang="en-US" sz="4000" dirty="0"/>
              <a:t>: Example… </a:t>
            </a:r>
          </a:p>
        </p:txBody>
      </p:sp>
      <p:sp>
        <p:nvSpPr>
          <p:cNvPr id="4" name="Rectangle 3"/>
          <p:cNvSpPr/>
          <p:nvPr/>
        </p:nvSpPr>
        <p:spPr>
          <a:xfrm>
            <a:off x="119336" y="1340768"/>
            <a:ext cx="11665296" cy="523220"/>
          </a:xfrm>
          <a:prstGeom prst="rect">
            <a:avLst/>
          </a:prstGeom>
        </p:spPr>
        <p:txBody>
          <a:bodyPr wrap="square">
            <a:spAutoFit/>
          </a:bodyPr>
          <a:lstStyle/>
          <a:p>
            <a:pPr algn="just">
              <a:spcBef>
                <a:spcPts val="600"/>
              </a:spcBef>
              <a:spcAft>
                <a:spcPts val="600"/>
              </a:spcAft>
            </a:pPr>
            <a:r>
              <a:rPr lang="en-US" sz="2800" b="1" dirty="0">
                <a:solidFill>
                  <a:srgbClr val="3C3C3C"/>
                </a:solidFill>
                <a:latin typeface="Times New Roman" panose="02020603050405020304" pitchFamily="18" charset="0"/>
                <a:cs typeface="Times New Roman" panose="02020603050405020304" pitchFamily="18" charset="0"/>
              </a:rPr>
              <a:t>Classify the validation images</a:t>
            </a:r>
            <a:r>
              <a:rPr lang="en-US" sz="2800" dirty="0">
                <a:solidFill>
                  <a:srgbClr val="3C3C3C"/>
                </a:solidFill>
                <a:latin typeface="Times New Roman" panose="02020603050405020304" pitchFamily="18" charset="0"/>
                <a:cs typeface="Times New Roman" panose="02020603050405020304" pitchFamily="18" charset="0"/>
              </a:rPr>
              <a:t> using the fine-tuned network.</a:t>
            </a:r>
          </a:p>
        </p:txBody>
      </p:sp>
      <p:sp>
        <p:nvSpPr>
          <p:cNvPr id="5" name="Rectangle 4"/>
          <p:cNvSpPr/>
          <p:nvPr/>
        </p:nvSpPr>
        <p:spPr>
          <a:xfrm>
            <a:off x="144015" y="1947604"/>
            <a:ext cx="9336361" cy="4154984"/>
          </a:xfrm>
          <a:prstGeom prst="rect">
            <a:avLst/>
          </a:prstGeom>
        </p:spPr>
        <p:txBody>
          <a:bodyPr wrap="square">
            <a:spAutoFit/>
          </a:bodyPr>
          <a:lstStyle/>
          <a:p>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latin typeface="Arial" panose="020B0604020202020204" pitchFamily="34" charset="0"/>
                <a:cs typeface="Arial" panose="020B0604020202020204" pitchFamily="34" charset="0"/>
              </a:rPr>
              <a:t>YPred</a:t>
            </a:r>
            <a:r>
              <a:rPr lang="en-US" sz="2400" dirty="0">
                <a:solidFill>
                  <a:srgbClr val="000000"/>
                </a:solidFill>
                <a:latin typeface="Arial" panose="020B0604020202020204" pitchFamily="34" charset="0"/>
                <a:cs typeface="Arial" panose="020B0604020202020204" pitchFamily="34" charset="0"/>
              </a:rPr>
              <a:t>, scores] = classify(</a:t>
            </a:r>
            <a:r>
              <a:rPr lang="en-US" sz="2400" dirty="0" err="1">
                <a:solidFill>
                  <a:srgbClr val="000000"/>
                </a:solidFill>
                <a:latin typeface="Arial" panose="020B0604020202020204" pitchFamily="34" charset="0"/>
                <a:cs typeface="Arial" panose="020B0604020202020204" pitchFamily="34" charset="0"/>
              </a:rPr>
              <a:t>netTransfer,augimdsValidation</a:t>
            </a:r>
            <a:r>
              <a:rPr lang="en-US" sz="2400" dirty="0">
                <a:solidFill>
                  <a:srgbClr val="000000"/>
                </a:solidFill>
                <a:latin typeface="Arial" panose="020B0604020202020204" pitchFamily="34" charset="0"/>
                <a:cs typeface="Arial" panose="020B0604020202020204" pitchFamily="34" charset="0"/>
              </a:rPr>
              <a:t>);</a:t>
            </a:r>
          </a:p>
          <a:p>
            <a:r>
              <a:rPr lang="en-US" sz="2400" dirty="0">
                <a:solidFill>
                  <a:srgbClr val="00B050"/>
                </a:solidFill>
                <a:latin typeface="Arial" panose="020B0604020202020204" pitchFamily="34" charset="0"/>
                <a:cs typeface="Arial" panose="020B0604020202020204" pitchFamily="34" charset="0"/>
              </a:rPr>
              <a:t>% Display four sample validation images with their predicted labels.</a:t>
            </a:r>
          </a:p>
          <a:p>
            <a:r>
              <a:rPr lang="en-US" sz="2400" dirty="0" err="1">
                <a:solidFill>
                  <a:srgbClr val="000000"/>
                </a:solidFill>
                <a:latin typeface="Arial" panose="020B0604020202020204" pitchFamily="34" charset="0"/>
                <a:cs typeface="Arial" panose="020B0604020202020204" pitchFamily="34" charset="0"/>
              </a:rPr>
              <a:t>idx</a:t>
            </a:r>
            <a:r>
              <a:rPr lang="en-US" sz="2400" dirty="0">
                <a:solidFill>
                  <a:srgbClr val="000000"/>
                </a:solidFill>
                <a:latin typeface="Arial" panose="020B0604020202020204" pitchFamily="34" charset="0"/>
                <a:cs typeface="Arial" panose="020B0604020202020204" pitchFamily="34" charset="0"/>
              </a:rPr>
              <a:t> = </a:t>
            </a:r>
            <a:r>
              <a:rPr lang="en-US" sz="2400" dirty="0" err="1">
                <a:solidFill>
                  <a:srgbClr val="000000"/>
                </a:solidFill>
                <a:latin typeface="Arial" panose="020B0604020202020204" pitchFamily="34" charset="0"/>
                <a:cs typeface="Arial" panose="020B0604020202020204" pitchFamily="34" charset="0"/>
              </a:rPr>
              <a:t>randperm</a:t>
            </a:r>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latin typeface="Arial" panose="020B0604020202020204" pitchFamily="34" charset="0"/>
                <a:cs typeface="Arial" panose="020B0604020202020204" pitchFamily="34" charset="0"/>
              </a:rPr>
              <a:t>numel</a:t>
            </a:r>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latin typeface="Arial" panose="020B0604020202020204" pitchFamily="34" charset="0"/>
                <a:cs typeface="Arial" panose="020B0604020202020204" pitchFamily="34" charset="0"/>
              </a:rPr>
              <a:t>imdsValidation.Files</a:t>
            </a:r>
            <a:r>
              <a:rPr lang="en-US" sz="2400" dirty="0">
                <a:solidFill>
                  <a:srgbClr val="000000"/>
                </a:solidFill>
                <a:latin typeface="Arial" panose="020B0604020202020204" pitchFamily="34" charset="0"/>
                <a:cs typeface="Arial" panose="020B0604020202020204" pitchFamily="34" charset="0"/>
              </a:rPr>
              <a:t>),4);</a:t>
            </a:r>
          </a:p>
          <a:p>
            <a:r>
              <a:rPr lang="en-US" sz="2400" dirty="0">
                <a:solidFill>
                  <a:srgbClr val="000000"/>
                </a:solidFill>
                <a:latin typeface="Arial" panose="020B0604020202020204" pitchFamily="34" charset="0"/>
                <a:cs typeface="Arial" panose="020B0604020202020204" pitchFamily="34" charset="0"/>
              </a:rPr>
              <a:t>figure</a:t>
            </a:r>
          </a:p>
          <a:p>
            <a:r>
              <a:rPr lang="en-US" sz="2400" dirty="0">
                <a:solidFill>
                  <a:srgbClr val="000000"/>
                </a:solidFill>
                <a:latin typeface="Arial" panose="020B0604020202020204" pitchFamily="34" charset="0"/>
                <a:cs typeface="Arial" panose="020B0604020202020204" pitchFamily="34" charset="0"/>
              </a:rPr>
              <a:t>for </a:t>
            </a:r>
            <a:r>
              <a:rPr lang="en-US" sz="2400" dirty="0" err="1">
                <a:solidFill>
                  <a:srgbClr val="000000"/>
                </a:solidFill>
                <a:latin typeface="Arial" panose="020B0604020202020204" pitchFamily="34" charset="0"/>
                <a:cs typeface="Arial" panose="020B0604020202020204" pitchFamily="34" charset="0"/>
              </a:rPr>
              <a:t>i</a:t>
            </a:r>
            <a:r>
              <a:rPr lang="en-US" sz="2400" dirty="0">
                <a:solidFill>
                  <a:srgbClr val="000000"/>
                </a:solidFill>
                <a:latin typeface="Arial" panose="020B0604020202020204" pitchFamily="34" charset="0"/>
                <a:cs typeface="Arial" panose="020B0604020202020204" pitchFamily="34" charset="0"/>
              </a:rPr>
              <a:t> = 1:4</a:t>
            </a:r>
          </a:p>
          <a:p>
            <a:r>
              <a:rPr lang="en-US" sz="2400" dirty="0">
                <a:solidFill>
                  <a:srgbClr val="000000"/>
                </a:solidFill>
                <a:latin typeface="Arial" panose="020B0604020202020204" pitchFamily="34" charset="0"/>
                <a:cs typeface="Arial" panose="020B0604020202020204" pitchFamily="34" charset="0"/>
              </a:rPr>
              <a:t>    subplot(2,2,i)</a:t>
            </a:r>
          </a:p>
          <a:p>
            <a:r>
              <a:rPr lang="en-US" sz="2400" dirty="0">
                <a:solidFill>
                  <a:srgbClr val="000000"/>
                </a:solidFill>
                <a:latin typeface="Arial" panose="020B0604020202020204" pitchFamily="34" charset="0"/>
                <a:cs typeface="Arial" panose="020B0604020202020204" pitchFamily="34" charset="0"/>
              </a:rPr>
              <a:t>    I = </a:t>
            </a:r>
            <a:r>
              <a:rPr lang="en-US" sz="2400" dirty="0" err="1">
                <a:solidFill>
                  <a:srgbClr val="000000"/>
                </a:solidFill>
                <a:latin typeface="Arial" panose="020B0604020202020204" pitchFamily="34" charset="0"/>
                <a:cs typeface="Arial" panose="020B0604020202020204" pitchFamily="34" charset="0"/>
              </a:rPr>
              <a:t>readimage</a:t>
            </a:r>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latin typeface="Arial" panose="020B0604020202020204" pitchFamily="34" charset="0"/>
                <a:cs typeface="Arial" panose="020B0604020202020204" pitchFamily="34" charset="0"/>
              </a:rPr>
              <a:t>imdsValidation,idx</a:t>
            </a:r>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latin typeface="Arial" panose="020B0604020202020204" pitchFamily="34" charset="0"/>
                <a:cs typeface="Arial" panose="020B0604020202020204" pitchFamily="34" charset="0"/>
              </a:rPr>
              <a:t>i</a:t>
            </a:r>
            <a:r>
              <a:rPr lang="en-US" sz="2400" dirty="0">
                <a:solidFill>
                  <a:srgbClr val="000000"/>
                </a:solidFill>
                <a:latin typeface="Arial" panose="020B0604020202020204" pitchFamily="34" charset="0"/>
                <a:cs typeface="Arial" panose="020B0604020202020204" pitchFamily="34" charset="0"/>
              </a:rPr>
              <a:t>));</a:t>
            </a:r>
          </a:p>
          <a:p>
            <a:r>
              <a:rPr lang="en-US" sz="2400" dirty="0">
                <a:solidFill>
                  <a:srgbClr val="000000"/>
                </a:solidFill>
                <a:latin typeface="Arial" panose="020B0604020202020204" pitchFamily="34" charset="0"/>
                <a:cs typeface="Arial" panose="020B0604020202020204" pitchFamily="34" charset="0"/>
              </a:rPr>
              <a:t>    </a:t>
            </a:r>
            <a:r>
              <a:rPr lang="en-US" sz="2400" dirty="0" err="1">
                <a:solidFill>
                  <a:srgbClr val="000000"/>
                </a:solidFill>
                <a:latin typeface="Arial" panose="020B0604020202020204" pitchFamily="34" charset="0"/>
                <a:cs typeface="Arial" panose="020B0604020202020204" pitchFamily="34" charset="0"/>
              </a:rPr>
              <a:t>imshow</a:t>
            </a:r>
            <a:r>
              <a:rPr lang="en-US" sz="2400" dirty="0">
                <a:solidFill>
                  <a:srgbClr val="000000"/>
                </a:solidFill>
                <a:latin typeface="Arial" panose="020B0604020202020204" pitchFamily="34" charset="0"/>
                <a:cs typeface="Arial" panose="020B0604020202020204" pitchFamily="34" charset="0"/>
              </a:rPr>
              <a:t>(I)</a:t>
            </a:r>
          </a:p>
          <a:p>
            <a:r>
              <a:rPr lang="en-US" sz="2400" dirty="0">
                <a:solidFill>
                  <a:srgbClr val="000000"/>
                </a:solidFill>
                <a:latin typeface="Arial" panose="020B0604020202020204" pitchFamily="34" charset="0"/>
                <a:cs typeface="Arial" panose="020B0604020202020204" pitchFamily="34" charset="0"/>
              </a:rPr>
              <a:t>    label = </a:t>
            </a:r>
            <a:r>
              <a:rPr lang="en-US" sz="2400" dirty="0" err="1">
                <a:solidFill>
                  <a:srgbClr val="000000"/>
                </a:solidFill>
                <a:latin typeface="Arial" panose="020B0604020202020204" pitchFamily="34" charset="0"/>
                <a:cs typeface="Arial" panose="020B0604020202020204" pitchFamily="34" charset="0"/>
              </a:rPr>
              <a:t>YPred</a:t>
            </a:r>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latin typeface="Arial" panose="020B0604020202020204" pitchFamily="34" charset="0"/>
                <a:cs typeface="Arial" panose="020B0604020202020204" pitchFamily="34" charset="0"/>
              </a:rPr>
              <a:t>idx</a:t>
            </a:r>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latin typeface="Arial" panose="020B0604020202020204" pitchFamily="34" charset="0"/>
                <a:cs typeface="Arial" panose="020B0604020202020204" pitchFamily="34" charset="0"/>
              </a:rPr>
              <a:t>i</a:t>
            </a:r>
            <a:r>
              <a:rPr lang="en-US" sz="2400" dirty="0">
                <a:solidFill>
                  <a:srgbClr val="000000"/>
                </a:solidFill>
                <a:latin typeface="Arial" panose="020B0604020202020204" pitchFamily="34" charset="0"/>
                <a:cs typeface="Arial" panose="020B0604020202020204" pitchFamily="34" charset="0"/>
              </a:rPr>
              <a:t>));</a:t>
            </a:r>
          </a:p>
          <a:p>
            <a:r>
              <a:rPr lang="en-US" sz="2400" dirty="0">
                <a:solidFill>
                  <a:srgbClr val="000000"/>
                </a:solidFill>
                <a:latin typeface="Arial" panose="020B0604020202020204" pitchFamily="34" charset="0"/>
                <a:cs typeface="Arial" panose="020B0604020202020204" pitchFamily="34" charset="0"/>
              </a:rPr>
              <a:t>    title(string(label));</a:t>
            </a:r>
          </a:p>
          <a:p>
            <a:r>
              <a:rPr lang="en-US" sz="2400" dirty="0">
                <a:solidFill>
                  <a:srgbClr val="000000"/>
                </a:solidFill>
                <a:latin typeface="Arial" panose="020B0604020202020204" pitchFamily="34" charset="0"/>
                <a:cs typeface="Arial" panose="020B0604020202020204" pitchFamily="34" charset="0"/>
              </a:rPr>
              <a:t>end</a:t>
            </a:r>
          </a:p>
        </p:txBody>
      </p:sp>
      <p:pic>
        <p:nvPicPr>
          <p:cNvPr id="6" name="Picture 1" descr="C:\Users\drzha\AppData\Local\Temp\ConnectorClipboard186833696578391943\image15874613545080.png"/>
          <p:cNvPicPr>
            <a:picLocks noChangeAspect="1" noChangeArrowheads="1"/>
          </p:cNvPicPr>
          <p:nvPr/>
        </p:nvPicPr>
        <p:blipFill rotWithShape="1">
          <a:blip r:embed="rId3">
            <a:extLst>
              <a:ext uri="{28A0092B-C50C-407E-A947-70E740481C1C}">
                <a14:useLocalDpi xmlns:a14="http://schemas.microsoft.com/office/drawing/2010/main" val="0"/>
              </a:ext>
            </a:extLst>
          </a:blip>
          <a:srcRect l="14991" t="3143" r="13910" b="11658"/>
          <a:stretch/>
        </p:blipFill>
        <p:spPr bwMode="auto">
          <a:xfrm>
            <a:off x="7752184" y="2786398"/>
            <a:ext cx="4320479" cy="3882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6485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Transfer Learning Using </a:t>
            </a:r>
            <a:r>
              <a:rPr lang="en-US" sz="4000" dirty="0" err="1"/>
              <a:t>AlexNet</a:t>
            </a:r>
            <a:r>
              <a:rPr lang="en-US" sz="4000" dirty="0"/>
              <a:t>: Example </a:t>
            </a:r>
          </a:p>
        </p:txBody>
      </p:sp>
      <p:sp>
        <p:nvSpPr>
          <p:cNvPr id="4" name="Rectangle 3"/>
          <p:cNvSpPr/>
          <p:nvPr/>
        </p:nvSpPr>
        <p:spPr>
          <a:xfrm>
            <a:off x="119336" y="1340768"/>
            <a:ext cx="10585176" cy="1969770"/>
          </a:xfrm>
          <a:prstGeom prst="rect">
            <a:avLst/>
          </a:prstGeom>
        </p:spPr>
        <p:txBody>
          <a:bodyPr wrap="square">
            <a:spAutoFit/>
          </a:bodyPr>
          <a:lstStyle/>
          <a:p>
            <a:pPr algn="just">
              <a:spcBef>
                <a:spcPts val="600"/>
              </a:spcBef>
              <a:spcAft>
                <a:spcPts val="600"/>
              </a:spcAft>
            </a:pPr>
            <a:r>
              <a:rPr lang="en-US" sz="2800" dirty="0">
                <a:solidFill>
                  <a:srgbClr val="3C3C3C"/>
                </a:solidFill>
                <a:latin typeface="Times New Roman" panose="02020603050405020304" pitchFamily="18" charset="0"/>
                <a:cs typeface="Times New Roman" panose="02020603050405020304" pitchFamily="18" charset="0"/>
              </a:rPr>
              <a:t>Calculate the classification accuracy on the validation set. Accuracy is the fraction of labels that the network predicts correctly.</a:t>
            </a:r>
          </a:p>
          <a:p>
            <a:pPr algn="just">
              <a:spcBef>
                <a:spcPts val="600"/>
              </a:spcBef>
              <a:spcAft>
                <a:spcPts val="600"/>
              </a:spcAft>
            </a:pPr>
            <a:r>
              <a:rPr lang="en-US" sz="2800" dirty="0">
                <a:solidFill>
                  <a:srgbClr val="3C3C3C"/>
                </a:solidFill>
                <a:latin typeface="Times New Roman" panose="02020603050405020304" pitchFamily="18" charset="0"/>
                <a:cs typeface="Times New Roman" panose="02020603050405020304" pitchFamily="18" charset="0"/>
              </a:rPr>
              <a:t>This trained network has high accuracy. If the accuracy is not high enough using transfer learning, then try feature extraction instead.</a:t>
            </a:r>
          </a:p>
        </p:txBody>
      </p:sp>
      <p:sp>
        <p:nvSpPr>
          <p:cNvPr id="5" name="Rectangle 4"/>
          <p:cNvSpPr/>
          <p:nvPr/>
        </p:nvSpPr>
        <p:spPr>
          <a:xfrm>
            <a:off x="144015" y="3882528"/>
            <a:ext cx="6312025" cy="830997"/>
          </a:xfrm>
          <a:prstGeom prst="rect">
            <a:avLst/>
          </a:prstGeom>
        </p:spPr>
        <p:txBody>
          <a:bodyPr wrap="square">
            <a:spAutoFit/>
          </a:bodyPr>
          <a:lstStyle/>
          <a:p>
            <a:r>
              <a:rPr lang="en-US" sz="2400" dirty="0" err="1">
                <a:solidFill>
                  <a:srgbClr val="000000"/>
                </a:solidFill>
                <a:latin typeface="Arial" panose="020B0604020202020204" pitchFamily="34" charset="0"/>
                <a:cs typeface="Arial" panose="020B0604020202020204" pitchFamily="34" charset="0"/>
              </a:rPr>
              <a:t>YValidation</a:t>
            </a:r>
            <a:r>
              <a:rPr lang="en-US" sz="2400" dirty="0">
                <a:solidFill>
                  <a:srgbClr val="000000"/>
                </a:solidFill>
                <a:latin typeface="Arial" panose="020B0604020202020204" pitchFamily="34" charset="0"/>
                <a:cs typeface="Arial" panose="020B0604020202020204" pitchFamily="34" charset="0"/>
              </a:rPr>
              <a:t> = </a:t>
            </a:r>
            <a:r>
              <a:rPr lang="en-US" sz="2400" dirty="0" err="1">
                <a:solidFill>
                  <a:srgbClr val="000000"/>
                </a:solidFill>
                <a:latin typeface="Arial" panose="020B0604020202020204" pitchFamily="34" charset="0"/>
                <a:cs typeface="Arial" panose="020B0604020202020204" pitchFamily="34" charset="0"/>
              </a:rPr>
              <a:t>imdsValidation.Labels</a:t>
            </a:r>
            <a:r>
              <a:rPr lang="en-US" sz="2400" dirty="0">
                <a:solidFill>
                  <a:srgbClr val="000000"/>
                </a:solidFill>
                <a:latin typeface="Arial" panose="020B0604020202020204" pitchFamily="34" charset="0"/>
                <a:cs typeface="Arial" panose="020B0604020202020204" pitchFamily="34" charset="0"/>
              </a:rPr>
              <a:t>;</a:t>
            </a:r>
          </a:p>
          <a:p>
            <a:r>
              <a:rPr lang="en-US" sz="2400" dirty="0">
                <a:solidFill>
                  <a:srgbClr val="000000"/>
                </a:solidFill>
                <a:latin typeface="Arial" panose="020B0604020202020204" pitchFamily="34" charset="0"/>
                <a:cs typeface="Arial" panose="020B0604020202020204" pitchFamily="34" charset="0"/>
              </a:rPr>
              <a:t>accuracy = mean(</a:t>
            </a:r>
            <a:r>
              <a:rPr lang="en-US" sz="2400" dirty="0" err="1">
                <a:solidFill>
                  <a:srgbClr val="000000"/>
                </a:solidFill>
                <a:latin typeface="Arial" panose="020B0604020202020204" pitchFamily="34" charset="0"/>
                <a:cs typeface="Arial" panose="020B0604020202020204" pitchFamily="34" charset="0"/>
              </a:rPr>
              <a:t>YPred</a:t>
            </a:r>
            <a:r>
              <a:rPr lang="en-US" sz="2400" dirty="0">
                <a:solidFill>
                  <a:srgbClr val="000000"/>
                </a:solidFill>
                <a:latin typeface="Arial" panose="020B0604020202020204" pitchFamily="34" charset="0"/>
                <a:cs typeface="Arial" panose="020B0604020202020204" pitchFamily="34" charset="0"/>
              </a:rPr>
              <a:t> == </a:t>
            </a:r>
            <a:r>
              <a:rPr lang="en-US" sz="2400" dirty="0" err="1">
                <a:solidFill>
                  <a:srgbClr val="000000"/>
                </a:solidFill>
                <a:latin typeface="Arial" panose="020B0604020202020204" pitchFamily="34" charset="0"/>
                <a:cs typeface="Arial" panose="020B0604020202020204" pitchFamily="34" charset="0"/>
              </a:rPr>
              <a:t>YValidation</a:t>
            </a:r>
            <a:r>
              <a:rPr lang="en-US" sz="2400" dirty="0">
                <a:solidFill>
                  <a:srgbClr val="000000"/>
                </a:solidFill>
                <a:latin typeface="Arial" panose="020B0604020202020204" pitchFamily="34" charset="0"/>
                <a:cs typeface="Arial" panose="020B0604020202020204" pitchFamily="34" charset="0"/>
              </a:rPr>
              <a:t>)</a:t>
            </a:r>
          </a:p>
        </p:txBody>
      </p:sp>
      <p:sp>
        <p:nvSpPr>
          <p:cNvPr id="3" name="Rectangle 2"/>
          <p:cNvSpPr/>
          <p:nvPr/>
        </p:nvSpPr>
        <p:spPr>
          <a:xfrm>
            <a:off x="7536160" y="4695527"/>
            <a:ext cx="2927648" cy="461665"/>
          </a:xfrm>
          <a:prstGeom prst="rect">
            <a:avLst/>
          </a:prstGeom>
          <a:ln>
            <a:solidFill>
              <a:schemeClr val="tx1"/>
            </a:solidFill>
          </a:ln>
        </p:spPr>
        <p:txBody>
          <a:bodyPr wrap="square">
            <a:spAutoFit/>
          </a:bodyPr>
          <a:lstStyle/>
          <a:p>
            <a:r>
              <a:rPr lang="en-US" sz="2400" dirty="0">
                <a:latin typeface="Arial" panose="020B0604020202020204" pitchFamily="34" charset="0"/>
                <a:cs typeface="Arial" panose="020B0604020202020204" pitchFamily="34" charset="0"/>
              </a:rPr>
              <a:t>accuracy =  0.9500</a:t>
            </a:r>
          </a:p>
        </p:txBody>
      </p:sp>
    </p:spTree>
    <p:extLst>
      <p:ext uri="{BB962C8B-B14F-4D97-AF65-F5344CB8AC3E}">
        <p14:creationId xmlns:p14="http://schemas.microsoft.com/office/powerpoint/2010/main" val="38306930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CNN Based Deep Learning Example </a:t>
            </a:r>
          </a:p>
        </p:txBody>
      </p:sp>
      <p:pic>
        <p:nvPicPr>
          <p:cNvPr id="4" name="Picture 3"/>
          <p:cNvPicPr>
            <a:picLocks noChangeAspect="1"/>
          </p:cNvPicPr>
          <p:nvPr/>
        </p:nvPicPr>
        <p:blipFill rotWithShape="1">
          <a:blip r:embed="rId3"/>
          <a:srcRect t="6490"/>
          <a:stretch/>
        </p:blipFill>
        <p:spPr>
          <a:xfrm>
            <a:off x="190458" y="1196752"/>
            <a:ext cx="11234134" cy="5580782"/>
          </a:xfrm>
          <a:prstGeom prst="rect">
            <a:avLst/>
          </a:prstGeom>
        </p:spPr>
      </p:pic>
    </p:spTree>
    <p:extLst>
      <p:ext uri="{BB962C8B-B14F-4D97-AF65-F5344CB8AC3E}">
        <p14:creationId xmlns:p14="http://schemas.microsoft.com/office/powerpoint/2010/main" val="40125775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Deep Learning: Example… </a:t>
            </a:r>
          </a:p>
        </p:txBody>
      </p:sp>
      <p:sp>
        <p:nvSpPr>
          <p:cNvPr id="4" name="Rectangle 3"/>
          <p:cNvSpPr/>
          <p:nvPr/>
        </p:nvSpPr>
        <p:spPr>
          <a:xfrm>
            <a:off x="179559" y="1355284"/>
            <a:ext cx="9084794" cy="5632311"/>
          </a:xfrm>
          <a:prstGeom prst="rect">
            <a:avLst/>
          </a:prstGeom>
        </p:spPr>
        <p:txBody>
          <a:bodyPr wrap="square">
            <a:spAutoFit/>
          </a:bodyPr>
          <a:lstStyle/>
          <a:p>
            <a:r>
              <a:rPr lang="en-US" sz="2400" dirty="0">
                <a:solidFill>
                  <a:srgbClr val="00B050"/>
                </a:solidFill>
                <a:latin typeface="Arial" panose="020B0604020202020204" pitchFamily="34" charset="0"/>
                <a:cs typeface="Arial" panose="020B0604020202020204" pitchFamily="34" charset="0"/>
              </a:rPr>
              <a:t>% Hand written digits recognition using deep learning</a:t>
            </a:r>
          </a:p>
          <a:p>
            <a:r>
              <a:rPr lang="en-US" sz="2400" dirty="0" err="1">
                <a:latin typeface="Arial" panose="020B0604020202020204" pitchFamily="34" charset="0"/>
                <a:cs typeface="Arial" panose="020B0604020202020204" pitchFamily="34" charset="0"/>
              </a:rPr>
              <a:t>clc</a:t>
            </a:r>
            <a:r>
              <a:rPr lang="en-US" sz="2400" dirty="0">
                <a:latin typeface="Arial" panose="020B0604020202020204" pitchFamily="34" charset="0"/>
                <a:cs typeface="Arial" panose="020B0604020202020204" pitchFamily="34" charset="0"/>
              </a:rPr>
              <a:t>; clear; close all;</a:t>
            </a:r>
          </a:p>
          <a:p>
            <a:r>
              <a:rPr lang="en-US" sz="2400" dirty="0">
                <a:solidFill>
                  <a:srgbClr val="00B050"/>
                </a:solidFill>
                <a:latin typeface="Arial" panose="020B0604020202020204" pitchFamily="34" charset="0"/>
                <a:cs typeface="Arial" panose="020B0604020202020204" pitchFamily="34" charset="0"/>
              </a:rPr>
              <a:t>% Load and Explore Image Data</a:t>
            </a:r>
          </a:p>
          <a:p>
            <a:r>
              <a:rPr lang="en-US" sz="2400" dirty="0" err="1">
                <a:latin typeface="Arial" panose="020B0604020202020204" pitchFamily="34" charset="0"/>
                <a:cs typeface="Arial" panose="020B0604020202020204" pitchFamily="34" charset="0"/>
              </a:rPr>
              <a:t>digitDatasetPath</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fullfile</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matlabroot</a:t>
            </a:r>
            <a:r>
              <a:rPr lang="en-US" sz="2400" dirty="0">
                <a:latin typeface="Arial" panose="020B0604020202020204" pitchFamily="34" charset="0"/>
                <a:cs typeface="Arial" panose="020B0604020202020204" pitchFamily="34" charset="0"/>
              </a:rPr>
              <a:t>,'toolbox','</a:t>
            </a:r>
            <a:r>
              <a:rPr lang="en-US" sz="2400" dirty="0" err="1">
                <a:latin typeface="Arial" panose="020B0604020202020204" pitchFamily="34" charset="0"/>
                <a:cs typeface="Arial" panose="020B0604020202020204" pitchFamily="34" charset="0"/>
              </a:rPr>
              <a:t>nnet</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nndemos</a:t>
            </a:r>
            <a:r>
              <a:rPr lang="en-US" sz="24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nndatasets</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DigitDataset</a:t>
            </a:r>
            <a:r>
              <a:rPr lang="en-US" sz="2400" dirty="0">
                <a:latin typeface="Arial" panose="020B0604020202020204" pitchFamily="34" charset="0"/>
                <a:cs typeface="Arial" panose="020B0604020202020204" pitchFamily="34" charset="0"/>
              </a:rPr>
              <a:t>');</a:t>
            </a:r>
          </a:p>
          <a:p>
            <a:r>
              <a:rPr lang="en-US" sz="2400" dirty="0" err="1">
                <a:latin typeface="Arial" panose="020B0604020202020204" pitchFamily="34" charset="0"/>
                <a:cs typeface="Arial" panose="020B0604020202020204" pitchFamily="34" charset="0"/>
              </a:rPr>
              <a:t>imds</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imageDatastore</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digitDatasetPath</a:t>
            </a:r>
            <a:r>
              <a:rPr lang="en-US" sz="24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IncludeSubfolders</a:t>
            </a:r>
            <a:r>
              <a:rPr lang="en-US" sz="2400" dirty="0">
                <a:latin typeface="Arial" panose="020B0604020202020204" pitchFamily="34" charset="0"/>
                <a:cs typeface="Arial" panose="020B0604020202020204" pitchFamily="34" charset="0"/>
              </a:rPr>
              <a:t>',true,'</a:t>
            </a:r>
            <a:r>
              <a:rPr lang="en-US" sz="2400" dirty="0" err="1">
                <a:latin typeface="Arial" panose="020B0604020202020204" pitchFamily="34" charset="0"/>
                <a:cs typeface="Arial" panose="020B0604020202020204" pitchFamily="34" charset="0"/>
              </a:rPr>
              <a:t>LabelSource</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foldernames</a:t>
            </a:r>
            <a:r>
              <a:rPr lang="en-US" sz="2400" dirty="0">
                <a:latin typeface="Arial" panose="020B0604020202020204" pitchFamily="34" charset="0"/>
                <a:cs typeface="Arial" panose="020B0604020202020204" pitchFamily="34" charset="0"/>
              </a:rPr>
              <a:t>');</a:t>
            </a:r>
          </a:p>
          <a:p>
            <a:r>
              <a:rPr lang="en-US" sz="2400" dirty="0" err="1">
                <a:latin typeface="Arial" panose="020B0604020202020204" pitchFamily="34" charset="0"/>
                <a:cs typeface="Arial" panose="020B0604020202020204" pitchFamily="34" charset="0"/>
              </a:rPr>
              <a:t>dataSize</a:t>
            </a:r>
            <a:r>
              <a:rPr lang="en-US" sz="2400" dirty="0">
                <a:latin typeface="Arial" panose="020B0604020202020204" pitchFamily="34" charset="0"/>
                <a:cs typeface="Arial" panose="020B0604020202020204" pitchFamily="34" charset="0"/>
              </a:rPr>
              <a:t> = size(</a:t>
            </a:r>
            <a:r>
              <a:rPr lang="en-US" sz="2400" dirty="0" err="1">
                <a:latin typeface="Arial" panose="020B0604020202020204" pitchFamily="34" charset="0"/>
                <a:cs typeface="Arial" panose="020B0604020202020204" pitchFamily="34" charset="0"/>
              </a:rPr>
              <a:t>imds.Files</a:t>
            </a:r>
            <a:r>
              <a:rPr lang="en-US" sz="2400" dirty="0">
                <a:latin typeface="Arial" panose="020B0604020202020204" pitchFamily="34" charset="0"/>
                <a:cs typeface="Arial" panose="020B0604020202020204" pitchFamily="34" charset="0"/>
              </a:rPr>
              <a:t>)</a:t>
            </a:r>
          </a:p>
          <a:p>
            <a:r>
              <a:rPr lang="en-US" sz="2400" dirty="0">
                <a:solidFill>
                  <a:srgbClr val="00B050"/>
                </a:solidFill>
                <a:latin typeface="Arial" panose="020B0604020202020204" pitchFamily="34" charset="0"/>
                <a:cs typeface="Arial" panose="020B0604020202020204" pitchFamily="34" charset="0"/>
              </a:rPr>
              <a:t>% Display some of the images in the </a:t>
            </a:r>
            <a:r>
              <a:rPr lang="en-US" sz="2400" dirty="0" err="1">
                <a:solidFill>
                  <a:srgbClr val="00B050"/>
                </a:solidFill>
                <a:latin typeface="Arial" panose="020B0604020202020204" pitchFamily="34" charset="0"/>
                <a:cs typeface="Arial" panose="020B0604020202020204" pitchFamily="34" charset="0"/>
              </a:rPr>
              <a:t>datastore</a:t>
            </a:r>
            <a:r>
              <a:rPr lang="en-US" sz="2400" dirty="0">
                <a:solidFill>
                  <a:srgbClr val="00B050"/>
                </a:solidFill>
                <a:latin typeface="Arial" panose="020B0604020202020204" pitchFamily="34" charset="0"/>
                <a:cs typeface="Arial" panose="020B0604020202020204" pitchFamily="34" charset="0"/>
              </a:rPr>
              <a:t>.</a:t>
            </a:r>
          </a:p>
          <a:p>
            <a:r>
              <a:rPr lang="en-US" sz="2400" dirty="0">
                <a:latin typeface="Arial" panose="020B0604020202020204" pitchFamily="34" charset="0"/>
                <a:cs typeface="Arial" panose="020B0604020202020204" pitchFamily="34" charset="0"/>
              </a:rPr>
              <a:t>figure;</a:t>
            </a:r>
          </a:p>
          <a:p>
            <a:r>
              <a:rPr lang="en-US" sz="2400" dirty="0">
                <a:latin typeface="Arial" panose="020B0604020202020204" pitchFamily="34" charset="0"/>
                <a:cs typeface="Arial" panose="020B0604020202020204" pitchFamily="34" charset="0"/>
              </a:rPr>
              <a:t>perm = </a:t>
            </a:r>
            <a:r>
              <a:rPr lang="en-US" sz="2400" dirty="0" err="1">
                <a:latin typeface="Arial" panose="020B0604020202020204" pitchFamily="34" charset="0"/>
                <a:cs typeface="Arial" panose="020B0604020202020204" pitchFamily="34" charset="0"/>
              </a:rPr>
              <a:t>randperm</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dataSize</a:t>
            </a:r>
            <a:r>
              <a:rPr lang="en-US" sz="2400" dirty="0">
                <a:latin typeface="Arial" panose="020B0604020202020204" pitchFamily="34" charset="0"/>
                <a:cs typeface="Arial" panose="020B0604020202020204" pitchFamily="34" charset="0"/>
              </a:rPr>
              <a:t>(1), 20);</a:t>
            </a:r>
          </a:p>
          <a:p>
            <a:r>
              <a:rPr lang="en-US" sz="2400" dirty="0">
                <a:latin typeface="Arial" panose="020B0604020202020204" pitchFamily="34" charset="0"/>
                <a:cs typeface="Arial" panose="020B0604020202020204" pitchFamily="34" charset="0"/>
              </a:rPr>
              <a:t>for </a:t>
            </a:r>
            <a:r>
              <a:rPr lang="en-US" sz="2400" dirty="0" err="1">
                <a:latin typeface="Arial" panose="020B0604020202020204" pitchFamily="34" charset="0"/>
                <a:cs typeface="Arial" panose="020B0604020202020204" pitchFamily="34" charset="0"/>
              </a:rPr>
              <a:t>i</a:t>
            </a:r>
            <a:r>
              <a:rPr lang="en-US" sz="2400" dirty="0">
                <a:latin typeface="Arial" panose="020B0604020202020204" pitchFamily="34" charset="0"/>
                <a:cs typeface="Arial" panose="020B0604020202020204" pitchFamily="34" charset="0"/>
              </a:rPr>
              <a:t> = 1:20</a:t>
            </a:r>
          </a:p>
          <a:p>
            <a:r>
              <a:rPr lang="en-US" sz="2400" dirty="0">
                <a:latin typeface="Arial" panose="020B0604020202020204" pitchFamily="34" charset="0"/>
                <a:cs typeface="Arial" panose="020B0604020202020204" pitchFamily="34" charset="0"/>
              </a:rPr>
              <a:t>    subplot(4,5,i);</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imshow</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imds.Files</a:t>
            </a:r>
            <a:r>
              <a:rPr lang="en-US" sz="2400" dirty="0">
                <a:latin typeface="Arial" panose="020B0604020202020204" pitchFamily="34" charset="0"/>
                <a:cs typeface="Arial" panose="020B0604020202020204" pitchFamily="34" charset="0"/>
              </a:rPr>
              <a:t>{perm(</a:t>
            </a:r>
            <a:r>
              <a:rPr lang="en-US" sz="2400" dirty="0" err="1">
                <a:latin typeface="Arial" panose="020B0604020202020204" pitchFamily="34" charset="0"/>
                <a:cs typeface="Arial" panose="020B0604020202020204" pitchFamily="34" charset="0"/>
              </a:rPr>
              <a:t>i</a:t>
            </a:r>
            <a:r>
              <a:rPr lang="en-US" sz="2400" dirty="0">
                <a:latin typeface="Arial" panose="020B0604020202020204" pitchFamily="34" charset="0"/>
                <a:cs typeface="Arial" panose="020B0604020202020204" pitchFamily="34" charset="0"/>
              </a:rPr>
              <a:t>)});</a:t>
            </a:r>
          </a:p>
          <a:p>
            <a:r>
              <a:rPr lang="en-US" sz="2400" dirty="0">
                <a:latin typeface="Arial" panose="020B0604020202020204" pitchFamily="34" charset="0"/>
                <a:cs typeface="Arial" panose="020B0604020202020204" pitchFamily="34" charset="0"/>
              </a:rPr>
              <a:t>end</a:t>
            </a:r>
          </a:p>
        </p:txBody>
      </p:sp>
      <p:pic>
        <p:nvPicPr>
          <p:cNvPr id="2051" name="Picture 3" descr="C:\Users\drzha\AppData\Local\Temp\ConnectorClipboard8626753105837049223\image15885008829180.png"/>
          <p:cNvPicPr>
            <a:picLocks noChangeAspect="1" noChangeArrowheads="1"/>
          </p:cNvPicPr>
          <p:nvPr/>
        </p:nvPicPr>
        <p:blipFill rotWithShape="1">
          <a:blip r:embed="rId3">
            <a:extLst>
              <a:ext uri="{28A0092B-C50C-407E-A947-70E740481C1C}">
                <a14:useLocalDpi xmlns:a14="http://schemas.microsoft.com/office/drawing/2010/main" val="0"/>
              </a:ext>
            </a:extLst>
          </a:blip>
          <a:srcRect l="12387" t="7340" r="9163" b="10080"/>
          <a:stretch/>
        </p:blipFill>
        <p:spPr bwMode="auto">
          <a:xfrm>
            <a:off x="7968208" y="3501008"/>
            <a:ext cx="4104456" cy="324036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5"/>
          <p:cNvSpPr>
            <a:spLocks noChangeArrowheads="1"/>
          </p:cNvSpPr>
          <p:nvPr/>
        </p:nvSpPr>
        <p:spPr bwMode="auto">
          <a:xfrm>
            <a:off x="9696400" y="2381979"/>
            <a:ext cx="2304256" cy="83099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err="1">
                <a:latin typeface="Arial" panose="020B0604020202020204" pitchFamily="34" charset="0"/>
                <a:cs typeface="Arial" panose="020B0604020202020204" pitchFamily="34" charset="0"/>
              </a:rPr>
              <a:t>dataSize</a:t>
            </a: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a:t>
            </a:r>
            <a:r>
              <a:rPr kumimoji="0" lang="en-US" altLang="en-US" sz="2400" b="0" i="0" u="none" strike="noStrike" cap="none" normalizeH="0" baseline="0" dirty="0">
                <a:ln>
                  <a:noFill/>
                </a:ln>
                <a:solidFill>
                  <a:srgbClr val="B3B3B3"/>
                </a:solidFill>
                <a:effectLst/>
                <a:latin typeface="Arial" panose="020B0604020202020204" pitchFamily="34" charset="0"/>
                <a:cs typeface="Arial" panose="020B0604020202020204" pitchFamily="34" charset="0"/>
              </a:rPr>
              <a:t>1×2</a:t>
            </a: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10000 1 </a:t>
            </a:r>
          </a:p>
        </p:txBody>
      </p:sp>
    </p:spTree>
    <p:extLst>
      <p:ext uri="{BB962C8B-B14F-4D97-AF65-F5344CB8AC3E}">
        <p14:creationId xmlns:p14="http://schemas.microsoft.com/office/powerpoint/2010/main" val="12957264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Deep Learning: Example… </a:t>
            </a:r>
          </a:p>
        </p:txBody>
      </p:sp>
      <p:sp>
        <p:nvSpPr>
          <p:cNvPr id="4" name="Rectangle 3"/>
          <p:cNvSpPr/>
          <p:nvPr/>
        </p:nvSpPr>
        <p:spPr>
          <a:xfrm>
            <a:off x="179559" y="1355284"/>
            <a:ext cx="7741322" cy="2677656"/>
          </a:xfrm>
          <a:prstGeom prst="rect">
            <a:avLst/>
          </a:prstGeom>
        </p:spPr>
        <p:txBody>
          <a:bodyPr wrap="square">
            <a:spAutoFit/>
          </a:bodyPr>
          <a:lstStyle/>
          <a:p>
            <a:r>
              <a:rPr lang="en-US" sz="2400" dirty="0" err="1">
                <a:latin typeface="Arial" panose="020B0604020202020204" pitchFamily="34" charset="0"/>
                <a:cs typeface="Arial" panose="020B0604020202020204" pitchFamily="34" charset="0"/>
              </a:rPr>
              <a:t>labelCount</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countEachLabel</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imds</a:t>
            </a:r>
            <a:r>
              <a:rPr lang="en-US" sz="2400" dirty="0">
                <a:latin typeface="Arial" panose="020B0604020202020204" pitchFamily="34" charset="0"/>
                <a:cs typeface="Arial" panose="020B0604020202020204" pitchFamily="34" charset="0"/>
              </a:rPr>
              <a:t>)</a:t>
            </a:r>
          </a:p>
          <a:p>
            <a:r>
              <a:rPr lang="en-US" sz="2400" dirty="0" err="1">
                <a:latin typeface="Arial" panose="020B0604020202020204" pitchFamily="34" charset="0"/>
                <a:cs typeface="Arial" panose="020B0604020202020204" pitchFamily="34" charset="0"/>
              </a:rPr>
              <a:t>img</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readimage</a:t>
            </a:r>
            <a:r>
              <a:rPr lang="en-US" sz="2400" dirty="0">
                <a:latin typeface="Arial" panose="020B0604020202020204" pitchFamily="34" charset="0"/>
                <a:cs typeface="Arial" panose="020B0604020202020204" pitchFamily="34" charset="0"/>
              </a:rPr>
              <a:t>(imds,1);</a:t>
            </a:r>
          </a:p>
          <a:p>
            <a:r>
              <a:rPr lang="en-US" sz="2400" dirty="0" err="1">
                <a:latin typeface="Arial" panose="020B0604020202020204" pitchFamily="34" charset="0"/>
                <a:cs typeface="Arial" panose="020B0604020202020204" pitchFamily="34" charset="0"/>
              </a:rPr>
              <a:t>imageSize</a:t>
            </a:r>
            <a:r>
              <a:rPr lang="en-US" sz="2400" dirty="0">
                <a:latin typeface="Arial" panose="020B0604020202020204" pitchFamily="34" charset="0"/>
                <a:cs typeface="Arial" panose="020B0604020202020204" pitchFamily="34" charset="0"/>
              </a:rPr>
              <a:t> = size(</a:t>
            </a:r>
            <a:r>
              <a:rPr lang="en-US" sz="2400" dirty="0" err="1">
                <a:latin typeface="Arial" panose="020B0604020202020204" pitchFamily="34" charset="0"/>
                <a:cs typeface="Arial" panose="020B0604020202020204" pitchFamily="34" charset="0"/>
              </a:rPr>
              <a:t>img</a:t>
            </a:r>
            <a:r>
              <a:rPr lang="en-US" sz="2400" dirty="0">
                <a:latin typeface="Arial" panose="020B0604020202020204" pitchFamily="34" charset="0"/>
                <a:cs typeface="Arial" panose="020B0604020202020204" pitchFamily="34" charset="0"/>
              </a:rPr>
              <a:t>)</a:t>
            </a:r>
          </a:p>
          <a:p>
            <a:r>
              <a:rPr lang="en-US" sz="2400" dirty="0">
                <a:solidFill>
                  <a:srgbClr val="00B050"/>
                </a:solidFill>
                <a:latin typeface="Arial" panose="020B0604020202020204" pitchFamily="34" charset="0"/>
                <a:cs typeface="Arial" panose="020B0604020202020204" pitchFamily="34" charset="0"/>
              </a:rPr>
              <a:t>%Specify Training and Validation Sets</a:t>
            </a:r>
          </a:p>
          <a:p>
            <a:r>
              <a:rPr lang="en-US" sz="2400" dirty="0" err="1">
                <a:latin typeface="Arial" panose="020B0604020202020204" pitchFamily="34" charset="0"/>
                <a:cs typeface="Arial" panose="020B0604020202020204" pitchFamily="34" charset="0"/>
              </a:rPr>
              <a:t>numTrainFiles</a:t>
            </a:r>
            <a:r>
              <a:rPr lang="en-US" sz="2400" dirty="0">
                <a:latin typeface="Arial" panose="020B0604020202020204" pitchFamily="34" charset="0"/>
                <a:cs typeface="Arial" panose="020B0604020202020204" pitchFamily="34" charset="0"/>
              </a:rPr>
              <a:t> = 750;</a:t>
            </a:r>
          </a:p>
          <a:p>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imdsTrain,imdsValidation</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splitEachLabel</a:t>
            </a:r>
            <a:r>
              <a:rPr lang="en-US" sz="2400" dirty="0">
                <a:latin typeface="Arial" panose="020B0604020202020204" pitchFamily="34" charset="0"/>
                <a:cs typeface="Arial" panose="020B0604020202020204" pitchFamily="34" charset="0"/>
              </a:rPr>
              <a:t>(imds,</a:t>
            </a:r>
            <a:r>
              <a:rPr lang="en-US" sz="2400" dirty="0" err="1">
                <a:latin typeface="Arial" panose="020B0604020202020204" pitchFamily="34" charset="0"/>
                <a:cs typeface="Arial" panose="020B0604020202020204" pitchFamily="34" charset="0"/>
              </a:rPr>
              <a:t>numTrainFiles</a:t>
            </a:r>
            <a:r>
              <a:rPr lang="en-US" sz="2400" dirty="0">
                <a:latin typeface="Arial" panose="020B0604020202020204" pitchFamily="34" charset="0"/>
                <a:cs typeface="Arial" panose="020B0604020202020204" pitchFamily="34" charset="0"/>
              </a:rPr>
              <a:t>,'randomize');</a:t>
            </a:r>
          </a:p>
        </p:txBody>
      </p:sp>
      <p:graphicFrame>
        <p:nvGraphicFramePr>
          <p:cNvPr id="3" name="Table 2"/>
          <p:cNvGraphicFramePr>
            <a:graphicFrameLocks noGrp="1"/>
          </p:cNvGraphicFramePr>
          <p:nvPr>
            <p:extLst>
              <p:ext uri="{D42A27DB-BD31-4B8C-83A1-F6EECF244321}">
                <p14:modId xmlns:p14="http://schemas.microsoft.com/office/powerpoint/2010/main" val="2086242254"/>
              </p:ext>
            </p:extLst>
          </p:nvPr>
        </p:nvGraphicFramePr>
        <p:xfrm>
          <a:off x="10272465" y="1312686"/>
          <a:ext cx="1440159" cy="5500690"/>
        </p:xfrm>
        <a:graphic>
          <a:graphicData uri="http://schemas.openxmlformats.org/drawingml/2006/table">
            <a:tbl>
              <a:tblPr/>
              <a:tblGrid>
                <a:gridCol w="266117">
                  <a:extLst>
                    <a:ext uri="{9D8B030D-6E8A-4147-A177-3AD203B41FA5}">
                      <a16:colId xmlns:a16="http://schemas.microsoft.com/office/drawing/2014/main" val="892325159"/>
                    </a:ext>
                  </a:extLst>
                </a:gridCol>
                <a:gridCol w="587021">
                  <a:extLst>
                    <a:ext uri="{9D8B030D-6E8A-4147-A177-3AD203B41FA5}">
                      <a16:colId xmlns:a16="http://schemas.microsoft.com/office/drawing/2014/main" val="2999101556"/>
                    </a:ext>
                  </a:extLst>
                </a:gridCol>
                <a:gridCol w="587021">
                  <a:extLst>
                    <a:ext uri="{9D8B030D-6E8A-4147-A177-3AD203B41FA5}">
                      <a16:colId xmlns:a16="http://schemas.microsoft.com/office/drawing/2014/main" val="1254718463"/>
                    </a:ext>
                  </a:extLst>
                </a:gridCol>
              </a:tblGrid>
              <a:tr h="461890">
                <a:tc>
                  <a:txBody>
                    <a:bodyPr/>
                    <a:lstStyle/>
                    <a:p>
                      <a:pPr algn="l"/>
                      <a:r>
                        <a:rPr lang="en-US" sz="1400">
                          <a:solidFill>
                            <a:srgbClr val="808080"/>
                          </a:solidFill>
                          <a:effectLst/>
                          <a:latin typeface="Arial" panose="020B0604020202020204" pitchFamily="34" charset="0"/>
                        </a:rPr>
                        <a:t> </a:t>
                      </a:r>
                    </a:p>
                  </a:txBody>
                  <a:tcPr marL="14996" marR="14996" marT="14996" marB="1499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sz="1400">
                          <a:solidFill>
                            <a:srgbClr val="808080"/>
                          </a:solidFill>
                          <a:effectLst/>
                          <a:latin typeface="Arial" panose="020B0604020202020204" pitchFamily="34" charset="0"/>
                        </a:rPr>
                        <a:t>Label</a:t>
                      </a:r>
                    </a:p>
                  </a:txBody>
                  <a:tcPr marL="14996" marR="14996" marT="14996" marB="1499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sz="1400">
                          <a:solidFill>
                            <a:srgbClr val="808080"/>
                          </a:solidFill>
                          <a:effectLst/>
                          <a:latin typeface="Arial" panose="020B0604020202020204" pitchFamily="34" charset="0"/>
                        </a:rPr>
                        <a:t>Count</a:t>
                      </a:r>
                    </a:p>
                  </a:txBody>
                  <a:tcPr marL="14996" marR="14996" marT="14996" marB="1499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extLst>
                  <a:ext uri="{0D108BD9-81ED-4DB2-BD59-A6C34878D82A}">
                    <a16:rowId xmlns:a16="http://schemas.microsoft.com/office/drawing/2014/main" val="3259496458"/>
                  </a:ext>
                </a:extLst>
              </a:tr>
              <a:tr h="503880">
                <a:tc>
                  <a:txBody>
                    <a:bodyPr/>
                    <a:lstStyle/>
                    <a:p>
                      <a:pPr algn="l"/>
                      <a:r>
                        <a:rPr lang="en-US" sz="1400">
                          <a:solidFill>
                            <a:srgbClr val="808080"/>
                          </a:solidFill>
                          <a:effectLst/>
                          <a:latin typeface="Arial" panose="020B0604020202020204" pitchFamily="34" charset="0"/>
                        </a:rPr>
                        <a:t>1</a:t>
                      </a:r>
                    </a:p>
                  </a:txBody>
                  <a:tcPr marL="14996" marR="14996" marT="14996" marB="1499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l"/>
                      <a:r>
                        <a:rPr lang="en-US" sz="1400" dirty="0">
                          <a:effectLst/>
                          <a:latin typeface="Arial" panose="020B0604020202020204" pitchFamily="34" charset="0"/>
                        </a:rPr>
                        <a:t>0</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a:r>
                        <a:rPr lang="en-US" sz="1400">
                          <a:effectLst/>
                          <a:latin typeface="Arial" panose="020B0604020202020204" pitchFamily="34" charset="0"/>
                        </a:rPr>
                        <a:t>1000</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853938931"/>
                  </a:ext>
                </a:extLst>
              </a:tr>
              <a:tr h="503880">
                <a:tc>
                  <a:txBody>
                    <a:bodyPr/>
                    <a:lstStyle/>
                    <a:p>
                      <a:pPr algn="l"/>
                      <a:r>
                        <a:rPr lang="en-US" sz="1400">
                          <a:solidFill>
                            <a:srgbClr val="808080"/>
                          </a:solidFill>
                          <a:effectLst/>
                          <a:latin typeface="Arial" panose="020B0604020202020204" pitchFamily="34" charset="0"/>
                        </a:rPr>
                        <a:t>2</a:t>
                      </a:r>
                    </a:p>
                  </a:txBody>
                  <a:tcPr marL="14996" marR="14996" marT="14996" marB="1499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l"/>
                      <a:r>
                        <a:rPr lang="en-US" sz="1400">
                          <a:effectLst/>
                          <a:latin typeface="Arial" panose="020B0604020202020204" pitchFamily="34" charset="0"/>
                        </a:rPr>
                        <a:t>1</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a:r>
                        <a:rPr lang="en-US" sz="1400">
                          <a:effectLst/>
                          <a:latin typeface="Arial" panose="020B0604020202020204" pitchFamily="34" charset="0"/>
                        </a:rPr>
                        <a:t>1000</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909939260"/>
                  </a:ext>
                </a:extLst>
              </a:tr>
              <a:tr h="503880">
                <a:tc>
                  <a:txBody>
                    <a:bodyPr/>
                    <a:lstStyle/>
                    <a:p>
                      <a:pPr algn="l"/>
                      <a:r>
                        <a:rPr lang="en-US" sz="1400">
                          <a:solidFill>
                            <a:srgbClr val="808080"/>
                          </a:solidFill>
                          <a:effectLst/>
                          <a:latin typeface="Arial" panose="020B0604020202020204" pitchFamily="34" charset="0"/>
                        </a:rPr>
                        <a:t>3</a:t>
                      </a:r>
                    </a:p>
                  </a:txBody>
                  <a:tcPr marL="14996" marR="14996" marT="14996" marB="1499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l"/>
                      <a:r>
                        <a:rPr lang="en-US" sz="1400">
                          <a:effectLst/>
                          <a:latin typeface="Arial" panose="020B0604020202020204" pitchFamily="34" charset="0"/>
                        </a:rPr>
                        <a:t>2</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a:r>
                        <a:rPr lang="en-US" sz="1400">
                          <a:effectLst/>
                          <a:latin typeface="Arial" panose="020B0604020202020204" pitchFamily="34" charset="0"/>
                        </a:rPr>
                        <a:t>1000</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23820192"/>
                  </a:ext>
                </a:extLst>
              </a:tr>
              <a:tr h="503880">
                <a:tc>
                  <a:txBody>
                    <a:bodyPr/>
                    <a:lstStyle/>
                    <a:p>
                      <a:pPr algn="l"/>
                      <a:r>
                        <a:rPr lang="en-US" sz="1400">
                          <a:solidFill>
                            <a:srgbClr val="808080"/>
                          </a:solidFill>
                          <a:effectLst/>
                          <a:latin typeface="Arial" panose="020B0604020202020204" pitchFamily="34" charset="0"/>
                        </a:rPr>
                        <a:t>4</a:t>
                      </a:r>
                    </a:p>
                  </a:txBody>
                  <a:tcPr marL="14996" marR="14996" marT="14996" marB="1499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l"/>
                      <a:r>
                        <a:rPr lang="en-US" sz="1400">
                          <a:effectLst/>
                          <a:latin typeface="Arial" panose="020B0604020202020204" pitchFamily="34" charset="0"/>
                        </a:rPr>
                        <a:t>3</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a:r>
                        <a:rPr lang="en-US" sz="1400">
                          <a:effectLst/>
                          <a:latin typeface="Arial" panose="020B0604020202020204" pitchFamily="34" charset="0"/>
                        </a:rPr>
                        <a:t>1000</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936234205"/>
                  </a:ext>
                </a:extLst>
              </a:tr>
              <a:tr h="503880">
                <a:tc>
                  <a:txBody>
                    <a:bodyPr/>
                    <a:lstStyle/>
                    <a:p>
                      <a:pPr algn="l"/>
                      <a:r>
                        <a:rPr lang="en-US" sz="1400">
                          <a:solidFill>
                            <a:srgbClr val="808080"/>
                          </a:solidFill>
                          <a:effectLst/>
                          <a:latin typeface="Arial" panose="020B0604020202020204" pitchFamily="34" charset="0"/>
                        </a:rPr>
                        <a:t>5</a:t>
                      </a:r>
                    </a:p>
                  </a:txBody>
                  <a:tcPr marL="14996" marR="14996" marT="14996" marB="1499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l"/>
                      <a:r>
                        <a:rPr lang="en-US" sz="1400">
                          <a:effectLst/>
                          <a:latin typeface="Arial" panose="020B0604020202020204" pitchFamily="34" charset="0"/>
                        </a:rPr>
                        <a:t>4</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a:r>
                        <a:rPr lang="en-US" sz="1400">
                          <a:effectLst/>
                          <a:latin typeface="Arial" panose="020B0604020202020204" pitchFamily="34" charset="0"/>
                        </a:rPr>
                        <a:t>1000</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731724671"/>
                  </a:ext>
                </a:extLst>
              </a:tr>
              <a:tr h="503880">
                <a:tc>
                  <a:txBody>
                    <a:bodyPr/>
                    <a:lstStyle/>
                    <a:p>
                      <a:pPr algn="l"/>
                      <a:r>
                        <a:rPr lang="en-US" sz="1400">
                          <a:solidFill>
                            <a:srgbClr val="808080"/>
                          </a:solidFill>
                          <a:effectLst/>
                          <a:latin typeface="Arial" panose="020B0604020202020204" pitchFamily="34" charset="0"/>
                        </a:rPr>
                        <a:t>6</a:t>
                      </a:r>
                    </a:p>
                  </a:txBody>
                  <a:tcPr marL="14996" marR="14996" marT="14996" marB="1499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l"/>
                      <a:r>
                        <a:rPr lang="en-US" sz="1400">
                          <a:effectLst/>
                          <a:latin typeface="Arial" panose="020B0604020202020204" pitchFamily="34" charset="0"/>
                        </a:rPr>
                        <a:t>5</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a:r>
                        <a:rPr lang="en-US" sz="1400">
                          <a:effectLst/>
                          <a:latin typeface="Arial" panose="020B0604020202020204" pitchFamily="34" charset="0"/>
                        </a:rPr>
                        <a:t>1000</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628000937"/>
                  </a:ext>
                </a:extLst>
              </a:tr>
              <a:tr h="503880">
                <a:tc>
                  <a:txBody>
                    <a:bodyPr/>
                    <a:lstStyle/>
                    <a:p>
                      <a:pPr algn="l"/>
                      <a:r>
                        <a:rPr lang="en-US" sz="1400">
                          <a:solidFill>
                            <a:srgbClr val="808080"/>
                          </a:solidFill>
                          <a:effectLst/>
                          <a:latin typeface="Arial" panose="020B0604020202020204" pitchFamily="34" charset="0"/>
                        </a:rPr>
                        <a:t>7</a:t>
                      </a:r>
                    </a:p>
                  </a:txBody>
                  <a:tcPr marL="14996" marR="14996" marT="14996" marB="1499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l"/>
                      <a:r>
                        <a:rPr lang="en-US" sz="1400">
                          <a:effectLst/>
                          <a:latin typeface="Arial" panose="020B0604020202020204" pitchFamily="34" charset="0"/>
                        </a:rPr>
                        <a:t>6</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a:r>
                        <a:rPr lang="en-US" sz="1400">
                          <a:effectLst/>
                          <a:latin typeface="Arial" panose="020B0604020202020204" pitchFamily="34" charset="0"/>
                        </a:rPr>
                        <a:t>1000</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69140755"/>
                  </a:ext>
                </a:extLst>
              </a:tr>
              <a:tr h="503880">
                <a:tc>
                  <a:txBody>
                    <a:bodyPr/>
                    <a:lstStyle/>
                    <a:p>
                      <a:pPr algn="l"/>
                      <a:r>
                        <a:rPr lang="en-US" sz="1400">
                          <a:solidFill>
                            <a:srgbClr val="808080"/>
                          </a:solidFill>
                          <a:effectLst/>
                          <a:latin typeface="Arial" panose="020B0604020202020204" pitchFamily="34" charset="0"/>
                        </a:rPr>
                        <a:t>8</a:t>
                      </a:r>
                    </a:p>
                  </a:txBody>
                  <a:tcPr marL="14996" marR="14996" marT="14996" marB="1499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l"/>
                      <a:r>
                        <a:rPr lang="en-US" sz="1400">
                          <a:effectLst/>
                          <a:latin typeface="Arial" panose="020B0604020202020204" pitchFamily="34" charset="0"/>
                        </a:rPr>
                        <a:t>7</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a:r>
                        <a:rPr lang="en-US" sz="1400">
                          <a:effectLst/>
                          <a:latin typeface="Arial" panose="020B0604020202020204" pitchFamily="34" charset="0"/>
                        </a:rPr>
                        <a:t>1000</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90076444"/>
                  </a:ext>
                </a:extLst>
              </a:tr>
              <a:tr h="503880">
                <a:tc>
                  <a:txBody>
                    <a:bodyPr/>
                    <a:lstStyle/>
                    <a:p>
                      <a:pPr algn="l"/>
                      <a:r>
                        <a:rPr lang="en-US" sz="1400">
                          <a:solidFill>
                            <a:srgbClr val="808080"/>
                          </a:solidFill>
                          <a:effectLst/>
                          <a:latin typeface="Arial" panose="020B0604020202020204" pitchFamily="34" charset="0"/>
                        </a:rPr>
                        <a:t>9</a:t>
                      </a:r>
                    </a:p>
                  </a:txBody>
                  <a:tcPr marL="14996" marR="14996" marT="14996" marB="1499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l"/>
                      <a:r>
                        <a:rPr lang="en-US" sz="1400">
                          <a:effectLst/>
                          <a:latin typeface="Arial" panose="020B0604020202020204" pitchFamily="34" charset="0"/>
                        </a:rPr>
                        <a:t>8</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a:r>
                        <a:rPr lang="en-US" sz="1400">
                          <a:effectLst/>
                          <a:latin typeface="Arial" panose="020B0604020202020204" pitchFamily="34" charset="0"/>
                        </a:rPr>
                        <a:t>1000</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222037603"/>
                  </a:ext>
                </a:extLst>
              </a:tr>
              <a:tr h="503880">
                <a:tc>
                  <a:txBody>
                    <a:bodyPr/>
                    <a:lstStyle/>
                    <a:p>
                      <a:pPr algn="l"/>
                      <a:r>
                        <a:rPr lang="en-US" sz="1400">
                          <a:solidFill>
                            <a:srgbClr val="808080"/>
                          </a:solidFill>
                          <a:effectLst/>
                          <a:latin typeface="Arial" panose="020B0604020202020204" pitchFamily="34" charset="0"/>
                        </a:rPr>
                        <a:t>10</a:t>
                      </a:r>
                    </a:p>
                  </a:txBody>
                  <a:tcPr marL="14996" marR="14996" marT="14996" marB="1499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algn="l"/>
                      <a:r>
                        <a:rPr lang="en-US" sz="1400">
                          <a:effectLst/>
                          <a:latin typeface="Arial" panose="020B0604020202020204" pitchFamily="34" charset="0"/>
                        </a:rPr>
                        <a:t>9</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r"/>
                      <a:r>
                        <a:rPr lang="en-US" sz="1400" dirty="0">
                          <a:effectLst/>
                          <a:latin typeface="Arial" panose="020B0604020202020204" pitchFamily="34" charset="0"/>
                        </a:rPr>
                        <a:t>1000</a:t>
                      </a:r>
                    </a:p>
                  </a:txBody>
                  <a:tcPr marL="71983" marR="71983" marT="35991" marB="359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125794473"/>
                  </a:ext>
                </a:extLst>
              </a:tr>
            </a:tbl>
          </a:graphicData>
        </a:graphic>
      </p:graphicFrame>
      <p:sp>
        <p:nvSpPr>
          <p:cNvPr id="7" name="Rectangle 3"/>
          <p:cNvSpPr>
            <a:spLocks noChangeArrowheads="1"/>
          </p:cNvSpPr>
          <p:nvPr/>
        </p:nvSpPr>
        <p:spPr bwMode="auto">
          <a:xfrm>
            <a:off x="7608167" y="2060848"/>
            <a:ext cx="2520281" cy="83099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imageSize</a:t>
            </a: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a:t>
            </a:r>
            <a:r>
              <a:rPr kumimoji="0" lang="en-US" altLang="en-US" sz="2400" b="0" i="0" u="none" strike="noStrike" cap="none" normalizeH="0" baseline="0" dirty="0">
                <a:ln>
                  <a:noFill/>
                </a:ln>
                <a:solidFill>
                  <a:srgbClr val="B3B3B3"/>
                </a:solidFill>
                <a:effectLst/>
                <a:latin typeface="Arial" panose="020B0604020202020204" pitchFamily="34" charset="0"/>
                <a:cs typeface="Arial" panose="020B0604020202020204" pitchFamily="34" charset="0"/>
              </a:rPr>
              <a:t>1×2</a:t>
            </a: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latin typeface="Arial" panose="020B0604020202020204" pitchFamily="34" charset="0"/>
                <a:cs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28 28 </a:t>
            </a:r>
          </a:p>
        </p:txBody>
      </p:sp>
    </p:spTree>
    <p:extLst>
      <p:ext uri="{BB962C8B-B14F-4D97-AF65-F5344CB8AC3E}">
        <p14:creationId xmlns:p14="http://schemas.microsoft.com/office/powerpoint/2010/main" val="37958582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Deep Learning: Example… </a:t>
            </a:r>
          </a:p>
        </p:txBody>
      </p:sp>
      <p:sp>
        <p:nvSpPr>
          <p:cNvPr id="4" name="Rectangle 3"/>
          <p:cNvSpPr/>
          <p:nvPr/>
        </p:nvSpPr>
        <p:spPr>
          <a:xfrm>
            <a:off x="179559" y="1196752"/>
            <a:ext cx="7741322" cy="5693866"/>
          </a:xfrm>
          <a:prstGeom prst="rect">
            <a:avLst/>
          </a:prstGeom>
        </p:spPr>
        <p:txBody>
          <a:bodyPr wrap="square">
            <a:spAutoFit/>
          </a:bodyPr>
          <a:lstStyle/>
          <a:p>
            <a:r>
              <a:rPr lang="en-US" sz="2000" dirty="0">
                <a:solidFill>
                  <a:srgbClr val="00B050"/>
                </a:solidFill>
                <a:latin typeface="Arial" panose="020B0604020202020204" pitchFamily="34" charset="0"/>
                <a:cs typeface="Arial" panose="020B0604020202020204" pitchFamily="34" charset="0"/>
              </a:rPr>
              <a:t>% Define the convolutional neural network architecture.</a:t>
            </a:r>
          </a:p>
          <a:p>
            <a:r>
              <a:rPr lang="en-US" sz="2000" dirty="0">
                <a:latin typeface="Arial" panose="020B0604020202020204" pitchFamily="34" charset="0"/>
                <a:cs typeface="Arial" panose="020B0604020202020204" pitchFamily="34" charset="0"/>
              </a:rPr>
              <a:t>layers = [</a:t>
            </a:r>
          </a:p>
          <a:p>
            <a:r>
              <a:rPr lang="en-US" sz="24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imageInputLayer</a:t>
            </a: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imageSize</a:t>
            </a:r>
            <a:r>
              <a:rPr lang="en-US" sz="2000" dirty="0">
                <a:latin typeface="Arial" panose="020B0604020202020204" pitchFamily="34" charset="0"/>
                <a:cs typeface="Arial" panose="020B0604020202020204" pitchFamily="34" charset="0"/>
              </a:rPr>
              <a:t>(1) </a:t>
            </a:r>
            <a:r>
              <a:rPr lang="en-US" sz="2000" dirty="0" err="1">
                <a:latin typeface="Arial" panose="020B0604020202020204" pitchFamily="34" charset="0"/>
                <a:cs typeface="Arial" panose="020B0604020202020204" pitchFamily="34" charset="0"/>
              </a:rPr>
              <a:t>imageSize</a:t>
            </a:r>
            <a:r>
              <a:rPr lang="en-US" sz="2000" dirty="0">
                <a:latin typeface="Arial" panose="020B0604020202020204" pitchFamily="34" charset="0"/>
                <a:cs typeface="Arial" panose="020B0604020202020204" pitchFamily="34" charset="0"/>
              </a:rPr>
              <a:t>(2) 1])</a:t>
            </a:r>
          </a:p>
          <a:p>
            <a:r>
              <a:rPr lang="en-US" sz="2000" dirty="0">
                <a:latin typeface="Arial" panose="020B0604020202020204" pitchFamily="34" charset="0"/>
                <a:cs typeface="Arial" panose="020B0604020202020204" pitchFamily="34" charset="0"/>
              </a:rPr>
              <a:t>    convolution2dLayer(3,8,'Padding','same')</a:t>
            </a: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batchNormalizationLayer</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reluLayer</a:t>
            </a:r>
            <a:r>
              <a:rPr lang="en-US" sz="2000" dirty="0">
                <a:latin typeface="Arial" panose="020B0604020202020204" pitchFamily="34" charset="0"/>
                <a:cs typeface="Arial" panose="020B0604020202020204" pitchFamily="34" charset="0"/>
              </a:rPr>
              <a:t> </a:t>
            </a:r>
          </a:p>
          <a:p>
            <a:r>
              <a:rPr lang="en-US" sz="2000" dirty="0">
                <a:latin typeface="Arial" panose="020B0604020202020204" pitchFamily="34" charset="0"/>
                <a:cs typeface="Arial" panose="020B0604020202020204" pitchFamily="34" charset="0"/>
              </a:rPr>
              <a:t>    maxPooling2dLayer(2,'Stride',2)</a:t>
            </a:r>
          </a:p>
          <a:p>
            <a:r>
              <a:rPr lang="en-US" sz="2000" dirty="0">
                <a:latin typeface="Arial" panose="020B0604020202020204" pitchFamily="34" charset="0"/>
                <a:cs typeface="Arial" panose="020B0604020202020204" pitchFamily="34" charset="0"/>
              </a:rPr>
              <a:t>    convolution2dLayer(3,16,'Padding','same')</a:t>
            </a: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batchNormalizationLayer</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reluLayer</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maxPooling2dLayer(2,'Stride',2)</a:t>
            </a:r>
          </a:p>
          <a:p>
            <a:r>
              <a:rPr lang="en-US" sz="2000" dirty="0">
                <a:latin typeface="Arial" panose="020B0604020202020204" pitchFamily="34" charset="0"/>
                <a:cs typeface="Arial" panose="020B0604020202020204" pitchFamily="34" charset="0"/>
              </a:rPr>
              <a:t>    convolution2dLayer(3,32,'Padding','same')</a:t>
            </a: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batchNormalizationLayer</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reluLayer</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fullyConnectedLayer</a:t>
            </a:r>
            <a:r>
              <a:rPr lang="en-US" sz="2000" dirty="0">
                <a:latin typeface="Arial" panose="020B0604020202020204" pitchFamily="34" charset="0"/>
                <a:cs typeface="Arial" panose="020B0604020202020204" pitchFamily="34" charset="0"/>
              </a:rPr>
              <a:t>(10)</a:t>
            </a: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softmaxLayer</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classificationLayer</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1402412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Deep Learning: Example… </a:t>
            </a:r>
          </a:p>
        </p:txBody>
      </p:sp>
      <p:sp>
        <p:nvSpPr>
          <p:cNvPr id="4" name="Rectangle 3"/>
          <p:cNvSpPr/>
          <p:nvPr/>
        </p:nvSpPr>
        <p:spPr>
          <a:xfrm>
            <a:off x="179559" y="1355285"/>
            <a:ext cx="10524953" cy="5016758"/>
          </a:xfrm>
          <a:prstGeom prst="rect">
            <a:avLst/>
          </a:prstGeom>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Image Input Layer</a:t>
            </a:r>
            <a:r>
              <a:rPr lang="en-US" sz="2000" dirty="0">
                <a:latin typeface="Times New Roman" panose="02020603050405020304" pitchFamily="18" charset="0"/>
                <a:cs typeface="Times New Roman" panose="02020603050405020304" pitchFamily="18" charset="0"/>
              </a:rPr>
              <a:t> An </a:t>
            </a:r>
            <a:r>
              <a:rPr lang="en-US" sz="2000" dirty="0" err="1">
                <a:latin typeface="Times New Roman" panose="02020603050405020304" pitchFamily="18" charset="0"/>
                <a:cs typeface="Times New Roman" panose="02020603050405020304" pitchFamily="18" charset="0"/>
              </a:rPr>
              <a:t>imageInputLayer</a:t>
            </a:r>
            <a:r>
              <a:rPr lang="en-US" sz="2000" dirty="0">
                <a:latin typeface="Times New Roman" panose="02020603050405020304" pitchFamily="18" charset="0"/>
                <a:cs typeface="Times New Roman" panose="02020603050405020304" pitchFamily="18" charset="0"/>
              </a:rPr>
              <a:t> is where you specify the image size, which, in this case, is 28-by-28-by-1. These numbers correspond to the height, width, and the channel size. The digit data consists of grayscale images, so the channel size (color channel) is 1. For a color image, the channel size is 3, corresponding to the RGB values. You do not need to shuffle the data because </a:t>
            </a:r>
            <a:r>
              <a:rPr lang="en-US" sz="2000" dirty="0" err="1">
                <a:latin typeface="Times New Roman" panose="02020603050405020304" pitchFamily="18" charset="0"/>
                <a:cs typeface="Times New Roman" panose="02020603050405020304" pitchFamily="18" charset="0"/>
              </a:rPr>
              <a:t>trainNetwork</a:t>
            </a:r>
            <a:r>
              <a:rPr lang="en-US" sz="2000" dirty="0">
                <a:latin typeface="Times New Roman" panose="02020603050405020304" pitchFamily="18" charset="0"/>
                <a:cs typeface="Times New Roman" panose="02020603050405020304" pitchFamily="18" charset="0"/>
              </a:rPr>
              <a:t>, by default, shuffles the data at the beginning of training. </a:t>
            </a:r>
            <a:r>
              <a:rPr lang="en-US" sz="2000" dirty="0" err="1">
                <a:latin typeface="Times New Roman" panose="02020603050405020304" pitchFamily="18" charset="0"/>
                <a:cs typeface="Times New Roman" panose="02020603050405020304" pitchFamily="18" charset="0"/>
              </a:rPr>
              <a:t>trainNetwork</a:t>
            </a:r>
            <a:r>
              <a:rPr lang="en-US" sz="2000" dirty="0">
                <a:latin typeface="Times New Roman" panose="02020603050405020304" pitchFamily="18" charset="0"/>
                <a:cs typeface="Times New Roman" panose="02020603050405020304" pitchFamily="18" charset="0"/>
              </a:rPr>
              <a:t> can also automatically shuffle the data at the beginning of every epoch during training.</a:t>
            </a:r>
          </a:p>
          <a:p>
            <a:pPr algn="just"/>
            <a:endParaRPr lang="en-US"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Convolutional Layer</a:t>
            </a:r>
            <a:r>
              <a:rPr lang="en-US" sz="2000" dirty="0">
                <a:latin typeface="Times New Roman" panose="02020603050405020304" pitchFamily="18" charset="0"/>
                <a:cs typeface="Times New Roman" panose="02020603050405020304" pitchFamily="18" charset="0"/>
              </a:rPr>
              <a:t> In the convolutional layer, the first argument is </a:t>
            </a:r>
            <a:r>
              <a:rPr lang="en-US" sz="2000" dirty="0" err="1">
                <a:latin typeface="Times New Roman" panose="02020603050405020304" pitchFamily="18" charset="0"/>
                <a:cs typeface="Times New Roman" panose="02020603050405020304" pitchFamily="18" charset="0"/>
              </a:rPr>
              <a:t>filterSize</a:t>
            </a:r>
            <a:r>
              <a:rPr lang="en-US" sz="2000" dirty="0">
                <a:latin typeface="Times New Roman" panose="02020603050405020304" pitchFamily="18" charset="0"/>
                <a:cs typeface="Times New Roman" panose="02020603050405020304" pitchFamily="18" charset="0"/>
              </a:rPr>
              <a:t>, which is the height and width of the filters the training function uses while scanning along the images. In this example, the number 3 indicates that the filter size is 3-by-3. You can specify different sizes for the height and width of the filter. The second argument is the number of filters, </a:t>
            </a:r>
            <a:r>
              <a:rPr lang="en-US" sz="2000" dirty="0" err="1">
                <a:latin typeface="Times New Roman" panose="02020603050405020304" pitchFamily="18" charset="0"/>
                <a:cs typeface="Times New Roman" panose="02020603050405020304" pitchFamily="18" charset="0"/>
              </a:rPr>
              <a:t>numFilters</a:t>
            </a:r>
            <a:r>
              <a:rPr lang="en-US" sz="2000" dirty="0">
                <a:latin typeface="Times New Roman" panose="02020603050405020304" pitchFamily="18" charset="0"/>
                <a:cs typeface="Times New Roman" panose="02020603050405020304" pitchFamily="18" charset="0"/>
              </a:rPr>
              <a:t>, which is the number of neurons that connect to the same region of the input. This parameter determines the number of feature maps. Use the 'Padding' name-value pair to add padding to the input feature map. For a convolutional layer with a default stride of 1, 'same' padding ensures that the spatial output size is the same as the input size. You can also define the stride and learning rates for this layer using name-value pair arguments of convolution2dLayer.</a:t>
            </a:r>
          </a:p>
        </p:txBody>
      </p:sp>
    </p:spTree>
    <p:extLst>
      <p:ext uri="{BB962C8B-B14F-4D97-AF65-F5344CB8AC3E}">
        <p14:creationId xmlns:p14="http://schemas.microsoft.com/office/powerpoint/2010/main" val="30855918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Deep Learning: Example… </a:t>
            </a:r>
          </a:p>
        </p:txBody>
      </p:sp>
      <p:sp>
        <p:nvSpPr>
          <p:cNvPr id="4" name="Rectangle 3"/>
          <p:cNvSpPr/>
          <p:nvPr/>
        </p:nvSpPr>
        <p:spPr>
          <a:xfrm>
            <a:off x="179559" y="1355285"/>
            <a:ext cx="10524954" cy="5324535"/>
          </a:xfrm>
          <a:prstGeom prst="rect">
            <a:avLst/>
          </a:prstGeom>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Batch Normalization Layer</a:t>
            </a:r>
            <a:r>
              <a:rPr lang="en-US" sz="2000" dirty="0">
                <a:latin typeface="Times New Roman" panose="02020603050405020304" pitchFamily="18" charset="0"/>
                <a:cs typeface="Times New Roman" panose="02020603050405020304" pitchFamily="18" charset="0"/>
              </a:rPr>
              <a:t> Batch normalization layers normalize the activations and gradients propagating through a network, making network training an easier optimization problem. Use batch normalization layers between convolutional layers and nonlinearities, such as </a:t>
            </a:r>
            <a:r>
              <a:rPr lang="en-US" sz="2000" dirty="0" err="1">
                <a:latin typeface="Times New Roman" panose="02020603050405020304" pitchFamily="18" charset="0"/>
                <a:cs typeface="Times New Roman" panose="02020603050405020304" pitchFamily="18" charset="0"/>
              </a:rPr>
              <a:t>ReLU</a:t>
            </a:r>
            <a:r>
              <a:rPr lang="en-US" sz="2000" dirty="0">
                <a:latin typeface="Times New Roman" panose="02020603050405020304" pitchFamily="18" charset="0"/>
                <a:cs typeface="Times New Roman" panose="02020603050405020304" pitchFamily="18" charset="0"/>
              </a:rPr>
              <a:t> layers, to speed up network training and reduce the sensitivity to network initialization. Use </a:t>
            </a:r>
            <a:r>
              <a:rPr lang="en-US" sz="2000" dirty="0" err="1">
                <a:latin typeface="Times New Roman" panose="02020603050405020304" pitchFamily="18" charset="0"/>
                <a:cs typeface="Times New Roman" panose="02020603050405020304" pitchFamily="18" charset="0"/>
              </a:rPr>
              <a:t>batchNormalizationLayer</a:t>
            </a:r>
            <a:r>
              <a:rPr lang="en-US" sz="2000" dirty="0">
                <a:latin typeface="Times New Roman" panose="02020603050405020304" pitchFamily="18" charset="0"/>
                <a:cs typeface="Times New Roman" panose="02020603050405020304" pitchFamily="18" charset="0"/>
              </a:rPr>
              <a:t> to create a batch normalization layer.</a:t>
            </a:r>
          </a:p>
          <a:p>
            <a:pPr algn="just"/>
            <a:endParaRPr lang="en-US" sz="2000" b="1" dirty="0">
              <a:latin typeface="Times New Roman" panose="02020603050405020304" pitchFamily="18" charset="0"/>
              <a:cs typeface="Times New Roman" panose="02020603050405020304" pitchFamily="18" charset="0"/>
            </a:endParaRPr>
          </a:p>
          <a:p>
            <a:pPr algn="just"/>
            <a:r>
              <a:rPr lang="en-US" sz="2000" b="1" dirty="0" err="1">
                <a:latin typeface="Times New Roman" panose="02020603050405020304" pitchFamily="18" charset="0"/>
                <a:cs typeface="Times New Roman" panose="02020603050405020304" pitchFamily="18" charset="0"/>
              </a:rPr>
              <a:t>ReLU</a:t>
            </a:r>
            <a:r>
              <a:rPr lang="en-US" sz="2000" b="1" dirty="0">
                <a:latin typeface="Times New Roman" panose="02020603050405020304" pitchFamily="18" charset="0"/>
                <a:cs typeface="Times New Roman" panose="02020603050405020304" pitchFamily="18" charset="0"/>
              </a:rPr>
              <a:t> Layer</a:t>
            </a:r>
            <a:r>
              <a:rPr lang="en-US" sz="2000" dirty="0">
                <a:latin typeface="Times New Roman" panose="02020603050405020304" pitchFamily="18" charset="0"/>
                <a:cs typeface="Times New Roman" panose="02020603050405020304" pitchFamily="18" charset="0"/>
              </a:rPr>
              <a:t> The batch normalization layer is followed by a nonlinear activation function. The most common activation function is the rectified linear unit (</a:t>
            </a:r>
            <a:r>
              <a:rPr lang="en-US" sz="2000" dirty="0" err="1">
                <a:latin typeface="Times New Roman" panose="02020603050405020304" pitchFamily="18" charset="0"/>
                <a:cs typeface="Times New Roman" panose="02020603050405020304" pitchFamily="18" charset="0"/>
              </a:rPr>
              <a:t>ReLU</a:t>
            </a:r>
            <a:r>
              <a:rPr lang="en-US" sz="2000" dirty="0">
                <a:latin typeface="Times New Roman" panose="02020603050405020304" pitchFamily="18" charset="0"/>
                <a:cs typeface="Times New Roman" panose="02020603050405020304" pitchFamily="18" charset="0"/>
              </a:rPr>
              <a:t>). Use </a:t>
            </a:r>
            <a:r>
              <a:rPr lang="en-US" sz="2000" dirty="0" err="1">
                <a:latin typeface="Times New Roman" panose="02020603050405020304" pitchFamily="18" charset="0"/>
                <a:cs typeface="Times New Roman" panose="02020603050405020304" pitchFamily="18" charset="0"/>
              </a:rPr>
              <a:t>reluLayer</a:t>
            </a:r>
            <a:r>
              <a:rPr lang="en-US" sz="2000" dirty="0">
                <a:latin typeface="Times New Roman" panose="02020603050405020304" pitchFamily="18" charset="0"/>
                <a:cs typeface="Times New Roman" panose="02020603050405020304" pitchFamily="18" charset="0"/>
              </a:rPr>
              <a:t> to create a </a:t>
            </a:r>
            <a:r>
              <a:rPr lang="en-US" sz="2000" dirty="0" err="1">
                <a:latin typeface="Times New Roman" panose="02020603050405020304" pitchFamily="18" charset="0"/>
                <a:cs typeface="Times New Roman" panose="02020603050405020304" pitchFamily="18" charset="0"/>
              </a:rPr>
              <a:t>ReLU</a:t>
            </a:r>
            <a:r>
              <a:rPr lang="en-US" sz="2000" dirty="0">
                <a:latin typeface="Times New Roman" panose="02020603050405020304" pitchFamily="18" charset="0"/>
                <a:cs typeface="Times New Roman" panose="02020603050405020304" pitchFamily="18" charset="0"/>
              </a:rPr>
              <a:t> layer.</a:t>
            </a:r>
          </a:p>
          <a:p>
            <a:pPr algn="just"/>
            <a:endParaRPr lang="en-US"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Max Pooling Layer</a:t>
            </a:r>
            <a:r>
              <a:rPr lang="en-US" sz="2000" dirty="0">
                <a:latin typeface="Times New Roman" panose="02020603050405020304" pitchFamily="18" charset="0"/>
                <a:cs typeface="Times New Roman" panose="02020603050405020304" pitchFamily="18" charset="0"/>
              </a:rPr>
              <a:t> Convolutional layers (with activation functions) are sometimes followed by a down-sampling operation that reduces the spatial size of the feature map and removes redundant spatial information. Down-sampling makes it possible to increase the number of filters in deeper convolutional layers without increasing the required amount of computation per layer. One way of down-sampling is using a max pooling, which you create using  maxPooling2dLayer. The max pooling layer returns the maximum values of rectangular regions of inputs, specified by the first argument, </a:t>
            </a:r>
            <a:r>
              <a:rPr lang="en-US" sz="2000" dirty="0" err="1">
                <a:latin typeface="Times New Roman" panose="02020603050405020304" pitchFamily="18" charset="0"/>
                <a:cs typeface="Times New Roman" panose="02020603050405020304" pitchFamily="18" charset="0"/>
              </a:rPr>
              <a:t>poolSize</a:t>
            </a:r>
            <a:r>
              <a:rPr lang="en-US" sz="2000" dirty="0">
                <a:latin typeface="Times New Roman" panose="02020603050405020304" pitchFamily="18" charset="0"/>
                <a:cs typeface="Times New Roman" panose="02020603050405020304" pitchFamily="18" charset="0"/>
              </a:rPr>
              <a:t>. In this example, the size of the rectangular region is [2,2]. The 'Stride' name-value pair argument specifies the step size that the training function takes as it scans along the input.</a:t>
            </a:r>
          </a:p>
        </p:txBody>
      </p:sp>
    </p:spTree>
    <p:extLst>
      <p:ext uri="{BB962C8B-B14F-4D97-AF65-F5344CB8AC3E}">
        <p14:creationId xmlns:p14="http://schemas.microsoft.com/office/powerpoint/2010/main" val="29206816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Deep Learning: Example… </a:t>
            </a:r>
          </a:p>
        </p:txBody>
      </p:sp>
      <p:sp>
        <p:nvSpPr>
          <p:cNvPr id="4" name="Rectangle 3"/>
          <p:cNvSpPr/>
          <p:nvPr/>
        </p:nvSpPr>
        <p:spPr>
          <a:xfrm>
            <a:off x="179559" y="1355285"/>
            <a:ext cx="10524954" cy="5016758"/>
          </a:xfrm>
          <a:prstGeom prst="rect">
            <a:avLst/>
          </a:prstGeom>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Fully Connected Layer</a:t>
            </a:r>
            <a:r>
              <a:rPr lang="en-US" sz="2000" dirty="0">
                <a:latin typeface="Times New Roman" panose="02020603050405020304" pitchFamily="18" charset="0"/>
                <a:cs typeface="Times New Roman" panose="02020603050405020304" pitchFamily="18" charset="0"/>
              </a:rPr>
              <a:t> The convolutional and down-sampling layers are followed by one or more fully connected layers. As its name suggests, a fully connected layer is a layer in which the neurons connect to all the neurons in the preceding layer. This layer combines all the features learned by the previous layers across the image to identify the larger patterns. The last fully connected layer combines the features to classify the images. Therefore, the </a:t>
            </a:r>
            <a:r>
              <a:rPr lang="en-US" sz="2000" dirty="0" err="1">
                <a:latin typeface="Times New Roman" panose="02020603050405020304" pitchFamily="18" charset="0"/>
                <a:cs typeface="Times New Roman" panose="02020603050405020304" pitchFamily="18" charset="0"/>
              </a:rPr>
              <a:t>OutputSize</a:t>
            </a:r>
            <a:r>
              <a:rPr lang="en-US" sz="2000" dirty="0">
                <a:latin typeface="Times New Roman" panose="02020603050405020304" pitchFamily="18" charset="0"/>
                <a:cs typeface="Times New Roman" panose="02020603050405020304" pitchFamily="18" charset="0"/>
              </a:rPr>
              <a:t> parameter in the last fully connected layer is equal to the number of classes in the target data. In this example, the output size is 10, corresponding to the 10 classes. Use </a:t>
            </a:r>
            <a:r>
              <a:rPr lang="en-US" sz="2000" dirty="0" err="1">
                <a:latin typeface="Times New Roman" panose="02020603050405020304" pitchFamily="18" charset="0"/>
                <a:cs typeface="Times New Roman" panose="02020603050405020304" pitchFamily="18" charset="0"/>
              </a:rPr>
              <a:t>fullyConnectedLayer</a:t>
            </a:r>
            <a:r>
              <a:rPr lang="en-US" sz="2000" dirty="0">
                <a:latin typeface="Times New Roman" panose="02020603050405020304" pitchFamily="18" charset="0"/>
                <a:cs typeface="Times New Roman" panose="02020603050405020304" pitchFamily="18" charset="0"/>
              </a:rPr>
              <a:t> to create a fully connected layer.</a:t>
            </a:r>
          </a:p>
          <a:p>
            <a:pPr algn="just"/>
            <a:endParaRPr lang="en-US" sz="2000" b="1" dirty="0">
              <a:latin typeface="Times New Roman" panose="02020603050405020304" pitchFamily="18" charset="0"/>
              <a:cs typeface="Times New Roman" panose="02020603050405020304" pitchFamily="18" charset="0"/>
            </a:endParaRPr>
          </a:p>
          <a:p>
            <a:pPr algn="just"/>
            <a:r>
              <a:rPr lang="en-US" sz="2000" b="1" dirty="0" err="1">
                <a:latin typeface="Times New Roman" panose="02020603050405020304" pitchFamily="18" charset="0"/>
                <a:cs typeface="Times New Roman" panose="02020603050405020304" pitchFamily="18" charset="0"/>
              </a:rPr>
              <a:t>Softmax</a:t>
            </a:r>
            <a:r>
              <a:rPr lang="en-US" sz="2000" b="1" dirty="0">
                <a:latin typeface="Times New Roman" panose="02020603050405020304" pitchFamily="18" charset="0"/>
                <a:cs typeface="Times New Roman" panose="02020603050405020304" pitchFamily="18" charset="0"/>
              </a:rPr>
              <a:t> Layer</a:t>
            </a:r>
            <a:r>
              <a:rPr lang="en-US" sz="2000" dirty="0">
                <a:latin typeface="Times New Roman" panose="02020603050405020304" pitchFamily="18" charset="0"/>
                <a:cs typeface="Times New Roman" panose="02020603050405020304" pitchFamily="18" charset="0"/>
              </a:rPr>
              <a:t> The </a:t>
            </a:r>
            <a:r>
              <a:rPr lang="en-US" sz="2000" dirty="0" err="1">
                <a:latin typeface="Times New Roman" panose="02020603050405020304" pitchFamily="18" charset="0"/>
                <a:cs typeface="Times New Roman" panose="02020603050405020304" pitchFamily="18" charset="0"/>
              </a:rPr>
              <a:t>softmax</a:t>
            </a:r>
            <a:r>
              <a:rPr lang="en-US" sz="2000" dirty="0">
                <a:latin typeface="Times New Roman" panose="02020603050405020304" pitchFamily="18" charset="0"/>
                <a:cs typeface="Times New Roman" panose="02020603050405020304" pitchFamily="18" charset="0"/>
              </a:rPr>
              <a:t> activation function normalizes the output of the fully connected layer. The output of the </a:t>
            </a:r>
            <a:r>
              <a:rPr lang="en-US" sz="2000" dirty="0" err="1">
                <a:latin typeface="Times New Roman" panose="02020603050405020304" pitchFamily="18" charset="0"/>
                <a:cs typeface="Times New Roman" panose="02020603050405020304" pitchFamily="18" charset="0"/>
              </a:rPr>
              <a:t>softmax</a:t>
            </a:r>
            <a:r>
              <a:rPr lang="en-US" sz="2000" dirty="0">
                <a:latin typeface="Times New Roman" panose="02020603050405020304" pitchFamily="18" charset="0"/>
                <a:cs typeface="Times New Roman" panose="02020603050405020304" pitchFamily="18" charset="0"/>
              </a:rPr>
              <a:t> layer consists of positive numbers that sum to one, which can then be used as classification probabilities by the classification layer. Create a </a:t>
            </a:r>
            <a:r>
              <a:rPr lang="en-US" sz="2000" dirty="0" err="1">
                <a:latin typeface="Times New Roman" panose="02020603050405020304" pitchFamily="18" charset="0"/>
                <a:cs typeface="Times New Roman" panose="02020603050405020304" pitchFamily="18" charset="0"/>
              </a:rPr>
              <a:t>softmax</a:t>
            </a:r>
            <a:r>
              <a:rPr lang="en-US" sz="2000" dirty="0">
                <a:latin typeface="Times New Roman" panose="02020603050405020304" pitchFamily="18" charset="0"/>
                <a:cs typeface="Times New Roman" panose="02020603050405020304" pitchFamily="18" charset="0"/>
              </a:rPr>
              <a:t> layer using the </a:t>
            </a:r>
            <a:r>
              <a:rPr lang="en-US" sz="2000" dirty="0" err="1">
                <a:latin typeface="Times New Roman" panose="02020603050405020304" pitchFamily="18" charset="0"/>
                <a:cs typeface="Times New Roman" panose="02020603050405020304" pitchFamily="18" charset="0"/>
              </a:rPr>
              <a:t>softmaxLayer</a:t>
            </a:r>
            <a:r>
              <a:rPr lang="en-US" sz="2000" dirty="0">
                <a:latin typeface="Times New Roman" panose="02020603050405020304" pitchFamily="18" charset="0"/>
                <a:cs typeface="Times New Roman" panose="02020603050405020304" pitchFamily="18" charset="0"/>
              </a:rPr>
              <a:t> function after the last fully connected layer.</a:t>
            </a:r>
          </a:p>
          <a:p>
            <a:pPr algn="just"/>
            <a:endParaRPr lang="en-US"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Classification Layer</a:t>
            </a:r>
            <a:r>
              <a:rPr lang="en-US" sz="2000" dirty="0">
                <a:latin typeface="Times New Roman" panose="02020603050405020304" pitchFamily="18" charset="0"/>
                <a:cs typeface="Times New Roman" panose="02020603050405020304" pitchFamily="18" charset="0"/>
              </a:rPr>
              <a:t> The final layer is the classification layer. This layer uses the probabilities returned by the </a:t>
            </a:r>
            <a:r>
              <a:rPr lang="en-US" sz="2000" dirty="0" err="1">
                <a:latin typeface="Times New Roman" panose="02020603050405020304" pitchFamily="18" charset="0"/>
                <a:cs typeface="Times New Roman" panose="02020603050405020304" pitchFamily="18" charset="0"/>
              </a:rPr>
              <a:t>softmax</a:t>
            </a:r>
            <a:r>
              <a:rPr lang="en-US" sz="2000" dirty="0">
                <a:latin typeface="Times New Roman" panose="02020603050405020304" pitchFamily="18" charset="0"/>
                <a:cs typeface="Times New Roman" panose="02020603050405020304" pitchFamily="18" charset="0"/>
              </a:rPr>
              <a:t> activation function for each input to assign the input to one of the mutually exclusive classes and compute the loss. To create a classification layer, use </a:t>
            </a:r>
            <a:r>
              <a:rPr lang="en-US" sz="2000" dirty="0" err="1">
                <a:latin typeface="Times New Roman" panose="02020603050405020304" pitchFamily="18" charset="0"/>
                <a:cs typeface="Times New Roman" panose="02020603050405020304" pitchFamily="18" charset="0"/>
              </a:rPr>
              <a:t>classificationLayer</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431254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Deep Learning: Example… </a:t>
            </a:r>
          </a:p>
        </p:txBody>
      </p:sp>
      <p:sp>
        <p:nvSpPr>
          <p:cNvPr id="4" name="Rectangle 3"/>
          <p:cNvSpPr/>
          <p:nvPr/>
        </p:nvSpPr>
        <p:spPr>
          <a:xfrm>
            <a:off x="179559" y="1355284"/>
            <a:ext cx="7741322" cy="4154984"/>
          </a:xfrm>
          <a:prstGeom prst="rect">
            <a:avLst/>
          </a:prstGeom>
        </p:spPr>
        <p:txBody>
          <a:bodyPr wrap="square">
            <a:spAutoFit/>
          </a:bodyPr>
          <a:lstStyle/>
          <a:p>
            <a:r>
              <a:rPr lang="en-US" sz="2400" dirty="0">
                <a:solidFill>
                  <a:srgbClr val="00B050"/>
                </a:solidFill>
                <a:latin typeface="Arial" panose="020B0604020202020204" pitchFamily="34" charset="0"/>
                <a:cs typeface="Arial" panose="020B0604020202020204" pitchFamily="34" charset="0"/>
              </a:rPr>
              <a:t>% Specify Training Options.</a:t>
            </a:r>
          </a:p>
          <a:p>
            <a:r>
              <a:rPr lang="en-US" sz="2400" dirty="0">
                <a:latin typeface="Arial" panose="020B0604020202020204" pitchFamily="34" charset="0"/>
                <a:cs typeface="Arial" panose="020B0604020202020204" pitchFamily="34" charset="0"/>
              </a:rPr>
              <a:t>options = </a:t>
            </a:r>
            <a:r>
              <a:rPr lang="en-US" sz="2400" dirty="0" err="1">
                <a:latin typeface="Arial" panose="020B0604020202020204" pitchFamily="34" charset="0"/>
                <a:cs typeface="Arial" panose="020B0604020202020204" pitchFamily="34" charset="0"/>
              </a:rPr>
              <a:t>trainingOptions</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sgdm</a:t>
            </a:r>
            <a:r>
              <a:rPr lang="en-US" sz="24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    'InitialLearnRate',0.01, ...</a:t>
            </a:r>
          </a:p>
          <a:p>
            <a:r>
              <a:rPr lang="en-US" sz="2400" dirty="0">
                <a:latin typeface="Arial" panose="020B0604020202020204" pitchFamily="34" charset="0"/>
                <a:cs typeface="Arial" panose="020B0604020202020204" pitchFamily="34" charset="0"/>
              </a:rPr>
              <a:t>    'MaxEpochs',4, ...</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Shuffle','every</a:t>
            </a:r>
            <a:r>
              <a:rPr lang="en-US" sz="2400" dirty="0">
                <a:latin typeface="Arial" panose="020B0604020202020204" pitchFamily="34" charset="0"/>
                <a:cs typeface="Arial" panose="020B0604020202020204" pitchFamily="34" charset="0"/>
              </a:rPr>
              <a:t>-epoch', ...</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ValidationData</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imdsValidation</a:t>
            </a:r>
            <a:r>
              <a:rPr lang="en-US" sz="24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    'ValidationFrequency',30, ...</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Verbose',false</a:t>
            </a:r>
            <a:r>
              <a:rPr lang="en-US" sz="24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Plots','training</a:t>
            </a:r>
            <a:r>
              <a:rPr lang="en-US" sz="2400" dirty="0">
                <a:latin typeface="Arial" panose="020B0604020202020204" pitchFamily="34" charset="0"/>
                <a:cs typeface="Arial" panose="020B0604020202020204" pitchFamily="34" charset="0"/>
              </a:rPr>
              <a:t>-progress');</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net = </a:t>
            </a:r>
            <a:r>
              <a:rPr lang="en-US" sz="2400" dirty="0" err="1">
                <a:latin typeface="Arial" panose="020B0604020202020204" pitchFamily="34" charset="0"/>
                <a:cs typeface="Arial" panose="020B0604020202020204" pitchFamily="34" charset="0"/>
              </a:rPr>
              <a:t>trainNetwork</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imdsTrain,layers,options</a:t>
            </a:r>
            <a:r>
              <a:rPr lang="en-US" sz="2400" dirty="0">
                <a:latin typeface="Arial" panose="020B0604020202020204" pitchFamily="34" charset="0"/>
                <a:cs typeface="Arial" panose="020B0604020202020204" pitchFamily="34" charset="0"/>
              </a:rPr>
              <a:t>);</a:t>
            </a:r>
          </a:p>
        </p:txBody>
      </p:sp>
      <p:sp>
        <p:nvSpPr>
          <p:cNvPr id="5" name="Rectangle 4"/>
          <p:cNvSpPr/>
          <p:nvPr/>
        </p:nvSpPr>
        <p:spPr>
          <a:xfrm>
            <a:off x="7176120" y="1334373"/>
            <a:ext cx="4896544" cy="5324535"/>
          </a:xfrm>
          <a:prstGeom prst="rect">
            <a:avLst/>
          </a:prstGeom>
          <a:solidFill>
            <a:schemeClr val="accent3">
              <a:lumMod val="40000"/>
              <a:lumOff val="60000"/>
            </a:schemeClr>
          </a:solid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After defining the network structure, specify the training options. Train the network using stochastic gradient descent with momentum (SGDM) with an initial learning rate of 0.01. Set the maximum number of epochs to 4. An epoch is a full training cycle on the entire training data set. Monitor the network accuracy during training by specifying validation data and validation frequency. Shuffle the data every epoch. The software trains the network on the training data and calculates the accuracy on the validation data at regular intervals during training. The validation data is not used to update the network weights. Turn on the training progress plot, and turn off the command window output.</a:t>
            </a:r>
          </a:p>
        </p:txBody>
      </p:sp>
    </p:spTree>
    <p:extLst>
      <p:ext uri="{BB962C8B-B14F-4D97-AF65-F5344CB8AC3E}">
        <p14:creationId xmlns:p14="http://schemas.microsoft.com/office/powerpoint/2010/main" val="34469343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Deep Learning: Example… </a:t>
            </a:r>
          </a:p>
        </p:txBody>
      </p:sp>
      <p:pic>
        <p:nvPicPr>
          <p:cNvPr id="3" name="Picture 2"/>
          <p:cNvPicPr>
            <a:picLocks noChangeAspect="1"/>
          </p:cNvPicPr>
          <p:nvPr/>
        </p:nvPicPr>
        <p:blipFill>
          <a:blip r:embed="rId3"/>
          <a:stretch>
            <a:fillRect/>
          </a:stretch>
        </p:blipFill>
        <p:spPr>
          <a:xfrm>
            <a:off x="119337" y="1196752"/>
            <a:ext cx="11953328" cy="5616624"/>
          </a:xfrm>
          <a:prstGeom prst="rect">
            <a:avLst/>
          </a:prstGeom>
        </p:spPr>
      </p:pic>
    </p:spTree>
    <p:extLst>
      <p:ext uri="{BB962C8B-B14F-4D97-AF65-F5344CB8AC3E}">
        <p14:creationId xmlns:p14="http://schemas.microsoft.com/office/powerpoint/2010/main" val="31150883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Deep Learning: Example </a:t>
            </a:r>
          </a:p>
        </p:txBody>
      </p:sp>
      <p:sp>
        <p:nvSpPr>
          <p:cNvPr id="4" name="Rectangle 3"/>
          <p:cNvSpPr/>
          <p:nvPr/>
        </p:nvSpPr>
        <p:spPr>
          <a:xfrm>
            <a:off x="179558" y="1355284"/>
            <a:ext cx="8220697" cy="4524315"/>
          </a:xfrm>
          <a:prstGeom prst="rect">
            <a:avLst/>
          </a:prstGeom>
        </p:spPr>
        <p:txBody>
          <a:bodyPr wrap="square">
            <a:spAutoFit/>
          </a:bodyPr>
          <a:lstStyle/>
          <a:p>
            <a:r>
              <a:rPr lang="en-US" sz="2400" dirty="0">
                <a:solidFill>
                  <a:srgbClr val="00B050"/>
                </a:solidFill>
                <a:latin typeface="Arial" panose="020B0604020202020204" pitchFamily="34" charset="0"/>
                <a:cs typeface="Arial" panose="020B0604020202020204" pitchFamily="34" charset="0"/>
              </a:rPr>
              <a:t>% Classify Validation Images and Compute Accuracy.</a:t>
            </a:r>
          </a:p>
          <a:p>
            <a:r>
              <a:rPr lang="en-US" sz="2400" dirty="0" err="1">
                <a:latin typeface="Arial" panose="020B0604020202020204" pitchFamily="34" charset="0"/>
                <a:cs typeface="Arial" panose="020B0604020202020204" pitchFamily="34" charset="0"/>
              </a:rPr>
              <a:t>YPred</a:t>
            </a:r>
            <a:r>
              <a:rPr lang="en-US" sz="2400" dirty="0">
                <a:latin typeface="Arial" panose="020B0604020202020204" pitchFamily="34" charset="0"/>
                <a:cs typeface="Arial" panose="020B0604020202020204" pitchFamily="34" charset="0"/>
              </a:rPr>
              <a:t> = classify(</a:t>
            </a:r>
            <a:r>
              <a:rPr lang="en-US" sz="2400" dirty="0" err="1">
                <a:latin typeface="Arial" panose="020B0604020202020204" pitchFamily="34" charset="0"/>
                <a:cs typeface="Arial" panose="020B0604020202020204" pitchFamily="34" charset="0"/>
              </a:rPr>
              <a:t>net,imdsValidation</a:t>
            </a:r>
            <a:r>
              <a:rPr lang="en-US" sz="2400" dirty="0">
                <a:latin typeface="Arial" panose="020B0604020202020204" pitchFamily="34" charset="0"/>
                <a:cs typeface="Arial" panose="020B0604020202020204" pitchFamily="34" charset="0"/>
              </a:rPr>
              <a:t>);</a:t>
            </a:r>
          </a:p>
          <a:p>
            <a:r>
              <a:rPr lang="en-US" sz="2400" dirty="0" err="1">
                <a:latin typeface="Arial" panose="020B0604020202020204" pitchFamily="34" charset="0"/>
                <a:cs typeface="Arial" panose="020B0604020202020204" pitchFamily="34" charset="0"/>
              </a:rPr>
              <a:t>YValidation</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imdsValidation.Labels</a:t>
            </a:r>
            <a:r>
              <a:rPr lang="en-US" sz="2400" dirty="0">
                <a:latin typeface="Arial" panose="020B0604020202020204" pitchFamily="34" charset="0"/>
                <a:cs typeface="Arial" panose="020B0604020202020204" pitchFamily="34" charset="0"/>
              </a:rPr>
              <a:t>;</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accuracy = sum(</a:t>
            </a:r>
            <a:r>
              <a:rPr lang="en-US" sz="2400" dirty="0" err="1">
                <a:latin typeface="Arial" panose="020B0604020202020204" pitchFamily="34" charset="0"/>
                <a:cs typeface="Arial" panose="020B0604020202020204" pitchFamily="34" charset="0"/>
              </a:rPr>
              <a:t>YPred</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YValidation</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numel</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YValidation</a:t>
            </a:r>
            <a:r>
              <a:rPr lang="en-US" sz="2400" dirty="0">
                <a:latin typeface="Arial" panose="020B0604020202020204" pitchFamily="34" charset="0"/>
                <a:cs typeface="Arial" panose="020B0604020202020204" pitchFamily="34" charset="0"/>
              </a:rPr>
              <a:t>)</a:t>
            </a:r>
          </a:p>
          <a:p>
            <a:endParaRPr lang="en-US" sz="2400" dirty="0">
              <a:latin typeface="Arial" panose="020B0604020202020204" pitchFamily="34" charset="0"/>
              <a:cs typeface="Arial" panose="020B0604020202020204" pitchFamily="34" charset="0"/>
            </a:endParaRPr>
          </a:p>
          <a:p>
            <a:r>
              <a:rPr lang="en-US" sz="2400" dirty="0">
                <a:solidFill>
                  <a:srgbClr val="00B050"/>
                </a:solidFill>
                <a:latin typeface="Arial" panose="020B0604020202020204" pitchFamily="34" charset="0"/>
                <a:cs typeface="Arial" panose="020B0604020202020204" pitchFamily="34" charset="0"/>
              </a:rPr>
              <a:t>% Individual testing</a:t>
            </a:r>
          </a:p>
          <a:p>
            <a:r>
              <a:rPr lang="en-US" sz="2400" dirty="0">
                <a:latin typeface="Arial" panose="020B0604020202020204" pitchFamily="34" charset="0"/>
                <a:cs typeface="Arial" panose="020B0604020202020204" pitchFamily="34" charset="0"/>
              </a:rPr>
              <a:t>figure</a:t>
            </a:r>
          </a:p>
          <a:p>
            <a:r>
              <a:rPr lang="en-US" sz="2400" dirty="0" err="1">
                <a:latin typeface="Arial" panose="020B0604020202020204" pitchFamily="34" charset="0"/>
                <a:cs typeface="Arial" panose="020B0604020202020204" pitchFamily="34" charset="0"/>
              </a:rPr>
              <a:t>idx</a:t>
            </a:r>
            <a:r>
              <a:rPr lang="en-US" sz="2400" dirty="0">
                <a:latin typeface="Arial" panose="020B0604020202020204" pitchFamily="34" charset="0"/>
                <a:cs typeface="Arial" panose="020B0604020202020204" pitchFamily="34" charset="0"/>
              </a:rPr>
              <a:t> = 1000;</a:t>
            </a:r>
          </a:p>
          <a:p>
            <a:r>
              <a:rPr lang="en-US" sz="2400" dirty="0" err="1">
                <a:latin typeface="Arial" panose="020B0604020202020204" pitchFamily="34" charset="0"/>
                <a:cs typeface="Arial" panose="020B0604020202020204" pitchFamily="34" charset="0"/>
              </a:rPr>
              <a:t>imshow</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imdsValidation.Files</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idx</a:t>
            </a:r>
            <a:r>
              <a:rPr lang="en-US" sz="2400" dirty="0">
                <a:latin typeface="Arial" panose="020B0604020202020204" pitchFamily="34" charset="0"/>
                <a:cs typeface="Arial" panose="020B0604020202020204" pitchFamily="34" charset="0"/>
              </a:rPr>
              <a:t>})</a:t>
            </a:r>
          </a:p>
          <a:p>
            <a:r>
              <a:rPr lang="en-US" sz="2400" dirty="0">
                <a:latin typeface="Arial" panose="020B0604020202020204" pitchFamily="34" charset="0"/>
                <a:cs typeface="Arial" panose="020B0604020202020204" pitchFamily="34" charset="0"/>
              </a:rPr>
              <a:t>label = </a:t>
            </a:r>
            <a:r>
              <a:rPr lang="en-US" sz="2400" dirty="0" err="1">
                <a:latin typeface="Arial" panose="020B0604020202020204" pitchFamily="34" charset="0"/>
                <a:cs typeface="Arial" panose="020B0604020202020204" pitchFamily="34" charset="0"/>
              </a:rPr>
              <a:t>YPred</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idx</a:t>
            </a:r>
            <a:r>
              <a:rPr lang="en-US" sz="2400" dirty="0">
                <a:latin typeface="Arial" panose="020B0604020202020204" pitchFamily="34" charset="0"/>
                <a:cs typeface="Arial" panose="020B0604020202020204" pitchFamily="34" charset="0"/>
              </a:rPr>
              <a:t>);</a:t>
            </a:r>
          </a:p>
          <a:p>
            <a:r>
              <a:rPr lang="en-US" sz="2400" dirty="0">
                <a:latin typeface="Arial" panose="020B0604020202020204" pitchFamily="34" charset="0"/>
                <a:cs typeface="Arial" panose="020B0604020202020204" pitchFamily="34" charset="0"/>
              </a:rPr>
              <a:t>title(string(label));</a:t>
            </a:r>
          </a:p>
        </p:txBody>
      </p:sp>
      <p:sp>
        <p:nvSpPr>
          <p:cNvPr id="3" name="Rectangle 1"/>
          <p:cNvSpPr>
            <a:spLocks noChangeArrowheads="1"/>
          </p:cNvSpPr>
          <p:nvPr/>
        </p:nvSpPr>
        <p:spPr bwMode="auto">
          <a:xfrm>
            <a:off x="9336360" y="2852936"/>
            <a:ext cx="2736304" cy="4616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accuracy = 0.9944</a:t>
            </a:r>
            <a:endParaRPr kumimoji="0" lang="en-US" altLang="en-US" sz="4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4098" name="Picture 2" descr="C:\Users\drzha\AppData\Local\Temp\ConnectorClipboard8626753105837049223\image15885043003430.png"/>
          <p:cNvPicPr>
            <a:picLocks noChangeAspect="1" noChangeArrowheads="1"/>
          </p:cNvPicPr>
          <p:nvPr/>
        </p:nvPicPr>
        <p:blipFill rotWithShape="1">
          <a:blip r:embed="rId3">
            <a:extLst>
              <a:ext uri="{28A0092B-C50C-407E-A947-70E740481C1C}">
                <a14:useLocalDpi xmlns:a14="http://schemas.microsoft.com/office/drawing/2010/main" val="0"/>
              </a:ext>
            </a:extLst>
          </a:blip>
          <a:srcRect l="42850" t="7599" r="41847" b="55297"/>
          <a:stretch/>
        </p:blipFill>
        <p:spPr bwMode="auto">
          <a:xfrm>
            <a:off x="10200456" y="3789040"/>
            <a:ext cx="1224136" cy="1958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42127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4C695-5221-DC60-A3A6-129F0B61E918}"/>
              </a:ext>
            </a:extLst>
          </p:cNvPr>
          <p:cNvSpPr>
            <a:spLocks noGrp="1"/>
          </p:cNvSpPr>
          <p:nvPr>
            <p:ph type="title"/>
          </p:nvPr>
        </p:nvSpPr>
        <p:spPr/>
        <p:txBody>
          <a:bodyPr>
            <a:normAutofit fontScale="90000"/>
          </a:bodyPr>
          <a:lstStyle/>
          <a:p>
            <a:r>
              <a:rPr lang="en-US" sz="6000" dirty="0"/>
              <a:t>Watch: </a:t>
            </a:r>
            <a:r>
              <a:rPr lang="en-US" sz="6000" dirty="0">
                <a:hlinkClick r:id="rId2"/>
              </a:rPr>
              <a:t>Lectures 5-7</a:t>
            </a:r>
            <a:r>
              <a:rPr lang="en-US" sz="6000" dirty="0"/>
              <a:t> </a:t>
            </a:r>
            <a:endParaRPr lang="LID4096" sz="6000" dirty="0"/>
          </a:p>
        </p:txBody>
      </p:sp>
      <p:pic>
        <p:nvPicPr>
          <p:cNvPr id="5" name="Picture 4">
            <a:extLst>
              <a:ext uri="{FF2B5EF4-FFF2-40B4-BE49-F238E27FC236}">
                <a16:creationId xmlns:a16="http://schemas.microsoft.com/office/drawing/2014/main" id="{5AE1A673-8A49-A4FD-D3C0-E6C3A4C10789}"/>
              </a:ext>
            </a:extLst>
          </p:cNvPr>
          <p:cNvPicPr>
            <a:picLocks noChangeAspect="1"/>
          </p:cNvPicPr>
          <p:nvPr/>
        </p:nvPicPr>
        <p:blipFill>
          <a:blip r:embed="rId3"/>
          <a:stretch>
            <a:fillRect/>
          </a:stretch>
        </p:blipFill>
        <p:spPr>
          <a:xfrm>
            <a:off x="190459" y="1196752"/>
            <a:ext cx="11810197" cy="5661248"/>
          </a:xfrm>
          <a:prstGeom prst="rect">
            <a:avLst/>
          </a:prstGeom>
        </p:spPr>
      </p:pic>
    </p:spTree>
    <p:extLst>
      <p:ext uri="{BB962C8B-B14F-4D97-AF65-F5344CB8AC3E}">
        <p14:creationId xmlns:p14="http://schemas.microsoft.com/office/powerpoint/2010/main" val="30277868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6600" dirty="0"/>
              <a:t>Exercise</a:t>
            </a:r>
          </a:p>
        </p:txBody>
      </p:sp>
      <p:sp>
        <p:nvSpPr>
          <p:cNvPr id="3" name="Content Placeholder 2"/>
          <p:cNvSpPr>
            <a:spLocks noGrp="1"/>
          </p:cNvSpPr>
          <p:nvPr>
            <p:ph idx="1"/>
          </p:nvPr>
        </p:nvSpPr>
        <p:spPr>
          <a:xfrm>
            <a:off x="190459" y="1285860"/>
            <a:ext cx="10658069" cy="2071132"/>
          </a:xfrm>
        </p:spPr>
        <p:txBody>
          <a:bodyPr>
            <a:normAutofit lnSpcReduction="10000"/>
          </a:bodyPr>
          <a:lstStyle/>
          <a:p>
            <a:pPr>
              <a:lnSpc>
                <a:spcPct val="120000"/>
              </a:lnSpc>
              <a:spcBef>
                <a:spcPts val="600"/>
              </a:spcBef>
            </a:pPr>
            <a:r>
              <a:rPr lang="en-US" sz="2800" dirty="0"/>
              <a:t>Find or prepare a dataset of any size with two types of images. Classify these two types by using the machine learning techniques in the following table on the same dataset and show their comparison in terms of accuracy and efficiency.</a:t>
            </a:r>
          </a:p>
        </p:txBody>
      </p:sp>
      <p:graphicFrame>
        <p:nvGraphicFramePr>
          <p:cNvPr id="5" name="Table 4"/>
          <p:cNvGraphicFramePr>
            <a:graphicFrameLocks noGrp="1"/>
          </p:cNvGraphicFramePr>
          <p:nvPr>
            <p:extLst>
              <p:ext uri="{D42A27DB-BD31-4B8C-83A1-F6EECF244321}">
                <p14:modId xmlns:p14="http://schemas.microsoft.com/office/powerpoint/2010/main" val="573348785"/>
              </p:ext>
            </p:extLst>
          </p:nvPr>
        </p:nvGraphicFramePr>
        <p:xfrm>
          <a:off x="334475" y="3796248"/>
          <a:ext cx="10586061" cy="1854200"/>
        </p:xfrm>
        <a:graphic>
          <a:graphicData uri="http://schemas.openxmlformats.org/drawingml/2006/table">
            <a:tbl>
              <a:tblPr firstRow="1" bandRow="1">
                <a:tableStyleId>{5C22544A-7EE6-4342-B048-85BDC9FD1C3A}</a:tableStyleId>
              </a:tblPr>
              <a:tblGrid>
                <a:gridCol w="470076">
                  <a:extLst>
                    <a:ext uri="{9D8B030D-6E8A-4147-A177-3AD203B41FA5}">
                      <a16:colId xmlns:a16="http://schemas.microsoft.com/office/drawing/2014/main" val="1725898748"/>
                    </a:ext>
                  </a:extLst>
                </a:gridCol>
                <a:gridCol w="3131210">
                  <a:extLst>
                    <a:ext uri="{9D8B030D-6E8A-4147-A177-3AD203B41FA5}">
                      <a16:colId xmlns:a16="http://schemas.microsoft.com/office/drawing/2014/main" val="3996995589"/>
                    </a:ext>
                  </a:extLst>
                </a:gridCol>
                <a:gridCol w="1944216">
                  <a:extLst>
                    <a:ext uri="{9D8B030D-6E8A-4147-A177-3AD203B41FA5}">
                      <a16:colId xmlns:a16="http://schemas.microsoft.com/office/drawing/2014/main" val="503111575"/>
                    </a:ext>
                  </a:extLst>
                </a:gridCol>
                <a:gridCol w="1728192">
                  <a:extLst>
                    <a:ext uri="{9D8B030D-6E8A-4147-A177-3AD203B41FA5}">
                      <a16:colId xmlns:a16="http://schemas.microsoft.com/office/drawing/2014/main" val="4041756325"/>
                    </a:ext>
                  </a:extLst>
                </a:gridCol>
                <a:gridCol w="3312367">
                  <a:extLst>
                    <a:ext uri="{9D8B030D-6E8A-4147-A177-3AD203B41FA5}">
                      <a16:colId xmlns:a16="http://schemas.microsoft.com/office/drawing/2014/main" val="155510927"/>
                    </a:ext>
                  </a:extLst>
                </a:gridCol>
              </a:tblGrid>
              <a:tr h="370840">
                <a:tc>
                  <a:txBody>
                    <a:bodyPr/>
                    <a:lstStyle/>
                    <a:p>
                      <a:pPr algn="ctr"/>
                      <a:r>
                        <a:rPr lang="en-US" dirty="0">
                          <a:latin typeface="Times New Roman" panose="02020603050405020304" pitchFamily="18" charset="0"/>
                          <a:cs typeface="Times New Roman" panose="02020603050405020304" pitchFamily="18" charset="0"/>
                        </a:rPr>
                        <a:t>#</a:t>
                      </a:r>
                    </a:p>
                  </a:txBody>
                  <a:tcPr/>
                </a:tc>
                <a:tc>
                  <a:txBody>
                    <a:bodyPr/>
                    <a:lstStyle/>
                    <a:p>
                      <a:pPr algn="ctr"/>
                      <a:r>
                        <a:rPr lang="en-US" dirty="0">
                          <a:latin typeface="Times New Roman" panose="02020603050405020304" pitchFamily="18" charset="0"/>
                          <a:cs typeface="Times New Roman" panose="02020603050405020304" pitchFamily="18" charset="0"/>
                        </a:rPr>
                        <a:t>Machine Learning Algorithm</a:t>
                      </a:r>
                    </a:p>
                  </a:txBody>
                  <a:tcPr/>
                </a:tc>
                <a:tc>
                  <a:txBody>
                    <a:bodyPr/>
                    <a:lstStyle/>
                    <a:p>
                      <a:pPr algn="ctr"/>
                      <a:r>
                        <a:rPr lang="en-US" dirty="0">
                          <a:latin typeface="Times New Roman" panose="02020603050405020304" pitchFamily="18" charset="0"/>
                          <a:cs typeface="Times New Roman" panose="02020603050405020304" pitchFamily="18" charset="0"/>
                        </a:rPr>
                        <a:t>Accuracy (%age)</a:t>
                      </a:r>
                    </a:p>
                  </a:txBody>
                  <a:tcPr/>
                </a:tc>
                <a:tc>
                  <a:txBody>
                    <a:bodyPr/>
                    <a:lstStyle/>
                    <a:p>
                      <a:pPr algn="ctr"/>
                      <a:r>
                        <a:rPr lang="en-US" dirty="0">
                          <a:latin typeface="Times New Roman" panose="02020603050405020304" pitchFamily="18" charset="0"/>
                          <a:cs typeface="Times New Roman" panose="02020603050405020304" pitchFamily="18" charset="0"/>
                        </a:rPr>
                        <a:t>Efficiency (Sec)</a:t>
                      </a:r>
                    </a:p>
                  </a:txBody>
                  <a:tcPr/>
                </a:tc>
                <a:tc>
                  <a:txBody>
                    <a:bodyPr/>
                    <a:lstStyle/>
                    <a:p>
                      <a:pPr algn="ctr"/>
                      <a:r>
                        <a:rPr lang="en-US" dirty="0">
                          <a:latin typeface="Times New Roman" panose="02020603050405020304" pitchFamily="18" charset="0"/>
                          <a:cs typeface="Times New Roman" panose="02020603050405020304" pitchFamily="18" charset="0"/>
                        </a:rPr>
                        <a:t>Comments</a:t>
                      </a:r>
                    </a:p>
                  </a:txBody>
                  <a:tcPr/>
                </a:tc>
                <a:extLst>
                  <a:ext uri="{0D108BD9-81ED-4DB2-BD59-A6C34878D82A}">
                    <a16:rowId xmlns:a16="http://schemas.microsoft.com/office/drawing/2014/main" val="4063012394"/>
                  </a:ext>
                </a:extLst>
              </a:tr>
              <a:tr h="370840">
                <a:tc>
                  <a:txBody>
                    <a:bodyPr/>
                    <a:lstStyle/>
                    <a:p>
                      <a:pPr algn="ctr"/>
                      <a:r>
                        <a:rPr lang="en-US" dirty="0">
                          <a:latin typeface="Times New Roman" panose="02020603050405020304" pitchFamily="18" charset="0"/>
                          <a:cs typeface="Times New Roman" panose="02020603050405020304" pitchFamily="18" charset="0"/>
                        </a:rPr>
                        <a:t>1</a:t>
                      </a:r>
                    </a:p>
                  </a:txBody>
                  <a:tcPr/>
                </a:tc>
                <a:tc>
                  <a:txBody>
                    <a:bodyPr/>
                    <a:lstStyle/>
                    <a:p>
                      <a:pPr algn="ctr"/>
                      <a:r>
                        <a:rPr lang="en-US" dirty="0">
                          <a:latin typeface="Times New Roman" panose="02020603050405020304" pitchFamily="18" charset="0"/>
                          <a:cs typeface="Times New Roman" panose="02020603050405020304" pitchFamily="18" charset="0"/>
                        </a:rPr>
                        <a:t>KNN</a:t>
                      </a:r>
                    </a:p>
                  </a:txBody>
                  <a:tcPr/>
                </a:tc>
                <a:tc>
                  <a:txBody>
                    <a:bodyPr/>
                    <a:lstStyle/>
                    <a:p>
                      <a:pPr algn="ctr"/>
                      <a:endParaRPr lang="en-US">
                        <a:latin typeface="Times New Roman" panose="02020603050405020304" pitchFamily="18" charset="0"/>
                        <a:cs typeface="Times New Roman" panose="02020603050405020304" pitchFamily="18" charset="0"/>
                      </a:endParaRPr>
                    </a:p>
                  </a:txBody>
                  <a:tcPr/>
                </a:tc>
                <a:tc>
                  <a:txBody>
                    <a:bodyPr/>
                    <a:lstStyle/>
                    <a:p>
                      <a:pPr algn="ctr"/>
                      <a:endParaRPr lang="en-US">
                        <a:latin typeface="Times New Roman" panose="02020603050405020304" pitchFamily="18" charset="0"/>
                        <a:cs typeface="Times New Roman" panose="02020603050405020304" pitchFamily="18" charset="0"/>
                      </a:endParaRPr>
                    </a:p>
                  </a:txBody>
                  <a:tcPr/>
                </a:tc>
                <a:tc>
                  <a:txBody>
                    <a:bodyPr/>
                    <a:lstStyle/>
                    <a:p>
                      <a:pPr algn="ct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80375347"/>
                  </a:ext>
                </a:extLst>
              </a:tr>
              <a:tr h="370840">
                <a:tc>
                  <a:txBody>
                    <a:bodyPr/>
                    <a:lstStyle/>
                    <a:p>
                      <a:pPr algn="ctr"/>
                      <a:r>
                        <a:rPr lang="en-US" dirty="0">
                          <a:latin typeface="Times New Roman" panose="02020603050405020304" pitchFamily="18" charset="0"/>
                          <a:cs typeface="Times New Roman" panose="02020603050405020304" pitchFamily="18" charset="0"/>
                        </a:rPr>
                        <a:t>2</a:t>
                      </a:r>
                    </a:p>
                  </a:txBody>
                  <a:tcPr/>
                </a:tc>
                <a:tc>
                  <a:txBody>
                    <a:bodyPr/>
                    <a:lstStyle/>
                    <a:p>
                      <a:pPr algn="ctr"/>
                      <a:r>
                        <a:rPr lang="en-US" dirty="0">
                          <a:latin typeface="Times New Roman" panose="02020603050405020304" pitchFamily="18" charset="0"/>
                          <a:cs typeface="Times New Roman" panose="02020603050405020304" pitchFamily="18" charset="0"/>
                        </a:rPr>
                        <a:t>SVM</a:t>
                      </a:r>
                    </a:p>
                  </a:txBody>
                  <a:tcPr/>
                </a:tc>
                <a:tc>
                  <a:txBody>
                    <a:bodyPr/>
                    <a:lstStyle/>
                    <a:p>
                      <a:pPr algn="ctr"/>
                      <a:endParaRPr lang="en-US">
                        <a:latin typeface="Times New Roman" panose="02020603050405020304" pitchFamily="18" charset="0"/>
                        <a:cs typeface="Times New Roman" panose="02020603050405020304" pitchFamily="18" charset="0"/>
                      </a:endParaRPr>
                    </a:p>
                  </a:txBody>
                  <a:tcPr/>
                </a:tc>
                <a:tc>
                  <a:txBody>
                    <a:bodyPr/>
                    <a:lstStyle/>
                    <a:p>
                      <a:pPr algn="ctr"/>
                      <a:endParaRPr lang="en-US">
                        <a:latin typeface="Times New Roman" panose="02020603050405020304" pitchFamily="18" charset="0"/>
                        <a:cs typeface="Times New Roman" panose="02020603050405020304" pitchFamily="18" charset="0"/>
                      </a:endParaRPr>
                    </a:p>
                  </a:txBody>
                  <a:tcPr/>
                </a:tc>
                <a:tc>
                  <a:txBody>
                    <a:bodyPr/>
                    <a:lstStyle/>
                    <a:p>
                      <a:pPr algn="ct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49613938"/>
                  </a:ext>
                </a:extLst>
              </a:tr>
              <a:tr h="370840">
                <a:tc>
                  <a:txBody>
                    <a:bodyPr/>
                    <a:lstStyle/>
                    <a:p>
                      <a:pPr algn="ctr"/>
                      <a:r>
                        <a:rPr lang="en-US" dirty="0">
                          <a:latin typeface="Times New Roman" panose="02020603050405020304" pitchFamily="18" charset="0"/>
                          <a:cs typeface="Times New Roman" panose="02020603050405020304" pitchFamily="18" charset="0"/>
                        </a:rPr>
                        <a:t>3</a:t>
                      </a:r>
                    </a:p>
                  </a:txBody>
                  <a:tcPr/>
                </a:tc>
                <a:tc>
                  <a:txBody>
                    <a:bodyPr/>
                    <a:lstStyle/>
                    <a:p>
                      <a:pPr algn="ctr"/>
                      <a:r>
                        <a:rPr lang="en-US" dirty="0">
                          <a:latin typeface="Times New Roman" panose="02020603050405020304" pitchFamily="18" charset="0"/>
                          <a:cs typeface="Times New Roman" panose="02020603050405020304" pitchFamily="18" charset="0"/>
                        </a:rPr>
                        <a:t>Deep Learning</a:t>
                      </a:r>
                    </a:p>
                  </a:txBody>
                  <a:tcPr/>
                </a:tc>
                <a:tc>
                  <a:txBody>
                    <a:bodyPr/>
                    <a:lstStyle/>
                    <a:p>
                      <a:pPr algn="ctr"/>
                      <a:endParaRPr lang="en-US" dirty="0">
                        <a:latin typeface="Times New Roman" panose="02020603050405020304" pitchFamily="18" charset="0"/>
                        <a:cs typeface="Times New Roman" panose="02020603050405020304" pitchFamily="18" charset="0"/>
                      </a:endParaRPr>
                    </a:p>
                  </a:txBody>
                  <a:tcPr/>
                </a:tc>
                <a:tc>
                  <a:txBody>
                    <a:bodyPr/>
                    <a:lstStyle/>
                    <a:p>
                      <a:pPr algn="ctr"/>
                      <a:endParaRPr lang="en-US">
                        <a:latin typeface="Times New Roman" panose="02020603050405020304" pitchFamily="18" charset="0"/>
                        <a:cs typeface="Times New Roman" panose="02020603050405020304" pitchFamily="18" charset="0"/>
                      </a:endParaRPr>
                    </a:p>
                  </a:txBody>
                  <a:tcPr/>
                </a:tc>
                <a:tc>
                  <a:txBody>
                    <a:bodyPr/>
                    <a:lstStyle/>
                    <a:p>
                      <a:pPr algn="ct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56789568"/>
                  </a:ext>
                </a:extLst>
              </a:tr>
              <a:tr h="370840">
                <a:tc>
                  <a:txBody>
                    <a:bodyPr/>
                    <a:lstStyle/>
                    <a:p>
                      <a:pPr algn="ctr"/>
                      <a:r>
                        <a:rPr lang="en-US" dirty="0">
                          <a:latin typeface="Times New Roman" panose="02020603050405020304" pitchFamily="18" charset="0"/>
                          <a:cs typeface="Times New Roman" panose="02020603050405020304" pitchFamily="18" charset="0"/>
                        </a:rPr>
                        <a:t>4</a:t>
                      </a:r>
                    </a:p>
                  </a:txBody>
                  <a:tcPr/>
                </a:tc>
                <a:tc>
                  <a:txBody>
                    <a:bodyPr/>
                    <a:lstStyle/>
                    <a:p>
                      <a:pPr algn="ctr"/>
                      <a:r>
                        <a:rPr lang="en-US" dirty="0">
                          <a:latin typeface="Times New Roman" panose="02020603050405020304" pitchFamily="18" charset="0"/>
                          <a:cs typeface="Times New Roman" panose="02020603050405020304" pitchFamily="18" charset="0"/>
                        </a:rPr>
                        <a:t>Transfer Learning</a:t>
                      </a:r>
                    </a:p>
                  </a:txBody>
                  <a:tcPr/>
                </a:tc>
                <a:tc>
                  <a:txBody>
                    <a:bodyPr/>
                    <a:lstStyle/>
                    <a:p>
                      <a:pPr algn="ctr"/>
                      <a:endParaRPr lang="en-US">
                        <a:latin typeface="Times New Roman" panose="02020603050405020304" pitchFamily="18" charset="0"/>
                        <a:cs typeface="Times New Roman" panose="02020603050405020304" pitchFamily="18" charset="0"/>
                      </a:endParaRPr>
                    </a:p>
                  </a:txBody>
                  <a:tcPr/>
                </a:tc>
                <a:tc>
                  <a:txBody>
                    <a:bodyPr/>
                    <a:lstStyle/>
                    <a:p>
                      <a:pPr algn="ctr"/>
                      <a:endParaRPr lang="en-US">
                        <a:latin typeface="Times New Roman" panose="02020603050405020304" pitchFamily="18" charset="0"/>
                        <a:cs typeface="Times New Roman" panose="02020603050405020304" pitchFamily="18" charset="0"/>
                      </a:endParaRPr>
                    </a:p>
                  </a:txBody>
                  <a:tcPr/>
                </a:tc>
                <a:tc>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81078012"/>
                  </a:ext>
                </a:extLst>
              </a:tr>
            </a:tbl>
          </a:graphicData>
        </a:graphic>
      </p:graphicFrame>
    </p:spTree>
    <p:extLst>
      <p:ext uri="{BB962C8B-B14F-4D97-AF65-F5344CB8AC3E}">
        <p14:creationId xmlns:p14="http://schemas.microsoft.com/office/powerpoint/2010/main" val="40288689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6600" dirty="0"/>
              <a:t>References</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kern="0" dirty="0">
                <a:solidFill>
                  <a:sysClr val="windowText" lastClr="000000"/>
                </a:solidFill>
                <a:hlinkClick r:id="rId2"/>
              </a:rPr>
              <a:t>https://www.youtube.com/@UCFCRCV/videos</a:t>
            </a:r>
            <a:r>
              <a:rPr lang="en-US" kern="0" dirty="0">
                <a:solidFill>
                  <a:sysClr val="windowText" lastClr="000000"/>
                </a:solidFill>
              </a:rPr>
              <a:t>  </a:t>
            </a:r>
            <a:endParaRPr lang="en-US" kern="0" dirty="0">
              <a:solidFill>
                <a:sysClr val="windowText" lastClr="000000"/>
              </a:solidFill>
              <a:hlinkClick r:id="rId3"/>
            </a:endParaRPr>
          </a:p>
          <a:p>
            <a:pPr marL="514350" indent="-514350">
              <a:buFont typeface="+mj-lt"/>
              <a:buAutoNum type="arabicPeriod"/>
            </a:pPr>
            <a:r>
              <a:rPr lang="en-US" kern="0" dirty="0">
                <a:solidFill>
                  <a:sysClr val="windowText" lastClr="000000"/>
                </a:solidFill>
                <a:hlinkClick r:id="rId3"/>
              </a:rPr>
              <a:t>http://vision.stanford.edu/</a:t>
            </a:r>
            <a:r>
              <a:rPr lang="en-US" kern="0" dirty="0">
                <a:solidFill>
                  <a:sysClr val="windowText" lastClr="000000"/>
                </a:solidFill>
              </a:rPr>
              <a:t> </a:t>
            </a:r>
          </a:p>
          <a:p>
            <a:pPr marL="514350" indent="-514350">
              <a:buFont typeface="+mj-lt"/>
              <a:buAutoNum type="arabicPeriod"/>
            </a:pPr>
            <a:r>
              <a:rPr lang="en-US" dirty="0">
                <a:hlinkClick r:id="rId4"/>
              </a:rPr>
              <a:t>https://nptel.ac.in/courses/106/105/106105216/</a:t>
            </a:r>
          </a:p>
          <a:p>
            <a:pPr marL="514350" indent="-514350">
              <a:buFont typeface="+mj-lt"/>
              <a:buAutoNum type="arabicPeriod"/>
            </a:pPr>
            <a:r>
              <a:rPr lang="en-US" dirty="0">
                <a:hlinkClick r:id="rId4"/>
              </a:rPr>
              <a:t>http://cs.stanford.edu/people/karpathy/</a:t>
            </a:r>
            <a:endParaRPr lang="en-US" dirty="0"/>
          </a:p>
          <a:p>
            <a:pPr marL="514350" indent="-514350">
              <a:buFont typeface="+mj-lt"/>
              <a:buAutoNum type="arabicPeriod"/>
            </a:pPr>
            <a:r>
              <a:rPr lang="en-US" dirty="0">
                <a:hlinkClick r:id="rId5"/>
              </a:rPr>
              <a:t>http://www.vision.ee.ethz.ch/~daid/EnProDeepFets/</a:t>
            </a:r>
            <a:endParaRPr lang="en-US" dirty="0"/>
          </a:p>
          <a:p>
            <a:pPr marL="514350" indent="-514350">
              <a:buFont typeface="+mj-lt"/>
              <a:buAutoNum type="arabicPeriod"/>
            </a:pPr>
            <a:r>
              <a:rPr lang="en-US" dirty="0">
                <a:hlinkClick r:id="rId6"/>
              </a:rPr>
              <a:t>http://natureofcode.com/book/chapter-10-neural-networks/</a:t>
            </a:r>
            <a:r>
              <a:rPr lang="en-US" dirty="0"/>
              <a:t>   </a:t>
            </a:r>
          </a:p>
          <a:p>
            <a:pPr marL="514350" indent="-514350">
              <a:buFont typeface="+mj-lt"/>
              <a:buAutoNum type="arabicPeriod"/>
            </a:pPr>
            <a:r>
              <a:rPr lang="en-US" dirty="0">
                <a:hlinkClick r:id="rId7"/>
              </a:rPr>
              <a:t>http://dipwm.blogspot.com/2013/01/svm-support-vector-machine-with-matlab.html</a:t>
            </a:r>
            <a:r>
              <a:rPr lang="en-US" dirty="0"/>
              <a:t>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 Stuff</a:t>
            </a:r>
          </a:p>
        </p:txBody>
      </p:sp>
    </p:spTree>
    <p:extLst>
      <p:ext uri="{BB962C8B-B14F-4D97-AF65-F5344CB8AC3E}">
        <p14:creationId xmlns:p14="http://schemas.microsoft.com/office/powerpoint/2010/main" val="8828465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Classification Algorithms</a:t>
            </a:r>
          </a:p>
        </p:txBody>
      </p:sp>
      <p:sp>
        <p:nvSpPr>
          <p:cNvPr id="3" name="Rectangle 2"/>
          <p:cNvSpPr/>
          <p:nvPr/>
        </p:nvSpPr>
        <p:spPr>
          <a:xfrm>
            <a:off x="190459" y="1268761"/>
            <a:ext cx="11810197" cy="5262979"/>
          </a:xfrm>
          <a:prstGeom prst="rect">
            <a:avLst/>
          </a:prstGeom>
        </p:spPr>
        <p:txBody>
          <a:bodyPr wrap="square">
            <a:spAutoFit/>
          </a:bodyPr>
          <a:lstStyle/>
          <a:p>
            <a:pPr algn="just">
              <a:spcBef>
                <a:spcPts val="600"/>
              </a:spcBef>
              <a:spcAft>
                <a:spcPts val="600"/>
              </a:spcAft>
            </a:pPr>
            <a:r>
              <a:rPr lang="en-GB" sz="3600" dirty="0">
                <a:solidFill>
                  <a:srgbClr val="000000"/>
                </a:solidFill>
                <a:latin typeface="Times New Roman" panose="02020603050405020304" pitchFamily="18" charset="0"/>
                <a:cs typeface="Times New Roman" panose="02020603050405020304" pitchFamily="18" charset="0"/>
              </a:rPr>
              <a:t>Classification Model Training </a:t>
            </a:r>
          </a:p>
          <a:p>
            <a:pPr algn="just">
              <a:spcBef>
                <a:spcPts val="600"/>
              </a:spcBef>
              <a:spcAft>
                <a:spcPts val="600"/>
              </a:spcAft>
            </a:pPr>
            <a:r>
              <a:rPr lang="en-GB" sz="2800" dirty="0">
                <a:solidFill>
                  <a:srgbClr val="000000"/>
                </a:solidFill>
                <a:latin typeface="Times New Roman" panose="02020603050405020304" pitchFamily="18" charset="0"/>
                <a:cs typeface="Times New Roman" panose="02020603050405020304" pitchFamily="18" charset="0"/>
              </a:rPr>
              <a:t>Each model is trained to detect a specific type of object. The classification models are trained by extracting features from a set of known images. These extracted features are then fed into a learning algorithm to train the classification model. Computer Vision System Toolbox software uses the Viola-Jones cascade object detector. This detector includes Haar-like [6] features and cascade of classifiers trained using boosting.</a:t>
            </a:r>
          </a:p>
          <a:p>
            <a:pPr algn="just">
              <a:spcBef>
                <a:spcPts val="600"/>
              </a:spcBef>
              <a:spcAft>
                <a:spcPts val="600"/>
              </a:spcAft>
            </a:pPr>
            <a:r>
              <a:rPr lang="en-GB" sz="2800" dirty="0">
                <a:solidFill>
                  <a:srgbClr val="000000"/>
                </a:solidFill>
                <a:latin typeface="Times New Roman" panose="02020603050405020304" pitchFamily="18" charset="0"/>
                <a:cs typeface="Times New Roman" panose="02020603050405020304" pitchFamily="18" charset="0"/>
              </a:rPr>
              <a:t>The image size used to train the classifiers defines the smallest region containing the object. Training image sizes vary according to the application, type of target object, and available positive images. You must set the MinSize property to a value greater than or equal to the image size used to train the model…..</a:t>
            </a:r>
            <a:endParaRPr 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80168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0458" y="1196752"/>
            <a:ext cx="10572469" cy="5616624"/>
          </a:xfrm>
          <a:prstGeom prst="rect">
            <a:avLst/>
          </a:prstGeom>
        </p:spPr>
      </p:pic>
      <p:sp>
        <p:nvSpPr>
          <p:cNvPr id="7" name="Title 1">
            <a:extLst>
              <a:ext uri="{FF2B5EF4-FFF2-40B4-BE49-F238E27FC236}">
                <a16:creationId xmlns:a16="http://schemas.microsoft.com/office/drawing/2014/main" id="{91CE96E7-67BF-9188-1364-DDA61A8184F5}"/>
              </a:ext>
            </a:extLst>
          </p:cNvPr>
          <p:cNvSpPr>
            <a:spLocks noGrp="1"/>
          </p:cNvSpPr>
          <p:nvPr>
            <p:ph type="title"/>
          </p:nvPr>
        </p:nvSpPr>
        <p:spPr>
          <a:xfrm>
            <a:off x="190459" y="71414"/>
            <a:ext cx="10001320" cy="928694"/>
          </a:xfrm>
        </p:spPr>
        <p:txBody>
          <a:bodyPr>
            <a:normAutofit/>
          </a:bodyPr>
          <a:lstStyle/>
          <a:p>
            <a:r>
              <a:rPr lang="en-US" dirty="0"/>
              <a:t>Classification Algorithms</a:t>
            </a:r>
          </a:p>
        </p:txBody>
      </p:sp>
    </p:spTree>
    <p:extLst>
      <p:ext uri="{BB962C8B-B14F-4D97-AF65-F5344CB8AC3E}">
        <p14:creationId xmlns:p14="http://schemas.microsoft.com/office/powerpoint/2010/main" val="41016298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MATLAB DEMOS</a:t>
            </a:r>
          </a:p>
        </p:txBody>
      </p:sp>
      <p:pic>
        <p:nvPicPr>
          <p:cNvPr id="6" name="Picture 5"/>
          <p:cNvPicPr>
            <a:picLocks noChangeAspect="1"/>
          </p:cNvPicPr>
          <p:nvPr/>
        </p:nvPicPr>
        <p:blipFill>
          <a:blip r:embed="rId3"/>
          <a:stretch>
            <a:fillRect/>
          </a:stretch>
        </p:blipFill>
        <p:spPr>
          <a:xfrm>
            <a:off x="119336" y="922781"/>
            <a:ext cx="10472168" cy="5890595"/>
          </a:xfrm>
          <a:prstGeom prst="rect">
            <a:avLst/>
          </a:prstGeom>
        </p:spPr>
      </p:pic>
    </p:spTree>
    <p:extLst>
      <p:ext uri="{BB962C8B-B14F-4D97-AF65-F5344CB8AC3E}">
        <p14:creationId xmlns:p14="http://schemas.microsoft.com/office/powerpoint/2010/main" val="40505967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 Video Surveyalance</a:t>
            </a:r>
          </a:p>
        </p:txBody>
      </p:sp>
      <p:pic>
        <p:nvPicPr>
          <p:cNvPr id="3" name="Picture 2"/>
          <p:cNvPicPr>
            <a:picLocks noChangeAspect="1"/>
          </p:cNvPicPr>
          <p:nvPr/>
        </p:nvPicPr>
        <p:blipFill>
          <a:blip r:embed="rId3"/>
          <a:stretch>
            <a:fillRect/>
          </a:stretch>
        </p:blipFill>
        <p:spPr>
          <a:xfrm>
            <a:off x="2159563" y="1196752"/>
            <a:ext cx="9985109" cy="5616624"/>
          </a:xfrm>
          <a:prstGeom prst="rect">
            <a:avLst/>
          </a:prstGeom>
        </p:spPr>
      </p:pic>
      <p:sp>
        <p:nvSpPr>
          <p:cNvPr id="5" name="TextBox 4"/>
          <p:cNvSpPr txBox="1"/>
          <p:nvPr/>
        </p:nvSpPr>
        <p:spPr>
          <a:xfrm>
            <a:off x="29003" y="2204864"/>
            <a:ext cx="1962542" cy="1384995"/>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Abandoned Object Detection</a:t>
            </a:r>
          </a:p>
        </p:txBody>
      </p:sp>
    </p:spTree>
    <p:extLst>
      <p:ext uri="{BB962C8B-B14F-4D97-AF65-F5344CB8AC3E}">
        <p14:creationId xmlns:p14="http://schemas.microsoft.com/office/powerpoint/2010/main" val="30586541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6844" y="71414"/>
            <a:ext cx="7885540" cy="928694"/>
          </a:xfrm>
        </p:spPr>
        <p:txBody>
          <a:bodyPr>
            <a:normAutofit/>
          </a:bodyPr>
          <a:lstStyle/>
          <a:p>
            <a:r>
              <a:rPr lang="en-US" dirty="0"/>
              <a:t>A Simple Classifier: </a:t>
            </a:r>
            <a:r>
              <a:rPr lang="en-US" sz="3100" dirty="0"/>
              <a:t>Nearest Neighbor</a:t>
            </a:r>
          </a:p>
        </p:txBody>
      </p:sp>
      <p:sp>
        <p:nvSpPr>
          <p:cNvPr id="3" name="Content Placeholder 2"/>
          <p:cNvSpPr>
            <a:spLocks noGrp="1"/>
          </p:cNvSpPr>
          <p:nvPr>
            <p:ph idx="1"/>
          </p:nvPr>
        </p:nvSpPr>
        <p:spPr>
          <a:xfrm>
            <a:off x="1666844" y="1340768"/>
            <a:ext cx="8282818" cy="2130998"/>
          </a:xfrm>
        </p:spPr>
        <p:txBody>
          <a:bodyPr>
            <a:normAutofit/>
          </a:bodyPr>
          <a:lstStyle/>
          <a:p>
            <a:r>
              <a:rPr lang="en-GB" sz="2800" dirty="0"/>
              <a:t>1. Collect a dataset of images and label them</a:t>
            </a:r>
          </a:p>
          <a:p>
            <a:r>
              <a:rPr lang="en-GB" sz="2800" dirty="0"/>
              <a:t>2. Use Machine Learning to train an image classifier</a:t>
            </a:r>
          </a:p>
          <a:p>
            <a:r>
              <a:rPr lang="en-GB" sz="2800" dirty="0"/>
              <a:t>3. Evaluate the classifier on a withheld set of test images</a:t>
            </a:r>
          </a:p>
          <a:p>
            <a:r>
              <a:rPr lang="en-GB" sz="2800" dirty="0"/>
              <a:t>				Example training set</a:t>
            </a:r>
          </a:p>
        </p:txBody>
      </p:sp>
      <p:pic>
        <p:nvPicPr>
          <p:cNvPr id="4" name="Picture 3"/>
          <p:cNvPicPr>
            <a:picLocks noChangeAspect="1"/>
          </p:cNvPicPr>
          <p:nvPr/>
        </p:nvPicPr>
        <p:blipFill>
          <a:blip r:embed="rId3"/>
          <a:stretch>
            <a:fillRect/>
          </a:stretch>
        </p:blipFill>
        <p:spPr>
          <a:xfrm>
            <a:off x="3143673" y="3429001"/>
            <a:ext cx="7431699" cy="3305881"/>
          </a:xfrm>
          <a:prstGeom prst="rect">
            <a:avLst/>
          </a:prstGeom>
        </p:spPr>
      </p:pic>
    </p:spTree>
    <p:extLst>
      <p:ext uri="{BB962C8B-B14F-4D97-AF65-F5344CB8AC3E}">
        <p14:creationId xmlns:p14="http://schemas.microsoft.com/office/powerpoint/2010/main" val="18582293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6844" y="71414"/>
            <a:ext cx="7885540" cy="928694"/>
          </a:xfrm>
        </p:spPr>
        <p:txBody>
          <a:bodyPr>
            <a:normAutofit/>
          </a:bodyPr>
          <a:lstStyle/>
          <a:p>
            <a:r>
              <a:rPr lang="en-US" dirty="0"/>
              <a:t>A Simple Classifier: </a:t>
            </a:r>
            <a:r>
              <a:rPr lang="en-US" sz="3100" dirty="0"/>
              <a:t>Nearest Neighbor</a:t>
            </a:r>
          </a:p>
        </p:txBody>
      </p:sp>
      <p:sp>
        <p:nvSpPr>
          <p:cNvPr id="4" name="Content Placeholder 3"/>
          <p:cNvSpPr>
            <a:spLocks noGrp="1"/>
          </p:cNvSpPr>
          <p:nvPr>
            <p:ph idx="1"/>
          </p:nvPr>
        </p:nvSpPr>
        <p:spPr>
          <a:xfrm>
            <a:off x="1666844" y="1285860"/>
            <a:ext cx="4220610" cy="5500726"/>
          </a:xfrm>
        </p:spPr>
        <p:txBody>
          <a:bodyPr>
            <a:normAutofit/>
          </a:bodyPr>
          <a:lstStyle/>
          <a:p>
            <a:r>
              <a:rPr lang="en-US" sz="2400" dirty="0"/>
              <a:t>Example dataset: CIFAR-10</a:t>
            </a:r>
          </a:p>
          <a:p>
            <a:r>
              <a:rPr lang="en-US" sz="2400" dirty="0"/>
              <a:t>10 labels</a:t>
            </a:r>
          </a:p>
          <a:p>
            <a:r>
              <a:rPr lang="en-US" sz="2400" dirty="0"/>
              <a:t>50,000 training images</a:t>
            </a:r>
          </a:p>
          <a:p>
            <a:r>
              <a:rPr lang="en-US" sz="2400" dirty="0"/>
              <a:t>10,000 test images.</a:t>
            </a:r>
          </a:p>
        </p:txBody>
      </p:sp>
      <p:pic>
        <p:nvPicPr>
          <p:cNvPr id="5" name="Picture 4"/>
          <p:cNvPicPr>
            <a:picLocks noChangeAspect="1"/>
          </p:cNvPicPr>
          <p:nvPr/>
        </p:nvPicPr>
        <p:blipFill>
          <a:blip r:embed="rId3"/>
          <a:stretch>
            <a:fillRect/>
          </a:stretch>
        </p:blipFill>
        <p:spPr>
          <a:xfrm>
            <a:off x="1699988" y="3573017"/>
            <a:ext cx="4187466" cy="3211154"/>
          </a:xfrm>
          <a:prstGeom prst="rect">
            <a:avLst/>
          </a:prstGeom>
        </p:spPr>
      </p:pic>
      <p:pic>
        <p:nvPicPr>
          <p:cNvPr id="6" name="Picture 5"/>
          <p:cNvPicPr>
            <a:picLocks noChangeAspect="1"/>
          </p:cNvPicPr>
          <p:nvPr/>
        </p:nvPicPr>
        <p:blipFill>
          <a:blip r:embed="rId4"/>
          <a:stretch>
            <a:fillRect/>
          </a:stretch>
        </p:blipFill>
        <p:spPr>
          <a:xfrm>
            <a:off x="6593366" y="3573018"/>
            <a:ext cx="3823115" cy="3168351"/>
          </a:xfrm>
          <a:prstGeom prst="rect">
            <a:avLst/>
          </a:prstGeom>
        </p:spPr>
      </p:pic>
      <p:sp>
        <p:nvSpPr>
          <p:cNvPr id="7" name="Rectangle 6"/>
          <p:cNvSpPr/>
          <p:nvPr/>
        </p:nvSpPr>
        <p:spPr>
          <a:xfrm>
            <a:off x="6528048" y="2721114"/>
            <a:ext cx="4122400" cy="707886"/>
          </a:xfrm>
          <a:prstGeom prst="rect">
            <a:avLst/>
          </a:prstGeom>
        </p:spPr>
        <p:txBody>
          <a:bodyPr wrap="square">
            <a:spAutoFit/>
          </a:bodyPr>
          <a:lstStyle/>
          <a:p>
            <a:r>
              <a:rPr lang="en-GB" sz="2000" dirty="0">
                <a:latin typeface="Times New Roman" panose="02020603050405020304" pitchFamily="18" charset="0"/>
                <a:cs typeface="Times New Roman" panose="02020603050405020304" pitchFamily="18" charset="0"/>
              </a:rPr>
              <a:t>For every test image (first column),</a:t>
            </a:r>
          </a:p>
          <a:p>
            <a:r>
              <a:rPr lang="en-GB" sz="2000" dirty="0">
                <a:latin typeface="Times New Roman" panose="02020603050405020304" pitchFamily="18" charset="0"/>
                <a:cs typeface="Times New Roman" panose="02020603050405020304" pitchFamily="18" charset="0"/>
              </a:rPr>
              <a:t>examples of nearest </a:t>
            </a:r>
            <a:r>
              <a:rPr lang="en-GB" sz="2000" dirty="0" err="1">
                <a:latin typeface="Times New Roman" panose="02020603050405020304" pitchFamily="18" charset="0"/>
                <a:cs typeface="Times New Roman" panose="02020603050405020304" pitchFamily="18" charset="0"/>
              </a:rPr>
              <a:t>neighbors</a:t>
            </a:r>
            <a:r>
              <a:rPr lang="en-GB" sz="2000" dirty="0">
                <a:latin typeface="Times New Roman" panose="02020603050405020304" pitchFamily="18" charset="0"/>
                <a:cs typeface="Times New Roman" panose="02020603050405020304" pitchFamily="18" charset="0"/>
              </a:rPr>
              <a:t> in rows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5093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6844" y="71414"/>
            <a:ext cx="7885540" cy="928694"/>
          </a:xfrm>
        </p:spPr>
        <p:txBody>
          <a:bodyPr>
            <a:normAutofit/>
          </a:bodyPr>
          <a:lstStyle/>
          <a:p>
            <a:r>
              <a:rPr lang="en-US" dirty="0"/>
              <a:t>A Simple Classifier: </a:t>
            </a:r>
            <a:r>
              <a:rPr lang="en-US" sz="3100" dirty="0"/>
              <a:t>Nearest Neighbor</a:t>
            </a:r>
          </a:p>
        </p:txBody>
      </p:sp>
      <p:sp>
        <p:nvSpPr>
          <p:cNvPr id="4" name="Content Placeholder 3"/>
          <p:cNvSpPr>
            <a:spLocks noGrp="1"/>
          </p:cNvSpPr>
          <p:nvPr>
            <p:ph idx="1"/>
          </p:nvPr>
        </p:nvSpPr>
        <p:spPr>
          <a:xfrm>
            <a:off x="1666844" y="1285860"/>
            <a:ext cx="8317588" cy="991012"/>
          </a:xfrm>
        </p:spPr>
        <p:txBody>
          <a:bodyPr>
            <a:normAutofit/>
          </a:bodyPr>
          <a:lstStyle/>
          <a:p>
            <a:r>
              <a:rPr lang="en-GB" sz="2400" dirty="0"/>
              <a:t>How do we compare the images? </a:t>
            </a:r>
          </a:p>
          <a:p>
            <a:r>
              <a:rPr lang="en-GB" sz="2400" dirty="0"/>
              <a:t>What is the distance metric?</a:t>
            </a:r>
            <a:endParaRPr lang="en-US" sz="2400" dirty="0"/>
          </a:p>
        </p:txBody>
      </p:sp>
      <p:pic>
        <p:nvPicPr>
          <p:cNvPr id="8" name="Picture 7"/>
          <p:cNvPicPr>
            <a:picLocks noChangeAspect="1"/>
          </p:cNvPicPr>
          <p:nvPr/>
        </p:nvPicPr>
        <p:blipFill>
          <a:blip r:embed="rId3"/>
          <a:stretch>
            <a:fillRect/>
          </a:stretch>
        </p:blipFill>
        <p:spPr>
          <a:xfrm>
            <a:off x="1559496" y="2822680"/>
            <a:ext cx="9017768" cy="3630656"/>
          </a:xfrm>
          <a:prstGeom prst="rect">
            <a:avLst/>
          </a:prstGeom>
        </p:spPr>
      </p:pic>
    </p:spTree>
    <p:extLst>
      <p:ext uri="{BB962C8B-B14F-4D97-AF65-F5344CB8AC3E}">
        <p14:creationId xmlns:p14="http://schemas.microsoft.com/office/powerpoint/2010/main" val="3924705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33231</TotalTime>
  <Words>6527</Words>
  <Application>Microsoft Office PowerPoint</Application>
  <PresentationFormat>Widescreen</PresentationFormat>
  <Paragraphs>799</Paragraphs>
  <Slides>82</Slides>
  <Notes>70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82</vt:i4>
      </vt:variant>
    </vt:vector>
  </HeadingPairs>
  <TitlesOfParts>
    <vt:vector size="89" baseType="lpstr">
      <vt:lpstr>Courier New</vt:lpstr>
      <vt:lpstr>Arial</vt:lpstr>
      <vt:lpstr>Calibri</vt:lpstr>
      <vt:lpstr>Century Gothic</vt:lpstr>
      <vt:lpstr>Wingdings</vt:lpstr>
      <vt:lpstr>Times New Roman</vt:lpstr>
      <vt:lpstr>Office Theme</vt:lpstr>
      <vt:lpstr>Visual Classification</vt:lpstr>
      <vt:lpstr>Teacher Appreciation</vt:lpstr>
      <vt:lpstr>PowerPoint Presentation</vt:lpstr>
      <vt:lpstr>Popular Classifiers</vt:lpstr>
      <vt:lpstr>Image Classification</vt:lpstr>
      <vt:lpstr>Image Classification: The Problem</vt:lpstr>
      <vt:lpstr>Image Classification: Challenges</vt:lpstr>
      <vt:lpstr>Image Classification: Challenges</vt:lpstr>
      <vt:lpstr>Image Classification: Challenges</vt:lpstr>
      <vt:lpstr>Image Classification: Challenges</vt:lpstr>
      <vt:lpstr>An Image Classifier</vt:lpstr>
      <vt:lpstr>An Image Classifier: Data-driven approach</vt:lpstr>
      <vt:lpstr>The Image Classification Pipeline</vt:lpstr>
      <vt:lpstr>The Image Classification Pipeline</vt:lpstr>
      <vt:lpstr>The Machine Learning Framework</vt:lpstr>
      <vt:lpstr>Nearest Neighbor Classifier </vt:lpstr>
      <vt:lpstr>Nearest Neighbor Classifier </vt:lpstr>
      <vt:lpstr>K Nearest Neighbor (KNN)</vt:lpstr>
      <vt:lpstr>KNN vs K-Means Clustering</vt:lpstr>
      <vt:lpstr>Example: Sample of data set</vt:lpstr>
      <vt:lpstr>Example: Sample of data set</vt:lpstr>
      <vt:lpstr>Example </vt:lpstr>
      <vt:lpstr>Example: Code…</vt:lpstr>
      <vt:lpstr>Example: Code…</vt:lpstr>
      <vt:lpstr>Example: Code…</vt:lpstr>
      <vt:lpstr>Example: Code</vt:lpstr>
      <vt:lpstr>Example: Analysis</vt:lpstr>
      <vt:lpstr>K Nearest Neighbor (KNN)</vt:lpstr>
      <vt:lpstr>SVM</vt:lpstr>
      <vt:lpstr>SVM</vt:lpstr>
      <vt:lpstr>Example: Visual Classification by SVM</vt:lpstr>
      <vt:lpstr>Example: Visual Classification by SVM</vt:lpstr>
      <vt:lpstr>Example: Visual Classification by SVM</vt:lpstr>
      <vt:lpstr>SVM: Code…</vt:lpstr>
      <vt:lpstr>SVM: Code…</vt:lpstr>
      <vt:lpstr>SVM: Code…</vt:lpstr>
      <vt:lpstr>SVM: Code…</vt:lpstr>
      <vt:lpstr>SVM: Code…</vt:lpstr>
      <vt:lpstr>SVM: Code</vt:lpstr>
      <vt:lpstr>PowerPoint Presentation</vt:lpstr>
      <vt:lpstr>Neural Network =&gt; Deep Learning</vt:lpstr>
      <vt:lpstr>Neural Network =&gt; Deep Learning</vt:lpstr>
      <vt:lpstr>Neural Network =&gt; Deep Learning</vt:lpstr>
      <vt:lpstr>Neural Network =&gt; Deep Learning =&gt; Transfer Learning</vt:lpstr>
      <vt:lpstr>Transfer Learning Using AlexNet</vt:lpstr>
      <vt:lpstr>Transfer Learning Using AlexNet</vt:lpstr>
      <vt:lpstr>Transfer Learning Using AlexNet</vt:lpstr>
      <vt:lpstr>Transfer Learning Using AlexNet</vt:lpstr>
      <vt:lpstr>Transfer Learning Using AlexNet: Example… </vt:lpstr>
      <vt:lpstr>Transfer Learning Using AlexNet: Example… </vt:lpstr>
      <vt:lpstr>Transfer Learning Using AlexNet: Example… </vt:lpstr>
      <vt:lpstr>Transfer Learning Using AlexNet: Example… </vt:lpstr>
      <vt:lpstr>Transfer Learning Using AlexNet: Example… </vt:lpstr>
      <vt:lpstr>Transfer Learning Using AlexNet: Example… </vt:lpstr>
      <vt:lpstr>Transfer Learning Using AlexNet: Example… </vt:lpstr>
      <vt:lpstr>Transfer Learning Using AlexNet: Example… </vt:lpstr>
      <vt:lpstr>Transfer Learning Using AlexNet: Example… </vt:lpstr>
      <vt:lpstr>Transfer Learning Using AlexNet: Example… </vt:lpstr>
      <vt:lpstr>Transfer Learning Using AlexNet: Example… </vt:lpstr>
      <vt:lpstr>Transfer Learning Using AlexNet: Example… </vt:lpstr>
      <vt:lpstr>Transfer Learning Using AlexNet: Example </vt:lpstr>
      <vt:lpstr>CNN Based Deep Learning Example </vt:lpstr>
      <vt:lpstr>Deep Learning: Example… </vt:lpstr>
      <vt:lpstr>Deep Learning: Example… </vt:lpstr>
      <vt:lpstr>Deep Learning: Example… </vt:lpstr>
      <vt:lpstr>Deep Learning: Example… </vt:lpstr>
      <vt:lpstr>Deep Learning: Example… </vt:lpstr>
      <vt:lpstr>Deep Learning: Example… </vt:lpstr>
      <vt:lpstr>Deep Learning: Example… </vt:lpstr>
      <vt:lpstr>Deep Learning: Example… </vt:lpstr>
      <vt:lpstr>Deep Learning: Example </vt:lpstr>
      <vt:lpstr>Watch: Lectures 5-7 </vt:lpstr>
      <vt:lpstr>Exercise</vt:lpstr>
      <vt:lpstr>References</vt:lpstr>
      <vt:lpstr>Extra Stuff</vt:lpstr>
      <vt:lpstr>Classification Algorithms</vt:lpstr>
      <vt:lpstr>Classification Algorithms</vt:lpstr>
      <vt:lpstr>MATLAB DEMOS</vt:lpstr>
      <vt:lpstr>Auto Video Surveyalance</vt:lpstr>
      <vt:lpstr>A Simple Classifier: Nearest Neighbor</vt:lpstr>
      <vt:lpstr>A Simple Classifier: Nearest Neighbor</vt:lpstr>
      <vt:lpstr>A Simple Classifier: Nearest Neighbor</vt:lpstr>
    </vt:vector>
  </TitlesOfParts>
  <Company>FAST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zulfiqar.habib</dc:creator>
  <cp:lastModifiedBy>Zulfiqar Habib</cp:lastModifiedBy>
  <cp:revision>675</cp:revision>
  <dcterms:created xsi:type="dcterms:W3CDTF">2009-08-01T06:17:21Z</dcterms:created>
  <dcterms:modified xsi:type="dcterms:W3CDTF">2024-12-09T06:16:49Z</dcterms:modified>
</cp:coreProperties>
</file>