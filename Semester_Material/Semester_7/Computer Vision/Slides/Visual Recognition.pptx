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56" r:id="rId2"/>
    <p:sldId id="574" r:id="rId3"/>
    <p:sldId id="892" r:id="rId4"/>
    <p:sldId id="519" r:id="rId5"/>
    <p:sldId id="522" r:id="rId6"/>
    <p:sldId id="523" r:id="rId7"/>
    <p:sldId id="524" r:id="rId8"/>
    <p:sldId id="528" r:id="rId9"/>
    <p:sldId id="895" r:id="rId10"/>
    <p:sldId id="883" r:id="rId11"/>
    <p:sldId id="626" r:id="rId12"/>
    <p:sldId id="627" r:id="rId13"/>
    <p:sldId id="500" r:id="rId14"/>
    <p:sldId id="575" r:id="rId15"/>
    <p:sldId id="576" r:id="rId16"/>
    <p:sldId id="578" r:id="rId17"/>
    <p:sldId id="579" r:id="rId18"/>
    <p:sldId id="884" r:id="rId19"/>
    <p:sldId id="885" r:id="rId20"/>
    <p:sldId id="886" r:id="rId21"/>
    <p:sldId id="581" r:id="rId22"/>
    <p:sldId id="586" r:id="rId23"/>
    <p:sldId id="587" r:id="rId24"/>
    <p:sldId id="588" r:id="rId25"/>
    <p:sldId id="598" r:id="rId26"/>
    <p:sldId id="602" r:id="rId27"/>
    <p:sldId id="603" r:id="rId28"/>
    <p:sldId id="597" r:id="rId29"/>
    <p:sldId id="589" r:id="rId30"/>
    <p:sldId id="590" r:id="rId31"/>
    <p:sldId id="591" r:id="rId32"/>
    <p:sldId id="592" r:id="rId33"/>
    <p:sldId id="593" r:id="rId34"/>
    <p:sldId id="601" r:id="rId35"/>
    <p:sldId id="604" r:id="rId36"/>
    <p:sldId id="605" r:id="rId37"/>
    <p:sldId id="606" r:id="rId38"/>
    <p:sldId id="893" r:id="rId39"/>
    <p:sldId id="540" r:id="rId40"/>
    <p:sldId id="541" r:id="rId41"/>
    <p:sldId id="887" r:id="rId42"/>
    <p:sldId id="888" r:id="rId43"/>
    <p:sldId id="624" r:id="rId44"/>
    <p:sldId id="889" r:id="rId45"/>
    <p:sldId id="890" r:id="rId46"/>
    <p:sldId id="625" r:id="rId47"/>
    <p:sldId id="494" r:id="rId48"/>
    <p:sldId id="896" r:id="rId49"/>
    <p:sldId id="897" r:id="rId50"/>
    <p:sldId id="898" r:id="rId51"/>
    <p:sldId id="894" r:id="rId52"/>
    <p:sldId id="891" r:id="rId53"/>
    <p:sldId id="882" r:id="rId54"/>
    <p:sldId id="558" r:id="rId55"/>
    <p:sldId id="509" r:id="rId56"/>
    <p:sldId id="513" r:id="rId57"/>
    <p:sldId id="515" r:id="rId58"/>
    <p:sldId id="517" r:id="rId59"/>
    <p:sldId id="518" r:id="rId60"/>
    <p:sldId id="525" r:id="rId61"/>
    <p:sldId id="526" r:id="rId62"/>
    <p:sldId id="527" r:id="rId63"/>
  </p:sldIdLst>
  <p:sldSz cx="12192000" cy="6858000"/>
  <p:notesSz cx="6858000" cy="9144000"/>
  <p:embeddedFontLst>
    <p:embeddedFont>
      <p:font typeface="新細明體" panose="02020500000000000000" pitchFamily="18" charset="-120"/>
      <p:regular r:id="rId6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80"/>
    <a:srgbClr val="EAF1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986" autoAdjust="0"/>
    <p:restoredTop sz="88965" autoAdjust="0"/>
  </p:normalViewPr>
  <p:slideViewPr>
    <p:cSldViewPr>
      <p:cViewPr varScale="1">
        <p:scale>
          <a:sx n="34" d="100"/>
          <a:sy n="34" d="100"/>
        </p:scale>
        <p:origin x="72" y="17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A5527-8220-42B8-ACF3-24A1AB195A99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17DC7-5FA3-4B0E-8E6A-F6882B79CF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11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77E45-76C1-48AC-8770-A01EE13E3D9C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08B8D-8E1E-4C22-9F0A-2468901663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3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solutions/image-video-processing/object-recognition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works.com/solutions/image-video-processing/object-recognition.html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https://www.mathworks.com/solutions/image-video-processing/object-recognition.html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05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28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97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Correlation Range:</a:t>
            </a:r>
            <a:r>
              <a:rPr lang="en-US" b="0" dirty="0"/>
              <a:t> -1 to +1</a:t>
            </a:r>
          </a:p>
          <a:p>
            <a:r>
              <a:rPr lang="en-US" b="1" dirty="0"/>
              <a:t>Positive Correlation</a:t>
            </a:r>
            <a:r>
              <a:rPr lang="en-US" dirty="0"/>
              <a:t>: As study hours increase, exam scores tend to increase.</a:t>
            </a:r>
          </a:p>
          <a:p>
            <a:r>
              <a:rPr lang="en-US" b="1" dirty="0"/>
              <a:t>Negative Correlation</a:t>
            </a:r>
            <a:r>
              <a:rPr lang="en-US" dirty="0"/>
              <a:t>: If more time is spent on distractions (like watching TV), exam scores may decrease.</a:t>
            </a:r>
          </a:p>
          <a:p>
            <a:r>
              <a:rPr lang="en-US" b="1" dirty="0"/>
              <a:t>Zero Correlation:</a:t>
            </a:r>
            <a:r>
              <a:rPr lang="en-US" dirty="0"/>
              <a:t> E.g., Your weight and exam marks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36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https://natureofcode.com/neural-networks/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60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8F95-06EE-B788-455E-EDBD54394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80795-908A-E027-5701-7B6B08CBD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69914-A738-F6C8-EF2A-6BE757B85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BB7A6-B097-ABEF-4937-F107061B7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usually between -1 and 1 </a:t>
            </a:r>
          </a:p>
          <a:p>
            <a:r>
              <a:rPr lang="en-US" dirty="0"/>
              <a:t>Wn+1 is a bias input (will be specially useful if all vector components are zero) 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5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01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61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https://www.mathworks.com/solutions/image-video-processing/object-recognition.html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6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https://www.mathworks.com/matlabcentral/answers/79973-image-matching-with-template-in-database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122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/>
              <a:t>Vegetable_Recognition_by_Template_Matching.mlx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956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37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68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33AC8-2F2E-8A8E-9AC4-B6E9C462F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15F8BF-BF79-18B0-FD4A-E39B4A4EC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8FAEA-1788-7B9F-0C31-07D78E0EF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Vegetable_Recognition_by_Template_Matching.ipynb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CA0F9-AE56-B20D-E247-3BEE619E6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42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9954-CDEF-33B7-8022-F094E543B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C81A1-1719-8A21-3013-C567233BB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B66059-260D-28D1-EFDB-BCBF92640E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4E15A-C24A-A4DF-7E27-63FEC783A1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411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2F93-6CED-2D9A-3CE5-0E8BBA0B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6CC4E-EB19-87FE-E8A2-B404153BD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6D87B-F365-019F-8F09-DA1C020D3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0434F-2383-C1B2-3E9E-5130F0962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97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http://ashokbasnet.com.np/2010/04/anprautomatic-number-plate-recognition-using-alrautomatic-line-tracking-robot/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36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56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352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Face_Detection_Using_Features.mlx</a:t>
            </a:r>
            <a:endParaRPr lang="en-001" dirty="0"/>
          </a:p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39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6E2D9-CE5F-4995-40DF-80021604B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DD2E4-F6D2-B7DF-7331-DAF331C5E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82A59-731A-7F21-AC44-046F0FC5A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Face_Detection_Using_Features.ipynb</a:t>
            </a:r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41892-1FC4-C716-7BCD-BCD2D3F03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302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A2BF-FEAE-111E-FD29-5FBDE185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DDE37-2173-69CE-D190-E628773BE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7F94D-05B7-D073-CE43-79A36996A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Face_Detection_Using_Features.ipynb</a:t>
            </a:r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2C73F-9F32-DEF8-5E09-D8A4303AF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65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Classification_using_AlexNet_Simple_Example.m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783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7403-DBA3-7323-F814-AFA1ACBA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EE9C5-CEB7-A23D-F251-DAA42EE7A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34563-4C56-3653-239B-034E344C3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Classification_using_Transfer_Learning.ipynb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4D6A-D0D3-41BA-79AC-3F248F21F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223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89DFD-3261-35DC-5178-F6157A83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FC15E-46FD-8E0A-3301-FCB8AD75B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B7D57-448E-053F-445A-1B5B369C7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1A198-F9C2-7B05-EC44-35BF70007B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38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Live_Classification_using_AlexNet.m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677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https://youtu.be/3bo8S1pAbqk?si=i-nBaIL9iC-lXLrt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https://cocodataset.org/</a:t>
            </a:r>
          </a:p>
          <a:p>
            <a:pPr algn="just">
              <a:spcBef>
                <a:spcPts val="1500"/>
              </a:spcBef>
              <a:spcAft>
                <a:spcPts val="1500"/>
              </a:spcAft>
            </a:pPr>
            <a:r>
              <a:rPr lang="pt-BR" b="0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COCO is a large-scale object detection, segmentation, and captioning dataset. COCO has several features: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segmentation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Recognition in context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Superpixel stuff segmentation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330K images (&gt;200K labeled)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1.5 million object instances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 object categories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91 stuff categories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 captions per image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250,000 people with keypoints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pt-BR" b="1" i="0" dirty="0">
              <a:solidFill>
                <a:srgbClr val="88888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None/>
            </a:pPr>
            <a:r>
              <a:rPr lang="pt-BR" b="1" i="0" dirty="0">
                <a:solidFill>
                  <a:srgbClr val="88888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https://encord.com/blog/yolo-object-detection-guide/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275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9011-A2F5-441D-00CF-CCA8EA24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6BA03-4F46-472B-DFCA-400C93C0E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37C3F-71AD-9844-06C2-CB125E169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i="0" dirty="0">
              <a:solidFill>
                <a:srgbClr val="88888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93287-2942-50C7-261B-92187704F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090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CB8E-2246-F158-AAE4-CE4671DB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DE22D-6498-C5CB-97DB-01FA08721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511B7-D0AF-F2F8-8A10-EB993793A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i="0" dirty="0">
              <a:solidFill>
                <a:srgbClr val="88888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2BA2A-DA11-4953-D021-DF0A9CC29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595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84F17-6C12-492E-9945-260BD86E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B31C6-87C6-012D-0829-3AEFB54A9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5007D-2FC2-1123-777E-0B746AE4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i="0" dirty="0">
              <a:solidFill>
                <a:srgbClr val="888888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183E8-7F75-5629-1749-852B4631C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533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b="1" dirty="0"/>
              <a:t>1. Viola-Jones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Detects faces or objects in an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dirty="0" err="1"/>
              <a:t>Haar</a:t>
            </a:r>
            <a:r>
              <a:rPr lang="en-US" dirty="0"/>
              <a:t>-like features to identify objects.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Works with a sliding window and integral image for efficiency.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Applies a cascade classifier to discard non-object areas quickly.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 and simple.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Suitable for real-time applications like webcams.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Face detection in real-time systems.</a:t>
            </a:r>
          </a:p>
          <a:p>
            <a:r>
              <a:rPr lang="en-US" b="1" dirty="0"/>
              <a:t>2. Convolutional Neural Networks (CNNs)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Recognizes and classifies objects in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Extracts features using convolutional layers.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Uses pooling layers to reduce image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Fully connected layers make predictions based on extracted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Popular Architectures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AlexNet</a:t>
            </a:r>
            <a:r>
              <a:rPr lang="en-US" dirty="0"/>
              <a:t>: Early breakthrough model in deep learning.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VGGNet</a:t>
            </a:r>
            <a:r>
              <a:rPr lang="en-US" dirty="0"/>
              <a:t>: Known for simplicity and depth (16-19 layers).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err="1"/>
              <a:t>ResNet</a:t>
            </a:r>
            <a:r>
              <a:rPr lang="en-US" dirty="0"/>
              <a:t>: Introduced skip connections to avoid vanishing gradients in deep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Highly accurate.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handle complex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Classifying objects like cats, dogs, and more.</a:t>
            </a:r>
          </a:p>
          <a:p>
            <a:r>
              <a:rPr lang="en-US" b="1" dirty="0"/>
              <a:t>3. Region-based CNNs (R-CNN)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Detects objects and their bounding boxes in an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Divides the image into regions of interest.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Applies CNN to each region for classification and localization.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Variants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Fast R-CNN</a:t>
            </a:r>
            <a:r>
              <a:rPr lang="en-US" dirty="0"/>
              <a:t>: Speeds up by sharing features between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Faster R-CNN</a:t>
            </a:r>
            <a:r>
              <a:rPr lang="en-US" dirty="0"/>
              <a:t>: Adds a Region Proposal Network (RPN) for better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precision for object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Object detection in autonomous vehicles or surveillance.</a:t>
            </a:r>
          </a:p>
          <a:p>
            <a:r>
              <a:rPr lang="en-US" b="1" dirty="0"/>
              <a:t>4. YOLO (You Only Look Once)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Real-time object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Divides the image into a grid.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Each grid predicts bounding boxes and object classes simultaneously.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fast and efficient.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handle multiple objects in a single pass.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Detecting pedestrians or vehicles in real-time.</a:t>
            </a:r>
          </a:p>
          <a:p>
            <a:r>
              <a:rPr lang="en-US" b="1" dirty="0"/>
              <a:t>5. Support Vector Machines (SVM)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Classifies objects using features extracted from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Finds a hyperplane to separate classes in a high-dimensional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Often combined with feature extraction techniques like HOG (Histogram of Oriented Gradients).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Effective for binary classification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Classifying handwritten digits or identifying faces.</a:t>
            </a:r>
          </a:p>
          <a:p>
            <a:r>
              <a:rPr lang="en-US" b="1" dirty="0"/>
              <a:t>6. Transformers in Vision (e.g., </a:t>
            </a:r>
            <a:r>
              <a:rPr lang="en-US" b="1" dirty="0" err="1"/>
              <a:t>ViT</a:t>
            </a:r>
            <a:r>
              <a:rPr lang="en-US" b="1" dirty="0"/>
              <a:t> - Vision Transformers)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Processes images using self-attention mechanisms (like in NLP).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Splits the image into patches.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Processes patches using attention mechanisms to learn relationships between image parts.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Excellent performance on large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Captures long-range dependencies in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High-performance image classification tasks.</a:t>
            </a:r>
          </a:p>
          <a:p>
            <a:r>
              <a:rPr lang="en-US" b="1" dirty="0"/>
              <a:t>7. K-Nearest Neighbors (KNN)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Purpose</a:t>
            </a:r>
            <a:r>
              <a:rPr lang="en-US" dirty="0"/>
              <a:t>: Simple algorithm for image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How it Works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Compares the input image with stored images in the dataset.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Classifies based on the majority class of the k-nearest neighbors.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Advantages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and easy to implement.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 Case</a:t>
            </a:r>
            <a:r>
              <a:rPr lang="en-US" dirty="0"/>
              <a:t>: Basic visual recognition tasks, such as classifying simple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6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581" y="142852"/>
            <a:ext cx="10458451" cy="857256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59" y="1285860"/>
            <a:ext cx="11715832" cy="53578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235E4-7E4F-4E21-B451-3954ADC1CD4B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76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25626"/>
            <a:ext cx="515620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76701"/>
            <a:ext cx="515620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20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29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59" y="71414"/>
            <a:ext cx="10001320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59" y="1285860"/>
            <a:ext cx="11715832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90501" y="1071546"/>
            <a:ext cx="11049035" cy="71438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1991" y="8872"/>
            <a:ext cx="1148665" cy="1169523"/>
          </a:xfrm>
          <a:prstGeom prst="rect">
            <a:avLst/>
          </a:prstGeom>
        </p:spPr>
      </p:pic>
      <p:sp>
        <p:nvSpPr>
          <p:cNvPr id="10" name="Text Box 11"/>
          <p:cNvSpPr txBox="1">
            <a:spLocks noChangeArrowheads="1"/>
          </p:cNvSpPr>
          <p:nvPr userDrawn="1"/>
        </p:nvSpPr>
        <p:spPr bwMode="auto">
          <a:xfrm>
            <a:off x="11672941" y="836712"/>
            <a:ext cx="5437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E4FF5167-E4CB-45F3-85CD-7EC8641D6DEE}" type="slidenum">
              <a:rPr lang="en-US" sz="2400" b="1">
                <a:solidFill>
                  <a:srgbClr val="FF0000"/>
                </a:solidFill>
              </a:rPr>
              <a:pPr/>
              <a:t>‹#›</a:t>
            </a:fld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just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just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just" defTabSz="914400" rtl="0" eaLnBrk="1" latinLnBrk="0" hangingPunct="1">
        <a:spcBef>
          <a:spcPct val="20000"/>
        </a:spcBef>
        <a:buFont typeface="Wingdings" pitchFamily="2" charset="2"/>
        <a:buChar char="v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just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just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vig.cuilahore.edu.pk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.xlsx"/><Relationship Id="rId3" Type="http://schemas.openxmlformats.org/officeDocument/2006/relationships/image" Target="../media/image20.png"/><Relationship Id="rId7" Type="http://schemas.openxmlformats.org/officeDocument/2006/relationships/hyperlink" Target="https://natureofcode.com/neural-network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natureofcode.com/neural-networks/" TargetMode="External"/><Relationship Id="rId5" Type="http://schemas.openxmlformats.org/officeDocument/2006/relationships/image" Target="../media/image18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7780460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6000" dirty="0"/>
              <a:t>Visual Recognition</a:t>
            </a:r>
            <a:endParaRPr lang="en-US" sz="8800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4809098" y="1142984"/>
            <a:ext cx="284103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Last updated: 24-11-2024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668" y="4369167"/>
            <a:ext cx="1191398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Gonzalez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R. C., Woods R. E., </a:t>
            </a:r>
            <a:r>
              <a:rPr lang="en-US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Eddins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S. L., </a:t>
            </a:r>
            <a:r>
              <a:rPr lang="en-US" i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Digital Image Processing Using </a:t>
            </a:r>
            <a:r>
              <a:rPr lang="en-US" i="1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Matlab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Pearson Education, 1</a:t>
            </a:r>
            <a:r>
              <a:rPr lang="en-US" kern="0" baseline="3000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edition, 2007. (Ch. 12)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Gonzalez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R. C., Woods R. E., </a:t>
            </a:r>
            <a:r>
              <a:rPr lang="en-US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Eddins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S. L., </a:t>
            </a:r>
            <a:r>
              <a:rPr lang="en-US" i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Digital Image Processing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Pearson Education, 3</a:t>
            </a:r>
            <a:r>
              <a:rPr lang="en-US" kern="0" baseline="3000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edition, 2007.	(Ch. 12)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Szeliski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R., Computer Vision - Algorithms and Applications, Springer, 2011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Ch. 14)</a:t>
            </a:r>
          </a:p>
        </p:txBody>
      </p:sp>
      <p:pic>
        <p:nvPicPr>
          <p:cNvPr id="7" name="Picture 5" descr="http://uran.donetsk.ua/~masters/2013/fknt/lichkanenko/diss/images/animation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916832"/>
            <a:ext cx="8839701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718773" y="5830844"/>
            <a:ext cx="4404796" cy="954107"/>
          </a:xfrm>
          <a:prstGeom prst="rect">
            <a:avLst/>
          </a:prstGeom>
          <a:solidFill>
            <a:srgbClr val="00CC99">
              <a:lumMod val="75000"/>
            </a:srgb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Dr. Zulfiqar Habib, Professor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hlinkClick r:id="rId4"/>
              </a:rPr>
              <a:t>http://vig.cuilahore.edu.pk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09581" y="142852"/>
            <a:ext cx="10458451" cy="8572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4000" dirty="0"/>
              <a:t>Common Approach</a:t>
            </a:r>
            <a:endParaRPr lang="en-US" sz="6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28321A-D5C9-516D-FD6F-8BA1CEB2FA01}"/>
              </a:ext>
            </a:extLst>
          </p:cNvPr>
          <p:cNvSpPr txBox="1"/>
          <p:nvPr/>
        </p:nvSpPr>
        <p:spPr>
          <a:xfrm>
            <a:off x="6246969" y="2023233"/>
            <a:ext cx="1111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5629F-A188-7D85-6C09-746850660585}"/>
              </a:ext>
            </a:extLst>
          </p:cNvPr>
          <p:cNvSpPr txBox="1"/>
          <p:nvPr/>
        </p:nvSpPr>
        <p:spPr>
          <a:xfrm rot="19511313">
            <a:off x="8120292" y="2286527"/>
            <a:ext cx="109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0E1F507-5CA6-4683-B902-7C559CFBED4D}"/>
              </a:ext>
            </a:extLst>
          </p:cNvPr>
          <p:cNvGrpSpPr/>
          <p:nvPr/>
        </p:nvGrpSpPr>
        <p:grpSpPr>
          <a:xfrm>
            <a:off x="263352" y="1412776"/>
            <a:ext cx="10633982" cy="4896544"/>
            <a:chOff x="107504" y="2276872"/>
            <a:chExt cx="8496944" cy="4032448"/>
          </a:xfrm>
        </p:grpSpPr>
        <p:grpSp>
          <p:nvGrpSpPr>
            <p:cNvPr id="6" name="Canvas 379">
              <a:extLst>
                <a:ext uri="{FF2B5EF4-FFF2-40B4-BE49-F238E27FC236}">
                  <a16:creationId xmlns:a16="http://schemas.microsoft.com/office/drawing/2014/main" id="{947D8548-F924-FE24-D138-39B6C5F03EF7}"/>
                </a:ext>
              </a:extLst>
            </p:cNvPr>
            <p:cNvGrpSpPr/>
            <p:nvPr/>
          </p:nvGrpSpPr>
          <p:grpSpPr>
            <a:xfrm>
              <a:off x="107504" y="2708920"/>
              <a:ext cx="8496944" cy="3600400"/>
              <a:chOff x="0" y="-154446"/>
              <a:chExt cx="6171690" cy="1544461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3B34180-D134-B895-A8E4-AF297F3B438C}"/>
                  </a:ext>
                </a:extLst>
              </p:cNvPr>
              <p:cNvSpPr/>
              <p:nvPr/>
            </p:nvSpPr>
            <p:spPr>
              <a:xfrm>
                <a:off x="0" y="0"/>
                <a:ext cx="5857875" cy="1390015"/>
              </a:xfrm>
              <a:prstGeom prst="rect">
                <a:avLst/>
              </a:prstGeom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Cloud Callout 14">
                <a:extLst>
                  <a:ext uri="{FF2B5EF4-FFF2-40B4-BE49-F238E27FC236}">
                    <a16:creationId xmlns:a16="http://schemas.microsoft.com/office/drawing/2014/main" id="{E2DB1966-818F-1707-F9A1-0CD6462DF704}"/>
                  </a:ext>
                </a:extLst>
              </p:cNvPr>
              <p:cNvSpPr/>
              <p:nvPr/>
            </p:nvSpPr>
            <p:spPr>
              <a:xfrm>
                <a:off x="26738" y="742489"/>
                <a:ext cx="1072896" cy="621792"/>
              </a:xfrm>
              <a:prstGeom prst="cloudCallout">
                <a:avLst>
                  <a:gd name="adj1" fmla="val -4185"/>
                  <a:gd name="adj2" fmla="val -83096"/>
                </a:avLst>
              </a:prstGeom>
              <a:gradFill flip="none" rotWithShape="1">
                <a:gsLst>
                  <a:gs pos="0">
                    <a:srgbClr val="5B9BD5">
                      <a:tint val="66000"/>
                      <a:satMod val="160000"/>
                    </a:srgbClr>
                  </a:gs>
                  <a:gs pos="50000">
                    <a:srgbClr val="5B9BD5">
                      <a:tint val="44500"/>
                      <a:satMod val="160000"/>
                    </a:srgbClr>
                  </a:gs>
                  <a:gs pos="100000">
                    <a:srgbClr val="5B9BD5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Problem domain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ounded Rectangle 15">
                <a:extLst>
                  <a:ext uri="{FF2B5EF4-FFF2-40B4-BE49-F238E27FC236}">
                    <a16:creationId xmlns:a16="http://schemas.microsoft.com/office/drawing/2014/main" id="{4188C1FA-1859-2EC0-615D-C6C4EB1255D4}"/>
                  </a:ext>
                </a:extLst>
              </p:cNvPr>
              <p:cNvSpPr/>
              <p:nvPr/>
            </p:nvSpPr>
            <p:spPr>
              <a:xfrm>
                <a:off x="139221" y="25302"/>
                <a:ext cx="919876" cy="505968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Image acquisition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51EF08F-72A4-76BE-B93F-3C0C865F063B}"/>
                  </a:ext>
                </a:extLst>
              </p:cNvPr>
              <p:cNvCxnSpPr>
                <a:stCxn id="41" idx="3"/>
              </p:cNvCxnSpPr>
              <p:nvPr/>
            </p:nvCxnSpPr>
            <p:spPr>
              <a:xfrm>
                <a:off x="1059097" y="278286"/>
                <a:ext cx="18000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43" name="Rounded Rectangle 17">
                <a:extLst>
                  <a:ext uri="{FF2B5EF4-FFF2-40B4-BE49-F238E27FC236}">
                    <a16:creationId xmlns:a16="http://schemas.microsoft.com/office/drawing/2014/main" id="{BC2473FA-D4CC-567D-4EF0-ABBEEE14131F}"/>
                  </a:ext>
                </a:extLst>
              </p:cNvPr>
              <p:cNvSpPr/>
              <p:nvPr/>
            </p:nvSpPr>
            <p:spPr>
              <a:xfrm>
                <a:off x="1233129" y="30972"/>
                <a:ext cx="1066239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Preprocessing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E0A2911-34A2-7DE7-9014-FEFA473E4852}"/>
                  </a:ext>
                </a:extLst>
              </p:cNvPr>
              <p:cNvCxnSpPr/>
              <p:nvPr/>
            </p:nvCxnSpPr>
            <p:spPr>
              <a:xfrm>
                <a:off x="2293813" y="283735"/>
                <a:ext cx="17970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45" name="Rounded Rectangle 19">
                <a:extLst>
                  <a:ext uri="{FF2B5EF4-FFF2-40B4-BE49-F238E27FC236}">
                    <a16:creationId xmlns:a16="http://schemas.microsoft.com/office/drawing/2014/main" id="{29C9BAD2-3518-6868-C2E4-1A013FB2ED15}"/>
                  </a:ext>
                </a:extLst>
              </p:cNvPr>
              <p:cNvSpPr/>
              <p:nvPr/>
            </p:nvSpPr>
            <p:spPr>
              <a:xfrm>
                <a:off x="2471614" y="37313"/>
                <a:ext cx="1030797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Segmentation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274F5A0-3366-A3B3-B478-22E1AC8203EC}"/>
                  </a:ext>
                </a:extLst>
              </p:cNvPr>
              <p:cNvCxnSpPr/>
              <p:nvPr/>
            </p:nvCxnSpPr>
            <p:spPr>
              <a:xfrm>
                <a:off x="3510474" y="290043"/>
                <a:ext cx="17970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47" name="Rounded Rectangle 21">
                <a:extLst>
                  <a:ext uri="{FF2B5EF4-FFF2-40B4-BE49-F238E27FC236}">
                    <a16:creationId xmlns:a16="http://schemas.microsoft.com/office/drawing/2014/main" id="{182B56CF-697A-4556-7ACF-6E4C0BF55D9B}"/>
                  </a:ext>
                </a:extLst>
              </p:cNvPr>
              <p:cNvSpPr/>
              <p:nvPr/>
            </p:nvSpPr>
            <p:spPr>
              <a:xfrm>
                <a:off x="3682404" y="43622"/>
                <a:ext cx="854225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Feature extraction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49C5CAF-51E0-1374-2EE6-1F36C965CAB1}"/>
                  </a:ext>
                </a:extLst>
              </p:cNvPr>
              <p:cNvCxnSpPr/>
              <p:nvPr/>
            </p:nvCxnSpPr>
            <p:spPr>
              <a:xfrm flipV="1">
                <a:off x="4538387" y="-154446"/>
                <a:ext cx="616688" cy="24711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49" name="Rounded Rectangle 23">
                <a:extLst>
                  <a:ext uri="{FF2B5EF4-FFF2-40B4-BE49-F238E27FC236}">
                    <a16:creationId xmlns:a16="http://schemas.microsoft.com/office/drawing/2014/main" id="{2799A317-1FCF-80C2-F061-D91B9148743E}"/>
                  </a:ext>
                </a:extLst>
              </p:cNvPr>
              <p:cNvSpPr/>
              <p:nvPr/>
            </p:nvSpPr>
            <p:spPr>
              <a:xfrm>
                <a:off x="5141085" y="49925"/>
                <a:ext cx="1030605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Recognition</a:t>
                </a:r>
              </a:p>
              <a:p>
                <a:pPr algn="ctr"/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Classification 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Regression </a:t>
                </a:r>
              </a:p>
              <a:p>
                <a:pPr algn="ctr"/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Clustering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94AD675-705E-1808-FD7C-8671927B5B8F}"/>
                  </a:ext>
                </a:extLst>
              </p:cNvPr>
              <p:cNvSpPr/>
              <p:nvPr/>
            </p:nvSpPr>
            <p:spPr>
              <a:xfrm>
                <a:off x="2339692" y="771719"/>
                <a:ext cx="1318228" cy="605395"/>
              </a:xfrm>
              <a:prstGeom prst="ellipse">
                <a:avLst/>
              </a:prstGeom>
              <a:solidFill>
                <a:srgbClr val="5B9BD5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Knowledge base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C4C8F46-3ED4-F300-7E0F-B095166728AB}"/>
                  </a:ext>
                </a:extLst>
              </p:cNvPr>
              <p:cNvCxnSpPr>
                <a:endCxn id="45" idx="2"/>
              </p:cNvCxnSpPr>
              <p:nvPr/>
            </p:nvCxnSpPr>
            <p:spPr>
              <a:xfrm flipV="1">
                <a:off x="2986724" y="542773"/>
                <a:ext cx="0" cy="21600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8CB3E044-EB5E-A7B6-CB2D-1A7F7447B227}"/>
                  </a:ext>
                </a:extLst>
              </p:cNvPr>
              <p:cNvCxnSpPr>
                <a:stCxn id="43" idx="2"/>
                <a:endCxn id="50" idx="1"/>
              </p:cNvCxnSpPr>
              <p:nvPr/>
            </p:nvCxnSpPr>
            <p:spPr>
              <a:xfrm>
                <a:off x="1766249" y="536432"/>
                <a:ext cx="766493" cy="32394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982D5C1-0CFC-D356-DE17-EBB268404BE1}"/>
                  </a:ext>
                </a:extLst>
              </p:cNvPr>
              <p:cNvCxnSpPr>
                <a:stCxn id="41" idx="2"/>
                <a:endCxn id="50" idx="2"/>
              </p:cNvCxnSpPr>
              <p:nvPr/>
            </p:nvCxnSpPr>
            <p:spPr>
              <a:xfrm>
                <a:off x="599159" y="531270"/>
                <a:ext cx="1740533" cy="543147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78FB666-3A29-CB45-DB71-B9481DA1EF57}"/>
                  </a:ext>
                </a:extLst>
              </p:cNvPr>
              <p:cNvCxnSpPr>
                <a:stCxn id="49" idx="2"/>
                <a:endCxn id="50" idx="6"/>
              </p:cNvCxnSpPr>
              <p:nvPr/>
            </p:nvCxnSpPr>
            <p:spPr>
              <a:xfrm flipH="1">
                <a:off x="3657919" y="555385"/>
                <a:ext cx="1998468" cy="519031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E1FF03B3-AA7F-34B8-E017-1C0CA173ACB6}"/>
                  </a:ext>
                </a:extLst>
              </p:cNvPr>
              <p:cNvCxnSpPr>
                <a:stCxn id="47" idx="2"/>
                <a:endCxn id="50" idx="7"/>
              </p:cNvCxnSpPr>
              <p:nvPr/>
            </p:nvCxnSpPr>
            <p:spPr>
              <a:xfrm flipH="1">
                <a:off x="3464870" y="548884"/>
                <a:ext cx="644647" cy="311183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56" name="Down Arrow 30">
                <a:extLst>
                  <a:ext uri="{FF2B5EF4-FFF2-40B4-BE49-F238E27FC236}">
                    <a16:creationId xmlns:a16="http://schemas.microsoft.com/office/drawing/2014/main" id="{15A1A01A-D6E9-79F6-1BB3-DA83CA1A6E7E}"/>
                  </a:ext>
                </a:extLst>
              </p:cNvPr>
              <p:cNvSpPr/>
              <p:nvPr/>
            </p:nvSpPr>
            <p:spPr>
              <a:xfrm>
                <a:off x="5765799" y="556006"/>
                <a:ext cx="144379" cy="277972"/>
              </a:xfrm>
              <a:prstGeom prst="downArrow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4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Cloud 56">
                <a:extLst>
                  <a:ext uri="{FF2B5EF4-FFF2-40B4-BE49-F238E27FC236}">
                    <a16:creationId xmlns:a16="http://schemas.microsoft.com/office/drawing/2014/main" id="{A38361F0-FC00-6EA7-3EB4-C0B4EFAE41B5}"/>
                  </a:ext>
                </a:extLst>
              </p:cNvPr>
              <p:cNvSpPr/>
              <p:nvPr/>
            </p:nvSpPr>
            <p:spPr>
              <a:xfrm>
                <a:off x="4850034" y="829897"/>
                <a:ext cx="1217051" cy="470569"/>
              </a:xfrm>
              <a:prstGeom prst="cloud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79C3012-0D97-4F17-7013-284A1CC79B3B}"/>
                </a:ext>
              </a:extLst>
            </p:cNvPr>
            <p:cNvCxnSpPr/>
            <p:nvPr/>
          </p:nvCxnSpPr>
          <p:spPr>
            <a:xfrm flipV="1">
              <a:off x="5760477" y="2708920"/>
              <a:ext cx="0" cy="468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9">
              <a:extLst>
                <a:ext uri="{FF2B5EF4-FFF2-40B4-BE49-F238E27FC236}">
                  <a16:creationId xmlns:a16="http://schemas.microsoft.com/office/drawing/2014/main" id="{77DD9A8C-5ADB-D83A-5A19-8F77F1833FA6}"/>
                </a:ext>
              </a:extLst>
            </p:cNvPr>
            <p:cNvSpPr/>
            <p:nvPr/>
          </p:nvSpPr>
          <p:spPr>
            <a:xfrm>
              <a:off x="5220071" y="2276872"/>
              <a:ext cx="1133287" cy="43204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Generation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AD3CABD-A16F-C256-4A76-4F74BB7E60E8}"/>
                </a:ext>
              </a:extLst>
            </p:cNvPr>
            <p:cNvCxnSpPr/>
            <p:nvPr/>
          </p:nvCxnSpPr>
          <p:spPr>
            <a:xfrm>
              <a:off x="6340812" y="2492896"/>
              <a:ext cx="86400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7" name="Rounded Rectangle 11">
              <a:extLst>
                <a:ext uri="{FF2B5EF4-FFF2-40B4-BE49-F238E27FC236}">
                  <a16:creationId xmlns:a16="http://schemas.microsoft.com/office/drawing/2014/main" id="{75B78E4B-418B-967C-BF23-D9DA826D199E}"/>
                </a:ext>
              </a:extLst>
            </p:cNvPr>
            <p:cNvSpPr/>
            <p:nvPr/>
          </p:nvSpPr>
          <p:spPr>
            <a:xfrm>
              <a:off x="7190894" y="2276872"/>
              <a:ext cx="1413554" cy="43204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C79267A-BA99-5BFF-3B9E-22B11DCEBCCD}"/>
                </a:ext>
              </a:extLst>
            </p:cNvPr>
            <p:cNvCxnSpPr/>
            <p:nvPr/>
          </p:nvCxnSpPr>
          <p:spPr>
            <a:xfrm flipV="1">
              <a:off x="7950010" y="2708920"/>
              <a:ext cx="6366" cy="504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Rounded Rectangle 32">
            <a:extLst>
              <a:ext uri="{FF2B5EF4-FFF2-40B4-BE49-F238E27FC236}">
                <a16:creationId xmlns:a16="http://schemas.microsoft.com/office/drawing/2014/main" id="{32835FDE-C08A-6327-AFA4-92EE799FC770}"/>
              </a:ext>
            </a:extLst>
          </p:cNvPr>
          <p:cNvSpPr/>
          <p:nvPr/>
        </p:nvSpPr>
        <p:spPr>
          <a:xfrm>
            <a:off x="9107351" y="2534809"/>
            <a:ext cx="1789983" cy="139824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1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D9FAB-66CC-A4F1-69D7-6BBA6A770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Recognition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A2DD-AAA0-4048-0924-2986D778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60" y="1285860"/>
            <a:ext cx="6315116" cy="5500726"/>
          </a:xfrm>
        </p:spPr>
        <p:txBody>
          <a:bodyPr/>
          <a:lstStyle/>
          <a:p>
            <a:r>
              <a:rPr lang="en-US" dirty="0"/>
              <a:t>is a field of computer vision where systems are trained to identify and classify objects, patterns, or features in images or videos. It is a key technology behind applications like facial recognition, object detection, medical imaging, and autonomous vehicles. Visual recognition helps computers "see" and interpret the world like humans.</a:t>
            </a:r>
            <a:endParaRPr lang="en-001" dirty="0"/>
          </a:p>
        </p:txBody>
      </p:sp>
      <p:sp>
        <p:nvSpPr>
          <p:cNvPr id="4" name="AutoShape 2" descr="Using object recognition to identify different categories of objects.">
            <a:extLst>
              <a:ext uri="{FF2B5EF4-FFF2-40B4-BE49-F238E27FC236}">
                <a16:creationId xmlns:a16="http://schemas.microsoft.com/office/drawing/2014/main" id="{E187C8D0-09D1-7ED4-8089-66356430A0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00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1B92CF-7A8E-4E9C-4948-ED051ED56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247" y="1228328"/>
            <a:ext cx="5686425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04E6CB-D87B-A228-44A0-116723F9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157" y="4630117"/>
            <a:ext cx="46863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9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846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89" t="5446"/>
          <a:stretch/>
        </p:blipFill>
        <p:spPr bwMode="auto">
          <a:xfrm>
            <a:off x="5427036" y="1196752"/>
            <a:ext cx="6703524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91344" y="51464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2400" dirty="0"/>
              <a:t>Visual Recognition</a:t>
            </a:r>
          </a:p>
          <a:p>
            <a:r>
              <a:rPr lang="en-US" altLang="zh-TW" sz="3600" dirty="0"/>
              <a:t>	Vector Example: Iris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1344" y="1340769"/>
            <a:ext cx="489654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vectors are represented in vector form: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represents the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descriptor.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3" descr="http://upload.wikimedia.org/wikipedia/commons/thumb/5/56/Kosaciec_szczecinkowaty_Iris_setosa.jpg/220px-Kosaciec_szczecinkowaty_Iris_setosa.jpg">
            <a:extLst>
              <a:ext uri="{FF2B5EF4-FFF2-40B4-BE49-F238E27FC236}">
                <a16:creationId xmlns:a16="http://schemas.microsoft.com/office/drawing/2014/main" id="{31C13F04-F998-34E0-A15E-36B373CC8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717" y="5165948"/>
            <a:ext cx="1679999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http://upload.wikimedia.org/wikipedia/commons/thumb/4/41/Iris_versicolor_3.jpg/220px-Iris_versicolor_3.jpg">
            <a:extLst>
              <a:ext uri="{FF2B5EF4-FFF2-40B4-BE49-F238E27FC236}">
                <a16:creationId xmlns:a16="http://schemas.microsoft.com/office/drawing/2014/main" id="{EC3EE432-F582-17DC-1CD9-44688BD4B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772" y="5165948"/>
            <a:ext cx="1679998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http://upload.wikimedia.org/wikipedia/commons/thumb/9/9f/Iris_virginica.jpg/220px-Iris_virginica.jpg">
            <a:extLst>
              <a:ext uri="{FF2B5EF4-FFF2-40B4-BE49-F238E27FC236}">
                <a16:creationId xmlns:a16="http://schemas.microsoft.com/office/drawing/2014/main" id="{22A10643-27C3-BE17-C5B0-B57AB0D29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6" y="5165948"/>
            <a:ext cx="1548603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E3FA98-234E-485A-1B85-9ABE3425224D}"/>
              </a:ext>
            </a:extLst>
          </p:cNvPr>
          <p:cNvSpPr txBox="1"/>
          <p:nvPr/>
        </p:nvSpPr>
        <p:spPr>
          <a:xfrm>
            <a:off x="479376" y="4610432"/>
            <a:ext cx="494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Setosa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Versicolor          Virginica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F2C7FE-70BF-6345-C872-96C5A93241CB}"/>
              </a:ext>
            </a:extLst>
          </p:cNvPr>
          <p:cNvSpPr txBox="1"/>
          <p:nvPr/>
        </p:nvSpPr>
        <p:spPr>
          <a:xfrm>
            <a:off x="6661670" y="6444044"/>
            <a:ext cx="5054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types of iris flowers described by 2 measurements</a:t>
            </a:r>
          </a:p>
        </p:txBody>
      </p:sp>
    </p:spTree>
    <p:extLst>
      <p:ext uri="{BB962C8B-B14F-4D97-AF65-F5344CB8AC3E}">
        <p14:creationId xmlns:p14="http://schemas.microsoft.com/office/powerpoint/2010/main" val="383743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191344" y="131588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4800" dirty="0"/>
              <a:t>Minimum Distance Classifier</a:t>
            </a:r>
            <a:endParaRPr lang="en-US" altLang="zh-TW" sz="48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" b="-1"/>
          <a:stretch/>
        </p:blipFill>
        <p:spPr bwMode="auto">
          <a:xfrm>
            <a:off x="407368" y="1340769"/>
            <a:ext cx="10854563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765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1"/>
          <a:stretch/>
        </p:blipFill>
        <p:spPr bwMode="auto">
          <a:xfrm>
            <a:off x="5879976" y="1569104"/>
            <a:ext cx="6264696" cy="524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91344" y="1340769"/>
            <a:ext cx="8221663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The correlation between </a:t>
            </a:r>
            <a:r>
              <a:rPr lang="en-US" altLang="zh-TW" i="1" dirty="0">
                <a:ea typeface="新細明體" panose="02020500000000000000" pitchFamily="18" charset="-120"/>
              </a:rPr>
              <a:t>f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i="1" dirty="0" err="1">
                <a:ea typeface="新細明體" panose="02020500000000000000" pitchFamily="18" charset="-120"/>
              </a:rPr>
              <a:t>x</a:t>
            </a:r>
            <a:r>
              <a:rPr lang="en-US" altLang="zh-TW" dirty="0" err="1">
                <a:ea typeface="新細明體" panose="02020500000000000000" pitchFamily="18" charset="-120"/>
              </a:rPr>
              <a:t>,</a:t>
            </a:r>
            <a:r>
              <a:rPr lang="en-US" altLang="zh-TW" i="1" dirty="0" err="1">
                <a:ea typeface="新細明體" panose="02020500000000000000" pitchFamily="18" charset="-120"/>
              </a:rPr>
              <a:t>y</a:t>
            </a:r>
            <a:r>
              <a:rPr lang="en-US" altLang="zh-TW" dirty="0">
                <a:ea typeface="新細明體" panose="02020500000000000000" pitchFamily="18" charset="-120"/>
              </a:rPr>
              <a:t>) and </a:t>
            </a:r>
            <a:r>
              <a:rPr lang="en-US" altLang="zh-TW" i="1" dirty="0">
                <a:ea typeface="新細明體" panose="02020500000000000000" pitchFamily="18" charset="-120"/>
              </a:rPr>
              <a:t>w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i="1" dirty="0" err="1">
                <a:ea typeface="新細明體" panose="02020500000000000000" pitchFamily="18" charset="-120"/>
              </a:rPr>
              <a:t>x</a:t>
            </a:r>
            <a:r>
              <a:rPr lang="en-US" altLang="zh-TW" dirty="0" err="1">
                <a:ea typeface="新細明體" panose="02020500000000000000" pitchFamily="18" charset="-120"/>
              </a:rPr>
              <a:t>,</a:t>
            </a:r>
            <a:r>
              <a:rPr lang="en-US" altLang="zh-TW" i="1" dirty="0" err="1">
                <a:ea typeface="新細明體" panose="02020500000000000000" pitchFamily="18" charset="-120"/>
              </a:rPr>
              <a:t>y</a:t>
            </a:r>
            <a:r>
              <a:rPr lang="en-US" altLang="zh-TW" dirty="0">
                <a:ea typeface="新細明體" panose="02020500000000000000" pitchFamily="18" charset="-120"/>
              </a:rPr>
              <a:t>) is </a:t>
            </a:r>
          </a:p>
        </p:txBody>
      </p:sp>
      <p:graphicFrame>
        <p:nvGraphicFramePr>
          <p:cNvPr id="6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8528424"/>
              </p:ext>
            </p:extLst>
          </p:nvPr>
        </p:nvGraphicFramePr>
        <p:xfrm>
          <a:off x="335360" y="2185443"/>
          <a:ext cx="5687602" cy="2107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158920" imgH="799920" progId="Equation.3">
                  <p:embed/>
                </p:oleObj>
              </mc:Choice>
              <mc:Fallback>
                <p:oleObj name="方程式" r:id="rId3" imgW="2158920" imgH="79992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60" y="2185443"/>
                        <a:ext cx="5687602" cy="2107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A8082D-5191-BBA8-3096-290985F52CFC}"/>
              </a:ext>
            </a:extLst>
          </p:cNvPr>
          <p:cNvSpPr txBox="1">
            <a:spLocks/>
          </p:cNvSpPr>
          <p:nvPr/>
        </p:nvSpPr>
        <p:spPr>
          <a:xfrm>
            <a:off x="191344" y="203596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4800" dirty="0"/>
              <a:t>Matching by Correlation</a:t>
            </a:r>
            <a:endParaRPr lang="en-US" altLang="zh-TW" sz="4800" dirty="0"/>
          </a:p>
        </p:txBody>
      </p:sp>
    </p:spTree>
    <p:extLst>
      <p:ext uri="{BB962C8B-B14F-4D97-AF65-F5344CB8AC3E}">
        <p14:creationId xmlns:p14="http://schemas.microsoft.com/office/powerpoint/2010/main" val="1828429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191344" y="203596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4800" dirty="0"/>
              <a:t>Matching by Correlation</a:t>
            </a:r>
            <a:endParaRPr lang="en-US" altLang="zh-TW" sz="4800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" y="1885952"/>
            <a:ext cx="12090346" cy="4389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144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91344" y="116632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dirty="0"/>
              <a:t>Artificial Neural Networks (ANN)</a:t>
            </a:r>
            <a:endParaRPr lang="en-US" altLang="zh-TW" dirty="0"/>
          </a:p>
        </p:txBody>
      </p:sp>
      <p:sp>
        <p:nvSpPr>
          <p:cNvPr id="9" name="Rectangle 8"/>
          <p:cNvSpPr/>
          <p:nvPr/>
        </p:nvSpPr>
        <p:spPr>
          <a:xfrm>
            <a:off x="1703512" y="6165304"/>
            <a:ext cx="108012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EB11B-B54D-AD7B-90EC-D2517DADAB85}"/>
              </a:ext>
            </a:extLst>
          </p:cNvPr>
          <p:cNvSpPr txBox="1"/>
          <p:nvPr/>
        </p:nvSpPr>
        <p:spPr>
          <a:xfrm>
            <a:off x="191344" y="1412776"/>
            <a:ext cx="11881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human brain has 100 billion neurons.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neuron is connected to 10 thousand other neurons.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Sitting on your shoulders is the most complicated object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known universe.          — Michio Kaku —</a:t>
            </a:r>
          </a:p>
        </p:txBody>
      </p:sp>
      <p:pic>
        <p:nvPicPr>
          <p:cNvPr id="1028" name="Picture 4" descr="Foundations Built for a General Theory of Neural Networks | Quanta Magazine">
            <a:extLst>
              <a:ext uri="{FF2B5EF4-FFF2-40B4-BE49-F238E27FC236}">
                <a16:creationId xmlns:a16="http://schemas.microsoft.com/office/drawing/2014/main" id="{F3E8801D-C06B-550E-78B3-6E38E9298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209" y="1308522"/>
            <a:ext cx="3700892" cy="208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Neural_Network_Brain_Mimic">
            <a:extLst>
              <a:ext uri="{FF2B5EF4-FFF2-40B4-BE49-F238E27FC236}">
                <a16:creationId xmlns:a16="http://schemas.microsoft.com/office/drawing/2014/main" id="{0D1BBF1E-F72D-B427-B849-16A8B92EBE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15" t="17668" r="3946" b="16772"/>
          <a:stretch/>
        </p:blipFill>
        <p:spPr bwMode="auto">
          <a:xfrm>
            <a:off x="7860331" y="3435937"/>
            <a:ext cx="4212333" cy="339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igure 10.1: A neuron with dendrites and an axon connected to another neuron">
            <a:extLst>
              <a:ext uri="{FF2B5EF4-FFF2-40B4-BE49-F238E27FC236}">
                <a16:creationId xmlns:a16="http://schemas.microsoft.com/office/drawing/2014/main" id="{7A05F52D-2D3A-0390-73CC-A74B02446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5" y="3501008"/>
            <a:ext cx="7617373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16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5CC8-A678-EA76-11B2-CF88D08B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0F63869-BB75-22FA-9587-9548A06E269B}"/>
              </a:ext>
            </a:extLst>
          </p:cNvPr>
          <p:cNvSpPr txBox="1">
            <a:spLocks/>
          </p:cNvSpPr>
          <p:nvPr/>
        </p:nvSpPr>
        <p:spPr>
          <a:xfrm>
            <a:off x="191344" y="116632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dirty="0"/>
              <a:t>Artificial Neural Networks (ANN)</a:t>
            </a:r>
            <a:endParaRPr lang="en-US" altLang="zh-TW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9EFED1-1EAF-9A2E-0C47-6908B847C6BA}"/>
              </a:ext>
            </a:extLst>
          </p:cNvPr>
          <p:cNvSpPr/>
          <p:nvPr/>
        </p:nvSpPr>
        <p:spPr>
          <a:xfrm>
            <a:off x="1703512" y="6165304"/>
            <a:ext cx="108012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2" descr="No alt text provided for this image">
            <a:extLst>
              <a:ext uri="{FF2B5EF4-FFF2-40B4-BE49-F238E27FC236}">
                <a16:creationId xmlns:a16="http://schemas.microsoft.com/office/drawing/2014/main" id="{232E7FF6-F41E-8D0F-FCCF-8C1DB1DF1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827" y="1295400"/>
            <a:ext cx="8898323" cy="544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805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03512" y="6165304"/>
            <a:ext cx="108012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/>
        </p:nvGraphicFramePr>
        <p:xfrm>
          <a:off x="133151" y="1268760"/>
          <a:ext cx="6538913" cy="421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784127" imgH="5015873" progId="Photoshop.Image.8">
                  <p:embed/>
                </p:oleObj>
              </mc:Choice>
              <mc:Fallback>
                <p:oleObj name="Image" r:id="rId3" imgW="7784127" imgH="5015873" progId="Photoshop.Image.8">
                  <p:embed/>
                  <p:pic>
                    <p:nvPicPr>
                      <p:cNvPr id="1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51" y="1268760"/>
                        <a:ext cx="6538913" cy="421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4871864" y="3488598"/>
          <a:ext cx="7200800" cy="3313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8419048" imgH="3873016" progId="Photoshop.Image.8">
                  <p:embed/>
                </p:oleObj>
              </mc:Choice>
              <mc:Fallback>
                <p:oleObj name="Image" r:id="rId5" imgW="8419048" imgH="3873016" progId="Photoshop.Image.8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864" y="3488598"/>
                        <a:ext cx="7200800" cy="3313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/>
        </p:nvGraphicFramePr>
        <p:xfrm>
          <a:off x="9840416" y="1296312"/>
          <a:ext cx="2232248" cy="271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1942857" imgH="2361905" progId="Photoshop.Image.8">
                  <p:embed/>
                </p:oleObj>
              </mc:Choice>
              <mc:Fallback>
                <p:oleObj name="Image" r:id="rId7" imgW="1942857" imgH="2361905" progId="Photoshop.Image.8">
                  <p:embed/>
                  <p:pic>
                    <p:nvPicPr>
                      <p:cNvPr id="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0416" y="1296312"/>
                        <a:ext cx="2232248" cy="271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CA0FD6F-AE6F-9B54-97DA-CED2D4AEEBF9}"/>
              </a:ext>
            </a:extLst>
          </p:cNvPr>
          <p:cNvSpPr txBox="1">
            <a:spLocks/>
          </p:cNvSpPr>
          <p:nvPr/>
        </p:nvSpPr>
        <p:spPr>
          <a:xfrm>
            <a:off x="191344" y="116632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dirty="0"/>
              <a:t>Artificial Neural Networks (ANN)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33658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96A5A4C-D242-04C9-295E-F963B779E5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201" r="36690" b="19550"/>
          <a:stretch/>
        </p:blipFill>
        <p:spPr>
          <a:xfrm>
            <a:off x="119336" y="1340768"/>
            <a:ext cx="9937104" cy="55521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344" y="116632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4800" dirty="0"/>
              <a:t>ANN – Interactive Demo</a:t>
            </a:r>
            <a:endParaRPr lang="en-US" altLang="zh-TW" sz="4800" dirty="0"/>
          </a:p>
        </p:txBody>
      </p:sp>
      <p:sp>
        <p:nvSpPr>
          <p:cNvPr id="9" name="Rectangle 8"/>
          <p:cNvSpPr/>
          <p:nvPr/>
        </p:nvSpPr>
        <p:spPr>
          <a:xfrm>
            <a:off x="1703512" y="6165304"/>
            <a:ext cx="108012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5708112"/>
              </p:ext>
            </p:extLst>
          </p:nvPr>
        </p:nvGraphicFramePr>
        <p:xfrm>
          <a:off x="7176120" y="2636912"/>
          <a:ext cx="4968552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8419048" imgH="3873016" progId="Photoshop.Image.8">
                  <p:embed/>
                </p:oleObj>
              </mc:Choice>
              <mc:Fallback>
                <p:oleObj name="Image" r:id="rId4" imgW="8419048" imgH="3873016" progId="Photoshop.Image.8">
                  <p:embed/>
                  <p:pic>
                    <p:nvPicPr>
                      <p:cNvPr id="1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6120" y="2636912"/>
                        <a:ext cx="4968552" cy="2088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693760" y="5866625"/>
            <a:ext cx="1378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Reading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B9DA7-3916-A09D-42F4-7943558AE7DC}"/>
              </a:ext>
            </a:extLst>
          </p:cNvPr>
          <p:cNvSpPr txBox="1"/>
          <p:nvPr/>
        </p:nvSpPr>
        <p:spPr>
          <a:xfrm>
            <a:off x="7874124" y="2267580"/>
            <a:ext cx="432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https://natureofcode.com/neural-networks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70EFC0F-E67A-AE05-5F63-AE72E049D7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218409"/>
              </p:ext>
            </p:extLst>
          </p:nvPr>
        </p:nvGraphicFramePr>
        <p:xfrm>
          <a:off x="10459317" y="4442413"/>
          <a:ext cx="1613347" cy="142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8" imgW="1398600" imgH="1234440" progId="Excel.Sheet.12">
                  <p:embed/>
                </p:oleObj>
              </mc:Choice>
              <mc:Fallback>
                <p:oleObj name="Worksheet" showAsIcon="1" r:id="rId8" imgW="1398600" imgH="12344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59317" y="4442413"/>
                        <a:ext cx="1613347" cy="1424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5460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91344" y="116632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4800" dirty="0"/>
              <a:t>ANN – Extension</a:t>
            </a:r>
            <a:endParaRPr lang="en-US" altLang="zh-TW" sz="4800" dirty="0"/>
          </a:p>
        </p:txBody>
      </p:sp>
      <p:sp>
        <p:nvSpPr>
          <p:cNvPr id="9" name="Rectangle 8"/>
          <p:cNvSpPr/>
          <p:nvPr/>
        </p:nvSpPr>
        <p:spPr>
          <a:xfrm>
            <a:off x="1703512" y="6165304"/>
            <a:ext cx="1080120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91344" y="1415065"/>
            <a:ext cx="1065718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of ANN covers several architectures including Convolutional Neural Networks (CNN), Recurrent Neural Networks (RNN), e.g., Long Short-Term Memory (LSTM) and Gated Recurrent Units (GRU),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Autoencoders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Deep Belief Networks.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CNN is just one kind of ANN and in specific has one or more layers of convolution units.</a:t>
            </a:r>
          </a:p>
        </p:txBody>
      </p:sp>
    </p:spTree>
    <p:extLst>
      <p:ext uri="{BB962C8B-B14F-4D97-AF65-F5344CB8AC3E}">
        <p14:creationId xmlns:p14="http://schemas.microsoft.com/office/powerpoint/2010/main" val="818162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334953"/>
            <a:ext cx="11647058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Basic approaches to object recognition may be sufficient depending on the application.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Image segmentation and blob analysis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– which uses simple object properties, such as size, color, or shape.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Template matching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– which uses a small image, or template, to find matching regions in a larger image by correlation.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Typically, if an object can be recognized using a simple approach like image segmentation, it’s best to start by using the simpler approach. This can provide a robust solution that does not require hundreds or thousands of training images or an overly complicated solution.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5400" dirty="0"/>
              <a:t>Examples</a:t>
            </a:r>
            <a:endParaRPr lang="en-US" altLang="zh-TW" sz="6000" dirty="0"/>
          </a:p>
        </p:txBody>
      </p:sp>
    </p:spTree>
    <p:extLst>
      <p:ext uri="{BB962C8B-B14F-4D97-AF65-F5344CB8AC3E}">
        <p14:creationId xmlns:p14="http://schemas.microsoft.com/office/powerpoint/2010/main" val="1975202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200" dirty="0"/>
              <a:t>Template Based</a:t>
            </a:r>
            <a:endParaRPr lang="en-US" sz="2000" dirty="0"/>
          </a:p>
          <a:p>
            <a:endParaRPr lang="en-US" altLang="zh-TW" sz="1800" dirty="0"/>
          </a:p>
        </p:txBody>
      </p:sp>
      <p:pic>
        <p:nvPicPr>
          <p:cNvPr id="41985" name="Picture 1" descr="C:\Users\drzha\AppData\Local\Temp\ConnectorClipboard6118694937754186270\image15862591816400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1" t="2927" r="5565" b="6120"/>
          <a:stretch/>
        </p:blipFill>
        <p:spPr bwMode="auto">
          <a:xfrm>
            <a:off x="3009349" y="1196752"/>
            <a:ext cx="9063315" cy="5544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19336" y="1484784"/>
            <a:ext cx="302433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to find a template (a white onion) in a larger image of a pile of vegetables</a:t>
            </a:r>
          </a:p>
        </p:txBody>
      </p:sp>
    </p:spTree>
    <p:extLst>
      <p:ext uri="{BB962C8B-B14F-4D97-AF65-F5344CB8AC3E}">
        <p14:creationId xmlns:p14="http://schemas.microsoft.com/office/powerpoint/2010/main" val="1843808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200" dirty="0"/>
              <a:t>Vegetable Detection – MATLAB Code…</a:t>
            </a:r>
            <a:endParaRPr lang="en-US" altLang="zh-TW" sz="2800" dirty="0"/>
          </a:p>
        </p:txBody>
      </p:sp>
      <p:sp>
        <p:nvSpPr>
          <p:cNvPr id="3" name="Rectangle 2"/>
          <p:cNvSpPr/>
          <p:nvPr/>
        </p:nvSpPr>
        <p:spPr>
          <a:xfrm>
            <a:off x="191344" y="1292562"/>
            <a:ext cx="1159328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Clear the command window.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Close all figures (except those of 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imtool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imtool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close all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Close all 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imtool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figures.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Erase all existing variables.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workspace;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Make sure the workspace panel is showing.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format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compact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20;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hasIPT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license(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'test'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2000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image_toolbox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Check that user has the Image Processing Toolbox installed.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hasIPT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User does not have the toolbox installed.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message =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sprintf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'Sorry, but you do not seem to have the Image Processing Toolbox.\</a:t>
            </a:r>
            <a:r>
              <a:rPr lang="en-US" sz="2000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nDo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you want to try to continue anyway?'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reply =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questdlg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(message,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'Toolbox missing'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'Yes'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'No'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'Yes'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if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strcmpi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(reply,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'No'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return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end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467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Vegetable Detection</a:t>
            </a:r>
            <a:r>
              <a:rPr lang="en-US" sz="3200" dirty="0"/>
              <a:t> – MATLAB Code…</a:t>
            </a:r>
            <a:endParaRPr lang="en-US" altLang="zh-TW" sz="2800" dirty="0"/>
          </a:p>
        </p:txBody>
      </p:sp>
      <p:sp>
        <p:nvSpPr>
          <p:cNvPr id="3" name="Rectangle 2"/>
          <p:cNvSpPr/>
          <p:nvPr/>
        </p:nvSpPr>
        <p:spPr>
          <a:xfrm>
            <a:off x="191344" y="1292562"/>
            <a:ext cx="1159328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folder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matlabroot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'\toolbox\images\</a:t>
            </a:r>
            <a:r>
              <a:rPr lang="en-US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imdemos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'peppers.png'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(folder,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r>
              <a:rPr lang="en-US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Get the full filename, with path prepended.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~exist(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'file'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Didn't find it there. Check the search path for it.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No path this time.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if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~exist(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'file'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Still didn't find it. Alert user.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'Error: %s does not exist.'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uiwait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warndlg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errorMessage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return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end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fullFileName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[rows columns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numberOfColorBands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size(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subplot(2, 2, 1);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[]); axis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title(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'Original Color Image'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gcf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'units'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'normalized'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outerposition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,[0, 0, 1, 1]); </a:t>
            </a:r>
            <a:r>
              <a:rPr lang="en-US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Enlarge figure to full screen.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templateWidth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71;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templateHeight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49; </a:t>
            </a:r>
            <a:r>
              <a:rPr lang="en-US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Template by extracting a small portion of the original image.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smallSubImage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imcrop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[192, 82,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templateWidth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templateHeight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]);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subplot(2, 2, 2);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smallSubImage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[]); axis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title(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'Template Image to Search For'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19401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Vegetable Detection</a:t>
            </a:r>
            <a:r>
              <a:rPr lang="en-US" sz="3200" dirty="0"/>
              <a:t> – MATLAB Code</a:t>
            </a:r>
            <a:endParaRPr lang="en-US" altLang="zh-TW" sz="2800" dirty="0"/>
          </a:p>
        </p:txBody>
      </p:sp>
      <p:sp>
        <p:nvSpPr>
          <p:cNvPr id="3" name="Rectangle 2"/>
          <p:cNvSpPr/>
          <p:nvPr/>
        </p:nvSpPr>
        <p:spPr>
          <a:xfrm>
            <a:off x="191344" y="1292562"/>
            <a:ext cx="1188132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channelToCorrelate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1; </a:t>
            </a:r>
            <a:r>
              <a:rPr lang="en-U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color channel?', 'Red', 'Green', 'Blue');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correlationOutput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normxcorr2(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smallSubImage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(:,:,1),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rgbImage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(:,:,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channelToCorrelate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subplot(2, 2, 3);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imshow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correlationOutput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[]); axis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title(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'Normalized Cross Correlation Output'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maxCorrValue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maxIndex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max(abs(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correlationOutput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(:)));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Find out brightest part in image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yPeak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xPeak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ind2sub(size(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correlationOutput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maxIndex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(1));</a:t>
            </a:r>
          </a:p>
          <a:p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Because cross correlation increases the size of the image, we need to shift back to find out where it would be in the original image.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corr_offset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xPeak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-size(smallSubImage,2)) 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yPeak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-size(smallSubImage,1))];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subplot(2, 2, 4);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imshow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rgbImage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axis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Don't allow rectangle to blow away image.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boxRect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corr_offset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corr_offset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templateWidth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templateHeight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Calculate the rectangle for the template box. 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xLeft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yTop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widthInColumns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heightInRows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];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rectangle(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'position'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boxRect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2000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edgecolor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'g'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'linewidth'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,2);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Plot the box over the image.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title(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'Template Image Found in Original Image'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2000" dirty="0" err="1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fontSize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</a:t>
            </a:r>
            <a:r>
              <a:rPr lang="en-US" sz="20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Give a caption above the image.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uiwait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helpdlg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'Done with demo!'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));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711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50E8-B27F-E416-34D6-D06F15D3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FB47-17FF-B860-5086-B15CA075F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84CE55-556D-5880-3A59-54BFBE5794B8}"/>
              </a:ext>
            </a:extLst>
          </p:cNvPr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200" dirty="0"/>
              <a:t>Vegetable Detection – Python Code…</a:t>
            </a:r>
            <a:endParaRPr lang="en-US" altLang="zh-TW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EFE0C8-8540-9EB6-FC04-995FA4140783}"/>
              </a:ext>
            </a:extLst>
          </p:cNvPr>
          <p:cNvSpPr/>
          <p:nvPr/>
        </p:nvSpPr>
        <p:spPr>
          <a:xfrm>
            <a:off x="191344" y="1253073"/>
            <a:ext cx="115932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google.colab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import drive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drive.mount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('/content/drive')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cv2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np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matplotlib.pyplot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skimage.feature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match_template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Load the image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image_folder_path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'/content/drive/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MyDrive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/Images/peppers.png'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cv2.imread(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image_folder_path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cv2.cvtColor(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cv2.COLOR_BGR2RGB)  # Convert from BGR to RGB</a:t>
            </a: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rows, columns,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number_of_color_bands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rgb_image.shape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Display original image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plt.figure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figsize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=(15, 15))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plt.subplot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(2, 2, 1)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("Original Color Image")</a:t>
            </a:r>
          </a:p>
          <a:p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plt.axis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("on")</a:t>
            </a:r>
          </a:p>
        </p:txBody>
      </p:sp>
    </p:spTree>
    <p:extLst>
      <p:ext uri="{BB962C8B-B14F-4D97-AF65-F5344CB8AC3E}">
        <p14:creationId xmlns:p14="http://schemas.microsoft.com/office/powerpoint/2010/main" val="105410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9B8B-AFCC-F413-C1BC-D56ECC8A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3A9C-459C-059D-7FBF-86945A81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C66D456-FF8D-A563-CFA1-EFF806E0326C}"/>
              </a:ext>
            </a:extLst>
          </p:cNvPr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Vegetable Detection</a:t>
            </a:r>
            <a:r>
              <a:rPr lang="en-US" sz="3200" dirty="0"/>
              <a:t> – Python Code…</a:t>
            </a:r>
            <a:endParaRPr lang="en-US" altLang="zh-TW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3289A1-AFDD-41A9-2C80-B0CAE2BB8DDF}"/>
              </a:ext>
            </a:extLst>
          </p:cNvPr>
          <p:cNvSpPr/>
          <p:nvPr/>
        </p:nvSpPr>
        <p:spPr>
          <a:xfrm>
            <a:off x="191344" y="1292562"/>
            <a:ext cx="11593288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Extract a template (small portion of the image)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template_width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template_height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71, 49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 =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[82:82 +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template_height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192:192 +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template_width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plt.subplot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(2, 2, 2)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(template)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("Template Image to Search For")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plt.axis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("on")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Perform normalized cross-correlation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correlation_output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match_template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[:, :, 0], template[:, :, 0])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Display correlation output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plt.subplot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(2, 2, 3)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correlation_output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cmap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="gray")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("Normalized Cross Correlation Output")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plt.axis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("on")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Find the peak correlation position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max_corr_value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np.max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correlation_output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y_peak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x_peak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np.unravel_index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np.argmax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correlation_output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correlation_output.shape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0296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A0C1-F7F7-9B90-DE31-D19548C87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7FF2-CF01-8401-CB34-BE8212AC6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FA15096-EFB7-A577-4BC8-89E23B3DA283}"/>
              </a:ext>
            </a:extLst>
          </p:cNvPr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Vegetable Detection</a:t>
            </a:r>
            <a:r>
              <a:rPr lang="en-US" sz="3200" dirty="0"/>
              <a:t> – Python Code</a:t>
            </a:r>
            <a:endParaRPr lang="en-US" altLang="zh-TW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18CE2-5DC0-B82E-22AC-62E051ACC910}"/>
              </a:ext>
            </a:extLst>
          </p:cNvPr>
          <p:cNvSpPr/>
          <p:nvPr/>
        </p:nvSpPr>
        <p:spPr>
          <a:xfrm>
            <a:off x="191344" y="1292562"/>
            <a:ext cx="1188132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Compute rectangle coordinates in the original image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corr_offset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x_peak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y_peak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box_rect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corr_offset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corr_offset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template_width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template_height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Display the template match on the original image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plt.subplot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(2, 2, 4)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rgb_image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("Template Image Found in Original Image")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plt.axis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("on")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plt.gca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add_patch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plt.Rectangle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box_rect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[0],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box_rect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[1]),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box_rect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[2],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box_rect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[3],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edgecolor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="g",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linewidth=2,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fill=False,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)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plt.tight_layout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plt.show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print("Done with demo!")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74CC2F-6EAA-437E-3EFD-3FD83B3A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2097549"/>
            <a:ext cx="5489529" cy="475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6438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9582" y="1412776"/>
            <a:ext cx="102616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Matching by Correlation</a:t>
            </a:r>
          </a:p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For  </a:t>
            </a:r>
          </a:p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OCR (Optical Character Recognition)</a:t>
            </a:r>
          </a:p>
          <a:p>
            <a:pPr algn="ctr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(simple cases only)</a:t>
            </a:r>
          </a:p>
        </p:txBody>
      </p:sp>
      <p:pic>
        <p:nvPicPr>
          <p:cNvPr id="5" name="Picture 5" descr="http://uran.donetsk.ua/~masters/2013/fknt/lichkanenko/diss/images/animation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771" y="4437112"/>
            <a:ext cx="8839701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</a:t>
            </a:r>
            <a:r>
              <a:rPr lang="en-US" sz="2400" dirty="0"/>
              <a:t>Template Based - </a:t>
            </a:r>
            <a:r>
              <a:rPr lang="en-US" sz="2800" dirty="0"/>
              <a:t>Automatic Number Plate Recognition (ANPR)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0728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344" y="54000"/>
            <a:ext cx="9072000" cy="68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32305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31504" y="1268760"/>
            <a:ext cx="8424936" cy="1008112"/>
          </a:xfrm>
        </p:spPr>
        <p:txBody>
          <a:bodyPr>
            <a:noAutofit/>
          </a:bodyPr>
          <a:lstStyle/>
          <a:p>
            <a:r>
              <a:rPr lang="en-US" sz="2400" dirty="0"/>
              <a:t>Collection of templates, binary images of all possible characters normalized at the same size, say 42x24.</a:t>
            </a:r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9966" t="13864" r="3730" b="39921"/>
          <a:stretch/>
        </p:blipFill>
        <p:spPr>
          <a:xfrm>
            <a:off x="1763520" y="2780928"/>
            <a:ext cx="8652961" cy="2520280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</a:t>
            </a:r>
            <a:r>
              <a:rPr lang="en-US" sz="3200" dirty="0"/>
              <a:t>ANPR: Folder “templates”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471811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59" y="1285860"/>
            <a:ext cx="6481605" cy="5357850"/>
          </a:xfrm>
        </p:spPr>
        <p:txBody>
          <a:bodyPr>
            <a:noAutofit/>
          </a:bodyPr>
          <a:lstStyle/>
          <a:p>
            <a:r>
              <a:rPr lang="en-US" sz="1800" dirty="0" err="1"/>
              <a:t>clc</a:t>
            </a:r>
            <a:r>
              <a:rPr lang="en-US" sz="1800" dirty="0"/>
              <a:t>; clear; close all;</a:t>
            </a:r>
          </a:p>
          <a:p>
            <a:r>
              <a:rPr lang="en-US" sz="1800" dirty="0"/>
              <a:t>if ~exist('</a:t>
            </a:r>
            <a:r>
              <a:rPr lang="en-US" sz="1800" dirty="0" err="1"/>
              <a:t>templates.mat','file</a:t>
            </a:r>
            <a:r>
              <a:rPr lang="en-US" sz="1800" dirty="0"/>
              <a:t>')  % if not exist </a:t>
            </a:r>
            <a:r>
              <a:rPr lang="en-US" sz="1800" dirty="0" err="1"/>
              <a:t>templates.mat</a:t>
            </a:r>
            <a:r>
              <a:rPr lang="en-US" sz="1800" dirty="0"/>
              <a:t> file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fprintf</a:t>
            </a:r>
            <a:r>
              <a:rPr lang="en-US" sz="1800" dirty="0"/>
              <a:t> ('Creating </a:t>
            </a:r>
            <a:r>
              <a:rPr lang="en-US" sz="1800" dirty="0" err="1"/>
              <a:t>templates.mat</a:t>
            </a:r>
            <a:r>
              <a:rPr lang="en-US" sz="1800" dirty="0"/>
              <a:t> file ...');  </a:t>
            </a:r>
          </a:p>
          <a:p>
            <a:r>
              <a:rPr lang="en-US" sz="1800" dirty="0"/>
              <a:t>    </a:t>
            </a:r>
            <a:r>
              <a:rPr lang="en-US" sz="1800" dirty="0" err="1"/>
              <a:t>create_templates</a:t>
            </a:r>
            <a:r>
              <a:rPr lang="en-US" sz="1800" dirty="0"/>
              <a:t>; </a:t>
            </a:r>
            <a:r>
              <a:rPr lang="en-US" sz="1800" dirty="0">
                <a:solidFill>
                  <a:srgbClr val="FF0000"/>
                </a:solidFill>
              </a:rPr>
              <a:t>% </a:t>
            </a:r>
            <a:r>
              <a:rPr lang="en-US" sz="1800" dirty="0" err="1">
                <a:solidFill>
                  <a:srgbClr val="FF0000"/>
                </a:solidFill>
              </a:rPr>
              <a:t>create_templates.m</a:t>
            </a:r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/>
              <a:t>end</a:t>
            </a:r>
          </a:p>
          <a:p>
            <a:r>
              <a:rPr lang="en-US" sz="1800" dirty="0"/>
              <a:t>vid = </a:t>
            </a:r>
            <a:r>
              <a:rPr lang="en-US" sz="1800" dirty="0" err="1"/>
              <a:t>videoinput</a:t>
            </a:r>
            <a:r>
              <a:rPr lang="en-US" sz="1800" dirty="0"/>
              <a:t>('winvideo',1);</a:t>
            </a:r>
          </a:p>
          <a:p>
            <a:r>
              <a:rPr lang="en-US" sz="1800" dirty="0"/>
              <a:t>while (true)</a:t>
            </a:r>
          </a:p>
          <a:p>
            <a:r>
              <a:rPr lang="en-US" sz="1800" dirty="0"/>
              <a:t>    a=menu('Automatic Number Plate Recognition (ANPR)',...</a:t>
            </a:r>
          </a:p>
          <a:p>
            <a:r>
              <a:rPr lang="en-US" sz="1800" dirty="0"/>
              <a:t>                'Preview',...</a:t>
            </a:r>
          </a:p>
          <a:p>
            <a:r>
              <a:rPr lang="en-US" sz="1800" dirty="0"/>
              <a:t>                'Capture',...</a:t>
            </a:r>
          </a:p>
          <a:p>
            <a:r>
              <a:rPr lang="en-US" sz="1800" dirty="0"/>
              <a:t>                'Process',...</a:t>
            </a:r>
          </a:p>
          <a:p>
            <a:r>
              <a:rPr lang="en-US" sz="1800" dirty="0"/>
              <a:t>                'Display Number',...</a:t>
            </a:r>
          </a:p>
          <a:p>
            <a:r>
              <a:rPr lang="en-US" sz="1800" dirty="0"/>
              <a:t>                'Exit');</a:t>
            </a:r>
          </a:p>
          <a:p>
            <a:r>
              <a:rPr lang="en-US" sz="1800" dirty="0"/>
              <a:t>    if (a == 1)</a:t>
            </a:r>
          </a:p>
          <a:p>
            <a:r>
              <a:rPr lang="en-US" sz="1800" dirty="0"/>
              <a:t>        preview(vid);</a:t>
            </a:r>
          </a:p>
          <a:p>
            <a:r>
              <a:rPr lang="en-US" sz="1800" dirty="0"/>
              <a:t>    end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mainMenu.m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7968208" y="1844824"/>
            <a:ext cx="3938083" cy="38164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Files</a:t>
            </a:r>
          </a:p>
          <a:p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mainMenu.m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create_templates.m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ocr.m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lines.m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clip.m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read_letter.m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2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59" y="1455526"/>
            <a:ext cx="11715832" cy="535785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dirty="0"/>
              <a:t>    if(a == 2)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dirty="0" err="1"/>
              <a:t>testpic</a:t>
            </a:r>
            <a:r>
              <a:rPr lang="en-US" sz="1800" dirty="0"/>
              <a:t> = </a:t>
            </a:r>
            <a:r>
              <a:rPr lang="en-US" sz="1800" dirty="0" err="1"/>
              <a:t>getsnapshot</a:t>
            </a:r>
            <a:r>
              <a:rPr lang="en-US" sz="1800" dirty="0"/>
              <a:t>(vid);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dirty="0" err="1"/>
              <a:t>imwrite</a:t>
            </a:r>
            <a:r>
              <a:rPr lang="en-US" sz="1800" dirty="0"/>
              <a:t>(testpic,'Input.jpg');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dirty="0" err="1"/>
              <a:t>imshow</a:t>
            </a:r>
            <a:r>
              <a:rPr lang="en-US" sz="1800" dirty="0"/>
              <a:t>(</a:t>
            </a:r>
            <a:r>
              <a:rPr lang="en-US" sz="1800" dirty="0" err="1"/>
              <a:t>testpic</a:t>
            </a:r>
            <a:r>
              <a:rPr lang="en-US" sz="1800" dirty="0"/>
              <a:t>);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end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if (a == 3)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dirty="0" err="1"/>
              <a:t>img</a:t>
            </a:r>
            <a:r>
              <a:rPr lang="en-US" sz="1800" dirty="0"/>
              <a:t> = </a:t>
            </a:r>
            <a:r>
              <a:rPr lang="en-US" sz="1800" dirty="0" err="1"/>
              <a:t>imread</a:t>
            </a:r>
            <a:r>
              <a:rPr lang="en-US" sz="1800" dirty="0"/>
              <a:t>('Input.jpg'); 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%</a:t>
            </a:r>
            <a:r>
              <a:rPr lang="en-US" sz="1800" dirty="0" err="1"/>
              <a:t>img</a:t>
            </a:r>
            <a:r>
              <a:rPr lang="en-US" sz="1800" dirty="0"/>
              <a:t> = </a:t>
            </a:r>
            <a:r>
              <a:rPr lang="en-US" sz="1800" dirty="0" err="1"/>
              <a:t>imread</a:t>
            </a:r>
            <a:r>
              <a:rPr lang="en-US" sz="1800" dirty="0"/>
              <a:t>('Good-image.jpg'); % pre-recorded image for testing only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dirty="0" err="1"/>
              <a:t>ocr</a:t>
            </a:r>
            <a:r>
              <a:rPr lang="en-US" sz="1800" dirty="0"/>
              <a:t>; </a:t>
            </a:r>
            <a:r>
              <a:rPr lang="en-US" sz="1800" dirty="0">
                <a:solidFill>
                  <a:srgbClr val="FF0000"/>
                </a:solidFill>
              </a:rPr>
              <a:t>% </a:t>
            </a:r>
            <a:r>
              <a:rPr lang="en-US" sz="1800" dirty="0" err="1">
                <a:solidFill>
                  <a:srgbClr val="FF0000"/>
                </a:solidFill>
              </a:rPr>
              <a:t>ocr.m</a:t>
            </a:r>
            <a:endParaRPr lang="en-US" sz="18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US" sz="1800" dirty="0"/>
              <a:t>    end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if (a == 4)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</a:t>
            </a:r>
            <a:r>
              <a:rPr lang="en-US" sz="1800" dirty="0" err="1"/>
              <a:t>winopen</a:t>
            </a:r>
            <a:r>
              <a:rPr lang="en-US" sz="1800" dirty="0"/>
              <a:t>('Output.txt');    % Output in the text file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end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if (a == 5)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delete(vid); close all;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    return;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    end    </a:t>
            </a:r>
          </a:p>
          <a:p>
            <a:pPr>
              <a:spcBef>
                <a:spcPts val="0"/>
              </a:spcBef>
            </a:pPr>
            <a:r>
              <a:rPr lang="en-US" sz="1800" dirty="0"/>
              <a:t>end % while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mainMenu.m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44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% CREATE </a:t>
            </a:r>
            <a:r>
              <a:rPr lang="en-US" sz="1800" dirty="0" err="1"/>
              <a:t>templates.mat</a:t>
            </a:r>
            <a:r>
              <a:rPr lang="en-US" sz="1800" dirty="0"/>
              <a:t> file</a:t>
            </a:r>
          </a:p>
          <a:p>
            <a:r>
              <a:rPr lang="en-US" sz="1800" dirty="0"/>
              <a:t>% Letter</a:t>
            </a:r>
          </a:p>
          <a:p>
            <a:r>
              <a:rPr lang="en-US" sz="1800" dirty="0"/>
              <a:t>A=</a:t>
            </a:r>
            <a:r>
              <a:rPr lang="en-US" sz="1800" dirty="0" err="1"/>
              <a:t>imread</a:t>
            </a:r>
            <a:r>
              <a:rPr lang="en-US" sz="1800" dirty="0"/>
              <a:t>('templates\A.bmp'); B=</a:t>
            </a:r>
            <a:r>
              <a:rPr lang="en-US" sz="1800" dirty="0" err="1"/>
              <a:t>imread</a:t>
            </a:r>
            <a:r>
              <a:rPr lang="en-US" sz="1800" dirty="0"/>
              <a:t>('templates\B.bmp');</a:t>
            </a:r>
          </a:p>
          <a:p>
            <a:r>
              <a:rPr lang="en-US" sz="1800" dirty="0"/>
              <a:t>C=</a:t>
            </a:r>
            <a:r>
              <a:rPr lang="en-US" sz="1800" dirty="0" err="1"/>
              <a:t>imread</a:t>
            </a:r>
            <a:r>
              <a:rPr lang="en-US" sz="1800" dirty="0"/>
              <a:t>('templates\C.bmp'); D=</a:t>
            </a:r>
            <a:r>
              <a:rPr lang="en-US" sz="1800" dirty="0" err="1"/>
              <a:t>imread</a:t>
            </a:r>
            <a:r>
              <a:rPr lang="en-US" sz="1800" dirty="0"/>
              <a:t>('templates\D.bmp');</a:t>
            </a:r>
          </a:p>
          <a:p>
            <a:r>
              <a:rPr lang="en-US" sz="1800" dirty="0"/>
              <a:t>E=</a:t>
            </a:r>
            <a:r>
              <a:rPr lang="en-US" sz="1800" dirty="0" err="1"/>
              <a:t>imread</a:t>
            </a:r>
            <a:r>
              <a:rPr lang="en-US" sz="1800" dirty="0"/>
              <a:t>('templates\E.bmp'); F=</a:t>
            </a:r>
            <a:r>
              <a:rPr lang="en-US" sz="1800" dirty="0" err="1"/>
              <a:t>imread</a:t>
            </a:r>
            <a:r>
              <a:rPr lang="en-US" sz="1800" dirty="0"/>
              <a:t>('templates\F.bmp');</a:t>
            </a:r>
          </a:p>
          <a:p>
            <a:r>
              <a:rPr lang="en-US" sz="1800" dirty="0"/>
              <a:t>G=</a:t>
            </a:r>
            <a:r>
              <a:rPr lang="en-US" sz="1800" dirty="0" err="1"/>
              <a:t>imread</a:t>
            </a:r>
            <a:r>
              <a:rPr lang="en-US" sz="1800" dirty="0"/>
              <a:t>('templates\G.bmp'); H=</a:t>
            </a:r>
            <a:r>
              <a:rPr lang="en-US" sz="1800" dirty="0" err="1"/>
              <a:t>imread</a:t>
            </a:r>
            <a:r>
              <a:rPr lang="en-US" sz="1800" dirty="0"/>
              <a:t>('templates\H.bmp');</a:t>
            </a:r>
          </a:p>
          <a:p>
            <a:r>
              <a:rPr lang="en-US" sz="1800" dirty="0"/>
              <a:t>I=</a:t>
            </a:r>
            <a:r>
              <a:rPr lang="en-US" sz="1800" dirty="0" err="1"/>
              <a:t>imread</a:t>
            </a:r>
            <a:r>
              <a:rPr lang="en-US" sz="1800" dirty="0"/>
              <a:t>('templates\I.bmp'); J=</a:t>
            </a:r>
            <a:r>
              <a:rPr lang="en-US" sz="1800" dirty="0" err="1"/>
              <a:t>imread</a:t>
            </a:r>
            <a:r>
              <a:rPr lang="en-US" sz="1800" dirty="0"/>
              <a:t>('templates\J.bmp');</a:t>
            </a:r>
          </a:p>
          <a:p>
            <a:r>
              <a:rPr lang="en-US" sz="1800" dirty="0"/>
              <a:t>K=</a:t>
            </a:r>
            <a:r>
              <a:rPr lang="en-US" sz="1800" dirty="0" err="1"/>
              <a:t>imread</a:t>
            </a:r>
            <a:r>
              <a:rPr lang="en-US" sz="1800" dirty="0"/>
              <a:t>('templates\K.bmp'); L=</a:t>
            </a:r>
            <a:r>
              <a:rPr lang="en-US" sz="1800" dirty="0" err="1"/>
              <a:t>imread</a:t>
            </a:r>
            <a:r>
              <a:rPr lang="en-US" sz="1800" dirty="0"/>
              <a:t>('templates\L.bmp');</a:t>
            </a:r>
          </a:p>
          <a:p>
            <a:r>
              <a:rPr lang="en-US" sz="1800" dirty="0"/>
              <a:t>M=</a:t>
            </a:r>
            <a:r>
              <a:rPr lang="en-US" sz="1800" dirty="0" err="1"/>
              <a:t>imread</a:t>
            </a:r>
            <a:r>
              <a:rPr lang="en-US" sz="1800" dirty="0"/>
              <a:t>('templates\M.bmp'); N=</a:t>
            </a:r>
            <a:r>
              <a:rPr lang="en-US" sz="1800" dirty="0" err="1"/>
              <a:t>imread</a:t>
            </a:r>
            <a:r>
              <a:rPr lang="en-US" sz="1800" dirty="0"/>
              <a:t>('templates\N.bmp');</a:t>
            </a:r>
          </a:p>
          <a:p>
            <a:r>
              <a:rPr lang="en-US" sz="1800" dirty="0"/>
              <a:t>O=</a:t>
            </a:r>
            <a:r>
              <a:rPr lang="en-US" sz="1800" dirty="0" err="1"/>
              <a:t>imread</a:t>
            </a:r>
            <a:r>
              <a:rPr lang="en-US" sz="1800" dirty="0"/>
              <a:t>('templates\O.bmp'); P=</a:t>
            </a:r>
            <a:r>
              <a:rPr lang="en-US" sz="1800" dirty="0" err="1"/>
              <a:t>imread</a:t>
            </a:r>
            <a:r>
              <a:rPr lang="en-US" sz="1800" dirty="0"/>
              <a:t>('templates\P.bmp');</a:t>
            </a:r>
          </a:p>
          <a:p>
            <a:r>
              <a:rPr lang="en-US" sz="1800" dirty="0"/>
              <a:t>Q=</a:t>
            </a:r>
            <a:r>
              <a:rPr lang="en-US" sz="1800" dirty="0" err="1"/>
              <a:t>imread</a:t>
            </a:r>
            <a:r>
              <a:rPr lang="en-US" sz="1800" dirty="0"/>
              <a:t>('templates\Q.bmp'); R=</a:t>
            </a:r>
            <a:r>
              <a:rPr lang="en-US" sz="1800" dirty="0" err="1"/>
              <a:t>imread</a:t>
            </a:r>
            <a:r>
              <a:rPr lang="en-US" sz="1800" dirty="0"/>
              <a:t>('templates\R.bmp');</a:t>
            </a:r>
          </a:p>
          <a:p>
            <a:r>
              <a:rPr lang="en-US" sz="1800" dirty="0"/>
              <a:t>S=</a:t>
            </a:r>
            <a:r>
              <a:rPr lang="en-US" sz="1800" dirty="0" err="1"/>
              <a:t>imread</a:t>
            </a:r>
            <a:r>
              <a:rPr lang="en-US" sz="1800" dirty="0"/>
              <a:t>('templates\S.bmp'); T=</a:t>
            </a:r>
            <a:r>
              <a:rPr lang="en-US" sz="1800" dirty="0" err="1"/>
              <a:t>imread</a:t>
            </a:r>
            <a:r>
              <a:rPr lang="en-US" sz="1800" dirty="0"/>
              <a:t>('templates\T.bmp');</a:t>
            </a:r>
          </a:p>
          <a:p>
            <a:r>
              <a:rPr lang="en-US" sz="1800" dirty="0"/>
              <a:t>U=</a:t>
            </a:r>
            <a:r>
              <a:rPr lang="en-US" sz="1800" dirty="0" err="1"/>
              <a:t>imread</a:t>
            </a:r>
            <a:r>
              <a:rPr lang="en-US" sz="1800" dirty="0"/>
              <a:t>('templates\U.bmp'); V=</a:t>
            </a:r>
            <a:r>
              <a:rPr lang="en-US" sz="1800" dirty="0" err="1"/>
              <a:t>imread</a:t>
            </a:r>
            <a:r>
              <a:rPr lang="en-US" sz="1800" dirty="0"/>
              <a:t>('templates\V.bmp');</a:t>
            </a:r>
          </a:p>
          <a:p>
            <a:r>
              <a:rPr lang="en-US" sz="1800" dirty="0"/>
              <a:t>W=</a:t>
            </a:r>
            <a:r>
              <a:rPr lang="en-US" sz="1800" dirty="0" err="1"/>
              <a:t>imread</a:t>
            </a:r>
            <a:r>
              <a:rPr lang="en-US" sz="1800" dirty="0"/>
              <a:t>('templates\W.bmp'); X=</a:t>
            </a:r>
            <a:r>
              <a:rPr lang="en-US" sz="1800" dirty="0" err="1"/>
              <a:t>imread</a:t>
            </a:r>
            <a:r>
              <a:rPr lang="en-US" sz="1800" dirty="0"/>
              <a:t>('templates\X.bmp');</a:t>
            </a:r>
          </a:p>
          <a:p>
            <a:r>
              <a:rPr lang="en-US" sz="1800" dirty="0"/>
              <a:t>Y=</a:t>
            </a:r>
            <a:r>
              <a:rPr lang="en-US" sz="1800" dirty="0" err="1"/>
              <a:t>imread</a:t>
            </a:r>
            <a:r>
              <a:rPr lang="en-US" sz="1800" dirty="0"/>
              <a:t>('templates\Y.bmp'); Z=</a:t>
            </a:r>
            <a:r>
              <a:rPr lang="en-US" sz="1800" dirty="0" err="1"/>
              <a:t>imread</a:t>
            </a:r>
            <a:r>
              <a:rPr lang="en-US" sz="1800" dirty="0"/>
              <a:t>('templates\Z.bmp');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create_templates.m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429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% Number</a:t>
            </a:r>
          </a:p>
          <a:p>
            <a:r>
              <a:rPr lang="en-US" sz="1600" dirty="0"/>
              <a:t>one=</a:t>
            </a:r>
            <a:r>
              <a:rPr lang="en-US" sz="1600" dirty="0" err="1"/>
              <a:t>imread</a:t>
            </a:r>
            <a:r>
              <a:rPr lang="en-US" sz="1600" dirty="0"/>
              <a:t>('templates\1.bmp');  two=</a:t>
            </a:r>
            <a:r>
              <a:rPr lang="en-US" sz="1600" dirty="0" err="1"/>
              <a:t>imread</a:t>
            </a:r>
            <a:r>
              <a:rPr lang="en-US" sz="1600" dirty="0"/>
              <a:t>('templates\2.bmp');</a:t>
            </a:r>
          </a:p>
          <a:p>
            <a:r>
              <a:rPr lang="en-US" sz="1600" dirty="0"/>
              <a:t>three=</a:t>
            </a:r>
            <a:r>
              <a:rPr lang="en-US" sz="1600" dirty="0" err="1"/>
              <a:t>imread</a:t>
            </a:r>
            <a:r>
              <a:rPr lang="en-US" sz="1600" dirty="0"/>
              <a:t>('templates\3.bmp'); four=</a:t>
            </a:r>
            <a:r>
              <a:rPr lang="en-US" sz="1600" dirty="0" err="1"/>
              <a:t>imread</a:t>
            </a:r>
            <a:r>
              <a:rPr lang="en-US" sz="1600" dirty="0"/>
              <a:t>('templates\4.bmp');</a:t>
            </a:r>
          </a:p>
          <a:p>
            <a:r>
              <a:rPr lang="en-US" sz="1600" dirty="0"/>
              <a:t>five=</a:t>
            </a:r>
            <a:r>
              <a:rPr lang="en-US" sz="1600" dirty="0" err="1"/>
              <a:t>imread</a:t>
            </a:r>
            <a:r>
              <a:rPr lang="en-US" sz="1600" dirty="0"/>
              <a:t>('templates\5.bmp'); six=</a:t>
            </a:r>
            <a:r>
              <a:rPr lang="en-US" sz="1600" dirty="0" err="1"/>
              <a:t>imread</a:t>
            </a:r>
            <a:r>
              <a:rPr lang="en-US" sz="1600" dirty="0"/>
              <a:t>('templates\6.bmp');</a:t>
            </a:r>
          </a:p>
          <a:p>
            <a:r>
              <a:rPr lang="en-US" sz="1600" dirty="0"/>
              <a:t>seven=</a:t>
            </a:r>
            <a:r>
              <a:rPr lang="en-US" sz="1600" dirty="0" err="1"/>
              <a:t>imread</a:t>
            </a:r>
            <a:r>
              <a:rPr lang="en-US" sz="1600" dirty="0"/>
              <a:t>('templates\7.bmp'); eight=</a:t>
            </a:r>
            <a:r>
              <a:rPr lang="en-US" sz="1600" dirty="0" err="1"/>
              <a:t>imread</a:t>
            </a:r>
            <a:r>
              <a:rPr lang="en-US" sz="1600" dirty="0"/>
              <a:t>('templates\8.bmp');</a:t>
            </a:r>
          </a:p>
          <a:p>
            <a:r>
              <a:rPr lang="en-US" sz="1600" dirty="0"/>
              <a:t>nine=</a:t>
            </a:r>
            <a:r>
              <a:rPr lang="en-US" sz="1600" dirty="0" err="1"/>
              <a:t>imread</a:t>
            </a:r>
            <a:r>
              <a:rPr lang="en-US" sz="1600" dirty="0"/>
              <a:t>('templates\9.bmp'); zero=</a:t>
            </a:r>
            <a:r>
              <a:rPr lang="en-US" sz="1600" dirty="0" err="1"/>
              <a:t>imread</a:t>
            </a:r>
            <a:r>
              <a:rPr lang="en-US" sz="1600" dirty="0"/>
              <a:t>('templates\0.bmp');</a:t>
            </a:r>
          </a:p>
          <a:p>
            <a:r>
              <a:rPr lang="en-US" sz="1600" dirty="0"/>
              <a:t>%*-*-*-*-*-*-*-*-*-*-*-</a:t>
            </a:r>
          </a:p>
          <a:p>
            <a:r>
              <a:rPr lang="pt-BR" sz="1600" dirty="0"/>
              <a:t>letter=[A B C D E F G H I J K L M...</a:t>
            </a:r>
          </a:p>
          <a:p>
            <a:r>
              <a:rPr lang="pl-PL" sz="1600" dirty="0"/>
              <a:t>    N O P Q R S T U V W X Y Z];</a:t>
            </a:r>
          </a:p>
          <a:p>
            <a:r>
              <a:rPr lang="en-US" sz="1600" dirty="0"/>
              <a:t>number=[one two three four five...</a:t>
            </a:r>
          </a:p>
          <a:p>
            <a:r>
              <a:rPr lang="en-US" sz="1600" dirty="0"/>
              <a:t>    six seven eight nine zero];</a:t>
            </a:r>
          </a:p>
          <a:p>
            <a:r>
              <a:rPr lang="en-US" sz="1600" dirty="0"/>
              <a:t>character=[letter number];</a:t>
            </a:r>
          </a:p>
          <a:p>
            <a:r>
              <a:rPr lang="en-US" sz="1600" dirty="0"/>
              <a:t>templates=mat2cell(character,42,[24 24 24 24 24 24 24 ...</a:t>
            </a:r>
          </a:p>
          <a:p>
            <a:r>
              <a:rPr lang="en-US" sz="1600" dirty="0"/>
              <a:t>    24 24 24 24 24 24 24 ...</a:t>
            </a:r>
          </a:p>
          <a:p>
            <a:r>
              <a:rPr lang="en-US" sz="1600" dirty="0"/>
              <a:t>    24 24 24 24 24 24 24 ...</a:t>
            </a:r>
          </a:p>
          <a:p>
            <a:r>
              <a:rPr lang="en-US" sz="1600" dirty="0"/>
              <a:t>    24 24 24 24 24 24 24 ...</a:t>
            </a:r>
          </a:p>
          <a:p>
            <a:r>
              <a:rPr lang="en-US" sz="1600" dirty="0"/>
              <a:t>    24 24 24 24 24 24 24 24]);</a:t>
            </a:r>
          </a:p>
          <a:p>
            <a:r>
              <a:rPr lang="en-US" sz="1600" dirty="0"/>
              <a:t>save ('templates', 'templates') % to save as </a:t>
            </a:r>
            <a:r>
              <a:rPr lang="en-US" sz="1600" dirty="0" err="1"/>
              <a:t>templates.mat</a:t>
            </a:r>
            <a:r>
              <a:rPr lang="en-US" sz="1600" dirty="0"/>
              <a:t> file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create_templates.m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68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28" y="1285860"/>
            <a:ext cx="11715832" cy="53578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warning off</a:t>
            </a:r>
          </a:p>
          <a:p>
            <a:r>
              <a:rPr lang="en-US" dirty="0" err="1"/>
              <a:t>img</a:t>
            </a:r>
            <a:r>
              <a:rPr lang="en-US" dirty="0"/>
              <a:t> = rgb2gray(</a:t>
            </a:r>
            <a:r>
              <a:rPr lang="en-US" dirty="0" err="1"/>
              <a:t>img</a:t>
            </a:r>
            <a:r>
              <a:rPr lang="en-US" dirty="0"/>
              <a:t>);</a:t>
            </a:r>
          </a:p>
          <a:p>
            <a:r>
              <a:rPr lang="en-US" dirty="0" err="1"/>
              <a:t>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); title('Gray image'), pause(2), figure</a:t>
            </a:r>
          </a:p>
          <a:p>
            <a:r>
              <a:rPr lang="en-US" dirty="0"/>
              <a:t>level = </a:t>
            </a:r>
            <a:r>
              <a:rPr lang="en-US" dirty="0" err="1"/>
              <a:t>graythresh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);</a:t>
            </a:r>
          </a:p>
          <a:p>
            <a:r>
              <a:rPr lang="en-US" dirty="0" err="1"/>
              <a:t>imagen</a:t>
            </a:r>
            <a:r>
              <a:rPr lang="en-US" dirty="0"/>
              <a:t> = im2bw(</a:t>
            </a:r>
            <a:r>
              <a:rPr lang="en-US" dirty="0" err="1"/>
              <a:t>img</a:t>
            </a:r>
            <a:r>
              <a:rPr lang="en-US" dirty="0"/>
              <a:t>, level);</a:t>
            </a:r>
          </a:p>
          <a:p>
            <a:r>
              <a:rPr lang="en-US" dirty="0" err="1"/>
              <a:t>imshow</a:t>
            </a:r>
            <a:r>
              <a:rPr lang="en-US" dirty="0"/>
              <a:t>(</a:t>
            </a:r>
            <a:r>
              <a:rPr lang="en-US" dirty="0" err="1"/>
              <a:t>imagen</a:t>
            </a:r>
            <a:r>
              <a:rPr lang="en-US" dirty="0"/>
              <a:t>); title('Binary image with noise'), pause(2), figure</a:t>
            </a:r>
          </a:p>
          <a:p>
            <a:r>
              <a:rPr lang="en-US" dirty="0" err="1"/>
              <a:t>imagen</a:t>
            </a:r>
            <a:r>
              <a:rPr lang="en-US" dirty="0"/>
              <a:t> = ~</a:t>
            </a:r>
            <a:r>
              <a:rPr lang="en-US" dirty="0" err="1"/>
              <a:t>imagen</a:t>
            </a:r>
            <a:r>
              <a:rPr lang="en-US" dirty="0"/>
              <a:t>; </a:t>
            </a:r>
          </a:p>
          <a:p>
            <a:r>
              <a:rPr lang="en-US" dirty="0" err="1"/>
              <a:t>imagen</a:t>
            </a:r>
            <a:r>
              <a:rPr lang="en-US" dirty="0"/>
              <a:t> = </a:t>
            </a:r>
            <a:r>
              <a:rPr lang="en-US" dirty="0" err="1"/>
              <a:t>bwareaopen</a:t>
            </a:r>
            <a:r>
              <a:rPr lang="en-US" dirty="0"/>
              <a:t>(imagen,70); </a:t>
            </a:r>
            <a:r>
              <a:rPr lang="en-US" sz="2600" dirty="0"/>
              <a:t>% remove small objects above 70 pixels</a:t>
            </a:r>
            <a:endParaRPr lang="en-US" dirty="0"/>
          </a:p>
          <a:p>
            <a:r>
              <a:rPr lang="en-US" dirty="0" err="1"/>
              <a:t>imagen</a:t>
            </a:r>
            <a:r>
              <a:rPr lang="en-US" dirty="0"/>
              <a:t> = ~</a:t>
            </a:r>
            <a:r>
              <a:rPr lang="en-US" dirty="0" err="1"/>
              <a:t>imagen</a:t>
            </a:r>
            <a:r>
              <a:rPr lang="en-US" dirty="0"/>
              <a:t>; </a:t>
            </a:r>
          </a:p>
          <a:p>
            <a:r>
              <a:rPr lang="en-US" dirty="0" err="1"/>
              <a:t>imshow</a:t>
            </a:r>
            <a:r>
              <a:rPr lang="en-US" dirty="0"/>
              <a:t>(</a:t>
            </a:r>
            <a:r>
              <a:rPr lang="en-US" dirty="0" err="1"/>
              <a:t>imagen</a:t>
            </a:r>
            <a:r>
              <a:rPr lang="en-US" dirty="0"/>
              <a:t>); </a:t>
            </a:r>
          </a:p>
          <a:p>
            <a:r>
              <a:rPr lang="en-US" dirty="0"/>
              <a:t>title('Binary image with less noise'), pause(2), figure</a:t>
            </a:r>
          </a:p>
        </p:txBody>
      </p:sp>
      <p:pic>
        <p:nvPicPr>
          <p:cNvPr id="1026" name="Picture 2" descr="D:\Zulfiqar-Habib\Flash-8GB\Teaching-Current\CSC652-Advanced Topics in Computer Vision-2011\Projects-Guideline\Sample-Projects\License Number Plate Recognition\Edited\Inpu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60432" y="1781944"/>
            <a:ext cx="1524000" cy="1143000"/>
          </a:xfrm>
          <a:prstGeom prst="rect">
            <a:avLst/>
          </a:prstGeom>
          <a:noFill/>
        </p:spPr>
      </p:pic>
      <p:pic>
        <p:nvPicPr>
          <p:cNvPr id="1027" name="Picture 3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3" cstate="print"/>
          <a:srcRect l="23221" r="23113" b="25621"/>
          <a:stretch>
            <a:fillRect/>
          </a:stretch>
        </p:blipFill>
        <p:spPr bwMode="auto">
          <a:xfrm>
            <a:off x="10488488" y="1484784"/>
            <a:ext cx="1656184" cy="14594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8" name="Picture 4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4" cstate="print"/>
          <a:srcRect l="24407" r="24260" b="23350"/>
          <a:stretch>
            <a:fillRect/>
          </a:stretch>
        </p:blipFill>
        <p:spPr bwMode="auto">
          <a:xfrm>
            <a:off x="10524492" y="3573016"/>
            <a:ext cx="1584176" cy="15039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9" name="Picture 5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5" cstate="print"/>
          <a:srcRect l="22314" r="21687" b="45342"/>
          <a:stretch>
            <a:fillRect/>
          </a:stretch>
        </p:blipFill>
        <p:spPr bwMode="auto">
          <a:xfrm>
            <a:off x="10380476" y="5589240"/>
            <a:ext cx="1728192" cy="1072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3200" dirty="0"/>
              <a:t>	ANPR: </a:t>
            </a:r>
            <a:r>
              <a:rPr lang="en-US" sz="3200" dirty="0" err="1">
                <a:solidFill>
                  <a:srgbClr val="FF0000"/>
                </a:solidFill>
              </a:rPr>
              <a:t>ocr.m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629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imagen</a:t>
            </a:r>
            <a:r>
              <a:rPr lang="en-US" sz="2400" dirty="0"/>
              <a:t> = medfilt2(</a:t>
            </a:r>
            <a:r>
              <a:rPr lang="en-US" sz="2400" dirty="0" err="1"/>
              <a:t>imagen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imshow</a:t>
            </a:r>
            <a:r>
              <a:rPr lang="en-US" sz="2400" dirty="0"/>
              <a:t>(</a:t>
            </a:r>
            <a:r>
              <a:rPr lang="en-US" sz="2400" dirty="0" err="1"/>
              <a:t>imagen</a:t>
            </a:r>
            <a:r>
              <a:rPr lang="en-US" sz="2400" dirty="0"/>
              <a:t>); </a:t>
            </a:r>
          </a:p>
          <a:p>
            <a:r>
              <a:rPr lang="en-US" sz="2400" dirty="0"/>
              <a:t>title('Binary image after noise removal with median filter'), pause(2), figure</a:t>
            </a:r>
          </a:p>
          <a:p>
            <a:r>
              <a:rPr lang="en-US" sz="2400" dirty="0"/>
              <a:t>% to remove black dots at corners of image</a:t>
            </a:r>
          </a:p>
          <a:p>
            <a:r>
              <a:rPr lang="en-US" sz="2400" dirty="0"/>
              <a:t>[r c]=size(</a:t>
            </a:r>
            <a:r>
              <a:rPr lang="en-US" sz="2400" dirty="0" err="1"/>
              <a:t>imagen</a:t>
            </a:r>
            <a:r>
              <a:rPr lang="en-US" sz="2400" dirty="0"/>
              <a:t>);</a:t>
            </a:r>
          </a:p>
          <a:p>
            <a:r>
              <a:rPr lang="en-US" sz="2400" dirty="0" err="1"/>
              <a:t>imagen</a:t>
            </a:r>
            <a:r>
              <a:rPr lang="en-US" sz="2400" dirty="0"/>
              <a:t>(1,1)=255; </a:t>
            </a:r>
            <a:r>
              <a:rPr lang="en-US" sz="2400" dirty="0" err="1"/>
              <a:t>imagen</a:t>
            </a:r>
            <a:r>
              <a:rPr lang="en-US" sz="2400" dirty="0"/>
              <a:t>(r,1)=255;</a:t>
            </a:r>
          </a:p>
          <a:p>
            <a:r>
              <a:rPr lang="en-US" sz="2400" dirty="0" err="1"/>
              <a:t>imagen</a:t>
            </a:r>
            <a:r>
              <a:rPr lang="en-US" sz="2400" dirty="0"/>
              <a:t>(1,c)=255; </a:t>
            </a:r>
            <a:r>
              <a:rPr lang="en-US" sz="2400" dirty="0" err="1"/>
              <a:t>imagen</a:t>
            </a:r>
            <a:r>
              <a:rPr lang="en-US" sz="2400" dirty="0"/>
              <a:t>(</a:t>
            </a:r>
            <a:r>
              <a:rPr lang="en-US" sz="2400" dirty="0" err="1"/>
              <a:t>r,c</a:t>
            </a:r>
            <a:r>
              <a:rPr lang="en-US" sz="2400" dirty="0"/>
              <a:t>)=255;</a:t>
            </a:r>
          </a:p>
          <a:p>
            <a:r>
              <a:rPr lang="en-US" sz="2400" dirty="0" err="1"/>
              <a:t>imshow</a:t>
            </a:r>
            <a:r>
              <a:rPr lang="en-US" sz="2400" dirty="0"/>
              <a:t>(</a:t>
            </a:r>
            <a:r>
              <a:rPr lang="en-US" sz="2400" dirty="0" err="1"/>
              <a:t>imagen</a:t>
            </a:r>
            <a:r>
              <a:rPr lang="en-US" sz="2400" dirty="0"/>
              <a:t>); </a:t>
            </a:r>
          </a:p>
          <a:p>
            <a:r>
              <a:rPr lang="en-US" sz="2400" dirty="0"/>
              <a:t>title('Binary image with no noise'), pause(2), figure</a:t>
            </a:r>
          </a:p>
          <a:p>
            <a:r>
              <a:rPr lang="en-US" sz="2400" dirty="0"/>
              <a:t>word=[]; %Storage matrix word from image</a:t>
            </a:r>
          </a:p>
          <a:p>
            <a:r>
              <a:rPr lang="en-US" sz="2400" dirty="0"/>
              <a:t>re=</a:t>
            </a:r>
            <a:r>
              <a:rPr lang="en-US" sz="2400" dirty="0" err="1"/>
              <a:t>imagen</a:t>
            </a:r>
            <a:r>
              <a:rPr lang="en-US" sz="2400" dirty="0"/>
              <a:t>;</a:t>
            </a:r>
          </a:p>
          <a:p>
            <a:r>
              <a:rPr lang="en-US" sz="2400" dirty="0"/>
              <a:t>fid = </a:t>
            </a:r>
            <a:r>
              <a:rPr lang="en-US" sz="2400" dirty="0" err="1"/>
              <a:t>fopen</a:t>
            </a:r>
            <a:r>
              <a:rPr lang="en-US" sz="2400" dirty="0"/>
              <a:t>('Output.txt', 'at');  % Opens Output.txt as file for write</a:t>
            </a:r>
          </a:p>
        </p:txBody>
      </p:sp>
      <p:pic>
        <p:nvPicPr>
          <p:cNvPr id="2051" name="Picture 3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2" cstate="print"/>
          <a:srcRect b="22933"/>
          <a:stretch>
            <a:fillRect/>
          </a:stretch>
        </p:blipFill>
        <p:spPr bwMode="auto">
          <a:xfrm>
            <a:off x="8764658" y="1628800"/>
            <a:ext cx="3380014" cy="1656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052" name="Picture 4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3" cstate="print"/>
          <a:srcRect b="22925"/>
          <a:stretch>
            <a:fillRect/>
          </a:stretch>
        </p:blipFill>
        <p:spPr bwMode="auto">
          <a:xfrm>
            <a:off x="8765033" y="3717032"/>
            <a:ext cx="3379639" cy="1656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ocr.m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916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while true</a:t>
            </a:r>
          </a:p>
          <a:p>
            <a:r>
              <a:rPr lang="en-US" sz="2800" dirty="0"/>
              <a:t>    [</a:t>
            </a:r>
            <a:r>
              <a:rPr lang="en-US" sz="2800" dirty="0" err="1"/>
              <a:t>fl</a:t>
            </a:r>
            <a:r>
              <a:rPr lang="en-US" sz="2800" dirty="0"/>
              <a:t> re]=lines(re);  </a:t>
            </a:r>
            <a:r>
              <a:rPr lang="en-US" sz="2000" dirty="0"/>
              <a:t>% </a:t>
            </a:r>
            <a:r>
              <a:rPr lang="en-US" sz="2000" dirty="0" err="1">
                <a:solidFill>
                  <a:srgbClr val="FF0000"/>
                </a:solidFill>
              </a:rPr>
              <a:t>lines.m</a:t>
            </a:r>
            <a:r>
              <a:rPr lang="en-US" sz="2000" dirty="0"/>
              <a:t>,  separate lines in text</a:t>
            </a:r>
            <a:endParaRPr lang="en-US" sz="2800" dirty="0"/>
          </a:p>
          <a:p>
            <a:r>
              <a:rPr lang="en-US" sz="2800" dirty="0"/>
              <a:t>    </a:t>
            </a:r>
            <a:r>
              <a:rPr lang="en-US" sz="2800" dirty="0" err="1"/>
              <a:t>imgn</a:t>
            </a:r>
            <a:r>
              <a:rPr lang="en-US" sz="2800" dirty="0"/>
              <a:t>=~</a:t>
            </a:r>
            <a:r>
              <a:rPr lang="en-US" sz="2800" dirty="0" err="1"/>
              <a:t>fl</a:t>
            </a:r>
            <a:r>
              <a:rPr lang="en-US" sz="2800" dirty="0"/>
              <a:t>;</a:t>
            </a:r>
          </a:p>
          <a:p>
            <a:r>
              <a:rPr lang="en-US" sz="2800" dirty="0"/>
              <a:t>	</a:t>
            </a:r>
            <a:r>
              <a:rPr lang="en-US" sz="2000" dirty="0"/>
              <a:t>% Calculating connected components</a:t>
            </a:r>
            <a:endParaRPr lang="en-US" sz="2800" dirty="0"/>
          </a:p>
          <a:p>
            <a:r>
              <a:rPr lang="en-US" sz="2800" dirty="0"/>
              <a:t>    L = </a:t>
            </a:r>
            <a:r>
              <a:rPr lang="en-US" sz="2800" dirty="0" err="1"/>
              <a:t>bwlabel</a:t>
            </a:r>
            <a:r>
              <a:rPr lang="en-US" sz="2800" dirty="0"/>
              <a:t>(</a:t>
            </a:r>
            <a:r>
              <a:rPr lang="en-US" sz="2800" dirty="0" err="1"/>
              <a:t>imgn</a:t>
            </a:r>
            <a:r>
              <a:rPr lang="en-US" sz="2800" dirty="0"/>
              <a:t>); </a:t>
            </a:r>
            <a:r>
              <a:rPr lang="en-US" sz="2000" dirty="0"/>
              <a:t>% 7 components are labeled</a:t>
            </a:r>
            <a:endParaRPr lang="en-US" sz="2800" dirty="0"/>
          </a:p>
          <a:p>
            <a:r>
              <a:rPr lang="en-US" sz="2800" dirty="0"/>
              <a:t>    mx = max(max(L)); </a:t>
            </a:r>
            <a:r>
              <a:rPr lang="en-US" sz="2000" dirty="0"/>
              <a:t>% mx = 7</a:t>
            </a:r>
            <a:endParaRPr lang="en-US" sz="2800" dirty="0"/>
          </a:p>
          <a:p>
            <a:r>
              <a:rPr lang="en-US" sz="2800" dirty="0"/>
              <a:t>    BW = edge(double(</a:t>
            </a:r>
            <a:r>
              <a:rPr lang="en-US" sz="2800" dirty="0" err="1"/>
              <a:t>imgn</a:t>
            </a:r>
            <a:r>
              <a:rPr lang="en-US" sz="2800" dirty="0"/>
              <a:t>), '</a:t>
            </a:r>
            <a:r>
              <a:rPr lang="en-US" sz="2800" dirty="0" err="1"/>
              <a:t>sobel</a:t>
            </a:r>
            <a:r>
              <a:rPr lang="en-US" sz="2800" dirty="0"/>
              <a:t>');</a:t>
            </a:r>
          </a:p>
          <a:p>
            <a:r>
              <a:rPr lang="en-US" sz="2800" dirty="0"/>
              <a:t>    [</a:t>
            </a:r>
            <a:r>
              <a:rPr lang="en-US" sz="2800" dirty="0" err="1"/>
              <a:t>imx</a:t>
            </a:r>
            <a:r>
              <a:rPr lang="en-US" sz="2800" dirty="0"/>
              <a:t>, </a:t>
            </a:r>
            <a:r>
              <a:rPr lang="en-US" sz="2800" dirty="0" err="1"/>
              <a:t>imy</a:t>
            </a:r>
            <a:r>
              <a:rPr lang="en-US" sz="2800" dirty="0"/>
              <a:t>] = size(BW); </a:t>
            </a:r>
            <a:r>
              <a:rPr lang="en-US" sz="2000" dirty="0"/>
              <a:t>% </a:t>
            </a:r>
            <a:r>
              <a:rPr lang="en-US" sz="2000" dirty="0" err="1"/>
              <a:t>imx</a:t>
            </a:r>
            <a:r>
              <a:rPr lang="en-US" sz="2000" dirty="0"/>
              <a:t> = 29, </a:t>
            </a:r>
            <a:r>
              <a:rPr lang="en-US" sz="2000" dirty="0" err="1"/>
              <a:t>imy</a:t>
            </a:r>
            <a:r>
              <a:rPr lang="en-US" sz="2000" dirty="0"/>
              <a:t> = 129</a:t>
            </a:r>
            <a:endParaRPr lang="en-US" sz="2800" dirty="0"/>
          </a:p>
        </p:txBody>
      </p:sp>
      <p:pic>
        <p:nvPicPr>
          <p:cNvPr id="3074" name="Picture 2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2" cstate="print"/>
          <a:srcRect l="26483" t="29531" r="27074" b="40938"/>
          <a:stretch>
            <a:fillRect/>
          </a:stretch>
        </p:blipFill>
        <p:spPr bwMode="auto">
          <a:xfrm>
            <a:off x="9048328" y="2420888"/>
            <a:ext cx="1296144" cy="360040"/>
          </a:xfrm>
          <a:prstGeom prst="rect">
            <a:avLst/>
          </a:prstGeom>
          <a:noFill/>
        </p:spPr>
      </p:pic>
      <p:pic>
        <p:nvPicPr>
          <p:cNvPr id="2050" name="Picture 2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3" cstate="print"/>
          <a:srcRect l="23903" t="29531" r="24493" b="35032"/>
          <a:stretch>
            <a:fillRect/>
          </a:stretch>
        </p:blipFill>
        <p:spPr bwMode="auto">
          <a:xfrm>
            <a:off x="8976320" y="1916832"/>
            <a:ext cx="1440160" cy="432048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ocr.m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589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  for n=1:mx</a:t>
            </a:r>
          </a:p>
          <a:p>
            <a:r>
              <a:rPr lang="en-US" sz="2800" dirty="0"/>
              <a:t>        [</a:t>
            </a:r>
            <a:r>
              <a:rPr lang="en-US" sz="2800" dirty="0" err="1"/>
              <a:t>r,c</a:t>
            </a:r>
            <a:r>
              <a:rPr lang="en-US" sz="2800" dirty="0"/>
              <a:t>] = find(L==n);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rc</a:t>
            </a:r>
            <a:r>
              <a:rPr lang="en-US" sz="2800" dirty="0"/>
              <a:t> = [r c];  </a:t>
            </a:r>
            <a:r>
              <a:rPr lang="en-US" sz="2000" dirty="0"/>
              <a:t>% Locations of all pixels of nth component</a:t>
            </a:r>
            <a:endParaRPr lang="en-US" sz="2800" dirty="0"/>
          </a:p>
          <a:p>
            <a:r>
              <a:rPr lang="en-US" sz="2800" dirty="0"/>
              <a:t>        [</a:t>
            </a:r>
            <a:r>
              <a:rPr lang="en-US" sz="2800" dirty="0" err="1"/>
              <a:t>sx</a:t>
            </a:r>
            <a:r>
              <a:rPr lang="en-US" sz="2800" dirty="0"/>
              <a:t> </a:t>
            </a:r>
            <a:r>
              <a:rPr lang="en-US" sz="2800" dirty="0" err="1"/>
              <a:t>sy</a:t>
            </a:r>
            <a:r>
              <a:rPr lang="en-US" sz="2800" dirty="0"/>
              <a:t>]=size(</a:t>
            </a:r>
            <a:r>
              <a:rPr lang="en-US" sz="2800" dirty="0" err="1"/>
              <a:t>rc</a:t>
            </a:r>
            <a:r>
              <a:rPr lang="en-US" sz="2800" dirty="0"/>
              <a:t>);  </a:t>
            </a:r>
            <a:r>
              <a:rPr lang="en-US" sz="2000" dirty="0"/>
              <a:t>% for n = 1: </a:t>
            </a:r>
            <a:r>
              <a:rPr lang="en-US" sz="2000" dirty="0" err="1"/>
              <a:t>sx</a:t>
            </a:r>
            <a:r>
              <a:rPr lang="en-US" sz="2000" dirty="0"/>
              <a:t> = 161 rows, </a:t>
            </a:r>
            <a:r>
              <a:rPr lang="en-US" sz="2000" dirty="0" err="1"/>
              <a:t>sy</a:t>
            </a:r>
            <a:r>
              <a:rPr lang="en-US" sz="2000" dirty="0"/>
              <a:t> = 2 cols</a:t>
            </a:r>
            <a:endParaRPr lang="en-US" sz="2800" dirty="0"/>
          </a:p>
          <a:p>
            <a:r>
              <a:rPr lang="en-US" sz="2800" dirty="0"/>
              <a:t>        n1=zeros(</a:t>
            </a:r>
            <a:r>
              <a:rPr lang="en-US" sz="2800" dirty="0" err="1"/>
              <a:t>imx</a:t>
            </a:r>
            <a:r>
              <a:rPr lang="en-US" sz="2800" dirty="0"/>
              <a:t>, </a:t>
            </a:r>
            <a:r>
              <a:rPr lang="en-US" sz="2800" dirty="0" err="1"/>
              <a:t>imy</a:t>
            </a:r>
            <a:r>
              <a:rPr lang="en-US" sz="2800" dirty="0"/>
              <a:t>);</a:t>
            </a:r>
          </a:p>
          <a:p>
            <a:r>
              <a:rPr lang="en-US" sz="2800" dirty="0"/>
              <a:t>        for </a:t>
            </a:r>
            <a:r>
              <a:rPr lang="en-US" sz="2800" dirty="0" err="1"/>
              <a:t>i</a:t>
            </a:r>
            <a:r>
              <a:rPr lang="en-US" sz="2800" dirty="0"/>
              <a:t>=1:sx</a:t>
            </a:r>
          </a:p>
          <a:p>
            <a:r>
              <a:rPr lang="en-US" sz="2800" dirty="0"/>
              <a:t>            x1=</a:t>
            </a:r>
            <a:r>
              <a:rPr lang="en-US" sz="2800" dirty="0" err="1"/>
              <a:t>rc</a:t>
            </a:r>
            <a:r>
              <a:rPr lang="en-US" sz="2800" dirty="0"/>
              <a:t>(i,1);</a:t>
            </a:r>
          </a:p>
          <a:p>
            <a:r>
              <a:rPr lang="en-US" sz="2800" dirty="0"/>
              <a:t>            y1=</a:t>
            </a:r>
            <a:r>
              <a:rPr lang="en-US" sz="2800" dirty="0" err="1"/>
              <a:t>rc</a:t>
            </a:r>
            <a:r>
              <a:rPr lang="en-US" sz="2800" dirty="0"/>
              <a:t>(i,2);</a:t>
            </a:r>
          </a:p>
          <a:p>
            <a:r>
              <a:rPr lang="en-US" sz="2800" dirty="0"/>
              <a:t>            n1(x1,y1)=255;</a:t>
            </a:r>
          </a:p>
          <a:p>
            <a:r>
              <a:rPr lang="en-US" sz="2800" dirty="0"/>
              <a:t>        end</a:t>
            </a:r>
          </a:p>
        </p:txBody>
      </p:sp>
      <p:pic>
        <p:nvPicPr>
          <p:cNvPr id="4098" name="Picture 2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2" cstate="print"/>
          <a:srcRect l="25221" t="28296" r="25756" b="42173"/>
          <a:stretch>
            <a:fillRect/>
          </a:stretch>
        </p:blipFill>
        <p:spPr bwMode="auto">
          <a:xfrm>
            <a:off x="8832304" y="6165304"/>
            <a:ext cx="1368152" cy="360040"/>
          </a:xfrm>
          <a:prstGeom prst="rect">
            <a:avLst/>
          </a:prstGeom>
          <a:noFill/>
        </p:spPr>
      </p:pic>
      <p:pic>
        <p:nvPicPr>
          <p:cNvPr id="4099" name="Picture 3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3" cstate="print"/>
          <a:srcRect l="24812" t="25297" r="26165" b="39266"/>
          <a:stretch>
            <a:fillRect/>
          </a:stretch>
        </p:blipFill>
        <p:spPr bwMode="auto">
          <a:xfrm>
            <a:off x="8832304" y="3429000"/>
            <a:ext cx="1368152" cy="432048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3200" dirty="0"/>
              <a:t>	ANPR: </a:t>
            </a:r>
            <a:r>
              <a:rPr lang="en-US" sz="3200" dirty="0" err="1">
                <a:solidFill>
                  <a:srgbClr val="FF0000"/>
                </a:solidFill>
              </a:rPr>
              <a:t>ocr.m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77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        n1 = ~n1;</a:t>
            </a:r>
          </a:p>
          <a:p>
            <a:r>
              <a:rPr lang="en-US" sz="2800" dirty="0"/>
              <a:t>        n1 = ~clip(n1); % </a:t>
            </a:r>
            <a:r>
              <a:rPr lang="en-US" sz="2800" dirty="0" err="1">
                <a:solidFill>
                  <a:srgbClr val="FF0000"/>
                </a:solidFill>
              </a:rPr>
              <a:t>clip.m</a:t>
            </a:r>
            <a:r>
              <a:rPr lang="en-US" sz="2800" dirty="0"/>
              <a:t>, image cropping</a:t>
            </a:r>
          </a:p>
          <a:p>
            <a:r>
              <a:rPr lang="en-US" sz="2800" dirty="0"/>
              <a:t>        </a:t>
            </a:r>
            <a:r>
              <a:rPr lang="en-US" sz="2400" dirty="0"/>
              <a:t>% conversion equal to the size in </a:t>
            </a:r>
            <a:r>
              <a:rPr lang="en-US" sz="2400" dirty="0" err="1"/>
              <a:t>create_templates.m</a:t>
            </a:r>
            <a:r>
              <a:rPr lang="en-US" sz="2400" dirty="0"/>
              <a:t> file</a:t>
            </a:r>
            <a:endParaRPr lang="en-US" sz="2800" dirty="0"/>
          </a:p>
          <a:p>
            <a:r>
              <a:rPr lang="en-US" sz="2800" dirty="0"/>
              <a:t>        </a:t>
            </a:r>
            <a:r>
              <a:rPr lang="en-US" sz="2800" dirty="0" err="1"/>
              <a:t>img_r</a:t>
            </a:r>
            <a:r>
              <a:rPr lang="en-US" sz="2800" dirty="0"/>
              <a:t> = </a:t>
            </a:r>
            <a:r>
              <a:rPr lang="en-US" sz="2800" dirty="0" err="1"/>
              <a:t>imresize</a:t>
            </a:r>
            <a:r>
              <a:rPr lang="en-US" sz="2800" dirty="0"/>
              <a:t>(n1, [42 24]);</a:t>
            </a:r>
          </a:p>
          <a:p>
            <a:r>
              <a:rPr lang="en-US" sz="2800" dirty="0"/>
              <a:t>        letter = </a:t>
            </a:r>
            <a:r>
              <a:rPr lang="en-US" sz="2800" dirty="0" err="1"/>
              <a:t>read_letter</a:t>
            </a:r>
            <a:r>
              <a:rPr lang="en-US" sz="2800" dirty="0"/>
              <a:t>(</a:t>
            </a:r>
            <a:r>
              <a:rPr lang="en-US" sz="2800" dirty="0" err="1"/>
              <a:t>img_r</a:t>
            </a:r>
            <a:r>
              <a:rPr lang="en-US" sz="2800" dirty="0"/>
              <a:t>);  </a:t>
            </a:r>
            <a:r>
              <a:rPr lang="en-US" sz="2000" dirty="0"/>
              <a:t>% </a:t>
            </a:r>
            <a:r>
              <a:rPr lang="en-US" sz="2000" dirty="0" err="1">
                <a:solidFill>
                  <a:srgbClr val="FF0000"/>
                </a:solidFill>
              </a:rPr>
              <a:t>read_letter.m</a:t>
            </a:r>
            <a:r>
              <a:rPr lang="en-US" sz="2000" dirty="0"/>
              <a:t>, </a:t>
            </a:r>
            <a:r>
              <a:rPr lang="en-US" sz="2000" dirty="0" err="1"/>
              <a:t>img</a:t>
            </a:r>
            <a:r>
              <a:rPr lang="en-US" sz="2000" dirty="0"/>
              <a:t> to text</a:t>
            </a:r>
            <a:endParaRPr lang="en-US" sz="2800" dirty="0"/>
          </a:p>
          <a:p>
            <a:r>
              <a:rPr lang="en-US" sz="2800" dirty="0"/>
              <a:t>        word=[word letter];</a:t>
            </a:r>
          </a:p>
          <a:p>
            <a:r>
              <a:rPr lang="en-US" sz="2800" dirty="0"/>
              <a:t>    end % for</a:t>
            </a:r>
          </a:p>
          <a:p>
            <a:r>
              <a:rPr lang="en-US" sz="2800" dirty="0"/>
              <a:t> </a:t>
            </a:r>
          </a:p>
        </p:txBody>
      </p:sp>
      <p:pic>
        <p:nvPicPr>
          <p:cNvPr id="5124" name="Picture 4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2" cstate="print"/>
          <a:srcRect l="39150" t="17716" r="40747" b="40947"/>
          <a:stretch>
            <a:fillRect/>
          </a:stretch>
        </p:blipFill>
        <p:spPr bwMode="auto">
          <a:xfrm>
            <a:off x="9840416" y="2780928"/>
            <a:ext cx="360041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126" name="Picture 6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3" cstate="print"/>
          <a:srcRect l="38790" t="29531" r="40093" b="35032"/>
          <a:stretch>
            <a:fillRect/>
          </a:stretch>
        </p:blipFill>
        <p:spPr bwMode="auto">
          <a:xfrm>
            <a:off x="9840416" y="1844824"/>
            <a:ext cx="360040" cy="432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26" name="Picture 2" descr="C:\Documents and Settings\drzhabib.CIITLAHORE\Desktop\untitled.jpg"/>
          <p:cNvPicPr>
            <a:picLocks noChangeAspect="1" noChangeArrowheads="1"/>
          </p:cNvPicPr>
          <p:nvPr/>
        </p:nvPicPr>
        <p:blipFill>
          <a:blip r:embed="rId4" cstate="print"/>
          <a:srcRect l="24034" t="31018" b="39451"/>
          <a:stretch>
            <a:fillRect/>
          </a:stretch>
        </p:blipFill>
        <p:spPr bwMode="auto">
          <a:xfrm>
            <a:off x="8440414" y="1340768"/>
            <a:ext cx="2120082" cy="3600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ocr.m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062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    % Write 'word' in text file with date &amp; time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zClock</a:t>
            </a:r>
            <a:r>
              <a:rPr lang="en-US" sz="2400" dirty="0"/>
              <a:t>=uint16(clock);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zDate</a:t>
            </a:r>
            <a:r>
              <a:rPr lang="en-US" sz="2400" dirty="0"/>
              <a:t>=</a:t>
            </a:r>
            <a:r>
              <a:rPr lang="en-US" sz="2400" dirty="0" err="1"/>
              <a:t>strcat</a:t>
            </a:r>
            <a:r>
              <a:rPr lang="en-US" sz="2400" dirty="0"/>
              <a:t>(date,'--', int2str(</a:t>
            </a:r>
            <a:r>
              <a:rPr lang="en-US" sz="2400" dirty="0" err="1"/>
              <a:t>zClock</a:t>
            </a:r>
            <a:r>
              <a:rPr lang="en-US" sz="2400" dirty="0"/>
              <a:t>(4)),':', int2str(</a:t>
            </a:r>
            <a:r>
              <a:rPr lang="en-US" sz="2400" dirty="0" err="1"/>
              <a:t>zClock</a:t>
            </a:r>
            <a:r>
              <a:rPr lang="en-US" sz="2400" dirty="0"/>
              <a:t>(5)), ':', int2str(</a:t>
            </a:r>
            <a:r>
              <a:rPr lang="en-US" sz="2400" dirty="0" err="1"/>
              <a:t>zClock</a:t>
            </a:r>
            <a:r>
              <a:rPr lang="en-US" sz="2400" dirty="0"/>
              <a:t>(6)));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fprintf</a:t>
            </a:r>
            <a:r>
              <a:rPr lang="en-US" sz="2400" dirty="0"/>
              <a:t>(</a:t>
            </a:r>
            <a:r>
              <a:rPr lang="en-US" sz="2400" dirty="0" err="1"/>
              <a:t>fid,'Number</a:t>
            </a:r>
            <a:r>
              <a:rPr lang="en-US" sz="2400" dirty="0"/>
              <a:t> Plate: %s\</a:t>
            </a:r>
            <a:r>
              <a:rPr lang="en-US" sz="2400" dirty="0" err="1"/>
              <a:t>nRecorded</a:t>
            </a:r>
            <a:r>
              <a:rPr lang="en-US" sz="2400" dirty="0"/>
              <a:t> on: %s\n\n',</a:t>
            </a:r>
            <a:r>
              <a:rPr lang="en-US" sz="2400" dirty="0" err="1"/>
              <a:t>word,zDate</a:t>
            </a:r>
            <a:r>
              <a:rPr lang="en-US" sz="2400" dirty="0"/>
              <a:t>);  </a:t>
            </a:r>
            <a:r>
              <a:rPr lang="en-US" sz="2000" dirty="0"/>
              <a:t>%Write 'word' in text file</a:t>
            </a:r>
            <a:endParaRPr lang="en-US" sz="2400" dirty="0"/>
          </a:p>
          <a:p>
            <a:r>
              <a:rPr lang="en-US" sz="2400" dirty="0"/>
              <a:t>    if </a:t>
            </a:r>
            <a:r>
              <a:rPr lang="en-US" sz="2400" dirty="0" err="1"/>
              <a:t>isempty</a:t>
            </a:r>
            <a:r>
              <a:rPr lang="en-US" sz="2400" dirty="0"/>
              <a:t>(re)  %See variable 're' in </a:t>
            </a:r>
            <a:r>
              <a:rPr lang="en-US" sz="2400" dirty="0" err="1"/>
              <a:t>Fcn</a:t>
            </a:r>
            <a:r>
              <a:rPr lang="en-US" sz="2400" dirty="0"/>
              <a:t> 'lines'</a:t>
            </a:r>
          </a:p>
          <a:p>
            <a:r>
              <a:rPr lang="en-US" sz="2400" dirty="0"/>
              <a:t>        break</a:t>
            </a:r>
          </a:p>
          <a:p>
            <a:r>
              <a:rPr lang="en-US" sz="2400" dirty="0"/>
              <a:t>    end</a:t>
            </a:r>
          </a:p>
          <a:p>
            <a:r>
              <a:rPr lang="en-US" sz="2400" dirty="0"/>
              <a:t>end   % while</a:t>
            </a:r>
          </a:p>
          <a:p>
            <a:r>
              <a:rPr lang="en-US" sz="2400" dirty="0" err="1"/>
              <a:t>fclose</a:t>
            </a:r>
            <a:r>
              <a:rPr lang="en-US" sz="2400" dirty="0"/>
              <a:t>(fid);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ocr.m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805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function [</a:t>
            </a:r>
            <a:r>
              <a:rPr lang="en-US" sz="2000" dirty="0" err="1"/>
              <a:t>fl</a:t>
            </a:r>
            <a:r>
              <a:rPr lang="en-US" sz="2000" dirty="0"/>
              <a:t> re]=lines(aa) % Divide text in lines, used by </a:t>
            </a:r>
            <a:r>
              <a:rPr lang="en-US" sz="2000" dirty="0" err="1"/>
              <a:t>ocr.m</a:t>
            </a:r>
            <a:endParaRPr lang="en-US" sz="2000" dirty="0"/>
          </a:p>
          <a:p>
            <a:r>
              <a:rPr lang="en-US" sz="2000" dirty="0"/>
              <a:t>aa=clip(aa); % </a:t>
            </a:r>
            <a:r>
              <a:rPr lang="en-US" sz="2000" dirty="0" err="1">
                <a:solidFill>
                  <a:srgbClr val="FF0000"/>
                </a:solidFill>
              </a:rPr>
              <a:t>clip.m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r=size(aa,1);</a:t>
            </a:r>
          </a:p>
          <a:p>
            <a:r>
              <a:rPr lang="en-US" sz="2000" dirty="0"/>
              <a:t>for s=1:r</a:t>
            </a:r>
          </a:p>
          <a:p>
            <a:r>
              <a:rPr lang="en-US" sz="2000" dirty="0"/>
              <a:t>    if sum(aa(s,:))==0</a:t>
            </a:r>
          </a:p>
          <a:p>
            <a:r>
              <a:rPr lang="en-US" sz="2000" dirty="0"/>
              <a:t>        nm=aa(1:s-1,1:end);%First line matrix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rm</a:t>
            </a:r>
            <a:r>
              <a:rPr lang="en-US" sz="2000" dirty="0"/>
              <a:t>=aa(s:end,1:end);%Remain line matrix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fl</a:t>
            </a:r>
            <a:r>
              <a:rPr lang="en-US" sz="2000" dirty="0"/>
              <a:t>=~clip(~nm);</a:t>
            </a:r>
          </a:p>
          <a:p>
            <a:r>
              <a:rPr lang="en-US" sz="2000" dirty="0"/>
              <a:t>        re=~clip(~</a:t>
            </a:r>
            <a:r>
              <a:rPr lang="en-US" sz="2000" dirty="0" err="1"/>
              <a:t>rm</a:t>
            </a:r>
            <a:r>
              <a:rPr lang="en-US" sz="2000" dirty="0"/>
              <a:t>);</a:t>
            </a:r>
          </a:p>
          <a:p>
            <a:r>
              <a:rPr lang="en-US" sz="2000" dirty="0"/>
              <a:t>        break</a:t>
            </a:r>
          </a:p>
          <a:p>
            <a:r>
              <a:rPr lang="en-US" sz="2000" dirty="0"/>
              <a:t>    else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fl</a:t>
            </a:r>
            <a:r>
              <a:rPr lang="en-US" sz="2000" dirty="0"/>
              <a:t>=~aa;%Only one line.</a:t>
            </a:r>
          </a:p>
          <a:p>
            <a:r>
              <a:rPr lang="en-US" sz="2000" dirty="0"/>
              <a:t>        re=[];</a:t>
            </a:r>
          </a:p>
          <a:p>
            <a:r>
              <a:rPr lang="en-US" sz="2000" dirty="0"/>
              <a:t>    end</a:t>
            </a:r>
          </a:p>
          <a:p>
            <a:r>
              <a:rPr lang="en-US" sz="2000" dirty="0"/>
              <a:t>end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lines.m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08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function </a:t>
            </a:r>
            <a:r>
              <a:rPr lang="en-US" sz="2800" dirty="0" err="1"/>
              <a:t>imgn</a:t>
            </a:r>
            <a:r>
              <a:rPr lang="en-US" sz="2800" dirty="0"/>
              <a:t>=clip(</a:t>
            </a:r>
            <a:r>
              <a:rPr lang="en-US" sz="2800" dirty="0" err="1"/>
              <a:t>imagen</a:t>
            </a:r>
            <a:r>
              <a:rPr lang="en-US" sz="2800" dirty="0"/>
              <a:t>) % used by </a:t>
            </a:r>
            <a:r>
              <a:rPr lang="en-US" sz="2800" dirty="0" err="1"/>
              <a:t>ocr.m</a:t>
            </a:r>
            <a:r>
              <a:rPr lang="en-US" sz="2800" dirty="0"/>
              <a:t> and </a:t>
            </a:r>
            <a:r>
              <a:rPr lang="en-US" sz="2800" dirty="0" err="1"/>
              <a:t>lines.m</a:t>
            </a:r>
            <a:endParaRPr lang="en-US" sz="2800" dirty="0"/>
          </a:p>
          <a:p>
            <a:r>
              <a:rPr lang="en-US" sz="2800" dirty="0"/>
              <a:t>% Crops a black letter with white background.</a:t>
            </a:r>
          </a:p>
          <a:p>
            <a:r>
              <a:rPr lang="en-US" sz="2800" dirty="0"/>
              <a:t>if ~</a:t>
            </a:r>
            <a:r>
              <a:rPr lang="en-US" sz="2800" dirty="0" err="1"/>
              <a:t>islogical</a:t>
            </a:r>
            <a:r>
              <a:rPr lang="en-US" sz="2800" dirty="0"/>
              <a:t>(</a:t>
            </a:r>
            <a:r>
              <a:rPr lang="en-US" sz="2800" dirty="0" err="1"/>
              <a:t>imagen</a:t>
            </a:r>
            <a:r>
              <a:rPr lang="en-US" sz="2800" dirty="0"/>
              <a:t>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imagen</a:t>
            </a:r>
            <a:r>
              <a:rPr lang="en-US" sz="2800" dirty="0"/>
              <a:t>=im2bw(imagen,0.99);</a:t>
            </a:r>
          </a:p>
          <a:p>
            <a:r>
              <a:rPr lang="en-US" sz="2800" dirty="0"/>
              <a:t>end</a:t>
            </a:r>
          </a:p>
          <a:p>
            <a:r>
              <a:rPr lang="en-US" sz="2800" dirty="0"/>
              <a:t>a=~</a:t>
            </a:r>
            <a:r>
              <a:rPr lang="en-US" sz="2800" dirty="0" err="1"/>
              <a:t>imagen</a:t>
            </a:r>
            <a:r>
              <a:rPr lang="en-US" sz="2800" dirty="0"/>
              <a:t>;</a:t>
            </a:r>
          </a:p>
          <a:p>
            <a:r>
              <a:rPr lang="en-US" sz="2800" dirty="0"/>
              <a:t>[f c]=find(a);</a:t>
            </a:r>
          </a:p>
          <a:p>
            <a:r>
              <a:rPr lang="en-US" sz="2800" dirty="0" err="1"/>
              <a:t>lmaxc</a:t>
            </a:r>
            <a:r>
              <a:rPr lang="en-US" sz="2800" dirty="0"/>
              <a:t>=max(c); </a:t>
            </a:r>
            <a:r>
              <a:rPr lang="en-US" sz="2800" dirty="0" err="1"/>
              <a:t>lminc</a:t>
            </a:r>
            <a:r>
              <a:rPr lang="en-US" sz="2800" dirty="0"/>
              <a:t>=min(c);</a:t>
            </a:r>
          </a:p>
          <a:p>
            <a:r>
              <a:rPr lang="en-US" sz="2800" dirty="0" err="1"/>
              <a:t>lmaxf</a:t>
            </a:r>
            <a:r>
              <a:rPr lang="en-US" sz="2800" dirty="0"/>
              <a:t>=max(f); </a:t>
            </a:r>
            <a:r>
              <a:rPr lang="en-US" sz="2800" dirty="0" err="1"/>
              <a:t>lminf</a:t>
            </a:r>
            <a:r>
              <a:rPr lang="en-US" sz="2800" dirty="0"/>
              <a:t>=min(f);</a:t>
            </a:r>
          </a:p>
          <a:p>
            <a:r>
              <a:rPr lang="en-US" sz="2800" dirty="0" err="1"/>
              <a:t>imgn</a:t>
            </a:r>
            <a:r>
              <a:rPr lang="en-US" sz="2800" dirty="0"/>
              <a:t>=a(</a:t>
            </a:r>
            <a:r>
              <a:rPr lang="en-US" sz="2800" dirty="0" err="1"/>
              <a:t>lminf:lmaxf,lminc:lmaxc</a:t>
            </a:r>
            <a:r>
              <a:rPr lang="en-US" sz="2800" dirty="0"/>
              <a:t>); % Crops image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clip.m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794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function letter=</a:t>
            </a:r>
            <a:r>
              <a:rPr lang="en-US" sz="2400" dirty="0" err="1"/>
              <a:t>read_letter</a:t>
            </a:r>
            <a:r>
              <a:rPr lang="en-US" sz="2400" dirty="0"/>
              <a:t>(</a:t>
            </a:r>
            <a:r>
              <a:rPr lang="en-US" sz="2400" dirty="0" err="1"/>
              <a:t>imagn</a:t>
            </a:r>
            <a:r>
              <a:rPr lang="en-US" sz="2400" dirty="0"/>
              <a:t>) % for use in </a:t>
            </a:r>
            <a:r>
              <a:rPr lang="en-US" sz="2400" dirty="0" err="1"/>
              <a:t>ocr.m</a:t>
            </a:r>
            <a:endParaRPr lang="en-US" sz="2400" dirty="0"/>
          </a:p>
          <a:p>
            <a:r>
              <a:rPr lang="en-US" sz="2400" dirty="0"/>
              <a:t>% Computes the correlation between template and input image and its output is a string containing the letter.</a:t>
            </a:r>
          </a:p>
          <a:p>
            <a:r>
              <a:rPr lang="en-US" sz="2400" dirty="0"/>
              <a:t>% Size of '</a:t>
            </a:r>
            <a:r>
              <a:rPr lang="en-US" sz="2400" dirty="0" err="1"/>
              <a:t>imagn</a:t>
            </a:r>
            <a:r>
              <a:rPr lang="en-US" sz="2400" dirty="0"/>
              <a:t>' must be 42 x 24 pixels</a:t>
            </a:r>
          </a:p>
          <a:p>
            <a:r>
              <a:rPr lang="en-US" sz="2400" dirty="0"/>
              <a:t>comp=[];</a:t>
            </a:r>
          </a:p>
          <a:p>
            <a:r>
              <a:rPr lang="en-US" sz="2400" dirty="0"/>
              <a:t>load templates  % created by </a:t>
            </a:r>
            <a:r>
              <a:rPr lang="en-US" sz="2400" dirty="0" err="1"/>
              <a:t>create_templates.m</a:t>
            </a:r>
            <a:r>
              <a:rPr lang="en-US" sz="2400" dirty="0"/>
              <a:t> and generated file </a:t>
            </a:r>
            <a:r>
              <a:rPr lang="en-US" sz="2400" dirty="0" err="1"/>
              <a:t>templates.mat</a:t>
            </a:r>
            <a:endParaRPr lang="en-US" sz="2400" dirty="0"/>
          </a:p>
          <a:p>
            <a:r>
              <a:rPr lang="en-US" sz="2400" dirty="0"/>
              <a:t>for n=1:36</a:t>
            </a:r>
          </a:p>
          <a:p>
            <a:r>
              <a:rPr lang="en-US" sz="2400" dirty="0"/>
              <a:t>    </a:t>
            </a:r>
            <a:r>
              <a:rPr lang="en-US" sz="2400" dirty="0" err="1"/>
              <a:t>sem</a:t>
            </a:r>
            <a:r>
              <a:rPr lang="en-US" sz="2400" dirty="0"/>
              <a:t>=corr2(templates{1,n},</a:t>
            </a:r>
            <a:r>
              <a:rPr lang="en-US" sz="2400" dirty="0" err="1"/>
              <a:t>imagn</a:t>
            </a:r>
            <a:r>
              <a:rPr lang="en-US" sz="2400" dirty="0"/>
              <a:t>); % range -1 to 1, 1 is perfect</a:t>
            </a:r>
          </a:p>
          <a:p>
            <a:r>
              <a:rPr lang="en-US" sz="2400" dirty="0"/>
              <a:t>    comp=[comp </a:t>
            </a:r>
            <a:r>
              <a:rPr lang="en-US" sz="2400" dirty="0" err="1"/>
              <a:t>sem</a:t>
            </a:r>
            <a:r>
              <a:rPr lang="en-US" sz="2400" dirty="0"/>
              <a:t>];</a:t>
            </a:r>
          </a:p>
          <a:p>
            <a:r>
              <a:rPr lang="en-US" sz="2400" dirty="0"/>
              <a:t>end</a:t>
            </a:r>
          </a:p>
          <a:p>
            <a:r>
              <a:rPr lang="en-US" sz="2400" dirty="0" err="1"/>
              <a:t>vd</a:t>
            </a:r>
            <a:r>
              <a:rPr lang="en-US" sz="2400" dirty="0"/>
              <a:t>=find(comp==max(comp));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read_letter.m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978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59" y="1285860"/>
            <a:ext cx="2017109" cy="5357850"/>
          </a:xfrm>
        </p:spPr>
        <p:txBody>
          <a:bodyPr>
            <a:noAutofit/>
          </a:bodyPr>
          <a:lstStyle/>
          <a:p>
            <a:r>
              <a:rPr lang="en-US" sz="2000" dirty="0"/>
              <a:t>if </a:t>
            </a:r>
            <a:r>
              <a:rPr lang="en-US" sz="2000" dirty="0" err="1"/>
              <a:t>vd</a:t>
            </a:r>
            <a:r>
              <a:rPr lang="en-US" sz="2000" dirty="0"/>
              <a:t>==1</a:t>
            </a:r>
          </a:p>
          <a:p>
            <a:r>
              <a:rPr lang="en-US" sz="2000" dirty="0"/>
              <a:t>    letter='A';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</a:t>
            </a:r>
          </a:p>
          <a:p>
            <a:r>
              <a:rPr lang="en-US" sz="2000" dirty="0"/>
              <a:t>    letter='B';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</a:t>
            </a:r>
          </a:p>
          <a:p>
            <a:r>
              <a:rPr lang="en-US" sz="2000" dirty="0"/>
              <a:t>    letter='C';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==4</a:t>
            </a:r>
          </a:p>
          <a:p>
            <a:r>
              <a:rPr lang="en-US" sz="2000" dirty="0"/>
              <a:t>    letter='D';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==5</a:t>
            </a:r>
          </a:p>
          <a:p>
            <a:r>
              <a:rPr lang="en-US" sz="2000" dirty="0"/>
              <a:t>    letter='E';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==6</a:t>
            </a:r>
          </a:p>
          <a:p>
            <a:r>
              <a:rPr lang="en-US" sz="2000" dirty="0"/>
              <a:t>    letter='F';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==7</a:t>
            </a:r>
          </a:p>
          <a:p>
            <a:r>
              <a:rPr lang="en-US" sz="2000" dirty="0"/>
              <a:t>    letter='G';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	ANPR</a:t>
            </a:r>
            <a:r>
              <a:rPr lang="en-US" sz="3200" dirty="0"/>
              <a:t>: </a:t>
            </a:r>
            <a:r>
              <a:rPr lang="en-US" sz="3200" dirty="0" err="1">
                <a:solidFill>
                  <a:srgbClr val="FF0000"/>
                </a:solidFill>
              </a:rPr>
              <a:t>read_letter.m</a:t>
            </a:r>
            <a:endParaRPr lang="en-US" altLang="zh-TW" sz="2800" dirty="0">
              <a:solidFill>
                <a:srgbClr val="FF000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134675" y="1311510"/>
            <a:ext cx="2017109" cy="535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==8</a:t>
            </a:r>
          </a:p>
          <a:p>
            <a:r>
              <a:rPr lang="en-US" sz="2000" dirty="0"/>
              <a:t>    letter='H';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==9</a:t>
            </a:r>
          </a:p>
          <a:p>
            <a:r>
              <a:rPr lang="en-US" sz="2000" dirty="0"/>
              <a:t>    letter='I';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==10</a:t>
            </a:r>
          </a:p>
          <a:p>
            <a:r>
              <a:rPr lang="en-US" sz="2000" dirty="0"/>
              <a:t>    letter='J';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==11</a:t>
            </a:r>
          </a:p>
          <a:p>
            <a:r>
              <a:rPr lang="en-US" sz="2000" dirty="0"/>
              <a:t>    letter='K';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==12</a:t>
            </a:r>
          </a:p>
          <a:p>
            <a:r>
              <a:rPr lang="en-US" sz="2000" dirty="0"/>
              <a:t>    letter='L';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==13</a:t>
            </a:r>
          </a:p>
          <a:p>
            <a:r>
              <a:rPr lang="en-US" sz="2000" dirty="0"/>
              <a:t>    letter='M';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==14</a:t>
            </a:r>
          </a:p>
          <a:p>
            <a:r>
              <a:rPr lang="en-US" sz="2000" dirty="0"/>
              <a:t>    letter='N';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078891" y="1268760"/>
            <a:ext cx="2017109" cy="535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==15</a:t>
            </a:r>
          </a:p>
          <a:p>
            <a:r>
              <a:rPr lang="en-US" sz="2000" dirty="0"/>
              <a:t>    letter='O';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==16</a:t>
            </a:r>
          </a:p>
          <a:p>
            <a:r>
              <a:rPr lang="en-US" sz="2000" dirty="0"/>
              <a:t>    letter='P';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==17</a:t>
            </a:r>
          </a:p>
          <a:p>
            <a:r>
              <a:rPr lang="en-US" sz="2000" dirty="0"/>
              <a:t>    letter='Q';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==18</a:t>
            </a:r>
          </a:p>
          <a:p>
            <a:r>
              <a:rPr lang="en-US" sz="2000" dirty="0"/>
              <a:t>    letter='R';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==19</a:t>
            </a:r>
          </a:p>
          <a:p>
            <a:r>
              <a:rPr lang="en-US" sz="2000" dirty="0"/>
              <a:t>    letter='S';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==20</a:t>
            </a:r>
          </a:p>
          <a:p>
            <a:r>
              <a:rPr lang="en-US" sz="2000" dirty="0"/>
              <a:t>    letter='T';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==21</a:t>
            </a:r>
          </a:p>
          <a:p>
            <a:r>
              <a:rPr lang="en-US" sz="2000" dirty="0"/>
              <a:t>    letter='U';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095115" y="1268760"/>
            <a:ext cx="2017109" cy="535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==22</a:t>
            </a:r>
          </a:p>
          <a:p>
            <a:r>
              <a:rPr lang="en-US" sz="2000" dirty="0"/>
              <a:t>    letter='V';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==23</a:t>
            </a:r>
          </a:p>
          <a:p>
            <a:r>
              <a:rPr lang="en-US" sz="2000" dirty="0"/>
              <a:t>    letter='W';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==24</a:t>
            </a:r>
          </a:p>
          <a:p>
            <a:r>
              <a:rPr lang="en-US" sz="2000" dirty="0"/>
              <a:t>    letter='X';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==25</a:t>
            </a:r>
          </a:p>
          <a:p>
            <a:r>
              <a:rPr lang="en-US" sz="2000" dirty="0"/>
              <a:t>    letter='Y';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==26</a:t>
            </a:r>
          </a:p>
          <a:p>
            <a:r>
              <a:rPr lang="en-US" sz="2000" dirty="0"/>
              <a:t>    letter='Z';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==27</a:t>
            </a:r>
          </a:p>
          <a:p>
            <a:r>
              <a:rPr lang="en-US" sz="2000" dirty="0"/>
              <a:t>    letter='1';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==28</a:t>
            </a:r>
          </a:p>
          <a:p>
            <a:r>
              <a:rPr lang="en-US" sz="2000" dirty="0"/>
              <a:t>    letter='2';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183347" y="1268760"/>
            <a:ext cx="2017109" cy="535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==29</a:t>
            </a:r>
          </a:p>
          <a:p>
            <a:r>
              <a:rPr lang="en-US" sz="2000" dirty="0"/>
              <a:t>    letter='3';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==30</a:t>
            </a:r>
          </a:p>
          <a:p>
            <a:r>
              <a:rPr lang="en-US" sz="2000" dirty="0"/>
              <a:t>    letter='4';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==31</a:t>
            </a:r>
          </a:p>
          <a:p>
            <a:r>
              <a:rPr lang="en-US" sz="2000" dirty="0"/>
              <a:t>    letter='5';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==32</a:t>
            </a:r>
          </a:p>
          <a:p>
            <a:r>
              <a:rPr lang="en-US" sz="2000" dirty="0"/>
              <a:t>    letter='6';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==33</a:t>
            </a:r>
          </a:p>
          <a:p>
            <a:r>
              <a:rPr lang="en-US" sz="2000" dirty="0"/>
              <a:t>    letter='7';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==34</a:t>
            </a:r>
          </a:p>
          <a:p>
            <a:r>
              <a:rPr lang="en-US" sz="2000" dirty="0"/>
              <a:t>    letter='8';</a:t>
            </a:r>
          </a:p>
          <a:p>
            <a:r>
              <a:rPr lang="en-US" sz="2000" dirty="0" err="1"/>
              <a:t>elseif</a:t>
            </a:r>
            <a:r>
              <a:rPr lang="en-US" sz="2000" dirty="0"/>
              <a:t> </a:t>
            </a:r>
            <a:r>
              <a:rPr lang="en-US" sz="2000" dirty="0" err="1"/>
              <a:t>vd</a:t>
            </a:r>
            <a:r>
              <a:rPr lang="en-US" sz="2000" dirty="0"/>
              <a:t>==35</a:t>
            </a:r>
          </a:p>
          <a:p>
            <a:r>
              <a:rPr lang="en-US" sz="2000" dirty="0"/>
              <a:t>    letter='9';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0200456" y="1268760"/>
            <a:ext cx="1512168" cy="535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else</a:t>
            </a:r>
          </a:p>
          <a:p>
            <a:r>
              <a:rPr lang="en-US" sz="2000" dirty="0"/>
              <a:t>    letter='0';</a:t>
            </a:r>
          </a:p>
          <a:p>
            <a:r>
              <a:rPr lang="en-US" sz="20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51063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8980D-F345-D5D9-6D06-A308C1BB9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57DC-1A47-2A47-915F-92A8CEE64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59" y="196050"/>
            <a:ext cx="10001320" cy="928694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Exercise</a:t>
            </a:r>
            <a:endParaRPr lang="en-001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DD49-80DD-87FB-D391-79736A045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59" y="1285860"/>
            <a:ext cx="10586061" cy="5167476"/>
          </a:xfrm>
        </p:spPr>
        <p:txBody>
          <a:bodyPr>
            <a:normAutofit/>
          </a:bodyPr>
          <a:lstStyle/>
          <a:p>
            <a:r>
              <a:rPr lang="en-US" sz="3600" dirty="0"/>
              <a:t>Write a code to read a license plate in real-time and convert it into text.</a:t>
            </a:r>
            <a:endParaRPr lang="en-001" sz="3600" dirty="0"/>
          </a:p>
        </p:txBody>
      </p:sp>
      <p:pic>
        <p:nvPicPr>
          <p:cNvPr id="4" name="Picture 5" descr="http://uran.donetsk.ua/~masters/2013/fknt/lichkanenko/diss/images/animation.gif">
            <a:extLst>
              <a:ext uri="{FF2B5EF4-FFF2-40B4-BE49-F238E27FC236}">
                <a16:creationId xmlns:a16="http://schemas.microsoft.com/office/drawing/2014/main" id="{873A00ED-B987-99AC-CDB6-D0165AA8F92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4149080"/>
            <a:ext cx="8839701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228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63352" y="1406382"/>
            <a:ext cx="10585176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System Toolbox™ provides pre-trained object detectors and the functionality to train a custom detector.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cascade object detector uses the Viola-Jones algorithm to detect people's faces, noses, eyes, mouth, or upper body.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method for real-time object detection. Training is slow, but detection is very fast.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Viola-Jones algorithm detects people in an input image using the histogram of oriented gradients (HOG) features and a trained support vector machine (SVM) classifier.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600" dirty="0"/>
              <a:t>Feature Based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419079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1" descr="C:\Users\drzha\AppData\Local\Temp\ConnectorClipboard139894276188675611\image1586374270833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7" r="11060" b="18607"/>
          <a:stretch/>
        </p:blipFill>
        <p:spPr bwMode="auto">
          <a:xfrm>
            <a:off x="6528047" y="3645024"/>
            <a:ext cx="5637966" cy="31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90459" y="1406382"/>
            <a:ext cx="8713853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rgbClr val="228B22"/>
                </a:solidFill>
                <a:latin typeface="Arial" panose="020B0604020202020204" pitchFamily="34" charset="0"/>
              </a:rPr>
              <a:t>% Create a detector object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faceDetector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vision.CascadeObjectDetector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; </a:t>
            </a:r>
            <a:r>
              <a:rPr lang="en-US" sz="1200" dirty="0">
                <a:solidFill>
                  <a:srgbClr val="228B22"/>
                </a:solidFill>
                <a:latin typeface="Arial" panose="020B0604020202020204" pitchFamily="34" charset="0"/>
              </a:rPr>
              <a:t>% Using Viola-Jones algorithm, Default: finds faces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MyImage</a:t>
            </a:r>
            <a:r>
              <a:rPr lang="en-US" sz="1600" dirty="0">
                <a:solidFill>
                  <a:srgbClr val="228B22"/>
                </a:solidFill>
                <a:latin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rgbClr val="228B22"/>
                </a:solidFill>
                <a:latin typeface="Arial" panose="020B0604020202020204" pitchFamily="34" charset="0"/>
              </a:rPr>
              <a:t>imread</a:t>
            </a:r>
            <a:r>
              <a:rPr lang="en-US" sz="1600" dirty="0">
                <a:solidFill>
                  <a:srgbClr val="228B22"/>
                </a:solidFill>
                <a:latin typeface="Arial" panose="020B0604020202020204" pitchFamily="34" charset="0"/>
              </a:rPr>
              <a:t>('visionteam.jpg');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bbox</a:t>
            </a: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</a:rPr>
              <a:t> = step(</a:t>
            </a:r>
            <a:r>
              <a:rPr lang="en-GB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faceDetector</a:t>
            </a: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GB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MyImage</a:t>
            </a:r>
            <a:r>
              <a:rPr lang="en-GB" sz="1600" dirty="0">
                <a:solidFill>
                  <a:srgbClr val="000000"/>
                </a:solidFill>
                <a:latin typeface="Arial" panose="020B0604020202020204" pitchFamily="34" charset="0"/>
              </a:rPr>
              <a:t>); </a:t>
            </a:r>
            <a:r>
              <a:rPr lang="en-GB" sz="1600" dirty="0">
                <a:solidFill>
                  <a:srgbClr val="228B22"/>
                </a:solidFill>
                <a:latin typeface="Arial" panose="020B0604020202020204" pitchFamily="34" charset="0"/>
              </a:rPr>
              <a:t>% Detect faces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rgbClr val="228B22"/>
                </a:solidFill>
                <a:latin typeface="Arial" panose="020B0604020202020204" pitchFamily="34" charset="0"/>
              </a:rPr>
              <a:t>% Draw bounding boxes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shapeInserter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vision.ShapeInserter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sz="1600" dirty="0">
                <a:solidFill>
                  <a:srgbClr val="A020F0"/>
                </a:solidFill>
                <a:latin typeface="Arial" panose="020B0604020202020204" pitchFamily="34" charset="0"/>
              </a:rPr>
              <a:t>'</a:t>
            </a:r>
            <a:r>
              <a:rPr lang="en-US" sz="1600" dirty="0" err="1">
                <a:solidFill>
                  <a:srgbClr val="A020F0"/>
                </a:solidFill>
                <a:latin typeface="Arial" panose="020B0604020202020204" pitchFamily="34" charset="0"/>
              </a:rPr>
              <a:t>BorderColor</a:t>
            </a:r>
            <a:r>
              <a:rPr lang="en-US" sz="1600" dirty="0">
                <a:solidFill>
                  <a:srgbClr val="A020F0"/>
                </a:solidFill>
                <a:latin typeface="Arial" panose="020B0604020202020204" pitchFamily="34" charset="0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sz="1600" dirty="0">
                <a:solidFill>
                  <a:srgbClr val="A020F0"/>
                </a:solidFill>
                <a:latin typeface="Arial" panose="020B0604020202020204" pitchFamily="34" charset="0"/>
              </a:rPr>
              <a:t>'Custom'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sz="1600" dirty="0">
                <a:solidFill>
                  <a:srgbClr val="A020F0"/>
                </a:solidFill>
                <a:latin typeface="Arial" panose="020B0604020202020204" pitchFamily="34" charset="0"/>
              </a:rPr>
              <a:t>'</a:t>
            </a:r>
            <a:r>
              <a:rPr lang="en-US" sz="1600" dirty="0" err="1">
                <a:solidFill>
                  <a:srgbClr val="A020F0"/>
                </a:solidFill>
                <a:latin typeface="Arial" panose="020B0604020202020204" pitchFamily="34" charset="0"/>
              </a:rPr>
              <a:t>CustomBorderColor</a:t>
            </a:r>
            <a:r>
              <a:rPr lang="en-US" sz="1600" dirty="0">
                <a:solidFill>
                  <a:srgbClr val="A020F0"/>
                </a:solidFill>
                <a:latin typeface="Arial" panose="020B0604020202020204" pitchFamily="34" charset="0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, [255 0 0]);  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My_faces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= step(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shapeInserter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MyImage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, int32(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bbox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));   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imshow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My_faces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), title(</a:t>
            </a:r>
            <a:r>
              <a:rPr lang="en-US" sz="1600" dirty="0">
                <a:solidFill>
                  <a:srgbClr val="A020F0"/>
                </a:solidFill>
                <a:latin typeface="Arial" panose="020B0604020202020204" pitchFamily="34" charset="0"/>
              </a:rPr>
              <a:t>'Detected faces'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); 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200" dirty="0"/>
              <a:t>Face Detection – MATLAB Code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1583822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B1D6B-386A-4D52-FA43-96428FC7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1B4B52B-77A1-F4F9-E30D-865E509C1C3A}"/>
              </a:ext>
            </a:extLst>
          </p:cNvPr>
          <p:cNvSpPr/>
          <p:nvPr/>
        </p:nvSpPr>
        <p:spPr>
          <a:xfrm>
            <a:off x="190459" y="1268760"/>
            <a:ext cx="8713853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</a:rPr>
              <a:t>google.colab</a:t>
            </a:r>
            <a:r>
              <a:rPr lang="en-US" sz="1400" dirty="0">
                <a:latin typeface="Arial" panose="020B0604020202020204" pitchFamily="34" charset="0"/>
              </a:rPr>
              <a:t> import drive</a:t>
            </a:r>
          </a:p>
          <a:p>
            <a:r>
              <a:rPr lang="en-US" sz="1400" dirty="0" err="1">
                <a:latin typeface="Arial" panose="020B0604020202020204" pitchFamily="34" charset="0"/>
              </a:rPr>
              <a:t>drive.mount</a:t>
            </a:r>
            <a:r>
              <a:rPr lang="en-US" sz="1400" dirty="0">
                <a:latin typeface="Arial" panose="020B0604020202020204" pitchFamily="34" charset="0"/>
              </a:rPr>
              <a:t>('/content/drive')</a:t>
            </a:r>
          </a:p>
          <a:p>
            <a:r>
              <a:rPr lang="en-US" sz="1400" dirty="0">
                <a:latin typeface="Arial" panose="020B0604020202020204" pitchFamily="34" charset="0"/>
              </a:rPr>
              <a:t>import cv2</a:t>
            </a:r>
          </a:p>
          <a:p>
            <a:r>
              <a:rPr lang="en-US" sz="1400" dirty="0">
                <a:latin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</a:rPr>
              <a:t>google.colab.patches</a:t>
            </a:r>
            <a:r>
              <a:rPr lang="en-US" sz="1400" dirty="0">
                <a:latin typeface="Arial" panose="020B0604020202020204" pitchFamily="34" charset="0"/>
              </a:rPr>
              <a:t> import cv2_imshow  # For displaying images in </a:t>
            </a:r>
            <a:r>
              <a:rPr lang="en-US" sz="1400" dirty="0" err="1">
                <a:latin typeface="Arial" panose="020B0604020202020204" pitchFamily="34" charset="0"/>
              </a:rPr>
              <a:t>Colab</a:t>
            </a:r>
            <a:endParaRPr lang="en-US" sz="1400" dirty="0">
              <a:latin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Load the image</a:t>
            </a:r>
          </a:p>
          <a:p>
            <a:r>
              <a:rPr lang="en-US" sz="1400" dirty="0">
                <a:latin typeface="Arial" panose="020B0604020202020204" pitchFamily="34" charset="0"/>
              </a:rPr>
              <a:t>image = cv2.imread('/content/drive/</a:t>
            </a:r>
            <a:r>
              <a:rPr lang="en-US" sz="1400" dirty="0" err="1">
                <a:latin typeface="Arial" panose="020B0604020202020204" pitchFamily="34" charset="0"/>
              </a:rPr>
              <a:t>MyDrive</a:t>
            </a:r>
            <a:r>
              <a:rPr lang="en-US" sz="1400" dirty="0">
                <a:latin typeface="Arial" panose="020B0604020202020204" pitchFamily="34" charset="0"/>
              </a:rPr>
              <a:t>/Images/visionteam.jpg’) # Using </a:t>
            </a:r>
            <a:r>
              <a:rPr lang="en-US" sz="1800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Viola-Jones algorithm</a:t>
            </a:r>
            <a:endParaRPr lang="en-US" sz="1400" dirty="0">
              <a:latin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Create a face detector using </a:t>
            </a:r>
            <a:r>
              <a:rPr lang="en-US" sz="1400" dirty="0" err="1">
                <a:latin typeface="Arial" panose="020B0604020202020204" pitchFamily="34" charset="0"/>
              </a:rPr>
              <a:t>Haar</a:t>
            </a:r>
            <a:r>
              <a:rPr lang="en-US" sz="1400" dirty="0">
                <a:latin typeface="Arial" panose="020B0604020202020204" pitchFamily="34" charset="0"/>
              </a:rPr>
              <a:t> cascades (default OpenCV face detector)</a:t>
            </a:r>
          </a:p>
          <a:p>
            <a:r>
              <a:rPr lang="en-US" sz="1400" dirty="0" err="1">
                <a:latin typeface="Arial" panose="020B0604020202020204" pitchFamily="34" charset="0"/>
              </a:rPr>
              <a:t>face_cascade</a:t>
            </a:r>
            <a:r>
              <a:rPr lang="en-US" sz="1400" dirty="0">
                <a:latin typeface="Arial" panose="020B0604020202020204" pitchFamily="34" charset="0"/>
              </a:rPr>
              <a:t> = cv2.CascadeClassifier(cv2.data.haarcascades + 'haarcascade_frontalface_default.xml')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Convert the image to grayscale (required for face detection)</a:t>
            </a:r>
          </a:p>
          <a:p>
            <a:r>
              <a:rPr lang="en-US" sz="1400" dirty="0" err="1">
                <a:latin typeface="Arial" panose="020B0604020202020204" pitchFamily="34" charset="0"/>
              </a:rPr>
              <a:t>gray_image</a:t>
            </a:r>
            <a:r>
              <a:rPr lang="en-US" sz="1400" dirty="0">
                <a:latin typeface="Arial" panose="020B0604020202020204" pitchFamily="34" charset="0"/>
              </a:rPr>
              <a:t> = cv2.cvtColor(image, cv2.COLOR_BGR2GRAY)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Detect faces in the image</a:t>
            </a:r>
          </a:p>
          <a:p>
            <a:r>
              <a:rPr lang="en-US" sz="1400" dirty="0">
                <a:latin typeface="Arial" panose="020B0604020202020204" pitchFamily="34" charset="0"/>
              </a:rPr>
              <a:t>faces = </a:t>
            </a:r>
            <a:r>
              <a:rPr lang="en-US" sz="1400" dirty="0" err="1">
                <a:latin typeface="Arial" panose="020B0604020202020204" pitchFamily="34" charset="0"/>
              </a:rPr>
              <a:t>face_cascade.detectMultiScale</a:t>
            </a:r>
            <a:r>
              <a:rPr lang="en-US" sz="1400" dirty="0">
                <a:latin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</a:rPr>
              <a:t>gray_image</a:t>
            </a:r>
            <a:r>
              <a:rPr lang="en-US" sz="1400" dirty="0">
                <a:latin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</a:rPr>
              <a:t>scaleFactor</a:t>
            </a:r>
            <a:r>
              <a:rPr lang="en-US" sz="1400" dirty="0">
                <a:latin typeface="Arial" panose="020B0604020202020204" pitchFamily="34" charset="0"/>
              </a:rPr>
              <a:t>=1.1, </a:t>
            </a:r>
            <a:r>
              <a:rPr lang="en-US" sz="1400" dirty="0" err="1">
                <a:latin typeface="Arial" panose="020B0604020202020204" pitchFamily="34" charset="0"/>
              </a:rPr>
              <a:t>minNeighbors</a:t>
            </a:r>
            <a:r>
              <a:rPr lang="en-US" sz="1400" dirty="0">
                <a:latin typeface="Arial" panose="020B0604020202020204" pitchFamily="34" charset="0"/>
              </a:rPr>
              <a:t>=5, </a:t>
            </a:r>
            <a:r>
              <a:rPr lang="en-US" sz="1400" dirty="0" err="1">
                <a:latin typeface="Arial" panose="020B0604020202020204" pitchFamily="34" charset="0"/>
              </a:rPr>
              <a:t>minSize</a:t>
            </a:r>
            <a:r>
              <a:rPr lang="en-US" sz="1400" dirty="0">
                <a:latin typeface="Arial" panose="020B0604020202020204" pitchFamily="34" charset="0"/>
              </a:rPr>
              <a:t>=(30, 30))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Draw bounding boxes around detected faces</a:t>
            </a:r>
          </a:p>
          <a:p>
            <a:r>
              <a:rPr lang="en-US" sz="1400" dirty="0">
                <a:latin typeface="Arial" panose="020B0604020202020204" pitchFamily="34" charset="0"/>
              </a:rPr>
              <a:t>for (x, y, w, h) in faces:</a:t>
            </a:r>
          </a:p>
          <a:p>
            <a:r>
              <a:rPr lang="en-US" sz="1400" dirty="0">
                <a:latin typeface="Arial" panose="020B0604020202020204" pitchFamily="34" charset="0"/>
              </a:rPr>
              <a:t>    cv2.rectangle(image, (x, y), (x + w, y + h), (0, 0, 255), 2)  # Blue bounding box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Display the image with bounding boxes</a:t>
            </a:r>
          </a:p>
          <a:p>
            <a:r>
              <a:rPr lang="en-US" sz="1400" dirty="0">
                <a:latin typeface="Arial" panose="020B0604020202020204" pitchFamily="34" charset="0"/>
              </a:rPr>
              <a:t>cv2_imshow(image)</a:t>
            </a:r>
          </a:p>
          <a:p>
            <a:r>
              <a:rPr lang="en-US" sz="1400" dirty="0">
                <a:latin typeface="Arial" panose="020B0604020202020204" pitchFamily="34" charset="0"/>
              </a:rPr>
              <a:t>cv2.waitKey(0)  # Wait for key press to close the image window</a:t>
            </a:r>
          </a:p>
          <a:p>
            <a:r>
              <a:rPr lang="en-US" sz="1400" dirty="0">
                <a:latin typeface="Arial" panose="020B0604020202020204" pitchFamily="34" charset="0"/>
              </a:rPr>
              <a:t>cv2.destroyAllWindows()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191F28-C250-A700-520A-B1D55BF4D90A}"/>
              </a:ext>
            </a:extLst>
          </p:cNvPr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200" dirty="0"/>
              <a:t>Face Detection – Python Code</a:t>
            </a:r>
            <a:endParaRPr lang="en-US" altLang="zh-TW" sz="28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12CFCB-B706-0300-908E-B05ABA57E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4869160"/>
            <a:ext cx="3816424" cy="196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F7FBD2C5-F004-E11D-AC8A-125F5374CC1C}"/>
              </a:ext>
            </a:extLst>
          </p:cNvPr>
          <p:cNvSpPr/>
          <p:nvPr/>
        </p:nvSpPr>
        <p:spPr>
          <a:xfrm>
            <a:off x="9552384" y="3933056"/>
            <a:ext cx="1440160" cy="395260"/>
          </a:xfrm>
          <a:prstGeom prst="wedgeRectCallout">
            <a:avLst>
              <a:gd name="adj1" fmla="val -24742"/>
              <a:gd name="adj2" fmla="val 1881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 Detection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939544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6C06-4AEF-2662-9DBF-694E96DB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C62491-C3D3-CACF-00A7-48A0E56256ED}"/>
              </a:ext>
            </a:extLst>
          </p:cNvPr>
          <p:cNvSpPr/>
          <p:nvPr/>
        </p:nvSpPr>
        <p:spPr>
          <a:xfrm>
            <a:off x="190459" y="1268760"/>
            <a:ext cx="8713853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</a:rPr>
              <a:t>google.colab</a:t>
            </a:r>
            <a:r>
              <a:rPr lang="en-US" sz="1400" dirty="0">
                <a:latin typeface="Arial" panose="020B0604020202020204" pitchFamily="34" charset="0"/>
              </a:rPr>
              <a:t> import drive</a:t>
            </a:r>
          </a:p>
          <a:p>
            <a:r>
              <a:rPr lang="en-US" sz="1400" dirty="0" err="1">
                <a:latin typeface="Arial" panose="020B0604020202020204" pitchFamily="34" charset="0"/>
              </a:rPr>
              <a:t>drive.mount</a:t>
            </a:r>
            <a:r>
              <a:rPr lang="en-US" sz="1400" dirty="0">
                <a:latin typeface="Arial" panose="020B0604020202020204" pitchFamily="34" charset="0"/>
              </a:rPr>
              <a:t>('/content/drive')</a:t>
            </a:r>
          </a:p>
          <a:p>
            <a:r>
              <a:rPr lang="en-US" sz="1400" dirty="0">
                <a:latin typeface="Arial" panose="020B0604020202020204" pitchFamily="34" charset="0"/>
              </a:rPr>
              <a:t>import cv2</a:t>
            </a:r>
          </a:p>
          <a:p>
            <a:r>
              <a:rPr lang="en-US" sz="1400" dirty="0">
                <a:latin typeface="Arial" panose="020B0604020202020204" pitchFamily="34" charset="0"/>
              </a:rPr>
              <a:t>from </a:t>
            </a:r>
            <a:r>
              <a:rPr lang="en-US" sz="1400" dirty="0" err="1">
                <a:latin typeface="Arial" panose="020B0604020202020204" pitchFamily="34" charset="0"/>
              </a:rPr>
              <a:t>google.colab.patches</a:t>
            </a:r>
            <a:r>
              <a:rPr lang="en-US" sz="1400" dirty="0">
                <a:latin typeface="Arial" panose="020B0604020202020204" pitchFamily="34" charset="0"/>
              </a:rPr>
              <a:t> import cv2_imshow  # For displaying images in </a:t>
            </a:r>
            <a:r>
              <a:rPr lang="en-US" sz="1400" dirty="0" err="1">
                <a:latin typeface="Arial" panose="020B0604020202020204" pitchFamily="34" charset="0"/>
              </a:rPr>
              <a:t>Colab</a:t>
            </a:r>
            <a:endParaRPr lang="en-US" sz="1400" dirty="0">
              <a:latin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Load the image</a:t>
            </a:r>
          </a:p>
          <a:p>
            <a:r>
              <a:rPr lang="en-US" sz="1400" dirty="0">
                <a:latin typeface="Arial" panose="020B0604020202020204" pitchFamily="34" charset="0"/>
              </a:rPr>
              <a:t>image = cv2.imread('/content/drive/</a:t>
            </a:r>
            <a:r>
              <a:rPr lang="en-US" sz="1400" dirty="0" err="1">
                <a:latin typeface="Arial" panose="020B0604020202020204" pitchFamily="34" charset="0"/>
              </a:rPr>
              <a:t>MyDrive</a:t>
            </a:r>
            <a:r>
              <a:rPr lang="en-US" sz="1400" dirty="0">
                <a:latin typeface="Arial" panose="020B0604020202020204" pitchFamily="34" charset="0"/>
              </a:rPr>
              <a:t>/Images/visionteam.jpg')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Create a face detector using </a:t>
            </a:r>
            <a:r>
              <a:rPr lang="en-US" sz="1400" dirty="0" err="1">
                <a:latin typeface="Arial" panose="020B0604020202020204" pitchFamily="34" charset="0"/>
              </a:rPr>
              <a:t>Haar</a:t>
            </a:r>
            <a:r>
              <a:rPr lang="en-US" sz="1400" dirty="0">
                <a:latin typeface="Arial" panose="020B0604020202020204" pitchFamily="34" charset="0"/>
              </a:rPr>
              <a:t> cascades (default OpenCV face detector)</a:t>
            </a:r>
          </a:p>
          <a:p>
            <a:r>
              <a:rPr lang="en-US" sz="1400" dirty="0" err="1">
                <a:latin typeface="Arial" panose="020B0604020202020204" pitchFamily="34" charset="0"/>
              </a:rPr>
              <a:t>face_cascade</a:t>
            </a:r>
            <a:r>
              <a:rPr lang="en-US" sz="1400" dirty="0">
                <a:latin typeface="Arial" panose="020B0604020202020204" pitchFamily="34" charset="0"/>
              </a:rPr>
              <a:t> = cv2.CascadeClassifier(cv2.data.haarcascades + 'haarcascade_frontalface_default.xml')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Convert the image to grayscale (required for face detection)</a:t>
            </a:r>
          </a:p>
          <a:p>
            <a:r>
              <a:rPr lang="en-US" sz="1400" dirty="0" err="1">
                <a:latin typeface="Arial" panose="020B0604020202020204" pitchFamily="34" charset="0"/>
              </a:rPr>
              <a:t>gray_image</a:t>
            </a:r>
            <a:r>
              <a:rPr lang="en-US" sz="1400" dirty="0">
                <a:latin typeface="Arial" panose="020B0604020202020204" pitchFamily="34" charset="0"/>
              </a:rPr>
              <a:t> = cv2.cvtColor(image, cv2.COLOR_BGR2GRAY)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Detect faces in the image</a:t>
            </a:r>
          </a:p>
          <a:p>
            <a:r>
              <a:rPr lang="en-US" sz="1400" dirty="0">
                <a:latin typeface="Arial" panose="020B0604020202020204" pitchFamily="34" charset="0"/>
              </a:rPr>
              <a:t>faces = </a:t>
            </a:r>
            <a:r>
              <a:rPr lang="en-US" sz="1400" dirty="0" err="1">
                <a:latin typeface="Arial" panose="020B0604020202020204" pitchFamily="34" charset="0"/>
              </a:rPr>
              <a:t>face_cascade.detectMultiScale</a:t>
            </a:r>
            <a:r>
              <a:rPr lang="en-US" sz="1400" dirty="0">
                <a:latin typeface="Arial" panose="020B0604020202020204" pitchFamily="34" charset="0"/>
              </a:rPr>
              <a:t>(</a:t>
            </a:r>
            <a:r>
              <a:rPr lang="en-US" sz="1400" dirty="0" err="1">
                <a:latin typeface="Arial" panose="020B0604020202020204" pitchFamily="34" charset="0"/>
              </a:rPr>
              <a:t>gray_image</a:t>
            </a:r>
            <a:r>
              <a:rPr lang="en-US" sz="1400" dirty="0">
                <a:latin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</a:rPr>
              <a:t>scaleFactor</a:t>
            </a:r>
            <a:r>
              <a:rPr lang="en-US" sz="1400" dirty="0">
                <a:latin typeface="Arial" panose="020B0604020202020204" pitchFamily="34" charset="0"/>
              </a:rPr>
              <a:t>=1.1, </a:t>
            </a:r>
            <a:r>
              <a:rPr lang="en-US" sz="1400" dirty="0" err="1">
                <a:latin typeface="Arial" panose="020B0604020202020204" pitchFamily="34" charset="0"/>
              </a:rPr>
              <a:t>minNeighbors</a:t>
            </a:r>
            <a:r>
              <a:rPr lang="en-US" sz="1400" dirty="0">
                <a:latin typeface="Arial" panose="020B0604020202020204" pitchFamily="34" charset="0"/>
              </a:rPr>
              <a:t>=5, </a:t>
            </a:r>
            <a:r>
              <a:rPr lang="en-US" sz="1400" dirty="0" err="1">
                <a:latin typeface="Arial" panose="020B0604020202020204" pitchFamily="34" charset="0"/>
              </a:rPr>
              <a:t>minSize</a:t>
            </a:r>
            <a:r>
              <a:rPr lang="en-US" sz="1400" dirty="0">
                <a:latin typeface="Arial" panose="020B0604020202020204" pitchFamily="34" charset="0"/>
              </a:rPr>
              <a:t>=(30, 30))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Draw bounding boxes around detected faces</a:t>
            </a:r>
          </a:p>
          <a:p>
            <a:r>
              <a:rPr lang="en-US" sz="1400" dirty="0">
                <a:latin typeface="Arial" panose="020B0604020202020204" pitchFamily="34" charset="0"/>
              </a:rPr>
              <a:t>for (x, y, w, h) in faces:</a:t>
            </a:r>
          </a:p>
          <a:p>
            <a:r>
              <a:rPr lang="en-US" sz="1400" dirty="0">
                <a:latin typeface="Arial" panose="020B0604020202020204" pitchFamily="34" charset="0"/>
              </a:rPr>
              <a:t>    cv2.rectangle(image, (x, y), (x + w, y + h), (0, 0, 255), 2)  # Blue bounding box</a:t>
            </a:r>
          </a:p>
          <a:p>
            <a:endParaRPr lang="en-US" sz="1400" dirty="0">
              <a:latin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</a:rPr>
              <a:t># Display the image with bounding boxes</a:t>
            </a:r>
          </a:p>
          <a:p>
            <a:r>
              <a:rPr lang="en-US" sz="1400" dirty="0">
                <a:latin typeface="Arial" panose="020B0604020202020204" pitchFamily="34" charset="0"/>
              </a:rPr>
              <a:t>cv2_imshow(image)</a:t>
            </a:r>
          </a:p>
          <a:p>
            <a:r>
              <a:rPr lang="en-US" sz="1400" dirty="0">
                <a:latin typeface="Arial" panose="020B0604020202020204" pitchFamily="34" charset="0"/>
              </a:rPr>
              <a:t>cv2.waitKey(0)  # Wait for key press to close the image window</a:t>
            </a:r>
          </a:p>
          <a:p>
            <a:r>
              <a:rPr lang="en-US" sz="1400" dirty="0">
                <a:latin typeface="Arial" panose="020B0604020202020204" pitchFamily="34" charset="0"/>
              </a:rPr>
              <a:t>cv2.destroyAllWindows()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FC015-8CB3-EE4F-D4AA-56886AE68655}"/>
              </a:ext>
            </a:extLst>
          </p:cNvPr>
          <p:cNvSpPr txBox="1">
            <a:spLocks/>
          </p:cNvSpPr>
          <p:nvPr/>
        </p:nvSpPr>
        <p:spPr>
          <a:xfrm>
            <a:off x="209581" y="131588"/>
            <a:ext cx="10458451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400" dirty="0"/>
              <a:t>Examples</a:t>
            </a:r>
            <a:endParaRPr lang="en-US" altLang="zh-TW" sz="3600" dirty="0"/>
          </a:p>
          <a:p>
            <a:r>
              <a:rPr lang="en-US" sz="2800" dirty="0"/>
              <a:t>    	</a:t>
            </a:r>
            <a:r>
              <a:rPr lang="en-US" sz="3200" dirty="0"/>
              <a:t>Face Detection – Python Code</a:t>
            </a:r>
            <a:endParaRPr lang="en-US" altLang="zh-TW" sz="2800" dirty="0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8CEB1498-8064-A84B-86EC-8CE06FDEB7A2}"/>
              </a:ext>
            </a:extLst>
          </p:cNvPr>
          <p:cNvSpPr/>
          <p:nvPr/>
        </p:nvSpPr>
        <p:spPr>
          <a:xfrm>
            <a:off x="6672064" y="3573016"/>
            <a:ext cx="4680520" cy="777133"/>
          </a:xfrm>
          <a:prstGeom prst="wedgeRectCallout">
            <a:avLst>
              <a:gd name="adj1" fmla="val -80763"/>
              <a:gd name="adj2" fmla="val 299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001" altLang="en-001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# Histogram equalization</a:t>
            </a:r>
            <a:br>
              <a:rPr kumimoji="0" lang="en-001" altLang="en-001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001" altLang="en-001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gray_image</a:t>
            </a:r>
            <a:r>
              <a:rPr kumimoji="0" lang="en-001" altLang="en-001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= cv2.equalizeHist(</a:t>
            </a:r>
            <a:r>
              <a:rPr kumimoji="0" lang="en-001" altLang="en-001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gray_image</a:t>
            </a:r>
            <a:r>
              <a:rPr kumimoji="0" lang="en-001" altLang="en-001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001" altLang="en-001" sz="1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001" altLang="en-001" sz="4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560BAE5-E9A9-2860-A7DB-EA2FA790C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160" y="4847776"/>
            <a:ext cx="3818371" cy="19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0541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58" y="71414"/>
            <a:ext cx="10586061" cy="928694"/>
          </a:xfrm>
        </p:spPr>
        <p:txBody>
          <a:bodyPr>
            <a:normAutofit/>
          </a:bodyPr>
          <a:lstStyle/>
          <a:p>
            <a:r>
              <a:rPr lang="en-US" sz="3600" dirty="0"/>
              <a:t>Object Recognition Using Transfer Learning: MATLAB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191344" y="1430774"/>
            <a:ext cx="1000043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A simple example of transfer learning using </a:t>
            </a:r>
            <a:r>
              <a:rPr lang="en-US" sz="28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endParaRPr lang="en-US" sz="28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clear; close </a:t>
            </a:r>
            <a:r>
              <a:rPr lang="en-US" sz="28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 =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Access the </a:t>
            </a:r>
            <a:r>
              <a:rPr lang="en-US" sz="28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pretrained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=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imread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'FruitA2.jpg'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net.Layers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(1).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InputSize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Find size of the image 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 =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imresize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(I,[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(2)]); 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Adjust size of the image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= classify(net, J); 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Classify the image using </a:t>
            </a:r>
            <a:r>
              <a:rPr lang="en-US" sz="28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Show the image and the classification results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imshow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text(10,20,char(label),</a:t>
            </a:r>
            <a:r>
              <a:rPr lang="en-US" sz="28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'Color'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8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'red'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21974" t="5933" r="21973" b="19153"/>
          <a:stretch/>
        </p:blipFill>
        <p:spPr>
          <a:xfrm>
            <a:off x="10205956" y="1361662"/>
            <a:ext cx="1828800" cy="2590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23356" t="6678" r="22926" b="18409"/>
          <a:stretch/>
        </p:blipFill>
        <p:spPr>
          <a:xfrm>
            <a:off x="10205956" y="4077072"/>
            <a:ext cx="1828800" cy="270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115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EB2C-D0FE-49E7-F4A5-153F48220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9220-8D2F-BED5-3F93-EB80DD71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58" y="71414"/>
            <a:ext cx="10586061" cy="928694"/>
          </a:xfrm>
        </p:spPr>
        <p:txBody>
          <a:bodyPr>
            <a:normAutofit/>
          </a:bodyPr>
          <a:lstStyle/>
          <a:p>
            <a:r>
              <a:rPr lang="en-US" sz="3600" dirty="0"/>
              <a:t>Object Recognition Using Transfer Learning: Python…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3CBC5-71DF-17D2-8EB2-4E2B1B21DD4F}"/>
              </a:ext>
            </a:extLst>
          </p:cNvPr>
          <p:cNvSpPr/>
          <p:nvPr/>
        </p:nvSpPr>
        <p:spPr>
          <a:xfrm>
            <a:off x="191344" y="1430774"/>
            <a:ext cx="10000435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google.colab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drive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drive.mount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('/content/drive')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tensorflow.keras.applications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imagenet_utils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tensorflow.keras.preprocessing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image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matplotlib.pyplot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plt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import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as np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PIL import Image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google.colab.patches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import cv2_imshow  # For displaying images 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# Load the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-equivalent model (VGG16 is used as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is not directly available in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model = tf.keras.applications.VGG16(weights="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imagenet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")  # Pretrained model similar to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# Load the image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 =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Image.open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('/content/drive/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MyDrive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/Images/FruitA2.jpg')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# Resize the image to the model's input size (224x224 for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VGG16)</a:t>
            </a:r>
          </a:p>
          <a:p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sz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(224, 224)  #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VGG16 standard input size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 =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I.resize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sz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FC9AF9-918A-F6AC-3A3A-EBEC8C1487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74" t="5933" r="21973" b="19153"/>
          <a:stretch/>
        </p:blipFill>
        <p:spPr>
          <a:xfrm>
            <a:off x="10205956" y="1361662"/>
            <a:ext cx="1828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302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704A-F869-9AC2-9AC7-A569E43C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FF3B-2245-DE58-C2A2-40E6255D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58" y="71414"/>
            <a:ext cx="10586061" cy="928694"/>
          </a:xfrm>
        </p:spPr>
        <p:txBody>
          <a:bodyPr>
            <a:normAutofit/>
          </a:bodyPr>
          <a:lstStyle/>
          <a:p>
            <a:r>
              <a:rPr lang="en-US" sz="3600" dirty="0"/>
              <a:t>Object Recognition Using Transfer Learning: Python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D4D5D-CC67-5A43-076E-1EC3DC3EE6BA}"/>
              </a:ext>
            </a:extLst>
          </p:cNvPr>
          <p:cNvSpPr/>
          <p:nvPr/>
        </p:nvSpPr>
        <p:spPr>
          <a:xfrm>
            <a:off x="191344" y="1430774"/>
            <a:ext cx="100004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 Preprocess the image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/VGG16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img_array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image.img_to_array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(J)  # Convert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array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img_array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np.expand_dims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img_array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axis=0)  # Add batch dimension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img_array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tf.keras.applications.vgg16.preprocess_input(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img_array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 # Preprocess the image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 Classify the image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predictions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model.predict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img_array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label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imagenet_utils.decode_predictions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(predictions, top=1)[0][0][1]  # Get the top prediction label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 Display the image and classification result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plt.figure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plt.imshow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(I)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plt.title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f"Prediction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{label}", color="red")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plt.axis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('off')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plt.show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7FD7CF8-443D-F7C2-6FC7-D37F1C58C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602" y="3284984"/>
            <a:ext cx="2399398" cy="357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40888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Live Object Recognition Using Transfer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91344" y="1430774"/>
            <a:ext cx="118093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clc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clear; close </a:t>
            </a:r>
            <a:r>
              <a:rPr lang="en-US" sz="2800" dirty="0">
                <a:solidFill>
                  <a:srgbClr val="A02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camera = webcam;</a:t>
            </a:r>
            <a:endParaRPr lang="en-US" sz="2800" dirty="0">
              <a:solidFill>
                <a:srgbClr val="228B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 =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         			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Load the </a:t>
            </a:r>
            <a:r>
              <a:rPr lang="en-US" sz="28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pretrained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neural network</a:t>
            </a:r>
          </a:p>
          <a:p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1:100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snapshot(camera); 		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Take a picture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image(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                  		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Show the picture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imresize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,[227 227]); 	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Resize the picture for </a:t>
            </a:r>
            <a:r>
              <a:rPr lang="en-US" sz="2800" dirty="0" err="1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alexnet</a:t>
            </a:r>
            <a:endParaRPr lang="en-US" sz="2800" dirty="0">
              <a:solidFill>
                <a:srgbClr val="228B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label = classify(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net,im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);    		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Classify the picture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title(char(label));          		</a:t>
            </a:r>
            <a:r>
              <a:rPr lang="en-US" sz="2800" dirty="0">
                <a:solidFill>
                  <a:srgbClr val="228B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Show the class label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drawnow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clear;</a:t>
            </a:r>
            <a:endParaRPr lang="en-US" sz="2800" dirty="0">
              <a:solidFill>
                <a:srgbClr val="228B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5303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C612-E81F-CAB2-5EF9-E76356BC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YOLO</a:t>
            </a:r>
            <a:r>
              <a:rPr lang="en-US" sz="5400" dirty="0"/>
              <a:t> - </a:t>
            </a:r>
            <a:r>
              <a:rPr lang="pt-BR" sz="5400" dirty="0">
                <a:solidFill>
                  <a:srgbClr val="FF0000"/>
                </a:solidFill>
              </a:rPr>
              <a:t>Y</a:t>
            </a:r>
            <a:r>
              <a:rPr lang="pt-BR" sz="5400" dirty="0"/>
              <a:t>ou </a:t>
            </a:r>
            <a:r>
              <a:rPr lang="pt-BR" sz="5400" dirty="0">
                <a:solidFill>
                  <a:srgbClr val="FF0000"/>
                </a:solidFill>
              </a:rPr>
              <a:t>O</a:t>
            </a:r>
            <a:r>
              <a:rPr lang="pt-BR" sz="5400" dirty="0"/>
              <a:t>nly </a:t>
            </a:r>
            <a:r>
              <a:rPr lang="pt-BR" sz="5400" dirty="0">
                <a:solidFill>
                  <a:srgbClr val="FF0000"/>
                </a:solidFill>
              </a:rPr>
              <a:t>L</a:t>
            </a:r>
            <a:r>
              <a:rPr lang="pt-BR" sz="5400" dirty="0"/>
              <a:t>ook </a:t>
            </a:r>
            <a:r>
              <a:rPr lang="pt-BR" sz="5400" dirty="0">
                <a:solidFill>
                  <a:srgbClr val="FF0000"/>
                </a:solidFill>
              </a:rPr>
              <a:t>O</a:t>
            </a:r>
            <a:r>
              <a:rPr lang="pt-BR" sz="5400" dirty="0"/>
              <a:t>nce</a:t>
            </a:r>
            <a:endParaRPr lang="en-001" sz="5400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5E6A04-9A26-5B87-B465-5F82C593B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1268760"/>
            <a:ext cx="1101722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6213" marR="0" lvl="0" indent="-176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 is very efficient r</a:t>
            </a:r>
            <a:r>
              <a:rPr kumimoji="0" lang="en-001" altLang="en-001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</a:t>
            </a:r>
            <a:r>
              <a:rPr kumimoji="0" lang="en-001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-time </a:t>
            </a:r>
            <a:r>
              <a:rPr kumimoji="0" lang="en-US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regression </a:t>
            </a:r>
            <a:r>
              <a:rPr kumimoji="0" lang="en-001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model.</a:t>
            </a:r>
          </a:p>
          <a:p>
            <a:pPr marL="176213" marR="0" lvl="0" indent="-176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001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Identifies objects in images/videos in a single pass.</a:t>
            </a:r>
          </a:p>
          <a:p>
            <a:pPr marL="176213" marR="0" lvl="0" indent="-1762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001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Ideal for detecting vehicles,</a:t>
            </a:r>
            <a:r>
              <a:rPr kumimoji="0" lang="en-US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001" altLang="en-001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pedestrians, and traffic. </a:t>
            </a:r>
          </a:p>
        </p:txBody>
      </p:sp>
      <p:pic>
        <p:nvPicPr>
          <p:cNvPr id="1027" name="Picture 3" descr="cover">
            <a:extLst>
              <a:ext uri="{FF2B5EF4-FFF2-40B4-BE49-F238E27FC236}">
                <a16:creationId xmlns:a16="http://schemas.microsoft.com/office/drawing/2014/main" id="{17F16703-EC4F-1C71-783D-7C3C25843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226" y="2708920"/>
            <a:ext cx="8110282" cy="405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31FD41-6E6D-F44D-196D-E88D26B3ED5E}"/>
              </a:ext>
            </a:extLst>
          </p:cNvPr>
          <p:cNvSpPr txBox="1"/>
          <p:nvPr/>
        </p:nvSpPr>
        <p:spPr>
          <a:xfrm>
            <a:off x="263352" y="2954486"/>
            <a:ext cx="3528392" cy="224676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first described in 2016 by 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Joseph Redmon, Santosh Divvala, Ross Girshick and Ali Farhadi </a:t>
            </a:r>
            <a:endParaRPr lang="en-001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3397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FF35-1D71-99E3-2288-1F6A96D20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701686-1D59-CAE5-242C-2426F11EB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7" t="3701" r="2752" b="3763"/>
          <a:stretch/>
        </p:blipFill>
        <p:spPr>
          <a:xfrm>
            <a:off x="5841509" y="1268760"/>
            <a:ext cx="6231155" cy="180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85F808-9A85-3229-6FF6-36087B47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YOLO</a:t>
            </a:r>
            <a:r>
              <a:rPr lang="en-US" sz="5400" dirty="0"/>
              <a:t> – How It Works?</a:t>
            </a:r>
            <a:endParaRPr lang="en-001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977727-4E84-319F-36A2-9E359230F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86" y="1390124"/>
            <a:ext cx="803190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Divides the image into grids.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grid predicts: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class (e.g., car, bus).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location (bounding box).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for real-time applications.</a:t>
            </a:r>
          </a:p>
        </p:txBody>
      </p:sp>
      <p:pic>
        <p:nvPicPr>
          <p:cNvPr id="9" name="Picture 6" descr="The YOLO Detection System">
            <a:extLst>
              <a:ext uri="{FF2B5EF4-FFF2-40B4-BE49-F238E27FC236}">
                <a16:creationId xmlns:a16="http://schemas.microsoft.com/office/drawing/2014/main" id="{B7CECB2E-7978-96B4-7D93-51776F0E81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9583" r="3867" b="14819"/>
          <a:stretch/>
        </p:blipFill>
        <p:spPr bwMode="auto">
          <a:xfrm>
            <a:off x="370951" y="4433500"/>
            <a:ext cx="11485689" cy="240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736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097F-9E7F-0002-2FB0-001E07EB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E7759-29ED-788E-09D2-C8B9B9B2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58" y="71414"/>
            <a:ext cx="10730077" cy="928694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YOLO</a:t>
            </a:r>
            <a:r>
              <a:rPr lang="en-US" sz="5400" dirty="0"/>
              <a:t> – Use Case: Road Traffic Tracking</a:t>
            </a:r>
            <a:endParaRPr lang="en-001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A123BF-BE04-C335-9A4F-D32AB5A2C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1340768"/>
            <a:ext cx="803190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and track: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Cars, buses, motorcycles.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density and flow.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Accident detection.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001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cities.</a:t>
            </a:r>
          </a:p>
        </p:txBody>
      </p:sp>
    </p:spTree>
    <p:extLst>
      <p:ext uri="{BB962C8B-B14F-4D97-AF65-F5344CB8AC3E}">
        <p14:creationId xmlns:p14="http://schemas.microsoft.com/office/powerpoint/2010/main" val="8571078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95D7-B3D5-E589-2432-B1BEDA5E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B43E4-C7B3-07B8-3883-5447297D2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58" y="71414"/>
            <a:ext cx="10730077" cy="928694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FF0000"/>
                </a:solidFill>
              </a:rPr>
              <a:t>YOLO</a:t>
            </a:r>
            <a:r>
              <a:rPr lang="en-US" sz="5400" dirty="0"/>
              <a:t> – Use Case: Road Traffic Tracking</a:t>
            </a:r>
            <a:endParaRPr lang="en-001" sz="5400" dirty="0"/>
          </a:p>
        </p:txBody>
      </p:sp>
    </p:spTree>
    <p:extLst>
      <p:ext uri="{BB962C8B-B14F-4D97-AF65-F5344CB8AC3E}">
        <p14:creationId xmlns:p14="http://schemas.microsoft.com/office/powerpoint/2010/main" val="671032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BB1A-0BC6-B165-990C-5E48E316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Comparison of Visual Recognition Algorithms</a:t>
            </a:r>
            <a:endParaRPr lang="en-00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E2B353E-A37F-EA32-E20E-9EE12238F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373349"/>
              </p:ext>
            </p:extLst>
          </p:nvPr>
        </p:nvGraphicFramePr>
        <p:xfrm>
          <a:off x="190459" y="1772816"/>
          <a:ext cx="11666181" cy="3807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221">
                  <a:extLst>
                    <a:ext uri="{9D8B030D-6E8A-4147-A177-3AD203B41FA5}">
                      <a16:colId xmlns:a16="http://schemas.microsoft.com/office/drawing/2014/main" val="80257880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45790392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288894111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370587408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834162715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pt-B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</a:t>
                      </a:r>
                      <a:endParaRPr lang="pt-B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  <a:endParaRPr lang="pt-BR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pt-BR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  <a:endParaRPr lang="pt-BR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875021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Viola-Jones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6050730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image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221381"/>
                  </a:ext>
                </a:extLst>
              </a:tr>
              <a:tr h="546596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R-CNN/Faster R-CNN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140146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267179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(binary tasks)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219456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402853"/>
                  </a:ext>
                </a:extLst>
              </a:tr>
              <a:tr h="286534"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89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7999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81588-D9FE-1B35-1F9D-A6243F02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59" y="196050"/>
            <a:ext cx="10001320" cy="928694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Exercise</a:t>
            </a:r>
            <a:endParaRPr lang="en-001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9C3C5-4B22-63AF-F3AC-64B5B3983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59" y="1285860"/>
            <a:ext cx="10586061" cy="5167476"/>
          </a:xfrm>
        </p:spPr>
        <p:txBody>
          <a:bodyPr>
            <a:normAutofit/>
          </a:bodyPr>
          <a:lstStyle/>
          <a:p>
            <a:r>
              <a:rPr lang="en-US" sz="3600" dirty="0"/>
              <a:t>Write a code for live object recognition and return  confidence level in %age and object name (text and voice) by using a pre-trained deep learning model (e.g., transfer learning).</a:t>
            </a:r>
            <a:endParaRPr lang="en-001" sz="3600" dirty="0"/>
          </a:p>
        </p:txBody>
      </p:sp>
    </p:spTree>
    <p:extLst>
      <p:ext uri="{BB962C8B-B14F-4D97-AF65-F5344CB8AC3E}">
        <p14:creationId xmlns:p14="http://schemas.microsoft.com/office/powerpoint/2010/main" val="19134924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8172-4654-315D-AA19-3934C0D9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Stuff</a:t>
            </a:r>
          </a:p>
        </p:txBody>
      </p:sp>
    </p:spTree>
    <p:extLst>
      <p:ext uri="{BB962C8B-B14F-4D97-AF65-F5344CB8AC3E}">
        <p14:creationId xmlns:p14="http://schemas.microsoft.com/office/powerpoint/2010/main" val="30354893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1344" y="142852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4000" dirty="0"/>
              <a:t>Patterns and Pattern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344" y="1268760"/>
            <a:ext cx="10585176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arrangement of descriptors.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denote a descriptor.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class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family of patterns that share a set of common properties, denoted by 	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</a:t>
            </a:r>
            <a:r>
              <a:rPr lang="en-US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=1,2,…,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classes.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assign patterns to their respective classes.</a:t>
            </a:r>
          </a:p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Types:	</a:t>
            </a:r>
          </a:p>
          <a:p>
            <a:pPr marL="800100" lvl="1" indent="-342900" algn="just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</a:p>
          <a:p>
            <a:pPr marL="800100" lvl="1" indent="-342900" algn="just"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</a:pPr>
            <a:r>
              <a:rPr lang="en-US" altLang="zh-TW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Theoretic (quantitative)</a:t>
            </a:r>
          </a:p>
        </p:txBody>
      </p:sp>
    </p:spTree>
    <p:extLst>
      <p:ext uri="{BB962C8B-B14F-4D97-AF65-F5344CB8AC3E}">
        <p14:creationId xmlns:p14="http://schemas.microsoft.com/office/powerpoint/2010/main" val="2537960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1345" y="1340769"/>
            <a:ext cx="90010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Recognition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Based on representing objects of interest as strings, trees, or graphs.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fingerprint recognition is based on the interrelationships of print features called </a:t>
            </a:r>
            <a:r>
              <a:rPr lang="en-US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minutiae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Together with their relative sizes and locations, these features are primitive components that describe finger-print ridge properties such as abrupt endings, branching, merging, and disconnected segments.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9325655" y="1517892"/>
          <a:ext cx="2819017" cy="2199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PhotoPaint.Image.11" r:id="rId2" imgW="5445032" imgH="1895780" progId="">
                  <p:embed/>
                </p:oleObj>
              </mc:Choice>
              <mc:Fallback>
                <p:oleObj name="CorelPhotoPaint.Image.11" r:id="rId2" imgW="5445032" imgH="1895780" progId="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6664" r="1006" b="27562"/>
                      <a:stretch>
                        <a:fillRect/>
                      </a:stretch>
                    </p:blipFill>
                    <p:spPr bwMode="auto">
                      <a:xfrm>
                        <a:off x="9325655" y="1517892"/>
                        <a:ext cx="2819017" cy="2199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191344" y="142852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4800" dirty="0"/>
              <a:t>Pattern Recognition</a:t>
            </a:r>
          </a:p>
        </p:txBody>
      </p:sp>
    </p:spTree>
    <p:extLst>
      <p:ext uri="{BB962C8B-B14F-4D97-AF65-F5344CB8AC3E}">
        <p14:creationId xmlns:p14="http://schemas.microsoft.com/office/powerpoint/2010/main" val="15521076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359" y="3077418"/>
            <a:ext cx="8266113" cy="366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5811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1344" y="1340769"/>
            <a:ext cx="10369152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String</a:t>
            </a:r>
            <a:r>
              <a:rPr lang="en-US" altLang="zh-TW" dirty="0">
                <a:ea typeface="新細明體" panose="02020500000000000000" pitchFamily="18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descriptions</a:t>
            </a:r>
            <a:r>
              <a:rPr lang="en-US" altLang="zh-TW" dirty="0">
                <a:ea typeface="新細明體" panose="02020500000000000000" pitchFamily="18" charset="-120"/>
              </a:rPr>
              <a:t> adequately generate patterns of objects and other entities whose structure is based on relatively simple connectivity of primitives, usually associated with boundary shape.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1344" y="142852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4800" dirty="0"/>
              <a:t>Pattern Recognition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1775520" y="5517232"/>
            <a:ext cx="1296144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8593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91344" y="142852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4800" dirty="0"/>
              <a:t>Pattern Recognition</a:t>
            </a: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191344" y="1268760"/>
            <a:ext cx="8352928" cy="367240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  <a:ea typeface="新細明體" panose="02020500000000000000" pitchFamily="18" charset="-120"/>
              </a:rPr>
              <a:t>Tree descriptions</a:t>
            </a:r>
            <a:r>
              <a:rPr lang="en-US" altLang="zh-TW" sz="2800" dirty="0">
                <a:ea typeface="新細明體" panose="02020500000000000000" pitchFamily="18" charset="-120"/>
              </a:rPr>
              <a:t> is more powerful than string ones. </a:t>
            </a:r>
          </a:p>
          <a:p>
            <a:r>
              <a:rPr lang="en-US" altLang="zh-TW" sz="2800" dirty="0">
                <a:ea typeface="新細明體" panose="02020500000000000000" pitchFamily="18" charset="-120"/>
              </a:rPr>
              <a:t>Most hierarchical ordering schemes lead to tree structure.</a:t>
            </a:r>
          </a:p>
          <a:p>
            <a:endParaRPr lang="en-US" altLang="zh-TW" sz="2800" dirty="0">
              <a:ea typeface="新細明體" panose="02020500000000000000" pitchFamily="18" charset="-120"/>
            </a:endParaRPr>
          </a:p>
          <a:p>
            <a:r>
              <a:rPr lang="en-US" altLang="zh-TW" sz="2800" dirty="0">
                <a:ea typeface="新細明體" panose="02020500000000000000" pitchFamily="18" charset="-120"/>
              </a:rPr>
              <a:t>A tree description of the image: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92"/>
          <a:stretch/>
        </p:blipFill>
        <p:spPr bwMode="auto">
          <a:xfrm>
            <a:off x="74084" y="3933056"/>
            <a:ext cx="10126372" cy="288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8751614" y="1548110"/>
          <a:ext cx="3321050" cy="332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6273016" imgH="6273016" progId="Photoshop.Image.8">
                  <p:embed/>
                </p:oleObj>
              </mc:Choice>
              <mc:Fallback>
                <p:oleObj name="Image" r:id="rId3" imgW="6273016" imgH="6273016" progId="Photoshop.Image.8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1614" y="1548110"/>
                        <a:ext cx="3321050" cy="332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11" t="5291" b="59777"/>
          <a:stretch/>
        </p:blipFill>
        <p:spPr bwMode="auto">
          <a:xfrm>
            <a:off x="6832748" y="2708920"/>
            <a:ext cx="1855540" cy="210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75730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91344" y="142852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4800" dirty="0"/>
              <a:t>Pattern Recognition</a:t>
            </a:r>
          </a:p>
        </p:txBody>
      </p:sp>
      <p:sp>
        <p:nvSpPr>
          <p:cNvPr id="8" name="Rectangle 6"/>
          <p:cNvSpPr txBox="1">
            <a:spLocks noChangeArrowheads="1"/>
          </p:cNvSpPr>
          <p:nvPr/>
        </p:nvSpPr>
        <p:spPr bwMode="auto">
          <a:xfrm>
            <a:off x="191344" y="1268760"/>
            <a:ext cx="10369152" cy="5400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Decision Theoretic Recognition:</a:t>
            </a:r>
            <a:r>
              <a:rPr lang="en-US" altLang="zh-TW" dirty="0">
                <a:ea typeface="新細明體" panose="02020500000000000000" pitchFamily="18" charset="-120"/>
              </a:rPr>
              <a:t> It is based on the use of decision functions and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vector</a:t>
            </a:r>
            <a:r>
              <a:rPr lang="en-US" altLang="zh-TW" dirty="0">
                <a:ea typeface="新細明體" panose="02020500000000000000" pitchFamily="18" charset="-120"/>
              </a:rPr>
              <a:t> pattern arrangement is used. Common classifiers are:</a:t>
            </a:r>
          </a:p>
          <a:p>
            <a:pPr marL="857250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Minimum-Distance Classifier</a:t>
            </a:r>
          </a:p>
          <a:p>
            <a:pPr marL="857250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Correlation Based Classifier</a:t>
            </a:r>
          </a:p>
          <a:p>
            <a:pPr marL="857250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Optimum Statistical Classifier</a:t>
            </a:r>
          </a:p>
          <a:p>
            <a:pPr marL="1314450" lvl="2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Bayes</a:t>
            </a:r>
          </a:p>
          <a:p>
            <a:pPr marL="1314450" lvl="2" indent="-4572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Support Vector Machine (SVM)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/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2107148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62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91344" y="1279302"/>
            <a:ext cx="10369152" cy="495801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TW" dirty="0">
                <a:ea typeface="新細明體" panose="02020500000000000000" pitchFamily="18" charset="-120"/>
              </a:rPr>
              <a:t>Let </a:t>
            </a:r>
            <a:r>
              <a:rPr lang="en-US" b="1" dirty="0"/>
              <a:t>x</a:t>
            </a:r>
            <a:r>
              <a:rPr lang="en-US" dirty="0"/>
              <a:t> = [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]</a:t>
            </a:r>
            <a:r>
              <a:rPr lang="en-US" baseline="30000" dirty="0"/>
              <a:t>T</a:t>
            </a:r>
            <a:r>
              <a:rPr lang="en-US" dirty="0"/>
              <a:t> represent an </a:t>
            </a:r>
            <a:r>
              <a:rPr lang="en-US" i="1" dirty="0"/>
              <a:t>n</a:t>
            </a:r>
            <a:r>
              <a:rPr lang="en-US" dirty="0"/>
              <a:t>-dimensional pattern vector.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TW" dirty="0">
                <a:ea typeface="新細明體" panose="02020500000000000000" pitchFamily="18" charset="-120"/>
              </a:rPr>
              <a:t>For </a:t>
            </a:r>
            <a:r>
              <a:rPr lang="en-US" altLang="zh-TW" i="1" dirty="0">
                <a:ea typeface="新細明體" panose="02020500000000000000" pitchFamily="18" charset="-120"/>
              </a:rPr>
              <a:t>W</a:t>
            </a:r>
            <a:r>
              <a:rPr lang="en-US" altLang="zh-TW" dirty="0">
                <a:ea typeface="新細明體" panose="02020500000000000000" pitchFamily="18" charset="-120"/>
              </a:rPr>
              <a:t> pattern classes </a:t>
            </a:r>
            <a:r>
              <a:rPr lang="en-US" i="1" dirty="0">
                <a:sym typeface="Symbol" panose="05050102010706020507" pitchFamily="18" charset="2"/>
              </a:rPr>
              <a:t></a:t>
            </a:r>
            <a:r>
              <a:rPr lang="en-US" i="1" baseline="-25000" dirty="0" err="1"/>
              <a:t>i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1,2,…,</a:t>
            </a:r>
            <a:r>
              <a:rPr lang="en-US" i="1" dirty="0"/>
              <a:t>W, </a:t>
            </a:r>
            <a:r>
              <a:rPr lang="en-US" altLang="zh-TW" dirty="0">
                <a:ea typeface="新細明體" panose="02020500000000000000" pitchFamily="18" charset="-120"/>
              </a:rPr>
              <a:t>we want to find </a:t>
            </a:r>
            <a:r>
              <a:rPr lang="en-US" altLang="zh-TW" i="1" dirty="0">
                <a:ea typeface="新細明體" panose="02020500000000000000" pitchFamily="18" charset="-120"/>
              </a:rPr>
              <a:t>W</a:t>
            </a:r>
            <a:r>
              <a:rPr lang="en-US" altLang="zh-TW" dirty="0">
                <a:ea typeface="新細明體" panose="02020500000000000000" pitchFamily="18" charset="-120"/>
              </a:rPr>
              <a:t> decision functions </a:t>
            </a:r>
            <a:r>
              <a:rPr lang="en-US" altLang="zh-TW" i="1" dirty="0">
                <a:ea typeface="新細明體" panose="02020500000000000000" pitchFamily="18" charset="-120"/>
              </a:rPr>
              <a:t>d</a:t>
            </a:r>
            <a:r>
              <a:rPr lang="en-US" altLang="zh-TW" baseline="-25000" dirty="0">
                <a:ea typeface="新細明體" panose="02020500000000000000" pitchFamily="18" charset="-120"/>
              </a:rPr>
              <a:t>1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b="1" dirty="0">
                <a:ea typeface="新細明體" panose="02020500000000000000" pitchFamily="18" charset="-120"/>
              </a:rPr>
              <a:t>x</a:t>
            </a:r>
            <a:r>
              <a:rPr lang="en-US" altLang="zh-TW" dirty="0">
                <a:ea typeface="新細明體" panose="02020500000000000000" pitchFamily="18" charset="-120"/>
              </a:rPr>
              <a:t>), </a:t>
            </a:r>
            <a:r>
              <a:rPr lang="en-US" altLang="zh-TW" i="1" dirty="0"/>
              <a:t>d</a:t>
            </a:r>
            <a:r>
              <a:rPr lang="en-US" altLang="zh-TW" baseline="-25000" dirty="0"/>
              <a:t>2</a:t>
            </a:r>
            <a:r>
              <a:rPr lang="en-US" altLang="zh-TW" dirty="0"/>
              <a:t>(</a:t>
            </a:r>
            <a:r>
              <a:rPr lang="en-US" altLang="zh-TW" b="1" dirty="0"/>
              <a:t>x</a:t>
            </a:r>
            <a:r>
              <a:rPr lang="en-US" altLang="zh-TW" dirty="0"/>
              <a:t>),…,</a:t>
            </a:r>
            <a:r>
              <a:rPr lang="en-US" altLang="zh-TW" i="1" dirty="0"/>
              <a:t> </a:t>
            </a:r>
            <a:r>
              <a:rPr lang="en-US" altLang="zh-TW" i="1" dirty="0" err="1"/>
              <a:t>d</a:t>
            </a:r>
            <a:r>
              <a:rPr lang="en-US" altLang="zh-TW" i="1" baseline="-25000" dirty="0" err="1"/>
              <a:t>w</a:t>
            </a:r>
            <a:r>
              <a:rPr lang="en-US" altLang="zh-TW" dirty="0"/>
              <a:t>(</a:t>
            </a:r>
            <a:r>
              <a:rPr lang="en-US" altLang="zh-TW" b="1" dirty="0"/>
              <a:t>x</a:t>
            </a:r>
            <a:r>
              <a:rPr lang="en-US" altLang="zh-TW" dirty="0"/>
              <a:t>),</a:t>
            </a:r>
            <a:r>
              <a:rPr lang="en-US" altLang="zh-TW" dirty="0">
                <a:ea typeface="新細明體" panose="02020500000000000000" pitchFamily="18" charset="-120"/>
              </a:rPr>
              <a:t> with the property that, if a pattern </a:t>
            </a:r>
            <a:r>
              <a:rPr lang="en-US" altLang="zh-TW" b="1" dirty="0">
                <a:ea typeface="新細明體" panose="02020500000000000000" pitchFamily="18" charset="-120"/>
              </a:rPr>
              <a:t>x</a:t>
            </a:r>
            <a:r>
              <a:rPr lang="en-US" altLang="zh-TW" dirty="0">
                <a:ea typeface="新細明體" panose="02020500000000000000" pitchFamily="18" charset="-120"/>
              </a:rPr>
              <a:t> belongs to class </a:t>
            </a:r>
            <a:r>
              <a:rPr lang="en-US" i="1" dirty="0">
                <a:sym typeface="Symbol" panose="05050102010706020507" pitchFamily="18" charset="2"/>
              </a:rPr>
              <a:t></a:t>
            </a:r>
            <a:r>
              <a:rPr lang="en-US" i="1" baseline="-25000" dirty="0" err="1"/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, then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TW" i="1" dirty="0">
                <a:ea typeface="新細明體" panose="02020500000000000000" pitchFamily="18" charset="-120"/>
              </a:rPr>
              <a:t>	d</a:t>
            </a:r>
            <a:r>
              <a:rPr lang="en-US" altLang="zh-TW" i="1" baseline="-25000" dirty="0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b="1" dirty="0">
                <a:ea typeface="新細明體" panose="02020500000000000000" pitchFamily="18" charset="-120"/>
              </a:rPr>
              <a:t>x</a:t>
            </a:r>
            <a:r>
              <a:rPr lang="en-US" altLang="zh-TW" dirty="0">
                <a:ea typeface="新細明體" panose="02020500000000000000" pitchFamily="18" charset="-120"/>
              </a:rPr>
              <a:t>) &gt; </a:t>
            </a:r>
            <a:r>
              <a:rPr lang="en-US" altLang="zh-TW" i="1" dirty="0" err="1">
                <a:ea typeface="新細明體" panose="02020500000000000000" pitchFamily="18" charset="-120"/>
              </a:rPr>
              <a:t>d</a:t>
            </a:r>
            <a:r>
              <a:rPr lang="en-US" altLang="zh-TW" i="1" baseline="-25000" dirty="0" err="1">
                <a:ea typeface="新細明體" panose="02020500000000000000" pitchFamily="18" charset="-120"/>
              </a:rPr>
              <a:t>j</a:t>
            </a: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en-US" altLang="zh-TW" b="1" dirty="0">
                <a:ea typeface="新細明體" panose="02020500000000000000" pitchFamily="18" charset="-120"/>
              </a:rPr>
              <a:t>x</a:t>
            </a:r>
            <a:r>
              <a:rPr lang="en-US" altLang="zh-TW" dirty="0">
                <a:ea typeface="新細明體" panose="02020500000000000000" pitchFamily="18" charset="-120"/>
              </a:rPr>
              <a:t>), </a:t>
            </a:r>
            <a:r>
              <a:rPr lang="en-US" altLang="zh-TW" i="1" dirty="0">
                <a:ea typeface="新細明體" panose="02020500000000000000" pitchFamily="18" charset="-120"/>
              </a:rPr>
              <a:t>j</a:t>
            </a:r>
            <a:r>
              <a:rPr lang="en-US" altLang="zh-TW" dirty="0">
                <a:ea typeface="新細明體" panose="02020500000000000000" pitchFamily="18" charset="-120"/>
              </a:rPr>
              <a:t> = 1,2,…,</a:t>
            </a:r>
            <a:r>
              <a:rPr lang="en-US" altLang="zh-TW" i="1" dirty="0">
                <a:ea typeface="新細明體" panose="02020500000000000000" pitchFamily="18" charset="-120"/>
              </a:rPr>
              <a:t>W</a:t>
            </a:r>
            <a:r>
              <a:rPr lang="en-US" altLang="zh-TW" dirty="0">
                <a:ea typeface="新細明體" panose="02020500000000000000" pitchFamily="18" charset="-120"/>
              </a:rPr>
              <a:t>; </a:t>
            </a:r>
            <a:r>
              <a:rPr lang="en-US" altLang="zh-TW" i="1" dirty="0" err="1">
                <a:ea typeface="新細明體" panose="02020500000000000000" pitchFamily="18" charset="-120"/>
              </a:rPr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≠ </a:t>
            </a:r>
            <a:r>
              <a:rPr lang="en-US" altLang="zh-TW" i="1" dirty="0">
                <a:ea typeface="新細明體" panose="02020500000000000000" pitchFamily="18" charset="-120"/>
              </a:rPr>
              <a:t>j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TW" dirty="0">
                <a:ea typeface="新細明體" panose="02020500000000000000" pitchFamily="18" charset="-120"/>
              </a:rPr>
              <a:t>The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decision boundary</a:t>
            </a:r>
            <a:r>
              <a:rPr lang="en-US" altLang="zh-TW" dirty="0">
                <a:ea typeface="新細明體" panose="02020500000000000000" pitchFamily="18" charset="-120"/>
              </a:rPr>
              <a:t> separating class </a:t>
            </a:r>
            <a:r>
              <a:rPr lang="en-US" i="1" dirty="0">
                <a:sym typeface="Symbol" panose="05050102010706020507" pitchFamily="18" charset="2"/>
              </a:rPr>
              <a:t></a:t>
            </a:r>
            <a:r>
              <a:rPr lang="en-US" i="1" baseline="-25000" dirty="0" err="1"/>
              <a:t>i</a:t>
            </a:r>
            <a:r>
              <a:rPr lang="en-US" altLang="zh-TW" dirty="0">
                <a:ea typeface="新細明體" panose="02020500000000000000" pitchFamily="18" charset="-120"/>
              </a:rPr>
              <a:t> from </a:t>
            </a:r>
            <a:r>
              <a:rPr lang="en-US" i="1" dirty="0">
                <a:sym typeface="Symbol" panose="05050102010706020507" pitchFamily="18" charset="2"/>
              </a:rPr>
              <a:t></a:t>
            </a:r>
            <a:r>
              <a:rPr lang="en-US" i="1" baseline="-25000" dirty="0"/>
              <a:t>j</a:t>
            </a:r>
            <a:r>
              <a:rPr lang="en-US" altLang="zh-TW" dirty="0">
                <a:ea typeface="新細明體" panose="02020500000000000000" pitchFamily="18" charset="-120"/>
              </a:rPr>
              <a:t> is given by values of </a:t>
            </a:r>
            <a:r>
              <a:rPr lang="en-US" altLang="zh-TW" b="1" dirty="0">
                <a:ea typeface="新細明體" panose="02020500000000000000" pitchFamily="18" charset="-120"/>
              </a:rPr>
              <a:t>x</a:t>
            </a:r>
            <a:r>
              <a:rPr lang="en-US" altLang="zh-TW" dirty="0">
                <a:ea typeface="新細明體" panose="02020500000000000000" pitchFamily="18" charset="-120"/>
              </a:rPr>
              <a:t> for which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TW" dirty="0">
                <a:ea typeface="新細明體" panose="02020500000000000000" pitchFamily="18" charset="-120"/>
              </a:rPr>
              <a:t>	</a:t>
            </a:r>
            <a:r>
              <a:rPr lang="en-US" altLang="zh-TW" i="1" dirty="0"/>
              <a:t>d</a:t>
            </a:r>
            <a:r>
              <a:rPr lang="en-US" altLang="zh-TW" i="1" baseline="-25000" dirty="0"/>
              <a:t>i</a:t>
            </a:r>
            <a:r>
              <a:rPr lang="en-US" altLang="zh-TW" dirty="0"/>
              <a:t>(</a:t>
            </a:r>
            <a:r>
              <a:rPr lang="en-US" altLang="zh-TW" b="1" dirty="0"/>
              <a:t>x</a:t>
            </a:r>
            <a:r>
              <a:rPr lang="en-US" altLang="zh-TW" dirty="0"/>
              <a:t>) = </a:t>
            </a:r>
            <a:r>
              <a:rPr lang="en-US" altLang="zh-TW" i="1" dirty="0" err="1"/>
              <a:t>d</a:t>
            </a:r>
            <a:r>
              <a:rPr lang="en-US" altLang="zh-TW" i="1" baseline="-25000" dirty="0" err="1"/>
              <a:t>j</a:t>
            </a:r>
            <a:r>
              <a:rPr lang="en-US" altLang="zh-TW" dirty="0"/>
              <a:t>(</a:t>
            </a:r>
            <a:r>
              <a:rPr lang="en-US" altLang="zh-TW" b="1" dirty="0"/>
              <a:t>x</a:t>
            </a:r>
            <a:r>
              <a:rPr lang="en-US" altLang="zh-TW" dirty="0"/>
              <a:t>)  or </a:t>
            </a:r>
            <a:r>
              <a:rPr lang="en-US" altLang="zh-TW" i="1" dirty="0"/>
              <a:t>d</a:t>
            </a:r>
            <a:r>
              <a:rPr lang="en-US" altLang="zh-TW" i="1" baseline="-25000" dirty="0"/>
              <a:t>i</a:t>
            </a:r>
            <a:r>
              <a:rPr lang="en-US" altLang="zh-TW" dirty="0"/>
              <a:t>(</a:t>
            </a:r>
            <a:r>
              <a:rPr lang="en-US" altLang="zh-TW" b="1" dirty="0"/>
              <a:t>x</a:t>
            </a:r>
            <a:r>
              <a:rPr lang="en-US" altLang="zh-TW" dirty="0"/>
              <a:t>) - </a:t>
            </a:r>
            <a:r>
              <a:rPr lang="en-US" altLang="zh-TW" i="1" dirty="0" err="1"/>
              <a:t>d</a:t>
            </a:r>
            <a:r>
              <a:rPr lang="en-US" altLang="zh-TW" i="1" baseline="-25000" dirty="0" err="1"/>
              <a:t>j</a:t>
            </a:r>
            <a:r>
              <a:rPr lang="en-US" altLang="zh-TW" dirty="0"/>
              <a:t>(</a:t>
            </a:r>
            <a:r>
              <a:rPr lang="en-US" altLang="zh-TW" b="1" dirty="0"/>
              <a:t>x</a:t>
            </a:r>
            <a:r>
              <a:rPr lang="en-US" altLang="zh-TW" dirty="0"/>
              <a:t>) = 0.</a:t>
            </a:r>
            <a:endParaRPr lang="en-US" altLang="zh-TW" dirty="0">
              <a:ea typeface="新細明體" panose="02020500000000000000" pitchFamily="18" charset="-12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91344" y="245270"/>
            <a:ext cx="9283998" cy="6484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dirty="0"/>
              <a:t>Decision-Theoretic Methods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689711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4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8"/>
          <a:stretch/>
        </p:blipFill>
        <p:spPr bwMode="auto">
          <a:xfrm>
            <a:off x="1854117" y="3284984"/>
            <a:ext cx="10218547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2454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19336" y="1268760"/>
            <a:ext cx="8310563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>
                <a:ea typeface="新細明體" panose="02020500000000000000" pitchFamily="18" charset="-120"/>
              </a:rPr>
              <a:t>Bayes classifier for Gaussian pattern classes</a:t>
            </a:r>
          </a:p>
        </p:txBody>
      </p:sp>
      <p:graphicFrame>
        <p:nvGraphicFramePr>
          <p:cNvPr id="872455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941661" y="1805906"/>
          <a:ext cx="634047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2920680" imgH="571320" progId="Equation.3">
                  <p:embed/>
                </p:oleObj>
              </mc:Choice>
              <mc:Fallback>
                <p:oleObj name="方程式" r:id="rId3" imgW="2920680" imgH="571320" progId="Equation.3">
                  <p:embed/>
                  <p:pic>
                    <p:nvPicPr>
                      <p:cNvPr id="872455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661" y="1805906"/>
                        <a:ext cx="6340475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191344" y="44624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Decision-Theoretic Methods</a:t>
            </a:r>
            <a:endParaRPr lang="en-US" altLang="zh-TW" sz="4000" dirty="0"/>
          </a:p>
          <a:p>
            <a:r>
              <a:rPr lang="en-US" sz="3200" dirty="0"/>
              <a:t>    Optimum Statistical Classifiers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0054593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91344" y="59580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Decision-Theoretic Methods</a:t>
            </a:r>
            <a:endParaRPr lang="en-US" altLang="zh-TW" sz="4000" dirty="0"/>
          </a:p>
          <a:p>
            <a:r>
              <a:rPr lang="en-US" sz="3200" dirty="0"/>
              <a:t>    Optimum Statistical Classifiers</a:t>
            </a:r>
            <a:endParaRPr lang="en-US" altLang="zh-TW" sz="3200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340768"/>
            <a:ext cx="8616952" cy="5404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9390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91344" y="59580"/>
            <a:ext cx="9283998" cy="92114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sz="2800" dirty="0"/>
              <a:t>Decision-Theoretic Methods</a:t>
            </a:r>
            <a:endParaRPr lang="en-US" altLang="zh-TW" sz="4000" dirty="0"/>
          </a:p>
          <a:p>
            <a:r>
              <a:rPr lang="en-US" sz="3200" dirty="0"/>
              <a:t>    Optimum Statistical Classifiers</a:t>
            </a:r>
            <a:endParaRPr lang="en-US" altLang="zh-TW" sz="32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3"/>
          <a:stretch/>
        </p:blipFill>
        <p:spPr bwMode="auto">
          <a:xfrm>
            <a:off x="730410" y="2348880"/>
            <a:ext cx="10489117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9336" y="1423319"/>
            <a:ext cx="10297144" cy="49351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2800" dirty="0">
                <a:ea typeface="新細明體" panose="02020500000000000000" pitchFamily="18" charset="-120"/>
              </a:rPr>
              <a:t>Classification of multi-spectral data using the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247400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42217</TotalTime>
  <Words>6661</Words>
  <Application>Microsoft Office PowerPoint</Application>
  <PresentationFormat>Widescreen</PresentationFormat>
  <Paragraphs>840</Paragraphs>
  <Slides>62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Wingdings</vt:lpstr>
      <vt:lpstr>Times New Roman</vt:lpstr>
      <vt:lpstr>Symbol</vt:lpstr>
      <vt:lpstr>Courier New</vt:lpstr>
      <vt:lpstr>新細明體</vt:lpstr>
      <vt:lpstr>Arial</vt:lpstr>
      <vt:lpstr>Calibri</vt:lpstr>
      <vt:lpstr>Office Theme</vt:lpstr>
      <vt:lpstr>方程式</vt:lpstr>
      <vt:lpstr>Image</vt:lpstr>
      <vt:lpstr>Worksheet</vt:lpstr>
      <vt:lpstr>CorelPhotoPaint.Image.11</vt:lpstr>
      <vt:lpstr>Visual Recognition</vt:lpstr>
      <vt:lpstr>PowerPoint Presentation</vt:lpstr>
      <vt:lpstr>Visual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PowerPoint Presentation</vt:lpstr>
      <vt:lpstr>PowerPoint Presentation</vt:lpstr>
      <vt:lpstr>PowerPoint Presentation</vt:lpstr>
      <vt:lpstr>PowerPoint Presentation</vt:lpstr>
      <vt:lpstr>Object Recognition Using Transfer Learning: MATLAB</vt:lpstr>
      <vt:lpstr>Object Recognition Using Transfer Learning: Python…</vt:lpstr>
      <vt:lpstr>Object Recognition Using Transfer Learning: Python</vt:lpstr>
      <vt:lpstr>Live Object Recognition Using Transfer Learning</vt:lpstr>
      <vt:lpstr>YOLO - You Only Look Once</vt:lpstr>
      <vt:lpstr>YOLO – How It Works?</vt:lpstr>
      <vt:lpstr>YOLO – Use Case: Road Traffic Tracking</vt:lpstr>
      <vt:lpstr>YOLO – Use Case: Road Traffic Tracking</vt:lpstr>
      <vt:lpstr>Comparison of Visual Recognition Algorithms</vt:lpstr>
      <vt:lpstr>Exercise</vt:lpstr>
      <vt:lpstr>Extra Stuff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zulfiqar.habib</dc:creator>
  <cp:lastModifiedBy>Zulfiqar Habib</cp:lastModifiedBy>
  <cp:revision>620</cp:revision>
  <dcterms:created xsi:type="dcterms:W3CDTF">2009-08-01T06:17:21Z</dcterms:created>
  <dcterms:modified xsi:type="dcterms:W3CDTF">2024-12-14T17:22:14Z</dcterms:modified>
</cp:coreProperties>
</file>