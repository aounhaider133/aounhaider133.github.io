
<file path=[Content_Types].xml><?xml version="1.0" encoding="utf-8"?>
<Types xmlns="http://schemas.openxmlformats.org/package/2006/content-types">
  <Default Extension="bin" ContentType="application/vnd.openxmlformats-officedocument.oleObject"/>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p:sldMasterIdLst>
    <p:sldMasterId id="2147483650" r:id="rId1"/>
  </p:sldMasterIdLst>
  <p:notesMasterIdLst>
    <p:notesMasterId r:id="rId18"/>
  </p:notesMasterIdLst>
  <p:handoutMasterIdLst>
    <p:handoutMasterId r:id="rId19"/>
  </p:handoutMasterIdLst>
  <p:sldIdLst>
    <p:sldId id="256" r:id="rId2"/>
    <p:sldId id="889" r:id="rId3"/>
    <p:sldId id="891" r:id="rId4"/>
    <p:sldId id="374" r:id="rId5"/>
    <p:sldId id="381" r:id="rId6"/>
    <p:sldId id="382" r:id="rId7"/>
    <p:sldId id="375" r:id="rId8"/>
    <p:sldId id="376" r:id="rId9"/>
    <p:sldId id="385" r:id="rId10"/>
    <p:sldId id="383" r:id="rId11"/>
    <p:sldId id="377" r:id="rId12"/>
    <p:sldId id="378" r:id="rId13"/>
    <p:sldId id="379" r:id="rId14"/>
    <p:sldId id="380" r:id="rId15"/>
    <p:sldId id="384" r:id="rId16"/>
    <p:sldId id="327" r:id="rId17"/>
  </p:sldIdLst>
  <p:sldSz cx="12192000" cy="6858000"/>
  <p:notesSz cx="6797675" cy="9928225"/>
  <p:embeddedFontLst>
    <p:embeddedFont>
      <p:font typeface="PMingLiU" panose="02020500000000000000" pitchFamily="18" charset="-120"/>
      <p:regular r:id="rId20"/>
    </p:embeddedFont>
    <p:embeddedFont>
      <p:font typeface="SimSun" panose="02010600030101010101" pitchFamily="2" charset="-122"/>
      <p:regular r:id="rId21"/>
    </p:embeddedFont>
    <p:embeddedFont>
      <p:font typeface="Urdu Typesetting" panose="03020402040406030203" pitchFamily="66" charset="-78"/>
      <p:regular r:id="rId22"/>
      <p:bold r:id="rId23"/>
    </p:embeddedFont>
  </p:embeddedFontLst>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429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764" autoAdjust="0"/>
    <p:restoredTop sz="95144" autoAdjust="0"/>
  </p:normalViewPr>
  <p:slideViewPr>
    <p:cSldViewPr snapToGrid="0">
      <p:cViewPr varScale="1">
        <p:scale>
          <a:sx n="51" d="100"/>
          <a:sy n="51" d="100"/>
        </p:scale>
        <p:origin x="473" y="51"/>
      </p:cViewPr>
      <p:guideLst>
        <p:guide orient="horz" pos="4297"/>
        <p:guide pos="384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8594" name="Rectangle 2"/>
          <p:cNvSpPr>
            <a:spLocks noGrp="1" noChangeArrowheads="1"/>
          </p:cNvSpPr>
          <p:nvPr>
            <p:ph type="hdr" sz="quarter"/>
          </p:nvPr>
        </p:nvSpPr>
        <p:spPr bwMode="auto">
          <a:xfrm>
            <a:off x="1" y="2"/>
            <a:ext cx="2945659" cy="496411"/>
          </a:xfrm>
          <a:prstGeom prst="rect">
            <a:avLst/>
          </a:prstGeom>
          <a:noFill/>
          <a:ln w="9525">
            <a:noFill/>
            <a:miter lim="800000"/>
            <a:headEnd/>
            <a:tailEnd/>
          </a:ln>
          <a:effectLst/>
        </p:spPr>
        <p:txBody>
          <a:bodyPr vert="horz" wrap="square" lIns="91424" tIns="45712" rIns="91424" bIns="45712" numCol="1" anchor="t" anchorCtr="0" compatLnSpc="1">
            <a:prstTxWarp prst="textNoShape">
              <a:avLst/>
            </a:prstTxWarp>
          </a:bodyPr>
          <a:lstStyle>
            <a:lvl1pPr>
              <a:defRPr sz="1200" smtClean="0"/>
            </a:lvl1pPr>
          </a:lstStyle>
          <a:p>
            <a:pPr>
              <a:defRPr/>
            </a:pPr>
            <a:endParaRPr lang="en-US"/>
          </a:p>
        </p:txBody>
      </p:sp>
      <p:sp>
        <p:nvSpPr>
          <p:cNvPr id="238595" name="Rectangle 3"/>
          <p:cNvSpPr>
            <a:spLocks noGrp="1" noChangeArrowheads="1"/>
          </p:cNvSpPr>
          <p:nvPr>
            <p:ph type="dt" sz="quarter" idx="1"/>
          </p:nvPr>
        </p:nvSpPr>
        <p:spPr bwMode="auto">
          <a:xfrm>
            <a:off x="3850444" y="2"/>
            <a:ext cx="2945659" cy="496411"/>
          </a:xfrm>
          <a:prstGeom prst="rect">
            <a:avLst/>
          </a:prstGeom>
          <a:noFill/>
          <a:ln w="9525">
            <a:noFill/>
            <a:miter lim="800000"/>
            <a:headEnd/>
            <a:tailEnd/>
          </a:ln>
          <a:effectLst/>
        </p:spPr>
        <p:txBody>
          <a:bodyPr vert="horz" wrap="square" lIns="91424" tIns="45712" rIns="91424" bIns="45712" numCol="1" anchor="t" anchorCtr="0" compatLnSpc="1">
            <a:prstTxWarp prst="textNoShape">
              <a:avLst/>
            </a:prstTxWarp>
          </a:bodyPr>
          <a:lstStyle>
            <a:lvl1pPr algn="r">
              <a:defRPr sz="1200" smtClean="0"/>
            </a:lvl1pPr>
          </a:lstStyle>
          <a:p>
            <a:pPr>
              <a:defRPr/>
            </a:pPr>
            <a:endParaRPr lang="en-US"/>
          </a:p>
        </p:txBody>
      </p:sp>
      <p:sp>
        <p:nvSpPr>
          <p:cNvPr id="238596" name="Rectangle 4"/>
          <p:cNvSpPr>
            <a:spLocks noGrp="1" noChangeArrowheads="1"/>
          </p:cNvSpPr>
          <p:nvPr>
            <p:ph type="ftr" sz="quarter" idx="2"/>
          </p:nvPr>
        </p:nvSpPr>
        <p:spPr bwMode="auto">
          <a:xfrm>
            <a:off x="1" y="9430092"/>
            <a:ext cx="2945659" cy="496411"/>
          </a:xfrm>
          <a:prstGeom prst="rect">
            <a:avLst/>
          </a:prstGeom>
          <a:noFill/>
          <a:ln w="9525">
            <a:noFill/>
            <a:miter lim="800000"/>
            <a:headEnd/>
            <a:tailEnd/>
          </a:ln>
          <a:effectLst/>
        </p:spPr>
        <p:txBody>
          <a:bodyPr vert="horz" wrap="square" lIns="91424" tIns="45712" rIns="91424" bIns="45712" numCol="1" anchor="b" anchorCtr="0" compatLnSpc="1">
            <a:prstTxWarp prst="textNoShape">
              <a:avLst/>
            </a:prstTxWarp>
          </a:bodyPr>
          <a:lstStyle>
            <a:lvl1pPr>
              <a:defRPr sz="1200" smtClean="0"/>
            </a:lvl1pPr>
          </a:lstStyle>
          <a:p>
            <a:pPr>
              <a:defRPr/>
            </a:pPr>
            <a:endParaRPr lang="en-US"/>
          </a:p>
        </p:txBody>
      </p:sp>
      <p:sp>
        <p:nvSpPr>
          <p:cNvPr id="238597" name="Rectangle 5"/>
          <p:cNvSpPr>
            <a:spLocks noGrp="1" noChangeArrowheads="1"/>
          </p:cNvSpPr>
          <p:nvPr>
            <p:ph type="sldNum" sz="quarter" idx="3"/>
          </p:nvPr>
        </p:nvSpPr>
        <p:spPr bwMode="auto">
          <a:xfrm>
            <a:off x="3850444" y="9430092"/>
            <a:ext cx="2945659" cy="496411"/>
          </a:xfrm>
          <a:prstGeom prst="rect">
            <a:avLst/>
          </a:prstGeom>
          <a:noFill/>
          <a:ln w="9525">
            <a:noFill/>
            <a:miter lim="800000"/>
            <a:headEnd/>
            <a:tailEnd/>
          </a:ln>
          <a:effectLst/>
        </p:spPr>
        <p:txBody>
          <a:bodyPr vert="horz" wrap="square" lIns="91424" tIns="45712" rIns="91424" bIns="45712" numCol="1" anchor="b" anchorCtr="0" compatLnSpc="1">
            <a:prstTxWarp prst="textNoShape">
              <a:avLst/>
            </a:prstTxWarp>
          </a:bodyPr>
          <a:lstStyle>
            <a:lvl1pPr algn="r">
              <a:defRPr sz="1200" smtClean="0"/>
            </a:lvl1pPr>
          </a:lstStyle>
          <a:p>
            <a:pPr>
              <a:defRPr/>
            </a:pPr>
            <a:fld id="{C1C458B7-E184-4821-ABA4-1CB144EECD19}" type="slidenum">
              <a:rPr lang="en-US"/>
              <a:pPr>
                <a:defRPr/>
              </a:pPr>
              <a:t>‹#›</a:t>
            </a:fld>
            <a:endParaRPr lang="en-US"/>
          </a:p>
        </p:txBody>
      </p:sp>
    </p:spTree>
    <p:extLst>
      <p:ext uri="{BB962C8B-B14F-4D97-AF65-F5344CB8AC3E}">
        <p14:creationId xmlns:p14="http://schemas.microsoft.com/office/powerpoint/2010/main" val="37499691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bwMode="auto">
          <a:xfrm>
            <a:off x="1" y="2"/>
            <a:ext cx="2945659" cy="496411"/>
          </a:xfrm>
          <a:prstGeom prst="rect">
            <a:avLst/>
          </a:prstGeom>
          <a:noFill/>
          <a:ln w="9525">
            <a:noFill/>
            <a:miter lim="800000"/>
            <a:headEnd/>
            <a:tailEnd/>
          </a:ln>
          <a:effectLst/>
        </p:spPr>
        <p:txBody>
          <a:bodyPr vert="horz" wrap="square" lIns="91424" tIns="45712" rIns="91424" bIns="45712" numCol="1" anchor="t" anchorCtr="0" compatLnSpc="1">
            <a:prstTxWarp prst="textNoShape">
              <a:avLst/>
            </a:prstTxWarp>
          </a:bodyPr>
          <a:lstStyle>
            <a:lvl1pPr>
              <a:defRPr sz="1200" smtClean="0"/>
            </a:lvl1pPr>
          </a:lstStyle>
          <a:p>
            <a:pPr>
              <a:defRPr/>
            </a:pPr>
            <a:endParaRPr lang="en-US" altLang="zh-TW"/>
          </a:p>
        </p:txBody>
      </p:sp>
      <p:sp>
        <p:nvSpPr>
          <p:cNvPr id="28675" name="Rectangle 3"/>
          <p:cNvSpPr>
            <a:spLocks noGrp="1" noChangeArrowheads="1"/>
          </p:cNvSpPr>
          <p:nvPr>
            <p:ph type="dt" idx="1"/>
          </p:nvPr>
        </p:nvSpPr>
        <p:spPr bwMode="auto">
          <a:xfrm>
            <a:off x="3852017" y="2"/>
            <a:ext cx="2945659" cy="496411"/>
          </a:xfrm>
          <a:prstGeom prst="rect">
            <a:avLst/>
          </a:prstGeom>
          <a:noFill/>
          <a:ln w="9525">
            <a:noFill/>
            <a:miter lim="800000"/>
            <a:headEnd/>
            <a:tailEnd/>
          </a:ln>
          <a:effectLst/>
        </p:spPr>
        <p:txBody>
          <a:bodyPr vert="horz" wrap="square" lIns="91424" tIns="45712" rIns="91424" bIns="45712" numCol="1" anchor="t" anchorCtr="0" compatLnSpc="1">
            <a:prstTxWarp prst="textNoShape">
              <a:avLst/>
            </a:prstTxWarp>
          </a:bodyPr>
          <a:lstStyle>
            <a:lvl1pPr algn="r">
              <a:defRPr sz="1200" smtClean="0"/>
            </a:lvl1pPr>
          </a:lstStyle>
          <a:p>
            <a:pPr>
              <a:defRPr/>
            </a:pPr>
            <a:endParaRPr lang="en-US" altLang="zh-TW"/>
          </a:p>
        </p:txBody>
      </p:sp>
      <p:sp>
        <p:nvSpPr>
          <p:cNvPr id="46084" name="Rectangle 4"/>
          <p:cNvSpPr>
            <a:spLocks noGrp="1" noRot="1" noChangeAspect="1" noChangeArrowheads="1" noTextEdit="1"/>
          </p:cNvSpPr>
          <p:nvPr>
            <p:ph type="sldImg" idx="2"/>
          </p:nvPr>
        </p:nvSpPr>
        <p:spPr bwMode="auto">
          <a:xfrm>
            <a:off x="90488" y="744538"/>
            <a:ext cx="6616700" cy="3722687"/>
          </a:xfrm>
          <a:prstGeom prst="rect">
            <a:avLst/>
          </a:prstGeom>
          <a:noFill/>
          <a:ln w="9525">
            <a:solidFill>
              <a:srgbClr val="000000"/>
            </a:solidFill>
            <a:miter lim="800000"/>
            <a:headEnd/>
            <a:tailEnd/>
          </a:ln>
        </p:spPr>
      </p:sp>
      <p:sp>
        <p:nvSpPr>
          <p:cNvPr id="28677" name="Rectangle 5"/>
          <p:cNvSpPr>
            <a:spLocks noGrp="1" noChangeArrowheads="1"/>
          </p:cNvSpPr>
          <p:nvPr>
            <p:ph type="body" sz="quarter" idx="3"/>
          </p:nvPr>
        </p:nvSpPr>
        <p:spPr bwMode="auto">
          <a:xfrm>
            <a:off x="906357" y="4715907"/>
            <a:ext cx="4984962" cy="4467701"/>
          </a:xfrm>
          <a:prstGeom prst="rect">
            <a:avLst/>
          </a:prstGeom>
          <a:noFill/>
          <a:ln w="9525">
            <a:noFill/>
            <a:miter lim="800000"/>
            <a:headEnd/>
            <a:tailEnd/>
          </a:ln>
          <a:effectLst/>
        </p:spPr>
        <p:txBody>
          <a:bodyPr vert="horz" wrap="square" lIns="91424" tIns="45712" rIns="91424" bIns="45712" numCol="1" anchor="t" anchorCtr="0" compatLnSpc="1">
            <a:prstTxWarp prst="textNoShape">
              <a:avLst/>
            </a:prstTxWarp>
          </a:bodyPr>
          <a:lstStyle/>
          <a:p>
            <a:pPr lvl="0"/>
            <a:r>
              <a:rPr lang="en-US" altLang="zh-TW" noProof="0"/>
              <a:t>Click to edit Master text styles</a:t>
            </a:r>
          </a:p>
          <a:p>
            <a:pPr lvl="1"/>
            <a:r>
              <a:rPr lang="en-US" altLang="zh-TW" noProof="0"/>
              <a:t>Second level</a:t>
            </a:r>
          </a:p>
          <a:p>
            <a:pPr lvl="2"/>
            <a:r>
              <a:rPr lang="en-US" altLang="zh-TW" noProof="0"/>
              <a:t>Third level</a:t>
            </a:r>
          </a:p>
          <a:p>
            <a:pPr lvl="3"/>
            <a:r>
              <a:rPr lang="en-US" altLang="zh-TW" noProof="0"/>
              <a:t>Fourth level</a:t>
            </a:r>
          </a:p>
          <a:p>
            <a:pPr lvl="4"/>
            <a:r>
              <a:rPr lang="en-US" altLang="zh-TW" noProof="0"/>
              <a:t>Fifth level</a:t>
            </a:r>
          </a:p>
        </p:txBody>
      </p:sp>
      <p:sp>
        <p:nvSpPr>
          <p:cNvPr id="28678" name="Rectangle 6"/>
          <p:cNvSpPr>
            <a:spLocks noGrp="1" noChangeArrowheads="1"/>
          </p:cNvSpPr>
          <p:nvPr>
            <p:ph type="ftr" sz="quarter" idx="4"/>
          </p:nvPr>
        </p:nvSpPr>
        <p:spPr bwMode="auto">
          <a:xfrm>
            <a:off x="1" y="9431815"/>
            <a:ext cx="2945659" cy="496411"/>
          </a:xfrm>
          <a:prstGeom prst="rect">
            <a:avLst/>
          </a:prstGeom>
          <a:noFill/>
          <a:ln w="9525">
            <a:noFill/>
            <a:miter lim="800000"/>
            <a:headEnd/>
            <a:tailEnd/>
          </a:ln>
          <a:effectLst/>
        </p:spPr>
        <p:txBody>
          <a:bodyPr vert="horz" wrap="square" lIns="91424" tIns="45712" rIns="91424" bIns="45712" numCol="1" anchor="b" anchorCtr="0" compatLnSpc="1">
            <a:prstTxWarp prst="textNoShape">
              <a:avLst/>
            </a:prstTxWarp>
          </a:bodyPr>
          <a:lstStyle>
            <a:lvl1pPr>
              <a:defRPr sz="1200" smtClean="0"/>
            </a:lvl1pPr>
          </a:lstStyle>
          <a:p>
            <a:pPr>
              <a:defRPr/>
            </a:pPr>
            <a:endParaRPr lang="en-US" altLang="zh-TW"/>
          </a:p>
        </p:txBody>
      </p:sp>
      <p:sp>
        <p:nvSpPr>
          <p:cNvPr id="28679" name="Rectangle 7"/>
          <p:cNvSpPr>
            <a:spLocks noGrp="1" noChangeArrowheads="1"/>
          </p:cNvSpPr>
          <p:nvPr>
            <p:ph type="sldNum" sz="quarter" idx="5"/>
          </p:nvPr>
        </p:nvSpPr>
        <p:spPr bwMode="auto">
          <a:xfrm>
            <a:off x="3852017" y="9431815"/>
            <a:ext cx="2945659" cy="496411"/>
          </a:xfrm>
          <a:prstGeom prst="rect">
            <a:avLst/>
          </a:prstGeom>
          <a:noFill/>
          <a:ln w="9525">
            <a:noFill/>
            <a:miter lim="800000"/>
            <a:headEnd/>
            <a:tailEnd/>
          </a:ln>
          <a:effectLst/>
        </p:spPr>
        <p:txBody>
          <a:bodyPr vert="horz" wrap="square" lIns="91424" tIns="45712" rIns="91424" bIns="45712" numCol="1" anchor="b" anchorCtr="0" compatLnSpc="1">
            <a:prstTxWarp prst="textNoShape">
              <a:avLst/>
            </a:prstTxWarp>
          </a:bodyPr>
          <a:lstStyle>
            <a:lvl1pPr algn="r">
              <a:defRPr sz="1200" smtClean="0"/>
            </a:lvl1pPr>
          </a:lstStyle>
          <a:p>
            <a:pPr>
              <a:defRPr/>
            </a:pPr>
            <a:fld id="{C8F684AF-81AD-4DBF-8C65-B5EEA9D17154}" type="slidenum">
              <a:rPr lang="zh-TW" altLang="en-US"/>
              <a:pPr>
                <a:defRPr/>
              </a:pPr>
              <a:t>‹#›</a:t>
            </a:fld>
            <a:endParaRPr lang="en-US" altLang="zh-TW"/>
          </a:p>
        </p:txBody>
      </p:sp>
    </p:spTree>
    <p:extLst>
      <p:ext uri="{BB962C8B-B14F-4D97-AF65-F5344CB8AC3E}">
        <p14:creationId xmlns:p14="http://schemas.microsoft.com/office/powerpoint/2010/main" val="7779279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normAutofit/>
          </a:bodyPr>
          <a:lstStyle/>
          <a:p>
            <a:pPr defTabSz="914239">
              <a:defRPr/>
            </a:pPr>
            <a:r>
              <a:rPr lang="en-US" dirty="0"/>
              <a:t>www.csie.ntnu.edu.tw/~violet/IP93/Chapter06.ppt</a:t>
            </a:r>
          </a:p>
        </p:txBody>
      </p:sp>
      <p:sp>
        <p:nvSpPr>
          <p:cNvPr id="4" name="Slide Number Placeholder 3"/>
          <p:cNvSpPr>
            <a:spLocks noGrp="1"/>
          </p:cNvSpPr>
          <p:nvPr>
            <p:ph type="sldNum" sz="quarter" idx="10"/>
          </p:nvPr>
        </p:nvSpPr>
        <p:spPr/>
        <p:txBody>
          <a:bodyPr/>
          <a:lstStyle/>
          <a:p>
            <a:pPr>
              <a:defRPr/>
            </a:pPr>
            <a:fld id="{C8F684AF-81AD-4DBF-8C65-B5EEA9D17154}" type="slidenum">
              <a:rPr lang="zh-TW" altLang="en-US" smtClean="0"/>
              <a:pPr>
                <a:defRPr/>
              </a:pPr>
              <a:t>1</a:t>
            </a:fld>
            <a:endParaRPr lang="en-US" altLang="zh-TW"/>
          </a:p>
        </p:txBody>
      </p:sp>
    </p:spTree>
    <p:extLst>
      <p:ext uri="{BB962C8B-B14F-4D97-AF65-F5344CB8AC3E}">
        <p14:creationId xmlns:p14="http://schemas.microsoft.com/office/powerpoint/2010/main" val="27387813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normAutofit/>
          </a:bodyPr>
          <a:lstStyle/>
          <a:p>
            <a:r>
              <a:rPr lang="en-US" dirty="0">
                <a:latin typeface="Urdu Typesetting" panose="03020402040406030203" pitchFamily="66" charset="-78"/>
                <a:cs typeface="Urdu Typesetting" panose="03020402040406030203" pitchFamily="66" charset="-78"/>
              </a:rPr>
              <a:t>https://www.facebook.com/booksbasement/posts/4067633049957522/</a:t>
            </a:r>
          </a:p>
        </p:txBody>
      </p:sp>
    </p:spTree>
    <p:extLst>
      <p:ext uri="{BB962C8B-B14F-4D97-AF65-F5344CB8AC3E}">
        <p14:creationId xmlns:p14="http://schemas.microsoft.com/office/powerpoint/2010/main" val="32687983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normAutofit/>
          </a:bodyPr>
          <a:lstStyle/>
          <a:p>
            <a:r>
              <a:rPr lang="en-US" dirty="0">
                <a:latin typeface="Urdu Typesetting" panose="03020402040406030203" pitchFamily="66" charset="-78"/>
                <a:cs typeface="Urdu Typesetting" panose="03020402040406030203" pitchFamily="66" charset="-78"/>
              </a:rPr>
              <a:t>https://youtu.be/WgwURd6ClpQ?si=oJT9v-E1cwFIdVdK</a:t>
            </a:r>
          </a:p>
        </p:txBody>
      </p:sp>
    </p:spTree>
    <p:extLst>
      <p:ext uri="{BB962C8B-B14F-4D97-AF65-F5344CB8AC3E}">
        <p14:creationId xmlns:p14="http://schemas.microsoft.com/office/powerpoint/2010/main" val="1526424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normAutofit/>
          </a:bodyPr>
          <a:lstStyle/>
          <a:p>
            <a:r>
              <a:rPr lang="en-US" dirty="0"/>
              <a:t>https://youtu.be/8Are9dDbW24?si=FTn-GDf8Ta3rfWke</a:t>
            </a:r>
          </a:p>
        </p:txBody>
      </p:sp>
      <p:sp>
        <p:nvSpPr>
          <p:cNvPr id="4" name="Slide Number Placeholder 3"/>
          <p:cNvSpPr>
            <a:spLocks noGrp="1"/>
          </p:cNvSpPr>
          <p:nvPr>
            <p:ph type="sldNum" sz="quarter" idx="10"/>
          </p:nvPr>
        </p:nvSpPr>
        <p:spPr/>
        <p:txBody>
          <a:bodyPr/>
          <a:lstStyle/>
          <a:p>
            <a:pPr>
              <a:defRPr/>
            </a:pPr>
            <a:fld id="{9721323F-E92D-4233-984F-6C925B115E4D}" type="slidenum">
              <a:rPr lang="en-US" smtClean="0"/>
              <a:pPr>
                <a:defRPr/>
              </a:pPr>
              <a:t>4</a:t>
            </a:fld>
            <a:endParaRPr lang="en-US"/>
          </a:p>
        </p:txBody>
      </p:sp>
    </p:spTree>
    <p:extLst>
      <p:ext uri="{BB962C8B-B14F-4D97-AF65-F5344CB8AC3E}">
        <p14:creationId xmlns:p14="http://schemas.microsoft.com/office/powerpoint/2010/main" val="23495683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xfrm>
            <a:off x="90488" y="744538"/>
            <a:ext cx="6616700" cy="3722687"/>
          </a:xfrm>
          <a:ln/>
        </p:spPr>
      </p:sp>
      <p:sp>
        <p:nvSpPr>
          <p:cNvPr id="58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cs typeface="Times New Roman" panose="02020603050405020304" pitchFamily="18" charset="0"/>
              </a:rPr>
              <a:t>Tapetum lucidum</a:t>
            </a:r>
          </a:p>
        </p:txBody>
      </p:sp>
      <p:sp>
        <p:nvSpPr>
          <p:cNvPr id="583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Arial" panose="020B0604020202020204" pitchFamily="34" charset="0"/>
                <a:cs typeface="Arial" panose="020B0604020202020204" pitchFamily="34" charset="0"/>
              </a:defRPr>
            </a:lvl1pPr>
            <a:lvl2pPr marL="742950" indent="-285750" defTabSz="966788">
              <a:defRPr sz="2400">
                <a:solidFill>
                  <a:schemeClr val="tx1"/>
                </a:solidFill>
                <a:latin typeface="Arial" panose="020B0604020202020204" pitchFamily="34" charset="0"/>
                <a:cs typeface="Arial" panose="020B0604020202020204" pitchFamily="34" charset="0"/>
              </a:defRPr>
            </a:lvl2pPr>
            <a:lvl3pPr marL="1143000" indent="-228600" defTabSz="966788">
              <a:defRPr sz="2400">
                <a:solidFill>
                  <a:schemeClr val="tx1"/>
                </a:solidFill>
                <a:latin typeface="Arial" panose="020B0604020202020204" pitchFamily="34" charset="0"/>
                <a:cs typeface="Arial" panose="020B0604020202020204" pitchFamily="34" charset="0"/>
              </a:defRPr>
            </a:lvl3pPr>
            <a:lvl4pPr marL="1600200" indent="-228600" defTabSz="966788">
              <a:defRPr sz="2400">
                <a:solidFill>
                  <a:schemeClr val="tx1"/>
                </a:solidFill>
                <a:latin typeface="Arial" panose="020B0604020202020204" pitchFamily="34" charset="0"/>
                <a:cs typeface="Arial" panose="020B0604020202020204" pitchFamily="34" charset="0"/>
              </a:defRPr>
            </a:lvl4pPr>
            <a:lvl5pPr marL="2057400" indent="-228600" defTabSz="966788">
              <a:defRPr sz="24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71B54344-5262-43A6-BF64-DC91BD40C5C3}" type="slidenum">
              <a:rPr lang="en-US" altLang="en-US" sz="1200">
                <a:latin typeface="Times New Roman" panose="02020603050405020304" pitchFamily="18" charset="0"/>
                <a:cs typeface="Times New Roman" panose="02020603050405020304" pitchFamily="18" charset="0"/>
              </a:rPr>
              <a:pPr/>
              <a:t>6</a:t>
            </a:fld>
            <a:endParaRPr lang="en-US" alt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0543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8F684AF-81AD-4DBF-8C65-B5EEA9D17154}" type="slidenum">
              <a:rPr lang="zh-TW" altLang="en-US" smtClean="0"/>
              <a:pPr>
                <a:defRPr/>
              </a:pPr>
              <a:t>9</a:t>
            </a:fld>
            <a:endParaRPr lang="en-US" altLang="zh-TW"/>
          </a:p>
        </p:txBody>
      </p:sp>
    </p:spTree>
    <p:extLst>
      <p:ext uri="{BB962C8B-B14F-4D97-AF65-F5344CB8AC3E}">
        <p14:creationId xmlns:p14="http://schemas.microsoft.com/office/powerpoint/2010/main" val="38819599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C8F684AF-81AD-4DBF-8C65-B5EEA9D17154}" type="slidenum">
              <a:rPr lang="zh-TW" altLang="en-US" smtClean="0"/>
              <a:pPr>
                <a:defRPr/>
              </a:pPr>
              <a:t>11</a:t>
            </a:fld>
            <a:endParaRPr lang="en-US" altLang="zh-TW"/>
          </a:p>
        </p:txBody>
      </p:sp>
    </p:spTree>
    <p:extLst>
      <p:ext uri="{BB962C8B-B14F-4D97-AF65-F5344CB8AC3E}">
        <p14:creationId xmlns:p14="http://schemas.microsoft.com/office/powerpoint/2010/main" val="39101829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normAutofit/>
          </a:bodyPr>
          <a:lstStyle/>
          <a:p>
            <a:r>
              <a:rPr lang="en-US" dirty="0"/>
              <a:t>2.1, 2.2,</a:t>
            </a:r>
            <a:r>
              <a:rPr lang="en-US" baseline="0" dirty="0"/>
              <a:t> </a:t>
            </a:r>
            <a:r>
              <a:rPr lang="en-US" dirty="0"/>
              <a:t>2.5</a:t>
            </a:r>
          </a:p>
        </p:txBody>
      </p:sp>
      <p:sp>
        <p:nvSpPr>
          <p:cNvPr id="4" name="Slide Number Placeholder 3"/>
          <p:cNvSpPr>
            <a:spLocks noGrp="1"/>
          </p:cNvSpPr>
          <p:nvPr>
            <p:ph type="sldNum" sz="quarter" idx="10"/>
          </p:nvPr>
        </p:nvSpPr>
        <p:spPr/>
        <p:txBody>
          <a:bodyPr/>
          <a:lstStyle/>
          <a:p>
            <a:pPr>
              <a:defRPr/>
            </a:pPr>
            <a:fld id="{9721323F-E92D-4233-984F-6C925B115E4D}" type="slidenum">
              <a:rPr lang="en-US" smtClean="0"/>
              <a:pPr>
                <a:defRPr/>
              </a:pPr>
              <a:t>14</a:t>
            </a:fld>
            <a:endParaRPr lang="en-US"/>
          </a:p>
        </p:txBody>
      </p:sp>
    </p:spTree>
    <p:extLst>
      <p:ext uri="{BB962C8B-B14F-4D97-AF65-F5344CB8AC3E}">
        <p14:creationId xmlns:p14="http://schemas.microsoft.com/office/powerpoint/2010/main" val="20656848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normAutofit/>
          </a:bodyPr>
          <a:lstStyle/>
          <a:p>
            <a:r>
              <a:rPr lang="en-US" dirty="0"/>
              <a:t>2.1, 2.2,</a:t>
            </a:r>
            <a:r>
              <a:rPr lang="en-US" baseline="0" dirty="0"/>
              <a:t> </a:t>
            </a:r>
            <a:r>
              <a:rPr lang="en-US" dirty="0"/>
              <a:t>2.5</a:t>
            </a:r>
          </a:p>
        </p:txBody>
      </p:sp>
      <p:sp>
        <p:nvSpPr>
          <p:cNvPr id="4" name="Slide Number Placeholder 3"/>
          <p:cNvSpPr>
            <a:spLocks noGrp="1"/>
          </p:cNvSpPr>
          <p:nvPr>
            <p:ph type="sldNum" sz="quarter" idx="10"/>
          </p:nvPr>
        </p:nvSpPr>
        <p:spPr/>
        <p:txBody>
          <a:bodyPr/>
          <a:lstStyle/>
          <a:p>
            <a:pPr>
              <a:defRPr/>
            </a:pPr>
            <a:fld id="{9721323F-E92D-4233-984F-6C925B115E4D}" type="slidenum">
              <a:rPr lang="en-US" smtClean="0"/>
              <a:pPr>
                <a:defRPr/>
              </a:pPr>
              <a:t>15</a:t>
            </a:fld>
            <a:endParaRPr lang="en-US"/>
          </a:p>
        </p:txBody>
      </p:sp>
    </p:spTree>
    <p:extLst>
      <p:ext uri="{BB962C8B-B14F-4D97-AF65-F5344CB8AC3E}">
        <p14:creationId xmlns:p14="http://schemas.microsoft.com/office/powerpoint/2010/main" val="31434448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09600" y="1600201"/>
            <a:ext cx="10972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4400" y="76200"/>
            <a:ext cx="10363200" cy="838200"/>
          </a:xfrm>
          <a:prstGeom prst="rect">
            <a:avLst/>
          </a:prstGeom>
        </p:spPr>
        <p:txBody>
          <a:bodyPr/>
          <a:lstStyle/>
          <a:p>
            <a:r>
              <a:rPr lang="en-US"/>
              <a:t>Click to edit Master title style</a:t>
            </a:r>
          </a:p>
        </p:txBody>
      </p:sp>
      <p:sp>
        <p:nvSpPr>
          <p:cNvPr id="3" name="Rectangle 4"/>
          <p:cNvSpPr>
            <a:spLocks noGrp="1" noChangeArrowheads="1"/>
          </p:cNvSpPr>
          <p:nvPr>
            <p:ph type="dt" sz="half" idx="10"/>
          </p:nvPr>
        </p:nvSpPr>
        <p:spPr>
          <a:xfrm>
            <a:off x="914400" y="6248400"/>
            <a:ext cx="2540000" cy="457200"/>
          </a:xfrm>
          <a:prstGeom prst="rect">
            <a:avLst/>
          </a:prstGeom>
          <a:ln/>
        </p:spPr>
        <p:txBody>
          <a:bodyPr/>
          <a:lstStyle>
            <a:lvl1pPr>
              <a:defRPr/>
            </a:lvl1pPr>
          </a:lstStyle>
          <a:p>
            <a:pPr>
              <a:defRPr/>
            </a:pPr>
            <a:endParaRPr lang="en-US"/>
          </a:p>
        </p:txBody>
      </p:sp>
      <p:sp>
        <p:nvSpPr>
          <p:cNvPr id="4" name="Rectangle 5"/>
          <p:cNvSpPr>
            <a:spLocks noGrp="1" noChangeArrowheads="1"/>
          </p:cNvSpPr>
          <p:nvPr>
            <p:ph type="ftr" sz="quarter" idx="11"/>
          </p:nvPr>
        </p:nvSpPr>
        <p:spPr>
          <a:xfrm>
            <a:off x="4165600" y="6248400"/>
            <a:ext cx="3860800" cy="4572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xfrm>
            <a:off x="8737600" y="6248400"/>
            <a:ext cx="2540000" cy="457200"/>
          </a:xfrm>
          <a:prstGeom prst="rect">
            <a:avLst/>
          </a:prstGeom>
          <a:ln/>
        </p:spPr>
        <p:txBody>
          <a:bodyPr/>
          <a:lstStyle>
            <a:lvl1pPr>
              <a:defRPr/>
            </a:lvl1pPr>
          </a:lstStyle>
          <a:p>
            <a:pPr>
              <a:defRPr/>
            </a:pPr>
            <a:fld id="{89A55949-B562-4092-9B7D-394ED2A54EAC}" type="slidenum">
              <a:rPr lang="en-US" altLang="en-US"/>
              <a:pPr>
                <a:defRPr/>
              </a:pPr>
              <a:t>‹#›</a:t>
            </a:fld>
            <a:endParaRPr lang="en-US" altLang="en-US"/>
          </a:p>
        </p:txBody>
      </p:sp>
    </p:spTree>
    <p:extLst>
      <p:ext uri="{BB962C8B-B14F-4D97-AF65-F5344CB8AC3E}">
        <p14:creationId xmlns:p14="http://schemas.microsoft.com/office/powerpoint/2010/main" val="338131973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6" name="Line 6"/>
          <p:cNvSpPr>
            <a:spLocks noChangeShapeType="1"/>
          </p:cNvSpPr>
          <p:nvPr/>
        </p:nvSpPr>
        <p:spPr bwMode="auto">
          <a:xfrm flipH="1" flipV="1">
            <a:off x="-258233" y="6858000"/>
            <a:ext cx="12450233" cy="0"/>
          </a:xfrm>
          <a:prstGeom prst="line">
            <a:avLst/>
          </a:prstGeom>
          <a:noFill/>
          <a:ln w="3175">
            <a:solidFill>
              <a:srgbClr val="B2B2B2"/>
            </a:solidFill>
            <a:round/>
            <a:headEnd/>
            <a:tailEnd/>
          </a:ln>
          <a:effectLst/>
        </p:spPr>
        <p:txBody>
          <a:bodyPr wrap="none" anchor="ctr"/>
          <a:lstStyle/>
          <a:p>
            <a:pPr>
              <a:defRPr/>
            </a:pPr>
            <a:endParaRPr lang="en-US" sz="2400"/>
          </a:p>
        </p:txBody>
      </p:sp>
      <p:sp>
        <p:nvSpPr>
          <p:cNvPr id="5127" name="Line 7"/>
          <p:cNvSpPr>
            <a:spLocks noChangeShapeType="1"/>
          </p:cNvSpPr>
          <p:nvPr/>
        </p:nvSpPr>
        <p:spPr bwMode="auto">
          <a:xfrm flipH="1">
            <a:off x="1536701" y="12700"/>
            <a:ext cx="10640484" cy="0"/>
          </a:xfrm>
          <a:prstGeom prst="line">
            <a:avLst/>
          </a:prstGeom>
          <a:noFill/>
          <a:ln w="3175">
            <a:solidFill>
              <a:srgbClr val="B2B2B2"/>
            </a:solidFill>
            <a:round/>
            <a:headEnd/>
            <a:tailEnd/>
          </a:ln>
          <a:effectLst/>
        </p:spPr>
        <p:txBody>
          <a:bodyPr wrap="none" anchor="ctr"/>
          <a:lstStyle/>
          <a:p>
            <a:pPr>
              <a:defRPr/>
            </a:pPr>
            <a:endParaRPr lang="en-US" sz="2400"/>
          </a:p>
        </p:txBody>
      </p:sp>
      <p:sp>
        <p:nvSpPr>
          <p:cNvPr id="7" name="Rectangle 6"/>
          <p:cNvSpPr/>
          <p:nvPr userDrawn="1"/>
        </p:nvSpPr>
        <p:spPr>
          <a:xfrm>
            <a:off x="26725" y="1426394"/>
            <a:ext cx="12144000" cy="71438"/>
          </a:xfrm>
          <a:prstGeom prst="rect">
            <a:avLst/>
          </a:prstGeom>
          <a:solidFill>
            <a:schemeClr val="accent6">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pic>
        <p:nvPicPr>
          <p:cNvPr id="8" name="Picture 7"/>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559527" y="8872"/>
            <a:ext cx="1365658" cy="1390456"/>
          </a:xfrm>
          <a:prstGeom prst="rect">
            <a:avLst/>
          </a:prstGeom>
        </p:spPr>
      </p:pic>
      <p:sp>
        <p:nvSpPr>
          <p:cNvPr id="9" name="Text Box 11"/>
          <p:cNvSpPr txBox="1">
            <a:spLocks noChangeArrowheads="1"/>
          </p:cNvSpPr>
          <p:nvPr userDrawn="1"/>
        </p:nvSpPr>
        <p:spPr bwMode="auto">
          <a:xfrm>
            <a:off x="11622509" y="1052855"/>
            <a:ext cx="543739" cy="461665"/>
          </a:xfrm>
          <a:prstGeom prst="rect">
            <a:avLst/>
          </a:prstGeom>
          <a:noFill/>
          <a:ln w="9525">
            <a:noFill/>
            <a:miter lim="800000"/>
            <a:headEnd/>
            <a:tailEnd/>
          </a:ln>
          <a:effectLst/>
        </p:spPr>
        <p:txBody>
          <a:bodyPr wrap="none">
            <a:spAutoFit/>
          </a:bodyPr>
          <a:lstStyle/>
          <a:p>
            <a:fld id="{E4FF5167-E4CB-45F3-85CD-7EC8641D6DEE}" type="slidenum">
              <a:rPr lang="en-US" sz="2400" b="1">
                <a:solidFill>
                  <a:srgbClr val="FF0000"/>
                </a:solidFill>
              </a:rPr>
              <a:pPr/>
              <a:t>‹#›</a:t>
            </a:fld>
            <a:endParaRPr lang="en-US" sz="2400" b="1" dirty="0">
              <a:solidFill>
                <a:srgbClr val="FF0000"/>
              </a:solidFill>
            </a:endParaRPr>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7" r:id="rId3"/>
    <p:sldLayoutId id="2147483662" r:id="rId4"/>
    <p:sldLayoutId id="2147483663" r:id="rId5"/>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vig.cuilahore.edu.p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3" Type="http://schemas.openxmlformats.org/officeDocument/2006/relationships/hyperlink" Target="https://youtu.be/WgwURd6ClpQ?si=oJT9v-E1cwFIdVdK"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7.jpeg"/><Relationship Id="rId5" Type="http://schemas.openxmlformats.org/officeDocument/2006/relationships/hyperlink" Target="https://youtu.be/8Are9dDbW24?si=FTn-GDf8Ta3rfWke" TargetMode="Externa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10.wmf"/></Relationships>
</file>

<file path=ppt/slides/_rels/slide7.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Text Box 2"/>
          <p:cNvSpPr txBox="1">
            <a:spLocks noChangeArrowheads="1"/>
          </p:cNvSpPr>
          <p:nvPr/>
        </p:nvSpPr>
        <p:spPr bwMode="auto">
          <a:xfrm>
            <a:off x="2683040" y="272800"/>
            <a:ext cx="7575090" cy="923330"/>
          </a:xfrm>
          <a:prstGeom prst="rect">
            <a:avLst/>
          </a:prstGeom>
          <a:noFill/>
          <a:ln w="9525">
            <a:noFill/>
            <a:miter lim="800000"/>
            <a:headEnd/>
            <a:tailEnd/>
          </a:ln>
          <a:effectLst>
            <a:outerShdw dist="35921" dir="2700000" algn="ctr" rotWithShape="0">
              <a:schemeClr val="folHlink"/>
            </a:outerShdw>
          </a:effectLst>
        </p:spPr>
        <p:txBody>
          <a:bodyPr wrap="square">
            <a:spAutoFit/>
          </a:bodyPr>
          <a:lstStyle/>
          <a:p>
            <a:pPr>
              <a:defRPr/>
            </a:pPr>
            <a:r>
              <a:rPr lang="en-US" sz="5400" dirty="0">
                <a:solidFill>
                  <a:srgbClr val="FF0000"/>
                </a:solidFill>
              </a:rPr>
              <a:t>Human Visual System</a:t>
            </a:r>
          </a:p>
        </p:txBody>
      </p:sp>
      <p:sp>
        <p:nvSpPr>
          <p:cNvPr id="8" name="TextBox 7"/>
          <p:cNvSpPr txBox="1"/>
          <p:nvPr/>
        </p:nvSpPr>
        <p:spPr>
          <a:xfrm>
            <a:off x="4659087" y="1567544"/>
            <a:ext cx="3090911" cy="461665"/>
          </a:xfrm>
          <a:prstGeom prst="rect">
            <a:avLst/>
          </a:prstGeom>
          <a:noFill/>
        </p:spPr>
        <p:txBody>
          <a:bodyPr wrap="none" rtlCol="0">
            <a:spAutoFit/>
          </a:bodyPr>
          <a:lstStyle/>
          <a:p>
            <a:r>
              <a:rPr lang="en-US" i="1" dirty="0"/>
              <a:t>Last updated</a:t>
            </a:r>
            <a:r>
              <a:rPr lang="en-US" i="1"/>
              <a:t>: 8-5-2023</a:t>
            </a:r>
            <a:endParaRPr lang="en-US" i="1" dirty="0"/>
          </a:p>
        </p:txBody>
      </p:sp>
      <p:sp>
        <p:nvSpPr>
          <p:cNvPr id="10" name="Rectangle 9"/>
          <p:cNvSpPr/>
          <p:nvPr/>
        </p:nvSpPr>
        <p:spPr>
          <a:xfrm>
            <a:off x="171450" y="2542461"/>
            <a:ext cx="11620500" cy="1200329"/>
          </a:xfrm>
          <a:prstGeom prst="rect">
            <a:avLst/>
          </a:prstGeom>
        </p:spPr>
        <p:txBody>
          <a:bodyPr wrap="square">
            <a:spAutoFit/>
          </a:bodyPr>
          <a:lstStyle/>
          <a:p>
            <a:pPr algn="just"/>
            <a:r>
              <a:rPr lang="en-US" b="1" dirty="0"/>
              <a:t>$</a:t>
            </a:r>
            <a:r>
              <a:rPr lang="en-US" b="1" dirty="0" err="1"/>
              <a:t>Szeliski</a:t>
            </a:r>
            <a:r>
              <a:rPr lang="en-US" b="1" dirty="0"/>
              <a:t> </a:t>
            </a:r>
            <a:r>
              <a:rPr lang="en-US" dirty="0"/>
              <a:t>R.,</a:t>
            </a:r>
            <a:r>
              <a:rPr lang="en-US" b="1" dirty="0"/>
              <a:t> </a:t>
            </a:r>
            <a:r>
              <a:rPr lang="en-US" dirty="0"/>
              <a:t>Computer Vision, to be published by Springer, 2010</a:t>
            </a:r>
            <a:r>
              <a:rPr lang="en-US" b="1" dirty="0"/>
              <a:t>. </a:t>
            </a:r>
            <a:r>
              <a:rPr lang="en-US" dirty="0"/>
              <a:t>(Ch. 2)</a:t>
            </a:r>
          </a:p>
          <a:p>
            <a:pPr algn="just"/>
            <a:r>
              <a:rPr lang="en-US" b="1" dirty="0"/>
              <a:t>Gonzalez</a:t>
            </a:r>
            <a:r>
              <a:rPr lang="en-US" dirty="0"/>
              <a:t> R. C., Woods R. E., </a:t>
            </a:r>
            <a:r>
              <a:rPr lang="en-US" dirty="0" err="1"/>
              <a:t>Eddins</a:t>
            </a:r>
            <a:r>
              <a:rPr lang="en-US" dirty="0"/>
              <a:t> S. L., </a:t>
            </a:r>
            <a:r>
              <a:rPr lang="en-US" i="1" dirty="0"/>
              <a:t>Digital Image Processing</a:t>
            </a:r>
            <a:r>
              <a:rPr lang="en-US" dirty="0"/>
              <a:t>, Pearson Education, 3</a:t>
            </a:r>
            <a:r>
              <a:rPr lang="en-US" baseline="30000" dirty="0"/>
              <a:t>rd</a:t>
            </a:r>
            <a:r>
              <a:rPr lang="en-US" dirty="0"/>
              <a:t> edition, 2007. (Ch. 2)</a:t>
            </a:r>
          </a:p>
        </p:txBody>
      </p:sp>
      <p:sp>
        <p:nvSpPr>
          <p:cNvPr id="7" name="TextBox 6"/>
          <p:cNvSpPr txBox="1"/>
          <p:nvPr/>
        </p:nvSpPr>
        <p:spPr>
          <a:xfrm>
            <a:off x="238883" y="5363113"/>
            <a:ext cx="4616970" cy="1384995"/>
          </a:xfrm>
          <a:prstGeom prst="rect">
            <a:avLst/>
          </a:prstGeom>
          <a:solidFill>
            <a:srgbClr val="FFC000"/>
          </a:solidFill>
        </p:spPr>
        <p:txBody>
          <a:bodyPr wrap="none" rtlCol="0">
            <a:spAutoFit/>
          </a:bodyPr>
          <a:lstStyle/>
          <a:p>
            <a:r>
              <a:rPr lang="en-US" sz="2800" dirty="0">
                <a:cs typeface="Times New Roman" pitchFamily="18" charset="0"/>
              </a:rPr>
              <a:t># For the graduate level course</a:t>
            </a:r>
          </a:p>
          <a:p>
            <a:r>
              <a:rPr lang="en-US" sz="2800" dirty="0">
                <a:cs typeface="Times New Roman" pitchFamily="18" charset="0"/>
              </a:rPr>
              <a:t>@ For DIP students only</a:t>
            </a:r>
          </a:p>
          <a:p>
            <a:r>
              <a:rPr lang="en-US" sz="2800" dirty="0">
                <a:cs typeface="Times New Roman" pitchFamily="18" charset="0"/>
              </a:rPr>
              <a:t>$ For CV students only</a:t>
            </a:r>
          </a:p>
        </p:txBody>
      </p:sp>
      <p:sp>
        <p:nvSpPr>
          <p:cNvPr id="11" name="TextBox 10"/>
          <p:cNvSpPr txBox="1"/>
          <p:nvPr/>
        </p:nvSpPr>
        <p:spPr>
          <a:xfrm>
            <a:off x="7718773" y="5830844"/>
            <a:ext cx="4404796" cy="954107"/>
          </a:xfrm>
          <a:prstGeom prst="rect">
            <a:avLst/>
          </a:prstGeom>
          <a:solidFill>
            <a:schemeClr val="accent1">
              <a:lumMod val="75000"/>
            </a:schemeClr>
          </a:solidFill>
        </p:spPr>
        <p:txBody>
          <a:bodyPr wrap="non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effectLst/>
                <a:uLnTx/>
                <a:uFillTx/>
                <a:latin typeface="Times New Roman" pitchFamily="18" charset="0"/>
                <a:ea typeface="+mn-ea"/>
                <a:cs typeface="+mn-cs"/>
              </a:rPr>
              <a:t>Dr. Zulfiqar Habib, Professor</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0" i="1" u="none" strike="noStrike" kern="1200" cap="none" spc="0" normalizeH="0" baseline="0" noProof="0" dirty="0">
                <a:ln>
                  <a:noFill/>
                </a:ln>
                <a:effectLst/>
                <a:uLnTx/>
                <a:uFillTx/>
                <a:latin typeface="Times New Roman" pitchFamily="18" charset="0"/>
                <a:ea typeface="+mn-ea"/>
                <a:cs typeface="+mn-cs"/>
                <a:hlinkClick r:id="rId3"/>
              </a:rPr>
              <a:t>http://vig.cuilahore.edu.pk</a:t>
            </a:r>
            <a:r>
              <a:rPr kumimoji="0" lang="en-US" sz="2800" b="0" i="1" u="none" strike="noStrike" kern="1200" cap="none" spc="0" normalizeH="0" baseline="0" noProof="0" dirty="0">
                <a:ln>
                  <a:noFill/>
                </a:ln>
                <a:effectLst/>
                <a:uLnTx/>
                <a:uFillTx/>
                <a:latin typeface="Times New Roman" pitchFamily="18" charset="0"/>
                <a:ea typeface="+mn-ea"/>
                <a:cs typeface="+mn-cs"/>
              </a:rPr>
              <a:t> </a:t>
            </a:r>
          </a:p>
        </p:txBody>
      </p:sp>
    </p:spTree>
  </p:cSld>
  <p:clrMapOvr>
    <a:masterClrMapping/>
  </p:clrMapOvr>
  <p:transition advTm="17203"/>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6000" dirty="0"/>
              <a:t>Human Visual Limitations</a:t>
            </a:r>
          </a:p>
        </p:txBody>
      </p:sp>
      <p:sp>
        <p:nvSpPr>
          <p:cNvPr id="3" name="Hexagon 2">
            <a:extLst>
              <a:ext uri="{FF2B5EF4-FFF2-40B4-BE49-F238E27FC236}">
                <a16:creationId xmlns:a16="http://schemas.microsoft.com/office/drawing/2014/main" id="{B27CD735-3D98-8DDD-9AC0-4D417F0CA265}"/>
              </a:ext>
            </a:extLst>
          </p:cNvPr>
          <p:cNvSpPr/>
          <p:nvPr/>
        </p:nvSpPr>
        <p:spPr>
          <a:xfrm>
            <a:off x="9154328" y="1675715"/>
            <a:ext cx="2846328" cy="2385785"/>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New Roman" panose="02020603050405020304" pitchFamily="18" charset="0"/>
                <a:cs typeface="Times New Roman" panose="02020603050405020304" pitchFamily="18" charset="0"/>
              </a:rPr>
              <a:t>Interesting Facts</a:t>
            </a:r>
          </a:p>
        </p:txBody>
      </p:sp>
      <p:pic>
        <p:nvPicPr>
          <p:cNvPr id="2050" name="Picture 2" descr="No photo description available.">
            <a:extLst>
              <a:ext uri="{FF2B5EF4-FFF2-40B4-BE49-F238E27FC236}">
                <a16:creationId xmlns:a16="http://schemas.microsoft.com/office/drawing/2014/main" id="{2A6E3F30-9439-ED0E-85FE-5F6C3B7EA9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41" y="1519480"/>
            <a:ext cx="8879414" cy="532859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F1F007C7-3C5D-2641-E77E-EE58D3B7D59A}"/>
              </a:ext>
            </a:extLst>
          </p:cNvPr>
          <p:cNvSpPr txBox="1"/>
          <p:nvPr/>
        </p:nvSpPr>
        <p:spPr>
          <a:xfrm>
            <a:off x="9226336" y="5529426"/>
            <a:ext cx="2846328" cy="707886"/>
          </a:xfrm>
          <a:prstGeom prst="rect">
            <a:avLst/>
          </a:prstGeom>
          <a:noFill/>
        </p:spPr>
        <p:txBody>
          <a:bodyPr wrap="square">
            <a:spAutoFit/>
          </a:bodyPr>
          <a:lstStyle/>
          <a:p>
            <a:r>
              <a:rPr lang="ar-SA" sz="4000" dirty="0">
                <a:solidFill>
                  <a:srgbClr val="1D2129"/>
                </a:solidFill>
                <a:effectLst/>
                <a:ea typeface="Calibri" panose="020F0502020204030204" pitchFamily="34" charset="0"/>
                <a:cs typeface="Urdu Typesetting" panose="03020402040406030203" pitchFamily="66" charset="-78"/>
              </a:rPr>
              <a:t>جنات کا سائنسی تجزیہ</a:t>
            </a:r>
            <a:endParaRPr lang="en-US" sz="4000" dirty="0"/>
          </a:p>
        </p:txBody>
      </p:sp>
      <p:graphicFrame>
        <p:nvGraphicFramePr>
          <p:cNvPr id="4" name="Object 3">
            <a:extLst>
              <a:ext uri="{FF2B5EF4-FFF2-40B4-BE49-F238E27FC236}">
                <a16:creationId xmlns:a16="http://schemas.microsoft.com/office/drawing/2014/main" id="{3CC31681-4CAF-13A8-BE99-EC4864BC26ED}"/>
              </a:ext>
            </a:extLst>
          </p:cNvPr>
          <p:cNvGraphicFramePr>
            <a:graphicFrameLocks noChangeAspect="1"/>
          </p:cNvGraphicFramePr>
          <p:nvPr>
            <p:extLst>
              <p:ext uri="{D42A27DB-BD31-4B8C-83A1-F6EECF244321}">
                <p14:modId xmlns:p14="http://schemas.microsoft.com/office/powerpoint/2010/main" val="3164370258"/>
              </p:ext>
            </p:extLst>
          </p:nvPr>
        </p:nvGraphicFramePr>
        <p:xfrm>
          <a:off x="9848060" y="4182304"/>
          <a:ext cx="1538516" cy="1356886"/>
        </p:xfrm>
        <a:graphic>
          <a:graphicData uri="http://schemas.openxmlformats.org/presentationml/2006/ole">
            <mc:AlternateContent xmlns:mc="http://schemas.openxmlformats.org/markup-compatibility/2006">
              <mc:Choice xmlns:v="urn:schemas-microsoft-com:vml" Requires="v">
                <p:oleObj name="Acrobat Document" showAsIcon="1" r:id="rId4" imgW="914400" imgH="806400" progId="Acrobat.Document.11">
                  <p:embed/>
                </p:oleObj>
              </mc:Choice>
              <mc:Fallback>
                <p:oleObj name="Acrobat Document" showAsIcon="1" r:id="rId4" imgW="914400" imgH="806400" progId="Acrobat.Document.11">
                  <p:embed/>
                  <p:pic>
                    <p:nvPicPr>
                      <p:cNvPr id="4" name="Object 3">
                        <a:extLst>
                          <a:ext uri="{FF2B5EF4-FFF2-40B4-BE49-F238E27FC236}">
                            <a16:creationId xmlns:a16="http://schemas.microsoft.com/office/drawing/2014/main" id="{3CC31681-4CAF-13A8-BE99-EC4864BC26ED}"/>
                          </a:ext>
                        </a:extLst>
                      </p:cNvPr>
                      <p:cNvPicPr/>
                      <p:nvPr/>
                    </p:nvPicPr>
                    <p:blipFill>
                      <a:blip r:embed="rId5"/>
                      <a:stretch>
                        <a:fillRect/>
                      </a:stretch>
                    </p:blipFill>
                    <p:spPr>
                      <a:xfrm>
                        <a:off x="9848060" y="4182304"/>
                        <a:ext cx="1538516" cy="1356886"/>
                      </a:xfrm>
                      <a:prstGeom prst="rect">
                        <a:avLst/>
                      </a:prstGeom>
                    </p:spPr>
                  </p:pic>
                </p:oleObj>
              </mc:Fallback>
            </mc:AlternateContent>
          </a:graphicData>
        </a:graphic>
      </p:graphicFrame>
    </p:spTree>
    <p:extLst>
      <p:ext uri="{BB962C8B-B14F-4D97-AF65-F5344CB8AC3E}">
        <p14:creationId xmlns:p14="http://schemas.microsoft.com/office/powerpoint/2010/main" val="3501698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6000" dirty="0"/>
              <a:t>Human Visual Limitations</a:t>
            </a:r>
          </a:p>
        </p:txBody>
      </p:sp>
      <p:pic>
        <p:nvPicPr>
          <p:cNvPr id="1026" name="Picture 2">
            <a:hlinkClick r:id="rId3"/>
            <a:extLst>
              <a:ext uri="{FF2B5EF4-FFF2-40B4-BE49-F238E27FC236}">
                <a16:creationId xmlns:a16="http://schemas.microsoft.com/office/drawing/2014/main" id="{9B7D9BEE-6B9C-D006-FF3D-5A491BCEF5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7621" y="1405537"/>
            <a:ext cx="10056199" cy="54481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4489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1" name="Picture 3"/>
          <p:cNvPicPr>
            <a:picLocks noChangeAspect="1" noChangeArrowheads="1"/>
          </p:cNvPicPr>
          <p:nvPr/>
        </p:nvPicPr>
        <p:blipFill>
          <a:blip r:embed="rId3" cstate="print"/>
          <a:srcRect r="26706"/>
          <a:stretch/>
        </p:blipFill>
        <p:spPr bwMode="auto">
          <a:xfrm>
            <a:off x="1" y="1092950"/>
            <a:ext cx="5122258" cy="5827940"/>
          </a:xfrm>
          <a:prstGeom prst="rect">
            <a:avLst/>
          </a:prstGeom>
          <a:noFill/>
          <a:ln w="9525">
            <a:noFill/>
            <a:miter lim="800000"/>
            <a:headEnd/>
            <a:tailEnd/>
          </a:ln>
        </p:spPr>
      </p:pic>
      <p:sp>
        <p:nvSpPr>
          <p:cNvPr id="61442" name="Text Box 2"/>
          <p:cNvSpPr txBox="1">
            <a:spLocks noChangeArrowheads="1"/>
          </p:cNvSpPr>
          <p:nvPr/>
        </p:nvSpPr>
        <p:spPr bwMode="auto">
          <a:xfrm>
            <a:off x="2045186" y="304637"/>
            <a:ext cx="6401111" cy="707886"/>
          </a:xfrm>
          <a:prstGeom prst="rect">
            <a:avLst/>
          </a:prstGeom>
          <a:noFill/>
          <a:ln w="9525">
            <a:noFill/>
            <a:miter lim="800000"/>
            <a:headEnd/>
            <a:tailEnd/>
          </a:ln>
          <a:effectLst>
            <a:outerShdw dist="35921" dir="2700000" algn="ctr" rotWithShape="0">
              <a:schemeClr val="folHlink"/>
            </a:outerShdw>
          </a:effectLst>
        </p:spPr>
        <p:txBody>
          <a:bodyPr wrap="none">
            <a:spAutoFit/>
          </a:bodyPr>
          <a:lstStyle/>
          <a:p>
            <a:pPr>
              <a:defRPr/>
            </a:pPr>
            <a:r>
              <a:rPr lang="en-US" altLang="zh-TW" sz="4000" dirty="0">
                <a:solidFill>
                  <a:srgbClr val="FF0000"/>
                </a:solidFill>
                <a:latin typeface="+mj-lt"/>
                <a:ea typeface="新細明體" charset="-120"/>
              </a:rPr>
              <a:t>Elements of Visual Perception</a:t>
            </a:r>
            <a:endParaRPr lang="en-US" altLang="zh-TW" sz="4000" dirty="0">
              <a:latin typeface="+mj-lt"/>
              <a:ea typeface="新細明體" charset="-120"/>
            </a:endParaRPr>
          </a:p>
        </p:txBody>
      </p:sp>
      <p:sp>
        <p:nvSpPr>
          <p:cNvPr id="43012" name="Text Box 4"/>
          <p:cNvSpPr txBox="1">
            <a:spLocks noChangeArrowheads="1"/>
          </p:cNvSpPr>
          <p:nvPr/>
        </p:nvSpPr>
        <p:spPr bwMode="auto">
          <a:xfrm>
            <a:off x="5453904" y="1872733"/>
            <a:ext cx="2257425" cy="4154984"/>
          </a:xfrm>
          <a:prstGeom prst="rect">
            <a:avLst/>
          </a:prstGeom>
          <a:noFill/>
          <a:ln w="9525">
            <a:noFill/>
            <a:miter lim="800000"/>
            <a:headEnd/>
            <a:tailEnd/>
          </a:ln>
        </p:spPr>
        <p:txBody>
          <a:bodyPr>
            <a:spAutoFit/>
          </a:bodyPr>
          <a:lstStyle/>
          <a:p>
            <a:pPr marL="457200" indent="-457200">
              <a:buFont typeface="+mj-lt"/>
              <a:buAutoNum type="arabicPeriod"/>
            </a:pPr>
            <a:r>
              <a:rPr lang="en-US" altLang="zh-TW" dirty="0">
                <a:ea typeface="新細明體" pitchFamily="18" charset="-120"/>
              </a:rPr>
              <a:t>Cornea</a:t>
            </a:r>
          </a:p>
          <a:p>
            <a:pPr marL="457200" indent="-457200">
              <a:buFont typeface="+mj-lt"/>
              <a:buAutoNum type="arabicPeriod"/>
            </a:pPr>
            <a:r>
              <a:rPr lang="en-US" altLang="zh-TW" dirty="0">
                <a:ea typeface="新細明體" pitchFamily="18" charset="-120"/>
              </a:rPr>
              <a:t>Sclera</a:t>
            </a:r>
            <a:endParaRPr lang="zh-TW" altLang="en-US" dirty="0">
              <a:ea typeface="新細明體" pitchFamily="18" charset="-120"/>
            </a:endParaRPr>
          </a:p>
          <a:p>
            <a:pPr marL="457200" indent="-457200">
              <a:buFont typeface="+mj-lt"/>
              <a:buAutoNum type="arabicPeriod"/>
            </a:pPr>
            <a:r>
              <a:rPr lang="en-US" altLang="zh-TW" dirty="0">
                <a:ea typeface="新細明體" pitchFamily="18" charset="-120"/>
              </a:rPr>
              <a:t>Choroid</a:t>
            </a:r>
            <a:endParaRPr lang="zh-TW" altLang="en-US" dirty="0">
              <a:ea typeface="新細明體" pitchFamily="18" charset="-120"/>
            </a:endParaRPr>
          </a:p>
          <a:p>
            <a:pPr marL="457200" indent="-457200">
              <a:buFont typeface="+mj-lt"/>
              <a:buAutoNum type="arabicPeriod"/>
            </a:pPr>
            <a:r>
              <a:rPr lang="en-US" altLang="zh-TW" dirty="0">
                <a:ea typeface="新細明體" pitchFamily="18" charset="-120"/>
              </a:rPr>
              <a:t>Retina</a:t>
            </a:r>
            <a:endParaRPr lang="zh-TW" altLang="en-US" dirty="0">
              <a:ea typeface="新細明體" pitchFamily="18" charset="-120"/>
            </a:endParaRPr>
          </a:p>
          <a:p>
            <a:pPr marL="457200" indent="-457200">
              <a:buFont typeface="+mj-lt"/>
              <a:buAutoNum type="arabicPeriod"/>
            </a:pPr>
            <a:r>
              <a:rPr lang="en-US" altLang="zh-TW" dirty="0">
                <a:ea typeface="新細明體" pitchFamily="18" charset="-120"/>
              </a:rPr>
              <a:t>Iris</a:t>
            </a:r>
            <a:endParaRPr lang="zh-TW" altLang="en-US" dirty="0">
              <a:ea typeface="新細明體" pitchFamily="18" charset="-120"/>
            </a:endParaRPr>
          </a:p>
          <a:p>
            <a:pPr marL="457200" indent="-457200">
              <a:buFont typeface="+mj-lt"/>
              <a:buAutoNum type="arabicPeriod"/>
            </a:pPr>
            <a:r>
              <a:rPr lang="en-US" altLang="zh-TW" b="1" dirty="0">
                <a:solidFill>
                  <a:srgbClr val="FF0000"/>
                </a:solidFill>
                <a:ea typeface="新細明體" pitchFamily="18" charset="-120"/>
              </a:rPr>
              <a:t>Lens</a:t>
            </a:r>
            <a:endParaRPr lang="zh-TW" altLang="en-US" b="1" dirty="0">
              <a:solidFill>
                <a:srgbClr val="FF0000"/>
              </a:solidFill>
              <a:ea typeface="新細明體" pitchFamily="18" charset="-120"/>
            </a:endParaRPr>
          </a:p>
          <a:p>
            <a:pPr marL="457200" indent="-457200">
              <a:buFont typeface="+mj-lt"/>
              <a:buAutoNum type="arabicPeriod"/>
            </a:pPr>
            <a:r>
              <a:rPr lang="en-US" altLang="zh-TW" dirty="0">
                <a:ea typeface="新細明體" pitchFamily="18" charset="-120"/>
              </a:rPr>
              <a:t>Macula </a:t>
            </a:r>
            <a:r>
              <a:rPr lang="en-US" altLang="zh-TW" dirty="0" err="1">
                <a:ea typeface="新細明體" pitchFamily="18" charset="-120"/>
              </a:rPr>
              <a:t>lutea</a:t>
            </a:r>
            <a:endParaRPr lang="zh-TW" altLang="en-US" dirty="0">
              <a:ea typeface="新細明體" pitchFamily="18" charset="-120"/>
            </a:endParaRPr>
          </a:p>
          <a:p>
            <a:pPr marL="457200" indent="-457200">
              <a:buFont typeface="+mj-lt"/>
              <a:buAutoNum type="arabicPeriod"/>
            </a:pPr>
            <a:r>
              <a:rPr lang="en-US" altLang="zh-TW" b="1" dirty="0">
                <a:solidFill>
                  <a:srgbClr val="FF0000"/>
                </a:solidFill>
                <a:ea typeface="新細明體" pitchFamily="18" charset="-120"/>
              </a:rPr>
              <a:t>Fovea</a:t>
            </a:r>
            <a:endParaRPr lang="zh-TW" altLang="en-US" b="1" dirty="0">
              <a:solidFill>
                <a:srgbClr val="FF0000"/>
              </a:solidFill>
              <a:ea typeface="新細明體" pitchFamily="18" charset="-120"/>
            </a:endParaRPr>
          </a:p>
          <a:p>
            <a:pPr marL="457200" indent="-457200">
              <a:buFont typeface="+mj-lt"/>
              <a:buAutoNum type="arabicPeriod"/>
            </a:pPr>
            <a:r>
              <a:rPr lang="en-US" altLang="zh-TW" dirty="0">
                <a:ea typeface="新細明體" pitchFamily="18" charset="-120"/>
              </a:rPr>
              <a:t>Blind spot</a:t>
            </a:r>
            <a:endParaRPr lang="zh-TW" altLang="en-US" dirty="0">
              <a:ea typeface="新細明體" pitchFamily="18" charset="-120"/>
            </a:endParaRPr>
          </a:p>
          <a:p>
            <a:pPr marL="457200" indent="-457200">
              <a:buFont typeface="+mj-lt"/>
              <a:buAutoNum type="arabicPeriod"/>
            </a:pPr>
            <a:r>
              <a:rPr lang="en-US" altLang="zh-TW" b="1" dirty="0">
                <a:solidFill>
                  <a:srgbClr val="FF0000"/>
                </a:solidFill>
                <a:ea typeface="新細明體" pitchFamily="18" charset="-120"/>
              </a:rPr>
              <a:t>Rod</a:t>
            </a:r>
            <a:endParaRPr lang="zh-TW" altLang="en-US" b="1" dirty="0">
              <a:solidFill>
                <a:srgbClr val="FF0000"/>
              </a:solidFill>
              <a:ea typeface="新細明體" pitchFamily="18" charset="-120"/>
            </a:endParaRPr>
          </a:p>
          <a:p>
            <a:pPr marL="457200" indent="-457200">
              <a:buFont typeface="+mj-lt"/>
              <a:buAutoNum type="arabicPeriod"/>
            </a:pPr>
            <a:r>
              <a:rPr lang="en-US" altLang="zh-TW" b="1" dirty="0">
                <a:solidFill>
                  <a:srgbClr val="FF0000"/>
                </a:solidFill>
                <a:ea typeface="新細明體" pitchFamily="18" charset="-120"/>
              </a:rPr>
              <a:t>Cone</a:t>
            </a:r>
            <a:endParaRPr lang="zh-TW" altLang="en-US" b="1" dirty="0">
              <a:solidFill>
                <a:srgbClr val="FF0000"/>
              </a:solidFill>
              <a:ea typeface="新細明體" pitchFamily="18" charset="-120"/>
            </a:endParaRPr>
          </a:p>
        </p:txBody>
      </p:sp>
      <p:pic>
        <p:nvPicPr>
          <p:cNvPr id="55298" name="Picture 2" descr="http://www.buytaert.net/cache/images-miscellaneous-2006-eye-500x500.jpg"/>
          <p:cNvPicPr>
            <a:picLocks noChangeAspect="1" noChangeArrowheads="1"/>
          </p:cNvPicPr>
          <p:nvPr/>
        </p:nvPicPr>
        <p:blipFill>
          <a:blip r:embed="rId4" cstate="print"/>
          <a:srcRect/>
          <a:stretch>
            <a:fillRect/>
          </a:stretch>
        </p:blipFill>
        <p:spPr bwMode="auto">
          <a:xfrm>
            <a:off x="194209" y="229905"/>
            <a:ext cx="1648554" cy="1097937"/>
          </a:xfrm>
          <a:prstGeom prst="rect">
            <a:avLst/>
          </a:prstGeom>
          <a:noFill/>
        </p:spPr>
      </p:pic>
      <p:sp>
        <p:nvSpPr>
          <p:cNvPr id="2" name="Rectangle 1"/>
          <p:cNvSpPr/>
          <p:nvPr/>
        </p:nvSpPr>
        <p:spPr>
          <a:xfrm>
            <a:off x="3773878" y="6185680"/>
            <a:ext cx="4802918" cy="584775"/>
          </a:xfrm>
          <a:prstGeom prst="rect">
            <a:avLst/>
          </a:prstGeom>
        </p:spPr>
        <p:txBody>
          <a:bodyPr wrap="none">
            <a:spAutoFit/>
          </a:bodyPr>
          <a:lstStyle/>
          <a:p>
            <a:r>
              <a:rPr lang="en-US" altLang="en-US" sz="3200" dirty="0">
                <a:solidFill>
                  <a:srgbClr val="FF0000"/>
                </a:solidFill>
              </a:rPr>
              <a:t>The human eye is a camera!</a:t>
            </a:r>
          </a:p>
        </p:txBody>
      </p:sp>
      <p:pic>
        <p:nvPicPr>
          <p:cNvPr id="3" name="Picture 2">
            <a:hlinkClick r:id="rId5"/>
            <a:extLst>
              <a:ext uri="{FF2B5EF4-FFF2-40B4-BE49-F238E27FC236}">
                <a16:creationId xmlns:a16="http://schemas.microsoft.com/office/drawing/2014/main" id="{EF4BAD9A-A6EA-98A8-4F7A-79CB602E8AF4}"/>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42322" t="24746" r="38989" b="35475"/>
          <a:stretch/>
        </p:blipFill>
        <p:spPr bwMode="auto">
          <a:xfrm>
            <a:off x="9176620" y="3883431"/>
            <a:ext cx="2257424" cy="2702771"/>
          </a:xfrm>
          <a:prstGeom prst="rect">
            <a:avLst/>
          </a:prstGeom>
          <a:noFill/>
          <a:extLst>
            <a:ext uri="{909E8E84-426E-40DD-AFC4-6F175D3DCCD1}">
              <a14:hiddenFill xmlns:a14="http://schemas.microsoft.com/office/drawing/2010/main">
                <a:solidFill>
                  <a:srgbClr val="FFFFFF"/>
                </a:solidFill>
              </a14:hiddenFill>
            </a:ext>
          </a:extLst>
        </p:spPr>
      </p:pic>
      <p:sp>
        <p:nvSpPr>
          <p:cNvPr id="5" name="Flowchart: Off-page Connector 4">
            <a:extLst>
              <a:ext uri="{FF2B5EF4-FFF2-40B4-BE49-F238E27FC236}">
                <a16:creationId xmlns:a16="http://schemas.microsoft.com/office/drawing/2014/main" id="{109D43D1-435C-F579-5368-30EA02FB8EB1}"/>
              </a:ext>
            </a:extLst>
          </p:cNvPr>
          <p:cNvSpPr/>
          <p:nvPr/>
        </p:nvSpPr>
        <p:spPr bwMode="auto">
          <a:xfrm>
            <a:off x="9289655" y="2281954"/>
            <a:ext cx="1812616" cy="1351372"/>
          </a:xfrm>
          <a:prstGeom prst="flowChartOffpageConnector">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rPr>
              <a:t>Watch from 2 min of frame</a:t>
            </a:r>
            <a:endParaRPr kumimoji="0" lang="en-001" sz="2400" b="0" i="0" u="none" strike="noStrike" cap="none" normalizeH="0" baseline="0" dirty="0">
              <a:ln>
                <a:noFill/>
              </a:ln>
              <a:solidFill>
                <a:schemeClr val="tx1"/>
              </a:solidFill>
              <a:effectLst/>
              <a:latin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2514601" y="476250"/>
            <a:ext cx="4067175" cy="838200"/>
          </a:xfrm>
        </p:spPr>
        <p:txBody>
          <a:bodyPr/>
          <a:lstStyle/>
          <a:p>
            <a:pPr algn="l"/>
            <a:r>
              <a:rPr lang="en-US" altLang="en-US" dirty="0"/>
              <a:t>The Retina</a:t>
            </a:r>
          </a:p>
        </p:txBody>
      </p:sp>
      <p:pic>
        <p:nvPicPr>
          <p:cNvPr id="56323"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62225" y="1657350"/>
            <a:ext cx="6705600" cy="5037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3930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2533650" y="523875"/>
            <a:ext cx="7772400" cy="838200"/>
          </a:xfrm>
        </p:spPr>
        <p:txBody>
          <a:bodyPr/>
          <a:lstStyle/>
          <a:p>
            <a:pPr algn="l"/>
            <a:r>
              <a:rPr lang="en-US" altLang="en-US" dirty="0"/>
              <a:t>Retina Close-up</a:t>
            </a:r>
          </a:p>
        </p:txBody>
      </p:sp>
      <p:pic>
        <p:nvPicPr>
          <p:cNvPr id="1028" name="Picture 4" descr="https://faculty.washington.edu/chudler/gif/colf3.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2473" y="1669954"/>
            <a:ext cx="6776055" cy="473084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838212" y="2252260"/>
            <a:ext cx="1283038" cy="389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2633545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p:cNvPicPr>
            <a:picLocks noChangeAspect="1" noChangeArrowheads="1"/>
          </p:cNvPicPr>
          <p:nvPr/>
        </p:nvPicPr>
        <p:blipFill rotWithShape="1">
          <a:blip r:embed="rId2" cstate="print"/>
          <a:srcRect l="2947" r="26725"/>
          <a:stretch/>
        </p:blipFill>
        <p:spPr bwMode="auto">
          <a:xfrm>
            <a:off x="8001000" y="3610981"/>
            <a:ext cx="2739687" cy="3248637"/>
          </a:xfrm>
          <a:prstGeom prst="rect">
            <a:avLst/>
          </a:prstGeom>
          <a:noFill/>
          <a:ln w="9525">
            <a:noFill/>
            <a:miter lim="800000"/>
            <a:headEnd/>
            <a:tailEnd/>
          </a:ln>
        </p:spPr>
      </p:pic>
      <p:sp>
        <p:nvSpPr>
          <p:cNvPr id="62469" name="Rectangle 5"/>
          <p:cNvSpPr>
            <a:spLocks noGrp="1" noChangeArrowheads="1"/>
          </p:cNvSpPr>
          <p:nvPr>
            <p:ph type="body" idx="1"/>
          </p:nvPr>
        </p:nvSpPr>
        <p:spPr bwMode="auto">
          <a:xfrm>
            <a:off x="123825" y="1704976"/>
            <a:ext cx="8572499" cy="4525963"/>
          </a:xfrm>
          <a:noFill/>
          <a:ln>
            <a:miter lim="800000"/>
            <a:headEnd/>
            <a:tailEnd/>
          </a:ln>
        </p:spPr>
        <p:txBody>
          <a:bodyPr vert="horz" wrap="square" lIns="91440" tIns="45720" rIns="91440" bIns="45720" numCol="1" anchor="t" anchorCtr="0" compatLnSpc="1">
            <a:prstTxWarp prst="textNoShape">
              <a:avLst/>
            </a:prstTxWarp>
          </a:bodyPr>
          <a:lstStyle/>
          <a:p>
            <a:pPr>
              <a:lnSpc>
                <a:spcPct val="90000"/>
              </a:lnSpc>
            </a:pPr>
            <a:r>
              <a:rPr lang="en-US" altLang="zh-TW" sz="2400" dirty="0">
                <a:ea typeface="新細明體" pitchFamily="18" charset="-120"/>
              </a:rPr>
              <a:t>Pattern vision is afforded by the distribution of </a:t>
            </a:r>
            <a:r>
              <a:rPr lang="en-US" altLang="zh-TW" sz="2400" dirty="0">
                <a:solidFill>
                  <a:srgbClr val="FF0000"/>
                </a:solidFill>
                <a:ea typeface="新細明體" pitchFamily="18" charset="-120"/>
              </a:rPr>
              <a:t>discrete light receptors</a:t>
            </a:r>
            <a:r>
              <a:rPr lang="en-US" altLang="zh-TW" sz="2400" dirty="0">
                <a:ea typeface="新細明體" pitchFamily="18" charset="-120"/>
              </a:rPr>
              <a:t> over the surface of the retina.</a:t>
            </a:r>
          </a:p>
          <a:p>
            <a:pPr>
              <a:lnSpc>
                <a:spcPct val="90000"/>
              </a:lnSpc>
            </a:pPr>
            <a:r>
              <a:rPr lang="en-US" altLang="zh-TW" sz="2400" dirty="0">
                <a:ea typeface="新細明體" pitchFamily="18" charset="-120"/>
              </a:rPr>
              <a:t>There are two classes of receptors: </a:t>
            </a:r>
            <a:r>
              <a:rPr lang="en-US" altLang="zh-TW" sz="2400" dirty="0">
                <a:solidFill>
                  <a:srgbClr val="FF0000"/>
                </a:solidFill>
                <a:ea typeface="新細明體" pitchFamily="18" charset="-120"/>
              </a:rPr>
              <a:t>cones and rods</a:t>
            </a:r>
            <a:r>
              <a:rPr lang="en-US" altLang="zh-TW" sz="2400" dirty="0">
                <a:ea typeface="新細明體" pitchFamily="18" charset="-120"/>
              </a:rPr>
              <a:t>.</a:t>
            </a:r>
          </a:p>
          <a:p>
            <a:pPr lvl="1">
              <a:lnSpc>
                <a:spcPct val="90000"/>
              </a:lnSpc>
            </a:pPr>
            <a:r>
              <a:rPr lang="en-US" altLang="zh-TW" sz="2400" dirty="0">
                <a:ea typeface="新細明體" pitchFamily="18" charset="-120"/>
              </a:rPr>
              <a:t>The number of cones in each eye: 6 to 7 millions</a:t>
            </a:r>
          </a:p>
          <a:p>
            <a:pPr lvl="1">
              <a:lnSpc>
                <a:spcPct val="90000"/>
              </a:lnSpc>
            </a:pPr>
            <a:r>
              <a:rPr lang="en-US" altLang="zh-TW" sz="2400" dirty="0">
                <a:ea typeface="新細明體" pitchFamily="18" charset="-120"/>
              </a:rPr>
              <a:t>The number of rods in each eye: 75 to 150 millions</a:t>
            </a:r>
          </a:p>
          <a:p>
            <a:pPr lvl="1">
              <a:lnSpc>
                <a:spcPct val="90000"/>
              </a:lnSpc>
            </a:pPr>
            <a:r>
              <a:rPr lang="en-US" altLang="zh-TW" sz="2400" dirty="0">
                <a:ea typeface="新細明體" pitchFamily="18" charset="-120"/>
              </a:rPr>
              <a:t>The</a:t>
            </a:r>
            <a:r>
              <a:rPr lang="en-US" altLang="zh-CN" sz="2400" dirty="0">
                <a:ea typeface="宋体" pitchFamily="2" charset="-122"/>
              </a:rPr>
              <a:t> cones</a:t>
            </a:r>
            <a:r>
              <a:rPr lang="en-US" altLang="zh-TW" sz="2400" dirty="0">
                <a:ea typeface="新細明體" pitchFamily="18" charset="-120"/>
              </a:rPr>
              <a:t> are concentrated</a:t>
            </a:r>
            <a:r>
              <a:rPr lang="en-US" altLang="zh-CN" sz="2400" dirty="0">
                <a:ea typeface="宋体" pitchFamily="2" charset="-122"/>
              </a:rPr>
              <a:t> in the </a:t>
            </a:r>
            <a:r>
              <a:rPr lang="en-US" altLang="zh-TW" sz="2400" dirty="0">
                <a:ea typeface="新細明體" pitchFamily="18" charset="-120"/>
              </a:rPr>
              <a:t>central portion of the retina (fovea).</a:t>
            </a:r>
          </a:p>
          <a:p>
            <a:pPr lvl="1">
              <a:lnSpc>
                <a:spcPct val="90000"/>
              </a:lnSpc>
            </a:pPr>
            <a:r>
              <a:rPr lang="en-US" altLang="zh-TW" sz="2400" dirty="0">
                <a:ea typeface="新細明體" pitchFamily="18" charset="-120"/>
              </a:rPr>
              <a:t>The rods are distributed over the retinal surface.</a:t>
            </a:r>
          </a:p>
        </p:txBody>
      </p:sp>
      <p:pic>
        <p:nvPicPr>
          <p:cNvPr id="4"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97837" y="1704976"/>
            <a:ext cx="1283038" cy="389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 Box 2">
            <a:extLst>
              <a:ext uri="{FF2B5EF4-FFF2-40B4-BE49-F238E27FC236}">
                <a16:creationId xmlns:a16="http://schemas.microsoft.com/office/drawing/2014/main" id="{9882CCCA-2AE8-8670-FFD3-AEE2FD0228A9}"/>
              </a:ext>
            </a:extLst>
          </p:cNvPr>
          <p:cNvSpPr txBox="1">
            <a:spLocks noChangeArrowheads="1"/>
          </p:cNvSpPr>
          <p:nvPr/>
        </p:nvSpPr>
        <p:spPr bwMode="auto">
          <a:xfrm>
            <a:off x="146283" y="335049"/>
            <a:ext cx="8681868" cy="923330"/>
          </a:xfrm>
          <a:prstGeom prst="rect">
            <a:avLst/>
          </a:prstGeom>
          <a:noFill/>
          <a:ln w="9525">
            <a:noFill/>
            <a:miter lim="800000"/>
            <a:headEnd/>
            <a:tailEnd/>
          </a:ln>
          <a:effectLst>
            <a:outerShdw dist="35921" dir="2700000" algn="ctr" rotWithShape="0">
              <a:schemeClr val="folHlink"/>
            </a:outerShdw>
          </a:effectLst>
        </p:spPr>
        <p:txBody>
          <a:bodyPr wrap="square">
            <a:spAutoFit/>
          </a:bodyPr>
          <a:lstStyle/>
          <a:p>
            <a:r>
              <a:rPr lang="en-US" altLang="zh-TW" sz="5400" dirty="0">
                <a:ea typeface="新細明體" pitchFamily="18" charset="-120"/>
              </a:rPr>
              <a:t>Structure of the Human Eye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9" name="Rectangle 5"/>
          <p:cNvSpPr>
            <a:spLocks noGrp="1" noChangeArrowheads="1"/>
          </p:cNvSpPr>
          <p:nvPr>
            <p:ph type="body" idx="1"/>
          </p:nvPr>
        </p:nvSpPr>
        <p:spPr bwMode="auto">
          <a:xfrm>
            <a:off x="133350" y="1600201"/>
            <a:ext cx="11049000" cy="4991669"/>
          </a:xfrm>
          <a:noFill/>
          <a:ln>
            <a:miter lim="800000"/>
            <a:headEnd/>
            <a:tailEnd/>
          </a:ln>
        </p:spPr>
        <p:txBody>
          <a:bodyPr vert="horz" wrap="square" lIns="91440" tIns="45720" rIns="91440" bIns="45720" numCol="1" anchor="t" anchorCtr="0" compatLnSpc="1">
            <a:prstTxWarp prst="textNoShape">
              <a:avLst/>
            </a:prstTxWarp>
          </a:bodyPr>
          <a:lstStyle/>
          <a:p>
            <a:pPr>
              <a:lnSpc>
                <a:spcPct val="90000"/>
              </a:lnSpc>
            </a:pPr>
            <a:r>
              <a:rPr lang="en-US" altLang="zh-CN" sz="2800" b="1" dirty="0" err="1">
                <a:ea typeface="宋体" pitchFamily="2" charset="-122"/>
              </a:rPr>
              <a:t>Photopic</a:t>
            </a:r>
            <a:r>
              <a:rPr lang="en-US" altLang="zh-CN" sz="2800" dirty="0">
                <a:ea typeface="宋体" pitchFamily="2" charset="-122"/>
              </a:rPr>
              <a:t> </a:t>
            </a:r>
            <a:r>
              <a:rPr lang="en-US" altLang="zh-TW" sz="2800" dirty="0">
                <a:ea typeface="新細明體" pitchFamily="18" charset="-120"/>
              </a:rPr>
              <a:t>(bright-light) </a:t>
            </a:r>
            <a:r>
              <a:rPr lang="en-US" altLang="zh-CN" sz="2800" dirty="0">
                <a:ea typeface="宋体" pitchFamily="2" charset="-122"/>
              </a:rPr>
              <a:t>vision: </a:t>
            </a:r>
            <a:r>
              <a:rPr lang="en-US" altLang="zh-CN" sz="2800" b="1" dirty="0">
                <a:ea typeface="宋体" pitchFamily="2" charset="-122"/>
              </a:rPr>
              <a:t>vision with cones</a:t>
            </a:r>
            <a:endParaRPr lang="en-US" altLang="zh-TW" sz="2800" b="1" dirty="0">
              <a:ea typeface="新細明體" pitchFamily="18" charset="-120"/>
            </a:endParaRPr>
          </a:p>
          <a:p>
            <a:pPr lvl="1">
              <a:lnSpc>
                <a:spcPct val="90000"/>
              </a:lnSpc>
            </a:pPr>
            <a:r>
              <a:rPr lang="en-US" altLang="zh-CN" sz="2400" dirty="0">
                <a:ea typeface="宋体" pitchFamily="2" charset="-122"/>
              </a:rPr>
              <a:t>Color receptors: highly sensitive to colors but less sensitive to light.</a:t>
            </a:r>
            <a:endParaRPr lang="en-US" altLang="zh-TW" sz="2400" dirty="0">
              <a:ea typeface="新細明體" pitchFamily="18" charset="-120"/>
            </a:endParaRPr>
          </a:p>
          <a:p>
            <a:pPr lvl="1">
              <a:lnSpc>
                <a:spcPct val="90000"/>
              </a:lnSpc>
            </a:pPr>
            <a:r>
              <a:rPr lang="en-US" altLang="zh-TW" sz="2400" dirty="0">
                <a:ea typeface="新細明體" pitchFamily="18" charset="-120"/>
              </a:rPr>
              <a:t>Each cone is connected to its own nerve end, therefore human can resolve fine details of colors.</a:t>
            </a:r>
            <a:endParaRPr lang="en-US" altLang="zh-CN" sz="2400" dirty="0">
              <a:ea typeface="宋体" pitchFamily="2" charset="-122"/>
            </a:endParaRPr>
          </a:p>
          <a:p>
            <a:pPr lvl="1">
              <a:lnSpc>
                <a:spcPct val="90000"/>
              </a:lnSpc>
            </a:pPr>
            <a:r>
              <a:rPr lang="en-US" altLang="zh-CN" sz="2400" dirty="0">
                <a:ea typeface="宋体" pitchFamily="2" charset="-122"/>
              </a:rPr>
              <a:t>High resolution in the fovea.</a:t>
            </a:r>
          </a:p>
          <a:p>
            <a:pPr lvl="1">
              <a:lnSpc>
                <a:spcPct val="90000"/>
              </a:lnSpc>
            </a:pPr>
            <a:r>
              <a:rPr lang="en-US" altLang="zh-CN" sz="2400" dirty="0">
                <a:ea typeface="宋体" pitchFamily="2" charset="-122"/>
              </a:rPr>
              <a:t>Color blind, lower resolution</a:t>
            </a:r>
          </a:p>
          <a:p>
            <a:pPr>
              <a:lnSpc>
                <a:spcPct val="90000"/>
              </a:lnSpc>
            </a:pPr>
            <a:r>
              <a:rPr lang="en-US" altLang="zh-CN" sz="2800" b="1" dirty="0" err="1">
                <a:ea typeface="宋体" pitchFamily="2" charset="-122"/>
              </a:rPr>
              <a:t>Scotopic</a:t>
            </a:r>
            <a:r>
              <a:rPr lang="en-US" altLang="zh-CN" sz="2800" dirty="0">
                <a:ea typeface="宋体" pitchFamily="2" charset="-122"/>
              </a:rPr>
              <a:t> </a:t>
            </a:r>
            <a:r>
              <a:rPr lang="en-US" altLang="zh-TW" sz="2800" dirty="0">
                <a:ea typeface="新細明體" pitchFamily="18" charset="-120"/>
              </a:rPr>
              <a:t>(dim-light) </a:t>
            </a:r>
            <a:r>
              <a:rPr lang="en-US" altLang="zh-CN" sz="2800" dirty="0">
                <a:ea typeface="宋体" pitchFamily="2" charset="-122"/>
              </a:rPr>
              <a:t>vision: </a:t>
            </a:r>
            <a:r>
              <a:rPr lang="en-US" altLang="zh-CN" sz="2800" b="1" dirty="0">
                <a:ea typeface="宋体" pitchFamily="2" charset="-122"/>
              </a:rPr>
              <a:t>vision with rods</a:t>
            </a:r>
            <a:endParaRPr lang="en-US" altLang="zh-TW" sz="2800" b="1" dirty="0">
              <a:ea typeface="新細明體" pitchFamily="18" charset="-120"/>
            </a:endParaRPr>
          </a:p>
          <a:p>
            <a:pPr lvl="1">
              <a:lnSpc>
                <a:spcPct val="90000"/>
              </a:lnSpc>
            </a:pPr>
            <a:r>
              <a:rPr lang="en-US" altLang="zh-CN" sz="2400" dirty="0">
                <a:ea typeface="宋体" pitchFamily="2" charset="-122"/>
              </a:rPr>
              <a:t>Give a general overall picture of field of view, not involved in color vision</a:t>
            </a:r>
          </a:p>
          <a:p>
            <a:pPr lvl="1">
              <a:lnSpc>
                <a:spcPct val="90000"/>
              </a:lnSpc>
            </a:pPr>
            <a:r>
              <a:rPr lang="en-US" altLang="zh-CN" sz="2400" dirty="0">
                <a:ea typeface="宋体" pitchFamily="2" charset="-122"/>
              </a:rPr>
              <a:t>Much more sensitive to light (night vision)</a:t>
            </a:r>
          </a:p>
          <a:p>
            <a:pPr lvl="1">
              <a:lnSpc>
                <a:spcPct val="90000"/>
              </a:lnSpc>
            </a:pPr>
            <a:r>
              <a:rPr lang="en-US" altLang="zh-CN" sz="2400" dirty="0">
                <a:ea typeface="宋体" pitchFamily="2" charset="-122"/>
              </a:rPr>
              <a:t>Several rods are connected to a single nerve</a:t>
            </a:r>
          </a:p>
        </p:txBody>
      </p:sp>
      <p:sp>
        <p:nvSpPr>
          <p:cNvPr id="2" name="Text Box 2">
            <a:extLst>
              <a:ext uri="{FF2B5EF4-FFF2-40B4-BE49-F238E27FC236}">
                <a16:creationId xmlns:a16="http://schemas.microsoft.com/office/drawing/2014/main" id="{1352049E-96A7-7D71-5DB8-034F5C43BA88}"/>
              </a:ext>
            </a:extLst>
          </p:cNvPr>
          <p:cNvSpPr txBox="1">
            <a:spLocks noChangeArrowheads="1"/>
          </p:cNvSpPr>
          <p:nvPr/>
        </p:nvSpPr>
        <p:spPr bwMode="auto">
          <a:xfrm>
            <a:off x="146283" y="335049"/>
            <a:ext cx="8681868" cy="923330"/>
          </a:xfrm>
          <a:prstGeom prst="rect">
            <a:avLst/>
          </a:prstGeom>
          <a:noFill/>
          <a:ln w="9525">
            <a:noFill/>
            <a:miter lim="800000"/>
            <a:headEnd/>
            <a:tailEnd/>
          </a:ln>
          <a:effectLst>
            <a:outerShdw dist="35921" dir="2700000" algn="ctr" rotWithShape="0">
              <a:schemeClr val="folHlink"/>
            </a:outerShdw>
          </a:effectLst>
        </p:spPr>
        <p:txBody>
          <a:bodyPr wrap="square">
            <a:spAutoFit/>
          </a:bodyPr>
          <a:lstStyle/>
          <a:p>
            <a:r>
              <a:rPr lang="en-US" altLang="zh-TW" sz="5400" dirty="0">
                <a:ea typeface="新細明體" pitchFamily="18" charset="-120"/>
              </a:rPr>
              <a:t>Structure of the Human Eye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3" cstate="print"/>
          <a:srcRect/>
          <a:stretch>
            <a:fillRect/>
          </a:stretch>
        </p:blipFill>
        <p:spPr bwMode="auto">
          <a:xfrm>
            <a:off x="4908551" y="2713039"/>
            <a:ext cx="5713413" cy="4137025"/>
          </a:xfrm>
          <a:prstGeom prst="rect">
            <a:avLst/>
          </a:prstGeom>
          <a:noFill/>
          <a:ln w="9525">
            <a:noFill/>
            <a:miter lim="800000"/>
            <a:headEnd/>
            <a:tailEnd/>
          </a:ln>
        </p:spPr>
      </p:pic>
      <p:sp>
        <p:nvSpPr>
          <p:cNvPr id="14340" name="Rectangle 4"/>
          <p:cNvSpPr>
            <a:spLocks noGrp="1" noChangeArrowheads="1"/>
          </p:cNvSpPr>
          <p:nvPr>
            <p:ph type="body" idx="1"/>
          </p:nvPr>
        </p:nvSpPr>
        <p:spPr bwMode="auto">
          <a:xfrm>
            <a:off x="133350" y="1600201"/>
            <a:ext cx="11544300" cy="4525963"/>
          </a:xfrm>
          <a:noFill/>
          <a:ln>
            <a:miter lim="800000"/>
            <a:headEnd/>
            <a:tailEnd/>
          </a:ln>
        </p:spPr>
        <p:txBody>
          <a:bodyPr vert="horz" wrap="square" lIns="91440" tIns="45720" rIns="91440" bIns="45720" numCol="1" anchor="t" anchorCtr="0" compatLnSpc="1">
            <a:prstTxWarp prst="textNoShape">
              <a:avLst/>
            </a:prstTxWarp>
          </a:bodyPr>
          <a:lstStyle/>
          <a:p>
            <a:pPr>
              <a:buFont typeface="Wingdings" pitchFamily="2" charset="2"/>
              <a:buChar char="v"/>
            </a:pPr>
            <a:r>
              <a:rPr lang="en-US" altLang="zh-CN" sz="2000" dirty="0">
                <a:ea typeface="宋体" pitchFamily="2" charset="-122"/>
              </a:rPr>
              <a:t>Color is sensed by the eye using </a:t>
            </a:r>
            <a:r>
              <a:rPr lang="en-US" altLang="zh-CN" sz="2000" dirty="0">
                <a:solidFill>
                  <a:srgbClr val="FF0000"/>
                </a:solidFill>
                <a:ea typeface="宋体" pitchFamily="2" charset="-122"/>
              </a:rPr>
              <a:t>three kinds of cones</a:t>
            </a:r>
            <a:r>
              <a:rPr lang="en-US" altLang="zh-CN" sz="2000" dirty="0">
                <a:ea typeface="宋体" pitchFamily="2" charset="-122"/>
              </a:rPr>
              <a:t>, each sensitive primarily to </a:t>
            </a:r>
            <a:r>
              <a:rPr lang="en-US" altLang="zh-CN" sz="2000" dirty="0">
                <a:solidFill>
                  <a:srgbClr val="FF0000"/>
                </a:solidFill>
                <a:ea typeface="宋体" pitchFamily="2" charset="-122"/>
              </a:rPr>
              <a:t>red</a:t>
            </a:r>
            <a:r>
              <a:rPr lang="en-US" altLang="zh-CN" sz="2000" dirty="0">
                <a:ea typeface="宋体" pitchFamily="2" charset="-122"/>
              </a:rPr>
              <a:t>, </a:t>
            </a:r>
            <a:r>
              <a:rPr lang="en-US" altLang="zh-CN" sz="2000" dirty="0">
                <a:solidFill>
                  <a:srgbClr val="FF0000"/>
                </a:solidFill>
                <a:ea typeface="宋体" pitchFamily="2" charset="-122"/>
              </a:rPr>
              <a:t>green</a:t>
            </a:r>
            <a:r>
              <a:rPr lang="en-US" altLang="zh-CN" sz="2000" dirty="0">
                <a:ea typeface="宋体" pitchFamily="2" charset="-122"/>
              </a:rPr>
              <a:t> or </a:t>
            </a:r>
            <a:r>
              <a:rPr lang="en-US" altLang="zh-CN" sz="2000" dirty="0">
                <a:solidFill>
                  <a:srgbClr val="FF0000"/>
                </a:solidFill>
                <a:ea typeface="宋体" pitchFamily="2" charset="-122"/>
              </a:rPr>
              <a:t>blue</a:t>
            </a:r>
            <a:r>
              <a:rPr lang="en-US" altLang="zh-CN" sz="2000" dirty="0">
                <a:ea typeface="宋体" pitchFamily="2" charset="-122"/>
              </a:rPr>
              <a:t>, though there is significant overlap. </a:t>
            </a:r>
            <a:endParaRPr lang="en-US" altLang="zh-TW" sz="2000" dirty="0">
              <a:ea typeface="新細明體" pitchFamily="18" charset="-120"/>
            </a:endParaRPr>
          </a:p>
          <a:p>
            <a:pPr>
              <a:buFont typeface="Wingdings" pitchFamily="2" charset="2"/>
              <a:buChar char="v"/>
            </a:pPr>
            <a:r>
              <a:rPr lang="en-US" altLang="zh-CN" sz="2000" dirty="0">
                <a:ea typeface="宋体" pitchFamily="2" charset="-122"/>
              </a:rPr>
              <a:t>The International Commission on Illumination in 1931, referred to red, green and blue	as the </a:t>
            </a:r>
            <a:r>
              <a:rPr lang="en-US" altLang="zh-CN" sz="2000" dirty="0">
                <a:solidFill>
                  <a:srgbClr val="FF0000"/>
                </a:solidFill>
                <a:ea typeface="宋体" pitchFamily="2" charset="-122"/>
              </a:rPr>
              <a:t>primary colors</a:t>
            </a:r>
            <a:r>
              <a:rPr lang="en-US" altLang="zh-CN" sz="2000" dirty="0">
                <a:ea typeface="宋体" pitchFamily="2" charset="-122"/>
              </a:rPr>
              <a:t>, </a:t>
            </a:r>
          </a:p>
          <a:p>
            <a:pPr>
              <a:buFontTx/>
              <a:buNone/>
            </a:pPr>
            <a:r>
              <a:rPr lang="en-US" altLang="zh-CN" sz="2000" dirty="0">
                <a:ea typeface="宋体" pitchFamily="2" charset="-122"/>
              </a:rPr>
              <a:t>	and denote to set as RGB:</a:t>
            </a:r>
          </a:p>
          <a:p>
            <a:pPr>
              <a:buFontTx/>
              <a:buNone/>
            </a:pPr>
            <a:r>
              <a:rPr lang="en-US" altLang="zh-CN" sz="2000" dirty="0">
                <a:ea typeface="宋体" pitchFamily="2" charset="-122"/>
              </a:rPr>
              <a:t>	</a:t>
            </a:r>
            <a:r>
              <a:rPr lang="en-US" altLang="zh-TW" sz="2000" dirty="0">
                <a:ea typeface="新細明體" pitchFamily="18" charset="-120"/>
              </a:rPr>
              <a:t>blue = 435.8nm</a:t>
            </a:r>
          </a:p>
          <a:p>
            <a:pPr>
              <a:buFontTx/>
              <a:buNone/>
            </a:pPr>
            <a:r>
              <a:rPr lang="en-US" altLang="zh-TW" sz="2000" dirty="0">
                <a:ea typeface="新細明體" pitchFamily="18" charset="-120"/>
              </a:rPr>
              <a:t>    	green = 546.1nm</a:t>
            </a:r>
          </a:p>
          <a:p>
            <a:pPr>
              <a:buFontTx/>
              <a:buNone/>
            </a:pPr>
            <a:r>
              <a:rPr lang="en-US" altLang="zh-TW" sz="2000" dirty="0">
                <a:ea typeface="新細明體" pitchFamily="18" charset="-120"/>
              </a:rPr>
              <a:t>    	red = 700nm</a:t>
            </a:r>
          </a:p>
          <a:p>
            <a:pPr>
              <a:buFont typeface="Wingdings" pitchFamily="2" charset="2"/>
              <a:buChar char="v"/>
            </a:pPr>
            <a:r>
              <a:rPr lang="en-US" altLang="zh-TW" sz="2000" dirty="0">
                <a:ea typeface="新細明體" pitchFamily="18" charset="-120"/>
              </a:rPr>
              <a:t>Approximately:</a:t>
            </a:r>
          </a:p>
          <a:p>
            <a:pPr>
              <a:buFontTx/>
              <a:buNone/>
            </a:pPr>
            <a:r>
              <a:rPr lang="en-US" altLang="zh-TW" sz="2000" dirty="0">
                <a:ea typeface="新細明體" pitchFamily="18" charset="-120"/>
              </a:rPr>
              <a:t>	65% cones are sensitive to red</a:t>
            </a:r>
          </a:p>
          <a:p>
            <a:pPr>
              <a:buFontTx/>
              <a:buNone/>
            </a:pPr>
            <a:r>
              <a:rPr lang="en-US" altLang="zh-TW" sz="2000" dirty="0">
                <a:ea typeface="新細明體" pitchFamily="18" charset="-120"/>
              </a:rPr>
              <a:t>	33% cones are sensitive to green</a:t>
            </a:r>
          </a:p>
          <a:p>
            <a:pPr>
              <a:buFontTx/>
              <a:buNone/>
            </a:pPr>
            <a:r>
              <a:rPr lang="en-US" altLang="zh-TW" sz="2000" dirty="0">
                <a:ea typeface="新細明體" pitchFamily="18" charset="-120"/>
              </a:rPr>
              <a:t>	2% cones are sensitive to blue</a:t>
            </a:r>
          </a:p>
          <a:p>
            <a:pPr>
              <a:buFontTx/>
              <a:buNone/>
            </a:pPr>
            <a:r>
              <a:rPr lang="en-US" altLang="zh-TW" sz="2000" dirty="0">
                <a:ea typeface="新細明體" pitchFamily="18" charset="-120"/>
              </a:rPr>
              <a:t>	(but the blue cones are most sensitive)</a:t>
            </a:r>
          </a:p>
        </p:txBody>
      </p:sp>
      <p:sp>
        <p:nvSpPr>
          <p:cNvPr id="14341" name="TextBox 4"/>
          <p:cNvSpPr txBox="1">
            <a:spLocks noChangeArrowheads="1"/>
          </p:cNvSpPr>
          <p:nvPr/>
        </p:nvSpPr>
        <p:spPr bwMode="auto">
          <a:xfrm>
            <a:off x="9083676" y="3001963"/>
            <a:ext cx="1325563" cy="1016000"/>
          </a:xfrm>
          <a:prstGeom prst="rect">
            <a:avLst/>
          </a:prstGeom>
          <a:solidFill>
            <a:srgbClr val="FFC000"/>
          </a:solidFill>
          <a:ln w="9525">
            <a:solidFill>
              <a:srgbClr val="C00000"/>
            </a:solidFill>
            <a:miter lim="800000"/>
            <a:headEnd/>
            <a:tailEnd/>
          </a:ln>
        </p:spPr>
        <p:txBody>
          <a:bodyPr>
            <a:spAutoFit/>
          </a:bodyPr>
          <a:lstStyle/>
          <a:p>
            <a:pPr algn="ctr"/>
            <a:r>
              <a:rPr lang="en-US" sz="2000" dirty="0"/>
              <a:t>Improved analysis in 1965</a:t>
            </a:r>
          </a:p>
        </p:txBody>
      </p:sp>
      <p:sp>
        <p:nvSpPr>
          <p:cNvPr id="2" name="Text Box 2">
            <a:extLst>
              <a:ext uri="{FF2B5EF4-FFF2-40B4-BE49-F238E27FC236}">
                <a16:creationId xmlns:a16="http://schemas.microsoft.com/office/drawing/2014/main" id="{E94BD2CB-BA09-C9BE-7C50-BB606A7A6AC3}"/>
              </a:ext>
            </a:extLst>
          </p:cNvPr>
          <p:cNvSpPr txBox="1">
            <a:spLocks noChangeArrowheads="1"/>
          </p:cNvSpPr>
          <p:nvPr/>
        </p:nvSpPr>
        <p:spPr bwMode="auto">
          <a:xfrm>
            <a:off x="146283" y="335049"/>
            <a:ext cx="8681868" cy="923330"/>
          </a:xfrm>
          <a:prstGeom prst="rect">
            <a:avLst/>
          </a:prstGeom>
          <a:noFill/>
          <a:ln w="9525">
            <a:noFill/>
            <a:miter lim="800000"/>
            <a:headEnd/>
            <a:tailEnd/>
          </a:ln>
          <a:effectLst>
            <a:outerShdw dist="35921" dir="2700000" algn="ctr" rotWithShape="0">
              <a:schemeClr val="folHlink"/>
            </a:outerShdw>
          </a:effectLst>
        </p:spPr>
        <p:txBody>
          <a:bodyPr wrap="square">
            <a:spAutoFit/>
          </a:bodyPr>
          <a:lstStyle/>
          <a:p>
            <a:r>
              <a:rPr lang="en-US" altLang="zh-TW" sz="5400" dirty="0">
                <a:ea typeface="新細明體" pitchFamily="18" charset="-120"/>
              </a:rPr>
              <a:t>Structure of the Human Eye</a:t>
            </a:r>
          </a:p>
        </p:txBody>
      </p:sp>
    </p:spTree>
    <p:extLst>
      <p:ext uri="{BB962C8B-B14F-4D97-AF65-F5344CB8AC3E}">
        <p14:creationId xmlns:p14="http://schemas.microsoft.com/office/powerpoint/2010/main" val="6410989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5725" y="1724025"/>
            <a:ext cx="6705600"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1676401" y="2785214"/>
            <a:ext cx="2069690" cy="954107"/>
          </a:xfrm>
          <a:prstGeom prst="rect">
            <a:avLst/>
          </a:prstGeom>
        </p:spPr>
        <p:txBody>
          <a:bodyPr wrap="square">
            <a:spAutoFit/>
          </a:bodyPr>
          <a:lstStyle/>
          <a:p>
            <a:r>
              <a:rPr lang="en-US" altLang="en-US" sz="2800" dirty="0"/>
              <a:t>Rod / Cone sensitivity</a:t>
            </a:r>
            <a:endParaRPr lang="en-GB" sz="2800" dirty="0"/>
          </a:p>
        </p:txBody>
      </p:sp>
      <p:sp>
        <p:nvSpPr>
          <p:cNvPr id="2" name="Text Box 2">
            <a:extLst>
              <a:ext uri="{FF2B5EF4-FFF2-40B4-BE49-F238E27FC236}">
                <a16:creationId xmlns:a16="http://schemas.microsoft.com/office/drawing/2014/main" id="{A1C07020-8656-BBD4-47D0-15CCC55647D9}"/>
              </a:ext>
            </a:extLst>
          </p:cNvPr>
          <p:cNvSpPr txBox="1">
            <a:spLocks noChangeArrowheads="1"/>
          </p:cNvSpPr>
          <p:nvPr/>
        </p:nvSpPr>
        <p:spPr bwMode="auto">
          <a:xfrm>
            <a:off x="146283" y="335049"/>
            <a:ext cx="8681868" cy="923330"/>
          </a:xfrm>
          <a:prstGeom prst="rect">
            <a:avLst/>
          </a:prstGeom>
          <a:noFill/>
          <a:ln w="9525">
            <a:noFill/>
            <a:miter lim="800000"/>
            <a:headEnd/>
            <a:tailEnd/>
          </a:ln>
          <a:effectLst>
            <a:outerShdw dist="35921" dir="2700000" algn="ctr" rotWithShape="0">
              <a:schemeClr val="folHlink"/>
            </a:outerShdw>
          </a:effectLst>
        </p:spPr>
        <p:txBody>
          <a:bodyPr wrap="square">
            <a:spAutoFit/>
          </a:bodyPr>
          <a:lstStyle/>
          <a:p>
            <a:r>
              <a:rPr lang="en-US" altLang="zh-TW" sz="5400" dirty="0">
                <a:ea typeface="新細明體" pitchFamily="18" charset="-120"/>
              </a:rPr>
              <a:t>Structure of the Human Eye</a:t>
            </a:r>
          </a:p>
        </p:txBody>
      </p:sp>
    </p:spTree>
    <p:extLst>
      <p:ext uri="{BB962C8B-B14F-4D97-AF65-F5344CB8AC3E}">
        <p14:creationId xmlns:p14="http://schemas.microsoft.com/office/powerpoint/2010/main" val="13006530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2"/>
          <p:cNvSpPr txBox="1">
            <a:spLocks noChangeArrowheads="1"/>
          </p:cNvSpPr>
          <p:nvPr/>
        </p:nvSpPr>
        <p:spPr bwMode="auto">
          <a:xfrm>
            <a:off x="146283" y="335049"/>
            <a:ext cx="8681868" cy="923330"/>
          </a:xfrm>
          <a:prstGeom prst="rect">
            <a:avLst/>
          </a:prstGeom>
          <a:noFill/>
          <a:ln w="9525">
            <a:noFill/>
            <a:miter lim="800000"/>
            <a:headEnd/>
            <a:tailEnd/>
          </a:ln>
          <a:effectLst>
            <a:outerShdw dist="35921" dir="2700000" algn="ctr" rotWithShape="0">
              <a:schemeClr val="folHlink"/>
            </a:outerShdw>
          </a:effectLst>
        </p:spPr>
        <p:txBody>
          <a:bodyPr wrap="square">
            <a:spAutoFit/>
          </a:bodyPr>
          <a:lstStyle/>
          <a:p>
            <a:r>
              <a:rPr lang="en-US" altLang="zh-TW" sz="5400" dirty="0">
                <a:ea typeface="新細明體" pitchFamily="18" charset="-120"/>
              </a:rPr>
              <a:t>Structure of the Human Eye</a:t>
            </a:r>
          </a:p>
        </p:txBody>
      </p:sp>
      <p:pic>
        <p:nvPicPr>
          <p:cNvPr id="1026" name="Picture 2" descr="2. Density distribution of retinal rods and cones. A retinal image is shown above the density plot. The scale and positions of the fovea and blind spot are aligned to match the density plot. Illustration by J Thaung.  ">
            <a:extLst>
              <a:ext uri="{FF2B5EF4-FFF2-40B4-BE49-F238E27FC236}">
                <a16:creationId xmlns:a16="http://schemas.microsoft.com/office/drawing/2014/main" id="{D7172B08-CEBE-38AA-CAEA-2900EC9BB1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8097" y="1730748"/>
            <a:ext cx="8096250" cy="501015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78556" y="1718356"/>
            <a:ext cx="6028601" cy="646331"/>
          </a:xfrm>
          <a:prstGeom prst="rect">
            <a:avLst/>
          </a:prstGeom>
        </p:spPr>
        <p:txBody>
          <a:bodyPr wrap="square">
            <a:spAutoFit/>
          </a:bodyPr>
          <a:lstStyle/>
          <a:p>
            <a:r>
              <a:rPr lang="en-US" altLang="en-US" sz="3600" dirty="0">
                <a:latin typeface="+mj-lt"/>
              </a:rPr>
              <a:t>Distribution of Rods and Cones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95250" y="1590096"/>
            <a:ext cx="7448550" cy="4093428"/>
          </a:xfrm>
          <a:prstGeom prst="rect">
            <a:avLst/>
          </a:prstGeom>
          <a:noFill/>
        </p:spPr>
        <p:txBody>
          <a:bodyPr wrap="square" rtlCol="0">
            <a:spAutoFit/>
          </a:bodyPr>
          <a:lstStyle/>
          <a:p>
            <a:pPr algn="just">
              <a:spcBef>
                <a:spcPts val="600"/>
              </a:spcBef>
            </a:pPr>
            <a:r>
              <a:rPr lang="en-US" dirty="0"/>
              <a:t>Fovea can be viewed as a square sensor array of size 1.5 mm x 1.5 mm.</a:t>
            </a:r>
          </a:p>
          <a:p>
            <a:pPr algn="just">
              <a:spcBef>
                <a:spcPts val="600"/>
              </a:spcBef>
            </a:pPr>
            <a:r>
              <a:rPr lang="en-US" dirty="0"/>
              <a:t>The density of cones in this square is approximately 150,000 elements per mm</a:t>
            </a:r>
            <a:r>
              <a:rPr lang="en-US" baseline="30000" dirty="0"/>
              <a:t>2</a:t>
            </a:r>
            <a:endParaRPr lang="en-US" dirty="0"/>
          </a:p>
          <a:p>
            <a:pPr algn="just">
              <a:spcBef>
                <a:spcPts val="600"/>
              </a:spcBef>
            </a:pPr>
            <a:r>
              <a:rPr lang="en-US" dirty="0"/>
              <a:t>The number of cones in the region of highest acuity in the eye is about </a:t>
            </a:r>
          </a:p>
          <a:p>
            <a:pPr algn="just">
              <a:spcBef>
                <a:spcPts val="600"/>
              </a:spcBef>
            </a:pPr>
            <a:r>
              <a:rPr lang="en-US" dirty="0"/>
              <a:t>1.5 x 1.5 x 150000 = 337,000 elements</a:t>
            </a:r>
          </a:p>
          <a:p>
            <a:pPr algn="just">
              <a:spcBef>
                <a:spcPts val="600"/>
              </a:spcBef>
            </a:pPr>
            <a:r>
              <a:rPr lang="en-US" dirty="0"/>
              <a:t>CCD (charge-coupled-device) of medium resolution can have same density (150,000 elements per mm</a:t>
            </a:r>
            <a:r>
              <a:rPr lang="en-US" baseline="30000" dirty="0"/>
              <a:t>2</a:t>
            </a:r>
            <a:r>
              <a:rPr lang="en-US" dirty="0"/>
              <a:t>), with size no more than 5mm x 5mm</a:t>
            </a:r>
          </a:p>
        </p:txBody>
      </p:sp>
      <p:pic>
        <p:nvPicPr>
          <p:cNvPr id="7" name="Picture 3"/>
          <p:cNvPicPr>
            <a:picLocks noChangeAspect="1" noChangeArrowheads="1"/>
          </p:cNvPicPr>
          <p:nvPr/>
        </p:nvPicPr>
        <p:blipFill>
          <a:blip r:embed="rId2" cstate="print"/>
          <a:srcRect r="25787"/>
          <a:stretch>
            <a:fillRect/>
          </a:stretch>
        </p:blipFill>
        <p:spPr bwMode="auto">
          <a:xfrm>
            <a:off x="7543800" y="1542471"/>
            <a:ext cx="4557849" cy="5126850"/>
          </a:xfrm>
          <a:prstGeom prst="rect">
            <a:avLst/>
          </a:prstGeom>
          <a:noFill/>
          <a:ln w="9525">
            <a:noFill/>
            <a:miter lim="800000"/>
            <a:headEnd/>
            <a:tailEnd/>
          </a:ln>
        </p:spPr>
      </p:pic>
      <p:sp>
        <p:nvSpPr>
          <p:cNvPr id="2" name="Text Box 2">
            <a:extLst>
              <a:ext uri="{FF2B5EF4-FFF2-40B4-BE49-F238E27FC236}">
                <a16:creationId xmlns:a16="http://schemas.microsoft.com/office/drawing/2014/main" id="{51D81BFB-4FA7-BB3B-E227-732A0EFB73C9}"/>
              </a:ext>
            </a:extLst>
          </p:cNvPr>
          <p:cNvSpPr txBox="1">
            <a:spLocks noChangeArrowheads="1"/>
          </p:cNvSpPr>
          <p:nvPr/>
        </p:nvSpPr>
        <p:spPr bwMode="auto">
          <a:xfrm>
            <a:off x="146283" y="335049"/>
            <a:ext cx="8681868" cy="923330"/>
          </a:xfrm>
          <a:prstGeom prst="rect">
            <a:avLst/>
          </a:prstGeom>
          <a:noFill/>
          <a:ln w="9525">
            <a:noFill/>
            <a:miter lim="800000"/>
            <a:headEnd/>
            <a:tailEnd/>
          </a:ln>
          <a:effectLst>
            <a:outerShdw dist="35921" dir="2700000" algn="ctr" rotWithShape="0">
              <a:schemeClr val="folHlink"/>
            </a:outerShdw>
          </a:effectLst>
        </p:spPr>
        <p:txBody>
          <a:bodyPr wrap="square">
            <a:spAutoFit/>
          </a:bodyPr>
          <a:lstStyle/>
          <a:p>
            <a:r>
              <a:rPr lang="en-US" altLang="zh-TW" sz="5400" dirty="0">
                <a:ea typeface="新細明體" pitchFamily="18" charset="-120"/>
              </a:rPr>
              <a:t>Structure of the Human Eye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3279316" y="425766"/>
            <a:ext cx="4993675" cy="584775"/>
          </a:xfrm>
          <a:prstGeom prst="rect">
            <a:avLst/>
          </a:prstGeom>
          <a:noFill/>
          <a:ln w="9525">
            <a:noFill/>
            <a:miter lim="800000"/>
            <a:headEnd/>
            <a:tailEnd/>
          </a:ln>
          <a:effectLst>
            <a:outerShdw dist="35921" dir="2700000" algn="ctr" rotWithShape="0">
              <a:schemeClr val="folHlink"/>
            </a:outerShdw>
          </a:effectLst>
        </p:spPr>
        <p:txBody>
          <a:bodyPr wrap="none">
            <a:spAutoFit/>
          </a:bodyPr>
          <a:lstStyle/>
          <a:p>
            <a:r>
              <a:rPr lang="en-US" altLang="zh-TW" sz="3200" dirty="0">
                <a:solidFill>
                  <a:srgbClr val="FF0000"/>
                </a:solidFill>
                <a:ea typeface="新細明體" pitchFamily="18" charset="-120"/>
              </a:rPr>
              <a:t>#Image Formation in the Eye</a:t>
            </a:r>
            <a:endParaRPr lang="en-US" altLang="zh-TW" sz="3200" dirty="0">
              <a:ea typeface="新細明體" pitchFamily="18" charset="-120"/>
            </a:endParaRPr>
          </a:p>
        </p:txBody>
      </p:sp>
      <p:pic>
        <p:nvPicPr>
          <p:cNvPr id="30723" name="Picture 3"/>
          <p:cNvPicPr>
            <a:picLocks noChangeAspect="1" noChangeArrowheads="1"/>
          </p:cNvPicPr>
          <p:nvPr/>
        </p:nvPicPr>
        <p:blipFill>
          <a:blip r:embed="rId2" cstate="print"/>
          <a:srcRect/>
          <a:stretch>
            <a:fillRect/>
          </a:stretch>
        </p:blipFill>
        <p:spPr bwMode="auto">
          <a:xfrm>
            <a:off x="261265" y="1868803"/>
            <a:ext cx="11544610" cy="2807971"/>
          </a:xfrm>
          <a:prstGeom prst="rect">
            <a:avLst/>
          </a:prstGeom>
          <a:noFill/>
          <a:ln w="9525">
            <a:noFill/>
            <a:miter lim="800000"/>
            <a:headEnd/>
            <a:tailEnd/>
          </a:ln>
          <a:effectLst/>
        </p:spPr>
      </p:pic>
      <p:sp>
        <p:nvSpPr>
          <p:cNvPr id="30725" name="Rectangle 5"/>
          <p:cNvSpPr>
            <a:spLocks noGrp="1" noChangeArrowheads="1"/>
          </p:cNvSpPr>
          <p:nvPr>
            <p:ph type="body" idx="1"/>
          </p:nvPr>
        </p:nvSpPr>
        <p:spPr bwMode="auto">
          <a:xfrm>
            <a:off x="333375" y="4810125"/>
            <a:ext cx="11506199" cy="1981976"/>
          </a:xfrm>
          <a:noFill/>
          <a:ln>
            <a:miter lim="800000"/>
            <a:headEnd/>
            <a:tailEnd/>
          </a:ln>
        </p:spPr>
        <p:txBody>
          <a:bodyPr vert="horz" wrap="square" lIns="91440" tIns="45720" rIns="91440" bIns="45720" numCol="1" anchor="t" anchorCtr="0" compatLnSpc="1">
            <a:prstTxWarp prst="textNoShape">
              <a:avLst/>
            </a:prstTxWarp>
          </a:bodyPr>
          <a:lstStyle/>
          <a:p>
            <a:pPr>
              <a:lnSpc>
                <a:spcPct val="90000"/>
              </a:lnSpc>
            </a:pPr>
            <a:r>
              <a:rPr lang="en-US" altLang="zh-TW" sz="2400" dirty="0">
                <a:ea typeface="新細明體" pitchFamily="18" charset="-120"/>
              </a:rPr>
              <a:t>Focal length of the eye: 17 to 14 mm, depending on distance of object, above 3m (lowest refractive power) or below 3m (strongest refractive power), resp.</a:t>
            </a:r>
          </a:p>
          <a:p>
            <a:pPr>
              <a:lnSpc>
                <a:spcPct val="90000"/>
              </a:lnSpc>
            </a:pPr>
            <a:r>
              <a:rPr lang="en-US" altLang="zh-TW" sz="2400" dirty="0">
                <a:ea typeface="新細明體" pitchFamily="18" charset="-120"/>
              </a:rPr>
              <a:t>Let </a:t>
            </a:r>
            <a:r>
              <a:rPr lang="en-US" altLang="zh-TW" sz="2400" i="1" dirty="0">
                <a:ea typeface="新細明體" pitchFamily="18" charset="-120"/>
              </a:rPr>
              <a:t>h</a:t>
            </a:r>
            <a:r>
              <a:rPr lang="en-US" altLang="zh-TW" sz="2400" dirty="0">
                <a:ea typeface="新細明體" pitchFamily="18" charset="-120"/>
              </a:rPr>
              <a:t> be the height in mm of that object in the retinal image, then</a:t>
            </a:r>
          </a:p>
          <a:p>
            <a:pPr>
              <a:lnSpc>
                <a:spcPct val="90000"/>
              </a:lnSpc>
              <a:buFontTx/>
              <a:buNone/>
            </a:pPr>
            <a:r>
              <a:rPr lang="en-US" altLang="zh-TW" sz="2400" dirty="0">
                <a:ea typeface="新細明體" pitchFamily="18" charset="-120"/>
              </a:rPr>
              <a:t>             15/100 = </a:t>
            </a:r>
            <a:r>
              <a:rPr lang="en-US" altLang="zh-TW" sz="2400" i="1" dirty="0">
                <a:ea typeface="新細明體" pitchFamily="18" charset="-120"/>
              </a:rPr>
              <a:t>h</a:t>
            </a:r>
            <a:r>
              <a:rPr lang="en-US" altLang="zh-TW" sz="2400" dirty="0">
                <a:ea typeface="新細明體" pitchFamily="18" charset="-120"/>
              </a:rPr>
              <a:t> / 17 , </a:t>
            </a:r>
            <a:r>
              <a:rPr lang="en-US" altLang="zh-TW" sz="2400" i="1" dirty="0">
                <a:ea typeface="新細明體" pitchFamily="18" charset="-120"/>
              </a:rPr>
              <a:t>h</a:t>
            </a:r>
            <a:r>
              <a:rPr lang="en-US" altLang="zh-TW" sz="2400" dirty="0">
                <a:ea typeface="新細明體" pitchFamily="18" charset="-120"/>
              </a:rPr>
              <a:t> = 2.55mm</a:t>
            </a:r>
          </a:p>
          <a:p>
            <a:pPr>
              <a:lnSpc>
                <a:spcPct val="90000"/>
              </a:lnSpc>
            </a:pPr>
            <a:r>
              <a:rPr lang="en-US" altLang="zh-TW" sz="2400" dirty="0">
                <a:ea typeface="新細明體" pitchFamily="18" charset="-120"/>
              </a:rPr>
              <a:t>The retinal image is reflected primarily in the area of the fovea.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0725">
                                            <p:bg/>
                                          </p:spTgt>
                                        </p:tgtEl>
                                        <p:attrNameLst>
                                          <p:attrName>style.visibility</p:attrName>
                                        </p:attrNameLst>
                                      </p:cBhvr>
                                      <p:to>
                                        <p:strVal val="visible"/>
                                      </p:to>
                                    </p:set>
                                    <p:anim calcmode="lin" valueType="num">
                                      <p:cBhvr additive="base">
                                        <p:cTn id="7" dur="500" fill="hold"/>
                                        <p:tgtEl>
                                          <p:spTgt spid="30725">
                                            <p:bg/>
                                          </p:spTgt>
                                        </p:tgtEl>
                                        <p:attrNameLst>
                                          <p:attrName>ppt_x</p:attrName>
                                        </p:attrNameLst>
                                      </p:cBhvr>
                                      <p:tavLst>
                                        <p:tav tm="0">
                                          <p:val>
                                            <p:strVal val="1+#ppt_w/2"/>
                                          </p:val>
                                        </p:tav>
                                        <p:tav tm="100000">
                                          <p:val>
                                            <p:strVal val="#ppt_x"/>
                                          </p:val>
                                        </p:tav>
                                      </p:tavLst>
                                    </p:anim>
                                    <p:anim calcmode="lin" valueType="num">
                                      <p:cBhvr additive="base">
                                        <p:cTn id="8" dur="500" fill="hold"/>
                                        <p:tgtEl>
                                          <p:spTgt spid="30725">
                                            <p:bg/>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30725">
                                            <p:txEl>
                                              <p:pRg st="0" end="0"/>
                                            </p:txEl>
                                          </p:spTgt>
                                        </p:tgtEl>
                                        <p:attrNameLst>
                                          <p:attrName>style.visibility</p:attrName>
                                        </p:attrNameLst>
                                      </p:cBhvr>
                                      <p:to>
                                        <p:strVal val="visible"/>
                                      </p:to>
                                    </p:set>
                                    <p:anim calcmode="lin" valueType="num">
                                      <p:cBhvr additive="base">
                                        <p:cTn id="11" dur="500" fill="hold"/>
                                        <p:tgtEl>
                                          <p:spTgt spid="30725">
                                            <p:txEl>
                                              <p:pRg st="0" end="0"/>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30725">
                                            <p:txEl>
                                              <p:pRg st="0" end="0"/>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30725">
                                            <p:txEl>
                                              <p:pRg st="1" end="1"/>
                                            </p:txEl>
                                          </p:spTgt>
                                        </p:tgtEl>
                                        <p:attrNameLst>
                                          <p:attrName>style.visibility</p:attrName>
                                        </p:attrNameLst>
                                      </p:cBhvr>
                                      <p:to>
                                        <p:strVal val="visible"/>
                                      </p:to>
                                    </p:set>
                                    <p:anim calcmode="lin" valueType="num">
                                      <p:cBhvr additive="base">
                                        <p:cTn id="15" dur="500" fill="hold"/>
                                        <p:tgtEl>
                                          <p:spTgt spid="30725">
                                            <p:txEl>
                                              <p:pRg st="1" end="1"/>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30725">
                                            <p:txEl>
                                              <p:pRg st="1" end="1"/>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30725">
                                            <p:txEl>
                                              <p:pRg st="2" end="2"/>
                                            </p:txEl>
                                          </p:spTgt>
                                        </p:tgtEl>
                                        <p:attrNameLst>
                                          <p:attrName>style.visibility</p:attrName>
                                        </p:attrNameLst>
                                      </p:cBhvr>
                                      <p:to>
                                        <p:strVal val="visible"/>
                                      </p:to>
                                    </p:set>
                                    <p:anim calcmode="lin" valueType="num">
                                      <p:cBhvr additive="base">
                                        <p:cTn id="19" dur="500" fill="hold"/>
                                        <p:tgtEl>
                                          <p:spTgt spid="3072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0725">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30725">
                                            <p:txEl>
                                              <p:pRg st="3" end="3"/>
                                            </p:txEl>
                                          </p:spTgt>
                                        </p:tgtEl>
                                        <p:attrNameLst>
                                          <p:attrName>style.visibility</p:attrName>
                                        </p:attrNameLst>
                                      </p:cBhvr>
                                      <p:to>
                                        <p:strVal val="visible"/>
                                      </p:to>
                                    </p:set>
                                    <p:anim calcmode="lin" valueType="num">
                                      <p:cBhvr additive="base">
                                        <p:cTn id="23" dur="500" fill="hold"/>
                                        <p:tgtEl>
                                          <p:spTgt spid="30725">
                                            <p:txEl>
                                              <p:pRg st="3" end="3"/>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3072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5" grpId="0" build="p"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9" name="Rectangle 5"/>
          <p:cNvSpPr>
            <a:spLocks noGrp="1" noChangeArrowheads="1"/>
          </p:cNvSpPr>
          <p:nvPr>
            <p:ph type="body" idx="1"/>
          </p:nvPr>
        </p:nvSpPr>
        <p:spPr bwMode="auto">
          <a:xfrm>
            <a:off x="171450" y="1688526"/>
            <a:ext cx="11553825" cy="3064449"/>
          </a:xfrm>
          <a:noFill/>
          <a:ln>
            <a:miter lim="800000"/>
            <a:headEnd/>
            <a:tailEnd/>
          </a:ln>
        </p:spPr>
        <p:txBody>
          <a:bodyPr vert="horz" wrap="square" lIns="91440" tIns="45720" rIns="91440" bIns="45720" numCol="1" anchor="t" anchorCtr="0" compatLnSpc="1">
            <a:prstTxWarp prst="textNoShape">
              <a:avLst/>
            </a:prstTxWarp>
          </a:bodyPr>
          <a:lstStyle/>
          <a:p>
            <a:pPr marL="514350" indent="-514350" algn="just">
              <a:lnSpc>
                <a:spcPct val="90000"/>
              </a:lnSpc>
              <a:spcBef>
                <a:spcPts val="1200"/>
              </a:spcBef>
              <a:buAutoNum type="arabicPeriod"/>
            </a:pPr>
            <a:r>
              <a:rPr lang="en-US" altLang="zh-CN" sz="2800" dirty="0">
                <a:ea typeface="宋体" pitchFamily="2" charset="-122"/>
              </a:rPr>
              <a:t>Why the objects appear brightly colored in day-light when seen by moonlight appear as colorless forms?</a:t>
            </a:r>
          </a:p>
          <a:p>
            <a:pPr marL="514350" indent="-514350" algn="just">
              <a:lnSpc>
                <a:spcPct val="90000"/>
              </a:lnSpc>
              <a:spcBef>
                <a:spcPts val="1200"/>
              </a:spcBef>
              <a:buFontTx/>
              <a:buAutoNum type="arabicPeriod"/>
            </a:pPr>
            <a:r>
              <a:rPr lang="en-US" altLang="zh-CN" sz="2800" dirty="0">
                <a:ea typeface="宋体" pitchFamily="2" charset="-122"/>
              </a:rPr>
              <a:t>[1, P2.1] Estimate the diameter of the smallest printed dot that the eye can discern if the page on which the dot is printed is 0.2 m away from the eyes. (Ans. 0.0186 mm approx.)</a:t>
            </a:r>
          </a:p>
          <a:p>
            <a:pPr marL="0" indent="0" algn="just">
              <a:lnSpc>
                <a:spcPct val="90000"/>
              </a:lnSpc>
              <a:spcBef>
                <a:spcPts val="1200"/>
              </a:spcBef>
              <a:buNone/>
            </a:pPr>
            <a:r>
              <a:rPr lang="en-US" altLang="zh-CN" sz="2800" dirty="0">
                <a:ea typeface="宋体" pitchFamily="2" charset="-122"/>
              </a:rPr>
              <a:t>Hint: </a:t>
            </a:r>
            <a:r>
              <a:rPr lang="en-US" altLang="zh-CN" sz="2400" dirty="0">
                <a:ea typeface="宋体" pitchFamily="2" charset="-122"/>
              </a:rPr>
              <a:t>We can think of the fovea as a square sensor array of 1.5mm x 1.5mm having on the order of 337,000 elements (cones), which translates into an array of size 580x580 elements. Assuming equal spacing between elements, this gives 580 elements and 579 spaces on a line 1.5 mm long, making diameter of cone 1.5/(580+579) mm. </a:t>
            </a:r>
          </a:p>
        </p:txBody>
      </p:sp>
      <p:sp>
        <p:nvSpPr>
          <p:cNvPr id="5" name="Text Box 2"/>
          <p:cNvSpPr txBox="1">
            <a:spLocks noChangeArrowheads="1"/>
          </p:cNvSpPr>
          <p:nvPr/>
        </p:nvSpPr>
        <p:spPr bwMode="auto">
          <a:xfrm>
            <a:off x="3834490" y="348114"/>
            <a:ext cx="2345514" cy="769441"/>
          </a:xfrm>
          <a:prstGeom prst="rect">
            <a:avLst/>
          </a:prstGeom>
          <a:noFill/>
          <a:ln w="9525">
            <a:noFill/>
            <a:miter lim="800000"/>
            <a:headEnd/>
            <a:tailEnd/>
          </a:ln>
          <a:effectLst>
            <a:outerShdw dist="35921" dir="2700000" algn="ctr" rotWithShape="0">
              <a:schemeClr val="folHlink"/>
            </a:outerShdw>
          </a:effectLst>
        </p:spPr>
        <p:txBody>
          <a:bodyPr wrap="none">
            <a:spAutoFit/>
          </a:bodyPr>
          <a:lstStyle/>
          <a:p>
            <a:pPr algn="ctr"/>
            <a:r>
              <a:rPr lang="en-US" altLang="zh-TW" sz="4400" dirty="0">
                <a:ea typeface="新細明體" pitchFamily="18" charset="-120"/>
              </a:rPr>
              <a:t>Exercises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9" name="Rectangle 5"/>
          <p:cNvSpPr>
            <a:spLocks noGrp="1" noChangeArrowheads="1"/>
          </p:cNvSpPr>
          <p:nvPr>
            <p:ph type="body" idx="1"/>
          </p:nvPr>
        </p:nvSpPr>
        <p:spPr bwMode="auto">
          <a:xfrm>
            <a:off x="200025" y="1751114"/>
            <a:ext cx="11582399" cy="3312099"/>
          </a:xfrm>
          <a:noFill/>
          <a:ln>
            <a:miter lim="800000"/>
            <a:headEnd/>
            <a:tailEnd/>
          </a:ln>
        </p:spPr>
        <p:txBody>
          <a:bodyPr vert="horz" wrap="square" lIns="91440" tIns="45720" rIns="91440" bIns="45720" numCol="1" anchor="t" anchorCtr="0" compatLnSpc="1">
            <a:prstTxWarp prst="textNoShape">
              <a:avLst/>
            </a:prstTxWarp>
          </a:bodyPr>
          <a:lstStyle/>
          <a:p>
            <a:pPr marL="514350" indent="-514350" algn="just">
              <a:lnSpc>
                <a:spcPct val="90000"/>
              </a:lnSpc>
              <a:spcBef>
                <a:spcPts val="1200"/>
              </a:spcBef>
              <a:buFont typeface="+mj-lt"/>
              <a:buAutoNum type="arabicPeriod" startAt="3"/>
            </a:pPr>
            <a:r>
              <a:rPr lang="en-US" altLang="zh-CN" sz="2800" dirty="0">
                <a:ea typeface="宋体" pitchFamily="2" charset="-122"/>
              </a:rPr>
              <a:t>[1, P2.2] When you enter a dark theater on a bright day, it takes an appreciable interval of time before you can see well enough to find an empty seat. Which of the visual process is at play in this situation?</a:t>
            </a:r>
          </a:p>
          <a:p>
            <a:pPr marL="514350" indent="-514350" algn="just">
              <a:lnSpc>
                <a:spcPct val="90000"/>
              </a:lnSpc>
              <a:spcBef>
                <a:spcPts val="1200"/>
              </a:spcBef>
              <a:buFont typeface="+mj-lt"/>
              <a:buAutoNum type="arabicPeriod" startAt="3"/>
            </a:pPr>
            <a:r>
              <a:rPr lang="en-US" altLang="zh-CN" sz="2800" dirty="0">
                <a:ea typeface="宋体" pitchFamily="2" charset="-122"/>
              </a:rPr>
              <a:t>[1, P2.5] A CCD camera chip of dimensions 7 x 7 mm, and having 1024x1024 elements, is focused on a square, flat area, located 0.5 m away. How many line pairs per mm will this camera be able to resolve? The camera is equipped with a 35-mm lens. (Ans. 5 line pairs per mm)</a:t>
            </a:r>
          </a:p>
        </p:txBody>
      </p:sp>
      <p:sp>
        <p:nvSpPr>
          <p:cNvPr id="5" name="Text Box 2"/>
          <p:cNvSpPr txBox="1">
            <a:spLocks noChangeArrowheads="1"/>
          </p:cNvSpPr>
          <p:nvPr/>
        </p:nvSpPr>
        <p:spPr bwMode="auto">
          <a:xfrm>
            <a:off x="3834490" y="348114"/>
            <a:ext cx="2345514" cy="769441"/>
          </a:xfrm>
          <a:prstGeom prst="rect">
            <a:avLst/>
          </a:prstGeom>
          <a:noFill/>
          <a:ln w="9525">
            <a:noFill/>
            <a:miter lim="800000"/>
            <a:headEnd/>
            <a:tailEnd/>
          </a:ln>
          <a:effectLst>
            <a:outerShdw dist="35921" dir="2700000" algn="ctr" rotWithShape="0">
              <a:schemeClr val="folHlink"/>
            </a:outerShdw>
          </a:effectLst>
        </p:spPr>
        <p:txBody>
          <a:bodyPr wrap="none">
            <a:spAutoFit/>
          </a:bodyPr>
          <a:lstStyle/>
          <a:p>
            <a:pPr algn="ctr"/>
            <a:r>
              <a:rPr lang="en-US" altLang="zh-TW" sz="4400" dirty="0">
                <a:ea typeface="新細明體" pitchFamily="18" charset="-120"/>
              </a:rPr>
              <a:t>Exercises</a:t>
            </a:r>
          </a:p>
        </p:txBody>
      </p:sp>
    </p:spTree>
    <p:extLst>
      <p:ext uri="{BB962C8B-B14F-4D97-AF65-F5344CB8AC3E}">
        <p14:creationId xmlns:p14="http://schemas.microsoft.com/office/powerpoint/2010/main" val="4852885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bwMode="auto">
          <a:xfrm>
            <a:off x="1981200" y="517525"/>
            <a:ext cx="8229600" cy="890588"/>
          </a:xfrm>
          <a:noFill/>
          <a:ln>
            <a:miter lim="800000"/>
            <a:headEnd/>
            <a:tailEnd/>
          </a:ln>
        </p:spPr>
        <p:txBody>
          <a:bodyPr vert="horz" wrap="square" lIns="91440" tIns="45720" rIns="91440" bIns="45720" numCol="1" anchor="t" anchorCtr="0" compatLnSpc="1">
            <a:prstTxWarp prst="textNoShape">
              <a:avLst/>
            </a:prstTxWarp>
          </a:bodyPr>
          <a:lstStyle/>
          <a:p>
            <a:r>
              <a:rPr lang="en-US" sz="4800"/>
              <a:t>References</a:t>
            </a:r>
          </a:p>
        </p:txBody>
      </p:sp>
      <p:sp>
        <p:nvSpPr>
          <p:cNvPr id="45059" name="Rectangle 3"/>
          <p:cNvSpPr>
            <a:spLocks noGrp="1" noChangeArrowheads="1"/>
          </p:cNvSpPr>
          <p:nvPr>
            <p:ph type="body" idx="1"/>
          </p:nvPr>
        </p:nvSpPr>
        <p:spPr bwMode="auto">
          <a:noFill/>
          <a:ln>
            <a:miter lim="800000"/>
            <a:headEnd/>
            <a:tailEnd/>
          </a:ln>
        </p:spPr>
        <p:txBody>
          <a:bodyPr vert="horz" wrap="square" lIns="91440" tIns="45720" rIns="91440" bIns="45720" numCol="1" anchor="t" anchorCtr="0" compatLnSpc="1">
            <a:prstTxWarp prst="textNoShape">
              <a:avLst/>
            </a:prstTxWarp>
          </a:bodyPr>
          <a:lstStyle/>
          <a:p>
            <a:pPr marL="609600" indent="-609600">
              <a:buFontTx/>
              <a:buAutoNum type="arabicPeriod"/>
            </a:pPr>
            <a:r>
              <a:rPr lang="en-US" sz="2400" dirty="0"/>
              <a:t>Gonzalez R. C., Woods R. E., </a:t>
            </a:r>
            <a:r>
              <a:rPr lang="en-US" sz="2400" i="1" dirty="0"/>
              <a:t>Digital Image Processing</a:t>
            </a:r>
            <a:r>
              <a:rPr lang="en-US" sz="2400" dirty="0"/>
              <a:t>, Pearson Education, 2006.</a:t>
            </a:r>
          </a:p>
          <a:p>
            <a:pPr marL="609600" indent="-609600">
              <a:buFontTx/>
              <a:buAutoNum type="arabicPeriod"/>
            </a:pPr>
            <a:r>
              <a:rPr lang="en-US" sz="2400" dirty="0" err="1"/>
              <a:t>Szeliski</a:t>
            </a:r>
            <a:r>
              <a:rPr lang="en-US" sz="2400" dirty="0"/>
              <a:t> R., Computer Vision, Springer, 2011.</a:t>
            </a:r>
          </a:p>
          <a:p>
            <a:pPr marL="609600" indent="-609600">
              <a:buFontTx/>
              <a:buAutoNum type="arabicPeriod"/>
            </a:pPr>
            <a:r>
              <a:rPr lang="en-US" sz="2400" dirty="0"/>
              <a:t>http://www.imageprocessingplace.com</a:t>
            </a:r>
            <a:r>
              <a:rPr lang="en-US" sz="2400"/>
              <a:t>/ </a:t>
            </a:r>
            <a:endParaRPr lang="en-US" sz="2400" dirty="0"/>
          </a:p>
        </p:txBody>
      </p:sp>
    </p:spTree>
  </p:cSld>
  <p:clrMapOvr>
    <a:masterClrMapping/>
  </p:clrMapOvr>
</p:sld>
</file>

<file path=ppt/theme/theme1.xml><?xml version="1.0" encoding="utf-8"?>
<a:theme xmlns:a="http://schemas.openxmlformats.org/drawingml/2006/main" name="DIP-2E-book-presentations-template">
  <a:themeElements>
    <a:clrScheme name="DIP-2E-book-presentations-template.po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IP-2E-book-presentations-template.pot">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IP-2E-book-presentations-template.po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IP-2E-book-presentations-template.po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IP-2E-book-presentations-template.pot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IP-2E-book-presentations-template.pot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IP-2E-book-presentations-template.pot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IP-2E-book-presentations-template.pot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IP-2E-book-presentations-template.pot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D:\Program Files\Microsoft Office\Templates\DIP-2E-book-presentations-template.pot</Template>
  <TotalTime>21319</TotalTime>
  <Words>964</Words>
  <Application>Microsoft Office PowerPoint</Application>
  <PresentationFormat>Widescreen</PresentationFormat>
  <Paragraphs>99</Paragraphs>
  <Slides>16</Slides>
  <Notes>9</Notes>
  <HiddenSlides>1</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5" baseType="lpstr">
      <vt:lpstr>Times New Roman</vt:lpstr>
      <vt:lpstr>Wingdings</vt:lpstr>
      <vt:lpstr>Urdu Typesetting</vt:lpstr>
      <vt:lpstr>PMingLiU</vt:lpstr>
      <vt:lpstr>SimSun</vt:lpstr>
      <vt:lpstr>Calibri</vt:lpstr>
      <vt:lpstr>Arial</vt:lpstr>
      <vt:lpstr>DIP-2E-book-presentations-template</vt:lpstr>
      <vt:lpstr>Acrobat Document</vt:lpstr>
      <vt:lpstr>PowerPoint Presentation</vt:lpstr>
      <vt:lpstr>Human Visual Limitations</vt:lpstr>
      <vt:lpstr>Human Visual Limitations</vt:lpstr>
      <vt:lpstr>PowerPoint Presentation</vt:lpstr>
      <vt:lpstr>The Retina</vt:lpstr>
      <vt:lpstr>Retina Close-up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Dr Zulfiqar Habib</dc:creator>
  <cp:lastModifiedBy>Zulfiqar Habib</cp:lastModifiedBy>
  <cp:revision>374</cp:revision>
  <dcterms:created xsi:type="dcterms:W3CDTF">2001-12-06T17:51:11Z</dcterms:created>
  <dcterms:modified xsi:type="dcterms:W3CDTF">2024-10-28T10:43:44Z</dcterms:modified>
</cp:coreProperties>
</file>