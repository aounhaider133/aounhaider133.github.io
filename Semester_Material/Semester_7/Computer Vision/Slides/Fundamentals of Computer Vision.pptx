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7" r:id="rId2"/>
    <p:sldId id="311" r:id="rId3"/>
    <p:sldId id="312" r:id="rId4"/>
    <p:sldId id="332" r:id="rId5"/>
    <p:sldId id="333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31" r:id="rId17"/>
    <p:sldId id="334" r:id="rId18"/>
    <p:sldId id="377" r:id="rId19"/>
    <p:sldId id="335" r:id="rId20"/>
    <p:sldId id="336" r:id="rId21"/>
    <p:sldId id="392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69" r:id="rId33"/>
    <p:sldId id="370" r:id="rId34"/>
    <p:sldId id="371" r:id="rId35"/>
    <p:sldId id="372" r:id="rId36"/>
    <p:sldId id="373" r:id="rId37"/>
    <p:sldId id="374" r:id="rId38"/>
    <p:sldId id="349" r:id="rId39"/>
    <p:sldId id="347" r:id="rId40"/>
    <p:sldId id="348" r:id="rId41"/>
    <p:sldId id="393" r:id="rId42"/>
    <p:sldId id="394" r:id="rId43"/>
    <p:sldId id="395" r:id="rId44"/>
    <p:sldId id="350" r:id="rId45"/>
    <p:sldId id="378" r:id="rId46"/>
    <p:sldId id="359" r:id="rId47"/>
    <p:sldId id="362" r:id="rId48"/>
    <p:sldId id="364" r:id="rId49"/>
    <p:sldId id="363" r:id="rId50"/>
    <p:sldId id="366" r:id="rId51"/>
    <p:sldId id="375" r:id="rId52"/>
    <p:sldId id="367" r:id="rId53"/>
    <p:sldId id="376" r:id="rId54"/>
    <p:sldId id="360" r:id="rId55"/>
    <p:sldId id="361" r:id="rId56"/>
    <p:sldId id="379" r:id="rId57"/>
    <p:sldId id="380" r:id="rId58"/>
    <p:sldId id="381" r:id="rId59"/>
    <p:sldId id="396" r:id="rId60"/>
    <p:sldId id="382" r:id="rId61"/>
    <p:sldId id="383" r:id="rId62"/>
    <p:sldId id="384" r:id="rId63"/>
    <p:sldId id="385" r:id="rId64"/>
    <p:sldId id="387" r:id="rId65"/>
    <p:sldId id="388" r:id="rId66"/>
    <p:sldId id="351" r:id="rId67"/>
    <p:sldId id="352" r:id="rId68"/>
    <p:sldId id="353" r:id="rId69"/>
    <p:sldId id="354" r:id="rId70"/>
    <p:sldId id="355" r:id="rId71"/>
    <p:sldId id="356" r:id="rId72"/>
    <p:sldId id="357" r:id="rId73"/>
    <p:sldId id="389" r:id="rId74"/>
    <p:sldId id="398" r:id="rId75"/>
    <p:sldId id="399" r:id="rId76"/>
    <p:sldId id="390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2" autoAdjust="0"/>
    <p:restoredTop sz="90408" autoAdjust="0"/>
  </p:normalViewPr>
  <p:slideViewPr>
    <p:cSldViewPr>
      <p:cViewPr varScale="1">
        <p:scale>
          <a:sx n="65" d="100"/>
          <a:sy n="65" d="100"/>
        </p:scale>
        <p:origin x="316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72C77E45-76C1-48AC-8770-A01EE13E3D9C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76308B8D-8E1E-4C22-9F0A-2468901663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sites.google.com/site/ipum2009/chapter9-code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24458">
              <a:defRPr/>
            </a:pPr>
            <a:r>
              <a:rPr lang="en-US" dirty="0">
                <a:latin typeface="Verdana" pitchFamily="34" charset="0"/>
              </a:rPr>
              <a:t>Python: https://www.anaconda.com/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21323F-E92D-4233-984F-6C925B115E4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5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2483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277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 f=</a:t>
            </a:r>
            <a:r>
              <a:rPr lang="en-US" dirty="0" err="1"/>
              <a:t>imread</a:t>
            </a:r>
            <a:r>
              <a:rPr lang="en-US" dirty="0"/>
              <a:t>('building.jpg');</a:t>
            </a:r>
          </a:p>
          <a:p>
            <a:r>
              <a:rPr lang="en-US" dirty="0"/>
              <a:t>&gt;&gt; </a:t>
            </a:r>
            <a:r>
              <a:rPr lang="en-US" dirty="0" err="1"/>
              <a:t>imshow</a:t>
            </a:r>
            <a:r>
              <a:rPr lang="en-US" dirty="0"/>
              <a:t>(f)</a:t>
            </a:r>
          </a:p>
          <a:p>
            <a:r>
              <a:rPr lang="en-US" dirty="0"/>
              <a:t>&gt;&gt; </a:t>
            </a:r>
            <a:r>
              <a:rPr lang="en-US" dirty="0" err="1"/>
              <a:t>fR</a:t>
            </a:r>
            <a:r>
              <a:rPr lang="en-US" dirty="0"/>
              <a:t> = f(:, :, 1);</a:t>
            </a:r>
          </a:p>
          <a:p>
            <a:r>
              <a:rPr lang="en-US" dirty="0"/>
              <a:t>&gt;&gt; </a:t>
            </a:r>
            <a:r>
              <a:rPr lang="en-US" dirty="0" err="1"/>
              <a:t>fG</a:t>
            </a:r>
            <a:r>
              <a:rPr lang="en-US" dirty="0"/>
              <a:t> = f(:, :, 2);</a:t>
            </a:r>
          </a:p>
          <a:p>
            <a:r>
              <a:rPr lang="en-US" dirty="0"/>
              <a:t>&gt;&gt; </a:t>
            </a:r>
            <a:r>
              <a:rPr lang="en-US" dirty="0" err="1"/>
              <a:t>fB</a:t>
            </a:r>
            <a:r>
              <a:rPr lang="en-US" dirty="0"/>
              <a:t> = f(:, :, 3);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fR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fG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fB</a:t>
            </a:r>
            <a:r>
              <a:rPr lang="en-GB" dirty="0"/>
              <a:t>)</a:t>
            </a:r>
          </a:p>
          <a:p>
            <a:r>
              <a:rPr lang="en-US" dirty="0"/>
              <a:t>&gt;&gt; f1=cat(3, </a:t>
            </a:r>
            <a:r>
              <a:rPr lang="en-US" dirty="0" err="1"/>
              <a:t>fR</a:t>
            </a:r>
            <a:r>
              <a:rPr lang="en-US" dirty="0"/>
              <a:t>, </a:t>
            </a:r>
            <a:r>
              <a:rPr lang="en-US" dirty="0" err="1"/>
              <a:t>fG</a:t>
            </a:r>
            <a:r>
              <a:rPr lang="en-US" dirty="0"/>
              <a:t>, </a:t>
            </a:r>
            <a:r>
              <a:rPr lang="en-US" dirty="0" err="1"/>
              <a:t>fB</a:t>
            </a:r>
            <a:r>
              <a:rPr lang="en-US" dirty="0"/>
              <a:t>);</a:t>
            </a:r>
          </a:p>
          <a:p>
            <a:r>
              <a:rPr lang="en-US" dirty="0"/>
              <a:t>&gt;&gt; </a:t>
            </a:r>
            <a:r>
              <a:rPr lang="en-US" dirty="0" err="1"/>
              <a:t>imshow</a:t>
            </a:r>
            <a:r>
              <a:rPr lang="en-US" dirty="0"/>
              <a:t>(f1)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7870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Perceptually uniform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means that a change of the same amount in a color value should produce a change of about the same visual importance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i.e., could be correlated with the visual appearance of colors (http://en.wikipedia.org/wiki/Lab_color_space)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3679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6286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&gt;&gt; </a:t>
            </a:r>
            <a:r>
              <a:rPr lang="en-GB" dirty="0" err="1"/>
              <a:t>fHSV</a:t>
            </a:r>
            <a:r>
              <a:rPr lang="en-GB" dirty="0"/>
              <a:t> = rgb2hsv(f);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fHSV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fH</a:t>
            </a:r>
            <a:r>
              <a:rPr lang="en-GB" dirty="0"/>
              <a:t> = </a:t>
            </a:r>
            <a:r>
              <a:rPr lang="en-GB" dirty="0" err="1"/>
              <a:t>fHSV</a:t>
            </a:r>
            <a:r>
              <a:rPr lang="en-GB" dirty="0"/>
              <a:t>(:,:,1); </a:t>
            </a:r>
            <a:r>
              <a:rPr lang="en-GB" dirty="0" err="1"/>
              <a:t>fS</a:t>
            </a:r>
            <a:r>
              <a:rPr lang="en-GB" dirty="0"/>
              <a:t> = </a:t>
            </a:r>
            <a:r>
              <a:rPr lang="en-GB" dirty="0" err="1"/>
              <a:t>fHSV</a:t>
            </a:r>
            <a:r>
              <a:rPr lang="en-GB" dirty="0"/>
              <a:t>(:,:,2); </a:t>
            </a:r>
            <a:r>
              <a:rPr lang="en-GB" dirty="0" err="1"/>
              <a:t>fV</a:t>
            </a:r>
            <a:r>
              <a:rPr lang="en-GB" dirty="0"/>
              <a:t> = </a:t>
            </a:r>
            <a:r>
              <a:rPr lang="en-GB" dirty="0" err="1"/>
              <a:t>fHSV</a:t>
            </a:r>
            <a:r>
              <a:rPr lang="en-GB" dirty="0"/>
              <a:t>(:,:,3);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fH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fS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fV</a:t>
            </a:r>
            <a:r>
              <a:rPr lang="en-GB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5671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2305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http://en.wikipedia.org/wiki/YCbCr</a:t>
            </a:r>
          </a:p>
          <a:p>
            <a:r>
              <a:rPr lang="en-GB" dirty="0"/>
              <a:t>YCBCR = rgb2ycbcr(f);</a:t>
            </a:r>
          </a:p>
          <a:p>
            <a:r>
              <a:rPr lang="en-GB" dirty="0"/>
              <a:t>&gt;&gt; Y=YCBCR(:,:,1);</a:t>
            </a:r>
          </a:p>
          <a:p>
            <a:r>
              <a:rPr lang="en-GB" dirty="0"/>
              <a:t>&gt;&gt; </a:t>
            </a:r>
            <a:r>
              <a:rPr lang="en-GB" dirty="0" err="1"/>
              <a:t>Cb</a:t>
            </a:r>
            <a:r>
              <a:rPr lang="en-GB" dirty="0"/>
              <a:t>=YCBCR(:,:,2);</a:t>
            </a:r>
          </a:p>
          <a:p>
            <a:r>
              <a:rPr lang="en-GB" dirty="0"/>
              <a:t>&gt;&gt; Cr=YCBCR(:,:,3);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(Y)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</a:t>
            </a:r>
            <a:r>
              <a:rPr lang="en-GB" dirty="0" err="1"/>
              <a:t>Cb</a:t>
            </a:r>
            <a:r>
              <a:rPr lang="en-GB" dirty="0"/>
              <a:t>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(Cr)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4193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9028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CIE</a:t>
            </a:r>
            <a:r>
              <a:rPr lang="en-US" dirty="0"/>
              <a:t> in </a:t>
            </a:r>
            <a:r>
              <a:rPr lang="en-US" b="1" dirty="0"/>
              <a:t>CIELAB</a:t>
            </a:r>
            <a:r>
              <a:rPr lang="en-US" dirty="0"/>
              <a:t> stands for the </a:t>
            </a:r>
            <a:r>
              <a:rPr lang="en-US" b="1" dirty="0"/>
              <a:t>International Commission on Illumination</a:t>
            </a:r>
            <a:r>
              <a:rPr lang="en-US" dirty="0"/>
              <a:t> (in French, </a:t>
            </a:r>
            <a:r>
              <a:rPr lang="en-US" b="1" dirty="0"/>
              <a:t>Commission </a:t>
            </a:r>
            <a:r>
              <a:rPr lang="en-US" b="1" dirty="0" err="1"/>
              <a:t>Internationale</a:t>
            </a:r>
            <a:r>
              <a:rPr lang="en-US" b="1" dirty="0"/>
              <a:t> de </a:t>
            </a:r>
            <a:r>
              <a:rPr lang="en-US" b="1" dirty="0" err="1"/>
              <a:t>l'Éclairage</a:t>
            </a:r>
            <a:r>
              <a:rPr lang="en-US" dirty="0"/>
              <a:t>), which is an international authority responsible for standardizing lighting, color spaces, and other related areas.</a:t>
            </a:r>
            <a:endParaRPr lang="en-GB" dirty="0"/>
          </a:p>
          <a:p>
            <a:r>
              <a:rPr lang="en-GB" dirty="0"/>
              <a:t>http://en.wikipedia.org/wiki/Lab_color_space</a:t>
            </a:r>
          </a:p>
          <a:p>
            <a:r>
              <a:rPr lang="en-GB" dirty="0"/>
              <a:t>&gt;&gt; C = </a:t>
            </a:r>
            <a:r>
              <a:rPr lang="en-GB" dirty="0" err="1"/>
              <a:t>makecform</a:t>
            </a:r>
            <a:r>
              <a:rPr lang="en-GB" dirty="0"/>
              <a:t>('srgb2lab');</a:t>
            </a:r>
          </a:p>
          <a:p>
            <a:r>
              <a:rPr lang="en-GB" dirty="0"/>
              <a:t>&gt;&gt; LAB = </a:t>
            </a:r>
            <a:r>
              <a:rPr lang="en-GB" dirty="0" err="1"/>
              <a:t>applycform</a:t>
            </a:r>
            <a:r>
              <a:rPr lang="en-GB" dirty="0"/>
              <a:t>(f, C);</a:t>
            </a:r>
          </a:p>
          <a:p>
            <a:r>
              <a:rPr lang="en-GB" dirty="0"/>
              <a:t>&gt;&gt; L = LAB(:,:,1);</a:t>
            </a:r>
          </a:p>
          <a:p>
            <a:r>
              <a:rPr lang="en-GB" dirty="0"/>
              <a:t>&gt;&gt; A = LAB(:,:,2);</a:t>
            </a:r>
          </a:p>
          <a:p>
            <a:r>
              <a:rPr lang="en-GB" dirty="0"/>
              <a:t>&gt;&gt; B = LAB(:,:,3);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(L)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(A)</a:t>
            </a:r>
          </a:p>
          <a:p>
            <a:r>
              <a:rPr lang="en-GB" dirty="0"/>
              <a:t>&gt;&gt; </a:t>
            </a:r>
            <a:r>
              <a:rPr lang="en-GB" dirty="0" err="1"/>
              <a:t>imshow</a:t>
            </a:r>
            <a:r>
              <a:rPr lang="en-GB" dirty="0"/>
              <a:t>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9785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F684AF-81AD-4DBF-8C65-B5EEA9D17154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7336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SkinColorDetection.m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7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01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61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93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18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D608A5-BC8C-4569-A87A-A7DC7C625ECB}" type="slidenum">
              <a:rPr lang="en-US"/>
              <a:pPr/>
              <a:t>47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18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BF9FA5-4CD1-427F-8913-1383FC80ACD2}" type="slidenum">
              <a:rPr lang="en-US"/>
              <a:pPr/>
              <a:t>48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51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6423CF-C4AC-4617-9A07-55A70AF7D520}" type="slidenum">
              <a:rPr lang="en-US"/>
              <a:pPr/>
              <a:t>49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08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11B18C-3AB3-4942-9602-203A0AA82CF6}" type="slidenum">
              <a:rPr lang="en-US"/>
              <a:pPr/>
              <a:t>50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969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7605C7-78BE-479C-8D31-38304797DD39}" type="slidenum">
              <a:rPr lang="en-US"/>
              <a:pPr/>
              <a:t>51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426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CAF16C-D882-4816-9576-CB912CF6E780}" type="slidenum">
              <a:rPr lang="en-US"/>
              <a:pPr/>
              <a:t>52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42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FAB897-69C3-4690-B1B1-D8D89285914C}" type="slidenum">
              <a:rPr lang="en-US"/>
              <a:pPr/>
              <a:t>53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820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http://sites.google.com/site/ipum2009/chapter9-code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126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956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319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900E50-0C34-43AB-A7BC-9C68989AF055}" type="slidenum">
              <a:rPr lang="en-US"/>
              <a:pPr/>
              <a:t>59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69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937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41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47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bwlabel</a:t>
            </a:r>
            <a:r>
              <a:rPr lang="en-US" dirty="0"/>
              <a:t>(f) is 8-connected by defaults unless we write  </a:t>
            </a:r>
            <a:r>
              <a:rPr lang="en-US" dirty="0" err="1"/>
              <a:t>bwlabel</a:t>
            </a:r>
            <a:r>
              <a:rPr lang="en-US" dirty="0"/>
              <a:t>(f, 4)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218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1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581" y="142852"/>
            <a:ext cx="10458451" cy="857256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285860"/>
            <a:ext cx="11715832" cy="53578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1340768"/>
            <a:ext cx="10513168" cy="53285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5768" y="125760"/>
            <a:ext cx="10540752" cy="9269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861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68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096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831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58" y="71414"/>
            <a:ext cx="10538173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59" y="1285860"/>
            <a:ext cx="11715832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90501" y="1071546"/>
            <a:ext cx="11049035" cy="7143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0" y="0"/>
            <a:ext cx="1250101" cy="1229534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712624" y="9165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50B5E66-F7AF-4921-990A-8CA915E30739}" type="slidenum">
              <a:rPr lang="en-US" sz="18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pPr/>
              <a:t>‹#›</a:t>
            </a:fld>
            <a:endParaRPr lang="en-US" sz="1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just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just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just" defTabSz="914400" rtl="0" eaLnBrk="1" latinLnBrk="0" hangingPunct="1">
        <a:spcBef>
          <a:spcPct val="20000"/>
        </a:spcBef>
        <a:buFont typeface="Wingdings" pitchFamily="2" charset="2"/>
        <a:buChar char="v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just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just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vig.cuilahore.edu.pk/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1.png"/><Relationship Id="rId5" Type="http://schemas.openxmlformats.org/officeDocument/2006/relationships/image" Target="../media/image8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hyperlink" Target="http://www.cs.uregina.ca/Links/class-info/425/Lab3/Picts/Exercise/Result1.png" TargetMode="External"/><Relationship Id="rId7" Type="http://schemas.openxmlformats.org/officeDocument/2006/relationships/hyperlink" Target="http://www.cs.uregina.ca/Links/class-info/425/Lab3/Picts/Exercise/Result3.png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hyperlink" Target="http://www.cs.uregina.ca/Links/class-info/425/Lab3/Picts/Exercise/Result2.png" TargetMode="External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hyperlink" Target="http://www.cs.uregina.ca/Links/class-info/425/Lab3/Picts/Exercise/Result4.pn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t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oleObject" Target="../embeddings/oleObject15.bin"/><Relationship Id="rId4" Type="http://schemas.openxmlformats.org/officeDocument/2006/relationships/image" Target="../media/image67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oleObject" Target="../embeddings/oleObject18.bin"/><Relationship Id="rId4" Type="http://schemas.openxmlformats.org/officeDocument/2006/relationships/image" Target="../media/image69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64.t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if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tif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83.jpeg"/><Relationship Id="rId5" Type="http://schemas.openxmlformats.org/officeDocument/2006/relationships/image" Target="../media/image78.wmf"/><Relationship Id="rId10" Type="http://schemas.openxmlformats.org/officeDocument/2006/relationships/image" Target="../media/image82.jpe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81.jpe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13" Type="http://schemas.openxmlformats.org/officeDocument/2006/relationships/image" Target="../media/image91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3.bin"/><Relationship Id="rId16" Type="http://schemas.openxmlformats.org/officeDocument/2006/relationships/image" Target="../media/image94.jpe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90.jpeg"/><Relationship Id="rId5" Type="http://schemas.openxmlformats.org/officeDocument/2006/relationships/image" Target="../media/image85.wmf"/><Relationship Id="rId15" Type="http://schemas.openxmlformats.org/officeDocument/2006/relationships/image" Target="../media/image93.jpeg"/><Relationship Id="rId10" Type="http://schemas.openxmlformats.org/officeDocument/2006/relationships/image" Target="../media/image89.jpe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88.jpeg"/><Relationship Id="rId14" Type="http://schemas.openxmlformats.org/officeDocument/2006/relationships/image" Target="../media/image92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9" descr="book"/>
          <p:cNvPicPr>
            <a:picLocks noChangeAspect="1" noChangeArrowheads="1"/>
          </p:cNvPicPr>
          <p:nvPr/>
        </p:nvPicPr>
        <p:blipFill>
          <a:blip r:embed="rId3" cstate="print"/>
          <a:srcRect l="1900" r="10755" b="7806"/>
          <a:stretch>
            <a:fillRect/>
          </a:stretch>
        </p:blipFill>
        <p:spPr bwMode="auto">
          <a:xfrm>
            <a:off x="7752184" y="2427704"/>
            <a:ext cx="2208858" cy="301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53758" y="1249596"/>
            <a:ext cx="3756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updated: 18-9-2024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337" y="2314615"/>
            <a:ext cx="52565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[GR] Gonzalez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C., Woods, R.E.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Eddins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S.L., 2009. Digital Image Processing Using MATLAB, Fifth Impression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(Ch. 1)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[SR]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Szeliski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Computer Vision - Algorithms and Applications, Springer, 2011. (Ch. 2, 3)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[SJ]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E., 2012. Programming Computer Vision with Python: Tools and algorithms for analyzing images. "O'Reilly Media, Inc.".</a:t>
            </a:r>
          </a:p>
        </p:txBody>
      </p:sp>
      <p:pic>
        <p:nvPicPr>
          <p:cNvPr id="10" name="Picture 9" descr="https://images-na.ssl-images-amazon.com/images/I/51kqRfbnUOL._SX379_BO1,204,203,200_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742" y="2437544"/>
            <a:ext cx="211897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10144" y="221739"/>
            <a:ext cx="869282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Computer Vision</a:t>
            </a:r>
          </a:p>
        </p:txBody>
      </p:sp>
      <p:pic>
        <p:nvPicPr>
          <p:cNvPr id="11" name="Picture 10" descr="cda_displayimage.jpg"/>
          <p:cNvPicPr/>
          <p:nvPr/>
        </p:nvPicPr>
        <p:blipFill rotWithShape="1">
          <a:blip r:embed="rId5" cstate="print"/>
          <a:srcRect b="9465"/>
          <a:stretch/>
        </p:blipFill>
        <p:spPr bwMode="auto">
          <a:xfrm>
            <a:off x="5591944" y="2420888"/>
            <a:ext cx="2089334" cy="30175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680176" y="5787261"/>
            <a:ext cx="4404796" cy="954107"/>
          </a:xfrm>
          <a:prstGeom prst="rect">
            <a:avLst/>
          </a:prstGeom>
          <a:solidFill>
            <a:srgbClr val="00CC99">
              <a:lumMod val="75000"/>
            </a:srgb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Dr. Zulfiqar Habib, Professor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  <a:hlinkClick r:id="rId6"/>
              </a:rPr>
              <a:t>http://vig.cuilahore.edu.pk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722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24110" r="23793" b="17311"/>
          <a:stretch/>
        </p:blipFill>
        <p:spPr bwMode="auto">
          <a:xfrm>
            <a:off x="7176120" y="1196751"/>
            <a:ext cx="3586472" cy="557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9336" y="1268760"/>
            <a:ext cx="5039589" cy="308134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800" b="1" dirty="0">
                <a:ea typeface="新細明體" pitchFamily="18" charset="-120"/>
              </a:rPr>
              <a:t>Primary Colors (RGB)</a:t>
            </a: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   Red, Green, Blue</a:t>
            </a:r>
          </a:p>
          <a:p>
            <a:r>
              <a:rPr lang="en-US" altLang="zh-TW" sz="2800" b="1" dirty="0">
                <a:ea typeface="新細明體" pitchFamily="18" charset="-120"/>
              </a:rPr>
              <a:t>Secondary Colors (CMY)  </a:t>
            </a: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   Cyan (green + blue)   </a:t>
            </a: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   Magenta (red + blue) </a:t>
            </a:r>
          </a:p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   Yellow (red + green)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144" y="109081"/>
            <a:ext cx="105524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(Detail: Color Image Processing.pptx)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8992" y="4509120"/>
            <a:ext cx="4402832" cy="58966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ea typeface="新細明體" pitchFamily="18" charset="-120"/>
              </a:rPr>
              <a:t>An RGB to CMY conversion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836298"/>
              </p:ext>
            </p:extLst>
          </p:nvPr>
        </p:nvGraphicFramePr>
        <p:xfrm>
          <a:off x="4140001" y="5013176"/>
          <a:ext cx="2532063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041120" imgH="711000" progId="Equation.3">
                  <p:embed/>
                </p:oleObj>
              </mc:Choice>
              <mc:Fallback>
                <p:oleObj name="方程式" r:id="rId4" imgW="1041120" imgH="711000" progId="Equation.3">
                  <p:embed/>
                  <p:pic>
                    <p:nvPicPr>
                      <p:cNvPr id="7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001" y="5013176"/>
                        <a:ext cx="2532063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593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3287" y="1556792"/>
            <a:ext cx="11517084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spcBef>
                <a:spcPct val="0"/>
              </a:spcBef>
              <a:spcAft>
                <a:spcPct val="10000"/>
              </a:spcAft>
            </a:pPr>
            <a:r>
              <a:rPr lang="en-US" altLang="zh-TW" b="1" dirty="0">
                <a:ea typeface="新細明體" pitchFamily="18" charset="-120"/>
              </a:rPr>
              <a:t>Hue:</a:t>
            </a:r>
            <a:r>
              <a:rPr lang="en-US" altLang="zh-TW" dirty="0">
                <a:ea typeface="新細明體" pitchFamily="18" charset="-120"/>
              </a:rPr>
              <a:t> associated with the dominant wavelength in a mixture of light waves. It represents dominant color as perceived by an observer.</a:t>
            </a:r>
          </a:p>
          <a:p>
            <a:pPr algn="just">
              <a:spcBef>
                <a:spcPct val="0"/>
              </a:spcBef>
              <a:spcAft>
                <a:spcPct val="10000"/>
              </a:spcAft>
            </a:pPr>
            <a:r>
              <a:rPr lang="en-US" altLang="zh-TW" b="1" dirty="0">
                <a:ea typeface="新細明體" pitchFamily="18" charset="-120"/>
              </a:rPr>
              <a:t>Saturation:</a:t>
            </a:r>
            <a:r>
              <a:rPr lang="en-US" altLang="zh-TW" dirty="0">
                <a:ea typeface="新細明體" pitchFamily="18" charset="-120"/>
              </a:rPr>
              <a:t> refers to the relative purity or the amount of white light mixed with a hue.</a:t>
            </a:r>
          </a:p>
          <a:p>
            <a:pPr algn="just">
              <a:spcBef>
                <a:spcPct val="0"/>
              </a:spcBef>
              <a:spcAft>
                <a:spcPct val="10000"/>
              </a:spcAft>
            </a:pPr>
            <a:r>
              <a:rPr lang="en-US" altLang="zh-TW" b="1" dirty="0">
                <a:ea typeface="新細明體" pitchFamily="18" charset="-120"/>
              </a:rPr>
              <a:t>Intensity (Value):</a:t>
            </a:r>
            <a:r>
              <a:rPr lang="en-US" altLang="zh-TW" dirty="0">
                <a:ea typeface="新細明體" pitchFamily="18" charset="-120"/>
              </a:rPr>
              <a:t> associated with brightness</a:t>
            </a:r>
          </a:p>
          <a:p>
            <a:pPr algn="just">
              <a:spcBef>
                <a:spcPct val="0"/>
              </a:spcBef>
              <a:spcAft>
                <a:spcPct val="10000"/>
              </a:spcAft>
              <a:buNone/>
            </a:pPr>
            <a:endParaRPr lang="en-US" altLang="zh-TW" dirty="0">
              <a:ea typeface="新細明體" pitchFamily="18" charset="-120"/>
            </a:endParaRPr>
          </a:p>
          <a:p>
            <a:pPr algn="just">
              <a:spcBef>
                <a:spcPct val="0"/>
              </a:spcBef>
              <a:spcAft>
                <a:spcPct val="10000"/>
              </a:spcAft>
              <a:buFont typeface="Wingdings" pitchFamily="2" charset="2"/>
              <a:buChar char="Ø"/>
            </a:pPr>
            <a:r>
              <a:rPr lang="en-US" altLang="zh-TW" dirty="0">
                <a:ea typeface="新細明體" pitchFamily="18" charset="-120"/>
              </a:rPr>
              <a:t>Hue, Saturation, and Intensity are making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HSI or HSV color model </a:t>
            </a:r>
          </a:p>
          <a:p>
            <a:pPr algn="just">
              <a:spcBef>
                <a:spcPct val="0"/>
              </a:spcBef>
              <a:spcAft>
                <a:spcPct val="10000"/>
              </a:spcAft>
              <a:buNone/>
            </a:pPr>
            <a:r>
              <a:rPr lang="en-US" altLang="zh-TW" dirty="0">
                <a:ea typeface="新細明體" pitchFamily="18" charset="-120"/>
              </a:rPr>
              <a:t># Hue &amp; saturation taken together are called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chromaticity</a:t>
            </a:r>
            <a:r>
              <a:rPr lang="en-US" altLang="zh-TW" dirty="0">
                <a:ea typeface="新細明體" pitchFamily="18" charset="-12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144" y="109081"/>
            <a:ext cx="105524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Spaces</a:t>
            </a:r>
          </a:p>
        </p:txBody>
      </p:sp>
    </p:spTree>
    <p:extLst>
      <p:ext uri="{BB962C8B-B14F-4D97-AF65-F5344CB8AC3E}">
        <p14:creationId xmlns:p14="http://schemas.microsoft.com/office/powerpoint/2010/main" val="300965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3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6423" y="1340768"/>
            <a:ext cx="8251825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zh-TW" sz="2800" dirty="0">
                <a:ea typeface="新細明體" pitchFamily="18" charset="-120"/>
              </a:rPr>
              <a:t>Converting colors from RGB to HSI, </a:t>
            </a:r>
            <a:r>
              <a:rPr lang="en-US" altLang="zh-TW" sz="2000" dirty="0">
                <a:ea typeface="新細明體" pitchFamily="18" charset="-120"/>
              </a:rPr>
              <a:t>RGB is normalized in [0,1]</a:t>
            </a:r>
            <a:endParaRPr lang="en-US" altLang="zh-TW" sz="2800" dirty="0">
              <a:ea typeface="新細明體" pitchFamily="18" charset="-120"/>
            </a:endParaRP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</a:endParaRPr>
          </a:p>
        </p:txBody>
      </p:sp>
      <p:graphicFrame>
        <p:nvGraphicFramePr>
          <p:cNvPr id="263174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95739682"/>
              </p:ext>
            </p:extLst>
          </p:nvPr>
        </p:nvGraphicFramePr>
        <p:xfrm>
          <a:off x="1660848" y="3009131"/>
          <a:ext cx="407511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2463480" imgH="558720" progId="Equation.3">
                  <p:embed/>
                </p:oleObj>
              </mc:Choice>
              <mc:Fallback>
                <p:oleObj name="方程式" r:id="rId2" imgW="2463480" imgH="558720" progId="Equation.3">
                  <p:embed/>
                  <p:pic>
                    <p:nvPicPr>
                      <p:cNvPr id="263174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48" y="3009131"/>
                        <a:ext cx="407511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7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4008944"/>
              </p:ext>
            </p:extLst>
          </p:nvPr>
        </p:nvGraphicFramePr>
        <p:xfrm>
          <a:off x="375555" y="5286846"/>
          <a:ext cx="22129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079280" imgH="393480" progId="Equation.3">
                  <p:embed/>
                </p:oleObj>
              </mc:Choice>
              <mc:Fallback>
                <p:oleObj name="方程式" r:id="rId4" imgW="1079280" imgH="393480" progId="Equation.3">
                  <p:embed/>
                  <p:pic>
                    <p:nvPicPr>
                      <p:cNvPr id="263177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555" y="5286846"/>
                        <a:ext cx="22129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190218"/>
              </p:ext>
            </p:extLst>
          </p:nvPr>
        </p:nvGraphicFramePr>
        <p:xfrm>
          <a:off x="263352" y="1844824"/>
          <a:ext cx="33004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498320" imgH="457200" progId="Equation.3">
                  <p:embed/>
                </p:oleObj>
              </mc:Choice>
              <mc:Fallback>
                <p:oleObj name="方程式" r:id="rId6" imgW="1498320" imgH="457200" progId="Equation.3">
                  <p:embed/>
                  <p:pic>
                    <p:nvPicPr>
                      <p:cNvPr id="2631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2" y="1844824"/>
                        <a:ext cx="33004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051229"/>
              </p:ext>
            </p:extLst>
          </p:nvPr>
        </p:nvGraphicFramePr>
        <p:xfrm>
          <a:off x="324754" y="4248621"/>
          <a:ext cx="417671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057400" imgH="419040" progId="Equation.3">
                  <p:embed/>
                </p:oleObj>
              </mc:Choice>
              <mc:Fallback>
                <p:oleObj name="方程式" r:id="rId8" imgW="2057400" imgH="419040" progId="Equation.3">
                  <p:embed/>
                  <p:pic>
                    <p:nvPicPr>
                      <p:cNvPr id="2631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754" y="4248621"/>
                        <a:ext cx="4176712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210144" y="109081"/>
            <a:ext cx="105524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Spaces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902200"/>
              </p:ext>
            </p:extLst>
          </p:nvPr>
        </p:nvGraphicFramePr>
        <p:xfrm>
          <a:off x="5879976" y="1951329"/>
          <a:ext cx="6191657" cy="4236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0" imgW="6514286" imgH="4457143" progId="">
                  <p:embed/>
                </p:oleObj>
              </mc:Choice>
              <mc:Fallback>
                <p:oleObj name="Image" r:id="rId10" imgW="6514286" imgH="4457143" progId="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9976" y="1951329"/>
                        <a:ext cx="6191657" cy="4236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536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309975"/>
              </p:ext>
            </p:extLst>
          </p:nvPr>
        </p:nvGraphicFramePr>
        <p:xfrm>
          <a:off x="5159896" y="1951329"/>
          <a:ext cx="6911737" cy="4729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514286" imgH="4457143" progId="">
                  <p:embed/>
                </p:oleObj>
              </mc:Choice>
              <mc:Fallback>
                <p:oleObj name="Image" r:id="rId3" imgW="6514286" imgH="4457143" progId="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1951329"/>
                        <a:ext cx="6911737" cy="4729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210144" y="109081"/>
            <a:ext cx="105524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Spaces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47328" y="1340768"/>
            <a:ext cx="8948050" cy="51223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altLang="zh-TW" sz="28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Converting colors from HSI to RGB, </a:t>
            </a:r>
            <a:r>
              <a:rPr lang="en-US" altLang="zh-TW" sz="20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HSI is normalized in [0,1]</a:t>
            </a:r>
            <a:endParaRPr lang="en-US" altLang="zh-TW" sz="36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i="1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RG</a:t>
            </a:r>
            <a:r>
              <a:rPr lang="en-US" altLang="zh-TW" sz="24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sector (                           )</a:t>
            </a:r>
          </a:p>
          <a:p>
            <a:pPr lvl="1"/>
            <a:endParaRPr lang="en-US" altLang="zh-TW" sz="24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endParaRPr lang="en-US" altLang="zh-TW" sz="24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endParaRPr lang="en-US" altLang="zh-TW" sz="24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endParaRPr lang="en-US" altLang="zh-TW" sz="24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endParaRPr lang="en-US" altLang="zh-TW" sz="2400" ker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i="1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GB</a:t>
            </a:r>
            <a:r>
              <a:rPr lang="en-US" altLang="zh-TW" sz="24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sector (                            )</a:t>
            </a:r>
          </a:p>
          <a:p>
            <a:pPr marL="457200" lvl="1" indent="0">
              <a:buFontTx/>
              <a:buNone/>
            </a:pPr>
            <a:r>
              <a:rPr lang="en-US" altLang="zh-TW" sz="24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	see book</a:t>
            </a:r>
          </a:p>
          <a:p>
            <a:pPr lvl="1"/>
            <a:r>
              <a:rPr lang="en-US" altLang="zh-TW" sz="2400" i="1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BR</a:t>
            </a:r>
            <a:r>
              <a:rPr lang="en-US" altLang="zh-TW" sz="24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sector (                            )</a:t>
            </a:r>
          </a:p>
          <a:p>
            <a:pPr marL="457200" lvl="1" indent="0">
              <a:buFontTx/>
              <a:buNone/>
            </a:pPr>
            <a:r>
              <a:rPr lang="en-US" altLang="zh-TW" sz="2400" ker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	see book</a:t>
            </a:r>
            <a:endParaRPr lang="en-US" altLang="zh-TW" sz="2400" kern="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818884"/>
              </p:ext>
            </p:extLst>
          </p:nvPr>
        </p:nvGraphicFramePr>
        <p:xfrm>
          <a:off x="2251877" y="1873102"/>
          <a:ext cx="18319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888840" imgH="203040" progId="Equation.3">
                  <p:embed/>
                </p:oleObj>
              </mc:Choice>
              <mc:Fallback>
                <p:oleObj name="方程式" r:id="rId5" imgW="888840" imgH="203040" progId="Equation.3">
                  <p:embed/>
                  <p:pic>
                    <p:nvPicPr>
                      <p:cNvPr id="2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877" y="1873102"/>
                        <a:ext cx="18319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982239"/>
              </p:ext>
            </p:extLst>
          </p:nvPr>
        </p:nvGraphicFramePr>
        <p:xfrm>
          <a:off x="1047368" y="2763689"/>
          <a:ext cx="32099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511280" imgH="457200" progId="Equation.3">
                  <p:embed/>
                </p:oleObj>
              </mc:Choice>
              <mc:Fallback>
                <p:oleObj name="方程式" r:id="rId7" imgW="1511280" imgH="457200" progId="Equation.3">
                  <p:embed/>
                  <p:pic>
                    <p:nvPicPr>
                      <p:cNvPr id="24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368" y="2763689"/>
                        <a:ext cx="32099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945618"/>
              </p:ext>
            </p:extLst>
          </p:nvPr>
        </p:nvGraphicFramePr>
        <p:xfrm>
          <a:off x="1112455" y="3820964"/>
          <a:ext cx="22653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028520" imgH="203040" progId="Equation.3">
                  <p:embed/>
                </p:oleObj>
              </mc:Choice>
              <mc:Fallback>
                <p:oleObj name="方程式" r:id="rId9" imgW="1028520" imgH="203040" progId="Equation.3">
                  <p:embed/>
                  <p:pic>
                    <p:nvPicPr>
                      <p:cNvPr id="2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455" y="3820964"/>
                        <a:ext cx="226536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139835"/>
              </p:ext>
            </p:extLst>
          </p:nvPr>
        </p:nvGraphicFramePr>
        <p:xfrm>
          <a:off x="1048955" y="2357289"/>
          <a:ext cx="170497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761760" imgH="203040" progId="Equation.3">
                  <p:embed/>
                </p:oleObj>
              </mc:Choice>
              <mc:Fallback>
                <p:oleObj name="方程式" r:id="rId11" imgW="761760" imgH="203040" progId="Equation.3">
                  <p:embed/>
                  <p:pic>
                    <p:nvPicPr>
                      <p:cNvPr id="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955" y="2357289"/>
                        <a:ext cx="170497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32511"/>
              </p:ext>
            </p:extLst>
          </p:nvPr>
        </p:nvGraphicFramePr>
        <p:xfrm>
          <a:off x="2239177" y="5379108"/>
          <a:ext cx="21732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054080" imgH="203040" progId="Equation.3">
                  <p:embed/>
                </p:oleObj>
              </mc:Choice>
              <mc:Fallback>
                <p:oleObj name="方程式" r:id="rId13" imgW="1054080" imgH="203040" progId="Equation.3">
                  <p:embed/>
                  <p:pic>
                    <p:nvPicPr>
                      <p:cNvPr id="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177" y="5379108"/>
                        <a:ext cx="21732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890233"/>
              </p:ext>
            </p:extLst>
          </p:nvPr>
        </p:nvGraphicFramePr>
        <p:xfrm>
          <a:off x="2228063" y="4478189"/>
          <a:ext cx="2146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041120" imgH="203040" progId="Equation.3">
                  <p:embed/>
                </p:oleObj>
              </mc:Choice>
              <mc:Fallback>
                <p:oleObj name="方程式" r:id="rId15" imgW="1041120" imgH="203040" progId="Equation.3">
                  <p:embed/>
                  <p:pic>
                    <p:nvPicPr>
                      <p:cNvPr id="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063" y="4478189"/>
                        <a:ext cx="2146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385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1055995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RGB</a:t>
            </a:r>
          </a:p>
        </p:txBody>
      </p:sp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216569" y="1591122"/>
            <a:ext cx="7059304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color space and primary colors of light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Cartesian coordinate system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elementary &amp; simplest representation based in terms of wavelengths of R, G &amp; B in white light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</a:t>
            </a:r>
          </a:p>
          <a:p>
            <a:pPr algn="just">
              <a:spcBef>
                <a:spcPts val="6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various colored image processing applications including boundary extraction on color bases, segmentation and recognition of objects in color images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hardware oriented models most commonly used RGB space</a:t>
            </a: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is supported by various devices like Monitors, Cameras, etc.</a:t>
            </a:r>
          </a:p>
        </p:txBody>
      </p:sp>
      <p:pic>
        <p:nvPicPr>
          <p:cNvPr id="88074" name="Picture 5" descr="C:\Users\Hoiem\Documents\Classes\Spring10 - Computer Vision\figs\nieghborhood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833" y="1584029"/>
            <a:ext cx="16764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5" name="TextBox 18"/>
          <p:cNvSpPr txBox="1">
            <a:spLocks noChangeArrowheads="1"/>
          </p:cNvSpPr>
          <p:nvPr/>
        </p:nvSpPr>
        <p:spPr bwMode="auto">
          <a:xfrm>
            <a:off x="9810750" y="2268539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88076" name="TextBox 19"/>
          <p:cNvSpPr txBox="1">
            <a:spLocks noChangeArrowheads="1"/>
          </p:cNvSpPr>
          <p:nvPr/>
        </p:nvSpPr>
        <p:spPr bwMode="auto">
          <a:xfrm>
            <a:off x="9810750" y="3857626"/>
            <a:ext cx="423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77" name="TextBox 20"/>
          <p:cNvSpPr txBox="1">
            <a:spLocks noChangeArrowheads="1"/>
          </p:cNvSpPr>
          <p:nvPr/>
        </p:nvSpPr>
        <p:spPr bwMode="auto">
          <a:xfrm>
            <a:off x="9810750" y="5457826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14759" t="8897" r="34782" b="36620"/>
          <a:stretch/>
        </p:blipFill>
        <p:spPr>
          <a:xfrm>
            <a:off x="7453803" y="1621461"/>
            <a:ext cx="2304000" cy="15542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l="14759" t="8256" r="34982" b="35658"/>
          <a:stretch/>
        </p:blipFill>
        <p:spPr>
          <a:xfrm>
            <a:off x="7437056" y="3238010"/>
            <a:ext cx="2304000" cy="1606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6"/>
          <a:srcRect l="14759" t="8256" r="34982" b="35979"/>
          <a:stretch/>
        </p:blipFill>
        <p:spPr>
          <a:xfrm>
            <a:off x="7434422" y="4896935"/>
            <a:ext cx="2304000" cy="15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7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214461" y="1300400"/>
            <a:ext cx="10536834" cy="524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near to real colors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nicely with the human visual system (eye), therefore strongly perceptive to R, G &amp; B primaries. 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image color generation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G &amp; B components with equal contributions produce a gray level shades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components are contributed with their maximum equal strengths then white color is produced (Black if no contribution)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intuitive to human perception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correlation between the channels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Mixing of chrominance and luminance data</a:t>
            </a:r>
          </a:p>
          <a:p>
            <a:pPr marL="180975" indent="-180975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perceptually uniform; small changes in RGB values may not correspond to visible changes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1055995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RGB</a:t>
            </a:r>
          </a:p>
        </p:txBody>
      </p:sp>
    </p:spTree>
    <p:extLst>
      <p:ext uri="{BB962C8B-B14F-4D97-AF65-F5344CB8AC3E}">
        <p14:creationId xmlns:p14="http://schemas.microsoft.com/office/powerpoint/2010/main" val="248105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191345" y="1591122"/>
            <a:ext cx="10329512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colors of light derived from RGB by subtracting one primary component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most of devices that deposit colors on paper, such as printers, copiers, require CMY data.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equal contribution of all components of CMY produces black color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describing colors in terms that are practical for human interpretation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1055995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CMY</a:t>
            </a:r>
          </a:p>
        </p:txBody>
      </p:sp>
    </p:spTree>
    <p:extLst>
      <p:ext uri="{BB962C8B-B14F-4D97-AF65-F5344CB8AC3E}">
        <p14:creationId xmlns:p14="http://schemas.microsoft.com/office/powerpoint/2010/main" val="1491049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846" y="4461481"/>
            <a:ext cx="2667000" cy="234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144379" y="1591122"/>
            <a:ext cx="7131493" cy="432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almost cylindrical coordinates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Device-Dependent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various Computer Graphics applications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used in image processing applications such as Image enhancement by manipulating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only its intensity channel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segmentation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using HSI model</a:t>
            </a:r>
          </a:p>
        </p:txBody>
      </p:sp>
      <p:pic>
        <p:nvPicPr>
          <p:cNvPr id="88074" name="Picture 5" descr="C:\Users\Hoiem\Documents\Classes\Spring10 - Computer Vision\figs\nieghborhood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832" y="1591122"/>
            <a:ext cx="16764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9821863" y="2266951"/>
            <a:ext cx="423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5" name="TextBox 9"/>
          <p:cNvSpPr txBox="1">
            <a:spLocks noChangeArrowheads="1"/>
          </p:cNvSpPr>
          <p:nvPr/>
        </p:nvSpPr>
        <p:spPr bwMode="auto">
          <a:xfrm>
            <a:off x="9863138" y="394335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839325" y="5772151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14759" t="8257" r="34782" b="35337"/>
          <a:stretch/>
        </p:blipFill>
        <p:spPr>
          <a:xfrm>
            <a:off x="7516275" y="1743658"/>
            <a:ext cx="2304000" cy="16091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l="14960" t="9387" r="34982" b="38541"/>
          <a:stretch/>
        </p:blipFill>
        <p:spPr>
          <a:xfrm>
            <a:off x="7507992" y="3461657"/>
            <a:ext cx="2304000" cy="14973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l="14959" t="8897" r="34783" b="35658"/>
          <a:stretch/>
        </p:blipFill>
        <p:spPr>
          <a:xfrm>
            <a:off x="7515879" y="5132357"/>
            <a:ext cx="2304000" cy="158801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1055995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HSV</a:t>
            </a:r>
          </a:p>
        </p:txBody>
      </p:sp>
    </p:spTree>
    <p:extLst>
      <p:ext uri="{BB962C8B-B14F-4D97-AF65-F5344CB8AC3E}">
        <p14:creationId xmlns:p14="http://schemas.microsoft.com/office/powerpoint/2010/main" val="13420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191345" y="1340768"/>
            <a:ext cx="10559950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near to how a human perceive any color. HSI model is natural and intuitive to humans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intensity channel alone can be handled separately so brightness can be controlled by just dealing with this channel alone without affecting chromaticity information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if we are dealing with a color separation/segmentation task in which we need to separate all different variations of one particular color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difficulty in interpreting Hue component because:</a:t>
            </a:r>
          </a:p>
          <a:p>
            <a:pPr marL="923925" lvl="1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discontinuity in the HSI model where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&amp; 360 meet and</a:t>
            </a:r>
          </a:p>
          <a:p>
            <a:pPr marL="923925" lvl="1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Hue is undefined for a saturation of 0 (i.e. for white, Black and pure grays) 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perceptually uniform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1055995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HSV</a:t>
            </a:r>
          </a:p>
        </p:txBody>
      </p:sp>
    </p:spTree>
    <p:extLst>
      <p:ext uri="{BB962C8B-B14F-4D97-AF65-F5344CB8AC3E}">
        <p14:creationId xmlns:p14="http://schemas.microsoft.com/office/powerpoint/2010/main" val="419069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74" name="Picture 5" descr="C:\Users\Hoiem\Documents\Classes\Spring10 - Computer Vision\figs\nieghborhood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990" y="1591122"/>
            <a:ext cx="16764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7"/>
          <p:cNvSpPr txBox="1">
            <a:spLocks noChangeArrowheads="1"/>
          </p:cNvSpPr>
          <p:nvPr/>
        </p:nvSpPr>
        <p:spPr bwMode="auto">
          <a:xfrm>
            <a:off x="9712661" y="2371726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2" name="TextBox 8"/>
          <p:cNvSpPr txBox="1">
            <a:spLocks noChangeArrowheads="1"/>
          </p:cNvSpPr>
          <p:nvPr/>
        </p:nvSpPr>
        <p:spPr bwMode="auto">
          <a:xfrm>
            <a:off x="9734887" y="4048126"/>
            <a:ext cx="5790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9749174" y="5724526"/>
            <a:ext cx="5437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180474" y="-18256"/>
            <a:ext cx="10596045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        </a:t>
            </a:r>
            <a:r>
              <a:rPr lang="en-US" altLang="en-US" sz="4000" dirty="0" err="1"/>
              <a:t>YCbCr</a:t>
            </a:r>
            <a:endParaRPr lang="en-US" altLang="en-US" sz="4000" dirty="0"/>
          </a:p>
        </p:txBody>
      </p:sp>
      <p:sp>
        <p:nvSpPr>
          <p:cNvPr id="25" name="TextBox 12"/>
          <p:cNvSpPr txBox="1">
            <a:spLocks noChangeArrowheads="1"/>
          </p:cNvSpPr>
          <p:nvPr/>
        </p:nvSpPr>
        <p:spPr bwMode="auto">
          <a:xfrm>
            <a:off x="180475" y="1591122"/>
            <a:ext cx="7095398" cy="386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is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</a:t>
            </a:r>
          </a:p>
          <a:p>
            <a:pPr marL="180975" indent="-180975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Cr are the blue &amp; red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differences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</a:p>
          <a:p>
            <a:pPr marL="179388" indent="-179388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Device-Dependent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encoding (used in TV broadcasting, DVD, etc.)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and transmission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detection in face recognition systems</a:t>
            </a:r>
          </a:p>
        </p:txBody>
      </p:sp>
      <p:pic>
        <p:nvPicPr>
          <p:cNvPr id="67586" name="Picture 2" descr="http://upload.wikimedia.org/wikipedia/commons/b/b8/YCbCr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905" y="1543496"/>
            <a:ext cx="2602523" cy="260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14849" t="9382" r="35093" b="38057"/>
          <a:stretch/>
        </p:blipFill>
        <p:spPr>
          <a:xfrm>
            <a:off x="7491748" y="1859421"/>
            <a:ext cx="2286000" cy="14996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l="14959" t="8788" r="34783" b="36408"/>
          <a:stretch/>
        </p:blipFill>
        <p:spPr>
          <a:xfrm>
            <a:off x="7491748" y="3472932"/>
            <a:ext cx="2286000" cy="15573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l="14960" t="8897" r="34982" b="35979"/>
          <a:stretch/>
        </p:blipFill>
        <p:spPr>
          <a:xfrm>
            <a:off x="7494703" y="5147865"/>
            <a:ext cx="2286000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2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263353" y="1591122"/>
            <a:ext cx="10166524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if we need to change Brightness/Contrast component of a color image without altering the color component of that image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suited for compression algorithms as the human eye is more sensitive to luminance than chrominance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Lossy transformations from RGB can introduce artifacts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useful for all image processing tasks like edge detection or segmentation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0474" y="-18256"/>
            <a:ext cx="10596045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         </a:t>
            </a:r>
            <a:r>
              <a:rPr lang="en-US" altLang="en-US" sz="4000" dirty="0" err="1"/>
              <a:t>YCbCr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72817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6" y="4787769"/>
            <a:ext cx="1962150" cy="2047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74" name="Picture 5" descr="C:\Users\Hoiem\Documents\Classes\Spring10 - Computer Vision\figs\nieghborhood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864" y="1591122"/>
            <a:ext cx="16764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848593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L*a*b or CIELAB</a:t>
            </a:r>
          </a:p>
        </p:txBody>
      </p:sp>
      <p:sp>
        <p:nvSpPr>
          <p:cNvPr id="25" name="TextBox 12"/>
          <p:cNvSpPr txBox="1">
            <a:spLocks noChangeArrowheads="1"/>
          </p:cNvSpPr>
          <p:nvPr/>
        </p:nvSpPr>
        <p:spPr bwMode="auto">
          <a:xfrm>
            <a:off x="144379" y="1591122"/>
            <a:ext cx="713149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L (lightness), a (green to red), and b (blue to yellow) channels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Device-Independent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creative art, advertising, graphic art, digitized or animated paintings etc.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to image coding for printing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calibration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especially dentistry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natural scenes</a:t>
            </a:r>
          </a:p>
        </p:txBody>
      </p:sp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9793288" y="2181226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9834563" y="3857626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9810750" y="5686426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14960" t="8897" r="34982" b="36619"/>
          <a:stretch/>
        </p:blipFill>
        <p:spPr>
          <a:xfrm>
            <a:off x="7448550" y="1799885"/>
            <a:ext cx="2286000" cy="1554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l="14959" t="8578" r="34783" b="36619"/>
          <a:stretch/>
        </p:blipFill>
        <p:spPr>
          <a:xfrm>
            <a:off x="7448550" y="3455948"/>
            <a:ext cx="2286000" cy="15573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l="15160" t="8577" r="34982" b="35658"/>
          <a:stretch/>
        </p:blipFill>
        <p:spPr>
          <a:xfrm>
            <a:off x="7462016" y="5114980"/>
            <a:ext cx="2286000" cy="159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9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Box 12"/>
          <p:cNvSpPr txBox="1">
            <a:spLocks noChangeArrowheads="1"/>
          </p:cNvSpPr>
          <p:nvPr/>
        </p:nvSpPr>
        <p:spPr bwMode="auto">
          <a:xfrm>
            <a:off x="191344" y="1325081"/>
            <a:ext cx="10585175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Perceptually uniform; good for color comparison and recognition tasks.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L* values relates linearly to human perception of brightness.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in imaging systems where exact perceptual reproduction of color image across the entire system is of primary concern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if we need to change Brightness/Contrast component of a color image without altering the color component of that image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transformation from RGB</a:t>
            </a:r>
          </a:p>
          <a:p>
            <a:pPr marL="180975" indent="-180975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in real time processing where computational resources are important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1344" y="-27384"/>
            <a:ext cx="848593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L*a*b</a:t>
            </a:r>
          </a:p>
        </p:txBody>
      </p:sp>
    </p:spTree>
    <p:extLst>
      <p:ext uri="{BB962C8B-B14F-4D97-AF65-F5344CB8AC3E}">
        <p14:creationId xmlns:p14="http://schemas.microsoft.com/office/powerpoint/2010/main" val="3503042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BFEE019-C2EA-C6C6-35E7-ACD60CB9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-18256"/>
            <a:ext cx="8485931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dirty="0"/>
              <a:t>Analysis of Color Spaces</a:t>
            </a:r>
            <a:br>
              <a:rPr lang="en-US" altLang="en-US" sz="4000" dirty="0"/>
            </a:br>
            <a:r>
              <a:rPr lang="en-US" altLang="en-US" sz="4000" dirty="0"/>
              <a:t>					Grayscale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ED920-8D4B-858D-736E-89A1F29AF567}"/>
              </a:ext>
            </a:extLst>
          </p:cNvPr>
          <p:cNvSpPr txBox="1"/>
          <p:nvPr/>
        </p:nvSpPr>
        <p:spPr>
          <a:xfrm>
            <a:off x="178858" y="1268760"/>
            <a:ext cx="1074167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color information, leaving only intensity (brightness)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pixel is a shade of gray ranging from black to white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detection, texture analysis, and other tasks where color is not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tasks like image segmentation, feature extraction, and object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computational complexity by working with a single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Easier to analyze certain visual features (edges, shapes, textures)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Loses all color information, making it unsuitable for tasks that require color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accuracy for tasks that rely on color cues</a:t>
            </a:r>
          </a:p>
        </p:txBody>
      </p:sp>
    </p:spTree>
    <p:extLst>
      <p:ext uri="{BB962C8B-B14F-4D97-AF65-F5344CB8AC3E}">
        <p14:creationId xmlns:p14="http://schemas.microsoft.com/office/powerpoint/2010/main" val="180792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[SR, Ex. 2.8] Skin Color Detection: Test your program on your own picture and then on some others as well.</a:t>
            </a:r>
          </a:p>
          <a:p>
            <a:endParaRPr lang="en-US" dirty="0"/>
          </a:p>
          <a:p>
            <a:r>
              <a:rPr lang="en-US" sz="2800" dirty="0"/>
              <a:t>Hint: May use the combination </a:t>
            </a:r>
            <a:r>
              <a:rPr lang="en-US" sz="2800"/>
              <a:t>of HSV </a:t>
            </a:r>
            <a:r>
              <a:rPr lang="en-US" sz="2800" dirty="0"/>
              <a:t>and </a:t>
            </a:r>
            <a:r>
              <a:rPr lang="en-US" sz="2800" dirty="0" err="1"/>
              <a:t>YCbCr</a:t>
            </a:r>
            <a:r>
              <a:rPr lang="en-US" sz="2800" dirty="0"/>
              <a:t> color spaces </a:t>
            </a:r>
          </a:p>
          <a:p>
            <a:endParaRPr lang="en-US" sz="1800" dirty="0"/>
          </a:p>
          <a:p>
            <a:r>
              <a:rPr lang="en-US" dirty="0"/>
              <a:t>Relevant Readings:</a:t>
            </a:r>
          </a:p>
          <a:p>
            <a:pPr marL="263525" indent="-263525">
              <a:buFont typeface="+mj-lt"/>
              <a:buAutoNum type="arabicPeriod"/>
            </a:pPr>
            <a:r>
              <a:rPr lang="en-US" sz="2400" dirty="0"/>
              <a:t>http://www.hamradio.si/~s51kq/V-CIV.HTM</a:t>
            </a:r>
          </a:p>
          <a:p>
            <a:pPr marL="263525" indent="-263525">
              <a:buFont typeface="+mj-lt"/>
              <a:buAutoNum type="arabicPeriod"/>
            </a:pPr>
            <a:r>
              <a:rPr lang="en-US" sz="2400" dirty="0"/>
              <a:t>http://research.ijais.org/volume2/number2/ijais12-450264.pdf</a:t>
            </a:r>
          </a:p>
          <a:p>
            <a:pPr marL="263525" indent="-263525"/>
            <a:r>
              <a:rPr lang="en-US" altLang="zh-TW" sz="2400" dirty="0">
                <a:ea typeface="新細明體" pitchFamily="18" charset="-120"/>
              </a:rPr>
              <a:t>Readers can search more…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87520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Image Processing </a:t>
            </a:r>
            <a:r>
              <a:rPr lang="en-US" sz="2000" dirty="0"/>
              <a:t>(Detail: Image Enhancement-Spatial Domain.pptx)</a:t>
            </a:r>
            <a:endParaRPr 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23392" y="1700808"/>
            <a:ext cx="5631285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7663" indent="-347663"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Transformation</a:t>
            </a:r>
          </a:p>
          <a:p>
            <a:pPr marL="347663" indent="-347663"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Processing</a:t>
            </a:r>
          </a:p>
          <a:p>
            <a:pPr marL="347663" indent="-347663"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</a:t>
            </a:r>
          </a:p>
        </p:txBody>
      </p:sp>
    </p:spTree>
    <p:extLst>
      <p:ext uri="{BB962C8B-B14F-4D97-AF65-F5344CB8AC3E}">
        <p14:creationId xmlns:p14="http://schemas.microsoft.com/office/powerpoint/2010/main" val="754462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Intensity Transformation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91951" y="3212976"/>
            <a:ext cx="3843809" cy="2357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spcAft>
                <a:spcPct val="20000"/>
              </a:spcAft>
              <a:buFontTx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Negative</a:t>
            </a:r>
          </a:p>
          <a:p>
            <a:pPr marL="457200" indent="-457200">
              <a:spcAft>
                <a:spcPct val="20000"/>
              </a:spcAft>
              <a:buFontTx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Power-Law</a:t>
            </a:r>
          </a:p>
          <a:p>
            <a:pPr marL="457200" indent="-457200">
              <a:spcAft>
                <a:spcPct val="20000"/>
              </a:spcAft>
              <a:buFontTx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</a:t>
            </a:r>
          </a:p>
          <a:p>
            <a:pPr marL="457200" indent="-457200">
              <a:spcAft>
                <a:spcPct val="20000"/>
              </a:spcAft>
              <a:buFontTx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Stretching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68208" y="1404613"/>
            <a:ext cx="4092113" cy="3604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14523" y="1481410"/>
            <a:ext cx="52054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 =&gt; 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7768" y="2564904"/>
            <a:ext cx="4527585" cy="4239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8511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Image Negative</a:t>
            </a:r>
          </a:p>
        </p:txBody>
      </p:sp>
      <p:pic>
        <p:nvPicPr>
          <p:cNvPr id="11" name="Picture 4" descr="xra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772" y="5271080"/>
            <a:ext cx="1820862" cy="1498600"/>
          </a:xfrm>
          <a:prstGeom prst="rect">
            <a:avLst/>
          </a:prstGeom>
          <a:noFill/>
        </p:spPr>
      </p:pic>
      <p:pic>
        <p:nvPicPr>
          <p:cNvPr id="12" name="Picture 5" descr="xray-3"/>
          <p:cNvPicPr>
            <a:picLocks noChangeAspect="1" noChangeArrowheads="1"/>
          </p:cNvPicPr>
          <p:nvPr/>
        </p:nvPicPr>
        <p:blipFill rotWithShape="1">
          <a:blip r:embed="rId4" cstate="print"/>
          <a:srcRect l="9825" t="6522" r="9055" b="8902"/>
          <a:stretch/>
        </p:blipFill>
        <p:spPr bwMode="auto">
          <a:xfrm>
            <a:off x="2711624" y="5301208"/>
            <a:ext cx="1828800" cy="1447800"/>
          </a:xfrm>
          <a:prstGeom prst="rect">
            <a:avLst/>
          </a:prstGeom>
          <a:noFill/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61600" y="3654604"/>
            <a:ext cx="4948791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xray.tif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g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imcomplement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figure,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pic>
        <p:nvPicPr>
          <p:cNvPr id="14" name="Picture 6" descr="neg_plot"/>
          <p:cNvPicPr>
            <a:picLocks noChangeAspect="1" noChangeArrowheads="1"/>
          </p:cNvPicPr>
          <p:nvPr/>
        </p:nvPicPr>
        <p:blipFill rotWithShape="1">
          <a:blip r:embed="rId5" cstate="print"/>
          <a:srcRect l="5069" r="8762"/>
          <a:stretch/>
        </p:blipFill>
        <p:spPr bwMode="auto">
          <a:xfrm>
            <a:off x="6023992" y="1484784"/>
            <a:ext cx="6120680" cy="5328592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191344" y="1542271"/>
            <a:ext cx="58326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negative inverts the intensity of pixels. Here L = 2.</a:t>
            </a:r>
          </a:p>
          <a:p>
            <a:pPr algn="just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 –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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[0,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-1].</a:t>
            </a:r>
          </a:p>
        </p:txBody>
      </p:sp>
    </p:spTree>
    <p:extLst>
      <p:ext uri="{BB962C8B-B14F-4D97-AF65-F5344CB8AC3E}">
        <p14:creationId xmlns:p14="http://schemas.microsoft.com/office/powerpoint/2010/main" val="15825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Power-Law (Gamma)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4854" y="1484784"/>
            <a:ext cx="5059818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9336" y="1293728"/>
            <a:ext cx="7128792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brightening the darkest regions (0 &lt;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&lt; 1)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darkening the brightest regions in an image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&gt; 1)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39405" y="4462517"/>
            <a:ext cx="1452534" cy="1821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62125" y="2446437"/>
            <a:ext cx="589047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[10 100 200; 100 0 0; 10 18 100]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   	10   100   200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100     0     0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10    18   100</a:t>
            </a:r>
          </a:p>
          <a:p>
            <a:endParaRPr lang="pt-BR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R1=mat2gray(R) % range must be from 0 to 1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=	0.0500    0.5000    1.0000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0.5000         0         0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0.0500    0.0900    0.5000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fGamaB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R1.^0.5 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fGamaB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	0.2236    0.7071    1.0000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0.7071         0         0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0.2236    0.3000    0.7071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fGamaD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R1.^2</a:t>
            </a:r>
          </a:p>
          <a:p>
            <a:r>
              <a:rPr lang="da-DK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fGamaD =    	0.0025    0.2500    1.0000</a:t>
            </a:r>
          </a:p>
          <a:p>
            <a:r>
              <a:rPr lang="da-DK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0.2500         0         0</a:t>
            </a:r>
          </a:p>
          <a:p>
            <a:r>
              <a:rPr lang="da-DK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0.0025    0.0081    0.2500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329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Power-Law (Gamma)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9336" y="1340768"/>
            <a:ext cx="10585176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imadjust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low_in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high_in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[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low_out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high_out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gamma);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19336" y="2406650"/>
            <a:ext cx="6696744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 =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('xray.tif');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g =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imadjust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 ], [ ], 0.5);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figure,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pic>
        <p:nvPicPr>
          <p:cNvPr id="16" name="Picture 14" descr="xray-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2690" y="4221088"/>
            <a:ext cx="2286000" cy="1735138"/>
          </a:xfrm>
          <a:prstGeom prst="rect">
            <a:avLst/>
          </a:prstGeom>
          <a:noFill/>
        </p:spPr>
      </p:pic>
      <p:pic>
        <p:nvPicPr>
          <p:cNvPr id="17" name="Picture 3" descr="xr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474" y="4285804"/>
            <a:ext cx="1820862" cy="1498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475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Logarithmic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9336" y="1340768"/>
            <a:ext cx="7128792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compress the dynamic range of values within an image. </a:t>
            </a:r>
          </a:p>
          <a:p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log(1 + double(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constant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 descr="log_plot2"/>
          <p:cNvPicPr>
            <a:picLocks noChangeAspect="1" noChangeArrowheads="1"/>
          </p:cNvPicPr>
          <p:nvPr/>
        </p:nvPicPr>
        <p:blipFill rotWithShape="1">
          <a:blip r:embed="rId2" cstate="print"/>
          <a:srcRect l="4287" r="8895"/>
          <a:stretch/>
        </p:blipFill>
        <p:spPr bwMode="auto">
          <a:xfrm>
            <a:off x="7104112" y="1362100"/>
            <a:ext cx="5040560" cy="4354454"/>
          </a:xfrm>
          <a:prstGeom prst="rect">
            <a:avLst/>
          </a:prstGeom>
          <a:noFill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8921" y="4968676"/>
            <a:ext cx="3718967" cy="18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91344" y="3140968"/>
            <a:ext cx="6886822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spectrum.tif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here c = 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g = im2uint8(mat2gray(log(1+double(f))));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figure,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</p:spTree>
    <p:extLst>
      <p:ext uri="{BB962C8B-B14F-4D97-AF65-F5344CB8AC3E}">
        <p14:creationId xmlns:p14="http://schemas.microsoft.com/office/powerpoint/2010/main" val="346408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Contrast-Stretching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44016" y="1328569"/>
            <a:ext cx="6168008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compress the dynamic range of values within an image.</a:t>
            </a: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/ (1 +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0 &lt;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&lt; 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values are scaled to the range [0, 1]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1./(1 + (m./(double(f) + eps)).^E)</a:t>
            </a:r>
          </a:p>
        </p:txBody>
      </p:sp>
      <p:sp>
        <p:nvSpPr>
          <p:cNvPr id="2" name="Rectangle 1"/>
          <p:cNvSpPr/>
          <p:nvPr/>
        </p:nvSpPr>
        <p:spPr>
          <a:xfrm>
            <a:off x="191344" y="4581128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pollen.tif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im2double(f);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m = mean2(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g = 1./(1+(m./(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fd+eps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)).^4);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figure,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4337" t="5864" r="14337" b="14691"/>
          <a:stretch/>
        </p:blipFill>
        <p:spPr>
          <a:xfrm>
            <a:off x="8350650" y="4509120"/>
            <a:ext cx="2281854" cy="22322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14210" t="5482" r="14464" b="15073"/>
          <a:stretch/>
        </p:blipFill>
        <p:spPr>
          <a:xfrm>
            <a:off x="5758362" y="4510362"/>
            <a:ext cx="2286000" cy="2236305"/>
          </a:xfrm>
          <a:prstGeom prst="rect">
            <a:avLst/>
          </a:prstGeom>
        </p:spPr>
      </p:pic>
      <p:pic>
        <p:nvPicPr>
          <p:cNvPr id="27650" name="Picture 2" descr="Image result for contrast stretchi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7" r="2548"/>
          <a:stretch/>
        </p:blipFill>
        <p:spPr bwMode="auto">
          <a:xfrm>
            <a:off x="6459458" y="1916832"/>
            <a:ext cx="5640102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36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235768" y="125760"/>
            <a:ext cx="10540752" cy="926976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Intensity Transformation</a:t>
            </a:r>
            <a:br>
              <a:rPr lang="en-US" sz="2700" dirty="0"/>
            </a:br>
            <a:r>
              <a:rPr lang="en-US" sz="2700" dirty="0"/>
              <a:t>			</a:t>
            </a:r>
            <a:r>
              <a:rPr lang="en-US" sz="4000" dirty="0"/>
              <a:t>Exercise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36" y="1340768"/>
            <a:ext cx="10585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intensity transformation was used on liftingbody.png to create each of the four results below. Write a script to reproduce the results using the intensity transformation functions.</a:t>
            </a:r>
          </a:p>
        </p:txBody>
      </p:sp>
      <p:pic>
        <p:nvPicPr>
          <p:cNvPr id="6" name="Picture 4" descr="Origin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86290" y="2887663"/>
            <a:ext cx="1609725" cy="1609726"/>
          </a:xfrm>
          <a:prstGeom prst="rect">
            <a:avLst/>
          </a:prstGeom>
          <a:noFill/>
        </p:spPr>
      </p:pic>
      <p:pic>
        <p:nvPicPr>
          <p:cNvPr id="7" name="Picture 6" descr="Result 1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74449" y="4716465"/>
            <a:ext cx="1609725" cy="1609726"/>
          </a:xfrm>
          <a:prstGeom prst="rect">
            <a:avLst/>
          </a:prstGeom>
          <a:noFill/>
        </p:spPr>
      </p:pic>
      <p:pic>
        <p:nvPicPr>
          <p:cNvPr id="8" name="Picture 8" descr="Result 2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37962" y="4686484"/>
            <a:ext cx="1609725" cy="1609726"/>
          </a:xfrm>
          <a:prstGeom prst="rect">
            <a:avLst/>
          </a:prstGeom>
          <a:noFill/>
        </p:spPr>
      </p:pic>
      <p:pic>
        <p:nvPicPr>
          <p:cNvPr id="9" name="Picture 10" descr="Result 3">
            <a:hlinkClick r:id="rId7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296545" y="4716464"/>
            <a:ext cx="1609725" cy="1609726"/>
          </a:xfrm>
          <a:prstGeom prst="rect">
            <a:avLst/>
          </a:prstGeom>
          <a:noFill/>
        </p:spPr>
      </p:pic>
      <p:pic>
        <p:nvPicPr>
          <p:cNvPr id="10" name="Picture 12" descr="Result 4">
            <a:hlinkClick r:id="rId9"/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605032" y="4686484"/>
            <a:ext cx="1609725" cy="1609726"/>
          </a:xfrm>
          <a:prstGeom prst="rect">
            <a:avLst/>
          </a:prstGeom>
          <a:noFill/>
        </p:spPr>
      </p:pic>
      <p:sp>
        <p:nvSpPr>
          <p:cNvPr id="11" name="Right Arrow Callout 10"/>
          <p:cNvSpPr/>
          <p:nvPr/>
        </p:nvSpPr>
        <p:spPr bwMode="auto">
          <a:xfrm>
            <a:off x="4611970" y="3432749"/>
            <a:ext cx="1933731" cy="494675"/>
          </a:xfrm>
          <a:prstGeom prst="rightArrow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764" y="6385813"/>
            <a:ext cx="84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 1	              Result 2	                     Result 3	             Result 4</a:t>
            </a:r>
          </a:p>
        </p:txBody>
      </p:sp>
    </p:spTree>
    <p:extLst>
      <p:ext uri="{BB962C8B-B14F-4D97-AF65-F5344CB8AC3E}">
        <p14:creationId xmlns:p14="http://schemas.microsoft.com/office/powerpoint/2010/main" val="4027827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191345" y="1479077"/>
            <a:ext cx="6048672" cy="4914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&amp; Plotting Image Histograms: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intensity value,</a:t>
            </a:r>
          </a:p>
          <a:p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pixels in the image with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Histogram: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=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(Relative frequency)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size of image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imhist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(f);</a:t>
            </a:r>
          </a:p>
        </p:txBody>
      </p:sp>
      <p:pic>
        <p:nvPicPr>
          <p:cNvPr id="1986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0136" y="1257486"/>
            <a:ext cx="3278014" cy="5575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Processing</a:t>
            </a:r>
          </a:p>
        </p:txBody>
      </p:sp>
    </p:spTree>
    <p:extLst>
      <p:ext uri="{BB962C8B-B14F-4D97-AF65-F5344CB8AC3E}">
        <p14:creationId xmlns:p14="http://schemas.microsoft.com/office/powerpoint/2010/main" val="940980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Text Box 3"/>
          <p:cNvSpPr txBox="1">
            <a:spLocks noChangeArrowheads="1"/>
          </p:cNvSpPr>
          <p:nvPr/>
        </p:nvSpPr>
        <p:spPr bwMode="auto">
          <a:xfrm>
            <a:off x="189186" y="1268760"/>
            <a:ext cx="50427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('pollen.tif');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h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subplot(2,2,1),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(f), subplot(2,2,2), histogram(f), subplot(2,2,3),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(h), subplot(2,2,4), histogram(h)</a:t>
            </a:r>
          </a:p>
        </p:txBody>
      </p:sp>
      <p:pic>
        <p:nvPicPr>
          <p:cNvPr id="207876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33610"/>
          <a:stretch/>
        </p:blipFill>
        <p:spPr bwMode="auto">
          <a:xfrm>
            <a:off x="9336360" y="1160783"/>
            <a:ext cx="2808312" cy="563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78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2769" y="1169260"/>
            <a:ext cx="3293591" cy="5602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7" t="2721" r="6765" b="4830"/>
          <a:stretch/>
        </p:blipFill>
        <p:spPr bwMode="auto">
          <a:xfrm>
            <a:off x="222246" y="3577085"/>
            <a:ext cx="3857530" cy="31642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10144" y="98629"/>
            <a:ext cx="103880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Processing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</a:t>
            </a:r>
          </a:p>
        </p:txBody>
      </p:sp>
    </p:spTree>
    <p:extLst>
      <p:ext uri="{BB962C8B-B14F-4D97-AF65-F5344CB8AC3E}">
        <p14:creationId xmlns:p14="http://schemas.microsoft.com/office/powerpoint/2010/main" val="412174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Text Box 3"/>
          <p:cNvSpPr txBox="1">
            <a:spLocks noChangeArrowheads="1"/>
          </p:cNvSpPr>
          <p:nvPr/>
        </p:nvSpPr>
        <p:spPr bwMode="auto">
          <a:xfrm>
            <a:off x="189186" y="1268760"/>
            <a:ext cx="10587334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which can read an image as an input and do the following automatically. Show the results of all steps.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type of image: binary, gray or RGB.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issue in image, over dark, over bright, low contrast, or normal. (Hint: can use histogram).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the issue if any and show the final image after enhancement.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lphaLcParenR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your program on following images: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4907617"/>
            <a:ext cx="1771650" cy="164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476" y="4907617"/>
            <a:ext cx="1377950" cy="164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5" descr="enter image description he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4907617"/>
            <a:ext cx="2470150" cy="164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352" y="4885982"/>
            <a:ext cx="2476500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6003634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28600" y="1955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28600" y="6895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6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 Processing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7848" y="1479076"/>
            <a:ext cx="5839817" cy="514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92324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92832" y="1566664"/>
            <a:ext cx="2590800" cy="2438400"/>
            <a:chOff x="385" y="1589"/>
            <a:chExt cx="1632" cy="1536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95" y="1688"/>
              <a:ext cx="1508" cy="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endParaRPr lang="en-US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en-US" sz="18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sz="32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w</a:t>
              </a:r>
              <a:r>
                <a:rPr lang="en-US" sz="32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85" y="1589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913" y="1589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85" y="2117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2999656" y="1555750"/>
            <a:ext cx="4419600" cy="4114800"/>
            <a:chOff x="2496" y="870"/>
            <a:chExt cx="2784" cy="2592"/>
          </a:xfrm>
        </p:grpSpPr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38" y="1014"/>
              <a:ext cx="1300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f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072" y="1398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600" y="870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496" y="1926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496" y="870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496" y="2934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496" y="870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704" y="870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4704" y="2934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2149628" y="6218148"/>
            <a:ext cx="999504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9"/>
          <p:cNvGrpSpPr>
            <a:grpSpLocks/>
          </p:cNvGrpSpPr>
          <p:nvPr/>
        </p:nvGrpSpPr>
        <p:grpSpPr bwMode="auto">
          <a:xfrm>
            <a:off x="7653064" y="1556792"/>
            <a:ext cx="4419600" cy="4114800"/>
            <a:chOff x="2496" y="870"/>
            <a:chExt cx="2784" cy="2592"/>
          </a:xfrm>
        </p:grpSpPr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2682" y="1014"/>
              <a:ext cx="1472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3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g</a:t>
              </a:r>
              <a:r>
                <a:rPr lang="en-US" sz="3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3072" y="1398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3600" y="870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2496" y="1926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>
              <a:off x="2496" y="870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2496" y="2934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2496" y="870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704" y="870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4704" y="2934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737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 - Without Padding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92832" y="1916360"/>
            <a:ext cx="2590800" cy="2438400"/>
            <a:chOff x="385" y="1589"/>
            <a:chExt cx="1632" cy="1536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95" y="1688"/>
              <a:ext cx="1508" cy="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-1      0</a:t>
              </a:r>
            </a:p>
            <a:p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      4     -1 </a:t>
              </a:r>
            </a:p>
            <a:p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-1      0</a:t>
              </a:r>
              <a:endPara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85" y="1589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913" y="1589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85" y="2117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19"/>
          <p:cNvGrpSpPr>
            <a:grpSpLocks/>
          </p:cNvGrpSpPr>
          <p:nvPr/>
        </p:nvGrpSpPr>
        <p:grpSpPr bwMode="auto">
          <a:xfrm>
            <a:off x="2999656" y="1906488"/>
            <a:ext cx="4419600" cy="4114800"/>
            <a:chOff x="2496" y="1248"/>
            <a:chExt cx="2784" cy="2592"/>
          </a:xfrm>
        </p:grpSpPr>
        <p:sp>
          <p:nvSpPr>
            <p:cNvPr id="64" name="Text Box 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2      3       5      7       2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3      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7      5       2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5      6       5      3       1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2      6       2      2       1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65" name="Rectangle 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1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1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Group 19"/>
          <p:cNvGrpSpPr>
            <a:grpSpLocks/>
          </p:cNvGrpSpPr>
          <p:nvPr/>
        </p:nvGrpSpPr>
        <p:grpSpPr bwMode="auto">
          <a:xfrm>
            <a:off x="7608168" y="1896144"/>
            <a:ext cx="4419600" cy="4114800"/>
            <a:chOff x="2496" y="1248"/>
            <a:chExt cx="2784" cy="2592"/>
          </a:xfrm>
        </p:grpSpPr>
        <p:sp>
          <p:nvSpPr>
            <p:cNvPr id="74" name="Text Box 8"/>
            <p:cNvSpPr txBox="1">
              <a:spLocks noChangeArrowheads="1"/>
            </p:cNvSpPr>
            <p:nvPr/>
          </p:nvSpPr>
          <p:spPr bwMode="auto">
            <a:xfrm>
              <a:off x="2496" y="1346"/>
              <a:ext cx="2399" cy="1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</a:t>
              </a: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?       ?     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sz="3200" b="1" kern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?</a:t>
              </a:r>
              <a:r>
                <a:rPr kumimoji="0" lang="en-US" sz="32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?      ?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kern="0" baseline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?      ?</a:t>
              </a:r>
              <a:r>
                <a:rPr kumimoji="0" lang="en-US" sz="32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?</a:t>
              </a:r>
              <a:endParaRPr kumimoji="0" 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1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1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1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1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1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1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8" name="Text Box 19"/>
          <p:cNvSpPr txBox="1">
            <a:spLocks noChangeArrowheads="1"/>
          </p:cNvSpPr>
          <p:nvPr/>
        </p:nvSpPr>
        <p:spPr bwMode="auto">
          <a:xfrm>
            <a:off x="1763432" y="6237312"/>
            <a:ext cx="1020824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2*0 + 3*(-1) + 5*0 + 3*(-1) + 4*4 + 7*(-1) + 5*0 + 6*(-1) + 5*0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</p:txBody>
      </p:sp>
      <p:sp>
        <p:nvSpPr>
          <p:cNvPr id="3" name="Rectangle 2"/>
          <p:cNvSpPr/>
          <p:nvPr/>
        </p:nvSpPr>
        <p:spPr>
          <a:xfrm>
            <a:off x="2999656" y="1916832"/>
            <a:ext cx="2590800" cy="2494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3" y="1412776"/>
            <a:ext cx="10945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(Filter)                               Given Image                                          Filtered Image</a:t>
            </a:r>
          </a:p>
        </p:txBody>
      </p:sp>
    </p:spTree>
    <p:extLst>
      <p:ext uri="{BB962C8B-B14F-4D97-AF65-F5344CB8AC3E}">
        <p14:creationId xmlns:p14="http://schemas.microsoft.com/office/powerpoint/2010/main" val="2551193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913584"/>
            <a:ext cx="3200400" cy="2971800"/>
            <a:chOff x="192" y="2208"/>
            <a:chExt cx="2160" cy="1872"/>
          </a:xfrm>
        </p:grpSpPr>
        <p:sp>
          <p:nvSpPr>
            <p:cNvPr id="220179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0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1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2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3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4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5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86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286000" y="2291160"/>
            <a:ext cx="3124200" cy="1546225"/>
            <a:chOff x="480" y="1426"/>
            <a:chExt cx="1968" cy="974"/>
          </a:xfrm>
        </p:grpSpPr>
        <p:sp>
          <p:nvSpPr>
            <p:cNvPr id="220189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190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4500563" y="1046559"/>
            <a:ext cx="2590800" cy="2438400"/>
            <a:chOff x="201" y="1074"/>
            <a:chExt cx="1632" cy="1536"/>
          </a:xfrm>
        </p:grpSpPr>
        <p:sp>
          <p:nvSpPr>
            <p:cNvPr id="220208" name="Text Box 48"/>
            <p:cNvSpPr txBox="1">
              <a:spLocks noChangeArrowheads="1"/>
            </p:cNvSpPr>
            <p:nvPr/>
          </p:nvSpPr>
          <p:spPr bwMode="auto">
            <a:xfrm>
              <a:off x="297" y="1163"/>
              <a:ext cx="1438" cy="1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-1      0</a:t>
              </a:r>
            </a:p>
            <a:p>
              <a:endParaRPr lang="en-US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-1      4     -1 </a:t>
              </a:r>
            </a:p>
            <a:p>
              <a:endParaRPr lang="en-US" sz="1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0209" name="Rectangle 49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0" name="Rectangle 50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1" name="Rectangle 51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5486400" y="2008584"/>
            <a:ext cx="4419600" cy="4114800"/>
            <a:chOff x="2496" y="1248"/>
            <a:chExt cx="2784" cy="2592"/>
          </a:xfrm>
        </p:grpSpPr>
        <p:sp>
          <p:nvSpPr>
            <p:cNvPr id="220213" name="Text Box 53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0214" name="Rectangle 54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5" name="Rectangle 55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6" name="Rectangle 56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7" name="Rectangle 57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8" name="Rectangle 58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19" name="Rectangle 59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20" name="Rectangle 60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221" name="Rectangle 61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85022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115062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1203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4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5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6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7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8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9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0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819400" y="2133601"/>
            <a:ext cx="3581400" cy="1546225"/>
            <a:chOff x="480" y="1426"/>
            <a:chExt cx="1968" cy="974"/>
          </a:xfrm>
        </p:grpSpPr>
        <p:sp>
          <p:nvSpPr>
            <p:cNvPr id="221213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4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414963" y="1019175"/>
            <a:ext cx="2590800" cy="2438400"/>
            <a:chOff x="201" y="1074"/>
            <a:chExt cx="1632" cy="1536"/>
          </a:xfrm>
        </p:grpSpPr>
        <p:sp>
          <p:nvSpPr>
            <p:cNvPr id="221217" name="Text Box 33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1218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9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0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1222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1223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4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5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6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7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8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9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30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57638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2574996" y="3920876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369231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2227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28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29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0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1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2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3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4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429000" y="2286001"/>
            <a:ext cx="3657600" cy="1546225"/>
            <a:chOff x="480" y="1426"/>
            <a:chExt cx="1968" cy="974"/>
          </a:xfrm>
        </p:grpSpPr>
        <p:sp>
          <p:nvSpPr>
            <p:cNvPr id="222237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8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6243638" y="1019175"/>
            <a:ext cx="2590800" cy="2438400"/>
            <a:chOff x="201" y="1074"/>
            <a:chExt cx="1632" cy="1536"/>
          </a:xfrm>
        </p:grpSpPr>
        <p:sp>
          <p:nvSpPr>
            <p:cNvPr id="222241" name="Text Box 33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2242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3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4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2246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2247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8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9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0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1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2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3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4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57638"/>
            <a:ext cx="10823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2     1 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3221402" y="3952408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310315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3251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2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3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4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5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6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7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58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962400" y="2286001"/>
            <a:ext cx="4495800" cy="1546225"/>
            <a:chOff x="480" y="1426"/>
            <a:chExt cx="1968" cy="974"/>
          </a:xfrm>
        </p:grpSpPr>
        <p:sp>
          <p:nvSpPr>
            <p:cNvPr id="223261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62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7043738" y="1019175"/>
            <a:ext cx="2590800" cy="2438400"/>
            <a:chOff x="201" y="1074"/>
            <a:chExt cx="1632" cy="1536"/>
          </a:xfrm>
        </p:grpSpPr>
        <p:sp>
          <p:nvSpPr>
            <p:cNvPr id="223265" name="Text Box 33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3266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67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68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3270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3271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2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3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4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5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6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7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3278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1" y="3957638"/>
            <a:ext cx="171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2     1     3 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3725915" y="3952408"/>
            <a:ext cx="5437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370813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4275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76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77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78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79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80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81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82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4648200" y="2286001"/>
            <a:ext cx="4648200" cy="1546225"/>
            <a:chOff x="480" y="1426"/>
            <a:chExt cx="1968" cy="974"/>
          </a:xfrm>
        </p:grpSpPr>
        <p:sp>
          <p:nvSpPr>
            <p:cNvPr id="224285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86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7958138" y="1019175"/>
            <a:ext cx="2590800" cy="2438400"/>
            <a:chOff x="201" y="1074"/>
            <a:chExt cx="1632" cy="1536"/>
          </a:xfrm>
        </p:grpSpPr>
        <p:sp>
          <p:nvSpPr>
            <p:cNvPr id="224289" name="Text Box 33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4290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1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2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4294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4295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6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7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8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299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300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301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4302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576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2     1      3   16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4451150" y="3968174"/>
            <a:ext cx="484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239945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5299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0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1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2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3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4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5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06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133600" y="3200401"/>
            <a:ext cx="4648200" cy="1546225"/>
            <a:chOff x="480" y="1426"/>
            <a:chExt cx="1968" cy="974"/>
          </a:xfrm>
        </p:grpSpPr>
        <p:sp>
          <p:nvSpPr>
            <p:cNvPr id="225309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10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4500563" y="1833563"/>
            <a:ext cx="2590800" cy="2438400"/>
            <a:chOff x="201" y="1074"/>
            <a:chExt cx="1632" cy="1536"/>
          </a:xfrm>
        </p:grpSpPr>
        <p:sp>
          <p:nvSpPr>
            <p:cNvPr id="225313" name="Text Box 33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5314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15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16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5318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5319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0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1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2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3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4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5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5326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1" y="3957638"/>
            <a:ext cx="308770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     1      3   16    -1 </a:t>
            </a: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2007420" y="4614580"/>
            <a:ext cx="364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60694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6323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4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5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6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7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8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29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30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6331" name="Text Box 27"/>
          <p:cNvSpPr txBox="1">
            <a:spLocks noChangeArrowheads="1"/>
          </p:cNvSpPr>
          <p:nvPr/>
        </p:nvSpPr>
        <p:spPr bwMode="auto">
          <a:xfrm>
            <a:off x="1981201" y="3957639"/>
            <a:ext cx="3087705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2     1      3   16    -1 </a:t>
            </a: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1     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948059" y="3406779"/>
            <a:ext cx="4270298" cy="1487488"/>
            <a:chOff x="599" y="1556"/>
            <a:chExt cx="1808" cy="937"/>
          </a:xfrm>
        </p:grpSpPr>
        <p:sp>
          <p:nvSpPr>
            <p:cNvPr id="226333" name="Arc 29"/>
            <p:cNvSpPr>
              <a:spLocks/>
            </p:cNvSpPr>
            <p:nvPr/>
          </p:nvSpPr>
          <p:spPr bwMode="auto">
            <a:xfrm flipH="1">
              <a:off x="599" y="1556"/>
              <a:ext cx="180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34" name="Line 30"/>
            <p:cNvSpPr>
              <a:spLocks noChangeShapeType="1"/>
            </p:cNvSpPr>
            <p:nvPr/>
          </p:nvSpPr>
          <p:spPr bwMode="auto">
            <a:xfrm>
              <a:off x="605" y="2253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343525" y="1833563"/>
            <a:ext cx="2590800" cy="2438400"/>
            <a:chOff x="201" y="1074"/>
            <a:chExt cx="1632" cy="1536"/>
          </a:xfrm>
        </p:grpSpPr>
        <p:sp>
          <p:nvSpPr>
            <p:cNvPr id="226338" name="Text Box 34"/>
            <p:cNvSpPr txBox="1">
              <a:spLocks noChangeArrowheads="1"/>
            </p:cNvSpPr>
            <p:nvPr/>
          </p:nvSpPr>
          <p:spPr bwMode="auto">
            <a:xfrm>
              <a:off x="297" y="1163"/>
              <a:ext cx="1451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-1      4     -1 </a:t>
              </a:r>
            </a:p>
            <a:p>
              <a:endParaRPr lang="en-US" sz="1800" b="1" dirty="0"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latin typeface="Times New Roman" panose="02020603050405020304" pitchFamily="18" charset="0"/>
                </a:rPr>
                <a:t> 0     -1      0</a:t>
              </a:r>
            </a:p>
          </p:txBody>
        </p:sp>
        <p:sp>
          <p:nvSpPr>
            <p:cNvPr id="226339" name="Rectangle 35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0" name="Rectangle 36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1" name="Rectangle 37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6343" name="Text Box 39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6344" name="Rectangle 40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5" name="Rectangle 41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6" name="Rectangle 42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7" name="Rectangle 43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8" name="Rectangle 44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49" name="Rectangle 45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50" name="Rectangle 46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6351" name="Rectangle 47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11932" y="4567238"/>
            <a:ext cx="484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-3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181575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6023992" y="2637487"/>
            <a:ext cx="3560627" cy="40318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[2 2], 'replicate')</a:t>
            </a:r>
          </a:p>
          <a:p>
            <a:pPr marL="457200" indent="-45720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1     1     1     2     2     2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1     1     1     2     2     2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1     1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3     3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4     4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3     3     3     4     4     4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3     3     3     4     4     4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[2 2], 'circular')</a:t>
            </a:r>
          </a:p>
          <a:p>
            <a:pPr marL="457200" indent="-45720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1     2     1     2     1     2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3     4     3     4     3     4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1     2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3     4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3     4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1     2     1     2     1     2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3     4     3     4     3     4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9336" y="1406381"/>
            <a:ext cx="4294912" cy="52629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f=[1 2; 3 4]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1     2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3     4</a:t>
            </a:r>
          </a:p>
          <a:p>
            <a:pPr marL="457200" indent="-45720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[2 2], 0)</a:t>
            </a:r>
          </a:p>
          <a:p>
            <a:pPr marL="457200" indent="-45720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0     0     0     0     0     0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0     0     0     0     0     0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0     0     0     0     0     0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0     0     0     0     0     0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 [2 2], 'symmetric')</a:t>
            </a:r>
          </a:p>
          <a:p>
            <a:pPr marL="457200" indent="-45720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4     3     3     4     4     3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2     1     1     2     2     1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2     1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1     2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2     1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4     3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4     3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4     3     3     4     4     3</a:t>
            </a:r>
          </a:p>
          <a:p>
            <a:pPr marL="457200" indent="-45720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2     1     1     2     2     1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Spatial Filtering - Padding Options</a:t>
            </a:r>
          </a:p>
        </p:txBody>
      </p:sp>
    </p:spTree>
    <p:extLst>
      <p:ext uri="{BB962C8B-B14F-4D97-AF65-F5344CB8AC3E}">
        <p14:creationId xmlns:p14="http://schemas.microsoft.com/office/powerpoint/2010/main" val="305828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0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0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0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0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0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04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0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304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04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304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304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304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304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304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04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04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304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304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10144" y="1412776"/>
            <a:ext cx="11574488" cy="544522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altLang="zh-CN" sz="2800" dirty="0">
                <a:ea typeface="宋体" pitchFamily="2" charset="-122"/>
              </a:rPr>
              <a:t>In spatial filtering (vs. frequency domain filtering), the output image is computed directly by simple calculations on the pixels of the input image.</a:t>
            </a:r>
          </a:p>
          <a:p>
            <a:pPr algn="just"/>
            <a:r>
              <a:rPr lang="en-US" altLang="zh-CN" sz="2800" dirty="0">
                <a:ea typeface="宋体" pitchFamily="2" charset="-122"/>
              </a:rPr>
              <a:t>Spatial filtering can be either linear or non-linear.</a:t>
            </a:r>
          </a:p>
          <a:p>
            <a:pPr algn="just"/>
            <a:r>
              <a:rPr lang="en-US" altLang="zh-CN" sz="2800" dirty="0">
                <a:ea typeface="宋体" pitchFamily="2" charset="-122"/>
              </a:rPr>
              <a:t>For each output pixel, some neighborhood of input pixels is used in the computation. </a:t>
            </a:r>
            <a:endParaRPr lang="en-US" altLang="zh-TW" sz="2800" dirty="0">
              <a:ea typeface="新細明體" pitchFamily="18" charset="-120"/>
            </a:endParaRPr>
          </a:p>
          <a:p>
            <a:pPr algn="just"/>
            <a:r>
              <a:rPr lang="en-US" altLang="zh-TW" sz="2800" dirty="0">
                <a:ea typeface="新細明體" pitchFamily="18" charset="-120"/>
              </a:rPr>
              <a:t>In general,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linear filtering</a:t>
            </a:r>
            <a:r>
              <a:rPr lang="en-US" altLang="zh-TW" sz="2800" dirty="0">
                <a:ea typeface="新細明體" pitchFamily="18" charset="-120"/>
              </a:rPr>
              <a:t> of an image </a:t>
            </a:r>
            <a:r>
              <a:rPr lang="en-US" altLang="zh-TW" sz="2800" i="1" dirty="0">
                <a:ea typeface="新細明體" pitchFamily="18" charset="-120"/>
              </a:rPr>
              <a:t>f </a:t>
            </a:r>
            <a:r>
              <a:rPr lang="en-US" altLang="zh-TW" sz="2800" dirty="0">
                <a:ea typeface="新細明體" pitchFamily="18" charset="-120"/>
              </a:rPr>
              <a:t>of size </a:t>
            </a:r>
            <a:r>
              <a:rPr lang="en-US" altLang="zh-TW" sz="2800" i="1" dirty="0" err="1">
                <a:ea typeface="新細明體" pitchFamily="18" charset="-120"/>
              </a:rPr>
              <a:t>M</a:t>
            </a:r>
            <a:r>
              <a:rPr lang="en-US" altLang="zh-TW" sz="2800" dirty="0" err="1">
                <a:ea typeface="新細明體" pitchFamily="18" charset="-120"/>
                <a:sym typeface="Mathematica1" pitchFamily="2" charset="2"/>
              </a:rPr>
              <a:t>x</a:t>
            </a:r>
            <a:r>
              <a:rPr lang="en-US" altLang="zh-TW" sz="2800" i="1" dirty="0" err="1"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 with a filter mask of size </a:t>
            </a:r>
            <a:r>
              <a:rPr lang="en-US" altLang="zh-TW" sz="2800" i="1" dirty="0" err="1">
                <a:ea typeface="新細明體" pitchFamily="18" charset="-120"/>
              </a:rPr>
              <a:t>m</a:t>
            </a:r>
            <a:r>
              <a:rPr lang="en-US" altLang="zh-TW" sz="2800" dirty="0" err="1">
                <a:ea typeface="新細明體" pitchFamily="18" charset="-120"/>
                <a:sym typeface="Mathematica1" pitchFamily="2" charset="2"/>
              </a:rPr>
              <a:t>x</a:t>
            </a:r>
            <a:r>
              <a:rPr lang="en-US" altLang="zh-TW" sz="2800" i="1" dirty="0" err="1"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 is given by </a:t>
            </a:r>
          </a:p>
          <a:p>
            <a:pPr algn="just"/>
            <a:endParaRPr lang="en-US" altLang="zh-TW" sz="2800" dirty="0">
              <a:ea typeface="新細明體" pitchFamily="18" charset="-120"/>
            </a:endParaRPr>
          </a:p>
          <a:p>
            <a:pPr algn="just">
              <a:buFontTx/>
              <a:buNone/>
            </a:pPr>
            <a:r>
              <a:rPr lang="en-US" altLang="zh-TW" sz="2800" dirty="0">
                <a:ea typeface="新細明體" pitchFamily="18" charset="-120"/>
              </a:rPr>
              <a:t>		where </a:t>
            </a:r>
            <a:r>
              <a:rPr lang="en-US" altLang="zh-TW" sz="2800" i="1" dirty="0">
                <a:ea typeface="新細明體" pitchFamily="18" charset="-120"/>
              </a:rPr>
              <a:t>a </a:t>
            </a:r>
            <a:r>
              <a:rPr lang="en-US" altLang="zh-TW" sz="2800" dirty="0">
                <a:ea typeface="新細明體" pitchFamily="18" charset="-120"/>
              </a:rPr>
              <a:t>= (</a:t>
            </a:r>
            <a:r>
              <a:rPr lang="en-US" altLang="zh-TW" sz="2800" i="1" dirty="0">
                <a:ea typeface="新細明體" pitchFamily="18" charset="-120"/>
              </a:rPr>
              <a:t>m</a:t>
            </a:r>
            <a:r>
              <a:rPr lang="en-US" altLang="zh-TW" sz="2800" dirty="0">
                <a:ea typeface="新細明體" pitchFamily="18" charset="-120"/>
              </a:rPr>
              <a:t>-1)/2 and </a:t>
            </a:r>
            <a:r>
              <a:rPr lang="en-US" altLang="zh-TW" sz="2800" i="1" dirty="0">
                <a:ea typeface="新細明體" pitchFamily="18" charset="-120"/>
              </a:rPr>
              <a:t>b </a:t>
            </a:r>
            <a:r>
              <a:rPr lang="en-US" altLang="zh-TW" sz="2800" dirty="0">
                <a:ea typeface="新細明體" pitchFamily="18" charset="-120"/>
              </a:rPr>
              <a:t>= (</a:t>
            </a:r>
            <a:r>
              <a:rPr lang="en-US" altLang="zh-TW" sz="2800" i="1" dirty="0">
                <a:ea typeface="新細明體" pitchFamily="18" charset="-120"/>
              </a:rPr>
              <a:t>n</a:t>
            </a:r>
            <a:r>
              <a:rPr lang="en-US" altLang="zh-TW" sz="2800" dirty="0">
                <a:ea typeface="新細明體" pitchFamily="18" charset="-120"/>
              </a:rPr>
              <a:t>-1)/2</a:t>
            </a:r>
          </a:p>
          <a:p>
            <a:pPr algn="just"/>
            <a:r>
              <a:rPr lang="en-US" altLang="zh-TW" sz="2800" dirty="0">
                <a:ea typeface="新細明體" pitchFamily="18" charset="-120"/>
              </a:rPr>
              <a:t>This concept is called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convolution</a:t>
            </a:r>
            <a:r>
              <a:rPr lang="en-US" altLang="zh-TW" sz="2800" dirty="0">
                <a:ea typeface="新細明體" pitchFamily="18" charset="-120"/>
              </a:rPr>
              <a:t>. Filter masks are sometimes called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convolution masks</a:t>
            </a:r>
            <a:r>
              <a:rPr lang="en-US" altLang="zh-TW" sz="2800" dirty="0">
                <a:ea typeface="新細明體" pitchFamily="18" charset="-120"/>
              </a:rPr>
              <a:t> or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convolution kernels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</p:txBody>
      </p:sp>
      <p:graphicFrame>
        <p:nvGraphicFramePr>
          <p:cNvPr id="23450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352008"/>
              </p:ext>
            </p:extLst>
          </p:nvPr>
        </p:nvGraphicFramePr>
        <p:xfrm>
          <a:off x="5597526" y="4437112"/>
          <a:ext cx="47783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431640" progId="Equation.3">
                  <p:embed/>
                </p:oleObj>
              </mc:Choice>
              <mc:Fallback>
                <p:oleObj name="Equation" r:id="rId2" imgW="2247840" imgH="431640" progId="Equation.3">
                  <p:embed/>
                  <p:pic>
                    <p:nvPicPr>
                      <p:cNvPr id="23450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6" y="4437112"/>
                        <a:ext cx="47783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Basic Types of Spatial Filtering</a:t>
            </a:r>
          </a:p>
        </p:txBody>
      </p:sp>
    </p:spTree>
    <p:extLst>
      <p:ext uri="{BB962C8B-B14F-4D97-AF65-F5344CB8AC3E}">
        <p14:creationId xmlns:p14="http://schemas.microsoft.com/office/powerpoint/2010/main" val="9391904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altLang="zh-CN" b="1" dirty="0">
                <a:ea typeface="宋体" pitchFamily="2" charset="-122"/>
              </a:rPr>
              <a:t>Nonlinear spatial filtering </a:t>
            </a:r>
            <a:r>
              <a:rPr lang="en-US" altLang="zh-CN" dirty="0">
                <a:ea typeface="宋体" pitchFamily="2" charset="-122"/>
              </a:rPr>
              <a:t>usually uses a neighborhood too, but some other mathematical operations are used.  These can include conditional operations (if …, then …), statistical (sorting pixel values in the neighborhood, mean, median), etc.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Basic Types of Spatial Filtering</a:t>
            </a:r>
          </a:p>
        </p:txBody>
      </p:sp>
    </p:spTree>
    <p:extLst>
      <p:ext uri="{BB962C8B-B14F-4D97-AF65-F5344CB8AC3E}">
        <p14:creationId xmlns:p14="http://schemas.microsoft.com/office/powerpoint/2010/main" val="191482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913584"/>
            <a:ext cx="3200400" cy="2971800"/>
            <a:chOff x="192" y="2208"/>
            <a:chExt cx="2160" cy="1872"/>
          </a:xfrm>
        </p:grpSpPr>
        <p:sp>
          <p:nvSpPr>
            <p:cNvPr id="220179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0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1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2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3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4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5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86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286000" y="2291160"/>
            <a:ext cx="3124200" cy="1546225"/>
            <a:chOff x="480" y="1426"/>
            <a:chExt cx="1968" cy="974"/>
          </a:xfrm>
        </p:grpSpPr>
        <p:sp>
          <p:nvSpPr>
            <p:cNvPr id="220189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190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4500563" y="1046559"/>
            <a:ext cx="2590800" cy="2438400"/>
            <a:chOff x="201" y="1074"/>
            <a:chExt cx="1632" cy="1536"/>
          </a:xfrm>
        </p:grpSpPr>
        <p:sp>
          <p:nvSpPr>
            <p:cNvPr id="220209" name="Rectangle 49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0" name="Rectangle 50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1" name="Rectangle 51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5486400" y="2008584"/>
            <a:ext cx="4419600" cy="4114800"/>
            <a:chOff x="2496" y="1248"/>
            <a:chExt cx="2784" cy="2592"/>
          </a:xfrm>
        </p:grpSpPr>
        <p:sp>
          <p:nvSpPr>
            <p:cNvPr id="220213" name="Text Box 53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0214" name="Rectangle 54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5" name="Rectangle 55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6" name="Rectangle 56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7" name="Rectangle 57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8" name="Rectangle 58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19" name="Rectangle 59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20" name="Rectangle 60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0221" name="Rectangle 61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85022"/>
            <a:ext cx="367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Median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11564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1203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4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5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6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7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8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09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0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819400" y="2133601"/>
            <a:ext cx="3581400" cy="1546225"/>
            <a:chOff x="480" y="1426"/>
            <a:chExt cx="1968" cy="974"/>
          </a:xfrm>
        </p:grpSpPr>
        <p:sp>
          <p:nvSpPr>
            <p:cNvPr id="221213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4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414963" y="1019175"/>
            <a:ext cx="2590800" cy="2438400"/>
            <a:chOff x="201" y="1074"/>
            <a:chExt cx="1632" cy="1536"/>
          </a:xfrm>
        </p:grpSpPr>
        <p:sp>
          <p:nvSpPr>
            <p:cNvPr id="221218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19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0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1222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1223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4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5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6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7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8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29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1230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57638"/>
            <a:ext cx="367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2574996" y="3920876"/>
            <a:ext cx="367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068A5-FFEB-00B1-4743-21AF1B861C91}"/>
              </a:ext>
            </a:extLst>
          </p:cNvPr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Median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159513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828800" y="3886200"/>
            <a:ext cx="3200400" cy="2971800"/>
            <a:chOff x="192" y="2208"/>
            <a:chExt cx="2160" cy="1872"/>
          </a:xfrm>
        </p:grpSpPr>
        <p:sp>
          <p:nvSpPr>
            <p:cNvPr id="222227" name="Rectangle 19"/>
            <p:cNvSpPr>
              <a:spLocks noChangeArrowheads="1"/>
            </p:cNvSpPr>
            <p:nvPr/>
          </p:nvSpPr>
          <p:spPr bwMode="auto">
            <a:xfrm>
              <a:off x="639" y="2589"/>
              <a:ext cx="1266" cy="1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28" name="Rectangle 20"/>
            <p:cNvSpPr>
              <a:spLocks noChangeArrowheads="1"/>
            </p:cNvSpPr>
            <p:nvPr/>
          </p:nvSpPr>
          <p:spPr bwMode="auto">
            <a:xfrm>
              <a:off x="1048" y="2208"/>
              <a:ext cx="41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29" name="Rectangle 21"/>
            <p:cNvSpPr>
              <a:spLocks noChangeArrowheads="1"/>
            </p:cNvSpPr>
            <p:nvPr/>
          </p:nvSpPr>
          <p:spPr bwMode="auto">
            <a:xfrm>
              <a:off x="192" y="2971"/>
              <a:ext cx="2160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0" name="Rectangle 22"/>
            <p:cNvSpPr>
              <a:spLocks noChangeArrowheads="1"/>
            </p:cNvSpPr>
            <p:nvPr/>
          </p:nvSpPr>
          <p:spPr bwMode="auto">
            <a:xfrm>
              <a:off x="192" y="2208"/>
              <a:ext cx="2160" cy="18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1" name="Rectangle 23"/>
            <p:cNvSpPr>
              <a:spLocks noChangeArrowheads="1"/>
            </p:cNvSpPr>
            <p:nvPr/>
          </p:nvSpPr>
          <p:spPr bwMode="auto">
            <a:xfrm>
              <a:off x="192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2" name="Rectangle 24"/>
            <p:cNvSpPr>
              <a:spLocks noChangeArrowheads="1"/>
            </p:cNvSpPr>
            <p:nvPr/>
          </p:nvSpPr>
          <p:spPr bwMode="auto">
            <a:xfrm>
              <a:off x="192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3" name="Rectangle 25"/>
            <p:cNvSpPr>
              <a:spLocks noChangeArrowheads="1"/>
            </p:cNvSpPr>
            <p:nvPr/>
          </p:nvSpPr>
          <p:spPr bwMode="auto">
            <a:xfrm>
              <a:off x="1905" y="2208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4" name="Rectangle 26"/>
            <p:cNvSpPr>
              <a:spLocks noChangeArrowheads="1"/>
            </p:cNvSpPr>
            <p:nvPr/>
          </p:nvSpPr>
          <p:spPr bwMode="auto">
            <a:xfrm>
              <a:off x="1905" y="3699"/>
              <a:ext cx="447" cy="3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429000" y="2286001"/>
            <a:ext cx="3657600" cy="1546225"/>
            <a:chOff x="480" y="1426"/>
            <a:chExt cx="1968" cy="974"/>
          </a:xfrm>
        </p:grpSpPr>
        <p:sp>
          <p:nvSpPr>
            <p:cNvPr id="222237" name="Arc 29"/>
            <p:cNvSpPr>
              <a:spLocks/>
            </p:cNvSpPr>
            <p:nvPr/>
          </p:nvSpPr>
          <p:spPr bwMode="auto">
            <a:xfrm flipH="1">
              <a:off x="480" y="1426"/>
              <a:ext cx="1968" cy="782"/>
            </a:xfrm>
            <a:custGeom>
              <a:avLst/>
              <a:gdLst>
                <a:gd name="G0" fmla="+- 0 0 0"/>
                <a:gd name="G1" fmla="+- 20706 0 0"/>
                <a:gd name="G2" fmla="+- 21600 0 0"/>
                <a:gd name="T0" fmla="*/ 6149 w 21600"/>
                <a:gd name="T1" fmla="*/ 0 h 20706"/>
                <a:gd name="T2" fmla="*/ 21600 w 21600"/>
                <a:gd name="T3" fmla="*/ 20706 h 20706"/>
                <a:gd name="T4" fmla="*/ 0 w 21600"/>
                <a:gd name="T5" fmla="*/ 20706 h 20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0706" fill="none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</a:path>
                <a:path w="21600" h="20706" stroke="0" extrusionOk="0">
                  <a:moveTo>
                    <a:pt x="6149" y="-1"/>
                  </a:moveTo>
                  <a:cubicBezTo>
                    <a:pt x="15314" y="2721"/>
                    <a:pt x="21600" y="11145"/>
                    <a:pt x="21600" y="20706"/>
                  </a:cubicBezTo>
                  <a:lnTo>
                    <a:pt x="0" y="20706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38" name="Line 30"/>
            <p:cNvSpPr>
              <a:spLocks noChangeShapeType="1"/>
            </p:cNvSpPr>
            <p:nvPr/>
          </p:nvSpPr>
          <p:spPr bwMode="auto">
            <a:xfrm>
              <a:off x="480" y="2160"/>
              <a:ext cx="0" cy="24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6243638" y="1019175"/>
            <a:ext cx="2590800" cy="2438400"/>
            <a:chOff x="201" y="1074"/>
            <a:chExt cx="1632" cy="1536"/>
          </a:xfrm>
        </p:grpSpPr>
        <p:sp>
          <p:nvSpPr>
            <p:cNvPr id="222242" name="Rectangle 34"/>
            <p:cNvSpPr>
              <a:spLocks noChangeArrowheads="1"/>
            </p:cNvSpPr>
            <p:nvPr/>
          </p:nvSpPr>
          <p:spPr bwMode="auto">
            <a:xfrm>
              <a:off x="201" y="1074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3" name="Rectangle 35"/>
            <p:cNvSpPr>
              <a:spLocks noChangeArrowheads="1"/>
            </p:cNvSpPr>
            <p:nvPr/>
          </p:nvSpPr>
          <p:spPr bwMode="auto">
            <a:xfrm>
              <a:off x="729" y="1074"/>
              <a:ext cx="528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4" name="Rectangle 36"/>
            <p:cNvSpPr>
              <a:spLocks noChangeArrowheads="1"/>
            </p:cNvSpPr>
            <p:nvPr/>
          </p:nvSpPr>
          <p:spPr bwMode="auto">
            <a:xfrm>
              <a:off x="201" y="1602"/>
              <a:ext cx="163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486400" y="1981200"/>
            <a:ext cx="4419600" cy="4114800"/>
            <a:chOff x="2496" y="1248"/>
            <a:chExt cx="2784" cy="2592"/>
          </a:xfrm>
        </p:grpSpPr>
        <p:sp>
          <p:nvSpPr>
            <p:cNvPr id="222246" name="Text Box 38"/>
            <p:cNvSpPr txBox="1">
              <a:spLocks noChangeArrowheads="1"/>
            </p:cNvSpPr>
            <p:nvPr/>
          </p:nvSpPr>
          <p:spPr bwMode="auto">
            <a:xfrm>
              <a:off x="2496" y="1346"/>
              <a:ext cx="2637" cy="2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2      3       5      7       2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3      4       7      5       2</a:t>
              </a:r>
            </a:p>
            <a:p>
              <a:endParaRPr lang="en-US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5      6       5      3       1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2      6       2      2       1</a:t>
              </a:r>
            </a:p>
            <a:p>
              <a:endPara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7      3       3      2       0</a:t>
              </a:r>
            </a:p>
          </p:txBody>
        </p:sp>
        <p:sp>
          <p:nvSpPr>
            <p:cNvPr id="222247" name="Rectangle 39"/>
            <p:cNvSpPr>
              <a:spLocks noChangeArrowheads="1"/>
            </p:cNvSpPr>
            <p:nvPr/>
          </p:nvSpPr>
          <p:spPr bwMode="auto">
            <a:xfrm>
              <a:off x="3072" y="1776"/>
              <a:ext cx="1632" cy="15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8" name="Rectangle 40"/>
            <p:cNvSpPr>
              <a:spLocks noChangeArrowheads="1"/>
            </p:cNvSpPr>
            <p:nvPr/>
          </p:nvSpPr>
          <p:spPr bwMode="auto">
            <a:xfrm>
              <a:off x="3600" y="1248"/>
              <a:ext cx="528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49" name="Rectangle 41"/>
            <p:cNvSpPr>
              <a:spLocks noChangeArrowheads="1"/>
            </p:cNvSpPr>
            <p:nvPr/>
          </p:nvSpPr>
          <p:spPr bwMode="auto">
            <a:xfrm>
              <a:off x="2496" y="2304"/>
              <a:ext cx="2784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0" name="Rectangle 42"/>
            <p:cNvSpPr>
              <a:spLocks noChangeArrowheads="1"/>
            </p:cNvSpPr>
            <p:nvPr/>
          </p:nvSpPr>
          <p:spPr bwMode="auto">
            <a:xfrm>
              <a:off x="2496" y="1248"/>
              <a:ext cx="278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1" name="Rectangle 43"/>
            <p:cNvSpPr>
              <a:spLocks noChangeArrowheads="1"/>
            </p:cNvSpPr>
            <p:nvPr/>
          </p:nvSpPr>
          <p:spPr bwMode="auto">
            <a:xfrm>
              <a:off x="2496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2" name="Rectangle 44"/>
            <p:cNvSpPr>
              <a:spLocks noChangeArrowheads="1"/>
            </p:cNvSpPr>
            <p:nvPr/>
          </p:nvSpPr>
          <p:spPr bwMode="auto">
            <a:xfrm>
              <a:off x="2496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3" name="Rectangle 45"/>
            <p:cNvSpPr>
              <a:spLocks noChangeArrowheads="1"/>
            </p:cNvSpPr>
            <p:nvPr/>
          </p:nvSpPr>
          <p:spPr bwMode="auto">
            <a:xfrm>
              <a:off x="4704" y="1248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22254" name="Rectangle 46"/>
            <p:cNvSpPr>
              <a:spLocks noChangeArrowheads="1"/>
            </p:cNvSpPr>
            <p:nvPr/>
          </p:nvSpPr>
          <p:spPr bwMode="auto">
            <a:xfrm>
              <a:off x="4704" y="3312"/>
              <a:ext cx="576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1981200" y="3957638"/>
            <a:ext cx="10823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0     3 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3221402" y="3952408"/>
            <a:ext cx="367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4352F-D12A-AB63-E4A5-85C5344B9600}"/>
              </a:ext>
            </a:extLst>
          </p:cNvPr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Median Filtering - With Zero Padding</a:t>
            </a:r>
          </a:p>
        </p:txBody>
      </p:sp>
    </p:spTree>
    <p:extLst>
      <p:ext uri="{BB962C8B-B14F-4D97-AF65-F5344CB8AC3E}">
        <p14:creationId xmlns:p14="http://schemas.microsoft.com/office/powerpoint/2010/main" val="15030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04464" y="1455763"/>
            <a:ext cx="9707960" cy="27035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&gt;&gt; f = </a:t>
            </a:r>
            <a:r>
              <a:rPr lang="en-US" altLang="zh-TW" sz="2400" dirty="0" err="1">
                <a:ea typeface="新細明體" pitchFamily="18" charset="-120"/>
              </a:rPr>
              <a:t>imread</a:t>
            </a:r>
            <a:r>
              <a:rPr lang="en-US" altLang="zh-TW" sz="2400" dirty="0">
                <a:ea typeface="新細明體" pitchFamily="18" charset="-120"/>
              </a:rPr>
              <a:t>('cktboard.tif');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&gt;&gt; fn = </a:t>
            </a:r>
            <a:r>
              <a:rPr lang="en-US" altLang="zh-TW" sz="2400" dirty="0" err="1">
                <a:ea typeface="新細明體" pitchFamily="18" charset="-120"/>
              </a:rPr>
              <a:t>imnoise</a:t>
            </a:r>
            <a:r>
              <a:rPr lang="en-US" altLang="zh-TW" sz="2400" dirty="0">
                <a:ea typeface="新細明體" pitchFamily="18" charset="-120"/>
              </a:rPr>
              <a:t>(f, 'salt &amp; pepper', 0.2);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&gt;&gt; gm = medfilt2(fn);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&gt;&gt; </a:t>
            </a:r>
            <a:r>
              <a:rPr lang="en-US" altLang="zh-TW" sz="2400" dirty="0" err="1">
                <a:ea typeface="新細明體" pitchFamily="18" charset="-120"/>
              </a:rPr>
              <a:t>gms</a:t>
            </a:r>
            <a:r>
              <a:rPr lang="en-US" altLang="zh-TW" sz="2400" dirty="0">
                <a:ea typeface="新細明體" pitchFamily="18" charset="-120"/>
              </a:rPr>
              <a:t> = medfilt2(fn, 'symmetric');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&gt;&gt; </a:t>
            </a:r>
            <a:r>
              <a:rPr lang="en-US" altLang="zh-TW" sz="2400" dirty="0" err="1">
                <a:ea typeface="新細明體" pitchFamily="18" charset="-120"/>
              </a:rPr>
              <a:t>imshow</a:t>
            </a:r>
            <a:r>
              <a:rPr lang="en-US" altLang="zh-TW" sz="2400" dirty="0">
                <a:ea typeface="新細明體" pitchFamily="18" charset="-120"/>
              </a:rPr>
              <a:t>(f), figure, </a:t>
            </a:r>
            <a:r>
              <a:rPr lang="en-US" altLang="zh-TW" sz="2400" dirty="0" err="1">
                <a:ea typeface="新細明體" pitchFamily="18" charset="-120"/>
              </a:rPr>
              <a:t>imshow</a:t>
            </a:r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dirty="0" err="1">
                <a:ea typeface="新細明體" pitchFamily="18" charset="-120"/>
              </a:rPr>
              <a:t>fn</a:t>
            </a:r>
            <a:r>
              <a:rPr lang="en-US" altLang="zh-TW" sz="2400" dirty="0">
                <a:ea typeface="新細明體" pitchFamily="18" charset="-120"/>
              </a:rPr>
              <a:t>), figure, </a:t>
            </a:r>
            <a:r>
              <a:rPr lang="en-US" altLang="zh-TW" sz="2400" dirty="0" err="1">
                <a:ea typeface="新細明體" pitchFamily="18" charset="-120"/>
              </a:rPr>
              <a:t>imshow</a:t>
            </a:r>
            <a:r>
              <a:rPr lang="en-US" altLang="zh-TW" sz="2400" dirty="0">
                <a:ea typeface="新細明體" pitchFamily="18" charset="-120"/>
              </a:rPr>
              <a:t>(gm), figure, </a:t>
            </a:r>
            <a:r>
              <a:rPr lang="en-US" altLang="zh-TW" sz="2400" dirty="0" err="1">
                <a:ea typeface="新細明體" pitchFamily="18" charset="-120"/>
              </a:rPr>
              <a:t>imshow</a:t>
            </a:r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dirty="0" err="1">
                <a:ea typeface="新細明體" pitchFamily="18" charset="-120"/>
              </a:rPr>
              <a:t>gms</a:t>
            </a:r>
            <a:r>
              <a:rPr lang="en-US" altLang="zh-TW" sz="2400" dirty="0">
                <a:ea typeface="新細明體" pitchFamily="18" charset="-120"/>
              </a:rPr>
              <a:t>)</a:t>
            </a:r>
          </a:p>
        </p:txBody>
      </p:sp>
      <p:pic>
        <p:nvPicPr>
          <p:cNvPr id="261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8234" y="3962255"/>
            <a:ext cx="3035300" cy="26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1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5072" y="3963372"/>
            <a:ext cx="3035300" cy="26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11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3810" y="3947497"/>
            <a:ext cx="30353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112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09372" y="3957022"/>
            <a:ext cx="3035300" cy="26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1128" name="Text Box 8"/>
          <p:cNvSpPr txBox="1">
            <a:spLocks noChangeArrowheads="1"/>
          </p:cNvSpPr>
          <p:nvPr/>
        </p:nvSpPr>
        <p:spPr bwMode="auto">
          <a:xfrm>
            <a:off x="2634146" y="6496598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(a)</a:t>
            </a:r>
          </a:p>
        </p:txBody>
      </p:sp>
      <p:sp>
        <p:nvSpPr>
          <p:cNvPr id="261129" name="Text Box 9"/>
          <p:cNvSpPr txBox="1">
            <a:spLocks noChangeArrowheads="1"/>
          </p:cNvSpPr>
          <p:nvPr/>
        </p:nvSpPr>
        <p:spPr bwMode="auto">
          <a:xfrm>
            <a:off x="5248758" y="6475645"/>
            <a:ext cx="4539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261130" name="Text Box 10"/>
          <p:cNvSpPr txBox="1">
            <a:spLocks noChangeArrowheads="1"/>
          </p:cNvSpPr>
          <p:nvPr/>
        </p:nvSpPr>
        <p:spPr bwMode="auto">
          <a:xfrm>
            <a:off x="7969873" y="6467777"/>
            <a:ext cx="539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(c)</a:t>
            </a:r>
          </a:p>
        </p:txBody>
      </p:sp>
      <p:sp>
        <p:nvSpPr>
          <p:cNvPr id="261131" name="Text Box 11"/>
          <p:cNvSpPr txBox="1">
            <a:spLocks noChangeArrowheads="1"/>
          </p:cNvSpPr>
          <p:nvPr/>
        </p:nvSpPr>
        <p:spPr bwMode="auto">
          <a:xfrm>
            <a:off x="10605124" y="6500192"/>
            <a:ext cx="539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(d)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Nonlinear Spatial Filtering - Example</a:t>
            </a:r>
          </a:p>
        </p:txBody>
      </p:sp>
    </p:spTree>
    <p:extLst>
      <p:ext uri="{BB962C8B-B14F-4D97-AF65-F5344CB8AC3E}">
        <p14:creationId xmlns:p14="http://schemas.microsoft.com/office/powerpoint/2010/main" val="2354592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of Water in Bottles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1340769"/>
            <a:ext cx="3125792" cy="1944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328" y="1340768"/>
            <a:ext cx="756084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('bottles.jpg');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latin typeface="Courier New" panose="02070309020205020404" pitchFamily="49" charset="0"/>
              </a:rPr>
              <a:t>bL</a:t>
            </a:r>
            <a:r>
              <a:rPr lang="en-US" dirty="0">
                <a:latin typeface="Courier New" panose="02070309020205020404" pitchFamily="49" charset="0"/>
              </a:rPr>
              <a:t> = im2bw(b,0.2);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latin typeface="Courier New" panose="02070309020205020404" pitchFamily="49" charset="0"/>
              </a:rPr>
              <a:t>bH</a:t>
            </a:r>
            <a:r>
              <a:rPr lang="en-US" dirty="0">
                <a:latin typeface="Courier New" panose="02070309020205020404" pitchFamily="49" charset="0"/>
              </a:rPr>
              <a:t> = im2bw(b,0.7);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 = 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bL-bH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L1 = medfilt2(L,[9 9],'symmetric');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subplot(2,3,1),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(b),title('Bottles'),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subplot(2,3,2),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White'),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subplot(2,3,3),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Black'),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subplot(2,3,4),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(L), title('Liquid with noise'),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subplot(2,3,5),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(L1), title('Pure Liquid')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1952" t="8633" r="8286" b="16554"/>
          <a:stretch/>
        </p:blipFill>
        <p:spPr>
          <a:xfrm>
            <a:off x="7430918" y="3501008"/>
            <a:ext cx="4713754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71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Morphology </a:t>
            </a:r>
            <a:r>
              <a:rPr lang="en-US" sz="2800" dirty="0">
                <a:latin typeface="Times New Roman" panose="02020603050405020304" pitchFamily="18" charset="0"/>
              </a:rPr>
              <a:t>(Detail: Morphological Image Processing.pptx)</a:t>
            </a:r>
            <a:endParaRPr lang="en-US" sz="48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658069" cy="5500726"/>
          </a:xfrm>
        </p:spPr>
        <p:txBody>
          <a:bodyPr/>
          <a:lstStyle/>
          <a:p>
            <a:pPr marL="0" indent="0"/>
            <a:r>
              <a:rPr lang="en-IE" dirty="0"/>
              <a:t>Morphological image processing (or </a:t>
            </a:r>
            <a:r>
              <a:rPr lang="en-IE" i="1" dirty="0"/>
              <a:t>morphology</a:t>
            </a:r>
            <a:r>
              <a:rPr lang="en-IE" dirty="0"/>
              <a:t>) describes a range of image processing techniques that deal with the shape (or morphology) of features in an image</a:t>
            </a:r>
          </a:p>
          <a:p>
            <a:pPr marL="0" indent="0"/>
            <a:r>
              <a:rPr lang="en-IE" dirty="0"/>
              <a:t>Morphological operations are typically applied to remove imperfections introduced during segmentation, boundary extraction, pruning, thinning, </a:t>
            </a:r>
            <a:r>
              <a:rPr lang="en-IE" dirty="0" err="1"/>
              <a:t>Skeletonization</a:t>
            </a:r>
            <a:r>
              <a:rPr lang="en-IE" dirty="0"/>
              <a:t>, etc.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>
            <a:off x="335359" y="6381898"/>
            <a:ext cx="2214578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12806" t="40351" r="22402" b="43969"/>
          <a:stretch/>
        </p:blipFill>
        <p:spPr>
          <a:xfrm>
            <a:off x="335359" y="4886430"/>
            <a:ext cx="10354951" cy="12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2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IE" sz="3600" dirty="0"/>
              <a:t>Structuring Elements, Hits &amp; Fits</a:t>
            </a:r>
            <a:endParaRPr lang="en-US" sz="3600" dirty="0"/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297168" y="1498600"/>
            <a:ext cx="3927475" cy="3900488"/>
            <a:chOff x="202" y="944"/>
            <a:chExt cx="2474" cy="2457"/>
          </a:xfrm>
        </p:grpSpPr>
        <p:sp>
          <p:nvSpPr>
            <p:cNvPr id="24590" name="Rectangle 4"/>
            <p:cNvSpPr>
              <a:spLocks noChangeArrowheads="1"/>
            </p:cNvSpPr>
            <p:nvPr/>
          </p:nvSpPr>
          <p:spPr bwMode="auto">
            <a:xfrm>
              <a:off x="20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1" name="Rectangle 5"/>
            <p:cNvSpPr>
              <a:spLocks noChangeArrowheads="1"/>
            </p:cNvSpPr>
            <p:nvPr/>
          </p:nvSpPr>
          <p:spPr bwMode="auto">
            <a:xfrm>
              <a:off x="51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2" name="Rectangle 6"/>
            <p:cNvSpPr>
              <a:spLocks noChangeArrowheads="1"/>
            </p:cNvSpPr>
            <p:nvPr/>
          </p:nvSpPr>
          <p:spPr bwMode="auto">
            <a:xfrm>
              <a:off x="821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3" name="Rectangle 7"/>
            <p:cNvSpPr>
              <a:spLocks noChangeArrowheads="1"/>
            </p:cNvSpPr>
            <p:nvPr/>
          </p:nvSpPr>
          <p:spPr bwMode="auto">
            <a:xfrm>
              <a:off x="1130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4" name="Rectangle 8"/>
            <p:cNvSpPr>
              <a:spLocks noChangeArrowheads="1"/>
            </p:cNvSpPr>
            <p:nvPr/>
          </p:nvSpPr>
          <p:spPr bwMode="auto">
            <a:xfrm>
              <a:off x="1439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5" name="Rectangle 9"/>
            <p:cNvSpPr>
              <a:spLocks noChangeArrowheads="1"/>
            </p:cNvSpPr>
            <p:nvPr/>
          </p:nvSpPr>
          <p:spPr bwMode="auto">
            <a:xfrm>
              <a:off x="1748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6" name="Rectangle 10"/>
            <p:cNvSpPr>
              <a:spLocks noChangeArrowheads="1"/>
            </p:cNvSpPr>
            <p:nvPr/>
          </p:nvSpPr>
          <p:spPr bwMode="auto">
            <a:xfrm>
              <a:off x="2057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7" name="Rectangle 11"/>
            <p:cNvSpPr>
              <a:spLocks noChangeArrowheads="1"/>
            </p:cNvSpPr>
            <p:nvPr/>
          </p:nvSpPr>
          <p:spPr bwMode="auto">
            <a:xfrm>
              <a:off x="2366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8" name="Rectangle 12"/>
            <p:cNvSpPr>
              <a:spLocks noChangeArrowheads="1"/>
            </p:cNvSpPr>
            <p:nvPr/>
          </p:nvSpPr>
          <p:spPr bwMode="auto">
            <a:xfrm>
              <a:off x="20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599" name="Rectangle 13"/>
            <p:cNvSpPr>
              <a:spLocks noChangeArrowheads="1"/>
            </p:cNvSpPr>
            <p:nvPr/>
          </p:nvSpPr>
          <p:spPr bwMode="auto">
            <a:xfrm>
              <a:off x="51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0" name="Rectangle 14"/>
            <p:cNvSpPr>
              <a:spLocks noChangeArrowheads="1"/>
            </p:cNvSpPr>
            <p:nvPr/>
          </p:nvSpPr>
          <p:spPr bwMode="auto">
            <a:xfrm>
              <a:off x="821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1" name="Rectangle 15"/>
            <p:cNvSpPr>
              <a:spLocks noChangeArrowheads="1"/>
            </p:cNvSpPr>
            <p:nvPr/>
          </p:nvSpPr>
          <p:spPr bwMode="auto">
            <a:xfrm>
              <a:off x="1130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2" name="Rectangle 16"/>
            <p:cNvSpPr>
              <a:spLocks noChangeArrowheads="1"/>
            </p:cNvSpPr>
            <p:nvPr/>
          </p:nvSpPr>
          <p:spPr bwMode="auto">
            <a:xfrm>
              <a:off x="1439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3" name="Rectangle 17"/>
            <p:cNvSpPr>
              <a:spLocks noChangeArrowheads="1"/>
            </p:cNvSpPr>
            <p:nvPr/>
          </p:nvSpPr>
          <p:spPr bwMode="auto">
            <a:xfrm>
              <a:off x="1748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4" name="Rectangle 18"/>
            <p:cNvSpPr>
              <a:spLocks noChangeArrowheads="1"/>
            </p:cNvSpPr>
            <p:nvPr/>
          </p:nvSpPr>
          <p:spPr bwMode="auto">
            <a:xfrm>
              <a:off x="2057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5" name="Rectangle 19"/>
            <p:cNvSpPr>
              <a:spLocks noChangeArrowheads="1"/>
            </p:cNvSpPr>
            <p:nvPr/>
          </p:nvSpPr>
          <p:spPr bwMode="auto">
            <a:xfrm>
              <a:off x="2366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6" name="Rectangle 23"/>
            <p:cNvSpPr>
              <a:spLocks noChangeArrowheads="1"/>
            </p:cNvSpPr>
            <p:nvPr/>
          </p:nvSpPr>
          <p:spPr bwMode="auto">
            <a:xfrm>
              <a:off x="20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7" name="Rectangle 24"/>
            <p:cNvSpPr>
              <a:spLocks noChangeArrowheads="1"/>
            </p:cNvSpPr>
            <p:nvPr/>
          </p:nvSpPr>
          <p:spPr bwMode="auto">
            <a:xfrm>
              <a:off x="51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8" name="Rectangle 25"/>
            <p:cNvSpPr>
              <a:spLocks noChangeArrowheads="1"/>
            </p:cNvSpPr>
            <p:nvPr/>
          </p:nvSpPr>
          <p:spPr bwMode="auto">
            <a:xfrm>
              <a:off x="821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09" name="Rectangle 26"/>
            <p:cNvSpPr>
              <a:spLocks noChangeArrowheads="1"/>
            </p:cNvSpPr>
            <p:nvPr/>
          </p:nvSpPr>
          <p:spPr bwMode="auto">
            <a:xfrm>
              <a:off x="1130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0" name="Rectangle 27"/>
            <p:cNvSpPr>
              <a:spLocks noChangeArrowheads="1"/>
            </p:cNvSpPr>
            <p:nvPr/>
          </p:nvSpPr>
          <p:spPr bwMode="auto">
            <a:xfrm>
              <a:off x="1439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1" name="Rectangle 28"/>
            <p:cNvSpPr>
              <a:spLocks noChangeArrowheads="1"/>
            </p:cNvSpPr>
            <p:nvPr/>
          </p:nvSpPr>
          <p:spPr bwMode="auto">
            <a:xfrm>
              <a:off x="1748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2" name="Rectangle 29"/>
            <p:cNvSpPr>
              <a:spLocks noChangeArrowheads="1"/>
            </p:cNvSpPr>
            <p:nvPr/>
          </p:nvSpPr>
          <p:spPr bwMode="auto">
            <a:xfrm>
              <a:off x="2057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3" name="Rectangle 30"/>
            <p:cNvSpPr>
              <a:spLocks noChangeArrowheads="1"/>
            </p:cNvSpPr>
            <p:nvPr/>
          </p:nvSpPr>
          <p:spPr bwMode="auto">
            <a:xfrm>
              <a:off x="2366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4" name="Rectangle 32"/>
            <p:cNvSpPr>
              <a:spLocks noChangeArrowheads="1"/>
            </p:cNvSpPr>
            <p:nvPr/>
          </p:nvSpPr>
          <p:spPr bwMode="auto">
            <a:xfrm>
              <a:off x="202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5" name="Rectangle 33"/>
            <p:cNvSpPr>
              <a:spLocks noChangeArrowheads="1"/>
            </p:cNvSpPr>
            <p:nvPr/>
          </p:nvSpPr>
          <p:spPr bwMode="auto">
            <a:xfrm>
              <a:off x="512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6" name="Rectangle 34"/>
            <p:cNvSpPr>
              <a:spLocks noChangeArrowheads="1"/>
            </p:cNvSpPr>
            <p:nvPr/>
          </p:nvSpPr>
          <p:spPr bwMode="auto">
            <a:xfrm>
              <a:off x="821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7" name="Rectangle 35"/>
            <p:cNvSpPr>
              <a:spLocks noChangeArrowheads="1"/>
            </p:cNvSpPr>
            <p:nvPr/>
          </p:nvSpPr>
          <p:spPr bwMode="auto">
            <a:xfrm>
              <a:off x="1130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8" name="Rectangle 36"/>
            <p:cNvSpPr>
              <a:spLocks noChangeArrowheads="1"/>
            </p:cNvSpPr>
            <p:nvPr/>
          </p:nvSpPr>
          <p:spPr bwMode="auto">
            <a:xfrm>
              <a:off x="1439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19" name="Rectangle 37"/>
            <p:cNvSpPr>
              <a:spLocks noChangeArrowheads="1"/>
            </p:cNvSpPr>
            <p:nvPr/>
          </p:nvSpPr>
          <p:spPr bwMode="auto">
            <a:xfrm>
              <a:off x="1748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0" name="Rectangle 38"/>
            <p:cNvSpPr>
              <a:spLocks noChangeArrowheads="1"/>
            </p:cNvSpPr>
            <p:nvPr/>
          </p:nvSpPr>
          <p:spPr bwMode="auto">
            <a:xfrm>
              <a:off x="2057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1" name="Rectangle 39"/>
            <p:cNvSpPr>
              <a:spLocks noChangeArrowheads="1"/>
            </p:cNvSpPr>
            <p:nvPr/>
          </p:nvSpPr>
          <p:spPr bwMode="auto">
            <a:xfrm>
              <a:off x="2366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2" name="Rectangle 44"/>
            <p:cNvSpPr>
              <a:spLocks noChangeArrowheads="1"/>
            </p:cNvSpPr>
            <p:nvPr/>
          </p:nvSpPr>
          <p:spPr bwMode="auto">
            <a:xfrm>
              <a:off x="202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3" name="Rectangle 45"/>
            <p:cNvSpPr>
              <a:spLocks noChangeArrowheads="1"/>
            </p:cNvSpPr>
            <p:nvPr/>
          </p:nvSpPr>
          <p:spPr bwMode="auto">
            <a:xfrm>
              <a:off x="512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4" name="Rectangle 46"/>
            <p:cNvSpPr>
              <a:spLocks noChangeArrowheads="1"/>
            </p:cNvSpPr>
            <p:nvPr/>
          </p:nvSpPr>
          <p:spPr bwMode="auto">
            <a:xfrm>
              <a:off x="821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5" name="Rectangle 47"/>
            <p:cNvSpPr>
              <a:spLocks noChangeArrowheads="1"/>
            </p:cNvSpPr>
            <p:nvPr/>
          </p:nvSpPr>
          <p:spPr bwMode="auto">
            <a:xfrm>
              <a:off x="1130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6" name="Rectangle 48"/>
            <p:cNvSpPr>
              <a:spLocks noChangeArrowheads="1"/>
            </p:cNvSpPr>
            <p:nvPr/>
          </p:nvSpPr>
          <p:spPr bwMode="auto">
            <a:xfrm>
              <a:off x="1439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7" name="Rectangle 49"/>
            <p:cNvSpPr>
              <a:spLocks noChangeArrowheads="1"/>
            </p:cNvSpPr>
            <p:nvPr/>
          </p:nvSpPr>
          <p:spPr bwMode="auto">
            <a:xfrm>
              <a:off x="1748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8" name="Rectangle 50"/>
            <p:cNvSpPr>
              <a:spLocks noChangeArrowheads="1"/>
            </p:cNvSpPr>
            <p:nvPr/>
          </p:nvSpPr>
          <p:spPr bwMode="auto">
            <a:xfrm>
              <a:off x="2057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29" name="Rectangle 51"/>
            <p:cNvSpPr>
              <a:spLocks noChangeArrowheads="1"/>
            </p:cNvSpPr>
            <p:nvPr/>
          </p:nvSpPr>
          <p:spPr bwMode="auto">
            <a:xfrm>
              <a:off x="2366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0" name="Rectangle 53"/>
            <p:cNvSpPr>
              <a:spLocks noChangeArrowheads="1"/>
            </p:cNvSpPr>
            <p:nvPr/>
          </p:nvSpPr>
          <p:spPr bwMode="auto">
            <a:xfrm>
              <a:off x="202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1" name="Rectangle 54"/>
            <p:cNvSpPr>
              <a:spLocks noChangeArrowheads="1"/>
            </p:cNvSpPr>
            <p:nvPr/>
          </p:nvSpPr>
          <p:spPr bwMode="auto">
            <a:xfrm>
              <a:off x="512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2" name="Rectangle 55"/>
            <p:cNvSpPr>
              <a:spLocks noChangeArrowheads="1"/>
            </p:cNvSpPr>
            <p:nvPr/>
          </p:nvSpPr>
          <p:spPr bwMode="auto">
            <a:xfrm>
              <a:off x="821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3" name="Rectangle 56"/>
            <p:cNvSpPr>
              <a:spLocks noChangeArrowheads="1"/>
            </p:cNvSpPr>
            <p:nvPr/>
          </p:nvSpPr>
          <p:spPr bwMode="auto">
            <a:xfrm>
              <a:off x="1130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4" name="Rectangle 57"/>
            <p:cNvSpPr>
              <a:spLocks noChangeArrowheads="1"/>
            </p:cNvSpPr>
            <p:nvPr/>
          </p:nvSpPr>
          <p:spPr bwMode="auto">
            <a:xfrm>
              <a:off x="1439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5" name="Rectangle 58"/>
            <p:cNvSpPr>
              <a:spLocks noChangeArrowheads="1"/>
            </p:cNvSpPr>
            <p:nvPr/>
          </p:nvSpPr>
          <p:spPr bwMode="auto">
            <a:xfrm>
              <a:off x="1748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6" name="Rectangle 59"/>
            <p:cNvSpPr>
              <a:spLocks noChangeArrowheads="1"/>
            </p:cNvSpPr>
            <p:nvPr/>
          </p:nvSpPr>
          <p:spPr bwMode="auto">
            <a:xfrm>
              <a:off x="2057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7" name="Rectangle 60"/>
            <p:cNvSpPr>
              <a:spLocks noChangeArrowheads="1"/>
            </p:cNvSpPr>
            <p:nvPr/>
          </p:nvSpPr>
          <p:spPr bwMode="auto">
            <a:xfrm>
              <a:off x="2366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8" name="Rectangle 63"/>
            <p:cNvSpPr>
              <a:spLocks noChangeArrowheads="1"/>
            </p:cNvSpPr>
            <p:nvPr/>
          </p:nvSpPr>
          <p:spPr bwMode="auto">
            <a:xfrm>
              <a:off x="20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39" name="Rectangle 64"/>
            <p:cNvSpPr>
              <a:spLocks noChangeArrowheads="1"/>
            </p:cNvSpPr>
            <p:nvPr/>
          </p:nvSpPr>
          <p:spPr bwMode="auto">
            <a:xfrm>
              <a:off x="51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0" name="Rectangle 65"/>
            <p:cNvSpPr>
              <a:spLocks noChangeArrowheads="1"/>
            </p:cNvSpPr>
            <p:nvPr/>
          </p:nvSpPr>
          <p:spPr bwMode="auto">
            <a:xfrm>
              <a:off x="821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1" name="Rectangle 66"/>
            <p:cNvSpPr>
              <a:spLocks noChangeArrowheads="1"/>
            </p:cNvSpPr>
            <p:nvPr/>
          </p:nvSpPr>
          <p:spPr bwMode="auto">
            <a:xfrm>
              <a:off x="1130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2" name="Rectangle 67"/>
            <p:cNvSpPr>
              <a:spLocks noChangeArrowheads="1"/>
            </p:cNvSpPr>
            <p:nvPr/>
          </p:nvSpPr>
          <p:spPr bwMode="auto">
            <a:xfrm>
              <a:off x="1439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3" name="Rectangle 68"/>
            <p:cNvSpPr>
              <a:spLocks noChangeArrowheads="1"/>
            </p:cNvSpPr>
            <p:nvPr/>
          </p:nvSpPr>
          <p:spPr bwMode="auto">
            <a:xfrm>
              <a:off x="1748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4" name="Rectangle 69"/>
            <p:cNvSpPr>
              <a:spLocks noChangeArrowheads="1"/>
            </p:cNvSpPr>
            <p:nvPr/>
          </p:nvSpPr>
          <p:spPr bwMode="auto">
            <a:xfrm>
              <a:off x="2057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5" name="Rectangle 70"/>
            <p:cNvSpPr>
              <a:spLocks noChangeArrowheads="1"/>
            </p:cNvSpPr>
            <p:nvPr/>
          </p:nvSpPr>
          <p:spPr bwMode="auto">
            <a:xfrm>
              <a:off x="2366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6" name="Rectangle 72"/>
            <p:cNvSpPr>
              <a:spLocks noChangeArrowheads="1"/>
            </p:cNvSpPr>
            <p:nvPr/>
          </p:nvSpPr>
          <p:spPr bwMode="auto">
            <a:xfrm>
              <a:off x="20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7" name="Rectangle 73"/>
            <p:cNvSpPr>
              <a:spLocks noChangeArrowheads="1"/>
            </p:cNvSpPr>
            <p:nvPr/>
          </p:nvSpPr>
          <p:spPr bwMode="auto">
            <a:xfrm>
              <a:off x="51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8" name="Rectangle 74"/>
            <p:cNvSpPr>
              <a:spLocks noChangeArrowheads="1"/>
            </p:cNvSpPr>
            <p:nvPr/>
          </p:nvSpPr>
          <p:spPr bwMode="auto">
            <a:xfrm>
              <a:off x="821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49" name="Rectangle 75"/>
            <p:cNvSpPr>
              <a:spLocks noChangeArrowheads="1"/>
            </p:cNvSpPr>
            <p:nvPr/>
          </p:nvSpPr>
          <p:spPr bwMode="auto">
            <a:xfrm>
              <a:off x="1130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50" name="Rectangle 76"/>
            <p:cNvSpPr>
              <a:spLocks noChangeArrowheads="1"/>
            </p:cNvSpPr>
            <p:nvPr/>
          </p:nvSpPr>
          <p:spPr bwMode="auto">
            <a:xfrm>
              <a:off x="1439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51" name="Rectangle 77"/>
            <p:cNvSpPr>
              <a:spLocks noChangeArrowheads="1"/>
            </p:cNvSpPr>
            <p:nvPr/>
          </p:nvSpPr>
          <p:spPr bwMode="auto">
            <a:xfrm>
              <a:off x="1748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52" name="Rectangle 78"/>
            <p:cNvSpPr>
              <a:spLocks noChangeArrowheads="1"/>
            </p:cNvSpPr>
            <p:nvPr/>
          </p:nvSpPr>
          <p:spPr bwMode="auto">
            <a:xfrm>
              <a:off x="2057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653" name="Rectangle 79"/>
            <p:cNvSpPr>
              <a:spLocks noChangeArrowheads="1"/>
            </p:cNvSpPr>
            <p:nvPr/>
          </p:nvSpPr>
          <p:spPr bwMode="auto">
            <a:xfrm>
              <a:off x="2366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82354" name="Rectangle 82"/>
          <p:cNvSpPr>
            <a:spLocks noChangeArrowheads="1"/>
          </p:cNvSpPr>
          <p:nvPr/>
        </p:nvSpPr>
        <p:spPr bwMode="auto">
          <a:xfrm>
            <a:off x="2743506" y="1484314"/>
            <a:ext cx="985837" cy="985837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endParaRPr lang="en-US" sz="3600" b="1">
              <a:solidFill>
                <a:srgbClr val="FF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355" name="Rectangle 83"/>
          <p:cNvSpPr>
            <a:spLocks noChangeArrowheads="1"/>
          </p:cNvSpPr>
          <p:nvPr/>
        </p:nvSpPr>
        <p:spPr bwMode="auto">
          <a:xfrm>
            <a:off x="794056" y="3457575"/>
            <a:ext cx="985837" cy="985838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sz="3600" b="1">
              <a:solidFill>
                <a:srgbClr val="FF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2356" name="Rectangle 84"/>
          <p:cNvSpPr>
            <a:spLocks noChangeArrowheads="1"/>
          </p:cNvSpPr>
          <p:nvPr/>
        </p:nvSpPr>
        <p:spPr bwMode="auto">
          <a:xfrm>
            <a:off x="2740331" y="3927475"/>
            <a:ext cx="985837" cy="985838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3600" b="1">
              <a:solidFill>
                <a:srgbClr val="FF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3" name="Rectangle 86"/>
          <p:cNvSpPr>
            <a:spLocks noChangeArrowheads="1"/>
          </p:cNvSpPr>
          <p:nvPr/>
        </p:nvSpPr>
        <p:spPr bwMode="auto">
          <a:xfrm>
            <a:off x="6059489" y="1214423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4" name="Rectangle 87"/>
          <p:cNvSpPr>
            <a:spLocks noChangeArrowheads="1"/>
          </p:cNvSpPr>
          <p:nvPr/>
        </p:nvSpPr>
        <p:spPr bwMode="auto">
          <a:xfrm>
            <a:off x="6550026" y="1214423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5" name="Rectangle 89"/>
          <p:cNvSpPr>
            <a:spLocks noChangeArrowheads="1"/>
          </p:cNvSpPr>
          <p:nvPr/>
        </p:nvSpPr>
        <p:spPr bwMode="auto">
          <a:xfrm>
            <a:off x="6059489" y="169861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6" name="Rectangle 90"/>
          <p:cNvSpPr>
            <a:spLocks noChangeArrowheads="1"/>
          </p:cNvSpPr>
          <p:nvPr/>
        </p:nvSpPr>
        <p:spPr bwMode="auto">
          <a:xfrm>
            <a:off x="6550026" y="169861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7" name="Text Box 91"/>
          <p:cNvSpPr txBox="1">
            <a:spLocks noChangeArrowheads="1"/>
          </p:cNvSpPr>
          <p:nvPr/>
        </p:nvSpPr>
        <p:spPr bwMode="auto">
          <a:xfrm>
            <a:off x="7031039" y="1439847"/>
            <a:ext cx="3084499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sz="2800">
                <a:latin typeface="Times New Roman" pitchFamily="18" charset="0"/>
                <a:cs typeface="Times New Roman" pitchFamily="18" charset="0"/>
              </a:rPr>
              <a:t>Structuring Element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8" name="Rectangle 92"/>
          <p:cNvSpPr>
            <a:spLocks noGrp="1" noChangeArrowheads="1"/>
          </p:cNvSpPr>
          <p:nvPr>
            <p:ph type="body" idx="1"/>
          </p:nvPr>
        </p:nvSpPr>
        <p:spPr>
          <a:xfrm>
            <a:off x="4697718" y="2428868"/>
            <a:ext cx="7374946" cy="4357718"/>
          </a:xfrm>
          <a:noFill/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IE" sz="2800" b="1" dirty="0"/>
              <a:t>Fit:</a:t>
            </a:r>
            <a:r>
              <a:rPr lang="en-IE" sz="2800" dirty="0"/>
              <a:t> All </a:t>
            </a:r>
            <a:r>
              <a:rPr lang="en-IE" sz="2800" i="1" dirty="0"/>
              <a:t>on pixels</a:t>
            </a:r>
            <a:r>
              <a:rPr lang="en-IE" sz="2800" dirty="0"/>
              <a:t> in the structuring element cover </a:t>
            </a:r>
            <a:r>
              <a:rPr lang="en-IE" sz="2800" i="1" dirty="0"/>
              <a:t>on pixels</a:t>
            </a:r>
            <a:r>
              <a:rPr lang="en-IE" sz="2800" dirty="0"/>
              <a:t> in the image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IE" sz="2800" b="1" dirty="0"/>
              <a:t>Hit:</a:t>
            </a:r>
            <a:r>
              <a:rPr lang="en-IE" sz="2800" dirty="0"/>
              <a:t> Any </a:t>
            </a:r>
            <a:r>
              <a:rPr lang="en-IE" sz="2800" i="1" dirty="0"/>
              <a:t>on pixel</a:t>
            </a:r>
            <a:r>
              <a:rPr lang="en-IE" sz="2800" dirty="0"/>
              <a:t> in the structuring element covers an </a:t>
            </a:r>
            <a:r>
              <a:rPr lang="en-IE" sz="2800" i="1" dirty="0"/>
              <a:t>on pixel</a:t>
            </a:r>
            <a:r>
              <a:rPr lang="en-IE" sz="2800" dirty="0"/>
              <a:t> in the image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IE" sz="2800" b="1" dirty="0"/>
              <a:t>Miss:</a:t>
            </a:r>
            <a:r>
              <a:rPr lang="en-IE" sz="2800" dirty="0"/>
              <a:t> No </a:t>
            </a:r>
            <a:r>
              <a:rPr lang="en-IE" sz="2800" i="1" dirty="0"/>
              <a:t>on pixel</a:t>
            </a:r>
            <a:r>
              <a:rPr lang="en-IE" sz="2800" dirty="0"/>
              <a:t> in the structuring element covers an </a:t>
            </a:r>
            <a:r>
              <a:rPr lang="en-IE" sz="2800" i="1" dirty="0"/>
              <a:t>on pixel</a:t>
            </a:r>
            <a:r>
              <a:rPr lang="en-IE" sz="2800" dirty="0"/>
              <a:t> in the image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endParaRPr lang="en-US" sz="2800" dirty="0"/>
          </a:p>
        </p:txBody>
      </p:sp>
      <p:sp>
        <p:nvSpPr>
          <p:cNvPr id="24589" name="Rectangle 93"/>
          <p:cNvSpPr>
            <a:spLocks noChangeArrowheads="1"/>
          </p:cNvSpPr>
          <p:nvPr/>
        </p:nvSpPr>
        <p:spPr bwMode="auto">
          <a:xfrm>
            <a:off x="119336" y="6309320"/>
            <a:ext cx="9505056" cy="477266"/>
          </a:xfrm>
          <a:prstGeom prst="rect">
            <a:avLst/>
          </a:prstGeom>
          <a:solidFill>
            <a:srgbClr val="FFFF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IE" sz="2400" dirty="0">
                <a:latin typeface="Times New Roman" pitchFamily="18" charset="0"/>
                <a:cs typeface="Times New Roman" pitchFamily="18" charset="0"/>
              </a:rPr>
              <a:t>All morphological processing operations are based on these simple ideas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47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54" grpId="0" animBg="1"/>
      <p:bldP spid="182355" grpId="0" animBg="1"/>
      <p:bldP spid="18235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/>
              <a:t>Fitting &amp; Hitting</a:t>
            </a:r>
            <a:endParaRPr lang="en-US"/>
          </a:p>
        </p:txBody>
      </p:sp>
      <p:graphicFrame>
        <p:nvGraphicFramePr>
          <p:cNvPr id="183584" name="Group 288"/>
          <p:cNvGraphicFramePr>
            <a:graphicFrameLocks noGrp="1"/>
          </p:cNvGraphicFramePr>
          <p:nvPr/>
        </p:nvGraphicFramePr>
        <p:xfrm>
          <a:off x="1874839" y="1473200"/>
          <a:ext cx="6219825" cy="5060954"/>
        </p:xfrm>
        <a:graphic>
          <a:graphicData uri="http://schemas.openxmlformats.org/drawingml/2006/table">
            <a:tbl>
              <a:tblPr/>
              <a:tblGrid>
                <a:gridCol w="509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3611" name="Rectangle 315"/>
          <p:cNvSpPr>
            <a:spLocks noChangeArrowheads="1"/>
          </p:cNvSpPr>
          <p:nvPr/>
        </p:nvSpPr>
        <p:spPr bwMode="auto">
          <a:xfrm>
            <a:off x="2897188" y="1990725"/>
            <a:ext cx="1549400" cy="1492250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endParaRPr lang="en-US" sz="36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614" name="Rectangle 318"/>
          <p:cNvSpPr>
            <a:spLocks noChangeArrowheads="1"/>
          </p:cNvSpPr>
          <p:nvPr/>
        </p:nvSpPr>
        <p:spPr bwMode="auto">
          <a:xfrm>
            <a:off x="5503863" y="1981200"/>
            <a:ext cx="1549400" cy="1492250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C</a:t>
            </a:r>
            <a:endParaRPr lang="en-US" sz="36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615" name="Rectangle 319"/>
          <p:cNvSpPr>
            <a:spLocks noChangeArrowheads="1"/>
          </p:cNvSpPr>
          <p:nvPr/>
        </p:nvSpPr>
        <p:spPr bwMode="auto">
          <a:xfrm>
            <a:off x="4973638" y="4518025"/>
            <a:ext cx="1549400" cy="1492250"/>
          </a:xfrm>
          <a:prstGeom prst="rect">
            <a:avLst/>
          </a:prstGeom>
          <a:solidFill>
            <a:srgbClr val="FF6600">
              <a:alpha val="20000"/>
            </a:srgbClr>
          </a:solidFill>
          <a:ln w="3810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IE" sz="36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endParaRPr lang="en-US" sz="3600" b="1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3638" name="Group 342"/>
          <p:cNvGraphicFramePr>
            <a:graphicFrameLocks noGrp="1"/>
          </p:cNvGraphicFramePr>
          <p:nvPr/>
        </p:nvGraphicFramePr>
        <p:xfrm>
          <a:off x="8593138" y="1800226"/>
          <a:ext cx="1439862" cy="1439863"/>
        </p:xfrm>
        <a:graphic>
          <a:graphicData uri="http://schemas.openxmlformats.org/drawingml/2006/table">
            <a:tbl>
              <a:tblPr/>
              <a:tblGrid>
                <a:gridCol w="48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841" name="Text Box 343"/>
          <p:cNvSpPr txBox="1">
            <a:spLocks noChangeArrowheads="1"/>
          </p:cNvSpPr>
          <p:nvPr/>
        </p:nvSpPr>
        <p:spPr bwMode="auto">
          <a:xfrm>
            <a:off x="8572500" y="3224213"/>
            <a:ext cx="14668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E" dirty="0">
                <a:latin typeface="Times New Roman" panose="02020603050405020304" pitchFamily="18" charset="0"/>
              </a:rPr>
              <a:t>Structuring Element 1</a:t>
            </a:r>
            <a:endParaRPr 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3640" name="Group 344"/>
          <p:cNvGraphicFramePr>
            <a:graphicFrameLocks noGrp="1"/>
          </p:cNvGraphicFramePr>
          <p:nvPr/>
        </p:nvGraphicFramePr>
        <p:xfrm>
          <a:off x="8624888" y="4135439"/>
          <a:ext cx="1439862" cy="1439863"/>
        </p:xfrm>
        <a:graphic>
          <a:graphicData uri="http://schemas.openxmlformats.org/drawingml/2006/table">
            <a:tbl>
              <a:tblPr/>
              <a:tblGrid>
                <a:gridCol w="48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860" name="Text Box 362"/>
          <p:cNvSpPr txBox="1">
            <a:spLocks noChangeArrowheads="1"/>
          </p:cNvSpPr>
          <p:nvPr/>
        </p:nvSpPr>
        <p:spPr bwMode="auto">
          <a:xfrm>
            <a:off x="8604250" y="5573713"/>
            <a:ext cx="1466850" cy="641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IE" dirty="0">
                <a:latin typeface="Times New Roman" panose="02020603050405020304" pitchFamily="18" charset="0"/>
              </a:rPr>
              <a:t>Structuring Element 2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9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611" grpId="0" animBg="1"/>
      <p:bldP spid="183614" grpId="0" animBg="1"/>
      <p:bldP spid="1836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/>
              <a:t>Structuring Elements</a:t>
            </a: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IE"/>
              <a:t>Structuring elements can be any size and make any shape</a:t>
            </a:r>
          </a:p>
          <a:p>
            <a:pPr marL="0" indent="0"/>
            <a:r>
              <a:rPr lang="en-IE"/>
              <a:t>However, for simplicity we will use rectangular structuring elements with their origin at the middle pixel</a:t>
            </a:r>
            <a:endParaRPr lang="en-US"/>
          </a:p>
        </p:txBody>
      </p:sp>
      <p:graphicFrame>
        <p:nvGraphicFramePr>
          <p:cNvPr id="213102" name="Group 110"/>
          <p:cNvGraphicFramePr>
            <a:graphicFrameLocks noGrp="1"/>
          </p:cNvGraphicFramePr>
          <p:nvPr/>
        </p:nvGraphicFramePr>
        <p:xfrm>
          <a:off x="2232025" y="4397376"/>
          <a:ext cx="1989138" cy="1827213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3104" name="Group 112"/>
          <p:cNvGraphicFramePr>
            <a:graphicFrameLocks noGrp="1"/>
          </p:cNvGraphicFramePr>
          <p:nvPr/>
        </p:nvGraphicFramePr>
        <p:xfrm>
          <a:off x="7689851" y="4075114"/>
          <a:ext cx="2595563" cy="2528889"/>
        </p:xfrm>
        <a:graphic>
          <a:graphicData uri="http://schemas.openxmlformats.org/drawingml/2006/table">
            <a:tbl>
              <a:tblPr/>
              <a:tblGrid>
                <a:gridCol w="519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3103" name="Group 111"/>
          <p:cNvGraphicFramePr>
            <a:graphicFrameLocks noGrp="1"/>
          </p:cNvGraphicFramePr>
          <p:nvPr/>
        </p:nvGraphicFramePr>
        <p:xfrm>
          <a:off x="4967289" y="4402139"/>
          <a:ext cx="1989137" cy="1827213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itchFamily="-112" charset="-128"/>
                        </a:rPr>
                        <a:t>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itchFamily="-112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87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dirty="0"/>
              <a:t>Erosion</a:t>
            </a:r>
            <a:endParaRPr lang="en-US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IE" dirty="0"/>
              <a:t>Erosion of image </a:t>
            </a:r>
            <a:r>
              <a:rPr lang="en-IE" i="1" dirty="0"/>
              <a:t>f</a:t>
            </a:r>
            <a:r>
              <a:rPr lang="en-IE" dirty="0"/>
              <a:t> by structuring element </a:t>
            </a:r>
            <a:r>
              <a:rPr lang="en-IE" i="1" dirty="0"/>
              <a:t>s</a:t>
            </a:r>
            <a:r>
              <a:rPr lang="en-IE" dirty="0"/>
              <a:t> is given by </a:t>
            </a:r>
            <a:r>
              <a:rPr lang="en-IE" i="1" dirty="0"/>
              <a:t>f </a:t>
            </a:r>
            <a:r>
              <a:rPr lang="en-IE" sz="2400" dirty="0">
                <a:sym typeface="Webdings" pitchFamily="-112" charset="2"/>
              </a:rPr>
              <a:t> </a:t>
            </a:r>
            <a:r>
              <a:rPr lang="en-IE" i="1" dirty="0">
                <a:sym typeface="Webdings" pitchFamily="-112" charset="2"/>
              </a:rPr>
              <a:t>s</a:t>
            </a:r>
          </a:p>
          <a:p>
            <a:pPr marL="0" indent="0"/>
            <a:r>
              <a:rPr lang="en-IE" dirty="0">
                <a:sym typeface="Webdings" pitchFamily="-112" charset="2"/>
              </a:rPr>
              <a:t>The structuring element s is positioned with its origin at (</a:t>
            </a:r>
            <a:r>
              <a:rPr lang="en-IE" i="1" dirty="0">
                <a:sym typeface="Webdings" pitchFamily="-112" charset="2"/>
              </a:rPr>
              <a:t>x, y</a:t>
            </a:r>
            <a:r>
              <a:rPr lang="en-IE" dirty="0">
                <a:sym typeface="Webdings" pitchFamily="-112" charset="2"/>
              </a:rPr>
              <a:t>) and the new pixel value is determined using the rule:</a:t>
            </a:r>
          </a:p>
          <a:p>
            <a:pPr marL="0" indent="0"/>
            <a:endParaRPr lang="en-IE" dirty="0">
              <a:sym typeface="Webdings" pitchFamily="-112" charset="2"/>
            </a:endParaRPr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70993"/>
              </p:ext>
            </p:extLst>
          </p:nvPr>
        </p:nvGraphicFramePr>
        <p:xfrm>
          <a:off x="407368" y="3212976"/>
          <a:ext cx="3933825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457200" progId="Equation.3">
                  <p:embed/>
                </p:oleObj>
              </mc:Choice>
              <mc:Fallback>
                <p:oleObj name="Equation" r:id="rId3" imgW="1396800" imgH="457200" progId="Equation.3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68" y="3212976"/>
                        <a:ext cx="3933825" cy="1287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460839"/>
              </p:ext>
            </p:extLst>
          </p:nvPr>
        </p:nvGraphicFramePr>
        <p:xfrm>
          <a:off x="8544272" y="3103838"/>
          <a:ext cx="3156719" cy="1396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9" r:id="rId5" imgW="5388875" imgH="6376429" progId="">
                  <p:embed/>
                </p:oleObj>
              </mc:Choice>
              <mc:Fallback>
                <p:oleObj name="CorelPhotoPaint.Image.9" r:id="rId5" imgW="5388875" imgH="6376429" progId="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171" t="2415" r="15906" b="68159"/>
                      <a:stretch>
                        <a:fillRect/>
                      </a:stretch>
                    </p:blipFill>
                    <p:spPr bwMode="auto">
                      <a:xfrm>
                        <a:off x="8544272" y="3103838"/>
                        <a:ext cx="3156719" cy="1396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716178"/>
              </p:ext>
            </p:extLst>
          </p:nvPr>
        </p:nvGraphicFramePr>
        <p:xfrm>
          <a:off x="5860712" y="3498873"/>
          <a:ext cx="2251512" cy="101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9" r:id="rId7" imgW="5388875" imgH="6376429" progId="">
                  <p:embed/>
                </p:oleObj>
              </mc:Choice>
              <mc:Fallback>
                <p:oleObj name="CorelPhotoPaint.Image.9" r:id="rId7" imgW="5388875" imgH="6376429" progId="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814" t="44785" r="13844" b="27782"/>
                      <a:stretch>
                        <a:fillRect/>
                      </a:stretch>
                    </p:blipFill>
                    <p:spPr bwMode="auto">
                      <a:xfrm>
                        <a:off x="5860712" y="3498873"/>
                        <a:ext cx="2251512" cy="10102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ight Arrow 2"/>
          <p:cNvSpPr/>
          <p:nvPr/>
        </p:nvSpPr>
        <p:spPr>
          <a:xfrm>
            <a:off x="6926980" y="3918891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10056440" y="3717032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48128" y="4795813"/>
            <a:ext cx="3034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</a:rPr>
              <a:t>Erosion shrinks objects</a:t>
            </a:r>
          </a:p>
        </p:txBody>
      </p:sp>
    </p:spTree>
    <p:extLst>
      <p:ext uri="{BB962C8B-B14F-4D97-AF65-F5344CB8AC3E}">
        <p14:creationId xmlns:p14="http://schemas.microsoft.com/office/powerpoint/2010/main" val="3835576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/>
              <a:t>Erosion Example</a:t>
            </a:r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914526" y="1585914"/>
            <a:ext cx="3927475" cy="3900487"/>
            <a:chOff x="202" y="944"/>
            <a:chExt cx="2474" cy="2457"/>
          </a:xfrm>
        </p:grpSpPr>
        <p:sp>
          <p:nvSpPr>
            <p:cNvPr id="35538" name="Rectangle 4"/>
            <p:cNvSpPr>
              <a:spLocks noChangeArrowheads="1"/>
            </p:cNvSpPr>
            <p:nvPr/>
          </p:nvSpPr>
          <p:spPr bwMode="auto">
            <a:xfrm>
              <a:off x="20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9" name="Rectangle 5"/>
            <p:cNvSpPr>
              <a:spLocks noChangeArrowheads="1"/>
            </p:cNvSpPr>
            <p:nvPr/>
          </p:nvSpPr>
          <p:spPr bwMode="auto">
            <a:xfrm>
              <a:off x="51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0" name="Rectangle 6"/>
            <p:cNvSpPr>
              <a:spLocks noChangeArrowheads="1"/>
            </p:cNvSpPr>
            <p:nvPr/>
          </p:nvSpPr>
          <p:spPr bwMode="auto">
            <a:xfrm>
              <a:off x="821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1" name="Rectangle 7"/>
            <p:cNvSpPr>
              <a:spLocks noChangeArrowheads="1"/>
            </p:cNvSpPr>
            <p:nvPr/>
          </p:nvSpPr>
          <p:spPr bwMode="auto">
            <a:xfrm>
              <a:off x="1130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2" name="Rectangle 8"/>
            <p:cNvSpPr>
              <a:spLocks noChangeArrowheads="1"/>
            </p:cNvSpPr>
            <p:nvPr/>
          </p:nvSpPr>
          <p:spPr bwMode="auto">
            <a:xfrm>
              <a:off x="1439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3" name="Rectangle 9"/>
            <p:cNvSpPr>
              <a:spLocks noChangeArrowheads="1"/>
            </p:cNvSpPr>
            <p:nvPr/>
          </p:nvSpPr>
          <p:spPr bwMode="auto">
            <a:xfrm>
              <a:off x="1748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4" name="Rectangle 10"/>
            <p:cNvSpPr>
              <a:spLocks noChangeArrowheads="1"/>
            </p:cNvSpPr>
            <p:nvPr/>
          </p:nvSpPr>
          <p:spPr bwMode="auto">
            <a:xfrm>
              <a:off x="2057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5" name="Rectangle 11"/>
            <p:cNvSpPr>
              <a:spLocks noChangeArrowheads="1"/>
            </p:cNvSpPr>
            <p:nvPr/>
          </p:nvSpPr>
          <p:spPr bwMode="auto">
            <a:xfrm>
              <a:off x="2366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6" name="Rectangle 12"/>
            <p:cNvSpPr>
              <a:spLocks noChangeArrowheads="1"/>
            </p:cNvSpPr>
            <p:nvPr/>
          </p:nvSpPr>
          <p:spPr bwMode="auto">
            <a:xfrm>
              <a:off x="20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7" name="Rectangle 13"/>
            <p:cNvSpPr>
              <a:spLocks noChangeArrowheads="1"/>
            </p:cNvSpPr>
            <p:nvPr/>
          </p:nvSpPr>
          <p:spPr bwMode="auto">
            <a:xfrm>
              <a:off x="51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8" name="Rectangle 14"/>
            <p:cNvSpPr>
              <a:spLocks noChangeArrowheads="1"/>
            </p:cNvSpPr>
            <p:nvPr/>
          </p:nvSpPr>
          <p:spPr bwMode="auto">
            <a:xfrm>
              <a:off x="821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49" name="Rectangle 15"/>
            <p:cNvSpPr>
              <a:spLocks noChangeArrowheads="1"/>
            </p:cNvSpPr>
            <p:nvPr/>
          </p:nvSpPr>
          <p:spPr bwMode="auto">
            <a:xfrm>
              <a:off x="1130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0" name="Rectangle 16"/>
            <p:cNvSpPr>
              <a:spLocks noChangeArrowheads="1"/>
            </p:cNvSpPr>
            <p:nvPr/>
          </p:nvSpPr>
          <p:spPr bwMode="auto">
            <a:xfrm>
              <a:off x="1439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1" name="Rectangle 17"/>
            <p:cNvSpPr>
              <a:spLocks noChangeArrowheads="1"/>
            </p:cNvSpPr>
            <p:nvPr/>
          </p:nvSpPr>
          <p:spPr bwMode="auto">
            <a:xfrm>
              <a:off x="1748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2" name="Rectangle 18"/>
            <p:cNvSpPr>
              <a:spLocks noChangeArrowheads="1"/>
            </p:cNvSpPr>
            <p:nvPr/>
          </p:nvSpPr>
          <p:spPr bwMode="auto">
            <a:xfrm>
              <a:off x="2057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3" name="Rectangle 19"/>
            <p:cNvSpPr>
              <a:spLocks noChangeArrowheads="1"/>
            </p:cNvSpPr>
            <p:nvPr/>
          </p:nvSpPr>
          <p:spPr bwMode="auto">
            <a:xfrm>
              <a:off x="2366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4" name="Rectangle 20"/>
            <p:cNvSpPr>
              <a:spLocks noChangeArrowheads="1"/>
            </p:cNvSpPr>
            <p:nvPr/>
          </p:nvSpPr>
          <p:spPr bwMode="auto">
            <a:xfrm>
              <a:off x="20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5" name="Rectangle 21"/>
            <p:cNvSpPr>
              <a:spLocks noChangeArrowheads="1"/>
            </p:cNvSpPr>
            <p:nvPr/>
          </p:nvSpPr>
          <p:spPr bwMode="auto">
            <a:xfrm>
              <a:off x="51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6" name="Rectangle 22"/>
            <p:cNvSpPr>
              <a:spLocks noChangeArrowheads="1"/>
            </p:cNvSpPr>
            <p:nvPr/>
          </p:nvSpPr>
          <p:spPr bwMode="auto">
            <a:xfrm>
              <a:off x="821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7" name="Rectangle 23"/>
            <p:cNvSpPr>
              <a:spLocks noChangeArrowheads="1"/>
            </p:cNvSpPr>
            <p:nvPr/>
          </p:nvSpPr>
          <p:spPr bwMode="auto">
            <a:xfrm>
              <a:off x="1130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8" name="Rectangle 24"/>
            <p:cNvSpPr>
              <a:spLocks noChangeArrowheads="1"/>
            </p:cNvSpPr>
            <p:nvPr/>
          </p:nvSpPr>
          <p:spPr bwMode="auto">
            <a:xfrm>
              <a:off x="1439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59" name="Rectangle 25"/>
            <p:cNvSpPr>
              <a:spLocks noChangeArrowheads="1"/>
            </p:cNvSpPr>
            <p:nvPr/>
          </p:nvSpPr>
          <p:spPr bwMode="auto">
            <a:xfrm>
              <a:off x="1748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0" name="Rectangle 26"/>
            <p:cNvSpPr>
              <a:spLocks noChangeArrowheads="1"/>
            </p:cNvSpPr>
            <p:nvPr/>
          </p:nvSpPr>
          <p:spPr bwMode="auto">
            <a:xfrm>
              <a:off x="2057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1" name="Rectangle 27"/>
            <p:cNvSpPr>
              <a:spLocks noChangeArrowheads="1"/>
            </p:cNvSpPr>
            <p:nvPr/>
          </p:nvSpPr>
          <p:spPr bwMode="auto">
            <a:xfrm>
              <a:off x="2366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2" name="Rectangle 28"/>
            <p:cNvSpPr>
              <a:spLocks noChangeArrowheads="1"/>
            </p:cNvSpPr>
            <p:nvPr/>
          </p:nvSpPr>
          <p:spPr bwMode="auto">
            <a:xfrm>
              <a:off x="202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3" name="Rectangle 29"/>
            <p:cNvSpPr>
              <a:spLocks noChangeArrowheads="1"/>
            </p:cNvSpPr>
            <p:nvPr/>
          </p:nvSpPr>
          <p:spPr bwMode="auto">
            <a:xfrm>
              <a:off x="512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4" name="Rectangle 30"/>
            <p:cNvSpPr>
              <a:spLocks noChangeArrowheads="1"/>
            </p:cNvSpPr>
            <p:nvPr/>
          </p:nvSpPr>
          <p:spPr bwMode="auto">
            <a:xfrm>
              <a:off x="821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5" name="Rectangle 31"/>
            <p:cNvSpPr>
              <a:spLocks noChangeArrowheads="1"/>
            </p:cNvSpPr>
            <p:nvPr/>
          </p:nvSpPr>
          <p:spPr bwMode="auto">
            <a:xfrm>
              <a:off x="1130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6" name="Rectangle 32"/>
            <p:cNvSpPr>
              <a:spLocks noChangeArrowheads="1"/>
            </p:cNvSpPr>
            <p:nvPr/>
          </p:nvSpPr>
          <p:spPr bwMode="auto">
            <a:xfrm>
              <a:off x="1439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7" name="Rectangle 33"/>
            <p:cNvSpPr>
              <a:spLocks noChangeArrowheads="1"/>
            </p:cNvSpPr>
            <p:nvPr/>
          </p:nvSpPr>
          <p:spPr bwMode="auto">
            <a:xfrm>
              <a:off x="1748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8" name="Rectangle 34"/>
            <p:cNvSpPr>
              <a:spLocks noChangeArrowheads="1"/>
            </p:cNvSpPr>
            <p:nvPr/>
          </p:nvSpPr>
          <p:spPr bwMode="auto">
            <a:xfrm>
              <a:off x="2057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69" name="Rectangle 35"/>
            <p:cNvSpPr>
              <a:spLocks noChangeArrowheads="1"/>
            </p:cNvSpPr>
            <p:nvPr/>
          </p:nvSpPr>
          <p:spPr bwMode="auto">
            <a:xfrm>
              <a:off x="2366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0" name="Rectangle 36"/>
            <p:cNvSpPr>
              <a:spLocks noChangeArrowheads="1"/>
            </p:cNvSpPr>
            <p:nvPr/>
          </p:nvSpPr>
          <p:spPr bwMode="auto">
            <a:xfrm>
              <a:off x="202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1" name="Rectangle 37"/>
            <p:cNvSpPr>
              <a:spLocks noChangeArrowheads="1"/>
            </p:cNvSpPr>
            <p:nvPr/>
          </p:nvSpPr>
          <p:spPr bwMode="auto">
            <a:xfrm>
              <a:off x="512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2" name="Rectangle 38"/>
            <p:cNvSpPr>
              <a:spLocks noChangeArrowheads="1"/>
            </p:cNvSpPr>
            <p:nvPr/>
          </p:nvSpPr>
          <p:spPr bwMode="auto">
            <a:xfrm>
              <a:off x="821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3" name="Rectangle 39"/>
            <p:cNvSpPr>
              <a:spLocks noChangeArrowheads="1"/>
            </p:cNvSpPr>
            <p:nvPr/>
          </p:nvSpPr>
          <p:spPr bwMode="auto">
            <a:xfrm>
              <a:off x="1130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4" name="Rectangle 40"/>
            <p:cNvSpPr>
              <a:spLocks noChangeArrowheads="1"/>
            </p:cNvSpPr>
            <p:nvPr/>
          </p:nvSpPr>
          <p:spPr bwMode="auto">
            <a:xfrm>
              <a:off x="1439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5" name="Rectangle 41"/>
            <p:cNvSpPr>
              <a:spLocks noChangeArrowheads="1"/>
            </p:cNvSpPr>
            <p:nvPr/>
          </p:nvSpPr>
          <p:spPr bwMode="auto">
            <a:xfrm>
              <a:off x="1748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6" name="Rectangle 42"/>
            <p:cNvSpPr>
              <a:spLocks noChangeArrowheads="1"/>
            </p:cNvSpPr>
            <p:nvPr/>
          </p:nvSpPr>
          <p:spPr bwMode="auto">
            <a:xfrm>
              <a:off x="2057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7" name="Rectangle 43"/>
            <p:cNvSpPr>
              <a:spLocks noChangeArrowheads="1"/>
            </p:cNvSpPr>
            <p:nvPr/>
          </p:nvSpPr>
          <p:spPr bwMode="auto">
            <a:xfrm>
              <a:off x="2366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8" name="Rectangle 44"/>
            <p:cNvSpPr>
              <a:spLocks noChangeArrowheads="1"/>
            </p:cNvSpPr>
            <p:nvPr/>
          </p:nvSpPr>
          <p:spPr bwMode="auto">
            <a:xfrm>
              <a:off x="202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79" name="Rectangle 45"/>
            <p:cNvSpPr>
              <a:spLocks noChangeArrowheads="1"/>
            </p:cNvSpPr>
            <p:nvPr/>
          </p:nvSpPr>
          <p:spPr bwMode="auto">
            <a:xfrm>
              <a:off x="512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0" name="Rectangle 46"/>
            <p:cNvSpPr>
              <a:spLocks noChangeArrowheads="1"/>
            </p:cNvSpPr>
            <p:nvPr/>
          </p:nvSpPr>
          <p:spPr bwMode="auto">
            <a:xfrm>
              <a:off x="821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1" name="Rectangle 47"/>
            <p:cNvSpPr>
              <a:spLocks noChangeArrowheads="1"/>
            </p:cNvSpPr>
            <p:nvPr/>
          </p:nvSpPr>
          <p:spPr bwMode="auto">
            <a:xfrm>
              <a:off x="1130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2" name="Rectangle 48"/>
            <p:cNvSpPr>
              <a:spLocks noChangeArrowheads="1"/>
            </p:cNvSpPr>
            <p:nvPr/>
          </p:nvSpPr>
          <p:spPr bwMode="auto">
            <a:xfrm>
              <a:off x="1439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3" name="Rectangle 49"/>
            <p:cNvSpPr>
              <a:spLocks noChangeArrowheads="1"/>
            </p:cNvSpPr>
            <p:nvPr/>
          </p:nvSpPr>
          <p:spPr bwMode="auto">
            <a:xfrm>
              <a:off x="1748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4" name="Rectangle 50"/>
            <p:cNvSpPr>
              <a:spLocks noChangeArrowheads="1"/>
            </p:cNvSpPr>
            <p:nvPr/>
          </p:nvSpPr>
          <p:spPr bwMode="auto">
            <a:xfrm>
              <a:off x="2057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5" name="Rectangle 51"/>
            <p:cNvSpPr>
              <a:spLocks noChangeArrowheads="1"/>
            </p:cNvSpPr>
            <p:nvPr/>
          </p:nvSpPr>
          <p:spPr bwMode="auto">
            <a:xfrm>
              <a:off x="2366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6" name="Rectangle 52"/>
            <p:cNvSpPr>
              <a:spLocks noChangeArrowheads="1"/>
            </p:cNvSpPr>
            <p:nvPr/>
          </p:nvSpPr>
          <p:spPr bwMode="auto">
            <a:xfrm>
              <a:off x="20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7" name="Rectangle 53"/>
            <p:cNvSpPr>
              <a:spLocks noChangeArrowheads="1"/>
            </p:cNvSpPr>
            <p:nvPr/>
          </p:nvSpPr>
          <p:spPr bwMode="auto">
            <a:xfrm>
              <a:off x="51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8" name="Rectangle 54"/>
            <p:cNvSpPr>
              <a:spLocks noChangeArrowheads="1"/>
            </p:cNvSpPr>
            <p:nvPr/>
          </p:nvSpPr>
          <p:spPr bwMode="auto">
            <a:xfrm>
              <a:off x="821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89" name="Rectangle 55"/>
            <p:cNvSpPr>
              <a:spLocks noChangeArrowheads="1"/>
            </p:cNvSpPr>
            <p:nvPr/>
          </p:nvSpPr>
          <p:spPr bwMode="auto">
            <a:xfrm>
              <a:off x="1130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0" name="Rectangle 56"/>
            <p:cNvSpPr>
              <a:spLocks noChangeArrowheads="1"/>
            </p:cNvSpPr>
            <p:nvPr/>
          </p:nvSpPr>
          <p:spPr bwMode="auto">
            <a:xfrm>
              <a:off x="1439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1" name="Rectangle 57"/>
            <p:cNvSpPr>
              <a:spLocks noChangeArrowheads="1"/>
            </p:cNvSpPr>
            <p:nvPr/>
          </p:nvSpPr>
          <p:spPr bwMode="auto">
            <a:xfrm>
              <a:off x="1748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2" name="Rectangle 58"/>
            <p:cNvSpPr>
              <a:spLocks noChangeArrowheads="1"/>
            </p:cNvSpPr>
            <p:nvPr/>
          </p:nvSpPr>
          <p:spPr bwMode="auto">
            <a:xfrm>
              <a:off x="2057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3" name="Rectangle 59"/>
            <p:cNvSpPr>
              <a:spLocks noChangeArrowheads="1"/>
            </p:cNvSpPr>
            <p:nvPr/>
          </p:nvSpPr>
          <p:spPr bwMode="auto">
            <a:xfrm>
              <a:off x="2366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4" name="Rectangle 60"/>
            <p:cNvSpPr>
              <a:spLocks noChangeArrowheads="1"/>
            </p:cNvSpPr>
            <p:nvPr/>
          </p:nvSpPr>
          <p:spPr bwMode="auto">
            <a:xfrm>
              <a:off x="20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5" name="Rectangle 61"/>
            <p:cNvSpPr>
              <a:spLocks noChangeArrowheads="1"/>
            </p:cNvSpPr>
            <p:nvPr/>
          </p:nvSpPr>
          <p:spPr bwMode="auto">
            <a:xfrm>
              <a:off x="51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6" name="Rectangle 62"/>
            <p:cNvSpPr>
              <a:spLocks noChangeArrowheads="1"/>
            </p:cNvSpPr>
            <p:nvPr/>
          </p:nvSpPr>
          <p:spPr bwMode="auto">
            <a:xfrm>
              <a:off x="821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7" name="Rectangle 63"/>
            <p:cNvSpPr>
              <a:spLocks noChangeArrowheads="1"/>
            </p:cNvSpPr>
            <p:nvPr/>
          </p:nvSpPr>
          <p:spPr bwMode="auto">
            <a:xfrm>
              <a:off x="1130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8" name="Rectangle 64"/>
            <p:cNvSpPr>
              <a:spLocks noChangeArrowheads="1"/>
            </p:cNvSpPr>
            <p:nvPr/>
          </p:nvSpPr>
          <p:spPr bwMode="auto">
            <a:xfrm>
              <a:off x="1439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99" name="Rectangle 65"/>
            <p:cNvSpPr>
              <a:spLocks noChangeArrowheads="1"/>
            </p:cNvSpPr>
            <p:nvPr/>
          </p:nvSpPr>
          <p:spPr bwMode="auto">
            <a:xfrm>
              <a:off x="1748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600" name="Rectangle 66"/>
            <p:cNvSpPr>
              <a:spLocks noChangeArrowheads="1"/>
            </p:cNvSpPr>
            <p:nvPr/>
          </p:nvSpPr>
          <p:spPr bwMode="auto">
            <a:xfrm>
              <a:off x="2057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601" name="Rectangle 67"/>
            <p:cNvSpPr>
              <a:spLocks noChangeArrowheads="1"/>
            </p:cNvSpPr>
            <p:nvPr/>
          </p:nvSpPr>
          <p:spPr bwMode="auto">
            <a:xfrm>
              <a:off x="2366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1423987" y="1573214"/>
            <a:ext cx="1474788" cy="1463675"/>
            <a:chOff x="262" y="1078"/>
            <a:chExt cx="929" cy="922"/>
          </a:xfrm>
        </p:grpSpPr>
        <p:sp>
          <p:nvSpPr>
            <p:cNvPr id="35529" name="Rectangle 69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0" name="Rectangle 70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1" name="Rectangle 71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2" name="Rectangle 72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3" name="Rectangle 73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4" name="Rectangle 74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5" name="Rectangle 75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6" name="Rectangle 76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37" name="Rectangle 77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821" name="Text Box 78"/>
          <p:cNvSpPr txBox="1">
            <a:spLocks noChangeArrowheads="1"/>
          </p:cNvSpPr>
          <p:nvPr/>
        </p:nvSpPr>
        <p:spPr bwMode="auto">
          <a:xfrm>
            <a:off x="5043489" y="5967413"/>
            <a:ext cx="309719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sz="2800" dirty="0">
                <a:latin typeface="Times New Roman" panose="02020603050405020304" pitchFamily="18" charset="0"/>
              </a:rPr>
              <a:t>Structuring Element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3978275" y="5703889"/>
            <a:ext cx="1081088" cy="1068387"/>
            <a:chOff x="1339" y="3268"/>
            <a:chExt cx="932" cy="921"/>
          </a:xfrm>
        </p:grpSpPr>
        <p:sp>
          <p:nvSpPr>
            <p:cNvPr id="35520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1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2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3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4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5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6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7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28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89"/>
          <p:cNvGrpSpPr>
            <a:grpSpLocks/>
          </p:cNvGrpSpPr>
          <p:nvPr/>
        </p:nvGrpSpPr>
        <p:grpSpPr bwMode="auto">
          <a:xfrm>
            <a:off x="1911350" y="1573214"/>
            <a:ext cx="1474788" cy="1463675"/>
            <a:chOff x="262" y="1078"/>
            <a:chExt cx="929" cy="922"/>
          </a:xfrm>
        </p:grpSpPr>
        <p:sp>
          <p:nvSpPr>
            <p:cNvPr id="35511" name="Rectangle 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2" name="Rectangle 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3" name="Rectangle 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4" name="Rectangle 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5" name="Rectangle 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6" name="Rectangle 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7" name="Rectangle 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8" name="Rectangle 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9" name="Rectangle 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99"/>
          <p:cNvGrpSpPr>
            <a:grpSpLocks/>
          </p:cNvGrpSpPr>
          <p:nvPr/>
        </p:nvGrpSpPr>
        <p:grpSpPr bwMode="auto">
          <a:xfrm>
            <a:off x="2408239" y="1573214"/>
            <a:ext cx="1474787" cy="1463675"/>
            <a:chOff x="262" y="1078"/>
            <a:chExt cx="929" cy="922"/>
          </a:xfrm>
        </p:grpSpPr>
        <p:sp>
          <p:nvSpPr>
            <p:cNvPr id="35502" name="Rectangle 1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3" name="Rectangle 1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4" name="Rectangle 1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5" name="Rectangle 1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6" name="Rectangle 1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7" name="Rectangle 1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8" name="Rectangle 1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9" name="Rectangle 1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10" name="Rectangle 1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109"/>
          <p:cNvGrpSpPr>
            <a:grpSpLocks/>
          </p:cNvGrpSpPr>
          <p:nvPr/>
        </p:nvGrpSpPr>
        <p:grpSpPr bwMode="auto">
          <a:xfrm>
            <a:off x="3379789" y="1573214"/>
            <a:ext cx="1474787" cy="1463675"/>
            <a:chOff x="262" y="1078"/>
            <a:chExt cx="929" cy="922"/>
          </a:xfrm>
        </p:grpSpPr>
        <p:sp>
          <p:nvSpPr>
            <p:cNvPr id="35493" name="Rectangle 1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4" name="Rectangle 1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5" name="Rectangle 1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6" name="Rectangle 1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7" name="Rectangle 1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8" name="Rectangle 1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9" name="Rectangle 1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0" name="Rectangle 1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501" name="Rectangle 1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119"/>
          <p:cNvGrpSpPr>
            <a:grpSpLocks/>
          </p:cNvGrpSpPr>
          <p:nvPr/>
        </p:nvGrpSpPr>
        <p:grpSpPr bwMode="auto">
          <a:xfrm>
            <a:off x="3871914" y="1573214"/>
            <a:ext cx="1474787" cy="1463675"/>
            <a:chOff x="262" y="1078"/>
            <a:chExt cx="929" cy="922"/>
          </a:xfrm>
        </p:grpSpPr>
        <p:sp>
          <p:nvSpPr>
            <p:cNvPr id="35484" name="Rectangle 1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5" name="Rectangle 1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6" name="Rectangle 1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7" name="Rectangle 1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8" name="Rectangle 1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9" name="Rectangle 1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0" name="Rectangle 1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1" name="Rectangle 1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92" name="Rectangle 1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29"/>
          <p:cNvGrpSpPr>
            <a:grpSpLocks/>
          </p:cNvGrpSpPr>
          <p:nvPr/>
        </p:nvGrpSpPr>
        <p:grpSpPr bwMode="auto">
          <a:xfrm>
            <a:off x="4349750" y="1573214"/>
            <a:ext cx="1474788" cy="1463675"/>
            <a:chOff x="262" y="1078"/>
            <a:chExt cx="929" cy="922"/>
          </a:xfrm>
        </p:grpSpPr>
        <p:sp>
          <p:nvSpPr>
            <p:cNvPr id="35475" name="Rectangle 1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6" name="Rectangle 1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7" name="Rectangle 1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8" name="Rectangle 1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9" name="Rectangle 1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0" name="Rectangle 1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1" name="Rectangle 1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2" name="Rectangle 1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83" name="Rectangle 1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4841875" y="1573214"/>
            <a:ext cx="1474788" cy="1463675"/>
            <a:chOff x="262" y="1078"/>
            <a:chExt cx="929" cy="922"/>
          </a:xfrm>
        </p:grpSpPr>
        <p:sp>
          <p:nvSpPr>
            <p:cNvPr id="35466" name="Rectangle 1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7" name="Rectangle 1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8" name="Rectangle 1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9" name="Rectangle 1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0" name="Rectangle 1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1" name="Rectangle 1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2" name="Rectangle 1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3" name="Rectangle 1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74" name="Rectangle 1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149"/>
          <p:cNvGrpSpPr>
            <a:grpSpLocks/>
          </p:cNvGrpSpPr>
          <p:nvPr/>
        </p:nvGrpSpPr>
        <p:grpSpPr bwMode="auto">
          <a:xfrm>
            <a:off x="2905125" y="1573214"/>
            <a:ext cx="1474788" cy="1463675"/>
            <a:chOff x="262" y="1078"/>
            <a:chExt cx="929" cy="922"/>
          </a:xfrm>
        </p:grpSpPr>
        <p:sp>
          <p:nvSpPr>
            <p:cNvPr id="35457" name="Rectangle 1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8" name="Rectangle 1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9" name="Rectangle 1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0" name="Rectangle 1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1" name="Rectangle 1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2" name="Rectangle 1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3" name="Rectangle 1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4" name="Rectangle 1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65" name="Rectangle 1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159"/>
          <p:cNvGrpSpPr>
            <a:grpSpLocks/>
          </p:cNvGrpSpPr>
          <p:nvPr/>
        </p:nvGrpSpPr>
        <p:grpSpPr bwMode="auto">
          <a:xfrm>
            <a:off x="1423987" y="1077914"/>
            <a:ext cx="1474788" cy="1463675"/>
            <a:chOff x="262" y="1078"/>
            <a:chExt cx="929" cy="922"/>
          </a:xfrm>
        </p:grpSpPr>
        <p:sp>
          <p:nvSpPr>
            <p:cNvPr id="35448" name="Rectangle 1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9" name="Rectangle 1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0" name="Rectangle 1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1" name="Rectangle 1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2" name="Rectangle 1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3" name="Rectangle 1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4" name="Rectangle 1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5" name="Rectangle 1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56" name="Rectangle 1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69"/>
          <p:cNvGrpSpPr>
            <a:grpSpLocks/>
          </p:cNvGrpSpPr>
          <p:nvPr/>
        </p:nvGrpSpPr>
        <p:grpSpPr bwMode="auto">
          <a:xfrm>
            <a:off x="1911350" y="1077914"/>
            <a:ext cx="1474788" cy="1463675"/>
            <a:chOff x="262" y="1078"/>
            <a:chExt cx="929" cy="922"/>
          </a:xfrm>
        </p:grpSpPr>
        <p:sp>
          <p:nvSpPr>
            <p:cNvPr id="35439" name="Rectangle 1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0" name="Rectangle 1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1" name="Rectangle 1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2" name="Rectangle 1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3" name="Rectangle 1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4" name="Rectangle 1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5" name="Rectangle 1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6" name="Rectangle 1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47" name="Rectangle 1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179"/>
          <p:cNvGrpSpPr>
            <a:grpSpLocks/>
          </p:cNvGrpSpPr>
          <p:nvPr/>
        </p:nvGrpSpPr>
        <p:grpSpPr bwMode="auto">
          <a:xfrm>
            <a:off x="2408239" y="1077914"/>
            <a:ext cx="1474787" cy="1463675"/>
            <a:chOff x="262" y="1078"/>
            <a:chExt cx="929" cy="922"/>
          </a:xfrm>
        </p:grpSpPr>
        <p:sp>
          <p:nvSpPr>
            <p:cNvPr id="35430" name="Rectangle 1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1" name="Rectangle 1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2" name="Rectangle 1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3" name="Rectangle 1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4" name="Rectangle 1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5" name="Rectangle 1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6" name="Rectangle 1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7" name="Rectangle 1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38" name="Rectangle 1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89"/>
          <p:cNvGrpSpPr>
            <a:grpSpLocks/>
          </p:cNvGrpSpPr>
          <p:nvPr/>
        </p:nvGrpSpPr>
        <p:grpSpPr bwMode="auto">
          <a:xfrm>
            <a:off x="3379789" y="1077914"/>
            <a:ext cx="1474787" cy="1463675"/>
            <a:chOff x="262" y="1078"/>
            <a:chExt cx="929" cy="922"/>
          </a:xfrm>
        </p:grpSpPr>
        <p:sp>
          <p:nvSpPr>
            <p:cNvPr id="35421" name="Rectangle 1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2" name="Rectangle 1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3" name="Rectangle 1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4" name="Rectangle 1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5" name="Rectangle 1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6" name="Rectangle 1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7" name="Rectangle 1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8" name="Rectangle 1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9" name="Rectangle 1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99"/>
          <p:cNvGrpSpPr>
            <a:grpSpLocks/>
          </p:cNvGrpSpPr>
          <p:nvPr/>
        </p:nvGrpSpPr>
        <p:grpSpPr bwMode="auto">
          <a:xfrm>
            <a:off x="3871914" y="1077914"/>
            <a:ext cx="1474787" cy="1463675"/>
            <a:chOff x="262" y="1078"/>
            <a:chExt cx="929" cy="922"/>
          </a:xfrm>
        </p:grpSpPr>
        <p:sp>
          <p:nvSpPr>
            <p:cNvPr id="35412" name="Rectangle 2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3" name="Rectangle 2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4" name="Rectangle 2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5" name="Rectangle 2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6" name="Rectangle 2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7" name="Rectangle 2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8" name="Rectangle 2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9" name="Rectangle 2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20" name="Rectangle 2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209"/>
          <p:cNvGrpSpPr>
            <a:grpSpLocks/>
          </p:cNvGrpSpPr>
          <p:nvPr/>
        </p:nvGrpSpPr>
        <p:grpSpPr bwMode="auto">
          <a:xfrm>
            <a:off x="4349750" y="1077914"/>
            <a:ext cx="1474788" cy="1463675"/>
            <a:chOff x="262" y="1078"/>
            <a:chExt cx="929" cy="922"/>
          </a:xfrm>
        </p:grpSpPr>
        <p:sp>
          <p:nvSpPr>
            <p:cNvPr id="35403" name="Rectangle 2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4" name="Rectangle 2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5" name="Rectangle 2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6" name="Rectangle 2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7" name="Rectangle 2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8" name="Rectangle 2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9" name="Rectangle 2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0" name="Rectangle 2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11" name="Rectangle 2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219"/>
          <p:cNvGrpSpPr>
            <a:grpSpLocks/>
          </p:cNvGrpSpPr>
          <p:nvPr/>
        </p:nvGrpSpPr>
        <p:grpSpPr bwMode="auto">
          <a:xfrm>
            <a:off x="4841875" y="1077914"/>
            <a:ext cx="1474788" cy="1463675"/>
            <a:chOff x="262" y="1078"/>
            <a:chExt cx="929" cy="922"/>
          </a:xfrm>
        </p:grpSpPr>
        <p:sp>
          <p:nvSpPr>
            <p:cNvPr id="35394" name="Rectangle 2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5" name="Rectangle 2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6" name="Rectangle 2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7" name="Rectangle 2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8" name="Rectangle 2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9" name="Rectangle 2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0" name="Rectangle 2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1" name="Rectangle 2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402" name="Rectangle 2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229"/>
          <p:cNvGrpSpPr>
            <a:grpSpLocks/>
          </p:cNvGrpSpPr>
          <p:nvPr/>
        </p:nvGrpSpPr>
        <p:grpSpPr bwMode="auto">
          <a:xfrm>
            <a:off x="2905125" y="1077914"/>
            <a:ext cx="1474788" cy="1463675"/>
            <a:chOff x="262" y="1078"/>
            <a:chExt cx="929" cy="922"/>
          </a:xfrm>
        </p:grpSpPr>
        <p:sp>
          <p:nvSpPr>
            <p:cNvPr id="35385" name="Rectangle 2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6" name="Rectangle 2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7" name="Rectangle 2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8" name="Rectangle 2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9" name="Rectangle 2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0" name="Rectangle 2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1" name="Rectangle 2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2" name="Rectangle 2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93" name="Rectangle 2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Group 239"/>
          <p:cNvGrpSpPr>
            <a:grpSpLocks/>
          </p:cNvGrpSpPr>
          <p:nvPr/>
        </p:nvGrpSpPr>
        <p:grpSpPr bwMode="auto">
          <a:xfrm>
            <a:off x="1423987" y="2071689"/>
            <a:ext cx="1474788" cy="1463675"/>
            <a:chOff x="262" y="1078"/>
            <a:chExt cx="929" cy="922"/>
          </a:xfrm>
        </p:grpSpPr>
        <p:sp>
          <p:nvSpPr>
            <p:cNvPr id="35376" name="Rectangle 2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7" name="Rectangle 2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8" name="Rectangle 2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9" name="Rectangle 2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0" name="Rectangle 2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1" name="Rectangle 2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2" name="Rectangle 2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3" name="Rectangle 2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84" name="Rectangle 2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49"/>
          <p:cNvGrpSpPr>
            <a:grpSpLocks/>
          </p:cNvGrpSpPr>
          <p:nvPr/>
        </p:nvGrpSpPr>
        <p:grpSpPr bwMode="auto">
          <a:xfrm>
            <a:off x="1911350" y="2071689"/>
            <a:ext cx="1474788" cy="1463675"/>
            <a:chOff x="262" y="1078"/>
            <a:chExt cx="929" cy="922"/>
          </a:xfrm>
        </p:grpSpPr>
        <p:sp>
          <p:nvSpPr>
            <p:cNvPr id="35367" name="Rectangle 2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8" name="Rectangle 2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9" name="Rectangle 2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0" name="Rectangle 2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1" name="Rectangle 2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2" name="Rectangle 2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3" name="Rectangle 2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4" name="Rectangle 2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75" name="Rectangle 2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259"/>
          <p:cNvGrpSpPr>
            <a:grpSpLocks/>
          </p:cNvGrpSpPr>
          <p:nvPr/>
        </p:nvGrpSpPr>
        <p:grpSpPr bwMode="auto">
          <a:xfrm>
            <a:off x="2408239" y="2071689"/>
            <a:ext cx="1474787" cy="1463675"/>
            <a:chOff x="262" y="1078"/>
            <a:chExt cx="929" cy="922"/>
          </a:xfrm>
        </p:grpSpPr>
        <p:sp>
          <p:nvSpPr>
            <p:cNvPr id="35358" name="Rectangle 2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9" name="Rectangle 2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0" name="Rectangle 2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1" name="Rectangle 2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2" name="Rectangle 2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3" name="Rectangle 2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4" name="Rectangle 2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5" name="Rectangle 2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66" name="Rectangle 2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69"/>
          <p:cNvGrpSpPr>
            <a:grpSpLocks/>
          </p:cNvGrpSpPr>
          <p:nvPr/>
        </p:nvGrpSpPr>
        <p:grpSpPr bwMode="auto">
          <a:xfrm>
            <a:off x="3379789" y="2071689"/>
            <a:ext cx="1474787" cy="1463675"/>
            <a:chOff x="262" y="1078"/>
            <a:chExt cx="929" cy="922"/>
          </a:xfrm>
        </p:grpSpPr>
        <p:sp>
          <p:nvSpPr>
            <p:cNvPr id="35349" name="Rectangle 2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0" name="Rectangle 2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1" name="Rectangle 2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2" name="Rectangle 2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3" name="Rectangle 2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4" name="Rectangle 2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5" name="Rectangle 2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6" name="Rectangle 2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57" name="Rectangle 2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" name="Group 279"/>
          <p:cNvGrpSpPr>
            <a:grpSpLocks/>
          </p:cNvGrpSpPr>
          <p:nvPr/>
        </p:nvGrpSpPr>
        <p:grpSpPr bwMode="auto">
          <a:xfrm>
            <a:off x="3871914" y="2071689"/>
            <a:ext cx="1474787" cy="1463675"/>
            <a:chOff x="262" y="1078"/>
            <a:chExt cx="929" cy="922"/>
          </a:xfrm>
        </p:grpSpPr>
        <p:sp>
          <p:nvSpPr>
            <p:cNvPr id="35340" name="Rectangle 2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1" name="Rectangle 2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2" name="Rectangle 2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3" name="Rectangle 2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4" name="Rectangle 2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5" name="Rectangle 2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6" name="Rectangle 2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7" name="Rectangle 2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48" name="Rectangle 2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89"/>
          <p:cNvGrpSpPr>
            <a:grpSpLocks/>
          </p:cNvGrpSpPr>
          <p:nvPr/>
        </p:nvGrpSpPr>
        <p:grpSpPr bwMode="auto">
          <a:xfrm>
            <a:off x="4349750" y="2071689"/>
            <a:ext cx="1474788" cy="1463675"/>
            <a:chOff x="262" y="1078"/>
            <a:chExt cx="929" cy="922"/>
          </a:xfrm>
        </p:grpSpPr>
        <p:sp>
          <p:nvSpPr>
            <p:cNvPr id="35331" name="Rectangle 2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2" name="Rectangle 2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3" name="Rectangle 2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4" name="Rectangle 2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5" name="Rectangle 2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6" name="Rectangle 2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7" name="Rectangle 2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8" name="Rectangle 2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9" name="Rectangle 2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" name="Group 299"/>
          <p:cNvGrpSpPr>
            <a:grpSpLocks/>
          </p:cNvGrpSpPr>
          <p:nvPr/>
        </p:nvGrpSpPr>
        <p:grpSpPr bwMode="auto">
          <a:xfrm>
            <a:off x="4841875" y="2071689"/>
            <a:ext cx="1474788" cy="1463675"/>
            <a:chOff x="262" y="1078"/>
            <a:chExt cx="929" cy="922"/>
          </a:xfrm>
        </p:grpSpPr>
        <p:sp>
          <p:nvSpPr>
            <p:cNvPr id="35322" name="Rectangle 3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3" name="Rectangle 3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4" name="Rectangle 3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5" name="Rectangle 3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6" name="Rectangle 3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7" name="Rectangle 3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8" name="Rectangle 3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9" name="Rectangle 3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30" name="Rectangle 3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" name="Group 309"/>
          <p:cNvGrpSpPr>
            <a:grpSpLocks/>
          </p:cNvGrpSpPr>
          <p:nvPr/>
        </p:nvGrpSpPr>
        <p:grpSpPr bwMode="auto">
          <a:xfrm>
            <a:off x="2905125" y="2071689"/>
            <a:ext cx="1474788" cy="1463675"/>
            <a:chOff x="262" y="1078"/>
            <a:chExt cx="929" cy="922"/>
          </a:xfrm>
        </p:grpSpPr>
        <p:sp>
          <p:nvSpPr>
            <p:cNvPr id="35313" name="Rectangle 3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4" name="Rectangle 3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5" name="Rectangle 3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6" name="Rectangle 3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7" name="Rectangle 3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8" name="Rectangle 3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9" name="Rectangle 3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0" name="Rectangle 3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21" name="Rectangle 3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" name="Group 319"/>
          <p:cNvGrpSpPr>
            <a:grpSpLocks/>
          </p:cNvGrpSpPr>
          <p:nvPr/>
        </p:nvGrpSpPr>
        <p:grpSpPr bwMode="auto">
          <a:xfrm>
            <a:off x="1423987" y="2554289"/>
            <a:ext cx="1474788" cy="1463675"/>
            <a:chOff x="262" y="1078"/>
            <a:chExt cx="929" cy="922"/>
          </a:xfrm>
        </p:grpSpPr>
        <p:sp>
          <p:nvSpPr>
            <p:cNvPr id="35304" name="Rectangle 3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5" name="Rectangle 3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6" name="Rectangle 3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7" name="Rectangle 3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8" name="Rectangle 3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9" name="Rectangle 3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0" name="Rectangle 3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1" name="Rectangle 3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12" name="Rectangle 3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" name="Group 329"/>
          <p:cNvGrpSpPr>
            <a:grpSpLocks/>
          </p:cNvGrpSpPr>
          <p:nvPr/>
        </p:nvGrpSpPr>
        <p:grpSpPr bwMode="auto">
          <a:xfrm>
            <a:off x="1911350" y="2554289"/>
            <a:ext cx="1474788" cy="1463675"/>
            <a:chOff x="262" y="1078"/>
            <a:chExt cx="929" cy="922"/>
          </a:xfrm>
        </p:grpSpPr>
        <p:sp>
          <p:nvSpPr>
            <p:cNvPr id="35295" name="Rectangle 3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6" name="Rectangle 3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7" name="Rectangle 3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8" name="Rectangle 3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9" name="Rectangle 3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0" name="Rectangle 3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1" name="Rectangle 3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2" name="Rectangle 3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303" name="Rectangle 3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" name="Group 339"/>
          <p:cNvGrpSpPr>
            <a:grpSpLocks/>
          </p:cNvGrpSpPr>
          <p:nvPr/>
        </p:nvGrpSpPr>
        <p:grpSpPr bwMode="auto">
          <a:xfrm>
            <a:off x="2408239" y="2554289"/>
            <a:ext cx="1474787" cy="1463675"/>
            <a:chOff x="262" y="1078"/>
            <a:chExt cx="929" cy="922"/>
          </a:xfrm>
        </p:grpSpPr>
        <p:sp>
          <p:nvSpPr>
            <p:cNvPr id="35286" name="Rectangle 3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7" name="Rectangle 3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8" name="Rectangle 3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9" name="Rectangle 3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0" name="Rectangle 3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1" name="Rectangle 3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2" name="Rectangle 3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3" name="Rectangle 3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94" name="Rectangle 3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349"/>
          <p:cNvGrpSpPr>
            <a:grpSpLocks/>
          </p:cNvGrpSpPr>
          <p:nvPr/>
        </p:nvGrpSpPr>
        <p:grpSpPr bwMode="auto">
          <a:xfrm>
            <a:off x="3379789" y="2554289"/>
            <a:ext cx="1474787" cy="1463675"/>
            <a:chOff x="262" y="1078"/>
            <a:chExt cx="929" cy="922"/>
          </a:xfrm>
        </p:grpSpPr>
        <p:sp>
          <p:nvSpPr>
            <p:cNvPr id="35277" name="Rectangle 3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8" name="Rectangle 3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9" name="Rectangle 3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0" name="Rectangle 3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1" name="Rectangle 3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2" name="Rectangle 3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3" name="Rectangle 3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4" name="Rectangle 3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85" name="Rectangle 3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16" name="Group 359"/>
          <p:cNvGrpSpPr>
            <a:grpSpLocks/>
          </p:cNvGrpSpPr>
          <p:nvPr/>
        </p:nvGrpSpPr>
        <p:grpSpPr bwMode="auto">
          <a:xfrm>
            <a:off x="3871914" y="2554289"/>
            <a:ext cx="1474787" cy="1463675"/>
            <a:chOff x="262" y="1078"/>
            <a:chExt cx="929" cy="922"/>
          </a:xfrm>
        </p:grpSpPr>
        <p:sp>
          <p:nvSpPr>
            <p:cNvPr id="35268" name="Rectangle 3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9" name="Rectangle 3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0" name="Rectangle 3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1" name="Rectangle 3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2" name="Rectangle 3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3" name="Rectangle 3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4" name="Rectangle 3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5" name="Rectangle 3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76" name="Rectangle 3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17" name="Group 369"/>
          <p:cNvGrpSpPr>
            <a:grpSpLocks/>
          </p:cNvGrpSpPr>
          <p:nvPr/>
        </p:nvGrpSpPr>
        <p:grpSpPr bwMode="auto">
          <a:xfrm>
            <a:off x="4349750" y="2554289"/>
            <a:ext cx="1474788" cy="1463675"/>
            <a:chOff x="262" y="1078"/>
            <a:chExt cx="929" cy="922"/>
          </a:xfrm>
        </p:grpSpPr>
        <p:sp>
          <p:nvSpPr>
            <p:cNvPr id="35259" name="Rectangle 3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0" name="Rectangle 3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1" name="Rectangle 3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2" name="Rectangle 3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3" name="Rectangle 3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4" name="Rectangle 3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5" name="Rectangle 3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6" name="Rectangle 3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67" name="Rectangle 3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19" name="Group 379"/>
          <p:cNvGrpSpPr>
            <a:grpSpLocks/>
          </p:cNvGrpSpPr>
          <p:nvPr/>
        </p:nvGrpSpPr>
        <p:grpSpPr bwMode="auto">
          <a:xfrm>
            <a:off x="4841875" y="2554289"/>
            <a:ext cx="1474788" cy="1463675"/>
            <a:chOff x="262" y="1078"/>
            <a:chExt cx="929" cy="922"/>
          </a:xfrm>
        </p:grpSpPr>
        <p:sp>
          <p:nvSpPr>
            <p:cNvPr id="35250" name="Rectangle 3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1" name="Rectangle 3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2" name="Rectangle 3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3" name="Rectangle 3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4" name="Rectangle 3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5" name="Rectangle 3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6" name="Rectangle 3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7" name="Rectangle 3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58" name="Rectangle 3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0" name="Group 389"/>
          <p:cNvGrpSpPr>
            <a:grpSpLocks/>
          </p:cNvGrpSpPr>
          <p:nvPr/>
        </p:nvGrpSpPr>
        <p:grpSpPr bwMode="auto">
          <a:xfrm>
            <a:off x="2905125" y="2554289"/>
            <a:ext cx="1474788" cy="1463675"/>
            <a:chOff x="262" y="1078"/>
            <a:chExt cx="929" cy="922"/>
          </a:xfrm>
        </p:grpSpPr>
        <p:sp>
          <p:nvSpPr>
            <p:cNvPr id="35241" name="Rectangle 3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2" name="Rectangle 3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3" name="Rectangle 3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4" name="Rectangle 3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5" name="Rectangle 3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6" name="Rectangle 3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7" name="Rectangle 3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8" name="Rectangle 3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9" name="Rectangle 3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2" name="Group 399"/>
          <p:cNvGrpSpPr>
            <a:grpSpLocks/>
          </p:cNvGrpSpPr>
          <p:nvPr/>
        </p:nvGrpSpPr>
        <p:grpSpPr bwMode="auto">
          <a:xfrm>
            <a:off x="6326189" y="1577975"/>
            <a:ext cx="3927475" cy="3900488"/>
            <a:chOff x="3178" y="1075"/>
            <a:chExt cx="2474" cy="2457"/>
          </a:xfrm>
        </p:grpSpPr>
        <p:sp>
          <p:nvSpPr>
            <p:cNvPr id="35177" name="Rectangle 400"/>
            <p:cNvSpPr>
              <a:spLocks noChangeArrowheads="1"/>
            </p:cNvSpPr>
            <p:nvPr/>
          </p:nvSpPr>
          <p:spPr bwMode="auto">
            <a:xfrm>
              <a:off x="3178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8" name="Rectangle 401"/>
            <p:cNvSpPr>
              <a:spLocks noChangeArrowheads="1"/>
            </p:cNvSpPr>
            <p:nvPr/>
          </p:nvSpPr>
          <p:spPr bwMode="auto">
            <a:xfrm>
              <a:off x="3488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9" name="Rectangle 402"/>
            <p:cNvSpPr>
              <a:spLocks noChangeArrowheads="1"/>
            </p:cNvSpPr>
            <p:nvPr/>
          </p:nvSpPr>
          <p:spPr bwMode="auto">
            <a:xfrm>
              <a:off x="3797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0" name="Rectangle 403"/>
            <p:cNvSpPr>
              <a:spLocks noChangeArrowheads="1"/>
            </p:cNvSpPr>
            <p:nvPr/>
          </p:nvSpPr>
          <p:spPr bwMode="auto">
            <a:xfrm>
              <a:off x="4106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1" name="Rectangle 404"/>
            <p:cNvSpPr>
              <a:spLocks noChangeArrowheads="1"/>
            </p:cNvSpPr>
            <p:nvPr/>
          </p:nvSpPr>
          <p:spPr bwMode="auto">
            <a:xfrm>
              <a:off x="4415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2" name="Rectangle 405"/>
            <p:cNvSpPr>
              <a:spLocks noChangeArrowheads="1"/>
            </p:cNvSpPr>
            <p:nvPr/>
          </p:nvSpPr>
          <p:spPr bwMode="auto">
            <a:xfrm>
              <a:off x="4724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3" name="Rectangle 406"/>
            <p:cNvSpPr>
              <a:spLocks noChangeArrowheads="1"/>
            </p:cNvSpPr>
            <p:nvPr/>
          </p:nvSpPr>
          <p:spPr bwMode="auto">
            <a:xfrm>
              <a:off x="5033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4" name="Rectangle 407"/>
            <p:cNvSpPr>
              <a:spLocks noChangeArrowheads="1"/>
            </p:cNvSpPr>
            <p:nvPr/>
          </p:nvSpPr>
          <p:spPr bwMode="auto">
            <a:xfrm>
              <a:off x="5342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5" name="Rectangle 408"/>
            <p:cNvSpPr>
              <a:spLocks noChangeArrowheads="1"/>
            </p:cNvSpPr>
            <p:nvPr/>
          </p:nvSpPr>
          <p:spPr bwMode="auto">
            <a:xfrm>
              <a:off x="3178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6" name="Rectangle 409"/>
            <p:cNvSpPr>
              <a:spLocks noChangeArrowheads="1"/>
            </p:cNvSpPr>
            <p:nvPr/>
          </p:nvSpPr>
          <p:spPr bwMode="auto">
            <a:xfrm>
              <a:off x="3488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7" name="Rectangle 410"/>
            <p:cNvSpPr>
              <a:spLocks noChangeArrowheads="1"/>
            </p:cNvSpPr>
            <p:nvPr/>
          </p:nvSpPr>
          <p:spPr bwMode="auto">
            <a:xfrm>
              <a:off x="3797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8" name="Rectangle 411"/>
            <p:cNvSpPr>
              <a:spLocks noChangeArrowheads="1"/>
            </p:cNvSpPr>
            <p:nvPr/>
          </p:nvSpPr>
          <p:spPr bwMode="auto">
            <a:xfrm>
              <a:off x="4106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89" name="Rectangle 412"/>
            <p:cNvSpPr>
              <a:spLocks noChangeArrowheads="1"/>
            </p:cNvSpPr>
            <p:nvPr/>
          </p:nvSpPr>
          <p:spPr bwMode="auto">
            <a:xfrm>
              <a:off x="4415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0" name="Rectangle 413"/>
            <p:cNvSpPr>
              <a:spLocks noChangeArrowheads="1"/>
            </p:cNvSpPr>
            <p:nvPr/>
          </p:nvSpPr>
          <p:spPr bwMode="auto">
            <a:xfrm>
              <a:off x="4724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1" name="Rectangle 414"/>
            <p:cNvSpPr>
              <a:spLocks noChangeArrowheads="1"/>
            </p:cNvSpPr>
            <p:nvPr/>
          </p:nvSpPr>
          <p:spPr bwMode="auto">
            <a:xfrm>
              <a:off x="5033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2" name="Rectangle 415"/>
            <p:cNvSpPr>
              <a:spLocks noChangeArrowheads="1"/>
            </p:cNvSpPr>
            <p:nvPr/>
          </p:nvSpPr>
          <p:spPr bwMode="auto">
            <a:xfrm>
              <a:off x="5342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3" name="Rectangle 416"/>
            <p:cNvSpPr>
              <a:spLocks noChangeArrowheads="1"/>
            </p:cNvSpPr>
            <p:nvPr/>
          </p:nvSpPr>
          <p:spPr bwMode="auto">
            <a:xfrm>
              <a:off x="3178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4" name="Rectangle 417"/>
            <p:cNvSpPr>
              <a:spLocks noChangeArrowheads="1"/>
            </p:cNvSpPr>
            <p:nvPr/>
          </p:nvSpPr>
          <p:spPr bwMode="auto">
            <a:xfrm>
              <a:off x="3488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5" name="Rectangle 418"/>
            <p:cNvSpPr>
              <a:spLocks noChangeArrowheads="1"/>
            </p:cNvSpPr>
            <p:nvPr/>
          </p:nvSpPr>
          <p:spPr bwMode="auto">
            <a:xfrm>
              <a:off x="3797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6" name="Rectangle 419"/>
            <p:cNvSpPr>
              <a:spLocks noChangeArrowheads="1"/>
            </p:cNvSpPr>
            <p:nvPr/>
          </p:nvSpPr>
          <p:spPr bwMode="auto">
            <a:xfrm>
              <a:off x="4106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7" name="Rectangle 420"/>
            <p:cNvSpPr>
              <a:spLocks noChangeArrowheads="1"/>
            </p:cNvSpPr>
            <p:nvPr/>
          </p:nvSpPr>
          <p:spPr bwMode="auto">
            <a:xfrm>
              <a:off x="4415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8" name="Rectangle 421"/>
            <p:cNvSpPr>
              <a:spLocks noChangeArrowheads="1"/>
            </p:cNvSpPr>
            <p:nvPr/>
          </p:nvSpPr>
          <p:spPr bwMode="auto">
            <a:xfrm>
              <a:off x="4724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99" name="Rectangle 422"/>
            <p:cNvSpPr>
              <a:spLocks noChangeArrowheads="1"/>
            </p:cNvSpPr>
            <p:nvPr/>
          </p:nvSpPr>
          <p:spPr bwMode="auto">
            <a:xfrm>
              <a:off x="5033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0" name="Rectangle 423"/>
            <p:cNvSpPr>
              <a:spLocks noChangeArrowheads="1"/>
            </p:cNvSpPr>
            <p:nvPr/>
          </p:nvSpPr>
          <p:spPr bwMode="auto">
            <a:xfrm>
              <a:off x="5342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1" name="Rectangle 424"/>
            <p:cNvSpPr>
              <a:spLocks noChangeArrowheads="1"/>
            </p:cNvSpPr>
            <p:nvPr/>
          </p:nvSpPr>
          <p:spPr bwMode="auto">
            <a:xfrm>
              <a:off x="3178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2" name="Rectangle 425"/>
            <p:cNvSpPr>
              <a:spLocks noChangeArrowheads="1"/>
            </p:cNvSpPr>
            <p:nvPr/>
          </p:nvSpPr>
          <p:spPr bwMode="auto">
            <a:xfrm>
              <a:off x="3488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3" name="Rectangle 426"/>
            <p:cNvSpPr>
              <a:spLocks noChangeArrowheads="1"/>
            </p:cNvSpPr>
            <p:nvPr/>
          </p:nvSpPr>
          <p:spPr bwMode="auto">
            <a:xfrm>
              <a:off x="3797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4" name="Rectangle 427"/>
            <p:cNvSpPr>
              <a:spLocks noChangeArrowheads="1"/>
            </p:cNvSpPr>
            <p:nvPr/>
          </p:nvSpPr>
          <p:spPr bwMode="auto">
            <a:xfrm>
              <a:off x="4106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5" name="Rectangle 428"/>
            <p:cNvSpPr>
              <a:spLocks noChangeArrowheads="1"/>
            </p:cNvSpPr>
            <p:nvPr/>
          </p:nvSpPr>
          <p:spPr bwMode="auto">
            <a:xfrm>
              <a:off x="4415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6" name="Rectangle 429"/>
            <p:cNvSpPr>
              <a:spLocks noChangeArrowheads="1"/>
            </p:cNvSpPr>
            <p:nvPr/>
          </p:nvSpPr>
          <p:spPr bwMode="auto">
            <a:xfrm>
              <a:off x="4724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7" name="Rectangle 430"/>
            <p:cNvSpPr>
              <a:spLocks noChangeArrowheads="1"/>
            </p:cNvSpPr>
            <p:nvPr/>
          </p:nvSpPr>
          <p:spPr bwMode="auto">
            <a:xfrm>
              <a:off x="5033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8" name="Rectangle 431"/>
            <p:cNvSpPr>
              <a:spLocks noChangeArrowheads="1"/>
            </p:cNvSpPr>
            <p:nvPr/>
          </p:nvSpPr>
          <p:spPr bwMode="auto">
            <a:xfrm>
              <a:off x="5342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09" name="Rectangle 432"/>
            <p:cNvSpPr>
              <a:spLocks noChangeArrowheads="1"/>
            </p:cNvSpPr>
            <p:nvPr/>
          </p:nvSpPr>
          <p:spPr bwMode="auto">
            <a:xfrm>
              <a:off x="3178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0" name="Rectangle 433"/>
            <p:cNvSpPr>
              <a:spLocks noChangeArrowheads="1"/>
            </p:cNvSpPr>
            <p:nvPr/>
          </p:nvSpPr>
          <p:spPr bwMode="auto">
            <a:xfrm>
              <a:off x="3488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1" name="Rectangle 434"/>
            <p:cNvSpPr>
              <a:spLocks noChangeArrowheads="1"/>
            </p:cNvSpPr>
            <p:nvPr/>
          </p:nvSpPr>
          <p:spPr bwMode="auto">
            <a:xfrm>
              <a:off x="3797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2" name="Rectangle 435"/>
            <p:cNvSpPr>
              <a:spLocks noChangeArrowheads="1"/>
            </p:cNvSpPr>
            <p:nvPr/>
          </p:nvSpPr>
          <p:spPr bwMode="auto">
            <a:xfrm>
              <a:off x="4106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3" name="Rectangle 436"/>
            <p:cNvSpPr>
              <a:spLocks noChangeArrowheads="1"/>
            </p:cNvSpPr>
            <p:nvPr/>
          </p:nvSpPr>
          <p:spPr bwMode="auto">
            <a:xfrm>
              <a:off x="4415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4" name="Rectangle 437"/>
            <p:cNvSpPr>
              <a:spLocks noChangeArrowheads="1"/>
            </p:cNvSpPr>
            <p:nvPr/>
          </p:nvSpPr>
          <p:spPr bwMode="auto">
            <a:xfrm>
              <a:off x="4724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5" name="Rectangle 438"/>
            <p:cNvSpPr>
              <a:spLocks noChangeArrowheads="1"/>
            </p:cNvSpPr>
            <p:nvPr/>
          </p:nvSpPr>
          <p:spPr bwMode="auto">
            <a:xfrm>
              <a:off x="5033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6" name="Rectangle 439"/>
            <p:cNvSpPr>
              <a:spLocks noChangeArrowheads="1"/>
            </p:cNvSpPr>
            <p:nvPr/>
          </p:nvSpPr>
          <p:spPr bwMode="auto">
            <a:xfrm>
              <a:off x="5342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7" name="Rectangle 440"/>
            <p:cNvSpPr>
              <a:spLocks noChangeArrowheads="1"/>
            </p:cNvSpPr>
            <p:nvPr/>
          </p:nvSpPr>
          <p:spPr bwMode="auto">
            <a:xfrm>
              <a:off x="3178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8" name="Rectangle 441"/>
            <p:cNvSpPr>
              <a:spLocks noChangeArrowheads="1"/>
            </p:cNvSpPr>
            <p:nvPr/>
          </p:nvSpPr>
          <p:spPr bwMode="auto">
            <a:xfrm>
              <a:off x="3488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19" name="Rectangle 442"/>
            <p:cNvSpPr>
              <a:spLocks noChangeArrowheads="1"/>
            </p:cNvSpPr>
            <p:nvPr/>
          </p:nvSpPr>
          <p:spPr bwMode="auto">
            <a:xfrm>
              <a:off x="3797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0" name="Rectangle 443"/>
            <p:cNvSpPr>
              <a:spLocks noChangeArrowheads="1"/>
            </p:cNvSpPr>
            <p:nvPr/>
          </p:nvSpPr>
          <p:spPr bwMode="auto">
            <a:xfrm>
              <a:off x="4106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1" name="Rectangle 444"/>
            <p:cNvSpPr>
              <a:spLocks noChangeArrowheads="1"/>
            </p:cNvSpPr>
            <p:nvPr/>
          </p:nvSpPr>
          <p:spPr bwMode="auto">
            <a:xfrm>
              <a:off x="4415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2" name="Rectangle 445"/>
            <p:cNvSpPr>
              <a:spLocks noChangeArrowheads="1"/>
            </p:cNvSpPr>
            <p:nvPr/>
          </p:nvSpPr>
          <p:spPr bwMode="auto">
            <a:xfrm>
              <a:off x="4724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3" name="Rectangle 446"/>
            <p:cNvSpPr>
              <a:spLocks noChangeArrowheads="1"/>
            </p:cNvSpPr>
            <p:nvPr/>
          </p:nvSpPr>
          <p:spPr bwMode="auto">
            <a:xfrm>
              <a:off x="5033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4" name="Rectangle 447"/>
            <p:cNvSpPr>
              <a:spLocks noChangeArrowheads="1"/>
            </p:cNvSpPr>
            <p:nvPr/>
          </p:nvSpPr>
          <p:spPr bwMode="auto">
            <a:xfrm>
              <a:off x="5342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5" name="Rectangle 448"/>
            <p:cNvSpPr>
              <a:spLocks noChangeArrowheads="1"/>
            </p:cNvSpPr>
            <p:nvPr/>
          </p:nvSpPr>
          <p:spPr bwMode="auto">
            <a:xfrm>
              <a:off x="3178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6" name="Rectangle 449"/>
            <p:cNvSpPr>
              <a:spLocks noChangeArrowheads="1"/>
            </p:cNvSpPr>
            <p:nvPr/>
          </p:nvSpPr>
          <p:spPr bwMode="auto">
            <a:xfrm>
              <a:off x="3488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7" name="Rectangle 450"/>
            <p:cNvSpPr>
              <a:spLocks noChangeArrowheads="1"/>
            </p:cNvSpPr>
            <p:nvPr/>
          </p:nvSpPr>
          <p:spPr bwMode="auto">
            <a:xfrm>
              <a:off x="3797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8" name="Rectangle 451"/>
            <p:cNvSpPr>
              <a:spLocks noChangeArrowheads="1"/>
            </p:cNvSpPr>
            <p:nvPr/>
          </p:nvSpPr>
          <p:spPr bwMode="auto">
            <a:xfrm>
              <a:off x="4106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29" name="Rectangle 452"/>
            <p:cNvSpPr>
              <a:spLocks noChangeArrowheads="1"/>
            </p:cNvSpPr>
            <p:nvPr/>
          </p:nvSpPr>
          <p:spPr bwMode="auto">
            <a:xfrm>
              <a:off x="4415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0" name="Rectangle 453"/>
            <p:cNvSpPr>
              <a:spLocks noChangeArrowheads="1"/>
            </p:cNvSpPr>
            <p:nvPr/>
          </p:nvSpPr>
          <p:spPr bwMode="auto">
            <a:xfrm>
              <a:off x="4724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1" name="Rectangle 454"/>
            <p:cNvSpPr>
              <a:spLocks noChangeArrowheads="1"/>
            </p:cNvSpPr>
            <p:nvPr/>
          </p:nvSpPr>
          <p:spPr bwMode="auto">
            <a:xfrm>
              <a:off x="5033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2" name="Rectangle 455"/>
            <p:cNvSpPr>
              <a:spLocks noChangeArrowheads="1"/>
            </p:cNvSpPr>
            <p:nvPr/>
          </p:nvSpPr>
          <p:spPr bwMode="auto">
            <a:xfrm>
              <a:off x="5342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3" name="Rectangle 456"/>
            <p:cNvSpPr>
              <a:spLocks noChangeArrowheads="1"/>
            </p:cNvSpPr>
            <p:nvPr/>
          </p:nvSpPr>
          <p:spPr bwMode="auto">
            <a:xfrm>
              <a:off x="3178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4" name="Rectangle 457"/>
            <p:cNvSpPr>
              <a:spLocks noChangeArrowheads="1"/>
            </p:cNvSpPr>
            <p:nvPr/>
          </p:nvSpPr>
          <p:spPr bwMode="auto">
            <a:xfrm>
              <a:off x="3488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5" name="Rectangle 458"/>
            <p:cNvSpPr>
              <a:spLocks noChangeArrowheads="1"/>
            </p:cNvSpPr>
            <p:nvPr/>
          </p:nvSpPr>
          <p:spPr bwMode="auto">
            <a:xfrm>
              <a:off x="3797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6" name="Rectangle 459"/>
            <p:cNvSpPr>
              <a:spLocks noChangeArrowheads="1"/>
            </p:cNvSpPr>
            <p:nvPr/>
          </p:nvSpPr>
          <p:spPr bwMode="auto">
            <a:xfrm>
              <a:off x="4106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7" name="Rectangle 460"/>
            <p:cNvSpPr>
              <a:spLocks noChangeArrowheads="1"/>
            </p:cNvSpPr>
            <p:nvPr/>
          </p:nvSpPr>
          <p:spPr bwMode="auto">
            <a:xfrm>
              <a:off x="4415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8" name="Rectangle 461"/>
            <p:cNvSpPr>
              <a:spLocks noChangeArrowheads="1"/>
            </p:cNvSpPr>
            <p:nvPr/>
          </p:nvSpPr>
          <p:spPr bwMode="auto">
            <a:xfrm>
              <a:off x="4724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39" name="Rectangle 462"/>
            <p:cNvSpPr>
              <a:spLocks noChangeArrowheads="1"/>
            </p:cNvSpPr>
            <p:nvPr/>
          </p:nvSpPr>
          <p:spPr bwMode="auto">
            <a:xfrm>
              <a:off x="5033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240" name="Rectangle 463"/>
            <p:cNvSpPr>
              <a:spLocks noChangeArrowheads="1"/>
            </p:cNvSpPr>
            <p:nvPr/>
          </p:nvSpPr>
          <p:spPr bwMode="auto">
            <a:xfrm>
              <a:off x="5342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3" name="Group 464"/>
          <p:cNvGrpSpPr>
            <a:grpSpLocks/>
          </p:cNvGrpSpPr>
          <p:nvPr/>
        </p:nvGrpSpPr>
        <p:grpSpPr bwMode="auto">
          <a:xfrm>
            <a:off x="1425575" y="3041651"/>
            <a:ext cx="1474788" cy="1463675"/>
            <a:chOff x="262" y="1078"/>
            <a:chExt cx="929" cy="922"/>
          </a:xfrm>
        </p:grpSpPr>
        <p:sp>
          <p:nvSpPr>
            <p:cNvPr id="35168" name="Rectangle 4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9" name="Rectangle 4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0" name="Rectangle 4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1" name="Rectangle 4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2" name="Rectangle 4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3" name="Rectangle 4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4" name="Rectangle 4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5" name="Rectangle 4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76" name="Rectangle 4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4" name="Group 474"/>
          <p:cNvGrpSpPr>
            <a:grpSpLocks/>
          </p:cNvGrpSpPr>
          <p:nvPr/>
        </p:nvGrpSpPr>
        <p:grpSpPr bwMode="auto">
          <a:xfrm>
            <a:off x="1912939" y="3041651"/>
            <a:ext cx="1474787" cy="1463675"/>
            <a:chOff x="262" y="1078"/>
            <a:chExt cx="929" cy="922"/>
          </a:xfrm>
        </p:grpSpPr>
        <p:sp>
          <p:nvSpPr>
            <p:cNvPr id="35159" name="Rectangle 4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0" name="Rectangle 4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1" name="Rectangle 4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2" name="Rectangle 4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3" name="Rectangle 4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4" name="Rectangle 4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5" name="Rectangle 4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6" name="Rectangle 4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67" name="Rectangle 4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5" name="Group 484"/>
          <p:cNvGrpSpPr>
            <a:grpSpLocks/>
          </p:cNvGrpSpPr>
          <p:nvPr/>
        </p:nvGrpSpPr>
        <p:grpSpPr bwMode="auto">
          <a:xfrm>
            <a:off x="2409825" y="3041651"/>
            <a:ext cx="1474788" cy="1463675"/>
            <a:chOff x="262" y="1078"/>
            <a:chExt cx="929" cy="922"/>
          </a:xfrm>
        </p:grpSpPr>
        <p:sp>
          <p:nvSpPr>
            <p:cNvPr id="35150" name="Rectangle 4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1" name="Rectangle 4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2" name="Rectangle 4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3" name="Rectangle 4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4" name="Rectangle 4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5" name="Rectangle 4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6" name="Rectangle 4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7" name="Rectangle 4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58" name="Rectangle 4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6" name="Group 494"/>
          <p:cNvGrpSpPr>
            <a:grpSpLocks/>
          </p:cNvGrpSpPr>
          <p:nvPr/>
        </p:nvGrpSpPr>
        <p:grpSpPr bwMode="auto">
          <a:xfrm>
            <a:off x="3381375" y="3041651"/>
            <a:ext cx="1474788" cy="1463675"/>
            <a:chOff x="262" y="1078"/>
            <a:chExt cx="929" cy="922"/>
          </a:xfrm>
        </p:grpSpPr>
        <p:sp>
          <p:nvSpPr>
            <p:cNvPr id="35141" name="Rectangle 4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2" name="Rectangle 4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3" name="Rectangle 4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4" name="Rectangle 4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5" name="Rectangle 4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6" name="Rectangle 5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7" name="Rectangle 5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8" name="Rectangle 5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9" name="Rectangle 5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7" name="Group 504"/>
          <p:cNvGrpSpPr>
            <a:grpSpLocks/>
          </p:cNvGrpSpPr>
          <p:nvPr/>
        </p:nvGrpSpPr>
        <p:grpSpPr bwMode="auto">
          <a:xfrm>
            <a:off x="3873500" y="3041651"/>
            <a:ext cx="1474788" cy="1463675"/>
            <a:chOff x="262" y="1078"/>
            <a:chExt cx="929" cy="922"/>
          </a:xfrm>
        </p:grpSpPr>
        <p:sp>
          <p:nvSpPr>
            <p:cNvPr id="35132" name="Rectangle 5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3" name="Rectangle 5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4" name="Rectangle 5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5" name="Rectangle 5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6" name="Rectangle 5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7" name="Rectangle 5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8" name="Rectangle 5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9" name="Rectangle 5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40" name="Rectangle 5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8" name="Group 514"/>
          <p:cNvGrpSpPr>
            <a:grpSpLocks/>
          </p:cNvGrpSpPr>
          <p:nvPr/>
        </p:nvGrpSpPr>
        <p:grpSpPr bwMode="auto">
          <a:xfrm>
            <a:off x="4351339" y="3041651"/>
            <a:ext cx="1474787" cy="1463675"/>
            <a:chOff x="262" y="1078"/>
            <a:chExt cx="929" cy="922"/>
          </a:xfrm>
        </p:grpSpPr>
        <p:sp>
          <p:nvSpPr>
            <p:cNvPr id="35123" name="Rectangle 5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4" name="Rectangle 5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5" name="Rectangle 5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6" name="Rectangle 5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7" name="Rectangle 5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8" name="Rectangle 5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9" name="Rectangle 5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0" name="Rectangle 5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31" name="Rectangle 5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29" name="Group 524"/>
          <p:cNvGrpSpPr>
            <a:grpSpLocks/>
          </p:cNvGrpSpPr>
          <p:nvPr/>
        </p:nvGrpSpPr>
        <p:grpSpPr bwMode="auto">
          <a:xfrm>
            <a:off x="4843464" y="3041651"/>
            <a:ext cx="1474787" cy="1463675"/>
            <a:chOff x="262" y="1078"/>
            <a:chExt cx="929" cy="922"/>
          </a:xfrm>
        </p:grpSpPr>
        <p:sp>
          <p:nvSpPr>
            <p:cNvPr id="35114" name="Rectangle 5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5" name="Rectangle 5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6" name="Rectangle 5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7" name="Rectangle 5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8" name="Rectangle 5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9" name="Rectangle 5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0" name="Rectangle 5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1" name="Rectangle 5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22" name="Rectangle 5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0" name="Group 534"/>
          <p:cNvGrpSpPr>
            <a:grpSpLocks/>
          </p:cNvGrpSpPr>
          <p:nvPr/>
        </p:nvGrpSpPr>
        <p:grpSpPr bwMode="auto">
          <a:xfrm>
            <a:off x="2906714" y="3041651"/>
            <a:ext cx="1474787" cy="1463675"/>
            <a:chOff x="262" y="1078"/>
            <a:chExt cx="929" cy="922"/>
          </a:xfrm>
        </p:grpSpPr>
        <p:sp>
          <p:nvSpPr>
            <p:cNvPr id="35105" name="Rectangle 5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6" name="Rectangle 5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7" name="Rectangle 5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8" name="Rectangle 5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9" name="Rectangle 5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0" name="Rectangle 5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1" name="Rectangle 5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2" name="Rectangle 5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13" name="Rectangle 5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1" name="Group 544"/>
          <p:cNvGrpSpPr>
            <a:grpSpLocks/>
          </p:cNvGrpSpPr>
          <p:nvPr/>
        </p:nvGrpSpPr>
        <p:grpSpPr bwMode="auto">
          <a:xfrm>
            <a:off x="1423987" y="3538539"/>
            <a:ext cx="1474788" cy="1463675"/>
            <a:chOff x="262" y="1078"/>
            <a:chExt cx="929" cy="922"/>
          </a:xfrm>
        </p:grpSpPr>
        <p:sp>
          <p:nvSpPr>
            <p:cNvPr id="35096" name="Rectangle 5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7" name="Rectangle 5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8" name="Rectangle 5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9" name="Rectangle 5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0" name="Rectangle 5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1" name="Rectangle 5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2" name="Rectangle 5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3" name="Rectangle 5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104" name="Rectangle 5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2" name="Group 554"/>
          <p:cNvGrpSpPr>
            <a:grpSpLocks/>
          </p:cNvGrpSpPr>
          <p:nvPr/>
        </p:nvGrpSpPr>
        <p:grpSpPr bwMode="auto">
          <a:xfrm>
            <a:off x="1911350" y="3538539"/>
            <a:ext cx="1474788" cy="1463675"/>
            <a:chOff x="262" y="1078"/>
            <a:chExt cx="929" cy="922"/>
          </a:xfrm>
        </p:grpSpPr>
        <p:sp>
          <p:nvSpPr>
            <p:cNvPr id="35087" name="Rectangle 5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8" name="Rectangle 5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9" name="Rectangle 5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0" name="Rectangle 5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1" name="Rectangle 5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2" name="Rectangle 5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3" name="Rectangle 5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4" name="Rectangle 5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95" name="Rectangle 5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3" name="Group 564"/>
          <p:cNvGrpSpPr>
            <a:grpSpLocks/>
          </p:cNvGrpSpPr>
          <p:nvPr/>
        </p:nvGrpSpPr>
        <p:grpSpPr bwMode="auto">
          <a:xfrm>
            <a:off x="2408239" y="3538539"/>
            <a:ext cx="1474787" cy="1463675"/>
            <a:chOff x="262" y="1078"/>
            <a:chExt cx="929" cy="922"/>
          </a:xfrm>
        </p:grpSpPr>
        <p:sp>
          <p:nvSpPr>
            <p:cNvPr id="35078" name="Rectangle 5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9" name="Rectangle 5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0" name="Rectangle 5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1" name="Rectangle 5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2" name="Rectangle 5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3" name="Rectangle 5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4" name="Rectangle 5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5" name="Rectangle 5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86" name="Rectangle 5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4" name="Group 574"/>
          <p:cNvGrpSpPr>
            <a:grpSpLocks/>
          </p:cNvGrpSpPr>
          <p:nvPr/>
        </p:nvGrpSpPr>
        <p:grpSpPr bwMode="auto">
          <a:xfrm>
            <a:off x="3379789" y="3538539"/>
            <a:ext cx="1474787" cy="1463675"/>
            <a:chOff x="262" y="1078"/>
            <a:chExt cx="929" cy="922"/>
          </a:xfrm>
        </p:grpSpPr>
        <p:sp>
          <p:nvSpPr>
            <p:cNvPr id="35069" name="Rectangle 5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0" name="Rectangle 5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1" name="Rectangle 5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2" name="Rectangle 5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3" name="Rectangle 5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4" name="Rectangle 5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5" name="Rectangle 5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6" name="Rectangle 5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77" name="Rectangle 5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5" name="Group 584"/>
          <p:cNvGrpSpPr>
            <a:grpSpLocks/>
          </p:cNvGrpSpPr>
          <p:nvPr/>
        </p:nvGrpSpPr>
        <p:grpSpPr bwMode="auto">
          <a:xfrm>
            <a:off x="3871914" y="3538539"/>
            <a:ext cx="1474787" cy="1463675"/>
            <a:chOff x="262" y="1078"/>
            <a:chExt cx="929" cy="922"/>
          </a:xfrm>
        </p:grpSpPr>
        <p:sp>
          <p:nvSpPr>
            <p:cNvPr id="35060" name="Rectangle 5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1" name="Rectangle 5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2" name="Rectangle 5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3" name="Rectangle 5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4" name="Rectangle 5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5" name="Rectangle 5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6" name="Rectangle 5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7" name="Rectangle 5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68" name="Rectangle 5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6" name="Group 594"/>
          <p:cNvGrpSpPr>
            <a:grpSpLocks/>
          </p:cNvGrpSpPr>
          <p:nvPr/>
        </p:nvGrpSpPr>
        <p:grpSpPr bwMode="auto">
          <a:xfrm>
            <a:off x="4349750" y="3538539"/>
            <a:ext cx="1474788" cy="1463675"/>
            <a:chOff x="262" y="1078"/>
            <a:chExt cx="929" cy="922"/>
          </a:xfrm>
        </p:grpSpPr>
        <p:sp>
          <p:nvSpPr>
            <p:cNvPr id="35051" name="Rectangle 5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2" name="Rectangle 5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3" name="Rectangle 5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4" name="Rectangle 5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5" name="Rectangle 5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6" name="Rectangle 6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7" name="Rectangle 6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8" name="Rectangle 6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9" name="Rectangle 6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7" name="Group 604"/>
          <p:cNvGrpSpPr>
            <a:grpSpLocks/>
          </p:cNvGrpSpPr>
          <p:nvPr/>
        </p:nvGrpSpPr>
        <p:grpSpPr bwMode="auto">
          <a:xfrm>
            <a:off x="4841875" y="3538539"/>
            <a:ext cx="1474788" cy="1463675"/>
            <a:chOff x="262" y="1078"/>
            <a:chExt cx="929" cy="922"/>
          </a:xfrm>
        </p:grpSpPr>
        <p:sp>
          <p:nvSpPr>
            <p:cNvPr id="35042" name="Rectangle 6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3" name="Rectangle 6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4" name="Rectangle 6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5" name="Rectangle 6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6" name="Rectangle 6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7" name="Rectangle 6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8" name="Rectangle 6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9" name="Rectangle 6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50" name="Rectangle 6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8" name="Group 614"/>
          <p:cNvGrpSpPr>
            <a:grpSpLocks/>
          </p:cNvGrpSpPr>
          <p:nvPr/>
        </p:nvGrpSpPr>
        <p:grpSpPr bwMode="auto">
          <a:xfrm>
            <a:off x="2905125" y="3538539"/>
            <a:ext cx="1474788" cy="1463675"/>
            <a:chOff x="262" y="1078"/>
            <a:chExt cx="929" cy="922"/>
          </a:xfrm>
        </p:grpSpPr>
        <p:sp>
          <p:nvSpPr>
            <p:cNvPr id="35033" name="Rectangle 6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4" name="Rectangle 6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5" name="Rectangle 6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6" name="Rectangle 6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7" name="Rectangle 6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8" name="Rectangle 6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9" name="Rectangle 6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0" name="Rectangle 6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41" name="Rectangle 6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39" name="Group 624"/>
          <p:cNvGrpSpPr>
            <a:grpSpLocks/>
          </p:cNvGrpSpPr>
          <p:nvPr/>
        </p:nvGrpSpPr>
        <p:grpSpPr bwMode="auto">
          <a:xfrm>
            <a:off x="1425575" y="4011614"/>
            <a:ext cx="1474788" cy="1463675"/>
            <a:chOff x="262" y="1078"/>
            <a:chExt cx="929" cy="922"/>
          </a:xfrm>
        </p:grpSpPr>
        <p:sp>
          <p:nvSpPr>
            <p:cNvPr id="35024" name="Rectangle 6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5" name="Rectangle 6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6" name="Rectangle 6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7" name="Rectangle 6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8" name="Rectangle 6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9" name="Rectangle 6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0" name="Rectangle 6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1" name="Rectangle 6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32" name="Rectangle 6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0" name="Group 634"/>
          <p:cNvGrpSpPr>
            <a:grpSpLocks/>
          </p:cNvGrpSpPr>
          <p:nvPr/>
        </p:nvGrpSpPr>
        <p:grpSpPr bwMode="auto">
          <a:xfrm>
            <a:off x="1912939" y="4011614"/>
            <a:ext cx="1474787" cy="1463675"/>
            <a:chOff x="262" y="1078"/>
            <a:chExt cx="929" cy="922"/>
          </a:xfrm>
        </p:grpSpPr>
        <p:sp>
          <p:nvSpPr>
            <p:cNvPr id="35015" name="Rectangle 6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6" name="Rectangle 6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7" name="Rectangle 6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8" name="Rectangle 6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9" name="Rectangle 6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0" name="Rectangle 6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1" name="Rectangle 6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2" name="Rectangle 6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23" name="Rectangle 6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1" name="Group 644"/>
          <p:cNvGrpSpPr>
            <a:grpSpLocks/>
          </p:cNvGrpSpPr>
          <p:nvPr/>
        </p:nvGrpSpPr>
        <p:grpSpPr bwMode="auto">
          <a:xfrm>
            <a:off x="2409825" y="4011614"/>
            <a:ext cx="1474788" cy="1463675"/>
            <a:chOff x="262" y="1078"/>
            <a:chExt cx="929" cy="922"/>
          </a:xfrm>
        </p:grpSpPr>
        <p:sp>
          <p:nvSpPr>
            <p:cNvPr id="35006" name="Rectangle 6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7" name="Rectangle 6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8" name="Rectangle 6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9" name="Rectangle 6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0" name="Rectangle 6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1" name="Rectangle 6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2" name="Rectangle 6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3" name="Rectangle 6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14" name="Rectangle 6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2" name="Group 654"/>
          <p:cNvGrpSpPr>
            <a:grpSpLocks/>
          </p:cNvGrpSpPr>
          <p:nvPr/>
        </p:nvGrpSpPr>
        <p:grpSpPr bwMode="auto">
          <a:xfrm>
            <a:off x="3381375" y="4011614"/>
            <a:ext cx="1474788" cy="1463675"/>
            <a:chOff x="262" y="1078"/>
            <a:chExt cx="929" cy="922"/>
          </a:xfrm>
        </p:grpSpPr>
        <p:sp>
          <p:nvSpPr>
            <p:cNvPr id="34997" name="Rectangle 6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8" name="Rectangle 6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9" name="Rectangle 6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0" name="Rectangle 6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1" name="Rectangle 6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2" name="Rectangle 6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3" name="Rectangle 6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4" name="Rectangle 6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005" name="Rectangle 6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3" name="Group 664"/>
          <p:cNvGrpSpPr>
            <a:grpSpLocks/>
          </p:cNvGrpSpPr>
          <p:nvPr/>
        </p:nvGrpSpPr>
        <p:grpSpPr bwMode="auto">
          <a:xfrm>
            <a:off x="3873500" y="4011614"/>
            <a:ext cx="1474788" cy="1463675"/>
            <a:chOff x="262" y="1078"/>
            <a:chExt cx="929" cy="922"/>
          </a:xfrm>
        </p:grpSpPr>
        <p:sp>
          <p:nvSpPr>
            <p:cNvPr id="34988" name="Rectangle 6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9" name="Rectangle 6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0" name="Rectangle 6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1" name="Rectangle 6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2" name="Rectangle 6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3" name="Rectangle 6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4" name="Rectangle 6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5" name="Rectangle 6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96" name="Rectangle 6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4" name="Group 674"/>
          <p:cNvGrpSpPr>
            <a:grpSpLocks/>
          </p:cNvGrpSpPr>
          <p:nvPr/>
        </p:nvGrpSpPr>
        <p:grpSpPr bwMode="auto">
          <a:xfrm>
            <a:off x="4351339" y="4011614"/>
            <a:ext cx="1474787" cy="1463675"/>
            <a:chOff x="262" y="1078"/>
            <a:chExt cx="929" cy="922"/>
          </a:xfrm>
        </p:grpSpPr>
        <p:sp>
          <p:nvSpPr>
            <p:cNvPr id="34979" name="Rectangle 6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0" name="Rectangle 6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1" name="Rectangle 6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2" name="Rectangle 6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3" name="Rectangle 6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4" name="Rectangle 6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5" name="Rectangle 6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6" name="Rectangle 6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87" name="Rectangle 6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5" name="Group 684"/>
          <p:cNvGrpSpPr>
            <a:grpSpLocks/>
          </p:cNvGrpSpPr>
          <p:nvPr/>
        </p:nvGrpSpPr>
        <p:grpSpPr bwMode="auto">
          <a:xfrm>
            <a:off x="4843464" y="4011614"/>
            <a:ext cx="1474787" cy="1463675"/>
            <a:chOff x="262" y="1078"/>
            <a:chExt cx="929" cy="922"/>
          </a:xfrm>
        </p:grpSpPr>
        <p:sp>
          <p:nvSpPr>
            <p:cNvPr id="34970" name="Rectangle 6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1" name="Rectangle 6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2" name="Rectangle 6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3" name="Rectangle 6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4" name="Rectangle 6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5" name="Rectangle 6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6" name="Rectangle 6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7" name="Rectangle 6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78" name="Rectangle 6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6" name="Group 694"/>
          <p:cNvGrpSpPr>
            <a:grpSpLocks/>
          </p:cNvGrpSpPr>
          <p:nvPr/>
        </p:nvGrpSpPr>
        <p:grpSpPr bwMode="auto">
          <a:xfrm>
            <a:off x="2906714" y="4011614"/>
            <a:ext cx="1474787" cy="1463675"/>
            <a:chOff x="262" y="1078"/>
            <a:chExt cx="929" cy="922"/>
          </a:xfrm>
        </p:grpSpPr>
        <p:sp>
          <p:nvSpPr>
            <p:cNvPr id="34961" name="Rectangle 6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2" name="Rectangle 6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3" name="Rectangle 6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4" name="Rectangle 6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5" name="Rectangle 6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6" name="Rectangle 7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7" name="Rectangle 7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8" name="Rectangle 7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9" name="Rectangle 7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847" name="Group 704"/>
          <p:cNvGrpSpPr>
            <a:grpSpLocks/>
          </p:cNvGrpSpPr>
          <p:nvPr/>
        </p:nvGrpSpPr>
        <p:grpSpPr bwMode="auto">
          <a:xfrm>
            <a:off x="1423987" y="4508501"/>
            <a:ext cx="1474788" cy="1463675"/>
            <a:chOff x="262" y="1078"/>
            <a:chExt cx="929" cy="922"/>
          </a:xfrm>
        </p:grpSpPr>
        <p:sp>
          <p:nvSpPr>
            <p:cNvPr id="34952" name="Rectangle 7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3" name="Rectangle 7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4" name="Rectangle 7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5" name="Rectangle 7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6" name="Rectangle 7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7" name="Rectangle 7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8" name="Rectangle 7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9" name="Rectangle 7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60" name="Rectangle 7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2" name="Group 714"/>
          <p:cNvGrpSpPr>
            <a:grpSpLocks/>
          </p:cNvGrpSpPr>
          <p:nvPr/>
        </p:nvGrpSpPr>
        <p:grpSpPr bwMode="auto">
          <a:xfrm>
            <a:off x="1911350" y="4508501"/>
            <a:ext cx="1474788" cy="1463675"/>
            <a:chOff x="262" y="1078"/>
            <a:chExt cx="929" cy="922"/>
          </a:xfrm>
        </p:grpSpPr>
        <p:sp>
          <p:nvSpPr>
            <p:cNvPr id="34943" name="Rectangle 7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4" name="Rectangle 7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5" name="Rectangle 7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6" name="Rectangle 7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7" name="Rectangle 7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8" name="Rectangle 7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9" name="Rectangle 7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0" name="Rectangle 7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51" name="Rectangle 7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3" name="Group 724"/>
          <p:cNvGrpSpPr>
            <a:grpSpLocks/>
          </p:cNvGrpSpPr>
          <p:nvPr/>
        </p:nvGrpSpPr>
        <p:grpSpPr bwMode="auto">
          <a:xfrm>
            <a:off x="2408239" y="4508501"/>
            <a:ext cx="1474787" cy="1463675"/>
            <a:chOff x="262" y="1078"/>
            <a:chExt cx="929" cy="922"/>
          </a:xfrm>
        </p:grpSpPr>
        <p:sp>
          <p:nvSpPr>
            <p:cNvPr id="34934" name="Rectangle 7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5" name="Rectangle 7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6" name="Rectangle 7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7" name="Rectangle 7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8" name="Rectangle 7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9" name="Rectangle 7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0" name="Rectangle 7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1" name="Rectangle 7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42" name="Rectangle 7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4" name="Group 734"/>
          <p:cNvGrpSpPr>
            <a:grpSpLocks/>
          </p:cNvGrpSpPr>
          <p:nvPr/>
        </p:nvGrpSpPr>
        <p:grpSpPr bwMode="auto">
          <a:xfrm>
            <a:off x="3379789" y="4508501"/>
            <a:ext cx="1474787" cy="1463675"/>
            <a:chOff x="262" y="1078"/>
            <a:chExt cx="929" cy="922"/>
          </a:xfrm>
        </p:grpSpPr>
        <p:sp>
          <p:nvSpPr>
            <p:cNvPr id="34925" name="Rectangle 7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6" name="Rectangle 7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7" name="Rectangle 7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8" name="Rectangle 7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9" name="Rectangle 7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0" name="Rectangle 7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1" name="Rectangle 7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2" name="Rectangle 7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33" name="Rectangle 7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5" name="Group 744"/>
          <p:cNvGrpSpPr>
            <a:grpSpLocks/>
          </p:cNvGrpSpPr>
          <p:nvPr/>
        </p:nvGrpSpPr>
        <p:grpSpPr bwMode="auto">
          <a:xfrm>
            <a:off x="3871914" y="4508501"/>
            <a:ext cx="1474787" cy="1463675"/>
            <a:chOff x="262" y="1078"/>
            <a:chExt cx="929" cy="922"/>
          </a:xfrm>
        </p:grpSpPr>
        <p:sp>
          <p:nvSpPr>
            <p:cNvPr id="34916" name="Rectangle 7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7" name="Rectangle 7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8" name="Rectangle 7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9" name="Rectangle 7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0" name="Rectangle 7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1" name="Rectangle 7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2" name="Rectangle 7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3" name="Rectangle 7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24" name="Rectangle 7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6" name="Group 754"/>
          <p:cNvGrpSpPr>
            <a:grpSpLocks/>
          </p:cNvGrpSpPr>
          <p:nvPr/>
        </p:nvGrpSpPr>
        <p:grpSpPr bwMode="auto">
          <a:xfrm>
            <a:off x="4349750" y="4508501"/>
            <a:ext cx="1474788" cy="1463675"/>
            <a:chOff x="262" y="1078"/>
            <a:chExt cx="929" cy="922"/>
          </a:xfrm>
        </p:grpSpPr>
        <p:sp>
          <p:nvSpPr>
            <p:cNvPr id="34907" name="Rectangle 7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8" name="Rectangle 7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9" name="Rectangle 7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0" name="Rectangle 7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1" name="Rectangle 7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2" name="Rectangle 7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3" name="Rectangle 7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4" name="Rectangle 7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15" name="Rectangle 7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7" name="Group 764"/>
          <p:cNvGrpSpPr>
            <a:grpSpLocks/>
          </p:cNvGrpSpPr>
          <p:nvPr/>
        </p:nvGrpSpPr>
        <p:grpSpPr bwMode="auto">
          <a:xfrm>
            <a:off x="4841875" y="4508501"/>
            <a:ext cx="1474788" cy="1463675"/>
            <a:chOff x="262" y="1078"/>
            <a:chExt cx="929" cy="922"/>
          </a:xfrm>
        </p:grpSpPr>
        <p:sp>
          <p:nvSpPr>
            <p:cNvPr id="34898" name="Rectangle 7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9" name="Rectangle 7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0" name="Rectangle 7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1" name="Rectangle 7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2" name="Rectangle 7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3" name="Rectangle 7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4" name="Rectangle 7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5" name="Rectangle 7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906" name="Rectangle 7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08" name="Group 774"/>
          <p:cNvGrpSpPr>
            <a:grpSpLocks/>
          </p:cNvGrpSpPr>
          <p:nvPr/>
        </p:nvGrpSpPr>
        <p:grpSpPr bwMode="auto">
          <a:xfrm>
            <a:off x="2905125" y="4508501"/>
            <a:ext cx="1474788" cy="1463675"/>
            <a:chOff x="262" y="1078"/>
            <a:chExt cx="929" cy="922"/>
          </a:xfrm>
        </p:grpSpPr>
        <p:sp>
          <p:nvSpPr>
            <p:cNvPr id="34889" name="Rectangle 7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0" name="Rectangle 7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1" name="Rectangle 7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2" name="Rectangle 7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3" name="Rectangle 7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4" name="Rectangle 7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5" name="Rectangle 7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6" name="Rectangle 7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897" name="Rectangle 7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887" name="Text Box 784"/>
          <p:cNvSpPr txBox="1">
            <a:spLocks noChangeArrowheads="1"/>
          </p:cNvSpPr>
          <p:nvPr/>
        </p:nvSpPr>
        <p:spPr bwMode="auto">
          <a:xfrm>
            <a:off x="3033714" y="1222375"/>
            <a:ext cx="15888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dirty="0">
                <a:latin typeface="Times New Roman" panose="02020603050405020304" pitchFamily="18" charset="0"/>
              </a:rPr>
              <a:t>Original Image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4888" name="Text Box 785"/>
          <p:cNvSpPr txBox="1">
            <a:spLocks noChangeArrowheads="1"/>
          </p:cNvSpPr>
          <p:nvPr/>
        </p:nvSpPr>
        <p:spPr bwMode="auto">
          <a:xfrm>
            <a:off x="6316663" y="1241425"/>
            <a:ext cx="356758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dirty="0">
                <a:latin typeface="Times New Roman" panose="02020603050405020304" pitchFamily="18" charset="0"/>
              </a:rPr>
              <a:t>Processed Image With Eroded Pixels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6" name="Rectangle 88"/>
          <p:cNvSpPr>
            <a:spLocks noChangeArrowheads="1"/>
          </p:cNvSpPr>
          <p:nvPr/>
        </p:nvSpPr>
        <p:spPr bwMode="auto">
          <a:xfrm>
            <a:off x="7799389" y="254952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7" name="Rectangle 89"/>
          <p:cNvSpPr>
            <a:spLocks noChangeArrowheads="1"/>
          </p:cNvSpPr>
          <p:nvPr/>
        </p:nvSpPr>
        <p:spPr bwMode="auto">
          <a:xfrm>
            <a:off x="8289926" y="254952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8" name="Rectangle 95"/>
          <p:cNvSpPr>
            <a:spLocks noChangeArrowheads="1"/>
          </p:cNvSpPr>
          <p:nvPr/>
        </p:nvSpPr>
        <p:spPr bwMode="auto">
          <a:xfrm>
            <a:off x="7308851" y="304006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9" name="Rectangle 96"/>
          <p:cNvSpPr>
            <a:spLocks noChangeArrowheads="1"/>
          </p:cNvSpPr>
          <p:nvPr/>
        </p:nvSpPr>
        <p:spPr bwMode="auto">
          <a:xfrm>
            <a:off x="7799389" y="304006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0" name="Rectangle 103"/>
          <p:cNvSpPr>
            <a:spLocks noChangeArrowheads="1"/>
          </p:cNvSpPr>
          <p:nvPr/>
        </p:nvSpPr>
        <p:spPr bwMode="auto">
          <a:xfrm>
            <a:off x="7308851" y="352425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4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9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" grpId="0" animBg="1"/>
      <p:bldP spid="787" grpId="0" animBg="1"/>
      <p:bldP spid="788" grpId="0" animBg="1"/>
      <p:bldP spid="789" grpId="0" animBg="1"/>
      <p:bldP spid="79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dirty="0"/>
              <a:t>Dilation</a:t>
            </a:r>
            <a:endParaRPr lang="en-US" dirty="0"/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IE" dirty="0"/>
              <a:t>Dilation of image </a:t>
            </a:r>
            <a:r>
              <a:rPr lang="en-IE" i="1" dirty="0"/>
              <a:t>f</a:t>
            </a:r>
            <a:r>
              <a:rPr lang="en-IE" dirty="0"/>
              <a:t> by structuring element </a:t>
            </a:r>
            <a:r>
              <a:rPr lang="en-IE" i="1" dirty="0"/>
              <a:t>s</a:t>
            </a:r>
            <a:r>
              <a:rPr lang="en-IE" dirty="0"/>
              <a:t> is given by </a:t>
            </a:r>
            <a:r>
              <a:rPr lang="en-IE" i="1" dirty="0"/>
              <a:t>f </a:t>
            </a:r>
            <a:r>
              <a:rPr lang="en-IE" sz="2400" dirty="0">
                <a:sym typeface="Symbol" panose="05050102010706020507" pitchFamily="18" charset="2"/>
              </a:rPr>
              <a:t></a:t>
            </a:r>
            <a:r>
              <a:rPr lang="en-IE" sz="2400" dirty="0">
                <a:sym typeface="Webdings" pitchFamily="-112" charset="2"/>
              </a:rPr>
              <a:t> </a:t>
            </a:r>
            <a:r>
              <a:rPr lang="en-IE" i="1" dirty="0">
                <a:sym typeface="Webdings" pitchFamily="-112" charset="2"/>
              </a:rPr>
              <a:t>s</a:t>
            </a:r>
          </a:p>
          <a:p>
            <a:pPr marL="0" indent="0"/>
            <a:r>
              <a:rPr lang="en-IE" dirty="0">
                <a:sym typeface="Webdings" pitchFamily="-112" charset="2"/>
              </a:rPr>
              <a:t>The structuring element s is positioned with its origin at (</a:t>
            </a:r>
            <a:r>
              <a:rPr lang="en-IE" i="1" dirty="0">
                <a:sym typeface="Webdings" pitchFamily="-112" charset="2"/>
              </a:rPr>
              <a:t>x, y</a:t>
            </a:r>
            <a:r>
              <a:rPr lang="en-IE" dirty="0">
                <a:sym typeface="Webdings" pitchFamily="-112" charset="2"/>
              </a:rPr>
              <a:t>) and the new pixel value is determined using the rule:</a:t>
            </a:r>
          </a:p>
          <a:p>
            <a:pPr marL="0" indent="0"/>
            <a:endParaRPr lang="en-US" dirty="0"/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485029"/>
              </p:ext>
            </p:extLst>
          </p:nvPr>
        </p:nvGraphicFramePr>
        <p:xfrm>
          <a:off x="235768" y="3198948"/>
          <a:ext cx="3933825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457200" progId="Equation.3">
                  <p:embed/>
                </p:oleObj>
              </mc:Choice>
              <mc:Fallback>
                <p:oleObj name="Equation" r:id="rId3" imgW="1396800" imgH="457200" progId="Equation.3">
                  <p:embed/>
                  <p:pic>
                    <p:nvPicPr>
                      <p:cNvPr id="450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68" y="3198948"/>
                        <a:ext cx="3933825" cy="1287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928255"/>
              </p:ext>
            </p:extLst>
          </p:nvPr>
        </p:nvGraphicFramePr>
        <p:xfrm>
          <a:off x="6240016" y="3501394"/>
          <a:ext cx="2261214" cy="100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9" r:id="rId5" imgW="5205994" imgH="6555706" progId="">
                  <p:embed/>
                </p:oleObj>
              </mc:Choice>
              <mc:Fallback>
                <p:oleObj name="CorelPhotoPaint.Image.9" r:id="rId5" imgW="5205994" imgH="6555706" progId="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059" t="6223" r="14334" b="68451"/>
                      <a:stretch>
                        <a:fillRect/>
                      </a:stretch>
                    </p:blipFill>
                    <p:spPr bwMode="auto">
                      <a:xfrm>
                        <a:off x="6240016" y="3501394"/>
                        <a:ext cx="2261214" cy="100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321243"/>
              </p:ext>
            </p:extLst>
          </p:nvPr>
        </p:nvGraphicFramePr>
        <p:xfrm>
          <a:off x="9192344" y="3449872"/>
          <a:ext cx="2492343" cy="111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9" r:id="rId7" imgW="5205994" imgH="6555706" progId="">
                  <p:embed/>
                </p:oleObj>
              </mc:Choice>
              <mc:Fallback>
                <p:oleObj name="CorelPhotoPaint.Image.9" r:id="rId7" imgW="5205994" imgH="6555706" progId="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004" t="45689" r="11070" b="26393"/>
                      <a:stretch>
                        <a:fillRect/>
                      </a:stretch>
                    </p:blipFill>
                    <p:spPr bwMode="auto">
                      <a:xfrm>
                        <a:off x="9192344" y="3449872"/>
                        <a:ext cx="2492343" cy="111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/>
          <p:cNvSpPr/>
          <p:nvPr/>
        </p:nvSpPr>
        <p:spPr>
          <a:xfrm>
            <a:off x="7185024" y="3842679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0283592" y="3842679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51476" y="4795910"/>
            <a:ext cx="329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</a:rPr>
              <a:t>Dilation </a:t>
            </a:r>
            <a:r>
              <a:rPr lang="en-IE" sz="2400" dirty="0">
                <a:latin typeface="Times New Roman" panose="02020603050405020304" pitchFamily="18" charset="0"/>
              </a:rPr>
              <a:t>enlarges</a:t>
            </a:r>
            <a:r>
              <a:rPr lang="en-US" sz="2400" dirty="0">
                <a:latin typeface="Times New Roman" panose="02020603050405020304" pitchFamily="18" charset="0"/>
              </a:rPr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26525124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/>
              <a:t>Dilation Example</a:t>
            </a:r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914526" y="1585914"/>
            <a:ext cx="3927475" cy="3900487"/>
            <a:chOff x="202" y="944"/>
            <a:chExt cx="2474" cy="2457"/>
          </a:xfrm>
        </p:grpSpPr>
        <p:sp>
          <p:nvSpPr>
            <p:cNvPr id="47826" name="Rectangle 4"/>
            <p:cNvSpPr>
              <a:spLocks noChangeArrowheads="1"/>
            </p:cNvSpPr>
            <p:nvPr/>
          </p:nvSpPr>
          <p:spPr bwMode="auto">
            <a:xfrm>
              <a:off x="20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7" name="Rectangle 5"/>
            <p:cNvSpPr>
              <a:spLocks noChangeArrowheads="1"/>
            </p:cNvSpPr>
            <p:nvPr/>
          </p:nvSpPr>
          <p:spPr bwMode="auto">
            <a:xfrm>
              <a:off x="512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8" name="Rectangle 6"/>
            <p:cNvSpPr>
              <a:spLocks noChangeArrowheads="1"/>
            </p:cNvSpPr>
            <p:nvPr/>
          </p:nvSpPr>
          <p:spPr bwMode="auto">
            <a:xfrm>
              <a:off x="821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9" name="Rectangle 7"/>
            <p:cNvSpPr>
              <a:spLocks noChangeArrowheads="1"/>
            </p:cNvSpPr>
            <p:nvPr/>
          </p:nvSpPr>
          <p:spPr bwMode="auto">
            <a:xfrm>
              <a:off x="1130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0" name="Rectangle 8"/>
            <p:cNvSpPr>
              <a:spLocks noChangeArrowheads="1"/>
            </p:cNvSpPr>
            <p:nvPr/>
          </p:nvSpPr>
          <p:spPr bwMode="auto">
            <a:xfrm>
              <a:off x="1439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1" name="Rectangle 9"/>
            <p:cNvSpPr>
              <a:spLocks noChangeArrowheads="1"/>
            </p:cNvSpPr>
            <p:nvPr/>
          </p:nvSpPr>
          <p:spPr bwMode="auto">
            <a:xfrm>
              <a:off x="1748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2" name="Rectangle 10"/>
            <p:cNvSpPr>
              <a:spLocks noChangeArrowheads="1"/>
            </p:cNvSpPr>
            <p:nvPr/>
          </p:nvSpPr>
          <p:spPr bwMode="auto">
            <a:xfrm>
              <a:off x="2057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3" name="Rectangle 11"/>
            <p:cNvSpPr>
              <a:spLocks noChangeArrowheads="1"/>
            </p:cNvSpPr>
            <p:nvPr/>
          </p:nvSpPr>
          <p:spPr bwMode="auto">
            <a:xfrm>
              <a:off x="2366" y="944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4" name="Rectangle 12"/>
            <p:cNvSpPr>
              <a:spLocks noChangeArrowheads="1"/>
            </p:cNvSpPr>
            <p:nvPr/>
          </p:nvSpPr>
          <p:spPr bwMode="auto">
            <a:xfrm>
              <a:off x="20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5" name="Rectangle 13"/>
            <p:cNvSpPr>
              <a:spLocks noChangeArrowheads="1"/>
            </p:cNvSpPr>
            <p:nvPr/>
          </p:nvSpPr>
          <p:spPr bwMode="auto">
            <a:xfrm>
              <a:off x="512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6" name="Rectangle 14"/>
            <p:cNvSpPr>
              <a:spLocks noChangeArrowheads="1"/>
            </p:cNvSpPr>
            <p:nvPr/>
          </p:nvSpPr>
          <p:spPr bwMode="auto">
            <a:xfrm>
              <a:off x="821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7" name="Rectangle 15"/>
            <p:cNvSpPr>
              <a:spLocks noChangeArrowheads="1"/>
            </p:cNvSpPr>
            <p:nvPr/>
          </p:nvSpPr>
          <p:spPr bwMode="auto">
            <a:xfrm>
              <a:off x="1130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8" name="Rectangle 16"/>
            <p:cNvSpPr>
              <a:spLocks noChangeArrowheads="1"/>
            </p:cNvSpPr>
            <p:nvPr/>
          </p:nvSpPr>
          <p:spPr bwMode="auto">
            <a:xfrm>
              <a:off x="1439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39" name="Rectangle 17"/>
            <p:cNvSpPr>
              <a:spLocks noChangeArrowheads="1"/>
            </p:cNvSpPr>
            <p:nvPr/>
          </p:nvSpPr>
          <p:spPr bwMode="auto">
            <a:xfrm>
              <a:off x="1748" y="1253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0" name="Rectangle 18"/>
            <p:cNvSpPr>
              <a:spLocks noChangeArrowheads="1"/>
            </p:cNvSpPr>
            <p:nvPr/>
          </p:nvSpPr>
          <p:spPr bwMode="auto">
            <a:xfrm>
              <a:off x="2057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1" name="Rectangle 19"/>
            <p:cNvSpPr>
              <a:spLocks noChangeArrowheads="1"/>
            </p:cNvSpPr>
            <p:nvPr/>
          </p:nvSpPr>
          <p:spPr bwMode="auto">
            <a:xfrm>
              <a:off x="2366" y="1253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2" name="Rectangle 20"/>
            <p:cNvSpPr>
              <a:spLocks noChangeArrowheads="1"/>
            </p:cNvSpPr>
            <p:nvPr/>
          </p:nvSpPr>
          <p:spPr bwMode="auto">
            <a:xfrm>
              <a:off x="20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3" name="Rectangle 21"/>
            <p:cNvSpPr>
              <a:spLocks noChangeArrowheads="1"/>
            </p:cNvSpPr>
            <p:nvPr/>
          </p:nvSpPr>
          <p:spPr bwMode="auto">
            <a:xfrm>
              <a:off x="512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4" name="Rectangle 22"/>
            <p:cNvSpPr>
              <a:spLocks noChangeArrowheads="1"/>
            </p:cNvSpPr>
            <p:nvPr/>
          </p:nvSpPr>
          <p:spPr bwMode="auto">
            <a:xfrm>
              <a:off x="821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5" name="Rectangle 23"/>
            <p:cNvSpPr>
              <a:spLocks noChangeArrowheads="1"/>
            </p:cNvSpPr>
            <p:nvPr/>
          </p:nvSpPr>
          <p:spPr bwMode="auto">
            <a:xfrm>
              <a:off x="1130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6" name="Rectangle 24"/>
            <p:cNvSpPr>
              <a:spLocks noChangeArrowheads="1"/>
            </p:cNvSpPr>
            <p:nvPr/>
          </p:nvSpPr>
          <p:spPr bwMode="auto">
            <a:xfrm>
              <a:off x="1439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7" name="Rectangle 25"/>
            <p:cNvSpPr>
              <a:spLocks noChangeArrowheads="1"/>
            </p:cNvSpPr>
            <p:nvPr/>
          </p:nvSpPr>
          <p:spPr bwMode="auto">
            <a:xfrm>
              <a:off x="1748" y="1556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8" name="Rectangle 26"/>
            <p:cNvSpPr>
              <a:spLocks noChangeArrowheads="1"/>
            </p:cNvSpPr>
            <p:nvPr/>
          </p:nvSpPr>
          <p:spPr bwMode="auto">
            <a:xfrm>
              <a:off x="2057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49" name="Rectangle 27"/>
            <p:cNvSpPr>
              <a:spLocks noChangeArrowheads="1"/>
            </p:cNvSpPr>
            <p:nvPr/>
          </p:nvSpPr>
          <p:spPr bwMode="auto">
            <a:xfrm>
              <a:off x="2366" y="1556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0" name="Rectangle 28"/>
            <p:cNvSpPr>
              <a:spLocks noChangeArrowheads="1"/>
            </p:cNvSpPr>
            <p:nvPr/>
          </p:nvSpPr>
          <p:spPr bwMode="auto">
            <a:xfrm>
              <a:off x="202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1" name="Rectangle 29"/>
            <p:cNvSpPr>
              <a:spLocks noChangeArrowheads="1"/>
            </p:cNvSpPr>
            <p:nvPr/>
          </p:nvSpPr>
          <p:spPr bwMode="auto">
            <a:xfrm>
              <a:off x="512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2" name="Rectangle 30"/>
            <p:cNvSpPr>
              <a:spLocks noChangeArrowheads="1"/>
            </p:cNvSpPr>
            <p:nvPr/>
          </p:nvSpPr>
          <p:spPr bwMode="auto">
            <a:xfrm>
              <a:off x="821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3" name="Rectangle 31"/>
            <p:cNvSpPr>
              <a:spLocks noChangeArrowheads="1"/>
            </p:cNvSpPr>
            <p:nvPr/>
          </p:nvSpPr>
          <p:spPr bwMode="auto">
            <a:xfrm>
              <a:off x="1130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4" name="Rectangle 32"/>
            <p:cNvSpPr>
              <a:spLocks noChangeArrowheads="1"/>
            </p:cNvSpPr>
            <p:nvPr/>
          </p:nvSpPr>
          <p:spPr bwMode="auto">
            <a:xfrm>
              <a:off x="1439" y="1865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5" name="Rectangle 33"/>
            <p:cNvSpPr>
              <a:spLocks noChangeArrowheads="1"/>
            </p:cNvSpPr>
            <p:nvPr/>
          </p:nvSpPr>
          <p:spPr bwMode="auto">
            <a:xfrm>
              <a:off x="1748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6" name="Rectangle 34"/>
            <p:cNvSpPr>
              <a:spLocks noChangeArrowheads="1"/>
            </p:cNvSpPr>
            <p:nvPr/>
          </p:nvSpPr>
          <p:spPr bwMode="auto">
            <a:xfrm>
              <a:off x="2057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7" name="Rectangle 35"/>
            <p:cNvSpPr>
              <a:spLocks noChangeArrowheads="1"/>
            </p:cNvSpPr>
            <p:nvPr/>
          </p:nvSpPr>
          <p:spPr bwMode="auto">
            <a:xfrm>
              <a:off x="2366" y="1865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8" name="Rectangle 36"/>
            <p:cNvSpPr>
              <a:spLocks noChangeArrowheads="1"/>
            </p:cNvSpPr>
            <p:nvPr/>
          </p:nvSpPr>
          <p:spPr bwMode="auto">
            <a:xfrm>
              <a:off x="202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59" name="Rectangle 37"/>
            <p:cNvSpPr>
              <a:spLocks noChangeArrowheads="1"/>
            </p:cNvSpPr>
            <p:nvPr/>
          </p:nvSpPr>
          <p:spPr bwMode="auto">
            <a:xfrm>
              <a:off x="512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0" name="Rectangle 38"/>
            <p:cNvSpPr>
              <a:spLocks noChangeArrowheads="1"/>
            </p:cNvSpPr>
            <p:nvPr/>
          </p:nvSpPr>
          <p:spPr bwMode="auto">
            <a:xfrm>
              <a:off x="821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1" name="Rectangle 39"/>
            <p:cNvSpPr>
              <a:spLocks noChangeArrowheads="1"/>
            </p:cNvSpPr>
            <p:nvPr/>
          </p:nvSpPr>
          <p:spPr bwMode="auto">
            <a:xfrm>
              <a:off x="1130" y="2170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2" name="Rectangle 40"/>
            <p:cNvSpPr>
              <a:spLocks noChangeArrowheads="1"/>
            </p:cNvSpPr>
            <p:nvPr/>
          </p:nvSpPr>
          <p:spPr bwMode="auto">
            <a:xfrm>
              <a:off x="1439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3" name="Rectangle 41"/>
            <p:cNvSpPr>
              <a:spLocks noChangeArrowheads="1"/>
            </p:cNvSpPr>
            <p:nvPr/>
          </p:nvSpPr>
          <p:spPr bwMode="auto">
            <a:xfrm>
              <a:off x="1748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4" name="Rectangle 42"/>
            <p:cNvSpPr>
              <a:spLocks noChangeArrowheads="1"/>
            </p:cNvSpPr>
            <p:nvPr/>
          </p:nvSpPr>
          <p:spPr bwMode="auto">
            <a:xfrm>
              <a:off x="2057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5" name="Rectangle 43"/>
            <p:cNvSpPr>
              <a:spLocks noChangeArrowheads="1"/>
            </p:cNvSpPr>
            <p:nvPr/>
          </p:nvSpPr>
          <p:spPr bwMode="auto">
            <a:xfrm>
              <a:off x="2366" y="2170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6" name="Rectangle 44"/>
            <p:cNvSpPr>
              <a:spLocks noChangeArrowheads="1"/>
            </p:cNvSpPr>
            <p:nvPr/>
          </p:nvSpPr>
          <p:spPr bwMode="auto">
            <a:xfrm>
              <a:off x="202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7" name="Rectangle 45"/>
            <p:cNvSpPr>
              <a:spLocks noChangeArrowheads="1"/>
            </p:cNvSpPr>
            <p:nvPr/>
          </p:nvSpPr>
          <p:spPr bwMode="auto">
            <a:xfrm>
              <a:off x="512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8" name="Rectangle 46"/>
            <p:cNvSpPr>
              <a:spLocks noChangeArrowheads="1"/>
            </p:cNvSpPr>
            <p:nvPr/>
          </p:nvSpPr>
          <p:spPr bwMode="auto">
            <a:xfrm>
              <a:off x="821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69" name="Rectangle 47"/>
            <p:cNvSpPr>
              <a:spLocks noChangeArrowheads="1"/>
            </p:cNvSpPr>
            <p:nvPr/>
          </p:nvSpPr>
          <p:spPr bwMode="auto">
            <a:xfrm>
              <a:off x="1130" y="24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0" name="Rectangle 48"/>
            <p:cNvSpPr>
              <a:spLocks noChangeArrowheads="1"/>
            </p:cNvSpPr>
            <p:nvPr/>
          </p:nvSpPr>
          <p:spPr bwMode="auto">
            <a:xfrm>
              <a:off x="1439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1" name="Rectangle 49"/>
            <p:cNvSpPr>
              <a:spLocks noChangeArrowheads="1"/>
            </p:cNvSpPr>
            <p:nvPr/>
          </p:nvSpPr>
          <p:spPr bwMode="auto">
            <a:xfrm>
              <a:off x="1748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2" name="Rectangle 50"/>
            <p:cNvSpPr>
              <a:spLocks noChangeArrowheads="1"/>
            </p:cNvSpPr>
            <p:nvPr/>
          </p:nvSpPr>
          <p:spPr bwMode="auto">
            <a:xfrm>
              <a:off x="2057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3" name="Rectangle 51"/>
            <p:cNvSpPr>
              <a:spLocks noChangeArrowheads="1"/>
            </p:cNvSpPr>
            <p:nvPr/>
          </p:nvSpPr>
          <p:spPr bwMode="auto">
            <a:xfrm>
              <a:off x="2366" y="2479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4" name="Rectangle 52"/>
            <p:cNvSpPr>
              <a:spLocks noChangeArrowheads="1"/>
            </p:cNvSpPr>
            <p:nvPr/>
          </p:nvSpPr>
          <p:spPr bwMode="auto">
            <a:xfrm>
              <a:off x="20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5" name="Rectangle 53"/>
            <p:cNvSpPr>
              <a:spLocks noChangeArrowheads="1"/>
            </p:cNvSpPr>
            <p:nvPr/>
          </p:nvSpPr>
          <p:spPr bwMode="auto">
            <a:xfrm>
              <a:off x="512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6" name="Rectangle 54"/>
            <p:cNvSpPr>
              <a:spLocks noChangeArrowheads="1"/>
            </p:cNvSpPr>
            <p:nvPr/>
          </p:nvSpPr>
          <p:spPr bwMode="auto">
            <a:xfrm>
              <a:off x="821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7" name="Rectangle 55"/>
            <p:cNvSpPr>
              <a:spLocks noChangeArrowheads="1"/>
            </p:cNvSpPr>
            <p:nvPr/>
          </p:nvSpPr>
          <p:spPr bwMode="auto">
            <a:xfrm>
              <a:off x="1130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8" name="Rectangle 56"/>
            <p:cNvSpPr>
              <a:spLocks noChangeArrowheads="1"/>
            </p:cNvSpPr>
            <p:nvPr/>
          </p:nvSpPr>
          <p:spPr bwMode="auto">
            <a:xfrm>
              <a:off x="1439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79" name="Rectangle 57"/>
            <p:cNvSpPr>
              <a:spLocks noChangeArrowheads="1"/>
            </p:cNvSpPr>
            <p:nvPr/>
          </p:nvSpPr>
          <p:spPr bwMode="auto">
            <a:xfrm>
              <a:off x="1748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0" name="Rectangle 58"/>
            <p:cNvSpPr>
              <a:spLocks noChangeArrowheads="1"/>
            </p:cNvSpPr>
            <p:nvPr/>
          </p:nvSpPr>
          <p:spPr bwMode="auto">
            <a:xfrm>
              <a:off x="2057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1" name="Rectangle 59"/>
            <p:cNvSpPr>
              <a:spLocks noChangeArrowheads="1"/>
            </p:cNvSpPr>
            <p:nvPr/>
          </p:nvSpPr>
          <p:spPr bwMode="auto">
            <a:xfrm>
              <a:off x="2366" y="2782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2" name="Rectangle 60"/>
            <p:cNvSpPr>
              <a:spLocks noChangeArrowheads="1"/>
            </p:cNvSpPr>
            <p:nvPr/>
          </p:nvSpPr>
          <p:spPr bwMode="auto">
            <a:xfrm>
              <a:off x="20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3" name="Rectangle 61"/>
            <p:cNvSpPr>
              <a:spLocks noChangeArrowheads="1"/>
            </p:cNvSpPr>
            <p:nvPr/>
          </p:nvSpPr>
          <p:spPr bwMode="auto">
            <a:xfrm>
              <a:off x="512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4" name="Rectangle 62"/>
            <p:cNvSpPr>
              <a:spLocks noChangeArrowheads="1"/>
            </p:cNvSpPr>
            <p:nvPr/>
          </p:nvSpPr>
          <p:spPr bwMode="auto">
            <a:xfrm>
              <a:off x="821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5" name="Rectangle 63"/>
            <p:cNvSpPr>
              <a:spLocks noChangeArrowheads="1"/>
            </p:cNvSpPr>
            <p:nvPr/>
          </p:nvSpPr>
          <p:spPr bwMode="auto">
            <a:xfrm>
              <a:off x="1130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6" name="Rectangle 64"/>
            <p:cNvSpPr>
              <a:spLocks noChangeArrowheads="1"/>
            </p:cNvSpPr>
            <p:nvPr/>
          </p:nvSpPr>
          <p:spPr bwMode="auto">
            <a:xfrm>
              <a:off x="1439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7" name="Rectangle 65"/>
            <p:cNvSpPr>
              <a:spLocks noChangeArrowheads="1"/>
            </p:cNvSpPr>
            <p:nvPr/>
          </p:nvSpPr>
          <p:spPr bwMode="auto">
            <a:xfrm>
              <a:off x="1748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8" name="Rectangle 66"/>
            <p:cNvSpPr>
              <a:spLocks noChangeArrowheads="1"/>
            </p:cNvSpPr>
            <p:nvPr/>
          </p:nvSpPr>
          <p:spPr bwMode="auto">
            <a:xfrm>
              <a:off x="2057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89" name="Rectangle 67"/>
            <p:cNvSpPr>
              <a:spLocks noChangeArrowheads="1"/>
            </p:cNvSpPr>
            <p:nvPr/>
          </p:nvSpPr>
          <p:spPr bwMode="auto">
            <a:xfrm>
              <a:off x="2366" y="3091"/>
              <a:ext cx="310" cy="310"/>
            </a:xfrm>
            <a:prstGeom prst="rect">
              <a:avLst/>
            </a:prstGeom>
            <a:solidFill>
              <a:srgbClr val="EAF1F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1423987" y="1573214"/>
            <a:ext cx="1474788" cy="1463675"/>
            <a:chOff x="262" y="1078"/>
            <a:chExt cx="929" cy="922"/>
          </a:xfrm>
        </p:grpSpPr>
        <p:sp>
          <p:nvSpPr>
            <p:cNvPr id="47817" name="Rectangle 69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8" name="Rectangle 70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9" name="Rectangle 71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0" name="Rectangle 72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1" name="Rectangle 73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2" name="Rectangle 74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3" name="Rectangle 75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4" name="Rectangle 76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25" name="Rectangle 77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09" name="Text Box 78"/>
          <p:cNvSpPr txBox="1">
            <a:spLocks noChangeArrowheads="1"/>
          </p:cNvSpPr>
          <p:nvPr/>
        </p:nvSpPr>
        <p:spPr bwMode="auto">
          <a:xfrm>
            <a:off x="5043489" y="5967413"/>
            <a:ext cx="309719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sz="2800" dirty="0">
                <a:latin typeface="Times New Roman" panose="02020603050405020304" pitchFamily="18" charset="0"/>
              </a:rPr>
              <a:t>Structuring Element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3978275" y="5703889"/>
            <a:ext cx="1081088" cy="1068387"/>
            <a:chOff x="1339" y="3268"/>
            <a:chExt cx="932" cy="921"/>
          </a:xfrm>
        </p:grpSpPr>
        <p:sp>
          <p:nvSpPr>
            <p:cNvPr id="47808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9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0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1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2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3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4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5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16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89"/>
          <p:cNvGrpSpPr>
            <a:grpSpLocks/>
          </p:cNvGrpSpPr>
          <p:nvPr/>
        </p:nvGrpSpPr>
        <p:grpSpPr bwMode="auto">
          <a:xfrm>
            <a:off x="1911350" y="1573214"/>
            <a:ext cx="1474788" cy="1463675"/>
            <a:chOff x="262" y="1078"/>
            <a:chExt cx="929" cy="922"/>
          </a:xfrm>
        </p:grpSpPr>
        <p:sp>
          <p:nvSpPr>
            <p:cNvPr id="47799" name="Rectangle 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0" name="Rectangle 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1" name="Rectangle 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2" name="Rectangle 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3" name="Rectangle 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4" name="Rectangle 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5" name="Rectangle 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6" name="Rectangle 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807" name="Rectangle 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99"/>
          <p:cNvGrpSpPr>
            <a:grpSpLocks/>
          </p:cNvGrpSpPr>
          <p:nvPr/>
        </p:nvGrpSpPr>
        <p:grpSpPr bwMode="auto">
          <a:xfrm>
            <a:off x="2408239" y="1573214"/>
            <a:ext cx="1474787" cy="1463675"/>
            <a:chOff x="262" y="1078"/>
            <a:chExt cx="929" cy="922"/>
          </a:xfrm>
        </p:grpSpPr>
        <p:sp>
          <p:nvSpPr>
            <p:cNvPr id="47790" name="Rectangle 1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1" name="Rectangle 1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2" name="Rectangle 1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3" name="Rectangle 1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4" name="Rectangle 1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5" name="Rectangle 1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6" name="Rectangle 1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7" name="Rectangle 1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98" name="Rectangle 1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109"/>
          <p:cNvGrpSpPr>
            <a:grpSpLocks/>
          </p:cNvGrpSpPr>
          <p:nvPr/>
        </p:nvGrpSpPr>
        <p:grpSpPr bwMode="auto">
          <a:xfrm>
            <a:off x="3379789" y="1573214"/>
            <a:ext cx="1474787" cy="1463675"/>
            <a:chOff x="262" y="1078"/>
            <a:chExt cx="929" cy="922"/>
          </a:xfrm>
        </p:grpSpPr>
        <p:sp>
          <p:nvSpPr>
            <p:cNvPr id="47781" name="Rectangle 1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2" name="Rectangle 1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3" name="Rectangle 1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4" name="Rectangle 1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5" name="Rectangle 1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6" name="Rectangle 1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7" name="Rectangle 1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8" name="Rectangle 1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9" name="Rectangle 1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119"/>
          <p:cNvGrpSpPr>
            <a:grpSpLocks/>
          </p:cNvGrpSpPr>
          <p:nvPr/>
        </p:nvGrpSpPr>
        <p:grpSpPr bwMode="auto">
          <a:xfrm>
            <a:off x="3871914" y="1573214"/>
            <a:ext cx="1474787" cy="1463675"/>
            <a:chOff x="262" y="1078"/>
            <a:chExt cx="929" cy="922"/>
          </a:xfrm>
        </p:grpSpPr>
        <p:sp>
          <p:nvSpPr>
            <p:cNvPr id="47772" name="Rectangle 1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3" name="Rectangle 1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4" name="Rectangle 1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5" name="Rectangle 1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6" name="Rectangle 1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7" name="Rectangle 1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8" name="Rectangle 1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9" name="Rectangle 1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80" name="Rectangle 1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29"/>
          <p:cNvGrpSpPr>
            <a:grpSpLocks/>
          </p:cNvGrpSpPr>
          <p:nvPr/>
        </p:nvGrpSpPr>
        <p:grpSpPr bwMode="auto">
          <a:xfrm>
            <a:off x="4349750" y="1573214"/>
            <a:ext cx="1474788" cy="1463675"/>
            <a:chOff x="262" y="1078"/>
            <a:chExt cx="929" cy="922"/>
          </a:xfrm>
        </p:grpSpPr>
        <p:sp>
          <p:nvSpPr>
            <p:cNvPr id="47763" name="Rectangle 1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4" name="Rectangle 1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5" name="Rectangle 1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6" name="Rectangle 1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7" name="Rectangle 1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8" name="Rectangle 1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9" name="Rectangle 1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0" name="Rectangle 1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71" name="Rectangle 1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4841875" y="1573214"/>
            <a:ext cx="1474788" cy="1463675"/>
            <a:chOff x="262" y="1078"/>
            <a:chExt cx="929" cy="922"/>
          </a:xfrm>
        </p:grpSpPr>
        <p:sp>
          <p:nvSpPr>
            <p:cNvPr id="47754" name="Rectangle 1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5" name="Rectangle 1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6" name="Rectangle 1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7" name="Rectangle 1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8" name="Rectangle 1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9" name="Rectangle 1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0" name="Rectangle 1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1" name="Rectangle 1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62" name="Rectangle 1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149"/>
          <p:cNvGrpSpPr>
            <a:grpSpLocks/>
          </p:cNvGrpSpPr>
          <p:nvPr/>
        </p:nvGrpSpPr>
        <p:grpSpPr bwMode="auto">
          <a:xfrm>
            <a:off x="2905125" y="1573214"/>
            <a:ext cx="1474788" cy="1463675"/>
            <a:chOff x="262" y="1078"/>
            <a:chExt cx="929" cy="922"/>
          </a:xfrm>
        </p:grpSpPr>
        <p:sp>
          <p:nvSpPr>
            <p:cNvPr id="47745" name="Rectangle 1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6" name="Rectangle 1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7" name="Rectangle 1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8" name="Rectangle 1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9" name="Rectangle 1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0" name="Rectangle 1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1" name="Rectangle 1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2" name="Rectangle 1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53" name="Rectangle 1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159"/>
          <p:cNvGrpSpPr>
            <a:grpSpLocks/>
          </p:cNvGrpSpPr>
          <p:nvPr/>
        </p:nvGrpSpPr>
        <p:grpSpPr bwMode="auto">
          <a:xfrm>
            <a:off x="1423987" y="1077914"/>
            <a:ext cx="1474788" cy="1463675"/>
            <a:chOff x="262" y="1078"/>
            <a:chExt cx="929" cy="922"/>
          </a:xfrm>
        </p:grpSpPr>
        <p:sp>
          <p:nvSpPr>
            <p:cNvPr id="47736" name="Rectangle 1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7" name="Rectangle 1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8" name="Rectangle 1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9" name="Rectangle 1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0" name="Rectangle 1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1" name="Rectangle 1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2" name="Rectangle 1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3" name="Rectangle 1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44" name="Rectangle 1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69"/>
          <p:cNvGrpSpPr>
            <a:grpSpLocks/>
          </p:cNvGrpSpPr>
          <p:nvPr/>
        </p:nvGrpSpPr>
        <p:grpSpPr bwMode="auto">
          <a:xfrm>
            <a:off x="1911350" y="1077914"/>
            <a:ext cx="1474788" cy="1463675"/>
            <a:chOff x="262" y="1078"/>
            <a:chExt cx="929" cy="922"/>
          </a:xfrm>
        </p:grpSpPr>
        <p:sp>
          <p:nvSpPr>
            <p:cNvPr id="47727" name="Rectangle 1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8" name="Rectangle 1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9" name="Rectangle 1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0" name="Rectangle 1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1" name="Rectangle 1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2" name="Rectangle 1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3" name="Rectangle 1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4" name="Rectangle 1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35" name="Rectangle 1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179"/>
          <p:cNvGrpSpPr>
            <a:grpSpLocks/>
          </p:cNvGrpSpPr>
          <p:nvPr/>
        </p:nvGrpSpPr>
        <p:grpSpPr bwMode="auto">
          <a:xfrm>
            <a:off x="2408239" y="1077914"/>
            <a:ext cx="1474787" cy="1463675"/>
            <a:chOff x="262" y="1078"/>
            <a:chExt cx="929" cy="922"/>
          </a:xfrm>
        </p:grpSpPr>
        <p:sp>
          <p:nvSpPr>
            <p:cNvPr id="47718" name="Rectangle 1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9" name="Rectangle 1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0" name="Rectangle 1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1" name="Rectangle 1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2" name="Rectangle 1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3" name="Rectangle 1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4" name="Rectangle 1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5" name="Rectangle 1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26" name="Rectangle 1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89"/>
          <p:cNvGrpSpPr>
            <a:grpSpLocks/>
          </p:cNvGrpSpPr>
          <p:nvPr/>
        </p:nvGrpSpPr>
        <p:grpSpPr bwMode="auto">
          <a:xfrm>
            <a:off x="3379789" y="1077914"/>
            <a:ext cx="1474787" cy="1463675"/>
            <a:chOff x="262" y="1078"/>
            <a:chExt cx="929" cy="922"/>
          </a:xfrm>
        </p:grpSpPr>
        <p:sp>
          <p:nvSpPr>
            <p:cNvPr id="47709" name="Rectangle 1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0" name="Rectangle 1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1" name="Rectangle 1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2" name="Rectangle 1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3" name="Rectangle 1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4" name="Rectangle 1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5" name="Rectangle 1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6" name="Rectangle 1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17" name="Rectangle 1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99"/>
          <p:cNvGrpSpPr>
            <a:grpSpLocks/>
          </p:cNvGrpSpPr>
          <p:nvPr/>
        </p:nvGrpSpPr>
        <p:grpSpPr bwMode="auto">
          <a:xfrm>
            <a:off x="3871914" y="1077914"/>
            <a:ext cx="1474787" cy="1463675"/>
            <a:chOff x="262" y="1078"/>
            <a:chExt cx="929" cy="922"/>
          </a:xfrm>
        </p:grpSpPr>
        <p:sp>
          <p:nvSpPr>
            <p:cNvPr id="47700" name="Rectangle 2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1" name="Rectangle 2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2" name="Rectangle 2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3" name="Rectangle 2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4" name="Rectangle 2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5" name="Rectangle 2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6" name="Rectangle 2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7" name="Rectangle 2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708" name="Rectangle 2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209"/>
          <p:cNvGrpSpPr>
            <a:grpSpLocks/>
          </p:cNvGrpSpPr>
          <p:nvPr/>
        </p:nvGrpSpPr>
        <p:grpSpPr bwMode="auto">
          <a:xfrm>
            <a:off x="4349750" y="1077914"/>
            <a:ext cx="1474788" cy="1463675"/>
            <a:chOff x="262" y="1078"/>
            <a:chExt cx="929" cy="922"/>
          </a:xfrm>
        </p:grpSpPr>
        <p:sp>
          <p:nvSpPr>
            <p:cNvPr id="47691" name="Rectangle 2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2" name="Rectangle 2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3" name="Rectangle 2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4" name="Rectangle 2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5" name="Rectangle 2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6" name="Rectangle 2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7" name="Rectangle 2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8" name="Rectangle 2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9" name="Rectangle 2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219"/>
          <p:cNvGrpSpPr>
            <a:grpSpLocks/>
          </p:cNvGrpSpPr>
          <p:nvPr/>
        </p:nvGrpSpPr>
        <p:grpSpPr bwMode="auto">
          <a:xfrm>
            <a:off x="4841875" y="1077914"/>
            <a:ext cx="1474788" cy="1463675"/>
            <a:chOff x="262" y="1078"/>
            <a:chExt cx="929" cy="922"/>
          </a:xfrm>
        </p:grpSpPr>
        <p:sp>
          <p:nvSpPr>
            <p:cNvPr id="47682" name="Rectangle 2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3" name="Rectangle 2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4" name="Rectangle 2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5" name="Rectangle 2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6" name="Rectangle 2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7" name="Rectangle 2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8" name="Rectangle 2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9" name="Rectangle 2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90" name="Rectangle 2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229"/>
          <p:cNvGrpSpPr>
            <a:grpSpLocks/>
          </p:cNvGrpSpPr>
          <p:nvPr/>
        </p:nvGrpSpPr>
        <p:grpSpPr bwMode="auto">
          <a:xfrm>
            <a:off x="2905125" y="1077914"/>
            <a:ext cx="1474788" cy="1463675"/>
            <a:chOff x="262" y="1078"/>
            <a:chExt cx="929" cy="922"/>
          </a:xfrm>
        </p:grpSpPr>
        <p:sp>
          <p:nvSpPr>
            <p:cNvPr id="47673" name="Rectangle 2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4" name="Rectangle 2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5" name="Rectangle 2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6" name="Rectangle 2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7" name="Rectangle 2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8" name="Rectangle 2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9" name="Rectangle 2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0" name="Rectangle 2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81" name="Rectangle 2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Group 239"/>
          <p:cNvGrpSpPr>
            <a:grpSpLocks/>
          </p:cNvGrpSpPr>
          <p:nvPr/>
        </p:nvGrpSpPr>
        <p:grpSpPr bwMode="auto">
          <a:xfrm>
            <a:off x="1423987" y="2071689"/>
            <a:ext cx="1474788" cy="1463675"/>
            <a:chOff x="262" y="1078"/>
            <a:chExt cx="929" cy="922"/>
          </a:xfrm>
        </p:grpSpPr>
        <p:sp>
          <p:nvSpPr>
            <p:cNvPr id="47664" name="Rectangle 2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5" name="Rectangle 2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6" name="Rectangle 2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7" name="Rectangle 2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8" name="Rectangle 2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9" name="Rectangle 2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0" name="Rectangle 2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1" name="Rectangle 2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72" name="Rectangle 2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49"/>
          <p:cNvGrpSpPr>
            <a:grpSpLocks/>
          </p:cNvGrpSpPr>
          <p:nvPr/>
        </p:nvGrpSpPr>
        <p:grpSpPr bwMode="auto">
          <a:xfrm>
            <a:off x="1911350" y="2071689"/>
            <a:ext cx="1474788" cy="1463675"/>
            <a:chOff x="262" y="1078"/>
            <a:chExt cx="929" cy="922"/>
          </a:xfrm>
        </p:grpSpPr>
        <p:sp>
          <p:nvSpPr>
            <p:cNvPr id="47655" name="Rectangle 2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6" name="Rectangle 2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7" name="Rectangle 2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8" name="Rectangle 2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9" name="Rectangle 2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0" name="Rectangle 2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1" name="Rectangle 2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2" name="Rectangle 2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63" name="Rectangle 2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259"/>
          <p:cNvGrpSpPr>
            <a:grpSpLocks/>
          </p:cNvGrpSpPr>
          <p:nvPr/>
        </p:nvGrpSpPr>
        <p:grpSpPr bwMode="auto">
          <a:xfrm>
            <a:off x="2408239" y="2071689"/>
            <a:ext cx="1474787" cy="1463675"/>
            <a:chOff x="262" y="1078"/>
            <a:chExt cx="929" cy="922"/>
          </a:xfrm>
        </p:grpSpPr>
        <p:sp>
          <p:nvSpPr>
            <p:cNvPr id="47646" name="Rectangle 2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7" name="Rectangle 2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8" name="Rectangle 2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9" name="Rectangle 2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0" name="Rectangle 2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1" name="Rectangle 2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2" name="Rectangle 2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3" name="Rectangle 2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54" name="Rectangle 2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" name="Group 269"/>
          <p:cNvGrpSpPr>
            <a:grpSpLocks/>
          </p:cNvGrpSpPr>
          <p:nvPr/>
        </p:nvGrpSpPr>
        <p:grpSpPr bwMode="auto">
          <a:xfrm>
            <a:off x="3379789" y="2071689"/>
            <a:ext cx="1474787" cy="1463675"/>
            <a:chOff x="262" y="1078"/>
            <a:chExt cx="929" cy="922"/>
          </a:xfrm>
        </p:grpSpPr>
        <p:sp>
          <p:nvSpPr>
            <p:cNvPr id="47637" name="Rectangle 2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8" name="Rectangle 2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9" name="Rectangle 2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0" name="Rectangle 2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1" name="Rectangle 2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2" name="Rectangle 2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3" name="Rectangle 2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4" name="Rectangle 2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45" name="Rectangle 2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" name="Group 279"/>
          <p:cNvGrpSpPr>
            <a:grpSpLocks/>
          </p:cNvGrpSpPr>
          <p:nvPr/>
        </p:nvGrpSpPr>
        <p:grpSpPr bwMode="auto">
          <a:xfrm>
            <a:off x="3871914" y="2071689"/>
            <a:ext cx="1474787" cy="1463675"/>
            <a:chOff x="262" y="1078"/>
            <a:chExt cx="929" cy="922"/>
          </a:xfrm>
        </p:grpSpPr>
        <p:sp>
          <p:nvSpPr>
            <p:cNvPr id="47628" name="Rectangle 2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9" name="Rectangle 2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0" name="Rectangle 2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1" name="Rectangle 2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2" name="Rectangle 2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3" name="Rectangle 2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4" name="Rectangle 2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5" name="Rectangle 2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36" name="Rectangle 2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89"/>
          <p:cNvGrpSpPr>
            <a:grpSpLocks/>
          </p:cNvGrpSpPr>
          <p:nvPr/>
        </p:nvGrpSpPr>
        <p:grpSpPr bwMode="auto">
          <a:xfrm>
            <a:off x="4349750" y="2071689"/>
            <a:ext cx="1474788" cy="1463675"/>
            <a:chOff x="262" y="1078"/>
            <a:chExt cx="929" cy="922"/>
          </a:xfrm>
        </p:grpSpPr>
        <p:sp>
          <p:nvSpPr>
            <p:cNvPr id="47619" name="Rectangle 2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0" name="Rectangle 2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1" name="Rectangle 2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2" name="Rectangle 2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3" name="Rectangle 2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4" name="Rectangle 2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5" name="Rectangle 2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6" name="Rectangle 2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27" name="Rectangle 2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" name="Group 299"/>
          <p:cNvGrpSpPr>
            <a:grpSpLocks/>
          </p:cNvGrpSpPr>
          <p:nvPr/>
        </p:nvGrpSpPr>
        <p:grpSpPr bwMode="auto">
          <a:xfrm>
            <a:off x="4841875" y="2071689"/>
            <a:ext cx="1474788" cy="1463675"/>
            <a:chOff x="262" y="1078"/>
            <a:chExt cx="929" cy="922"/>
          </a:xfrm>
        </p:grpSpPr>
        <p:sp>
          <p:nvSpPr>
            <p:cNvPr id="47610" name="Rectangle 30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1" name="Rectangle 30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2" name="Rectangle 30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3" name="Rectangle 30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4" name="Rectangle 30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5" name="Rectangle 30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6" name="Rectangle 30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7" name="Rectangle 30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18" name="Rectangle 30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" name="Group 309"/>
          <p:cNvGrpSpPr>
            <a:grpSpLocks/>
          </p:cNvGrpSpPr>
          <p:nvPr/>
        </p:nvGrpSpPr>
        <p:grpSpPr bwMode="auto">
          <a:xfrm>
            <a:off x="2905125" y="2071689"/>
            <a:ext cx="1474788" cy="1463675"/>
            <a:chOff x="262" y="1078"/>
            <a:chExt cx="929" cy="922"/>
          </a:xfrm>
        </p:grpSpPr>
        <p:sp>
          <p:nvSpPr>
            <p:cNvPr id="47601" name="Rectangle 31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2" name="Rectangle 31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3" name="Rectangle 31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4" name="Rectangle 31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5" name="Rectangle 31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6" name="Rectangle 31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7" name="Rectangle 31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8" name="Rectangle 31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9" name="Rectangle 31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" name="Group 319"/>
          <p:cNvGrpSpPr>
            <a:grpSpLocks/>
          </p:cNvGrpSpPr>
          <p:nvPr/>
        </p:nvGrpSpPr>
        <p:grpSpPr bwMode="auto">
          <a:xfrm>
            <a:off x="1423987" y="2554289"/>
            <a:ext cx="1474788" cy="1463675"/>
            <a:chOff x="262" y="1078"/>
            <a:chExt cx="929" cy="922"/>
          </a:xfrm>
        </p:grpSpPr>
        <p:sp>
          <p:nvSpPr>
            <p:cNvPr id="47592" name="Rectangle 32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3" name="Rectangle 32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4" name="Rectangle 32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5" name="Rectangle 32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6" name="Rectangle 32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7" name="Rectangle 32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8" name="Rectangle 32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9" name="Rectangle 32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600" name="Rectangle 32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" name="Group 329"/>
          <p:cNvGrpSpPr>
            <a:grpSpLocks/>
          </p:cNvGrpSpPr>
          <p:nvPr/>
        </p:nvGrpSpPr>
        <p:grpSpPr bwMode="auto">
          <a:xfrm>
            <a:off x="1911350" y="2554289"/>
            <a:ext cx="1474788" cy="1463675"/>
            <a:chOff x="262" y="1078"/>
            <a:chExt cx="929" cy="922"/>
          </a:xfrm>
        </p:grpSpPr>
        <p:sp>
          <p:nvSpPr>
            <p:cNvPr id="47583" name="Rectangle 33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4" name="Rectangle 33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5" name="Rectangle 33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6" name="Rectangle 33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7" name="Rectangle 33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8" name="Rectangle 33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9" name="Rectangle 33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0" name="Rectangle 33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91" name="Rectangle 33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" name="Group 339"/>
          <p:cNvGrpSpPr>
            <a:grpSpLocks/>
          </p:cNvGrpSpPr>
          <p:nvPr/>
        </p:nvGrpSpPr>
        <p:grpSpPr bwMode="auto">
          <a:xfrm>
            <a:off x="2408239" y="2554289"/>
            <a:ext cx="1474787" cy="1463675"/>
            <a:chOff x="262" y="1078"/>
            <a:chExt cx="929" cy="922"/>
          </a:xfrm>
        </p:grpSpPr>
        <p:sp>
          <p:nvSpPr>
            <p:cNvPr id="47574" name="Rectangle 34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5" name="Rectangle 34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6" name="Rectangle 34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7" name="Rectangle 34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8" name="Rectangle 34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9" name="Rectangle 34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0" name="Rectangle 34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1" name="Rectangle 34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82" name="Rectangle 34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349"/>
          <p:cNvGrpSpPr>
            <a:grpSpLocks/>
          </p:cNvGrpSpPr>
          <p:nvPr/>
        </p:nvGrpSpPr>
        <p:grpSpPr bwMode="auto">
          <a:xfrm>
            <a:off x="3379789" y="2554289"/>
            <a:ext cx="1474787" cy="1463675"/>
            <a:chOff x="262" y="1078"/>
            <a:chExt cx="929" cy="922"/>
          </a:xfrm>
        </p:grpSpPr>
        <p:sp>
          <p:nvSpPr>
            <p:cNvPr id="47565" name="Rectangle 35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6" name="Rectangle 35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7" name="Rectangle 35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8" name="Rectangle 35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9" name="Rectangle 35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0" name="Rectangle 35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1" name="Rectangle 35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2" name="Rectangle 35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73" name="Rectangle 35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4" name="Group 359"/>
          <p:cNvGrpSpPr>
            <a:grpSpLocks/>
          </p:cNvGrpSpPr>
          <p:nvPr/>
        </p:nvGrpSpPr>
        <p:grpSpPr bwMode="auto">
          <a:xfrm>
            <a:off x="3871914" y="2554289"/>
            <a:ext cx="1474787" cy="1463675"/>
            <a:chOff x="262" y="1078"/>
            <a:chExt cx="929" cy="922"/>
          </a:xfrm>
        </p:grpSpPr>
        <p:sp>
          <p:nvSpPr>
            <p:cNvPr id="47556" name="Rectangle 36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7" name="Rectangle 36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8" name="Rectangle 36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9" name="Rectangle 36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0" name="Rectangle 36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1" name="Rectangle 36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2" name="Rectangle 36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3" name="Rectangle 36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64" name="Rectangle 36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5" name="Group 369"/>
          <p:cNvGrpSpPr>
            <a:grpSpLocks/>
          </p:cNvGrpSpPr>
          <p:nvPr/>
        </p:nvGrpSpPr>
        <p:grpSpPr bwMode="auto">
          <a:xfrm>
            <a:off x="4349750" y="2554289"/>
            <a:ext cx="1474788" cy="1463675"/>
            <a:chOff x="262" y="1078"/>
            <a:chExt cx="929" cy="922"/>
          </a:xfrm>
        </p:grpSpPr>
        <p:sp>
          <p:nvSpPr>
            <p:cNvPr id="47547" name="Rectangle 37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8" name="Rectangle 37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9" name="Rectangle 37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0" name="Rectangle 37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1" name="Rectangle 37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2" name="Rectangle 37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3" name="Rectangle 37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4" name="Rectangle 37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55" name="Rectangle 37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7" name="Group 379"/>
          <p:cNvGrpSpPr>
            <a:grpSpLocks/>
          </p:cNvGrpSpPr>
          <p:nvPr/>
        </p:nvGrpSpPr>
        <p:grpSpPr bwMode="auto">
          <a:xfrm>
            <a:off x="4841875" y="2554289"/>
            <a:ext cx="1474788" cy="1463675"/>
            <a:chOff x="262" y="1078"/>
            <a:chExt cx="929" cy="922"/>
          </a:xfrm>
        </p:grpSpPr>
        <p:sp>
          <p:nvSpPr>
            <p:cNvPr id="47538" name="Rectangle 38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9" name="Rectangle 38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0" name="Rectangle 38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1" name="Rectangle 38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2" name="Rectangle 38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3" name="Rectangle 38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4" name="Rectangle 38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5" name="Rectangle 38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46" name="Rectangle 38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08" name="Group 389"/>
          <p:cNvGrpSpPr>
            <a:grpSpLocks/>
          </p:cNvGrpSpPr>
          <p:nvPr/>
        </p:nvGrpSpPr>
        <p:grpSpPr bwMode="auto">
          <a:xfrm>
            <a:off x="2905125" y="2554289"/>
            <a:ext cx="1474788" cy="1463675"/>
            <a:chOff x="262" y="1078"/>
            <a:chExt cx="929" cy="922"/>
          </a:xfrm>
        </p:grpSpPr>
        <p:sp>
          <p:nvSpPr>
            <p:cNvPr id="47529" name="Rectangle 390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0" name="Rectangle 391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1" name="Rectangle 392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2" name="Rectangle 393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3" name="Rectangle 394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4" name="Rectangle 395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5" name="Rectangle 396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6" name="Rectangle 397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37" name="Rectangle 398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0" name="Group 399"/>
          <p:cNvGrpSpPr>
            <a:grpSpLocks/>
          </p:cNvGrpSpPr>
          <p:nvPr/>
        </p:nvGrpSpPr>
        <p:grpSpPr bwMode="auto">
          <a:xfrm>
            <a:off x="6326189" y="1577975"/>
            <a:ext cx="3927475" cy="3900488"/>
            <a:chOff x="3178" y="1075"/>
            <a:chExt cx="2474" cy="2457"/>
          </a:xfrm>
        </p:grpSpPr>
        <p:sp>
          <p:nvSpPr>
            <p:cNvPr id="47465" name="Rectangle 400"/>
            <p:cNvSpPr>
              <a:spLocks noChangeArrowheads="1"/>
            </p:cNvSpPr>
            <p:nvPr/>
          </p:nvSpPr>
          <p:spPr bwMode="auto">
            <a:xfrm>
              <a:off x="3178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6" name="Rectangle 401"/>
            <p:cNvSpPr>
              <a:spLocks noChangeArrowheads="1"/>
            </p:cNvSpPr>
            <p:nvPr/>
          </p:nvSpPr>
          <p:spPr bwMode="auto">
            <a:xfrm>
              <a:off x="3488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7" name="Rectangle 402"/>
            <p:cNvSpPr>
              <a:spLocks noChangeArrowheads="1"/>
            </p:cNvSpPr>
            <p:nvPr/>
          </p:nvSpPr>
          <p:spPr bwMode="auto">
            <a:xfrm>
              <a:off x="3797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8" name="Rectangle 403"/>
            <p:cNvSpPr>
              <a:spLocks noChangeArrowheads="1"/>
            </p:cNvSpPr>
            <p:nvPr/>
          </p:nvSpPr>
          <p:spPr bwMode="auto">
            <a:xfrm>
              <a:off x="4106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9" name="Rectangle 404"/>
            <p:cNvSpPr>
              <a:spLocks noChangeArrowheads="1"/>
            </p:cNvSpPr>
            <p:nvPr/>
          </p:nvSpPr>
          <p:spPr bwMode="auto">
            <a:xfrm>
              <a:off x="4415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0" name="Rectangle 405"/>
            <p:cNvSpPr>
              <a:spLocks noChangeArrowheads="1"/>
            </p:cNvSpPr>
            <p:nvPr/>
          </p:nvSpPr>
          <p:spPr bwMode="auto">
            <a:xfrm>
              <a:off x="4724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1" name="Rectangle 406"/>
            <p:cNvSpPr>
              <a:spLocks noChangeArrowheads="1"/>
            </p:cNvSpPr>
            <p:nvPr/>
          </p:nvSpPr>
          <p:spPr bwMode="auto">
            <a:xfrm>
              <a:off x="5033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2" name="Rectangle 407"/>
            <p:cNvSpPr>
              <a:spLocks noChangeArrowheads="1"/>
            </p:cNvSpPr>
            <p:nvPr/>
          </p:nvSpPr>
          <p:spPr bwMode="auto">
            <a:xfrm>
              <a:off x="5342" y="1075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3" name="Rectangle 408"/>
            <p:cNvSpPr>
              <a:spLocks noChangeArrowheads="1"/>
            </p:cNvSpPr>
            <p:nvPr/>
          </p:nvSpPr>
          <p:spPr bwMode="auto">
            <a:xfrm>
              <a:off x="3178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4" name="Rectangle 409"/>
            <p:cNvSpPr>
              <a:spLocks noChangeArrowheads="1"/>
            </p:cNvSpPr>
            <p:nvPr/>
          </p:nvSpPr>
          <p:spPr bwMode="auto">
            <a:xfrm>
              <a:off x="3488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5" name="Rectangle 410"/>
            <p:cNvSpPr>
              <a:spLocks noChangeArrowheads="1"/>
            </p:cNvSpPr>
            <p:nvPr/>
          </p:nvSpPr>
          <p:spPr bwMode="auto">
            <a:xfrm>
              <a:off x="3797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6" name="Rectangle 411"/>
            <p:cNvSpPr>
              <a:spLocks noChangeArrowheads="1"/>
            </p:cNvSpPr>
            <p:nvPr/>
          </p:nvSpPr>
          <p:spPr bwMode="auto">
            <a:xfrm>
              <a:off x="4106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7" name="Rectangle 412"/>
            <p:cNvSpPr>
              <a:spLocks noChangeArrowheads="1"/>
            </p:cNvSpPr>
            <p:nvPr/>
          </p:nvSpPr>
          <p:spPr bwMode="auto">
            <a:xfrm>
              <a:off x="4415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8" name="Rectangle 413"/>
            <p:cNvSpPr>
              <a:spLocks noChangeArrowheads="1"/>
            </p:cNvSpPr>
            <p:nvPr/>
          </p:nvSpPr>
          <p:spPr bwMode="auto">
            <a:xfrm>
              <a:off x="4724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79" name="Rectangle 414"/>
            <p:cNvSpPr>
              <a:spLocks noChangeArrowheads="1"/>
            </p:cNvSpPr>
            <p:nvPr/>
          </p:nvSpPr>
          <p:spPr bwMode="auto">
            <a:xfrm>
              <a:off x="5033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0" name="Rectangle 415"/>
            <p:cNvSpPr>
              <a:spLocks noChangeArrowheads="1"/>
            </p:cNvSpPr>
            <p:nvPr/>
          </p:nvSpPr>
          <p:spPr bwMode="auto">
            <a:xfrm>
              <a:off x="5342" y="1384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1" name="Rectangle 416"/>
            <p:cNvSpPr>
              <a:spLocks noChangeArrowheads="1"/>
            </p:cNvSpPr>
            <p:nvPr/>
          </p:nvSpPr>
          <p:spPr bwMode="auto">
            <a:xfrm>
              <a:off x="3178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2" name="Rectangle 417"/>
            <p:cNvSpPr>
              <a:spLocks noChangeArrowheads="1"/>
            </p:cNvSpPr>
            <p:nvPr/>
          </p:nvSpPr>
          <p:spPr bwMode="auto">
            <a:xfrm>
              <a:off x="3488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3" name="Rectangle 418"/>
            <p:cNvSpPr>
              <a:spLocks noChangeArrowheads="1"/>
            </p:cNvSpPr>
            <p:nvPr/>
          </p:nvSpPr>
          <p:spPr bwMode="auto">
            <a:xfrm>
              <a:off x="3797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4" name="Rectangle 419"/>
            <p:cNvSpPr>
              <a:spLocks noChangeArrowheads="1"/>
            </p:cNvSpPr>
            <p:nvPr/>
          </p:nvSpPr>
          <p:spPr bwMode="auto">
            <a:xfrm>
              <a:off x="4106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5" name="Rectangle 420"/>
            <p:cNvSpPr>
              <a:spLocks noChangeArrowheads="1"/>
            </p:cNvSpPr>
            <p:nvPr/>
          </p:nvSpPr>
          <p:spPr bwMode="auto">
            <a:xfrm>
              <a:off x="4415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6" name="Rectangle 421"/>
            <p:cNvSpPr>
              <a:spLocks noChangeArrowheads="1"/>
            </p:cNvSpPr>
            <p:nvPr/>
          </p:nvSpPr>
          <p:spPr bwMode="auto">
            <a:xfrm>
              <a:off x="4724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7" name="Rectangle 422"/>
            <p:cNvSpPr>
              <a:spLocks noChangeArrowheads="1"/>
            </p:cNvSpPr>
            <p:nvPr/>
          </p:nvSpPr>
          <p:spPr bwMode="auto">
            <a:xfrm>
              <a:off x="5033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8" name="Rectangle 423"/>
            <p:cNvSpPr>
              <a:spLocks noChangeArrowheads="1"/>
            </p:cNvSpPr>
            <p:nvPr/>
          </p:nvSpPr>
          <p:spPr bwMode="auto">
            <a:xfrm>
              <a:off x="5342" y="1687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89" name="Rectangle 424"/>
            <p:cNvSpPr>
              <a:spLocks noChangeArrowheads="1"/>
            </p:cNvSpPr>
            <p:nvPr/>
          </p:nvSpPr>
          <p:spPr bwMode="auto">
            <a:xfrm>
              <a:off x="3178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0" name="Rectangle 425"/>
            <p:cNvSpPr>
              <a:spLocks noChangeArrowheads="1"/>
            </p:cNvSpPr>
            <p:nvPr/>
          </p:nvSpPr>
          <p:spPr bwMode="auto">
            <a:xfrm>
              <a:off x="3488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1" name="Rectangle 426"/>
            <p:cNvSpPr>
              <a:spLocks noChangeArrowheads="1"/>
            </p:cNvSpPr>
            <p:nvPr/>
          </p:nvSpPr>
          <p:spPr bwMode="auto">
            <a:xfrm>
              <a:off x="3797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2" name="Rectangle 427"/>
            <p:cNvSpPr>
              <a:spLocks noChangeArrowheads="1"/>
            </p:cNvSpPr>
            <p:nvPr/>
          </p:nvSpPr>
          <p:spPr bwMode="auto">
            <a:xfrm>
              <a:off x="4106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3" name="Rectangle 428"/>
            <p:cNvSpPr>
              <a:spLocks noChangeArrowheads="1"/>
            </p:cNvSpPr>
            <p:nvPr/>
          </p:nvSpPr>
          <p:spPr bwMode="auto">
            <a:xfrm>
              <a:off x="4415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4" name="Rectangle 429"/>
            <p:cNvSpPr>
              <a:spLocks noChangeArrowheads="1"/>
            </p:cNvSpPr>
            <p:nvPr/>
          </p:nvSpPr>
          <p:spPr bwMode="auto">
            <a:xfrm>
              <a:off x="4724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5" name="Rectangle 430"/>
            <p:cNvSpPr>
              <a:spLocks noChangeArrowheads="1"/>
            </p:cNvSpPr>
            <p:nvPr/>
          </p:nvSpPr>
          <p:spPr bwMode="auto">
            <a:xfrm>
              <a:off x="5033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6" name="Rectangle 431"/>
            <p:cNvSpPr>
              <a:spLocks noChangeArrowheads="1"/>
            </p:cNvSpPr>
            <p:nvPr/>
          </p:nvSpPr>
          <p:spPr bwMode="auto">
            <a:xfrm>
              <a:off x="5342" y="1996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7" name="Rectangle 432"/>
            <p:cNvSpPr>
              <a:spLocks noChangeArrowheads="1"/>
            </p:cNvSpPr>
            <p:nvPr/>
          </p:nvSpPr>
          <p:spPr bwMode="auto">
            <a:xfrm>
              <a:off x="3178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8" name="Rectangle 433"/>
            <p:cNvSpPr>
              <a:spLocks noChangeArrowheads="1"/>
            </p:cNvSpPr>
            <p:nvPr/>
          </p:nvSpPr>
          <p:spPr bwMode="auto">
            <a:xfrm>
              <a:off x="3488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99" name="Rectangle 434"/>
            <p:cNvSpPr>
              <a:spLocks noChangeArrowheads="1"/>
            </p:cNvSpPr>
            <p:nvPr/>
          </p:nvSpPr>
          <p:spPr bwMode="auto">
            <a:xfrm>
              <a:off x="3797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0" name="Rectangle 435"/>
            <p:cNvSpPr>
              <a:spLocks noChangeArrowheads="1"/>
            </p:cNvSpPr>
            <p:nvPr/>
          </p:nvSpPr>
          <p:spPr bwMode="auto">
            <a:xfrm>
              <a:off x="4106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1" name="Rectangle 436"/>
            <p:cNvSpPr>
              <a:spLocks noChangeArrowheads="1"/>
            </p:cNvSpPr>
            <p:nvPr/>
          </p:nvSpPr>
          <p:spPr bwMode="auto">
            <a:xfrm>
              <a:off x="4415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2" name="Rectangle 437"/>
            <p:cNvSpPr>
              <a:spLocks noChangeArrowheads="1"/>
            </p:cNvSpPr>
            <p:nvPr/>
          </p:nvSpPr>
          <p:spPr bwMode="auto">
            <a:xfrm>
              <a:off x="4724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3" name="Rectangle 438"/>
            <p:cNvSpPr>
              <a:spLocks noChangeArrowheads="1"/>
            </p:cNvSpPr>
            <p:nvPr/>
          </p:nvSpPr>
          <p:spPr bwMode="auto">
            <a:xfrm>
              <a:off x="5033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4" name="Rectangle 439"/>
            <p:cNvSpPr>
              <a:spLocks noChangeArrowheads="1"/>
            </p:cNvSpPr>
            <p:nvPr/>
          </p:nvSpPr>
          <p:spPr bwMode="auto">
            <a:xfrm>
              <a:off x="5342" y="2301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5" name="Rectangle 440"/>
            <p:cNvSpPr>
              <a:spLocks noChangeArrowheads="1"/>
            </p:cNvSpPr>
            <p:nvPr/>
          </p:nvSpPr>
          <p:spPr bwMode="auto">
            <a:xfrm>
              <a:off x="3178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6" name="Rectangle 441"/>
            <p:cNvSpPr>
              <a:spLocks noChangeArrowheads="1"/>
            </p:cNvSpPr>
            <p:nvPr/>
          </p:nvSpPr>
          <p:spPr bwMode="auto">
            <a:xfrm>
              <a:off x="3488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7" name="Rectangle 442"/>
            <p:cNvSpPr>
              <a:spLocks noChangeArrowheads="1"/>
            </p:cNvSpPr>
            <p:nvPr/>
          </p:nvSpPr>
          <p:spPr bwMode="auto">
            <a:xfrm>
              <a:off x="3797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8" name="Rectangle 443"/>
            <p:cNvSpPr>
              <a:spLocks noChangeArrowheads="1"/>
            </p:cNvSpPr>
            <p:nvPr/>
          </p:nvSpPr>
          <p:spPr bwMode="auto">
            <a:xfrm>
              <a:off x="4106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09" name="Rectangle 444"/>
            <p:cNvSpPr>
              <a:spLocks noChangeArrowheads="1"/>
            </p:cNvSpPr>
            <p:nvPr/>
          </p:nvSpPr>
          <p:spPr bwMode="auto">
            <a:xfrm>
              <a:off x="4415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0" name="Rectangle 445"/>
            <p:cNvSpPr>
              <a:spLocks noChangeArrowheads="1"/>
            </p:cNvSpPr>
            <p:nvPr/>
          </p:nvSpPr>
          <p:spPr bwMode="auto">
            <a:xfrm>
              <a:off x="4724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1" name="Rectangle 446"/>
            <p:cNvSpPr>
              <a:spLocks noChangeArrowheads="1"/>
            </p:cNvSpPr>
            <p:nvPr/>
          </p:nvSpPr>
          <p:spPr bwMode="auto">
            <a:xfrm>
              <a:off x="5033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2" name="Rectangle 447"/>
            <p:cNvSpPr>
              <a:spLocks noChangeArrowheads="1"/>
            </p:cNvSpPr>
            <p:nvPr/>
          </p:nvSpPr>
          <p:spPr bwMode="auto">
            <a:xfrm>
              <a:off x="5342" y="2610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3" name="Rectangle 448"/>
            <p:cNvSpPr>
              <a:spLocks noChangeArrowheads="1"/>
            </p:cNvSpPr>
            <p:nvPr/>
          </p:nvSpPr>
          <p:spPr bwMode="auto">
            <a:xfrm>
              <a:off x="3178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4" name="Rectangle 449"/>
            <p:cNvSpPr>
              <a:spLocks noChangeArrowheads="1"/>
            </p:cNvSpPr>
            <p:nvPr/>
          </p:nvSpPr>
          <p:spPr bwMode="auto">
            <a:xfrm>
              <a:off x="3488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5" name="Rectangle 450"/>
            <p:cNvSpPr>
              <a:spLocks noChangeArrowheads="1"/>
            </p:cNvSpPr>
            <p:nvPr/>
          </p:nvSpPr>
          <p:spPr bwMode="auto">
            <a:xfrm>
              <a:off x="3797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6" name="Rectangle 451"/>
            <p:cNvSpPr>
              <a:spLocks noChangeArrowheads="1"/>
            </p:cNvSpPr>
            <p:nvPr/>
          </p:nvSpPr>
          <p:spPr bwMode="auto">
            <a:xfrm>
              <a:off x="4106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7" name="Rectangle 452"/>
            <p:cNvSpPr>
              <a:spLocks noChangeArrowheads="1"/>
            </p:cNvSpPr>
            <p:nvPr/>
          </p:nvSpPr>
          <p:spPr bwMode="auto">
            <a:xfrm>
              <a:off x="4415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8" name="Rectangle 453"/>
            <p:cNvSpPr>
              <a:spLocks noChangeArrowheads="1"/>
            </p:cNvSpPr>
            <p:nvPr/>
          </p:nvSpPr>
          <p:spPr bwMode="auto">
            <a:xfrm>
              <a:off x="4724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19" name="Rectangle 454"/>
            <p:cNvSpPr>
              <a:spLocks noChangeArrowheads="1"/>
            </p:cNvSpPr>
            <p:nvPr/>
          </p:nvSpPr>
          <p:spPr bwMode="auto">
            <a:xfrm>
              <a:off x="5033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0" name="Rectangle 455"/>
            <p:cNvSpPr>
              <a:spLocks noChangeArrowheads="1"/>
            </p:cNvSpPr>
            <p:nvPr/>
          </p:nvSpPr>
          <p:spPr bwMode="auto">
            <a:xfrm>
              <a:off x="5342" y="2913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1" name="Rectangle 456"/>
            <p:cNvSpPr>
              <a:spLocks noChangeArrowheads="1"/>
            </p:cNvSpPr>
            <p:nvPr/>
          </p:nvSpPr>
          <p:spPr bwMode="auto">
            <a:xfrm>
              <a:off x="3178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2" name="Rectangle 457"/>
            <p:cNvSpPr>
              <a:spLocks noChangeArrowheads="1"/>
            </p:cNvSpPr>
            <p:nvPr/>
          </p:nvSpPr>
          <p:spPr bwMode="auto">
            <a:xfrm>
              <a:off x="3488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3" name="Rectangle 458"/>
            <p:cNvSpPr>
              <a:spLocks noChangeArrowheads="1"/>
            </p:cNvSpPr>
            <p:nvPr/>
          </p:nvSpPr>
          <p:spPr bwMode="auto">
            <a:xfrm>
              <a:off x="3797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4" name="Rectangle 459"/>
            <p:cNvSpPr>
              <a:spLocks noChangeArrowheads="1"/>
            </p:cNvSpPr>
            <p:nvPr/>
          </p:nvSpPr>
          <p:spPr bwMode="auto">
            <a:xfrm>
              <a:off x="4106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5" name="Rectangle 460"/>
            <p:cNvSpPr>
              <a:spLocks noChangeArrowheads="1"/>
            </p:cNvSpPr>
            <p:nvPr/>
          </p:nvSpPr>
          <p:spPr bwMode="auto">
            <a:xfrm>
              <a:off x="4415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6" name="Rectangle 461"/>
            <p:cNvSpPr>
              <a:spLocks noChangeArrowheads="1"/>
            </p:cNvSpPr>
            <p:nvPr/>
          </p:nvSpPr>
          <p:spPr bwMode="auto">
            <a:xfrm>
              <a:off x="4724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7" name="Rectangle 462"/>
            <p:cNvSpPr>
              <a:spLocks noChangeArrowheads="1"/>
            </p:cNvSpPr>
            <p:nvPr/>
          </p:nvSpPr>
          <p:spPr bwMode="auto">
            <a:xfrm>
              <a:off x="5033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528" name="Rectangle 463"/>
            <p:cNvSpPr>
              <a:spLocks noChangeArrowheads="1"/>
            </p:cNvSpPr>
            <p:nvPr/>
          </p:nvSpPr>
          <p:spPr bwMode="auto">
            <a:xfrm>
              <a:off x="5342" y="3222"/>
              <a:ext cx="310" cy="310"/>
            </a:xfrm>
            <a:prstGeom prst="rect">
              <a:avLst/>
            </a:prstGeom>
            <a:solidFill>
              <a:srgbClr val="E5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1" name="Group 464"/>
          <p:cNvGrpSpPr>
            <a:grpSpLocks/>
          </p:cNvGrpSpPr>
          <p:nvPr/>
        </p:nvGrpSpPr>
        <p:grpSpPr bwMode="auto">
          <a:xfrm>
            <a:off x="1425575" y="3041651"/>
            <a:ext cx="1474788" cy="1463675"/>
            <a:chOff x="262" y="1078"/>
            <a:chExt cx="929" cy="922"/>
          </a:xfrm>
        </p:grpSpPr>
        <p:sp>
          <p:nvSpPr>
            <p:cNvPr id="47456" name="Rectangle 4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7" name="Rectangle 4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8" name="Rectangle 4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9" name="Rectangle 4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0" name="Rectangle 4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1" name="Rectangle 4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2" name="Rectangle 4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3" name="Rectangle 4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64" name="Rectangle 4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2" name="Group 474"/>
          <p:cNvGrpSpPr>
            <a:grpSpLocks/>
          </p:cNvGrpSpPr>
          <p:nvPr/>
        </p:nvGrpSpPr>
        <p:grpSpPr bwMode="auto">
          <a:xfrm>
            <a:off x="1912939" y="3041651"/>
            <a:ext cx="1474787" cy="1463675"/>
            <a:chOff x="262" y="1078"/>
            <a:chExt cx="929" cy="922"/>
          </a:xfrm>
        </p:grpSpPr>
        <p:sp>
          <p:nvSpPr>
            <p:cNvPr id="47447" name="Rectangle 4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8" name="Rectangle 4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9" name="Rectangle 4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0" name="Rectangle 4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1" name="Rectangle 4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2" name="Rectangle 4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3" name="Rectangle 4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4" name="Rectangle 4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55" name="Rectangle 4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3" name="Group 484"/>
          <p:cNvGrpSpPr>
            <a:grpSpLocks/>
          </p:cNvGrpSpPr>
          <p:nvPr/>
        </p:nvGrpSpPr>
        <p:grpSpPr bwMode="auto">
          <a:xfrm>
            <a:off x="2409825" y="3041651"/>
            <a:ext cx="1474788" cy="1463675"/>
            <a:chOff x="262" y="1078"/>
            <a:chExt cx="929" cy="922"/>
          </a:xfrm>
        </p:grpSpPr>
        <p:sp>
          <p:nvSpPr>
            <p:cNvPr id="47438" name="Rectangle 4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9" name="Rectangle 4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0" name="Rectangle 4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1" name="Rectangle 4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2" name="Rectangle 4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3" name="Rectangle 4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4" name="Rectangle 4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5" name="Rectangle 4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46" name="Rectangle 4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4" name="Group 494"/>
          <p:cNvGrpSpPr>
            <a:grpSpLocks/>
          </p:cNvGrpSpPr>
          <p:nvPr/>
        </p:nvGrpSpPr>
        <p:grpSpPr bwMode="auto">
          <a:xfrm>
            <a:off x="3381375" y="3041651"/>
            <a:ext cx="1474788" cy="1463675"/>
            <a:chOff x="262" y="1078"/>
            <a:chExt cx="929" cy="922"/>
          </a:xfrm>
        </p:grpSpPr>
        <p:sp>
          <p:nvSpPr>
            <p:cNvPr id="47429" name="Rectangle 4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0" name="Rectangle 4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1" name="Rectangle 4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2" name="Rectangle 4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3" name="Rectangle 4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4" name="Rectangle 5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5" name="Rectangle 5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6" name="Rectangle 5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37" name="Rectangle 5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5" name="Group 504"/>
          <p:cNvGrpSpPr>
            <a:grpSpLocks/>
          </p:cNvGrpSpPr>
          <p:nvPr/>
        </p:nvGrpSpPr>
        <p:grpSpPr bwMode="auto">
          <a:xfrm>
            <a:off x="3873500" y="3041651"/>
            <a:ext cx="1474788" cy="1463675"/>
            <a:chOff x="262" y="1078"/>
            <a:chExt cx="929" cy="922"/>
          </a:xfrm>
        </p:grpSpPr>
        <p:sp>
          <p:nvSpPr>
            <p:cNvPr id="47420" name="Rectangle 5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1" name="Rectangle 5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2" name="Rectangle 5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3" name="Rectangle 5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4" name="Rectangle 5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5" name="Rectangle 5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6" name="Rectangle 5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7" name="Rectangle 5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28" name="Rectangle 5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6" name="Group 514"/>
          <p:cNvGrpSpPr>
            <a:grpSpLocks/>
          </p:cNvGrpSpPr>
          <p:nvPr/>
        </p:nvGrpSpPr>
        <p:grpSpPr bwMode="auto">
          <a:xfrm>
            <a:off x="4351339" y="3041651"/>
            <a:ext cx="1474787" cy="1463675"/>
            <a:chOff x="262" y="1078"/>
            <a:chExt cx="929" cy="922"/>
          </a:xfrm>
        </p:grpSpPr>
        <p:sp>
          <p:nvSpPr>
            <p:cNvPr id="47411" name="Rectangle 5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2" name="Rectangle 5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3" name="Rectangle 5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4" name="Rectangle 5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5" name="Rectangle 5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6" name="Rectangle 5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7" name="Rectangle 5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8" name="Rectangle 5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9" name="Rectangle 5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7" name="Group 524"/>
          <p:cNvGrpSpPr>
            <a:grpSpLocks/>
          </p:cNvGrpSpPr>
          <p:nvPr/>
        </p:nvGrpSpPr>
        <p:grpSpPr bwMode="auto">
          <a:xfrm>
            <a:off x="4843464" y="3041651"/>
            <a:ext cx="1474787" cy="1463675"/>
            <a:chOff x="262" y="1078"/>
            <a:chExt cx="929" cy="922"/>
          </a:xfrm>
        </p:grpSpPr>
        <p:sp>
          <p:nvSpPr>
            <p:cNvPr id="47402" name="Rectangle 5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3" name="Rectangle 5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4" name="Rectangle 5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5" name="Rectangle 5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6" name="Rectangle 5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7" name="Rectangle 5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8" name="Rectangle 5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9" name="Rectangle 5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10" name="Rectangle 5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8" name="Group 534"/>
          <p:cNvGrpSpPr>
            <a:grpSpLocks/>
          </p:cNvGrpSpPr>
          <p:nvPr/>
        </p:nvGrpSpPr>
        <p:grpSpPr bwMode="auto">
          <a:xfrm>
            <a:off x="2906714" y="3041651"/>
            <a:ext cx="1474787" cy="1463675"/>
            <a:chOff x="262" y="1078"/>
            <a:chExt cx="929" cy="922"/>
          </a:xfrm>
        </p:grpSpPr>
        <p:sp>
          <p:nvSpPr>
            <p:cNvPr id="47393" name="Rectangle 5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4" name="Rectangle 5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5" name="Rectangle 5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6" name="Rectangle 5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7" name="Rectangle 5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8" name="Rectangle 5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9" name="Rectangle 5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0" name="Rectangle 5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401" name="Rectangle 5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19" name="Group 544"/>
          <p:cNvGrpSpPr>
            <a:grpSpLocks/>
          </p:cNvGrpSpPr>
          <p:nvPr/>
        </p:nvGrpSpPr>
        <p:grpSpPr bwMode="auto">
          <a:xfrm>
            <a:off x="1423987" y="3538539"/>
            <a:ext cx="1474788" cy="1463675"/>
            <a:chOff x="262" y="1078"/>
            <a:chExt cx="929" cy="922"/>
          </a:xfrm>
        </p:grpSpPr>
        <p:sp>
          <p:nvSpPr>
            <p:cNvPr id="47384" name="Rectangle 5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5" name="Rectangle 5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6" name="Rectangle 5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7" name="Rectangle 5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8" name="Rectangle 5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9" name="Rectangle 5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0" name="Rectangle 5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1" name="Rectangle 5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92" name="Rectangle 5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0" name="Group 554"/>
          <p:cNvGrpSpPr>
            <a:grpSpLocks/>
          </p:cNvGrpSpPr>
          <p:nvPr/>
        </p:nvGrpSpPr>
        <p:grpSpPr bwMode="auto">
          <a:xfrm>
            <a:off x="1911350" y="3538539"/>
            <a:ext cx="1474788" cy="1463675"/>
            <a:chOff x="262" y="1078"/>
            <a:chExt cx="929" cy="922"/>
          </a:xfrm>
        </p:grpSpPr>
        <p:sp>
          <p:nvSpPr>
            <p:cNvPr id="47375" name="Rectangle 5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6" name="Rectangle 5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7" name="Rectangle 5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8" name="Rectangle 5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9" name="Rectangle 5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0" name="Rectangle 5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1" name="Rectangle 5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2" name="Rectangle 5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83" name="Rectangle 5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1" name="Group 564"/>
          <p:cNvGrpSpPr>
            <a:grpSpLocks/>
          </p:cNvGrpSpPr>
          <p:nvPr/>
        </p:nvGrpSpPr>
        <p:grpSpPr bwMode="auto">
          <a:xfrm>
            <a:off x="2408239" y="3538539"/>
            <a:ext cx="1474787" cy="1463675"/>
            <a:chOff x="262" y="1078"/>
            <a:chExt cx="929" cy="922"/>
          </a:xfrm>
        </p:grpSpPr>
        <p:sp>
          <p:nvSpPr>
            <p:cNvPr id="47366" name="Rectangle 5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7" name="Rectangle 5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8" name="Rectangle 5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9" name="Rectangle 5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0" name="Rectangle 5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1" name="Rectangle 5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2" name="Rectangle 5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3" name="Rectangle 5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74" name="Rectangle 5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2" name="Group 574"/>
          <p:cNvGrpSpPr>
            <a:grpSpLocks/>
          </p:cNvGrpSpPr>
          <p:nvPr/>
        </p:nvGrpSpPr>
        <p:grpSpPr bwMode="auto">
          <a:xfrm>
            <a:off x="3379789" y="3538539"/>
            <a:ext cx="1474787" cy="1463675"/>
            <a:chOff x="262" y="1078"/>
            <a:chExt cx="929" cy="922"/>
          </a:xfrm>
        </p:grpSpPr>
        <p:sp>
          <p:nvSpPr>
            <p:cNvPr id="47357" name="Rectangle 5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8" name="Rectangle 5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9" name="Rectangle 5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0" name="Rectangle 5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1" name="Rectangle 5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2" name="Rectangle 5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3" name="Rectangle 5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4" name="Rectangle 5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65" name="Rectangle 5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3" name="Group 584"/>
          <p:cNvGrpSpPr>
            <a:grpSpLocks/>
          </p:cNvGrpSpPr>
          <p:nvPr/>
        </p:nvGrpSpPr>
        <p:grpSpPr bwMode="auto">
          <a:xfrm>
            <a:off x="3871914" y="3538539"/>
            <a:ext cx="1474787" cy="1463675"/>
            <a:chOff x="262" y="1078"/>
            <a:chExt cx="929" cy="922"/>
          </a:xfrm>
        </p:grpSpPr>
        <p:sp>
          <p:nvSpPr>
            <p:cNvPr id="47348" name="Rectangle 5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9" name="Rectangle 5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0" name="Rectangle 5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1" name="Rectangle 5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2" name="Rectangle 5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3" name="Rectangle 5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4" name="Rectangle 5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5" name="Rectangle 5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56" name="Rectangle 5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4" name="Group 594"/>
          <p:cNvGrpSpPr>
            <a:grpSpLocks/>
          </p:cNvGrpSpPr>
          <p:nvPr/>
        </p:nvGrpSpPr>
        <p:grpSpPr bwMode="auto">
          <a:xfrm>
            <a:off x="4349750" y="3538539"/>
            <a:ext cx="1474788" cy="1463675"/>
            <a:chOff x="262" y="1078"/>
            <a:chExt cx="929" cy="922"/>
          </a:xfrm>
        </p:grpSpPr>
        <p:sp>
          <p:nvSpPr>
            <p:cNvPr id="47339" name="Rectangle 5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0" name="Rectangle 5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1" name="Rectangle 5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2" name="Rectangle 5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3" name="Rectangle 5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4" name="Rectangle 6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5" name="Rectangle 6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6" name="Rectangle 6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47" name="Rectangle 6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5" name="Group 604"/>
          <p:cNvGrpSpPr>
            <a:grpSpLocks/>
          </p:cNvGrpSpPr>
          <p:nvPr/>
        </p:nvGrpSpPr>
        <p:grpSpPr bwMode="auto">
          <a:xfrm>
            <a:off x="4841875" y="3538539"/>
            <a:ext cx="1474788" cy="1463675"/>
            <a:chOff x="262" y="1078"/>
            <a:chExt cx="929" cy="922"/>
          </a:xfrm>
        </p:grpSpPr>
        <p:sp>
          <p:nvSpPr>
            <p:cNvPr id="47330" name="Rectangle 6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1" name="Rectangle 6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2" name="Rectangle 6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3" name="Rectangle 6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4" name="Rectangle 6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5" name="Rectangle 6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6" name="Rectangle 6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7" name="Rectangle 6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38" name="Rectangle 6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6" name="Group 614"/>
          <p:cNvGrpSpPr>
            <a:grpSpLocks/>
          </p:cNvGrpSpPr>
          <p:nvPr/>
        </p:nvGrpSpPr>
        <p:grpSpPr bwMode="auto">
          <a:xfrm>
            <a:off x="2905125" y="3538539"/>
            <a:ext cx="1474788" cy="1463675"/>
            <a:chOff x="262" y="1078"/>
            <a:chExt cx="929" cy="922"/>
          </a:xfrm>
        </p:grpSpPr>
        <p:sp>
          <p:nvSpPr>
            <p:cNvPr id="47321" name="Rectangle 6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2" name="Rectangle 6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3" name="Rectangle 6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4" name="Rectangle 6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5" name="Rectangle 6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6" name="Rectangle 6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7" name="Rectangle 6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8" name="Rectangle 6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9" name="Rectangle 6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7" name="Group 624"/>
          <p:cNvGrpSpPr>
            <a:grpSpLocks/>
          </p:cNvGrpSpPr>
          <p:nvPr/>
        </p:nvGrpSpPr>
        <p:grpSpPr bwMode="auto">
          <a:xfrm>
            <a:off x="1425575" y="4011614"/>
            <a:ext cx="1474788" cy="1463675"/>
            <a:chOff x="262" y="1078"/>
            <a:chExt cx="929" cy="922"/>
          </a:xfrm>
        </p:grpSpPr>
        <p:sp>
          <p:nvSpPr>
            <p:cNvPr id="47312" name="Rectangle 6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3" name="Rectangle 6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4" name="Rectangle 6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5" name="Rectangle 6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6" name="Rectangle 6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7" name="Rectangle 6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8" name="Rectangle 6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9" name="Rectangle 6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20" name="Rectangle 6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8" name="Group 634"/>
          <p:cNvGrpSpPr>
            <a:grpSpLocks/>
          </p:cNvGrpSpPr>
          <p:nvPr/>
        </p:nvGrpSpPr>
        <p:grpSpPr bwMode="auto">
          <a:xfrm>
            <a:off x="1912939" y="4011614"/>
            <a:ext cx="1474787" cy="1463675"/>
            <a:chOff x="262" y="1078"/>
            <a:chExt cx="929" cy="922"/>
          </a:xfrm>
        </p:grpSpPr>
        <p:sp>
          <p:nvSpPr>
            <p:cNvPr id="47303" name="Rectangle 6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4" name="Rectangle 6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5" name="Rectangle 6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6" name="Rectangle 6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7" name="Rectangle 6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8" name="Rectangle 6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9" name="Rectangle 6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0" name="Rectangle 6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11" name="Rectangle 6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29" name="Group 644"/>
          <p:cNvGrpSpPr>
            <a:grpSpLocks/>
          </p:cNvGrpSpPr>
          <p:nvPr/>
        </p:nvGrpSpPr>
        <p:grpSpPr bwMode="auto">
          <a:xfrm>
            <a:off x="2409825" y="4011614"/>
            <a:ext cx="1474788" cy="1463675"/>
            <a:chOff x="262" y="1078"/>
            <a:chExt cx="929" cy="922"/>
          </a:xfrm>
        </p:grpSpPr>
        <p:sp>
          <p:nvSpPr>
            <p:cNvPr id="47294" name="Rectangle 6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5" name="Rectangle 6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6" name="Rectangle 6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7" name="Rectangle 6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8" name="Rectangle 6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9" name="Rectangle 6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0" name="Rectangle 6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1" name="Rectangle 6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302" name="Rectangle 6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0" name="Group 654"/>
          <p:cNvGrpSpPr>
            <a:grpSpLocks/>
          </p:cNvGrpSpPr>
          <p:nvPr/>
        </p:nvGrpSpPr>
        <p:grpSpPr bwMode="auto">
          <a:xfrm>
            <a:off x="3381375" y="4011614"/>
            <a:ext cx="1474788" cy="1463675"/>
            <a:chOff x="262" y="1078"/>
            <a:chExt cx="929" cy="922"/>
          </a:xfrm>
        </p:grpSpPr>
        <p:sp>
          <p:nvSpPr>
            <p:cNvPr id="47285" name="Rectangle 6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6" name="Rectangle 6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7" name="Rectangle 6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8" name="Rectangle 6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9" name="Rectangle 6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0" name="Rectangle 6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1" name="Rectangle 6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2" name="Rectangle 6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93" name="Rectangle 6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1" name="Group 664"/>
          <p:cNvGrpSpPr>
            <a:grpSpLocks/>
          </p:cNvGrpSpPr>
          <p:nvPr/>
        </p:nvGrpSpPr>
        <p:grpSpPr bwMode="auto">
          <a:xfrm>
            <a:off x="3873500" y="4011614"/>
            <a:ext cx="1474788" cy="1463675"/>
            <a:chOff x="262" y="1078"/>
            <a:chExt cx="929" cy="922"/>
          </a:xfrm>
        </p:grpSpPr>
        <p:sp>
          <p:nvSpPr>
            <p:cNvPr id="47276" name="Rectangle 6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7" name="Rectangle 6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8" name="Rectangle 6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9" name="Rectangle 6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0" name="Rectangle 6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1" name="Rectangle 6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2" name="Rectangle 6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3" name="Rectangle 6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84" name="Rectangle 6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2" name="Group 674"/>
          <p:cNvGrpSpPr>
            <a:grpSpLocks/>
          </p:cNvGrpSpPr>
          <p:nvPr/>
        </p:nvGrpSpPr>
        <p:grpSpPr bwMode="auto">
          <a:xfrm>
            <a:off x="4351339" y="4011614"/>
            <a:ext cx="1474787" cy="1463675"/>
            <a:chOff x="262" y="1078"/>
            <a:chExt cx="929" cy="922"/>
          </a:xfrm>
        </p:grpSpPr>
        <p:sp>
          <p:nvSpPr>
            <p:cNvPr id="47267" name="Rectangle 6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8" name="Rectangle 6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9" name="Rectangle 6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0" name="Rectangle 6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1" name="Rectangle 6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2" name="Rectangle 6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3" name="Rectangle 6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4" name="Rectangle 6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75" name="Rectangle 6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3" name="Group 684"/>
          <p:cNvGrpSpPr>
            <a:grpSpLocks/>
          </p:cNvGrpSpPr>
          <p:nvPr/>
        </p:nvGrpSpPr>
        <p:grpSpPr bwMode="auto">
          <a:xfrm>
            <a:off x="4843464" y="4011614"/>
            <a:ext cx="1474787" cy="1463675"/>
            <a:chOff x="262" y="1078"/>
            <a:chExt cx="929" cy="922"/>
          </a:xfrm>
        </p:grpSpPr>
        <p:sp>
          <p:nvSpPr>
            <p:cNvPr id="47258" name="Rectangle 68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9" name="Rectangle 68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0" name="Rectangle 68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1" name="Rectangle 68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2" name="Rectangle 68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3" name="Rectangle 69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4" name="Rectangle 69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5" name="Rectangle 69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66" name="Rectangle 69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4" name="Group 694"/>
          <p:cNvGrpSpPr>
            <a:grpSpLocks/>
          </p:cNvGrpSpPr>
          <p:nvPr/>
        </p:nvGrpSpPr>
        <p:grpSpPr bwMode="auto">
          <a:xfrm>
            <a:off x="2906714" y="4011614"/>
            <a:ext cx="1474787" cy="1463675"/>
            <a:chOff x="262" y="1078"/>
            <a:chExt cx="929" cy="922"/>
          </a:xfrm>
        </p:grpSpPr>
        <p:sp>
          <p:nvSpPr>
            <p:cNvPr id="47249" name="Rectangle 69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0" name="Rectangle 69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1" name="Rectangle 69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2" name="Rectangle 69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3" name="Rectangle 69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4" name="Rectangle 70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5" name="Rectangle 70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6" name="Rectangle 70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57" name="Rectangle 70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135" name="Group 704"/>
          <p:cNvGrpSpPr>
            <a:grpSpLocks/>
          </p:cNvGrpSpPr>
          <p:nvPr/>
        </p:nvGrpSpPr>
        <p:grpSpPr bwMode="auto">
          <a:xfrm>
            <a:off x="1423987" y="4508501"/>
            <a:ext cx="1474788" cy="1463675"/>
            <a:chOff x="262" y="1078"/>
            <a:chExt cx="929" cy="922"/>
          </a:xfrm>
        </p:grpSpPr>
        <p:sp>
          <p:nvSpPr>
            <p:cNvPr id="47240" name="Rectangle 70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1" name="Rectangle 70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2" name="Rectangle 70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3" name="Rectangle 70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4" name="Rectangle 70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5" name="Rectangle 71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6" name="Rectangle 71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7" name="Rectangle 71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48" name="Rectangle 71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0" name="Group 714"/>
          <p:cNvGrpSpPr>
            <a:grpSpLocks/>
          </p:cNvGrpSpPr>
          <p:nvPr/>
        </p:nvGrpSpPr>
        <p:grpSpPr bwMode="auto">
          <a:xfrm>
            <a:off x="1911350" y="4508501"/>
            <a:ext cx="1474788" cy="1463675"/>
            <a:chOff x="262" y="1078"/>
            <a:chExt cx="929" cy="922"/>
          </a:xfrm>
        </p:grpSpPr>
        <p:sp>
          <p:nvSpPr>
            <p:cNvPr id="47231" name="Rectangle 71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2" name="Rectangle 71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3" name="Rectangle 71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4" name="Rectangle 71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5" name="Rectangle 71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6" name="Rectangle 72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7" name="Rectangle 72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8" name="Rectangle 72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9" name="Rectangle 72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1" name="Group 724"/>
          <p:cNvGrpSpPr>
            <a:grpSpLocks/>
          </p:cNvGrpSpPr>
          <p:nvPr/>
        </p:nvGrpSpPr>
        <p:grpSpPr bwMode="auto">
          <a:xfrm>
            <a:off x="2408239" y="4508501"/>
            <a:ext cx="1474787" cy="1463675"/>
            <a:chOff x="262" y="1078"/>
            <a:chExt cx="929" cy="922"/>
          </a:xfrm>
        </p:grpSpPr>
        <p:sp>
          <p:nvSpPr>
            <p:cNvPr id="47222" name="Rectangle 72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3" name="Rectangle 72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4" name="Rectangle 72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5" name="Rectangle 72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6" name="Rectangle 72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7" name="Rectangle 73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8" name="Rectangle 73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9" name="Rectangle 73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30" name="Rectangle 73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2" name="Group 734"/>
          <p:cNvGrpSpPr>
            <a:grpSpLocks/>
          </p:cNvGrpSpPr>
          <p:nvPr/>
        </p:nvGrpSpPr>
        <p:grpSpPr bwMode="auto">
          <a:xfrm>
            <a:off x="3379789" y="4508501"/>
            <a:ext cx="1474787" cy="1463675"/>
            <a:chOff x="262" y="1078"/>
            <a:chExt cx="929" cy="922"/>
          </a:xfrm>
        </p:grpSpPr>
        <p:sp>
          <p:nvSpPr>
            <p:cNvPr id="47213" name="Rectangle 73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4" name="Rectangle 73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5" name="Rectangle 73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6" name="Rectangle 73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7" name="Rectangle 73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8" name="Rectangle 74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9" name="Rectangle 74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0" name="Rectangle 74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21" name="Rectangle 74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3" name="Group 744"/>
          <p:cNvGrpSpPr>
            <a:grpSpLocks/>
          </p:cNvGrpSpPr>
          <p:nvPr/>
        </p:nvGrpSpPr>
        <p:grpSpPr bwMode="auto">
          <a:xfrm>
            <a:off x="3871914" y="4508501"/>
            <a:ext cx="1474787" cy="1463675"/>
            <a:chOff x="262" y="1078"/>
            <a:chExt cx="929" cy="922"/>
          </a:xfrm>
        </p:grpSpPr>
        <p:sp>
          <p:nvSpPr>
            <p:cNvPr id="47204" name="Rectangle 74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5" name="Rectangle 74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6" name="Rectangle 74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7" name="Rectangle 74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8" name="Rectangle 74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9" name="Rectangle 75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0" name="Rectangle 75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1" name="Rectangle 75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12" name="Rectangle 75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4" name="Group 754"/>
          <p:cNvGrpSpPr>
            <a:grpSpLocks/>
          </p:cNvGrpSpPr>
          <p:nvPr/>
        </p:nvGrpSpPr>
        <p:grpSpPr bwMode="auto">
          <a:xfrm>
            <a:off x="4349750" y="4508501"/>
            <a:ext cx="1474788" cy="1463675"/>
            <a:chOff x="262" y="1078"/>
            <a:chExt cx="929" cy="922"/>
          </a:xfrm>
        </p:grpSpPr>
        <p:sp>
          <p:nvSpPr>
            <p:cNvPr id="47195" name="Rectangle 75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6" name="Rectangle 75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7" name="Rectangle 75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8" name="Rectangle 75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9" name="Rectangle 75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0" name="Rectangle 76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1" name="Rectangle 76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2" name="Rectangle 76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203" name="Rectangle 76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5" name="Group 764"/>
          <p:cNvGrpSpPr>
            <a:grpSpLocks/>
          </p:cNvGrpSpPr>
          <p:nvPr/>
        </p:nvGrpSpPr>
        <p:grpSpPr bwMode="auto">
          <a:xfrm>
            <a:off x="4841875" y="4508501"/>
            <a:ext cx="1474788" cy="1463675"/>
            <a:chOff x="262" y="1078"/>
            <a:chExt cx="929" cy="922"/>
          </a:xfrm>
        </p:grpSpPr>
        <p:sp>
          <p:nvSpPr>
            <p:cNvPr id="47186" name="Rectangle 76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7" name="Rectangle 76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8" name="Rectangle 76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9" name="Rectangle 76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0" name="Rectangle 76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1" name="Rectangle 77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2" name="Rectangle 77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3" name="Rectangle 77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94" name="Rectangle 77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7896" name="Group 774"/>
          <p:cNvGrpSpPr>
            <a:grpSpLocks/>
          </p:cNvGrpSpPr>
          <p:nvPr/>
        </p:nvGrpSpPr>
        <p:grpSpPr bwMode="auto">
          <a:xfrm>
            <a:off x="2905125" y="4508501"/>
            <a:ext cx="1474788" cy="1463675"/>
            <a:chOff x="262" y="1078"/>
            <a:chExt cx="929" cy="922"/>
          </a:xfrm>
        </p:grpSpPr>
        <p:sp>
          <p:nvSpPr>
            <p:cNvPr id="47177" name="Rectangle 775"/>
            <p:cNvSpPr>
              <a:spLocks noChangeArrowheads="1"/>
            </p:cNvSpPr>
            <p:nvPr/>
          </p:nvSpPr>
          <p:spPr bwMode="auto">
            <a:xfrm>
              <a:off x="262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78" name="Rectangle 776"/>
            <p:cNvSpPr>
              <a:spLocks noChangeArrowheads="1"/>
            </p:cNvSpPr>
            <p:nvPr/>
          </p:nvSpPr>
          <p:spPr bwMode="auto">
            <a:xfrm>
              <a:off x="572" y="1078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79" name="Rectangle 777"/>
            <p:cNvSpPr>
              <a:spLocks noChangeArrowheads="1"/>
            </p:cNvSpPr>
            <p:nvPr/>
          </p:nvSpPr>
          <p:spPr bwMode="auto">
            <a:xfrm>
              <a:off x="881" y="1078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0" name="Rectangle 778"/>
            <p:cNvSpPr>
              <a:spLocks noChangeArrowheads="1"/>
            </p:cNvSpPr>
            <p:nvPr/>
          </p:nvSpPr>
          <p:spPr bwMode="auto">
            <a:xfrm>
              <a:off x="26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1" name="Rectangle 779"/>
            <p:cNvSpPr>
              <a:spLocks noChangeArrowheads="1"/>
            </p:cNvSpPr>
            <p:nvPr/>
          </p:nvSpPr>
          <p:spPr bwMode="auto">
            <a:xfrm>
              <a:off x="572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2" name="Rectangle 780"/>
            <p:cNvSpPr>
              <a:spLocks noChangeArrowheads="1"/>
            </p:cNvSpPr>
            <p:nvPr/>
          </p:nvSpPr>
          <p:spPr bwMode="auto">
            <a:xfrm>
              <a:off x="881" y="1387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3" name="Rectangle 781"/>
            <p:cNvSpPr>
              <a:spLocks noChangeArrowheads="1"/>
            </p:cNvSpPr>
            <p:nvPr/>
          </p:nvSpPr>
          <p:spPr bwMode="auto">
            <a:xfrm>
              <a:off x="262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4" name="Rectangle 782"/>
            <p:cNvSpPr>
              <a:spLocks noChangeArrowheads="1"/>
            </p:cNvSpPr>
            <p:nvPr/>
          </p:nvSpPr>
          <p:spPr bwMode="auto">
            <a:xfrm>
              <a:off x="572" y="1690"/>
              <a:ext cx="310" cy="310"/>
            </a:xfrm>
            <a:prstGeom prst="rect">
              <a:avLst/>
            </a:prstGeom>
            <a:solidFill>
              <a:srgbClr val="FF990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185" name="Rectangle 783"/>
            <p:cNvSpPr>
              <a:spLocks noChangeArrowheads="1"/>
            </p:cNvSpPr>
            <p:nvPr/>
          </p:nvSpPr>
          <p:spPr bwMode="auto">
            <a:xfrm>
              <a:off x="881" y="1690"/>
              <a:ext cx="310" cy="310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7175" name="Text Box 784"/>
          <p:cNvSpPr txBox="1">
            <a:spLocks noChangeArrowheads="1"/>
          </p:cNvSpPr>
          <p:nvPr/>
        </p:nvSpPr>
        <p:spPr bwMode="auto">
          <a:xfrm>
            <a:off x="3019426" y="1222375"/>
            <a:ext cx="15888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IE" dirty="0">
                <a:latin typeface="Times New Roman" panose="02020603050405020304" pitchFamily="18" charset="0"/>
              </a:rPr>
              <a:t>Original Image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7176" name="Text Box 785"/>
          <p:cNvSpPr txBox="1">
            <a:spLocks noChangeArrowheads="1"/>
          </p:cNvSpPr>
          <p:nvPr/>
        </p:nvSpPr>
        <p:spPr bwMode="auto">
          <a:xfrm>
            <a:off x="7402196" y="1241425"/>
            <a:ext cx="175958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IE" dirty="0">
                <a:latin typeface="Times New Roman" panose="02020603050405020304" pitchFamily="18" charset="0"/>
              </a:rPr>
              <a:t>Processed Image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6" name="Rectangle 80"/>
          <p:cNvSpPr>
            <a:spLocks noChangeArrowheads="1"/>
          </p:cNvSpPr>
          <p:nvPr/>
        </p:nvSpPr>
        <p:spPr bwMode="auto">
          <a:xfrm>
            <a:off x="7791456" y="208281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7" name="Rectangle 81"/>
          <p:cNvSpPr>
            <a:spLocks noChangeArrowheads="1"/>
          </p:cNvSpPr>
          <p:nvPr/>
        </p:nvSpPr>
        <p:spPr bwMode="auto">
          <a:xfrm>
            <a:off x="8281993" y="208281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8" name="Rectangle 82"/>
          <p:cNvSpPr>
            <a:spLocks noChangeArrowheads="1"/>
          </p:cNvSpPr>
          <p:nvPr/>
        </p:nvSpPr>
        <p:spPr bwMode="auto">
          <a:xfrm>
            <a:off x="8772531" y="208281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89" name="Rectangle 87"/>
          <p:cNvSpPr>
            <a:spLocks noChangeArrowheads="1"/>
          </p:cNvSpPr>
          <p:nvPr/>
        </p:nvSpPr>
        <p:spPr bwMode="auto">
          <a:xfrm>
            <a:off x="7300918" y="256382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0" name="Rectangle 88"/>
          <p:cNvSpPr>
            <a:spLocks noChangeArrowheads="1"/>
          </p:cNvSpPr>
          <p:nvPr/>
        </p:nvSpPr>
        <p:spPr bwMode="auto">
          <a:xfrm>
            <a:off x="7791456" y="256382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1" name="Rectangle 89"/>
          <p:cNvSpPr>
            <a:spLocks noChangeArrowheads="1"/>
          </p:cNvSpPr>
          <p:nvPr/>
        </p:nvSpPr>
        <p:spPr bwMode="auto">
          <a:xfrm>
            <a:off x="8281993" y="256382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2" name="Rectangle 90"/>
          <p:cNvSpPr>
            <a:spLocks noChangeArrowheads="1"/>
          </p:cNvSpPr>
          <p:nvPr/>
        </p:nvSpPr>
        <p:spPr bwMode="auto">
          <a:xfrm>
            <a:off x="8772531" y="256382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3" name="Rectangle 94"/>
          <p:cNvSpPr>
            <a:spLocks noChangeArrowheads="1"/>
          </p:cNvSpPr>
          <p:nvPr/>
        </p:nvSpPr>
        <p:spPr bwMode="auto">
          <a:xfrm>
            <a:off x="6810381" y="305436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4" name="Rectangle 95"/>
          <p:cNvSpPr>
            <a:spLocks noChangeArrowheads="1"/>
          </p:cNvSpPr>
          <p:nvPr/>
        </p:nvSpPr>
        <p:spPr bwMode="auto">
          <a:xfrm>
            <a:off x="7300918" y="305436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5" name="Rectangle 96"/>
          <p:cNvSpPr>
            <a:spLocks noChangeArrowheads="1"/>
          </p:cNvSpPr>
          <p:nvPr/>
        </p:nvSpPr>
        <p:spPr bwMode="auto">
          <a:xfrm>
            <a:off x="7791456" y="305436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6" name="Rectangle 97"/>
          <p:cNvSpPr>
            <a:spLocks noChangeArrowheads="1"/>
          </p:cNvSpPr>
          <p:nvPr/>
        </p:nvSpPr>
        <p:spPr bwMode="auto">
          <a:xfrm>
            <a:off x="8281993" y="3054362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7" name="Rectangle 102"/>
          <p:cNvSpPr>
            <a:spLocks noChangeArrowheads="1"/>
          </p:cNvSpPr>
          <p:nvPr/>
        </p:nvSpPr>
        <p:spPr bwMode="auto">
          <a:xfrm>
            <a:off x="6810381" y="3538549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8" name="Rectangle 103"/>
          <p:cNvSpPr>
            <a:spLocks noChangeArrowheads="1"/>
          </p:cNvSpPr>
          <p:nvPr/>
        </p:nvSpPr>
        <p:spPr bwMode="auto">
          <a:xfrm>
            <a:off x="7300918" y="3538549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99" name="Rectangle 104"/>
          <p:cNvSpPr>
            <a:spLocks noChangeArrowheads="1"/>
          </p:cNvSpPr>
          <p:nvPr/>
        </p:nvSpPr>
        <p:spPr bwMode="auto">
          <a:xfrm>
            <a:off x="7791456" y="3538549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0" name="Rectangle 110"/>
          <p:cNvSpPr>
            <a:spLocks noChangeArrowheads="1"/>
          </p:cNvSpPr>
          <p:nvPr/>
        </p:nvSpPr>
        <p:spPr bwMode="auto">
          <a:xfrm>
            <a:off x="6810381" y="4029087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1" name="Rectangle 111"/>
          <p:cNvSpPr>
            <a:spLocks noChangeArrowheads="1"/>
          </p:cNvSpPr>
          <p:nvPr/>
        </p:nvSpPr>
        <p:spPr bwMode="auto">
          <a:xfrm>
            <a:off x="7300918" y="4029087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2" name="Rectangle 112"/>
          <p:cNvSpPr>
            <a:spLocks noChangeArrowheads="1"/>
          </p:cNvSpPr>
          <p:nvPr/>
        </p:nvSpPr>
        <p:spPr bwMode="auto">
          <a:xfrm>
            <a:off x="7791456" y="4029087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3" name="Rectangle 72"/>
          <p:cNvSpPr>
            <a:spLocks noChangeArrowheads="1"/>
          </p:cNvSpPr>
          <p:nvPr/>
        </p:nvSpPr>
        <p:spPr bwMode="auto">
          <a:xfrm>
            <a:off x="7783515" y="158274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4" name="Rectangle 73"/>
          <p:cNvSpPr>
            <a:spLocks noChangeArrowheads="1"/>
          </p:cNvSpPr>
          <p:nvPr/>
        </p:nvSpPr>
        <p:spPr bwMode="auto">
          <a:xfrm>
            <a:off x="8274052" y="158274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5" name="Rectangle 74"/>
          <p:cNvSpPr>
            <a:spLocks noChangeArrowheads="1"/>
          </p:cNvSpPr>
          <p:nvPr/>
        </p:nvSpPr>
        <p:spPr bwMode="auto">
          <a:xfrm>
            <a:off x="8764590" y="158274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6" name="Rectangle 79"/>
          <p:cNvSpPr>
            <a:spLocks noChangeArrowheads="1"/>
          </p:cNvSpPr>
          <p:nvPr/>
        </p:nvSpPr>
        <p:spPr bwMode="auto">
          <a:xfrm>
            <a:off x="7292977" y="207328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7" name="Rectangle 83"/>
          <p:cNvSpPr>
            <a:spLocks noChangeArrowheads="1"/>
          </p:cNvSpPr>
          <p:nvPr/>
        </p:nvSpPr>
        <p:spPr bwMode="auto">
          <a:xfrm>
            <a:off x="9255127" y="207328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8" name="Rectangle 86"/>
          <p:cNvSpPr>
            <a:spLocks noChangeArrowheads="1"/>
          </p:cNvSpPr>
          <p:nvPr/>
        </p:nvSpPr>
        <p:spPr bwMode="auto">
          <a:xfrm>
            <a:off x="6802440" y="255429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09" name="Rectangle 91"/>
          <p:cNvSpPr>
            <a:spLocks noChangeArrowheads="1"/>
          </p:cNvSpPr>
          <p:nvPr/>
        </p:nvSpPr>
        <p:spPr bwMode="auto">
          <a:xfrm>
            <a:off x="9255127" y="2554296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0" name="Rectangle 93"/>
          <p:cNvSpPr>
            <a:spLocks noChangeArrowheads="1"/>
          </p:cNvSpPr>
          <p:nvPr/>
        </p:nvSpPr>
        <p:spPr bwMode="auto">
          <a:xfrm>
            <a:off x="6310315" y="304483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1" name="Rectangle 98"/>
          <p:cNvSpPr>
            <a:spLocks noChangeArrowheads="1"/>
          </p:cNvSpPr>
          <p:nvPr/>
        </p:nvSpPr>
        <p:spPr bwMode="auto">
          <a:xfrm>
            <a:off x="8764590" y="3044834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2" name="Rectangle 101"/>
          <p:cNvSpPr>
            <a:spLocks noChangeArrowheads="1"/>
          </p:cNvSpPr>
          <p:nvPr/>
        </p:nvSpPr>
        <p:spPr bwMode="auto">
          <a:xfrm>
            <a:off x="6310315" y="352902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3" name="Rectangle 105"/>
          <p:cNvSpPr>
            <a:spLocks noChangeArrowheads="1"/>
          </p:cNvSpPr>
          <p:nvPr/>
        </p:nvSpPr>
        <p:spPr bwMode="auto">
          <a:xfrm>
            <a:off x="8274052" y="352902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4" name="Rectangle 109"/>
          <p:cNvSpPr>
            <a:spLocks noChangeArrowheads="1"/>
          </p:cNvSpPr>
          <p:nvPr/>
        </p:nvSpPr>
        <p:spPr bwMode="auto">
          <a:xfrm>
            <a:off x="6310315" y="4019559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5" name="Rectangle 113"/>
          <p:cNvSpPr>
            <a:spLocks noChangeArrowheads="1"/>
          </p:cNvSpPr>
          <p:nvPr/>
        </p:nvSpPr>
        <p:spPr bwMode="auto">
          <a:xfrm>
            <a:off x="8274052" y="4019559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6" name="Rectangle 118"/>
          <p:cNvSpPr>
            <a:spLocks noChangeArrowheads="1"/>
          </p:cNvSpPr>
          <p:nvPr/>
        </p:nvSpPr>
        <p:spPr bwMode="auto">
          <a:xfrm>
            <a:off x="6802440" y="4500571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7" name="Rectangle 119"/>
          <p:cNvSpPr>
            <a:spLocks noChangeArrowheads="1"/>
          </p:cNvSpPr>
          <p:nvPr/>
        </p:nvSpPr>
        <p:spPr bwMode="auto">
          <a:xfrm>
            <a:off x="7292977" y="4489438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818" name="Rectangle 120"/>
          <p:cNvSpPr>
            <a:spLocks noChangeArrowheads="1"/>
          </p:cNvSpPr>
          <p:nvPr/>
        </p:nvSpPr>
        <p:spPr bwMode="auto">
          <a:xfrm>
            <a:off x="7783515" y="4489438"/>
            <a:ext cx="492125" cy="492125"/>
          </a:xfrm>
          <a:prstGeom prst="rect">
            <a:avLst/>
          </a:prstGeom>
          <a:solidFill>
            <a:srgbClr val="00008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18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8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5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5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5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5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9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9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9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9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9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0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0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0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0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0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8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8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8"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" grpId="0" animBg="1"/>
      <p:bldP spid="787" grpId="0" animBg="1"/>
      <p:bldP spid="788" grpId="0" animBg="1"/>
      <p:bldP spid="789" grpId="0" animBg="1"/>
      <p:bldP spid="790" grpId="0" animBg="1"/>
      <p:bldP spid="791" grpId="0" animBg="1"/>
      <p:bldP spid="792" grpId="0" animBg="1"/>
      <p:bldP spid="793" grpId="0" animBg="1"/>
      <p:bldP spid="794" grpId="0" animBg="1"/>
      <p:bldP spid="795" grpId="0" animBg="1"/>
      <p:bldP spid="796" grpId="0" animBg="1"/>
      <p:bldP spid="797" grpId="0" animBg="1"/>
      <p:bldP spid="798" grpId="0" animBg="1"/>
      <p:bldP spid="799" grpId="0" animBg="1"/>
      <p:bldP spid="800" grpId="0" animBg="1"/>
      <p:bldP spid="801" grpId="0" animBg="1"/>
      <p:bldP spid="802" grpId="0" animBg="1"/>
      <p:bldP spid="804" grpId="0" animBg="1"/>
      <p:bldP spid="805" grpId="0" animBg="1"/>
      <p:bldP spid="806" grpId="0" animBg="1"/>
      <p:bldP spid="807" grpId="0" animBg="1"/>
      <p:bldP spid="808" grpId="0" animBg="1"/>
      <p:bldP spid="809" grpId="0" animBg="1"/>
      <p:bldP spid="810" grpId="0" animBg="1"/>
      <p:bldP spid="811" grpId="0" animBg="1"/>
      <p:bldP spid="812" grpId="0" animBg="1"/>
      <p:bldP spid="813" grpId="0" animBg="1"/>
      <p:bldP spid="814" grpId="0" animBg="1"/>
      <p:bldP spid="815" grpId="0" animBg="1"/>
      <p:bldP spid="816" grpId="0" animBg="1"/>
      <p:bldP spid="817" grpId="0" animBg="1"/>
      <p:bldP spid="81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Operations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1715832" cy="5500726"/>
          </a:xfrm>
        </p:spPr>
        <p:txBody>
          <a:bodyPr>
            <a:normAutofit/>
          </a:bodyPr>
          <a:lstStyle/>
          <a:p>
            <a:pPr marL="0" indent="0"/>
            <a:r>
              <a:rPr lang="en-IE" sz="3600" dirty="0"/>
              <a:t>More interesting morphological operations can be performed by performing combinations of erosions and dilations</a:t>
            </a:r>
          </a:p>
          <a:p>
            <a:pPr marL="0" indent="0"/>
            <a:r>
              <a:rPr lang="en-IE" sz="3600" dirty="0"/>
              <a:t>The most widely used of these </a:t>
            </a:r>
            <a:r>
              <a:rPr lang="en-IE" sz="3600" i="1" dirty="0"/>
              <a:t>compound operations</a:t>
            </a:r>
            <a:r>
              <a:rPr lang="en-IE" sz="3600" dirty="0"/>
              <a:t> are:</a:t>
            </a:r>
          </a:p>
          <a:p>
            <a:pPr marL="0" indent="0"/>
            <a:endParaRPr lang="en-IE" dirty="0"/>
          </a:p>
          <a:p>
            <a:pPr marL="0" indent="0"/>
            <a:r>
              <a:rPr lang="en-IE" dirty="0"/>
              <a:t>	Opening: </a:t>
            </a:r>
            <a:r>
              <a:rPr lang="en-IE" dirty="0">
                <a:sym typeface="Webdings" pitchFamily="-112" charset="2"/>
              </a:rPr>
              <a:t> </a:t>
            </a:r>
            <a:r>
              <a:rPr lang="en-IE" i="1" dirty="0"/>
              <a:t>f </a:t>
            </a:r>
            <a:r>
              <a:rPr lang="en-IE" dirty="0">
                <a:sym typeface="Webdings" pitchFamily="-112" charset="2"/>
              </a:rPr>
              <a:t>○ </a:t>
            </a:r>
            <a:r>
              <a:rPr lang="en-IE" i="1" dirty="0">
                <a:sym typeface="Webdings" pitchFamily="-112" charset="2"/>
              </a:rPr>
              <a:t>s = </a:t>
            </a:r>
            <a:r>
              <a:rPr lang="en-IE" dirty="0">
                <a:sym typeface="Webdings" pitchFamily="-112" charset="2"/>
              </a:rPr>
              <a:t>(</a:t>
            </a:r>
            <a:r>
              <a:rPr lang="en-IE" i="1" dirty="0">
                <a:sym typeface="Webdings" pitchFamily="-112" charset="2"/>
              </a:rPr>
              <a:t>f </a:t>
            </a:r>
            <a:r>
              <a:rPr lang="en-IE" dirty="0">
                <a:sym typeface="Webdings" pitchFamily="-112" charset="2"/>
              </a:rPr>
              <a:t> </a:t>
            </a:r>
            <a:r>
              <a:rPr lang="en-IE" i="1" dirty="0">
                <a:sym typeface="Webdings" pitchFamily="-112" charset="2"/>
              </a:rPr>
              <a:t>s</a:t>
            </a:r>
            <a:r>
              <a:rPr lang="en-IE" dirty="0">
                <a:sym typeface="Webdings" pitchFamily="-112" charset="2"/>
              </a:rPr>
              <a:t>) </a:t>
            </a:r>
            <a:r>
              <a:rPr lang="en-IE" dirty="0">
                <a:sym typeface="Symbol" panose="05050102010706020507" pitchFamily="18" charset="2"/>
              </a:rPr>
              <a:t> </a:t>
            </a:r>
            <a:r>
              <a:rPr lang="en-IE" i="1" dirty="0">
                <a:sym typeface="Webdings" pitchFamily="-112" charset="2"/>
              </a:rPr>
              <a:t>s</a:t>
            </a:r>
            <a:endParaRPr lang="en-IE" dirty="0">
              <a:sym typeface="Webdings" pitchFamily="-112" charset="2"/>
            </a:endParaRPr>
          </a:p>
          <a:p>
            <a:pPr marL="0" indent="0"/>
            <a:endParaRPr lang="en-IE" dirty="0"/>
          </a:p>
          <a:p>
            <a:pPr marL="0" indent="0"/>
            <a:r>
              <a:rPr lang="en-IE" dirty="0"/>
              <a:t>	Closing: </a:t>
            </a:r>
            <a:r>
              <a:rPr lang="en-IE" dirty="0">
                <a:sym typeface="Webdings" pitchFamily="-112" charset="2"/>
              </a:rPr>
              <a:t>  </a:t>
            </a:r>
            <a:r>
              <a:rPr lang="en-IE" i="1" dirty="0"/>
              <a:t>f </a:t>
            </a:r>
            <a:r>
              <a:rPr lang="en-IE" dirty="0">
                <a:sym typeface="Symbol" panose="05050102010706020507" pitchFamily="18" charset="2"/>
              </a:rPr>
              <a:t> </a:t>
            </a:r>
            <a:r>
              <a:rPr lang="en-IE" i="1" dirty="0">
                <a:sym typeface="Webdings" pitchFamily="-112" charset="2"/>
              </a:rPr>
              <a:t>s = (f  </a:t>
            </a:r>
            <a:r>
              <a:rPr lang="en-IE" dirty="0">
                <a:sym typeface="Symbol" panose="05050102010706020507" pitchFamily="18" charset="2"/>
              </a:rPr>
              <a:t> </a:t>
            </a:r>
            <a:r>
              <a:rPr lang="en-IE" i="1" dirty="0">
                <a:sym typeface="Webdings" pitchFamily="-112" charset="2"/>
              </a:rPr>
              <a:t>s) </a:t>
            </a:r>
            <a:r>
              <a:rPr lang="en-IE" dirty="0">
                <a:sym typeface="Webdings" pitchFamily="-112" charset="2"/>
              </a:rPr>
              <a:t> </a:t>
            </a:r>
            <a:r>
              <a:rPr lang="en-IE" i="1" dirty="0">
                <a:sym typeface="Webdings" pitchFamily="-112" charset="2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958040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of Water in Bottles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454" y="1340768"/>
            <a:ext cx="3676650" cy="24809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336" y="1268760"/>
            <a:ext cx="8496944" cy="4965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('bottles.jpg');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t=double(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multithresh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(b,2))/256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im2bw(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b,t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(1));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im2bw(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b,t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(2));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se5 =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strel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('disk',5);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se10 =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strel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('disk',10);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L1 =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imopen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(L,se5);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L2 =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imclose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(L1,se10);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subplot(2,3,1),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(b),title('Bottles'),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subplot(2,3,2),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White'),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subplot(2,3,3),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Black'),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subplot(2,3,4),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(L), title('Liquid with noise'),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subplot(2,3,5),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(L1), title('Liquid with less noise'),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subplot(2,3,6),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(L2), title('Pure Liquid');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2275" t="9716" r="7963" b="16910"/>
          <a:stretch/>
        </p:blipFill>
        <p:spPr>
          <a:xfrm>
            <a:off x="7943528" y="3901953"/>
            <a:ext cx="4248472" cy="292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432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i="1" dirty="0"/>
              <a:t>connected component </a:t>
            </a:r>
            <a:r>
              <a:rPr lang="en-US" dirty="0"/>
              <a:t>is defined in terms of a path, and the definition of a path in turn depends on adjacency.</a:t>
            </a:r>
            <a:endParaRPr lang="en-US" sz="8800" dirty="0">
              <a:sym typeface="Symbol"/>
            </a:endParaRPr>
          </a:p>
          <a:p>
            <a:r>
              <a:rPr lang="en-US" dirty="0"/>
              <a:t>To develop computer programs that locate &amp; operate on objects, we need a set of definition for key terms. </a:t>
            </a:r>
          </a:p>
          <a:p>
            <a:endParaRPr lang="en-US" dirty="0"/>
          </a:p>
          <a:p>
            <a:r>
              <a:rPr lang="en-US" dirty="0"/>
              <a:t>N</a:t>
            </a:r>
            <a:r>
              <a:rPr lang="en-US" baseline="-25000" dirty="0"/>
              <a:t>4</a:t>
            </a:r>
            <a:r>
              <a:rPr lang="en-US" dirty="0"/>
              <a:t>(p): the set of 4-neighbors of p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</a:t>
            </a:r>
            <a:r>
              <a:rPr lang="en-US" baseline="-25000" dirty="0"/>
              <a:t>8</a:t>
            </a:r>
            <a:r>
              <a:rPr lang="en-US" dirty="0"/>
              <a:t>(p): the set of 8-neighbors of p</a:t>
            </a:r>
          </a:p>
          <a:p>
            <a:endParaRPr lang="en-US" dirty="0"/>
          </a:p>
        </p:txBody>
      </p:sp>
      <p:sp>
        <p:nvSpPr>
          <p:cNvPr id="26" name="Right Arrow 25"/>
          <p:cNvSpPr/>
          <p:nvPr/>
        </p:nvSpPr>
        <p:spPr>
          <a:xfrm>
            <a:off x="7810512" y="4244220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810512" y="6101608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grpSp>
        <p:nvGrpSpPr>
          <p:cNvPr id="28" name="Group 79"/>
          <p:cNvGrpSpPr>
            <a:grpSpLocks/>
          </p:cNvGrpSpPr>
          <p:nvPr/>
        </p:nvGrpSpPr>
        <p:grpSpPr bwMode="auto">
          <a:xfrm>
            <a:off x="9696400" y="3740972"/>
            <a:ext cx="1081088" cy="1068387"/>
            <a:chOff x="1339" y="3268"/>
            <a:chExt cx="932" cy="921"/>
          </a:xfrm>
        </p:grpSpPr>
        <p:sp>
          <p:nvSpPr>
            <p:cNvPr id="29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" name="Group 79"/>
          <p:cNvGrpSpPr>
            <a:grpSpLocks/>
          </p:cNvGrpSpPr>
          <p:nvPr/>
        </p:nvGrpSpPr>
        <p:grpSpPr bwMode="auto">
          <a:xfrm>
            <a:off x="9696400" y="5672981"/>
            <a:ext cx="1081088" cy="1068387"/>
            <a:chOff x="1339" y="3268"/>
            <a:chExt cx="932" cy="921"/>
          </a:xfrm>
        </p:grpSpPr>
        <p:sp>
          <p:nvSpPr>
            <p:cNvPr id="39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2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2374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pixels </a:t>
            </a:r>
            <a:r>
              <a:rPr lang="en-US" i="1" dirty="0"/>
              <a:t>p</a:t>
            </a:r>
            <a:r>
              <a:rPr lang="en-US" dirty="0"/>
              <a:t> &amp; </a:t>
            </a:r>
            <a:r>
              <a:rPr lang="en-US" i="1" dirty="0"/>
              <a:t>q</a:t>
            </a:r>
            <a:r>
              <a:rPr lang="en-US" dirty="0"/>
              <a:t> are said to be:</a:t>
            </a:r>
          </a:p>
          <a:p>
            <a:endParaRPr lang="en-US" dirty="0"/>
          </a:p>
          <a:p>
            <a:r>
              <a:rPr lang="en-US" dirty="0"/>
              <a:t>4-Adjacent if </a:t>
            </a:r>
            <a:r>
              <a:rPr lang="en-US" i="1" dirty="0"/>
              <a:t>q</a:t>
            </a:r>
            <a:r>
              <a:rPr lang="en-US" dirty="0">
                <a:sym typeface="Symbol"/>
              </a:rPr>
              <a:t></a:t>
            </a:r>
            <a:r>
              <a:rPr lang="en-US" dirty="0"/>
              <a:t>N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i="1" dirty="0"/>
              <a:t>p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8-Adjacent if </a:t>
            </a:r>
            <a:r>
              <a:rPr lang="en-US" i="1" dirty="0"/>
              <a:t>q</a:t>
            </a:r>
            <a:r>
              <a:rPr lang="en-US" dirty="0">
                <a:sym typeface="Symbol"/>
              </a:rPr>
              <a:t></a:t>
            </a:r>
            <a:r>
              <a:rPr lang="en-US" dirty="0"/>
              <a:t>N</a:t>
            </a:r>
            <a:r>
              <a:rPr lang="en-US" baseline="-25000" dirty="0"/>
              <a:t>8</a:t>
            </a:r>
            <a:r>
              <a:rPr lang="en-US" dirty="0"/>
              <a:t>(</a:t>
            </a:r>
            <a:r>
              <a:rPr lang="en-US" i="1" dirty="0"/>
              <a:t>p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024694" y="1878752"/>
          <a:ext cx="1800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331526"/>
              </p:ext>
            </p:extLst>
          </p:nvPr>
        </p:nvGraphicFramePr>
        <p:xfrm>
          <a:off x="7082082" y="4286256"/>
          <a:ext cx="180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ight Arrow 27"/>
          <p:cNvSpPr/>
          <p:nvPr/>
        </p:nvSpPr>
        <p:spPr>
          <a:xfrm>
            <a:off x="5810248" y="2714620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5881686" y="5000636"/>
            <a:ext cx="64294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grpSp>
        <p:nvGrpSpPr>
          <p:cNvPr id="50" name="Group 79"/>
          <p:cNvGrpSpPr>
            <a:grpSpLocks/>
          </p:cNvGrpSpPr>
          <p:nvPr/>
        </p:nvGrpSpPr>
        <p:grpSpPr bwMode="auto">
          <a:xfrm>
            <a:off x="10775552" y="2571745"/>
            <a:ext cx="1081088" cy="1068387"/>
            <a:chOff x="1339" y="3268"/>
            <a:chExt cx="932" cy="921"/>
          </a:xfrm>
        </p:grpSpPr>
        <p:sp>
          <p:nvSpPr>
            <p:cNvPr id="51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" name="Group 79"/>
          <p:cNvGrpSpPr>
            <a:grpSpLocks/>
          </p:cNvGrpSpPr>
          <p:nvPr/>
        </p:nvGrpSpPr>
        <p:grpSpPr bwMode="auto">
          <a:xfrm>
            <a:off x="10775552" y="4503754"/>
            <a:ext cx="1081088" cy="1068387"/>
            <a:chOff x="1339" y="3268"/>
            <a:chExt cx="932" cy="921"/>
          </a:xfrm>
        </p:grpSpPr>
        <p:sp>
          <p:nvSpPr>
            <p:cNvPr id="61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6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65715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59" y="1285860"/>
            <a:ext cx="7998035" cy="5500726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 path between pixels 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dirty="0"/>
              <a:t> is a sequence of pixels 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i="1" dirty="0"/>
              <a:t>p</a:t>
            </a:r>
            <a:r>
              <a:rPr lang="en-US" i="1" baseline="-25000" dirty="0"/>
              <a:t>n</a:t>
            </a:r>
            <a:r>
              <a:rPr lang="en-US" baseline="-25000" dirty="0"/>
              <a:t>-1</a:t>
            </a:r>
            <a:r>
              <a:rPr lang="en-US" dirty="0"/>
              <a:t>, </a:t>
            </a:r>
            <a:r>
              <a:rPr lang="en-US" i="1" dirty="0" err="1"/>
              <a:t>p</a:t>
            </a:r>
            <a:r>
              <a:rPr lang="en-US" i="1" baseline="-25000" dirty="0" err="1"/>
              <a:t>n</a:t>
            </a:r>
            <a:r>
              <a:rPr lang="en-US" dirty="0"/>
              <a:t> </a:t>
            </a:r>
            <a:r>
              <a:rPr lang="en-US" dirty="0" err="1"/>
              <a:t>s.t</a:t>
            </a:r>
            <a:r>
              <a:rPr lang="en-US" dirty="0"/>
              <a:t>., </a:t>
            </a:r>
            <a:r>
              <a:rPr lang="en-US" i="1" dirty="0" err="1"/>
              <a:t>p</a:t>
            </a:r>
            <a:r>
              <a:rPr lang="en-US" i="1" baseline="-25000" dirty="0" err="1"/>
              <a:t>k</a:t>
            </a:r>
            <a:r>
              <a:rPr lang="en-US" dirty="0"/>
              <a:t> is adjacent to </a:t>
            </a:r>
            <a:r>
              <a:rPr lang="en-US" i="1" dirty="0"/>
              <a:t>p</a:t>
            </a:r>
            <a:r>
              <a:rPr lang="en-US" i="1" baseline="-25000" dirty="0"/>
              <a:t>k</a:t>
            </a:r>
            <a:r>
              <a:rPr lang="en-US" baseline="-25000" dirty="0"/>
              <a:t>+1</a:t>
            </a:r>
            <a:r>
              <a:rPr lang="en-US" dirty="0"/>
              <a:t>, for 1</a:t>
            </a:r>
            <a:r>
              <a:rPr lang="en-US" dirty="0">
                <a:sym typeface="Symbol"/>
              </a:rPr>
              <a:t></a:t>
            </a:r>
            <a:r>
              <a:rPr lang="en-US" i="1" dirty="0">
                <a:sym typeface="Symbol"/>
              </a:rPr>
              <a:t>k</a:t>
            </a:r>
            <a:r>
              <a:rPr lang="en-US" dirty="0">
                <a:sym typeface="Symbol"/>
              </a:rPr>
              <a:t>&lt;</a:t>
            </a:r>
            <a:r>
              <a:rPr lang="en-US" i="1" dirty="0">
                <a:sym typeface="Symbol"/>
              </a:rPr>
              <a:t>n</a:t>
            </a:r>
            <a:r>
              <a:rPr lang="en-US" dirty="0">
                <a:sym typeface="Symbol"/>
              </a:rPr>
              <a:t>. A path can be: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ym typeface="Symbol"/>
              </a:rPr>
              <a:t>			4-connected or 8-connected.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ym typeface="Symbol"/>
              </a:rPr>
              <a:t>Two pixels </a:t>
            </a:r>
            <a:r>
              <a:rPr lang="en-US" i="1" dirty="0">
                <a:sym typeface="Symbol"/>
              </a:rPr>
              <a:t>p</a:t>
            </a:r>
            <a:r>
              <a:rPr lang="en-US" dirty="0">
                <a:sym typeface="Symbol"/>
              </a:rPr>
              <a:t> &amp; </a:t>
            </a:r>
            <a:r>
              <a:rPr lang="en-US" i="1" dirty="0">
                <a:sym typeface="Symbol"/>
              </a:rPr>
              <a:t>q</a:t>
            </a:r>
            <a:r>
              <a:rPr lang="en-US" dirty="0">
                <a:sym typeface="Symbol"/>
              </a:rPr>
              <a:t> are said to be 4 (or 8-connectd) if there exist a 4 (or 8-connected) path between them, consisting entirely of foreground pixels.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489536" y="1878752"/>
          <a:ext cx="1800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546924" y="4286256"/>
          <a:ext cx="180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" name="Group 79"/>
          <p:cNvGrpSpPr>
            <a:grpSpLocks/>
          </p:cNvGrpSpPr>
          <p:nvPr/>
        </p:nvGrpSpPr>
        <p:grpSpPr bwMode="auto">
          <a:xfrm>
            <a:off x="10775552" y="2571745"/>
            <a:ext cx="1081088" cy="1068387"/>
            <a:chOff x="1339" y="3268"/>
            <a:chExt cx="932" cy="921"/>
          </a:xfrm>
        </p:grpSpPr>
        <p:sp>
          <p:nvSpPr>
            <p:cNvPr id="27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4" name="Group 79"/>
          <p:cNvGrpSpPr>
            <a:grpSpLocks/>
          </p:cNvGrpSpPr>
          <p:nvPr/>
        </p:nvGrpSpPr>
        <p:grpSpPr bwMode="auto">
          <a:xfrm>
            <a:off x="10775552" y="4503754"/>
            <a:ext cx="1081088" cy="1068387"/>
            <a:chOff x="1339" y="3268"/>
            <a:chExt cx="932" cy="921"/>
          </a:xfrm>
        </p:grpSpPr>
        <p:sp>
          <p:nvSpPr>
            <p:cNvPr id="55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0410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dirty="0"/>
              <a:t>Boundary Extraction</a:t>
            </a:r>
            <a:endParaRPr 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658069" cy="5500726"/>
          </a:xfrm>
        </p:spPr>
        <p:txBody>
          <a:bodyPr/>
          <a:lstStyle/>
          <a:p>
            <a:pPr marL="0" indent="0"/>
            <a:r>
              <a:rPr lang="en-IE" dirty="0"/>
              <a:t>Extracting the boundary (or outline) of an object is often extremely useful. The boundary can be given simply as</a:t>
            </a:r>
          </a:p>
          <a:p>
            <a:pPr marL="0" indent="0"/>
            <a:r>
              <a:rPr lang="en-IE" i="1" dirty="0">
                <a:latin typeface="Times New Roman" pitchFamily="18" charset="0"/>
                <a:sym typeface="Webdings" pitchFamily="-112" charset="2"/>
              </a:rPr>
              <a:t>	</a:t>
            </a:r>
            <a:r>
              <a:rPr lang="el-GR" i="1" dirty="0">
                <a:latin typeface="Times New Roman" pitchFamily="18" charset="0"/>
                <a:sym typeface="Webdings" pitchFamily="-112" charset="2"/>
              </a:rPr>
              <a:t>β</a:t>
            </a:r>
            <a:r>
              <a:rPr lang="en-IE" dirty="0">
                <a:latin typeface="Times New Roman" pitchFamily="18" charset="0"/>
                <a:sym typeface="Webdings" pitchFamily="-112" charset="2"/>
              </a:rPr>
              <a:t>(</a:t>
            </a:r>
            <a:r>
              <a:rPr lang="en-IE" i="1" dirty="0">
                <a:latin typeface="Times New Roman" pitchFamily="18" charset="0"/>
                <a:sym typeface="Webdings" pitchFamily="-112" charset="2"/>
              </a:rPr>
              <a:t>A</a:t>
            </a:r>
            <a:r>
              <a:rPr lang="en-IE" dirty="0">
                <a:latin typeface="Times New Roman" pitchFamily="18" charset="0"/>
                <a:sym typeface="Webdings" pitchFamily="-112" charset="2"/>
              </a:rPr>
              <a:t>)</a:t>
            </a:r>
            <a:r>
              <a:rPr lang="en-IE" i="1" dirty="0">
                <a:latin typeface="Times New Roman" pitchFamily="18" charset="0"/>
                <a:sym typeface="Webdings" pitchFamily="-112" charset="2"/>
              </a:rPr>
              <a:t> </a:t>
            </a:r>
            <a:r>
              <a:rPr lang="en-IE" i="1" dirty="0">
                <a:latin typeface="Times New Roman" pitchFamily="18" charset="0"/>
              </a:rPr>
              <a:t>= A – </a:t>
            </a:r>
            <a:r>
              <a:rPr lang="en-IE" dirty="0">
                <a:latin typeface="Times New Roman" pitchFamily="18" charset="0"/>
              </a:rPr>
              <a:t>(</a:t>
            </a:r>
            <a:r>
              <a:rPr lang="en-IE" i="1" dirty="0">
                <a:latin typeface="Times New Roman" pitchFamily="18" charset="0"/>
              </a:rPr>
              <a:t>A</a:t>
            </a:r>
            <a:r>
              <a:rPr lang="en-IE" sz="2400" dirty="0">
                <a:sym typeface="Webdings" pitchFamily="-112" charset="2"/>
              </a:rPr>
              <a:t></a:t>
            </a:r>
            <a:r>
              <a:rPr lang="en-IE" i="1" dirty="0">
                <a:latin typeface="Times New Roman" pitchFamily="18" charset="0"/>
                <a:sym typeface="Webdings" pitchFamily="-112" charset="2"/>
              </a:rPr>
              <a:t>B</a:t>
            </a:r>
            <a:r>
              <a:rPr lang="en-IE" dirty="0">
                <a:latin typeface="Times New Roman" pitchFamily="18" charset="0"/>
                <a:sym typeface="Webdings" pitchFamily="-112" charset="2"/>
              </a:rPr>
              <a:t>)</a:t>
            </a:r>
            <a:endParaRPr lang="en-US" dirty="0">
              <a:latin typeface="Times New Roman" pitchFamily="18" charset="0"/>
              <a:sym typeface="Webdings" pitchFamily="-112" charset="2"/>
            </a:endParaRPr>
          </a:p>
        </p:txBody>
      </p:sp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3" cstate="print"/>
          <a:srcRect l="48233" b="51677"/>
          <a:stretch>
            <a:fillRect/>
          </a:stretch>
        </p:blipFill>
        <p:spPr bwMode="auto">
          <a:xfrm>
            <a:off x="11832" y="3156124"/>
            <a:ext cx="4748213" cy="149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9" name="Picture 5"/>
          <p:cNvPicPr>
            <a:picLocks noChangeAspect="1" noChangeArrowheads="1"/>
          </p:cNvPicPr>
          <p:nvPr/>
        </p:nvPicPr>
        <p:blipFill>
          <a:blip r:embed="rId3" cstate="print"/>
          <a:srcRect l="48233" t="52611" r="26004"/>
          <a:stretch>
            <a:fillRect/>
          </a:stretch>
        </p:blipFill>
        <p:spPr bwMode="auto">
          <a:xfrm>
            <a:off x="-23594" y="5042911"/>
            <a:ext cx="2782887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30" name="Picture 6"/>
          <p:cNvPicPr>
            <a:picLocks noChangeAspect="1" noChangeArrowheads="1"/>
          </p:cNvPicPr>
          <p:nvPr/>
        </p:nvPicPr>
        <p:blipFill>
          <a:blip r:embed="rId3" cstate="print"/>
          <a:srcRect l="74405" t="52116"/>
          <a:stretch>
            <a:fillRect/>
          </a:stretch>
        </p:blipFill>
        <p:spPr bwMode="auto">
          <a:xfrm>
            <a:off x="3071664" y="5037279"/>
            <a:ext cx="2765425" cy="174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ounded Rectangular Callout 9"/>
          <p:cNvSpPr/>
          <p:nvPr/>
        </p:nvSpPr>
        <p:spPr>
          <a:xfrm>
            <a:off x="5447928" y="3284984"/>
            <a:ext cx="2954217" cy="967263"/>
          </a:xfrm>
          <a:prstGeom prst="wedgeRoundRectCallout">
            <a:avLst>
              <a:gd name="adj1" fmla="val -60968"/>
              <a:gd name="adj2" fmla="val 128175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4-connected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51142" y="5117706"/>
            <a:ext cx="3888433" cy="136815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find 8-connected boundary?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191779" y="2457096"/>
          <a:ext cx="1800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191779" y="4696544"/>
          <a:ext cx="180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Labeling Connected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406" y="5500702"/>
            <a:ext cx="8858312" cy="1285884"/>
          </a:xfrm>
        </p:spPr>
        <p:txBody>
          <a:bodyPr>
            <a:normAutofit/>
          </a:bodyPr>
          <a:lstStyle/>
          <a:p>
            <a:r>
              <a:rPr lang="en-US" sz="2400" dirty="0">
                <a:sym typeface="Symbol"/>
              </a:rPr>
              <a:t>f = [1 1 1 0 0 0 0 0; 1 1 1 0 1 1 0 0; 1 1 1 0 1 1 0 0; 1 1 1 0 0 0 1 0; 1 1 1 0 0 0 1 0; 1 1 1 0 0 0 1 0; 1 1 1 0 0 1 0 0; 1 1 1 0 0 0 0 0];</a:t>
            </a:r>
          </a:p>
          <a:p>
            <a:r>
              <a:rPr lang="en-US" sz="2400" dirty="0">
                <a:sym typeface="Symbol"/>
              </a:rPr>
              <a:t>[L, n]= </a:t>
            </a:r>
            <a:r>
              <a:rPr lang="en-US" sz="2400" dirty="0" err="1">
                <a:sym typeface="Symbol"/>
              </a:rPr>
              <a:t>bwlabel</a:t>
            </a:r>
            <a:r>
              <a:rPr lang="en-US" sz="2400" dirty="0">
                <a:sym typeface="Symbol"/>
              </a:rPr>
              <a:t>(f, 4)  </a:t>
            </a:r>
            <a:r>
              <a:rPr lang="en-US" sz="2200" dirty="0">
                <a:solidFill>
                  <a:srgbClr val="00B050"/>
                </a:solidFill>
                <a:sym typeface="Symbol"/>
              </a:rPr>
              <a:t>% L is exactly label matrix &amp; n is number of labels</a:t>
            </a:r>
            <a:endParaRPr lang="en-US" sz="2400" dirty="0">
              <a:solidFill>
                <a:srgbClr val="00B050"/>
              </a:solidFill>
              <a:sym typeface="Symbol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930116" y="1714488"/>
          <a:ext cx="288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1809720" y="1357298"/>
            <a:ext cx="1285884" cy="37147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3309918" y="2071678"/>
            <a:ext cx="857256" cy="785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095736" y="2857496"/>
            <a:ext cx="357190" cy="1071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738546" y="3929066"/>
            <a:ext cx="357190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859206" y="1714488"/>
          <a:ext cx="288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952596" y="5029154"/>
            <a:ext cx="81439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Four 4-Connected Components		Label Matrix</a:t>
            </a:r>
          </a:p>
        </p:txBody>
      </p:sp>
      <p:sp>
        <p:nvSpPr>
          <p:cNvPr id="21" name="Oval 20"/>
          <p:cNvSpPr/>
          <p:nvPr/>
        </p:nvSpPr>
        <p:spPr>
          <a:xfrm>
            <a:off x="5738810" y="1357298"/>
            <a:ext cx="1285884" cy="37147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239008" y="2071678"/>
            <a:ext cx="857256" cy="7858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24826" y="2857496"/>
            <a:ext cx="357190" cy="1071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667636" y="3929066"/>
            <a:ext cx="357190" cy="3571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" name="Group 79"/>
          <p:cNvGrpSpPr>
            <a:grpSpLocks/>
          </p:cNvGrpSpPr>
          <p:nvPr/>
        </p:nvGrpSpPr>
        <p:grpSpPr bwMode="auto">
          <a:xfrm>
            <a:off x="9984432" y="2571745"/>
            <a:ext cx="1081088" cy="1068387"/>
            <a:chOff x="1339" y="3268"/>
            <a:chExt cx="932" cy="921"/>
          </a:xfrm>
        </p:grpSpPr>
        <p:sp>
          <p:nvSpPr>
            <p:cNvPr id="41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3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1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53" grpId="0"/>
      <p:bldP spid="21" grpId="0" animBg="1"/>
      <p:bldP spid="22" grpId="0" animBg="1"/>
      <p:bldP spid="23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Labeling Connected Components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930116" y="1714488"/>
          <a:ext cx="288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1809720" y="1357298"/>
            <a:ext cx="1285884" cy="37147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859206" y="1714488"/>
          <a:ext cx="288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" name="Freeform 45"/>
          <p:cNvSpPr/>
          <p:nvPr/>
        </p:nvSpPr>
        <p:spPr>
          <a:xfrm>
            <a:off x="3309918" y="1974513"/>
            <a:ext cx="1146056" cy="2259416"/>
          </a:xfrm>
          <a:custGeom>
            <a:avLst/>
            <a:gdLst>
              <a:gd name="connsiteX0" fmla="*/ 62669 w 1146056"/>
              <a:gd name="connsiteY0" fmla="*/ 134506 h 2259416"/>
              <a:gd name="connsiteX1" fmla="*/ 33172 w 1146056"/>
              <a:gd name="connsiteY1" fmla="*/ 562210 h 2259416"/>
              <a:gd name="connsiteX2" fmla="*/ 18423 w 1146056"/>
              <a:gd name="connsiteY2" fmla="*/ 635952 h 2259416"/>
              <a:gd name="connsiteX3" fmla="*/ 3675 w 1146056"/>
              <a:gd name="connsiteY3" fmla="*/ 739190 h 2259416"/>
              <a:gd name="connsiteX4" fmla="*/ 431378 w 1146056"/>
              <a:gd name="connsiteY4" fmla="*/ 798184 h 2259416"/>
              <a:gd name="connsiteX5" fmla="*/ 549365 w 1146056"/>
              <a:gd name="connsiteY5" fmla="*/ 812932 h 2259416"/>
              <a:gd name="connsiteX6" fmla="*/ 696849 w 1146056"/>
              <a:gd name="connsiteY6" fmla="*/ 886674 h 2259416"/>
              <a:gd name="connsiteX7" fmla="*/ 711598 w 1146056"/>
              <a:gd name="connsiteY7" fmla="*/ 1196390 h 2259416"/>
              <a:gd name="connsiteX8" fmla="*/ 726346 w 1146056"/>
              <a:gd name="connsiteY8" fmla="*/ 1388119 h 2259416"/>
              <a:gd name="connsiteX9" fmla="*/ 785339 w 1146056"/>
              <a:gd name="connsiteY9" fmla="*/ 1476610 h 2259416"/>
              <a:gd name="connsiteX10" fmla="*/ 770591 w 1146056"/>
              <a:gd name="connsiteY10" fmla="*/ 1874816 h 2259416"/>
              <a:gd name="connsiteX11" fmla="*/ 726346 w 1146056"/>
              <a:gd name="connsiteY11" fmla="*/ 1904313 h 2259416"/>
              <a:gd name="connsiteX12" fmla="*/ 460875 w 1146056"/>
              <a:gd name="connsiteY12" fmla="*/ 1919061 h 2259416"/>
              <a:gd name="connsiteX13" fmla="*/ 460875 w 1146056"/>
              <a:gd name="connsiteY13" fmla="*/ 2228777 h 2259416"/>
              <a:gd name="connsiteX14" fmla="*/ 505120 w 1146056"/>
              <a:gd name="connsiteY14" fmla="*/ 2243526 h 2259416"/>
              <a:gd name="connsiteX15" fmla="*/ 770591 w 1146056"/>
              <a:gd name="connsiteY15" fmla="*/ 2228777 h 2259416"/>
              <a:gd name="connsiteX16" fmla="*/ 785339 w 1146056"/>
              <a:gd name="connsiteY16" fmla="*/ 2140287 h 2259416"/>
              <a:gd name="connsiteX17" fmla="*/ 829585 w 1146056"/>
              <a:gd name="connsiteY17" fmla="*/ 2051797 h 2259416"/>
              <a:gd name="connsiteX18" fmla="*/ 903327 w 1146056"/>
              <a:gd name="connsiteY18" fmla="*/ 1933810 h 2259416"/>
              <a:gd name="connsiteX19" fmla="*/ 991817 w 1146056"/>
              <a:gd name="connsiteY19" fmla="*/ 1919061 h 2259416"/>
              <a:gd name="connsiteX20" fmla="*/ 1050810 w 1146056"/>
              <a:gd name="connsiteY20" fmla="*/ 1712584 h 2259416"/>
              <a:gd name="connsiteX21" fmla="*/ 1080307 w 1146056"/>
              <a:gd name="connsiteY21" fmla="*/ 1565100 h 2259416"/>
              <a:gd name="connsiteX22" fmla="*/ 1095056 w 1146056"/>
              <a:gd name="connsiteY22" fmla="*/ 1329126 h 2259416"/>
              <a:gd name="connsiteX23" fmla="*/ 1095056 w 1146056"/>
              <a:gd name="connsiteY23" fmla="*/ 960416 h 2259416"/>
              <a:gd name="connsiteX24" fmla="*/ 1065559 w 1146056"/>
              <a:gd name="connsiteY24" fmla="*/ 916171 h 2259416"/>
              <a:gd name="connsiteX25" fmla="*/ 1021314 w 1146056"/>
              <a:gd name="connsiteY25" fmla="*/ 886674 h 2259416"/>
              <a:gd name="connsiteX26" fmla="*/ 903327 w 1146056"/>
              <a:gd name="connsiteY26" fmla="*/ 812932 h 2259416"/>
              <a:gd name="connsiteX27" fmla="*/ 859081 w 1146056"/>
              <a:gd name="connsiteY27" fmla="*/ 798184 h 2259416"/>
              <a:gd name="connsiteX28" fmla="*/ 814836 w 1146056"/>
              <a:gd name="connsiteY28" fmla="*/ 709693 h 2259416"/>
              <a:gd name="connsiteX29" fmla="*/ 770591 w 1146056"/>
              <a:gd name="connsiteY29" fmla="*/ 680197 h 2259416"/>
              <a:gd name="connsiteX30" fmla="*/ 711598 w 1146056"/>
              <a:gd name="connsiteY30" fmla="*/ 547461 h 2259416"/>
              <a:gd name="connsiteX31" fmla="*/ 696849 w 1146056"/>
              <a:gd name="connsiteY31" fmla="*/ 193500 h 2259416"/>
              <a:gd name="connsiteX32" fmla="*/ 682101 w 1146056"/>
              <a:gd name="connsiteY32" fmla="*/ 149255 h 2259416"/>
              <a:gd name="connsiteX33" fmla="*/ 593610 w 1146056"/>
              <a:gd name="connsiteY33" fmla="*/ 90261 h 2259416"/>
              <a:gd name="connsiteX34" fmla="*/ 195404 w 1146056"/>
              <a:gd name="connsiteY34" fmla="*/ 105010 h 2259416"/>
              <a:gd name="connsiteX35" fmla="*/ 151159 w 1146056"/>
              <a:gd name="connsiteY35" fmla="*/ 119758 h 2259416"/>
              <a:gd name="connsiteX36" fmla="*/ 62669 w 1146056"/>
              <a:gd name="connsiteY36" fmla="*/ 134506 h 225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6056" h="2259416">
                <a:moveTo>
                  <a:pt x="62669" y="134506"/>
                </a:moveTo>
                <a:cubicBezTo>
                  <a:pt x="43005" y="208248"/>
                  <a:pt x="76419" y="0"/>
                  <a:pt x="33172" y="562210"/>
                </a:cubicBezTo>
                <a:cubicBezTo>
                  <a:pt x="31249" y="587204"/>
                  <a:pt x="22544" y="611226"/>
                  <a:pt x="18423" y="635952"/>
                </a:cubicBezTo>
                <a:cubicBezTo>
                  <a:pt x="12708" y="670241"/>
                  <a:pt x="8591" y="704777"/>
                  <a:pt x="3675" y="739190"/>
                </a:cubicBezTo>
                <a:cubicBezTo>
                  <a:pt x="62305" y="915084"/>
                  <a:pt x="0" y="774218"/>
                  <a:pt x="431378" y="798184"/>
                </a:cubicBezTo>
                <a:cubicBezTo>
                  <a:pt x="470952" y="800383"/>
                  <a:pt x="510036" y="808016"/>
                  <a:pt x="549365" y="812932"/>
                </a:cubicBezTo>
                <a:cubicBezTo>
                  <a:pt x="684548" y="846728"/>
                  <a:pt x="644865" y="808698"/>
                  <a:pt x="696849" y="886674"/>
                </a:cubicBezTo>
                <a:cubicBezTo>
                  <a:pt x="701765" y="989913"/>
                  <a:pt x="705529" y="1093213"/>
                  <a:pt x="711598" y="1196390"/>
                </a:cubicBezTo>
                <a:cubicBezTo>
                  <a:pt x="715362" y="1260378"/>
                  <a:pt x="710034" y="1326131"/>
                  <a:pt x="726346" y="1388119"/>
                </a:cubicBezTo>
                <a:cubicBezTo>
                  <a:pt x="735368" y="1422403"/>
                  <a:pt x="785339" y="1476610"/>
                  <a:pt x="785339" y="1476610"/>
                </a:cubicBezTo>
                <a:cubicBezTo>
                  <a:pt x="780423" y="1609345"/>
                  <a:pt x="788740" y="1743235"/>
                  <a:pt x="770591" y="1874816"/>
                </a:cubicBezTo>
                <a:cubicBezTo>
                  <a:pt x="768169" y="1892375"/>
                  <a:pt x="743893" y="1901806"/>
                  <a:pt x="726346" y="1904313"/>
                </a:cubicBezTo>
                <a:cubicBezTo>
                  <a:pt x="638610" y="1916847"/>
                  <a:pt x="549365" y="1914145"/>
                  <a:pt x="460875" y="1919061"/>
                </a:cubicBezTo>
                <a:cubicBezTo>
                  <a:pt x="422783" y="2033340"/>
                  <a:pt x="418576" y="2027853"/>
                  <a:pt x="460875" y="2228777"/>
                </a:cubicBezTo>
                <a:cubicBezTo>
                  <a:pt x="464078" y="2243990"/>
                  <a:pt x="490372" y="2238610"/>
                  <a:pt x="505120" y="2243526"/>
                </a:cubicBezTo>
                <a:cubicBezTo>
                  <a:pt x="593610" y="2238610"/>
                  <a:pt x="687429" y="2259416"/>
                  <a:pt x="770591" y="2228777"/>
                </a:cubicBezTo>
                <a:cubicBezTo>
                  <a:pt x="798651" y="2218439"/>
                  <a:pt x="778852" y="2169478"/>
                  <a:pt x="785339" y="2140287"/>
                </a:cubicBezTo>
                <a:cubicBezTo>
                  <a:pt x="795516" y="2094493"/>
                  <a:pt x="803069" y="2091570"/>
                  <a:pt x="829585" y="2051797"/>
                </a:cubicBezTo>
                <a:cubicBezTo>
                  <a:pt x="849314" y="1992608"/>
                  <a:pt x="841974" y="1954261"/>
                  <a:pt x="903327" y="1933810"/>
                </a:cubicBezTo>
                <a:cubicBezTo>
                  <a:pt x="931696" y="1924354"/>
                  <a:pt x="962320" y="1923977"/>
                  <a:pt x="991817" y="1919061"/>
                </a:cubicBezTo>
                <a:cubicBezTo>
                  <a:pt x="1076588" y="1834290"/>
                  <a:pt x="1028628" y="1901134"/>
                  <a:pt x="1050810" y="1712584"/>
                </a:cubicBezTo>
                <a:cubicBezTo>
                  <a:pt x="1058845" y="1644284"/>
                  <a:pt x="1065116" y="1625866"/>
                  <a:pt x="1080307" y="1565100"/>
                </a:cubicBezTo>
                <a:cubicBezTo>
                  <a:pt x="1085223" y="1486442"/>
                  <a:pt x="1090914" y="1407829"/>
                  <a:pt x="1095056" y="1329126"/>
                </a:cubicBezTo>
                <a:cubicBezTo>
                  <a:pt x="1096472" y="1302217"/>
                  <a:pt x="1146056" y="1062416"/>
                  <a:pt x="1095056" y="960416"/>
                </a:cubicBezTo>
                <a:cubicBezTo>
                  <a:pt x="1087129" y="944562"/>
                  <a:pt x="1078093" y="928705"/>
                  <a:pt x="1065559" y="916171"/>
                </a:cubicBezTo>
                <a:cubicBezTo>
                  <a:pt x="1053025" y="903637"/>
                  <a:pt x="1036062" y="896506"/>
                  <a:pt x="1021314" y="886674"/>
                </a:cubicBezTo>
                <a:cubicBezTo>
                  <a:pt x="974570" y="816559"/>
                  <a:pt x="1008632" y="848033"/>
                  <a:pt x="903327" y="812932"/>
                </a:cubicBezTo>
                <a:lnTo>
                  <a:pt x="859081" y="798184"/>
                </a:lnTo>
                <a:cubicBezTo>
                  <a:pt x="847086" y="762198"/>
                  <a:pt x="843426" y="738283"/>
                  <a:pt x="814836" y="709693"/>
                </a:cubicBezTo>
                <a:cubicBezTo>
                  <a:pt x="802302" y="697159"/>
                  <a:pt x="785339" y="690029"/>
                  <a:pt x="770591" y="680197"/>
                </a:cubicBezTo>
                <a:cubicBezTo>
                  <a:pt x="735489" y="574890"/>
                  <a:pt x="758341" y="617577"/>
                  <a:pt x="711598" y="547461"/>
                </a:cubicBezTo>
                <a:cubicBezTo>
                  <a:pt x="706682" y="429474"/>
                  <a:pt x="705573" y="311267"/>
                  <a:pt x="696849" y="193500"/>
                </a:cubicBezTo>
                <a:cubicBezTo>
                  <a:pt x="695701" y="177996"/>
                  <a:pt x="693094" y="160248"/>
                  <a:pt x="682101" y="149255"/>
                </a:cubicBezTo>
                <a:cubicBezTo>
                  <a:pt x="657033" y="124187"/>
                  <a:pt x="593610" y="90261"/>
                  <a:pt x="593610" y="90261"/>
                </a:cubicBezTo>
                <a:cubicBezTo>
                  <a:pt x="460875" y="95177"/>
                  <a:pt x="327936" y="96174"/>
                  <a:pt x="195404" y="105010"/>
                </a:cubicBezTo>
                <a:cubicBezTo>
                  <a:pt x="179892" y="106044"/>
                  <a:pt x="166494" y="117202"/>
                  <a:pt x="151159" y="119758"/>
                </a:cubicBezTo>
                <a:cubicBezTo>
                  <a:pt x="107247" y="127076"/>
                  <a:pt x="82333" y="60764"/>
                  <a:pt x="62669" y="13450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1595406" y="5500702"/>
            <a:ext cx="8858312" cy="1285884"/>
          </a:xfrm>
        </p:spPr>
        <p:txBody>
          <a:bodyPr>
            <a:normAutofit/>
          </a:bodyPr>
          <a:lstStyle/>
          <a:p>
            <a:r>
              <a:rPr lang="en-US" sz="2400" dirty="0">
                <a:sym typeface="Symbol"/>
              </a:rPr>
              <a:t>f = [1 1 1 0 0 0 0 0; 1 1 1 0 1 1 0 0; 1 1 1 0 1 1 0 0; 1 1 1 0 0 0 1 0; 1 1 1 0 0 0 1 0; 1 1 1 0 0 0 1 0; 1 1 1 0 0 1 0 0; 1 1 1 0 0 0 0 0];</a:t>
            </a:r>
          </a:p>
          <a:p>
            <a:r>
              <a:rPr lang="en-US" sz="2400" dirty="0">
                <a:sym typeface="Symbol"/>
              </a:rPr>
              <a:t>[L, n]= </a:t>
            </a:r>
            <a:r>
              <a:rPr lang="en-US" sz="2400" dirty="0" err="1">
                <a:sym typeface="Symbol"/>
              </a:rPr>
              <a:t>bwlabel</a:t>
            </a:r>
            <a:r>
              <a:rPr lang="en-US" sz="2400" dirty="0">
                <a:sym typeface="Symbol"/>
              </a:rPr>
              <a:t>(f, 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2596" y="5029154"/>
            <a:ext cx="81439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Four 8-Connected Components		Label Matrix</a:t>
            </a:r>
          </a:p>
        </p:txBody>
      </p:sp>
      <p:sp>
        <p:nvSpPr>
          <p:cNvPr id="19" name="Oval 18"/>
          <p:cNvSpPr/>
          <p:nvPr/>
        </p:nvSpPr>
        <p:spPr>
          <a:xfrm>
            <a:off x="5735762" y="1357298"/>
            <a:ext cx="1285884" cy="37147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7235960" y="1974513"/>
            <a:ext cx="1146056" cy="2259416"/>
          </a:xfrm>
          <a:custGeom>
            <a:avLst/>
            <a:gdLst>
              <a:gd name="connsiteX0" fmla="*/ 62669 w 1146056"/>
              <a:gd name="connsiteY0" fmla="*/ 134506 h 2259416"/>
              <a:gd name="connsiteX1" fmla="*/ 33172 w 1146056"/>
              <a:gd name="connsiteY1" fmla="*/ 562210 h 2259416"/>
              <a:gd name="connsiteX2" fmla="*/ 18423 w 1146056"/>
              <a:gd name="connsiteY2" fmla="*/ 635952 h 2259416"/>
              <a:gd name="connsiteX3" fmla="*/ 3675 w 1146056"/>
              <a:gd name="connsiteY3" fmla="*/ 739190 h 2259416"/>
              <a:gd name="connsiteX4" fmla="*/ 431378 w 1146056"/>
              <a:gd name="connsiteY4" fmla="*/ 798184 h 2259416"/>
              <a:gd name="connsiteX5" fmla="*/ 549365 w 1146056"/>
              <a:gd name="connsiteY5" fmla="*/ 812932 h 2259416"/>
              <a:gd name="connsiteX6" fmla="*/ 696849 w 1146056"/>
              <a:gd name="connsiteY6" fmla="*/ 886674 h 2259416"/>
              <a:gd name="connsiteX7" fmla="*/ 711598 w 1146056"/>
              <a:gd name="connsiteY7" fmla="*/ 1196390 h 2259416"/>
              <a:gd name="connsiteX8" fmla="*/ 726346 w 1146056"/>
              <a:gd name="connsiteY8" fmla="*/ 1388119 h 2259416"/>
              <a:gd name="connsiteX9" fmla="*/ 785339 w 1146056"/>
              <a:gd name="connsiteY9" fmla="*/ 1476610 h 2259416"/>
              <a:gd name="connsiteX10" fmla="*/ 770591 w 1146056"/>
              <a:gd name="connsiteY10" fmla="*/ 1874816 h 2259416"/>
              <a:gd name="connsiteX11" fmla="*/ 726346 w 1146056"/>
              <a:gd name="connsiteY11" fmla="*/ 1904313 h 2259416"/>
              <a:gd name="connsiteX12" fmla="*/ 460875 w 1146056"/>
              <a:gd name="connsiteY12" fmla="*/ 1919061 h 2259416"/>
              <a:gd name="connsiteX13" fmla="*/ 460875 w 1146056"/>
              <a:gd name="connsiteY13" fmla="*/ 2228777 h 2259416"/>
              <a:gd name="connsiteX14" fmla="*/ 505120 w 1146056"/>
              <a:gd name="connsiteY14" fmla="*/ 2243526 h 2259416"/>
              <a:gd name="connsiteX15" fmla="*/ 770591 w 1146056"/>
              <a:gd name="connsiteY15" fmla="*/ 2228777 h 2259416"/>
              <a:gd name="connsiteX16" fmla="*/ 785339 w 1146056"/>
              <a:gd name="connsiteY16" fmla="*/ 2140287 h 2259416"/>
              <a:gd name="connsiteX17" fmla="*/ 829585 w 1146056"/>
              <a:gd name="connsiteY17" fmla="*/ 2051797 h 2259416"/>
              <a:gd name="connsiteX18" fmla="*/ 903327 w 1146056"/>
              <a:gd name="connsiteY18" fmla="*/ 1933810 h 2259416"/>
              <a:gd name="connsiteX19" fmla="*/ 991817 w 1146056"/>
              <a:gd name="connsiteY19" fmla="*/ 1919061 h 2259416"/>
              <a:gd name="connsiteX20" fmla="*/ 1050810 w 1146056"/>
              <a:gd name="connsiteY20" fmla="*/ 1712584 h 2259416"/>
              <a:gd name="connsiteX21" fmla="*/ 1080307 w 1146056"/>
              <a:gd name="connsiteY21" fmla="*/ 1565100 h 2259416"/>
              <a:gd name="connsiteX22" fmla="*/ 1095056 w 1146056"/>
              <a:gd name="connsiteY22" fmla="*/ 1329126 h 2259416"/>
              <a:gd name="connsiteX23" fmla="*/ 1095056 w 1146056"/>
              <a:gd name="connsiteY23" fmla="*/ 960416 h 2259416"/>
              <a:gd name="connsiteX24" fmla="*/ 1065559 w 1146056"/>
              <a:gd name="connsiteY24" fmla="*/ 916171 h 2259416"/>
              <a:gd name="connsiteX25" fmla="*/ 1021314 w 1146056"/>
              <a:gd name="connsiteY25" fmla="*/ 886674 h 2259416"/>
              <a:gd name="connsiteX26" fmla="*/ 903327 w 1146056"/>
              <a:gd name="connsiteY26" fmla="*/ 812932 h 2259416"/>
              <a:gd name="connsiteX27" fmla="*/ 859081 w 1146056"/>
              <a:gd name="connsiteY27" fmla="*/ 798184 h 2259416"/>
              <a:gd name="connsiteX28" fmla="*/ 814836 w 1146056"/>
              <a:gd name="connsiteY28" fmla="*/ 709693 h 2259416"/>
              <a:gd name="connsiteX29" fmla="*/ 770591 w 1146056"/>
              <a:gd name="connsiteY29" fmla="*/ 680197 h 2259416"/>
              <a:gd name="connsiteX30" fmla="*/ 711598 w 1146056"/>
              <a:gd name="connsiteY30" fmla="*/ 547461 h 2259416"/>
              <a:gd name="connsiteX31" fmla="*/ 696849 w 1146056"/>
              <a:gd name="connsiteY31" fmla="*/ 193500 h 2259416"/>
              <a:gd name="connsiteX32" fmla="*/ 682101 w 1146056"/>
              <a:gd name="connsiteY32" fmla="*/ 149255 h 2259416"/>
              <a:gd name="connsiteX33" fmla="*/ 593610 w 1146056"/>
              <a:gd name="connsiteY33" fmla="*/ 90261 h 2259416"/>
              <a:gd name="connsiteX34" fmla="*/ 195404 w 1146056"/>
              <a:gd name="connsiteY34" fmla="*/ 105010 h 2259416"/>
              <a:gd name="connsiteX35" fmla="*/ 151159 w 1146056"/>
              <a:gd name="connsiteY35" fmla="*/ 119758 h 2259416"/>
              <a:gd name="connsiteX36" fmla="*/ 62669 w 1146056"/>
              <a:gd name="connsiteY36" fmla="*/ 134506 h 225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6056" h="2259416">
                <a:moveTo>
                  <a:pt x="62669" y="134506"/>
                </a:moveTo>
                <a:cubicBezTo>
                  <a:pt x="43005" y="208248"/>
                  <a:pt x="76419" y="0"/>
                  <a:pt x="33172" y="562210"/>
                </a:cubicBezTo>
                <a:cubicBezTo>
                  <a:pt x="31249" y="587204"/>
                  <a:pt x="22544" y="611226"/>
                  <a:pt x="18423" y="635952"/>
                </a:cubicBezTo>
                <a:cubicBezTo>
                  <a:pt x="12708" y="670241"/>
                  <a:pt x="8591" y="704777"/>
                  <a:pt x="3675" y="739190"/>
                </a:cubicBezTo>
                <a:cubicBezTo>
                  <a:pt x="62305" y="915084"/>
                  <a:pt x="0" y="774218"/>
                  <a:pt x="431378" y="798184"/>
                </a:cubicBezTo>
                <a:cubicBezTo>
                  <a:pt x="470952" y="800383"/>
                  <a:pt x="510036" y="808016"/>
                  <a:pt x="549365" y="812932"/>
                </a:cubicBezTo>
                <a:cubicBezTo>
                  <a:pt x="684548" y="846728"/>
                  <a:pt x="644865" y="808698"/>
                  <a:pt x="696849" y="886674"/>
                </a:cubicBezTo>
                <a:cubicBezTo>
                  <a:pt x="701765" y="989913"/>
                  <a:pt x="705529" y="1093213"/>
                  <a:pt x="711598" y="1196390"/>
                </a:cubicBezTo>
                <a:cubicBezTo>
                  <a:pt x="715362" y="1260378"/>
                  <a:pt x="710034" y="1326131"/>
                  <a:pt x="726346" y="1388119"/>
                </a:cubicBezTo>
                <a:cubicBezTo>
                  <a:pt x="735368" y="1422403"/>
                  <a:pt x="785339" y="1476610"/>
                  <a:pt x="785339" y="1476610"/>
                </a:cubicBezTo>
                <a:cubicBezTo>
                  <a:pt x="780423" y="1609345"/>
                  <a:pt x="788740" y="1743235"/>
                  <a:pt x="770591" y="1874816"/>
                </a:cubicBezTo>
                <a:cubicBezTo>
                  <a:pt x="768169" y="1892375"/>
                  <a:pt x="743893" y="1901806"/>
                  <a:pt x="726346" y="1904313"/>
                </a:cubicBezTo>
                <a:cubicBezTo>
                  <a:pt x="638610" y="1916847"/>
                  <a:pt x="549365" y="1914145"/>
                  <a:pt x="460875" y="1919061"/>
                </a:cubicBezTo>
                <a:cubicBezTo>
                  <a:pt x="422783" y="2033340"/>
                  <a:pt x="418576" y="2027853"/>
                  <a:pt x="460875" y="2228777"/>
                </a:cubicBezTo>
                <a:cubicBezTo>
                  <a:pt x="464078" y="2243990"/>
                  <a:pt x="490372" y="2238610"/>
                  <a:pt x="505120" y="2243526"/>
                </a:cubicBezTo>
                <a:cubicBezTo>
                  <a:pt x="593610" y="2238610"/>
                  <a:pt x="687429" y="2259416"/>
                  <a:pt x="770591" y="2228777"/>
                </a:cubicBezTo>
                <a:cubicBezTo>
                  <a:pt x="798651" y="2218439"/>
                  <a:pt x="778852" y="2169478"/>
                  <a:pt x="785339" y="2140287"/>
                </a:cubicBezTo>
                <a:cubicBezTo>
                  <a:pt x="795516" y="2094493"/>
                  <a:pt x="803069" y="2091570"/>
                  <a:pt x="829585" y="2051797"/>
                </a:cubicBezTo>
                <a:cubicBezTo>
                  <a:pt x="849314" y="1992608"/>
                  <a:pt x="841974" y="1954261"/>
                  <a:pt x="903327" y="1933810"/>
                </a:cubicBezTo>
                <a:cubicBezTo>
                  <a:pt x="931696" y="1924354"/>
                  <a:pt x="962320" y="1923977"/>
                  <a:pt x="991817" y="1919061"/>
                </a:cubicBezTo>
                <a:cubicBezTo>
                  <a:pt x="1076588" y="1834290"/>
                  <a:pt x="1028628" y="1901134"/>
                  <a:pt x="1050810" y="1712584"/>
                </a:cubicBezTo>
                <a:cubicBezTo>
                  <a:pt x="1058845" y="1644284"/>
                  <a:pt x="1065116" y="1625866"/>
                  <a:pt x="1080307" y="1565100"/>
                </a:cubicBezTo>
                <a:cubicBezTo>
                  <a:pt x="1085223" y="1486442"/>
                  <a:pt x="1090914" y="1407829"/>
                  <a:pt x="1095056" y="1329126"/>
                </a:cubicBezTo>
                <a:cubicBezTo>
                  <a:pt x="1096472" y="1302217"/>
                  <a:pt x="1146056" y="1062416"/>
                  <a:pt x="1095056" y="960416"/>
                </a:cubicBezTo>
                <a:cubicBezTo>
                  <a:pt x="1087129" y="944562"/>
                  <a:pt x="1078093" y="928705"/>
                  <a:pt x="1065559" y="916171"/>
                </a:cubicBezTo>
                <a:cubicBezTo>
                  <a:pt x="1053025" y="903637"/>
                  <a:pt x="1036062" y="896506"/>
                  <a:pt x="1021314" y="886674"/>
                </a:cubicBezTo>
                <a:cubicBezTo>
                  <a:pt x="974570" y="816559"/>
                  <a:pt x="1008632" y="848033"/>
                  <a:pt x="903327" y="812932"/>
                </a:cubicBezTo>
                <a:lnTo>
                  <a:pt x="859081" y="798184"/>
                </a:lnTo>
                <a:cubicBezTo>
                  <a:pt x="847086" y="762198"/>
                  <a:pt x="843426" y="738283"/>
                  <a:pt x="814836" y="709693"/>
                </a:cubicBezTo>
                <a:cubicBezTo>
                  <a:pt x="802302" y="697159"/>
                  <a:pt x="785339" y="690029"/>
                  <a:pt x="770591" y="680197"/>
                </a:cubicBezTo>
                <a:cubicBezTo>
                  <a:pt x="735489" y="574890"/>
                  <a:pt x="758341" y="617577"/>
                  <a:pt x="711598" y="547461"/>
                </a:cubicBezTo>
                <a:cubicBezTo>
                  <a:pt x="706682" y="429474"/>
                  <a:pt x="705573" y="311267"/>
                  <a:pt x="696849" y="193500"/>
                </a:cubicBezTo>
                <a:cubicBezTo>
                  <a:pt x="695701" y="177996"/>
                  <a:pt x="693094" y="160248"/>
                  <a:pt x="682101" y="149255"/>
                </a:cubicBezTo>
                <a:cubicBezTo>
                  <a:pt x="657033" y="124187"/>
                  <a:pt x="593610" y="90261"/>
                  <a:pt x="593610" y="90261"/>
                </a:cubicBezTo>
                <a:cubicBezTo>
                  <a:pt x="460875" y="95177"/>
                  <a:pt x="327936" y="96174"/>
                  <a:pt x="195404" y="105010"/>
                </a:cubicBezTo>
                <a:cubicBezTo>
                  <a:pt x="179892" y="106044"/>
                  <a:pt x="166494" y="117202"/>
                  <a:pt x="151159" y="119758"/>
                </a:cubicBezTo>
                <a:cubicBezTo>
                  <a:pt x="107247" y="127076"/>
                  <a:pt x="82333" y="60764"/>
                  <a:pt x="62669" y="13450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grpSp>
        <p:nvGrpSpPr>
          <p:cNvPr id="28" name="Group 79"/>
          <p:cNvGrpSpPr>
            <a:grpSpLocks/>
          </p:cNvGrpSpPr>
          <p:nvPr/>
        </p:nvGrpSpPr>
        <p:grpSpPr bwMode="auto">
          <a:xfrm>
            <a:off x="9984432" y="2564904"/>
            <a:ext cx="1081088" cy="1068387"/>
            <a:chOff x="1339" y="3268"/>
            <a:chExt cx="932" cy="921"/>
          </a:xfrm>
        </p:grpSpPr>
        <p:sp>
          <p:nvSpPr>
            <p:cNvPr id="29" name="Rectangle 80"/>
            <p:cNvSpPr>
              <a:spLocks noChangeArrowheads="1"/>
            </p:cNvSpPr>
            <p:nvPr/>
          </p:nvSpPr>
          <p:spPr bwMode="auto">
            <a:xfrm>
              <a:off x="1652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i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" name="Rectangle 81"/>
            <p:cNvSpPr>
              <a:spLocks noChangeArrowheads="1"/>
            </p:cNvSpPr>
            <p:nvPr/>
          </p:nvSpPr>
          <p:spPr bwMode="auto">
            <a:xfrm>
              <a:off x="1961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82"/>
            <p:cNvSpPr>
              <a:spLocks noChangeArrowheads="1"/>
            </p:cNvSpPr>
            <p:nvPr/>
          </p:nvSpPr>
          <p:spPr bwMode="auto">
            <a:xfrm>
              <a:off x="1652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83"/>
            <p:cNvSpPr>
              <a:spLocks noChangeArrowheads="1"/>
            </p:cNvSpPr>
            <p:nvPr/>
          </p:nvSpPr>
          <p:spPr bwMode="auto">
            <a:xfrm>
              <a:off x="1961" y="3879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4"/>
            <p:cNvSpPr>
              <a:spLocks noChangeArrowheads="1"/>
            </p:cNvSpPr>
            <p:nvPr/>
          </p:nvSpPr>
          <p:spPr bwMode="auto">
            <a:xfrm>
              <a:off x="1339" y="35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5"/>
            <p:cNvSpPr>
              <a:spLocks noChangeArrowheads="1"/>
            </p:cNvSpPr>
            <p:nvPr/>
          </p:nvSpPr>
          <p:spPr bwMode="auto">
            <a:xfrm>
              <a:off x="1339" y="3874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86"/>
            <p:cNvSpPr>
              <a:spLocks noChangeArrowheads="1"/>
            </p:cNvSpPr>
            <p:nvPr/>
          </p:nvSpPr>
          <p:spPr bwMode="auto">
            <a:xfrm>
              <a:off x="1652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7"/>
            <p:cNvSpPr>
              <a:spLocks noChangeArrowheads="1"/>
            </p:cNvSpPr>
            <p:nvPr/>
          </p:nvSpPr>
          <p:spPr bwMode="auto">
            <a:xfrm>
              <a:off x="1961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88"/>
            <p:cNvSpPr>
              <a:spLocks noChangeArrowheads="1"/>
            </p:cNvSpPr>
            <p:nvPr/>
          </p:nvSpPr>
          <p:spPr bwMode="auto">
            <a:xfrm>
              <a:off x="1339" y="3268"/>
              <a:ext cx="310" cy="31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55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6" grpId="0" animBg="1"/>
      <p:bldP spid="48" grpId="0" uiExpand="1" build="p"/>
      <p:bldP spid="49" grpId="0"/>
      <p:bldP spid="19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Labeling Connected Components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859206" y="1714488"/>
          <a:ext cx="288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1595406" y="1214422"/>
            <a:ext cx="4214842" cy="5500726"/>
          </a:xfrm>
        </p:spPr>
        <p:txBody>
          <a:bodyPr>
            <a:noAutofit/>
          </a:bodyPr>
          <a:lstStyle/>
          <a:p>
            <a:r>
              <a:rPr lang="pt-BR" sz="2000" dirty="0">
                <a:sym typeface="Symbol"/>
              </a:rPr>
              <a:t>[r, c] = find(L==2)</a:t>
            </a:r>
          </a:p>
          <a:p>
            <a:r>
              <a:rPr lang="pt-BR" sz="1600" dirty="0">
                <a:sym typeface="Symbol"/>
              </a:rPr>
              <a:t>r =</a:t>
            </a:r>
          </a:p>
          <a:p>
            <a:r>
              <a:rPr lang="pt-BR" sz="1600" dirty="0">
                <a:sym typeface="Symbol"/>
              </a:rPr>
              <a:t>     2</a:t>
            </a:r>
          </a:p>
          <a:p>
            <a:r>
              <a:rPr lang="pt-BR" sz="1600" dirty="0">
                <a:sym typeface="Symbol"/>
              </a:rPr>
              <a:t>     3</a:t>
            </a:r>
          </a:p>
          <a:p>
            <a:r>
              <a:rPr lang="pt-BR" sz="1600" dirty="0">
                <a:sym typeface="Symbol"/>
              </a:rPr>
              <a:t>     2</a:t>
            </a:r>
          </a:p>
          <a:p>
            <a:r>
              <a:rPr lang="pt-BR" sz="1600" dirty="0">
                <a:sym typeface="Symbol"/>
              </a:rPr>
              <a:t>     3</a:t>
            </a:r>
          </a:p>
          <a:p>
            <a:r>
              <a:rPr lang="pt-BR" sz="1600" dirty="0">
                <a:sym typeface="Symbol"/>
              </a:rPr>
              <a:t>     7</a:t>
            </a:r>
          </a:p>
          <a:p>
            <a:r>
              <a:rPr lang="pt-BR" sz="1600" dirty="0">
                <a:sym typeface="Symbol"/>
              </a:rPr>
              <a:t>     4</a:t>
            </a:r>
          </a:p>
          <a:p>
            <a:r>
              <a:rPr lang="pt-BR" sz="1600" dirty="0">
                <a:sym typeface="Symbol"/>
              </a:rPr>
              <a:t>     5</a:t>
            </a:r>
          </a:p>
          <a:p>
            <a:r>
              <a:rPr lang="pt-BR" sz="1600" dirty="0">
                <a:sym typeface="Symbol"/>
              </a:rPr>
              <a:t>     6</a:t>
            </a:r>
          </a:p>
          <a:p>
            <a:r>
              <a:rPr lang="pt-BR" sz="1600" dirty="0">
                <a:sym typeface="Symbol"/>
              </a:rPr>
              <a:t>c =</a:t>
            </a:r>
          </a:p>
          <a:p>
            <a:r>
              <a:rPr lang="pt-BR" sz="1600" dirty="0">
                <a:sym typeface="Symbol"/>
              </a:rPr>
              <a:t>     5</a:t>
            </a:r>
          </a:p>
          <a:p>
            <a:r>
              <a:rPr lang="pt-BR" sz="1600" dirty="0">
                <a:sym typeface="Symbol"/>
              </a:rPr>
              <a:t>     5</a:t>
            </a:r>
          </a:p>
          <a:p>
            <a:r>
              <a:rPr lang="pt-BR" sz="1600" dirty="0">
                <a:sym typeface="Symbol"/>
              </a:rPr>
              <a:t>     6</a:t>
            </a:r>
          </a:p>
          <a:p>
            <a:r>
              <a:rPr lang="pt-BR" sz="1600" dirty="0">
                <a:sym typeface="Symbol"/>
              </a:rPr>
              <a:t>     6</a:t>
            </a:r>
          </a:p>
          <a:p>
            <a:r>
              <a:rPr lang="pt-BR" sz="1600" dirty="0">
                <a:sym typeface="Symbol"/>
              </a:rPr>
              <a:t>     6</a:t>
            </a:r>
          </a:p>
          <a:p>
            <a:r>
              <a:rPr lang="pt-BR" sz="1600" dirty="0">
                <a:sym typeface="Symbol"/>
              </a:rPr>
              <a:t>     7</a:t>
            </a:r>
          </a:p>
          <a:p>
            <a:r>
              <a:rPr lang="pt-BR" sz="1600" dirty="0">
                <a:sym typeface="Symbol"/>
              </a:rPr>
              <a:t>     7</a:t>
            </a:r>
          </a:p>
          <a:p>
            <a:r>
              <a:rPr lang="pt-BR" sz="1600" dirty="0">
                <a:sym typeface="Symbol"/>
              </a:rPr>
              <a:t>     7</a:t>
            </a:r>
            <a:endParaRPr lang="en-US" sz="1600" dirty="0">
              <a:sym typeface="Symbo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44312" y="5221649"/>
            <a:ext cx="4587992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</a:rPr>
              <a:t>Centroid = round([mean(r), mean(c)])</a:t>
            </a:r>
          </a:p>
          <a:p>
            <a:r>
              <a:rPr lang="en-GB" sz="2000" dirty="0">
                <a:latin typeface="Times New Roman" panose="02020603050405020304" pitchFamily="18" charset="0"/>
              </a:rPr>
              <a:t>Centroid =</a:t>
            </a:r>
          </a:p>
          <a:p>
            <a:r>
              <a:rPr lang="en-GB" sz="2000" dirty="0">
                <a:latin typeface="Times New Roman" panose="02020603050405020304" pitchFamily="18" charset="0"/>
              </a:rPr>
              <a:t>     4     6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7239008" y="1974513"/>
            <a:ext cx="1146056" cy="2259416"/>
          </a:xfrm>
          <a:custGeom>
            <a:avLst/>
            <a:gdLst>
              <a:gd name="connsiteX0" fmla="*/ 62669 w 1146056"/>
              <a:gd name="connsiteY0" fmla="*/ 134506 h 2259416"/>
              <a:gd name="connsiteX1" fmla="*/ 33172 w 1146056"/>
              <a:gd name="connsiteY1" fmla="*/ 562210 h 2259416"/>
              <a:gd name="connsiteX2" fmla="*/ 18423 w 1146056"/>
              <a:gd name="connsiteY2" fmla="*/ 635952 h 2259416"/>
              <a:gd name="connsiteX3" fmla="*/ 3675 w 1146056"/>
              <a:gd name="connsiteY3" fmla="*/ 739190 h 2259416"/>
              <a:gd name="connsiteX4" fmla="*/ 431378 w 1146056"/>
              <a:gd name="connsiteY4" fmla="*/ 798184 h 2259416"/>
              <a:gd name="connsiteX5" fmla="*/ 549365 w 1146056"/>
              <a:gd name="connsiteY5" fmla="*/ 812932 h 2259416"/>
              <a:gd name="connsiteX6" fmla="*/ 696849 w 1146056"/>
              <a:gd name="connsiteY6" fmla="*/ 886674 h 2259416"/>
              <a:gd name="connsiteX7" fmla="*/ 711598 w 1146056"/>
              <a:gd name="connsiteY7" fmla="*/ 1196390 h 2259416"/>
              <a:gd name="connsiteX8" fmla="*/ 726346 w 1146056"/>
              <a:gd name="connsiteY8" fmla="*/ 1388119 h 2259416"/>
              <a:gd name="connsiteX9" fmla="*/ 785339 w 1146056"/>
              <a:gd name="connsiteY9" fmla="*/ 1476610 h 2259416"/>
              <a:gd name="connsiteX10" fmla="*/ 770591 w 1146056"/>
              <a:gd name="connsiteY10" fmla="*/ 1874816 h 2259416"/>
              <a:gd name="connsiteX11" fmla="*/ 726346 w 1146056"/>
              <a:gd name="connsiteY11" fmla="*/ 1904313 h 2259416"/>
              <a:gd name="connsiteX12" fmla="*/ 460875 w 1146056"/>
              <a:gd name="connsiteY12" fmla="*/ 1919061 h 2259416"/>
              <a:gd name="connsiteX13" fmla="*/ 460875 w 1146056"/>
              <a:gd name="connsiteY13" fmla="*/ 2228777 h 2259416"/>
              <a:gd name="connsiteX14" fmla="*/ 505120 w 1146056"/>
              <a:gd name="connsiteY14" fmla="*/ 2243526 h 2259416"/>
              <a:gd name="connsiteX15" fmla="*/ 770591 w 1146056"/>
              <a:gd name="connsiteY15" fmla="*/ 2228777 h 2259416"/>
              <a:gd name="connsiteX16" fmla="*/ 785339 w 1146056"/>
              <a:gd name="connsiteY16" fmla="*/ 2140287 h 2259416"/>
              <a:gd name="connsiteX17" fmla="*/ 829585 w 1146056"/>
              <a:gd name="connsiteY17" fmla="*/ 2051797 h 2259416"/>
              <a:gd name="connsiteX18" fmla="*/ 903327 w 1146056"/>
              <a:gd name="connsiteY18" fmla="*/ 1933810 h 2259416"/>
              <a:gd name="connsiteX19" fmla="*/ 991817 w 1146056"/>
              <a:gd name="connsiteY19" fmla="*/ 1919061 h 2259416"/>
              <a:gd name="connsiteX20" fmla="*/ 1050810 w 1146056"/>
              <a:gd name="connsiteY20" fmla="*/ 1712584 h 2259416"/>
              <a:gd name="connsiteX21" fmla="*/ 1080307 w 1146056"/>
              <a:gd name="connsiteY21" fmla="*/ 1565100 h 2259416"/>
              <a:gd name="connsiteX22" fmla="*/ 1095056 w 1146056"/>
              <a:gd name="connsiteY22" fmla="*/ 1329126 h 2259416"/>
              <a:gd name="connsiteX23" fmla="*/ 1095056 w 1146056"/>
              <a:gd name="connsiteY23" fmla="*/ 960416 h 2259416"/>
              <a:gd name="connsiteX24" fmla="*/ 1065559 w 1146056"/>
              <a:gd name="connsiteY24" fmla="*/ 916171 h 2259416"/>
              <a:gd name="connsiteX25" fmla="*/ 1021314 w 1146056"/>
              <a:gd name="connsiteY25" fmla="*/ 886674 h 2259416"/>
              <a:gd name="connsiteX26" fmla="*/ 903327 w 1146056"/>
              <a:gd name="connsiteY26" fmla="*/ 812932 h 2259416"/>
              <a:gd name="connsiteX27" fmla="*/ 859081 w 1146056"/>
              <a:gd name="connsiteY27" fmla="*/ 798184 h 2259416"/>
              <a:gd name="connsiteX28" fmla="*/ 814836 w 1146056"/>
              <a:gd name="connsiteY28" fmla="*/ 709693 h 2259416"/>
              <a:gd name="connsiteX29" fmla="*/ 770591 w 1146056"/>
              <a:gd name="connsiteY29" fmla="*/ 680197 h 2259416"/>
              <a:gd name="connsiteX30" fmla="*/ 711598 w 1146056"/>
              <a:gd name="connsiteY30" fmla="*/ 547461 h 2259416"/>
              <a:gd name="connsiteX31" fmla="*/ 696849 w 1146056"/>
              <a:gd name="connsiteY31" fmla="*/ 193500 h 2259416"/>
              <a:gd name="connsiteX32" fmla="*/ 682101 w 1146056"/>
              <a:gd name="connsiteY32" fmla="*/ 149255 h 2259416"/>
              <a:gd name="connsiteX33" fmla="*/ 593610 w 1146056"/>
              <a:gd name="connsiteY33" fmla="*/ 90261 h 2259416"/>
              <a:gd name="connsiteX34" fmla="*/ 195404 w 1146056"/>
              <a:gd name="connsiteY34" fmla="*/ 105010 h 2259416"/>
              <a:gd name="connsiteX35" fmla="*/ 151159 w 1146056"/>
              <a:gd name="connsiteY35" fmla="*/ 119758 h 2259416"/>
              <a:gd name="connsiteX36" fmla="*/ 62669 w 1146056"/>
              <a:gd name="connsiteY36" fmla="*/ 134506 h 2259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46056" h="2259416">
                <a:moveTo>
                  <a:pt x="62669" y="134506"/>
                </a:moveTo>
                <a:cubicBezTo>
                  <a:pt x="43005" y="208248"/>
                  <a:pt x="76419" y="0"/>
                  <a:pt x="33172" y="562210"/>
                </a:cubicBezTo>
                <a:cubicBezTo>
                  <a:pt x="31249" y="587204"/>
                  <a:pt x="22544" y="611226"/>
                  <a:pt x="18423" y="635952"/>
                </a:cubicBezTo>
                <a:cubicBezTo>
                  <a:pt x="12708" y="670241"/>
                  <a:pt x="8591" y="704777"/>
                  <a:pt x="3675" y="739190"/>
                </a:cubicBezTo>
                <a:cubicBezTo>
                  <a:pt x="62305" y="915084"/>
                  <a:pt x="0" y="774218"/>
                  <a:pt x="431378" y="798184"/>
                </a:cubicBezTo>
                <a:cubicBezTo>
                  <a:pt x="470952" y="800383"/>
                  <a:pt x="510036" y="808016"/>
                  <a:pt x="549365" y="812932"/>
                </a:cubicBezTo>
                <a:cubicBezTo>
                  <a:pt x="684548" y="846728"/>
                  <a:pt x="644865" y="808698"/>
                  <a:pt x="696849" y="886674"/>
                </a:cubicBezTo>
                <a:cubicBezTo>
                  <a:pt x="701765" y="989913"/>
                  <a:pt x="705529" y="1093213"/>
                  <a:pt x="711598" y="1196390"/>
                </a:cubicBezTo>
                <a:cubicBezTo>
                  <a:pt x="715362" y="1260378"/>
                  <a:pt x="710034" y="1326131"/>
                  <a:pt x="726346" y="1388119"/>
                </a:cubicBezTo>
                <a:cubicBezTo>
                  <a:pt x="735368" y="1422403"/>
                  <a:pt x="785339" y="1476610"/>
                  <a:pt x="785339" y="1476610"/>
                </a:cubicBezTo>
                <a:cubicBezTo>
                  <a:pt x="780423" y="1609345"/>
                  <a:pt x="788740" y="1743235"/>
                  <a:pt x="770591" y="1874816"/>
                </a:cubicBezTo>
                <a:cubicBezTo>
                  <a:pt x="768169" y="1892375"/>
                  <a:pt x="743893" y="1901806"/>
                  <a:pt x="726346" y="1904313"/>
                </a:cubicBezTo>
                <a:cubicBezTo>
                  <a:pt x="638610" y="1916847"/>
                  <a:pt x="549365" y="1914145"/>
                  <a:pt x="460875" y="1919061"/>
                </a:cubicBezTo>
                <a:cubicBezTo>
                  <a:pt x="422783" y="2033340"/>
                  <a:pt x="418576" y="2027853"/>
                  <a:pt x="460875" y="2228777"/>
                </a:cubicBezTo>
                <a:cubicBezTo>
                  <a:pt x="464078" y="2243990"/>
                  <a:pt x="490372" y="2238610"/>
                  <a:pt x="505120" y="2243526"/>
                </a:cubicBezTo>
                <a:cubicBezTo>
                  <a:pt x="593610" y="2238610"/>
                  <a:pt x="687429" y="2259416"/>
                  <a:pt x="770591" y="2228777"/>
                </a:cubicBezTo>
                <a:cubicBezTo>
                  <a:pt x="798651" y="2218439"/>
                  <a:pt x="778852" y="2169478"/>
                  <a:pt x="785339" y="2140287"/>
                </a:cubicBezTo>
                <a:cubicBezTo>
                  <a:pt x="795516" y="2094493"/>
                  <a:pt x="803069" y="2091570"/>
                  <a:pt x="829585" y="2051797"/>
                </a:cubicBezTo>
                <a:cubicBezTo>
                  <a:pt x="849314" y="1992608"/>
                  <a:pt x="841974" y="1954261"/>
                  <a:pt x="903327" y="1933810"/>
                </a:cubicBezTo>
                <a:cubicBezTo>
                  <a:pt x="931696" y="1924354"/>
                  <a:pt x="962320" y="1923977"/>
                  <a:pt x="991817" y="1919061"/>
                </a:cubicBezTo>
                <a:cubicBezTo>
                  <a:pt x="1076588" y="1834290"/>
                  <a:pt x="1028628" y="1901134"/>
                  <a:pt x="1050810" y="1712584"/>
                </a:cubicBezTo>
                <a:cubicBezTo>
                  <a:pt x="1058845" y="1644284"/>
                  <a:pt x="1065116" y="1625866"/>
                  <a:pt x="1080307" y="1565100"/>
                </a:cubicBezTo>
                <a:cubicBezTo>
                  <a:pt x="1085223" y="1486442"/>
                  <a:pt x="1090914" y="1407829"/>
                  <a:pt x="1095056" y="1329126"/>
                </a:cubicBezTo>
                <a:cubicBezTo>
                  <a:pt x="1096472" y="1302217"/>
                  <a:pt x="1146056" y="1062416"/>
                  <a:pt x="1095056" y="960416"/>
                </a:cubicBezTo>
                <a:cubicBezTo>
                  <a:pt x="1087129" y="944562"/>
                  <a:pt x="1078093" y="928705"/>
                  <a:pt x="1065559" y="916171"/>
                </a:cubicBezTo>
                <a:cubicBezTo>
                  <a:pt x="1053025" y="903637"/>
                  <a:pt x="1036062" y="896506"/>
                  <a:pt x="1021314" y="886674"/>
                </a:cubicBezTo>
                <a:cubicBezTo>
                  <a:pt x="974570" y="816559"/>
                  <a:pt x="1008632" y="848033"/>
                  <a:pt x="903327" y="812932"/>
                </a:cubicBezTo>
                <a:lnTo>
                  <a:pt x="859081" y="798184"/>
                </a:lnTo>
                <a:cubicBezTo>
                  <a:pt x="847086" y="762198"/>
                  <a:pt x="843426" y="738283"/>
                  <a:pt x="814836" y="709693"/>
                </a:cubicBezTo>
                <a:cubicBezTo>
                  <a:pt x="802302" y="697159"/>
                  <a:pt x="785339" y="690029"/>
                  <a:pt x="770591" y="680197"/>
                </a:cubicBezTo>
                <a:cubicBezTo>
                  <a:pt x="735489" y="574890"/>
                  <a:pt x="758341" y="617577"/>
                  <a:pt x="711598" y="547461"/>
                </a:cubicBezTo>
                <a:cubicBezTo>
                  <a:pt x="706682" y="429474"/>
                  <a:pt x="705573" y="311267"/>
                  <a:pt x="696849" y="193500"/>
                </a:cubicBezTo>
                <a:cubicBezTo>
                  <a:pt x="695701" y="177996"/>
                  <a:pt x="693094" y="160248"/>
                  <a:pt x="682101" y="149255"/>
                </a:cubicBezTo>
                <a:cubicBezTo>
                  <a:pt x="657033" y="124187"/>
                  <a:pt x="593610" y="90261"/>
                  <a:pt x="593610" y="90261"/>
                </a:cubicBezTo>
                <a:cubicBezTo>
                  <a:pt x="460875" y="95177"/>
                  <a:pt x="327936" y="96174"/>
                  <a:pt x="195404" y="105010"/>
                </a:cubicBezTo>
                <a:cubicBezTo>
                  <a:pt x="179892" y="106044"/>
                  <a:pt x="166494" y="117202"/>
                  <a:pt x="151159" y="119758"/>
                </a:cubicBezTo>
                <a:cubicBezTo>
                  <a:pt x="107247" y="127076"/>
                  <a:pt x="82333" y="60764"/>
                  <a:pt x="62669" y="13450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954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Labelling All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1382378"/>
            <a:ext cx="8572560" cy="5214974"/>
          </a:xfrm>
        </p:spPr>
        <p:txBody>
          <a:bodyPr>
            <a:noAutofit/>
          </a:bodyPr>
          <a:lstStyle/>
          <a:p>
            <a:r>
              <a:rPr lang="en-US" sz="2400" dirty="0"/>
              <a:t>f = </a:t>
            </a:r>
            <a:r>
              <a:rPr lang="en-US" sz="2400" dirty="0" err="1"/>
              <a:t>imread</a:t>
            </a:r>
            <a:r>
              <a:rPr lang="en-US" sz="2400" dirty="0"/>
              <a:t>('objects.tif');</a:t>
            </a:r>
          </a:p>
          <a:p>
            <a:r>
              <a:rPr lang="en-US" sz="2400" dirty="0"/>
              <a:t>[L, n]=</a:t>
            </a:r>
            <a:r>
              <a:rPr lang="en-US" sz="2400" dirty="0" err="1"/>
              <a:t>bwlabel</a:t>
            </a:r>
            <a:r>
              <a:rPr lang="en-US" sz="2400" dirty="0"/>
              <a:t>(f);</a:t>
            </a:r>
          </a:p>
          <a:p>
            <a:r>
              <a:rPr lang="en-US" sz="2400" dirty="0" err="1">
                <a:sym typeface="Symbol"/>
              </a:rPr>
              <a:t>imshow</a:t>
            </a:r>
            <a:r>
              <a:rPr lang="en-US" sz="2400" dirty="0">
                <a:sym typeface="Symbol"/>
              </a:rPr>
              <a:t>(f)</a:t>
            </a:r>
          </a:p>
          <a:p>
            <a:r>
              <a:rPr lang="en-US" sz="2400" dirty="0">
                <a:sym typeface="Symbol"/>
              </a:rPr>
              <a:t>hold on</a:t>
            </a:r>
          </a:p>
          <a:p>
            <a:r>
              <a:rPr lang="en-US" sz="2400" dirty="0">
                <a:sym typeface="Symbol"/>
              </a:rPr>
              <a:t>for k =1:n</a:t>
            </a:r>
          </a:p>
          <a:p>
            <a:r>
              <a:rPr lang="en-US" sz="2400" dirty="0">
                <a:sym typeface="Symbol"/>
              </a:rPr>
              <a:t>	[</a:t>
            </a:r>
            <a:r>
              <a:rPr lang="en-US" sz="2400" dirty="0" err="1">
                <a:sym typeface="Symbol"/>
              </a:rPr>
              <a:t>r,c</a:t>
            </a:r>
            <a:r>
              <a:rPr lang="en-US" sz="2400" dirty="0">
                <a:sym typeface="Symbol"/>
              </a:rPr>
              <a:t>] =find(L==k);</a:t>
            </a:r>
          </a:p>
          <a:p>
            <a:r>
              <a:rPr lang="en-US" sz="2400" dirty="0">
                <a:sym typeface="Symbol"/>
              </a:rPr>
              <a:t>	</a:t>
            </a:r>
            <a:r>
              <a:rPr lang="en-US" sz="2400" dirty="0" err="1">
                <a:sym typeface="Symbol"/>
              </a:rPr>
              <a:t>rbar</a:t>
            </a:r>
            <a:r>
              <a:rPr lang="en-US" sz="2400" dirty="0">
                <a:sym typeface="Symbol"/>
              </a:rPr>
              <a:t> =mean(r);</a:t>
            </a:r>
          </a:p>
          <a:p>
            <a:r>
              <a:rPr lang="en-US" sz="2400" dirty="0">
                <a:sym typeface="Symbol"/>
              </a:rPr>
              <a:t>	</a:t>
            </a:r>
            <a:r>
              <a:rPr lang="en-US" sz="2400" dirty="0" err="1">
                <a:sym typeface="Symbol"/>
              </a:rPr>
              <a:t>cbar</a:t>
            </a:r>
            <a:r>
              <a:rPr lang="en-US" sz="2400" dirty="0">
                <a:sym typeface="Symbol"/>
              </a:rPr>
              <a:t> =mean(c);</a:t>
            </a:r>
          </a:p>
          <a:p>
            <a:r>
              <a:rPr lang="en-US" sz="2400" dirty="0">
                <a:sym typeface="Symbol"/>
              </a:rPr>
              <a:t>	plot(</a:t>
            </a:r>
            <a:r>
              <a:rPr lang="en-US" sz="2400" dirty="0" err="1">
                <a:sym typeface="Symbol"/>
              </a:rPr>
              <a:t>cbar</a:t>
            </a:r>
            <a:r>
              <a:rPr lang="en-US" sz="2400" dirty="0">
                <a:sym typeface="Symbol"/>
              </a:rPr>
              <a:t>, </a:t>
            </a:r>
            <a:r>
              <a:rPr lang="en-US" sz="2400" dirty="0" err="1">
                <a:sym typeface="Symbol"/>
              </a:rPr>
              <a:t>rbar</a:t>
            </a:r>
            <a:r>
              <a:rPr lang="en-US" sz="2400" dirty="0">
                <a:sym typeface="Symbol"/>
              </a:rPr>
              <a:t>, 'Marker', '*', '</a:t>
            </a:r>
            <a:r>
              <a:rPr lang="en-US" sz="2400" dirty="0" err="1">
                <a:sym typeface="Symbol"/>
              </a:rPr>
              <a:t>MarkerEdgeColor</a:t>
            </a:r>
            <a:r>
              <a:rPr lang="en-US" sz="2400" dirty="0">
                <a:sym typeface="Symbol"/>
              </a:rPr>
              <a:t>', 'r');</a:t>
            </a:r>
          </a:p>
          <a:p>
            <a:r>
              <a:rPr lang="en-US" sz="2400" dirty="0">
                <a:sym typeface="Symbol"/>
              </a:rPr>
              <a:t>end</a:t>
            </a:r>
          </a:p>
        </p:txBody>
      </p:sp>
      <p:pic>
        <p:nvPicPr>
          <p:cNvPr id="4" name="Picture 3" descr="object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53046" y="1285860"/>
            <a:ext cx="2057400" cy="205740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596198" y="2143116"/>
            <a:ext cx="50006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24496" y="3357563"/>
            <a:ext cx="150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</a:rPr>
              <a:t>objects.tif</a:t>
            </a:r>
          </a:p>
        </p:txBody>
      </p:sp>
      <p:pic>
        <p:nvPicPr>
          <p:cNvPr id="8" name="Picture 7" descr="untitled.tif"/>
          <p:cNvPicPr>
            <a:picLocks noChangeAspect="1"/>
          </p:cNvPicPr>
          <p:nvPr/>
        </p:nvPicPr>
        <p:blipFill>
          <a:blip r:embed="rId4" cstate="print"/>
          <a:srcRect l="19424" t="7840" r="19424" b="16716"/>
          <a:stretch>
            <a:fillRect/>
          </a:stretch>
        </p:blipFill>
        <p:spPr>
          <a:xfrm>
            <a:off x="8310578" y="1285860"/>
            <a:ext cx="2059200" cy="20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2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Labelling Incomplete Filled Bottles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36" y="1268760"/>
            <a:ext cx="8496944" cy="534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('bottles.jpg');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t=double(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multithresh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(b,2))/256;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im2bw(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im2bw(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se5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('disk',5); se10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('disk',10);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imopen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(L,se5); L2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imclose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(L1,se10);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bLabel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n]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bwlabel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(L2);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k =1:n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r,c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find(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bLabel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==k);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mean(r);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mean(c);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if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280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LineWidth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2);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end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1747298"/>
            <a:ext cx="5579251" cy="376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488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59" y="1285860"/>
            <a:ext cx="10298029" cy="5500726"/>
          </a:xfrm>
        </p:spPr>
        <p:txBody>
          <a:bodyPr/>
          <a:lstStyle/>
          <a:p>
            <a:r>
              <a:rPr lang="en-US" dirty="0"/>
              <a:t>Collect some bottles at your home, partially and completely filled with some liquid. Take pictures of these bottles. Write a program which can label only incompletely filled bottles and test on these pictures.</a:t>
            </a:r>
          </a:p>
        </p:txBody>
      </p:sp>
    </p:spTree>
    <p:extLst>
      <p:ext uri="{BB962C8B-B14F-4D97-AF65-F5344CB8AC3E}">
        <p14:creationId xmlns:p14="http://schemas.microsoft.com/office/powerpoint/2010/main" val="8338182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5735960" y="4192067"/>
            <a:ext cx="6134481" cy="53307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Basic set of 2D geometric image transformations [SR, Fig. 3.45]</a:t>
            </a:r>
            <a:endParaRPr lang="en-US" altLang="zh-TW" sz="1400" dirty="0">
              <a:ea typeface="新細明體" pitchFamily="18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0144" y="395953"/>
            <a:ext cx="10388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Image Transformation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(Detail: Geometric Transformation-2D.pptx)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80" y="1196752"/>
            <a:ext cx="6984872" cy="29868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54FA64-BBE5-63AD-4946-40252A1609A8}"/>
              </a:ext>
            </a:extLst>
          </p:cNvPr>
          <p:cNvSpPr txBox="1"/>
          <p:nvPr/>
        </p:nvSpPr>
        <p:spPr>
          <a:xfrm>
            <a:off x="119336" y="1556792"/>
            <a:ext cx="442961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Registration</a:t>
            </a: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Augmentation</a:t>
            </a:r>
          </a:p>
        </p:txBody>
      </p:sp>
    </p:spTree>
    <p:extLst>
      <p:ext uri="{BB962C8B-B14F-4D97-AF65-F5344CB8AC3E}">
        <p14:creationId xmlns:p14="http://schemas.microsoft.com/office/powerpoint/2010/main" val="40641672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Geometric Image Transformation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6C4CB6E-BCB7-4399-8DB1-670F9C5A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156" y="1887602"/>
            <a:ext cx="18018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Translation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2E9D57FE-3F67-4EE2-90C5-87F16432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319" y="3501469"/>
            <a:ext cx="12493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Scaling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70C08F96-D14B-4E8D-AF5D-3DEF85CC0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1443" y="5262633"/>
            <a:ext cx="1406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Rotation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7434B17-2E98-40B5-BB27-076A8777B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267338"/>
              </p:ext>
            </p:extLst>
          </p:nvPr>
        </p:nvGraphicFramePr>
        <p:xfrm>
          <a:off x="128370" y="1333698"/>
          <a:ext cx="2874963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711000" progId="Equation.3">
                  <p:embed/>
                </p:oleObj>
              </mc:Choice>
              <mc:Fallback>
                <p:oleObj name="Equation" r:id="rId2" imgW="1346040" imgH="7110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B7434B17-2E98-40B5-BB27-076A8777B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70" y="1333698"/>
                        <a:ext cx="2874963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0FB70E31-C3C5-495F-BF27-74EEF70D0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972629"/>
              </p:ext>
            </p:extLst>
          </p:nvPr>
        </p:nvGraphicFramePr>
        <p:xfrm>
          <a:off x="117258" y="3126828"/>
          <a:ext cx="3036887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711000" progId="Equation.3">
                  <p:embed/>
                </p:oleObj>
              </mc:Choice>
              <mc:Fallback>
                <p:oleObj name="Equation" r:id="rId4" imgW="1422360" imgH="711000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0FB70E31-C3C5-495F-BF27-74EEF70D05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58" y="3126828"/>
                        <a:ext cx="3036887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DB779DFA-1522-4E0D-8154-5658888A0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590849"/>
              </p:ext>
            </p:extLst>
          </p:nvPr>
        </p:nvGraphicFramePr>
        <p:xfrm>
          <a:off x="115670" y="4862090"/>
          <a:ext cx="4284663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06280" imgH="711000" progId="Equation.3">
                  <p:embed/>
                </p:oleObj>
              </mc:Choice>
              <mc:Fallback>
                <p:oleObj name="Equation" r:id="rId6" imgW="2006280" imgH="711000" progId="Equation.3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DB779DFA-1522-4E0D-8154-5658888A01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70" y="4862090"/>
                        <a:ext cx="4284663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789" y="2662748"/>
            <a:ext cx="1703734" cy="127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ight Arrow 15"/>
          <p:cNvSpPr/>
          <p:nvPr/>
        </p:nvSpPr>
        <p:spPr>
          <a:xfrm>
            <a:off x="8364249" y="3113722"/>
            <a:ext cx="477830" cy="3506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8519">
            <a:off x="10083266" y="1778732"/>
            <a:ext cx="1787359" cy="134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23270">
            <a:off x="9984595" y="3607905"/>
            <a:ext cx="1289539" cy="96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700" y="3005662"/>
            <a:ext cx="959339" cy="71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560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Geometric Image Transformation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6C4CB6E-BCB7-4399-8DB1-670F9C5A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1704" y="1718306"/>
            <a:ext cx="20457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Aspect Ratio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2E9D57FE-3F67-4EE2-90C5-87F16432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497" y="3199792"/>
            <a:ext cx="14606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Shearing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70C08F96-D14B-4E8D-AF5D-3DEF85CC0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497" y="4828158"/>
            <a:ext cx="23208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General Affine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B7434B17-2E98-40B5-BB27-076A8777B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020937"/>
              </p:ext>
            </p:extLst>
          </p:nvPr>
        </p:nvGraphicFramePr>
        <p:xfrm>
          <a:off x="199528" y="1232287"/>
          <a:ext cx="311785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711000" progId="Equation.3">
                  <p:embed/>
                </p:oleObj>
              </mc:Choice>
              <mc:Fallback>
                <p:oleObj name="Equation" r:id="rId2" imgW="1460160" imgH="7110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B7434B17-2E98-40B5-BB27-076A8777B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28" y="1232287"/>
                        <a:ext cx="3117850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0FB70E31-C3C5-495F-BF27-74EEF70D0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75135"/>
              </p:ext>
            </p:extLst>
          </p:nvPr>
        </p:nvGraphicFramePr>
        <p:xfrm>
          <a:off x="189656" y="2780928"/>
          <a:ext cx="2819400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711000" progId="Equation.3">
                  <p:embed/>
                </p:oleObj>
              </mc:Choice>
              <mc:Fallback>
                <p:oleObj name="Equation" r:id="rId4" imgW="1320480" imgH="711000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0FB70E31-C3C5-495F-BF27-74EEF70D05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56" y="2780928"/>
                        <a:ext cx="2819400" cy="1519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DB779DFA-1522-4E0D-8154-5658888A0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627815"/>
              </p:ext>
            </p:extLst>
          </p:nvPr>
        </p:nvGraphicFramePr>
        <p:xfrm>
          <a:off x="199528" y="4365104"/>
          <a:ext cx="2900363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711000" progId="Equation.3">
                  <p:embed/>
                </p:oleObj>
              </mc:Choice>
              <mc:Fallback>
                <p:oleObj name="Equation" r:id="rId6" imgW="1358640" imgH="711000" progId="Equation.3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DB779DFA-1522-4E0D-8154-5658888A01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28" y="4365104"/>
                        <a:ext cx="2900363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387" y="1329568"/>
            <a:ext cx="1414217" cy="106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ight Arrow 14"/>
          <p:cNvSpPr/>
          <p:nvPr/>
        </p:nvSpPr>
        <p:spPr>
          <a:xfrm>
            <a:off x="7170597" y="1717157"/>
            <a:ext cx="46713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720" y="1274651"/>
            <a:ext cx="1115874" cy="138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80" y="2852936"/>
            <a:ext cx="1414217" cy="101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065" y="2862473"/>
            <a:ext cx="1536170" cy="1152128"/>
          </a:xfrm>
          <a:prstGeom prst="rect">
            <a:avLst/>
          </a:prstGeom>
          <a:noFill/>
          <a:scene3d>
            <a:camera prst="isometricLeft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ight Arrow 19"/>
          <p:cNvSpPr/>
          <p:nvPr/>
        </p:nvSpPr>
        <p:spPr>
          <a:xfrm>
            <a:off x="6687058" y="3102008"/>
            <a:ext cx="46713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0C08F96-D14B-4E8D-AF5D-3DEF85CC0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3914" y="4784035"/>
            <a:ext cx="16385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Projective</a:t>
            </a:r>
          </a:p>
        </p:txBody>
      </p:sp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DB779DFA-1522-4E0D-8154-5658888A0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29898"/>
              </p:ext>
            </p:extLst>
          </p:nvPr>
        </p:nvGraphicFramePr>
        <p:xfrm>
          <a:off x="6096000" y="4286026"/>
          <a:ext cx="292735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711000" progId="Equation.3">
                  <p:embed/>
                </p:oleObj>
              </mc:Choice>
              <mc:Fallback>
                <p:oleObj name="Equation" r:id="rId12" imgW="1371600" imgH="711000" progId="Equation.3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DB779DFA-1522-4E0D-8154-5658888A01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86026"/>
                        <a:ext cx="2927350" cy="151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2" y="5754998"/>
            <a:ext cx="1428993" cy="107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ight Arrow 24"/>
          <p:cNvSpPr/>
          <p:nvPr/>
        </p:nvSpPr>
        <p:spPr>
          <a:xfrm>
            <a:off x="4717298" y="6217001"/>
            <a:ext cx="401939" cy="2504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62808">
            <a:off x="5318932" y="5854720"/>
            <a:ext cx="1236086" cy="927065"/>
          </a:xfrm>
          <a:prstGeom prst="rect">
            <a:avLst/>
          </a:prstGeom>
          <a:noFill/>
          <a:scene3d>
            <a:camera prst="isometricTopUp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5741631"/>
            <a:ext cx="1428993" cy="107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ight Arrow 27"/>
          <p:cNvSpPr/>
          <p:nvPr/>
        </p:nvSpPr>
        <p:spPr>
          <a:xfrm>
            <a:off x="10549946" y="6165458"/>
            <a:ext cx="401939" cy="2504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2" descr="http://thefunnycat.com/wp-content/uploads/2010/05/funny-cat-fight.jp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093" y="5767797"/>
            <a:ext cx="1225579" cy="919184"/>
          </a:xfrm>
          <a:prstGeom prst="rect">
            <a:avLst/>
          </a:prstGeom>
          <a:noFill/>
          <a:scene3d>
            <a:camera prst="perspectiveLeft" fov="7200000">
              <a:rot lat="0" lon="30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0886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</a:rPr>
              <a:t>Geometric Image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37" y="1556792"/>
            <a:ext cx="11809312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Euclidean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(rigid) transform (3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Euclidean distances are preserved) = translation + rotation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Similarity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transform (4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preserves angles between lines) = translation + scaling + rotation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Affine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transform (6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Parallel lines remain parallel) = translation + rotation + scale + aspect ratio + shear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Projective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transform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Homographies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(8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preserve straight lines)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1555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0144" y="188640"/>
            <a:ext cx="103880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Registration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(Detail: Image Restoration.pptx)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459" y="1340768"/>
            <a:ext cx="1058606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Image registration is the process of aligning two or more images of the same scene.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input image is compared with a reference image—also known as base image.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spatial transformation is applied to the input image in order to align it with the base image. 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key step in image registration is determining the parameters of the spatial transformation required to bring the images into alignment.</a:t>
            </a:r>
          </a:p>
        </p:txBody>
      </p:sp>
    </p:spTree>
    <p:extLst>
      <p:ext uri="{BB962C8B-B14F-4D97-AF65-F5344CB8AC3E}">
        <p14:creationId xmlns:p14="http://schemas.microsoft.com/office/powerpoint/2010/main" val="19746688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Registration -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459" y="1340769"/>
            <a:ext cx="1101810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To align satellite images of the earth's surface.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To align images created by different medical diagnostic modalities (MRI and SPECT).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After registration, we can compare features in the images to see how a river has migrated, how an area is flooded, or to see if a tumor is visible in an MRI or SPECT image.</a:t>
            </a:r>
          </a:p>
        </p:txBody>
      </p:sp>
    </p:spTree>
    <p:extLst>
      <p:ext uri="{BB962C8B-B14F-4D97-AF65-F5344CB8AC3E}">
        <p14:creationId xmlns:p14="http://schemas.microsoft.com/office/powerpoint/2010/main" val="29966764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573" y="44624"/>
            <a:ext cx="5544616" cy="6706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35768" y="125760"/>
            <a:ext cx="10540752" cy="926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/>
              <a:t>Image Registration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1703512" y="2132856"/>
            <a:ext cx="2713142" cy="720080"/>
          </a:xfrm>
          <a:prstGeom prst="wedgeRectCallout">
            <a:avLst>
              <a:gd name="adj1" fmla="val 67805"/>
              <a:gd name="adj2" fmla="val -530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</a:rPr>
              <a:t>Point Mapping</a:t>
            </a:r>
          </a:p>
        </p:txBody>
      </p:sp>
    </p:spTree>
    <p:extLst>
      <p:ext uri="{BB962C8B-B14F-4D97-AF65-F5344CB8AC3E}">
        <p14:creationId xmlns:p14="http://schemas.microsoft.com/office/powerpoint/2010/main" val="8449355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Image Augmentation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846A6-7514-752D-7857-082A59E9F0AA}"/>
              </a:ext>
            </a:extLst>
          </p:cNvPr>
          <p:cNvSpPr txBox="1"/>
          <p:nvPr/>
        </p:nvSpPr>
        <p:spPr>
          <a:xfrm>
            <a:off x="226888" y="1412776"/>
            <a:ext cx="10549631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technique used in computer vision and machine learning to artificially increase the size and diversity of a dataset. It involves applying various transformations to existing images to create new, but similar, images. </a:t>
            </a:r>
          </a:p>
          <a:p>
            <a:pPr algn="just"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to create a larger and more diverse dataset, which can improve the model’s learning ability to generalize and prevent overfitting.</a:t>
            </a:r>
          </a:p>
        </p:txBody>
      </p:sp>
    </p:spTree>
    <p:extLst>
      <p:ext uri="{BB962C8B-B14F-4D97-AF65-F5344CB8AC3E}">
        <p14:creationId xmlns:p14="http://schemas.microsoft.com/office/powerpoint/2010/main" val="31850175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Image Augmentation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846A6-7514-752D-7857-082A59E9F0AA}"/>
              </a:ext>
            </a:extLst>
          </p:cNvPr>
          <p:cNvSpPr txBox="1"/>
          <p:nvPr/>
        </p:nvSpPr>
        <p:spPr>
          <a:xfrm>
            <a:off x="226888" y="1412776"/>
            <a:ext cx="105496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image augmentation techniques include: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Flipping: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Horizontally or vertically flipping the image.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Rotating the image by a random angle.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Randomly cropping a portion of the image.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Changing the size of the image.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Shifting the image horizontally or vertically.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jittering: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Randomly adjusting the brightness, contrast, saturation, and hue.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addition: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Adding random noise to the image.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Applying a Gaussian filter to blur the image.</a:t>
            </a:r>
          </a:p>
        </p:txBody>
      </p:sp>
    </p:spTree>
    <p:extLst>
      <p:ext uri="{BB962C8B-B14F-4D97-AF65-F5344CB8AC3E}">
        <p14:creationId xmlns:p14="http://schemas.microsoft.com/office/powerpoint/2010/main" val="1458637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Image Augmentation</a:t>
            </a:r>
          </a:p>
        </p:txBody>
      </p:sp>
      <p:pic>
        <p:nvPicPr>
          <p:cNvPr id="2050" name="Picture 2" descr="Best data augmentation techniques [2024 update]">
            <a:extLst>
              <a:ext uri="{FF2B5EF4-FFF2-40B4-BE49-F238E27FC236}">
                <a16:creationId xmlns:a16="http://schemas.microsoft.com/office/drawing/2014/main" id="{72D1A394-2C69-92C5-09AE-50F1F286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587999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0970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59" y="1285860"/>
            <a:ext cx="8857869" cy="550072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dirty="0"/>
              <a:t>Your company asks you to build  a cheap traffic light monitoring system. You have a camera that observes a traffic light and should emit events when the light changes the color. How would you proceed?</a:t>
            </a:r>
            <a:endParaRPr lang="fr-FR" sz="3600" dirty="0"/>
          </a:p>
        </p:txBody>
      </p:sp>
      <p:pic>
        <p:nvPicPr>
          <p:cNvPr id="4" name="Picture 4" descr="traffic_light_read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79123" y="1578843"/>
            <a:ext cx="2549525" cy="3362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644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6285</TotalTime>
  <Words>6114</Words>
  <Application>Microsoft Office PowerPoint</Application>
  <PresentationFormat>Widescreen</PresentationFormat>
  <Paragraphs>1452</Paragraphs>
  <Slides>76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76</vt:i4>
      </vt:variant>
    </vt:vector>
  </HeadingPairs>
  <TitlesOfParts>
    <vt:vector size="90" baseType="lpstr">
      <vt:lpstr>新細明體</vt:lpstr>
      <vt:lpstr>宋体</vt:lpstr>
      <vt:lpstr>Arial</vt:lpstr>
      <vt:lpstr>Courier New</vt:lpstr>
      <vt:lpstr>Symbol</vt:lpstr>
      <vt:lpstr>Times New Roman</vt:lpstr>
      <vt:lpstr>Verdana</vt:lpstr>
      <vt:lpstr>Webdings</vt:lpstr>
      <vt:lpstr>Wingdings</vt:lpstr>
      <vt:lpstr>Office Theme</vt:lpstr>
      <vt:lpstr>方程式</vt:lpstr>
      <vt:lpstr>Image</vt:lpstr>
      <vt:lpstr>Equation</vt:lpstr>
      <vt:lpstr>CorelPhotoPaint.Image.9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of Color Spaces      RGB</vt:lpstr>
      <vt:lpstr>Analysis of Color Spaces      RGB</vt:lpstr>
      <vt:lpstr>Analysis of Color Spaces      CMY</vt:lpstr>
      <vt:lpstr>Analysis of Color Spaces      HSV</vt:lpstr>
      <vt:lpstr>Analysis of Color Spaces      HSV</vt:lpstr>
      <vt:lpstr>Analysis of Color Spaces             YCbCr</vt:lpstr>
      <vt:lpstr>Analysis of Color Spaces              YCbCr</vt:lpstr>
      <vt:lpstr>Analysis of Color Spaces      L*a*b or CIELAB</vt:lpstr>
      <vt:lpstr>Analysis of Color Spaces      L*a*b</vt:lpstr>
      <vt:lpstr>Analysis of Color Spaces      Grayscale</vt:lpstr>
      <vt:lpstr>Exercise</vt:lpstr>
      <vt:lpstr>Digital Image Processing (Detail: Image Enhancement-Spatial Domain.pptx)</vt:lpstr>
      <vt:lpstr>Intensity Transformation</vt:lpstr>
      <vt:lpstr>Intensity Transformation    Image Negative</vt:lpstr>
      <vt:lpstr>Intensity Transformation    Power-Law (Gamma) </vt:lpstr>
      <vt:lpstr>Intensity Transformation    Power-Law (Gamma) </vt:lpstr>
      <vt:lpstr>Intensity Transformation    Logarithmic </vt:lpstr>
      <vt:lpstr>Intensity Transformation    Contrast-Stretching </vt:lpstr>
      <vt:lpstr>Intensity Transformation    Exercise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Segmentation of Water in Bottles</vt:lpstr>
      <vt:lpstr>PowerPoint Presentation</vt:lpstr>
      <vt:lpstr>Structuring Elements, Hits &amp; Fits</vt:lpstr>
      <vt:lpstr>Fitting &amp; Hitting</vt:lpstr>
      <vt:lpstr>Structuring Elements</vt:lpstr>
      <vt:lpstr>Erosion</vt:lpstr>
      <vt:lpstr>Erosion Example</vt:lpstr>
      <vt:lpstr>Dilation</vt:lpstr>
      <vt:lpstr>Dilation Example</vt:lpstr>
      <vt:lpstr>PowerPoint Presentation</vt:lpstr>
      <vt:lpstr>Segmentation of Water in Bottles</vt:lpstr>
      <vt:lpstr>Connected Components</vt:lpstr>
      <vt:lpstr>Connected Components</vt:lpstr>
      <vt:lpstr>Connected Components</vt:lpstr>
      <vt:lpstr>Boundary Extraction</vt:lpstr>
      <vt:lpstr>Labeling Connected Components</vt:lpstr>
      <vt:lpstr>Labeling Connected Components</vt:lpstr>
      <vt:lpstr>Labeling Connected Components</vt:lpstr>
      <vt:lpstr>Labelling All Objects</vt:lpstr>
      <vt:lpstr>Labelling Incomplete Filled Bottles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Registration - Applications</vt:lpstr>
      <vt:lpstr>PowerPoint Presentation</vt:lpstr>
      <vt:lpstr>Image Augmentation</vt:lpstr>
      <vt:lpstr>Image Augmentation</vt:lpstr>
      <vt:lpstr>Image Augmentation</vt:lpstr>
      <vt:lpstr>Exercise</vt:lpstr>
    </vt:vector>
  </TitlesOfParts>
  <Company>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zulfiqar.habib</dc:creator>
  <cp:lastModifiedBy>Zulfiqar Habib</cp:lastModifiedBy>
  <cp:revision>151</cp:revision>
  <dcterms:created xsi:type="dcterms:W3CDTF">2009-08-01T06:17:21Z</dcterms:created>
  <dcterms:modified xsi:type="dcterms:W3CDTF">2024-09-24T11:52:04Z</dcterms:modified>
</cp:coreProperties>
</file>