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5" r:id="rId2"/>
  </p:sldMasterIdLst>
  <p:notesMasterIdLst>
    <p:notesMasterId r:id="rId34"/>
  </p:notesMasterIdLst>
  <p:handoutMasterIdLst>
    <p:handoutMasterId r:id="rId35"/>
  </p:handoutMasterIdLst>
  <p:sldIdLst>
    <p:sldId id="256" r:id="rId3"/>
    <p:sldId id="574" r:id="rId4"/>
    <p:sldId id="612" r:id="rId5"/>
    <p:sldId id="613" r:id="rId6"/>
    <p:sldId id="399" r:id="rId7"/>
    <p:sldId id="892" r:id="rId8"/>
    <p:sldId id="615" r:id="rId9"/>
    <p:sldId id="616" r:id="rId10"/>
    <p:sldId id="893" r:id="rId11"/>
    <p:sldId id="617" r:id="rId12"/>
    <p:sldId id="618" r:id="rId13"/>
    <p:sldId id="619" r:id="rId14"/>
    <p:sldId id="883" r:id="rId15"/>
    <p:sldId id="884" r:id="rId16"/>
    <p:sldId id="885" r:id="rId17"/>
    <p:sldId id="886" r:id="rId18"/>
    <p:sldId id="887" r:id="rId19"/>
    <p:sldId id="888" r:id="rId20"/>
    <p:sldId id="889" r:id="rId21"/>
    <p:sldId id="890" r:id="rId22"/>
    <p:sldId id="891" r:id="rId23"/>
    <p:sldId id="894" r:id="rId24"/>
    <p:sldId id="547" r:id="rId25"/>
    <p:sldId id="548" r:id="rId26"/>
    <p:sldId id="549" r:id="rId27"/>
    <p:sldId id="550" r:id="rId28"/>
    <p:sldId id="551" r:id="rId29"/>
    <p:sldId id="552" r:id="rId30"/>
    <p:sldId id="580" r:id="rId31"/>
    <p:sldId id="581" r:id="rId32"/>
    <p:sldId id="582" r:id="rId33"/>
  </p:sldIdLst>
  <p:sldSz cx="12192000" cy="6858000"/>
  <p:notesSz cx="6858000" cy="9144000"/>
  <p:embeddedFontLst>
    <p:embeddedFont>
      <p:font typeface="新細明體" panose="02020500000000000000" pitchFamily="18" charset="-12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80"/>
    <a:srgbClr val="EAF1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87" autoAdjust="0"/>
    <p:restoredTop sz="88184" autoAdjust="0"/>
  </p:normalViewPr>
  <p:slideViewPr>
    <p:cSldViewPr>
      <p:cViewPr varScale="1">
        <p:scale>
          <a:sx n="78" d="100"/>
          <a:sy n="78" d="100"/>
        </p:scale>
        <p:origin x="188" y="64"/>
      </p:cViewPr>
      <p:guideLst>
        <p:guide orient="horz" pos="2160"/>
        <p:guide pos="3840"/>
      </p:guideLst>
    </p:cSldViewPr>
  </p:slideViewPr>
  <p:outlineViewPr>
    <p:cViewPr>
      <p:scale>
        <a:sx n="33" d="100"/>
        <a:sy n="33" d="100"/>
      </p:scale>
      <p:origin x="0" y="0"/>
    </p:cViewPr>
  </p:outlineViewPr>
  <p:notesTextViewPr>
    <p:cViewPr>
      <p:scale>
        <a:sx n="100" d="100"/>
        <a:sy n="100" d="100"/>
      </p:scale>
      <p:origin x="0" y="-916"/>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5DA5527-8220-42B8-ACF3-24A1AB195A99}" type="datetimeFigureOut">
              <a:rPr lang="en-US" smtClean="0"/>
              <a:pPr/>
              <a:t>12/7/2024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A17DC7-5FA3-4B0E-8E6A-F6882B79CF07}" type="slidenum">
              <a:rPr lang="en-US" smtClean="0"/>
              <a:pPr/>
              <a:t>‹#›</a:t>
            </a:fld>
            <a:endParaRPr lang="en-US"/>
          </a:p>
        </p:txBody>
      </p:sp>
    </p:spTree>
    <p:extLst>
      <p:ext uri="{BB962C8B-B14F-4D97-AF65-F5344CB8AC3E}">
        <p14:creationId xmlns:p14="http://schemas.microsoft.com/office/powerpoint/2010/main" val="5727112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C77E45-76C1-48AC-8770-A01EE13E3D9C}" type="datetimeFigureOut">
              <a:rPr lang="en-US" smtClean="0"/>
              <a:pPr/>
              <a:t>12/7/2024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308B8D-8E1E-4C22-9F0A-2468901663B5}" type="slidenum">
              <a:rPr lang="en-US" smtClean="0"/>
              <a:pPr/>
              <a:t>‹#›</a:t>
            </a:fld>
            <a:endParaRPr lang="en-US"/>
          </a:p>
        </p:txBody>
      </p:sp>
    </p:spTree>
    <p:extLst>
      <p:ext uri="{BB962C8B-B14F-4D97-AF65-F5344CB8AC3E}">
        <p14:creationId xmlns:p14="http://schemas.microsoft.com/office/powerpoint/2010/main" val="254943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pimelab.com/learn/rl/test.html"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en.wikipedia.org/wiki/Artificial_neural_network" TargetMode="External"/><Relationship Id="rId3" Type="http://schemas.openxmlformats.org/officeDocument/2006/relationships/hyperlink" Target="https://en.wikipedia.org/wiki/Machine_learning" TargetMode="External"/><Relationship Id="rId7" Type="http://schemas.openxmlformats.org/officeDocument/2006/relationships/hyperlink" Target="https://en.wikipedia.org/wiki/Unsupervised_learning"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en.wikipedia.org/wiki/Semi-supervised_learning" TargetMode="External"/><Relationship Id="rId5" Type="http://schemas.openxmlformats.org/officeDocument/2006/relationships/hyperlink" Target="https://en.wikipedia.org/wiki/Supervised_learning" TargetMode="External"/><Relationship Id="rId4" Type="http://schemas.openxmlformats.org/officeDocument/2006/relationships/hyperlink" Target="https://en.wikipedia.org/wiki/Learning_representation" TargetMode="External"/><Relationship Id="rId9" Type="http://schemas.openxmlformats.org/officeDocument/2006/relationships/hyperlink" Target="https://en.wikipedia.org/wiki/Directed_graph"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mc.ai/transfer-learning-with-deep-learning-machine-learning-technique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en.wikipedia.org/wiki/Generative_adversarial_network"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a:t>
            </a:fld>
            <a:endParaRPr lang="en-US"/>
          </a:p>
        </p:txBody>
      </p:sp>
    </p:spTree>
    <p:extLst>
      <p:ext uri="{BB962C8B-B14F-4D97-AF65-F5344CB8AC3E}">
        <p14:creationId xmlns:p14="http://schemas.microsoft.com/office/powerpoint/2010/main" val="4271205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1" dirty="0">
                <a:solidFill>
                  <a:srgbClr val="FF0000"/>
                </a:solidFill>
                <a:latin typeface="Times New Roman" panose="02020603050405020304" pitchFamily="18" charset="0"/>
                <a:cs typeface="Times New Roman" panose="02020603050405020304" pitchFamily="18" charset="0"/>
              </a:rPr>
              <a:t>Reinforcement Learning: I</a:t>
            </a:r>
            <a:r>
              <a:rPr lang="en-US" sz="1200" dirty="0">
                <a:latin typeface="Times New Roman" panose="02020603050405020304" pitchFamily="18" charset="0"/>
                <a:cs typeface="Times New Roman" panose="02020603050405020304" pitchFamily="18" charset="0"/>
              </a:rPr>
              <a:t>nteractive </a:t>
            </a:r>
            <a:r>
              <a:rPr lang="en-US" sz="1200" dirty="0">
                <a:latin typeface="Times New Roman" panose="02020603050405020304" pitchFamily="18" charset="0"/>
                <a:cs typeface="Times New Roman" panose="02020603050405020304" pitchFamily="18" charset="0"/>
                <a:hlinkClick r:id="rId3"/>
              </a:rPr>
              <a:t>demo</a:t>
            </a:r>
            <a:r>
              <a:rPr lang="en-US" sz="1200" dirty="0">
                <a:latin typeface="Times New Roman" panose="02020603050405020304" pitchFamily="18" charset="0"/>
                <a:cs typeface="Times New Roman" panose="02020603050405020304" pitchFamily="18" charset="0"/>
              </a:rPr>
              <a:t> (</a:t>
            </a:r>
            <a:r>
              <a:rPr lang="en-US" dirty="0">
                <a:hlinkClick r:id="rId3"/>
              </a:rPr>
              <a:t>https://spimelab.com/learn/rl/test.html</a:t>
            </a:r>
            <a:r>
              <a:rPr lang="en-US" dirty="0"/>
              <a:t>)</a:t>
            </a:r>
          </a:p>
        </p:txBody>
      </p:sp>
      <p:sp>
        <p:nvSpPr>
          <p:cNvPr id="4" name="Slide Number Placeholder 3"/>
          <p:cNvSpPr>
            <a:spLocks noGrp="1"/>
          </p:cNvSpPr>
          <p:nvPr>
            <p:ph type="sldNum" sz="quarter" idx="10"/>
          </p:nvPr>
        </p:nvSpPr>
        <p:spPr/>
        <p:txBody>
          <a:bodyPr/>
          <a:lstStyle/>
          <a:p>
            <a:fld id="{76308B8D-8E1E-4C22-9F0A-2468901663B5}" type="slidenum">
              <a:rPr lang="en-US" smtClean="0"/>
              <a:pPr/>
              <a:t>3</a:t>
            </a:fld>
            <a:endParaRPr lang="en-US"/>
          </a:p>
        </p:txBody>
      </p:sp>
    </p:spTree>
    <p:extLst>
      <p:ext uri="{BB962C8B-B14F-4D97-AF65-F5344CB8AC3E}">
        <p14:creationId xmlns:p14="http://schemas.microsoft.com/office/powerpoint/2010/main" val="1913935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pPr defTabSz="966529">
              <a:defRPr/>
            </a:pPr>
            <a:r>
              <a:rPr lang="en-US" dirty="0"/>
              <a:t>http://gim.unmc.edu/dxtests/roc3.htm</a:t>
            </a:r>
          </a:p>
          <a:p>
            <a:pPr defTabSz="966529">
              <a:defRPr/>
            </a:pPr>
            <a:r>
              <a:rPr lang="en-US" dirty="0"/>
              <a:t>1999-Paulus</a:t>
            </a:r>
          </a:p>
          <a:p>
            <a:pPr defTabSz="966529">
              <a:defRPr/>
            </a:pPr>
            <a:r>
              <a:rPr lang="en-US" dirty="0"/>
              <a:t>Rahman, Shah </a:t>
            </a:r>
            <a:r>
              <a:rPr lang="en-US" dirty="0" err="1"/>
              <a:t>Atiqur</a:t>
            </a:r>
            <a:r>
              <a:rPr lang="en-US" dirty="0"/>
              <a:t>, et al. "Fast action recognition using negative space features." </a:t>
            </a:r>
            <a:r>
              <a:rPr lang="en-US" i="1" dirty="0"/>
              <a:t>Expert Systems with Applications</a:t>
            </a:r>
            <a:r>
              <a:rPr lang="en-US" dirty="0"/>
              <a:t> 41.2 (2014): 574-587.</a:t>
            </a:r>
          </a:p>
          <a:p>
            <a:pPr defTabSz="966529">
              <a:defRPr/>
            </a:pPr>
            <a:r>
              <a:rPr lang="en-US" dirty="0"/>
              <a:t>Paulus, Dietrich, Joachim </a:t>
            </a:r>
            <a:r>
              <a:rPr lang="en-US" dirty="0" err="1"/>
              <a:t>Hornegger</a:t>
            </a:r>
            <a:r>
              <a:rPr lang="en-US" dirty="0"/>
              <a:t>, and Heinrich </a:t>
            </a:r>
            <a:r>
              <a:rPr lang="en-US" dirty="0" err="1"/>
              <a:t>Niemann</a:t>
            </a:r>
            <a:r>
              <a:rPr lang="en-US" dirty="0"/>
              <a:t>. "Software engineering for image processing and analysis." </a:t>
            </a:r>
            <a:r>
              <a:rPr lang="en-US" i="1" dirty="0"/>
              <a:t>Handbook of computer vision and applications</a:t>
            </a:r>
            <a:r>
              <a:rPr lang="en-US" dirty="0"/>
              <a:t> 3 (1999): 77-103.</a:t>
            </a:r>
          </a:p>
        </p:txBody>
      </p:sp>
    </p:spTree>
    <p:extLst>
      <p:ext uri="{BB962C8B-B14F-4D97-AF65-F5344CB8AC3E}">
        <p14:creationId xmlns:p14="http://schemas.microsoft.com/office/powerpoint/2010/main" val="247078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K-Nearest Neighbors (KNN), the parameter </a:t>
            </a:r>
            <a:r>
              <a:rPr lang="en-US" b="1" dirty="0"/>
              <a:t>K</a:t>
            </a:r>
            <a:r>
              <a:rPr lang="en-US" dirty="0"/>
              <a:t> (number of nearest neighbors) is chosen to control the model's performance. Here’s how </a:t>
            </a:r>
            <a:r>
              <a:rPr lang="en-US" b="1" dirty="0"/>
              <a:t>K</a:t>
            </a:r>
            <a:r>
              <a:rPr lang="en-US" dirty="0"/>
              <a:t> is generally estimated:</a:t>
            </a:r>
          </a:p>
          <a:p>
            <a:pPr>
              <a:buFont typeface="+mj-lt"/>
              <a:buAutoNum type="arabicPeriod"/>
            </a:pPr>
            <a:r>
              <a:rPr lang="en-US" b="1" dirty="0"/>
              <a:t>Empirical Testing</a:t>
            </a:r>
            <a:r>
              <a:rPr lang="en-US" dirty="0"/>
              <a:t>: Commonly, different values of </a:t>
            </a:r>
            <a:r>
              <a:rPr lang="en-US" b="1" dirty="0"/>
              <a:t>K</a:t>
            </a:r>
            <a:r>
              <a:rPr lang="en-US" dirty="0"/>
              <a:t> are tested (like 1, 3, 5, 7, etc.), and the one giving the best accuracy or lowest error on validation data is chosen.</a:t>
            </a:r>
          </a:p>
          <a:p>
            <a:pPr>
              <a:buFont typeface="+mj-lt"/>
              <a:buAutoNum type="arabicPeriod"/>
            </a:pPr>
            <a:r>
              <a:rPr lang="en-US" b="1" dirty="0"/>
              <a:t>Cross-Validation</a:t>
            </a:r>
            <a:r>
              <a:rPr lang="en-US" dirty="0"/>
              <a:t>: Cross-validation, especially k-fold cross-validation, is used to find the optimal </a:t>
            </a:r>
            <a:r>
              <a:rPr lang="en-US" b="1" dirty="0"/>
              <a:t>K</a:t>
            </a:r>
            <a:r>
              <a:rPr lang="en-US" dirty="0"/>
              <a:t> by checking performance on various subsets of data.</a:t>
            </a:r>
          </a:p>
          <a:p>
            <a:pPr>
              <a:buFont typeface="+mj-lt"/>
              <a:buAutoNum type="arabicPeriod"/>
            </a:pPr>
            <a:r>
              <a:rPr lang="en-US" b="1" dirty="0"/>
              <a:t>Odd Values for Classification</a:t>
            </a:r>
            <a:r>
              <a:rPr lang="en-US" dirty="0"/>
              <a:t>: If the task is classification, odd values of </a:t>
            </a:r>
            <a:r>
              <a:rPr lang="en-US" b="1" dirty="0"/>
              <a:t>K</a:t>
            </a:r>
            <a:r>
              <a:rPr lang="en-US" dirty="0"/>
              <a:t> are often preferred to avoid ties in voting.</a:t>
            </a:r>
          </a:p>
          <a:p>
            <a:pPr>
              <a:buFont typeface="+mj-lt"/>
              <a:buAutoNum type="arabicPeriod"/>
            </a:pPr>
            <a:r>
              <a:rPr lang="en-US" b="1" dirty="0"/>
              <a:t>Rule of Thumb</a:t>
            </a:r>
            <a:r>
              <a:rPr lang="en-US" dirty="0"/>
              <a:t>: A basic rule is to start with </a:t>
            </a:r>
            <a:r>
              <a:rPr lang="en-US" b="1" dirty="0"/>
              <a:t>K</a:t>
            </a:r>
            <a:r>
              <a:rPr lang="en-US" dirty="0"/>
              <a:t> around the square root of the total number of data points, then adjust as needed.</a:t>
            </a:r>
          </a:p>
          <a:p>
            <a:r>
              <a:rPr lang="en-US" dirty="0"/>
              <a:t>A good </a:t>
            </a:r>
            <a:r>
              <a:rPr lang="en-US" b="1" dirty="0"/>
              <a:t>K</a:t>
            </a:r>
            <a:r>
              <a:rPr lang="en-US" dirty="0"/>
              <a:t> balances bias (underfitting) and variance (overfitting) for reliable predictions.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308B8D-8E1E-4C22-9F0A-2468901663B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881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308B8D-8E1E-4C22-9F0A-2468901663B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0423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pPr defTabSz="966529">
              <a:defRPr/>
            </a:pPr>
            <a:r>
              <a:rPr lang="en-US" b="1" dirty="0"/>
              <a:t>Feature engineering </a:t>
            </a:r>
            <a:r>
              <a:rPr lang="en-US" dirty="0"/>
              <a:t>is the process of transforming raw data into meaningful features (variables or attributes) that improve the performance of machine learning models. It involves selecting, modifying, or creating new features to make patterns in the data more visible to the model. Good features can make a big difference in model accuracy and are essential for effective machine learning.</a:t>
            </a:r>
          </a:p>
        </p:txBody>
      </p:sp>
    </p:spTree>
    <p:extLst>
      <p:ext uri="{BB962C8B-B14F-4D97-AF65-F5344CB8AC3E}">
        <p14:creationId xmlns:p14="http://schemas.microsoft.com/office/powerpoint/2010/main" val="623944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fontScale="85000" lnSpcReduction="20000"/>
          </a:bodyPr>
          <a:lstStyle/>
          <a:p>
            <a:r>
              <a:rPr lang="en-US" sz="1200" b="1" i="0" kern="1200" dirty="0">
                <a:solidFill>
                  <a:schemeClr val="tx1"/>
                </a:solidFill>
                <a:effectLst/>
                <a:latin typeface="+mn-lt"/>
                <a:ea typeface="+mn-ea"/>
                <a:cs typeface="+mn-cs"/>
              </a:rPr>
              <a:t>Deep learning</a:t>
            </a:r>
            <a:r>
              <a:rPr lang="en-US" sz="1200" b="0" i="0" kern="1200" dirty="0">
                <a:solidFill>
                  <a:schemeClr val="tx1"/>
                </a:solidFill>
                <a:effectLst/>
                <a:latin typeface="+mn-lt"/>
                <a:ea typeface="+mn-ea"/>
                <a:cs typeface="+mn-cs"/>
              </a:rPr>
              <a:t> (also known as </a:t>
            </a:r>
            <a:r>
              <a:rPr lang="en-US" sz="1200" b="1" i="0" kern="1200" dirty="0">
                <a:solidFill>
                  <a:schemeClr val="tx1"/>
                </a:solidFill>
                <a:effectLst/>
                <a:latin typeface="+mn-lt"/>
                <a:ea typeface="+mn-ea"/>
                <a:cs typeface="+mn-cs"/>
              </a:rPr>
              <a:t>deep structured learning</a:t>
            </a:r>
            <a:r>
              <a:rPr lang="en-US" sz="1200" b="0" i="0" kern="1200" dirty="0">
                <a:solidFill>
                  <a:schemeClr val="tx1"/>
                </a:solidFill>
                <a:effectLst/>
                <a:latin typeface="+mn-lt"/>
                <a:ea typeface="+mn-ea"/>
                <a:cs typeface="+mn-cs"/>
              </a:rPr>
              <a:t> or </a:t>
            </a:r>
            <a:r>
              <a:rPr lang="en-US" sz="1200" b="1" i="0" kern="1200" dirty="0">
                <a:solidFill>
                  <a:schemeClr val="tx1"/>
                </a:solidFill>
                <a:effectLst/>
                <a:latin typeface="+mn-lt"/>
                <a:ea typeface="+mn-ea"/>
                <a:cs typeface="+mn-cs"/>
              </a:rPr>
              <a:t>hierarchical learning</a:t>
            </a:r>
            <a:r>
              <a:rPr lang="en-US" sz="1200" b="0" i="0" kern="1200" dirty="0">
                <a:solidFill>
                  <a:schemeClr val="tx1"/>
                </a:solidFill>
                <a:effectLst/>
                <a:latin typeface="+mn-lt"/>
                <a:ea typeface="+mn-ea"/>
                <a:cs typeface="+mn-cs"/>
              </a:rPr>
              <a:t>) is part of a broader family of </a:t>
            </a:r>
            <a:r>
              <a:rPr lang="en-US" sz="1200" b="0" i="0" u="none" strike="noStrike" kern="1200" dirty="0">
                <a:solidFill>
                  <a:schemeClr val="tx1"/>
                </a:solidFill>
                <a:effectLst/>
                <a:latin typeface="+mn-lt"/>
                <a:ea typeface="+mn-ea"/>
                <a:cs typeface="+mn-cs"/>
                <a:hlinkClick r:id="rId3" tooltip="Machine learning"/>
              </a:rPr>
              <a:t>machine learning</a:t>
            </a:r>
            <a:r>
              <a:rPr lang="en-US" sz="1200" b="0" i="0" kern="1200" dirty="0">
                <a:solidFill>
                  <a:schemeClr val="tx1"/>
                </a:solidFill>
                <a:effectLst/>
                <a:latin typeface="+mn-lt"/>
                <a:ea typeface="+mn-ea"/>
                <a:cs typeface="+mn-cs"/>
              </a:rPr>
              <a:t> methods based on </a:t>
            </a:r>
            <a:r>
              <a:rPr lang="en-US" sz="1200" b="0" i="0" u="none" strike="noStrike" kern="1200" dirty="0">
                <a:solidFill>
                  <a:schemeClr val="tx1"/>
                </a:solidFill>
                <a:effectLst/>
                <a:latin typeface="+mn-lt"/>
                <a:ea typeface="+mn-ea"/>
                <a:cs typeface="+mn-cs"/>
                <a:hlinkClick r:id="rId4" tooltip="Learning representation"/>
              </a:rPr>
              <a:t>learning data representations</a:t>
            </a:r>
            <a:r>
              <a:rPr lang="en-US" sz="1200" b="0" i="0" kern="1200" dirty="0">
                <a:solidFill>
                  <a:schemeClr val="tx1"/>
                </a:solidFill>
                <a:effectLst/>
                <a:latin typeface="+mn-lt"/>
                <a:ea typeface="+mn-ea"/>
                <a:cs typeface="+mn-cs"/>
              </a:rPr>
              <a:t>, as opposed to task-specific algorithms. Learning can be </a:t>
            </a:r>
            <a:r>
              <a:rPr lang="en-US" sz="1200" b="0" i="0" u="none" strike="noStrike" kern="1200" dirty="0">
                <a:solidFill>
                  <a:schemeClr val="tx1"/>
                </a:solidFill>
                <a:effectLst/>
                <a:latin typeface="+mn-lt"/>
                <a:ea typeface="+mn-ea"/>
                <a:cs typeface="+mn-cs"/>
                <a:hlinkClick r:id="rId5" tooltip="Supervised learning"/>
              </a:rPr>
              <a:t>supervised</a:t>
            </a:r>
            <a:r>
              <a:rPr lang="en-US" sz="1200" b="0" i="0" kern="1200" dirty="0">
                <a:solidFill>
                  <a:schemeClr val="tx1"/>
                </a:solidFill>
                <a:effectLst/>
                <a:latin typeface="+mn-lt"/>
                <a:ea typeface="+mn-ea"/>
                <a:cs typeface="+mn-cs"/>
              </a:rPr>
              <a:t>, </a:t>
            </a:r>
            <a:r>
              <a:rPr lang="en-US" sz="1200" b="0" i="0" u="sng" kern="1200" dirty="0">
                <a:solidFill>
                  <a:schemeClr val="tx1"/>
                </a:solidFill>
                <a:effectLst/>
                <a:latin typeface="+mn-lt"/>
                <a:ea typeface="+mn-ea"/>
                <a:cs typeface="+mn-cs"/>
                <a:hlinkClick r:id="rId6"/>
              </a:rPr>
              <a:t>semi-supervised</a:t>
            </a:r>
            <a:r>
              <a:rPr lang="en-US" sz="1200" b="0" i="0" kern="1200" dirty="0">
                <a:solidFill>
                  <a:schemeClr val="tx1"/>
                </a:solidFill>
                <a:effectLst/>
                <a:latin typeface="+mn-lt"/>
                <a:ea typeface="+mn-ea"/>
                <a:cs typeface="+mn-cs"/>
              </a:rPr>
              <a:t> or </a:t>
            </a:r>
            <a:r>
              <a:rPr lang="en-US" sz="1200" b="0" i="0" u="none" strike="noStrike" kern="1200" dirty="0">
                <a:solidFill>
                  <a:schemeClr val="tx1"/>
                </a:solidFill>
                <a:effectLst/>
                <a:latin typeface="+mn-lt"/>
                <a:ea typeface="+mn-ea"/>
                <a:cs typeface="+mn-cs"/>
                <a:hlinkClick r:id="rId7" tooltip="Unsupervised learning"/>
              </a:rPr>
              <a:t>unsupervised</a:t>
            </a:r>
            <a:r>
              <a:rPr lang="en-US" sz="1200" b="0" i="0" kern="1200" dirty="0">
                <a:solidFill>
                  <a:schemeClr val="tx1"/>
                </a:solidFill>
                <a:effectLst/>
                <a:latin typeface="+mn-lt"/>
                <a:ea typeface="+mn-ea"/>
                <a:cs typeface="+mn-cs"/>
              </a:rPr>
              <a:t>.</a:t>
            </a:r>
          </a:p>
          <a:p>
            <a:pPr defTabSz="966529">
              <a:defRPr/>
            </a:pPr>
            <a:endParaRPr lang="en-US" sz="1200" b="1" i="0" kern="1200" dirty="0">
              <a:solidFill>
                <a:schemeClr val="tx1"/>
              </a:solidFill>
              <a:effectLst/>
              <a:latin typeface="+mn-lt"/>
              <a:ea typeface="+mn-ea"/>
              <a:cs typeface="+mn-cs"/>
            </a:endParaRPr>
          </a:p>
          <a:p>
            <a:pPr defTabSz="966529">
              <a:defRPr/>
            </a:pPr>
            <a:r>
              <a:rPr lang="en-US" sz="1200" b="1" i="0" kern="1200" dirty="0">
                <a:solidFill>
                  <a:schemeClr val="tx1"/>
                </a:solidFill>
                <a:effectLst/>
                <a:latin typeface="+mn-lt"/>
                <a:ea typeface="+mn-ea"/>
                <a:cs typeface="+mn-cs"/>
              </a:rPr>
              <a:t>RNN</a:t>
            </a:r>
            <a:r>
              <a:rPr lang="en-US" sz="1200" b="0" i="0" kern="120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recurrent neural networks) </a:t>
            </a:r>
            <a:r>
              <a:rPr lang="en-US" sz="1200" b="0" i="0" kern="1200" dirty="0">
                <a:solidFill>
                  <a:schemeClr val="tx1"/>
                </a:solidFill>
                <a:effectLst/>
                <a:latin typeface="+mn-lt"/>
                <a:ea typeface="+mn-ea"/>
                <a:cs typeface="+mn-cs"/>
              </a:rPr>
              <a:t>is a class of </a:t>
            </a:r>
            <a:r>
              <a:rPr lang="en-US" sz="1200" b="0" i="0" u="none" strike="noStrike" kern="1200" dirty="0">
                <a:solidFill>
                  <a:schemeClr val="tx1"/>
                </a:solidFill>
                <a:effectLst/>
                <a:latin typeface="+mn-lt"/>
                <a:ea typeface="+mn-ea"/>
                <a:cs typeface="+mn-cs"/>
                <a:hlinkClick r:id="rId8" tooltip="Artificial neural network"/>
              </a:rPr>
              <a:t>artificial neural network</a:t>
            </a:r>
            <a:r>
              <a:rPr lang="en-US" sz="1200" b="0" i="0" kern="1200" dirty="0">
                <a:solidFill>
                  <a:schemeClr val="tx1"/>
                </a:solidFill>
                <a:effectLst/>
                <a:latin typeface="+mn-lt"/>
                <a:ea typeface="+mn-ea"/>
                <a:cs typeface="+mn-cs"/>
              </a:rPr>
              <a:t> where connections between nodes form a </a:t>
            </a:r>
            <a:r>
              <a:rPr lang="en-US" sz="1200" b="0" i="0" u="none" strike="noStrike" kern="1200" dirty="0">
                <a:solidFill>
                  <a:schemeClr val="tx1"/>
                </a:solidFill>
                <a:effectLst/>
                <a:latin typeface="+mn-lt"/>
                <a:ea typeface="+mn-ea"/>
                <a:cs typeface="+mn-cs"/>
                <a:hlinkClick r:id="rId9" tooltip="Directed graph"/>
              </a:rPr>
              <a:t>directed graph</a:t>
            </a:r>
            <a:r>
              <a:rPr lang="en-US" sz="1200" b="0" i="0" kern="1200" dirty="0">
                <a:solidFill>
                  <a:schemeClr val="tx1"/>
                </a:solidFill>
                <a:effectLst/>
                <a:latin typeface="+mn-lt"/>
                <a:ea typeface="+mn-ea"/>
                <a:cs typeface="+mn-cs"/>
              </a:rPr>
              <a:t> along a sequence.</a:t>
            </a:r>
          </a:p>
          <a:p>
            <a:pPr defTabSz="966529">
              <a:defRPr/>
            </a:pPr>
            <a:endParaRPr lang="en-US" dirty="0"/>
          </a:p>
          <a:p>
            <a:r>
              <a:rPr lang="en-GB" sz="1200" b="0" i="0" kern="1200" dirty="0">
                <a:solidFill>
                  <a:schemeClr val="tx1"/>
                </a:solidFill>
                <a:effectLst/>
                <a:latin typeface="+mn-lt"/>
                <a:ea typeface="+mn-ea"/>
                <a:cs typeface="+mn-cs"/>
              </a:rPr>
              <a:t>Neural networks is a generic name for a large class of machine learning algorithms, including but not limited to: </a:t>
            </a:r>
            <a:r>
              <a:rPr lang="en-GB" sz="1200" b="0" i="0" kern="1200" dirty="0" err="1">
                <a:solidFill>
                  <a:schemeClr val="tx1"/>
                </a:solidFill>
                <a:effectLst/>
                <a:latin typeface="+mn-lt"/>
                <a:ea typeface="+mn-ea"/>
                <a:cs typeface="+mn-cs"/>
              </a:rPr>
              <a:t>perceptrons</a:t>
            </a:r>
            <a:r>
              <a:rPr lang="en-GB" sz="1200" b="0" i="0" kern="1200" dirty="0">
                <a:solidFill>
                  <a:schemeClr val="tx1"/>
                </a:solidFill>
                <a:effectLst/>
                <a:latin typeface="+mn-lt"/>
                <a:ea typeface="+mn-ea"/>
                <a:cs typeface="+mn-cs"/>
              </a:rPr>
              <a:t>, Hopfield networks, Boltzmann machines, fully connected neural networks, convolutional neural networks, recurrent neural networks, long short term memory neural networks, autoencoders, deep belief networks, generative adversarial networks and many more. Most of them are trained with an algorithm called backpropagation.</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In the late eighties, early to mid nineties, the dominating algorithm in neural nets (and machine learning in general) was fully connected neural networks and still if you say simply a neural net, people might think that you are talking about a fully connected network. Those types of networks have a large number of parameters, and so do not scale well. Here comes convolutional neural networks which could be considered essentially a not fully connected neural nets (each neuron is connected to only a few neurons in the previous layer) and neurons share weights. These type of networks have been proven successfully especially in the fields of computer vision and natural language processing, where they broke every record. The success of convolutional neural networks was the main reason why neural nets (now called deep learning) has become such a hot topic in the last 5 years.</a:t>
            </a:r>
          </a:p>
          <a:p>
            <a:endParaRPr lang="en-GB" sz="1200" b="0" i="0" kern="1200" dirty="0">
              <a:solidFill>
                <a:schemeClr val="tx1"/>
              </a:solidFill>
              <a:effectLst/>
              <a:latin typeface="+mn-lt"/>
              <a:ea typeface="+mn-ea"/>
              <a:cs typeface="+mn-cs"/>
            </a:endParaRPr>
          </a:p>
          <a:p>
            <a:pPr defTabSz="966529">
              <a:defRPr/>
            </a:pPr>
            <a:r>
              <a:rPr lang="en-US" dirty="0"/>
              <a:t>It is clear that the learning speed of feedforward neural networks including deep learning is in general far slower than required and it has been a major bottleneck in their applications for past decades. Two key reasons behind may be: 1) the slow gradient-based learning algorithms are extensively used to train neural networks, and 2) all the parameters of the networks are tuned iteratively by using such learning algorithms.</a:t>
            </a:r>
          </a:p>
          <a:p>
            <a:pPr defTabSz="966529">
              <a:defRPr/>
            </a:pPr>
            <a:endParaRPr lang="en-US" dirty="0">
              <a:latin typeface="Times New Roman" panose="02020603050405020304" pitchFamily="18" charset="0"/>
              <a:cs typeface="Times New Roman" panose="02020603050405020304" pitchFamily="18" charset="0"/>
            </a:endParaRPr>
          </a:p>
          <a:p>
            <a:pPr defTabSz="966529">
              <a:defRPr/>
            </a:pPr>
            <a:r>
              <a:rPr lang="en-US" dirty="0"/>
              <a:t>http://www.nature.com/nature/journal/v521/n7553/pdf/nature14539.pdf</a:t>
            </a:r>
          </a:p>
          <a:p>
            <a:pPr defTabSz="966529">
              <a:defRPr/>
            </a:pPr>
            <a:r>
              <a:rPr lang="en-US" dirty="0"/>
              <a:t>http://www.cs.nyu.edu/~yann/talks/lecun-20080409-google.pdf</a:t>
            </a:r>
          </a:p>
        </p:txBody>
      </p:sp>
    </p:spTree>
    <p:extLst>
      <p:ext uri="{BB962C8B-B14F-4D97-AF65-F5344CB8AC3E}">
        <p14:creationId xmlns:p14="http://schemas.microsoft.com/office/powerpoint/2010/main" val="3761335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56ECB-78A0-0FF5-7D1D-8F466D28B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82462-A0D0-DE0F-D61A-F91660592072}"/>
              </a:ext>
            </a:extLst>
          </p:cNvPr>
          <p:cNvSpPr>
            <a:spLocks noGrp="1" noRot="1" noChangeAspect="1"/>
          </p:cNvSpPr>
          <p:nvPr>
            <p:ph type="sldImg"/>
          </p:nvPr>
        </p:nvSpPr>
        <p:spPr>
          <a:xfrm>
            <a:off x="457200" y="719138"/>
            <a:ext cx="6400800" cy="3600450"/>
          </a:xfrm>
        </p:spPr>
      </p:sp>
      <p:sp>
        <p:nvSpPr>
          <p:cNvPr id="3" name="Notes Placeholder 2">
            <a:extLst>
              <a:ext uri="{FF2B5EF4-FFF2-40B4-BE49-F238E27FC236}">
                <a16:creationId xmlns:a16="http://schemas.microsoft.com/office/drawing/2014/main" id="{D6AD4DD3-EAB8-D7F5-3A0D-96B20A893259}"/>
              </a:ext>
            </a:extLst>
          </p:cNvP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054653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defTabSz="966529">
              <a:defRP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1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en-US" dirty="0">
                <a:hlinkClick r:id="rId3"/>
              </a:rPr>
              <a:t>https://mc.ai/transfer-learning-with-deep-learning-machine-learning-techniques/</a:t>
            </a:r>
            <a:endParaRPr lang="en-US" dirty="0"/>
          </a:p>
          <a:p>
            <a:r>
              <a:rPr lang="en-US" dirty="0">
                <a:latin typeface="Times New Roman" panose="02020603050405020304" pitchFamily="18" charset="0"/>
                <a:cs typeface="Times New Roman" panose="02020603050405020304" pitchFamily="18" charset="0"/>
              </a:rPr>
              <a:t>Rectified Linear Unit (</a:t>
            </a:r>
            <a:r>
              <a:rPr lang="en-US" dirty="0" err="1">
                <a:latin typeface="Times New Roman" panose="02020603050405020304" pitchFamily="18" charset="0"/>
                <a:cs typeface="Times New Roman" panose="02020603050405020304" pitchFamily="18" charset="0"/>
              </a:rPr>
              <a:t>ReLU</a:t>
            </a:r>
            <a:r>
              <a:rPr lang="en-US" dirty="0">
                <a:latin typeface="Times New Roman" panose="02020603050405020304" pitchFamily="18" charset="0"/>
                <a:cs typeface="Times New Roman" panose="02020603050405020304" pitchFamily="18" charset="0"/>
              </a:rPr>
              <a:t>): is a piecewise linear function that will output the input directly if is positive, otherwise, it will output zero. It has become the default activation function for many types of neural networks because a model that uses it is easier to train and often achieves better performance.</a:t>
            </a:r>
          </a:p>
        </p:txBody>
      </p:sp>
    </p:spTree>
    <p:extLst>
      <p:ext uri="{BB962C8B-B14F-4D97-AF65-F5344CB8AC3E}">
        <p14:creationId xmlns:p14="http://schemas.microsoft.com/office/powerpoint/2010/main" val="2385006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315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rPr>
              <a:t>While modern machine learning techniques are inspired by biological learning, it's important to note that they are not exact replicas of biological systems. Instead, they selectively borrow ideas and principles from biology to develop computational models that are effective for solving specific tasks in artificial intelligence. Additionally, many machine learning techniques have evolved independently of biological inspiration, driven primarily by mathematical and computational considerations.</a:t>
            </a:r>
            <a:endParaRPr lang="en-US" dirty="0">
              <a:solidFill>
                <a:srgbClr val="211D1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6622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Filling the gap between single hidden layer of learning and multi-hidden-layer of learning</a:t>
            </a:r>
          </a:p>
          <a:p>
            <a:r>
              <a:rPr lang="en-US" sz="1200" b="0" i="0" u="none" strike="noStrike" kern="1200" baseline="0" dirty="0">
                <a:solidFill>
                  <a:schemeClr val="tx1"/>
                </a:solidFill>
                <a:latin typeface="Times New Roman" panose="02020603050405020304" pitchFamily="18" charset="0"/>
                <a:ea typeface="+mn-ea"/>
                <a:cs typeface="Times New Roman" panose="02020603050405020304" pitchFamily="18" charset="0"/>
              </a:rPr>
              <a:t>ELM is a Single-Hidden Layer Feedforward Networks (SLFNs) </a:t>
            </a:r>
          </a:p>
          <a:p>
            <a:endParaRPr lang="en-US" sz="12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Do we really need to train multi hidden layers of feedforward networks by iteratively adjusting hidden neurons? Should feedforward neural networks be considered as a </a:t>
            </a:r>
            <a:r>
              <a:rPr lang="en-US" sz="1200" b="0" i="0" kern="1200" dirty="0" err="1">
                <a:solidFill>
                  <a:schemeClr val="tx1"/>
                </a:solidFill>
                <a:effectLst/>
                <a:latin typeface="Times New Roman" panose="02020603050405020304" pitchFamily="18" charset="0"/>
                <a:ea typeface="+mn-ea"/>
                <a:cs typeface="Times New Roman" panose="02020603050405020304" pitchFamily="18" charset="0"/>
              </a:rPr>
              <a:t>blackbox</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as considered in the past six decades?</a:t>
            </a:r>
          </a:p>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Different from BP and SVM which consider multi-layer of networks as a black box, ELM handles both SLFNs and multi-hidden-layer of networks similarly. ELM considers multi-hidden-layer of networks as a white box and trained layer-by-layer. However, different from Deep Learning which requires intensive tuning in hidden layers and hidden neurons, ELM theories show that hidden neurons are important but need not be turned (for both SLFNs and multi-hidden-layer of networks) , learning can simply be made without iteratively tuning hidden neurons.</a:t>
            </a:r>
          </a:p>
          <a:p>
            <a:endParaRPr lang="en-US" sz="1200" b="0" i="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Different from Deep Learning, all the hidden neurons in hierarchical ELM as a whole are not required to be iteratively tuned.</a:t>
            </a:r>
            <a:endParaRPr lang="en-US" sz="1200" b="0" i="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p>
            <a:pPr defTabSz="966529">
              <a:defRPr/>
            </a:pPr>
            <a:endParaRPr lang="en-US" dirty="0">
              <a:solidFill>
                <a:srgbClr val="211D1E"/>
              </a:solidFill>
              <a:latin typeface="Times New Roman" panose="02020603050405020304" pitchFamily="18" charset="0"/>
              <a:cs typeface="Times New Roman" panose="02020603050405020304" pitchFamily="18" charset="0"/>
            </a:endParaRPr>
          </a:p>
          <a:p>
            <a:pPr defTabSz="966529">
              <a:defRPr/>
            </a:pPr>
            <a:r>
              <a:rPr lang="en-US" b="1" dirty="0">
                <a:solidFill>
                  <a:srgbClr val="211D1E"/>
                </a:solidFill>
                <a:latin typeface="Times New Roman" panose="02020603050405020304" pitchFamily="18" charset="0"/>
                <a:cs typeface="Times New Roman" panose="02020603050405020304" pitchFamily="18" charset="0"/>
              </a:rPr>
              <a:t>http://www.ntu.edu.sg/home/egbhuang/</a:t>
            </a:r>
          </a:p>
          <a:p>
            <a:pPr defTabSz="966529">
              <a:defRPr/>
            </a:pPr>
            <a:endParaRPr lang="en-US" b="1" dirty="0">
              <a:solidFill>
                <a:srgbClr val="211D1E"/>
              </a:solidFill>
              <a:latin typeface="Times New Roman" panose="02020603050405020304" pitchFamily="18" charset="0"/>
              <a:cs typeface="Times New Roman" panose="02020603050405020304" pitchFamily="18" charset="0"/>
            </a:endParaRPr>
          </a:p>
          <a:p>
            <a:pPr defTabSz="966529">
              <a:defRPr/>
            </a:pPr>
            <a:r>
              <a:rPr lang="en-US" dirty="0">
                <a:solidFill>
                  <a:srgbClr val="211D1E"/>
                </a:solidFill>
                <a:latin typeface="Times New Roman" panose="02020603050405020304" pitchFamily="18" charset="0"/>
                <a:cs typeface="Times New Roman" panose="02020603050405020304" pitchFamily="18" charset="0"/>
              </a:rPr>
              <a:t>Xia Liu, </a:t>
            </a:r>
            <a:r>
              <a:rPr lang="en-US" dirty="0" err="1">
                <a:solidFill>
                  <a:srgbClr val="211D1E"/>
                </a:solidFill>
                <a:latin typeface="Times New Roman" panose="02020603050405020304" pitchFamily="18" charset="0"/>
                <a:cs typeface="Times New Roman" panose="02020603050405020304" pitchFamily="18" charset="0"/>
              </a:rPr>
              <a:t>Shaobo</a:t>
            </a:r>
            <a:r>
              <a:rPr lang="en-US" dirty="0">
                <a:solidFill>
                  <a:srgbClr val="211D1E"/>
                </a:solidFill>
                <a:latin typeface="Times New Roman" panose="02020603050405020304" pitchFamily="18" charset="0"/>
                <a:cs typeface="Times New Roman" panose="02020603050405020304" pitchFamily="18" charset="0"/>
              </a:rPr>
              <a:t> Lin, Jian Fang, and </a:t>
            </a:r>
            <a:r>
              <a:rPr lang="en-US" dirty="0" err="1">
                <a:solidFill>
                  <a:srgbClr val="211D1E"/>
                </a:solidFill>
                <a:latin typeface="Times New Roman" panose="02020603050405020304" pitchFamily="18" charset="0"/>
                <a:cs typeface="Times New Roman" panose="02020603050405020304" pitchFamily="18" charset="0"/>
              </a:rPr>
              <a:t>Zongben</a:t>
            </a:r>
            <a:r>
              <a:rPr lang="en-US" dirty="0">
                <a:solidFill>
                  <a:srgbClr val="211D1E"/>
                </a:solidFill>
                <a:latin typeface="Times New Roman" panose="02020603050405020304" pitchFamily="18" charset="0"/>
                <a:cs typeface="Times New Roman" panose="02020603050405020304" pitchFamily="18" charset="0"/>
              </a:rPr>
              <a:t> Xu, Is Extreme Learning Machine Feasible? A Theoretical Assessment (Part I), IEEE Transactions on Neural Networks and Learning Systems, Vol. 26, No. 1, 2015.</a:t>
            </a:r>
          </a:p>
        </p:txBody>
      </p:sp>
    </p:spTree>
    <p:extLst>
      <p:ext uri="{BB962C8B-B14F-4D97-AF65-F5344CB8AC3E}">
        <p14:creationId xmlns:p14="http://schemas.microsoft.com/office/powerpoint/2010/main" val="1421268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211D1E"/>
                </a:solidFill>
                <a:latin typeface="Times New Roman" panose="02020603050405020304" pitchFamily="18" charset="0"/>
                <a:cs typeface="Times New Roman" panose="02020603050405020304" pitchFamily="18" charset="0"/>
              </a:rPr>
              <a:t>http://www.ntu.edu.sg/home/egbhuang/</a:t>
            </a:r>
          </a:p>
        </p:txBody>
      </p:sp>
    </p:spTree>
    <p:extLst>
      <p:ext uri="{BB962C8B-B14F-4D97-AF65-F5344CB8AC3E}">
        <p14:creationId xmlns:p14="http://schemas.microsoft.com/office/powerpoint/2010/main" val="900540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latin typeface="Times New Roman" panose="02020603050405020304" pitchFamily="18" charset="0"/>
                <a:cs typeface="Times New Roman" panose="02020603050405020304" pitchFamily="18" charset="0"/>
              </a:rPr>
              <a:t>ELM does not allow to build a deep, hierarchical system that learn good features on its own.</a:t>
            </a:r>
            <a:endParaRPr lang="en-US" dirty="0">
              <a:solidFill>
                <a:srgbClr val="211D1E"/>
              </a:solidFill>
              <a:latin typeface="Times New Roman" panose="02020603050405020304" pitchFamily="18" charset="0"/>
              <a:cs typeface="Times New Roman" panose="02020603050405020304" pitchFamily="18" charset="0"/>
            </a:endParaRPr>
          </a:p>
          <a:p>
            <a:pPr algn="l"/>
            <a:endPar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algn="l"/>
            <a:r>
              <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rPr>
              <a:t>ELM is a type of machine learning algorithm used for supervised learning tasks, particularly in the context of neural networks. However, ELMs are not typically associated with building deep, hierarchical systems that learn features on their own.</a:t>
            </a:r>
          </a:p>
          <a:p>
            <a:pPr algn="l"/>
            <a:r>
              <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rPr>
              <a:t>ELMs are known for their simplicity and efficiency, particularly in training single-hidden-layer feedforward neural networks. Unlike traditional backpropagation algorithms, ELMs randomly initialize the weights connecting the input layer to the hidden layer, and then analytically determine the weights of the output layer based on the training data. This leads to fast training times and good generalization performance.</a:t>
            </a:r>
          </a:p>
          <a:p>
            <a:pPr algn="l"/>
            <a:r>
              <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rPr>
              <a:t>While ELMs can be used to train shallow neural networks effectively, they are not designed for building deep, hierarchical systems. Deep learning architectures, such as deep neural networks (DNNs), convolutional neural networks (CNNs), or recurrent neural networks (RNNs), are specifically designed to learn hierarchical representations of data by stacking multiple layers of neurons.</a:t>
            </a:r>
          </a:p>
          <a:p>
            <a:pPr algn="l"/>
            <a:r>
              <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rPr>
              <a:t>In deep learning, each layer of the network learns increasingly abstract features from the input data, allowing for the automatic extraction of high-level representations. This hierarchical learning process is a key advantage of deep learning architectures, enabling them to excel in tasks such as image recognition, natural language processing, and speech recognition.</a:t>
            </a:r>
          </a:p>
          <a:p>
            <a:pPr algn="l"/>
            <a:r>
              <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rPr>
              <a:t>While ELMs are efficient for shallow learning tasks, they lack the capacity for building deep hierarchical systems that can automatically learn complex features from data. For tasks requiring hierarchical feature learning, deep learning architectures are generally preferred due to their ability to learn hierarchical representations in an end-to-end manner.</a:t>
            </a:r>
          </a:p>
        </p:txBody>
      </p:sp>
    </p:spTree>
    <p:extLst>
      <p:ext uri="{BB962C8B-B14F-4D97-AF65-F5344CB8AC3E}">
        <p14:creationId xmlns:p14="http://schemas.microsoft.com/office/powerpoint/2010/main" val="4135877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https://en.wikipedia.org/wiki/Generative_adversarial_network</a:t>
            </a:r>
            <a:endParaRPr lang="en-US" dirty="0">
              <a:solidFill>
                <a:srgbClr val="211D1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0206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211D1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2601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Generative AI refers to artificial intelligence systems that create new content, such as text, images, or music, by learning patterns and structures from existing data.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https://youtube.com/playlist?list=PLPTV0NXA_ZSgsLAr8YCgCwhPIJNNtexWu&amp;si=tDbYgEKGXZmIaQtK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Large Language Model (LLM), a </a:t>
            </a:r>
            <a:r>
              <a:rPr lang="en-US" b="0" i="0" dirty="0">
                <a:solidFill>
                  <a:srgbClr val="0D0D0D"/>
                </a:solidFill>
                <a:effectLst/>
                <a:latin typeface="Times New Roman" panose="02020603050405020304" pitchFamily="18" charset="0"/>
                <a:cs typeface="Times New Roman" panose="02020603050405020304" pitchFamily="18" charset="0"/>
              </a:rPr>
              <a:t>subset of Generative AI </a:t>
            </a:r>
            <a:r>
              <a:rPr lang="en-US" sz="1200" dirty="0">
                <a:latin typeface="Times New Roman" panose="02020603050405020304" pitchFamily="18" charset="0"/>
                <a:cs typeface="Times New Roman" panose="02020603050405020304" pitchFamily="18" charset="0"/>
              </a:rPr>
              <a:t>is an advanced AI system trained on massive text datasets to understand and generate human-like text for a wide range of tasks, including summarization, translation, and answering questions.</a:t>
            </a: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683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en-US" b="1" dirty="0"/>
              <a:t>Multi-Layer </a:t>
            </a:r>
            <a:r>
              <a:rPr lang="en-US" b="1" dirty="0" err="1"/>
              <a:t>Perceptrons</a:t>
            </a:r>
            <a:r>
              <a:rPr lang="en-US" b="1" dirty="0"/>
              <a:t> (MLP)</a:t>
            </a:r>
          </a:p>
          <a:p>
            <a:r>
              <a:rPr lang="en-US" b="1" dirty="0">
                <a:latin typeface="Times New Roman" panose="02020603050405020304" pitchFamily="18" charset="0"/>
                <a:cs typeface="Times New Roman" panose="02020603050405020304" pitchFamily="18" charset="0"/>
              </a:rPr>
              <a:t>Does not need convolution as in CNN</a:t>
            </a:r>
          </a:p>
          <a:p>
            <a:r>
              <a:rPr lang="en-US" b="1" dirty="0">
                <a:latin typeface="Times New Roman" panose="02020603050405020304" pitchFamily="18" charset="0"/>
                <a:cs typeface="Times New Roman" panose="02020603050405020304" pitchFamily="18" charset="0"/>
              </a:rPr>
              <a:t>Best performed in NLP</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https://en.wikipedia.org/wiki/Vision_transformer</a:t>
            </a:r>
          </a:p>
        </p:txBody>
      </p:sp>
    </p:spTree>
    <p:extLst>
      <p:ext uri="{BB962C8B-B14F-4D97-AF65-F5344CB8AC3E}">
        <p14:creationId xmlns:p14="http://schemas.microsoft.com/office/powerpoint/2010/main" val="16124190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en-US" b="1" dirty="0"/>
              <a:t>https://www.aiforanyone.org/glossary/incremental-learning#:~:text=Incremental%20learning%20is%20a%20method,improve%20its%20performance%20over%20time.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9521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46D67-D9CF-CB2F-33E4-481EA8800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55473C-2AA9-CACC-AA29-6E4A6083600C}"/>
              </a:ext>
            </a:extLst>
          </p:cNvPr>
          <p:cNvSpPr>
            <a:spLocks noGrp="1" noRot="1" noChangeAspect="1"/>
          </p:cNvSpPr>
          <p:nvPr>
            <p:ph type="sldImg"/>
          </p:nvPr>
        </p:nvSpPr>
        <p:spPr>
          <a:xfrm>
            <a:off x="457200" y="719138"/>
            <a:ext cx="6400800" cy="3600450"/>
          </a:xfrm>
        </p:spPr>
      </p:sp>
      <p:sp>
        <p:nvSpPr>
          <p:cNvPr id="3" name="Notes Placeholder 2">
            <a:extLst>
              <a:ext uri="{FF2B5EF4-FFF2-40B4-BE49-F238E27FC236}">
                <a16:creationId xmlns:a16="http://schemas.microsoft.com/office/drawing/2014/main" id="{D764980A-121C-BEAA-D666-A5BF96171480}"/>
              </a:ext>
            </a:extLst>
          </p:cNvPr>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https://cocodataset.org/</a:t>
            </a:r>
          </a:p>
          <a:p>
            <a:pPr algn="just">
              <a:spcBef>
                <a:spcPts val="1500"/>
              </a:spcBef>
              <a:spcAft>
                <a:spcPts val="1500"/>
              </a:spcAft>
            </a:pPr>
            <a:r>
              <a:rPr lang="pt-BR" b="0" i="0" dirty="0">
                <a:solidFill>
                  <a:srgbClr val="888888"/>
                </a:solidFill>
                <a:effectLst/>
                <a:latin typeface="Times New Roman" panose="02020603050405020304" pitchFamily="18" charset="0"/>
                <a:cs typeface="Times New Roman" panose="02020603050405020304" pitchFamily="18" charset="0"/>
              </a:rPr>
              <a:t>COCO is a large-scale object detection, segmentation, and captioning dataset. COCO has several features:</a:t>
            </a:r>
          </a:p>
          <a:p>
            <a:pPr algn="just">
              <a:buFont typeface="Arial" panose="020B0604020202020204" pitchFamily="34" charset="0"/>
              <a:buChar char="•"/>
            </a:pPr>
            <a:r>
              <a:rPr lang="pt-BR" b="1" i="0" dirty="0">
                <a:solidFill>
                  <a:srgbClr val="888888"/>
                </a:solidFill>
                <a:effectLst/>
                <a:latin typeface="Times New Roman" panose="02020603050405020304" pitchFamily="18" charset="0"/>
                <a:cs typeface="Times New Roman" panose="02020603050405020304" pitchFamily="18" charset="0"/>
              </a:rPr>
              <a:t>Object segmentation</a:t>
            </a:r>
          </a:p>
          <a:p>
            <a:pPr algn="just">
              <a:buFont typeface="Arial" panose="020B0604020202020204" pitchFamily="34" charset="0"/>
              <a:buChar char="•"/>
            </a:pPr>
            <a:r>
              <a:rPr lang="pt-BR" b="1" i="0" dirty="0">
                <a:solidFill>
                  <a:srgbClr val="888888"/>
                </a:solidFill>
                <a:effectLst/>
                <a:latin typeface="Times New Roman" panose="02020603050405020304" pitchFamily="18" charset="0"/>
                <a:cs typeface="Times New Roman" panose="02020603050405020304" pitchFamily="18" charset="0"/>
              </a:rPr>
              <a:t>Recognition in context</a:t>
            </a:r>
          </a:p>
          <a:p>
            <a:pPr algn="just">
              <a:buFont typeface="Arial" panose="020B0604020202020204" pitchFamily="34" charset="0"/>
              <a:buChar char="•"/>
            </a:pPr>
            <a:r>
              <a:rPr lang="pt-BR" b="1" i="0" dirty="0">
                <a:solidFill>
                  <a:srgbClr val="888888"/>
                </a:solidFill>
                <a:effectLst/>
                <a:latin typeface="Times New Roman" panose="02020603050405020304" pitchFamily="18" charset="0"/>
                <a:cs typeface="Times New Roman" panose="02020603050405020304" pitchFamily="18" charset="0"/>
              </a:rPr>
              <a:t>Superpixel stuff segmentation</a:t>
            </a:r>
          </a:p>
          <a:p>
            <a:pPr algn="just">
              <a:buFont typeface="Arial" panose="020B0604020202020204" pitchFamily="34" charset="0"/>
              <a:buChar char="•"/>
            </a:pPr>
            <a:r>
              <a:rPr lang="pt-BR" b="1" i="0" dirty="0">
                <a:solidFill>
                  <a:srgbClr val="888888"/>
                </a:solidFill>
                <a:effectLst/>
                <a:latin typeface="Times New Roman" panose="02020603050405020304" pitchFamily="18" charset="0"/>
                <a:cs typeface="Times New Roman" panose="02020603050405020304" pitchFamily="18" charset="0"/>
              </a:rPr>
              <a:t>330K images (&gt;200K labeled)</a:t>
            </a:r>
          </a:p>
          <a:p>
            <a:pPr algn="just">
              <a:buFont typeface="Arial" panose="020B0604020202020204" pitchFamily="34" charset="0"/>
              <a:buChar char="•"/>
            </a:pPr>
            <a:r>
              <a:rPr lang="pt-BR" b="1" i="0" dirty="0">
                <a:solidFill>
                  <a:srgbClr val="888888"/>
                </a:solidFill>
                <a:effectLst/>
                <a:latin typeface="Times New Roman" panose="02020603050405020304" pitchFamily="18" charset="0"/>
                <a:cs typeface="Times New Roman" panose="02020603050405020304" pitchFamily="18" charset="0"/>
              </a:rPr>
              <a:t>1.5 million object instances</a:t>
            </a:r>
          </a:p>
          <a:p>
            <a:pPr algn="just">
              <a:buFont typeface="Arial" panose="020B0604020202020204" pitchFamily="34" charset="0"/>
              <a:buChar char="•"/>
            </a:pPr>
            <a:r>
              <a:rPr lang="pt-BR" b="1" i="0" dirty="0">
                <a:solidFill>
                  <a:srgbClr val="888888"/>
                </a:solidFill>
                <a:effectLst/>
                <a:latin typeface="Times New Roman" panose="02020603050405020304" pitchFamily="18" charset="0"/>
                <a:cs typeface="Times New Roman" panose="02020603050405020304" pitchFamily="18" charset="0"/>
              </a:rPr>
              <a:t>80 object categories</a:t>
            </a:r>
          </a:p>
          <a:p>
            <a:pPr algn="just">
              <a:buFont typeface="Arial" panose="020B0604020202020204" pitchFamily="34" charset="0"/>
              <a:buChar char="•"/>
            </a:pPr>
            <a:r>
              <a:rPr lang="pt-BR" b="1" i="0" dirty="0">
                <a:solidFill>
                  <a:srgbClr val="888888"/>
                </a:solidFill>
                <a:effectLst/>
                <a:latin typeface="Times New Roman" panose="02020603050405020304" pitchFamily="18" charset="0"/>
                <a:cs typeface="Times New Roman" panose="02020603050405020304" pitchFamily="18" charset="0"/>
              </a:rPr>
              <a:t>91 stuff categories</a:t>
            </a:r>
          </a:p>
          <a:p>
            <a:pPr algn="just">
              <a:buFont typeface="Arial" panose="020B0604020202020204" pitchFamily="34" charset="0"/>
              <a:buChar char="•"/>
            </a:pPr>
            <a:r>
              <a:rPr lang="pt-BR" b="1" i="0" dirty="0">
                <a:solidFill>
                  <a:srgbClr val="888888"/>
                </a:solidFill>
                <a:effectLst/>
                <a:latin typeface="Times New Roman" panose="02020603050405020304" pitchFamily="18" charset="0"/>
                <a:cs typeface="Times New Roman" panose="02020603050405020304" pitchFamily="18" charset="0"/>
              </a:rPr>
              <a:t>5 captions per image</a:t>
            </a:r>
          </a:p>
          <a:p>
            <a:pPr algn="just">
              <a:buFont typeface="Arial" panose="020B0604020202020204" pitchFamily="34" charset="0"/>
              <a:buChar char="•"/>
            </a:pPr>
            <a:r>
              <a:rPr lang="pt-BR" b="1" i="0" dirty="0">
                <a:solidFill>
                  <a:srgbClr val="888888"/>
                </a:solidFill>
                <a:effectLst/>
                <a:latin typeface="Times New Roman" panose="02020603050405020304" pitchFamily="18" charset="0"/>
                <a:cs typeface="Times New Roman" panose="02020603050405020304" pitchFamily="18" charset="0"/>
              </a:rPr>
              <a:t>250,000 people with keypoints</a:t>
            </a:r>
          </a:p>
          <a:p>
            <a:pPr algn="just">
              <a:buFont typeface="Arial" panose="020B0604020202020204" pitchFamily="34" charset="0"/>
              <a:buChar char="•"/>
            </a:pPr>
            <a:endParaRPr lang="pt-BR" b="1" i="0" dirty="0">
              <a:solidFill>
                <a:srgbClr val="888888"/>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None/>
            </a:pPr>
            <a:r>
              <a:rPr lang="pt-BR" b="1" i="0" dirty="0">
                <a:solidFill>
                  <a:srgbClr val="888888"/>
                </a:solidFill>
                <a:effectLst/>
                <a:latin typeface="Times New Roman" panose="02020603050405020304" pitchFamily="18" charset="0"/>
                <a:cs typeface="Times New Roman" panose="02020603050405020304" pitchFamily="18" charset="0"/>
              </a:rPr>
              <a:t>https://encord.com/blog/yolo-object-detection-guide/</a:t>
            </a:r>
          </a:p>
        </p:txBody>
      </p:sp>
    </p:spTree>
    <p:extLst>
      <p:ext uri="{BB962C8B-B14F-4D97-AF65-F5344CB8AC3E}">
        <p14:creationId xmlns:p14="http://schemas.microsoft.com/office/powerpoint/2010/main" val="7641011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23</a:t>
            </a:fld>
            <a:endParaRPr lang="en-US"/>
          </a:p>
        </p:txBody>
      </p:sp>
    </p:spTree>
    <p:extLst>
      <p:ext uri="{BB962C8B-B14F-4D97-AF65-F5344CB8AC3E}">
        <p14:creationId xmlns:p14="http://schemas.microsoft.com/office/powerpoint/2010/main" val="10511190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24</a:t>
            </a:fld>
            <a:endParaRPr lang="en-US"/>
          </a:p>
        </p:txBody>
      </p:sp>
    </p:spTree>
    <p:extLst>
      <p:ext uri="{BB962C8B-B14F-4D97-AF65-F5344CB8AC3E}">
        <p14:creationId xmlns:p14="http://schemas.microsoft.com/office/powerpoint/2010/main" val="21990920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25</a:t>
            </a:fld>
            <a:endParaRPr lang="en-US"/>
          </a:p>
        </p:txBody>
      </p:sp>
    </p:spTree>
    <p:extLst>
      <p:ext uri="{BB962C8B-B14F-4D97-AF65-F5344CB8AC3E}">
        <p14:creationId xmlns:p14="http://schemas.microsoft.com/office/powerpoint/2010/main" val="12338762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26</a:t>
            </a:fld>
            <a:endParaRPr lang="en-US"/>
          </a:p>
        </p:txBody>
      </p:sp>
    </p:spTree>
    <p:extLst>
      <p:ext uri="{BB962C8B-B14F-4D97-AF65-F5344CB8AC3E}">
        <p14:creationId xmlns:p14="http://schemas.microsoft.com/office/powerpoint/2010/main" val="3093844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27</a:t>
            </a:fld>
            <a:endParaRPr lang="en-US"/>
          </a:p>
        </p:txBody>
      </p:sp>
    </p:spTree>
    <p:extLst>
      <p:ext uri="{BB962C8B-B14F-4D97-AF65-F5344CB8AC3E}">
        <p14:creationId xmlns:p14="http://schemas.microsoft.com/office/powerpoint/2010/main" val="406768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28</a:t>
            </a:fld>
            <a:endParaRPr lang="en-US"/>
          </a:p>
        </p:txBody>
      </p:sp>
    </p:spTree>
    <p:extLst>
      <p:ext uri="{BB962C8B-B14F-4D97-AF65-F5344CB8AC3E}">
        <p14:creationId xmlns:p14="http://schemas.microsoft.com/office/powerpoint/2010/main" val="8241903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29</a:t>
            </a:fld>
            <a:endParaRPr lang="en-US"/>
          </a:p>
        </p:txBody>
      </p:sp>
    </p:spTree>
    <p:extLst>
      <p:ext uri="{BB962C8B-B14F-4D97-AF65-F5344CB8AC3E}">
        <p14:creationId xmlns:p14="http://schemas.microsoft.com/office/powerpoint/2010/main" val="4036606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30</a:t>
            </a:fld>
            <a:endParaRPr lang="en-US"/>
          </a:p>
        </p:txBody>
      </p:sp>
    </p:spTree>
    <p:extLst>
      <p:ext uri="{BB962C8B-B14F-4D97-AF65-F5344CB8AC3E}">
        <p14:creationId xmlns:p14="http://schemas.microsoft.com/office/powerpoint/2010/main" val="11525976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6308B8D-8E1E-4C22-9F0A-2468901663B5}" type="slidenum">
              <a:rPr lang="en-US" smtClean="0"/>
              <a:pPr/>
              <a:t>31</a:t>
            </a:fld>
            <a:endParaRPr lang="en-US"/>
          </a:p>
        </p:txBody>
      </p:sp>
    </p:spTree>
    <p:extLst>
      <p:ext uri="{BB962C8B-B14F-4D97-AF65-F5344CB8AC3E}">
        <p14:creationId xmlns:p14="http://schemas.microsoft.com/office/powerpoint/2010/main" val="4192915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9581" y="142852"/>
            <a:ext cx="10458451" cy="857256"/>
          </a:xfrm>
        </p:spPr>
        <p:txBody>
          <a:bodyPr>
            <a:normAutofit/>
          </a:bodyPr>
          <a:lstStyle>
            <a:lvl1pPr algn="l">
              <a:defRPr sz="4400"/>
            </a:lvl1pPr>
          </a:lstStyle>
          <a:p>
            <a:r>
              <a:rPr lang="en-US" dirty="0"/>
              <a:t>Click to edit Master title style</a:t>
            </a:r>
          </a:p>
        </p:txBody>
      </p:sp>
      <p:sp>
        <p:nvSpPr>
          <p:cNvPr id="3" name="Subtitle 2"/>
          <p:cNvSpPr>
            <a:spLocks noGrp="1"/>
          </p:cNvSpPr>
          <p:nvPr>
            <p:ph type="subTitle" idx="1"/>
          </p:nvPr>
        </p:nvSpPr>
        <p:spPr>
          <a:xfrm>
            <a:off x="190459" y="1285860"/>
            <a:ext cx="11715832" cy="535785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xfrm>
            <a:off x="1219200" y="6324600"/>
            <a:ext cx="2540000" cy="457200"/>
          </a:xfrm>
          <a:prstGeom prst="rect">
            <a:avLst/>
          </a:prstGeom>
          <a:ln/>
        </p:spPr>
        <p:txBody>
          <a:bodyPr/>
          <a:lstStyle>
            <a:lvl1pPr>
              <a:defRPr/>
            </a:lvl1pPr>
          </a:lstStyle>
          <a:p>
            <a:pPr>
              <a:defRPr/>
            </a:pPr>
            <a:endParaRPr lang="th-TH"/>
          </a:p>
        </p:txBody>
      </p:sp>
      <p:sp>
        <p:nvSpPr>
          <p:cNvPr id="5" name="Rectangle 12"/>
          <p:cNvSpPr>
            <a:spLocks noGrp="1" noChangeArrowheads="1"/>
          </p:cNvSpPr>
          <p:nvPr>
            <p:ph type="ftr" sz="quarter" idx="11"/>
          </p:nvPr>
        </p:nvSpPr>
        <p:spPr>
          <a:xfrm>
            <a:off x="4470400" y="6324600"/>
            <a:ext cx="3860800" cy="457200"/>
          </a:xfrm>
          <a:prstGeom prst="rect">
            <a:avLst/>
          </a:prstGeom>
          <a:ln/>
        </p:spPr>
        <p:txBody>
          <a:bodyPr/>
          <a:lstStyle>
            <a:lvl1pPr>
              <a:defRPr/>
            </a:lvl1pPr>
          </a:lstStyle>
          <a:p>
            <a:pPr>
              <a:defRPr/>
            </a:pPr>
            <a:endParaRPr lang="th-TH"/>
          </a:p>
        </p:txBody>
      </p:sp>
      <p:sp>
        <p:nvSpPr>
          <p:cNvPr id="6" name="Rectangle 13"/>
          <p:cNvSpPr>
            <a:spLocks noGrp="1" noChangeArrowheads="1"/>
          </p:cNvSpPr>
          <p:nvPr>
            <p:ph type="sldNum" sz="quarter" idx="12"/>
          </p:nvPr>
        </p:nvSpPr>
        <p:spPr>
          <a:xfrm>
            <a:off x="9042400" y="6324600"/>
            <a:ext cx="2540000" cy="457200"/>
          </a:xfrm>
          <a:prstGeom prst="rect">
            <a:avLst/>
          </a:prstGeom>
          <a:ln/>
        </p:spPr>
        <p:txBody>
          <a:bodyPr/>
          <a:lstStyle>
            <a:lvl1pPr>
              <a:defRPr/>
            </a:lvl1pPr>
          </a:lstStyle>
          <a:p>
            <a:pPr>
              <a:defRPr/>
            </a:pPr>
            <a:fld id="{734235E4-7E4F-4E21-B451-3954ADC1CD4B}" type="slidenum">
              <a:rPr lang="en-US"/>
              <a:pPr>
                <a:defRPr/>
              </a:pPr>
              <a:t>‹#›</a:t>
            </a:fld>
            <a:endParaRPr lang="th-T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33367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9581" y="142852"/>
            <a:ext cx="10458451" cy="857256"/>
          </a:xfrm>
        </p:spPr>
        <p:txBody>
          <a:bodyPr>
            <a:normAutofit/>
          </a:bodyPr>
          <a:lstStyle>
            <a:lvl1pPr algn="l">
              <a:defRPr sz="4400"/>
            </a:lvl1pPr>
          </a:lstStyle>
          <a:p>
            <a:r>
              <a:rPr lang="en-US" dirty="0"/>
              <a:t>Click to edit Master title style</a:t>
            </a:r>
          </a:p>
        </p:txBody>
      </p:sp>
      <p:sp>
        <p:nvSpPr>
          <p:cNvPr id="3" name="Subtitle 2"/>
          <p:cNvSpPr>
            <a:spLocks noGrp="1"/>
          </p:cNvSpPr>
          <p:nvPr>
            <p:ph type="subTitle" idx="1"/>
          </p:nvPr>
        </p:nvSpPr>
        <p:spPr>
          <a:xfrm>
            <a:off x="190459" y="1285860"/>
            <a:ext cx="11715832" cy="535785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726552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xfrm>
            <a:off x="1219200" y="6324600"/>
            <a:ext cx="2540000" cy="457200"/>
          </a:xfrm>
          <a:prstGeom prst="rect">
            <a:avLst/>
          </a:prstGeom>
          <a:ln/>
        </p:spPr>
        <p:txBody>
          <a:bodyPr/>
          <a:lstStyle>
            <a:lvl1pPr>
              <a:defRPr/>
            </a:lvl1pPr>
          </a:lstStyle>
          <a:p>
            <a:pPr>
              <a:defRPr/>
            </a:pPr>
            <a:endParaRPr lang="th-TH"/>
          </a:p>
        </p:txBody>
      </p:sp>
      <p:sp>
        <p:nvSpPr>
          <p:cNvPr id="5" name="Rectangle 12"/>
          <p:cNvSpPr>
            <a:spLocks noGrp="1" noChangeArrowheads="1"/>
          </p:cNvSpPr>
          <p:nvPr>
            <p:ph type="ftr" sz="quarter" idx="11"/>
          </p:nvPr>
        </p:nvSpPr>
        <p:spPr>
          <a:xfrm>
            <a:off x="4470400" y="6324600"/>
            <a:ext cx="3860800" cy="457200"/>
          </a:xfrm>
          <a:prstGeom prst="rect">
            <a:avLst/>
          </a:prstGeom>
          <a:ln/>
        </p:spPr>
        <p:txBody>
          <a:bodyPr/>
          <a:lstStyle>
            <a:lvl1pPr>
              <a:defRPr/>
            </a:lvl1pPr>
          </a:lstStyle>
          <a:p>
            <a:pPr>
              <a:defRPr/>
            </a:pPr>
            <a:endParaRPr lang="th-TH"/>
          </a:p>
        </p:txBody>
      </p:sp>
      <p:sp>
        <p:nvSpPr>
          <p:cNvPr id="6" name="Rectangle 13"/>
          <p:cNvSpPr>
            <a:spLocks noGrp="1" noChangeArrowheads="1"/>
          </p:cNvSpPr>
          <p:nvPr>
            <p:ph type="sldNum" sz="quarter" idx="12"/>
          </p:nvPr>
        </p:nvSpPr>
        <p:spPr>
          <a:xfrm>
            <a:off x="9042400" y="6324600"/>
            <a:ext cx="2540000" cy="457200"/>
          </a:xfrm>
          <a:prstGeom prst="rect">
            <a:avLst/>
          </a:prstGeom>
          <a:ln/>
        </p:spPr>
        <p:txBody>
          <a:bodyPr/>
          <a:lstStyle>
            <a:lvl1pPr>
              <a:defRPr/>
            </a:lvl1pPr>
          </a:lstStyle>
          <a:p>
            <a:pPr>
              <a:defRPr/>
            </a:pPr>
            <a:fld id="{734235E4-7E4F-4E21-B451-3954ADC1CD4B}" type="slidenum">
              <a:rPr lang="en-US"/>
              <a:pPr>
                <a:defRPr/>
              </a:pPr>
              <a:t>‹#›</a:t>
            </a:fld>
            <a:endParaRPr lang="th-TH"/>
          </a:p>
        </p:txBody>
      </p:sp>
    </p:spTree>
    <p:extLst>
      <p:ext uri="{BB962C8B-B14F-4D97-AF65-F5344CB8AC3E}">
        <p14:creationId xmlns:p14="http://schemas.microsoft.com/office/powerpoint/2010/main" val="6107121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0459" y="71414"/>
            <a:ext cx="10001320" cy="92869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90459" y="1285860"/>
            <a:ext cx="11715832" cy="5500726"/>
          </a:xfrm>
          <a:prstGeom prst="rect">
            <a:avLst/>
          </a:prstGeom>
        </p:spPr>
        <p:txBody>
          <a:bodyPr vert="horz" lIns="91440" tIns="45720" rIns="91440" bIns="45720" rtlCol="0">
            <a:normAutofit/>
          </a:bodyPr>
          <a:lstStyle/>
          <a:p>
            <a:pPr lvl="0"/>
            <a:r>
              <a:rPr lang="en-US" dirty="0"/>
              <a:t>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9" name="Rectangle 8"/>
          <p:cNvSpPr/>
          <p:nvPr userDrawn="1"/>
        </p:nvSpPr>
        <p:spPr>
          <a:xfrm>
            <a:off x="190501" y="1071546"/>
            <a:ext cx="11049035" cy="7143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851991" y="8872"/>
            <a:ext cx="1148665" cy="1169523"/>
          </a:xfrm>
          <a:prstGeom prst="rect">
            <a:avLst/>
          </a:prstGeom>
        </p:spPr>
      </p:pic>
      <p:sp>
        <p:nvSpPr>
          <p:cNvPr id="10" name="Text Box 11"/>
          <p:cNvSpPr txBox="1">
            <a:spLocks noChangeArrowheads="1"/>
          </p:cNvSpPr>
          <p:nvPr userDrawn="1"/>
        </p:nvSpPr>
        <p:spPr bwMode="auto">
          <a:xfrm>
            <a:off x="11672941" y="836712"/>
            <a:ext cx="543739" cy="461665"/>
          </a:xfrm>
          <a:prstGeom prst="rect">
            <a:avLst/>
          </a:prstGeom>
          <a:noFill/>
          <a:ln w="9525">
            <a:noFill/>
            <a:miter lim="800000"/>
            <a:headEnd/>
            <a:tailEnd/>
          </a:ln>
          <a:effectLst/>
        </p:spPr>
        <p:txBody>
          <a:bodyPr wrap="none">
            <a:spAutoFit/>
          </a:bodyPr>
          <a:lstStyle/>
          <a:p>
            <a:fld id="{E4FF5167-E4CB-45F3-85CD-7EC8641D6DEE}" type="slidenum">
              <a:rPr lang="en-US" sz="2400" b="1">
                <a:solidFill>
                  <a:srgbClr val="FF0000"/>
                </a:solidFill>
              </a:rPr>
              <a:pPr/>
              <a:t>‹#›</a:t>
            </a:fld>
            <a:endParaRPr lang="en-US" sz="2400" b="1" dirty="0">
              <a:solidFill>
                <a:srgbClr val="FF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Lst>
  <p:txStyles>
    <p:title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0459" y="71414"/>
            <a:ext cx="10001320" cy="92869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90459" y="1285860"/>
            <a:ext cx="11715832" cy="5500726"/>
          </a:xfrm>
          <a:prstGeom prst="rect">
            <a:avLst/>
          </a:prstGeom>
        </p:spPr>
        <p:txBody>
          <a:bodyPr vert="horz" lIns="91440" tIns="45720" rIns="91440" bIns="45720" rtlCol="0">
            <a:normAutofit/>
          </a:bodyPr>
          <a:lstStyle/>
          <a:p>
            <a:pPr lvl="0"/>
            <a:r>
              <a:rPr lang="en-US" dirty="0"/>
              <a:t>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9" name="Rectangle 8"/>
          <p:cNvSpPr/>
          <p:nvPr userDrawn="1"/>
        </p:nvSpPr>
        <p:spPr>
          <a:xfrm>
            <a:off x="190501" y="1071546"/>
            <a:ext cx="10607040" cy="7143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42754" y="44624"/>
            <a:ext cx="1113886" cy="1134112"/>
          </a:xfrm>
          <a:prstGeom prst="rect">
            <a:avLst/>
          </a:prstGeom>
        </p:spPr>
      </p:pic>
      <p:sp>
        <p:nvSpPr>
          <p:cNvPr id="10" name="Text Box 11"/>
          <p:cNvSpPr txBox="1">
            <a:spLocks noChangeArrowheads="1"/>
          </p:cNvSpPr>
          <p:nvPr userDrawn="1"/>
        </p:nvSpPr>
        <p:spPr bwMode="auto">
          <a:xfrm>
            <a:off x="11622509" y="807095"/>
            <a:ext cx="543739" cy="461665"/>
          </a:xfrm>
          <a:prstGeom prst="rect">
            <a:avLst/>
          </a:prstGeom>
          <a:noFill/>
          <a:ln w="9525">
            <a:noFill/>
            <a:miter lim="800000"/>
            <a:headEnd/>
            <a:tailEnd/>
          </a:ln>
          <a:effectLst/>
        </p:spPr>
        <p:txBody>
          <a:bodyPr wrap="none">
            <a:spAutoFit/>
          </a:bodyPr>
          <a:lstStyle/>
          <a:p>
            <a:fld id="{E4FF5167-E4CB-45F3-85CD-7EC8641D6DEE}" type="slidenum">
              <a:rPr lang="en-US" sz="2400" b="1">
                <a:solidFill>
                  <a:srgbClr val="FF0000"/>
                </a:solidFill>
              </a:rPr>
              <a:pPr/>
              <a:t>‹#›</a:t>
            </a:fld>
            <a:endParaRPr lang="en-US" sz="2400" b="1" dirty="0">
              <a:solidFill>
                <a:srgbClr val="FF0000"/>
              </a:solidFill>
            </a:endParaRPr>
          </a:p>
        </p:txBody>
      </p:sp>
    </p:spTree>
    <p:extLst>
      <p:ext uri="{BB962C8B-B14F-4D97-AF65-F5344CB8AC3E}">
        <p14:creationId xmlns:p14="http://schemas.microsoft.com/office/powerpoint/2010/main" val="1518426033"/>
      </p:ext>
    </p:ext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vig.cuilahore.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www.ntu.edu.sg/home/egbhuan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en.wikipedia.org/wiki/StyleGAN"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en.wikipedia.org/wiki/Generative_adversarial_network"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blog.roboflow.com/guide-to-yolo-models/"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9581" y="142852"/>
            <a:ext cx="10638947" cy="857256"/>
          </a:xfrm>
        </p:spPr>
        <p:txBody>
          <a:bodyPr>
            <a:noAutofit/>
          </a:bodyPr>
          <a:lstStyle/>
          <a:p>
            <a:r>
              <a:rPr lang="en-US" altLang="zh-TW" sz="4800" dirty="0"/>
              <a:t>Machine Learning in Computer Vision</a:t>
            </a:r>
          </a:p>
        </p:txBody>
      </p:sp>
      <p:sp>
        <p:nvSpPr>
          <p:cNvPr id="4" name="TextBox 7"/>
          <p:cNvSpPr txBox="1">
            <a:spLocks noChangeArrowheads="1"/>
          </p:cNvSpPr>
          <p:nvPr/>
        </p:nvSpPr>
        <p:spPr bwMode="auto">
          <a:xfrm>
            <a:off x="4809098" y="1142984"/>
            <a:ext cx="2841035" cy="400110"/>
          </a:xfrm>
          <a:prstGeom prst="rect">
            <a:avLst/>
          </a:prstGeom>
          <a:noFill/>
          <a:ln w="9525">
            <a:noFill/>
            <a:miter lim="800000"/>
            <a:headEnd/>
            <a:tailEnd/>
          </a:ln>
        </p:spPr>
        <p:txBody>
          <a:bodyPr wrap="none">
            <a:spAutoFit/>
          </a:bodyPr>
          <a:lstStyle/>
          <a:p>
            <a:pPr algn="ctr"/>
            <a:r>
              <a:rPr lang="en-US" sz="2000" i="1" dirty="0">
                <a:latin typeface="Times New Roman" pitchFamily="18" charset="0"/>
                <a:cs typeface="Times New Roman" pitchFamily="18" charset="0"/>
              </a:rPr>
              <a:t>Last updated: 10-11-2024</a:t>
            </a:r>
          </a:p>
        </p:txBody>
      </p:sp>
      <p:sp>
        <p:nvSpPr>
          <p:cNvPr id="10" name="Rectangle 9"/>
          <p:cNvSpPr/>
          <p:nvPr/>
        </p:nvSpPr>
        <p:spPr>
          <a:xfrm>
            <a:off x="78097" y="2132856"/>
            <a:ext cx="6303664" cy="2339102"/>
          </a:xfrm>
          <a:prstGeom prst="rect">
            <a:avLst/>
          </a:prstGeom>
        </p:spPr>
        <p:txBody>
          <a:bodyPr wrap="square">
            <a:spAutoFit/>
          </a:bodyPr>
          <a:lstStyle/>
          <a:p>
            <a:pPr>
              <a:spcBef>
                <a:spcPts val="600"/>
              </a:spcBef>
              <a:spcAft>
                <a:spcPts val="600"/>
              </a:spcAft>
              <a:defRPr/>
            </a:pPr>
            <a:r>
              <a:rPr lang="en-US" b="1" kern="0" dirty="0">
                <a:solidFill>
                  <a:sysClr val="windowText" lastClr="000000"/>
                </a:solidFill>
                <a:latin typeface="Times New Roman" pitchFamily="18" charset="0"/>
                <a:cs typeface="Times New Roman" pitchFamily="18" charset="0"/>
              </a:rPr>
              <a:t>Gonzalez</a:t>
            </a:r>
            <a:r>
              <a:rPr lang="en-US" kern="0" dirty="0">
                <a:solidFill>
                  <a:sysClr val="windowText" lastClr="000000"/>
                </a:solidFill>
                <a:latin typeface="Times New Roman" pitchFamily="18" charset="0"/>
                <a:cs typeface="Times New Roman" pitchFamily="18" charset="0"/>
              </a:rPr>
              <a:t> R. C., Woods R. E., </a:t>
            </a:r>
            <a:r>
              <a:rPr lang="en-US" kern="0" dirty="0" err="1">
                <a:solidFill>
                  <a:sysClr val="windowText" lastClr="000000"/>
                </a:solidFill>
                <a:latin typeface="Times New Roman" pitchFamily="18" charset="0"/>
                <a:cs typeface="Times New Roman" pitchFamily="18" charset="0"/>
              </a:rPr>
              <a:t>Eddins</a:t>
            </a:r>
            <a:r>
              <a:rPr lang="en-US" kern="0" dirty="0">
                <a:solidFill>
                  <a:sysClr val="windowText" lastClr="000000"/>
                </a:solidFill>
                <a:latin typeface="Times New Roman" pitchFamily="18" charset="0"/>
                <a:cs typeface="Times New Roman" pitchFamily="18" charset="0"/>
              </a:rPr>
              <a:t> S. L., </a:t>
            </a:r>
            <a:r>
              <a:rPr lang="en-US" i="1" kern="0" dirty="0">
                <a:solidFill>
                  <a:sysClr val="windowText" lastClr="000000"/>
                </a:solidFill>
                <a:latin typeface="Times New Roman" pitchFamily="18" charset="0"/>
                <a:cs typeface="Times New Roman" pitchFamily="18" charset="0"/>
              </a:rPr>
              <a:t>Digital Image Processing Using </a:t>
            </a:r>
            <a:r>
              <a:rPr lang="en-US" i="1" kern="0" dirty="0" err="1">
                <a:solidFill>
                  <a:sysClr val="windowText" lastClr="000000"/>
                </a:solidFill>
                <a:latin typeface="Times New Roman" pitchFamily="18" charset="0"/>
                <a:cs typeface="Times New Roman" pitchFamily="18" charset="0"/>
              </a:rPr>
              <a:t>Matlab</a:t>
            </a:r>
            <a:r>
              <a:rPr lang="en-US" kern="0" dirty="0">
                <a:solidFill>
                  <a:sysClr val="windowText" lastClr="000000"/>
                </a:solidFill>
                <a:latin typeface="Times New Roman" pitchFamily="18" charset="0"/>
                <a:cs typeface="Times New Roman" pitchFamily="18" charset="0"/>
              </a:rPr>
              <a:t>, Pearson Education, 1</a:t>
            </a:r>
            <a:r>
              <a:rPr lang="en-US" kern="0" baseline="30000" dirty="0">
                <a:solidFill>
                  <a:sysClr val="windowText" lastClr="000000"/>
                </a:solidFill>
                <a:latin typeface="Times New Roman" pitchFamily="18" charset="0"/>
                <a:cs typeface="Times New Roman" pitchFamily="18" charset="0"/>
              </a:rPr>
              <a:t>st</a:t>
            </a:r>
            <a:r>
              <a:rPr lang="en-US" kern="0" dirty="0">
                <a:solidFill>
                  <a:sysClr val="windowText" lastClr="000000"/>
                </a:solidFill>
                <a:latin typeface="Times New Roman" pitchFamily="18" charset="0"/>
                <a:cs typeface="Times New Roman" pitchFamily="18" charset="0"/>
              </a:rPr>
              <a:t> edition, 2007. (Ch. 12)</a:t>
            </a:r>
          </a:p>
          <a:p>
            <a:pPr>
              <a:spcBef>
                <a:spcPts val="600"/>
              </a:spcBef>
              <a:spcAft>
                <a:spcPts val="600"/>
              </a:spcAft>
              <a:defRPr/>
            </a:pPr>
            <a:r>
              <a:rPr lang="en-US" b="1" kern="0" dirty="0">
                <a:solidFill>
                  <a:sysClr val="windowText" lastClr="000000"/>
                </a:solidFill>
                <a:latin typeface="Times New Roman" pitchFamily="18" charset="0"/>
                <a:cs typeface="Times New Roman" pitchFamily="18" charset="0"/>
              </a:rPr>
              <a:t>Gonzalez</a:t>
            </a:r>
            <a:r>
              <a:rPr lang="en-US" kern="0" dirty="0">
                <a:solidFill>
                  <a:sysClr val="windowText" lastClr="000000"/>
                </a:solidFill>
                <a:latin typeface="Times New Roman" pitchFamily="18" charset="0"/>
                <a:cs typeface="Times New Roman" pitchFamily="18" charset="0"/>
              </a:rPr>
              <a:t> R. C., Woods R. E., </a:t>
            </a:r>
            <a:r>
              <a:rPr lang="en-US" kern="0" dirty="0" err="1">
                <a:solidFill>
                  <a:sysClr val="windowText" lastClr="000000"/>
                </a:solidFill>
                <a:latin typeface="Times New Roman" pitchFamily="18" charset="0"/>
                <a:cs typeface="Times New Roman" pitchFamily="18" charset="0"/>
              </a:rPr>
              <a:t>Eddins</a:t>
            </a:r>
            <a:r>
              <a:rPr lang="en-US" kern="0" dirty="0">
                <a:solidFill>
                  <a:sysClr val="windowText" lastClr="000000"/>
                </a:solidFill>
                <a:latin typeface="Times New Roman" pitchFamily="18" charset="0"/>
                <a:cs typeface="Times New Roman" pitchFamily="18" charset="0"/>
              </a:rPr>
              <a:t> S. L., </a:t>
            </a:r>
            <a:r>
              <a:rPr lang="en-US" i="1" kern="0" dirty="0">
                <a:solidFill>
                  <a:sysClr val="windowText" lastClr="000000"/>
                </a:solidFill>
                <a:latin typeface="Times New Roman" pitchFamily="18" charset="0"/>
                <a:cs typeface="Times New Roman" pitchFamily="18" charset="0"/>
              </a:rPr>
              <a:t>Digital Image Processing</a:t>
            </a:r>
            <a:r>
              <a:rPr lang="en-US" kern="0" dirty="0">
                <a:solidFill>
                  <a:sysClr val="windowText" lastClr="000000"/>
                </a:solidFill>
                <a:latin typeface="Times New Roman" pitchFamily="18" charset="0"/>
                <a:cs typeface="Times New Roman" pitchFamily="18" charset="0"/>
              </a:rPr>
              <a:t>, Pearson Education, 3</a:t>
            </a:r>
            <a:r>
              <a:rPr lang="en-US" kern="0" baseline="30000" dirty="0">
                <a:solidFill>
                  <a:sysClr val="windowText" lastClr="000000"/>
                </a:solidFill>
                <a:latin typeface="Times New Roman" pitchFamily="18" charset="0"/>
                <a:cs typeface="Times New Roman" pitchFamily="18" charset="0"/>
              </a:rPr>
              <a:t>rd</a:t>
            </a:r>
            <a:r>
              <a:rPr lang="en-US" kern="0" dirty="0">
                <a:solidFill>
                  <a:sysClr val="windowText" lastClr="000000"/>
                </a:solidFill>
                <a:latin typeface="Times New Roman" pitchFamily="18" charset="0"/>
                <a:cs typeface="Times New Roman" pitchFamily="18" charset="0"/>
              </a:rPr>
              <a:t> edition, 2007.	(Ch. 12)</a:t>
            </a:r>
          </a:p>
          <a:p>
            <a:pPr>
              <a:spcBef>
                <a:spcPts val="600"/>
              </a:spcBef>
              <a:spcAft>
                <a:spcPts val="600"/>
              </a:spcAft>
              <a:defRPr/>
            </a:pPr>
            <a:r>
              <a:rPr lang="en-US" b="1" dirty="0" err="1">
                <a:latin typeface="Times New Roman" pitchFamily="18" charset="0"/>
                <a:cs typeface="Times New Roman" pitchFamily="18" charset="0"/>
              </a:rPr>
              <a:t>Szeliski</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R., Computer Vision - Algorithms and Applications, Springer, 2</a:t>
            </a:r>
            <a:r>
              <a:rPr lang="en-US" baseline="30000" dirty="0">
                <a:latin typeface="Times New Roman" pitchFamily="18" charset="0"/>
                <a:cs typeface="Times New Roman" pitchFamily="18" charset="0"/>
              </a:rPr>
              <a:t>nd</a:t>
            </a:r>
            <a:r>
              <a:rPr lang="en-US" dirty="0">
                <a:latin typeface="Times New Roman" pitchFamily="18" charset="0"/>
                <a:cs typeface="Times New Roman" pitchFamily="18" charset="0"/>
              </a:rPr>
              <a:t> Edition, 2022</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Ch. 5)</a:t>
            </a:r>
          </a:p>
        </p:txBody>
      </p:sp>
      <p:sp>
        <p:nvSpPr>
          <p:cNvPr id="11" name="TextBox 10"/>
          <p:cNvSpPr txBox="1"/>
          <p:nvPr/>
        </p:nvSpPr>
        <p:spPr>
          <a:xfrm>
            <a:off x="7718773" y="5830844"/>
            <a:ext cx="4404796" cy="954107"/>
          </a:xfrm>
          <a:prstGeom prst="rect">
            <a:avLst/>
          </a:prstGeom>
          <a:solidFill>
            <a:srgbClr val="00CC99">
              <a:lumMod val="75000"/>
            </a:srgbClr>
          </a:solidFill>
        </p:spPr>
        <p:txBody>
          <a:bodyPr wrap="non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Times New Roman" pitchFamily="18" charset="0"/>
                <a:ea typeface="+mn-ea"/>
                <a:cs typeface="+mn-cs"/>
              </a:rPr>
              <a:t>Dr. Zulfiqar Habib, Professor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1200" cap="none" spc="0" normalizeH="0" baseline="0" noProof="0" dirty="0">
                <a:ln>
                  <a:noFill/>
                </a:ln>
                <a:solidFill>
                  <a:srgbClr val="000000"/>
                </a:solidFill>
                <a:effectLst/>
                <a:uLnTx/>
                <a:uFillTx/>
                <a:latin typeface="Times New Roman" pitchFamily="18" charset="0"/>
                <a:ea typeface="+mn-ea"/>
                <a:cs typeface="+mn-cs"/>
                <a:hlinkClick r:id="rId3"/>
              </a:rPr>
              <a:t>http://vig.cuilahore.edu.pk</a:t>
            </a:r>
            <a:r>
              <a:rPr kumimoji="0" lang="en-US" sz="2800" b="0" i="1" u="none" strike="noStrike" kern="1200" cap="none" spc="0" normalizeH="0" baseline="0" noProof="0" dirty="0">
                <a:ln>
                  <a:noFill/>
                </a:ln>
                <a:solidFill>
                  <a:srgbClr val="000000"/>
                </a:solidFill>
                <a:effectLst/>
                <a:uLnTx/>
                <a:uFillTx/>
                <a:latin typeface="Times New Roman" pitchFamily="18" charset="0"/>
                <a:ea typeface="+mn-ea"/>
                <a:cs typeface="+mn-cs"/>
              </a:rPr>
              <a:t> </a:t>
            </a:r>
          </a:p>
        </p:txBody>
      </p:sp>
      <p:pic>
        <p:nvPicPr>
          <p:cNvPr id="1026" name="Picture 2" descr="How to do Everything in Computer Vision - KDnuggets">
            <a:extLst>
              <a:ext uri="{FF2B5EF4-FFF2-40B4-BE49-F238E27FC236}">
                <a16:creationId xmlns:a16="http://schemas.microsoft.com/office/drawing/2014/main" id="{03D522AF-D4A7-FF45-06D0-605DECB55A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4625" y="1916832"/>
            <a:ext cx="6032084" cy="33980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09581" y="142852"/>
            <a:ext cx="10458451" cy="857256"/>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4000" dirty="0"/>
              <a:t>Common Approach</a:t>
            </a:r>
            <a:endParaRPr lang="en-US" sz="6000" dirty="0"/>
          </a:p>
        </p:txBody>
      </p:sp>
      <p:sp>
        <p:nvSpPr>
          <p:cNvPr id="2" name="TextBox 1">
            <a:extLst>
              <a:ext uri="{FF2B5EF4-FFF2-40B4-BE49-F238E27FC236}">
                <a16:creationId xmlns:a16="http://schemas.microsoft.com/office/drawing/2014/main" id="{C428321A-D5C9-516D-FD6F-8BA1CEB2FA01}"/>
              </a:ext>
            </a:extLst>
          </p:cNvPr>
          <p:cNvSpPr txBox="1"/>
          <p:nvPr/>
        </p:nvSpPr>
        <p:spPr>
          <a:xfrm>
            <a:off x="6246969" y="2023233"/>
            <a:ext cx="11110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Training</a:t>
            </a:r>
          </a:p>
        </p:txBody>
      </p:sp>
      <p:sp>
        <p:nvSpPr>
          <p:cNvPr id="3" name="TextBox 2">
            <a:extLst>
              <a:ext uri="{FF2B5EF4-FFF2-40B4-BE49-F238E27FC236}">
                <a16:creationId xmlns:a16="http://schemas.microsoft.com/office/drawing/2014/main" id="{C025629F-A188-7D85-6C09-746850660585}"/>
              </a:ext>
            </a:extLst>
          </p:cNvPr>
          <p:cNvSpPr txBox="1"/>
          <p:nvPr/>
        </p:nvSpPr>
        <p:spPr>
          <a:xfrm rot="19511313">
            <a:off x="8120292" y="2286527"/>
            <a:ext cx="10939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Testing</a:t>
            </a:r>
          </a:p>
        </p:txBody>
      </p:sp>
      <p:grpSp>
        <p:nvGrpSpPr>
          <p:cNvPr id="5" name="Group 4">
            <a:extLst>
              <a:ext uri="{FF2B5EF4-FFF2-40B4-BE49-F238E27FC236}">
                <a16:creationId xmlns:a16="http://schemas.microsoft.com/office/drawing/2014/main" id="{E0E1F507-5CA6-4683-B902-7C559CFBED4D}"/>
              </a:ext>
            </a:extLst>
          </p:cNvPr>
          <p:cNvGrpSpPr/>
          <p:nvPr/>
        </p:nvGrpSpPr>
        <p:grpSpPr>
          <a:xfrm>
            <a:off x="263352" y="1412776"/>
            <a:ext cx="10633982" cy="4896544"/>
            <a:chOff x="107504" y="2276872"/>
            <a:chExt cx="8496944" cy="4032448"/>
          </a:xfrm>
        </p:grpSpPr>
        <p:grpSp>
          <p:nvGrpSpPr>
            <p:cNvPr id="6" name="Canvas 379">
              <a:extLst>
                <a:ext uri="{FF2B5EF4-FFF2-40B4-BE49-F238E27FC236}">
                  <a16:creationId xmlns:a16="http://schemas.microsoft.com/office/drawing/2014/main" id="{947D8548-F924-FE24-D138-39B6C5F03EF7}"/>
                </a:ext>
              </a:extLst>
            </p:cNvPr>
            <p:cNvGrpSpPr/>
            <p:nvPr/>
          </p:nvGrpSpPr>
          <p:grpSpPr>
            <a:xfrm>
              <a:off x="107504" y="2708920"/>
              <a:ext cx="8496944" cy="3600400"/>
              <a:chOff x="0" y="-154446"/>
              <a:chExt cx="6171690" cy="1544461"/>
            </a:xfrm>
          </p:grpSpPr>
          <p:sp>
            <p:nvSpPr>
              <p:cNvPr id="39" name="Rectangle 38">
                <a:extLst>
                  <a:ext uri="{FF2B5EF4-FFF2-40B4-BE49-F238E27FC236}">
                    <a16:creationId xmlns:a16="http://schemas.microsoft.com/office/drawing/2014/main" id="{F3B34180-D134-B895-A8E4-AF297F3B438C}"/>
                  </a:ext>
                </a:extLst>
              </p:cNvPr>
              <p:cNvSpPr/>
              <p:nvPr/>
            </p:nvSpPr>
            <p:spPr>
              <a:xfrm>
                <a:off x="0" y="0"/>
                <a:ext cx="5857875" cy="1390015"/>
              </a:xfrm>
              <a:prstGeom prst="rect">
                <a:avLst/>
              </a:prstGeom>
            </p:spPr>
            <p:txBody>
              <a:bodyPr/>
              <a:lstStyle/>
              <a:p>
                <a:endParaRPr lang="en-US"/>
              </a:p>
            </p:txBody>
          </p:sp>
          <p:sp>
            <p:nvSpPr>
              <p:cNvPr id="40" name="Cloud Callout 14">
                <a:extLst>
                  <a:ext uri="{FF2B5EF4-FFF2-40B4-BE49-F238E27FC236}">
                    <a16:creationId xmlns:a16="http://schemas.microsoft.com/office/drawing/2014/main" id="{E2DB1966-818F-1707-F9A1-0CD6462DF704}"/>
                  </a:ext>
                </a:extLst>
              </p:cNvPr>
              <p:cNvSpPr/>
              <p:nvPr/>
            </p:nvSpPr>
            <p:spPr>
              <a:xfrm>
                <a:off x="26738" y="742489"/>
                <a:ext cx="1072896" cy="621792"/>
              </a:xfrm>
              <a:prstGeom prst="cloudCallout">
                <a:avLst>
                  <a:gd name="adj1" fmla="val -4185"/>
                  <a:gd name="adj2" fmla="val -83096"/>
                </a:avLst>
              </a:prstGeom>
              <a:gradFill flip="none" rotWithShape="1">
                <a:gsLst>
                  <a:gs pos="0">
                    <a:srgbClr val="5B9BD5">
                      <a:tint val="66000"/>
                      <a:satMod val="160000"/>
                    </a:srgbClr>
                  </a:gs>
                  <a:gs pos="50000">
                    <a:srgbClr val="5B9BD5">
                      <a:tint val="44500"/>
                      <a:satMod val="160000"/>
                    </a:srgbClr>
                  </a:gs>
                  <a:gs pos="100000">
                    <a:srgbClr val="5B9BD5">
                      <a:tint val="23500"/>
                      <a:satMod val="160000"/>
                    </a:srgbClr>
                  </a:gs>
                </a:gsLst>
                <a:lin ang="0" scaled="1"/>
                <a:tileRect/>
              </a:gra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just">
                  <a:lnSpc>
                    <a:spcPct val="125000"/>
                  </a:lnSpc>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Problem domain</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1" name="Rounded Rectangle 15">
                <a:extLst>
                  <a:ext uri="{FF2B5EF4-FFF2-40B4-BE49-F238E27FC236}">
                    <a16:creationId xmlns:a16="http://schemas.microsoft.com/office/drawing/2014/main" id="{4188C1FA-1859-2EC0-615D-C6C4EB1255D4}"/>
                  </a:ext>
                </a:extLst>
              </p:cNvPr>
              <p:cNvSpPr/>
              <p:nvPr/>
            </p:nvSpPr>
            <p:spPr>
              <a:xfrm>
                <a:off x="139221" y="25302"/>
                <a:ext cx="919876" cy="505968"/>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Image acquisition</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42" name="Straight Arrow Connector 41">
                <a:extLst>
                  <a:ext uri="{FF2B5EF4-FFF2-40B4-BE49-F238E27FC236}">
                    <a16:creationId xmlns:a16="http://schemas.microsoft.com/office/drawing/2014/main" id="{F51EF08F-72A4-76BE-B93F-3C0C865F063B}"/>
                  </a:ext>
                </a:extLst>
              </p:cNvPr>
              <p:cNvCxnSpPr>
                <a:stCxn id="41" idx="3"/>
              </p:cNvCxnSpPr>
              <p:nvPr/>
            </p:nvCxnSpPr>
            <p:spPr>
              <a:xfrm>
                <a:off x="1059097" y="278286"/>
                <a:ext cx="180000" cy="0"/>
              </a:xfrm>
              <a:prstGeom prst="straightConnector1">
                <a:avLst/>
              </a:prstGeom>
              <a:noFill/>
              <a:ln w="6350" cap="flat" cmpd="sng" algn="ctr">
                <a:solidFill>
                  <a:sysClr val="windowText" lastClr="000000"/>
                </a:solidFill>
                <a:prstDash val="solid"/>
                <a:miter lim="800000"/>
                <a:tailEnd type="triangle"/>
              </a:ln>
              <a:effectLst/>
            </p:spPr>
          </p:cxnSp>
          <p:sp>
            <p:nvSpPr>
              <p:cNvPr id="43" name="Rounded Rectangle 17">
                <a:extLst>
                  <a:ext uri="{FF2B5EF4-FFF2-40B4-BE49-F238E27FC236}">
                    <a16:creationId xmlns:a16="http://schemas.microsoft.com/office/drawing/2014/main" id="{BC2473FA-D4CC-567D-4EF0-ABBEEE14131F}"/>
                  </a:ext>
                </a:extLst>
              </p:cNvPr>
              <p:cNvSpPr/>
              <p:nvPr/>
            </p:nvSpPr>
            <p:spPr>
              <a:xfrm>
                <a:off x="1233129" y="30972"/>
                <a:ext cx="1066239" cy="50546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Preprocessing</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44" name="Straight Arrow Connector 43">
                <a:extLst>
                  <a:ext uri="{FF2B5EF4-FFF2-40B4-BE49-F238E27FC236}">
                    <a16:creationId xmlns:a16="http://schemas.microsoft.com/office/drawing/2014/main" id="{6E0A2911-34A2-7DE7-9014-FEFA473E4852}"/>
                  </a:ext>
                </a:extLst>
              </p:cNvPr>
              <p:cNvCxnSpPr/>
              <p:nvPr/>
            </p:nvCxnSpPr>
            <p:spPr>
              <a:xfrm>
                <a:off x="2293813" y="283735"/>
                <a:ext cx="179705" cy="0"/>
              </a:xfrm>
              <a:prstGeom prst="straightConnector1">
                <a:avLst/>
              </a:prstGeom>
              <a:noFill/>
              <a:ln w="6350" cap="flat" cmpd="sng" algn="ctr">
                <a:solidFill>
                  <a:sysClr val="windowText" lastClr="000000"/>
                </a:solidFill>
                <a:prstDash val="solid"/>
                <a:miter lim="800000"/>
                <a:tailEnd type="triangle"/>
              </a:ln>
              <a:effectLst/>
            </p:spPr>
          </p:cxnSp>
          <p:sp>
            <p:nvSpPr>
              <p:cNvPr id="45" name="Rounded Rectangle 19">
                <a:extLst>
                  <a:ext uri="{FF2B5EF4-FFF2-40B4-BE49-F238E27FC236}">
                    <a16:creationId xmlns:a16="http://schemas.microsoft.com/office/drawing/2014/main" id="{29C9BAD2-3518-6868-C2E4-1A013FB2ED15}"/>
                  </a:ext>
                </a:extLst>
              </p:cNvPr>
              <p:cNvSpPr/>
              <p:nvPr/>
            </p:nvSpPr>
            <p:spPr>
              <a:xfrm>
                <a:off x="2471614" y="37313"/>
                <a:ext cx="1030797" cy="50546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Segmentation</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46" name="Straight Arrow Connector 45">
                <a:extLst>
                  <a:ext uri="{FF2B5EF4-FFF2-40B4-BE49-F238E27FC236}">
                    <a16:creationId xmlns:a16="http://schemas.microsoft.com/office/drawing/2014/main" id="{1274F5A0-3366-A3B3-B478-22E1AC8203EC}"/>
                  </a:ext>
                </a:extLst>
              </p:cNvPr>
              <p:cNvCxnSpPr/>
              <p:nvPr/>
            </p:nvCxnSpPr>
            <p:spPr>
              <a:xfrm>
                <a:off x="3510474" y="290043"/>
                <a:ext cx="179705" cy="0"/>
              </a:xfrm>
              <a:prstGeom prst="straightConnector1">
                <a:avLst/>
              </a:prstGeom>
              <a:noFill/>
              <a:ln w="6350" cap="flat" cmpd="sng" algn="ctr">
                <a:solidFill>
                  <a:sysClr val="windowText" lastClr="000000"/>
                </a:solidFill>
                <a:prstDash val="solid"/>
                <a:miter lim="800000"/>
                <a:tailEnd type="triangle"/>
              </a:ln>
              <a:effectLst/>
            </p:spPr>
          </p:cxnSp>
          <p:sp>
            <p:nvSpPr>
              <p:cNvPr id="47" name="Rounded Rectangle 21">
                <a:extLst>
                  <a:ext uri="{FF2B5EF4-FFF2-40B4-BE49-F238E27FC236}">
                    <a16:creationId xmlns:a16="http://schemas.microsoft.com/office/drawing/2014/main" id="{182B56CF-697A-4556-7ACF-6E4C0BF55D9B}"/>
                  </a:ext>
                </a:extLst>
              </p:cNvPr>
              <p:cNvSpPr/>
              <p:nvPr/>
            </p:nvSpPr>
            <p:spPr>
              <a:xfrm>
                <a:off x="3682404" y="43622"/>
                <a:ext cx="854225" cy="50546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Feature extraction</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48" name="Straight Arrow Connector 47">
                <a:extLst>
                  <a:ext uri="{FF2B5EF4-FFF2-40B4-BE49-F238E27FC236}">
                    <a16:creationId xmlns:a16="http://schemas.microsoft.com/office/drawing/2014/main" id="{349C5CAF-51E0-1374-2EE6-1F36C965CAB1}"/>
                  </a:ext>
                </a:extLst>
              </p:cNvPr>
              <p:cNvCxnSpPr/>
              <p:nvPr/>
            </p:nvCxnSpPr>
            <p:spPr>
              <a:xfrm flipV="1">
                <a:off x="4538387" y="-154446"/>
                <a:ext cx="616688" cy="247114"/>
              </a:xfrm>
              <a:prstGeom prst="straightConnector1">
                <a:avLst/>
              </a:prstGeom>
              <a:noFill/>
              <a:ln w="6350" cap="flat" cmpd="sng" algn="ctr">
                <a:solidFill>
                  <a:sysClr val="windowText" lastClr="000000"/>
                </a:solidFill>
                <a:prstDash val="solid"/>
                <a:miter lim="800000"/>
                <a:tailEnd type="triangle"/>
              </a:ln>
              <a:effectLst/>
            </p:spPr>
          </p:cxnSp>
          <p:sp>
            <p:nvSpPr>
              <p:cNvPr id="49" name="Rounded Rectangle 23">
                <a:extLst>
                  <a:ext uri="{FF2B5EF4-FFF2-40B4-BE49-F238E27FC236}">
                    <a16:creationId xmlns:a16="http://schemas.microsoft.com/office/drawing/2014/main" id="{2799A317-1FCF-80C2-F061-D91B9148743E}"/>
                  </a:ext>
                </a:extLst>
              </p:cNvPr>
              <p:cNvSpPr/>
              <p:nvPr/>
            </p:nvSpPr>
            <p:spPr>
              <a:xfrm>
                <a:off x="5141085" y="49925"/>
                <a:ext cx="1030605" cy="505460"/>
              </a:xfrm>
              <a:prstGeom prst="round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Classification / </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Regression </a:t>
                </a:r>
              </a:p>
              <a:p>
                <a:pPr algn="ctr">
                  <a:lnSpc>
                    <a:spcPct val="105000"/>
                  </a:lnSpc>
                  <a:spcAft>
                    <a:spcPts val="800"/>
                  </a:spcAft>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Clustering</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0" name="Oval 49">
                <a:extLst>
                  <a:ext uri="{FF2B5EF4-FFF2-40B4-BE49-F238E27FC236}">
                    <a16:creationId xmlns:a16="http://schemas.microsoft.com/office/drawing/2014/main" id="{394AD675-705E-1808-FD7C-8671927B5B8F}"/>
                  </a:ext>
                </a:extLst>
              </p:cNvPr>
              <p:cNvSpPr/>
              <p:nvPr/>
            </p:nvSpPr>
            <p:spPr>
              <a:xfrm>
                <a:off x="2339692" y="771719"/>
                <a:ext cx="1318228" cy="605395"/>
              </a:xfrm>
              <a:prstGeom prst="ellipse">
                <a:avLst/>
              </a:prstGeom>
              <a:solidFill>
                <a:srgbClr val="5B9BD5"/>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Knowledge base</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51" name="Straight Arrow Connector 50">
                <a:extLst>
                  <a:ext uri="{FF2B5EF4-FFF2-40B4-BE49-F238E27FC236}">
                    <a16:creationId xmlns:a16="http://schemas.microsoft.com/office/drawing/2014/main" id="{EC4C8F46-3ED4-F300-7E0F-B095166728AB}"/>
                  </a:ext>
                </a:extLst>
              </p:cNvPr>
              <p:cNvCxnSpPr>
                <a:endCxn id="45" idx="2"/>
              </p:cNvCxnSpPr>
              <p:nvPr/>
            </p:nvCxnSpPr>
            <p:spPr>
              <a:xfrm flipV="1">
                <a:off x="2986724" y="542773"/>
                <a:ext cx="0" cy="216000"/>
              </a:xfrm>
              <a:prstGeom prst="straightConnector1">
                <a:avLst/>
              </a:prstGeom>
              <a:noFill/>
              <a:ln w="6350" cap="flat" cmpd="sng" algn="ctr">
                <a:solidFill>
                  <a:sysClr val="windowText" lastClr="000000"/>
                </a:solidFill>
                <a:prstDash val="solid"/>
                <a:miter lim="800000"/>
                <a:headEnd type="triangle"/>
                <a:tailEnd type="triangle"/>
              </a:ln>
              <a:effectLst/>
            </p:spPr>
          </p:cxnSp>
          <p:cxnSp>
            <p:nvCxnSpPr>
              <p:cNvPr id="52" name="Straight Arrow Connector 51">
                <a:extLst>
                  <a:ext uri="{FF2B5EF4-FFF2-40B4-BE49-F238E27FC236}">
                    <a16:creationId xmlns:a16="http://schemas.microsoft.com/office/drawing/2014/main" id="{8CB3E044-EB5E-A7B6-CB2D-1A7F7447B227}"/>
                  </a:ext>
                </a:extLst>
              </p:cNvPr>
              <p:cNvCxnSpPr>
                <a:stCxn id="43" idx="2"/>
                <a:endCxn id="50" idx="1"/>
              </p:cNvCxnSpPr>
              <p:nvPr/>
            </p:nvCxnSpPr>
            <p:spPr>
              <a:xfrm>
                <a:off x="1766249" y="536432"/>
                <a:ext cx="766493" cy="323945"/>
              </a:xfrm>
              <a:prstGeom prst="straightConnector1">
                <a:avLst/>
              </a:prstGeom>
              <a:noFill/>
              <a:ln w="6350" cap="flat" cmpd="sng" algn="ctr">
                <a:solidFill>
                  <a:sysClr val="windowText" lastClr="000000"/>
                </a:solidFill>
                <a:prstDash val="solid"/>
                <a:miter lim="800000"/>
                <a:headEnd type="triangle"/>
                <a:tailEnd type="triangle"/>
              </a:ln>
              <a:effectLst/>
            </p:spPr>
          </p:cxnSp>
          <p:cxnSp>
            <p:nvCxnSpPr>
              <p:cNvPr id="53" name="Straight Arrow Connector 52">
                <a:extLst>
                  <a:ext uri="{FF2B5EF4-FFF2-40B4-BE49-F238E27FC236}">
                    <a16:creationId xmlns:a16="http://schemas.microsoft.com/office/drawing/2014/main" id="{B982D5C1-0CFC-D356-DE17-EBB268404BE1}"/>
                  </a:ext>
                </a:extLst>
              </p:cNvPr>
              <p:cNvCxnSpPr>
                <a:stCxn id="41" idx="2"/>
                <a:endCxn id="50" idx="2"/>
              </p:cNvCxnSpPr>
              <p:nvPr/>
            </p:nvCxnSpPr>
            <p:spPr>
              <a:xfrm>
                <a:off x="599159" y="531270"/>
                <a:ext cx="1740533" cy="543147"/>
              </a:xfrm>
              <a:prstGeom prst="straightConnector1">
                <a:avLst/>
              </a:prstGeom>
              <a:noFill/>
              <a:ln w="6350" cap="flat" cmpd="sng" algn="ctr">
                <a:solidFill>
                  <a:sysClr val="windowText" lastClr="000000"/>
                </a:solidFill>
                <a:prstDash val="solid"/>
                <a:miter lim="800000"/>
                <a:headEnd type="triangle"/>
                <a:tailEnd type="triangle"/>
              </a:ln>
              <a:effectLst/>
            </p:spPr>
          </p:cxnSp>
          <p:cxnSp>
            <p:nvCxnSpPr>
              <p:cNvPr id="54" name="Straight Arrow Connector 53">
                <a:extLst>
                  <a:ext uri="{FF2B5EF4-FFF2-40B4-BE49-F238E27FC236}">
                    <a16:creationId xmlns:a16="http://schemas.microsoft.com/office/drawing/2014/main" id="{278FB666-3A29-CB45-DB71-B9481DA1EF57}"/>
                  </a:ext>
                </a:extLst>
              </p:cNvPr>
              <p:cNvCxnSpPr>
                <a:stCxn id="49" idx="2"/>
                <a:endCxn id="50" idx="6"/>
              </p:cNvCxnSpPr>
              <p:nvPr/>
            </p:nvCxnSpPr>
            <p:spPr>
              <a:xfrm flipH="1">
                <a:off x="3657919" y="555385"/>
                <a:ext cx="1998468" cy="519031"/>
              </a:xfrm>
              <a:prstGeom prst="straightConnector1">
                <a:avLst/>
              </a:prstGeom>
              <a:noFill/>
              <a:ln w="6350" cap="flat" cmpd="sng" algn="ctr">
                <a:solidFill>
                  <a:sysClr val="windowText" lastClr="000000"/>
                </a:solidFill>
                <a:prstDash val="solid"/>
                <a:miter lim="800000"/>
                <a:headEnd type="triangle"/>
                <a:tailEnd type="triangle"/>
              </a:ln>
              <a:effectLst/>
            </p:spPr>
          </p:cxnSp>
          <p:cxnSp>
            <p:nvCxnSpPr>
              <p:cNvPr id="55" name="Straight Arrow Connector 54">
                <a:extLst>
                  <a:ext uri="{FF2B5EF4-FFF2-40B4-BE49-F238E27FC236}">
                    <a16:creationId xmlns:a16="http://schemas.microsoft.com/office/drawing/2014/main" id="{E1FF03B3-AA7F-34B8-E017-1C0CA173ACB6}"/>
                  </a:ext>
                </a:extLst>
              </p:cNvPr>
              <p:cNvCxnSpPr>
                <a:stCxn id="47" idx="2"/>
                <a:endCxn id="50" idx="7"/>
              </p:cNvCxnSpPr>
              <p:nvPr/>
            </p:nvCxnSpPr>
            <p:spPr>
              <a:xfrm flipH="1">
                <a:off x="3464870" y="548884"/>
                <a:ext cx="644647" cy="311183"/>
              </a:xfrm>
              <a:prstGeom prst="straightConnector1">
                <a:avLst/>
              </a:prstGeom>
              <a:noFill/>
              <a:ln w="6350" cap="flat" cmpd="sng" algn="ctr">
                <a:solidFill>
                  <a:sysClr val="windowText" lastClr="000000"/>
                </a:solidFill>
                <a:prstDash val="solid"/>
                <a:miter lim="800000"/>
                <a:headEnd type="triangle"/>
                <a:tailEnd type="triangle"/>
              </a:ln>
              <a:effectLst/>
            </p:spPr>
          </p:cxnSp>
          <p:sp>
            <p:nvSpPr>
              <p:cNvPr id="56" name="Down Arrow 30">
                <a:extLst>
                  <a:ext uri="{FF2B5EF4-FFF2-40B4-BE49-F238E27FC236}">
                    <a16:creationId xmlns:a16="http://schemas.microsoft.com/office/drawing/2014/main" id="{15A1A01A-D6E9-79F6-1BB3-DA83CA1A6E7E}"/>
                  </a:ext>
                </a:extLst>
              </p:cNvPr>
              <p:cNvSpPr/>
              <p:nvPr/>
            </p:nvSpPr>
            <p:spPr>
              <a:xfrm>
                <a:off x="5765799" y="556006"/>
                <a:ext cx="144379" cy="277972"/>
              </a:xfrm>
              <a:prstGeom prst="downArrow">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4400">
                  <a:latin typeface="Times New Roman" panose="02020603050405020304" pitchFamily="18" charset="0"/>
                  <a:cs typeface="Times New Roman" panose="02020603050405020304" pitchFamily="18" charset="0"/>
                </a:endParaRPr>
              </a:p>
            </p:txBody>
          </p:sp>
          <p:sp>
            <p:nvSpPr>
              <p:cNvPr id="57" name="Cloud 56">
                <a:extLst>
                  <a:ext uri="{FF2B5EF4-FFF2-40B4-BE49-F238E27FC236}">
                    <a16:creationId xmlns:a16="http://schemas.microsoft.com/office/drawing/2014/main" id="{A38361F0-FC00-6EA7-3EB4-C0B4EFAE41B5}"/>
                  </a:ext>
                </a:extLst>
              </p:cNvPr>
              <p:cNvSpPr/>
              <p:nvPr/>
            </p:nvSpPr>
            <p:spPr>
              <a:xfrm>
                <a:off x="4850034" y="829897"/>
                <a:ext cx="1217051" cy="470569"/>
              </a:xfrm>
              <a:prstGeom prst="cloud">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Result</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grpSp>
        <p:cxnSp>
          <p:nvCxnSpPr>
            <p:cNvPr id="34" name="Straight Arrow Connector 33">
              <a:extLst>
                <a:ext uri="{FF2B5EF4-FFF2-40B4-BE49-F238E27FC236}">
                  <a16:creationId xmlns:a16="http://schemas.microsoft.com/office/drawing/2014/main" id="{579C3012-0D97-4F17-7013-284A1CC79B3B}"/>
                </a:ext>
              </a:extLst>
            </p:cNvPr>
            <p:cNvCxnSpPr/>
            <p:nvPr/>
          </p:nvCxnSpPr>
          <p:spPr>
            <a:xfrm flipV="1">
              <a:off x="5760477" y="2708920"/>
              <a:ext cx="0" cy="46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le 9">
              <a:extLst>
                <a:ext uri="{FF2B5EF4-FFF2-40B4-BE49-F238E27FC236}">
                  <a16:creationId xmlns:a16="http://schemas.microsoft.com/office/drawing/2014/main" id="{77DD9A8C-5ADB-D83A-5A19-8F77F1833FA6}"/>
                </a:ext>
              </a:extLst>
            </p:cNvPr>
            <p:cNvSpPr/>
            <p:nvPr/>
          </p:nvSpPr>
          <p:spPr>
            <a:xfrm>
              <a:off x="5220071" y="2276872"/>
              <a:ext cx="1133287" cy="432048"/>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Model Generation</a:t>
              </a:r>
            </a:p>
          </p:txBody>
        </p:sp>
        <p:cxnSp>
          <p:nvCxnSpPr>
            <p:cNvPr id="36" name="Straight Arrow Connector 35">
              <a:extLst>
                <a:ext uri="{FF2B5EF4-FFF2-40B4-BE49-F238E27FC236}">
                  <a16:creationId xmlns:a16="http://schemas.microsoft.com/office/drawing/2014/main" id="{BAD3CABD-A16F-C256-4A76-4F74BB7E60E8}"/>
                </a:ext>
              </a:extLst>
            </p:cNvPr>
            <p:cNvCxnSpPr/>
            <p:nvPr/>
          </p:nvCxnSpPr>
          <p:spPr>
            <a:xfrm>
              <a:off x="6340812" y="2492896"/>
              <a:ext cx="864000" cy="0"/>
            </a:xfrm>
            <a:prstGeom prst="straightConnector1">
              <a:avLst/>
            </a:prstGeom>
            <a:noFill/>
            <a:ln w="6350" cap="flat" cmpd="sng" algn="ctr">
              <a:solidFill>
                <a:sysClr val="windowText" lastClr="000000"/>
              </a:solidFill>
              <a:prstDash val="solid"/>
              <a:miter lim="800000"/>
              <a:tailEnd type="triangle"/>
            </a:ln>
            <a:effectLst/>
          </p:spPr>
        </p:cxnSp>
        <p:sp>
          <p:nvSpPr>
            <p:cNvPr id="37" name="Rounded Rectangle 11">
              <a:extLst>
                <a:ext uri="{FF2B5EF4-FFF2-40B4-BE49-F238E27FC236}">
                  <a16:creationId xmlns:a16="http://schemas.microsoft.com/office/drawing/2014/main" id="{75B78E4B-418B-967C-BF23-D9DA826D199E}"/>
                </a:ext>
              </a:extLst>
            </p:cNvPr>
            <p:cNvSpPr/>
            <p:nvPr/>
          </p:nvSpPr>
          <p:spPr>
            <a:xfrm>
              <a:off x="7190894" y="2276872"/>
              <a:ext cx="1413554" cy="432048"/>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Models</a:t>
              </a:r>
            </a:p>
          </p:txBody>
        </p:sp>
        <p:cxnSp>
          <p:nvCxnSpPr>
            <p:cNvPr id="38" name="Straight Arrow Connector 37">
              <a:extLst>
                <a:ext uri="{FF2B5EF4-FFF2-40B4-BE49-F238E27FC236}">
                  <a16:creationId xmlns:a16="http://schemas.microsoft.com/office/drawing/2014/main" id="{7C79267A-BA99-5BFF-3B9E-22B11DCEBCCD}"/>
                </a:ext>
              </a:extLst>
            </p:cNvPr>
            <p:cNvCxnSpPr/>
            <p:nvPr/>
          </p:nvCxnSpPr>
          <p:spPr>
            <a:xfrm flipV="1">
              <a:off x="7950010" y="2708920"/>
              <a:ext cx="6366" cy="50400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8" name="Rounded Rectangle 32">
            <a:extLst>
              <a:ext uri="{FF2B5EF4-FFF2-40B4-BE49-F238E27FC236}">
                <a16:creationId xmlns:a16="http://schemas.microsoft.com/office/drawing/2014/main" id="{32835FDE-C08A-6327-AFA4-92EE799FC770}"/>
              </a:ext>
            </a:extLst>
          </p:cNvPr>
          <p:cNvSpPr/>
          <p:nvPr/>
        </p:nvSpPr>
        <p:spPr>
          <a:xfrm>
            <a:off x="9107351" y="2534809"/>
            <a:ext cx="1789983" cy="139824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32">
            <a:extLst>
              <a:ext uri="{FF2B5EF4-FFF2-40B4-BE49-F238E27FC236}">
                <a16:creationId xmlns:a16="http://schemas.microsoft.com/office/drawing/2014/main" id="{8EB70D49-12D2-5467-FCB9-4EBD10A38823}"/>
              </a:ext>
            </a:extLst>
          </p:cNvPr>
          <p:cNvSpPr/>
          <p:nvPr/>
        </p:nvSpPr>
        <p:spPr>
          <a:xfrm>
            <a:off x="6594882" y="2480219"/>
            <a:ext cx="1485198" cy="145283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3518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91344" y="44624"/>
            <a:ext cx="9283998" cy="1008112"/>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6000" dirty="0"/>
              <a:t>Machine Learning</a:t>
            </a:r>
            <a:endParaRPr lang="en-US" sz="6600" dirty="0"/>
          </a:p>
        </p:txBody>
      </p:sp>
      <p:sp>
        <p:nvSpPr>
          <p:cNvPr id="6" name="Rectangle 5"/>
          <p:cNvSpPr/>
          <p:nvPr/>
        </p:nvSpPr>
        <p:spPr>
          <a:xfrm>
            <a:off x="191344" y="1354991"/>
            <a:ext cx="10873208" cy="5062924"/>
          </a:xfrm>
          <a:prstGeom prst="rect">
            <a:avLst/>
          </a:prstGeom>
        </p:spPr>
        <p:txBody>
          <a:bodyPr wrap="square">
            <a:spAutoFit/>
          </a:bodyPr>
          <a:lstStyle/>
          <a:p>
            <a:pPr algn="just" eaLnBrk="0" fontAlgn="base" hangingPunct="0">
              <a:spcAft>
                <a:spcPts val="600"/>
              </a:spcAft>
            </a:pPr>
            <a:r>
              <a:rPr lang="en-US" altLang="en-US" sz="2800" dirty="0">
                <a:solidFill>
                  <a:srgbClr val="000000"/>
                </a:solidFill>
                <a:latin typeface="Times New Roman"/>
              </a:rPr>
              <a:t>Machine learning (ML) is a subset of artificial intelligence which provides machines the ability to learn automatically and improve the experience without being explicitly programmed.</a:t>
            </a:r>
          </a:p>
          <a:p>
            <a:pPr algn="just" eaLnBrk="0" fontAlgn="base" hangingPunct="0">
              <a:spcAft>
                <a:spcPts val="600"/>
              </a:spcAft>
            </a:pPr>
            <a:r>
              <a:rPr lang="en-US" altLang="en-US" sz="2800" b="1" dirty="0">
                <a:solidFill>
                  <a:srgbClr val="FF0000"/>
                </a:solidFill>
                <a:latin typeface="Times New Roman"/>
              </a:rPr>
              <a:t>Supervised Learning</a:t>
            </a:r>
            <a:r>
              <a:rPr lang="en-US" altLang="en-US" sz="2800" dirty="0">
                <a:solidFill>
                  <a:srgbClr val="000000"/>
                </a:solidFill>
                <a:latin typeface="Times New Roman"/>
              </a:rPr>
              <a:t> implies we are given a </a:t>
            </a:r>
            <a:r>
              <a:rPr lang="en-US" altLang="en-US" sz="2800" b="1" dirty="0">
                <a:solidFill>
                  <a:srgbClr val="000000"/>
                </a:solidFill>
                <a:latin typeface="Times New Roman"/>
              </a:rPr>
              <a:t>training set</a:t>
            </a:r>
            <a:r>
              <a:rPr lang="en-US" altLang="en-US" sz="2800" dirty="0">
                <a:solidFill>
                  <a:srgbClr val="000000"/>
                </a:solidFill>
                <a:latin typeface="Times New Roman"/>
              </a:rPr>
              <a:t> of (X, Y) pairs by a “teacher”</a:t>
            </a:r>
          </a:p>
          <a:p>
            <a:pPr algn="just" eaLnBrk="0" fontAlgn="base" hangingPunct="0">
              <a:spcAft>
                <a:spcPts val="600"/>
              </a:spcAft>
            </a:pPr>
            <a:r>
              <a:rPr lang="en-US" altLang="en-US" sz="2800" b="1" dirty="0">
                <a:solidFill>
                  <a:srgbClr val="FF0000"/>
                </a:solidFill>
                <a:latin typeface="Times New Roman"/>
              </a:rPr>
              <a:t>Unsupervised Learning</a:t>
            </a:r>
            <a:r>
              <a:rPr lang="en-US" altLang="en-US" sz="2800" dirty="0">
                <a:solidFill>
                  <a:srgbClr val="FF0000"/>
                </a:solidFill>
                <a:latin typeface="Times New Roman"/>
              </a:rPr>
              <a:t> </a:t>
            </a:r>
            <a:r>
              <a:rPr lang="en-US" altLang="en-US" sz="2800" dirty="0">
                <a:solidFill>
                  <a:srgbClr val="000000"/>
                </a:solidFill>
                <a:latin typeface="Times New Roman"/>
              </a:rPr>
              <a:t>means we are only given the </a:t>
            </a:r>
            <a:r>
              <a:rPr lang="en-US" altLang="en-US" sz="2800" dirty="0" err="1">
                <a:solidFill>
                  <a:srgbClr val="000000"/>
                </a:solidFill>
                <a:latin typeface="Times New Roman"/>
              </a:rPr>
              <a:t>Xs</a:t>
            </a:r>
            <a:r>
              <a:rPr lang="en-US" altLang="en-US" sz="2800" dirty="0">
                <a:solidFill>
                  <a:srgbClr val="000000"/>
                </a:solidFill>
                <a:latin typeface="Times New Roman"/>
              </a:rPr>
              <a:t> and some (ultimate) feedback function on our performance. </a:t>
            </a:r>
          </a:p>
          <a:p>
            <a:pPr algn="just" eaLnBrk="0" fontAlgn="base" hangingPunct="0">
              <a:spcAft>
                <a:spcPts val="600"/>
              </a:spcAft>
            </a:pPr>
            <a:r>
              <a:rPr lang="en-US" altLang="en-US" sz="2800" b="1" dirty="0">
                <a:solidFill>
                  <a:srgbClr val="FF0000"/>
                </a:solidFill>
                <a:latin typeface="Times New Roman" panose="02020603050405020304" pitchFamily="18" charset="0"/>
                <a:cs typeface="Times New Roman" panose="02020603050405020304" pitchFamily="18" charset="0"/>
              </a:rPr>
              <a:t>Reinforcement Learning</a:t>
            </a:r>
            <a:r>
              <a:rPr lang="en-US" altLang="en-US" sz="2800" dirty="0">
                <a:solidFill>
                  <a:srgbClr val="00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is all about taking suitable action to maximize reward in a particular situation. It is employed by various software and machines to find the best possible behavior or path it should take in a specific situation.</a:t>
            </a:r>
            <a:endParaRPr lang="en-US" altLang="en-US"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633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p:cNvPicPr>
            <a:picLocks noChangeAspect="1"/>
          </p:cNvPicPr>
          <p:nvPr/>
        </p:nvPicPr>
        <p:blipFill>
          <a:blip r:embed="rId3"/>
          <a:stretch>
            <a:fillRect/>
          </a:stretch>
        </p:blipFill>
        <p:spPr>
          <a:xfrm>
            <a:off x="6168006" y="4293096"/>
            <a:ext cx="2664298" cy="1223484"/>
          </a:xfrm>
          <a:prstGeom prst="rect">
            <a:avLst/>
          </a:prstGeom>
        </p:spPr>
      </p:pic>
      <p:sp>
        <p:nvSpPr>
          <p:cNvPr id="2" name="Title 1"/>
          <p:cNvSpPr>
            <a:spLocks noGrp="1"/>
          </p:cNvSpPr>
          <p:nvPr>
            <p:ph type="ctrTitle"/>
          </p:nvPr>
        </p:nvSpPr>
        <p:spPr>
          <a:xfrm>
            <a:off x="191344" y="71414"/>
            <a:ext cx="9505056" cy="928694"/>
          </a:xfrm>
        </p:spPr>
        <p:txBody>
          <a:bodyPr>
            <a:normAutofit fontScale="90000"/>
          </a:bodyPr>
          <a:lstStyle/>
          <a:p>
            <a:r>
              <a:rPr lang="en-US" sz="2800" dirty="0"/>
              <a:t>Machine Learning in Computer Vision…</a:t>
            </a:r>
            <a:br>
              <a:rPr lang="en-US" sz="2800" dirty="0"/>
            </a:br>
            <a:r>
              <a:rPr lang="en-US" sz="2800" dirty="0"/>
              <a:t>	</a:t>
            </a:r>
            <a:r>
              <a:rPr lang="en-US" sz="4800" dirty="0"/>
              <a:t>Basic Requirements</a:t>
            </a:r>
            <a:endParaRPr lang="en-US" dirty="0"/>
          </a:p>
        </p:txBody>
      </p:sp>
      <p:sp>
        <p:nvSpPr>
          <p:cNvPr id="3" name="TextBox 2"/>
          <p:cNvSpPr txBox="1"/>
          <p:nvPr/>
        </p:nvSpPr>
        <p:spPr>
          <a:xfrm>
            <a:off x="191344" y="1196753"/>
            <a:ext cx="11665296" cy="5262979"/>
          </a:xfrm>
          <a:prstGeom prst="rect">
            <a:avLst/>
          </a:prstGeom>
          <a:noFill/>
        </p:spPr>
        <p:txBody>
          <a:bodyPr wrap="square" rtlCol="0">
            <a:spAutoFit/>
          </a:bodyPr>
          <a:lstStyle/>
          <a:p>
            <a:pPr marL="285750" indent="-285750"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Access to imaging hardware for digital Image acquisition</a:t>
            </a:r>
          </a:p>
          <a:p>
            <a:pPr marL="285750" indent="-285750"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Highly efficient: Input and output have to be fast, efficient, and machine independent</a:t>
            </a:r>
          </a:p>
          <a:p>
            <a:pPr marL="285750" indent="-285750"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Code to be optimized to make sure the use of all processing cores of GPU</a:t>
            </a:r>
          </a:p>
          <a:p>
            <a:pPr marL="285750" indent="-285750"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Code to be re-usable across the systems: Computer vision and image analysis modules should be as independent as possible from the final applications</a:t>
            </a:r>
          </a:p>
          <a:p>
            <a:pPr marL="285750" indent="-285750"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User-friendly interface</a:t>
            </a:r>
          </a:p>
          <a:p>
            <a:pPr algn="just">
              <a:spcBef>
                <a:spcPts val="600"/>
              </a:spcBef>
              <a:spcAft>
                <a:spcPts val="600"/>
              </a:spcAft>
            </a:pPr>
            <a:endParaRPr lang="en-US" sz="2400" dirty="0">
              <a:latin typeface="Times New Roman" panose="02020603050405020304" pitchFamily="18" charset="0"/>
              <a:cs typeface="Times New Roman" panose="02020603050405020304" pitchFamily="18" charset="0"/>
            </a:endParaRPr>
          </a:p>
          <a:p>
            <a:pPr marL="285750" indent="-285750"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Use of bench-mark and separate data sets for the training and testing of proposed modal. </a:t>
            </a:r>
            <a:r>
              <a:rPr lang="en-US" sz="2800" dirty="0">
                <a:solidFill>
                  <a:srgbClr val="FF0000"/>
                </a:solidFill>
                <a:latin typeface="Times New Roman" panose="02020603050405020304" pitchFamily="18" charset="0"/>
                <a:cs typeface="Times New Roman" panose="02020603050405020304" pitchFamily="18" charset="0"/>
              </a:rPr>
              <a:t>Is it sufficient?</a:t>
            </a:r>
          </a:p>
        </p:txBody>
      </p:sp>
    </p:spTree>
    <p:extLst>
      <p:ext uri="{BB962C8B-B14F-4D97-AF65-F5344CB8AC3E}">
        <p14:creationId xmlns:p14="http://schemas.microsoft.com/office/powerpoint/2010/main" val="1236721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additive="base">
                                        <p:cTn id="29" dur="500" fill="hold"/>
                                        <p:tgtEl>
                                          <p:spTgt spid="34"/>
                                        </p:tgtEl>
                                        <p:attrNameLst>
                                          <p:attrName>ppt_x</p:attrName>
                                        </p:attrNameLst>
                                      </p:cBhvr>
                                      <p:tavLst>
                                        <p:tav tm="0">
                                          <p:val>
                                            <p:strVal val="#ppt_x"/>
                                          </p:val>
                                        </p:tav>
                                        <p:tav tm="100000">
                                          <p:val>
                                            <p:strVal val="#ppt_x"/>
                                          </p:val>
                                        </p:tav>
                                      </p:tavLst>
                                    </p:anim>
                                    <p:anim calcmode="lin" valueType="num">
                                      <p:cBhvr additive="base">
                                        <p:cTn id="30"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Nearest Neighbors (KNN) Classification with R Tutorial | DataCamp">
            <a:extLst>
              <a:ext uri="{FF2B5EF4-FFF2-40B4-BE49-F238E27FC236}">
                <a16:creationId xmlns:a16="http://schemas.microsoft.com/office/drawing/2014/main" id="{A9C649A6-82A1-E6F3-C5A3-F82369296D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028" r="12194"/>
          <a:stretch/>
        </p:blipFill>
        <p:spPr bwMode="auto">
          <a:xfrm>
            <a:off x="7284132" y="1196752"/>
            <a:ext cx="4536504" cy="359198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91344" y="44624"/>
            <a:ext cx="9361040" cy="928694"/>
          </a:xfrm>
        </p:spPr>
        <p:txBody>
          <a:bodyPr>
            <a:normAutofit fontScale="90000"/>
          </a:bodyPr>
          <a:lstStyle/>
          <a:p>
            <a:r>
              <a:rPr lang="en-US" sz="3600" dirty="0"/>
              <a:t>Traditional Handcrafted Approaches</a:t>
            </a:r>
            <a:br>
              <a:rPr lang="en-US" dirty="0"/>
            </a:br>
            <a:r>
              <a:rPr lang="en-US" sz="4000" dirty="0"/>
              <a:t>		K Nearest Neighbor (KNN)</a:t>
            </a:r>
            <a:endParaRPr lang="en-US" sz="3100" dirty="0"/>
          </a:p>
        </p:txBody>
      </p:sp>
      <p:sp>
        <p:nvSpPr>
          <p:cNvPr id="9" name="TextBox 8">
            <a:extLst>
              <a:ext uri="{FF2B5EF4-FFF2-40B4-BE49-F238E27FC236}">
                <a16:creationId xmlns:a16="http://schemas.microsoft.com/office/drawing/2014/main" id="{5BB8D036-71D8-77B1-1640-395BF0C93153}"/>
              </a:ext>
            </a:extLst>
          </p:cNvPr>
          <p:cNvSpPr txBox="1"/>
          <p:nvPr/>
        </p:nvSpPr>
        <p:spPr>
          <a:xfrm>
            <a:off x="174576" y="1340768"/>
            <a:ext cx="7109556" cy="3046988"/>
          </a:xfrm>
          <a:prstGeom prst="rect">
            <a:avLst/>
          </a:prstGeom>
          <a:noFill/>
        </p:spPr>
        <p:txBody>
          <a:bodyPr wrap="square">
            <a:spAutoFit/>
          </a:bodyPr>
          <a:lstStyle/>
          <a:p>
            <a:pPr algn="just"/>
            <a:r>
              <a:rPr lang="en-US" sz="3200" dirty="0">
                <a:latin typeface="Times New Roman" panose="02020603050405020304" pitchFamily="18" charset="0"/>
                <a:cs typeface="Times New Roman" panose="02020603050405020304" pitchFamily="18" charset="0"/>
              </a:rPr>
              <a:t>KNN is a simple and versatile algorithm used in supervised machine learning for classification and regression tasks. It works on the principle that data points close together tend to share similar characteristics. </a:t>
            </a:r>
          </a:p>
        </p:txBody>
      </p:sp>
      <p:sp>
        <p:nvSpPr>
          <p:cNvPr id="15" name="TextBox 14">
            <a:extLst>
              <a:ext uri="{FF2B5EF4-FFF2-40B4-BE49-F238E27FC236}">
                <a16:creationId xmlns:a16="http://schemas.microsoft.com/office/drawing/2014/main" id="{8C863F69-D9B6-9F57-6F05-42EC21285A13}"/>
              </a:ext>
            </a:extLst>
          </p:cNvPr>
          <p:cNvSpPr txBox="1"/>
          <p:nvPr/>
        </p:nvSpPr>
        <p:spPr>
          <a:xfrm>
            <a:off x="119336" y="4581128"/>
            <a:ext cx="10513168" cy="2062103"/>
          </a:xfrm>
          <a:prstGeom prst="rect">
            <a:avLst/>
          </a:prstGeom>
          <a:noFill/>
        </p:spPr>
        <p:txBody>
          <a:bodyPr wrap="square">
            <a:spAutoFit/>
          </a:bodyPr>
          <a:lstStyle/>
          <a:p>
            <a:pPr algn="just"/>
            <a:r>
              <a:rPr lang="en-US" sz="3200" dirty="0">
                <a:latin typeface="Times New Roman" panose="02020603050405020304" pitchFamily="18" charset="0"/>
                <a:cs typeface="Times New Roman" panose="02020603050405020304" pitchFamily="18" charset="0"/>
              </a:rPr>
              <a:t>During the training phase, KNN stores all the available data. When a new data point arrives, it finds the K nearest neighbors in the training data and predicts the class label or value of the new data point based on the majority vote of its neighbors.</a:t>
            </a:r>
          </a:p>
        </p:txBody>
      </p:sp>
    </p:spTree>
    <p:extLst>
      <p:ext uri="{BB962C8B-B14F-4D97-AF65-F5344CB8AC3E}">
        <p14:creationId xmlns:p14="http://schemas.microsoft.com/office/powerpoint/2010/main" val="1313328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44624"/>
            <a:ext cx="9361040" cy="928694"/>
          </a:xfrm>
        </p:spPr>
        <p:txBody>
          <a:bodyPr>
            <a:normAutofit fontScale="90000"/>
          </a:bodyPr>
          <a:lstStyle/>
          <a:p>
            <a:r>
              <a:rPr lang="en-US" sz="3600" dirty="0"/>
              <a:t>Traditional Handcrafted Approaches</a:t>
            </a:r>
            <a:br>
              <a:rPr lang="en-US" dirty="0"/>
            </a:br>
            <a:r>
              <a:rPr lang="en-US" sz="4000" dirty="0"/>
              <a:t>		Support Vector Machine (SVM)</a:t>
            </a:r>
            <a:endParaRPr lang="en-US" sz="3100" dirty="0"/>
          </a:p>
        </p:txBody>
      </p:sp>
      <p:sp>
        <p:nvSpPr>
          <p:cNvPr id="9" name="TextBox 8">
            <a:extLst>
              <a:ext uri="{FF2B5EF4-FFF2-40B4-BE49-F238E27FC236}">
                <a16:creationId xmlns:a16="http://schemas.microsoft.com/office/drawing/2014/main" id="{5BB8D036-71D8-77B1-1640-395BF0C93153}"/>
              </a:ext>
            </a:extLst>
          </p:cNvPr>
          <p:cNvSpPr txBox="1"/>
          <p:nvPr/>
        </p:nvSpPr>
        <p:spPr>
          <a:xfrm>
            <a:off x="191344" y="1426706"/>
            <a:ext cx="7560840" cy="4555093"/>
          </a:xfrm>
          <a:prstGeom prst="rect">
            <a:avLst/>
          </a:prstGeom>
          <a:noFill/>
        </p:spPr>
        <p:txBody>
          <a:bodyPr wrap="square">
            <a:spAutoFit/>
          </a:bodyPr>
          <a:lstStyle/>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SVM is a supervised machine learning algorithm and can be used for both classification or regression challenges. However, it is mostly used in classification problems.</a:t>
            </a:r>
          </a:p>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SVM works by mapping data to a high-dimensional feature space so that data points can be categorized, even when the data are not otherwise linearly separable. A separator between the categories is found, then the data are transformed in such a way that the separator could be drawn as a hyperplane.</a:t>
            </a:r>
          </a:p>
        </p:txBody>
      </p:sp>
      <p:pic>
        <p:nvPicPr>
          <p:cNvPr id="5" name="Picture 2" descr="Understand Support Vector Machines | Towards Data Science">
            <a:extLst>
              <a:ext uri="{FF2B5EF4-FFF2-40B4-BE49-F238E27FC236}">
                <a16:creationId xmlns:a16="http://schemas.microsoft.com/office/drawing/2014/main" id="{73A58B8C-62DF-53B8-E354-2BB95CE819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176" y="1441607"/>
            <a:ext cx="4418482" cy="3355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51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191344" y="1405220"/>
            <a:ext cx="10657184" cy="4832092"/>
          </a:xfrm>
          <a:prstGeom prst="rect">
            <a:avLst/>
          </a:prstGeom>
          <a:noFill/>
        </p:spPr>
        <p:txBody>
          <a:bodyPr wrap="square" rtlCol="0">
            <a:spAutoFit/>
          </a:bodyPr>
          <a:lstStyle/>
          <a:p>
            <a:pPr marL="457200" indent="-457200" algn="just">
              <a:spcBef>
                <a:spcPts val="600"/>
              </a:spcBef>
              <a:spcAft>
                <a:spcPts val="6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Handcrafted approach requires expert designed feature detectors, descriptors, and encoding/vocabulary building methods for feature extraction and representation.</a:t>
            </a:r>
          </a:p>
          <a:p>
            <a:pPr marL="457200" indent="-457200" algn="just">
              <a:spcBef>
                <a:spcPts val="600"/>
              </a:spcBef>
              <a:spcAft>
                <a:spcPts val="6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Feature engineering is important but labor-intensive and  requires expertise of the subject matter.</a:t>
            </a:r>
          </a:p>
          <a:p>
            <a:pPr marL="457200" indent="-457200" algn="just">
              <a:spcBef>
                <a:spcPts val="600"/>
              </a:spcBef>
              <a:spcAft>
                <a:spcPts val="6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There are no universally best handcrafted feature descriptors for all datasets/domains.</a:t>
            </a:r>
            <a:endParaRPr lang="en-US" sz="3600" dirty="0"/>
          </a:p>
        </p:txBody>
      </p:sp>
      <p:sp>
        <p:nvSpPr>
          <p:cNvPr id="2" name="Title 1">
            <a:extLst>
              <a:ext uri="{FF2B5EF4-FFF2-40B4-BE49-F238E27FC236}">
                <a16:creationId xmlns:a16="http://schemas.microsoft.com/office/drawing/2014/main" id="{4D9AA89C-797A-D7B0-1A9F-43EBFD3A9DFA}"/>
              </a:ext>
            </a:extLst>
          </p:cNvPr>
          <p:cNvSpPr txBox="1">
            <a:spLocks/>
          </p:cNvSpPr>
          <p:nvPr/>
        </p:nvSpPr>
        <p:spPr>
          <a:xfrm>
            <a:off x="191344" y="124042"/>
            <a:ext cx="10441160" cy="928694"/>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4000" dirty="0"/>
              <a:t>Limitations of Traditional Handcrafted Approaches</a:t>
            </a:r>
            <a:endParaRPr lang="en-US" sz="3100" dirty="0"/>
          </a:p>
        </p:txBody>
      </p:sp>
    </p:spTree>
    <p:extLst>
      <p:ext uri="{BB962C8B-B14F-4D97-AF65-F5344CB8AC3E}">
        <p14:creationId xmlns:p14="http://schemas.microsoft.com/office/powerpoint/2010/main" val="87688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19336" y="1844824"/>
            <a:ext cx="9865096" cy="3312368"/>
          </a:xfrm>
          <a:prstGeom prst="rect">
            <a:avLst/>
          </a:prstGeom>
        </p:spPr>
      </p:pic>
      <p:sp>
        <p:nvSpPr>
          <p:cNvPr id="4" name="Rectangular Callout 3"/>
          <p:cNvSpPr/>
          <p:nvPr/>
        </p:nvSpPr>
        <p:spPr>
          <a:xfrm rot="700113">
            <a:off x="10485667" y="1512656"/>
            <a:ext cx="1500557" cy="1008112"/>
          </a:xfrm>
          <a:prstGeom prst="wedgeRectCallout">
            <a:avLst>
              <a:gd name="adj1" fmla="val -50056"/>
              <a:gd name="adj2" fmla="val 761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ea typeface="Times New Roman" panose="02020603050405020304" pitchFamily="18" charset="0"/>
                <a:cs typeface="Times New Roman" panose="02020603050405020304" pitchFamily="18" charset="0"/>
              </a:rPr>
              <a:t>Deep Learning</a:t>
            </a:r>
            <a:endParaRPr lang="en-US" sz="2400" dirty="0">
              <a:latin typeface="Times New Roman" panose="02020603050405020304" pitchFamily="18" charset="0"/>
              <a:cs typeface="Times New Roman" panose="02020603050405020304" pitchFamily="18" charset="0"/>
            </a:endParaRPr>
          </a:p>
        </p:txBody>
      </p:sp>
      <p:sp>
        <p:nvSpPr>
          <p:cNvPr id="5" name="Rectangle 4"/>
          <p:cNvSpPr/>
          <p:nvPr/>
        </p:nvSpPr>
        <p:spPr>
          <a:xfrm>
            <a:off x="0" y="6474822"/>
            <a:ext cx="12192000" cy="338554"/>
          </a:xfrm>
          <a:prstGeom prst="rect">
            <a:avLst/>
          </a:prstGeom>
          <a:solidFill>
            <a:srgbClr val="FFFF00"/>
          </a:solidFill>
        </p:spPr>
        <p:txBody>
          <a:bodyPr wrap="square">
            <a:spAutoFit/>
          </a:bodyPr>
          <a:lstStyle/>
          <a:p>
            <a:r>
              <a:rPr lang="en-US" sz="1600" dirty="0">
                <a:solidFill>
                  <a:srgbClr val="211D1E"/>
                </a:solidFill>
                <a:latin typeface="Times New Roman" panose="02020603050405020304" pitchFamily="18" charset="0"/>
                <a:cs typeface="Times New Roman" panose="02020603050405020304" pitchFamily="18" charset="0"/>
              </a:rPr>
              <a:t>Yann </a:t>
            </a:r>
            <a:r>
              <a:rPr lang="en-US" sz="1600" dirty="0" err="1">
                <a:solidFill>
                  <a:srgbClr val="211D1E"/>
                </a:solidFill>
                <a:latin typeface="Times New Roman" panose="02020603050405020304" pitchFamily="18" charset="0"/>
                <a:cs typeface="Times New Roman" panose="02020603050405020304" pitchFamily="18" charset="0"/>
              </a:rPr>
              <a:t>LeCun</a:t>
            </a:r>
            <a:r>
              <a:rPr lang="en-US" sz="1600" dirty="0">
                <a:solidFill>
                  <a:srgbClr val="211D1E"/>
                </a:solidFill>
                <a:latin typeface="Times New Roman" panose="02020603050405020304" pitchFamily="18" charset="0"/>
                <a:cs typeface="Times New Roman" panose="02020603050405020304" pitchFamily="18" charset="0"/>
              </a:rPr>
              <a:t>, </a:t>
            </a:r>
            <a:r>
              <a:rPr lang="en-US" sz="1600" dirty="0" err="1">
                <a:solidFill>
                  <a:srgbClr val="211D1E"/>
                </a:solidFill>
                <a:latin typeface="Times New Roman" panose="02020603050405020304" pitchFamily="18" charset="0"/>
                <a:cs typeface="Times New Roman" panose="02020603050405020304" pitchFamily="18" charset="0"/>
              </a:rPr>
              <a:t>Yoshua</a:t>
            </a:r>
            <a:r>
              <a:rPr lang="en-US" sz="1600" dirty="0">
                <a:solidFill>
                  <a:srgbClr val="211D1E"/>
                </a:solidFill>
                <a:latin typeface="Times New Roman" panose="02020603050405020304" pitchFamily="18" charset="0"/>
                <a:cs typeface="Times New Roman" panose="02020603050405020304" pitchFamily="18" charset="0"/>
              </a:rPr>
              <a:t> </a:t>
            </a:r>
            <a:r>
              <a:rPr lang="en-US" sz="1600" dirty="0" err="1">
                <a:solidFill>
                  <a:srgbClr val="211D1E"/>
                </a:solidFill>
                <a:latin typeface="Times New Roman" panose="02020603050405020304" pitchFamily="18" charset="0"/>
                <a:cs typeface="Times New Roman" panose="02020603050405020304" pitchFamily="18" charset="0"/>
              </a:rPr>
              <a:t>Bengio</a:t>
            </a:r>
            <a:r>
              <a:rPr lang="en-US" sz="1600" dirty="0">
                <a:solidFill>
                  <a:srgbClr val="211D1E"/>
                </a:solidFill>
                <a:latin typeface="Times New Roman" panose="02020603050405020304" pitchFamily="18" charset="0"/>
                <a:cs typeface="Times New Roman" panose="02020603050405020304" pitchFamily="18" charset="0"/>
              </a:rPr>
              <a:t>, Geoffrey Hinton, Deep Learning, Nature,  Vol. 521, pp. 436-444, 2015.</a:t>
            </a:r>
            <a:endParaRPr lang="en-US" sz="1600" dirty="0">
              <a:latin typeface="Times New Roman" panose="02020603050405020304" pitchFamily="18" charset="0"/>
              <a:cs typeface="Times New Roman" panose="02020603050405020304" pitchFamily="18" charset="0"/>
            </a:endParaRPr>
          </a:p>
        </p:txBody>
      </p:sp>
      <p:pic>
        <p:nvPicPr>
          <p:cNvPr id="2052" name="Picture 4" descr="http://www.nature.com/nature/journal/v521/n7553/images/cover_natur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0416" y="3413362"/>
            <a:ext cx="2304256" cy="3026256"/>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txBox="1">
            <a:spLocks/>
          </p:cNvSpPr>
          <p:nvPr/>
        </p:nvSpPr>
        <p:spPr>
          <a:xfrm>
            <a:off x="191344" y="71414"/>
            <a:ext cx="9505056"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Application…</a:t>
            </a:r>
            <a:br>
              <a:rPr lang="en-US" sz="2400" dirty="0"/>
            </a:br>
            <a:r>
              <a:rPr lang="en-US" sz="2400" dirty="0"/>
              <a:t>	</a:t>
            </a:r>
            <a:r>
              <a:rPr lang="en-US" sz="4000" dirty="0"/>
              <a:t>Modern Approaches…</a:t>
            </a:r>
            <a:endParaRPr lang="en-US" sz="3600" dirty="0"/>
          </a:p>
        </p:txBody>
      </p:sp>
      <p:sp>
        <p:nvSpPr>
          <p:cNvPr id="10" name="TextBox 9"/>
          <p:cNvSpPr txBox="1"/>
          <p:nvPr/>
        </p:nvSpPr>
        <p:spPr>
          <a:xfrm>
            <a:off x="1079443" y="1196752"/>
            <a:ext cx="5592621"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Example: Human Action Recognition</a:t>
            </a:r>
          </a:p>
        </p:txBody>
      </p:sp>
      <p:sp>
        <p:nvSpPr>
          <p:cNvPr id="2" name="TextBox 1"/>
          <p:cNvSpPr txBox="1"/>
          <p:nvPr/>
        </p:nvSpPr>
        <p:spPr>
          <a:xfrm>
            <a:off x="4151784" y="4797152"/>
            <a:ext cx="4608512" cy="1384995"/>
          </a:xfrm>
          <a:prstGeom prst="rect">
            <a:avLst/>
          </a:prstGeom>
          <a:solidFill>
            <a:schemeClr val="bg1">
              <a:lumMod val="85000"/>
            </a:schemeClr>
          </a:solid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Good features are learned automatically using a general purpose learning procedure</a:t>
            </a:r>
          </a:p>
        </p:txBody>
      </p:sp>
    </p:spTree>
    <p:extLst>
      <p:ext uri="{BB962C8B-B14F-4D97-AF65-F5344CB8AC3E}">
        <p14:creationId xmlns:p14="http://schemas.microsoft.com/office/powerpoint/2010/main" val="2112466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CC36B-3AAD-6B80-0026-ED38E1F70B73}"/>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3C3D7AE-4209-A32C-36D2-DC6142FE65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402" t="11260" r="1519" b="3349"/>
          <a:stretch/>
        </p:blipFill>
        <p:spPr bwMode="auto">
          <a:xfrm>
            <a:off x="113826" y="1220935"/>
            <a:ext cx="7680351" cy="55656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ular Callout 3">
            <a:extLst>
              <a:ext uri="{FF2B5EF4-FFF2-40B4-BE49-F238E27FC236}">
                <a16:creationId xmlns:a16="http://schemas.microsoft.com/office/drawing/2014/main" id="{71A3F8F6-B634-9026-37CC-844B7DE3B760}"/>
              </a:ext>
            </a:extLst>
          </p:cNvPr>
          <p:cNvSpPr/>
          <p:nvPr/>
        </p:nvSpPr>
        <p:spPr>
          <a:xfrm rot="700113">
            <a:off x="10485667" y="1512656"/>
            <a:ext cx="1500557" cy="1008112"/>
          </a:xfrm>
          <a:prstGeom prst="wedgeRectCallout">
            <a:avLst>
              <a:gd name="adj1" fmla="val -50056"/>
              <a:gd name="adj2" fmla="val 761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ea typeface="Times New Roman" panose="02020603050405020304" pitchFamily="18" charset="0"/>
                <a:cs typeface="Times New Roman" panose="02020603050405020304" pitchFamily="18" charset="0"/>
              </a:rPr>
              <a:t>Deep Learning</a:t>
            </a:r>
            <a:endParaRPr lang="en-US" sz="2400"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6F8A1979-24D2-1494-775D-CBFC51963861}"/>
              </a:ext>
            </a:extLst>
          </p:cNvPr>
          <p:cNvSpPr txBox="1">
            <a:spLocks/>
          </p:cNvSpPr>
          <p:nvPr/>
        </p:nvSpPr>
        <p:spPr>
          <a:xfrm>
            <a:off x="191344" y="71414"/>
            <a:ext cx="9505056"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Application…</a:t>
            </a:r>
            <a:br>
              <a:rPr lang="en-US" sz="2400" dirty="0"/>
            </a:br>
            <a:r>
              <a:rPr lang="en-US" sz="2400" dirty="0"/>
              <a:t>	</a:t>
            </a:r>
            <a:r>
              <a:rPr lang="en-US" sz="4000" dirty="0"/>
              <a:t>Modern Approaches…</a:t>
            </a:r>
            <a:endParaRPr lang="en-US" sz="3600" dirty="0"/>
          </a:p>
        </p:txBody>
      </p:sp>
      <p:sp>
        <p:nvSpPr>
          <p:cNvPr id="2" name="TextBox 1">
            <a:extLst>
              <a:ext uri="{FF2B5EF4-FFF2-40B4-BE49-F238E27FC236}">
                <a16:creationId xmlns:a16="http://schemas.microsoft.com/office/drawing/2014/main" id="{DC424AC2-43ED-D0AB-E9FE-27BBF4EEF0DC}"/>
              </a:ext>
            </a:extLst>
          </p:cNvPr>
          <p:cNvSpPr txBox="1"/>
          <p:nvPr/>
        </p:nvSpPr>
        <p:spPr>
          <a:xfrm>
            <a:off x="8256240" y="3140968"/>
            <a:ext cx="3694610" cy="2246769"/>
          </a:xfrm>
          <a:prstGeom prst="rect">
            <a:avLst/>
          </a:prstGeom>
          <a:solidFill>
            <a:schemeClr val="bg1">
              <a:lumMod val="85000"/>
            </a:schemeClr>
          </a:solidFill>
        </p:spPr>
        <p:txBody>
          <a:bodyPr wrap="square" rtlCol="0">
            <a:spAutoFit/>
          </a:bodyPr>
          <a:lstStyle/>
          <a:p>
            <a:pPr algn="ctr"/>
            <a:r>
              <a:rPr lang="en-US" sz="2800" dirty="0">
                <a:solidFill>
                  <a:srgbClr val="0D0D0D"/>
                </a:solidFill>
                <a:latin typeface="Times New Roman" panose="02020603050405020304" pitchFamily="18" charset="0"/>
                <a:cs typeface="Times New Roman" panose="02020603050405020304" pitchFamily="18" charset="0"/>
              </a:rPr>
              <a:t>L</a:t>
            </a:r>
            <a:r>
              <a:rPr lang="en-US" sz="2800" b="0" i="0" dirty="0">
                <a:solidFill>
                  <a:srgbClr val="0D0D0D"/>
                </a:solidFill>
                <a:effectLst/>
                <a:latin typeface="Times New Roman" panose="02020603050405020304" pitchFamily="18" charset="0"/>
                <a:cs typeface="Times New Roman" panose="02020603050405020304" pitchFamily="18" charset="0"/>
              </a:rPr>
              <a:t>earn hierarchical representations of features, capturing complex patterns and relationships in the data</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2125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191344" y="71414"/>
            <a:ext cx="9505056"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Comparison…</a:t>
            </a:r>
            <a:br>
              <a:rPr lang="en-US" sz="2400" dirty="0"/>
            </a:br>
            <a:r>
              <a:rPr lang="en-US" sz="2400" dirty="0"/>
              <a:t>	</a:t>
            </a:r>
            <a:r>
              <a:rPr lang="en-US" sz="2800" dirty="0"/>
              <a:t>Traditional Handcrafted Vs. Deep Learning</a:t>
            </a:r>
            <a:endParaRPr lang="en-US" sz="3600" dirty="0"/>
          </a:p>
        </p:txBody>
      </p:sp>
      <p:graphicFrame>
        <p:nvGraphicFramePr>
          <p:cNvPr id="11" name="Table 10"/>
          <p:cNvGraphicFramePr>
            <a:graphicFrameLocks noGrp="1"/>
          </p:cNvGraphicFramePr>
          <p:nvPr/>
        </p:nvGraphicFramePr>
        <p:xfrm>
          <a:off x="191344" y="1340769"/>
          <a:ext cx="10657184" cy="5093524"/>
        </p:xfrm>
        <a:graphic>
          <a:graphicData uri="http://schemas.openxmlformats.org/drawingml/2006/table">
            <a:tbl>
              <a:tblPr firstRow="1" bandRow="1">
                <a:tableStyleId>{5C22544A-7EE6-4342-B048-85BDC9FD1C3A}</a:tableStyleId>
              </a:tblPr>
              <a:tblGrid>
                <a:gridCol w="5359240">
                  <a:extLst>
                    <a:ext uri="{9D8B030D-6E8A-4147-A177-3AD203B41FA5}">
                      <a16:colId xmlns:a16="http://schemas.microsoft.com/office/drawing/2014/main" val="3824227543"/>
                    </a:ext>
                  </a:extLst>
                </a:gridCol>
                <a:gridCol w="5297944">
                  <a:extLst>
                    <a:ext uri="{9D8B030D-6E8A-4147-A177-3AD203B41FA5}">
                      <a16:colId xmlns:a16="http://schemas.microsoft.com/office/drawing/2014/main" val="3036384946"/>
                    </a:ext>
                  </a:extLst>
                </a:gridCol>
              </a:tblGrid>
              <a:tr h="647698">
                <a:tc>
                  <a:txBody>
                    <a:bodyPr/>
                    <a:lstStyle/>
                    <a:p>
                      <a:pPr algn="just"/>
                      <a:r>
                        <a:rPr lang="en-US" sz="2800" dirty="0">
                          <a:latin typeface="Times New Roman" panose="02020603050405020304" pitchFamily="18" charset="0"/>
                          <a:cs typeface="Times New Roman" panose="02020603050405020304" pitchFamily="18" charset="0"/>
                        </a:rPr>
                        <a:t>Handcrafted</a:t>
                      </a:r>
                      <a:r>
                        <a:rPr lang="en-US" sz="2800" baseline="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Approach</a:t>
                      </a:r>
                      <a:r>
                        <a:rPr lang="en-US" sz="2800" baseline="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c>
                  <a:txBody>
                    <a:bodyPr/>
                    <a:lstStyle/>
                    <a:p>
                      <a:pPr algn="just"/>
                      <a:r>
                        <a:rPr lang="en-US" sz="2800" dirty="0">
                          <a:latin typeface="Times New Roman" panose="02020603050405020304" pitchFamily="18" charset="0"/>
                          <a:cs typeface="Times New Roman" panose="02020603050405020304" pitchFamily="18" charset="0"/>
                        </a:rPr>
                        <a:t>Deep Learning</a:t>
                      </a:r>
                      <a:r>
                        <a:rPr lang="en-US" sz="2800" baseline="0" dirty="0">
                          <a:latin typeface="Times New Roman" panose="02020603050405020304" pitchFamily="18" charset="0"/>
                          <a:cs typeface="Times New Roman" panose="02020603050405020304" pitchFamily="18" charset="0"/>
                        </a:rPr>
                        <a:t> Approach </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5961779"/>
                  </a:ext>
                </a:extLst>
              </a:tr>
              <a:tr h="1186649">
                <a:tc>
                  <a:txBody>
                    <a:bodyPr/>
                    <a:lstStyle/>
                    <a:p>
                      <a:pPr algn="just"/>
                      <a:r>
                        <a:rPr lang="en-US" sz="2800" dirty="0">
                          <a:latin typeface="Times New Roman" panose="02020603050405020304" pitchFamily="18" charset="0"/>
                          <a:cs typeface="Times New Roman" panose="02020603050405020304" pitchFamily="18" charset="0"/>
                        </a:rPr>
                        <a:t>It requires manual feature extraction/engineering</a:t>
                      </a:r>
                      <a:r>
                        <a:rPr lang="en-US" sz="2800" baseline="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c>
                  <a:txBody>
                    <a:bodyPr/>
                    <a:lstStyle/>
                    <a:p>
                      <a:pPr algn="just"/>
                      <a:r>
                        <a:rPr lang="en-US" sz="2800" dirty="0">
                          <a:latin typeface="Times New Roman" panose="02020603050405020304" pitchFamily="18" charset="0"/>
                          <a:cs typeface="Times New Roman" panose="02020603050405020304" pitchFamily="18" charset="0"/>
                        </a:rPr>
                        <a:t>Deep</a:t>
                      </a:r>
                      <a:r>
                        <a:rPr lang="en-US" sz="2800" baseline="0" dirty="0">
                          <a:latin typeface="Times New Roman" panose="02020603050405020304" pitchFamily="18" charset="0"/>
                          <a:cs typeface="Times New Roman" panose="02020603050405020304" pitchFamily="18" charset="0"/>
                        </a:rPr>
                        <a:t> learning can automatically learn features in data.</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4528203"/>
                  </a:ext>
                </a:extLst>
              </a:tr>
              <a:tr h="1261996">
                <a:tc>
                  <a:txBody>
                    <a:bodyPr/>
                    <a:lstStyle/>
                    <a:p>
                      <a:pPr algn="just"/>
                      <a:r>
                        <a:rPr lang="en-US" sz="2800" dirty="0">
                          <a:latin typeface="Times New Roman" panose="02020603050405020304" pitchFamily="18" charset="0"/>
                          <a:cs typeface="Times New Roman" panose="02020603050405020304" pitchFamily="18" charset="0"/>
                        </a:rPr>
                        <a:t>Feature extraction</a:t>
                      </a:r>
                      <a:r>
                        <a:rPr lang="en-US" sz="2800" baseline="0" dirty="0">
                          <a:latin typeface="Times New Roman" panose="02020603050405020304" pitchFamily="18" charset="0"/>
                          <a:cs typeface="Times New Roman" panose="02020603050405020304" pitchFamily="18" charset="0"/>
                        </a:rPr>
                        <a:t> for unstructured data is very difficult.</a:t>
                      </a:r>
                      <a:endParaRPr lang="en-US" sz="2800" dirty="0">
                        <a:latin typeface="Times New Roman" panose="02020603050405020304" pitchFamily="18" charset="0"/>
                        <a:cs typeface="Times New Roman" panose="02020603050405020304" pitchFamily="18" charset="0"/>
                      </a:endParaRPr>
                    </a:p>
                  </a:txBody>
                  <a:tcPr/>
                </a:tc>
                <a:tc>
                  <a:txBody>
                    <a:bodyPr/>
                    <a:lstStyle/>
                    <a:p>
                      <a:pPr algn="just"/>
                      <a:r>
                        <a:rPr lang="en-US" sz="2800" dirty="0">
                          <a:latin typeface="Times New Roman" panose="02020603050405020304" pitchFamily="18" charset="0"/>
                          <a:cs typeface="Times New Roman" panose="02020603050405020304" pitchFamily="18" charset="0"/>
                        </a:rPr>
                        <a:t>Deep learning is largely</a:t>
                      </a:r>
                      <a:r>
                        <a:rPr lang="en-US" sz="2800" baseline="0" dirty="0">
                          <a:latin typeface="Times New Roman" panose="02020603050405020304" pitchFamily="18" charset="0"/>
                          <a:cs typeface="Times New Roman" panose="02020603050405020304" pitchFamily="18" charset="0"/>
                        </a:rPr>
                        <a:t> a “black box "technique, updating learning weights at each layer.</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67916215"/>
                  </a:ext>
                </a:extLst>
              </a:tr>
              <a:tr h="1887577">
                <a:tc>
                  <a:txBody>
                    <a:bodyPr/>
                    <a:lstStyle/>
                    <a:p>
                      <a:pPr algn="just"/>
                      <a:r>
                        <a:rPr lang="en-US" sz="2800" dirty="0">
                          <a:latin typeface="Times New Roman" panose="02020603050405020304" pitchFamily="18" charset="0"/>
                          <a:cs typeface="Times New Roman" panose="02020603050405020304" pitchFamily="18" charset="0"/>
                        </a:rPr>
                        <a:t>It</a:t>
                      </a:r>
                      <a:r>
                        <a:rPr lang="en-US" sz="2800" baseline="0" dirty="0">
                          <a:latin typeface="Times New Roman" panose="02020603050405020304" pitchFamily="18" charset="0"/>
                          <a:cs typeface="Times New Roman" panose="02020603050405020304" pitchFamily="18" charset="0"/>
                        </a:rPr>
                        <a:t> requires subject-matter expertise to extract key features.</a:t>
                      </a:r>
                      <a:endParaRPr lang="en-US" sz="2800" dirty="0">
                        <a:latin typeface="Times New Roman" panose="02020603050405020304" pitchFamily="18" charset="0"/>
                        <a:cs typeface="Times New Roman" panose="02020603050405020304" pitchFamily="18" charset="0"/>
                      </a:endParaRPr>
                    </a:p>
                  </a:txBody>
                  <a:tcPr/>
                </a:tc>
                <a:tc>
                  <a:txBody>
                    <a:bodyPr/>
                    <a:lstStyle/>
                    <a:p>
                      <a:pPr algn="just"/>
                      <a:r>
                        <a:rPr lang="en-US" sz="2800" dirty="0">
                          <a:latin typeface="Times New Roman" panose="02020603050405020304" pitchFamily="18" charset="0"/>
                          <a:cs typeface="Times New Roman" panose="02020603050405020304" pitchFamily="18" charset="0"/>
                        </a:rPr>
                        <a:t>Deep learning extracts features automatically from domain-specific images, without any feature engineering technique. </a:t>
                      </a:r>
                    </a:p>
                  </a:txBody>
                  <a:tcPr/>
                </a:tc>
                <a:extLst>
                  <a:ext uri="{0D108BD9-81ED-4DB2-BD59-A6C34878D82A}">
                    <a16:rowId xmlns:a16="http://schemas.microsoft.com/office/drawing/2014/main" val="3491498146"/>
                  </a:ext>
                </a:extLst>
              </a:tr>
            </a:tbl>
          </a:graphicData>
        </a:graphic>
      </p:graphicFrame>
    </p:spTree>
    <p:extLst>
      <p:ext uri="{BB962C8B-B14F-4D97-AF65-F5344CB8AC3E}">
        <p14:creationId xmlns:p14="http://schemas.microsoft.com/office/powerpoint/2010/main" val="383262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263352" y="71414"/>
            <a:ext cx="9433048"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a:t>
            </a:r>
            <a:endParaRPr lang="en-US" sz="3600" dirty="0"/>
          </a:p>
        </p:txBody>
      </p:sp>
      <p:sp>
        <p:nvSpPr>
          <p:cNvPr id="6" name="Rectangle 5"/>
          <p:cNvSpPr/>
          <p:nvPr/>
        </p:nvSpPr>
        <p:spPr>
          <a:xfrm>
            <a:off x="9408368" y="3201938"/>
            <a:ext cx="2664296" cy="3539430"/>
          </a:xfrm>
          <a:prstGeom prst="rect">
            <a:avLst/>
          </a:prstGeom>
        </p:spPr>
        <p:txBody>
          <a:bodyPr wrap="square">
            <a:spAutoFit/>
          </a:bodyPr>
          <a:lstStyle/>
          <a:p>
            <a:pPr algn="ctr"/>
            <a:r>
              <a:rPr lang="en-US" sz="3200" dirty="0">
                <a:latin typeface="Times New Roman" panose="02020603050405020304" pitchFamily="18" charset="0"/>
                <a:cs typeface="Times New Roman" panose="02020603050405020304" pitchFamily="18" charset="0"/>
              </a:rPr>
              <a:t>The ability of deep learning to extend what has been learned in one context to new context</a:t>
            </a:r>
            <a:r>
              <a:rPr lang="en-US" sz="2800" dirty="0">
                <a:latin typeface="Times New Roman" panose="02020603050405020304" pitchFamily="18" charset="0"/>
                <a:cs typeface="Times New Roman" panose="02020603050405020304" pitchFamily="18" charset="0"/>
              </a:rPr>
              <a:t> </a:t>
            </a:r>
          </a:p>
        </p:txBody>
      </p:sp>
      <p:sp>
        <p:nvSpPr>
          <p:cNvPr id="4" name="Rectangular Callout 3"/>
          <p:cNvSpPr/>
          <p:nvPr/>
        </p:nvSpPr>
        <p:spPr>
          <a:xfrm rot="700113">
            <a:off x="9734408" y="1462934"/>
            <a:ext cx="2232105" cy="1315995"/>
          </a:xfrm>
          <a:prstGeom prst="wedgeRectCallout">
            <a:avLst>
              <a:gd name="adj1" fmla="val -61387"/>
              <a:gd name="adj2" fmla="val 355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ea typeface="Times New Roman" panose="02020603050405020304" pitchFamily="18" charset="0"/>
                <a:cs typeface="Times New Roman" panose="02020603050405020304" pitchFamily="18" charset="0"/>
              </a:rPr>
              <a:t>Transfer Learning</a:t>
            </a:r>
            <a:endParaRPr lang="en-US" sz="3200" dirty="0">
              <a:latin typeface="Times New Roman" panose="02020603050405020304" pitchFamily="18" charset="0"/>
              <a:cs typeface="Times New Roman" panose="02020603050405020304" pitchFamily="18" charset="0"/>
            </a:endParaRPr>
          </a:p>
        </p:txBody>
      </p:sp>
      <p:pic>
        <p:nvPicPr>
          <p:cNvPr id="41986" name="Picture 2" descr="https://miro.medium.com/max/1000/1*LUFUl_8fqS97nUzpcFjgWw.png"/>
          <p:cNvPicPr>
            <a:picLocks noChangeAspect="1" noChangeArrowheads="1"/>
          </p:cNvPicPr>
          <p:nvPr/>
        </p:nvPicPr>
        <p:blipFill rotWithShape="1">
          <a:blip r:embed="rId3">
            <a:extLst>
              <a:ext uri="{28A0092B-C50C-407E-A947-70E740481C1C}">
                <a14:useLocalDpi xmlns:a14="http://schemas.microsoft.com/office/drawing/2010/main" val="0"/>
              </a:ext>
            </a:extLst>
          </a:blip>
          <a:srcRect l="3024" r="2477"/>
          <a:stretch/>
        </p:blipFill>
        <p:spPr bwMode="auto">
          <a:xfrm>
            <a:off x="191344" y="1606251"/>
            <a:ext cx="9001000" cy="4991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666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237063" y="1287780"/>
            <a:ext cx="11726517" cy="2645276"/>
          </a:xfrm>
          <a:prstGeom prst="rect">
            <a:avLst/>
          </a:prstGeom>
        </p:spPr>
      </p:pic>
      <p:sp>
        <p:nvSpPr>
          <p:cNvPr id="10" name="Title 1"/>
          <p:cNvSpPr txBox="1">
            <a:spLocks/>
          </p:cNvSpPr>
          <p:nvPr/>
        </p:nvSpPr>
        <p:spPr>
          <a:xfrm>
            <a:off x="191344" y="71414"/>
            <a:ext cx="9505056"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Comparison…</a:t>
            </a:r>
            <a:br>
              <a:rPr lang="en-US" sz="2400" dirty="0"/>
            </a:br>
            <a:r>
              <a:rPr lang="en-US" sz="2400" dirty="0"/>
              <a:t>	</a:t>
            </a:r>
            <a:r>
              <a:rPr lang="en-US" sz="4000" dirty="0"/>
              <a:t>CNN Vs. Transfer Learning</a:t>
            </a:r>
            <a:endParaRPr lang="en-US" sz="3600" dirty="0"/>
          </a:p>
        </p:txBody>
      </p:sp>
      <p:graphicFrame>
        <p:nvGraphicFramePr>
          <p:cNvPr id="7" name="Table 6"/>
          <p:cNvGraphicFramePr>
            <a:graphicFrameLocks noGrp="1"/>
          </p:cNvGraphicFramePr>
          <p:nvPr/>
        </p:nvGraphicFramePr>
        <p:xfrm>
          <a:off x="191344" y="3568784"/>
          <a:ext cx="11772236" cy="3078480"/>
        </p:xfrm>
        <a:graphic>
          <a:graphicData uri="http://schemas.openxmlformats.org/drawingml/2006/table">
            <a:tbl>
              <a:tblPr firstRow="1" bandRow="1">
                <a:tableStyleId>{5C22544A-7EE6-4342-B048-85BDC9FD1C3A}</a:tableStyleId>
              </a:tblPr>
              <a:tblGrid>
                <a:gridCol w="2757458">
                  <a:extLst>
                    <a:ext uri="{9D8B030D-6E8A-4147-A177-3AD203B41FA5}">
                      <a16:colId xmlns:a16="http://schemas.microsoft.com/office/drawing/2014/main" val="3023172897"/>
                    </a:ext>
                  </a:extLst>
                </a:gridCol>
                <a:gridCol w="3128658">
                  <a:extLst>
                    <a:ext uri="{9D8B030D-6E8A-4147-A177-3AD203B41FA5}">
                      <a16:colId xmlns:a16="http://schemas.microsoft.com/office/drawing/2014/main" val="44784158"/>
                    </a:ext>
                  </a:extLst>
                </a:gridCol>
                <a:gridCol w="2598376">
                  <a:extLst>
                    <a:ext uri="{9D8B030D-6E8A-4147-A177-3AD203B41FA5}">
                      <a16:colId xmlns:a16="http://schemas.microsoft.com/office/drawing/2014/main" val="1128067550"/>
                    </a:ext>
                  </a:extLst>
                </a:gridCol>
                <a:gridCol w="3287744">
                  <a:extLst>
                    <a:ext uri="{9D8B030D-6E8A-4147-A177-3AD203B41FA5}">
                      <a16:colId xmlns:a16="http://schemas.microsoft.com/office/drawing/2014/main" val="431603041"/>
                    </a:ext>
                  </a:extLst>
                </a:gridCol>
              </a:tblGrid>
              <a:tr h="366116">
                <a:tc gridSpan="2">
                  <a:txBody>
                    <a:bodyPr/>
                    <a:lstStyle/>
                    <a:p>
                      <a:r>
                        <a:rPr lang="en-US" sz="2800" dirty="0">
                          <a:latin typeface="Times New Roman" panose="02020603050405020304" pitchFamily="18" charset="0"/>
                          <a:cs typeface="Times New Roman" panose="02020603050405020304" pitchFamily="18" charset="0"/>
                        </a:rPr>
                        <a:t>CNN using</a:t>
                      </a:r>
                      <a:r>
                        <a:rPr lang="en-US" sz="2800" baseline="0" dirty="0">
                          <a:latin typeface="Times New Roman" panose="02020603050405020304" pitchFamily="18" charset="0"/>
                          <a:cs typeface="Times New Roman" panose="02020603050405020304" pitchFamily="18" charset="0"/>
                        </a:rPr>
                        <a:t> IMAGENET</a:t>
                      </a:r>
                      <a:endParaRPr lang="en-US" sz="2800" dirty="0">
                        <a:latin typeface="Times New Roman" panose="02020603050405020304" pitchFamily="18" charset="0"/>
                        <a:cs typeface="Times New Roman" panose="02020603050405020304" pitchFamily="18" charset="0"/>
                      </a:endParaRPr>
                    </a:p>
                  </a:txBody>
                  <a:tcPr/>
                </a:tc>
                <a:tc hMerge="1">
                  <a:txBody>
                    <a:bodyPr/>
                    <a:lstStyle/>
                    <a:p>
                      <a:endParaRPr lang="en-US" dirty="0"/>
                    </a:p>
                  </a:txBody>
                  <a:tcPr/>
                </a:tc>
                <a:tc gridSpan="2">
                  <a:txBody>
                    <a:bodyPr/>
                    <a:lstStyle/>
                    <a:p>
                      <a:r>
                        <a:rPr lang="en-US" sz="2800" dirty="0">
                          <a:latin typeface="Times New Roman" panose="02020603050405020304" pitchFamily="18" charset="0"/>
                          <a:cs typeface="Times New Roman" panose="02020603050405020304" pitchFamily="18" charset="0"/>
                        </a:rPr>
                        <a:t>Transfer</a:t>
                      </a:r>
                      <a:r>
                        <a:rPr lang="en-US" sz="2800" baseline="0" dirty="0">
                          <a:latin typeface="Times New Roman" panose="02020603050405020304" pitchFamily="18" charset="0"/>
                          <a:cs typeface="Times New Roman" panose="02020603050405020304" pitchFamily="18" charset="0"/>
                        </a:rPr>
                        <a:t> learning</a:t>
                      </a:r>
                      <a:endParaRPr lang="en-US" sz="2800" dirty="0">
                        <a:latin typeface="Times New Roman" panose="02020603050405020304" pitchFamily="18" charset="0"/>
                        <a:cs typeface="Times New Roman" panose="02020603050405020304" pitchFamily="18" charset="0"/>
                      </a:endParaRPr>
                    </a:p>
                  </a:txBody>
                  <a:tcPr/>
                </a:tc>
                <a:tc hMerge="1">
                  <a:txBody>
                    <a:bodyPr/>
                    <a:lstStyle/>
                    <a:p>
                      <a:endParaRPr lang="en-US" dirty="0"/>
                    </a:p>
                  </a:txBody>
                  <a:tcPr/>
                </a:tc>
                <a:extLst>
                  <a:ext uri="{0D108BD9-81ED-4DB2-BD59-A6C34878D82A}">
                    <a16:rowId xmlns:a16="http://schemas.microsoft.com/office/drawing/2014/main" val="3208824030"/>
                  </a:ext>
                </a:extLst>
              </a:tr>
              <a:tr h="631926">
                <a:tc>
                  <a:txBody>
                    <a:bodyPr/>
                    <a:lstStyle/>
                    <a:p>
                      <a:r>
                        <a:rPr lang="en-US" sz="2400" b="1" dirty="0">
                          <a:solidFill>
                            <a:srgbClr val="FF0000"/>
                          </a:solidFill>
                          <a:latin typeface="Times New Roman" panose="02020603050405020304" pitchFamily="18" charset="0"/>
                          <a:cs typeface="Times New Roman" panose="02020603050405020304" pitchFamily="18" charset="0"/>
                        </a:rPr>
                        <a:t>Training data</a:t>
                      </a:r>
                    </a:p>
                  </a:txBody>
                  <a:tcPr/>
                </a:tc>
                <a:tc>
                  <a:txBody>
                    <a:bodyPr/>
                    <a:lstStyle/>
                    <a:p>
                      <a:r>
                        <a:rPr lang="en-US" sz="2400" dirty="0">
                          <a:latin typeface="Times New Roman" panose="02020603050405020304" pitchFamily="18" charset="0"/>
                          <a:cs typeface="Times New Roman" panose="02020603050405020304" pitchFamily="18" charset="0"/>
                        </a:rPr>
                        <a:t>Millions</a:t>
                      </a:r>
                      <a:r>
                        <a:rPr lang="en-US" sz="2400" baseline="0" dirty="0">
                          <a:latin typeface="Times New Roman" panose="02020603050405020304" pitchFamily="18" charset="0"/>
                          <a:cs typeface="Times New Roman" panose="02020603050405020304" pitchFamily="18" charset="0"/>
                        </a:rPr>
                        <a:t> of labeled images </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b="1" dirty="0">
                          <a:solidFill>
                            <a:srgbClr val="FF0000"/>
                          </a:solidFill>
                          <a:latin typeface="Times New Roman" panose="02020603050405020304" pitchFamily="18" charset="0"/>
                          <a:cs typeface="Times New Roman" panose="02020603050405020304" pitchFamily="18" charset="0"/>
                        </a:rPr>
                        <a:t>Training data</a:t>
                      </a:r>
                    </a:p>
                  </a:txBody>
                  <a:tcPr/>
                </a:tc>
                <a:tc>
                  <a:txBody>
                    <a:bodyPr/>
                    <a:lstStyle/>
                    <a:p>
                      <a:r>
                        <a:rPr lang="en-US" sz="2400" dirty="0">
                          <a:latin typeface="Times New Roman" panose="02020603050405020304" pitchFamily="18" charset="0"/>
                          <a:cs typeface="Times New Roman" panose="02020603050405020304" pitchFamily="18" charset="0"/>
                        </a:rPr>
                        <a:t>100s to 1000s images </a:t>
                      </a:r>
                    </a:p>
                  </a:txBody>
                  <a:tcPr/>
                </a:tc>
                <a:extLst>
                  <a:ext uri="{0D108BD9-81ED-4DB2-BD59-A6C34878D82A}">
                    <a16:rowId xmlns:a16="http://schemas.microsoft.com/office/drawing/2014/main" val="3063373197"/>
                  </a:ext>
                </a:extLst>
              </a:tr>
              <a:tr h="366116">
                <a:tc>
                  <a:txBody>
                    <a:bodyPr/>
                    <a:lstStyle/>
                    <a:p>
                      <a:r>
                        <a:rPr lang="en-US" sz="2400" b="1" dirty="0">
                          <a:solidFill>
                            <a:srgbClr val="FF0000"/>
                          </a:solidFill>
                          <a:latin typeface="Times New Roman" panose="02020603050405020304" pitchFamily="18" charset="0"/>
                          <a:cs typeface="Times New Roman" panose="02020603050405020304" pitchFamily="18" charset="0"/>
                        </a:rPr>
                        <a:t>Computation</a:t>
                      </a:r>
                    </a:p>
                  </a:txBody>
                  <a:tcPr/>
                </a:tc>
                <a:tc>
                  <a:txBody>
                    <a:bodyPr/>
                    <a:lstStyle/>
                    <a:p>
                      <a:r>
                        <a:rPr lang="en-US" sz="2400" dirty="0">
                          <a:latin typeface="Times New Roman" panose="02020603050405020304" pitchFamily="18" charset="0"/>
                          <a:cs typeface="Times New Roman" panose="02020603050405020304" pitchFamily="18" charset="0"/>
                        </a:rPr>
                        <a:t>Intensive </a:t>
                      </a:r>
                    </a:p>
                  </a:txBody>
                  <a:tcPr/>
                </a:tc>
                <a:tc>
                  <a:txBody>
                    <a:bodyPr/>
                    <a:lstStyle/>
                    <a:p>
                      <a:r>
                        <a:rPr lang="en-US" sz="2400" b="1" dirty="0">
                          <a:solidFill>
                            <a:srgbClr val="FF0000"/>
                          </a:solidFill>
                          <a:latin typeface="Times New Roman" panose="02020603050405020304" pitchFamily="18" charset="0"/>
                          <a:cs typeface="Times New Roman" panose="02020603050405020304" pitchFamily="18" charset="0"/>
                        </a:rPr>
                        <a:t>Computation</a:t>
                      </a:r>
                    </a:p>
                  </a:txBody>
                  <a:tcPr/>
                </a:tc>
                <a:tc>
                  <a:txBody>
                    <a:bodyPr/>
                    <a:lstStyle/>
                    <a:p>
                      <a:r>
                        <a:rPr lang="en-US" sz="2400" dirty="0">
                          <a:latin typeface="Times New Roman" panose="02020603050405020304" pitchFamily="18" charset="0"/>
                          <a:cs typeface="Times New Roman" panose="02020603050405020304" pitchFamily="18" charset="0"/>
                        </a:rPr>
                        <a:t>Moderate</a:t>
                      </a:r>
                    </a:p>
                  </a:txBody>
                  <a:tcPr/>
                </a:tc>
                <a:extLst>
                  <a:ext uri="{0D108BD9-81ED-4DB2-BD59-A6C34878D82A}">
                    <a16:rowId xmlns:a16="http://schemas.microsoft.com/office/drawing/2014/main" val="1381663871"/>
                  </a:ext>
                </a:extLst>
              </a:tr>
              <a:tr h="366116">
                <a:tc>
                  <a:txBody>
                    <a:bodyPr/>
                    <a:lstStyle/>
                    <a:p>
                      <a:r>
                        <a:rPr lang="en-US" sz="2400" b="1" dirty="0">
                          <a:solidFill>
                            <a:srgbClr val="FF0000"/>
                          </a:solidFill>
                          <a:latin typeface="Times New Roman" panose="02020603050405020304" pitchFamily="18" charset="0"/>
                          <a:cs typeface="Times New Roman" panose="02020603050405020304" pitchFamily="18" charset="0"/>
                        </a:rPr>
                        <a:t>Training Time</a:t>
                      </a:r>
                    </a:p>
                  </a:txBody>
                  <a:tcPr/>
                </a:tc>
                <a:tc>
                  <a:txBody>
                    <a:bodyPr/>
                    <a:lstStyle/>
                    <a:p>
                      <a:r>
                        <a:rPr lang="en-US" sz="2400" dirty="0">
                          <a:latin typeface="Times New Roman" panose="02020603050405020304" pitchFamily="18" charset="0"/>
                          <a:cs typeface="Times New Roman" panose="02020603050405020304" pitchFamily="18" charset="0"/>
                        </a:rPr>
                        <a:t>Days to weeks </a:t>
                      </a:r>
                    </a:p>
                  </a:txBody>
                  <a:tcPr/>
                </a:tc>
                <a:tc>
                  <a:txBody>
                    <a:bodyPr/>
                    <a:lstStyle/>
                    <a:p>
                      <a:r>
                        <a:rPr lang="en-US" sz="2400" b="1" dirty="0">
                          <a:solidFill>
                            <a:srgbClr val="FF0000"/>
                          </a:solidFill>
                          <a:latin typeface="Times New Roman" panose="02020603050405020304" pitchFamily="18" charset="0"/>
                          <a:cs typeface="Times New Roman" panose="02020603050405020304" pitchFamily="18" charset="0"/>
                        </a:rPr>
                        <a:t>Training Time</a:t>
                      </a:r>
                    </a:p>
                  </a:txBody>
                  <a:tcPr/>
                </a:tc>
                <a:tc>
                  <a:txBody>
                    <a:bodyPr/>
                    <a:lstStyle/>
                    <a:p>
                      <a:r>
                        <a:rPr lang="en-US" sz="2400" dirty="0">
                          <a:latin typeface="Times New Roman" panose="02020603050405020304" pitchFamily="18" charset="0"/>
                          <a:cs typeface="Times New Roman" panose="02020603050405020304" pitchFamily="18" charset="0"/>
                        </a:rPr>
                        <a:t>Seconds to minutes </a:t>
                      </a:r>
                    </a:p>
                  </a:txBody>
                  <a:tcPr/>
                </a:tc>
                <a:extLst>
                  <a:ext uri="{0D108BD9-81ED-4DB2-BD59-A6C34878D82A}">
                    <a16:rowId xmlns:a16="http://schemas.microsoft.com/office/drawing/2014/main" val="2362337776"/>
                  </a:ext>
                </a:extLst>
              </a:tr>
              <a:tr h="631926">
                <a:tc>
                  <a:txBody>
                    <a:bodyPr/>
                    <a:lstStyle/>
                    <a:p>
                      <a:r>
                        <a:rPr lang="en-US" sz="2400" b="1" dirty="0">
                          <a:solidFill>
                            <a:srgbClr val="FF0000"/>
                          </a:solidFill>
                          <a:latin typeface="Times New Roman" panose="02020603050405020304" pitchFamily="18" charset="0"/>
                          <a:cs typeface="Times New Roman" panose="02020603050405020304" pitchFamily="18" charset="0"/>
                        </a:rPr>
                        <a:t>Model Accuracy</a:t>
                      </a:r>
                      <a:r>
                        <a:rPr lang="en-US" sz="2400" b="1" baseline="0" dirty="0">
                          <a:solidFill>
                            <a:srgbClr val="FF0000"/>
                          </a:solidFill>
                          <a:latin typeface="Times New Roman" panose="02020603050405020304" pitchFamily="18" charset="0"/>
                          <a:cs typeface="Times New Roman" panose="02020603050405020304" pitchFamily="18" charset="0"/>
                        </a:rPr>
                        <a:t> </a:t>
                      </a:r>
                      <a:endParaRPr lang="en-US" sz="24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High</a:t>
                      </a:r>
                    </a:p>
                  </a:txBody>
                  <a:tcPr/>
                </a:tc>
                <a:tc>
                  <a:txBody>
                    <a:bodyPr/>
                    <a:lstStyle/>
                    <a:p>
                      <a:r>
                        <a:rPr lang="en-US" sz="2400" b="1" dirty="0">
                          <a:solidFill>
                            <a:srgbClr val="FF0000"/>
                          </a:solidFill>
                          <a:latin typeface="Times New Roman" panose="02020603050405020304" pitchFamily="18" charset="0"/>
                          <a:cs typeface="Times New Roman" panose="02020603050405020304" pitchFamily="18" charset="0"/>
                        </a:rPr>
                        <a:t>Model Accuracy</a:t>
                      </a:r>
                      <a:r>
                        <a:rPr lang="en-US" sz="2400" b="1" baseline="0" dirty="0">
                          <a:solidFill>
                            <a:srgbClr val="FF0000"/>
                          </a:solidFill>
                          <a:latin typeface="Times New Roman" panose="02020603050405020304" pitchFamily="18" charset="0"/>
                          <a:cs typeface="Times New Roman" panose="02020603050405020304" pitchFamily="18" charset="0"/>
                        </a:rPr>
                        <a:t> </a:t>
                      </a:r>
                      <a:endParaRPr lang="en-US" sz="24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Good</a:t>
                      </a:r>
                      <a:r>
                        <a:rPr lang="en-US" sz="2400" baseline="0" dirty="0">
                          <a:latin typeface="Times New Roman" panose="02020603050405020304" pitchFamily="18" charset="0"/>
                          <a:cs typeface="Times New Roman" panose="02020603050405020304" pitchFamily="18" charset="0"/>
                        </a:rPr>
                        <a:t> (depends on the pre-trained CNN model)</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6161405"/>
                  </a:ext>
                </a:extLst>
              </a:tr>
            </a:tbl>
          </a:graphicData>
        </a:graphic>
      </p:graphicFrame>
    </p:spTree>
    <p:extLst>
      <p:ext uri="{BB962C8B-B14F-4D97-AF65-F5344CB8AC3E}">
        <p14:creationId xmlns:p14="http://schemas.microsoft.com/office/powerpoint/2010/main" val="1326077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191344" y="71414"/>
            <a:ext cx="9505056"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a:t>
            </a:r>
            <a:endParaRPr lang="en-US" sz="3600" dirty="0"/>
          </a:p>
        </p:txBody>
      </p:sp>
      <p:sp>
        <p:nvSpPr>
          <p:cNvPr id="7" name="TextBox 6"/>
          <p:cNvSpPr txBox="1"/>
          <p:nvPr/>
        </p:nvSpPr>
        <p:spPr>
          <a:xfrm>
            <a:off x="1666844" y="2228672"/>
            <a:ext cx="8245580" cy="2123658"/>
          </a:xfrm>
          <a:prstGeom prst="rect">
            <a:avLst/>
          </a:prstGeom>
          <a:noFill/>
        </p:spPr>
        <p:txBody>
          <a:bodyPr wrap="square" rtlCol="0">
            <a:spAutoFit/>
          </a:bodyPr>
          <a:lstStyle/>
          <a:p>
            <a:pPr algn="ctr"/>
            <a:r>
              <a:rPr lang="en-US" sz="4400" dirty="0">
                <a:solidFill>
                  <a:srgbClr val="FF0000"/>
                </a:solidFill>
                <a:latin typeface="Times New Roman" panose="02020603050405020304" pitchFamily="18" charset="0"/>
                <a:cs typeface="Times New Roman" panose="02020603050405020304" pitchFamily="18" charset="0"/>
              </a:rPr>
              <a:t>How much modern machine learning techniques are inspired from biological learning?</a:t>
            </a:r>
          </a:p>
        </p:txBody>
      </p:sp>
    </p:spTree>
    <p:extLst>
      <p:ext uri="{BB962C8B-B14F-4D97-AF65-F5344CB8AC3E}">
        <p14:creationId xmlns:p14="http://schemas.microsoft.com/office/powerpoint/2010/main" val="3234323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ular Callout 3"/>
          <p:cNvSpPr/>
          <p:nvPr/>
        </p:nvSpPr>
        <p:spPr>
          <a:xfrm rot="700113">
            <a:off x="9658535" y="1435500"/>
            <a:ext cx="2232105" cy="1315995"/>
          </a:xfrm>
          <a:prstGeom prst="wedgeRectCallout">
            <a:avLst>
              <a:gd name="adj1" fmla="val -69158"/>
              <a:gd name="adj2" fmla="val 511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ea typeface="Times New Roman" panose="02020603050405020304" pitchFamily="18" charset="0"/>
                <a:cs typeface="Times New Roman" panose="02020603050405020304" pitchFamily="18" charset="0"/>
              </a:rPr>
              <a:t>Extreme Learning Machine</a:t>
            </a:r>
            <a:endParaRPr lang="en-US" sz="2800" dirty="0">
              <a:latin typeface="Times New Roman" panose="02020603050405020304" pitchFamily="18" charset="0"/>
              <a:cs typeface="Times New Roman" panose="02020603050405020304" pitchFamily="18" charset="0"/>
            </a:endParaRPr>
          </a:p>
        </p:txBody>
      </p:sp>
      <p:pic>
        <p:nvPicPr>
          <p:cNvPr id="3074" name="Picture 2" descr="http://www.ntu.edu.sg/home/egbhuang/images/ELM-Target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344" y="1268760"/>
            <a:ext cx="5544616" cy="499015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879976" y="3068963"/>
            <a:ext cx="6120680" cy="2985433"/>
          </a:xfrm>
          <a:prstGeom prst="rect">
            <a:avLst/>
          </a:prstGeom>
        </p:spPr>
        <p:txBody>
          <a:bodyPr wrap="square">
            <a:spAutoFit/>
          </a:bodyPr>
          <a:lstStyle/>
          <a:p>
            <a:pPr algn="ctr"/>
            <a:r>
              <a:rPr lang="en-US" sz="3200" dirty="0">
                <a:latin typeface="Times New Roman" panose="02020603050405020304" pitchFamily="18" charset="0"/>
                <a:cs typeface="Times New Roman" panose="02020603050405020304" pitchFamily="18" charset="0"/>
              </a:rPr>
              <a:t>ELM not only achieves state-of-the-art results but also shortens the training time from days (spent by deep learning) to several minutes (by ELM). </a:t>
            </a:r>
          </a:p>
          <a:p>
            <a:pPr algn="ctr"/>
            <a:r>
              <a:rPr lang="en-US" sz="2800" dirty="0">
                <a:solidFill>
                  <a:srgbClr val="211D1E"/>
                </a:solidFill>
                <a:latin typeface="Times New Roman" panose="02020603050405020304" pitchFamily="18" charset="0"/>
                <a:cs typeface="Times New Roman" panose="02020603050405020304" pitchFamily="18" charset="0"/>
                <a:hlinkClick r:id="rId4"/>
              </a:rPr>
              <a:t>http://www.ntu.edu.sg/home/egbhuang/</a:t>
            </a:r>
            <a:r>
              <a:rPr lang="en-US" sz="2800" dirty="0">
                <a:solidFill>
                  <a:srgbClr val="211D1E"/>
                </a:solidFill>
                <a:latin typeface="Times New Roman" panose="02020603050405020304" pitchFamily="18" charset="0"/>
                <a:cs typeface="Times New Roman" panose="02020603050405020304" pitchFamily="18" charset="0"/>
              </a:rPr>
              <a:t> </a:t>
            </a:r>
          </a:p>
        </p:txBody>
      </p:sp>
      <p:sp>
        <p:nvSpPr>
          <p:cNvPr id="10" name="Title 1"/>
          <p:cNvSpPr txBox="1">
            <a:spLocks/>
          </p:cNvSpPr>
          <p:nvPr/>
        </p:nvSpPr>
        <p:spPr>
          <a:xfrm>
            <a:off x="263352" y="71414"/>
            <a:ext cx="9433048"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 ELM</a:t>
            </a:r>
            <a:endParaRPr lang="en-US" sz="3600" dirty="0"/>
          </a:p>
        </p:txBody>
      </p:sp>
      <p:sp>
        <p:nvSpPr>
          <p:cNvPr id="8" name="Rectangle 7"/>
          <p:cNvSpPr/>
          <p:nvPr/>
        </p:nvSpPr>
        <p:spPr>
          <a:xfrm>
            <a:off x="119336" y="6279703"/>
            <a:ext cx="10009112" cy="523220"/>
          </a:xfrm>
          <a:prstGeom prst="rect">
            <a:avLst/>
          </a:prstGeom>
        </p:spPr>
        <p:txBody>
          <a:bodyPr wrap="square">
            <a:spAutoFit/>
          </a:bodyPr>
          <a:lstStyle/>
          <a:p>
            <a:pPr algn="ctr"/>
            <a:r>
              <a:rPr lang="en-US" sz="2800" dirty="0">
                <a:latin typeface="Times New Roman" panose="02020603050405020304" pitchFamily="18" charset="0"/>
                <a:cs typeface="Times New Roman" panose="02020603050405020304" pitchFamily="18" charset="0"/>
              </a:rPr>
              <a:t>ELM is a Single-Hidden Layer Feedforward Networks (SLFNs)</a:t>
            </a:r>
            <a:endParaRPr lang="en-US" sz="2400" dirty="0">
              <a:solidFill>
                <a:srgbClr val="211D1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1460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191344" y="71414"/>
            <a:ext cx="9505056"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 ELM</a:t>
            </a:r>
            <a:endParaRPr lang="en-US" sz="3600" dirty="0"/>
          </a:p>
        </p:txBody>
      </p:sp>
      <p:pic>
        <p:nvPicPr>
          <p:cNvPr id="1026" name="Picture 2" descr="http://www.ntu.edu.sg/home/egbhuang/images/ELM-Feature-Mappin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448" y="1988840"/>
            <a:ext cx="9047364" cy="473675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19336" y="1260049"/>
            <a:ext cx="10801200" cy="584775"/>
          </a:xfrm>
          <a:prstGeom prst="rect">
            <a:avLst/>
          </a:prstGeom>
        </p:spPr>
        <p:txBody>
          <a:bodyPr wrap="square">
            <a:spAutoFit/>
          </a:bodyPr>
          <a:lstStyle/>
          <a:p>
            <a:pPr algn="ctr"/>
            <a:r>
              <a:rPr lang="en-US" sz="3200" dirty="0">
                <a:latin typeface="Times New Roman" panose="02020603050405020304" pitchFamily="18" charset="0"/>
                <a:cs typeface="Times New Roman" panose="02020603050405020304" pitchFamily="18" charset="0"/>
              </a:rPr>
              <a:t>Filling the gap between machine learning and biological learning</a:t>
            </a:r>
          </a:p>
        </p:txBody>
      </p:sp>
    </p:spTree>
    <p:extLst>
      <p:ext uri="{BB962C8B-B14F-4D97-AF65-F5344CB8AC3E}">
        <p14:creationId xmlns:p14="http://schemas.microsoft.com/office/powerpoint/2010/main" val="3408968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6023992" y="1484784"/>
            <a:ext cx="6079485" cy="4387258"/>
          </a:xfrm>
          <a:prstGeom prst="rect">
            <a:avLst/>
          </a:prstGeom>
        </p:spPr>
      </p:pic>
      <p:sp>
        <p:nvSpPr>
          <p:cNvPr id="10" name="Title 1"/>
          <p:cNvSpPr txBox="1">
            <a:spLocks/>
          </p:cNvSpPr>
          <p:nvPr/>
        </p:nvSpPr>
        <p:spPr>
          <a:xfrm>
            <a:off x="191344" y="71414"/>
            <a:ext cx="9577064"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 ELM</a:t>
            </a:r>
            <a:endParaRPr lang="en-US" sz="3600" dirty="0"/>
          </a:p>
        </p:txBody>
      </p:sp>
      <p:sp>
        <p:nvSpPr>
          <p:cNvPr id="2" name="Rectangle 1"/>
          <p:cNvSpPr/>
          <p:nvPr/>
        </p:nvSpPr>
        <p:spPr>
          <a:xfrm>
            <a:off x="119336" y="5859269"/>
            <a:ext cx="8071028" cy="954107"/>
          </a:xfrm>
          <a:prstGeom prst="rect">
            <a:avLst/>
          </a:prstGeom>
        </p:spPr>
        <p:txBody>
          <a:bodyPr wrap="square">
            <a:spAutoFit/>
          </a:bodyPr>
          <a:lstStyle/>
          <a:p>
            <a:pPr algn="ctr"/>
            <a:r>
              <a:rPr lang="en-US" sz="2800" dirty="0">
                <a:solidFill>
                  <a:srgbClr val="FF0000"/>
                </a:solidFill>
                <a:latin typeface="Times New Roman" panose="02020603050405020304" pitchFamily="18" charset="0"/>
                <a:cs typeface="Times New Roman" panose="02020603050405020304" pitchFamily="18" charset="0"/>
              </a:rPr>
              <a:t>Does ELM allow to build a deep, hierarchical system that learn good features on its own?</a:t>
            </a:r>
          </a:p>
        </p:txBody>
      </p:sp>
      <p:pic>
        <p:nvPicPr>
          <p:cNvPr id="25" name="Picture 12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7045" y="1268760"/>
            <a:ext cx="5714939" cy="447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rotWithShape="1">
          <a:blip r:embed="rId5"/>
          <a:srcRect l="10594" t="33650" r="10395" b="-951"/>
          <a:stretch/>
        </p:blipFill>
        <p:spPr>
          <a:xfrm>
            <a:off x="4079776" y="4691035"/>
            <a:ext cx="2592288" cy="682181"/>
          </a:xfrm>
          <a:prstGeom prst="rect">
            <a:avLst/>
          </a:prstGeom>
        </p:spPr>
      </p:pic>
    </p:spTree>
    <p:extLst>
      <p:ext uri="{BB962C8B-B14F-4D97-AF65-F5344CB8AC3E}">
        <p14:creationId xmlns:p14="http://schemas.microsoft.com/office/powerpoint/2010/main" val="2340975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191344" y="71414"/>
            <a:ext cx="9577064"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 GAN</a:t>
            </a:r>
            <a:endParaRPr lang="en-US" sz="3600" dirty="0"/>
          </a:p>
        </p:txBody>
      </p:sp>
      <p:sp>
        <p:nvSpPr>
          <p:cNvPr id="7" name="Rectangle 6"/>
          <p:cNvSpPr/>
          <p:nvPr/>
        </p:nvSpPr>
        <p:spPr>
          <a:xfrm>
            <a:off x="119336" y="1268760"/>
            <a:ext cx="10729192" cy="5416868"/>
          </a:xfrm>
          <a:prstGeom prst="rect">
            <a:avLst/>
          </a:prstGeom>
        </p:spPr>
        <p:txBody>
          <a:bodyPr wrap="square">
            <a:spAutoFit/>
          </a:bodyPr>
          <a:lstStyle/>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In </a:t>
            </a:r>
            <a:r>
              <a:rPr lang="en-US" sz="2800" b="1" dirty="0">
                <a:latin typeface="Times New Roman" panose="02020603050405020304" pitchFamily="18" charset="0"/>
                <a:cs typeface="Times New Roman" panose="02020603050405020304" pitchFamily="18" charset="0"/>
              </a:rPr>
              <a:t>generative adversarial network</a:t>
            </a:r>
            <a:r>
              <a:rPr lang="en-US" sz="2800" dirty="0">
                <a:latin typeface="Times New Roman" panose="02020603050405020304" pitchFamily="18" charset="0"/>
                <a:cs typeface="Times New Roman" panose="02020603050405020304" pitchFamily="18" charset="0"/>
              </a:rPr>
              <a:t> (GAN), </a:t>
            </a:r>
            <a:r>
              <a:rPr lang="en-US" sz="2800">
                <a:latin typeface="Times New Roman" panose="02020603050405020304" pitchFamily="18" charset="0"/>
                <a:cs typeface="Times New Roman" panose="02020603050405020304" pitchFamily="18" charset="0"/>
              </a:rPr>
              <a:t>two opposing neural </a:t>
            </a:r>
            <a:r>
              <a:rPr lang="en-US" sz="2800" dirty="0">
                <a:latin typeface="Times New Roman" panose="02020603050405020304" pitchFamily="18" charset="0"/>
                <a:cs typeface="Times New Roman" panose="02020603050405020304" pitchFamily="18" charset="0"/>
              </a:rPr>
              <a:t>networks generative (</a:t>
            </a:r>
            <a:r>
              <a:rPr lang="en-US" sz="2800" dirty="0" err="1">
                <a:latin typeface="Times New Roman" panose="02020603050405020304" pitchFamily="18" charset="0"/>
                <a:cs typeface="Times New Roman" panose="02020603050405020304" pitchFamily="18" charset="0"/>
              </a:rPr>
              <a:t>deconvolutional</a:t>
            </a:r>
            <a:r>
              <a:rPr lang="en-US" sz="2800" dirty="0">
                <a:latin typeface="Times New Roman" panose="02020603050405020304" pitchFamily="18" charset="0"/>
                <a:cs typeface="Times New Roman" panose="02020603050405020304" pitchFamily="18" charset="0"/>
              </a:rPr>
              <a:t>) and discriminative (convolutional) contest with each other in a game. Through backpropagation, the discriminator's classification provides a signal that the generator uses to update its weights. </a:t>
            </a:r>
          </a:p>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The generative model is like “a team of counterfeiters, trying to produce and use fake currency” while the discriminative model is like “the police, trying to detect the counterfeit currency”. The generator is trying to fool the discriminator while the discriminator is trying to not get fooled by the generator. As the models train through alternating optimization, both methods are improved until a point where the “counterfeits are indistinguishable from the genuine articles”.</a:t>
            </a:r>
          </a:p>
        </p:txBody>
      </p:sp>
    </p:spTree>
    <p:extLst>
      <p:ext uri="{BB962C8B-B14F-4D97-AF65-F5344CB8AC3E}">
        <p14:creationId xmlns:p14="http://schemas.microsoft.com/office/powerpoint/2010/main" val="2732721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191344" y="71414"/>
            <a:ext cx="9577064"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 GAN</a:t>
            </a:r>
            <a:endParaRPr lang="en-US" sz="3600" dirty="0"/>
          </a:p>
        </p:txBody>
      </p:sp>
      <p:sp>
        <p:nvSpPr>
          <p:cNvPr id="7" name="Rectangle 6"/>
          <p:cNvSpPr/>
          <p:nvPr/>
        </p:nvSpPr>
        <p:spPr>
          <a:xfrm>
            <a:off x="119336" y="1327408"/>
            <a:ext cx="9505056" cy="4124206"/>
          </a:xfrm>
          <a:prstGeom prst="rect">
            <a:avLst/>
          </a:prstGeom>
        </p:spPr>
        <p:txBody>
          <a:bodyPr wrap="square">
            <a:spAutoFit/>
          </a:bodyPr>
          <a:lstStyle/>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Given a training set, this technique learns to generate new data with the same statistics as the training set. For example, a GAN trained on photographs can generate new photographs that look at least superficially authentic to human observers, having many realistic characteristics. </a:t>
            </a:r>
          </a:p>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Though originally proposed as a form of generative model for unsupervised learning, GANs have also proven useful for semi-supervised learning, fully supervised learning, and reinforcement learning.</a:t>
            </a:r>
          </a:p>
        </p:txBody>
      </p:sp>
      <p:pic>
        <p:nvPicPr>
          <p:cNvPr id="43010" name="Picture 2" descr="https://upload.wikimedia.org/wikipedia/commons/thumb/1/1f/Woman_1.jpg/220px-Woman_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2424" y="1506439"/>
            <a:ext cx="2095500" cy="20955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912424" y="3845947"/>
            <a:ext cx="2088232" cy="2862322"/>
          </a:xfrm>
          <a:prstGeom prst="rect">
            <a:avLst/>
          </a:prstGeom>
          <a:solidFill>
            <a:schemeClr val="accent3">
              <a:lumMod val="60000"/>
              <a:lumOff val="40000"/>
            </a:schemeClr>
          </a:solidFill>
        </p:spPr>
        <p:txBody>
          <a:bodyPr wrap="square">
            <a:spAutoFit/>
          </a:bodyPr>
          <a:lstStyle/>
          <a:p>
            <a:pPr algn="ctr"/>
            <a:r>
              <a:rPr lang="en-US" dirty="0">
                <a:solidFill>
                  <a:srgbClr val="202122"/>
                </a:solidFill>
                <a:latin typeface="Times New Roman" panose="02020603050405020304" pitchFamily="18" charset="0"/>
                <a:cs typeface="Times New Roman" panose="02020603050405020304" pitchFamily="18" charset="0"/>
              </a:rPr>
              <a:t>An image generated by a </a:t>
            </a:r>
            <a:r>
              <a:rPr lang="en-US" dirty="0" err="1">
                <a:solidFill>
                  <a:srgbClr val="0B0080"/>
                </a:solidFill>
                <a:latin typeface="Times New Roman" panose="02020603050405020304" pitchFamily="18" charset="0"/>
                <a:cs typeface="Times New Roman" panose="02020603050405020304" pitchFamily="18" charset="0"/>
                <a:hlinkClick r:id="rId4" tooltip="StyleGAN"/>
              </a:rPr>
              <a:t>StyleGAN</a:t>
            </a:r>
            <a:r>
              <a:rPr lang="en-US" dirty="0">
                <a:solidFill>
                  <a:srgbClr val="202122"/>
                </a:solidFill>
                <a:latin typeface="Times New Roman" panose="02020603050405020304" pitchFamily="18" charset="0"/>
                <a:cs typeface="Times New Roman" panose="02020603050405020304" pitchFamily="18" charset="0"/>
              </a:rPr>
              <a:t> that looks deceptively like a photograph of a real person. This image was generated by a </a:t>
            </a:r>
            <a:r>
              <a:rPr lang="en-US" dirty="0" err="1">
                <a:solidFill>
                  <a:srgbClr val="202122"/>
                </a:solidFill>
                <a:latin typeface="Times New Roman" panose="02020603050405020304" pitchFamily="18" charset="0"/>
                <a:cs typeface="Times New Roman" panose="02020603050405020304" pitchFamily="18" charset="0"/>
              </a:rPr>
              <a:t>StyleGAN</a:t>
            </a:r>
            <a:r>
              <a:rPr lang="en-US" dirty="0">
                <a:solidFill>
                  <a:srgbClr val="202122"/>
                </a:solidFill>
                <a:latin typeface="Times New Roman" panose="02020603050405020304" pitchFamily="18" charset="0"/>
                <a:cs typeface="Times New Roman" panose="02020603050405020304" pitchFamily="18" charset="0"/>
              </a:rPr>
              <a:t> based on an analysis of portraits.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736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191344" y="71414"/>
            <a:ext cx="10657184"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 GAN - Applications</a:t>
            </a:r>
            <a:endParaRPr lang="en-US" sz="3600" dirty="0"/>
          </a:p>
        </p:txBody>
      </p:sp>
      <p:sp>
        <p:nvSpPr>
          <p:cNvPr id="7" name="Rectangle 6"/>
          <p:cNvSpPr/>
          <p:nvPr/>
        </p:nvSpPr>
        <p:spPr>
          <a:xfrm>
            <a:off x="119336" y="1268760"/>
            <a:ext cx="10729192" cy="5478423"/>
          </a:xfrm>
          <a:prstGeom prst="rect">
            <a:avLst/>
          </a:prstGeom>
        </p:spPr>
        <p:txBody>
          <a:bodyPr wrap="square">
            <a:spAutoFit/>
          </a:bodyPr>
          <a:lstStyle/>
          <a:p>
            <a:pPr marL="287338" indent="-287338"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Fashion, art and advertising</a:t>
            </a:r>
          </a:p>
          <a:p>
            <a:pPr marL="287338" indent="-287338"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Video games</a:t>
            </a:r>
          </a:p>
          <a:p>
            <a:pPr marL="287338" indent="-287338"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Reconstruction of 3D models of objects from images</a:t>
            </a:r>
          </a:p>
          <a:p>
            <a:pPr marL="287338" indent="-287338"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Age face photographs to show how an individual's appearance might change with age</a:t>
            </a:r>
          </a:p>
          <a:p>
            <a:pPr marL="287338" indent="-287338"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Data augmentation</a:t>
            </a:r>
          </a:p>
          <a:p>
            <a:pPr marL="287338" indent="-287338"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Generative AI for new content, such as text (Large Language Model), images, videos or music.</a:t>
            </a:r>
          </a:p>
          <a:p>
            <a:pPr marL="287338" indent="-287338" algn="just">
              <a:spcBef>
                <a:spcPts val="600"/>
              </a:spcBef>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And many more…</a:t>
            </a:r>
          </a:p>
          <a:p>
            <a:pPr marL="287338" indent="-287338" algn="just">
              <a:spcBef>
                <a:spcPts val="600"/>
              </a:spcBef>
              <a:spcAft>
                <a:spcPts val="600"/>
              </a:spcAft>
            </a:pPr>
            <a:r>
              <a:rPr 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hlinkClick r:id="rId3"/>
              </a:rPr>
              <a:t>https://en.wikipedia.org/wiki/Generative_adversarial_network</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79146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263352" y="71414"/>
            <a:ext cx="9433048"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a:t>
            </a:r>
            <a:endParaRPr lang="en-US" sz="3600" dirty="0"/>
          </a:p>
        </p:txBody>
      </p:sp>
      <p:sp>
        <p:nvSpPr>
          <p:cNvPr id="4" name="Rectangular Callout 3"/>
          <p:cNvSpPr/>
          <p:nvPr/>
        </p:nvSpPr>
        <p:spPr>
          <a:xfrm rot="700113">
            <a:off x="9198741" y="1574387"/>
            <a:ext cx="2584185" cy="1592614"/>
          </a:xfrm>
          <a:prstGeom prst="wedgeRectCallout">
            <a:avLst>
              <a:gd name="adj1" fmla="val -40040"/>
              <a:gd name="adj2" fmla="val 921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ea typeface="Times New Roman" panose="02020603050405020304" pitchFamily="18" charset="0"/>
                <a:cs typeface="Times New Roman" panose="02020603050405020304" pitchFamily="18" charset="0"/>
              </a:rPr>
              <a:t>Vision Transformers (</a:t>
            </a:r>
            <a:r>
              <a:rPr lang="en-US" sz="3200" dirty="0" err="1">
                <a:latin typeface="Times New Roman" panose="02020603050405020304" pitchFamily="18" charset="0"/>
                <a:ea typeface="Times New Roman" panose="02020603050405020304" pitchFamily="18" charset="0"/>
                <a:cs typeface="Times New Roman" panose="02020603050405020304" pitchFamily="18" charset="0"/>
              </a:rPr>
              <a:t>ViTs</a:t>
            </a:r>
            <a:r>
              <a:rPr lang="en-US" sz="3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pic>
        <p:nvPicPr>
          <p:cNvPr id="3078" name="Picture 6" descr="undefined">
            <a:extLst>
              <a:ext uri="{FF2B5EF4-FFF2-40B4-BE49-F238E27FC236}">
                <a16:creationId xmlns:a16="http://schemas.microsoft.com/office/drawing/2014/main" id="{FA572EC9-320F-5F40-192B-89E398075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36" y="1521296"/>
            <a:ext cx="8124825" cy="4572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7896200" y="3645024"/>
            <a:ext cx="4248472" cy="2246769"/>
          </a:xfrm>
          <a:prstGeom prst="rect">
            <a:avLst/>
          </a:prstGeom>
        </p:spPr>
        <p:txBody>
          <a:bodyPr wrap="square">
            <a:spAutoFit/>
          </a:bodyPr>
          <a:lstStyle/>
          <a:p>
            <a:pPr algn="ctr"/>
            <a:r>
              <a:rPr lang="en-US" sz="2800" dirty="0">
                <a:latin typeface="Times New Roman" panose="02020603050405020304" pitchFamily="18" charset="0"/>
                <a:cs typeface="Times New Roman" panose="02020603050405020304" pitchFamily="18" charset="0"/>
              </a:rPr>
              <a:t>Computes relationships among pixels in various small sections of the image (termed attention), at a drastically reduced cost.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829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263352" y="71414"/>
            <a:ext cx="9433048"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Modern Approaches</a:t>
            </a:r>
            <a:endParaRPr lang="en-US" sz="3600" dirty="0"/>
          </a:p>
        </p:txBody>
      </p:sp>
      <p:sp>
        <p:nvSpPr>
          <p:cNvPr id="4" name="Rectangular Callout 3"/>
          <p:cNvSpPr/>
          <p:nvPr/>
        </p:nvSpPr>
        <p:spPr>
          <a:xfrm rot="700113">
            <a:off x="9226714" y="1577245"/>
            <a:ext cx="2584185" cy="1315995"/>
          </a:xfrm>
          <a:prstGeom prst="wedgeRectCallout">
            <a:avLst>
              <a:gd name="adj1" fmla="val -36462"/>
              <a:gd name="adj2" fmla="val 12025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ea typeface="Times New Roman" panose="02020603050405020304" pitchFamily="18" charset="0"/>
                <a:cs typeface="Times New Roman" panose="02020603050405020304" pitchFamily="18" charset="0"/>
              </a:rPr>
              <a:t>Incremental Learning</a:t>
            </a:r>
            <a:endParaRPr lang="en-US" sz="3200" dirty="0">
              <a:latin typeface="Times New Roman" panose="02020603050405020304" pitchFamily="18" charset="0"/>
              <a:cs typeface="Times New Roman" panose="02020603050405020304" pitchFamily="18" charset="0"/>
            </a:endParaRPr>
          </a:p>
        </p:txBody>
      </p:sp>
      <p:sp>
        <p:nvSpPr>
          <p:cNvPr id="6" name="Rectangle 5"/>
          <p:cNvSpPr/>
          <p:nvPr/>
        </p:nvSpPr>
        <p:spPr>
          <a:xfrm>
            <a:off x="8153122" y="3645024"/>
            <a:ext cx="3991550" cy="3108543"/>
          </a:xfrm>
          <a:prstGeom prst="rect">
            <a:avLst/>
          </a:prstGeom>
        </p:spPr>
        <p:txBody>
          <a:bodyPr wrap="square">
            <a:spAutoFit/>
          </a:bodyPr>
          <a:lstStyle/>
          <a:p>
            <a:pPr algn="ctr"/>
            <a:r>
              <a:rPr lang="en-US" sz="2800" dirty="0">
                <a:latin typeface="Times New Roman" panose="02020603050405020304" pitchFamily="18" charset="0"/>
                <a:cs typeface="Times New Roman" panose="02020603050405020304" pitchFamily="18" charset="0"/>
              </a:rPr>
              <a:t>Where new data is incrementally added to a model, and the model is retrained on the new data. This allows the model to continuously learn and improve over time.</a:t>
            </a:r>
            <a:endParaRPr lang="en-US" sz="2400" dirty="0">
              <a:latin typeface="Times New Roman" panose="02020603050405020304" pitchFamily="18" charset="0"/>
              <a:cs typeface="Times New Roman" panose="02020603050405020304" pitchFamily="18" charset="0"/>
            </a:endParaRPr>
          </a:p>
        </p:txBody>
      </p:sp>
      <p:pic>
        <p:nvPicPr>
          <p:cNvPr id="1026" name="Picture 2" descr="Example of Incremental Learning. | Download Scientific Diagram">
            <a:extLst>
              <a:ext uri="{FF2B5EF4-FFF2-40B4-BE49-F238E27FC236}">
                <a16:creationId xmlns:a16="http://schemas.microsoft.com/office/drawing/2014/main" id="{9BF14DDA-6278-924F-E662-14533331D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72" y="1921209"/>
            <a:ext cx="8096250" cy="4848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5978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C227B-8356-1A5C-712E-CFE429CF7C6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F7C08D94-86E1-BFF5-12DD-BA89FF5A45F3}"/>
              </a:ext>
            </a:extLst>
          </p:cNvPr>
          <p:cNvSpPr txBox="1">
            <a:spLocks/>
          </p:cNvSpPr>
          <p:nvPr/>
        </p:nvSpPr>
        <p:spPr>
          <a:xfrm>
            <a:off x="263352" y="71414"/>
            <a:ext cx="9433048" cy="928694"/>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sz="2400" dirty="0"/>
              <a:t>Machine Learning…</a:t>
            </a:r>
            <a:br>
              <a:rPr lang="en-US" sz="2400" dirty="0"/>
            </a:br>
            <a:r>
              <a:rPr lang="en-US" sz="2400" dirty="0"/>
              <a:t>	</a:t>
            </a:r>
            <a:r>
              <a:rPr lang="en-US" sz="4000" dirty="0"/>
              <a:t>YOLO</a:t>
            </a:r>
            <a:endParaRPr lang="en-US" sz="3600" dirty="0"/>
          </a:p>
        </p:txBody>
      </p:sp>
      <p:sp>
        <p:nvSpPr>
          <p:cNvPr id="4" name="Rectangular Callout 3">
            <a:extLst>
              <a:ext uri="{FF2B5EF4-FFF2-40B4-BE49-F238E27FC236}">
                <a16:creationId xmlns:a16="http://schemas.microsoft.com/office/drawing/2014/main" id="{E798C935-196E-ED94-B7B5-AD350AC30E6A}"/>
              </a:ext>
            </a:extLst>
          </p:cNvPr>
          <p:cNvSpPr/>
          <p:nvPr/>
        </p:nvSpPr>
        <p:spPr>
          <a:xfrm rot="700113">
            <a:off x="9226714" y="1577245"/>
            <a:ext cx="2584185" cy="1315995"/>
          </a:xfrm>
          <a:prstGeom prst="wedgeRectCallout">
            <a:avLst>
              <a:gd name="adj1" fmla="val -84167"/>
              <a:gd name="adj2" fmla="val 439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3200" b="0" i="0" dirty="0">
                <a:solidFill>
                  <a:srgbClr val="FF0000"/>
                </a:solidFill>
                <a:effectLst/>
                <a:latin typeface="Times New Roman" panose="02020603050405020304" pitchFamily="18" charset="0"/>
                <a:cs typeface="Times New Roman" panose="02020603050405020304" pitchFamily="18" charset="0"/>
              </a:rPr>
              <a:t>Y</a:t>
            </a:r>
            <a:r>
              <a:rPr lang="pt-BR" sz="3200" b="0" i="0" dirty="0">
                <a:solidFill>
                  <a:srgbClr val="E3E3E3"/>
                </a:solidFill>
                <a:effectLst/>
                <a:latin typeface="Times New Roman" panose="02020603050405020304" pitchFamily="18" charset="0"/>
                <a:cs typeface="Times New Roman" panose="02020603050405020304" pitchFamily="18" charset="0"/>
              </a:rPr>
              <a:t>ou </a:t>
            </a:r>
            <a:r>
              <a:rPr lang="pt-BR" sz="3200" b="0" i="0" dirty="0">
                <a:solidFill>
                  <a:srgbClr val="FF0000"/>
                </a:solidFill>
                <a:effectLst/>
                <a:latin typeface="Times New Roman" panose="02020603050405020304" pitchFamily="18" charset="0"/>
                <a:cs typeface="Times New Roman" panose="02020603050405020304" pitchFamily="18" charset="0"/>
              </a:rPr>
              <a:t>O</a:t>
            </a:r>
            <a:r>
              <a:rPr lang="pt-BR" sz="3200" b="0" i="0" dirty="0">
                <a:solidFill>
                  <a:srgbClr val="E3E3E3"/>
                </a:solidFill>
                <a:effectLst/>
                <a:latin typeface="Times New Roman" panose="02020603050405020304" pitchFamily="18" charset="0"/>
                <a:cs typeface="Times New Roman" panose="02020603050405020304" pitchFamily="18" charset="0"/>
              </a:rPr>
              <a:t>nly </a:t>
            </a:r>
            <a:r>
              <a:rPr lang="pt-BR" sz="3200" b="0" i="0" dirty="0">
                <a:solidFill>
                  <a:srgbClr val="FF0000"/>
                </a:solidFill>
                <a:effectLst/>
                <a:latin typeface="Times New Roman" panose="02020603050405020304" pitchFamily="18" charset="0"/>
                <a:cs typeface="Times New Roman" panose="02020603050405020304" pitchFamily="18" charset="0"/>
              </a:rPr>
              <a:t>L</a:t>
            </a:r>
            <a:r>
              <a:rPr lang="pt-BR" sz="3200" b="0" i="0" dirty="0">
                <a:solidFill>
                  <a:srgbClr val="E3E3E3"/>
                </a:solidFill>
                <a:effectLst/>
                <a:latin typeface="Times New Roman" panose="02020603050405020304" pitchFamily="18" charset="0"/>
                <a:cs typeface="Times New Roman" panose="02020603050405020304" pitchFamily="18" charset="0"/>
              </a:rPr>
              <a:t>ook </a:t>
            </a:r>
            <a:r>
              <a:rPr lang="pt-BR" sz="3200" b="0" i="0" dirty="0">
                <a:solidFill>
                  <a:srgbClr val="FF0000"/>
                </a:solidFill>
                <a:effectLst/>
                <a:latin typeface="Times New Roman" panose="02020603050405020304" pitchFamily="18" charset="0"/>
                <a:cs typeface="Times New Roman" panose="02020603050405020304" pitchFamily="18" charset="0"/>
              </a:rPr>
              <a:t>O</a:t>
            </a:r>
            <a:r>
              <a:rPr lang="pt-BR" sz="3200" b="0" i="0" dirty="0">
                <a:solidFill>
                  <a:srgbClr val="E3E3E3"/>
                </a:solidFill>
                <a:effectLst/>
                <a:latin typeface="Times New Roman" panose="02020603050405020304" pitchFamily="18" charset="0"/>
                <a:cs typeface="Times New Roman" panose="02020603050405020304" pitchFamily="18" charset="0"/>
              </a:rPr>
              <a:t>nce</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9A06500D-3F30-0481-9784-FB566C96F7AC}"/>
              </a:ext>
            </a:extLst>
          </p:cNvPr>
          <p:cNvSpPr/>
          <p:nvPr/>
        </p:nvSpPr>
        <p:spPr>
          <a:xfrm>
            <a:off x="119336" y="1484784"/>
            <a:ext cx="8136904" cy="1815882"/>
          </a:xfrm>
          <a:prstGeom prst="rect">
            <a:avLst/>
          </a:prstGeom>
        </p:spPr>
        <p:txBody>
          <a:bodyPr wrap="square">
            <a:spAutoFit/>
          </a:bodyPr>
          <a:lstStyle/>
          <a:p>
            <a:pPr algn="just"/>
            <a:r>
              <a:rPr lang="en-US" sz="2800" dirty="0">
                <a:latin typeface="Times New Roman" panose="02020603050405020304" pitchFamily="18" charset="0"/>
                <a:cs typeface="Times New Roman" panose="02020603050405020304" pitchFamily="18" charset="0"/>
              </a:rPr>
              <a:t>is a real-time object detection algorithm, based on CNN, that detects objects in images and videos by dividing the image into a grid of cells and predicting the presence of objects and their bounding boxes.</a:t>
            </a:r>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03FC662-5CA6-0DCE-1D3D-7A1085556570}"/>
              </a:ext>
            </a:extLst>
          </p:cNvPr>
          <p:cNvSpPr txBox="1"/>
          <p:nvPr/>
        </p:nvSpPr>
        <p:spPr>
          <a:xfrm>
            <a:off x="4655840" y="6035188"/>
            <a:ext cx="1440160" cy="584775"/>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hlinkClick r:id="rId3"/>
              </a:rPr>
              <a:t>DEMO</a:t>
            </a:r>
            <a:endParaRPr lang="en-001" sz="3200" dirty="0">
              <a:latin typeface="Times New Roman" panose="02020603050405020304" pitchFamily="18" charset="0"/>
              <a:cs typeface="Times New Roman" panose="02020603050405020304" pitchFamily="18" charset="0"/>
            </a:endParaRPr>
          </a:p>
        </p:txBody>
      </p:sp>
      <p:pic>
        <p:nvPicPr>
          <p:cNvPr id="1030" name="Picture 6" descr="The YOLO Detection System">
            <a:extLst>
              <a:ext uri="{FF2B5EF4-FFF2-40B4-BE49-F238E27FC236}">
                <a16:creationId xmlns:a16="http://schemas.microsoft.com/office/drawing/2014/main" id="{99B5C5F0-CFC1-ED19-50D5-84FFC5A7888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15" t="9583" r="3867" b="14819"/>
          <a:stretch/>
        </p:blipFill>
        <p:spPr bwMode="auto">
          <a:xfrm>
            <a:off x="119336" y="3717033"/>
            <a:ext cx="10297144" cy="216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181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1344" y="195480"/>
            <a:ext cx="10657184" cy="857256"/>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4000" dirty="0">
                <a:solidFill>
                  <a:srgbClr val="FF0000"/>
                </a:solidFill>
                <a:ea typeface="新細明體" pitchFamily="18" charset="-120"/>
              </a:rPr>
              <a:t>Feature Extraction Using Machine Learning (ML)</a:t>
            </a:r>
            <a:endParaRPr lang="en-US" altLang="zh-TW" dirty="0">
              <a:solidFill>
                <a:srgbClr val="FF0000"/>
              </a:solidFill>
              <a:ea typeface="新細明體" pitchFamily="18" charset="-120"/>
            </a:endParaRPr>
          </a:p>
        </p:txBody>
      </p:sp>
      <p:sp>
        <p:nvSpPr>
          <p:cNvPr id="4" name="TextBox 3">
            <a:extLst>
              <a:ext uri="{FF2B5EF4-FFF2-40B4-BE49-F238E27FC236}">
                <a16:creationId xmlns:a16="http://schemas.microsoft.com/office/drawing/2014/main" id="{7AC0725C-D5B7-1C76-6D14-83E3FED16D63}"/>
              </a:ext>
            </a:extLst>
          </p:cNvPr>
          <p:cNvSpPr txBox="1"/>
          <p:nvPr/>
        </p:nvSpPr>
        <p:spPr>
          <a:xfrm>
            <a:off x="191344" y="1340768"/>
            <a:ext cx="10657184" cy="4632037"/>
          </a:xfrm>
          <a:prstGeom prst="rect">
            <a:avLst/>
          </a:prstGeom>
          <a:noFill/>
        </p:spPr>
        <p:txBody>
          <a:bodyPr wrap="square">
            <a:spAutoFit/>
          </a:bodyPr>
          <a:lstStyle/>
          <a:p>
            <a:pPr algn="just">
              <a:spcAft>
                <a:spcPts val="600"/>
              </a:spcAft>
            </a:pPr>
            <a:r>
              <a:rPr lang="en-US" sz="2800" i="0" dirty="0">
                <a:solidFill>
                  <a:srgbClr val="0D0D0D"/>
                </a:solidFill>
                <a:effectLst/>
                <a:latin typeface="Times New Roman" panose="02020603050405020304" pitchFamily="18" charset="0"/>
                <a:cs typeface="Times New Roman" panose="02020603050405020304" pitchFamily="18" charset="0"/>
              </a:rPr>
              <a:t>It is the process of automatically deriving informative and meaningful features from raw data using ML techniques. This process is essential for transforming raw data into a format that ML algorithms can effectively learn from and make predictions.</a:t>
            </a:r>
          </a:p>
          <a:p>
            <a:pPr algn="just">
              <a:spcAft>
                <a:spcPts val="600"/>
              </a:spcAft>
            </a:pPr>
            <a:r>
              <a:rPr lang="en-US" sz="2800" b="1" i="0" dirty="0">
                <a:solidFill>
                  <a:srgbClr val="0D0D0D"/>
                </a:solidFill>
                <a:effectLst/>
                <a:latin typeface="Times New Roman" panose="02020603050405020304" pitchFamily="18" charset="0"/>
                <a:cs typeface="Times New Roman" panose="02020603050405020304" pitchFamily="18" charset="0"/>
              </a:rPr>
              <a:t>Purpose:</a:t>
            </a:r>
          </a:p>
          <a:p>
            <a:pPr marL="273050" indent="-273050" algn="just">
              <a:spcAft>
                <a:spcPts val="600"/>
              </a:spcAft>
              <a:buFont typeface="Arial" panose="020B0604020202020204" pitchFamily="34" charset="0"/>
              <a:buChar char="•"/>
            </a:pPr>
            <a:r>
              <a:rPr lang="en-US" sz="2800" i="0" dirty="0">
                <a:solidFill>
                  <a:srgbClr val="0D0D0D"/>
                </a:solidFill>
                <a:effectLst/>
                <a:latin typeface="Times New Roman" panose="02020603050405020304" pitchFamily="18" charset="0"/>
                <a:cs typeface="Times New Roman" panose="02020603050405020304" pitchFamily="18" charset="0"/>
              </a:rPr>
              <a:t>The primary purpose of feature extraction with ML models is to capture relevant information from raw data and represent it in a format that facilitates learning and prediction tasks.</a:t>
            </a:r>
          </a:p>
          <a:p>
            <a:pPr marL="273050" indent="-273050" algn="just">
              <a:spcAft>
                <a:spcPts val="600"/>
              </a:spcAft>
              <a:buFont typeface="Arial" panose="020B0604020202020204" pitchFamily="34" charset="0"/>
              <a:buChar char="•"/>
            </a:pPr>
            <a:r>
              <a:rPr lang="en-US" sz="2800" i="0" dirty="0">
                <a:solidFill>
                  <a:srgbClr val="0D0D0D"/>
                </a:solidFill>
                <a:effectLst/>
                <a:latin typeface="Times New Roman" panose="02020603050405020304" pitchFamily="18" charset="0"/>
                <a:cs typeface="Times New Roman" panose="02020603050405020304" pitchFamily="18" charset="0"/>
              </a:rPr>
              <a:t>ML models require input features that are informative, discriminative, and relevant to the target variable to make accurate predictions.</a:t>
            </a:r>
          </a:p>
        </p:txBody>
      </p:sp>
    </p:spTree>
    <p:extLst>
      <p:ext uri="{BB962C8B-B14F-4D97-AF65-F5344CB8AC3E}">
        <p14:creationId xmlns:p14="http://schemas.microsoft.com/office/powerpoint/2010/main" val="1967506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1344" y="195480"/>
            <a:ext cx="10657184" cy="857256"/>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dirty="0">
                <a:solidFill>
                  <a:srgbClr val="FF0000"/>
                </a:solidFill>
                <a:ea typeface="新細明體" pitchFamily="18" charset="-120"/>
              </a:rPr>
              <a:t>Types of ML Models for Feature Extraction</a:t>
            </a:r>
            <a:endParaRPr lang="en-US" altLang="zh-TW" sz="4800" dirty="0">
              <a:solidFill>
                <a:srgbClr val="FF0000"/>
              </a:solidFill>
              <a:ea typeface="新細明體" pitchFamily="18" charset="-120"/>
            </a:endParaRPr>
          </a:p>
        </p:txBody>
      </p:sp>
      <p:sp>
        <p:nvSpPr>
          <p:cNvPr id="4" name="TextBox 3">
            <a:extLst>
              <a:ext uri="{FF2B5EF4-FFF2-40B4-BE49-F238E27FC236}">
                <a16:creationId xmlns:a16="http://schemas.microsoft.com/office/drawing/2014/main" id="{7AC0725C-D5B7-1C76-6D14-83E3FED16D63}"/>
              </a:ext>
            </a:extLst>
          </p:cNvPr>
          <p:cNvSpPr txBox="1"/>
          <p:nvPr/>
        </p:nvSpPr>
        <p:spPr>
          <a:xfrm>
            <a:off x="191344" y="1340768"/>
            <a:ext cx="10657184" cy="5924699"/>
          </a:xfrm>
          <a:prstGeom prst="rect">
            <a:avLst/>
          </a:prstGeom>
          <a:noFill/>
        </p:spPr>
        <p:txBody>
          <a:bodyPr wrap="square">
            <a:spAutoFit/>
          </a:bodyPr>
          <a:lstStyle/>
          <a:p>
            <a:pPr algn="just">
              <a:spcAft>
                <a:spcPts val="600"/>
              </a:spcAft>
            </a:pPr>
            <a:r>
              <a:rPr lang="en-US" sz="2800" b="1" i="0" dirty="0">
                <a:solidFill>
                  <a:srgbClr val="0D0D0D"/>
                </a:solidFill>
                <a:effectLst/>
                <a:latin typeface="Times New Roman" panose="02020603050405020304" pitchFamily="18" charset="0"/>
                <a:cs typeface="Times New Roman" panose="02020603050405020304" pitchFamily="18" charset="0"/>
              </a:rPr>
              <a:t>Deep Learning Models</a:t>
            </a:r>
            <a:r>
              <a:rPr lang="en-US" sz="2800" b="0" i="0" dirty="0">
                <a:solidFill>
                  <a:srgbClr val="0D0D0D"/>
                </a:solidFill>
                <a:effectLst/>
                <a:latin typeface="Times New Roman" panose="02020603050405020304" pitchFamily="18" charset="0"/>
                <a:cs typeface="Times New Roman" panose="02020603050405020304" pitchFamily="18" charset="0"/>
              </a:rPr>
              <a:t>: Deep learning models, such as convolutional neural networks (CNNs) for image data or recurrent neural networks (RNNs) for sequential data, are capable of automatically learning hierarchical and abstract representations of features from raw data.</a:t>
            </a:r>
          </a:p>
          <a:p>
            <a:pPr algn="just">
              <a:spcAft>
                <a:spcPts val="600"/>
              </a:spcAft>
            </a:pPr>
            <a:r>
              <a:rPr lang="en-US" sz="2800" b="1" i="0" dirty="0">
                <a:solidFill>
                  <a:srgbClr val="0D0D0D"/>
                </a:solidFill>
                <a:effectLst/>
                <a:latin typeface="Times New Roman" panose="02020603050405020304" pitchFamily="18" charset="0"/>
                <a:cs typeface="Times New Roman" panose="02020603050405020304" pitchFamily="18" charset="0"/>
              </a:rPr>
              <a:t>Transfer Learning</a:t>
            </a:r>
            <a:r>
              <a:rPr lang="en-US" sz="2800" b="0" i="0" dirty="0">
                <a:solidFill>
                  <a:srgbClr val="0D0D0D"/>
                </a:solidFill>
                <a:effectLst/>
                <a:latin typeface="Times New Roman" panose="02020603050405020304" pitchFamily="18" charset="0"/>
                <a:cs typeface="Times New Roman" panose="02020603050405020304" pitchFamily="18" charset="0"/>
              </a:rPr>
              <a:t>: Transfer learning uses pre-trained models that have learned meaningful features from large datasets. These pre-trained models can be fine-tuned or used as feature extractors for new tasks or domains.</a:t>
            </a:r>
          </a:p>
          <a:p>
            <a:pPr algn="just">
              <a:spcAft>
                <a:spcPts val="600"/>
              </a:spcAft>
            </a:pPr>
            <a:r>
              <a:rPr lang="en-US" sz="2800" b="1" i="0" dirty="0">
                <a:solidFill>
                  <a:srgbClr val="0D0D0D"/>
                </a:solidFill>
                <a:effectLst/>
                <a:latin typeface="Times New Roman" panose="02020603050405020304" pitchFamily="18" charset="0"/>
                <a:cs typeface="Times New Roman" panose="02020603050405020304" pitchFamily="18" charset="0"/>
              </a:rPr>
              <a:t>Traditional ML Models</a:t>
            </a:r>
            <a:r>
              <a:rPr lang="en-US" sz="2800" b="0" i="0" dirty="0">
                <a:solidFill>
                  <a:srgbClr val="0D0D0D"/>
                </a:solidFill>
                <a:effectLst/>
                <a:latin typeface="Times New Roman" panose="02020603050405020304" pitchFamily="18" charset="0"/>
                <a:cs typeface="Times New Roman" panose="02020603050405020304" pitchFamily="18" charset="0"/>
              </a:rPr>
              <a:t>: Even traditional ML models like decision trees, random forests, or support vector machines (SVMs) can indirectly perform feature extraction through feature importance analysis, selecting the most relevant features during training.</a:t>
            </a:r>
          </a:p>
          <a:p>
            <a:pPr algn="just">
              <a:spcAft>
                <a:spcPts val="600"/>
              </a:spcAft>
            </a:pPr>
            <a:endParaRPr lang="en-US" sz="2800" i="0" dirty="0">
              <a:solidFill>
                <a:srgbClr val="0D0D0D"/>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2595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1344" y="195480"/>
            <a:ext cx="10657184" cy="857256"/>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4800" dirty="0">
                <a:solidFill>
                  <a:srgbClr val="FF0000"/>
                </a:solidFill>
                <a:ea typeface="新細明體" pitchFamily="18" charset="-120"/>
              </a:rPr>
              <a:t>Feature Extraction in ML: Process</a:t>
            </a:r>
            <a:endParaRPr lang="en-US" altLang="zh-TW" sz="5400" dirty="0">
              <a:solidFill>
                <a:srgbClr val="FF0000"/>
              </a:solidFill>
              <a:ea typeface="新細明體" pitchFamily="18" charset="-120"/>
            </a:endParaRPr>
          </a:p>
        </p:txBody>
      </p:sp>
      <p:sp>
        <p:nvSpPr>
          <p:cNvPr id="4" name="TextBox 3">
            <a:extLst>
              <a:ext uri="{FF2B5EF4-FFF2-40B4-BE49-F238E27FC236}">
                <a16:creationId xmlns:a16="http://schemas.microsoft.com/office/drawing/2014/main" id="{7AC0725C-D5B7-1C76-6D14-83E3FED16D63}"/>
              </a:ext>
            </a:extLst>
          </p:cNvPr>
          <p:cNvSpPr txBox="1"/>
          <p:nvPr/>
        </p:nvSpPr>
        <p:spPr>
          <a:xfrm>
            <a:off x="191344" y="1340768"/>
            <a:ext cx="10657184" cy="5262979"/>
          </a:xfrm>
          <a:prstGeom prst="rect">
            <a:avLst/>
          </a:prstGeom>
          <a:noFill/>
        </p:spPr>
        <p:txBody>
          <a:bodyPr wrap="square">
            <a:spAutoFit/>
          </a:bodyPr>
          <a:lstStyle/>
          <a:p>
            <a:pPr algn="just"/>
            <a:r>
              <a:rPr lang="en-US" sz="2400" b="1" i="0" dirty="0">
                <a:solidFill>
                  <a:srgbClr val="0D0D0D"/>
                </a:solidFill>
                <a:effectLst/>
                <a:latin typeface="Times New Roman" panose="02020603050405020304" pitchFamily="18" charset="0"/>
                <a:cs typeface="Times New Roman" panose="02020603050405020304" pitchFamily="18" charset="0"/>
              </a:rPr>
              <a:t>Input Data</a:t>
            </a:r>
            <a:r>
              <a:rPr lang="en-US" sz="2400" b="0" i="0" dirty="0">
                <a:solidFill>
                  <a:srgbClr val="0D0D0D"/>
                </a:solidFill>
                <a:effectLst/>
                <a:latin typeface="Times New Roman" panose="02020603050405020304" pitchFamily="18" charset="0"/>
                <a:cs typeface="Times New Roman" panose="02020603050405020304" pitchFamily="18" charset="0"/>
              </a:rPr>
              <a:t>: The process begins with raw data, which could be images, text, numerical data, or any other form of data relevant to the problem.</a:t>
            </a:r>
          </a:p>
          <a:p>
            <a:pPr algn="just"/>
            <a:r>
              <a:rPr lang="en-US" sz="2400" b="1" i="0" dirty="0">
                <a:solidFill>
                  <a:srgbClr val="0D0D0D"/>
                </a:solidFill>
                <a:effectLst/>
                <a:latin typeface="Times New Roman" panose="02020603050405020304" pitchFamily="18" charset="0"/>
                <a:cs typeface="Times New Roman" panose="02020603050405020304" pitchFamily="18" charset="0"/>
              </a:rPr>
              <a:t>Model Training</a:t>
            </a:r>
            <a:r>
              <a:rPr lang="en-US" sz="2400" b="0" i="0" dirty="0">
                <a:solidFill>
                  <a:srgbClr val="0D0D0D"/>
                </a:solidFill>
                <a:effectLst/>
                <a:latin typeface="Times New Roman" panose="02020603050405020304" pitchFamily="18" charset="0"/>
                <a:cs typeface="Times New Roman" panose="02020603050405020304" pitchFamily="18" charset="0"/>
              </a:rPr>
              <a:t>: ML models are trained on the raw data, either from scratch or using pre-trained models.</a:t>
            </a:r>
          </a:p>
          <a:p>
            <a:pPr algn="just"/>
            <a:r>
              <a:rPr lang="en-US" sz="2400" b="1" i="0" dirty="0">
                <a:solidFill>
                  <a:srgbClr val="0D0D0D"/>
                </a:solidFill>
                <a:effectLst/>
                <a:latin typeface="Times New Roman" panose="02020603050405020304" pitchFamily="18" charset="0"/>
                <a:cs typeface="Times New Roman" panose="02020603050405020304" pitchFamily="18" charset="0"/>
              </a:rPr>
              <a:t>Feature Extraction Layer</a:t>
            </a:r>
            <a:r>
              <a:rPr lang="en-US" sz="2400" b="0" i="0" dirty="0">
                <a:solidFill>
                  <a:srgbClr val="0D0D0D"/>
                </a:solidFill>
                <a:effectLst/>
                <a:latin typeface="Times New Roman" panose="02020603050405020304" pitchFamily="18" charset="0"/>
                <a:cs typeface="Times New Roman" panose="02020603050405020304" pitchFamily="18" charset="0"/>
              </a:rPr>
              <a:t>: In deep learning models, feature extraction occurs in the early layers of the network. These layers learn to extract low-level features like edges, textures, or temporal patterns.</a:t>
            </a:r>
          </a:p>
          <a:p>
            <a:pPr algn="just"/>
            <a:r>
              <a:rPr lang="en-US" sz="2400" b="1" i="0" dirty="0">
                <a:solidFill>
                  <a:srgbClr val="0D0D0D"/>
                </a:solidFill>
                <a:effectLst/>
                <a:latin typeface="Times New Roman" panose="02020603050405020304" pitchFamily="18" charset="0"/>
                <a:cs typeface="Times New Roman" panose="02020603050405020304" pitchFamily="18" charset="0"/>
              </a:rPr>
              <a:t>Representation Learning</a:t>
            </a:r>
            <a:r>
              <a:rPr lang="en-US" sz="2400" b="0" i="0" dirty="0">
                <a:solidFill>
                  <a:srgbClr val="0D0D0D"/>
                </a:solidFill>
                <a:effectLst/>
                <a:latin typeface="Times New Roman" panose="02020603050405020304" pitchFamily="18" charset="0"/>
                <a:cs typeface="Times New Roman" panose="02020603050405020304" pitchFamily="18" charset="0"/>
              </a:rPr>
              <a:t>: The extracted features are transformed into a meaningful representation that captures the underlying patterns and structures in the data.</a:t>
            </a:r>
          </a:p>
          <a:p>
            <a:pPr algn="just"/>
            <a:r>
              <a:rPr lang="en-US" sz="2400" b="1" i="0" dirty="0">
                <a:solidFill>
                  <a:srgbClr val="0D0D0D"/>
                </a:solidFill>
                <a:effectLst/>
                <a:latin typeface="Times New Roman" panose="02020603050405020304" pitchFamily="18" charset="0"/>
                <a:cs typeface="Times New Roman" panose="02020603050405020304" pitchFamily="18" charset="0"/>
              </a:rPr>
              <a:t>Feature Vectors</a:t>
            </a:r>
            <a:r>
              <a:rPr lang="en-US" sz="2400" b="0" i="0" dirty="0">
                <a:solidFill>
                  <a:srgbClr val="0D0D0D"/>
                </a:solidFill>
                <a:effectLst/>
                <a:latin typeface="Times New Roman" panose="02020603050405020304" pitchFamily="18" charset="0"/>
                <a:cs typeface="Times New Roman" panose="02020603050405020304" pitchFamily="18" charset="0"/>
              </a:rPr>
              <a:t>: The extracted features are typically represented as feature vectors, which are numerical representations of the data suitable for input to ML algorithms.</a:t>
            </a:r>
          </a:p>
          <a:p>
            <a:pPr algn="just"/>
            <a:r>
              <a:rPr lang="en-US" sz="2400" b="1" i="0" dirty="0">
                <a:solidFill>
                  <a:srgbClr val="0D0D0D"/>
                </a:solidFill>
                <a:effectLst/>
                <a:latin typeface="Times New Roman" panose="02020603050405020304" pitchFamily="18" charset="0"/>
                <a:cs typeface="Times New Roman" panose="02020603050405020304" pitchFamily="18" charset="0"/>
              </a:rPr>
              <a:t>Prediction</a:t>
            </a:r>
            <a:r>
              <a:rPr lang="en-US" sz="2400" b="0" i="0" dirty="0">
                <a:solidFill>
                  <a:srgbClr val="0D0D0D"/>
                </a:solidFill>
                <a:effectLst/>
                <a:latin typeface="Times New Roman" panose="02020603050405020304" pitchFamily="18" charset="0"/>
                <a:cs typeface="Times New Roman" panose="02020603050405020304" pitchFamily="18" charset="0"/>
              </a:rPr>
              <a:t>: Once the features are extracted and transformed, they are used as input to ML algorithms for tasks like classification, regression, clustering, or anomaly detection.</a:t>
            </a:r>
          </a:p>
        </p:txBody>
      </p:sp>
    </p:spTree>
    <p:extLst>
      <p:ext uri="{BB962C8B-B14F-4D97-AF65-F5344CB8AC3E}">
        <p14:creationId xmlns:p14="http://schemas.microsoft.com/office/powerpoint/2010/main" val="3301251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1344" y="195480"/>
            <a:ext cx="10657184" cy="857256"/>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4800" dirty="0">
                <a:solidFill>
                  <a:srgbClr val="FF0000"/>
                </a:solidFill>
                <a:ea typeface="新細明體" pitchFamily="18" charset="-120"/>
              </a:rPr>
              <a:t>Feature Extraction in ML: Advantages</a:t>
            </a:r>
            <a:endParaRPr lang="en-US" altLang="zh-TW" sz="5400" dirty="0">
              <a:solidFill>
                <a:srgbClr val="FF0000"/>
              </a:solidFill>
              <a:ea typeface="新細明體" pitchFamily="18" charset="-120"/>
            </a:endParaRPr>
          </a:p>
        </p:txBody>
      </p:sp>
      <p:sp>
        <p:nvSpPr>
          <p:cNvPr id="4" name="TextBox 3">
            <a:extLst>
              <a:ext uri="{FF2B5EF4-FFF2-40B4-BE49-F238E27FC236}">
                <a16:creationId xmlns:a16="http://schemas.microsoft.com/office/drawing/2014/main" id="{7AC0725C-D5B7-1C76-6D14-83E3FED16D63}"/>
              </a:ext>
            </a:extLst>
          </p:cNvPr>
          <p:cNvSpPr txBox="1"/>
          <p:nvPr/>
        </p:nvSpPr>
        <p:spPr>
          <a:xfrm>
            <a:off x="191344" y="1340768"/>
            <a:ext cx="10657184" cy="4678204"/>
          </a:xfrm>
          <a:prstGeom prst="rect">
            <a:avLst/>
          </a:prstGeom>
          <a:noFill/>
        </p:spPr>
        <p:txBody>
          <a:bodyPr wrap="square">
            <a:spAutoFit/>
          </a:bodyPr>
          <a:lstStyle/>
          <a:p>
            <a:pPr algn="just">
              <a:spcAft>
                <a:spcPts val="600"/>
              </a:spcAft>
            </a:pPr>
            <a:r>
              <a:rPr lang="en-US" sz="3200" b="1" i="0" dirty="0">
                <a:solidFill>
                  <a:srgbClr val="0D0D0D"/>
                </a:solidFill>
                <a:effectLst/>
                <a:latin typeface="Times New Roman" panose="02020603050405020304" pitchFamily="18" charset="0"/>
                <a:cs typeface="Times New Roman" panose="02020603050405020304" pitchFamily="18" charset="0"/>
              </a:rPr>
              <a:t>Automated Feature Engineering</a:t>
            </a:r>
            <a:r>
              <a:rPr lang="en-US" sz="3200" b="0" i="0" dirty="0">
                <a:solidFill>
                  <a:srgbClr val="0D0D0D"/>
                </a:solidFill>
                <a:effectLst/>
                <a:latin typeface="Times New Roman" panose="02020603050405020304" pitchFamily="18" charset="0"/>
                <a:cs typeface="Times New Roman" panose="02020603050405020304" pitchFamily="18" charset="0"/>
              </a:rPr>
              <a:t>: ML models automate the process of feature engineering, reducing manual effort and human bias.</a:t>
            </a:r>
          </a:p>
          <a:p>
            <a:pPr algn="just">
              <a:spcAft>
                <a:spcPts val="600"/>
              </a:spcAft>
            </a:pPr>
            <a:r>
              <a:rPr lang="en-US" sz="3200" b="1" i="0" dirty="0">
                <a:solidFill>
                  <a:srgbClr val="0D0D0D"/>
                </a:solidFill>
                <a:effectLst/>
                <a:latin typeface="Times New Roman" panose="02020603050405020304" pitchFamily="18" charset="0"/>
                <a:cs typeface="Times New Roman" panose="02020603050405020304" pitchFamily="18" charset="0"/>
              </a:rPr>
              <a:t>Hierarchical Representation</a:t>
            </a:r>
            <a:r>
              <a:rPr lang="en-US" sz="3200" b="0" i="0" dirty="0">
                <a:solidFill>
                  <a:srgbClr val="0D0D0D"/>
                </a:solidFill>
                <a:effectLst/>
                <a:latin typeface="Times New Roman" panose="02020603050405020304" pitchFamily="18" charset="0"/>
                <a:cs typeface="Times New Roman" panose="02020603050405020304" pitchFamily="18" charset="0"/>
              </a:rPr>
              <a:t>: Deep learning models learn hierarchical representations of features, capturing complex patterns and relationships in the data.</a:t>
            </a:r>
          </a:p>
          <a:p>
            <a:pPr algn="just">
              <a:spcAft>
                <a:spcPts val="600"/>
              </a:spcAft>
            </a:pPr>
            <a:r>
              <a:rPr lang="en-US" sz="3200" b="1" i="0" dirty="0">
                <a:solidFill>
                  <a:srgbClr val="0D0D0D"/>
                </a:solidFill>
                <a:effectLst/>
                <a:latin typeface="Times New Roman" panose="02020603050405020304" pitchFamily="18" charset="0"/>
                <a:cs typeface="Times New Roman" panose="02020603050405020304" pitchFamily="18" charset="0"/>
              </a:rPr>
              <a:t>Domain Adaptation</a:t>
            </a:r>
            <a:r>
              <a:rPr lang="en-US" sz="3200" b="0" i="0" dirty="0">
                <a:solidFill>
                  <a:srgbClr val="0D0D0D"/>
                </a:solidFill>
                <a:effectLst/>
                <a:latin typeface="Times New Roman" panose="02020603050405020304" pitchFamily="18" charset="0"/>
                <a:cs typeface="Times New Roman" panose="02020603050405020304" pitchFamily="18" charset="0"/>
              </a:rPr>
              <a:t>: Transfer learning allows models to adapt features learned from one domain to another, improving performance on new tasks with limited data.</a:t>
            </a:r>
          </a:p>
        </p:txBody>
      </p:sp>
    </p:spTree>
    <p:extLst>
      <p:ext uri="{BB962C8B-B14F-4D97-AF65-F5344CB8AC3E}">
        <p14:creationId xmlns:p14="http://schemas.microsoft.com/office/powerpoint/2010/main" val="1516040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1344" y="195480"/>
            <a:ext cx="10657184" cy="857256"/>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4800" dirty="0">
                <a:solidFill>
                  <a:srgbClr val="FF0000"/>
                </a:solidFill>
                <a:ea typeface="新細明體" pitchFamily="18" charset="-120"/>
              </a:rPr>
              <a:t>Feature Extraction in ML: Challenges</a:t>
            </a:r>
            <a:endParaRPr lang="en-US" altLang="zh-TW" sz="5400" dirty="0">
              <a:solidFill>
                <a:srgbClr val="FF0000"/>
              </a:solidFill>
              <a:ea typeface="新細明體" pitchFamily="18" charset="-120"/>
            </a:endParaRPr>
          </a:p>
        </p:txBody>
      </p:sp>
      <p:sp>
        <p:nvSpPr>
          <p:cNvPr id="4" name="TextBox 3">
            <a:extLst>
              <a:ext uri="{FF2B5EF4-FFF2-40B4-BE49-F238E27FC236}">
                <a16:creationId xmlns:a16="http://schemas.microsoft.com/office/drawing/2014/main" id="{7AC0725C-D5B7-1C76-6D14-83E3FED16D63}"/>
              </a:ext>
            </a:extLst>
          </p:cNvPr>
          <p:cNvSpPr txBox="1"/>
          <p:nvPr/>
        </p:nvSpPr>
        <p:spPr>
          <a:xfrm>
            <a:off x="191344" y="1340768"/>
            <a:ext cx="10657184" cy="4909036"/>
          </a:xfrm>
          <a:prstGeom prst="rect">
            <a:avLst/>
          </a:prstGeom>
          <a:noFill/>
        </p:spPr>
        <p:txBody>
          <a:bodyPr wrap="square">
            <a:spAutoFit/>
          </a:bodyPr>
          <a:lstStyle/>
          <a:p>
            <a:pPr marL="179388" indent="-179388" algn="just">
              <a:spcAft>
                <a:spcPts val="600"/>
              </a:spcAft>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Computational Resources</a:t>
            </a:r>
            <a:endParaRPr lang="en-US" sz="2400" b="0" i="0" dirty="0">
              <a:solidFill>
                <a:srgbClr val="0D0D0D"/>
              </a:solidFill>
              <a:effectLst/>
              <a:latin typeface="Times New Roman" panose="02020603050405020304" pitchFamily="18" charset="0"/>
              <a:cs typeface="Times New Roman" panose="02020603050405020304" pitchFamily="18" charset="0"/>
            </a:endParaRPr>
          </a:p>
          <a:p>
            <a:pPr algn="just">
              <a:spcAft>
                <a:spcPts val="600"/>
              </a:spcAft>
            </a:pPr>
            <a:r>
              <a:rPr lang="en-US" sz="2400" b="0" i="0" dirty="0">
                <a:solidFill>
                  <a:srgbClr val="0D0D0D"/>
                </a:solidFill>
                <a:effectLst/>
                <a:latin typeface="Times New Roman" panose="02020603050405020304" pitchFamily="18" charset="0"/>
                <a:cs typeface="Times New Roman" panose="02020603050405020304" pitchFamily="18" charset="0"/>
              </a:rPr>
              <a:t>Some feature extraction methods, especially those involving deep learning or complex algorithms, may require significant computational resources and time.</a:t>
            </a:r>
          </a:p>
          <a:p>
            <a:pPr algn="just">
              <a:spcAft>
                <a:spcPts val="600"/>
              </a:spcAft>
            </a:pPr>
            <a:r>
              <a:rPr lang="en-US" sz="2400" b="1" i="0" dirty="0">
                <a:solidFill>
                  <a:srgbClr val="0D0D0D"/>
                </a:solidFill>
                <a:effectLst/>
                <a:latin typeface="Times New Roman" panose="02020603050405020304" pitchFamily="18" charset="0"/>
                <a:cs typeface="Times New Roman" panose="02020603050405020304" pitchFamily="18" charset="0"/>
              </a:rPr>
              <a:t>Solution:</a:t>
            </a:r>
            <a:r>
              <a:rPr lang="en-US" sz="2400" b="0" i="0" dirty="0">
                <a:solidFill>
                  <a:srgbClr val="0D0D0D"/>
                </a:solidFill>
                <a:effectLst/>
                <a:latin typeface="Times New Roman" panose="02020603050405020304" pitchFamily="18" charset="0"/>
                <a:cs typeface="Times New Roman" panose="02020603050405020304" pitchFamily="18" charset="0"/>
              </a:rPr>
              <a:t> Optimization techniques, parallel processing, and using efficient algorithms can help manage computational challenges during feature extraction.</a:t>
            </a:r>
          </a:p>
          <a:p>
            <a:pPr marL="179388" indent="-179388" algn="just">
              <a:spcAft>
                <a:spcPts val="600"/>
              </a:spcAft>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Data Imbalance</a:t>
            </a:r>
            <a:endParaRPr lang="en-US" sz="2400" b="0" i="0" dirty="0">
              <a:solidFill>
                <a:srgbClr val="0D0D0D"/>
              </a:solidFill>
              <a:effectLst/>
              <a:latin typeface="Times New Roman" panose="02020603050405020304" pitchFamily="18" charset="0"/>
              <a:cs typeface="Times New Roman" panose="02020603050405020304" pitchFamily="18" charset="0"/>
            </a:endParaRPr>
          </a:p>
          <a:p>
            <a:pPr algn="just">
              <a:spcAft>
                <a:spcPts val="600"/>
              </a:spcAft>
            </a:pPr>
            <a:r>
              <a:rPr lang="en-US" sz="2400" b="0" i="0" dirty="0">
                <a:solidFill>
                  <a:srgbClr val="0D0D0D"/>
                </a:solidFill>
                <a:effectLst/>
                <a:latin typeface="Times New Roman" panose="02020603050405020304" pitchFamily="18" charset="0"/>
                <a:cs typeface="Times New Roman" panose="02020603050405020304" pitchFamily="18" charset="0"/>
              </a:rPr>
              <a:t>Imbalanced datasets, where one class significantly outnumbers others, can bias feature extraction towards the majority class and lead to poor performance on minority classes.</a:t>
            </a:r>
          </a:p>
          <a:p>
            <a:pPr algn="just">
              <a:spcAft>
                <a:spcPts val="600"/>
              </a:spcAft>
            </a:pPr>
            <a:r>
              <a:rPr lang="en-US" sz="2400" b="1" i="0" dirty="0">
                <a:solidFill>
                  <a:srgbClr val="0D0D0D"/>
                </a:solidFill>
                <a:effectLst/>
                <a:latin typeface="Times New Roman" panose="02020603050405020304" pitchFamily="18" charset="0"/>
                <a:cs typeface="Times New Roman" panose="02020603050405020304" pitchFamily="18" charset="0"/>
              </a:rPr>
              <a:t>Solution:</a:t>
            </a:r>
            <a:r>
              <a:rPr lang="en-US" sz="2400" b="0" i="0" dirty="0">
                <a:solidFill>
                  <a:srgbClr val="0D0D0D"/>
                </a:solidFill>
                <a:effectLst/>
                <a:latin typeface="Times New Roman" panose="02020603050405020304" pitchFamily="18" charset="0"/>
                <a:cs typeface="Times New Roman" panose="02020603050405020304" pitchFamily="18" charset="0"/>
              </a:rPr>
              <a:t> Techniques like class weighting, data augmentation, or resampling methods (e.g., oversampling, </a:t>
            </a:r>
            <a:r>
              <a:rPr lang="en-US" sz="2400" b="0" i="0" dirty="0" err="1">
                <a:solidFill>
                  <a:srgbClr val="0D0D0D"/>
                </a:solidFill>
                <a:effectLst/>
                <a:latin typeface="Times New Roman" panose="02020603050405020304" pitchFamily="18" charset="0"/>
                <a:cs typeface="Times New Roman" panose="02020603050405020304" pitchFamily="18" charset="0"/>
              </a:rPr>
              <a:t>undersampling</a:t>
            </a:r>
            <a:r>
              <a:rPr lang="en-US" sz="2400" b="0" i="0" dirty="0">
                <a:solidFill>
                  <a:srgbClr val="0D0D0D"/>
                </a:solidFill>
                <a:effectLst/>
                <a:latin typeface="Times New Roman" panose="02020603050405020304" pitchFamily="18" charset="0"/>
                <a:cs typeface="Times New Roman" panose="02020603050405020304" pitchFamily="18" charset="0"/>
              </a:rPr>
              <a:t>) can address data imbalance issues during feature extraction and model training.</a:t>
            </a:r>
          </a:p>
        </p:txBody>
      </p:sp>
    </p:spTree>
    <p:extLst>
      <p:ext uri="{BB962C8B-B14F-4D97-AF65-F5344CB8AC3E}">
        <p14:creationId xmlns:p14="http://schemas.microsoft.com/office/powerpoint/2010/main" val="3432513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1344" y="195480"/>
            <a:ext cx="10657184" cy="857256"/>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4800" dirty="0">
                <a:solidFill>
                  <a:srgbClr val="FF0000"/>
                </a:solidFill>
                <a:ea typeface="新細明體" pitchFamily="18" charset="-120"/>
              </a:rPr>
              <a:t>Feature Extraction in ML: Challenges</a:t>
            </a:r>
            <a:endParaRPr lang="en-US" altLang="zh-TW" sz="5400" dirty="0">
              <a:solidFill>
                <a:srgbClr val="FF0000"/>
              </a:solidFill>
              <a:ea typeface="新細明體" pitchFamily="18" charset="-120"/>
            </a:endParaRPr>
          </a:p>
        </p:txBody>
      </p:sp>
      <p:sp>
        <p:nvSpPr>
          <p:cNvPr id="4" name="TextBox 3">
            <a:extLst>
              <a:ext uri="{FF2B5EF4-FFF2-40B4-BE49-F238E27FC236}">
                <a16:creationId xmlns:a16="http://schemas.microsoft.com/office/drawing/2014/main" id="{7AC0725C-D5B7-1C76-6D14-83E3FED16D63}"/>
              </a:ext>
            </a:extLst>
          </p:cNvPr>
          <p:cNvSpPr txBox="1"/>
          <p:nvPr/>
        </p:nvSpPr>
        <p:spPr>
          <a:xfrm>
            <a:off x="191344" y="1340768"/>
            <a:ext cx="10657184" cy="5278368"/>
          </a:xfrm>
          <a:prstGeom prst="rect">
            <a:avLst/>
          </a:prstGeom>
          <a:noFill/>
        </p:spPr>
        <p:txBody>
          <a:bodyPr wrap="square">
            <a:spAutoFit/>
          </a:bodyPr>
          <a:lstStyle/>
          <a:p>
            <a:pPr algn="just">
              <a:spcAft>
                <a:spcPts val="600"/>
              </a:spcAft>
            </a:pPr>
            <a:r>
              <a:rPr lang="en-US" sz="2400" b="1" i="0" dirty="0">
                <a:solidFill>
                  <a:srgbClr val="0D0D0D"/>
                </a:solidFill>
                <a:effectLst/>
                <a:latin typeface="Times New Roman" panose="02020603050405020304" pitchFamily="18" charset="0"/>
                <a:cs typeface="Times New Roman" panose="02020603050405020304" pitchFamily="18" charset="0"/>
              </a:rPr>
              <a:t>High-Dimensional Data</a:t>
            </a:r>
            <a:endParaRPr lang="en-US" sz="2400" b="0" i="0" dirty="0">
              <a:solidFill>
                <a:srgbClr val="0D0D0D"/>
              </a:solidFill>
              <a:effectLst/>
              <a:latin typeface="Times New Roman" panose="02020603050405020304" pitchFamily="18" charset="0"/>
              <a:cs typeface="Times New Roman" panose="02020603050405020304" pitchFamily="18" charset="0"/>
            </a:endParaRPr>
          </a:p>
          <a:p>
            <a:pPr algn="just">
              <a:spcAft>
                <a:spcPts val="600"/>
              </a:spcAft>
            </a:pPr>
            <a:r>
              <a:rPr lang="en-US" sz="2400" b="0" i="0" dirty="0">
                <a:solidFill>
                  <a:srgbClr val="0D0D0D"/>
                </a:solidFill>
                <a:effectLst/>
                <a:latin typeface="Times New Roman" panose="02020603050405020304" pitchFamily="18" charset="0"/>
                <a:cs typeface="Times New Roman" panose="02020603050405020304" pitchFamily="18" charset="0"/>
              </a:rPr>
              <a:t>High-dimensional datasets with a large number of features can lead to the curse of dimensionality. This makes feature extraction more complex and computationally intensive.</a:t>
            </a:r>
          </a:p>
          <a:p>
            <a:pPr algn="just">
              <a:spcAft>
                <a:spcPts val="600"/>
              </a:spcAft>
            </a:pPr>
            <a:r>
              <a:rPr lang="en-US" sz="2400" b="1" i="0" dirty="0">
                <a:solidFill>
                  <a:srgbClr val="0D0D0D"/>
                </a:solidFill>
                <a:effectLst/>
                <a:latin typeface="Times New Roman" panose="02020603050405020304" pitchFamily="18" charset="0"/>
                <a:cs typeface="Times New Roman" panose="02020603050405020304" pitchFamily="18" charset="0"/>
              </a:rPr>
              <a:t>Solution:</a:t>
            </a:r>
            <a:r>
              <a:rPr lang="en-US" sz="2400" b="0" i="0" dirty="0">
                <a:solidFill>
                  <a:srgbClr val="0D0D0D"/>
                </a:solidFill>
                <a:effectLst/>
                <a:latin typeface="Times New Roman" panose="02020603050405020304" pitchFamily="18" charset="0"/>
                <a:cs typeface="Times New Roman" panose="02020603050405020304" pitchFamily="18" charset="0"/>
              </a:rPr>
              <a:t> Dimensionality reduction techniques like PCA, or feature selection methods can help reduce the number of features while preserving important information.</a:t>
            </a:r>
          </a:p>
          <a:p>
            <a:pPr algn="just">
              <a:spcAft>
                <a:spcPts val="600"/>
              </a:spcAft>
            </a:pPr>
            <a:r>
              <a:rPr lang="en-US" sz="2400" b="1" i="0" dirty="0">
                <a:solidFill>
                  <a:srgbClr val="0D0D0D"/>
                </a:solidFill>
                <a:effectLst/>
                <a:latin typeface="Times New Roman" panose="02020603050405020304" pitchFamily="18" charset="0"/>
                <a:cs typeface="Times New Roman" panose="02020603050405020304" pitchFamily="18" charset="0"/>
              </a:rPr>
              <a:t>Irrelevant or Noisy Features</a:t>
            </a:r>
            <a:endParaRPr lang="en-US" sz="2400" b="0" i="0" dirty="0">
              <a:solidFill>
                <a:srgbClr val="0D0D0D"/>
              </a:solidFill>
              <a:effectLst/>
              <a:latin typeface="Times New Roman" panose="02020603050405020304" pitchFamily="18" charset="0"/>
              <a:cs typeface="Times New Roman" panose="02020603050405020304" pitchFamily="18" charset="0"/>
            </a:endParaRPr>
          </a:p>
          <a:p>
            <a:pPr algn="just">
              <a:spcAft>
                <a:spcPts val="600"/>
              </a:spcAft>
            </a:pPr>
            <a:r>
              <a:rPr lang="en-US" sz="2400" b="0" i="0" dirty="0">
                <a:solidFill>
                  <a:srgbClr val="0D0D0D"/>
                </a:solidFill>
                <a:effectLst/>
                <a:latin typeface="Times New Roman" panose="02020603050405020304" pitchFamily="18" charset="0"/>
                <a:cs typeface="Times New Roman" panose="02020603050405020304" pitchFamily="18" charset="0"/>
              </a:rPr>
              <a:t>Datasets often contain irrelevant or noisy features that do not contribute meaningfully to the target variable. Including such features can lead to overfitting and reduced model performance.</a:t>
            </a:r>
          </a:p>
          <a:p>
            <a:pPr algn="just">
              <a:spcAft>
                <a:spcPts val="600"/>
              </a:spcAft>
            </a:pPr>
            <a:r>
              <a:rPr lang="en-US" sz="2400" b="1" i="0" dirty="0">
                <a:solidFill>
                  <a:srgbClr val="0D0D0D"/>
                </a:solidFill>
                <a:effectLst/>
                <a:latin typeface="Times New Roman" panose="02020603050405020304" pitchFamily="18" charset="0"/>
                <a:cs typeface="Times New Roman" panose="02020603050405020304" pitchFamily="18" charset="0"/>
              </a:rPr>
              <a:t>Solution:</a:t>
            </a:r>
            <a:r>
              <a:rPr lang="en-US" sz="2400" b="0" i="0" dirty="0">
                <a:solidFill>
                  <a:srgbClr val="0D0D0D"/>
                </a:solidFill>
                <a:effectLst/>
                <a:latin typeface="Times New Roman" panose="02020603050405020304" pitchFamily="18" charset="0"/>
                <a:cs typeface="Times New Roman" panose="02020603050405020304" pitchFamily="18" charset="0"/>
              </a:rPr>
              <a:t> Feature selection techniques (e.g., filter, wrapper, embedded methods) can be used to identify and remove irrelevant features, improving model generalization.</a:t>
            </a:r>
          </a:p>
        </p:txBody>
      </p:sp>
    </p:spTree>
    <p:extLst>
      <p:ext uri="{BB962C8B-B14F-4D97-AF65-F5344CB8AC3E}">
        <p14:creationId xmlns:p14="http://schemas.microsoft.com/office/powerpoint/2010/main" val="30803415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1344" y="116632"/>
            <a:ext cx="10657184" cy="857256"/>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5400" dirty="0">
                <a:solidFill>
                  <a:srgbClr val="FF0000"/>
                </a:solidFill>
                <a:ea typeface="新細明體" pitchFamily="18" charset="-120"/>
              </a:rPr>
              <a:t>Feature Engineering…</a:t>
            </a:r>
            <a:endParaRPr lang="en-US" altLang="zh-TW" sz="6000" dirty="0">
              <a:solidFill>
                <a:srgbClr val="FF0000"/>
              </a:solidFill>
              <a:ea typeface="新細明體" pitchFamily="18" charset="-120"/>
            </a:endParaRPr>
          </a:p>
        </p:txBody>
      </p:sp>
      <p:sp>
        <p:nvSpPr>
          <p:cNvPr id="4" name="TextBox 3">
            <a:extLst>
              <a:ext uri="{FF2B5EF4-FFF2-40B4-BE49-F238E27FC236}">
                <a16:creationId xmlns:a16="http://schemas.microsoft.com/office/drawing/2014/main" id="{7AC0725C-D5B7-1C76-6D14-83E3FED16D63}"/>
              </a:ext>
            </a:extLst>
          </p:cNvPr>
          <p:cNvSpPr txBox="1"/>
          <p:nvPr/>
        </p:nvSpPr>
        <p:spPr>
          <a:xfrm>
            <a:off x="241648" y="1484784"/>
            <a:ext cx="10390856" cy="4678204"/>
          </a:xfrm>
          <a:prstGeom prst="rect">
            <a:avLst/>
          </a:prstGeom>
          <a:noFill/>
        </p:spPr>
        <p:txBody>
          <a:bodyPr wrap="square">
            <a:spAutoFit/>
          </a:bodyPr>
          <a:lstStyle/>
          <a:p>
            <a:pPr algn="just">
              <a:spcAft>
                <a:spcPts val="600"/>
              </a:spcAft>
            </a:pPr>
            <a:r>
              <a:rPr lang="en-US" sz="2400" i="0" dirty="0">
                <a:solidFill>
                  <a:srgbClr val="0D0D0D"/>
                </a:solidFill>
                <a:effectLst/>
                <a:latin typeface="Times New Roman" panose="02020603050405020304" pitchFamily="18" charset="0"/>
                <a:cs typeface="Times New Roman" panose="02020603050405020304" pitchFamily="18" charset="0"/>
              </a:rPr>
              <a:t>It is the process of extracting meaningful information from raw image data to facilitate machine learning tasks such as classification, detection, or segmentation. It involves transforming the raw pixel values of an image into a format that is more suitable for the learning algorithm to process.</a:t>
            </a:r>
          </a:p>
          <a:p>
            <a:pPr algn="just">
              <a:spcAft>
                <a:spcPts val="600"/>
              </a:spcAft>
            </a:pPr>
            <a:r>
              <a:rPr lang="en-US" sz="2400" i="0" dirty="0">
                <a:solidFill>
                  <a:srgbClr val="0D0D0D"/>
                </a:solidFill>
                <a:effectLst/>
                <a:latin typeface="Times New Roman" panose="02020603050405020304" pitchFamily="18" charset="0"/>
                <a:cs typeface="Times New Roman" panose="02020603050405020304" pitchFamily="18" charset="0"/>
              </a:rPr>
              <a:t>In traditional or handcrafted machine learning approaches, feature engineering often involves manually designing and selecting relevant features based on domain knowledge. However, with the advent of deep learning, feature engineering has become less manual and more automated, as deep neural networks can learn hierarchical representations directly from raw data.</a:t>
            </a:r>
          </a:p>
          <a:p>
            <a:pPr algn="just">
              <a:spcAft>
                <a:spcPts val="600"/>
              </a:spcAft>
            </a:pPr>
            <a:r>
              <a:rPr lang="en-US" sz="2400" i="0" dirty="0">
                <a:solidFill>
                  <a:srgbClr val="0D0D0D"/>
                </a:solidFill>
                <a:effectLst/>
                <a:latin typeface="Times New Roman" panose="02020603050405020304" pitchFamily="18" charset="0"/>
                <a:cs typeface="Times New Roman" panose="02020603050405020304" pitchFamily="18" charset="0"/>
              </a:rPr>
              <a:t>Still, in computer vision tasks, some forms of feature engineering may be necessary, especially when dealing with limited data or specific requirements. Common techniques include the following.</a:t>
            </a:r>
          </a:p>
        </p:txBody>
      </p:sp>
    </p:spTree>
    <p:extLst>
      <p:ext uri="{BB962C8B-B14F-4D97-AF65-F5344CB8AC3E}">
        <p14:creationId xmlns:p14="http://schemas.microsoft.com/office/powerpoint/2010/main" val="1407091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1344" y="116632"/>
            <a:ext cx="10657184" cy="857256"/>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5400" dirty="0">
                <a:solidFill>
                  <a:srgbClr val="FF0000"/>
                </a:solidFill>
                <a:ea typeface="新細明體" pitchFamily="18" charset="-120"/>
              </a:rPr>
              <a:t>Feature Engineering…</a:t>
            </a:r>
            <a:endParaRPr lang="en-US" altLang="zh-TW" sz="6000" dirty="0">
              <a:solidFill>
                <a:srgbClr val="FF0000"/>
              </a:solidFill>
              <a:ea typeface="新細明體" pitchFamily="18" charset="-120"/>
            </a:endParaRPr>
          </a:p>
        </p:txBody>
      </p:sp>
      <p:sp>
        <p:nvSpPr>
          <p:cNvPr id="4" name="TextBox 3">
            <a:extLst>
              <a:ext uri="{FF2B5EF4-FFF2-40B4-BE49-F238E27FC236}">
                <a16:creationId xmlns:a16="http://schemas.microsoft.com/office/drawing/2014/main" id="{7AC0725C-D5B7-1C76-6D14-83E3FED16D63}"/>
              </a:ext>
            </a:extLst>
          </p:cNvPr>
          <p:cNvSpPr txBox="1"/>
          <p:nvPr/>
        </p:nvSpPr>
        <p:spPr>
          <a:xfrm>
            <a:off x="191344" y="1384315"/>
            <a:ext cx="10585176" cy="5416868"/>
          </a:xfrm>
          <a:prstGeom prst="rect">
            <a:avLst/>
          </a:prstGeom>
          <a:noFill/>
        </p:spPr>
        <p:txBody>
          <a:bodyPr wrap="square">
            <a:spAutoFit/>
          </a:bodyPr>
          <a:lstStyle/>
          <a:p>
            <a:pPr marL="357188" indent="-357188" algn="just">
              <a:spcAft>
                <a:spcPts val="600"/>
              </a:spcAft>
              <a:buFont typeface="+mj-lt"/>
              <a:buAutoNum type="arabicPeriod"/>
            </a:pPr>
            <a:r>
              <a:rPr lang="en-US" sz="2800" b="1" i="0" dirty="0">
                <a:solidFill>
                  <a:srgbClr val="0D0D0D"/>
                </a:solidFill>
                <a:effectLst/>
                <a:highlight>
                  <a:srgbClr val="FFFFFF"/>
                </a:highlight>
                <a:latin typeface="Times New Roman" panose="02020603050405020304" pitchFamily="18" charset="0"/>
                <a:cs typeface="Times New Roman" panose="02020603050405020304" pitchFamily="18" charset="0"/>
              </a:rPr>
              <a:t>Preprocessing</a:t>
            </a:r>
            <a:r>
              <a:rPr lang="en-US" sz="2800" b="0" i="0" dirty="0">
                <a:solidFill>
                  <a:srgbClr val="0D0D0D"/>
                </a:solidFill>
                <a:effectLst/>
                <a:highlight>
                  <a:srgbClr val="FFFFFF"/>
                </a:highlight>
                <a:latin typeface="Times New Roman" panose="02020603050405020304" pitchFamily="18" charset="0"/>
                <a:cs typeface="Times New Roman" panose="02020603050405020304" pitchFamily="18" charset="0"/>
              </a:rPr>
              <a:t>: This involves basic transformations applied to the raw image data, such as resizing, normalization, or augmentation to improve model robustness and generalization.</a:t>
            </a:r>
          </a:p>
          <a:p>
            <a:pPr marL="357188" indent="-357188" algn="just">
              <a:spcAft>
                <a:spcPts val="600"/>
              </a:spcAft>
              <a:buFont typeface="+mj-lt"/>
              <a:buAutoNum type="arabicPeriod"/>
            </a:pPr>
            <a:r>
              <a:rPr lang="en-US" sz="2800" b="1" i="0" dirty="0">
                <a:solidFill>
                  <a:srgbClr val="0D0D0D"/>
                </a:solidFill>
                <a:effectLst/>
                <a:highlight>
                  <a:srgbClr val="FFFFFF"/>
                </a:highlight>
                <a:latin typeface="Times New Roman" panose="02020603050405020304" pitchFamily="18" charset="0"/>
                <a:cs typeface="Times New Roman" panose="02020603050405020304" pitchFamily="18" charset="0"/>
              </a:rPr>
              <a:t>Feature Extraction</a:t>
            </a:r>
            <a:r>
              <a:rPr lang="en-US" sz="2800" b="0" i="0" dirty="0">
                <a:solidFill>
                  <a:srgbClr val="0D0D0D"/>
                </a:solidFill>
                <a:effectLst/>
                <a:highlight>
                  <a:srgbClr val="FFFFFF"/>
                </a:highlight>
                <a:latin typeface="Times New Roman" panose="02020603050405020304" pitchFamily="18" charset="0"/>
                <a:cs typeface="Times New Roman" panose="02020603050405020304" pitchFamily="18" charset="0"/>
              </a:rPr>
              <a:t>: Extracting informative features from images using techniques such as Histogram of Oriented Gradients (HOG), Scale-Invariant Feature Transform (SIFT), or local binary patterns (LBP). These features can capture important patterns or structures in the images.</a:t>
            </a:r>
          </a:p>
          <a:p>
            <a:pPr marL="357188" indent="-357188" algn="just">
              <a:spcAft>
                <a:spcPts val="600"/>
              </a:spcAft>
              <a:buFont typeface="+mj-lt"/>
              <a:buAutoNum type="arabicPeriod"/>
            </a:pPr>
            <a:r>
              <a:rPr lang="en-US" sz="2800" b="1" i="0" dirty="0">
                <a:solidFill>
                  <a:srgbClr val="0D0D0D"/>
                </a:solidFill>
                <a:effectLst/>
                <a:highlight>
                  <a:srgbClr val="FFFFFF"/>
                </a:highlight>
                <a:latin typeface="Times New Roman" panose="02020603050405020304" pitchFamily="18" charset="0"/>
                <a:cs typeface="Times New Roman" panose="02020603050405020304" pitchFamily="18" charset="0"/>
              </a:rPr>
              <a:t>Dimensionality Reduction</a:t>
            </a:r>
            <a:r>
              <a:rPr lang="en-US" sz="2800" b="0" i="0" dirty="0">
                <a:solidFill>
                  <a:srgbClr val="0D0D0D"/>
                </a:solidFill>
                <a:effectLst/>
                <a:highlight>
                  <a:srgbClr val="FFFFFF"/>
                </a:highlight>
                <a:latin typeface="Times New Roman" panose="02020603050405020304" pitchFamily="18" charset="0"/>
                <a:cs typeface="Times New Roman" panose="02020603050405020304" pitchFamily="18" charset="0"/>
              </a:rPr>
              <a:t>: Techniques like Principal Component Analysis (PCA) or t-distributed Stochastic Neighbor Embedding (t-SNE) can be used to reduce the dimensionality of the feature space while preserving important information.</a:t>
            </a:r>
          </a:p>
        </p:txBody>
      </p:sp>
    </p:spTree>
    <p:extLst>
      <p:ext uri="{BB962C8B-B14F-4D97-AF65-F5344CB8AC3E}">
        <p14:creationId xmlns:p14="http://schemas.microsoft.com/office/powerpoint/2010/main" val="3752376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91344" y="116632"/>
            <a:ext cx="10657184" cy="857256"/>
          </a:xfrm>
          <a:prstGeom prst="rect">
            <a:avLst/>
          </a:prstGeom>
        </p:spPr>
        <p:txBody>
          <a:bodyPr>
            <a:noAutofit/>
          </a:bodyPr>
          <a:lst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a:lstStyle>
          <a:p>
            <a:r>
              <a:rPr lang="en-US" altLang="zh-TW" sz="5400" dirty="0">
                <a:solidFill>
                  <a:srgbClr val="FF0000"/>
                </a:solidFill>
                <a:ea typeface="新細明體" pitchFamily="18" charset="-120"/>
              </a:rPr>
              <a:t>Feature Engineering</a:t>
            </a:r>
            <a:endParaRPr lang="en-US" altLang="zh-TW" sz="6000" dirty="0">
              <a:solidFill>
                <a:srgbClr val="FF0000"/>
              </a:solidFill>
              <a:ea typeface="新細明體" pitchFamily="18" charset="-120"/>
            </a:endParaRPr>
          </a:p>
        </p:txBody>
      </p:sp>
      <p:sp>
        <p:nvSpPr>
          <p:cNvPr id="4" name="TextBox 3">
            <a:extLst>
              <a:ext uri="{FF2B5EF4-FFF2-40B4-BE49-F238E27FC236}">
                <a16:creationId xmlns:a16="http://schemas.microsoft.com/office/drawing/2014/main" id="{7AC0725C-D5B7-1C76-6D14-83E3FED16D63}"/>
              </a:ext>
            </a:extLst>
          </p:cNvPr>
          <p:cNvSpPr txBox="1"/>
          <p:nvPr/>
        </p:nvSpPr>
        <p:spPr>
          <a:xfrm>
            <a:off x="191344" y="1384315"/>
            <a:ext cx="10801200" cy="3616375"/>
          </a:xfrm>
          <a:prstGeom prst="rect">
            <a:avLst/>
          </a:prstGeom>
          <a:noFill/>
        </p:spPr>
        <p:txBody>
          <a:bodyPr wrap="square">
            <a:spAutoFit/>
          </a:bodyPr>
          <a:lstStyle/>
          <a:p>
            <a:pPr marL="514350" indent="-514350" algn="just">
              <a:spcAft>
                <a:spcPts val="600"/>
              </a:spcAft>
              <a:buFont typeface="+mj-lt"/>
              <a:buAutoNum type="arabicPeriod" startAt="4"/>
            </a:pPr>
            <a:r>
              <a:rPr lang="en-US" sz="2800" b="1" i="0" dirty="0">
                <a:solidFill>
                  <a:srgbClr val="0D0D0D"/>
                </a:solidFill>
                <a:effectLst/>
                <a:highlight>
                  <a:srgbClr val="FFFFFF"/>
                </a:highlight>
                <a:latin typeface="Times New Roman" panose="02020603050405020304" pitchFamily="18" charset="0"/>
                <a:cs typeface="Times New Roman" panose="02020603050405020304" pitchFamily="18" charset="0"/>
              </a:rPr>
              <a:t>Transfer Learning</a:t>
            </a:r>
            <a:r>
              <a:rPr lang="en-US" sz="2800" b="0" i="0" dirty="0">
                <a:solidFill>
                  <a:srgbClr val="0D0D0D"/>
                </a:solidFill>
                <a:effectLst/>
                <a:highlight>
                  <a:srgbClr val="FFFFFF"/>
                </a:highlight>
                <a:latin typeface="Times New Roman" panose="02020603050405020304" pitchFamily="18" charset="0"/>
                <a:cs typeface="Times New Roman" panose="02020603050405020304" pitchFamily="18" charset="0"/>
              </a:rPr>
              <a:t>: Leveraging pre-trained deep neural network models trained on large datasets like ImageNet and fine-tuning them for specific tasks. This approach allows for effective feature extraction from images without needing to train a model from scratch.</a:t>
            </a:r>
          </a:p>
          <a:p>
            <a:pPr marL="514350" indent="-514350" algn="just">
              <a:spcAft>
                <a:spcPts val="600"/>
              </a:spcAft>
              <a:buFont typeface="+mj-lt"/>
              <a:buAutoNum type="arabicPeriod" startAt="4"/>
            </a:pPr>
            <a:r>
              <a:rPr lang="en-US" sz="2800" b="1" i="0" dirty="0">
                <a:solidFill>
                  <a:srgbClr val="0D0D0D"/>
                </a:solidFill>
                <a:effectLst/>
                <a:highlight>
                  <a:srgbClr val="FFFFFF"/>
                </a:highlight>
                <a:latin typeface="Times New Roman" panose="02020603050405020304" pitchFamily="18" charset="0"/>
                <a:cs typeface="Times New Roman" panose="02020603050405020304" pitchFamily="18" charset="0"/>
              </a:rPr>
              <a:t>Data Augmentation</a:t>
            </a:r>
            <a:r>
              <a:rPr lang="en-US" sz="2800" b="0" i="0" dirty="0">
                <a:solidFill>
                  <a:srgbClr val="0D0D0D"/>
                </a:solidFill>
                <a:effectLst/>
                <a:highlight>
                  <a:srgbClr val="FFFFFF"/>
                </a:highlight>
                <a:latin typeface="Times New Roman" panose="02020603050405020304" pitchFamily="18" charset="0"/>
                <a:cs typeface="Times New Roman" panose="02020603050405020304" pitchFamily="18" charset="0"/>
              </a:rPr>
              <a:t>: Generating additional training samples by applying random transformations such as rotation, flipping, or scaling to the input images. This helps to increase the diversity of the training data and improve model generalization.</a:t>
            </a:r>
          </a:p>
        </p:txBody>
      </p:sp>
    </p:spTree>
    <p:extLst>
      <p:ext uri="{BB962C8B-B14F-4D97-AF65-F5344CB8AC3E}">
        <p14:creationId xmlns:p14="http://schemas.microsoft.com/office/powerpoint/2010/main" val="4291980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42132</TotalTime>
  <Words>4116</Words>
  <Application>Microsoft Office PowerPoint</Application>
  <PresentationFormat>Widescreen</PresentationFormat>
  <Paragraphs>246</Paragraphs>
  <Slides>31</Slides>
  <Notes>30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Wingdings</vt:lpstr>
      <vt:lpstr>Times New Roman</vt:lpstr>
      <vt:lpstr>Courier New</vt:lpstr>
      <vt:lpstr>新細明體</vt:lpstr>
      <vt:lpstr>Arial</vt:lpstr>
      <vt:lpstr>Calibri</vt:lpstr>
      <vt:lpstr>Office Theme</vt:lpstr>
      <vt:lpstr>1_Office Theme</vt:lpstr>
      <vt:lpstr>Machine Learning in Computer Vision</vt:lpstr>
      <vt:lpstr>PowerPoint Presentation</vt:lpstr>
      <vt:lpstr>PowerPoint Presentation</vt:lpstr>
      <vt:lpstr>Machine Learning in Computer Vision…  Basic Requirements</vt:lpstr>
      <vt:lpstr>Traditional Handcrafted Approaches   K Nearest Neighbor (KNN)</vt:lpstr>
      <vt:lpstr>Traditional Handcrafted Approaches   Support Vector Machine (SVM)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zulfiqar.habib</dc:creator>
  <cp:lastModifiedBy>Dr. Zulfiqar Habib</cp:lastModifiedBy>
  <cp:revision>605</cp:revision>
  <dcterms:created xsi:type="dcterms:W3CDTF">2009-08-01T06:17:21Z</dcterms:created>
  <dcterms:modified xsi:type="dcterms:W3CDTF">2024-12-07T16:54:20Z</dcterms:modified>
</cp:coreProperties>
</file>