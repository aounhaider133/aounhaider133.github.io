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3.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4.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notesSlides/notesSlide5.xml" ContentType="application/vnd.openxmlformats-officedocument.presentationml.notesSlide+xml"/>
  <Override PartName="/ppt/tags/tag33.xml" ContentType="application/vnd.openxmlformats-officedocument.presentationml.tags+xml"/>
  <Override PartName="/ppt/notesSlides/notesSlide6.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7.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notesSlides/notesSlide8.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9.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10.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notesSlides/notesSlide11.xml" ContentType="application/vnd.openxmlformats-officedocument.presentationml.notesSlide+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107.xml" ContentType="application/vnd.openxmlformats-officedocument.presentationml.tags+xml"/>
  <Override PartName="/ppt/tags/tag108.xml" ContentType="application/vnd.openxmlformats-officedocument.presentationml.tags+xml"/>
  <Override PartName="/ppt/notesSlides/notesSlide46.xml" ContentType="application/vnd.openxmlformats-officedocument.presentationml.notesSlide+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notesSlides/notesSlide47.xml" ContentType="application/vnd.openxmlformats-officedocument.presentationml.notesSlide+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notesSlides/notesSlide48.xml" ContentType="application/vnd.openxmlformats-officedocument.presentationml.notesSlide+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9"/>
  </p:notesMasterIdLst>
  <p:handoutMasterIdLst>
    <p:handoutMasterId r:id="rId90"/>
  </p:handoutMasterIdLst>
  <p:sldIdLst>
    <p:sldId id="258" r:id="rId2"/>
    <p:sldId id="468" r:id="rId3"/>
    <p:sldId id="469" r:id="rId4"/>
    <p:sldId id="292" r:id="rId5"/>
    <p:sldId id="293" r:id="rId6"/>
    <p:sldId id="294" r:id="rId7"/>
    <p:sldId id="295" r:id="rId8"/>
    <p:sldId id="298" r:id="rId9"/>
    <p:sldId id="356" r:id="rId10"/>
    <p:sldId id="300" r:id="rId11"/>
    <p:sldId id="483" r:id="rId12"/>
    <p:sldId id="484" r:id="rId13"/>
    <p:sldId id="491" r:id="rId14"/>
    <p:sldId id="485" r:id="rId15"/>
    <p:sldId id="372" r:id="rId16"/>
    <p:sldId id="326" r:id="rId17"/>
    <p:sldId id="589" r:id="rId18"/>
    <p:sldId id="590" r:id="rId19"/>
    <p:sldId id="591" r:id="rId20"/>
    <p:sldId id="514" r:id="rId21"/>
    <p:sldId id="515" r:id="rId22"/>
    <p:sldId id="516" r:id="rId23"/>
    <p:sldId id="517" r:id="rId24"/>
    <p:sldId id="521" r:id="rId25"/>
    <p:sldId id="522" r:id="rId26"/>
    <p:sldId id="518" r:id="rId27"/>
    <p:sldId id="523" r:id="rId28"/>
    <p:sldId id="525" r:id="rId29"/>
    <p:sldId id="524" r:id="rId30"/>
    <p:sldId id="526" r:id="rId31"/>
    <p:sldId id="492" r:id="rId32"/>
    <p:sldId id="538" r:id="rId33"/>
    <p:sldId id="539" r:id="rId34"/>
    <p:sldId id="540" r:id="rId35"/>
    <p:sldId id="541" r:id="rId36"/>
    <p:sldId id="542" r:id="rId37"/>
    <p:sldId id="543" r:id="rId38"/>
    <p:sldId id="544" r:id="rId39"/>
    <p:sldId id="470" r:id="rId40"/>
    <p:sldId id="493" r:id="rId41"/>
    <p:sldId id="494" r:id="rId42"/>
    <p:sldId id="495" r:id="rId43"/>
    <p:sldId id="496" r:id="rId44"/>
    <p:sldId id="497" r:id="rId45"/>
    <p:sldId id="498" r:id="rId46"/>
    <p:sldId id="499" r:id="rId47"/>
    <p:sldId id="500" r:id="rId48"/>
    <p:sldId id="501" r:id="rId49"/>
    <p:sldId id="502" r:id="rId50"/>
    <p:sldId id="503" r:id="rId51"/>
    <p:sldId id="504" r:id="rId52"/>
    <p:sldId id="505" r:id="rId53"/>
    <p:sldId id="506" r:id="rId54"/>
    <p:sldId id="507" r:id="rId55"/>
    <p:sldId id="508" r:id="rId56"/>
    <p:sldId id="509" r:id="rId57"/>
    <p:sldId id="510" r:id="rId58"/>
    <p:sldId id="511" r:id="rId59"/>
    <p:sldId id="512" r:id="rId60"/>
    <p:sldId id="513" r:id="rId61"/>
    <p:sldId id="545" r:id="rId62"/>
    <p:sldId id="471" r:id="rId63"/>
    <p:sldId id="472" r:id="rId64"/>
    <p:sldId id="473" r:id="rId65"/>
    <p:sldId id="474" r:id="rId66"/>
    <p:sldId id="475" r:id="rId67"/>
    <p:sldId id="476" r:id="rId68"/>
    <p:sldId id="478" r:id="rId69"/>
    <p:sldId id="479" r:id="rId70"/>
    <p:sldId id="480" r:id="rId71"/>
    <p:sldId id="481" r:id="rId72"/>
    <p:sldId id="486" r:id="rId73"/>
    <p:sldId id="487" r:id="rId74"/>
    <p:sldId id="488" r:id="rId75"/>
    <p:sldId id="489" r:id="rId76"/>
    <p:sldId id="490" r:id="rId77"/>
    <p:sldId id="528" r:id="rId78"/>
    <p:sldId id="529" r:id="rId79"/>
    <p:sldId id="530" r:id="rId80"/>
    <p:sldId id="531" r:id="rId81"/>
    <p:sldId id="532" r:id="rId82"/>
    <p:sldId id="533" r:id="rId83"/>
    <p:sldId id="534" r:id="rId84"/>
    <p:sldId id="535" r:id="rId85"/>
    <p:sldId id="536" r:id="rId86"/>
    <p:sldId id="537" r:id="rId87"/>
    <p:sldId id="527" r:id="rId8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149" autoAdjust="0"/>
    <p:restoredTop sz="83553" autoAdjust="0"/>
  </p:normalViewPr>
  <p:slideViewPr>
    <p:cSldViewPr>
      <p:cViewPr varScale="1">
        <p:scale>
          <a:sx n="58" d="100"/>
          <a:sy n="58" d="100"/>
        </p:scale>
        <p:origin x="60" y="60"/>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handoutMaster" Target="handoutMasters/handout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4F2D81C-9F3F-45D8-B1BD-28852898DB9A}" type="datetimeFigureOut">
              <a:rPr lang="en-US" smtClean="0"/>
              <a:pPr/>
              <a:t>12/23/2024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438C4E7-7EED-4473-B602-F428C06DBB95}" type="slidenum">
              <a:rPr lang="en-US" smtClean="0"/>
              <a:pPr/>
              <a:t>‹#›</a:t>
            </a:fld>
            <a:endParaRPr lang="en-US"/>
          </a:p>
        </p:txBody>
      </p:sp>
    </p:spTree>
    <p:extLst>
      <p:ext uri="{BB962C8B-B14F-4D97-AF65-F5344CB8AC3E}">
        <p14:creationId xmlns:p14="http://schemas.microsoft.com/office/powerpoint/2010/main" val="17009321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2C77E45-76C1-48AC-8770-A01EE13E3D9C}" type="datetimeFigureOut">
              <a:rPr lang="en-US" smtClean="0"/>
              <a:pPr/>
              <a:t>12/23/2024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6308B8D-8E1E-4C22-9F0A-2468901663B5}" type="slidenum">
              <a:rPr lang="en-US" smtClean="0"/>
              <a:pPr/>
              <a:t>‹#›</a:t>
            </a:fld>
            <a:endParaRPr lang="en-US"/>
          </a:p>
        </p:txBody>
      </p:sp>
    </p:spTree>
    <p:extLst>
      <p:ext uri="{BB962C8B-B14F-4D97-AF65-F5344CB8AC3E}">
        <p14:creationId xmlns:p14="http://schemas.microsoft.com/office/powerpoint/2010/main" val="1822701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en.wikipedia.org/wiki/Optics" TargetMode="External"/><Relationship Id="rId7" Type="http://schemas.openxmlformats.org/officeDocument/2006/relationships/hyperlink" Target="https://en.wikipedia.org/wiki/Point_source#Light" TargetMode="External"/><Relationship Id="rId2" Type="http://schemas.openxmlformats.org/officeDocument/2006/relationships/slide" Target="../slides/slide9.xml"/><Relationship Id="rId1" Type="http://schemas.openxmlformats.org/officeDocument/2006/relationships/notesMaster" Target="../notesMasters/notesMaster1.xml"/><Relationship Id="rId6" Type="http://schemas.openxmlformats.org/officeDocument/2006/relationships/hyperlink" Target="https://en.wikipedia.org/wiki/Focus_(optics)" TargetMode="External"/><Relationship Id="rId5" Type="http://schemas.openxmlformats.org/officeDocument/2006/relationships/hyperlink" Target="https://en.wikipedia.org/wiki/Lens_(optics)" TargetMode="External"/><Relationship Id="rId4" Type="http://schemas.openxmlformats.org/officeDocument/2006/relationships/hyperlink" Target="https://en.wikipedia.org/wiki/Ray_(optics)"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en.wikipedia.org/wiki/Augmented_reality"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interestingengineering.com/ar-covid-19-glasses-allow-you-to-see-the-temperature-of-those-around-you" TargetMode="External"/><Relationship Id="rId2" Type="http://schemas.openxmlformats.org/officeDocument/2006/relationships/slide" Target="../slides/slide33.xml"/><Relationship Id="rId1" Type="http://schemas.openxmlformats.org/officeDocument/2006/relationships/notesMaster" Target="../notesMasters/notesMaster1.xml"/><Relationship Id="rId4" Type="http://schemas.openxmlformats.org/officeDocument/2006/relationships/hyperlink" Target="https://www.cubix.co/blog/5-real-world-applications-of-augmented-reality-you-hadnt-thought-of" TargetMode="Externa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s://interestingengineering.com/ar-covid-19-glasses-allow-you-to-see-the-temperature-of-those-around-you" TargetMode="External"/><Relationship Id="rId2" Type="http://schemas.openxmlformats.org/officeDocument/2006/relationships/slide" Target="../slides/slide34.xml"/><Relationship Id="rId1" Type="http://schemas.openxmlformats.org/officeDocument/2006/relationships/notesMaster" Target="../notesMasters/notesMaster1.xml"/><Relationship Id="rId4" Type="http://schemas.openxmlformats.org/officeDocument/2006/relationships/hyperlink" Target="https://www.cubix.co/blog/5-real-world-applications-of-augmented-reality-you-hadnt-thought-of" TargetMode="Externa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p>
            <a:fld id="{C0A65582-4299-4F07-BF45-CE1EE7ED33DA}" type="slidenum">
              <a:rPr lang="en-US" smtClean="0">
                <a:latin typeface="Times New Roman" pitchFamily="18" charset="0"/>
              </a:rPr>
              <a:pPr/>
              <a:t>1</a:t>
            </a:fld>
            <a:endParaRPr lang="en-US">
              <a:latin typeface="Times New Roman" pitchFamily="18" charset="0"/>
            </a:endParaRPr>
          </a:p>
        </p:txBody>
      </p:sp>
      <p:sp>
        <p:nvSpPr>
          <p:cNvPr id="55299" name="Rectangle 2"/>
          <p:cNvSpPr>
            <a:spLocks noGrp="1" noRot="1" noChangeAspect="1" noChangeArrowheads="1" noTextEdit="1"/>
          </p:cNvSpPr>
          <p:nvPr>
            <p:ph type="sldImg"/>
          </p:nvPr>
        </p:nvSpPr>
        <p:spPr>
          <a:xfrm>
            <a:off x="381000" y="685800"/>
            <a:ext cx="6096000" cy="3429000"/>
          </a:xfrm>
          <a:ln/>
        </p:spPr>
      </p:sp>
      <p:sp>
        <p:nvSpPr>
          <p:cNvPr id="55300" name="Rectangle 3"/>
          <p:cNvSpPr>
            <a:spLocks noGrp="1" noChangeArrowheads="1"/>
          </p:cNvSpPr>
          <p:nvPr>
            <p:ph type="body" idx="1"/>
          </p:nvPr>
        </p:nvSpPr>
        <p:spPr>
          <a:noFill/>
          <a:ln w="9525"/>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http://www.cs.cornell.edu/courses/cs6670/2009fa/lectures/lectures.html</a:t>
            </a:r>
          </a:p>
        </p:txBody>
      </p:sp>
    </p:spTree>
    <p:extLst>
      <p:ext uri="{BB962C8B-B14F-4D97-AF65-F5344CB8AC3E}">
        <p14:creationId xmlns:p14="http://schemas.microsoft.com/office/powerpoint/2010/main" val="27274788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16F558C8-A6DC-4DA8-96FF-4EDEC33D3B60}" type="slidenum">
              <a:rPr lang="en-US"/>
              <a:pPr fontAlgn="base">
                <a:spcBef>
                  <a:spcPct val="0"/>
                </a:spcBef>
                <a:spcAft>
                  <a:spcPct val="0"/>
                </a:spcAft>
              </a:pPr>
              <a:t>3</a:t>
            </a:fld>
            <a:endParaRPr lang="en-US"/>
          </a:p>
        </p:txBody>
      </p:sp>
      <p:sp>
        <p:nvSpPr>
          <p:cNvPr id="68611"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p:spPr>
      </p:sp>
      <p:sp>
        <p:nvSpPr>
          <p:cNvPr id="6861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a:p>
        </p:txBody>
      </p:sp>
    </p:spTree>
    <p:extLst>
      <p:ext uri="{BB962C8B-B14F-4D97-AF65-F5344CB8AC3E}">
        <p14:creationId xmlns:p14="http://schemas.microsoft.com/office/powerpoint/2010/main" val="2759538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p:spPr>
      </p:sp>
      <p:sp>
        <p:nvSpPr>
          <p:cNvPr id="3993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20080139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BE03D99C-B842-49FD-B4EE-729E3E8F8790}" type="slidenum">
              <a:rPr lang="en-US"/>
              <a:pPr fontAlgn="base">
                <a:spcBef>
                  <a:spcPct val="0"/>
                </a:spcBef>
                <a:spcAft>
                  <a:spcPct val="0"/>
                </a:spcAft>
              </a:pPr>
              <a:t>5</a:t>
            </a:fld>
            <a:endParaRPr lang="en-US"/>
          </a:p>
        </p:txBody>
      </p:sp>
      <p:sp>
        <p:nvSpPr>
          <p:cNvPr id="40963"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p:spPr>
      </p:sp>
      <p:sp>
        <p:nvSpPr>
          <p:cNvPr id="4096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It gets inverted</a:t>
            </a:r>
          </a:p>
        </p:txBody>
      </p:sp>
    </p:spTree>
    <p:extLst>
      <p:ext uri="{BB962C8B-B14F-4D97-AF65-F5344CB8AC3E}">
        <p14:creationId xmlns:p14="http://schemas.microsoft.com/office/powerpoint/2010/main" val="40496739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518D2862-4C2F-4E73-8C33-AB59050B6C01}" type="slidenum">
              <a:rPr lang="en-US"/>
              <a:pPr fontAlgn="base">
                <a:spcBef>
                  <a:spcPct val="0"/>
                </a:spcBef>
                <a:spcAft>
                  <a:spcPct val="0"/>
                </a:spcAft>
              </a:pPr>
              <a:t>6</a:t>
            </a:fld>
            <a:endParaRPr lang="en-US"/>
          </a:p>
        </p:txBody>
      </p:sp>
      <p:sp>
        <p:nvSpPr>
          <p:cNvPr id="41987"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p:spPr>
      </p:sp>
      <p:sp>
        <p:nvSpPr>
          <p:cNvPr id="4198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42875202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p:spPr>
      </p:sp>
      <p:sp>
        <p:nvSpPr>
          <p:cNvPr id="4301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30896372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p:spPr>
      </p:sp>
      <p:sp>
        <p:nvSpPr>
          <p:cNvPr id="4608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32757745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p:spPr>
      </p:sp>
      <p:sp>
        <p:nvSpPr>
          <p:cNvPr id="4710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In </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hlinkClick r:id="rId3" tooltip="Optics"/>
              </a:rPr>
              <a:t>optics</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 </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circle of confusion</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is an optical spot caused by a cone of light </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hlinkClick r:id="rId4" tooltip="Ray (optics)"/>
              </a:rPr>
              <a:t>rays</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from a </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hlinkClick r:id="rId5" tooltip="Lens (optics)"/>
              </a:rPr>
              <a:t>lens</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not coming to a perfect </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hlinkClick r:id="rId6" tooltip="Focus (optics)"/>
              </a:rPr>
              <a:t>focus</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when imaging a </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hlinkClick r:id="rId7" tooltip="Point source"/>
              </a:rPr>
              <a:t>point source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It is also known as </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disk of confusion</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circle of indistinctness</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blur circle</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 or </a:t>
            </a:r>
            <a:r>
              <a:rPr lang="en-US" sz="1200" b="1" i="0" kern="1200" dirty="0">
                <a:solidFill>
                  <a:schemeClr val="tx1"/>
                </a:solidFill>
                <a:effectLst/>
                <a:latin typeface="Times New Roman" panose="02020603050405020304" pitchFamily="18" charset="0"/>
                <a:ea typeface="+mn-ea"/>
                <a:cs typeface="Times New Roman" panose="02020603050405020304" pitchFamily="18" charset="0"/>
              </a:rPr>
              <a:t>blur spot</a:t>
            </a:r>
            <a:r>
              <a:rPr lang="en-US" sz="1200" b="0" i="0" kern="1200" dirty="0">
                <a:solidFill>
                  <a:schemeClr val="tx1"/>
                </a:solidFill>
                <a:effectLst/>
                <a:latin typeface="Times New Roman" panose="02020603050405020304" pitchFamily="18" charset="0"/>
                <a:ea typeface="+mn-ea"/>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25143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3337D62A-6333-46C5-85F7-797325ADEF90}" type="slidenum">
              <a:rPr lang="en-US"/>
              <a:pPr fontAlgn="base">
                <a:spcBef>
                  <a:spcPct val="0"/>
                </a:spcBef>
                <a:spcAft>
                  <a:spcPct val="0"/>
                </a:spcAft>
              </a:pPr>
              <a:t>10</a:t>
            </a:fld>
            <a:endParaRPr lang="en-US"/>
          </a:p>
        </p:txBody>
      </p:sp>
      <p:sp>
        <p:nvSpPr>
          <p:cNvPr id="48131"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p:spPr>
      </p:sp>
      <p:sp>
        <p:nvSpPr>
          <p:cNvPr id="4813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795073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p:spPr>
      </p:sp>
      <p:sp>
        <p:nvSpPr>
          <p:cNvPr id="4915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17265923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xfrm>
            <a:off x="381000" y="685800"/>
            <a:ext cx="6096000" cy="3429000"/>
          </a:xfrm>
          <a:ln/>
        </p:spPr>
      </p:sp>
      <p:sp>
        <p:nvSpPr>
          <p:cNvPr id="819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39979753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xfrm>
            <a:off x="381000" y="685800"/>
            <a:ext cx="6096000" cy="3429000"/>
          </a:xfrm>
          <a:ln/>
        </p:spPr>
      </p:sp>
      <p:sp>
        <p:nvSpPr>
          <p:cNvPr id="819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7578054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Being a little loose</a:t>
            </a:r>
            <a:r>
              <a:rPr lang="en-US" baseline="0" dirty="0"/>
              <a:t> about coordinates vs lengths u and v prime because they are in the same coordinate system as x, y, and z but in later slides u and v will be –u’ and –v’ because they are in their own coordinate system which is mirrored</a:t>
            </a:r>
            <a:endParaRPr lang="en-US" dirty="0"/>
          </a:p>
        </p:txBody>
      </p:sp>
      <p:sp>
        <p:nvSpPr>
          <p:cNvPr id="4" name="Slide Number Placeholder 3"/>
          <p:cNvSpPr>
            <a:spLocks noGrp="1"/>
          </p:cNvSpPr>
          <p:nvPr>
            <p:ph type="sldNum" sz="quarter" idx="10"/>
          </p:nvPr>
        </p:nvSpPr>
        <p:spPr/>
        <p:txBody>
          <a:bodyPr/>
          <a:lstStyle/>
          <a:p>
            <a:pPr>
              <a:defRPr/>
            </a:pPr>
            <a:fld id="{3EBB0408-F7D0-4348-886E-24DD55A4A6FC}" type="slidenum">
              <a:rPr lang="en-US" smtClean="0">
                <a:solidFill>
                  <a:prstClr val="black"/>
                </a:solidFill>
              </a:rPr>
              <a:pPr>
                <a:defRPr/>
              </a:pPr>
              <a:t>17</a:t>
            </a:fld>
            <a:endParaRPr lang="en-US">
              <a:solidFill>
                <a:prstClr val="black"/>
              </a:solidFill>
            </a:endParaRPr>
          </a:p>
        </p:txBody>
      </p:sp>
    </p:spTree>
    <p:extLst>
      <p:ext uri="{BB962C8B-B14F-4D97-AF65-F5344CB8AC3E}">
        <p14:creationId xmlns:p14="http://schemas.microsoft.com/office/powerpoint/2010/main" val="12444033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81E22-834B-1DD6-D40A-DAC6DE53E8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1F959B-FE6D-3B56-1BC5-F32AA6A1D27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F8A6F10-5E0C-E719-81D3-2CCB485873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1A69A5-7914-EB22-EB5F-E7AF281EFA75}"/>
              </a:ext>
            </a:extLst>
          </p:cNvPr>
          <p:cNvSpPr>
            <a:spLocks noGrp="1"/>
          </p:cNvSpPr>
          <p:nvPr>
            <p:ph type="sldNum" sz="quarter" idx="10"/>
          </p:nvPr>
        </p:nvSpPr>
        <p:spPr/>
        <p:txBody>
          <a:bodyPr/>
          <a:lstStyle/>
          <a:p>
            <a:pPr>
              <a:defRPr/>
            </a:pPr>
            <a:fld id="{3EBB0408-F7D0-4348-886E-24DD55A4A6FC}" type="slidenum">
              <a:rPr lang="en-US" smtClean="0">
                <a:solidFill>
                  <a:prstClr val="black"/>
                </a:solidFill>
              </a:rPr>
              <a:pPr>
                <a:defRPr/>
              </a:pPr>
              <a:t>18</a:t>
            </a:fld>
            <a:endParaRPr lang="en-US">
              <a:solidFill>
                <a:prstClr val="black"/>
              </a:solidFill>
            </a:endParaRPr>
          </a:p>
        </p:txBody>
      </p:sp>
    </p:spTree>
    <p:extLst>
      <p:ext uri="{BB962C8B-B14F-4D97-AF65-F5344CB8AC3E}">
        <p14:creationId xmlns:p14="http://schemas.microsoft.com/office/powerpoint/2010/main" val="26587744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https://youtu.be/qByYk6JggQU?si=nnoP2KIm_wUnJazP</a:t>
            </a:r>
          </a:p>
        </p:txBody>
      </p:sp>
      <p:sp>
        <p:nvSpPr>
          <p:cNvPr id="4" name="Slide Number Placeholder 3"/>
          <p:cNvSpPr>
            <a:spLocks noGrp="1"/>
          </p:cNvSpPr>
          <p:nvPr>
            <p:ph type="sldNum" sz="quarter" idx="5"/>
          </p:nvPr>
        </p:nvSpPr>
        <p:spPr/>
        <p:txBody>
          <a:bodyPr/>
          <a:lstStyle/>
          <a:p>
            <a:fld id="{76308B8D-8E1E-4C22-9F0A-2468901663B5}" type="slidenum">
              <a:rPr lang="en-US" smtClean="0"/>
              <a:pPr/>
              <a:t>19</a:t>
            </a:fld>
            <a:endParaRPr lang="en-US"/>
          </a:p>
        </p:txBody>
      </p:sp>
    </p:spTree>
    <p:extLst>
      <p:ext uri="{BB962C8B-B14F-4D97-AF65-F5344CB8AC3E}">
        <p14:creationId xmlns:p14="http://schemas.microsoft.com/office/powerpoint/2010/main" val="8423085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D33133F7-ABBC-4DA2-8E47-7A8706D9D034}" type="slidenum">
              <a:rPr lang="en-US" smtClean="0"/>
              <a:pPr/>
              <a:t>20</a:t>
            </a:fld>
            <a:endParaRPr lang="en-US"/>
          </a:p>
        </p:txBody>
      </p:sp>
    </p:spTree>
    <p:extLst>
      <p:ext uri="{BB962C8B-B14F-4D97-AF65-F5344CB8AC3E}">
        <p14:creationId xmlns:p14="http://schemas.microsoft.com/office/powerpoint/2010/main" val="35374616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D33133F7-ABBC-4DA2-8E47-7A8706D9D034}" type="slidenum">
              <a:rPr lang="en-US" smtClean="0"/>
              <a:pPr/>
              <a:t>21</a:t>
            </a:fld>
            <a:endParaRPr lang="en-US"/>
          </a:p>
        </p:txBody>
      </p:sp>
    </p:spTree>
    <p:extLst>
      <p:ext uri="{BB962C8B-B14F-4D97-AF65-F5344CB8AC3E}">
        <p14:creationId xmlns:p14="http://schemas.microsoft.com/office/powerpoint/2010/main" val="18711068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D33133F7-ABBC-4DA2-8E47-7A8706D9D034}" type="slidenum">
              <a:rPr lang="en-US" smtClean="0"/>
              <a:pPr/>
              <a:t>22</a:t>
            </a:fld>
            <a:endParaRPr lang="en-US"/>
          </a:p>
        </p:txBody>
      </p:sp>
    </p:spTree>
    <p:extLst>
      <p:ext uri="{BB962C8B-B14F-4D97-AF65-F5344CB8AC3E}">
        <p14:creationId xmlns:p14="http://schemas.microsoft.com/office/powerpoint/2010/main" val="42492239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D33133F7-ABBC-4DA2-8E47-7A8706D9D034}" type="slidenum">
              <a:rPr lang="en-US" smtClean="0"/>
              <a:pPr/>
              <a:t>23</a:t>
            </a:fld>
            <a:endParaRPr lang="en-US"/>
          </a:p>
        </p:txBody>
      </p:sp>
    </p:spTree>
    <p:extLst>
      <p:ext uri="{BB962C8B-B14F-4D97-AF65-F5344CB8AC3E}">
        <p14:creationId xmlns:p14="http://schemas.microsoft.com/office/powerpoint/2010/main" val="36597531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D33133F7-ABBC-4DA2-8E47-7A8706D9D034}" type="slidenum">
              <a:rPr lang="en-US" smtClean="0"/>
              <a:pPr/>
              <a:t>24</a:t>
            </a:fld>
            <a:endParaRPr lang="en-US"/>
          </a:p>
        </p:txBody>
      </p:sp>
    </p:spTree>
    <p:extLst>
      <p:ext uri="{BB962C8B-B14F-4D97-AF65-F5344CB8AC3E}">
        <p14:creationId xmlns:p14="http://schemas.microsoft.com/office/powerpoint/2010/main" val="18315655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D33133F7-ABBC-4DA2-8E47-7A8706D9D034}" type="slidenum">
              <a:rPr lang="en-US" smtClean="0"/>
              <a:pPr/>
              <a:t>25</a:t>
            </a:fld>
            <a:endParaRPr lang="en-US"/>
          </a:p>
        </p:txBody>
      </p:sp>
    </p:spTree>
    <p:extLst>
      <p:ext uri="{BB962C8B-B14F-4D97-AF65-F5344CB8AC3E}">
        <p14:creationId xmlns:p14="http://schemas.microsoft.com/office/powerpoint/2010/main" val="41398425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D33133F7-ABBC-4DA2-8E47-7A8706D9D034}" type="slidenum">
              <a:rPr lang="en-US" smtClean="0"/>
              <a:pPr/>
              <a:t>26</a:t>
            </a:fld>
            <a:endParaRPr lang="en-US"/>
          </a:p>
        </p:txBody>
      </p:sp>
    </p:spTree>
    <p:extLst>
      <p:ext uri="{BB962C8B-B14F-4D97-AF65-F5344CB8AC3E}">
        <p14:creationId xmlns:p14="http://schemas.microsoft.com/office/powerpoint/2010/main" val="3576770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D33133F7-ABBC-4DA2-8E47-7A8706D9D034}" type="slidenum">
              <a:rPr lang="en-US" smtClean="0"/>
              <a:pPr/>
              <a:t>27</a:t>
            </a:fld>
            <a:endParaRPr lang="en-US"/>
          </a:p>
        </p:txBody>
      </p:sp>
    </p:spTree>
    <p:extLst>
      <p:ext uri="{BB962C8B-B14F-4D97-AF65-F5344CB8AC3E}">
        <p14:creationId xmlns:p14="http://schemas.microsoft.com/office/powerpoint/2010/main" val="20576487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D33133F7-ABBC-4DA2-8E47-7A8706D9D034}" type="slidenum">
              <a:rPr lang="en-US" smtClean="0"/>
              <a:pPr/>
              <a:t>28</a:t>
            </a:fld>
            <a:endParaRPr lang="en-US"/>
          </a:p>
        </p:txBody>
      </p:sp>
    </p:spTree>
    <p:extLst>
      <p:ext uri="{BB962C8B-B14F-4D97-AF65-F5344CB8AC3E}">
        <p14:creationId xmlns:p14="http://schemas.microsoft.com/office/powerpoint/2010/main" val="30008792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D33133F7-ABBC-4DA2-8E47-7A8706D9D034}" type="slidenum">
              <a:rPr lang="en-US" smtClean="0"/>
              <a:pPr/>
              <a:t>29</a:t>
            </a:fld>
            <a:endParaRPr lang="en-US"/>
          </a:p>
        </p:txBody>
      </p:sp>
    </p:spTree>
    <p:extLst>
      <p:ext uri="{BB962C8B-B14F-4D97-AF65-F5344CB8AC3E}">
        <p14:creationId xmlns:p14="http://schemas.microsoft.com/office/powerpoint/2010/main" val="19583701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D33133F7-ABBC-4DA2-8E47-7A8706D9D034}" type="slidenum">
              <a:rPr lang="en-US" smtClean="0"/>
              <a:pPr/>
              <a:t>30</a:t>
            </a:fld>
            <a:endParaRPr lang="en-US"/>
          </a:p>
        </p:txBody>
      </p:sp>
    </p:spTree>
    <p:extLst>
      <p:ext uri="{BB962C8B-B14F-4D97-AF65-F5344CB8AC3E}">
        <p14:creationId xmlns:p14="http://schemas.microsoft.com/office/powerpoint/2010/main" val="21237161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MatLab</a:t>
            </a:r>
            <a:r>
              <a:rPr lang="en-US" dirty="0"/>
              <a:t>: </a:t>
            </a:r>
            <a:r>
              <a:rPr lang="en-US" dirty="0" err="1"/>
              <a:t>EvaluatingCameraCalibrationExample.mlx</a:t>
            </a:r>
            <a:endParaRPr lang="en-US" dirty="0"/>
          </a:p>
          <a:p>
            <a:r>
              <a:rPr lang="en-US" sz="1200" b="0" i="0" kern="1200" dirty="0">
                <a:solidFill>
                  <a:schemeClr val="tx1"/>
                </a:solidFill>
                <a:effectLst/>
                <a:latin typeface="+mn-lt"/>
                <a:ea typeface="+mn-ea"/>
                <a:cs typeface="+mn-cs"/>
              </a:rPr>
              <a:t>[1] Z. Zhang. A flexible new technique for camera calibration. IEEE Transactions on Pattern Analysis and Machine Intelligence, 22(11):1330-1334, 2000.</a:t>
            </a:r>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31</a:t>
            </a:fld>
            <a:endParaRPr lang="en-US"/>
          </a:p>
        </p:txBody>
      </p:sp>
    </p:spTree>
    <p:extLst>
      <p:ext uri="{BB962C8B-B14F-4D97-AF65-F5344CB8AC3E}">
        <p14:creationId xmlns:p14="http://schemas.microsoft.com/office/powerpoint/2010/main" val="9047949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https://en.wikipedia.org/wiki/Augmented_reality</a:t>
            </a:r>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32</a:t>
            </a:fld>
            <a:endParaRPr lang="en-US"/>
          </a:p>
        </p:txBody>
      </p:sp>
    </p:spTree>
    <p:extLst>
      <p:ext uri="{BB962C8B-B14F-4D97-AF65-F5344CB8AC3E}">
        <p14:creationId xmlns:p14="http://schemas.microsoft.com/office/powerpoint/2010/main" val="30285156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https://interestingengineering.com/ar-covid-19-glasses-allow-you-to-see-the-temperature-of-those-around-you</a:t>
            </a:r>
            <a:endParaRPr lang="en-US" dirty="0">
              <a:hlinkClick r:id="rId4"/>
            </a:endParaRPr>
          </a:p>
          <a:p>
            <a:r>
              <a:rPr lang="en-US" dirty="0">
                <a:hlinkClick r:id="rId4"/>
              </a:rPr>
              <a:t>https://www.cubix.co/blog/5-real-world-applications-of-augmented-reality-you-hadnt-thought-of</a:t>
            </a:r>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33</a:t>
            </a:fld>
            <a:endParaRPr lang="en-US"/>
          </a:p>
        </p:txBody>
      </p:sp>
    </p:spTree>
    <p:extLst>
      <p:ext uri="{BB962C8B-B14F-4D97-AF65-F5344CB8AC3E}">
        <p14:creationId xmlns:p14="http://schemas.microsoft.com/office/powerpoint/2010/main" val="28853274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https://interestingengineering.com/ar-covid-19-glasses-allow-you-to-see-the-temperature-of-those-around-you</a:t>
            </a:r>
            <a:endParaRPr lang="en-US" dirty="0">
              <a:hlinkClick r:id="rId4"/>
            </a:endParaRPr>
          </a:p>
          <a:p>
            <a:r>
              <a:rPr lang="en-US" dirty="0">
                <a:hlinkClick r:id="rId4"/>
              </a:rPr>
              <a:t>https://www.cubix.co/blog/5-real-world-applications-of-augmented-reality-you-hadnt-thought-of</a:t>
            </a:r>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34</a:t>
            </a:fld>
            <a:endParaRPr lang="en-US"/>
          </a:p>
        </p:txBody>
      </p:sp>
    </p:spTree>
    <p:extLst>
      <p:ext uri="{BB962C8B-B14F-4D97-AF65-F5344CB8AC3E}">
        <p14:creationId xmlns:p14="http://schemas.microsoft.com/office/powerpoint/2010/main" val="24160003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35</a:t>
            </a:fld>
            <a:endParaRPr lang="en-US"/>
          </a:p>
        </p:txBody>
      </p:sp>
    </p:spTree>
    <p:extLst>
      <p:ext uri="{BB962C8B-B14F-4D97-AF65-F5344CB8AC3E}">
        <p14:creationId xmlns:p14="http://schemas.microsoft.com/office/powerpoint/2010/main" val="41748274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36</a:t>
            </a:fld>
            <a:endParaRPr lang="en-US"/>
          </a:p>
        </p:txBody>
      </p:sp>
    </p:spTree>
    <p:extLst>
      <p:ext uri="{BB962C8B-B14F-4D97-AF65-F5344CB8AC3E}">
        <p14:creationId xmlns:p14="http://schemas.microsoft.com/office/powerpoint/2010/main" val="35550275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https://www.linkedin.com/pulse/google-glass-revival-visr-vr?trk=article-ssr-frontend-pulse_more-articles_related-content-card</a:t>
            </a:r>
          </a:p>
        </p:txBody>
      </p:sp>
      <p:sp>
        <p:nvSpPr>
          <p:cNvPr id="4" name="Slide Number Placeholder 3"/>
          <p:cNvSpPr>
            <a:spLocks noGrp="1"/>
          </p:cNvSpPr>
          <p:nvPr>
            <p:ph type="sldNum" sz="quarter" idx="10"/>
          </p:nvPr>
        </p:nvSpPr>
        <p:spPr/>
        <p:txBody>
          <a:bodyPr/>
          <a:lstStyle/>
          <a:p>
            <a:fld id="{76308B8D-8E1E-4C22-9F0A-2468901663B5}" type="slidenum">
              <a:rPr lang="en-US" smtClean="0"/>
              <a:pPr/>
              <a:t>37</a:t>
            </a:fld>
            <a:endParaRPr lang="en-US"/>
          </a:p>
        </p:txBody>
      </p:sp>
    </p:spTree>
    <p:extLst>
      <p:ext uri="{BB962C8B-B14F-4D97-AF65-F5344CB8AC3E}">
        <p14:creationId xmlns:p14="http://schemas.microsoft.com/office/powerpoint/2010/main" val="16296530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01372-C9EC-5A10-F27F-B082DEE10E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D65745-E045-9747-C88B-0D2CEF3F0A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4BE4DF-2F80-A19B-50EB-2B66B4D1D5A3}"/>
              </a:ext>
            </a:extLst>
          </p:cNvPr>
          <p:cNvSpPr>
            <a:spLocks noGrp="1"/>
          </p:cNvSpPr>
          <p:nvPr>
            <p:ph type="body" idx="1"/>
          </p:nvPr>
        </p:nvSpPr>
        <p:spPr/>
        <p:txBody>
          <a:bodyPr/>
          <a:lstStyle/>
          <a:p>
            <a:r>
              <a:rPr lang="en-US" dirty="0"/>
              <a:t>https://www.linkedin.com/pulse/google-glass-revival-visr-vr?trk=article-ssr-frontend-pulse_more-articles_related-content-card</a:t>
            </a:r>
          </a:p>
        </p:txBody>
      </p:sp>
      <p:sp>
        <p:nvSpPr>
          <p:cNvPr id="4" name="Slide Number Placeholder 3">
            <a:extLst>
              <a:ext uri="{FF2B5EF4-FFF2-40B4-BE49-F238E27FC236}">
                <a16:creationId xmlns:a16="http://schemas.microsoft.com/office/drawing/2014/main" id="{0981DB84-060B-7987-E8DA-3E8CA4178919}"/>
              </a:ext>
            </a:extLst>
          </p:cNvPr>
          <p:cNvSpPr>
            <a:spLocks noGrp="1"/>
          </p:cNvSpPr>
          <p:nvPr>
            <p:ph type="sldNum" sz="quarter" idx="10"/>
          </p:nvPr>
        </p:nvSpPr>
        <p:spPr/>
        <p:txBody>
          <a:bodyPr/>
          <a:lstStyle/>
          <a:p>
            <a:fld id="{76308B8D-8E1E-4C22-9F0A-2468901663B5}" type="slidenum">
              <a:rPr lang="en-US" smtClean="0"/>
              <a:pPr/>
              <a:t>38</a:t>
            </a:fld>
            <a:endParaRPr lang="en-US"/>
          </a:p>
        </p:txBody>
      </p:sp>
    </p:spTree>
    <p:extLst>
      <p:ext uri="{BB962C8B-B14F-4D97-AF65-F5344CB8AC3E}">
        <p14:creationId xmlns:p14="http://schemas.microsoft.com/office/powerpoint/2010/main" val="28980060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http://www.cs.nott.ac.uk/~tpp/teaching.htm</a:t>
            </a:r>
          </a:p>
        </p:txBody>
      </p:sp>
      <p:sp>
        <p:nvSpPr>
          <p:cNvPr id="4" name="Slide Number Placeholder 3"/>
          <p:cNvSpPr>
            <a:spLocks noGrp="1"/>
          </p:cNvSpPr>
          <p:nvPr>
            <p:ph type="sldNum" sz="quarter" idx="10"/>
          </p:nvPr>
        </p:nvSpPr>
        <p:spPr/>
        <p:txBody>
          <a:bodyPr/>
          <a:lstStyle/>
          <a:p>
            <a:fld id="{76308B8D-8E1E-4C22-9F0A-2468901663B5}" type="slidenum">
              <a:rPr lang="en-US" smtClean="0"/>
              <a:pPr/>
              <a:t>40</a:t>
            </a:fld>
            <a:endParaRPr lang="en-US"/>
          </a:p>
        </p:txBody>
      </p:sp>
    </p:spTree>
    <p:extLst>
      <p:ext uri="{BB962C8B-B14F-4D97-AF65-F5344CB8AC3E}">
        <p14:creationId xmlns:p14="http://schemas.microsoft.com/office/powerpoint/2010/main" val="32487565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48</a:t>
            </a:fld>
            <a:endParaRPr lang="en-US"/>
          </a:p>
        </p:txBody>
      </p:sp>
    </p:spTree>
    <p:extLst>
      <p:ext uri="{BB962C8B-B14F-4D97-AF65-F5344CB8AC3E}">
        <p14:creationId xmlns:p14="http://schemas.microsoft.com/office/powerpoint/2010/main" val="143355721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camera with a focal length of 1.5 is </a:t>
            </a:r>
            <a:r>
              <a:rPr lang="en-US" sz="1200" dirty="0"/>
              <a:t>located at (2, 5, 7) and</a:t>
            </a:r>
            <a:r>
              <a:rPr lang="en-US" dirty="0"/>
              <a:t> has its viewing direction aligned with the vector (1, 1, 0)</a:t>
            </a:r>
            <a:r>
              <a:rPr lang="en-US" sz="1200" dirty="0"/>
              <a:t>. </a:t>
            </a:r>
            <a:r>
              <a:rPr lang="en-US" dirty="0"/>
              <a:t>Where will the world point (2, 6, 5) appear on the camera plane?</a:t>
            </a:r>
          </a:p>
        </p:txBody>
      </p:sp>
      <p:sp>
        <p:nvSpPr>
          <p:cNvPr id="4" name="Slide Number Placeholder 3"/>
          <p:cNvSpPr>
            <a:spLocks noGrp="1"/>
          </p:cNvSpPr>
          <p:nvPr>
            <p:ph type="sldNum" sz="quarter" idx="5"/>
          </p:nvPr>
        </p:nvSpPr>
        <p:spPr/>
        <p:txBody>
          <a:bodyPr/>
          <a:lstStyle/>
          <a:p>
            <a:fld id="{76308B8D-8E1E-4C22-9F0A-2468901663B5}" type="slidenum">
              <a:rPr lang="en-US" smtClean="0"/>
              <a:pPr/>
              <a:t>52</a:t>
            </a:fld>
            <a:endParaRPr lang="en-US"/>
          </a:p>
        </p:txBody>
      </p:sp>
    </p:spTree>
    <p:extLst>
      <p:ext uri="{BB962C8B-B14F-4D97-AF65-F5344CB8AC3E}">
        <p14:creationId xmlns:p14="http://schemas.microsoft.com/office/powerpoint/2010/main" val="24216169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Projection.ipynb</a:t>
            </a:r>
            <a:endParaRPr lang="LID4096" dirty="0"/>
          </a:p>
        </p:txBody>
      </p:sp>
      <p:sp>
        <p:nvSpPr>
          <p:cNvPr id="4" name="Slide Number Placeholder 3"/>
          <p:cNvSpPr>
            <a:spLocks noGrp="1"/>
          </p:cNvSpPr>
          <p:nvPr>
            <p:ph type="sldNum" sz="quarter" idx="5"/>
          </p:nvPr>
        </p:nvSpPr>
        <p:spPr/>
        <p:txBody>
          <a:bodyPr/>
          <a:lstStyle/>
          <a:p>
            <a:fld id="{76308B8D-8E1E-4C22-9F0A-2468901663B5}" type="slidenum">
              <a:rPr lang="en-US" smtClean="0"/>
              <a:pPr/>
              <a:t>61</a:t>
            </a:fld>
            <a:endParaRPr lang="en-US"/>
          </a:p>
        </p:txBody>
      </p:sp>
    </p:spTree>
    <p:extLst>
      <p:ext uri="{BB962C8B-B14F-4D97-AF65-F5344CB8AC3E}">
        <p14:creationId xmlns:p14="http://schemas.microsoft.com/office/powerpoint/2010/main" val="5058792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8A88EC54-F4B0-4C49-B7D5-103BAB41AC4C}" type="slidenum">
              <a:rPr lang="en-US"/>
              <a:pPr fontAlgn="base">
                <a:spcBef>
                  <a:spcPct val="0"/>
                </a:spcBef>
                <a:spcAft>
                  <a:spcPct val="0"/>
                </a:spcAft>
              </a:pPr>
              <a:t>64</a:t>
            </a:fld>
            <a:endParaRPr lang="en-US"/>
          </a:p>
        </p:txBody>
      </p:sp>
      <p:sp>
        <p:nvSpPr>
          <p:cNvPr id="54275"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p:spPr>
      </p:sp>
      <p:sp>
        <p:nvSpPr>
          <p:cNvPr id="5427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300285173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B80FECBE-DFC6-4B9D-ACB2-3478FED5C4B8}" type="slidenum">
              <a:rPr lang="en-US"/>
              <a:pPr fontAlgn="base">
                <a:spcBef>
                  <a:spcPct val="0"/>
                </a:spcBef>
                <a:spcAft>
                  <a:spcPct val="0"/>
                </a:spcAft>
              </a:pPr>
              <a:t>65</a:t>
            </a:fld>
            <a:endParaRPr lang="en-US"/>
          </a:p>
        </p:txBody>
      </p:sp>
      <p:sp>
        <p:nvSpPr>
          <p:cNvPr id="55299"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p:spPr>
      </p:sp>
      <p:sp>
        <p:nvSpPr>
          <p:cNvPr id="5530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39108581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3232888A-BCEB-4ACA-A245-2ECE474CDA3D}" type="slidenum">
              <a:rPr lang="en-US"/>
              <a:pPr fontAlgn="base">
                <a:spcBef>
                  <a:spcPct val="0"/>
                </a:spcBef>
                <a:spcAft>
                  <a:spcPct val="0"/>
                </a:spcAft>
              </a:pPr>
              <a:t>66</a:t>
            </a:fld>
            <a:endParaRPr lang="en-US"/>
          </a:p>
        </p:txBody>
      </p:sp>
      <p:sp>
        <p:nvSpPr>
          <p:cNvPr id="56323"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p:spPr>
      </p:sp>
      <p:sp>
        <p:nvSpPr>
          <p:cNvPr id="5632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285659727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7765CD4E-5351-48D6-B1AE-A6A55A622C3A}" type="slidenum">
              <a:rPr lang="en-US"/>
              <a:pPr fontAlgn="base">
                <a:spcBef>
                  <a:spcPct val="0"/>
                </a:spcBef>
                <a:spcAft>
                  <a:spcPct val="0"/>
                </a:spcAft>
              </a:pPr>
              <a:t>67</a:t>
            </a:fld>
            <a:endParaRPr lang="en-US"/>
          </a:p>
        </p:txBody>
      </p:sp>
      <p:sp>
        <p:nvSpPr>
          <p:cNvPr id="57347"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p:spPr>
      </p:sp>
      <p:sp>
        <p:nvSpPr>
          <p:cNvPr id="5734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163485771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F9B95CF-79CB-40DC-911F-4EA5D40A54B2}" type="slidenum">
              <a:rPr lang="en-US"/>
              <a:pPr fontAlgn="base">
                <a:spcBef>
                  <a:spcPct val="0"/>
                </a:spcBef>
                <a:spcAft>
                  <a:spcPct val="0"/>
                </a:spcAft>
              </a:pPr>
              <a:t>68</a:t>
            </a:fld>
            <a:endParaRPr lang="en-US"/>
          </a:p>
        </p:txBody>
      </p:sp>
      <p:sp>
        <p:nvSpPr>
          <p:cNvPr id="59395"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p:spPr>
      </p:sp>
      <p:sp>
        <p:nvSpPr>
          <p:cNvPr id="5939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127923606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D24CFA5C-23C6-4F79-A7AB-8A37728C0869}" type="slidenum">
              <a:rPr lang="en-US"/>
              <a:pPr fontAlgn="base">
                <a:spcBef>
                  <a:spcPct val="0"/>
                </a:spcBef>
                <a:spcAft>
                  <a:spcPct val="0"/>
                </a:spcAft>
              </a:pPr>
              <a:t>69</a:t>
            </a:fld>
            <a:endParaRPr lang="en-US"/>
          </a:p>
        </p:txBody>
      </p:sp>
      <p:sp>
        <p:nvSpPr>
          <p:cNvPr id="60419"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p:spPr>
      </p:sp>
      <p:sp>
        <p:nvSpPr>
          <p:cNvPr id="6042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417669432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9D43EECF-B9DA-4EDE-B817-2416CF102DE4}" type="slidenum">
              <a:rPr lang="en-US"/>
              <a:pPr fontAlgn="base">
                <a:spcBef>
                  <a:spcPct val="0"/>
                </a:spcBef>
                <a:spcAft>
                  <a:spcPct val="0"/>
                </a:spcAft>
              </a:pPr>
              <a:t>70</a:t>
            </a:fld>
            <a:endParaRPr lang="en-US"/>
          </a:p>
        </p:txBody>
      </p:sp>
      <p:sp>
        <p:nvSpPr>
          <p:cNvPr id="61443"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p:spPr>
      </p:sp>
      <p:sp>
        <p:nvSpPr>
          <p:cNvPr id="6144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201460792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1B2E4B17-DF13-4F17-9BCD-E21B20EC2BCE}" type="slidenum">
              <a:rPr lang="en-US"/>
              <a:pPr fontAlgn="base">
                <a:spcBef>
                  <a:spcPct val="0"/>
                </a:spcBef>
                <a:spcAft>
                  <a:spcPct val="0"/>
                </a:spcAft>
              </a:pPr>
              <a:t>73</a:t>
            </a:fld>
            <a:endParaRPr lang="en-US"/>
          </a:p>
        </p:txBody>
      </p:sp>
      <p:sp>
        <p:nvSpPr>
          <p:cNvPr id="51203"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p:spPr>
      </p:sp>
      <p:sp>
        <p:nvSpPr>
          <p:cNvPr id="5120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dirty="0"/>
              <a:t>Note that the retina is curved</a:t>
            </a:r>
          </a:p>
        </p:txBody>
      </p:sp>
    </p:spTree>
    <p:extLst>
      <p:ext uri="{BB962C8B-B14F-4D97-AF65-F5344CB8AC3E}">
        <p14:creationId xmlns:p14="http://schemas.microsoft.com/office/powerpoint/2010/main" val="266506593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xfrm>
            <a:off x="381000" y="685800"/>
            <a:ext cx="6096000" cy="3429000"/>
          </a:xfrm>
          <a:ln/>
        </p:spPr>
      </p:sp>
      <p:sp>
        <p:nvSpPr>
          <p:cNvPr id="839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311287816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E760AB7B-778A-461B-AFDE-F57432223CCE}" type="slidenum">
              <a:rPr lang="en-US"/>
              <a:pPr fontAlgn="base">
                <a:spcBef>
                  <a:spcPct val="0"/>
                </a:spcBef>
                <a:spcAft>
                  <a:spcPct val="0"/>
                </a:spcAft>
              </a:pPr>
              <a:t>85</a:t>
            </a:fld>
            <a:endParaRPr lang="en-US"/>
          </a:p>
        </p:txBody>
      </p:sp>
      <p:sp>
        <p:nvSpPr>
          <p:cNvPr id="45059"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p:spPr>
      </p:sp>
      <p:sp>
        <p:nvSpPr>
          <p:cNvPr id="4506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395739256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E760AB7B-778A-461B-AFDE-F57432223CCE}" type="slidenum">
              <a:rPr lang="en-US"/>
              <a:pPr fontAlgn="base">
                <a:spcBef>
                  <a:spcPct val="0"/>
                </a:spcBef>
                <a:spcAft>
                  <a:spcPct val="0"/>
                </a:spcAft>
              </a:pPr>
              <a:t>86</a:t>
            </a:fld>
            <a:endParaRPr lang="en-US"/>
          </a:p>
        </p:txBody>
      </p:sp>
      <p:sp>
        <p:nvSpPr>
          <p:cNvPr id="45059" name="Rectangle 2"/>
          <p:cNvSpPr>
            <a:spLocks noGrp="1" noRot="1" noChangeAspect="1" noChangeArrowheads="1" noTextEdit="1"/>
          </p:cNvSpPr>
          <p:nvPr>
            <p:ph type="sldImg"/>
          </p:nvPr>
        </p:nvSpPr>
        <p:spPr bwMode="auto">
          <a:xfrm>
            <a:off x="381000" y="685800"/>
            <a:ext cx="6096000" cy="3429000"/>
          </a:xfrm>
          <a:noFill/>
          <a:ln>
            <a:solidFill>
              <a:srgbClr val="000000"/>
            </a:solidFill>
            <a:miter lim="800000"/>
            <a:headEnd/>
            <a:tailEnd/>
          </a:ln>
        </p:spPr>
      </p:sp>
      <p:sp>
        <p:nvSpPr>
          <p:cNvPr id="4506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dirty="0"/>
              <a:t>http://cs.brown.edu/courses/cs143/lectures/02.pptx</a:t>
            </a:r>
          </a:p>
        </p:txBody>
      </p:sp>
    </p:spTree>
    <p:extLst>
      <p:ext uri="{BB962C8B-B14F-4D97-AF65-F5344CB8AC3E}">
        <p14:creationId xmlns:p14="http://schemas.microsoft.com/office/powerpoint/2010/main" val="383747389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MatLab</a:t>
            </a:r>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87</a:t>
            </a:fld>
            <a:endParaRPr lang="en-US"/>
          </a:p>
        </p:txBody>
      </p:sp>
    </p:spTree>
    <p:extLst>
      <p:ext uri="{BB962C8B-B14F-4D97-AF65-F5344CB8AC3E}">
        <p14:creationId xmlns:p14="http://schemas.microsoft.com/office/powerpoint/2010/main" val="31867690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9581" y="142852"/>
            <a:ext cx="10458451" cy="857256"/>
          </a:xfrm>
        </p:spPr>
        <p:txBody>
          <a:bodyPr>
            <a:normAutofit/>
          </a:bodyPr>
          <a:lstStyle>
            <a:lvl1pPr algn="l">
              <a:defRPr sz="4400"/>
            </a:lvl1pPr>
          </a:lstStyle>
          <a:p>
            <a:r>
              <a:rPr lang="en-US" dirty="0"/>
              <a:t>Click to edit Master title style</a:t>
            </a:r>
          </a:p>
        </p:txBody>
      </p:sp>
      <p:sp>
        <p:nvSpPr>
          <p:cNvPr id="3" name="Subtitle 2"/>
          <p:cNvSpPr>
            <a:spLocks noGrp="1"/>
          </p:cNvSpPr>
          <p:nvPr>
            <p:ph type="subTitle" idx="1"/>
          </p:nvPr>
        </p:nvSpPr>
        <p:spPr>
          <a:xfrm>
            <a:off x="190459" y="1285860"/>
            <a:ext cx="11715832" cy="5357850"/>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xfrm>
            <a:off x="914400" y="6248400"/>
            <a:ext cx="2540000" cy="457200"/>
          </a:xfrm>
          <a:prstGeom prst="rect">
            <a:avLst/>
          </a:prstGeom>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4165600" y="6248400"/>
            <a:ext cx="3860800" cy="4572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xfrm>
            <a:off x="8737600" y="6248400"/>
            <a:ext cx="2540000" cy="457200"/>
          </a:xfrm>
          <a:prstGeom prst="rect">
            <a:avLst/>
          </a:prstGeom>
          <a:ln/>
        </p:spPr>
        <p:txBody>
          <a:bodyPr/>
          <a:lstStyle>
            <a:lvl1pPr>
              <a:defRPr/>
            </a:lvl1pPr>
          </a:lstStyle>
          <a:p>
            <a:pPr>
              <a:defRPr/>
            </a:pPr>
            <a:fld id="{65ADB57C-6D7F-48E5-AFBD-A4B4CCF6ABD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a:xfrm>
            <a:off x="609600" y="6356351"/>
            <a:ext cx="2844800" cy="365125"/>
          </a:xfrm>
          <a:prstGeom prst="rect">
            <a:avLst/>
          </a:prstGeom>
        </p:spPr>
        <p:txBody>
          <a:bodyPr/>
          <a:lstStyle>
            <a:lvl1pPr>
              <a:defRPr/>
            </a:lvl1pPr>
          </a:lstStyle>
          <a:p>
            <a:pPr>
              <a:defRPr/>
            </a:pPr>
            <a:fld id="{8D7778C1-D67D-450D-B51F-D1451A7F4758}" type="datetimeFigureOut">
              <a:rPr lang="en-US"/>
              <a:pPr>
                <a:defRPr/>
              </a:pPr>
              <a:t>12/23/2024</a:t>
            </a:fld>
            <a:endParaRPr lang="en-US"/>
          </a:p>
        </p:txBody>
      </p:sp>
      <p:sp>
        <p:nvSpPr>
          <p:cNvPr id="4" name="Footer Placeholder 4"/>
          <p:cNvSpPr>
            <a:spLocks noGrp="1"/>
          </p:cNvSpPr>
          <p:nvPr>
            <p:ph type="ftr" sz="quarter" idx="11"/>
          </p:nvPr>
        </p:nvSpPr>
        <p:spPr>
          <a:xfrm>
            <a:off x="4165600" y="6356351"/>
            <a:ext cx="3860800" cy="365125"/>
          </a:xfrm>
          <a:prstGeom prst="rect">
            <a:avLst/>
          </a:prstGeom>
        </p:spPr>
        <p:txBody>
          <a:bodyPr/>
          <a:lstStyle>
            <a:lvl1pPr>
              <a:defRPr/>
            </a:lvl1pPr>
          </a:lstStyle>
          <a:p>
            <a:pPr>
              <a:defRPr/>
            </a:pPr>
            <a:endParaRPr lang="en-US"/>
          </a:p>
        </p:txBody>
      </p:sp>
      <p:sp>
        <p:nvSpPr>
          <p:cNvPr id="5" name="Slide Number Placeholder 5"/>
          <p:cNvSpPr>
            <a:spLocks noGrp="1"/>
          </p:cNvSpPr>
          <p:nvPr>
            <p:ph type="sldNum" sz="quarter" idx="12"/>
          </p:nvPr>
        </p:nvSpPr>
        <p:spPr>
          <a:xfrm>
            <a:off x="8737600" y="6356351"/>
            <a:ext cx="2844800" cy="365125"/>
          </a:xfrm>
          <a:prstGeom prst="rect">
            <a:avLst/>
          </a:prstGeom>
        </p:spPr>
        <p:txBody>
          <a:bodyPr/>
          <a:lstStyle>
            <a:lvl1pPr>
              <a:defRPr/>
            </a:lvl1pPr>
          </a:lstStyle>
          <a:p>
            <a:pPr>
              <a:defRPr/>
            </a:pPr>
            <a:fld id="{A5A2EC7D-629D-465C-B383-70DB32BEB46C}" type="slidenum">
              <a:rPr lang="en-US"/>
              <a:pPr>
                <a:defRPr/>
              </a:pPr>
              <a:t>‹#›</a:t>
            </a:fld>
            <a:endParaRPr lang="en-US"/>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0459" y="71414"/>
            <a:ext cx="10001320" cy="92869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90459" y="1285860"/>
            <a:ext cx="11715832" cy="5500726"/>
          </a:xfrm>
          <a:prstGeom prst="rect">
            <a:avLst/>
          </a:prstGeom>
        </p:spPr>
        <p:txBody>
          <a:bodyPr vert="horz" lIns="91440" tIns="45720" rIns="91440" bIns="45720" rtlCol="0">
            <a:normAutofit/>
          </a:bodyPr>
          <a:lstStyle/>
          <a:p>
            <a:pPr lvl="0"/>
            <a:r>
              <a:rPr lang="en-US" dirty="0"/>
              <a:t>Click to edit Master text styles</a:t>
            </a:r>
          </a:p>
          <a:p>
            <a:pPr lvl="1"/>
            <a:r>
              <a:rPr lang="en-US" dirty="0"/>
              <a:t> Second level</a:t>
            </a:r>
          </a:p>
          <a:p>
            <a:pPr lvl="2"/>
            <a:r>
              <a:rPr lang="en-US" dirty="0"/>
              <a:t> Third level</a:t>
            </a:r>
          </a:p>
          <a:p>
            <a:pPr lvl="3"/>
            <a:r>
              <a:rPr lang="en-US" dirty="0"/>
              <a:t>Fourth level</a:t>
            </a:r>
          </a:p>
          <a:p>
            <a:pPr lvl="4"/>
            <a:r>
              <a:rPr lang="en-US" dirty="0"/>
              <a:t>Fifth level</a:t>
            </a:r>
          </a:p>
        </p:txBody>
      </p:sp>
      <p:sp>
        <p:nvSpPr>
          <p:cNvPr id="9" name="Rectangle 8"/>
          <p:cNvSpPr/>
          <p:nvPr userDrawn="1"/>
        </p:nvSpPr>
        <p:spPr>
          <a:xfrm>
            <a:off x="190501" y="1071546"/>
            <a:ext cx="10607040" cy="71438"/>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effectLst/>
            </a:endParaRPr>
          </a:p>
        </p:txBody>
      </p:sp>
      <p:pic>
        <p:nvPicPr>
          <p:cNvPr id="11" name="Picture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837474" y="49213"/>
            <a:ext cx="1074264" cy="1093771"/>
          </a:xfrm>
          <a:prstGeom prst="rect">
            <a:avLst/>
          </a:prstGeom>
        </p:spPr>
      </p:pic>
      <p:sp>
        <p:nvSpPr>
          <p:cNvPr id="12" name="Text Box 11"/>
          <p:cNvSpPr txBox="1">
            <a:spLocks noChangeArrowheads="1"/>
          </p:cNvSpPr>
          <p:nvPr userDrawn="1"/>
        </p:nvSpPr>
        <p:spPr bwMode="auto">
          <a:xfrm>
            <a:off x="11609062" y="836712"/>
            <a:ext cx="543739" cy="461665"/>
          </a:xfrm>
          <a:prstGeom prst="rect">
            <a:avLst/>
          </a:prstGeom>
          <a:noFill/>
          <a:ln w="9525">
            <a:noFill/>
            <a:miter lim="800000"/>
            <a:headEnd/>
            <a:tailEnd/>
          </a:ln>
          <a:effectLst/>
        </p:spPr>
        <p:txBody>
          <a:bodyPr wrap="none">
            <a:spAutoFit/>
          </a:bodyPr>
          <a:lstStyle/>
          <a:p>
            <a:fld id="{E4FF5167-E4CB-45F3-85CD-7EC8641D6DEE}" type="slidenum">
              <a:rPr lang="en-US" sz="2400" b="1">
                <a:solidFill>
                  <a:srgbClr val="FF0000"/>
                </a:solidFill>
              </a:rPr>
              <a:pPr/>
              <a:t>‹#›</a:t>
            </a:fld>
            <a:endParaRPr lang="en-US" sz="2400" b="1" dirty="0">
              <a:solidFill>
                <a:srgbClr val="FF0000"/>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txStyles>
    <p:titleStyle>
      <a:lvl1pPr algn="l"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p:titleStyle>
    <p:bodyStyle>
      <a:lvl1pPr marL="342900" indent="-342900" algn="just" defTabSz="914400" rtl="0" eaLnBrk="1" latinLnBrk="0" hangingPunct="1">
        <a:spcBef>
          <a:spcPct val="20000"/>
        </a:spcBef>
        <a:buFont typeface="Arial" pitchFamily="34" charset="0"/>
        <a:buNone/>
        <a:defRPr sz="3200" kern="1200">
          <a:solidFill>
            <a:schemeClr val="tx1"/>
          </a:solidFill>
          <a:latin typeface="Times New Roman" pitchFamily="18" charset="0"/>
          <a:ea typeface="+mn-ea"/>
          <a:cs typeface="Times New Roman" pitchFamily="18" charset="0"/>
        </a:defRPr>
      </a:lvl1pPr>
      <a:lvl2pPr marL="742950" indent="-285750" algn="just" defTabSz="914400" rtl="0" eaLnBrk="1" latinLnBrk="0" hangingPunct="1">
        <a:spcBef>
          <a:spcPct val="20000"/>
        </a:spcBef>
        <a:buFont typeface="Wingdings" pitchFamily="2" charset="2"/>
        <a:buChar char="Ø"/>
        <a:defRPr sz="2800" kern="1200">
          <a:solidFill>
            <a:schemeClr val="tx1"/>
          </a:solidFill>
          <a:latin typeface="Times New Roman" pitchFamily="18" charset="0"/>
          <a:ea typeface="+mn-ea"/>
          <a:cs typeface="Times New Roman" pitchFamily="18" charset="0"/>
        </a:defRPr>
      </a:lvl2pPr>
      <a:lvl3pPr marL="1143000" indent="-228600" algn="just" defTabSz="914400" rtl="0" eaLnBrk="1" latinLnBrk="0" hangingPunct="1">
        <a:spcBef>
          <a:spcPct val="20000"/>
        </a:spcBef>
        <a:buFont typeface="Wingdings" pitchFamily="2" charset="2"/>
        <a:buChar char="v"/>
        <a:defRPr sz="2400" kern="1200">
          <a:solidFill>
            <a:schemeClr val="tx1"/>
          </a:solidFill>
          <a:latin typeface="Times New Roman" pitchFamily="18" charset="0"/>
          <a:ea typeface="+mn-ea"/>
          <a:cs typeface="Times New Roman" pitchFamily="18" charset="0"/>
        </a:defRPr>
      </a:lvl3pPr>
      <a:lvl4pPr marL="1600200" indent="-228600" algn="just" defTabSz="914400" rtl="0" eaLnBrk="1" latinLnBrk="0" hangingPunct="1">
        <a:spcBef>
          <a:spcPct val="20000"/>
        </a:spcBef>
        <a:buFont typeface="Wingdings" pitchFamily="2" charset="2"/>
        <a:buChar char="§"/>
        <a:defRPr sz="2000" kern="1200">
          <a:solidFill>
            <a:schemeClr val="tx1"/>
          </a:solidFill>
          <a:latin typeface="Times New Roman" pitchFamily="18" charset="0"/>
          <a:ea typeface="+mn-ea"/>
          <a:cs typeface="Times New Roman" pitchFamily="18" charset="0"/>
        </a:defRPr>
      </a:lvl4pPr>
      <a:lvl5pPr marL="2057400" indent="-228600" algn="just" defTabSz="914400" rtl="0" eaLnBrk="1" latinLnBrk="0" hangingPunct="1">
        <a:spcBef>
          <a:spcPct val="20000"/>
        </a:spcBef>
        <a:buFont typeface="Courier New" pitchFamily="49" charset="0"/>
        <a:buChar char="o"/>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hyperlink" Target="http://vig.cuilahore.edu.pk/"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docs.google.com/presentation/d/13bhQ9cWp2O9c_z3pjoD8V-Y12UiVMomw/edit?usp=drive_link&amp;ouid=117766584274074302620&amp;rtpof=true&amp;sd=true" TargetMode="External"/><Relationship Id="rId2" Type="http://schemas.openxmlformats.org/officeDocument/2006/relationships/hyperlink" Target="https://drive.google.com/file/d/1u4hR5YwoCiHJzKT8fb19hzOojnAoB4Vw/view?usp=drive_web"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image" Target="../media/image7.wmf"/><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notesSlide" Target="../notesSlides/notesSlide3.xml"/><Relationship Id="rId2" Type="http://schemas.openxmlformats.org/officeDocument/2006/relationships/tags" Target="../tags/tag2.xml"/><Relationship Id="rId16"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5.xml.rels><?xml version="1.0" encoding="UTF-8" standalone="yes"?>
<Relationships xmlns="http://schemas.openxmlformats.org/package/2006/relationships"><Relationship Id="rId8" Type="http://schemas.openxmlformats.org/officeDocument/2006/relationships/tags" Target="../tags/tag23.xml"/><Relationship Id="rId13" Type="http://schemas.openxmlformats.org/officeDocument/2006/relationships/tags" Target="../tags/tag28.xml"/><Relationship Id="rId18" Type="http://schemas.openxmlformats.org/officeDocument/2006/relationships/image" Target="../media/image8.wmf"/><Relationship Id="rId3" Type="http://schemas.openxmlformats.org/officeDocument/2006/relationships/tags" Target="../tags/tag18.xml"/><Relationship Id="rId7" Type="http://schemas.openxmlformats.org/officeDocument/2006/relationships/tags" Target="../tags/tag22.xml"/><Relationship Id="rId12" Type="http://schemas.openxmlformats.org/officeDocument/2006/relationships/tags" Target="../tags/tag27.xml"/><Relationship Id="rId17" Type="http://schemas.openxmlformats.org/officeDocument/2006/relationships/notesSlide" Target="../notesSlides/notesSlide4.xml"/><Relationship Id="rId2" Type="http://schemas.openxmlformats.org/officeDocument/2006/relationships/tags" Target="../tags/tag17.xml"/><Relationship Id="rId16" Type="http://schemas.openxmlformats.org/officeDocument/2006/relationships/slideLayout" Target="../slideLayouts/slideLayout2.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tags" Target="../tags/tag26.xml"/><Relationship Id="rId5" Type="http://schemas.openxmlformats.org/officeDocument/2006/relationships/tags" Target="../tags/tag20.xml"/><Relationship Id="rId15" Type="http://schemas.openxmlformats.org/officeDocument/2006/relationships/tags" Target="../tags/tag30.xml"/><Relationship Id="rId10" Type="http://schemas.openxmlformats.org/officeDocument/2006/relationships/tags" Target="../tags/tag25.xml"/><Relationship Id="rId4" Type="http://schemas.openxmlformats.org/officeDocument/2006/relationships/tags" Target="../tags/tag19.xml"/><Relationship Id="rId9" Type="http://schemas.openxmlformats.org/officeDocument/2006/relationships/tags" Target="../tags/tag24.xml"/><Relationship Id="rId14" Type="http://schemas.openxmlformats.org/officeDocument/2006/relationships/tags" Target="../tags/tag29.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33.xml"/><Relationship Id="rId6" Type="http://schemas.openxmlformats.org/officeDocument/2006/relationships/image" Target="../media/image12.jpeg"/><Relationship Id="rId5" Type="http://schemas.openxmlformats.org/officeDocument/2006/relationships/hyperlink" Target="http://www.debevec.org/Pinhole/" TargetMode="External"/><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image" Target="../media/image13.jpeg"/><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tags" Target="../tags/tag44.xml"/><Relationship Id="rId13" Type="http://schemas.openxmlformats.org/officeDocument/2006/relationships/tags" Target="../tags/tag49.xml"/><Relationship Id="rId18" Type="http://schemas.openxmlformats.org/officeDocument/2006/relationships/tags" Target="../tags/tag54.xml"/><Relationship Id="rId26" Type="http://schemas.openxmlformats.org/officeDocument/2006/relationships/hyperlink" Target="http://en.wikipedia.org/wiki/File:Lens_and_wavefronts.gif" TargetMode="External"/><Relationship Id="rId3" Type="http://schemas.openxmlformats.org/officeDocument/2006/relationships/tags" Target="../tags/tag39.xml"/><Relationship Id="rId21" Type="http://schemas.openxmlformats.org/officeDocument/2006/relationships/tags" Target="../tags/tag57.xml"/><Relationship Id="rId7" Type="http://schemas.openxmlformats.org/officeDocument/2006/relationships/tags" Target="../tags/tag43.xml"/><Relationship Id="rId12" Type="http://schemas.openxmlformats.org/officeDocument/2006/relationships/tags" Target="../tags/tag48.xml"/><Relationship Id="rId17" Type="http://schemas.openxmlformats.org/officeDocument/2006/relationships/tags" Target="../tags/tag53.xml"/><Relationship Id="rId25" Type="http://schemas.openxmlformats.org/officeDocument/2006/relationships/notesSlide" Target="../notesSlides/notesSlide8.xml"/><Relationship Id="rId2" Type="http://schemas.openxmlformats.org/officeDocument/2006/relationships/tags" Target="../tags/tag38.xml"/><Relationship Id="rId16" Type="http://schemas.openxmlformats.org/officeDocument/2006/relationships/tags" Target="../tags/tag52.xml"/><Relationship Id="rId20" Type="http://schemas.openxmlformats.org/officeDocument/2006/relationships/tags" Target="../tags/tag56.xml"/><Relationship Id="rId29" Type="http://schemas.openxmlformats.org/officeDocument/2006/relationships/image" Target="../media/image16.png"/><Relationship Id="rId1" Type="http://schemas.openxmlformats.org/officeDocument/2006/relationships/tags" Target="../tags/tag37.xml"/><Relationship Id="rId6" Type="http://schemas.openxmlformats.org/officeDocument/2006/relationships/tags" Target="../tags/tag42.xml"/><Relationship Id="rId11" Type="http://schemas.openxmlformats.org/officeDocument/2006/relationships/tags" Target="../tags/tag47.xml"/><Relationship Id="rId24" Type="http://schemas.openxmlformats.org/officeDocument/2006/relationships/slideLayout" Target="../slideLayouts/slideLayout2.xml"/><Relationship Id="rId5" Type="http://schemas.openxmlformats.org/officeDocument/2006/relationships/tags" Target="../tags/tag41.xml"/><Relationship Id="rId15" Type="http://schemas.openxmlformats.org/officeDocument/2006/relationships/tags" Target="../tags/tag51.xml"/><Relationship Id="rId23" Type="http://schemas.openxmlformats.org/officeDocument/2006/relationships/tags" Target="../tags/tag59.xml"/><Relationship Id="rId28" Type="http://schemas.openxmlformats.org/officeDocument/2006/relationships/image" Target="../media/image15.wmf"/><Relationship Id="rId10" Type="http://schemas.openxmlformats.org/officeDocument/2006/relationships/tags" Target="../tags/tag46.xml"/><Relationship Id="rId19" Type="http://schemas.openxmlformats.org/officeDocument/2006/relationships/tags" Target="../tags/tag55.xml"/><Relationship Id="rId4" Type="http://schemas.openxmlformats.org/officeDocument/2006/relationships/tags" Target="../tags/tag40.xml"/><Relationship Id="rId9" Type="http://schemas.openxmlformats.org/officeDocument/2006/relationships/tags" Target="../tags/tag45.xml"/><Relationship Id="rId14" Type="http://schemas.openxmlformats.org/officeDocument/2006/relationships/tags" Target="../tags/tag50.xml"/><Relationship Id="rId22" Type="http://schemas.openxmlformats.org/officeDocument/2006/relationships/tags" Target="../tags/tag58.xml"/><Relationship Id="rId27" Type="http://schemas.openxmlformats.org/officeDocument/2006/relationships/image" Target="../media/image14.gif"/></Relationships>
</file>

<file path=ppt/slides/_rels/slide10.xml.rels><?xml version="1.0" encoding="UTF-8" standalone="yes"?>
<Relationships xmlns="http://schemas.openxmlformats.org/package/2006/relationships"><Relationship Id="rId8" Type="http://schemas.openxmlformats.org/officeDocument/2006/relationships/tags" Target="../tags/tag67.xml"/><Relationship Id="rId13" Type="http://schemas.openxmlformats.org/officeDocument/2006/relationships/tags" Target="../tags/tag72.xml"/><Relationship Id="rId18" Type="http://schemas.openxmlformats.org/officeDocument/2006/relationships/image" Target="../media/image18.png"/><Relationship Id="rId3" Type="http://schemas.openxmlformats.org/officeDocument/2006/relationships/tags" Target="../tags/tag62.xml"/><Relationship Id="rId7" Type="http://schemas.openxmlformats.org/officeDocument/2006/relationships/tags" Target="../tags/tag66.xml"/><Relationship Id="rId12" Type="http://schemas.openxmlformats.org/officeDocument/2006/relationships/tags" Target="../tags/tag71.xml"/><Relationship Id="rId17" Type="http://schemas.openxmlformats.org/officeDocument/2006/relationships/image" Target="../media/image17.png"/><Relationship Id="rId2" Type="http://schemas.openxmlformats.org/officeDocument/2006/relationships/tags" Target="../tags/tag61.xml"/><Relationship Id="rId16" Type="http://schemas.openxmlformats.org/officeDocument/2006/relationships/notesSlide" Target="../notesSlides/notesSlide9.xml"/><Relationship Id="rId1" Type="http://schemas.openxmlformats.org/officeDocument/2006/relationships/tags" Target="../tags/tag60.xml"/><Relationship Id="rId6" Type="http://schemas.openxmlformats.org/officeDocument/2006/relationships/tags" Target="../tags/tag65.xml"/><Relationship Id="rId11" Type="http://schemas.openxmlformats.org/officeDocument/2006/relationships/tags" Target="../tags/tag70.xml"/><Relationship Id="rId5" Type="http://schemas.openxmlformats.org/officeDocument/2006/relationships/tags" Target="../tags/tag64.xml"/><Relationship Id="rId15" Type="http://schemas.openxmlformats.org/officeDocument/2006/relationships/slideLayout" Target="../slideLayouts/slideLayout2.xml"/><Relationship Id="rId10" Type="http://schemas.openxmlformats.org/officeDocument/2006/relationships/tags" Target="../tags/tag69.xml"/><Relationship Id="rId4" Type="http://schemas.openxmlformats.org/officeDocument/2006/relationships/tags" Target="../tags/tag63.xml"/><Relationship Id="rId9" Type="http://schemas.openxmlformats.org/officeDocument/2006/relationships/tags" Target="../tags/tag68.xml"/><Relationship Id="rId14" Type="http://schemas.openxmlformats.org/officeDocument/2006/relationships/tags" Target="../tags/tag73.xml"/></Relationships>
</file>

<file path=ppt/slides/_rels/slide11.xml.rels><?xml version="1.0" encoding="UTF-8" standalone="yes"?>
<Relationships xmlns="http://schemas.openxmlformats.org/package/2006/relationships"><Relationship Id="rId8" Type="http://schemas.openxmlformats.org/officeDocument/2006/relationships/tags" Target="../tags/tag81.xml"/><Relationship Id="rId13" Type="http://schemas.openxmlformats.org/officeDocument/2006/relationships/tags" Target="../tags/tag86.xml"/><Relationship Id="rId18" Type="http://schemas.openxmlformats.org/officeDocument/2006/relationships/image" Target="../media/image18.png"/><Relationship Id="rId3" Type="http://schemas.openxmlformats.org/officeDocument/2006/relationships/tags" Target="../tags/tag76.xml"/><Relationship Id="rId7" Type="http://schemas.openxmlformats.org/officeDocument/2006/relationships/tags" Target="../tags/tag80.xml"/><Relationship Id="rId12" Type="http://schemas.openxmlformats.org/officeDocument/2006/relationships/tags" Target="../tags/tag85.xml"/><Relationship Id="rId17" Type="http://schemas.openxmlformats.org/officeDocument/2006/relationships/image" Target="../media/image20.png"/><Relationship Id="rId2" Type="http://schemas.openxmlformats.org/officeDocument/2006/relationships/tags" Target="../tags/tag75.xml"/><Relationship Id="rId16" Type="http://schemas.openxmlformats.org/officeDocument/2006/relationships/image" Target="../media/image19.png"/><Relationship Id="rId1" Type="http://schemas.openxmlformats.org/officeDocument/2006/relationships/tags" Target="../tags/tag74.xml"/><Relationship Id="rId6" Type="http://schemas.openxmlformats.org/officeDocument/2006/relationships/tags" Target="../tags/tag79.xml"/><Relationship Id="rId11" Type="http://schemas.openxmlformats.org/officeDocument/2006/relationships/tags" Target="../tags/tag84.xml"/><Relationship Id="rId5" Type="http://schemas.openxmlformats.org/officeDocument/2006/relationships/tags" Target="../tags/tag78.xml"/><Relationship Id="rId15" Type="http://schemas.openxmlformats.org/officeDocument/2006/relationships/notesSlide" Target="../notesSlides/notesSlide10.xml"/><Relationship Id="rId10" Type="http://schemas.openxmlformats.org/officeDocument/2006/relationships/tags" Target="../tags/tag83.xml"/><Relationship Id="rId19" Type="http://schemas.openxmlformats.org/officeDocument/2006/relationships/image" Target="../media/image17.png"/><Relationship Id="rId4" Type="http://schemas.openxmlformats.org/officeDocument/2006/relationships/tags" Target="../tags/tag77.xml"/><Relationship Id="rId9" Type="http://schemas.openxmlformats.org/officeDocument/2006/relationships/tags" Target="../tags/tag82.xml"/><Relationship Id="rId1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tags" Target="../tags/tag89.xml"/><Relationship Id="rId7" Type="http://schemas.openxmlformats.org/officeDocument/2006/relationships/slideLayout" Target="../slideLayouts/slideLayout2.xml"/><Relationship Id="rId2" Type="http://schemas.openxmlformats.org/officeDocument/2006/relationships/tags" Target="../tags/tag88.xml"/><Relationship Id="rId1" Type="http://schemas.openxmlformats.org/officeDocument/2006/relationships/tags" Target="../tags/tag87.xml"/><Relationship Id="rId6" Type="http://schemas.openxmlformats.org/officeDocument/2006/relationships/tags" Target="../tags/tag92.xml"/><Relationship Id="rId5" Type="http://schemas.openxmlformats.org/officeDocument/2006/relationships/tags" Target="../tags/tag91.xml"/><Relationship Id="rId4" Type="http://schemas.openxmlformats.org/officeDocument/2006/relationships/tags" Target="../tags/tag90.xml"/><Relationship Id="rId9"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4.xml"/><Relationship Id="rId1" Type="http://schemas.openxmlformats.org/officeDocument/2006/relationships/tags" Target="../tags/tag93.xml"/><Relationship Id="rId5" Type="http://schemas.openxmlformats.org/officeDocument/2006/relationships/image" Target="../media/image22.gif"/><Relationship Id="rId4"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8" Type="http://schemas.openxmlformats.org/officeDocument/2006/relationships/tags" Target="../tags/tag102.xml"/><Relationship Id="rId13" Type="http://schemas.openxmlformats.org/officeDocument/2006/relationships/slideLayout" Target="../slideLayouts/slideLayout2.xml"/><Relationship Id="rId18" Type="http://schemas.openxmlformats.org/officeDocument/2006/relationships/image" Target="../media/image24.jpeg"/><Relationship Id="rId3" Type="http://schemas.openxmlformats.org/officeDocument/2006/relationships/tags" Target="../tags/tag97.xml"/><Relationship Id="rId7" Type="http://schemas.openxmlformats.org/officeDocument/2006/relationships/tags" Target="../tags/tag101.xml"/><Relationship Id="rId12" Type="http://schemas.openxmlformats.org/officeDocument/2006/relationships/tags" Target="../tags/tag106.xml"/><Relationship Id="rId17" Type="http://schemas.openxmlformats.org/officeDocument/2006/relationships/image" Target="../media/image17.png"/><Relationship Id="rId2" Type="http://schemas.openxmlformats.org/officeDocument/2006/relationships/tags" Target="../tags/tag96.xml"/><Relationship Id="rId16" Type="http://schemas.openxmlformats.org/officeDocument/2006/relationships/image" Target="../media/image23.png"/><Relationship Id="rId1" Type="http://schemas.openxmlformats.org/officeDocument/2006/relationships/tags" Target="../tags/tag95.xml"/><Relationship Id="rId6" Type="http://schemas.openxmlformats.org/officeDocument/2006/relationships/tags" Target="../tags/tag100.xml"/><Relationship Id="rId11" Type="http://schemas.openxmlformats.org/officeDocument/2006/relationships/tags" Target="../tags/tag105.xml"/><Relationship Id="rId5" Type="http://schemas.openxmlformats.org/officeDocument/2006/relationships/tags" Target="../tags/tag99.xml"/><Relationship Id="rId15" Type="http://schemas.openxmlformats.org/officeDocument/2006/relationships/hyperlink" Target="http://en.wikipedia.org/wiki/File:Depth_of_field_diagram.png" TargetMode="External"/><Relationship Id="rId10" Type="http://schemas.openxmlformats.org/officeDocument/2006/relationships/tags" Target="../tags/tag104.xml"/><Relationship Id="rId4" Type="http://schemas.openxmlformats.org/officeDocument/2006/relationships/tags" Target="../tags/tag98.xml"/><Relationship Id="rId9" Type="http://schemas.openxmlformats.org/officeDocument/2006/relationships/tags" Target="../tags/tag103.xml"/><Relationship Id="rId14"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upload.wikimedia.org/wikipedia/commons/3/3b/Pinhole-camera.svg"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28.wmf"/><Relationship Id="rId13" Type="http://schemas.openxmlformats.org/officeDocument/2006/relationships/oleObject" Target="../embeddings/oleObject6.bin"/><Relationship Id="rId3" Type="http://schemas.openxmlformats.org/officeDocument/2006/relationships/oleObject" Target="../embeddings/oleObject2.bin"/><Relationship Id="rId7" Type="http://schemas.openxmlformats.org/officeDocument/2006/relationships/oleObject" Target="../embeddings/oleObject4.bin"/><Relationship Id="rId12"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7.wmf"/><Relationship Id="rId11" Type="http://schemas.openxmlformats.org/officeDocument/2006/relationships/image" Target="../media/image30.png"/><Relationship Id="rId5" Type="http://schemas.openxmlformats.org/officeDocument/2006/relationships/oleObject" Target="../embeddings/oleObject3.bin"/><Relationship Id="rId10" Type="http://schemas.openxmlformats.org/officeDocument/2006/relationships/image" Target="../media/image29.wmf"/><Relationship Id="rId4" Type="http://schemas.openxmlformats.org/officeDocument/2006/relationships/image" Target="../media/image26.wmf"/><Relationship Id="rId9" Type="http://schemas.openxmlformats.org/officeDocument/2006/relationships/oleObject" Target="../embeddings/oleObject5.bin"/><Relationship Id="rId14" Type="http://schemas.openxmlformats.org/officeDocument/2006/relationships/image" Target="../media/image32.wmf"/></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4.wmf"/><Relationship Id="rId4" Type="http://schemas.openxmlformats.org/officeDocument/2006/relationships/oleObject" Target="../embeddings/oleObject7.bin"/></Relationships>
</file>

<file path=ppt/slides/_rels/slide19.xml.rels><?xml version="1.0" encoding="UTF-8" standalone="yes"?>
<Relationships xmlns="http://schemas.openxmlformats.org/package/2006/relationships"><Relationship Id="rId3" Type="http://schemas.openxmlformats.org/officeDocument/2006/relationships/hyperlink" Target="https://youtu.be/qByYk6JggQU?si=ZKqpfX9uWuVKziDH"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90.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0.e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47.jpeg"/><Relationship Id="rId5" Type="http://schemas.openxmlformats.org/officeDocument/2006/relationships/image" Target="../media/image46.jpeg"/><Relationship Id="rId4" Type="http://schemas.openxmlformats.org/officeDocument/2006/relationships/image" Target="../media/image45.jpeg"/></Relationships>
</file>

<file path=ppt/slides/_rels/slide3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50.jpeg"/><Relationship Id="rId4" Type="http://schemas.openxmlformats.org/officeDocument/2006/relationships/image" Target="../media/image49.jpeg"/></Relationships>
</file>

<file path=ppt/slides/_rels/slide3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52.emf"/></Relationships>
</file>

<file path=ppt/slides/_rels/slide36.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54.jpeg"/></Relationships>
</file>

<file path=ppt/slides/_rels/slide3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6.gif"/><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57.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oleObject" Target="../embeddings/oleObject8.bin"/><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oleObject" Target="../embeddings/oleObject9.bin"/><Relationship Id="rId1" Type="http://schemas.openxmlformats.org/officeDocument/2006/relationships/slideLayout" Target="../slideLayouts/slideLayout2.xml"/><Relationship Id="rId5" Type="http://schemas.openxmlformats.org/officeDocument/2006/relationships/image" Target="../media/image61.wmf"/><Relationship Id="rId4" Type="http://schemas.openxmlformats.org/officeDocument/2006/relationships/oleObject" Target="../embeddings/oleObject10.bin"/></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1.w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oleObject" Target="../embeddings/oleObject11.bin"/><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oleObject" Target="../embeddings/oleObject12.bin"/><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oleObject" Target="../embeddings/oleObject14.bin"/><Relationship Id="rId1" Type="http://schemas.openxmlformats.org/officeDocument/2006/relationships/slideLayout" Target="../slideLayouts/slideLayout2.xml"/><Relationship Id="rId5" Type="http://schemas.openxmlformats.org/officeDocument/2006/relationships/image" Target="../media/image67.png"/><Relationship Id="rId4" Type="http://schemas.openxmlformats.org/officeDocument/2006/relationships/image" Target="../media/image6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71.png"/><Relationship Id="rId7" Type="http://schemas.openxmlformats.org/officeDocument/2006/relationships/image" Target="../media/image73.wmf"/><Relationship Id="rId2"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oleObject" Target="../embeddings/oleObject16.bin"/><Relationship Id="rId5" Type="http://schemas.openxmlformats.org/officeDocument/2006/relationships/image" Target="../media/image72.wmf"/><Relationship Id="rId4" Type="http://schemas.openxmlformats.org/officeDocument/2006/relationships/oleObject" Target="../embeddings/oleObject15.bin"/></Relationships>
</file>

<file path=ppt/slides/_rels/slide57.x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oleObject" Target="../embeddings/oleObject17.bin"/><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oleObject" Target="../embeddings/oleObject18.bin"/><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oleObject" Target="../embeddings/oleObject19.bin"/><Relationship Id="rId1" Type="http://schemas.openxmlformats.org/officeDocument/2006/relationships/slideLayout" Target="../slideLayouts/slideLayout2.xml"/><Relationship Id="rId5" Type="http://schemas.openxmlformats.org/officeDocument/2006/relationships/image" Target="../media/image78.wmf"/><Relationship Id="rId4" Type="http://schemas.openxmlformats.org/officeDocument/2006/relationships/oleObject" Target="../embeddings/oleObject20.bin"/></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84.jpeg"/><Relationship Id="rId5" Type="http://schemas.openxmlformats.org/officeDocument/2006/relationships/image" Target="../media/image83.jpeg"/><Relationship Id="rId4" Type="http://schemas.openxmlformats.org/officeDocument/2006/relationships/image" Target="../media/image82.jpeg"/></Relationships>
</file>

<file path=ppt/slides/_rels/slide6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6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89.png"/><Relationship Id="rId4" Type="http://schemas.openxmlformats.org/officeDocument/2006/relationships/image" Target="../media/image91.png"/></Relationships>
</file>

<file path=ppt/slides/_rels/slide68.xml.rels><?xml version="1.0" encoding="UTF-8" standalone="yes"?>
<Relationships xmlns="http://schemas.openxmlformats.org/package/2006/relationships"><Relationship Id="rId8" Type="http://schemas.openxmlformats.org/officeDocument/2006/relationships/image" Target="../media/image96.png"/><Relationship Id="rId3" Type="http://schemas.openxmlformats.org/officeDocument/2006/relationships/image" Target="../media/image92.jpeg"/><Relationship Id="rId7" Type="http://schemas.openxmlformats.org/officeDocument/2006/relationships/hyperlink" Target="http://www.loc.gov/exhibits/empire/"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95.jpeg"/><Relationship Id="rId5" Type="http://schemas.openxmlformats.org/officeDocument/2006/relationships/image" Target="../media/image94.png"/><Relationship Id="rId4" Type="http://schemas.openxmlformats.org/officeDocument/2006/relationships/image" Target="../media/image93.png"/></Relationships>
</file>

<file path=ppt/slides/_rels/slide69.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98.jpeg"/></Relationships>
</file>

<file path=ppt/slides/_rels/slide70.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100.png"/><Relationship Id="rId4" Type="http://schemas.openxmlformats.org/officeDocument/2006/relationships/oleObject" Target="../embeddings/oleObject21.bin"/></Relationships>
</file>

<file path=ppt/slides/_rels/slide71.xml.rels><?xml version="1.0" encoding="UTF-8" standalone="yes"?>
<Relationships xmlns="http://schemas.openxmlformats.org/package/2006/relationships"><Relationship Id="rId3" Type="http://schemas.openxmlformats.org/officeDocument/2006/relationships/hyperlink" Target="http://www.pwn3d.us/index.php" TargetMode="External"/><Relationship Id="rId2" Type="http://schemas.openxmlformats.org/officeDocument/2006/relationships/image" Target="../media/image101.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image" Target="../media/image102.png"/><Relationship Id="rId5" Type="http://schemas.openxmlformats.org/officeDocument/2006/relationships/hyperlink" Target="//upload.wikimedia.org/wikipedia/commons/1/1e/Schematic_diagram_of_the_human_eye_en.svg" TargetMode="External"/><Relationship Id="rId4" Type="http://schemas.openxmlformats.org/officeDocument/2006/relationships/notesSlide" Target="../notesSlides/notesSlide46.xml"/></Relationships>
</file>

<file path=ppt/slides/_rels/slide74.xml.rels><?xml version="1.0" encoding="UTF-8" standalone="yes"?>
<Relationships xmlns="http://schemas.openxmlformats.org/package/2006/relationships"><Relationship Id="rId2" Type="http://schemas.openxmlformats.org/officeDocument/2006/relationships/image" Target="../media/image103.jpeg"/><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8" Type="http://schemas.openxmlformats.org/officeDocument/2006/relationships/image" Target="../media/image105.jpeg"/><Relationship Id="rId3" Type="http://schemas.openxmlformats.org/officeDocument/2006/relationships/tags" Target="../tags/tag111.xml"/><Relationship Id="rId7" Type="http://schemas.openxmlformats.org/officeDocument/2006/relationships/image" Target="../media/image104.jpeg"/><Relationship Id="rId2" Type="http://schemas.openxmlformats.org/officeDocument/2006/relationships/tags" Target="../tags/tag110.xml"/><Relationship Id="rId1" Type="http://schemas.openxmlformats.org/officeDocument/2006/relationships/tags" Target="../tags/tag109.xml"/><Relationship Id="rId6" Type="http://schemas.openxmlformats.org/officeDocument/2006/relationships/hyperlink" Target="http://electronics.howstuffworks.com/digital-camera.htm" TargetMode="External"/><Relationship Id="rId5" Type="http://schemas.openxmlformats.org/officeDocument/2006/relationships/notesSlide" Target="../notesSlides/notesSlide47.xml"/><Relationship Id="rId4" Type="http://schemas.openxmlformats.org/officeDocument/2006/relationships/slideLayout" Target="../slideLayouts/slideLayout2.xml"/><Relationship Id="rId9" Type="http://schemas.openxmlformats.org/officeDocument/2006/relationships/image" Target="../media/image106.jpeg"/></Relationships>
</file>

<file path=ppt/slides/_rels/slide76.xml.rels><?xml version="1.0" encoding="UTF-8" standalone="yes"?>
<Relationships xmlns="http://schemas.openxmlformats.org/package/2006/relationships"><Relationship Id="rId2" Type="http://schemas.openxmlformats.org/officeDocument/2006/relationships/image" Target="../media/image107.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08.jpeg"/><Relationship Id="rId7" Type="http://schemas.openxmlformats.org/officeDocument/2006/relationships/image" Target="../media/image110.jpeg"/><Relationship Id="rId2" Type="http://schemas.openxmlformats.org/officeDocument/2006/relationships/hyperlink" Target="orig.avi" TargetMode="External"/><Relationship Id="rId1" Type="http://schemas.openxmlformats.org/officeDocument/2006/relationships/slideLayout" Target="../slideLayouts/slideLayout2.xml"/><Relationship Id="rId6" Type="http://schemas.openxmlformats.org/officeDocument/2006/relationships/hyperlink" Target="buddha.mpeg" TargetMode="External"/><Relationship Id="rId5" Type="http://schemas.openxmlformats.org/officeDocument/2006/relationships/image" Target="../media/image109.jpeg"/><Relationship Id="rId4" Type="http://schemas.openxmlformats.org/officeDocument/2006/relationships/hyperlink" Target="mm.avi"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11.wmf"/><Relationship Id="rId2" Type="http://schemas.openxmlformats.org/officeDocument/2006/relationships/oleObject" Target="../embeddings/oleObject22.bin"/><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12.wmf"/><Relationship Id="rId2" Type="http://schemas.openxmlformats.org/officeDocument/2006/relationships/oleObject" Target="../embeddings/oleObject23.bin"/><Relationship Id="rId1" Type="http://schemas.openxmlformats.org/officeDocument/2006/relationships/slideLayout" Target="../slideLayouts/slideLayout2.xml"/><Relationship Id="rId5" Type="http://schemas.openxmlformats.org/officeDocument/2006/relationships/image" Target="../media/image113.wmf"/><Relationship Id="rId4" Type="http://schemas.openxmlformats.org/officeDocument/2006/relationships/oleObject" Target="../embeddings/oleObject24.bin"/></Relationships>
</file>

<file path=ppt/slides/_rels/slide82.xml.rels><?xml version="1.0" encoding="UTF-8" standalone="yes"?>
<Relationships xmlns="http://schemas.openxmlformats.org/package/2006/relationships"><Relationship Id="rId3" Type="http://schemas.openxmlformats.org/officeDocument/2006/relationships/image" Target="../media/image112.wmf"/><Relationship Id="rId7" Type="http://schemas.openxmlformats.org/officeDocument/2006/relationships/image" Target="../media/image115.wmf"/><Relationship Id="rId2" Type="http://schemas.openxmlformats.org/officeDocument/2006/relationships/oleObject" Target="../embeddings/oleObject25.bin"/><Relationship Id="rId1" Type="http://schemas.openxmlformats.org/officeDocument/2006/relationships/slideLayout" Target="../slideLayouts/slideLayout2.xml"/><Relationship Id="rId6" Type="http://schemas.openxmlformats.org/officeDocument/2006/relationships/oleObject" Target="../embeddings/oleObject27.bin"/><Relationship Id="rId5" Type="http://schemas.openxmlformats.org/officeDocument/2006/relationships/image" Target="../media/image114.wmf"/><Relationship Id="rId4" Type="http://schemas.openxmlformats.org/officeDocument/2006/relationships/oleObject" Target="../embeddings/oleObject26.bin"/></Relationships>
</file>

<file path=ppt/slides/_rels/slide83.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8" Type="http://schemas.openxmlformats.org/officeDocument/2006/relationships/tags" Target="../tags/tag119.xml"/><Relationship Id="rId13" Type="http://schemas.openxmlformats.org/officeDocument/2006/relationships/tags" Target="../tags/tag124.xml"/><Relationship Id="rId18" Type="http://schemas.openxmlformats.org/officeDocument/2006/relationships/image" Target="../media/image118.png"/><Relationship Id="rId3" Type="http://schemas.openxmlformats.org/officeDocument/2006/relationships/tags" Target="../tags/tag114.xml"/><Relationship Id="rId21" Type="http://schemas.openxmlformats.org/officeDocument/2006/relationships/image" Target="../media/image121.png"/><Relationship Id="rId7" Type="http://schemas.openxmlformats.org/officeDocument/2006/relationships/tags" Target="../tags/tag118.xml"/><Relationship Id="rId12" Type="http://schemas.openxmlformats.org/officeDocument/2006/relationships/tags" Target="../tags/tag123.xml"/><Relationship Id="rId17" Type="http://schemas.openxmlformats.org/officeDocument/2006/relationships/image" Target="../media/image117.png"/><Relationship Id="rId2" Type="http://schemas.openxmlformats.org/officeDocument/2006/relationships/tags" Target="../tags/tag113.xml"/><Relationship Id="rId16" Type="http://schemas.openxmlformats.org/officeDocument/2006/relationships/notesSlide" Target="../notesSlides/notesSlide48.xml"/><Relationship Id="rId20" Type="http://schemas.openxmlformats.org/officeDocument/2006/relationships/image" Target="../media/image120.png"/><Relationship Id="rId1" Type="http://schemas.openxmlformats.org/officeDocument/2006/relationships/tags" Target="../tags/tag112.xml"/><Relationship Id="rId6" Type="http://schemas.openxmlformats.org/officeDocument/2006/relationships/tags" Target="../tags/tag117.xml"/><Relationship Id="rId11" Type="http://schemas.openxmlformats.org/officeDocument/2006/relationships/tags" Target="../tags/tag122.xml"/><Relationship Id="rId5" Type="http://schemas.openxmlformats.org/officeDocument/2006/relationships/tags" Target="../tags/tag116.xml"/><Relationship Id="rId15" Type="http://schemas.openxmlformats.org/officeDocument/2006/relationships/slideLayout" Target="../slideLayouts/slideLayout2.xml"/><Relationship Id="rId10" Type="http://schemas.openxmlformats.org/officeDocument/2006/relationships/tags" Target="../tags/tag121.xml"/><Relationship Id="rId19" Type="http://schemas.openxmlformats.org/officeDocument/2006/relationships/image" Target="../media/image119.png"/><Relationship Id="rId4" Type="http://schemas.openxmlformats.org/officeDocument/2006/relationships/tags" Target="../tags/tag115.xml"/><Relationship Id="rId9" Type="http://schemas.openxmlformats.org/officeDocument/2006/relationships/tags" Target="../tags/tag120.xml"/><Relationship Id="rId14" Type="http://schemas.openxmlformats.org/officeDocument/2006/relationships/tags" Target="../tags/tag125.xml"/></Relationships>
</file>

<file path=ppt/slides/_rels/slide86.xml.rels><?xml version="1.0" encoding="UTF-8" standalone="yes"?>
<Relationships xmlns="http://schemas.openxmlformats.org/package/2006/relationships"><Relationship Id="rId8" Type="http://schemas.openxmlformats.org/officeDocument/2006/relationships/tags" Target="../tags/tag133.xml"/><Relationship Id="rId13" Type="http://schemas.openxmlformats.org/officeDocument/2006/relationships/oleObject" Target="../embeddings/oleObject28.bin"/><Relationship Id="rId3" Type="http://schemas.openxmlformats.org/officeDocument/2006/relationships/tags" Target="../tags/tag128.xml"/><Relationship Id="rId7" Type="http://schemas.openxmlformats.org/officeDocument/2006/relationships/tags" Target="../tags/tag132.xml"/><Relationship Id="rId12" Type="http://schemas.openxmlformats.org/officeDocument/2006/relationships/notesSlide" Target="../notesSlides/notesSlide49.xml"/><Relationship Id="rId2" Type="http://schemas.openxmlformats.org/officeDocument/2006/relationships/tags" Target="../tags/tag127.xml"/><Relationship Id="rId16" Type="http://schemas.openxmlformats.org/officeDocument/2006/relationships/image" Target="../media/image123.wmf"/><Relationship Id="rId1" Type="http://schemas.openxmlformats.org/officeDocument/2006/relationships/tags" Target="../tags/tag126.xml"/><Relationship Id="rId6" Type="http://schemas.openxmlformats.org/officeDocument/2006/relationships/tags" Target="../tags/tag131.xml"/><Relationship Id="rId11" Type="http://schemas.openxmlformats.org/officeDocument/2006/relationships/slideLayout" Target="../slideLayouts/slideLayout2.xml"/><Relationship Id="rId5" Type="http://schemas.openxmlformats.org/officeDocument/2006/relationships/tags" Target="../tags/tag130.xml"/><Relationship Id="rId15" Type="http://schemas.openxmlformats.org/officeDocument/2006/relationships/oleObject" Target="../embeddings/oleObject29.bin"/><Relationship Id="rId10" Type="http://schemas.openxmlformats.org/officeDocument/2006/relationships/tags" Target="../tags/tag135.xml"/><Relationship Id="rId4" Type="http://schemas.openxmlformats.org/officeDocument/2006/relationships/tags" Target="../tags/tag129.xml"/><Relationship Id="rId9" Type="http://schemas.openxmlformats.org/officeDocument/2006/relationships/tags" Target="../tags/tag134.xml"/><Relationship Id="rId14" Type="http://schemas.openxmlformats.org/officeDocument/2006/relationships/image" Target="../media/image122.wmf"/></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7" descr="fed_plastic"/>
          <p:cNvPicPr>
            <a:picLocks noChangeAspect="1" noChangeArrowheads="1"/>
          </p:cNvPicPr>
          <p:nvPr/>
        </p:nvPicPr>
        <p:blipFill>
          <a:blip r:embed="rId3" cstate="print"/>
          <a:srcRect/>
          <a:stretch>
            <a:fillRect/>
          </a:stretch>
        </p:blipFill>
        <p:spPr bwMode="auto">
          <a:xfrm>
            <a:off x="7897688" y="1916832"/>
            <a:ext cx="4174976" cy="2979020"/>
          </a:xfrm>
          <a:prstGeom prst="rect">
            <a:avLst/>
          </a:prstGeom>
          <a:noFill/>
          <a:ln w="9525">
            <a:noFill/>
            <a:miter lim="800000"/>
            <a:headEnd/>
            <a:tailEnd/>
          </a:ln>
        </p:spPr>
      </p:pic>
      <p:sp>
        <p:nvSpPr>
          <p:cNvPr id="3074" name="Rectangle 2"/>
          <p:cNvSpPr>
            <a:spLocks noGrp="1" noChangeArrowheads="1"/>
          </p:cNvSpPr>
          <p:nvPr>
            <p:ph type="ctrTitle"/>
          </p:nvPr>
        </p:nvSpPr>
        <p:spPr>
          <a:noFill/>
        </p:spPr>
        <p:txBody>
          <a:bodyPr/>
          <a:lstStyle/>
          <a:p>
            <a:r>
              <a:rPr lang="en-US" dirty="0"/>
              <a:t>Camera Models &amp; Augmented Reality</a:t>
            </a:r>
          </a:p>
        </p:txBody>
      </p:sp>
      <p:sp>
        <p:nvSpPr>
          <p:cNvPr id="3075" name="Rectangle 3"/>
          <p:cNvSpPr>
            <a:spLocks noGrp="1" noChangeArrowheads="1"/>
          </p:cNvSpPr>
          <p:nvPr>
            <p:ph type="subTitle" idx="1"/>
          </p:nvPr>
        </p:nvSpPr>
        <p:spPr>
          <a:xfrm>
            <a:off x="191344" y="5418532"/>
            <a:ext cx="8766739" cy="1178820"/>
          </a:xfrm>
          <a:noFill/>
        </p:spPr>
        <p:txBody>
          <a:bodyPr>
            <a:normAutofit/>
          </a:bodyPr>
          <a:lstStyle/>
          <a:p>
            <a:r>
              <a:rPr lang="en-US" sz="2000" b="1" dirty="0" err="1"/>
              <a:t>Szeliski</a:t>
            </a:r>
            <a:r>
              <a:rPr lang="en-US" sz="2000" b="1" dirty="0"/>
              <a:t> </a:t>
            </a:r>
            <a:r>
              <a:rPr lang="en-US" sz="2000" dirty="0"/>
              <a:t>R., Computer Vision - Algorithms and Applications, Springer, 2011</a:t>
            </a:r>
            <a:r>
              <a:rPr lang="en-US" sz="2000" b="1" dirty="0"/>
              <a:t>, </a:t>
            </a:r>
            <a:r>
              <a:rPr lang="en-US" sz="2000" dirty="0"/>
              <a:t>Ch. 2</a:t>
            </a:r>
          </a:p>
          <a:p>
            <a:r>
              <a:rPr lang="en-US" sz="2000" b="1" dirty="0" err="1"/>
              <a:t>Solem</a:t>
            </a:r>
            <a:r>
              <a:rPr lang="en-US" sz="2000" b="1" dirty="0"/>
              <a:t>, J.</a:t>
            </a:r>
            <a:r>
              <a:rPr lang="en-US" sz="2000" dirty="0"/>
              <a:t> E., 2012. Programming Computer Vision with Python: Tools and algorithms for analyzing images. "O'Reilly Media, Inc.“, Ch. 4</a:t>
            </a:r>
          </a:p>
        </p:txBody>
      </p:sp>
      <p:sp>
        <p:nvSpPr>
          <p:cNvPr id="6" name="TextBox 7"/>
          <p:cNvSpPr txBox="1">
            <a:spLocks noChangeArrowheads="1"/>
          </p:cNvSpPr>
          <p:nvPr/>
        </p:nvSpPr>
        <p:spPr bwMode="auto">
          <a:xfrm>
            <a:off x="4007768" y="1142985"/>
            <a:ext cx="3398687" cy="461665"/>
          </a:xfrm>
          <a:prstGeom prst="rect">
            <a:avLst/>
          </a:prstGeom>
          <a:noFill/>
          <a:ln w="9525">
            <a:noFill/>
            <a:miter lim="800000"/>
            <a:headEnd/>
            <a:tailEnd/>
          </a:ln>
        </p:spPr>
        <p:txBody>
          <a:bodyPr wrap="none">
            <a:spAutoFit/>
          </a:bodyPr>
          <a:lstStyle/>
          <a:p>
            <a:pPr algn="ctr"/>
            <a:r>
              <a:rPr lang="en-US" sz="2400" i="1" dirty="0">
                <a:latin typeface="Times New Roman" pitchFamily="18" charset="0"/>
                <a:cs typeface="Times New Roman" pitchFamily="18" charset="0"/>
              </a:rPr>
              <a:t>Last updated: 07-05-2020</a:t>
            </a:r>
          </a:p>
        </p:txBody>
      </p:sp>
      <p:sp>
        <p:nvSpPr>
          <p:cNvPr id="8" name="TextBox 7"/>
          <p:cNvSpPr txBox="1"/>
          <p:nvPr/>
        </p:nvSpPr>
        <p:spPr>
          <a:xfrm>
            <a:off x="8272586" y="5910371"/>
            <a:ext cx="3800078" cy="830997"/>
          </a:xfrm>
          <a:prstGeom prst="rect">
            <a:avLst/>
          </a:prstGeom>
          <a:solidFill>
            <a:schemeClr val="accent2"/>
          </a:solidFill>
        </p:spPr>
        <p:txBody>
          <a:bodyPr wrap="none"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algn="ctr"/>
            <a:r>
              <a:rPr lang="en-US" dirty="0">
                <a:solidFill>
                  <a:schemeClr val="bg1"/>
                </a:solidFill>
              </a:rPr>
              <a:t>Dr. Zulfiqar Habib, Professor</a:t>
            </a:r>
          </a:p>
          <a:p>
            <a:pPr algn="ctr"/>
            <a:r>
              <a:rPr lang="en-US" i="1" dirty="0">
                <a:hlinkClick r:id="rId4"/>
              </a:rPr>
              <a:t>http://vig.cuilahore.edu.pk</a:t>
            </a:r>
            <a:r>
              <a:rPr lang="en-US" i="1" dirty="0"/>
              <a:t> </a:t>
            </a:r>
          </a:p>
        </p:txBody>
      </p:sp>
      <p:pic>
        <p:nvPicPr>
          <p:cNvPr id="9" name="Picture 9" descr="view"/>
          <p:cNvPicPr>
            <a:picLocks noChangeAspect="1" noChangeArrowheads="1"/>
          </p:cNvPicPr>
          <p:nvPr/>
        </p:nvPicPr>
        <p:blipFill>
          <a:blip r:embed="rId5"/>
          <a:srcRect/>
          <a:stretch>
            <a:fillRect/>
          </a:stretch>
        </p:blipFill>
        <p:spPr>
          <a:xfrm>
            <a:off x="263352" y="1851893"/>
            <a:ext cx="4635500" cy="30892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6000" dirty="0"/>
              <a:t>Review</a:t>
            </a:r>
          </a:p>
        </p:txBody>
      </p:sp>
      <p:sp>
        <p:nvSpPr>
          <p:cNvPr id="3" name="Content Placeholder 2"/>
          <p:cNvSpPr>
            <a:spLocks noGrp="1"/>
          </p:cNvSpPr>
          <p:nvPr>
            <p:ph idx="1"/>
          </p:nvPr>
        </p:nvSpPr>
        <p:spPr/>
        <p:txBody>
          <a:bodyPr>
            <a:normAutofit/>
          </a:bodyPr>
          <a:lstStyle/>
          <a:p>
            <a:r>
              <a:rPr lang="en-US" sz="4000" dirty="0">
                <a:hlinkClick r:id="rId2"/>
              </a:rPr>
              <a:t>Geometric Transformation-3D.pptx</a:t>
            </a:r>
            <a:endParaRPr lang="en-US" sz="4000" dirty="0"/>
          </a:p>
          <a:p>
            <a:r>
              <a:rPr lang="en-US" sz="4000" dirty="0">
                <a:hlinkClick r:id="rId3"/>
              </a:rPr>
              <a:t>Image Registration.pptx</a:t>
            </a:r>
            <a:endParaRPr lang="en-US" sz="4000" dirty="0"/>
          </a:p>
        </p:txBody>
      </p:sp>
    </p:spTree>
    <p:extLst>
      <p:ext uri="{BB962C8B-B14F-4D97-AF65-F5344CB8AC3E}">
        <p14:creationId xmlns:p14="http://schemas.microsoft.com/office/powerpoint/2010/main" val="1672771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2" descr="alhacen"/>
          <p:cNvPicPr>
            <a:picLocks noChangeAspect="1" noChangeArrowheads="1"/>
          </p:cNvPicPr>
          <p:nvPr/>
        </p:nvPicPr>
        <p:blipFill>
          <a:blip r:embed="rId3" cstate="print"/>
          <a:srcRect r="554"/>
          <a:stretch>
            <a:fillRect/>
          </a:stretch>
        </p:blipFill>
        <p:spPr bwMode="auto">
          <a:xfrm>
            <a:off x="6678860" y="1235006"/>
            <a:ext cx="2571750" cy="1163638"/>
          </a:xfrm>
          <a:prstGeom prst="rect">
            <a:avLst/>
          </a:prstGeom>
          <a:noFill/>
          <a:ln w="9525">
            <a:noFill/>
            <a:miter lim="800000"/>
            <a:headEnd/>
            <a:tailEnd/>
          </a:ln>
        </p:spPr>
      </p:pic>
      <p:sp>
        <p:nvSpPr>
          <p:cNvPr id="2052" name="Rectangle 3"/>
          <p:cNvSpPr>
            <a:spLocks noGrp="1" noChangeArrowheads="1"/>
          </p:cNvSpPr>
          <p:nvPr>
            <p:ph type="title"/>
          </p:nvPr>
        </p:nvSpPr>
        <p:spPr>
          <a:xfrm>
            <a:off x="263352" y="0"/>
            <a:ext cx="9947448" cy="1143000"/>
          </a:xfrm>
        </p:spPr>
        <p:txBody>
          <a:bodyPr>
            <a:normAutofit/>
          </a:bodyPr>
          <a:lstStyle/>
          <a:p>
            <a:r>
              <a:rPr lang="en-US" sz="6000" dirty="0"/>
              <a:t>Historical Context</a:t>
            </a:r>
          </a:p>
        </p:txBody>
      </p:sp>
      <p:sp>
        <p:nvSpPr>
          <p:cNvPr id="2053" name="Rectangle 4"/>
          <p:cNvSpPr>
            <a:spLocks noGrp="1" noChangeArrowheads="1"/>
          </p:cNvSpPr>
          <p:nvPr>
            <p:ph type="body" idx="1"/>
          </p:nvPr>
        </p:nvSpPr>
        <p:spPr>
          <a:xfrm>
            <a:off x="263352" y="1390600"/>
            <a:ext cx="8928992" cy="5206752"/>
          </a:xfrm>
        </p:spPr>
        <p:txBody>
          <a:bodyPr>
            <a:noAutofit/>
          </a:bodyPr>
          <a:lstStyle/>
          <a:p>
            <a:pPr marL="381000" indent="-381000" algn="l">
              <a:spcBef>
                <a:spcPts val="0"/>
              </a:spcBef>
              <a:buFont typeface="Courier New" pitchFamily="49" charset="0"/>
              <a:buChar char="o"/>
            </a:pPr>
            <a:r>
              <a:rPr lang="en-US" sz="2400" b="1" dirty="0"/>
              <a:t>Pinhole model:</a:t>
            </a:r>
            <a:r>
              <a:rPr lang="en-US" sz="2400" dirty="0"/>
              <a:t> </a:t>
            </a:r>
            <a:r>
              <a:rPr lang="en-US" sz="2400" dirty="0" err="1"/>
              <a:t>Mozi</a:t>
            </a:r>
            <a:r>
              <a:rPr lang="en-US" sz="2400" dirty="0"/>
              <a:t> (470-390 BC), </a:t>
            </a:r>
            <a:br>
              <a:rPr lang="en-US" sz="2400" dirty="0"/>
            </a:br>
            <a:r>
              <a:rPr lang="en-US" sz="2400" dirty="0"/>
              <a:t>Aristotle (384-322 BC)</a:t>
            </a:r>
          </a:p>
          <a:p>
            <a:pPr marL="381000" indent="-381000" algn="l">
              <a:spcBef>
                <a:spcPts val="0"/>
              </a:spcBef>
              <a:buFont typeface="Courier New" pitchFamily="49" charset="0"/>
              <a:buChar char="o"/>
            </a:pPr>
            <a:r>
              <a:rPr lang="en-US" sz="2400" b="1" dirty="0"/>
              <a:t>Principles of optics (including lenses):</a:t>
            </a:r>
            <a:r>
              <a:rPr lang="en-US" sz="2400" dirty="0"/>
              <a:t> </a:t>
            </a:r>
            <a:br>
              <a:rPr lang="en-US" sz="2400" dirty="0"/>
            </a:br>
            <a:r>
              <a:rPr lang="en-US" sz="2400" dirty="0" err="1"/>
              <a:t>Alhacen</a:t>
            </a:r>
            <a:r>
              <a:rPr lang="en-US" sz="2400" dirty="0"/>
              <a:t> (965-1039)  </a:t>
            </a:r>
          </a:p>
          <a:p>
            <a:pPr marL="381000" indent="-381000" algn="l">
              <a:spcBef>
                <a:spcPts val="0"/>
              </a:spcBef>
              <a:buFont typeface="Courier New" pitchFamily="49" charset="0"/>
              <a:buChar char="o"/>
            </a:pPr>
            <a:r>
              <a:rPr lang="en-US" sz="2400" b="1" dirty="0"/>
              <a:t>Camera </a:t>
            </a:r>
            <a:r>
              <a:rPr lang="en-US" sz="2400" b="1" dirty="0" err="1"/>
              <a:t>obscura</a:t>
            </a:r>
            <a:r>
              <a:rPr lang="en-US" sz="2400" b="1" dirty="0"/>
              <a:t> </a:t>
            </a:r>
            <a:r>
              <a:rPr lang="en-US" sz="2400" dirty="0"/>
              <a:t>(unclear)</a:t>
            </a:r>
            <a:r>
              <a:rPr lang="en-US" sz="2400" b="1" dirty="0"/>
              <a:t>:</a:t>
            </a:r>
            <a:r>
              <a:rPr lang="en-US" sz="2400" dirty="0"/>
              <a:t> Leonardo da Vinci (1452-1519), Johann Zahn (1631-1707)</a:t>
            </a:r>
          </a:p>
          <a:p>
            <a:pPr marL="381000" indent="-381000" algn="l">
              <a:spcBef>
                <a:spcPts val="0"/>
              </a:spcBef>
              <a:buFont typeface="Courier New" pitchFamily="49" charset="0"/>
              <a:buChar char="o"/>
            </a:pPr>
            <a:r>
              <a:rPr lang="en-US" sz="2400" b="1" dirty="0"/>
              <a:t>First photo:</a:t>
            </a:r>
            <a:r>
              <a:rPr lang="en-US" sz="2400" dirty="0"/>
              <a:t> Joseph </a:t>
            </a:r>
            <a:r>
              <a:rPr lang="en-US" sz="2400" dirty="0" err="1"/>
              <a:t>Nicephore</a:t>
            </a:r>
            <a:r>
              <a:rPr lang="en-US" sz="2400" dirty="0"/>
              <a:t> </a:t>
            </a:r>
            <a:r>
              <a:rPr lang="en-US" sz="2400" dirty="0" err="1"/>
              <a:t>Niepce</a:t>
            </a:r>
            <a:r>
              <a:rPr lang="en-US" sz="2400" dirty="0"/>
              <a:t> (1822)</a:t>
            </a:r>
          </a:p>
          <a:p>
            <a:pPr marL="381000" indent="-381000" algn="l">
              <a:spcBef>
                <a:spcPts val="0"/>
              </a:spcBef>
              <a:buFont typeface="Courier New" pitchFamily="49" charset="0"/>
              <a:buChar char="o"/>
            </a:pPr>
            <a:r>
              <a:rPr lang="en-US" sz="2400" b="1" dirty="0" err="1"/>
              <a:t>Daguerréotypes</a:t>
            </a:r>
            <a:r>
              <a:rPr lang="en-US" sz="2400" b="1" dirty="0"/>
              <a:t> </a:t>
            </a:r>
            <a:r>
              <a:rPr lang="en-US" sz="2400" dirty="0"/>
              <a:t>(1839)</a:t>
            </a:r>
          </a:p>
          <a:p>
            <a:pPr marL="381000" indent="-381000" algn="l">
              <a:spcBef>
                <a:spcPts val="0"/>
              </a:spcBef>
              <a:buFont typeface="Courier New" pitchFamily="49" charset="0"/>
              <a:buChar char="o"/>
            </a:pPr>
            <a:r>
              <a:rPr lang="en-US" sz="2400" b="1" dirty="0"/>
              <a:t>Photographic film</a:t>
            </a:r>
            <a:r>
              <a:rPr lang="en-US" sz="2400" dirty="0"/>
              <a:t> (Eastman, 1889)</a:t>
            </a:r>
          </a:p>
          <a:p>
            <a:pPr marL="381000" indent="-381000" algn="l">
              <a:spcBef>
                <a:spcPts val="0"/>
              </a:spcBef>
              <a:buFont typeface="Courier New" pitchFamily="49" charset="0"/>
              <a:buChar char="o"/>
            </a:pPr>
            <a:r>
              <a:rPr lang="en-US" sz="2400" b="1" dirty="0"/>
              <a:t>Cinema </a:t>
            </a:r>
            <a:r>
              <a:rPr lang="en-US" sz="2400" dirty="0"/>
              <a:t>(Lumière Brothers, 1895)</a:t>
            </a:r>
          </a:p>
          <a:p>
            <a:pPr marL="381000" indent="-381000" algn="l">
              <a:spcBef>
                <a:spcPts val="0"/>
              </a:spcBef>
              <a:buFont typeface="Courier New" pitchFamily="49" charset="0"/>
              <a:buChar char="o"/>
            </a:pPr>
            <a:r>
              <a:rPr lang="en-US" sz="2400" b="1" dirty="0"/>
              <a:t>Color Photography</a:t>
            </a:r>
            <a:r>
              <a:rPr lang="en-US" sz="2400" dirty="0"/>
              <a:t> (Lumière Brothers, 1908)</a:t>
            </a:r>
          </a:p>
          <a:p>
            <a:pPr marL="381000" indent="-381000" algn="l">
              <a:spcBef>
                <a:spcPts val="0"/>
              </a:spcBef>
              <a:buFont typeface="Courier New" pitchFamily="49" charset="0"/>
              <a:buChar char="o"/>
            </a:pPr>
            <a:r>
              <a:rPr lang="en-US" sz="2400" b="1" dirty="0"/>
              <a:t>Television </a:t>
            </a:r>
            <a:r>
              <a:rPr lang="en-US" sz="2400" dirty="0"/>
              <a:t>(Baird, Farnsworth, Zworykin, 1920s)</a:t>
            </a:r>
          </a:p>
          <a:p>
            <a:pPr marL="381000" indent="-381000" algn="l">
              <a:spcBef>
                <a:spcPts val="0"/>
              </a:spcBef>
              <a:buFont typeface="Courier New" pitchFamily="49" charset="0"/>
              <a:buChar char="o"/>
            </a:pPr>
            <a:r>
              <a:rPr lang="en-US" sz="2400" b="1" dirty="0"/>
              <a:t>First consumer camera with CCD</a:t>
            </a:r>
            <a:r>
              <a:rPr lang="en-US" sz="2400" dirty="0"/>
              <a:t>: Sony </a:t>
            </a:r>
            <a:r>
              <a:rPr lang="en-US" sz="2400" dirty="0" err="1"/>
              <a:t>Mavica</a:t>
            </a:r>
            <a:r>
              <a:rPr lang="en-US" sz="2400" dirty="0"/>
              <a:t> (1981)</a:t>
            </a:r>
          </a:p>
          <a:p>
            <a:pPr marL="381000" indent="-381000" algn="l">
              <a:spcBef>
                <a:spcPts val="0"/>
              </a:spcBef>
              <a:buFont typeface="Courier New" pitchFamily="49" charset="0"/>
              <a:buChar char="o"/>
            </a:pPr>
            <a:r>
              <a:rPr lang="en-US" sz="2400" b="1" dirty="0"/>
              <a:t>First fully digital camera:</a:t>
            </a:r>
            <a:r>
              <a:rPr lang="en-US" sz="2400" dirty="0"/>
              <a:t> Kodak DCS100 (1990)</a:t>
            </a:r>
          </a:p>
        </p:txBody>
      </p:sp>
      <p:graphicFrame>
        <p:nvGraphicFramePr>
          <p:cNvPr id="2050" name="Object 2"/>
          <p:cNvGraphicFramePr>
            <a:graphicFrameLocks noGrp="1" noChangeAspect="1"/>
          </p:cNvGraphicFramePr>
          <p:nvPr>
            <p:ph sz="half" idx="4294967295"/>
            <p:extLst>
              <p:ext uri="{D42A27DB-BD31-4B8C-83A1-F6EECF244321}">
                <p14:modId xmlns:p14="http://schemas.microsoft.com/office/powerpoint/2010/main" val="2468261339"/>
              </p:ext>
            </p:extLst>
          </p:nvPr>
        </p:nvGraphicFramePr>
        <p:xfrm>
          <a:off x="9367936" y="2739009"/>
          <a:ext cx="2590800" cy="1603375"/>
        </p:xfrm>
        <a:graphic>
          <a:graphicData uri="http://schemas.openxmlformats.org/presentationml/2006/ole">
            <mc:AlternateContent xmlns:mc="http://schemas.openxmlformats.org/markup-compatibility/2006">
              <mc:Choice xmlns:v="urn:schemas-microsoft-com:vml" Requires="v">
                <p:oleObj name="Image" r:id="rId4" imgW="7706801" imgH="4772691" progId="">
                  <p:embed/>
                </p:oleObj>
              </mc:Choice>
              <mc:Fallback>
                <p:oleObj name="Image" r:id="rId4" imgW="7706801" imgH="4772691" progId="">
                  <p:embed/>
                  <p:pic>
                    <p:nvPicPr>
                      <p:cNvPr id="2050" name="Object 2"/>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67936" y="2739009"/>
                        <a:ext cx="2590800" cy="160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054" name="Picture 6"/>
          <p:cNvPicPr>
            <a:picLocks noChangeAspect="1" noChangeArrowheads="1"/>
          </p:cNvPicPr>
          <p:nvPr/>
        </p:nvPicPr>
        <p:blipFill>
          <a:blip r:embed="rId6" cstate="print"/>
          <a:srcRect/>
          <a:stretch>
            <a:fillRect/>
          </a:stretch>
        </p:blipFill>
        <p:spPr bwMode="auto">
          <a:xfrm>
            <a:off x="9367936" y="4800600"/>
            <a:ext cx="2590800" cy="1727200"/>
          </a:xfrm>
          <a:prstGeom prst="rect">
            <a:avLst/>
          </a:prstGeom>
          <a:noFill/>
          <a:ln w="9525">
            <a:noFill/>
            <a:miter lim="800000"/>
            <a:headEnd/>
            <a:tailEnd/>
          </a:ln>
        </p:spPr>
      </p:pic>
      <p:sp>
        <p:nvSpPr>
          <p:cNvPr id="2055" name="Rectangle 7"/>
          <p:cNvSpPr>
            <a:spLocks noChangeArrowheads="1"/>
          </p:cNvSpPr>
          <p:nvPr/>
        </p:nvSpPr>
        <p:spPr bwMode="auto">
          <a:xfrm>
            <a:off x="9192344" y="4339208"/>
            <a:ext cx="2859360" cy="338554"/>
          </a:xfrm>
          <a:prstGeom prst="rect">
            <a:avLst/>
          </a:prstGeom>
          <a:noFill/>
          <a:ln w="9525">
            <a:noFill/>
            <a:miter lim="800000"/>
            <a:headEnd/>
            <a:tailEnd/>
          </a:ln>
        </p:spPr>
        <p:txBody>
          <a:bodyPr wrap="square">
            <a:spAutoFit/>
          </a:bodyPr>
          <a:lstStyle/>
          <a:p>
            <a:r>
              <a:rPr lang="en-US" sz="1600" dirty="0">
                <a:latin typeface="Times New Roman" panose="02020603050405020304" pitchFamily="18" charset="0"/>
                <a:cs typeface="Times New Roman" panose="02020603050405020304" pitchFamily="18" charset="0"/>
              </a:rPr>
              <a:t>Niepce, “La Table </a:t>
            </a:r>
            <a:r>
              <a:rPr lang="en-US" sz="1600" dirty="0" err="1">
                <a:latin typeface="Times New Roman" panose="02020603050405020304" pitchFamily="18" charset="0"/>
                <a:cs typeface="Times New Roman" panose="02020603050405020304" pitchFamily="18" charset="0"/>
              </a:rPr>
              <a:t>Servie</a:t>
            </a:r>
            <a:r>
              <a:rPr lang="en-US" sz="1600" dirty="0">
                <a:latin typeface="Times New Roman" panose="02020603050405020304" pitchFamily="18" charset="0"/>
                <a:cs typeface="Times New Roman" panose="02020603050405020304" pitchFamily="18" charset="0"/>
              </a:rPr>
              <a:t>,” 1822</a:t>
            </a:r>
          </a:p>
        </p:txBody>
      </p:sp>
      <p:sp>
        <p:nvSpPr>
          <p:cNvPr id="2056" name="Rectangle 8"/>
          <p:cNvSpPr>
            <a:spLocks noChangeArrowheads="1"/>
          </p:cNvSpPr>
          <p:nvPr/>
        </p:nvSpPr>
        <p:spPr bwMode="auto">
          <a:xfrm>
            <a:off x="9367936" y="6553200"/>
            <a:ext cx="2590800" cy="338554"/>
          </a:xfrm>
          <a:prstGeom prst="rect">
            <a:avLst/>
          </a:prstGeom>
          <a:noFill/>
          <a:ln w="9525">
            <a:noFill/>
            <a:miter lim="800000"/>
            <a:headEnd/>
            <a:tailEnd/>
          </a:ln>
        </p:spPr>
        <p:txBody>
          <a:bodyPr>
            <a:spAutoFit/>
          </a:bodyPr>
          <a:lstStyle/>
          <a:p>
            <a:pPr algn="ctr"/>
            <a:r>
              <a:rPr lang="en-US" sz="1600" dirty="0">
                <a:latin typeface="Times New Roman" panose="02020603050405020304" pitchFamily="18" charset="0"/>
                <a:cs typeface="Times New Roman" panose="02020603050405020304" pitchFamily="18" charset="0"/>
              </a:rPr>
              <a:t>CCD chip</a:t>
            </a:r>
          </a:p>
        </p:txBody>
      </p:sp>
      <p:sp>
        <p:nvSpPr>
          <p:cNvPr id="2057" name="Rectangle 9"/>
          <p:cNvSpPr>
            <a:spLocks noChangeArrowheads="1"/>
          </p:cNvSpPr>
          <p:nvPr/>
        </p:nvSpPr>
        <p:spPr bwMode="auto">
          <a:xfrm>
            <a:off x="6672064" y="2370366"/>
            <a:ext cx="2590800" cy="338554"/>
          </a:xfrm>
          <a:prstGeom prst="rect">
            <a:avLst/>
          </a:prstGeom>
          <a:noFill/>
          <a:ln w="9525">
            <a:noFill/>
            <a:miter lim="800000"/>
            <a:headEnd/>
            <a:tailEnd/>
          </a:ln>
        </p:spPr>
        <p:txBody>
          <a:bodyPr>
            <a:spAutoFit/>
          </a:bodyPr>
          <a:lstStyle/>
          <a:p>
            <a:pPr algn="ctr"/>
            <a:r>
              <a:rPr lang="en-US" sz="1600" dirty="0" err="1">
                <a:latin typeface="Times New Roman" panose="02020603050405020304" pitchFamily="18" charset="0"/>
                <a:cs typeface="Times New Roman" panose="02020603050405020304" pitchFamily="18" charset="0"/>
              </a:rPr>
              <a:t>Alhacen’s</a:t>
            </a:r>
            <a:r>
              <a:rPr lang="en-US" sz="1600" dirty="0">
                <a:latin typeface="Times New Roman" panose="02020603050405020304" pitchFamily="18" charset="0"/>
                <a:cs typeface="Times New Roman" panose="02020603050405020304" pitchFamily="18" charset="0"/>
              </a:rPr>
              <a:t> notes</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custDataLst>
              <p:tags r:id="rId1"/>
            </p:custDataLst>
          </p:nvPr>
        </p:nvSpPr>
        <p:spPr/>
        <p:txBody>
          <a:bodyPr>
            <a:noAutofit/>
          </a:bodyPr>
          <a:lstStyle/>
          <a:p>
            <a:r>
              <a:rPr lang="en-US" sz="6000" dirty="0"/>
              <a:t>Image Formation</a:t>
            </a:r>
          </a:p>
        </p:txBody>
      </p:sp>
      <p:sp>
        <p:nvSpPr>
          <p:cNvPr id="6147" name="Rectangle 3"/>
          <p:cNvSpPr>
            <a:spLocks noGrp="1" noChangeArrowheads="1"/>
          </p:cNvSpPr>
          <p:nvPr>
            <p:ph type="body" idx="1"/>
            <p:custDataLst>
              <p:tags r:id="rId2"/>
            </p:custDataLst>
          </p:nvPr>
        </p:nvSpPr>
        <p:spPr>
          <a:xfrm>
            <a:off x="119336" y="1413520"/>
            <a:ext cx="5904656" cy="1295400"/>
          </a:xfrm>
        </p:spPr>
        <p:txBody>
          <a:bodyPr rtlCol="0">
            <a:noAutofit/>
          </a:bodyPr>
          <a:lstStyle/>
          <a:p>
            <a:pPr>
              <a:defRPr/>
            </a:pPr>
            <a:r>
              <a:rPr lang="en-US" sz="3600" dirty="0"/>
              <a:t>Let’s design a camera</a:t>
            </a:r>
          </a:p>
          <a:p>
            <a:pPr lvl="1">
              <a:buFont typeface="Wingdings" pitchFamily="2" charset="2"/>
              <a:buChar char="§"/>
              <a:defRPr/>
            </a:pPr>
            <a:r>
              <a:rPr lang="en-US" sz="3200" dirty="0"/>
              <a:t>Idea 1:  put a piece of film in front of an object</a:t>
            </a:r>
          </a:p>
          <a:p>
            <a:pPr lvl="1">
              <a:buFont typeface="Wingdings" pitchFamily="2" charset="2"/>
              <a:buChar char="§"/>
              <a:defRPr/>
            </a:pPr>
            <a:r>
              <a:rPr lang="en-US" sz="3200" dirty="0"/>
              <a:t>Do we get a reasonable image?</a:t>
            </a:r>
          </a:p>
        </p:txBody>
      </p:sp>
      <p:pic>
        <p:nvPicPr>
          <p:cNvPr id="6148" name="Picture 4" descr="image-nothing"/>
          <p:cNvPicPr>
            <a:picLocks noChangeAspect="1" noChangeArrowheads="1"/>
          </p:cNvPicPr>
          <p:nvPr>
            <p:custDataLst>
              <p:tags r:id="rId3"/>
            </p:custDataLst>
          </p:nvPr>
        </p:nvPicPr>
        <p:blipFill>
          <a:blip r:embed="rId18" cstate="print"/>
          <a:srcRect/>
          <a:stretch>
            <a:fillRect/>
          </a:stretch>
        </p:blipFill>
        <p:spPr bwMode="auto">
          <a:xfrm>
            <a:off x="6659860" y="1628800"/>
            <a:ext cx="5484812" cy="2247900"/>
          </a:xfrm>
          <a:prstGeom prst="rect">
            <a:avLst/>
          </a:prstGeom>
          <a:noFill/>
          <a:ln w="9525">
            <a:noFill/>
            <a:miter lim="800000"/>
            <a:headEnd/>
            <a:tailEnd/>
          </a:ln>
        </p:spPr>
      </p:pic>
      <p:grpSp>
        <p:nvGrpSpPr>
          <p:cNvPr id="2" name="Group 17"/>
          <p:cNvGrpSpPr>
            <a:grpSpLocks/>
          </p:cNvGrpSpPr>
          <p:nvPr>
            <p:custDataLst>
              <p:tags r:id="rId4"/>
            </p:custDataLst>
          </p:nvPr>
        </p:nvGrpSpPr>
        <p:grpSpPr bwMode="auto">
          <a:xfrm>
            <a:off x="7121252" y="2476500"/>
            <a:ext cx="4724400" cy="1524000"/>
            <a:chOff x="1536" y="1248"/>
            <a:chExt cx="2976" cy="960"/>
          </a:xfrm>
        </p:grpSpPr>
        <p:sp>
          <p:nvSpPr>
            <p:cNvPr id="6159" name="Line 7"/>
            <p:cNvSpPr>
              <a:spLocks noChangeShapeType="1"/>
            </p:cNvSpPr>
            <p:nvPr>
              <p:custDataLst>
                <p:tags r:id="rId13"/>
              </p:custDataLst>
            </p:nvPr>
          </p:nvSpPr>
          <p:spPr bwMode="auto">
            <a:xfrm>
              <a:off x="1536" y="1248"/>
              <a:ext cx="2976" cy="960"/>
            </a:xfrm>
            <a:prstGeom prst="line">
              <a:avLst/>
            </a:prstGeom>
            <a:noFill/>
            <a:ln w="19050">
              <a:solidFill>
                <a:srgbClr val="FF0000"/>
              </a:solidFill>
              <a:round/>
              <a:headEnd/>
              <a:tailEnd type="triangle" w="med" len="med"/>
            </a:ln>
          </p:spPr>
          <p:txBody>
            <a:bodyPr/>
            <a:lstStyle/>
            <a:p>
              <a:endParaRPr lang="en-US"/>
            </a:p>
          </p:txBody>
        </p:sp>
        <p:sp>
          <p:nvSpPr>
            <p:cNvPr id="6160" name="Line 8"/>
            <p:cNvSpPr>
              <a:spLocks noChangeShapeType="1"/>
            </p:cNvSpPr>
            <p:nvPr>
              <p:custDataLst>
                <p:tags r:id="rId14"/>
              </p:custDataLst>
            </p:nvPr>
          </p:nvSpPr>
          <p:spPr bwMode="auto">
            <a:xfrm>
              <a:off x="1536" y="1248"/>
              <a:ext cx="2976" cy="672"/>
            </a:xfrm>
            <a:prstGeom prst="line">
              <a:avLst/>
            </a:prstGeom>
            <a:noFill/>
            <a:ln w="19050">
              <a:solidFill>
                <a:srgbClr val="FF0000"/>
              </a:solidFill>
              <a:round/>
              <a:headEnd/>
              <a:tailEnd type="triangle" w="med" len="med"/>
            </a:ln>
          </p:spPr>
          <p:txBody>
            <a:bodyPr/>
            <a:lstStyle/>
            <a:p>
              <a:endParaRPr lang="en-US"/>
            </a:p>
          </p:txBody>
        </p:sp>
        <p:sp>
          <p:nvSpPr>
            <p:cNvPr id="6161" name="Line 9"/>
            <p:cNvSpPr>
              <a:spLocks noChangeShapeType="1"/>
            </p:cNvSpPr>
            <p:nvPr>
              <p:custDataLst>
                <p:tags r:id="rId15"/>
              </p:custDataLst>
            </p:nvPr>
          </p:nvSpPr>
          <p:spPr bwMode="auto">
            <a:xfrm>
              <a:off x="1536" y="1248"/>
              <a:ext cx="2976" cy="384"/>
            </a:xfrm>
            <a:prstGeom prst="line">
              <a:avLst/>
            </a:prstGeom>
            <a:noFill/>
            <a:ln w="19050">
              <a:solidFill>
                <a:srgbClr val="FF0000"/>
              </a:solidFill>
              <a:round/>
              <a:headEnd/>
              <a:tailEnd type="triangle" w="med" len="med"/>
            </a:ln>
          </p:spPr>
          <p:txBody>
            <a:bodyPr/>
            <a:lstStyle/>
            <a:p>
              <a:endParaRPr lang="en-US"/>
            </a:p>
          </p:txBody>
        </p:sp>
      </p:grpSp>
      <p:sp>
        <p:nvSpPr>
          <p:cNvPr id="542730" name="Line 10"/>
          <p:cNvSpPr>
            <a:spLocks noChangeShapeType="1"/>
          </p:cNvSpPr>
          <p:nvPr>
            <p:custDataLst>
              <p:tags r:id="rId5"/>
            </p:custDataLst>
          </p:nvPr>
        </p:nvSpPr>
        <p:spPr bwMode="auto">
          <a:xfrm>
            <a:off x="7121252" y="2476500"/>
            <a:ext cx="4724400" cy="228600"/>
          </a:xfrm>
          <a:prstGeom prst="line">
            <a:avLst/>
          </a:prstGeom>
          <a:noFill/>
          <a:ln w="19050">
            <a:solidFill>
              <a:srgbClr val="FF0000"/>
            </a:solidFill>
            <a:round/>
            <a:headEnd/>
            <a:tailEnd type="triangle" w="med" len="med"/>
          </a:ln>
        </p:spPr>
        <p:txBody>
          <a:bodyPr/>
          <a:lstStyle/>
          <a:p>
            <a:endParaRPr lang="en-US"/>
          </a:p>
        </p:txBody>
      </p:sp>
      <p:grpSp>
        <p:nvGrpSpPr>
          <p:cNvPr id="3" name="Group 16"/>
          <p:cNvGrpSpPr>
            <a:grpSpLocks/>
          </p:cNvGrpSpPr>
          <p:nvPr>
            <p:custDataLst>
              <p:tags r:id="rId6"/>
            </p:custDataLst>
          </p:nvPr>
        </p:nvGrpSpPr>
        <p:grpSpPr bwMode="auto">
          <a:xfrm>
            <a:off x="7426052" y="2705100"/>
            <a:ext cx="4419600" cy="1295400"/>
            <a:chOff x="1728" y="1392"/>
            <a:chExt cx="2784" cy="816"/>
          </a:xfrm>
        </p:grpSpPr>
        <p:grpSp>
          <p:nvGrpSpPr>
            <p:cNvPr id="4" name="Group 15"/>
            <p:cNvGrpSpPr>
              <a:grpSpLocks/>
            </p:cNvGrpSpPr>
            <p:nvPr/>
          </p:nvGrpSpPr>
          <p:grpSpPr bwMode="auto">
            <a:xfrm>
              <a:off x="1728" y="1392"/>
              <a:ext cx="2784" cy="528"/>
              <a:chOff x="1728" y="1392"/>
              <a:chExt cx="2784" cy="528"/>
            </a:xfrm>
          </p:grpSpPr>
          <p:sp>
            <p:nvSpPr>
              <p:cNvPr id="6156" name="Line 11"/>
              <p:cNvSpPr>
                <a:spLocks noChangeShapeType="1"/>
              </p:cNvSpPr>
              <p:nvPr>
                <p:custDataLst>
                  <p:tags r:id="rId10"/>
                </p:custDataLst>
              </p:nvPr>
            </p:nvSpPr>
            <p:spPr bwMode="auto">
              <a:xfrm flipV="1">
                <a:off x="1728" y="1392"/>
                <a:ext cx="2784" cy="240"/>
              </a:xfrm>
              <a:prstGeom prst="line">
                <a:avLst/>
              </a:prstGeom>
              <a:noFill/>
              <a:ln w="19050">
                <a:solidFill>
                  <a:schemeClr val="folHlink"/>
                </a:solidFill>
                <a:round/>
                <a:headEnd/>
                <a:tailEnd type="triangle" w="med" len="med"/>
              </a:ln>
            </p:spPr>
            <p:txBody>
              <a:bodyPr/>
              <a:lstStyle/>
              <a:p>
                <a:endParaRPr lang="en-US"/>
              </a:p>
            </p:txBody>
          </p:sp>
          <p:sp>
            <p:nvSpPr>
              <p:cNvPr id="6157" name="Line 12"/>
              <p:cNvSpPr>
                <a:spLocks noChangeShapeType="1"/>
              </p:cNvSpPr>
              <p:nvPr>
                <p:custDataLst>
                  <p:tags r:id="rId11"/>
                </p:custDataLst>
              </p:nvPr>
            </p:nvSpPr>
            <p:spPr bwMode="auto">
              <a:xfrm>
                <a:off x="1728" y="1632"/>
                <a:ext cx="2784" cy="0"/>
              </a:xfrm>
              <a:prstGeom prst="line">
                <a:avLst/>
              </a:prstGeom>
              <a:noFill/>
              <a:ln w="19050">
                <a:solidFill>
                  <a:schemeClr val="folHlink"/>
                </a:solidFill>
                <a:round/>
                <a:headEnd/>
                <a:tailEnd type="triangle" w="med" len="med"/>
              </a:ln>
            </p:spPr>
            <p:txBody>
              <a:bodyPr/>
              <a:lstStyle/>
              <a:p>
                <a:endParaRPr lang="en-US"/>
              </a:p>
            </p:txBody>
          </p:sp>
          <p:sp>
            <p:nvSpPr>
              <p:cNvPr id="6158" name="Line 13"/>
              <p:cNvSpPr>
                <a:spLocks noChangeShapeType="1"/>
              </p:cNvSpPr>
              <p:nvPr>
                <p:custDataLst>
                  <p:tags r:id="rId12"/>
                </p:custDataLst>
              </p:nvPr>
            </p:nvSpPr>
            <p:spPr bwMode="auto">
              <a:xfrm>
                <a:off x="1728" y="1632"/>
                <a:ext cx="2784" cy="288"/>
              </a:xfrm>
              <a:prstGeom prst="line">
                <a:avLst/>
              </a:prstGeom>
              <a:noFill/>
              <a:ln w="19050">
                <a:solidFill>
                  <a:schemeClr val="folHlink"/>
                </a:solidFill>
                <a:round/>
                <a:headEnd/>
                <a:tailEnd type="triangle" w="med" len="med"/>
              </a:ln>
            </p:spPr>
            <p:txBody>
              <a:bodyPr/>
              <a:lstStyle/>
              <a:p>
                <a:endParaRPr lang="en-US"/>
              </a:p>
            </p:txBody>
          </p:sp>
        </p:grpSp>
        <p:sp>
          <p:nvSpPr>
            <p:cNvPr id="6155" name="Line 14"/>
            <p:cNvSpPr>
              <a:spLocks noChangeShapeType="1"/>
            </p:cNvSpPr>
            <p:nvPr>
              <p:custDataLst>
                <p:tags r:id="rId9"/>
              </p:custDataLst>
            </p:nvPr>
          </p:nvSpPr>
          <p:spPr bwMode="auto">
            <a:xfrm>
              <a:off x="1728" y="1632"/>
              <a:ext cx="2784" cy="576"/>
            </a:xfrm>
            <a:prstGeom prst="line">
              <a:avLst/>
            </a:prstGeom>
            <a:noFill/>
            <a:ln w="19050">
              <a:solidFill>
                <a:schemeClr val="folHlink"/>
              </a:solidFill>
              <a:round/>
              <a:headEnd/>
              <a:tailEnd type="triangle" w="med" len="med"/>
            </a:ln>
          </p:spPr>
          <p:txBody>
            <a:bodyPr/>
            <a:lstStyle/>
            <a:p>
              <a:endParaRPr lang="en-US"/>
            </a:p>
          </p:txBody>
        </p:sp>
      </p:grpSp>
      <p:sp>
        <p:nvSpPr>
          <p:cNvPr id="6152" name="Oval 18"/>
          <p:cNvSpPr>
            <a:spLocks noChangeArrowheads="1"/>
          </p:cNvSpPr>
          <p:nvPr>
            <p:custDataLst>
              <p:tags r:id="rId7"/>
            </p:custDataLst>
          </p:nvPr>
        </p:nvSpPr>
        <p:spPr bwMode="auto">
          <a:xfrm>
            <a:off x="7076802" y="2444750"/>
            <a:ext cx="76200" cy="76200"/>
          </a:xfrm>
          <a:prstGeom prst="ellipse">
            <a:avLst/>
          </a:prstGeom>
          <a:solidFill>
            <a:srgbClr val="FF0000"/>
          </a:solidFill>
          <a:ln w="9525">
            <a:solidFill>
              <a:schemeClr val="tx1"/>
            </a:solidFill>
            <a:round/>
            <a:headEnd/>
            <a:tailEnd/>
          </a:ln>
        </p:spPr>
        <p:txBody>
          <a:bodyPr wrap="none" anchor="ctr"/>
          <a:lstStyle/>
          <a:p>
            <a:endParaRPr lang="en-US">
              <a:latin typeface="Calibri" pitchFamily="34" charset="0"/>
            </a:endParaRPr>
          </a:p>
        </p:txBody>
      </p:sp>
      <p:sp>
        <p:nvSpPr>
          <p:cNvPr id="6153" name="Oval 19"/>
          <p:cNvSpPr>
            <a:spLocks noChangeArrowheads="1"/>
          </p:cNvSpPr>
          <p:nvPr>
            <p:custDataLst>
              <p:tags r:id="rId8"/>
            </p:custDataLst>
          </p:nvPr>
        </p:nvSpPr>
        <p:spPr bwMode="auto">
          <a:xfrm>
            <a:off x="7394302" y="3052763"/>
            <a:ext cx="76200" cy="76200"/>
          </a:xfrm>
          <a:prstGeom prst="ellipse">
            <a:avLst/>
          </a:prstGeom>
          <a:solidFill>
            <a:schemeClr val="folHlink"/>
          </a:solidFill>
          <a:ln w="9525">
            <a:solidFill>
              <a:schemeClr val="tx1"/>
            </a:solidFill>
            <a:round/>
            <a:headEnd/>
            <a:tailEnd/>
          </a:ln>
        </p:spPr>
        <p:txBody>
          <a:bodyPr wrap="none" anchor="ctr"/>
          <a:lstStyle/>
          <a:p>
            <a:endParaRPr lang="en-US">
              <a:latin typeface="Calibri"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2730"/>
                                        </p:tgtEl>
                                        <p:attrNameLst>
                                          <p:attrName>style.visibility</p:attrName>
                                        </p:attrNameLst>
                                      </p:cBhvr>
                                      <p:to>
                                        <p:strVal val="visible"/>
                                      </p:to>
                                    </p:set>
                                    <p:animEffect transition="in" filter="wipe(left)">
                                      <p:cBhvr>
                                        <p:cTn id="7" dur="500"/>
                                        <p:tgtEl>
                                          <p:spTgt spid="5427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3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body" idx="1"/>
            <p:custDataLst>
              <p:tags r:id="rId1"/>
            </p:custDataLst>
          </p:nvPr>
        </p:nvSpPr>
        <p:spPr>
          <a:xfrm>
            <a:off x="190459" y="1409700"/>
            <a:ext cx="6208478" cy="1905000"/>
          </a:xfrm>
        </p:spPr>
        <p:txBody>
          <a:bodyPr rtlCol="0">
            <a:noAutofit/>
          </a:bodyPr>
          <a:lstStyle/>
          <a:p>
            <a:pPr>
              <a:defRPr/>
            </a:pPr>
            <a:r>
              <a:rPr lang="en-US" dirty="0"/>
              <a:t>Add a barrier to block off most of the rays</a:t>
            </a:r>
          </a:p>
          <a:p>
            <a:pPr lvl="1">
              <a:buFont typeface="Wingdings" pitchFamily="2" charset="2"/>
              <a:buChar char="§"/>
              <a:defRPr/>
            </a:pPr>
            <a:r>
              <a:rPr lang="en-US" sz="3200" dirty="0"/>
              <a:t>This reduces blurring</a:t>
            </a:r>
          </a:p>
          <a:p>
            <a:pPr lvl="1">
              <a:buFont typeface="Wingdings" pitchFamily="2" charset="2"/>
              <a:buChar char="§"/>
              <a:defRPr/>
            </a:pPr>
            <a:r>
              <a:rPr lang="en-US" sz="3200" dirty="0"/>
              <a:t>The opening known as the </a:t>
            </a:r>
            <a:r>
              <a:rPr lang="en-US" sz="3200" b="1" dirty="0"/>
              <a:t>aperture</a:t>
            </a:r>
          </a:p>
          <a:p>
            <a:pPr lvl="1">
              <a:buFont typeface="Wingdings" pitchFamily="2" charset="2"/>
              <a:buChar char="§"/>
              <a:defRPr/>
            </a:pPr>
            <a:r>
              <a:rPr lang="en-US" sz="3200" dirty="0"/>
              <a:t>How does this transform the image?</a:t>
            </a:r>
          </a:p>
        </p:txBody>
      </p:sp>
      <p:pic>
        <p:nvPicPr>
          <p:cNvPr id="7172" name="Picture 18" descr="image-pinhole"/>
          <p:cNvPicPr>
            <a:picLocks noChangeAspect="1" noChangeArrowheads="1"/>
          </p:cNvPicPr>
          <p:nvPr>
            <p:custDataLst>
              <p:tags r:id="rId2"/>
            </p:custDataLst>
          </p:nvPr>
        </p:nvPicPr>
        <p:blipFill>
          <a:blip r:embed="rId18" cstate="print"/>
          <a:srcRect/>
          <a:stretch>
            <a:fillRect/>
          </a:stretch>
        </p:blipFill>
        <p:spPr bwMode="auto">
          <a:xfrm>
            <a:off x="6587851" y="1524000"/>
            <a:ext cx="5484813" cy="2247900"/>
          </a:xfrm>
          <a:prstGeom prst="rect">
            <a:avLst/>
          </a:prstGeom>
          <a:noFill/>
          <a:ln w="9525">
            <a:noFill/>
            <a:miter lim="800000"/>
            <a:headEnd/>
            <a:tailEnd/>
          </a:ln>
        </p:spPr>
      </p:pic>
      <p:grpSp>
        <p:nvGrpSpPr>
          <p:cNvPr id="2" name="Group 33"/>
          <p:cNvGrpSpPr>
            <a:grpSpLocks/>
          </p:cNvGrpSpPr>
          <p:nvPr>
            <p:custDataLst>
              <p:tags r:id="rId3"/>
            </p:custDataLst>
          </p:nvPr>
        </p:nvGrpSpPr>
        <p:grpSpPr bwMode="auto">
          <a:xfrm>
            <a:off x="7121250" y="2057400"/>
            <a:ext cx="4724400" cy="1524000"/>
            <a:chOff x="1440" y="1296"/>
            <a:chExt cx="2976" cy="960"/>
          </a:xfrm>
        </p:grpSpPr>
        <p:sp>
          <p:nvSpPr>
            <p:cNvPr id="7181" name="Line 21"/>
            <p:cNvSpPr>
              <a:spLocks noChangeShapeType="1"/>
            </p:cNvSpPr>
            <p:nvPr>
              <p:custDataLst>
                <p:tags r:id="rId12"/>
              </p:custDataLst>
            </p:nvPr>
          </p:nvSpPr>
          <p:spPr bwMode="auto">
            <a:xfrm>
              <a:off x="1440" y="1296"/>
              <a:ext cx="2976" cy="960"/>
            </a:xfrm>
            <a:prstGeom prst="line">
              <a:avLst/>
            </a:prstGeom>
            <a:noFill/>
            <a:ln w="19050">
              <a:solidFill>
                <a:srgbClr val="FF0000"/>
              </a:solidFill>
              <a:round/>
              <a:headEnd/>
              <a:tailEnd type="triangle" w="med" len="med"/>
            </a:ln>
          </p:spPr>
          <p:txBody>
            <a:bodyPr/>
            <a:lstStyle/>
            <a:p>
              <a:endParaRPr lang="en-US"/>
            </a:p>
          </p:txBody>
        </p:sp>
        <p:sp>
          <p:nvSpPr>
            <p:cNvPr id="7182" name="Line 22"/>
            <p:cNvSpPr>
              <a:spLocks noChangeShapeType="1"/>
            </p:cNvSpPr>
            <p:nvPr>
              <p:custDataLst>
                <p:tags r:id="rId13"/>
              </p:custDataLst>
            </p:nvPr>
          </p:nvSpPr>
          <p:spPr bwMode="auto">
            <a:xfrm>
              <a:off x="1440" y="1296"/>
              <a:ext cx="1494" cy="330"/>
            </a:xfrm>
            <a:prstGeom prst="line">
              <a:avLst/>
            </a:prstGeom>
            <a:noFill/>
            <a:ln w="19050">
              <a:solidFill>
                <a:srgbClr val="FF0000"/>
              </a:solidFill>
              <a:round/>
              <a:headEnd/>
              <a:tailEnd type="triangle" w="med" len="med"/>
            </a:ln>
          </p:spPr>
          <p:txBody>
            <a:bodyPr/>
            <a:lstStyle/>
            <a:p>
              <a:endParaRPr lang="en-US"/>
            </a:p>
          </p:txBody>
        </p:sp>
        <p:sp>
          <p:nvSpPr>
            <p:cNvPr id="7183" name="Line 23"/>
            <p:cNvSpPr>
              <a:spLocks noChangeShapeType="1"/>
            </p:cNvSpPr>
            <p:nvPr>
              <p:custDataLst>
                <p:tags r:id="rId14"/>
              </p:custDataLst>
            </p:nvPr>
          </p:nvSpPr>
          <p:spPr bwMode="auto">
            <a:xfrm>
              <a:off x="1440" y="1296"/>
              <a:ext cx="1500" cy="192"/>
            </a:xfrm>
            <a:prstGeom prst="line">
              <a:avLst/>
            </a:prstGeom>
            <a:noFill/>
            <a:ln w="19050">
              <a:solidFill>
                <a:srgbClr val="FF0000"/>
              </a:solidFill>
              <a:round/>
              <a:headEnd/>
              <a:tailEnd type="triangle" w="med" len="med"/>
            </a:ln>
          </p:spPr>
          <p:txBody>
            <a:bodyPr/>
            <a:lstStyle/>
            <a:p>
              <a:endParaRPr lang="en-US"/>
            </a:p>
          </p:txBody>
        </p:sp>
        <p:sp>
          <p:nvSpPr>
            <p:cNvPr id="7184" name="Line 24"/>
            <p:cNvSpPr>
              <a:spLocks noChangeShapeType="1"/>
            </p:cNvSpPr>
            <p:nvPr>
              <p:custDataLst>
                <p:tags r:id="rId15"/>
              </p:custDataLst>
            </p:nvPr>
          </p:nvSpPr>
          <p:spPr bwMode="auto">
            <a:xfrm>
              <a:off x="1440" y="1296"/>
              <a:ext cx="1482" cy="72"/>
            </a:xfrm>
            <a:prstGeom prst="line">
              <a:avLst/>
            </a:prstGeom>
            <a:noFill/>
            <a:ln w="19050">
              <a:solidFill>
                <a:srgbClr val="FF0000"/>
              </a:solidFill>
              <a:round/>
              <a:headEnd/>
              <a:tailEnd type="triangle" w="med" len="med"/>
            </a:ln>
          </p:spPr>
          <p:txBody>
            <a:bodyPr/>
            <a:lstStyle/>
            <a:p>
              <a:endParaRPr lang="en-US"/>
            </a:p>
          </p:txBody>
        </p:sp>
      </p:grpSp>
      <p:grpSp>
        <p:nvGrpSpPr>
          <p:cNvPr id="3" name="Group 34"/>
          <p:cNvGrpSpPr>
            <a:grpSpLocks/>
          </p:cNvGrpSpPr>
          <p:nvPr>
            <p:custDataLst>
              <p:tags r:id="rId4"/>
            </p:custDataLst>
          </p:nvPr>
        </p:nvGrpSpPr>
        <p:grpSpPr bwMode="auto">
          <a:xfrm>
            <a:off x="7426050" y="2495550"/>
            <a:ext cx="4457700" cy="571500"/>
            <a:chOff x="1632" y="1572"/>
            <a:chExt cx="2808" cy="360"/>
          </a:xfrm>
        </p:grpSpPr>
        <p:sp>
          <p:nvSpPr>
            <p:cNvPr id="7177" name="Line 27"/>
            <p:cNvSpPr>
              <a:spLocks noChangeShapeType="1"/>
            </p:cNvSpPr>
            <p:nvPr>
              <p:custDataLst>
                <p:tags r:id="rId8"/>
              </p:custDataLst>
            </p:nvPr>
          </p:nvSpPr>
          <p:spPr bwMode="auto">
            <a:xfrm flipV="1">
              <a:off x="1632" y="1572"/>
              <a:ext cx="1302" cy="108"/>
            </a:xfrm>
            <a:prstGeom prst="line">
              <a:avLst/>
            </a:prstGeom>
            <a:noFill/>
            <a:ln w="19050">
              <a:solidFill>
                <a:schemeClr val="folHlink"/>
              </a:solidFill>
              <a:round/>
              <a:headEnd/>
              <a:tailEnd type="triangle" w="med" len="med"/>
            </a:ln>
          </p:spPr>
          <p:txBody>
            <a:bodyPr/>
            <a:lstStyle/>
            <a:p>
              <a:endParaRPr lang="en-US"/>
            </a:p>
          </p:txBody>
        </p:sp>
        <p:sp>
          <p:nvSpPr>
            <p:cNvPr id="7178" name="Line 28"/>
            <p:cNvSpPr>
              <a:spLocks noChangeShapeType="1"/>
            </p:cNvSpPr>
            <p:nvPr>
              <p:custDataLst>
                <p:tags r:id="rId9"/>
              </p:custDataLst>
            </p:nvPr>
          </p:nvSpPr>
          <p:spPr bwMode="auto">
            <a:xfrm>
              <a:off x="1632" y="1680"/>
              <a:ext cx="1302" cy="6"/>
            </a:xfrm>
            <a:prstGeom prst="line">
              <a:avLst/>
            </a:prstGeom>
            <a:noFill/>
            <a:ln w="19050">
              <a:solidFill>
                <a:schemeClr val="folHlink"/>
              </a:solidFill>
              <a:round/>
              <a:headEnd/>
              <a:tailEnd type="triangle" w="med" len="med"/>
            </a:ln>
          </p:spPr>
          <p:txBody>
            <a:bodyPr/>
            <a:lstStyle/>
            <a:p>
              <a:endParaRPr lang="en-US"/>
            </a:p>
          </p:txBody>
        </p:sp>
        <p:sp>
          <p:nvSpPr>
            <p:cNvPr id="7179" name="Line 29"/>
            <p:cNvSpPr>
              <a:spLocks noChangeShapeType="1"/>
            </p:cNvSpPr>
            <p:nvPr>
              <p:custDataLst>
                <p:tags r:id="rId10"/>
              </p:custDataLst>
            </p:nvPr>
          </p:nvSpPr>
          <p:spPr bwMode="auto">
            <a:xfrm>
              <a:off x="1632" y="1680"/>
              <a:ext cx="2808" cy="192"/>
            </a:xfrm>
            <a:prstGeom prst="line">
              <a:avLst/>
            </a:prstGeom>
            <a:noFill/>
            <a:ln w="19050">
              <a:solidFill>
                <a:schemeClr val="folHlink"/>
              </a:solidFill>
              <a:round/>
              <a:headEnd/>
              <a:tailEnd type="triangle" w="med" len="med"/>
            </a:ln>
          </p:spPr>
          <p:txBody>
            <a:bodyPr/>
            <a:lstStyle/>
            <a:p>
              <a:endParaRPr lang="en-US"/>
            </a:p>
          </p:txBody>
        </p:sp>
        <p:sp>
          <p:nvSpPr>
            <p:cNvPr id="7180" name="Line 30"/>
            <p:cNvSpPr>
              <a:spLocks noChangeShapeType="1"/>
            </p:cNvSpPr>
            <p:nvPr>
              <p:custDataLst>
                <p:tags r:id="rId11"/>
              </p:custDataLst>
            </p:nvPr>
          </p:nvSpPr>
          <p:spPr bwMode="auto">
            <a:xfrm>
              <a:off x="1632" y="1680"/>
              <a:ext cx="1302" cy="252"/>
            </a:xfrm>
            <a:prstGeom prst="line">
              <a:avLst/>
            </a:prstGeom>
            <a:noFill/>
            <a:ln w="19050">
              <a:solidFill>
                <a:schemeClr val="folHlink"/>
              </a:solidFill>
              <a:round/>
              <a:headEnd/>
              <a:tailEnd type="triangle" w="med" len="med"/>
            </a:ln>
          </p:spPr>
          <p:txBody>
            <a:bodyPr/>
            <a:lstStyle/>
            <a:p>
              <a:endParaRPr lang="en-US"/>
            </a:p>
          </p:txBody>
        </p:sp>
      </p:grpSp>
      <p:sp>
        <p:nvSpPr>
          <p:cNvPr id="7175" name="Oval 31"/>
          <p:cNvSpPr>
            <a:spLocks noChangeArrowheads="1"/>
          </p:cNvSpPr>
          <p:nvPr>
            <p:custDataLst>
              <p:tags r:id="rId5"/>
            </p:custDataLst>
          </p:nvPr>
        </p:nvSpPr>
        <p:spPr bwMode="auto">
          <a:xfrm>
            <a:off x="7076800" y="2025650"/>
            <a:ext cx="76200" cy="76200"/>
          </a:xfrm>
          <a:prstGeom prst="ellipse">
            <a:avLst/>
          </a:prstGeom>
          <a:solidFill>
            <a:srgbClr val="FF0000"/>
          </a:solidFill>
          <a:ln w="9525">
            <a:solidFill>
              <a:schemeClr val="tx1"/>
            </a:solidFill>
            <a:round/>
            <a:headEnd/>
            <a:tailEnd/>
          </a:ln>
        </p:spPr>
        <p:txBody>
          <a:bodyPr wrap="none" anchor="ctr"/>
          <a:lstStyle/>
          <a:p>
            <a:endParaRPr lang="en-US">
              <a:latin typeface="Calibri" pitchFamily="34" charset="0"/>
            </a:endParaRPr>
          </a:p>
        </p:txBody>
      </p:sp>
      <p:sp>
        <p:nvSpPr>
          <p:cNvPr id="7176" name="Oval 32"/>
          <p:cNvSpPr>
            <a:spLocks noChangeArrowheads="1"/>
          </p:cNvSpPr>
          <p:nvPr>
            <p:custDataLst>
              <p:tags r:id="rId6"/>
            </p:custDataLst>
          </p:nvPr>
        </p:nvSpPr>
        <p:spPr bwMode="auto">
          <a:xfrm>
            <a:off x="7394300" y="2633663"/>
            <a:ext cx="76200" cy="76200"/>
          </a:xfrm>
          <a:prstGeom prst="ellipse">
            <a:avLst/>
          </a:prstGeom>
          <a:solidFill>
            <a:schemeClr val="folHlink"/>
          </a:solidFill>
          <a:ln w="9525">
            <a:solidFill>
              <a:schemeClr val="tx1"/>
            </a:solidFill>
            <a:round/>
            <a:headEnd/>
            <a:tailEnd/>
          </a:ln>
        </p:spPr>
        <p:txBody>
          <a:bodyPr wrap="none" anchor="ctr"/>
          <a:lstStyle/>
          <a:p>
            <a:endParaRPr lang="en-US">
              <a:latin typeface="Calibri" pitchFamily="34" charset="0"/>
            </a:endParaRPr>
          </a:p>
        </p:txBody>
      </p:sp>
      <p:sp>
        <p:nvSpPr>
          <p:cNvPr id="18" name="Rectangle 2"/>
          <p:cNvSpPr>
            <a:spLocks noGrp="1" noChangeArrowheads="1"/>
          </p:cNvSpPr>
          <p:nvPr>
            <p:ph type="title"/>
            <p:custDataLst>
              <p:tags r:id="rId7"/>
            </p:custDataLst>
          </p:nvPr>
        </p:nvSpPr>
        <p:spPr>
          <a:xfrm>
            <a:off x="190459" y="71414"/>
            <a:ext cx="10001320" cy="928694"/>
          </a:xfrm>
        </p:spPr>
        <p:txBody>
          <a:bodyPr>
            <a:noAutofit/>
          </a:bodyPr>
          <a:lstStyle/>
          <a:p>
            <a:r>
              <a:rPr lang="en-US" sz="6000" dirty="0"/>
              <a:t>Pinhole Camera</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16"/>
          <p:cNvSpPr>
            <a:spLocks noGrp="1" noChangeArrowheads="1"/>
          </p:cNvSpPr>
          <p:nvPr>
            <p:ph type="body" idx="1"/>
          </p:nvPr>
        </p:nvSpPr>
        <p:spPr>
          <a:xfrm>
            <a:off x="119336" y="1412776"/>
            <a:ext cx="6552728" cy="4267200"/>
          </a:xfrm>
        </p:spPr>
        <p:txBody>
          <a:bodyPr/>
          <a:lstStyle/>
          <a:p>
            <a:pPr>
              <a:buFontTx/>
              <a:buChar char="•"/>
            </a:pPr>
            <a:r>
              <a:rPr lang="en-US" dirty="0"/>
              <a:t>Basic principle known to </a:t>
            </a:r>
            <a:r>
              <a:rPr lang="en-US" dirty="0" err="1"/>
              <a:t>Mozi</a:t>
            </a:r>
            <a:r>
              <a:rPr lang="en-US" dirty="0"/>
              <a:t> (470-390 BC), Aristotle (384-322 BC)</a:t>
            </a:r>
          </a:p>
          <a:p>
            <a:pPr>
              <a:buFontTx/>
              <a:buChar char="•"/>
            </a:pPr>
            <a:r>
              <a:rPr lang="en-US" dirty="0"/>
              <a:t>Drawing aid for artists: described by Leonardo da Vinci (1452-1519) </a:t>
            </a:r>
          </a:p>
        </p:txBody>
      </p:sp>
      <p:pic>
        <p:nvPicPr>
          <p:cNvPr id="8196" name="Picture 17" descr="obscura_frisius_58"/>
          <p:cNvPicPr>
            <a:picLocks noChangeAspect="1" noChangeArrowheads="1"/>
          </p:cNvPicPr>
          <p:nvPr/>
        </p:nvPicPr>
        <p:blipFill rotWithShape="1">
          <a:blip r:embed="rId5" cstate="print">
            <a:lum bright="-24000" contrast="36000"/>
          </a:blip>
          <a:srcRect l="3933" t="1560" r="2972" b="1577"/>
          <a:stretch/>
        </p:blipFill>
        <p:spPr bwMode="auto">
          <a:xfrm>
            <a:off x="6960096" y="1268760"/>
            <a:ext cx="5112568" cy="4423260"/>
          </a:xfrm>
          <a:prstGeom prst="rect">
            <a:avLst/>
          </a:prstGeom>
          <a:noFill/>
          <a:ln w="9525">
            <a:noFill/>
            <a:miter lim="800000"/>
            <a:headEnd/>
            <a:tailEnd/>
          </a:ln>
        </p:spPr>
      </p:pic>
      <p:sp>
        <p:nvSpPr>
          <p:cNvPr id="8197" name="Text Box 18"/>
          <p:cNvSpPr txBox="1">
            <a:spLocks noChangeArrowheads="1"/>
          </p:cNvSpPr>
          <p:nvPr/>
        </p:nvSpPr>
        <p:spPr bwMode="auto">
          <a:xfrm>
            <a:off x="8688288" y="5661248"/>
            <a:ext cx="2842445" cy="461665"/>
          </a:xfrm>
          <a:prstGeom prst="rect">
            <a:avLst/>
          </a:prstGeom>
          <a:noFill/>
          <a:ln w="9525">
            <a:noFill/>
            <a:miter lim="800000"/>
            <a:headEnd/>
            <a:tailEnd/>
          </a:ln>
        </p:spPr>
        <p:txBody>
          <a:bodyPr wrap="none">
            <a:spAutoFit/>
          </a:bodyPr>
          <a:lstStyle/>
          <a:p>
            <a:r>
              <a:rPr lang="en-US" sz="2400" dirty="0">
                <a:latin typeface="Times New Roman" panose="02020603050405020304" pitchFamily="18" charset="0"/>
                <a:cs typeface="Times New Roman" panose="02020603050405020304" pitchFamily="18" charset="0"/>
              </a:rPr>
              <a:t>Gemma </a:t>
            </a:r>
            <a:r>
              <a:rPr lang="en-US" sz="2400" dirty="0" err="1">
                <a:latin typeface="Times New Roman" panose="02020603050405020304" pitchFamily="18" charset="0"/>
                <a:cs typeface="Times New Roman" panose="02020603050405020304" pitchFamily="18" charset="0"/>
              </a:rPr>
              <a:t>Frisius</a:t>
            </a:r>
            <a:r>
              <a:rPr lang="en-US" sz="2400" dirty="0">
                <a:latin typeface="Times New Roman" panose="02020603050405020304" pitchFamily="18" charset="0"/>
                <a:cs typeface="Times New Roman" panose="02020603050405020304" pitchFamily="18" charset="0"/>
              </a:rPr>
              <a:t>, 1558</a:t>
            </a:r>
          </a:p>
        </p:txBody>
      </p:sp>
      <p:sp>
        <p:nvSpPr>
          <p:cNvPr id="8198" name="Text Box 19"/>
          <p:cNvSpPr txBox="1">
            <a:spLocks noChangeArrowheads="1"/>
          </p:cNvSpPr>
          <p:nvPr/>
        </p:nvSpPr>
        <p:spPr bwMode="auto">
          <a:xfrm>
            <a:off x="9192344" y="6125234"/>
            <a:ext cx="1885709" cy="400110"/>
          </a:xfrm>
          <a:prstGeom prst="rect">
            <a:avLst/>
          </a:prstGeom>
          <a:noFill/>
          <a:ln w="9525">
            <a:noFill/>
            <a:miter lim="800000"/>
            <a:headEnd/>
            <a:tailEnd/>
          </a:ln>
        </p:spPr>
        <p:txBody>
          <a:bodyPr wrap="none">
            <a:spAutoFit/>
          </a:bodyPr>
          <a:lstStyle/>
          <a:p>
            <a:r>
              <a:rPr lang="en-US" sz="2000" dirty="0">
                <a:latin typeface="Times New Roman" panose="02020603050405020304" pitchFamily="18" charset="0"/>
                <a:cs typeface="Times New Roman" panose="02020603050405020304" pitchFamily="18" charset="0"/>
              </a:rPr>
              <a:t>Source: A. </a:t>
            </a:r>
            <a:r>
              <a:rPr lang="en-US" sz="2000" dirty="0" err="1">
                <a:latin typeface="Times New Roman" panose="02020603050405020304" pitchFamily="18" charset="0"/>
                <a:cs typeface="Times New Roman" panose="02020603050405020304" pitchFamily="18" charset="0"/>
              </a:rPr>
              <a:t>Efros</a:t>
            </a:r>
            <a:endParaRPr lang="en-US" sz="2000" dirty="0">
              <a:latin typeface="Times New Roman" panose="02020603050405020304" pitchFamily="18" charset="0"/>
              <a:cs typeface="Times New Roman" panose="02020603050405020304" pitchFamily="18" charset="0"/>
            </a:endParaRPr>
          </a:p>
        </p:txBody>
      </p:sp>
      <p:pic>
        <p:nvPicPr>
          <p:cNvPr id="7" name="Picture 5" descr="pinhole_diff1"/>
          <p:cNvPicPr>
            <a:picLocks noChangeAspect="1" noChangeArrowheads="1"/>
          </p:cNvPicPr>
          <p:nvPr>
            <p:custDataLst>
              <p:tags r:id="rId1"/>
            </p:custDataLst>
          </p:nvPr>
        </p:nvPicPr>
        <p:blipFill>
          <a:blip r:embed="rId6" cstate="print"/>
          <a:srcRect/>
          <a:stretch>
            <a:fillRect/>
          </a:stretch>
        </p:blipFill>
        <p:spPr bwMode="auto">
          <a:xfrm>
            <a:off x="1199456" y="3645024"/>
            <a:ext cx="4752528" cy="3143250"/>
          </a:xfrm>
          <a:prstGeom prst="rect">
            <a:avLst/>
          </a:prstGeom>
          <a:noFill/>
          <a:ln w="9525">
            <a:noFill/>
            <a:miter lim="800000"/>
            <a:headEnd/>
            <a:tailEnd/>
          </a:ln>
        </p:spPr>
      </p:pic>
      <p:sp>
        <p:nvSpPr>
          <p:cNvPr id="9" name="Rectangle 2"/>
          <p:cNvSpPr>
            <a:spLocks noGrp="1" noChangeArrowheads="1"/>
          </p:cNvSpPr>
          <p:nvPr>
            <p:ph type="title"/>
            <p:custDataLst>
              <p:tags r:id="rId2"/>
            </p:custDataLst>
          </p:nvPr>
        </p:nvSpPr>
        <p:spPr>
          <a:xfrm>
            <a:off x="190459" y="71414"/>
            <a:ext cx="10001320" cy="928694"/>
          </a:xfrm>
        </p:spPr>
        <p:txBody>
          <a:bodyPr>
            <a:normAutofit/>
          </a:bodyPr>
          <a:lstStyle/>
          <a:p>
            <a:r>
              <a:rPr lang="en-US" sz="5400" dirty="0"/>
              <a:t>Pinhole Camera</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1" descr="The image “http://www.debevec.org/Pinhole/pinhole-debevec.jpg” cannot be displayed, because it contains errors."/>
          <p:cNvPicPr>
            <a:picLocks noChangeAspect="1" noChangeArrowheads="1"/>
          </p:cNvPicPr>
          <p:nvPr/>
        </p:nvPicPr>
        <p:blipFill>
          <a:blip r:embed="rId4" cstate="print"/>
          <a:srcRect/>
          <a:stretch>
            <a:fillRect/>
          </a:stretch>
        </p:blipFill>
        <p:spPr bwMode="auto">
          <a:xfrm>
            <a:off x="5976664" y="1555204"/>
            <a:ext cx="6096000" cy="4610100"/>
          </a:xfrm>
          <a:prstGeom prst="rect">
            <a:avLst/>
          </a:prstGeom>
          <a:noFill/>
          <a:ln w="9525">
            <a:noFill/>
            <a:miter lim="800000"/>
            <a:headEnd/>
            <a:tailEnd/>
          </a:ln>
        </p:spPr>
      </p:pic>
      <p:sp>
        <p:nvSpPr>
          <p:cNvPr id="2" name="Rounded Rectangular Callout 1"/>
          <p:cNvSpPr/>
          <p:nvPr/>
        </p:nvSpPr>
        <p:spPr>
          <a:xfrm>
            <a:off x="4007768" y="5763672"/>
            <a:ext cx="1440160" cy="977696"/>
          </a:xfrm>
          <a:prstGeom prst="wedgeRoundRectCallout">
            <a:avLst>
              <a:gd name="adj1" fmla="val 76416"/>
              <a:gd name="adj2" fmla="val -4168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a:solidFill>
                  <a:srgbClr val="FF0000"/>
                </a:solidFill>
                <a:latin typeface="Times New Roman" panose="02020603050405020304" pitchFamily="18" charset="0"/>
                <a:cs typeface="Times New Roman" panose="02020603050405020304" pitchFamily="18" charset="0"/>
              </a:rPr>
              <a:t>Why so blurry?</a:t>
            </a:r>
            <a:endParaRPr lang="en-US" sz="2800" dirty="0">
              <a:solidFill>
                <a:srgbClr val="FF0000"/>
              </a:solidFill>
              <a:latin typeface="Times New Roman" panose="02020603050405020304" pitchFamily="18" charset="0"/>
              <a:cs typeface="Times New Roman" panose="02020603050405020304" pitchFamily="18" charset="0"/>
            </a:endParaRPr>
          </a:p>
        </p:txBody>
      </p:sp>
      <p:sp>
        <p:nvSpPr>
          <p:cNvPr id="7" name="Rectangle 12"/>
          <p:cNvSpPr>
            <a:spLocks noChangeArrowheads="1"/>
          </p:cNvSpPr>
          <p:nvPr/>
        </p:nvSpPr>
        <p:spPr bwMode="auto">
          <a:xfrm>
            <a:off x="7573212" y="6309320"/>
            <a:ext cx="3563348" cy="400110"/>
          </a:xfrm>
          <a:prstGeom prst="rect">
            <a:avLst/>
          </a:prstGeom>
          <a:noFill/>
          <a:ln w="9525">
            <a:noFill/>
            <a:miter lim="800000"/>
            <a:headEnd/>
            <a:tailEnd/>
          </a:ln>
        </p:spPr>
        <p:txBody>
          <a:bodyPr wrap="none">
            <a:spAutoFit/>
          </a:bodyPr>
          <a:lstStyle/>
          <a:p>
            <a:r>
              <a:rPr lang="en-US" sz="2000" dirty="0">
                <a:latin typeface="Times New Roman" panose="02020603050405020304" pitchFamily="18" charset="0"/>
                <a:cs typeface="Times New Roman" panose="02020603050405020304" pitchFamily="18" charset="0"/>
                <a:hlinkClick r:id="rId5"/>
              </a:rPr>
              <a:t>http://www.debevec.org/Pinhole/</a:t>
            </a:r>
            <a:endParaRPr lang="en-US" sz="2000" dirty="0">
              <a:latin typeface="Times New Roman" panose="02020603050405020304" pitchFamily="18" charset="0"/>
              <a:cs typeface="Times New Roman" panose="02020603050405020304" pitchFamily="18" charset="0"/>
            </a:endParaRPr>
          </a:p>
        </p:txBody>
      </p:sp>
      <p:sp>
        <p:nvSpPr>
          <p:cNvPr id="9" name="Rectangle 2"/>
          <p:cNvSpPr>
            <a:spLocks noGrp="1" noChangeArrowheads="1"/>
          </p:cNvSpPr>
          <p:nvPr>
            <p:ph type="title"/>
            <p:custDataLst>
              <p:tags r:id="rId1"/>
            </p:custDataLst>
          </p:nvPr>
        </p:nvSpPr>
        <p:spPr>
          <a:xfrm>
            <a:off x="190459" y="71414"/>
            <a:ext cx="10001320" cy="928694"/>
          </a:xfrm>
        </p:spPr>
        <p:txBody>
          <a:bodyPr>
            <a:normAutofit/>
          </a:bodyPr>
          <a:lstStyle/>
          <a:p>
            <a:r>
              <a:rPr lang="en-US" sz="5400" dirty="0"/>
              <a:t>Pinhole Camera - Result</a:t>
            </a:r>
          </a:p>
        </p:txBody>
      </p:sp>
      <p:sp>
        <p:nvSpPr>
          <p:cNvPr id="8" name="Rectangle 7"/>
          <p:cNvSpPr/>
          <p:nvPr/>
        </p:nvSpPr>
        <p:spPr>
          <a:xfrm>
            <a:off x="119336" y="1340768"/>
            <a:ext cx="5617509" cy="1508105"/>
          </a:xfrm>
          <a:prstGeom prst="rect">
            <a:avLst/>
          </a:prstGeom>
        </p:spPr>
        <p:txBody>
          <a:bodyPr wrap="square">
            <a:spAutoFit/>
          </a:bodyPr>
          <a:lstStyle/>
          <a:p>
            <a:r>
              <a:rPr lang="en-US" sz="3600" dirty="0">
                <a:latin typeface="Times New Roman" panose="02020603050405020304" pitchFamily="18" charset="0"/>
                <a:cs typeface="Times New Roman" panose="02020603050405020304" pitchFamily="18" charset="0"/>
              </a:rPr>
              <a:t>Home made pinhole camera</a:t>
            </a:r>
          </a:p>
          <a:p>
            <a:r>
              <a:rPr lang="en-US" sz="2800" dirty="0">
                <a:latin typeface="Times New Roman" panose="02020603050405020304" pitchFamily="18" charset="0"/>
                <a:cs typeface="Times New Roman" panose="02020603050405020304" pitchFamily="18" charset="0"/>
              </a:rPr>
              <a:t>35mm Single-Lens Reflex Pinhole Photography</a:t>
            </a:r>
          </a:p>
        </p:txBody>
      </p:sp>
      <p:pic>
        <p:nvPicPr>
          <p:cNvPr id="368642" name="Picture 2" descr="http://www.pauldebevec.com/Pinhole/35mm-pinhole-camera.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3607" y="2996952"/>
            <a:ext cx="3564161" cy="2673121"/>
          </a:xfrm>
          <a:prstGeom prst="rect">
            <a:avLst/>
          </a:prstGeom>
          <a:noFill/>
          <a:extLst>
            <a:ext uri="{909E8E84-426E-40DD-AFC4-6F175D3DCCD1}">
              <a14:hiddenFill xmlns:a14="http://schemas.microsoft.com/office/drawing/2010/main">
                <a:solidFill>
                  <a:srgbClr val="FFFFFF"/>
                </a:solidFill>
              </a14:hiddenFill>
            </a:ext>
          </a:extLst>
        </p:spPr>
      </p:pic>
      <p:sp>
        <p:nvSpPr>
          <p:cNvPr id="10" name="Right Arrow 9"/>
          <p:cNvSpPr/>
          <p:nvPr/>
        </p:nvSpPr>
        <p:spPr>
          <a:xfrm>
            <a:off x="4655840" y="3789040"/>
            <a:ext cx="504056"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custDataLst>
              <p:tags r:id="rId1"/>
            </p:custDataLst>
          </p:nvPr>
        </p:nvSpPr>
        <p:spPr/>
        <p:txBody>
          <a:bodyPr>
            <a:noAutofit/>
          </a:bodyPr>
          <a:lstStyle/>
          <a:p>
            <a:r>
              <a:rPr lang="en-US" sz="6000" dirty="0"/>
              <a:t>Shrinking the Aperture</a:t>
            </a:r>
          </a:p>
        </p:txBody>
      </p:sp>
      <p:pic>
        <p:nvPicPr>
          <p:cNvPr id="12291" name="Picture 7" descr="pinhole_diff2"/>
          <p:cNvPicPr>
            <a:picLocks noChangeAspect="1" noChangeArrowheads="1"/>
          </p:cNvPicPr>
          <p:nvPr>
            <p:custDataLst>
              <p:tags r:id="rId2"/>
            </p:custDataLst>
          </p:nvPr>
        </p:nvPicPr>
        <p:blipFill>
          <a:blip r:embed="rId6" cstate="print"/>
          <a:srcRect/>
          <a:stretch>
            <a:fillRect/>
          </a:stretch>
        </p:blipFill>
        <p:spPr bwMode="auto">
          <a:xfrm>
            <a:off x="7176120" y="1196752"/>
            <a:ext cx="4896544" cy="5588447"/>
          </a:xfrm>
          <a:prstGeom prst="rect">
            <a:avLst/>
          </a:prstGeom>
          <a:noFill/>
          <a:ln w="9525">
            <a:noFill/>
            <a:miter lim="800000"/>
            <a:headEnd/>
            <a:tailEnd/>
          </a:ln>
        </p:spPr>
      </p:pic>
      <p:sp>
        <p:nvSpPr>
          <p:cNvPr id="4" name="Rectangle 3"/>
          <p:cNvSpPr txBox="1">
            <a:spLocks noChangeArrowheads="1"/>
          </p:cNvSpPr>
          <p:nvPr>
            <p:custDataLst>
              <p:tags r:id="rId3"/>
            </p:custDataLst>
          </p:nvPr>
        </p:nvSpPr>
        <p:spPr>
          <a:xfrm>
            <a:off x="190458" y="1484784"/>
            <a:ext cx="6913653" cy="2376264"/>
          </a:xfrm>
          <a:prstGeom prst="rect">
            <a:avLst/>
          </a:prstGeom>
        </p:spPr>
        <p:txBody>
          <a:bodyPr vert="horz" lIns="91440" tIns="45720" rIns="91440" bIns="45720" rtlCol="0">
            <a:normAutofit/>
          </a:bodyPr>
          <a:lstStyle/>
          <a:p>
            <a:pPr marL="342900" indent="-342900" algn="just">
              <a:spcBef>
                <a:spcPct val="20000"/>
              </a:spcBef>
              <a:defRPr/>
            </a:pPr>
            <a:r>
              <a:rPr lang="en-US" sz="3600" dirty="0">
                <a:latin typeface="Times New Roman" pitchFamily="18" charset="0"/>
                <a:cs typeface="Times New Roman" pitchFamily="18" charset="0"/>
              </a:rPr>
              <a:t>Why not make the aperture as small as possible?</a:t>
            </a:r>
          </a:p>
          <a:p>
            <a:pPr marL="285750" indent="-285750" algn="just">
              <a:spcBef>
                <a:spcPct val="20000"/>
              </a:spcBef>
              <a:buFont typeface="Wingdings" pitchFamily="2" charset="2"/>
              <a:buChar char="§"/>
            </a:pPr>
            <a:r>
              <a:rPr lang="en-US" sz="2800" dirty="0">
                <a:latin typeface="Times New Roman" pitchFamily="18" charset="0"/>
                <a:cs typeface="Times New Roman" pitchFamily="18" charset="0"/>
              </a:rPr>
              <a:t>Less light gets through</a:t>
            </a:r>
          </a:p>
          <a:p>
            <a:pPr marL="285750" indent="-285750" algn="just">
              <a:spcBef>
                <a:spcPct val="20000"/>
              </a:spcBef>
              <a:buFont typeface="Wingdings" pitchFamily="2" charset="2"/>
              <a:buChar char="§"/>
            </a:pPr>
            <a:r>
              <a:rPr lang="en-US" sz="2800" i="1" dirty="0">
                <a:latin typeface="Times New Roman" pitchFamily="18" charset="0"/>
                <a:cs typeface="Times New Roman" pitchFamily="18" charset="0"/>
              </a:rPr>
              <a:t>Diffraction</a:t>
            </a:r>
            <a:r>
              <a:rPr lang="en-US" sz="2800" dirty="0">
                <a:latin typeface="Times New Roman" pitchFamily="18" charset="0"/>
                <a:cs typeface="Times New Roman" pitchFamily="18" charset="0"/>
              </a:rPr>
              <a:t> effects...</a:t>
            </a:r>
          </a:p>
          <a:p>
            <a:pPr marL="342900" indent="-342900" algn="just">
              <a:spcBef>
                <a:spcPct val="20000"/>
              </a:spcBef>
              <a:defRPr/>
            </a:pPr>
            <a:endParaRPr lang="en-US" sz="3600" dirty="0">
              <a:latin typeface="Times New Roman" pitchFamily="18" charset="0"/>
              <a:cs typeface="Times New Roman" pitchFamily="18" charset="0"/>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 descr="http://upload.wikimedia.org/wikipedia/commons/c/c7/Lens_and_wavefronts.gif">
            <a:hlinkClick r:id="rId26"/>
          </p:cNvPr>
          <p:cNvPicPr>
            <a:picLocks noChangeAspect="1" noChangeArrowheads="1" noCrop="1"/>
          </p:cNvPicPr>
          <p:nvPr/>
        </p:nvPicPr>
        <p:blipFill>
          <a:blip r:embed="rId27" cstate="print"/>
          <a:srcRect/>
          <a:stretch>
            <a:fillRect/>
          </a:stretch>
        </p:blipFill>
        <p:spPr bwMode="auto">
          <a:xfrm rot="16200000">
            <a:off x="4559356" y="1244284"/>
            <a:ext cx="1239019" cy="2410332"/>
          </a:xfrm>
          <a:prstGeom prst="rect">
            <a:avLst/>
          </a:prstGeom>
          <a:noFill/>
        </p:spPr>
      </p:pic>
      <p:sp>
        <p:nvSpPr>
          <p:cNvPr id="13314" name="Rectangle 2"/>
          <p:cNvSpPr>
            <a:spLocks noGrp="1" noChangeArrowheads="1"/>
          </p:cNvSpPr>
          <p:nvPr>
            <p:ph type="title"/>
            <p:custDataLst>
              <p:tags r:id="rId1"/>
            </p:custDataLst>
          </p:nvPr>
        </p:nvSpPr>
        <p:spPr/>
        <p:txBody>
          <a:bodyPr>
            <a:noAutofit/>
          </a:bodyPr>
          <a:lstStyle/>
          <a:p>
            <a:r>
              <a:rPr lang="en-US" sz="6000" dirty="0"/>
              <a:t>Adding a Lens</a:t>
            </a:r>
          </a:p>
        </p:txBody>
      </p:sp>
      <p:sp>
        <p:nvSpPr>
          <p:cNvPr id="11267" name="Rectangle 3"/>
          <p:cNvSpPr>
            <a:spLocks noGrp="1" noChangeArrowheads="1"/>
          </p:cNvSpPr>
          <p:nvPr>
            <p:ph type="body" idx="1"/>
            <p:custDataLst>
              <p:tags r:id="rId2"/>
            </p:custDataLst>
          </p:nvPr>
        </p:nvSpPr>
        <p:spPr>
          <a:xfrm>
            <a:off x="119336" y="1196752"/>
            <a:ext cx="6339970" cy="5517232"/>
          </a:xfrm>
        </p:spPr>
        <p:txBody>
          <a:bodyPr rtlCol="0">
            <a:noAutofit/>
          </a:bodyPr>
          <a:lstStyle/>
          <a:p>
            <a:r>
              <a:rPr lang="en-US" sz="3600" dirty="0"/>
              <a:t>Lenses can be used </a:t>
            </a:r>
          </a:p>
          <a:p>
            <a:pPr marL="744538" lvl="1" indent="-344488">
              <a:buFont typeface="Courier New" panose="02070309020205020404" pitchFamily="49" charset="0"/>
              <a:buChar char="o"/>
            </a:pPr>
            <a:r>
              <a:rPr lang="en-US" sz="3200" dirty="0"/>
              <a:t>to gather light</a:t>
            </a:r>
          </a:p>
          <a:p>
            <a:pPr marL="744538" lvl="1" indent="-344488">
              <a:buFont typeface="Courier New" panose="02070309020205020404" pitchFamily="49" charset="0"/>
              <a:buChar char="o"/>
            </a:pPr>
            <a:r>
              <a:rPr lang="en-US" sz="3200" dirty="0"/>
              <a:t>to focus light</a:t>
            </a:r>
          </a:p>
          <a:p>
            <a:pPr lvl="0" algn="l" eaLnBrk="0" fontAlgn="base" hangingPunct="0">
              <a:spcAft>
                <a:spcPct val="0"/>
              </a:spcAft>
            </a:pPr>
            <a:r>
              <a:rPr lang="en-US" sz="3600" kern="0" dirty="0">
                <a:solidFill>
                  <a:srgbClr val="000000"/>
                </a:solidFill>
              </a:rPr>
              <a:t>A lens focuses light onto the film</a:t>
            </a:r>
          </a:p>
          <a:p>
            <a:pPr lvl="1" algn="l" eaLnBrk="0" fontAlgn="base" hangingPunct="0">
              <a:spcAft>
                <a:spcPct val="0"/>
              </a:spcAft>
              <a:buFontTx/>
              <a:buChar char="•"/>
            </a:pPr>
            <a:r>
              <a:rPr lang="en-US" sz="3200" kern="0" dirty="0">
                <a:solidFill>
                  <a:srgbClr val="000000"/>
                </a:solidFill>
              </a:rPr>
              <a:t>There is a specific distance at which objects are “in focus”</a:t>
            </a:r>
          </a:p>
          <a:p>
            <a:pPr lvl="2" algn="l" eaLnBrk="0" fontAlgn="base" hangingPunct="0">
              <a:spcAft>
                <a:spcPct val="0"/>
              </a:spcAft>
              <a:buFontTx/>
              <a:buChar char="–"/>
            </a:pPr>
            <a:r>
              <a:rPr lang="en-US" sz="2800" kern="0" dirty="0">
                <a:solidFill>
                  <a:srgbClr val="000000"/>
                </a:solidFill>
              </a:rPr>
              <a:t>other points project to a “circle of confusion” in the image</a:t>
            </a:r>
          </a:p>
          <a:p>
            <a:pPr lvl="1" algn="l" eaLnBrk="0" fontAlgn="base" hangingPunct="0">
              <a:spcAft>
                <a:spcPct val="0"/>
              </a:spcAft>
              <a:buFontTx/>
              <a:buChar char="•"/>
            </a:pPr>
            <a:r>
              <a:rPr lang="en-US" sz="3200" kern="0" dirty="0">
                <a:solidFill>
                  <a:srgbClr val="000000"/>
                </a:solidFill>
              </a:rPr>
              <a:t>Changing the shape of the lens changes this distance</a:t>
            </a:r>
          </a:p>
        </p:txBody>
      </p:sp>
      <p:pic>
        <p:nvPicPr>
          <p:cNvPr id="13316" name="Picture 4" descr="image-lens"/>
          <p:cNvPicPr>
            <a:picLocks noChangeAspect="1" noChangeArrowheads="1"/>
          </p:cNvPicPr>
          <p:nvPr>
            <p:custDataLst>
              <p:tags r:id="rId3"/>
            </p:custDataLst>
          </p:nvPr>
        </p:nvPicPr>
        <p:blipFill>
          <a:blip r:embed="rId28" cstate="print"/>
          <a:srcRect/>
          <a:stretch>
            <a:fillRect/>
          </a:stretch>
        </p:blipFill>
        <p:spPr bwMode="auto">
          <a:xfrm>
            <a:off x="6587852" y="1412776"/>
            <a:ext cx="5484812" cy="2360613"/>
          </a:xfrm>
          <a:prstGeom prst="rect">
            <a:avLst/>
          </a:prstGeom>
          <a:noFill/>
          <a:ln w="9525">
            <a:noFill/>
            <a:miter lim="800000"/>
            <a:headEnd/>
            <a:tailEnd/>
          </a:ln>
        </p:spPr>
      </p:pic>
      <p:sp>
        <p:nvSpPr>
          <p:cNvPr id="553989" name="Line 5"/>
          <p:cNvSpPr>
            <a:spLocks noChangeShapeType="1"/>
          </p:cNvSpPr>
          <p:nvPr>
            <p:custDataLst>
              <p:tags r:id="rId4"/>
            </p:custDataLst>
          </p:nvPr>
        </p:nvSpPr>
        <p:spPr bwMode="auto">
          <a:xfrm>
            <a:off x="7149828" y="1963638"/>
            <a:ext cx="4702175" cy="1643062"/>
          </a:xfrm>
          <a:prstGeom prst="line">
            <a:avLst/>
          </a:prstGeom>
          <a:noFill/>
          <a:ln w="19050">
            <a:solidFill>
              <a:srgbClr val="FF0000"/>
            </a:solidFill>
            <a:round/>
            <a:headEnd/>
            <a:tailEnd type="triangle" w="med" len="med"/>
          </a:ln>
        </p:spPr>
        <p:txBody>
          <a:bodyPr/>
          <a:lstStyle/>
          <a:p>
            <a:endParaRPr lang="en-US">
              <a:latin typeface="Times New Roman" panose="02020603050405020304" pitchFamily="18" charset="0"/>
              <a:cs typeface="Times New Roman" pitchFamily="18" charset="0"/>
            </a:endParaRPr>
          </a:p>
        </p:txBody>
      </p:sp>
      <p:sp>
        <p:nvSpPr>
          <p:cNvPr id="13318" name="Oval 6"/>
          <p:cNvSpPr>
            <a:spLocks noChangeArrowheads="1"/>
          </p:cNvSpPr>
          <p:nvPr>
            <p:custDataLst>
              <p:tags r:id="rId5"/>
            </p:custDataLst>
          </p:nvPr>
        </p:nvSpPr>
        <p:spPr bwMode="auto">
          <a:xfrm>
            <a:off x="7105377" y="1931888"/>
            <a:ext cx="76200" cy="76200"/>
          </a:xfrm>
          <a:prstGeom prst="ellipse">
            <a:avLst/>
          </a:prstGeom>
          <a:solidFill>
            <a:srgbClr val="FF0000"/>
          </a:solidFill>
          <a:ln w="9525">
            <a:solidFill>
              <a:schemeClr val="tx1"/>
            </a:solidFill>
            <a:round/>
            <a:headEnd/>
            <a:tailEnd/>
          </a:ln>
        </p:spPr>
        <p:txBody>
          <a:bodyPr wrap="none" anchor="ctr"/>
          <a:lstStyle/>
          <a:p>
            <a:endParaRPr lang="en-US">
              <a:latin typeface="Times New Roman" panose="02020603050405020304" pitchFamily="18" charset="0"/>
              <a:cs typeface="Times New Roman" pitchFamily="18" charset="0"/>
            </a:endParaRPr>
          </a:p>
        </p:txBody>
      </p:sp>
      <p:sp>
        <p:nvSpPr>
          <p:cNvPr id="13319" name="Oval 7"/>
          <p:cNvSpPr>
            <a:spLocks noChangeArrowheads="1"/>
          </p:cNvSpPr>
          <p:nvPr>
            <p:custDataLst>
              <p:tags r:id="rId6"/>
            </p:custDataLst>
          </p:nvPr>
        </p:nvSpPr>
        <p:spPr bwMode="auto">
          <a:xfrm>
            <a:off x="7422877" y="2539900"/>
            <a:ext cx="76200" cy="76200"/>
          </a:xfrm>
          <a:prstGeom prst="ellipse">
            <a:avLst/>
          </a:prstGeom>
          <a:solidFill>
            <a:schemeClr val="folHlink"/>
          </a:solidFill>
          <a:ln w="9525">
            <a:solidFill>
              <a:schemeClr val="tx1"/>
            </a:solidFill>
            <a:round/>
            <a:headEnd/>
            <a:tailEnd/>
          </a:ln>
        </p:spPr>
        <p:txBody>
          <a:bodyPr wrap="none" anchor="ctr"/>
          <a:lstStyle/>
          <a:p>
            <a:endParaRPr lang="en-US">
              <a:latin typeface="Times New Roman" panose="02020603050405020304" pitchFamily="18" charset="0"/>
              <a:cs typeface="Times New Roman" pitchFamily="18" charset="0"/>
            </a:endParaRPr>
          </a:p>
        </p:txBody>
      </p:sp>
      <p:grpSp>
        <p:nvGrpSpPr>
          <p:cNvPr id="2" name="Group 8"/>
          <p:cNvGrpSpPr>
            <a:grpSpLocks/>
          </p:cNvGrpSpPr>
          <p:nvPr>
            <p:custDataLst>
              <p:tags r:id="rId7"/>
            </p:custDataLst>
          </p:nvPr>
        </p:nvGrpSpPr>
        <p:grpSpPr bwMode="auto">
          <a:xfrm>
            <a:off x="7149828" y="1963638"/>
            <a:ext cx="4702175" cy="1643062"/>
            <a:chOff x="1459" y="1451"/>
            <a:chExt cx="2962" cy="1035"/>
          </a:xfrm>
        </p:grpSpPr>
        <p:sp>
          <p:nvSpPr>
            <p:cNvPr id="13341" name="Line 9"/>
            <p:cNvSpPr>
              <a:spLocks noChangeShapeType="1"/>
            </p:cNvSpPr>
            <p:nvPr>
              <p:custDataLst>
                <p:tags r:id="rId22"/>
              </p:custDataLst>
            </p:nvPr>
          </p:nvSpPr>
          <p:spPr bwMode="auto">
            <a:xfrm>
              <a:off x="1459" y="1451"/>
              <a:ext cx="1465" cy="77"/>
            </a:xfrm>
            <a:prstGeom prst="line">
              <a:avLst/>
            </a:prstGeom>
            <a:noFill/>
            <a:ln w="19050">
              <a:solidFill>
                <a:srgbClr val="FF0000"/>
              </a:solidFill>
              <a:round/>
              <a:headEnd/>
              <a:tailEnd/>
            </a:ln>
          </p:spPr>
          <p:txBody>
            <a:bodyPr/>
            <a:lstStyle/>
            <a:p>
              <a:endParaRPr lang="en-US">
                <a:latin typeface="Times New Roman" panose="02020603050405020304" pitchFamily="18" charset="0"/>
                <a:cs typeface="Times New Roman" pitchFamily="18" charset="0"/>
              </a:endParaRPr>
            </a:p>
          </p:txBody>
        </p:sp>
        <p:sp>
          <p:nvSpPr>
            <p:cNvPr id="13342" name="Line 10"/>
            <p:cNvSpPr>
              <a:spLocks noChangeShapeType="1"/>
            </p:cNvSpPr>
            <p:nvPr>
              <p:custDataLst>
                <p:tags r:id="rId23"/>
              </p:custDataLst>
            </p:nvPr>
          </p:nvSpPr>
          <p:spPr bwMode="auto">
            <a:xfrm>
              <a:off x="2924" y="1528"/>
              <a:ext cx="1497" cy="958"/>
            </a:xfrm>
            <a:prstGeom prst="line">
              <a:avLst/>
            </a:prstGeom>
            <a:noFill/>
            <a:ln w="19050">
              <a:solidFill>
                <a:srgbClr val="FF0000"/>
              </a:solidFill>
              <a:round/>
              <a:headEnd/>
              <a:tailEnd type="triangle" w="med" len="med"/>
            </a:ln>
          </p:spPr>
          <p:txBody>
            <a:bodyPr/>
            <a:lstStyle/>
            <a:p>
              <a:endParaRPr lang="en-US">
                <a:latin typeface="Times New Roman" panose="02020603050405020304" pitchFamily="18" charset="0"/>
                <a:cs typeface="Times New Roman" pitchFamily="18" charset="0"/>
              </a:endParaRPr>
            </a:p>
          </p:txBody>
        </p:sp>
      </p:grpSp>
      <p:grpSp>
        <p:nvGrpSpPr>
          <p:cNvPr id="3" name="Group 11"/>
          <p:cNvGrpSpPr>
            <a:grpSpLocks/>
          </p:cNvGrpSpPr>
          <p:nvPr>
            <p:custDataLst>
              <p:tags r:id="rId8"/>
            </p:custDataLst>
          </p:nvPr>
        </p:nvGrpSpPr>
        <p:grpSpPr bwMode="auto">
          <a:xfrm>
            <a:off x="7149828" y="1963638"/>
            <a:ext cx="4702175" cy="1643062"/>
            <a:chOff x="1459" y="1451"/>
            <a:chExt cx="2962" cy="1035"/>
          </a:xfrm>
        </p:grpSpPr>
        <p:grpSp>
          <p:nvGrpSpPr>
            <p:cNvPr id="4" name="Group 12"/>
            <p:cNvGrpSpPr>
              <a:grpSpLocks/>
            </p:cNvGrpSpPr>
            <p:nvPr/>
          </p:nvGrpSpPr>
          <p:grpSpPr bwMode="auto">
            <a:xfrm>
              <a:off x="1459" y="1451"/>
              <a:ext cx="2962" cy="1035"/>
              <a:chOff x="1459" y="1451"/>
              <a:chExt cx="2962" cy="1035"/>
            </a:xfrm>
          </p:grpSpPr>
          <p:sp>
            <p:nvSpPr>
              <p:cNvPr id="13339" name="Line 13"/>
              <p:cNvSpPr>
                <a:spLocks noChangeShapeType="1"/>
              </p:cNvSpPr>
              <p:nvPr>
                <p:custDataLst>
                  <p:tags r:id="rId20"/>
                </p:custDataLst>
              </p:nvPr>
            </p:nvSpPr>
            <p:spPr bwMode="auto">
              <a:xfrm>
                <a:off x="1459" y="1451"/>
                <a:ext cx="1465" cy="235"/>
              </a:xfrm>
              <a:prstGeom prst="line">
                <a:avLst/>
              </a:prstGeom>
              <a:noFill/>
              <a:ln w="19050">
                <a:solidFill>
                  <a:srgbClr val="FF0000"/>
                </a:solidFill>
                <a:round/>
                <a:headEnd/>
                <a:tailEnd/>
              </a:ln>
            </p:spPr>
            <p:txBody>
              <a:bodyPr/>
              <a:lstStyle/>
              <a:p>
                <a:endParaRPr lang="en-US">
                  <a:latin typeface="Times New Roman" panose="02020603050405020304" pitchFamily="18" charset="0"/>
                  <a:cs typeface="Times New Roman" pitchFamily="18" charset="0"/>
                </a:endParaRPr>
              </a:p>
            </p:txBody>
          </p:sp>
          <p:sp>
            <p:nvSpPr>
              <p:cNvPr id="13340" name="Line 14"/>
              <p:cNvSpPr>
                <a:spLocks noChangeShapeType="1"/>
              </p:cNvSpPr>
              <p:nvPr>
                <p:custDataLst>
                  <p:tags r:id="rId21"/>
                </p:custDataLst>
              </p:nvPr>
            </p:nvSpPr>
            <p:spPr bwMode="auto">
              <a:xfrm>
                <a:off x="2924" y="1686"/>
                <a:ext cx="1497" cy="800"/>
              </a:xfrm>
              <a:prstGeom prst="line">
                <a:avLst/>
              </a:prstGeom>
              <a:noFill/>
              <a:ln w="19050">
                <a:solidFill>
                  <a:srgbClr val="FF0000"/>
                </a:solidFill>
                <a:round/>
                <a:headEnd/>
                <a:tailEnd type="triangle" w="med" len="med"/>
              </a:ln>
            </p:spPr>
            <p:txBody>
              <a:bodyPr/>
              <a:lstStyle/>
              <a:p>
                <a:endParaRPr lang="en-US">
                  <a:latin typeface="Times New Roman" panose="02020603050405020304" pitchFamily="18" charset="0"/>
                  <a:cs typeface="Times New Roman" pitchFamily="18" charset="0"/>
                </a:endParaRPr>
              </a:p>
            </p:txBody>
          </p:sp>
        </p:grpSp>
        <p:grpSp>
          <p:nvGrpSpPr>
            <p:cNvPr id="5" name="Group 15"/>
            <p:cNvGrpSpPr>
              <a:grpSpLocks/>
            </p:cNvGrpSpPr>
            <p:nvPr/>
          </p:nvGrpSpPr>
          <p:grpSpPr bwMode="auto">
            <a:xfrm>
              <a:off x="1459" y="1451"/>
              <a:ext cx="2962" cy="1035"/>
              <a:chOff x="1459" y="1451"/>
              <a:chExt cx="2962" cy="1035"/>
            </a:xfrm>
          </p:grpSpPr>
          <p:sp>
            <p:nvSpPr>
              <p:cNvPr id="13337" name="Line 16"/>
              <p:cNvSpPr>
                <a:spLocks noChangeShapeType="1"/>
              </p:cNvSpPr>
              <p:nvPr>
                <p:custDataLst>
                  <p:tags r:id="rId18"/>
                </p:custDataLst>
              </p:nvPr>
            </p:nvSpPr>
            <p:spPr bwMode="auto">
              <a:xfrm>
                <a:off x="1459" y="1451"/>
                <a:ext cx="1465" cy="363"/>
              </a:xfrm>
              <a:prstGeom prst="line">
                <a:avLst/>
              </a:prstGeom>
              <a:noFill/>
              <a:ln w="19050">
                <a:solidFill>
                  <a:srgbClr val="FF0000"/>
                </a:solidFill>
                <a:round/>
                <a:headEnd/>
                <a:tailEnd/>
              </a:ln>
            </p:spPr>
            <p:txBody>
              <a:bodyPr/>
              <a:lstStyle/>
              <a:p>
                <a:endParaRPr lang="en-US">
                  <a:latin typeface="Times New Roman" panose="02020603050405020304" pitchFamily="18" charset="0"/>
                  <a:cs typeface="Times New Roman" pitchFamily="18" charset="0"/>
                </a:endParaRPr>
              </a:p>
            </p:txBody>
          </p:sp>
          <p:sp>
            <p:nvSpPr>
              <p:cNvPr id="13338" name="Line 17"/>
              <p:cNvSpPr>
                <a:spLocks noChangeShapeType="1"/>
              </p:cNvSpPr>
              <p:nvPr>
                <p:custDataLst>
                  <p:tags r:id="rId19"/>
                </p:custDataLst>
              </p:nvPr>
            </p:nvSpPr>
            <p:spPr bwMode="auto">
              <a:xfrm>
                <a:off x="2924" y="1814"/>
                <a:ext cx="1497" cy="672"/>
              </a:xfrm>
              <a:prstGeom prst="line">
                <a:avLst/>
              </a:prstGeom>
              <a:noFill/>
              <a:ln w="19050">
                <a:solidFill>
                  <a:srgbClr val="FF0000"/>
                </a:solidFill>
                <a:round/>
                <a:headEnd/>
                <a:tailEnd type="triangle" w="med" len="med"/>
              </a:ln>
            </p:spPr>
            <p:txBody>
              <a:bodyPr/>
              <a:lstStyle/>
              <a:p>
                <a:endParaRPr lang="en-US">
                  <a:latin typeface="Times New Roman" panose="02020603050405020304" pitchFamily="18" charset="0"/>
                  <a:cs typeface="Times New Roman" pitchFamily="18" charset="0"/>
                </a:endParaRPr>
              </a:p>
            </p:txBody>
          </p:sp>
        </p:grpSp>
      </p:grpSp>
      <p:grpSp>
        <p:nvGrpSpPr>
          <p:cNvPr id="6" name="Group 31"/>
          <p:cNvGrpSpPr>
            <a:grpSpLocks/>
          </p:cNvGrpSpPr>
          <p:nvPr>
            <p:custDataLst>
              <p:tags r:id="rId9"/>
            </p:custDataLst>
          </p:nvPr>
        </p:nvGrpSpPr>
        <p:grpSpPr bwMode="auto">
          <a:xfrm>
            <a:off x="7454627" y="2336701"/>
            <a:ext cx="4419600" cy="752475"/>
            <a:chOff x="1651" y="1686"/>
            <a:chExt cx="2784" cy="474"/>
          </a:xfrm>
        </p:grpSpPr>
        <p:sp>
          <p:nvSpPr>
            <p:cNvPr id="13327" name="Line 19"/>
            <p:cNvSpPr>
              <a:spLocks noChangeShapeType="1"/>
            </p:cNvSpPr>
            <p:nvPr>
              <p:custDataLst>
                <p:tags r:id="rId11"/>
              </p:custDataLst>
            </p:nvPr>
          </p:nvSpPr>
          <p:spPr bwMode="auto">
            <a:xfrm>
              <a:off x="1651" y="1835"/>
              <a:ext cx="2784" cy="288"/>
            </a:xfrm>
            <a:prstGeom prst="line">
              <a:avLst/>
            </a:prstGeom>
            <a:noFill/>
            <a:ln w="19050">
              <a:solidFill>
                <a:schemeClr val="folHlink"/>
              </a:solidFill>
              <a:round/>
              <a:headEnd/>
              <a:tailEnd type="triangle" w="med" len="med"/>
            </a:ln>
          </p:spPr>
          <p:txBody>
            <a:bodyPr/>
            <a:lstStyle/>
            <a:p>
              <a:endParaRPr lang="en-US">
                <a:latin typeface="Times New Roman" panose="02020603050405020304" pitchFamily="18" charset="0"/>
                <a:cs typeface="Times New Roman" pitchFamily="18" charset="0"/>
              </a:endParaRPr>
            </a:p>
          </p:txBody>
        </p:sp>
        <p:grpSp>
          <p:nvGrpSpPr>
            <p:cNvPr id="7" name="Group 30"/>
            <p:cNvGrpSpPr>
              <a:grpSpLocks/>
            </p:cNvGrpSpPr>
            <p:nvPr/>
          </p:nvGrpSpPr>
          <p:grpSpPr bwMode="auto">
            <a:xfrm>
              <a:off x="1651" y="1686"/>
              <a:ext cx="2778" cy="474"/>
              <a:chOff x="1651" y="1686"/>
              <a:chExt cx="2778" cy="474"/>
            </a:xfrm>
          </p:grpSpPr>
          <p:sp>
            <p:nvSpPr>
              <p:cNvPr id="13329" name="Line 21"/>
              <p:cNvSpPr>
                <a:spLocks noChangeShapeType="1"/>
              </p:cNvSpPr>
              <p:nvPr>
                <p:custDataLst>
                  <p:tags r:id="rId12"/>
                </p:custDataLst>
              </p:nvPr>
            </p:nvSpPr>
            <p:spPr bwMode="auto">
              <a:xfrm>
                <a:off x="1651" y="1835"/>
                <a:ext cx="1273" cy="288"/>
              </a:xfrm>
              <a:prstGeom prst="line">
                <a:avLst/>
              </a:prstGeom>
              <a:noFill/>
              <a:ln w="19050">
                <a:solidFill>
                  <a:schemeClr val="folHlink"/>
                </a:solidFill>
                <a:round/>
                <a:headEnd/>
                <a:tailEnd/>
              </a:ln>
            </p:spPr>
            <p:txBody>
              <a:bodyPr/>
              <a:lstStyle/>
              <a:p>
                <a:endParaRPr lang="en-US">
                  <a:latin typeface="Times New Roman" panose="02020603050405020304" pitchFamily="18" charset="0"/>
                  <a:cs typeface="Times New Roman" pitchFamily="18" charset="0"/>
                </a:endParaRPr>
              </a:p>
            </p:txBody>
          </p:sp>
          <p:sp>
            <p:nvSpPr>
              <p:cNvPr id="13330" name="Line 22"/>
              <p:cNvSpPr>
                <a:spLocks noChangeShapeType="1"/>
              </p:cNvSpPr>
              <p:nvPr>
                <p:custDataLst>
                  <p:tags r:id="rId13"/>
                </p:custDataLst>
              </p:nvPr>
            </p:nvSpPr>
            <p:spPr bwMode="auto">
              <a:xfrm>
                <a:off x="2924" y="2123"/>
                <a:ext cx="1505" cy="37"/>
              </a:xfrm>
              <a:prstGeom prst="line">
                <a:avLst/>
              </a:prstGeom>
              <a:noFill/>
              <a:ln w="19050">
                <a:solidFill>
                  <a:schemeClr val="folHlink"/>
                </a:solidFill>
                <a:round/>
                <a:headEnd/>
                <a:tailEnd type="triangle" w="med" len="med"/>
              </a:ln>
            </p:spPr>
            <p:txBody>
              <a:bodyPr/>
              <a:lstStyle/>
              <a:p>
                <a:endParaRPr lang="en-US">
                  <a:latin typeface="Times New Roman" panose="02020603050405020304" pitchFamily="18" charset="0"/>
                  <a:cs typeface="Times New Roman" pitchFamily="18" charset="0"/>
                </a:endParaRPr>
              </a:p>
            </p:txBody>
          </p:sp>
          <p:sp>
            <p:nvSpPr>
              <p:cNvPr id="13331" name="Line 24"/>
              <p:cNvSpPr>
                <a:spLocks noChangeShapeType="1"/>
              </p:cNvSpPr>
              <p:nvPr>
                <p:custDataLst>
                  <p:tags r:id="rId14"/>
                </p:custDataLst>
              </p:nvPr>
            </p:nvSpPr>
            <p:spPr bwMode="auto">
              <a:xfrm>
                <a:off x="1651" y="1835"/>
                <a:ext cx="1273" cy="0"/>
              </a:xfrm>
              <a:prstGeom prst="line">
                <a:avLst/>
              </a:prstGeom>
              <a:noFill/>
              <a:ln w="19050">
                <a:solidFill>
                  <a:schemeClr val="folHlink"/>
                </a:solidFill>
                <a:round/>
                <a:headEnd/>
                <a:tailEnd/>
              </a:ln>
            </p:spPr>
            <p:txBody>
              <a:bodyPr/>
              <a:lstStyle/>
              <a:p>
                <a:endParaRPr lang="en-US">
                  <a:latin typeface="Times New Roman" panose="02020603050405020304" pitchFamily="18" charset="0"/>
                  <a:cs typeface="Times New Roman" pitchFamily="18" charset="0"/>
                </a:endParaRPr>
              </a:p>
            </p:txBody>
          </p:sp>
          <p:sp>
            <p:nvSpPr>
              <p:cNvPr id="13332" name="Line 25"/>
              <p:cNvSpPr>
                <a:spLocks noChangeShapeType="1"/>
              </p:cNvSpPr>
              <p:nvPr>
                <p:custDataLst>
                  <p:tags r:id="rId15"/>
                </p:custDataLst>
              </p:nvPr>
            </p:nvSpPr>
            <p:spPr bwMode="auto">
              <a:xfrm>
                <a:off x="2924" y="1835"/>
                <a:ext cx="1497" cy="265"/>
              </a:xfrm>
              <a:prstGeom prst="line">
                <a:avLst/>
              </a:prstGeom>
              <a:noFill/>
              <a:ln w="19050">
                <a:solidFill>
                  <a:schemeClr val="folHlink"/>
                </a:solidFill>
                <a:round/>
                <a:headEnd/>
                <a:tailEnd type="triangle" w="med" len="med"/>
              </a:ln>
            </p:spPr>
            <p:txBody>
              <a:bodyPr/>
              <a:lstStyle/>
              <a:p>
                <a:endParaRPr lang="en-US">
                  <a:latin typeface="Times New Roman" panose="02020603050405020304" pitchFamily="18" charset="0"/>
                  <a:cs typeface="Times New Roman" pitchFamily="18" charset="0"/>
                </a:endParaRPr>
              </a:p>
            </p:txBody>
          </p:sp>
          <p:sp>
            <p:nvSpPr>
              <p:cNvPr id="13333" name="Line 27"/>
              <p:cNvSpPr>
                <a:spLocks noChangeShapeType="1"/>
              </p:cNvSpPr>
              <p:nvPr>
                <p:custDataLst>
                  <p:tags r:id="rId16"/>
                </p:custDataLst>
              </p:nvPr>
            </p:nvSpPr>
            <p:spPr bwMode="auto">
              <a:xfrm flipV="1">
                <a:off x="1651" y="1686"/>
                <a:ext cx="1273" cy="149"/>
              </a:xfrm>
              <a:prstGeom prst="line">
                <a:avLst/>
              </a:prstGeom>
              <a:noFill/>
              <a:ln w="19050">
                <a:solidFill>
                  <a:schemeClr val="folHlink"/>
                </a:solidFill>
                <a:round/>
                <a:headEnd/>
                <a:tailEnd/>
              </a:ln>
            </p:spPr>
            <p:txBody>
              <a:bodyPr/>
              <a:lstStyle/>
              <a:p>
                <a:endParaRPr lang="en-US">
                  <a:latin typeface="Times New Roman" panose="02020603050405020304" pitchFamily="18" charset="0"/>
                  <a:cs typeface="Times New Roman" pitchFamily="18" charset="0"/>
                </a:endParaRPr>
              </a:p>
            </p:txBody>
          </p:sp>
          <p:sp>
            <p:nvSpPr>
              <p:cNvPr id="13334" name="Line 28"/>
              <p:cNvSpPr>
                <a:spLocks noChangeShapeType="1"/>
              </p:cNvSpPr>
              <p:nvPr>
                <p:custDataLst>
                  <p:tags r:id="rId17"/>
                </p:custDataLst>
              </p:nvPr>
            </p:nvSpPr>
            <p:spPr bwMode="auto">
              <a:xfrm>
                <a:off x="2924" y="1686"/>
                <a:ext cx="1497" cy="392"/>
              </a:xfrm>
              <a:prstGeom prst="line">
                <a:avLst/>
              </a:prstGeom>
              <a:noFill/>
              <a:ln w="19050">
                <a:solidFill>
                  <a:schemeClr val="folHlink"/>
                </a:solidFill>
                <a:round/>
                <a:headEnd/>
                <a:tailEnd type="triangle" w="med" len="med"/>
              </a:ln>
            </p:spPr>
            <p:txBody>
              <a:bodyPr/>
              <a:lstStyle/>
              <a:p>
                <a:endParaRPr lang="en-US">
                  <a:latin typeface="Times New Roman" panose="02020603050405020304" pitchFamily="18" charset="0"/>
                  <a:cs typeface="Times New Roman" pitchFamily="18" charset="0"/>
                </a:endParaRPr>
              </a:p>
            </p:txBody>
          </p:sp>
        </p:grpSp>
      </p:grpSp>
      <p:sp>
        <p:nvSpPr>
          <p:cNvPr id="13323" name="Oval 29"/>
          <p:cNvSpPr>
            <a:spLocks noChangeArrowheads="1"/>
          </p:cNvSpPr>
          <p:nvPr>
            <p:custDataLst>
              <p:tags r:id="rId10"/>
            </p:custDataLst>
          </p:nvPr>
        </p:nvSpPr>
        <p:spPr bwMode="auto">
          <a:xfrm>
            <a:off x="9442177" y="2727225"/>
            <a:ext cx="88900" cy="88900"/>
          </a:xfrm>
          <a:prstGeom prst="ellipse">
            <a:avLst/>
          </a:prstGeom>
          <a:solidFill>
            <a:schemeClr val="tx1"/>
          </a:solidFill>
          <a:ln w="9525">
            <a:solidFill>
              <a:schemeClr val="tx1"/>
            </a:solidFill>
            <a:round/>
            <a:headEnd/>
            <a:tailEnd/>
          </a:ln>
        </p:spPr>
        <p:txBody>
          <a:bodyPr wrap="none" anchor="ctr"/>
          <a:lstStyle/>
          <a:p>
            <a:endParaRPr lang="en-US">
              <a:latin typeface="Times New Roman" panose="02020603050405020304" pitchFamily="18" charset="0"/>
              <a:cs typeface="Times New Roman" pitchFamily="18" charset="0"/>
            </a:endParaRPr>
          </a:p>
        </p:txBody>
      </p:sp>
      <p:sp>
        <p:nvSpPr>
          <p:cNvPr id="9" name="Rounded Rectangular Callout 8"/>
          <p:cNvSpPr/>
          <p:nvPr/>
        </p:nvSpPr>
        <p:spPr>
          <a:xfrm>
            <a:off x="10037492" y="1437508"/>
            <a:ext cx="1195112" cy="612648"/>
          </a:xfrm>
          <a:prstGeom prst="wedgeRoundRectCallout">
            <a:avLst>
              <a:gd name="adj1" fmla="val 91262"/>
              <a:gd name="adj2" fmla="val 177443"/>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cs typeface="Times New Roman" panose="02020603050405020304" pitchFamily="18" charset="0"/>
              </a:rPr>
              <a:t>Circle of confusion</a:t>
            </a:r>
          </a:p>
        </p:txBody>
      </p:sp>
      <p:pic>
        <p:nvPicPr>
          <p:cNvPr id="387074" name="Picture 2" descr="https://upload.wikimedia.org/wikipedia/commons/thumb/3/3f/Circles_of_confusion_lens_diagram.svg/220px-Circles_of_confusion_lens_diagram.svg.png"/>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8969052" y="3861048"/>
            <a:ext cx="2095500" cy="1743076"/>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8472264" y="5733256"/>
            <a:ext cx="3528392" cy="1015663"/>
          </a:xfrm>
          <a:prstGeom prst="rect">
            <a:avLst/>
          </a:prstGeom>
          <a:solidFill>
            <a:schemeClr val="accent3">
              <a:lumMod val="40000"/>
              <a:lumOff val="60000"/>
            </a:schemeClr>
          </a:solidFill>
        </p:spPr>
        <p:txBody>
          <a:bodyPr wrap="square">
            <a:spAutoFit/>
          </a:bodyPr>
          <a:lstStyle/>
          <a:p>
            <a:pPr algn="ctr"/>
            <a:r>
              <a:rPr lang="en-US" sz="2000" dirty="0">
                <a:latin typeface="Times New Roman" panose="02020603050405020304" pitchFamily="18" charset="0"/>
                <a:cs typeface="Times New Roman" panose="02020603050405020304" pitchFamily="18" charset="0"/>
              </a:rPr>
              <a:t>Diagram showing circles of confusion for point source too close, in focus, and too far</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3989"/>
                                        </p:tgtEl>
                                        <p:attrNameLst>
                                          <p:attrName>style.visibility</p:attrName>
                                        </p:attrNameLst>
                                      </p:cBhvr>
                                      <p:to>
                                        <p:strVal val="visible"/>
                                      </p:to>
                                    </p:set>
                                    <p:animEffect transition="in" filter="wipe(left)">
                                      <p:cBhvr>
                                        <p:cTn id="7" dur="500"/>
                                        <p:tgtEl>
                                          <p:spTgt spid="55398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98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11"/>
          <p:cNvGrpSpPr>
            <a:grpSpLocks/>
          </p:cNvGrpSpPr>
          <p:nvPr/>
        </p:nvGrpSpPr>
        <p:grpSpPr bwMode="auto">
          <a:xfrm>
            <a:off x="9069686" y="1899147"/>
            <a:ext cx="439737" cy="2079625"/>
            <a:chOff x="7705055" y="3025091"/>
            <a:chExt cx="542007" cy="2220987"/>
          </a:xfrm>
        </p:grpSpPr>
        <p:pic>
          <p:nvPicPr>
            <p:cNvPr id="10" name="Picture 8" descr="C:\Users\larryz\Pictures\Picture1.png"/>
            <p:cNvPicPr>
              <a:picLocks noChangeAspect="1" noChangeArrowheads="1"/>
            </p:cNvPicPr>
            <p:nvPr/>
          </p:nvPicPr>
          <p:blipFill>
            <a:blip r:embed="rId17" cstate="print">
              <a:extLst>
                <a:ext uri="{28A0092B-C50C-407E-A947-70E740481C1C}">
                  <a14:useLocalDpi xmlns:a14="http://schemas.microsoft.com/office/drawing/2010/main" val="0"/>
                </a:ext>
              </a:extLst>
            </a:blip>
            <a:srcRect l="77914" t="9837" r="-2" b="13004"/>
            <a:stretch>
              <a:fillRect/>
            </a:stretch>
          </p:blipFill>
          <p:spPr bwMode="auto">
            <a:xfrm>
              <a:off x="7976382" y="3025091"/>
              <a:ext cx="270680" cy="2172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8" descr="C:\Users\larryz\Pictures\Picture1.png"/>
            <p:cNvPicPr>
              <a:picLocks noChangeAspect="1" noChangeArrowheads="1"/>
            </p:cNvPicPr>
            <p:nvPr/>
          </p:nvPicPr>
          <p:blipFill>
            <a:blip r:embed="rId17" cstate="print">
              <a:extLst>
                <a:ext uri="{28A0092B-C50C-407E-A947-70E740481C1C}">
                  <a14:useLocalDpi xmlns:a14="http://schemas.microsoft.com/office/drawing/2010/main" val="0"/>
                </a:ext>
              </a:extLst>
            </a:blip>
            <a:srcRect l="77914" t="9837" r="-2" b="13004"/>
            <a:stretch>
              <a:fillRect/>
            </a:stretch>
          </p:blipFill>
          <p:spPr bwMode="auto">
            <a:xfrm rot="10800000">
              <a:off x="7705055" y="3073157"/>
              <a:ext cx="270680" cy="2172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 name="Line 9"/>
          <p:cNvSpPr>
            <a:spLocks noChangeShapeType="1"/>
          </p:cNvSpPr>
          <p:nvPr>
            <p:custDataLst>
              <p:tags r:id="rId1"/>
            </p:custDataLst>
          </p:nvPr>
        </p:nvSpPr>
        <p:spPr bwMode="auto">
          <a:xfrm>
            <a:off x="6986885" y="2940546"/>
            <a:ext cx="4686300"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GB" sz="3600">
              <a:solidFill>
                <a:srgbClr val="000000"/>
              </a:solidFill>
              <a:latin typeface="Times New Roman" pitchFamily="18" charset="0"/>
              <a:cs typeface="Times New Roman" pitchFamily="18" charset="0"/>
            </a:endParaRPr>
          </a:p>
        </p:txBody>
      </p:sp>
      <p:sp>
        <p:nvSpPr>
          <p:cNvPr id="13" name="Line 10"/>
          <p:cNvSpPr>
            <a:spLocks noChangeShapeType="1"/>
          </p:cNvSpPr>
          <p:nvPr>
            <p:custDataLst>
              <p:tags r:id="rId2"/>
            </p:custDataLst>
          </p:nvPr>
        </p:nvSpPr>
        <p:spPr bwMode="auto">
          <a:xfrm>
            <a:off x="9303047" y="2435721"/>
            <a:ext cx="2370138" cy="1046162"/>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GB" sz="3600">
              <a:solidFill>
                <a:srgbClr val="000000"/>
              </a:solidFill>
              <a:latin typeface="Times New Roman" pitchFamily="18" charset="0"/>
              <a:cs typeface="Times New Roman" pitchFamily="18" charset="0"/>
            </a:endParaRPr>
          </a:p>
        </p:txBody>
      </p:sp>
      <p:sp>
        <p:nvSpPr>
          <p:cNvPr id="14" name="Line 10"/>
          <p:cNvSpPr>
            <a:spLocks noChangeShapeType="1"/>
          </p:cNvSpPr>
          <p:nvPr>
            <p:custDataLst>
              <p:tags r:id="rId3"/>
            </p:custDataLst>
          </p:nvPr>
        </p:nvSpPr>
        <p:spPr bwMode="auto">
          <a:xfrm flipV="1">
            <a:off x="9303047" y="2421434"/>
            <a:ext cx="2355850" cy="1012825"/>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GB" sz="3600">
              <a:solidFill>
                <a:srgbClr val="000000"/>
              </a:solidFill>
              <a:latin typeface="Times New Roman" pitchFamily="18" charset="0"/>
              <a:cs typeface="Times New Roman" pitchFamily="18" charset="0"/>
            </a:endParaRPr>
          </a:p>
        </p:txBody>
      </p:sp>
      <p:sp>
        <p:nvSpPr>
          <p:cNvPr id="15" name="Line 10"/>
          <p:cNvSpPr>
            <a:spLocks noChangeShapeType="1"/>
          </p:cNvSpPr>
          <p:nvPr>
            <p:custDataLst>
              <p:tags r:id="rId4"/>
            </p:custDataLst>
          </p:nvPr>
        </p:nvSpPr>
        <p:spPr bwMode="auto">
          <a:xfrm>
            <a:off x="9303047" y="2675433"/>
            <a:ext cx="2355850" cy="53340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GB" sz="3600">
              <a:solidFill>
                <a:srgbClr val="000000"/>
              </a:solidFill>
              <a:latin typeface="Times New Roman" pitchFamily="18" charset="0"/>
              <a:cs typeface="Times New Roman" pitchFamily="18" charset="0"/>
            </a:endParaRPr>
          </a:p>
        </p:txBody>
      </p:sp>
      <p:sp>
        <p:nvSpPr>
          <p:cNvPr id="16" name="Line 10"/>
          <p:cNvSpPr>
            <a:spLocks noChangeShapeType="1"/>
          </p:cNvSpPr>
          <p:nvPr>
            <p:custDataLst>
              <p:tags r:id="rId5"/>
            </p:custDataLst>
          </p:nvPr>
        </p:nvSpPr>
        <p:spPr bwMode="auto">
          <a:xfrm flipV="1">
            <a:off x="9303047" y="2675433"/>
            <a:ext cx="2349500" cy="53340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GB" sz="3600">
              <a:solidFill>
                <a:srgbClr val="000000"/>
              </a:solidFill>
              <a:latin typeface="Times New Roman" pitchFamily="18" charset="0"/>
              <a:cs typeface="Times New Roman" pitchFamily="18" charset="0"/>
            </a:endParaRPr>
          </a:p>
        </p:txBody>
      </p:sp>
      <p:pic>
        <p:nvPicPr>
          <p:cNvPr id="17" name="Picture 13" descr="Edittex"/>
          <p:cNvPicPr>
            <a:picLocks noChangeAspect="1" noChangeArrowheads="1"/>
          </p:cNvPicPr>
          <p:nvPr>
            <p:custDataLst>
              <p:tags r:id="rId6"/>
            </p:custDataLst>
          </p:nvPr>
        </p:nvPicPr>
        <p:blipFill>
          <a:blip r:embed="rId18" cstate="print">
            <a:extLst>
              <a:ext uri="{28A0092B-C50C-407E-A947-70E740481C1C}">
                <a14:useLocalDpi xmlns:a14="http://schemas.microsoft.com/office/drawing/2010/main" val="0"/>
              </a:ext>
            </a:extLst>
          </a:blip>
          <a:srcRect l="85616" t="50000"/>
          <a:stretch>
            <a:fillRect/>
          </a:stretch>
        </p:blipFill>
        <p:spPr bwMode="auto">
          <a:xfrm>
            <a:off x="9782472" y="3685083"/>
            <a:ext cx="234950" cy="33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ctangle 3"/>
          <p:cNvSpPr txBox="1">
            <a:spLocks noChangeArrowheads="1"/>
          </p:cNvSpPr>
          <p:nvPr>
            <p:custDataLst>
              <p:tags r:id="rId7"/>
            </p:custDataLst>
          </p:nvPr>
        </p:nvSpPr>
        <p:spPr>
          <a:xfrm>
            <a:off x="140797" y="1307341"/>
            <a:ext cx="7020715" cy="5434028"/>
          </a:xfrm>
          <a:prstGeom prst="rect">
            <a:avLst/>
          </a:prstGeom>
        </p:spPr>
        <p:txBody>
          <a:bodyPr vert="horz" lIns="91440" tIns="45720" rIns="91440" bIns="45720" rtlCol="0">
            <a:noAutofit/>
          </a:bodyPr>
          <a:lstStyle>
            <a:lvl1pPr marL="342900" indent="-342900" algn="just" defTabSz="914400" rtl="0" eaLnBrk="1" latinLnBrk="0" hangingPunct="1">
              <a:spcBef>
                <a:spcPct val="20000"/>
              </a:spcBef>
              <a:buFont typeface="Arial" pitchFamily="34" charset="0"/>
              <a:buNone/>
              <a:defRPr sz="3200" kern="1200">
                <a:solidFill>
                  <a:schemeClr val="tx1"/>
                </a:solidFill>
                <a:latin typeface="Times New Roman" pitchFamily="18" charset="0"/>
                <a:ea typeface="+mn-ea"/>
                <a:cs typeface="Times New Roman" pitchFamily="18" charset="0"/>
              </a:defRPr>
            </a:lvl1pPr>
            <a:lvl2pPr marL="742950" indent="-285750" algn="just" defTabSz="914400" rtl="0" eaLnBrk="1" latinLnBrk="0" hangingPunct="1">
              <a:spcBef>
                <a:spcPct val="20000"/>
              </a:spcBef>
              <a:buFont typeface="Wingdings" pitchFamily="2" charset="2"/>
              <a:buChar char="Ø"/>
              <a:defRPr sz="2800" kern="1200">
                <a:solidFill>
                  <a:schemeClr val="tx1"/>
                </a:solidFill>
                <a:latin typeface="Times New Roman" pitchFamily="18" charset="0"/>
                <a:ea typeface="+mn-ea"/>
                <a:cs typeface="Times New Roman" pitchFamily="18" charset="0"/>
              </a:defRPr>
            </a:lvl2pPr>
            <a:lvl3pPr marL="1143000" indent="-228600" algn="just" defTabSz="914400" rtl="0" eaLnBrk="1" latinLnBrk="0" hangingPunct="1">
              <a:spcBef>
                <a:spcPct val="20000"/>
              </a:spcBef>
              <a:buFont typeface="Wingdings" pitchFamily="2" charset="2"/>
              <a:buChar char="v"/>
              <a:defRPr sz="2400" kern="1200">
                <a:solidFill>
                  <a:schemeClr val="tx1"/>
                </a:solidFill>
                <a:latin typeface="Times New Roman" pitchFamily="18" charset="0"/>
                <a:ea typeface="+mn-ea"/>
                <a:cs typeface="Times New Roman" pitchFamily="18" charset="0"/>
              </a:defRPr>
            </a:lvl3pPr>
            <a:lvl4pPr marL="1600200" indent="-228600" algn="just" defTabSz="914400" rtl="0" eaLnBrk="1" latinLnBrk="0" hangingPunct="1">
              <a:spcBef>
                <a:spcPct val="20000"/>
              </a:spcBef>
              <a:buFont typeface="Wingdings" pitchFamily="2" charset="2"/>
              <a:buChar char="§"/>
              <a:defRPr sz="2000" kern="1200">
                <a:solidFill>
                  <a:schemeClr val="tx1"/>
                </a:solidFill>
                <a:latin typeface="Times New Roman" pitchFamily="18" charset="0"/>
                <a:ea typeface="+mn-ea"/>
                <a:cs typeface="Times New Roman" pitchFamily="18" charset="0"/>
              </a:defRPr>
            </a:lvl4pPr>
            <a:lvl5pPr marL="2057400" indent="-228600" algn="just" defTabSz="914400" rtl="0" eaLnBrk="1" latinLnBrk="0" hangingPunct="1">
              <a:spcBef>
                <a:spcPct val="20000"/>
              </a:spcBef>
              <a:buFont typeface="Courier New" pitchFamily="49" charset="0"/>
              <a:buChar char="o"/>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l" eaLnBrk="0" fontAlgn="base" hangingPunct="0">
              <a:spcAft>
                <a:spcPct val="0"/>
              </a:spcAft>
            </a:pPr>
            <a:r>
              <a:rPr lang="en-US" kern="0" dirty="0">
                <a:solidFill>
                  <a:srgbClr val="000000"/>
                </a:solidFill>
              </a:rPr>
              <a:t>A lens focuses parallel rays onto a single focal point</a:t>
            </a:r>
          </a:p>
          <a:p>
            <a:pPr lvl="1" algn="l" eaLnBrk="0" fontAlgn="base" hangingPunct="0">
              <a:spcAft>
                <a:spcPct val="0"/>
              </a:spcAft>
              <a:buFontTx/>
              <a:buChar char="•"/>
            </a:pPr>
            <a:r>
              <a:rPr lang="en-US" kern="0" dirty="0">
                <a:solidFill>
                  <a:srgbClr val="000000"/>
                </a:solidFill>
              </a:rPr>
              <a:t>focal point at a distance </a:t>
            </a:r>
            <a:r>
              <a:rPr lang="en-US" i="1" kern="0" dirty="0">
                <a:solidFill>
                  <a:srgbClr val="000000"/>
                </a:solidFill>
              </a:rPr>
              <a:t>f</a:t>
            </a:r>
            <a:r>
              <a:rPr lang="en-US" kern="0" dirty="0">
                <a:solidFill>
                  <a:srgbClr val="000000"/>
                </a:solidFill>
              </a:rPr>
              <a:t>  beyond the plane of the lens:</a:t>
            </a:r>
          </a:p>
          <a:p>
            <a:pPr marL="914400" lvl="2" indent="0" algn="l" eaLnBrk="0" fontAlgn="base" hangingPunct="0">
              <a:spcAft>
                <a:spcPct val="0"/>
              </a:spcAft>
              <a:buNone/>
            </a:pPr>
            <a:r>
              <a:rPr lang="en-US" sz="2800" i="1" kern="0" dirty="0">
                <a:solidFill>
                  <a:srgbClr val="000000"/>
                </a:solidFill>
              </a:rPr>
              <a:t>f</a:t>
            </a:r>
            <a:r>
              <a:rPr lang="en-US" sz="2800" kern="0" dirty="0">
                <a:solidFill>
                  <a:srgbClr val="000000"/>
                </a:solidFill>
              </a:rPr>
              <a:t> is a function of the shape and index of refraction of the lens</a:t>
            </a:r>
          </a:p>
          <a:p>
            <a:pPr lvl="1" algn="l" eaLnBrk="0" fontAlgn="base" hangingPunct="0">
              <a:spcAft>
                <a:spcPct val="0"/>
              </a:spcAft>
              <a:buFontTx/>
              <a:buChar char="•"/>
            </a:pPr>
            <a:r>
              <a:rPr lang="en-US" kern="0" dirty="0">
                <a:solidFill>
                  <a:srgbClr val="000000"/>
                </a:solidFill>
              </a:rPr>
              <a:t>Aperture of diameter D restricts the range of rays:</a:t>
            </a:r>
          </a:p>
          <a:p>
            <a:pPr marL="914400" lvl="2" indent="0" algn="l" eaLnBrk="0" fontAlgn="base" hangingPunct="0">
              <a:spcAft>
                <a:spcPct val="0"/>
              </a:spcAft>
              <a:buNone/>
            </a:pPr>
            <a:r>
              <a:rPr lang="en-US" sz="2800" kern="0" dirty="0">
                <a:solidFill>
                  <a:srgbClr val="000000"/>
                </a:solidFill>
              </a:rPr>
              <a:t>aperture may be on either side of the lens</a:t>
            </a:r>
          </a:p>
          <a:p>
            <a:pPr lvl="1" algn="l" eaLnBrk="0" fontAlgn="base" hangingPunct="0">
              <a:spcAft>
                <a:spcPct val="0"/>
              </a:spcAft>
              <a:buFontTx/>
              <a:buChar char="•"/>
            </a:pPr>
            <a:r>
              <a:rPr lang="en-US" kern="0" dirty="0">
                <a:solidFill>
                  <a:srgbClr val="000000"/>
                </a:solidFill>
              </a:rPr>
              <a:t>Lenses are typically spherical (easier to produce)</a:t>
            </a:r>
          </a:p>
          <a:p>
            <a:endParaRPr lang="en-US" sz="2400" dirty="0"/>
          </a:p>
        </p:txBody>
      </p:sp>
      <p:sp>
        <p:nvSpPr>
          <p:cNvPr id="19" name="Line 9"/>
          <p:cNvSpPr>
            <a:spLocks noChangeShapeType="1"/>
          </p:cNvSpPr>
          <p:nvPr>
            <p:custDataLst>
              <p:tags r:id="rId8"/>
            </p:custDataLst>
          </p:nvPr>
        </p:nvSpPr>
        <p:spPr bwMode="auto">
          <a:xfrm flipV="1">
            <a:off x="6986886" y="2437308"/>
            <a:ext cx="2293937"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GB" sz="3600">
              <a:solidFill>
                <a:srgbClr val="000000"/>
              </a:solidFill>
              <a:latin typeface="Times New Roman" pitchFamily="18" charset="0"/>
              <a:cs typeface="Times New Roman" pitchFamily="18" charset="0"/>
            </a:endParaRPr>
          </a:p>
        </p:txBody>
      </p:sp>
      <p:sp>
        <p:nvSpPr>
          <p:cNvPr id="20" name="Oval 29"/>
          <p:cNvSpPr>
            <a:spLocks noChangeArrowheads="1"/>
          </p:cNvSpPr>
          <p:nvPr>
            <p:custDataLst>
              <p:tags r:id="rId9"/>
            </p:custDataLst>
          </p:nvPr>
        </p:nvSpPr>
        <p:spPr bwMode="auto">
          <a:xfrm>
            <a:off x="9247485" y="2896096"/>
            <a:ext cx="88900" cy="88900"/>
          </a:xfrm>
          <a:prstGeom prst="ellipse">
            <a:avLst/>
          </a:prstGeom>
          <a:solidFill>
            <a:schemeClr val="tx1"/>
          </a:solidFill>
          <a:ln w="9525">
            <a:solidFill>
              <a:schemeClr val="tx1"/>
            </a:solidFill>
            <a:round/>
            <a:headEnd/>
            <a:tailEnd/>
          </a:ln>
        </p:spPr>
        <p:txBody>
          <a:bodyPr wrap="none" anchor="ctr"/>
          <a:lstStyle/>
          <a:p>
            <a:pPr eaLnBrk="0" fontAlgn="base" hangingPunct="0">
              <a:spcBef>
                <a:spcPct val="0"/>
              </a:spcBef>
              <a:spcAft>
                <a:spcPct val="0"/>
              </a:spcAft>
            </a:pPr>
            <a:endParaRPr lang="en-US" sz="3600">
              <a:solidFill>
                <a:srgbClr val="000000"/>
              </a:solidFill>
              <a:latin typeface="Times New Roman" pitchFamily="18" charset="0"/>
              <a:cs typeface="Times New Roman" pitchFamily="18" charset="0"/>
            </a:endParaRPr>
          </a:p>
        </p:txBody>
      </p:sp>
      <p:cxnSp>
        <p:nvCxnSpPr>
          <p:cNvPr id="21" name="Straight Connector 21"/>
          <p:cNvCxnSpPr>
            <a:cxnSpLocks noChangeShapeType="1"/>
          </p:cNvCxnSpPr>
          <p:nvPr/>
        </p:nvCxnSpPr>
        <p:spPr bwMode="auto">
          <a:xfrm>
            <a:off x="11666835" y="2084883"/>
            <a:ext cx="0" cy="1765300"/>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sp>
        <p:nvSpPr>
          <p:cNvPr id="22" name="Oval 29"/>
          <p:cNvSpPr>
            <a:spLocks noChangeArrowheads="1"/>
          </p:cNvSpPr>
          <p:nvPr>
            <p:custDataLst>
              <p:tags r:id="rId10"/>
            </p:custDataLst>
          </p:nvPr>
        </p:nvSpPr>
        <p:spPr bwMode="auto">
          <a:xfrm>
            <a:off x="10425410" y="2896096"/>
            <a:ext cx="88900" cy="88900"/>
          </a:xfrm>
          <a:prstGeom prst="ellipse">
            <a:avLst/>
          </a:prstGeom>
          <a:solidFill>
            <a:schemeClr val="tx1"/>
          </a:solidFill>
          <a:ln w="9525">
            <a:solidFill>
              <a:schemeClr val="tx1"/>
            </a:solidFill>
            <a:round/>
            <a:headEnd/>
            <a:tailEnd/>
          </a:ln>
        </p:spPr>
        <p:txBody>
          <a:bodyPr wrap="none" anchor="ctr"/>
          <a:lstStyle/>
          <a:p>
            <a:pPr eaLnBrk="0" fontAlgn="base" hangingPunct="0">
              <a:spcBef>
                <a:spcPct val="0"/>
              </a:spcBef>
              <a:spcAft>
                <a:spcPct val="0"/>
              </a:spcAft>
            </a:pPr>
            <a:endParaRPr lang="en-US" sz="3600">
              <a:solidFill>
                <a:srgbClr val="000000"/>
              </a:solidFill>
              <a:latin typeface="Times New Roman" pitchFamily="18" charset="0"/>
              <a:cs typeface="Times New Roman" pitchFamily="18" charset="0"/>
            </a:endParaRPr>
          </a:p>
        </p:txBody>
      </p:sp>
      <p:cxnSp>
        <p:nvCxnSpPr>
          <p:cNvPr id="23" name="Straight Connector 24"/>
          <p:cNvCxnSpPr>
            <a:cxnSpLocks noChangeShapeType="1"/>
          </p:cNvCxnSpPr>
          <p:nvPr/>
        </p:nvCxnSpPr>
        <p:spPr bwMode="auto">
          <a:xfrm>
            <a:off x="9293522" y="1945184"/>
            <a:ext cx="0" cy="2238375"/>
          </a:xfrm>
          <a:prstGeom prst="line">
            <a:avLst/>
          </a:prstGeom>
          <a:noFill/>
          <a:ln w="12700"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24" name="Straight Connector 25"/>
          <p:cNvCxnSpPr>
            <a:cxnSpLocks noChangeShapeType="1"/>
          </p:cNvCxnSpPr>
          <p:nvPr/>
        </p:nvCxnSpPr>
        <p:spPr bwMode="auto">
          <a:xfrm>
            <a:off x="10476211" y="1911846"/>
            <a:ext cx="1587" cy="2271712"/>
          </a:xfrm>
          <a:prstGeom prst="line">
            <a:avLst/>
          </a:prstGeom>
          <a:noFill/>
          <a:ln w="12700"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25" name="Straight Arrow Connector 29"/>
          <p:cNvCxnSpPr>
            <a:cxnSpLocks noChangeShapeType="1"/>
          </p:cNvCxnSpPr>
          <p:nvPr/>
        </p:nvCxnSpPr>
        <p:spPr bwMode="auto">
          <a:xfrm>
            <a:off x="9288761" y="4031158"/>
            <a:ext cx="1190625" cy="0"/>
          </a:xfrm>
          <a:prstGeom prst="straightConnector1">
            <a:avLst/>
          </a:prstGeom>
          <a:noFill/>
          <a:ln w="12700" algn="ctr">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sp>
        <p:nvSpPr>
          <p:cNvPr id="26" name="TextBox 31"/>
          <p:cNvSpPr txBox="1">
            <a:spLocks noChangeArrowheads="1"/>
          </p:cNvSpPr>
          <p:nvPr/>
        </p:nvSpPr>
        <p:spPr bwMode="auto">
          <a:xfrm>
            <a:off x="11306472" y="1668958"/>
            <a:ext cx="838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0" fontAlgn="base" hangingPunct="0">
              <a:spcBef>
                <a:spcPct val="0"/>
              </a:spcBef>
              <a:spcAft>
                <a:spcPct val="0"/>
              </a:spcAft>
            </a:pPr>
            <a:r>
              <a:rPr lang="en-US">
                <a:solidFill>
                  <a:srgbClr val="000000"/>
                </a:solidFill>
                <a:cs typeface="Times New Roman" pitchFamily="18" charset="0"/>
              </a:rPr>
              <a:t>Film</a:t>
            </a:r>
          </a:p>
        </p:txBody>
      </p:sp>
      <p:sp>
        <p:nvSpPr>
          <p:cNvPr id="27" name="TextBox 33"/>
          <p:cNvSpPr txBox="1">
            <a:spLocks noChangeArrowheads="1"/>
          </p:cNvSpPr>
          <p:nvPr/>
        </p:nvSpPr>
        <p:spPr bwMode="auto">
          <a:xfrm>
            <a:off x="8958561" y="1556792"/>
            <a:ext cx="6191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0" fontAlgn="base" hangingPunct="0">
              <a:spcBef>
                <a:spcPct val="0"/>
              </a:spcBef>
              <a:spcAft>
                <a:spcPct val="0"/>
              </a:spcAft>
            </a:pPr>
            <a:r>
              <a:rPr lang="en-US" sz="1600" dirty="0">
                <a:solidFill>
                  <a:srgbClr val="000000"/>
                </a:solidFill>
                <a:cs typeface="Times New Roman" pitchFamily="18" charset="0"/>
              </a:rPr>
              <a:t>Lens</a:t>
            </a:r>
          </a:p>
        </p:txBody>
      </p:sp>
      <p:sp>
        <p:nvSpPr>
          <p:cNvPr id="28" name="Line 9"/>
          <p:cNvSpPr>
            <a:spLocks noChangeShapeType="1"/>
          </p:cNvSpPr>
          <p:nvPr>
            <p:custDataLst>
              <p:tags r:id="rId11"/>
            </p:custDataLst>
          </p:nvPr>
        </p:nvSpPr>
        <p:spPr bwMode="auto">
          <a:xfrm flipV="1">
            <a:off x="7023397" y="2675433"/>
            <a:ext cx="229393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GB" sz="3600">
              <a:solidFill>
                <a:srgbClr val="000000"/>
              </a:solidFill>
              <a:latin typeface="Times New Roman" pitchFamily="18" charset="0"/>
              <a:cs typeface="Times New Roman" pitchFamily="18" charset="0"/>
            </a:endParaRPr>
          </a:p>
        </p:txBody>
      </p:sp>
      <p:sp>
        <p:nvSpPr>
          <p:cNvPr id="29" name="Line 9"/>
          <p:cNvSpPr>
            <a:spLocks noChangeShapeType="1"/>
          </p:cNvSpPr>
          <p:nvPr>
            <p:custDataLst>
              <p:tags r:id="rId12"/>
            </p:custDataLst>
          </p:nvPr>
        </p:nvSpPr>
        <p:spPr bwMode="auto">
          <a:xfrm flipV="1">
            <a:off x="7007522" y="3208833"/>
            <a:ext cx="229393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GB" sz="3600">
              <a:solidFill>
                <a:srgbClr val="000000"/>
              </a:solidFill>
              <a:latin typeface="Times New Roman" pitchFamily="18" charset="0"/>
              <a:cs typeface="Times New Roman" pitchFamily="18" charset="0"/>
            </a:endParaRPr>
          </a:p>
        </p:txBody>
      </p:sp>
      <p:sp>
        <p:nvSpPr>
          <p:cNvPr id="30" name="Line 9"/>
          <p:cNvSpPr>
            <a:spLocks noChangeShapeType="1"/>
          </p:cNvSpPr>
          <p:nvPr>
            <p:custDataLst>
              <p:tags r:id="rId13"/>
            </p:custDataLst>
          </p:nvPr>
        </p:nvSpPr>
        <p:spPr bwMode="auto">
          <a:xfrm flipV="1">
            <a:off x="7007522" y="3434258"/>
            <a:ext cx="2293938"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GB" sz="3600">
              <a:solidFill>
                <a:srgbClr val="000000"/>
              </a:solidFill>
              <a:latin typeface="Times New Roman" pitchFamily="18" charset="0"/>
              <a:cs typeface="Times New Roman" pitchFamily="18" charset="0"/>
            </a:endParaRPr>
          </a:p>
        </p:txBody>
      </p:sp>
      <p:sp>
        <p:nvSpPr>
          <p:cNvPr id="31" name="TextBox 34"/>
          <p:cNvSpPr txBox="1">
            <a:spLocks noChangeArrowheads="1"/>
          </p:cNvSpPr>
          <p:nvPr/>
        </p:nvSpPr>
        <p:spPr bwMode="auto">
          <a:xfrm>
            <a:off x="9912424" y="1988840"/>
            <a:ext cx="12001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0" fontAlgn="base" hangingPunct="0">
              <a:spcBef>
                <a:spcPct val="0"/>
              </a:spcBef>
              <a:spcAft>
                <a:spcPct val="0"/>
              </a:spcAft>
            </a:pPr>
            <a:r>
              <a:rPr lang="en-US" sz="1600" dirty="0">
                <a:solidFill>
                  <a:srgbClr val="000000"/>
                </a:solidFill>
                <a:cs typeface="Times New Roman" pitchFamily="18" charset="0"/>
              </a:rPr>
              <a:t>Focal point</a:t>
            </a:r>
          </a:p>
        </p:txBody>
      </p:sp>
      <p:cxnSp>
        <p:nvCxnSpPr>
          <p:cNvPr id="32" name="Straight Connector 3"/>
          <p:cNvCxnSpPr>
            <a:cxnSpLocks noChangeShapeType="1"/>
          </p:cNvCxnSpPr>
          <p:nvPr/>
        </p:nvCxnSpPr>
        <p:spPr bwMode="auto">
          <a:xfrm>
            <a:off x="9787235" y="1945183"/>
            <a:ext cx="0" cy="687388"/>
          </a:xfrm>
          <a:prstGeom prst="line">
            <a:avLst/>
          </a:prstGeom>
          <a:noFill/>
          <a:ln w="57150" algn="ctr">
            <a:solidFill>
              <a:schemeClr val="tx1"/>
            </a:solidFill>
            <a:round/>
            <a:headEnd/>
            <a:tailEnd/>
          </a:ln>
          <a:extLst>
            <a:ext uri="{909E8E84-426E-40DD-AFC4-6F175D3DCCD1}">
              <a14:hiddenFill xmlns:a14="http://schemas.microsoft.com/office/drawing/2010/main">
                <a:noFill/>
              </a14:hiddenFill>
            </a:ext>
          </a:extLst>
        </p:spPr>
      </p:cxnSp>
      <p:cxnSp>
        <p:nvCxnSpPr>
          <p:cNvPr id="33" name="Straight Connector 44"/>
          <p:cNvCxnSpPr>
            <a:cxnSpLocks noChangeShapeType="1"/>
          </p:cNvCxnSpPr>
          <p:nvPr/>
        </p:nvCxnSpPr>
        <p:spPr bwMode="auto">
          <a:xfrm>
            <a:off x="9787235" y="3256458"/>
            <a:ext cx="0" cy="687388"/>
          </a:xfrm>
          <a:prstGeom prst="line">
            <a:avLst/>
          </a:prstGeom>
          <a:noFill/>
          <a:ln w="57150" algn="ctr">
            <a:solidFill>
              <a:schemeClr val="tx1"/>
            </a:solidFill>
            <a:round/>
            <a:headEnd/>
            <a:tailEnd/>
          </a:ln>
          <a:extLst>
            <a:ext uri="{909E8E84-426E-40DD-AFC4-6F175D3DCCD1}">
              <a14:hiddenFill xmlns:a14="http://schemas.microsoft.com/office/drawing/2010/main">
                <a:noFill/>
              </a14:hiddenFill>
            </a:ext>
          </a:extLst>
        </p:spPr>
      </p:cxnSp>
      <p:sp>
        <p:nvSpPr>
          <p:cNvPr id="34" name="TextBox 45"/>
          <p:cNvSpPr txBox="1">
            <a:spLocks noChangeArrowheads="1"/>
          </p:cNvSpPr>
          <p:nvPr/>
        </p:nvSpPr>
        <p:spPr bwMode="auto">
          <a:xfrm>
            <a:off x="9418957" y="1556792"/>
            <a:ext cx="92551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0" fontAlgn="base" hangingPunct="0">
              <a:spcBef>
                <a:spcPct val="0"/>
              </a:spcBef>
              <a:spcAft>
                <a:spcPct val="0"/>
              </a:spcAft>
            </a:pPr>
            <a:r>
              <a:rPr lang="en-US" sz="1600" dirty="0">
                <a:solidFill>
                  <a:srgbClr val="000000"/>
                </a:solidFill>
                <a:cs typeface="Times New Roman" pitchFamily="18" charset="0"/>
              </a:rPr>
              <a:t>Aperture</a:t>
            </a:r>
          </a:p>
        </p:txBody>
      </p:sp>
      <p:sp>
        <p:nvSpPr>
          <p:cNvPr id="35" name="TextBox 46"/>
          <p:cNvSpPr txBox="1">
            <a:spLocks noChangeArrowheads="1"/>
          </p:cNvSpPr>
          <p:nvPr/>
        </p:nvSpPr>
        <p:spPr bwMode="auto">
          <a:xfrm>
            <a:off x="6631657" y="3469184"/>
            <a:ext cx="256068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0" fontAlgn="base" hangingPunct="0">
              <a:spcBef>
                <a:spcPct val="0"/>
              </a:spcBef>
              <a:spcAft>
                <a:spcPct val="0"/>
              </a:spcAft>
            </a:pPr>
            <a:r>
              <a:rPr lang="en-US" sz="1600" dirty="0">
                <a:solidFill>
                  <a:srgbClr val="000000"/>
                </a:solidFill>
                <a:cs typeface="Times New Roman" pitchFamily="18" charset="0"/>
              </a:rPr>
              <a:t>Optical center</a:t>
            </a:r>
          </a:p>
          <a:p>
            <a:pPr algn="ctr" eaLnBrk="0" fontAlgn="base" hangingPunct="0">
              <a:spcBef>
                <a:spcPct val="0"/>
              </a:spcBef>
              <a:spcAft>
                <a:spcPct val="0"/>
              </a:spcAft>
            </a:pPr>
            <a:r>
              <a:rPr lang="en-US" sz="1600" dirty="0">
                <a:solidFill>
                  <a:srgbClr val="000000"/>
                </a:solidFill>
                <a:cs typeface="Times New Roman" pitchFamily="18" charset="0"/>
              </a:rPr>
              <a:t>(Center of projection)</a:t>
            </a:r>
          </a:p>
        </p:txBody>
      </p:sp>
      <p:cxnSp>
        <p:nvCxnSpPr>
          <p:cNvPr id="36" name="Straight Arrow Connector 5"/>
          <p:cNvCxnSpPr>
            <a:cxnSpLocks noChangeShapeType="1"/>
          </p:cNvCxnSpPr>
          <p:nvPr/>
        </p:nvCxnSpPr>
        <p:spPr bwMode="auto">
          <a:xfrm flipV="1">
            <a:off x="8434686" y="3005633"/>
            <a:ext cx="790575" cy="476250"/>
          </a:xfrm>
          <a:prstGeom prst="straightConnector1">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7" name="TextBox 46"/>
          <p:cNvSpPr txBox="1">
            <a:spLocks noChangeArrowheads="1"/>
          </p:cNvSpPr>
          <p:nvPr/>
        </p:nvSpPr>
        <p:spPr bwMode="auto">
          <a:xfrm>
            <a:off x="9096672" y="4031158"/>
            <a:ext cx="1600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0" fontAlgn="base" hangingPunct="0">
              <a:spcBef>
                <a:spcPct val="0"/>
              </a:spcBef>
              <a:spcAft>
                <a:spcPct val="0"/>
              </a:spcAft>
            </a:pPr>
            <a:r>
              <a:rPr lang="en-US" sz="1600">
                <a:solidFill>
                  <a:srgbClr val="000000"/>
                </a:solidFill>
                <a:cs typeface="Times New Roman" pitchFamily="18" charset="0"/>
              </a:rPr>
              <a:t>Focal length</a:t>
            </a:r>
          </a:p>
        </p:txBody>
      </p:sp>
      <p:sp>
        <p:nvSpPr>
          <p:cNvPr id="5" name="Right Bracket 4"/>
          <p:cNvSpPr/>
          <p:nvPr/>
        </p:nvSpPr>
        <p:spPr>
          <a:xfrm>
            <a:off x="9873406" y="2632572"/>
            <a:ext cx="184522" cy="623887"/>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sz="2800">
              <a:latin typeface="Times New Roman" pitchFamily="18" charset="0"/>
              <a:cs typeface="Times New Roman" pitchFamily="18" charset="0"/>
            </a:endParaRPr>
          </a:p>
        </p:txBody>
      </p:sp>
      <p:sp>
        <p:nvSpPr>
          <p:cNvPr id="6" name="TextBox 5"/>
          <p:cNvSpPr txBox="1"/>
          <p:nvPr/>
        </p:nvSpPr>
        <p:spPr>
          <a:xfrm>
            <a:off x="9965668" y="2353106"/>
            <a:ext cx="308285" cy="400110"/>
          </a:xfrm>
          <a:prstGeom prst="rect">
            <a:avLst/>
          </a:prstGeom>
          <a:noFill/>
        </p:spPr>
        <p:txBody>
          <a:bodyPr wrap="square" rtlCol="0">
            <a:spAutoFit/>
          </a:bodyPr>
          <a:lstStyle/>
          <a:p>
            <a:r>
              <a:rPr lang="en-US" sz="2000" dirty="0">
                <a:latin typeface="Times New Roman" pitchFamily="18" charset="0"/>
                <a:cs typeface="Times New Roman" pitchFamily="18" charset="0"/>
              </a:rPr>
              <a:t>D</a:t>
            </a:r>
            <a:endParaRPr lang="en-GB" sz="2000" dirty="0">
              <a:latin typeface="Times New Roman" pitchFamily="18" charset="0"/>
              <a:cs typeface="Times New Roman" pitchFamily="18" charset="0"/>
            </a:endParaRPr>
          </a:p>
        </p:txBody>
      </p:sp>
      <p:sp>
        <p:nvSpPr>
          <p:cNvPr id="38" name="Rectangle 2"/>
          <p:cNvSpPr>
            <a:spLocks noGrp="1" noChangeArrowheads="1"/>
          </p:cNvSpPr>
          <p:nvPr>
            <p:ph type="title"/>
            <p:custDataLst>
              <p:tags r:id="rId14"/>
            </p:custDataLst>
          </p:nvPr>
        </p:nvSpPr>
        <p:spPr>
          <a:xfrm>
            <a:off x="190459" y="71414"/>
            <a:ext cx="10001320" cy="928694"/>
          </a:xfrm>
        </p:spPr>
        <p:txBody>
          <a:bodyPr>
            <a:noAutofit/>
          </a:bodyPr>
          <a:lstStyle/>
          <a:p>
            <a:r>
              <a:rPr lang="en-US" sz="6000" dirty="0"/>
              <a:t>Adding a Lens</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custDataLst>
              <p:tags r:id="rId1"/>
            </p:custDataLst>
          </p:nvPr>
        </p:nvSpPr>
        <p:spPr/>
        <p:txBody>
          <a:bodyPr>
            <a:noAutofit/>
          </a:bodyPr>
          <a:lstStyle/>
          <a:p>
            <a:r>
              <a:rPr lang="en-US" sz="6600" dirty="0"/>
              <a:t>Thin Lens</a:t>
            </a:r>
          </a:p>
        </p:txBody>
      </p:sp>
      <p:sp>
        <p:nvSpPr>
          <p:cNvPr id="15363" name="Rectangle 3"/>
          <p:cNvSpPr>
            <a:spLocks noGrp="1" noChangeArrowheads="1"/>
          </p:cNvSpPr>
          <p:nvPr>
            <p:ph type="body" idx="1"/>
            <p:custDataLst>
              <p:tags r:id="rId2"/>
            </p:custDataLst>
          </p:nvPr>
        </p:nvSpPr>
        <p:spPr>
          <a:xfrm>
            <a:off x="119336" y="1367408"/>
            <a:ext cx="6159498" cy="5013920"/>
          </a:xfrm>
        </p:spPr>
        <p:txBody>
          <a:bodyPr>
            <a:noAutofit/>
          </a:bodyPr>
          <a:lstStyle/>
          <a:p>
            <a:pPr>
              <a:lnSpc>
                <a:spcPct val="90000"/>
              </a:lnSpc>
            </a:pPr>
            <a:r>
              <a:rPr lang="en-US" dirty="0"/>
              <a:t>Thin lens equation:</a:t>
            </a:r>
          </a:p>
          <a:p>
            <a:pPr>
              <a:lnSpc>
                <a:spcPct val="90000"/>
              </a:lnSpc>
            </a:pPr>
            <a:endParaRPr lang="en-US" sz="2000" dirty="0"/>
          </a:p>
          <a:p>
            <a:pPr>
              <a:lnSpc>
                <a:spcPct val="90000"/>
              </a:lnSpc>
            </a:pPr>
            <a:endParaRPr lang="en-US" sz="2000" dirty="0"/>
          </a:p>
          <a:p>
            <a:pPr>
              <a:lnSpc>
                <a:spcPct val="90000"/>
              </a:lnSpc>
            </a:pPr>
            <a:endParaRPr lang="en-US" sz="2000" dirty="0"/>
          </a:p>
          <a:p>
            <a:pPr lvl="1">
              <a:lnSpc>
                <a:spcPct val="90000"/>
              </a:lnSpc>
            </a:pPr>
            <a:endParaRPr lang="en-US" sz="1800" dirty="0"/>
          </a:p>
          <a:p>
            <a:pPr marL="461963" lvl="1" indent="-293688">
              <a:lnSpc>
                <a:spcPct val="90000"/>
              </a:lnSpc>
              <a:buFont typeface="Courier New" pitchFamily="49" charset="0"/>
              <a:buChar char="o"/>
            </a:pPr>
            <a:r>
              <a:rPr lang="en-US" dirty="0"/>
              <a:t>Any object point satisfying this equation is in focus</a:t>
            </a:r>
          </a:p>
          <a:p>
            <a:pPr marL="461963" lvl="1" indent="-293688">
              <a:lnSpc>
                <a:spcPct val="90000"/>
              </a:lnSpc>
              <a:buFont typeface="Courier New" pitchFamily="49" charset="0"/>
              <a:buChar char="o"/>
            </a:pPr>
            <a:r>
              <a:rPr lang="en-US" dirty="0"/>
              <a:t>What is the shape of the focus region?</a:t>
            </a:r>
          </a:p>
          <a:p>
            <a:pPr marL="461963" lvl="1" indent="-293688">
              <a:lnSpc>
                <a:spcPct val="90000"/>
              </a:lnSpc>
              <a:buFont typeface="Courier New" pitchFamily="49" charset="0"/>
              <a:buChar char="o"/>
            </a:pPr>
            <a:r>
              <a:rPr lang="en-US" dirty="0"/>
              <a:t>How can we change the focus region?</a:t>
            </a:r>
            <a:endParaRPr lang="en-US" sz="1800" dirty="0"/>
          </a:p>
        </p:txBody>
      </p:sp>
      <p:pic>
        <p:nvPicPr>
          <p:cNvPr id="15364" name="Picture 13" descr="Edittex"/>
          <p:cNvPicPr>
            <a:picLocks noChangeAspect="1" noChangeArrowheads="1"/>
          </p:cNvPicPr>
          <p:nvPr>
            <p:custDataLst>
              <p:tags r:id="rId3"/>
            </p:custDataLst>
          </p:nvPr>
        </p:nvPicPr>
        <p:blipFill>
          <a:blip r:embed="rId16" cstate="print"/>
          <a:srcRect/>
          <a:stretch>
            <a:fillRect/>
          </a:stretch>
        </p:blipFill>
        <p:spPr bwMode="auto">
          <a:xfrm>
            <a:off x="952872" y="2103264"/>
            <a:ext cx="2164058" cy="881187"/>
          </a:xfrm>
          <a:prstGeom prst="rect">
            <a:avLst/>
          </a:prstGeom>
          <a:noFill/>
          <a:ln w="9525">
            <a:noFill/>
            <a:miter lim="800000"/>
            <a:headEnd/>
            <a:tailEnd/>
          </a:ln>
        </p:spPr>
      </p:pic>
      <p:cxnSp>
        <p:nvCxnSpPr>
          <p:cNvPr id="7" name="Straight Arrow Connector 65"/>
          <p:cNvCxnSpPr>
            <a:cxnSpLocks noChangeShapeType="1"/>
          </p:cNvCxnSpPr>
          <p:nvPr/>
        </p:nvCxnSpPr>
        <p:spPr bwMode="auto">
          <a:xfrm flipH="1">
            <a:off x="3185121" y="2103586"/>
            <a:ext cx="765175" cy="304800"/>
          </a:xfrm>
          <a:prstGeom prst="straightConnector1">
            <a:avLst/>
          </a:prstGeom>
          <a:noFill/>
          <a:ln w="28575" algn="ctr">
            <a:solidFill>
              <a:srgbClr val="FF0000"/>
            </a:solidFill>
            <a:round/>
            <a:headEnd/>
            <a:tailEnd type="arrow" w="med" len="med"/>
          </a:ln>
          <a:extLst>
            <a:ext uri="{909E8E84-426E-40DD-AFC4-6F175D3DCCD1}">
              <a14:hiddenFill xmlns:a14="http://schemas.microsoft.com/office/drawing/2010/main">
                <a:noFill/>
              </a14:hiddenFill>
            </a:ext>
          </a:extLst>
        </p:spPr>
      </p:cxnSp>
      <p:sp>
        <p:nvSpPr>
          <p:cNvPr id="8" name="TextBox 7"/>
          <p:cNvSpPr txBox="1"/>
          <p:nvPr/>
        </p:nvSpPr>
        <p:spPr>
          <a:xfrm>
            <a:off x="3905844" y="1844824"/>
            <a:ext cx="2046140" cy="400110"/>
          </a:xfrm>
          <a:prstGeom prst="rect">
            <a:avLst/>
          </a:prstGeom>
          <a:noFill/>
        </p:spPr>
        <p:txBody>
          <a:bodyPr wrap="square">
            <a:spAutoFit/>
          </a:bodyPr>
          <a:lstStyle/>
          <a:p>
            <a:pPr>
              <a:defRPr/>
            </a:pPr>
            <a:r>
              <a:rPr lang="en-US" sz="2000" dirty="0">
                <a:solidFill>
                  <a:srgbClr val="FF0000"/>
                </a:solidFill>
                <a:latin typeface="Times New Roman" pitchFamily="18" charset="0"/>
                <a:cs typeface="Times New Roman" pitchFamily="18" charset="0"/>
              </a:rPr>
              <a:t>Not quite right…</a:t>
            </a:r>
          </a:p>
        </p:txBody>
      </p:sp>
      <p:pic>
        <p:nvPicPr>
          <p:cNvPr id="10" name="Picture 13" descr="Edittex"/>
          <p:cNvPicPr>
            <a:picLocks noChangeAspect="1" noChangeArrowheads="1"/>
          </p:cNvPicPr>
          <p:nvPr>
            <p:custDataLst>
              <p:tags r:id="rId4"/>
            </p:custDataLst>
          </p:nvPr>
        </p:nvPicPr>
        <p:blipFill>
          <a:blip r:embed="rId17" cstate="print">
            <a:extLst>
              <a:ext uri="{28A0092B-C50C-407E-A947-70E740481C1C}">
                <a14:useLocalDpi xmlns:a14="http://schemas.microsoft.com/office/drawing/2010/main" val="0"/>
              </a:ext>
            </a:extLst>
          </a:blip>
          <a:srcRect t="59113" r="80957"/>
          <a:stretch>
            <a:fillRect/>
          </a:stretch>
        </p:blipFill>
        <p:spPr bwMode="auto">
          <a:xfrm>
            <a:off x="8028235" y="3922637"/>
            <a:ext cx="311150"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3" descr="Edittex"/>
          <p:cNvPicPr>
            <a:picLocks noChangeAspect="1" noChangeArrowheads="1"/>
          </p:cNvPicPr>
          <p:nvPr>
            <p:custDataLst>
              <p:tags r:id="rId5"/>
            </p:custDataLst>
          </p:nvPr>
        </p:nvPicPr>
        <p:blipFill>
          <a:blip r:embed="rId18" cstate="print">
            <a:extLst>
              <a:ext uri="{28A0092B-C50C-407E-A947-70E740481C1C}">
                <a14:useLocalDpi xmlns:a14="http://schemas.microsoft.com/office/drawing/2010/main" val="0"/>
              </a:ext>
            </a:extLst>
          </a:blip>
          <a:srcRect l="42055" t="50000" r="35712"/>
          <a:stretch>
            <a:fillRect/>
          </a:stretch>
        </p:blipFill>
        <p:spPr bwMode="auto">
          <a:xfrm>
            <a:off x="10299949" y="3887713"/>
            <a:ext cx="36353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 name="Group 21"/>
          <p:cNvGrpSpPr>
            <a:grpSpLocks/>
          </p:cNvGrpSpPr>
          <p:nvPr/>
        </p:nvGrpSpPr>
        <p:grpSpPr bwMode="auto">
          <a:xfrm>
            <a:off x="9068049" y="1769988"/>
            <a:ext cx="439737" cy="2079625"/>
            <a:chOff x="7705055" y="3025091"/>
            <a:chExt cx="542007" cy="2220987"/>
          </a:xfrm>
        </p:grpSpPr>
        <p:pic>
          <p:nvPicPr>
            <p:cNvPr id="13" name="Picture 8" descr="C:\Users\larryz\Pictures\Picture1.png"/>
            <p:cNvPicPr>
              <a:picLocks noChangeAspect="1" noChangeArrowheads="1"/>
            </p:cNvPicPr>
            <p:nvPr/>
          </p:nvPicPr>
          <p:blipFill>
            <a:blip r:embed="rId19" cstate="print">
              <a:extLst>
                <a:ext uri="{28A0092B-C50C-407E-A947-70E740481C1C}">
                  <a14:useLocalDpi xmlns:a14="http://schemas.microsoft.com/office/drawing/2010/main" val="0"/>
                </a:ext>
              </a:extLst>
            </a:blip>
            <a:srcRect l="77914" t="9837" r="-2" b="13004"/>
            <a:stretch>
              <a:fillRect/>
            </a:stretch>
          </p:blipFill>
          <p:spPr bwMode="auto">
            <a:xfrm>
              <a:off x="7976382" y="3025091"/>
              <a:ext cx="270680" cy="2172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8" descr="C:\Users\larryz\Pictures\Picture1.png"/>
            <p:cNvPicPr>
              <a:picLocks noChangeAspect="1" noChangeArrowheads="1"/>
            </p:cNvPicPr>
            <p:nvPr/>
          </p:nvPicPr>
          <p:blipFill>
            <a:blip r:embed="rId19" cstate="print">
              <a:extLst>
                <a:ext uri="{28A0092B-C50C-407E-A947-70E740481C1C}">
                  <a14:useLocalDpi xmlns:a14="http://schemas.microsoft.com/office/drawing/2010/main" val="0"/>
                </a:ext>
              </a:extLst>
            </a:blip>
            <a:srcRect l="77914" t="9837" r="-2" b="13004"/>
            <a:stretch>
              <a:fillRect/>
            </a:stretch>
          </p:blipFill>
          <p:spPr bwMode="auto">
            <a:xfrm rot="10800000">
              <a:off x="7705055" y="3073157"/>
              <a:ext cx="270680" cy="2172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15" name="Straight Connector 10"/>
          <p:cNvCxnSpPr>
            <a:cxnSpLocks noChangeShapeType="1"/>
          </p:cNvCxnSpPr>
          <p:nvPr/>
        </p:nvCxnSpPr>
        <p:spPr bwMode="auto">
          <a:xfrm>
            <a:off x="6985248" y="2811387"/>
            <a:ext cx="4679950"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16" name="Line 9"/>
          <p:cNvSpPr>
            <a:spLocks noChangeShapeType="1"/>
          </p:cNvSpPr>
          <p:nvPr>
            <p:custDataLst>
              <p:tags r:id="rId6"/>
            </p:custDataLst>
          </p:nvPr>
        </p:nvSpPr>
        <p:spPr bwMode="auto">
          <a:xfrm>
            <a:off x="6985249" y="2070024"/>
            <a:ext cx="4670425" cy="1506538"/>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GB">
              <a:latin typeface="Times New Roman" pitchFamily="18" charset="0"/>
              <a:cs typeface="Times New Roman" pitchFamily="18" charset="0"/>
            </a:endParaRPr>
          </a:p>
        </p:txBody>
      </p:sp>
      <p:sp>
        <p:nvSpPr>
          <p:cNvPr id="17" name="Rectangle 15"/>
          <p:cNvSpPr>
            <a:spLocks noChangeArrowheads="1"/>
          </p:cNvSpPr>
          <p:nvPr>
            <p:custDataLst>
              <p:tags r:id="rId7"/>
            </p:custDataLst>
          </p:nvPr>
        </p:nvSpPr>
        <p:spPr bwMode="auto">
          <a:xfrm>
            <a:off x="3257128" y="1780902"/>
            <a:ext cx="5791200" cy="301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itchFamily="18" charset="0"/>
              <a:cs typeface="Times New Roman" pitchFamily="18" charset="0"/>
            </a:endParaRPr>
          </a:p>
        </p:txBody>
      </p:sp>
      <p:sp>
        <p:nvSpPr>
          <p:cNvPr id="18" name="Tree"/>
          <p:cNvSpPr>
            <a:spLocks noEditPoints="1" noChangeArrowheads="1"/>
          </p:cNvSpPr>
          <p:nvPr/>
        </p:nvSpPr>
        <p:spPr bwMode="auto">
          <a:xfrm>
            <a:off x="6528048" y="2057325"/>
            <a:ext cx="914400" cy="1058863"/>
          </a:xfrm>
          <a:custGeom>
            <a:avLst/>
            <a:gdLst>
              <a:gd name="T0" fmla="*/ 2147483647 w 21600"/>
              <a:gd name="T1" fmla="*/ 0 h 21600"/>
              <a:gd name="T2" fmla="*/ 2147483647 w 21600"/>
              <a:gd name="T3" fmla="*/ 2147483647 h 21600"/>
              <a:gd name="T4" fmla="*/ 2147483647 w 21600"/>
              <a:gd name="T5" fmla="*/ 2147483647 h 21600"/>
              <a:gd name="T6" fmla="*/ 0 w 21600"/>
              <a:gd name="T7" fmla="*/ 2147483647 h 21600"/>
              <a:gd name="T8" fmla="*/ 2147483647 w 21600"/>
              <a:gd name="T9" fmla="*/ 2147483647 h 21600"/>
              <a:gd name="T10" fmla="*/ 2147483647 w 21600"/>
              <a:gd name="T11" fmla="*/ 2147483647 h 21600"/>
              <a:gd name="T12" fmla="*/ 2147483647 w 21600"/>
              <a:gd name="T13" fmla="*/ 2147483647 h 21600"/>
              <a:gd name="T14" fmla="*/ 17694720 60000 65536"/>
              <a:gd name="T15" fmla="*/ 11796480 60000 65536"/>
              <a:gd name="T16" fmla="*/ 11796480 60000 65536"/>
              <a:gd name="T17" fmla="*/ 11796480 60000 65536"/>
              <a:gd name="T18" fmla="*/ 0 60000 65536"/>
              <a:gd name="T19" fmla="*/ 0 60000 65536"/>
              <a:gd name="T20" fmla="*/ 0 60000 65536"/>
              <a:gd name="T21" fmla="*/ 761 w 21600"/>
              <a:gd name="T22" fmla="*/ 22454 h 21600"/>
              <a:gd name="T23" fmla="*/ 21069 w 21600"/>
              <a:gd name="T24" fmla="*/ 28282 h 216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600" h="21600">
                <a:moveTo>
                  <a:pt x="0" y="18900"/>
                </a:moveTo>
                <a:lnTo>
                  <a:pt x="9257" y="18900"/>
                </a:lnTo>
                <a:lnTo>
                  <a:pt x="9257" y="21600"/>
                </a:lnTo>
                <a:lnTo>
                  <a:pt x="12343" y="21600"/>
                </a:lnTo>
                <a:lnTo>
                  <a:pt x="12343" y="18900"/>
                </a:lnTo>
                <a:lnTo>
                  <a:pt x="21600" y="18900"/>
                </a:lnTo>
                <a:lnTo>
                  <a:pt x="12343" y="12600"/>
                </a:lnTo>
                <a:lnTo>
                  <a:pt x="18514" y="12600"/>
                </a:lnTo>
                <a:lnTo>
                  <a:pt x="12343" y="6300"/>
                </a:lnTo>
                <a:lnTo>
                  <a:pt x="15429" y="6300"/>
                </a:lnTo>
                <a:lnTo>
                  <a:pt x="10800" y="0"/>
                </a:lnTo>
                <a:lnTo>
                  <a:pt x="6171" y="6300"/>
                </a:lnTo>
                <a:lnTo>
                  <a:pt x="9257" y="6300"/>
                </a:lnTo>
                <a:lnTo>
                  <a:pt x="3086" y="12600"/>
                </a:lnTo>
                <a:lnTo>
                  <a:pt x="9257" y="12600"/>
                </a:lnTo>
                <a:lnTo>
                  <a:pt x="0" y="18900"/>
                </a:lnTo>
                <a:close/>
              </a:path>
            </a:pathLst>
          </a:custGeom>
          <a:solidFill>
            <a:srgbClr val="008000"/>
          </a:solidFill>
          <a:ln w="9525">
            <a:solidFill>
              <a:srgbClr val="000000"/>
            </a:solidFill>
            <a:miter lim="800000"/>
            <a:headEnd/>
            <a:tailEnd/>
          </a:ln>
        </p:spPr>
        <p:txBody>
          <a:bodyPr/>
          <a:lstStyle/>
          <a:p>
            <a:endParaRPr lang="en-GB">
              <a:latin typeface="Times New Roman" pitchFamily="18" charset="0"/>
              <a:cs typeface="Times New Roman" pitchFamily="18" charset="0"/>
            </a:endParaRPr>
          </a:p>
        </p:txBody>
      </p:sp>
      <p:sp>
        <p:nvSpPr>
          <p:cNvPr id="19" name="Oval 6"/>
          <p:cNvSpPr>
            <a:spLocks noChangeArrowheads="1"/>
          </p:cNvSpPr>
          <p:nvPr>
            <p:custDataLst>
              <p:tags r:id="rId8"/>
            </p:custDataLst>
          </p:nvPr>
        </p:nvSpPr>
        <p:spPr bwMode="auto">
          <a:xfrm>
            <a:off x="6947148" y="2031924"/>
            <a:ext cx="76200" cy="76200"/>
          </a:xfrm>
          <a:prstGeom prst="ellipse">
            <a:avLst/>
          </a:prstGeom>
          <a:solidFill>
            <a:srgbClr val="FF0000"/>
          </a:solidFill>
          <a:ln w="9525">
            <a:solidFill>
              <a:schemeClr val="tx1"/>
            </a:solidFill>
            <a:round/>
            <a:headEnd/>
            <a:tailEnd/>
          </a:ln>
        </p:spPr>
        <p:txBody>
          <a:bodyPr wrap="none" anchor="ctr"/>
          <a:lstStyle/>
          <a:p>
            <a:endParaRPr lang="en-US">
              <a:latin typeface="Times New Roman" pitchFamily="18" charset="0"/>
              <a:cs typeface="Times New Roman" pitchFamily="18" charset="0"/>
            </a:endParaRPr>
          </a:p>
        </p:txBody>
      </p:sp>
      <p:sp>
        <p:nvSpPr>
          <p:cNvPr id="20" name="Line 9"/>
          <p:cNvSpPr>
            <a:spLocks noChangeShapeType="1"/>
          </p:cNvSpPr>
          <p:nvPr>
            <p:custDataLst>
              <p:tags r:id="rId9"/>
            </p:custDataLst>
          </p:nvPr>
        </p:nvSpPr>
        <p:spPr bwMode="auto">
          <a:xfrm flipV="1">
            <a:off x="6985249" y="2055737"/>
            <a:ext cx="2293937"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GB">
              <a:latin typeface="Times New Roman" pitchFamily="18" charset="0"/>
              <a:cs typeface="Times New Roman" pitchFamily="18" charset="0"/>
            </a:endParaRPr>
          </a:p>
        </p:txBody>
      </p:sp>
      <p:sp>
        <p:nvSpPr>
          <p:cNvPr id="21" name="Line 10"/>
          <p:cNvSpPr>
            <a:spLocks noChangeShapeType="1"/>
          </p:cNvSpPr>
          <p:nvPr>
            <p:custDataLst>
              <p:tags r:id="rId10"/>
            </p:custDataLst>
          </p:nvPr>
        </p:nvSpPr>
        <p:spPr bwMode="auto">
          <a:xfrm>
            <a:off x="9279185" y="2055738"/>
            <a:ext cx="2376488" cy="1520825"/>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GB">
              <a:latin typeface="Times New Roman" pitchFamily="18" charset="0"/>
              <a:cs typeface="Times New Roman" pitchFamily="18" charset="0"/>
            </a:endParaRPr>
          </a:p>
        </p:txBody>
      </p:sp>
      <p:sp>
        <p:nvSpPr>
          <p:cNvPr id="22" name="Oval 29"/>
          <p:cNvSpPr>
            <a:spLocks noChangeArrowheads="1"/>
          </p:cNvSpPr>
          <p:nvPr>
            <p:custDataLst>
              <p:tags r:id="rId11"/>
            </p:custDataLst>
          </p:nvPr>
        </p:nvSpPr>
        <p:spPr bwMode="auto">
          <a:xfrm>
            <a:off x="9245848" y="2766937"/>
            <a:ext cx="88900" cy="88900"/>
          </a:xfrm>
          <a:prstGeom prst="ellipse">
            <a:avLst/>
          </a:prstGeom>
          <a:solidFill>
            <a:schemeClr val="tx1"/>
          </a:solidFill>
          <a:ln w="9525">
            <a:solidFill>
              <a:schemeClr val="tx1"/>
            </a:solidFill>
            <a:round/>
            <a:headEnd/>
            <a:tailEnd/>
          </a:ln>
        </p:spPr>
        <p:txBody>
          <a:bodyPr wrap="none" anchor="ctr"/>
          <a:lstStyle/>
          <a:p>
            <a:endParaRPr lang="en-US">
              <a:latin typeface="Times New Roman" pitchFamily="18" charset="0"/>
              <a:cs typeface="Times New Roman" pitchFamily="18" charset="0"/>
            </a:endParaRPr>
          </a:p>
        </p:txBody>
      </p:sp>
      <p:cxnSp>
        <p:nvCxnSpPr>
          <p:cNvPr id="23" name="Straight Connector 47"/>
          <p:cNvCxnSpPr>
            <a:cxnSpLocks noChangeShapeType="1"/>
          </p:cNvCxnSpPr>
          <p:nvPr/>
        </p:nvCxnSpPr>
        <p:spPr bwMode="auto">
          <a:xfrm>
            <a:off x="11665198" y="1857299"/>
            <a:ext cx="0" cy="1765300"/>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sp>
        <p:nvSpPr>
          <p:cNvPr id="24" name="Oval 29"/>
          <p:cNvSpPr>
            <a:spLocks noChangeArrowheads="1"/>
          </p:cNvSpPr>
          <p:nvPr>
            <p:custDataLst>
              <p:tags r:id="rId12"/>
            </p:custDataLst>
          </p:nvPr>
        </p:nvSpPr>
        <p:spPr bwMode="auto">
          <a:xfrm>
            <a:off x="10423773" y="2766937"/>
            <a:ext cx="88900" cy="88900"/>
          </a:xfrm>
          <a:prstGeom prst="ellipse">
            <a:avLst/>
          </a:prstGeom>
          <a:solidFill>
            <a:schemeClr val="tx1"/>
          </a:solidFill>
          <a:ln w="9525">
            <a:solidFill>
              <a:schemeClr val="tx1"/>
            </a:solidFill>
            <a:round/>
            <a:headEnd/>
            <a:tailEnd/>
          </a:ln>
        </p:spPr>
        <p:txBody>
          <a:bodyPr wrap="none" anchor="ctr"/>
          <a:lstStyle/>
          <a:p>
            <a:endParaRPr lang="en-US">
              <a:latin typeface="Times New Roman" pitchFamily="18" charset="0"/>
              <a:cs typeface="Times New Roman" pitchFamily="18" charset="0"/>
            </a:endParaRPr>
          </a:p>
        </p:txBody>
      </p:sp>
      <p:cxnSp>
        <p:nvCxnSpPr>
          <p:cNvPr id="25" name="Straight Connector 16"/>
          <p:cNvCxnSpPr>
            <a:cxnSpLocks noChangeShapeType="1"/>
          </p:cNvCxnSpPr>
          <p:nvPr/>
        </p:nvCxnSpPr>
        <p:spPr bwMode="auto">
          <a:xfrm flipH="1">
            <a:off x="6985248" y="1769987"/>
            <a:ext cx="0" cy="2284412"/>
          </a:xfrm>
          <a:prstGeom prst="line">
            <a:avLst/>
          </a:prstGeom>
          <a:noFill/>
          <a:ln w="12700"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26" name="Straight Connector 55"/>
          <p:cNvCxnSpPr>
            <a:cxnSpLocks noChangeShapeType="1"/>
          </p:cNvCxnSpPr>
          <p:nvPr/>
        </p:nvCxnSpPr>
        <p:spPr bwMode="auto">
          <a:xfrm>
            <a:off x="9299823" y="1816025"/>
            <a:ext cx="0" cy="2238375"/>
          </a:xfrm>
          <a:prstGeom prst="line">
            <a:avLst/>
          </a:prstGeom>
          <a:noFill/>
          <a:ln w="12700"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27" name="Straight Connector 58"/>
          <p:cNvCxnSpPr>
            <a:cxnSpLocks noChangeShapeType="1"/>
          </p:cNvCxnSpPr>
          <p:nvPr/>
        </p:nvCxnSpPr>
        <p:spPr bwMode="auto">
          <a:xfrm>
            <a:off x="10474573" y="1782688"/>
            <a:ext cx="0" cy="2058987"/>
          </a:xfrm>
          <a:prstGeom prst="line">
            <a:avLst/>
          </a:prstGeom>
          <a:noFill/>
          <a:ln w="12700"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28" name="Straight Connector 59"/>
          <p:cNvCxnSpPr>
            <a:cxnSpLocks noChangeShapeType="1"/>
          </p:cNvCxnSpPr>
          <p:nvPr/>
        </p:nvCxnSpPr>
        <p:spPr bwMode="auto">
          <a:xfrm>
            <a:off x="11671548" y="1857299"/>
            <a:ext cx="0" cy="2197100"/>
          </a:xfrm>
          <a:prstGeom prst="line">
            <a:avLst/>
          </a:prstGeom>
          <a:noFill/>
          <a:ln w="12700"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29" name="Straight Arrow Connector 53"/>
          <p:cNvCxnSpPr>
            <a:cxnSpLocks noChangeShapeType="1"/>
          </p:cNvCxnSpPr>
          <p:nvPr/>
        </p:nvCxnSpPr>
        <p:spPr bwMode="auto">
          <a:xfrm>
            <a:off x="9290298" y="3916287"/>
            <a:ext cx="2381250" cy="0"/>
          </a:xfrm>
          <a:prstGeom prst="straightConnector1">
            <a:avLst/>
          </a:prstGeom>
          <a:noFill/>
          <a:ln w="12700" algn="ctr">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30" name="Straight Arrow Connector 63"/>
          <p:cNvCxnSpPr>
            <a:cxnSpLocks noChangeShapeType="1"/>
          </p:cNvCxnSpPr>
          <p:nvPr/>
        </p:nvCxnSpPr>
        <p:spPr bwMode="auto">
          <a:xfrm>
            <a:off x="6985248" y="3916287"/>
            <a:ext cx="2305050" cy="0"/>
          </a:xfrm>
          <a:prstGeom prst="straightConnector1">
            <a:avLst/>
          </a:prstGeom>
          <a:noFill/>
          <a:ln w="12700" algn="ctr">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31" name="Straight Arrow Connector 69"/>
          <p:cNvCxnSpPr>
            <a:cxnSpLocks noChangeShapeType="1"/>
          </p:cNvCxnSpPr>
          <p:nvPr/>
        </p:nvCxnSpPr>
        <p:spPr bwMode="auto">
          <a:xfrm>
            <a:off x="9287124" y="3701974"/>
            <a:ext cx="1190625" cy="0"/>
          </a:xfrm>
          <a:prstGeom prst="straightConnector1">
            <a:avLst/>
          </a:prstGeom>
          <a:noFill/>
          <a:ln w="12700" algn="ctr">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pic>
        <p:nvPicPr>
          <p:cNvPr id="32" name="Picture 13" descr="Edittex"/>
          <p:cNvPicPr>
            <a:picLocks noChangeAspect="1" noChangeArrowheads="1"/>
          </p:cNvPicPr>
          <p:nvPr>
            <p:custDataLst>
              <p:tags r:id="rId13"/>
            </p:custDataLst>
          </p:nvPr>
        </p:nvPicPr>
        <p:blipFill>
          <a:blip r:embed="rId18" cstate="print">
            <a:extLst>
              <a:ext uri="{28A0092B-C50C-407E-A947-70E740481C1C}">
                <a14:useLocalDpi xmlns:a14="http://schemas.microsoft.com/office/drawing/2010/main" val="0"/>
              </a:ext>
            </a:extLst>
          </a:blip>
          <a:srcRect l="85616" t="50000"/>
          <a:stretch>
            <a:fillRect/>
          </a:stretch>
        </p:blipFill>
        <p:spPr bwMode="auto">
          <a:xfrm>
            <a:off x="9780835" y="3352725"/>
            <a:ext cx="2349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TextBox 74"/>
          <p:cNvSpPr txBox="1">
            <a:spLocks noChangeArrowheads="1"/>
          </p:cNvSpPr>
          <p:nvPr/>
        </p:nvSpPr>
        <p:spPr bwMode="auto">
          <a:xfrm>
            <a:off x="11304835" y="1387399"/>
            <a:ext cx="838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cs typeface="Times New Roman" pitchFamily="18" charset="0"/>
              </a:rPr>
              <a:t>Film</a:t>
            </a:r>
          </a:p>
        </p:txBody>
      </p:sp>
      <p:sp>
        <p:nvSpPr>
          <p:cNvPr id="34" name="TextBox 75"/>
          <p:cNvSpPr txBox="1">
            <a:spLocks noChangeArrowheads="1"/>
          </p:cNvSpPr>
          <p:nvPr/>
        </p:nvSpPr>
        <p:spPr bwMode="auto">
          <a:xfrm>
            <a:off x="6566148" y="1387399"/>
            <a:ext cx="838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cs typeface="Times New Roman" pitchFamily="18" charset="0"/>
              </a:rPr>
              <a:t>Object</a:t>
            </a:r>
          </a:p>
        </p:txBody>
      </p:sp>
      <p:sp>
        <p:nvSpPr>
          <p:cNvPr id="35" name="TextBox 76"/>
          <p:cNvSpPr txBox="1">
            <a:spLocks noChangeArrowheads="1"/>
          </p:cNvSpPr>
          <p:nvPr/>
        </p:nvSpPr>
        <p:spPr bwMode="auto">
          <a:xfrm>
            <a:off x="8947398" y="1398513"/>
            <a:ext cx="838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a:cs typeface="Times New Roman" pitchFamily="18" charset="0"/>
              </a:rPr>
              <a:t>Lens</a:t>
            </a:r>
          </a:p>
        </p:txBody>
      </p:sp>
      <p:sp>
        <p:nvSpPr>
          <p:cNvPr id="36" name="TextBox 77"/>
          <p:cNvSpPr txBox="1">
            <a:spLocks noChangeArrowheads="1"/>
          </p:cNvSpPr>
          <p:nvPr/>
        </p:nvSpPr>
        <p:spPr bwMode="auto">
          <a:xfrm>
            <a:off x="10465047" y="2401812"/>
            <a:ext cx="105568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400" dirty="0">
                <a:cs typeface="Times New Roman" pitchFamily="18" charset="0"/>
              </a:rPr>
              <a:t>Focal point</a:t>
            </a:r>
          </a:p>
        </p:txBody>
      </p:sp>
    </p:spTree>
    <p:extLst>
      <p:ext uri="{BB962C8B-B14F-4D97-AF65-F5344CB8AC3E}">
        <p14:creationId xmlns:p14="http://schemas.microsoft.com/office/powerpoint/2010/main" val="17101273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noAutofit/>
          </a:bodyPr>
          <a:lstStyle/>
          <a:p>
            <a:r>
              <a:rPr lang="en-US" sz="6000" dirty="0"/>
              <a:t>Thin Lens Assumption</a:t>
            </a:r>
          </a:p>
        </p:txBody>
      </p:sp>
      <p:pic>
        <p:nvPicPr>
          <p:cNvPr id="101378" name="Picture 2" descr="http://vid35.files.wordpress.com/2010/06/zoom_lens_optics.jpg"/>
          <p:cNvPicPr>
            <a:picLocks noChangeAspect="1" noChangeArrowheads="1"/>
          </p:cNvPicPr>
          <p:nvPr/>
        </p:nvPicPr>
        <p:blipFill>
          <a:blip r:embed="rId8" cstate="print">
            <a:extLst>
              <a:ext uri="{28A0092B-C50C-407E-A947-70E740481C1C}">
                <a14:useLocalDpi xmlns:a14="http://schemas.microsoft.com/office/drawing/2010/main" val="0"/>
              </a:ext>
            </a:extLst>
          </a:blip>
          <a:srcRect l="20844" t="25543" r="20401" b="7875"/>
          <a:stretch>
            <a:fillRect/>
          </a:stretch>
        </p:blipFill>
        <p:spPr bwMode="auto">
          <a:xfrm>
            <a:off x="8067042" y="2757489"/>
            <a:ext cx="2166938" cy="202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roup 6"/>
          <p:cNvGrpSpPr>
            <a:grpSpLocks/>
          </p:cNvGrpSpPr>
          <p:nvPr/>
        </p:nvGrpSpPr>
        <p:grpSpPr bwMode="auto">
          <a:xfrm>
            <a:off x="8878256" y="2732089"/>
            <a:ext cx="439737" cy="2078037"/>
            <a:chOff x="7705055" y="3025091"/>
            <a:chExt cx="542007" cy="2220987"/>
          </a:xfrm>
        </p:grpSpPr>
        <p:pic>
          <p:nvPicPr>
            <p:cNvPr id="26645" name="Picture 8" descr="C:\Users\larryz\Pictures\Picture1.png"/>
            <p:cNvPicPr>
              <a:picLocks noChangeAspect="1" noChangeArrowheads="1"/>
            </p:cNvPicPr>
            <p:nvPr/>
          </p:nvPicPr>
          <p:blipFill>
            <a:blip r:embed="rId9" cstate="print">
              <a:extLst>
                <a:ext uri="{28A0092B-C50C-407E-A947-70E740481C1C}">
                  <a14:useLocalDpi xmlns:a14="http://schemas.microsoft.com/office/drawing/2010/main" val="0"/>
                </a:ext>
              </a:extLst>
            </a:blip>
            <a:srcRect l="77914" t="9837" r="-2" b="13004"/>
            <a:stretch>
              <a:fillRect/>
            </a:stretch>
          </p:blipFill>
          <p:spPr bwMode="auto">
            <a:xfrm>
              <a:off x="7976382" y="3025091"/>
              <a:ext cx="270680" cy="2172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46" name="Picture 8" descr="C:\Users\larryz\Pictures\Picture1.png"/>
            <p:cNvPicPr>
              <a:picLocks noChangeAspect="1" noChangeArrowheads="1"/>
            </p:cNvPicPr>
            <p:nvPr/>
          </p:nvPicPr>
          <p:blipFill>
            <a:blip r:embed="rId9" cstate="print">
              <a:extLst>
                <a:ext uri="{28A0092B-C50C-407E-A947-70E740481C1C}">
                  <a14:useLocalDpi xmlns:a14="http://schemas.microsoft.com/office/drawing/2010/main" val="0"/>
                </a:ext>
              </a:extLst>
            </a:blip>
            <a:srcRect l="77914" t="9837" r="-2" b="13004"/>
            <a:stretch>
              <a:fillRect/>
            </a:stretch>
          </p:blipFill>
          <p:spPr bwMode="auto">
            <a:xfrm rot="10800000">
              <a:off x="7705055" y="3073157"/>
              <a:ext cx="270680" cy="2172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26629" name="Straight Connector 9"/>
          <p:cNvCxnSpPr>
            <a:cxnSpLocks noChangeShapeType="1"/>
          </p:cNvCxnSpPr>
          <p:nvPr/>
        </p:nvCxnSpPr>
        <p:spPr bwMode="auto">
          <a:xfrm>
            <a:off x="6795455" y="3773488"/>
            <a:ext cx="4679950"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26630" name="Line 9"/>
          <p:cNvSpPr>
            <a:spLocks noChangeShapeType="1"/>
          </p:cNvSpPr>
          <p:nvPr>
            <p:custDataLst>
              <p:tags r:id="rId1"/>
            </p:custDataLst>
          </p:nvPr>
        </p:nvSpPr>
        <p:spPr bwMode="auto">
          <a:xfrm>
            <a:off x="6795456" y="3030539"/>
            <a:ext cx="4670425" cy="1506537"/>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GB">
              <a:latin typeface="Times New Roman" pitchFamily="18" charset="0"/>
              <a:cs typeface="Times New Roman" pitchFamily="18" charset="0"/>
            </a:endParaRPr>
          </a:p>
        </p:txBody>
      </p:sp>
      <p:sp>
        <p:nvSpPr>
          <p:cNvPr id="26631" name="Tree"/>
          <p:cNvSpPr>
            <a:spLocks noEditPoints="1" noChangeArrowheads="1"/>
          </p:cNvSpPr>
          <p:nvPr/>
        </p:nvSpPr>
        <p:spPr bwMode="auto">
          <a:xfrm>
            <a:off x="6338255" y="3017838"/>
            <a:ext cx="914400" cy="1058862"/>
          </a:xfrm>
          <a:custGeom>
            <a:avLst/>
            <a:gdLst>
              <a:gd name="T0" fmla="*/ 2147483647 w 21600"/>
              <a:gd name="T1" fmla="*/ 0 h 21600"/>
              <a:gd name="T2" fmla="*/ 2147483647 w 21600"/>
              <a:gd name="T3" fmla="*/ 2147483647 h 21600"/>
              <a:gd name="T4" fmla="*/ 2147483647 w 21600"/>
              <a:gd name="T5" fmla="*/ 2147483647 h 21600"/>
              <a:gd name="T6" fmla="*/ 0 w 21600"/>
              <a:gd name="T7" fmla="*/ 2147483647 h 21600"/>
              <a:gd name="T8" fmla="*/ 2147483647 w 21600"/>
              <a:gd name="T9" fmla="*/ 2147483647 h 21600"/>
              <a:gd name="T10" fmla="*/ 2147483647 w 21600"/>
              <a:gd name="T11" fmla="*/ 2147483647 h 21600"/>
              <a:gd name="T12" fmla="*/ 2147483647 w 21600"/>
              <a:gd name="T13" fmla="*/ 2147483647 h 21600"/>
              <a:gd name="T14" fmla="*/ 17694720 60000 65536"/>
              <a:gd name="T15" fmla="*/ 11796480 60000 65536"/>
              <a:gd name="T16" fmla="*/ 11796480 60000 65536"/>
              <a:gd name="T17" fmla="*/ 11796480 60000 65536"/>
              <a:gd name="T18" fmla="*/ 0 60000 65536"/>
              <a:gd name="T19" fmla="*/ 0 60000 65536"/>
              <a:gd name="T20" fmla="*/ 0 60000 65536"/>
              <a:gd name="T21" fmla="*/ 761 w 21600"/>
              <a:gd name="T22" fmla="*/ 22454 h 21600"/>
              <a:gd name="T23" fmla="*/ 21069 w 21600"/>
              <a:gd name="T24" fmla="*/ 28282 h 216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600" h="21600">
                <a:moveTo>
                  <a:pt x="0" y="18900"/>
                </a:moveTo>
                <a:lnTo>
                  <a:pt x="9257" y="18900"/>
                </a:lnTo>
                <a:lnTo>
                  <a:pt x="9257" y="21600"/>
                </a:lnTo>
                <a:lnTo>
                  <a:pt x="12343" y="21600"/>
                </a:lnTo>
                <a:lnTo>
                  <a:pt x="12343" y="18900"/>
                </a:lnTo>
                <a:lnTo>
                  <a:pt x="21600" y="18900"/>
                </a:lnTo>
                <a:lnTo>
                  <a:pt x="12343" y="12600"/>
                </a:lnTo>
                <a:lnTo>
                  <a:pt x="18514" y="12600"/>
                </a:lnTo>
                <a:lnTo>
                  <a:pt x="12343" y="6300"/>
                </a:lnTo>
                <a:lnTo>
                  <a:pt x="15429" y="6300"/>
                </a:lnTo>
                <a:lnTo>
                  <a:pt x="10800" y="0"/>
                </a:lnTo>
                <a:lnTo>
                  <a:pt x="6171" y="6300"/>
                </a:lnTo>
                <a:lnTo>
                  <a:pt x="9257" y="6300"/>
                </a:lnTo>
                <a:lnTo>
                  <a:pt x="3086" y="12600"/>
                </a:lnTo>
                <a:lnTo>
                  <a:pt x="9257" y="12600"/>
                </a:lnTo>
                <a:lnTo>
                  <a:pt x="0" y="18900"/>
                </a:lnTo>
                <a:close/>
              </a:path>
            </a:pathLst>
          </a:custGeom>
          <a:solidFill>
            <a:srgbClr val="008000"/>
          </a:solidFill>
          <a:ln w="9525">
            <a:solidFill>
              <a:srgbClr val="000000"/>
            </a:solidFill>
            <a:miter lim="800000"/>
            <a:headEnd/>
            <a:tailEnd/>
          </a:ln>
        </p:spPr>
        <p:txBody>
          <a:bodyPr/>
          <a:lstStyle/>
          <a:p>
            <a:endParaRPr lang="en-GB">
              <a:latin typeface="Times New Roman" pitchFamily="18" charset="0"/>
              <a:cs typeface="Times New Roman" pitchFamily="18" charset="0"/>
            </a:endParaRPr>
          </a:p>
        </p:txBody>
      </p:sp>
      <p:sp>
        <p:nvSpPr>
          <p:cNvPr id="26632" name="Oval 6"/>
          <p:cNvSpPr>
            <a:spLocks noChangeArrowheads="1"/>
          </p:cNvSpPr>
          <p:nvPr>
            <p:custDataLst>
              <p:tags r:id="rId2"/>
            </p:custDataLst>
          </p:nvPr>
        </p:nvSpPr>
        <p:spPr bwMode="auto">
          <a:xfrm>
            <a:off x="6757355" y="2992438"/>
            <a:ext cx="76200" cy="76200"/>
          </a:xfrm>
          <a:prstGeom prst="ellipse">
            <a:avLst/>
          </a:prstGeom>
          <a:solidFill>
            <a:srgbClr val="FF0000"/>
          </a:solidFill>
          <a:ln w="9525">
            <a:solidFill>
              <a:schemeClr val="tx1"/>
            </a:solidFill>
            <a:round/>
            <a:headEnd/>
            <a:tailEnd/>
          </a:ln>
        </p:spPr>
        <p:txBody>
          <a:bodyPr wrap="none" anchor="ctr"/>
          <a:lstStyle/>
          <a:p>
            <a:endParaRPr lang="en-US">
              <a:latin typeface="Times New Roman" pitchFamily="18" charset="0"/>
              <a:cs typeface="Times New Roman" pitchFamily="18" charset="0"/>
            </a:endParaRPr>
          </a:p>
        </p:txBody>
      </p:sp>
      <p:sp>
        <p:nvSpPr>
          <p:cNvPr id="26633" name="Line 9"/>
          <p:cNvSpPr>
            <a:spLocks noChangeShapeType="1"/>
          </p:cNvSpPr>
          <p:nvPr>
            <p:custDataLst>
              <p:tags r:id="rId3"/>
            </p:custDataLst>
          </p:nvPr>
        </p:nvSpPr>
        <p:spPr bwMode="auto">
          <a:xfrm flipV="1">
            <a:off x="6795456" y="3016250"/>
            <a:ext cx="2293937"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GB">
              <a:latin typeface="Times New Roman" pitchFamily="18" charset="0"/>
              <a:cs typeface="Times New Roman" pitchFamily="18" charset="0"/>
            </a:endParaRPr>
          </a:p>
        </p:txBody>
      </p:sp>
      <p:sp>
        <p:nvSpPr>
          <p:cNvPr id="26634" name="Line 10"/>
          <p:cNvSpPr>
            <a:spLocks noChangeShapeType="1"/>
          </p:cNvSpPr>
          <p:nvPr>
            <p:custDataLst>
              <p:tags r:id="rId4"/>
            </p:custDataLst>
          </p:nvPr>
        </p:nvSpPr>
        <p:spPr bwMode="auto">
          <a:xfrm>
            <a:off x="9089392" y="3016251"/>
            <a:ext cx="2376488" cy="1520825"/>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GB">
              <a:latin typeface="Times New Roman" pitchFamily="18" charset="0"/>
              <a:cs typeface="Times New Roman" pitchFamily="18" charset="0"/>
            </a:endParaRPr>
          </a:p>
        </p:txBody>
      </p:sp>
      <p:sp>
        <p:nvSpPr>
          <p:cNvPr id="26635" name="Oval 29"/>
          <p:cNvSpPr>
            <a:spLocks noChangeArrowheads="1"/>
          </p:cNvSpPr>
          <p:nvPr>
            <p:custDataLst>
              <p:tags r:id="rId5"/>
            </p:custDataLst>
          </p:nvPr>
        </p:nvSpPr>
        <p:spPr bwMode="auto">
          <a:xfrm>
            <a:off x="9056055" y="3729038"/>
            <a:ext cx="88900" cy="88900"/>
          </a:xfrm>
          <a:prstGeom prst="ellipse">
            <a:avLst/>
          </a:prstGeom>
          <a:solidFill>
            <a:schemeClr val="tx1"/>
          </a:solidFill>
          <a:ln w="9525">
            <a:solidFill>
              <a:schemeClr val="tx1"/>
            </a:solidFill>
            <a:round/>
            <a:headEnd/>
            <a:tailEnd/>
          </a:ln>
        </p:spPr>
        <p:txBody>
          <a:bodyPr wrap="none" anchor="ctr"/>
          <a:lstStyle/>
          <a:p>
            <a:endParaRPr lang="en-US">
              <a:latin typeface="Times New Roman" pitchFamily="18" charset="0"/>
              <a:cs typeface="Times New Roman" pitchFamily="18" charset="0"/>
            </a:endParaRPr>
          </a:p>
        </p:txBody>
      </p:sp>
      <p:cxnSp>
        <p:nvCxnSpPr>
          <p:cNvPr id="17" name="Straight Connector 16"/>
          <p:cNvCxnSpPr>
            <a:cxnSpLocks noChangeShapeType="1"/>
          </p:cNvCxnSpPr>
          <p:nvPr/>
        </p:nvCxnSpPr>
        <p:spPr bwMode="auto">
          <a:xfrm>
            <a:off x="11475405" y="2819400"/>
            <a:ext cx="0" cy="1765300"/>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sp>
        <p:nvSpPr>
          <p:cNvPr id="26637" name="Oval 29"/>
          <p:cNvSpPr>
            <a:spLocks noChangeArrowheads="1"/>
          </p:cNvSpPr>
          <p:nvPr>
            <p:custDataLst>
              <p:tags r:id="rId6"/>
            </p:custDataLst>
          </p:nvPr>
        </p:nvSpPr>
        <p:spPr bwMode="auto">
          <a:xfrm>
            <a:off x="10233980" y="3729038"/>
            <a:ext cx="88900" cy="88900"/>
          </a:xfrm>
          <a:prstGeom prst="ellipse">
            <a:avLst/>
          </a:prstGeom>
          <a:solidFill>
            <a:schemeClr val="tx1"/>
          </a:solidFill>
          <a:ln w="9525">
            <a:solidFill>
              <a:schemeClr val="tx1"/>
            </a:solidFill>
            <a:round/>
            <a:headEnd/>
            <a:tailEnd/>
          </a:ln>
        </p:spPr>
        <p:txBody>
          <a:bodyPr wrap="none" anchor="ctr"/>
          <a:lstStyle/>
          <a:p>
            <a:endParaRPr lang="en-US">
              <a:latin typeface="Times New Roman" pitchFamily="18" charset="0"/>
              <a:cs typeface="Times New Roman" pitchFamily="18" charset="0"/>
            </a:endParaRPr>
          </a:p>
        </p:txBody>
      </p:sp>
      <p:sp>
        <p:nvSpPr>
          <p:cNvPr id="26638" name="TextBox 26"/>
          <p:cNvSpPr txBox="1">
            <a:spLocks noChangeArrowheads="1"/>
          </p:cNvSpPr>
          <p:nvPr/>
        </p:nvSpPr>
        <p:spPr bwMode="auto">
          <a:xfrm>
            <a:off x="11115042" y="2347914"/>
            <a:ext cx="838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cs typeface="Times New Roman" pitchFamily="18" charset="0"/>
              </a:rPr>
              <a:t>Film</a:t>
            </a:r>
          </a:p>
        </p:txBody>
      </p:sp>
      <p:sp>
        <p:nvSpPr>
          <p:cNvPr id="26639" name="TextBox 27"/>
          <p:cNvSpPr txBox="1">
            <a:spLocks noChangeArrowheads="1"/>
          </p:cNvSpPr>
          <p:nvPr/>
        </p:nvSpPr>
        <p:spPr bwMode="auto">
          <a:xfrm>
            <a:off x="6376355" y="2347914"/>
            <a:ext cx="10874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dirty="0">
                <a:cs typeface="Times New Roman" pitchFamily="18" charset="0"/>
              </a:rPr>
              <a:t>Object</a:t>
            </a:r>
          </a:p>
        </p:txBody>
      </p:sp>
      <p:sp>
        <p:nvSpPr>
          <p:cNvPr id="26640" name="TextBox 28"/>
          <p:cNvSpPr txBox="1">
            <a:spLocks noChangeArrowheads="1"/>
          </p:cNvSpPr>
          <p:nvPr/>
        </p:nvSpPr>
        <p:spPr bwMode="auto">
          <a:xfrm>
            <a:off x="8757605" y="2359025"/>
            <a:ext cx="838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dirty="0">
                <a:cs typeface="Times New Roman" pitchFamily="18" charset="0"/>
              </a:rPr>
              <a:t>Lens</a:t>
            </a:r>
          </a:p>
        </p:txBody>
      </p:sp>
      <p:sp>
        <p:nvSpPr>
          <p:cNvPr id="26641" name="TextBox 29"/>
          <p:cNvSpPr txBox="1">
            <a:spLocks noChangeArrowheads="1"/>
          </p:cNvSpPr>
          <p:nvPr/>
        </p:nvSpPr>
        <p:spPr bwMode="auto">
          <a:xfrm>
            <a:off x="10128448" y="3378478"/>
            <a:ext cx="119062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600" dirty="0">
                <a:cs typeface="Times New Roman" pitchFamily="18" charset="0"/>
              </a:rPr>
              <a:t>Focal point</a:t>
            </a:r>
          </a:p>
        </p:txBody>
      </p:sp>
      <p:sp>
        <p:nvSpPr>
          <p:cNvPr id="4" name="Arc 3"/>
          <p:cNvSpPr/>
          <p:nvPr/>
        </p:nvSpPr>
        <p:spPr bwMode="auto">
          <a:xfrm rot="2889840">
            <a:off x="6131880" y="1041401"/>
            <a:ext cx="5351463" cy="5713412"/>
          </a:xfrm>
          <a:prstGeom prst="arc">
            <a:avLst>
              <a:gd name="adj1" fmla="val 17399684"/>
              <a:gd name="adj2" fmla="val 19596358"/>
            </a:avLst>
          </a:prstGeom>
          <a:noFill/>
          <a:ln w="28575" cap="flat" cmpd="sng" algn="ctr">
            <a:solidFill>
              <a:schemeClr val="tx1"/>
            </a:solidFill>
            <a:prstDash val="solid"/>
            <a:round/>
            <a:headEnd type="none" w="med" len="med"/>
            <a:tailEnd type="none" w="med" len="med"/>
          </a:ln>
          <a:effectLst/>
        </p:spPr>
        <p:txBody>
          <a:bodyPr/>
          <a:lstStyle/>
          <a:p>
            <a:pPr>
              <a:defRPr/>
            </a:pPr>
            <a:endParaRPr lang="en-US">
              <a:latin typeface="Times New Roman" pitchFamily="18" charset="0"/>
              <a:cs typeface="Times New Roman" pitchFamily="18" charset="0"/>
            </a:endParaRPr>
          </a:p>
        </p:txBody>
      </p:sp>
      <p:sp>
        <p:nvSpPr>
          <p:cNvPr id="32" name="TextBox 31"/>
          <p:cNvSpPr txBox="1"/>
          <p:nvPr/>
        </p:nvSpPr>
        <p:spPr>
          <a:xfrm>
            <a:off x="119336" y="1268760"/>
            <a:ext cx="6045882" cy="4124206"/>
          </a:xfrm>
          <a:prstGeom prst="rect">
            <a:avLst/>
          </a:prstGeom>
          <a:noFill/>
        </p:spPr>
        <p:txBody>
          <a:bodyPr wrap="square">
            <a:spAutoFit/>
          </a:bodyPr>
          <a:lstStyle/>
          <a:p>
            <a:pPr algn="just">
              <a:spcBef>
                <a:spcPts val="600"/>
              </a:spcBef>
              <a:spcAft>
                <a:spcPts val="600"/>
              </a:spcAft>
              <a:defRPr/>
            </a:pPr>
            <a:r>
              <a:rPr lang="en-US" sz="3600" dirty="0">
                <a:latin typeface="Times New Roman" pitchFamily="18" charset="0"/>
                <a:cs typeface="Times New Roman" pitchFamily="18" charset="0"/>
              </a:rPr>
              <a:t>The thin lens assumption assumes the lens has no thickness, but this isn’t true…</a:t>
            </a:r>
          </a:p>
          <a:p>
            <a:pPr algn="just">
              <a:spcBef>
                <a:spcPts val="600"/>
              </a:spcBef>
              <a:spcAft>
                <a:spcPts val="600"/>
              </a:spcAft>
              <a:defRPr/>
            </a:pPr>
            <a:r>
              <a:rPr lang="en-US" sz="3600" dirty="0">
                <a:latin typeface="Times New Roman" pitchFamily="18" charset="0"/>
                <a:cs typeface="Times New Roman" pitchFamily="18" charset="0"/>
              </a:rPr>
              <a:t>By adding more elements to the lens, the distance at which a scene is in focus can be made roughly planar.</a:t>
            </a:r>
          </a:p>
        </p:txBody>
      </p:sp>
    </p:spTree>
    <p:extLst>
      <p:ext uri="{BB962C8B-B14F-4D97-AF65-F5344CB8AC3E}">
        <p14:creationId xmlns:p14="http://schemas.microsoft.com/office/powerpoint/2010/main" val="567512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17"/>
                                        </p:tgtEl>
                                        <p:attrNameLst>
                                          <p:attrName>style.visibility</p:attrName>
                                        </p:attrNameLst>
                                      </p:cBhvr>
                                      <p:to>
                                        <p:strVal val="hidden"/>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1378"/>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7"/>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custDataLst>
              <p:tags r:id="rId1"/>
            </p:custDataLst>
          </p:nvPr>
        </p:nvSpPr>
        <p:spPr/>
        <p:txBody>
          <a:bodyPr>
            <a:normAutofit/>
          </a:bodyPr>
          <a:lstStyle/>
          <a:p>
            <a:r>
              <a:rPr lang="en-US" sz="5400" dirty="0"/>
              <a:t>Field of View (FOV)</a:t>
            </a:r>
          </a:p>
        </p:txBody>
      </p:sp>
      <p:pic>
        <p:nvPicPr>
          <p:cNvPr id="370690" name="Picture 2" descr="Lenses. Field of view and focal length"/>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28048" y="1729306"/>
            <a:ext cx="5632890" cy="3357202"/>
          </a:xfrm>
          <a:prstGeom prst="rect">
            <a:avLst/>
          </a:prstGeom>
          <a:noFill/>
          <a:extLst>
            <a:ext uri="{909E8E84-426E-40DD-AFC4-6F175D3DCCD1}">
              <a14:hiddenFill xmlns:a14="http://schemas.microsoft.com/office/drawing/2010/main">
                <a:solidFill>
                  <a:srgbClr val="FFFFFF"/>
                </a:solidFill>
              </a14:hiddenFill>
            </a:ext>
          </a:extLst>
        </p:spPr>
      </p:pic>
      <p:sp>
        <p:nvSpPr>
          <p:cNvPr id="56" name="Rectangle 3"/>
          <p:cNvSpPr txBox="1">
            <a:spLocks noChangeArrowheads="1"/>
          </p:cNvSpPr>
          <p:nvPr>
            <p:custDataLst>
              <p:tags r:id="rId2"/>
            </p:custDataLst>
          </p:nvPr>
        </p:nvSpPr>
        <p:spPr>
          <a:xfrm>
            <a:off x="106861" y="1283889"/>
            <a:ext cx="6565203" cy="3283868"/>
          </a:xfrm>
          <a:prstGeom prst="rect">
            <a:avLst/>
          </a:prstGeom>
        </p:spPr>
        <p:txBody>
          <a:bodyPr vert="horz" lIns="91440" tIns="45720" rIns="91440" bIns="45720" rtlCol="0">
            <a:noAutofit/>
          </a:bodyPr>
          <a:lstStyle>
            <a:lvl1pPr marL="342900" indent="-342900" algn="just" defTabSz="914400" rtl="0" eaLnBrk="1" latinLnBrk="0" hangingPunct="1">
              <a:spcBef>
                <a:spcPct val="20000"/>
              </a:spcBef>
              <a:buFont typeface="Arial" pitchFamily="34" charset="0"/>
              <a:buNone/>
              <a:defRPr sz="3200" kern="1200">
                <a:solidFill>
                  <a:schemeClr val="tx1"/>
                </a:solidFill>
                <a:latin typeface="Times New Roman" pitchFamily="18" charset="0"/>
                <a:ea typeface="+mn-ea"/>
                <a:cs typeface="Times New Roman" pitchFamily="18" charset="0"/>
              </a:defRPr>
            </a:lvl1pPr>
            <a:lvl2pPr marL="742950" indent="-285750" algn="just" defTabSz="914400" rtl="0" eaLnBrk="1" latinLnBrk="0" hangingPunct="1">
              <a:spcBef>
                <a:spcPct val="20000"/>
              </a:spcBef>
              <a:buFont typeface="Wingdings" pitchFamily="2" charset="2"/>
              <a:buChar char="Ø"/>
              <a:defRPr sz="2800" kern="1200">
                <a:solidFill>
                  <a:schemeClr val="tx1"/>
                </a:solidFill>
                <a:latin typeface="Times New Roman" pitchFamily="18" charset="0"/>
                <a:ea typeface="+mn-ea"/>
                <a:cs typeface="Times New Roman" pitchFamily="18" charset="0"/>
              </a:defRPr>
            </a:lvl2pPr>
            <a:lvl3pPr marL="1143000" indent="-228600" algn="just" defTabSz="914400" rtl="0" eaLnBrk="1" latinLnBrk="0" hangingPunct="1">
              <a:spcBef>
                <a:spcPct val="20000"/>
              </a:spcBef>
              <a:buFont typeface="Wingdings" pitchFamily="2" charset="2"/>
              <a:buChar char="v"/>
              <a:defRPr sz="2400" kern="1200">
                <a:solidFill>
                  <a:schemeClr val="tx1"/>
                </a:solidFill>
                <a:latin typeface="Times New Roman" pitchFamily="18" charset="0"/>
                <a:ea typeface="+mn-ea"/>
                <a:cs typeface="Times New Roman" pitchFamily="18" charset="0"/>
              </a:defRPr>
            </a:lvl3pPr>
            <a:lvl4pPr marL="1600200" indent="-228600" algn="just" defTabSz="914400" rtl="0" eaLnBrk="1" latinLnBrk="0" hangingPunct="1">
              <a:spcBef>
                <a:spcPct val="20000"/>
              </a:spcBef>
              <a:buFont typeface="Wingdings" pitchFamily="2" charset="2"/>
              <a:buChar char="§"/>
              <a:defRPr sz="2000" kern="1200">
                <a:solidFill>
                  <a:schemeClr val="tx1"/>
                </a:solidFill>
                <a:latin typeface="Times New Roman" pitchFamily="18" charset="0"/>
                <a:ea typeface="+mn-ea"/>
                <a:cs typeface="Times New Roman" pitchFamily="18" charset="0"/>
              </a:defRPr>
            </a:lvl4pPr>
            <a:lvl5pPr marL="2057400" indent="-228600" algn="just" defTabSz="914400" rtl="0" eaLnBrk="1" latinLnBrk="0" hangingPunct="1">
              <a:spcBef>
                <a:spcPct val="20000"/>
              </a:spcBef>
              <a:buFont typeface="Courier New" pitchFamily="49" charset="0"/>
              <a:buChar char="o"/>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lang="en-US" sz="2800" dirty="0"/>
              <a:t>Part of the world that is visible through the </a:t>
            </a:r>
            <a:r>
              <a:rPr lang="en-US" sz="2800" b="1" dirty="0"/>
              <a:t>camera</a:t>
            </a:r>
            <a:r>
              <a:rPr lang="en-US" sz="2800" dirty="0"/>
              <a:t> at a particular position and orientation in space. </a:t>
            </a:r>
          </a:p>
          <a:p>
            <a:pPr>
              <a:defRPr/>
            </a:pPr>
            <a:r>
              <a:rPr lang="en-US" sz="2800" dirty="0"/>
              <a:t>Objects outside the FOV when the </a:t>
            </a:r>
            <a:r>
              <a:rPr lang="en-US" sz="2800" b="1" dirty="0"/>
              <a:t>picture</a:t>
            </a:r>
            <a:r>
              <a:rPr lang="en-US" sz="2800" dirty="0"/>
              <a:t> is taken are not recorded in the photograph. </a:t>
            </a:r>
          </a:p>
          <a:p>
            <a:pPr>
              <a:defRPr/>
            </a:pPr>
            <a:r>
              <a:rPr lang="en-US" sz="2800" dirty="0"/>
              <a:t>FOV is most often expressed as the angular size of the </a:t>
            </a:r>
            <a:r>
              <a:rPr lang="en-US" sz="2800" b="1" dirty="0"/>
              <a:t>view</a:t>
            </a:r>
            <a:r>
              <a:rPr lang="en-US" sz="2800" dirty="0"/>
              <a:t> cone, as an angle of </a:t>
            </a:r>
            <a:r>
              <a:rPr lang="en-US" sz="2800" b="1" dirty="0"/>
              <a:t>view</a:t>
            </a:r>
            <a:r>
              <a:rPr lang="en-US" sz="2800" dirty="0"/>
              <a:t>.</a:t>
            </a:r>
          </a:p>
        </p:txBody>
      </p:sp>
      <p:sp>
        <p:nvSpPr>
          <p:cNvPr id="2" name="Rectangle 1"/>
          <p:cNvSpPr/>
          <p:nvPr/>
        </p:nvSpPr>
        <p:spPr>
          <a:xfrm>
            <a:off x="191344" y="5469031"/>
            <a:ext cx="11809312" cy="1200329"/>
          </a:xfrm>
          <a:prstGeom prst="rect">
            <a:avLst/>
          </a:prstGeom>
          <a:solidFill>
            <a:schemeClr val="accent3">
              <a:lumMod val="40000"/>
              <a:lumOff val="60000"/>
            </a:schemeClr>
          </a:solidFill>
        </p:spPr>
        <p:txBody>
          <a:bodyPr wrap="square">
            <a:spAutoFit/>
          </a:bodyPr>
          <a:lstStyle/>
          <a:p>
            <a:pPr algn="just"/>
            <a:r>
              <a:rPr lang="en-US" sz="2400" dirty="0">
                <a:solidFill>
                  <a:srgbClr val="222222"/>
                </a:solidFill>
                <a:latin typeface="Times New Roman" panose="02020603050405020304" pitchFamily="18" charset="0"/>
                <a:cs typeface="Times New Roman" panose="02020603050405020304" pitchFamily="18" charset="0"/>
              </a:rPr>
              <a:t>In </a:t>
            </a:r>
            <a:r>
              <a:rPr lang="en-US" sz="2400" b="1" dirty="0">
                <a:solidFill>
                  <a:srgbClr val="222222"/>
                </a:solidFill>
                <a:latin typeface="Times New Roman" panose="02020603050405020304" pitchFamily="18" charset="0"/>
                <a:cs typeface="Times New Roman" panose="02020603050405020304" pitchFamily="18" charset="0"/>
              </a:rPr>
              <a:t>human</a:t>
            </a:r>
            <a:r>
              <a:rPr lang="en-US" sz="2400" dirty="0">
                <a:solidFill>
                  <a:srgbClr val="222222"/>
                </a:solidFill>
                <a:latin typeface="Times New Roman" panose="02020603050405020304" pitchFamily="18" charset="0"/>
                <a:cs typeface="Times New Roman" panose="02020603050405020304" pitchFamily="18" charset="0"/>
              </a:rPr>
              <a:t> vision, the field of view is composed of two monocular FOVs which our brains stitch together to form one binocular </a:t>
            </a:r>
            <a:r>
              <a:rPr lang="en-US" sz="2400" b="1" dirty="0">
                <a:solidFill>
                  <a:srgbClr val="222222"/>
                </a:solidFill>
                <a:latin typeface="Times New Roman" panose="02020603050405020304" pitchFamily="18" charset="0"/>
                <a:cs typeface="Times New Roman" panose="02020603050405020304" pitchFamily="18" charset="0"/>
              </a:rPr>
              <a:t>FOV</a:t>
            </a:r>
            <a:r>
              <a:rPr lang="en-US" sz="2400" dirty="0">
                <a:solidFill>
                  <a:srgbClr val="222222"/>
                </a:solidFill>
                <a:latin typeface="Times New Roman" panose="02020603050405020304" pitchFamily="18" charset="0"/>
                <a:cs typeface="Times New Roman" panose="02020603050405020304" pitchFamily="18" charset="0"/>
              </a:rPr>
              <a:t>. Individually, our </a:t>
            </a:r>
            <a:r>
              <a:rPr lang="en-US" sz="2400" b="1" dirty="0">
                <a:solidFill>
                  <a:srgbClr val="222222"/>
                </a:solidFill>
                <a:latin typeface="Times New Roman" panose="02020603050405020304" pitchFamily="18" charset="0"/>
                <a:cs typeface="Times New Roman" panose="02020603050405020304" pitchFamily="18" charset="0"/>
              </a:rPr>
              <a:t>eyes</a:t>
            </a:r>
            <a:r>
              <a:rPr lang="en-US" sz="2400" dirty="0">
                <a:solidFill>
                  <a:srgbClr val="222222"/>
                </a:solidFill>
                <a:latin typeface="Times New Roman" panose="02020603050405020304" pitchFamily="18" charset="0"/>
                <a:cs typeface="Times New Roman" panose="02020603050405020304" pitchFamily="18" charset="0"/>
              </a:rPr>
              <a:t> have a horizontal </a:t>
            </a:r>
            <a:r>
              <a:rPr lang="en-US" sz="2400" b="1" dirty="0">
                <a:solidFill>
                  <a:srgbClr val="222222"/>
                </a:solidFill>
                <a:latin typeface="Times New Roman" panose="02020603050405020304" pitchFamily="18" charset="0"/>
                <a:cs typeface="Times New Roman" panose="02020603050405020304" pitchFamily="18" charset="0"/>
              </a:rPr>
              <a:t>FOV</a:t>
            </a:r>
            <a:r>
              <a:rPr lang="en-US" sz="2400" dirty="0">
                <a:solidFill>
                  <a:srgbClr val="222222"/>
                </a:solidFill>
                <a:latin typeface="Times New Roman" panose="02020603050405020304" pitchFamily="18" charset="0"/>
                <a:cs typeface="Times New Roman" panose="02020603050405020304" pitchFamily="18" charset="0"/>
              </a:rPr>
              <a:t> of about 135 degrees and a vertical </a:t>
            </a:r>
            <a:r>
              <a:rPr lang="en-US" sz="2400" b="1" dirty="0">
                <a:solidFill>
                  <a:srgbClr val="222222"/>
                </a:solidFill>
                <a:latin typeface="Times New Roman" panose="02020603050405020304" pitchFamily="18" charset="0"/>
                <a:cs typeface="Times New Roman" panose="02020603050405020304" pitchFamily="18" charset="0"/>
              </a:rPr>
              <a:t>FOV</a:t>
            </a:r>
            <a:r>
              <a:rPr lang="en-US" sz="2400" dirty="0">
                <a:solidFill>
                  <a:srgbClr val="222222"/>
                </a:solidFill>
                <a:latin typeface="Times New Roman" panose="02020603050405020304" pitchFamily="18" charset="0"/>
                <a:cs typeface="Times New Roman" panose="02020603050405020304" pitchFamily="18" charset="0"/>
              </a:rPr>
              <a:t> of just over 180 degrees.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36668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 name="Picture 2" descr="http://upload.wikimedia.org/wikipedia/commons/thumb/a/a0/Depth_of_field_diagram.png/440px-Depth_of_field_diagram.png">
            <a:hlinkClick r:id="rId15"/>
          </p:cNvPr>
          <p:cNvPicPr>
            <a:picLocks noChangeAspect="1" noChangeArrowheads="1"/>
          </p:cNvPicPr>
          <p:nvPr/>
        </p:nvPicPr>
        <p:blipFill>
          <a:blip r:embed="rId16" cstate="print"/>
          <a:srcRect/>
          <a:stretch>
            <a:fillRect/>
          </a:stretch>
        </p:blipFill>
        <p:spPr bwMode="auto">
          <a:xfrm>
            <a:off x="983432" y="2708920"/>
            <a:ext cx="5256584" cy="1768124"/>
          </a:xfrm>
          <a:prstGeom prst="rect">
            <a:avLst/>
          </a:prstGeom>
          <a:noFill/>
        </p:spPr>
      </p:pic>
      <p:sp>
        <p:nvSpPr>
          <p:cNvPr id="27650" name="Rectangle 2"/>
          <p:cNvSpPr>
            <a:spLocks noGrp="1" noChangeArrowheads="1"/>
          </p:cNvSpPr>
          <p:nvPr>
            <p:ph type="title"/>
            <p:custDataLst>
              <p:tags r:id="rId1"/>
            </p:custDataLst>
          </p:nvPr>
        </p:nvSpPr>
        <p:spPr/>
        <p:txBody>
          <a:bodyPr>
            <a:normAutofit/>
          </a:bodyPr>
          <a:lstStyle/>
          <a:p>
            <a:r>
              <a:rPr lang="en-US" sz="5400" dirty="0"/>
              <a:t>Depth of Field (DOF)</a:t>
            </a:r>
          </a:p>
        </p:txBody>
      </p:sp>
      <p:grpSp>
        <p:nvGrpSpPr>
          <p:cNvPr id="27657" name="Group 13"/>
          <p:cNvGrpSpPr>
            <a:grpSpLocks/>
          </p:cNvGrpSpPr>
          <p:nvPr/>
        </p:nvGrpSpPr>
        <p:grpSpPr bwMode="auto">
          <a:xfrm>
            <a:off x="9314410" y="1853307"/>
            <a:ext cx="414337" cy="1844675"/>
            <a:chOff x="7705055" y="3025091"/>
            <a:chExt cx="542007" cy="2220987"/>
          </a:xfrm>
        </p:grpSpPr>
        <p:pic>
          <p:nvPicPr>
            <p:cNvPr id="27701" name="Picture 8" descr="C:\Users\larryz\Pictures\Picture1.png"/>
            <p:cNvPicPr>
              <a:picLocks noChangeAspect="1" noChangeArrowheads="1"/>
            </p:cNvPicPr>
            <p:nvPr/>
          </p:nvPicPr>
          <p:blipFill>
            <a:blip r:embed="rId17" cstate="print">
              <a:extLst>
                <a:ext uri="{28A0092B-C50C-407E-A947-70E740481C1C}">
                  <a14:useLocalDpi xmlns:a14="http://schemas.microsoft.com/office/drawing/2010/main" val="0"/>
                </a:ext>
              </a:extLst>
            </a:blip>
            <a:srcRect l="77914" t="9837" r="-2" b="13004"/>
            <a:stretch>
              <a:fillRect/>
            </a:stretch>
          </p:blipFill>
          <p:spPr bwMode="auto">
            <a:xfrm>
              <a:off x="7976382" y="3025091"/>
              <a:ext cx="270680" cy="2172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02" name="Picture 8" descr="C:\Users\larryz\Pictures\Picture1.png"/>
            <p:cNvPicPr>
              <a:picLocks noChangeAspect="1" noChangeArrowheads="1"/>
            </p:cNvPicPr>
            <p:nvPr/>
          </p:nvPicPr>
          <p:blipFill>
            <a:blip r:embed="rId17" cstate="print">
              <a:extLst>
                <a:ext uri="{28A0092B-C50C-407E-A947-70E740481C1C}">
                  <a14:useLocalDpi xmlns:a14="http://schemas.microsoft.com/office/drawing/2010/main" val="0"/>
                </a:ext>
              </a:extLst>
            </a:blip>
            <a:srcRect l="77914" t="9837" r="-2" b="13004"/>
            <a:stretch>
              <a:fillRect/>
            </a:stretch>
          </p:blipFill>
          <p:spPr bwMode="auto">
            <a:xfrm rot="10800000">
              <a:off x="7705055" y="3073157"/>
              <a:ext cx="270680" cy="2172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7658" name="Line 9"/>
          <p:cNvSpPr>
            <a:spLocks noChangeShapeType="1"/>
          </p:cNvSpPr>
          <p:nvPr>
            <p:custDataLst>
              <p:tags r:id="rId2"/>
            </p:custDataLst>
          </p:nvPr>
        </p:nvSpPr>
        <p:spPr bwMode="auto">
          <a:xfrm>
            <a:off x="7355435" y="2777231"/>
            <a:ext cx="4410075"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GB" sz="2400">
              <a:latin typeface="Times New Roman" pitchFamily="18" charset="0"/>
              <a:cs typeface="Times New Roman" pitchFamily="18" charset="0"/>
            </a:endParaRPr>
          </a:p>
        </p:txBody>
      </p:sp>
      <p:sp>
        <p:nvSpPr>
          <p:cNvPr id="27659" name="Line 10"/>
          <p:cNvSpPr>
            <a:spLocks noChangeShapeType="1"/>
          </p:cNvSpPr>
          <p:nvPr>
            <p:custDataLst>
              <p:tags r:id="rId3"/>
            </p:custDataLst>
          </p:nvPr>
        </p:nvSpPr>
        <p:spPr bwMode="auto">
          <a:xfrm>
            <a:off x="9511260" y="2321618"/>
            <a:ext cx="2243137" cy="45720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GB" sz="2400">
              <a:latin typeface="Times New Roman" pitchFamily="18" charset="0"/>
              <a:cs typeface="Times New Roman" pitchFamily="18" charset="0"/>
            </a:endParaRPr>
          </a:p>
        </p:txBody>
      </p:sp>
      <p:sp>
        <p:nvSpPr>
          <p:cNvPr id="27660" name="Line 10"/>
          <p:cNvSpPr>
            <a:spLocks noChangeShapeType="1"/>
          </p:cNvSpPr>
          <p:nvPr>
            <p:custDataLst>
              <p:tags r:id="rId4"/>
            </p:custDataLst>
          </p:nvPr>
        </p:nvSpPr>
        <p:spPr bwMode="auto">
          <a:xfrm flipV="1">
            <a:off x="9533484" y="2785169"/>
            <a:ext cx="2220912" cy="430213"/>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GB" sz="2400">
              <a:latin typeface="Times New Roman" pitchFamily="18" charset="0"/>
              <a:cs typeface="Times New Roman" pitchFamily="18" charset="0"/>
            </a:endParaRPr>
          </a:p>
        </p:txBody>
      </p:sp>
      <p:sp>
        <p:nvSpPr>
          <p:cNvPr id="27661" name="Line 9"/>
          <p:cNvSpPr>
            <a:spLocks noChangeShapeType="1"/>
          </p:cNvSpPr>
          <p:nvPr>
            <p:custDataLst>
              <p:tags r:id="rId5"/>
            </p:custDataLst>
          </p:nvPr>
        </p:nvSpPr>
        <p:spPr bwMode="auto">
          <a:xfrm flipV="1">
            <a:off x="7890422" y="2331144"/>
            <a:ext cx="1624013" cy="44767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GB" sz="2400">
              <a:latin typeface="Times New Roman" pitchFamily="18" charset="0"/>
              <a:cs typeface="Times New Roman" pitchFamily="18" charset="0"/>
            </a:endParaRPr>
          </a:p>
        </p:txBody>
      </p:sp>
      <p:cxnSp>
        <p:nvCxnSpPr>
          <p:cNvPr id="27662" name="Straight Connector 24"/>
          <p:cNvCxnSpPr>
            <a:cxnSpLocks noChangeShapeType="1"/>
          </p:cNvCxnSpPr>
          <p:nvPr/>
        </p:nvCxnSpPr>
        <p:spPr bwMode="auto">
          <a:xfrm>
            <a:off x="11757571" y="2018406"/>
            <a:ext cx="0" cy="1566862"/>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sp>
        <p:nvSpPr>
          <p:cNvPr id="27663" name="TextBox 29"/>
          <p:cNvSpPr txBox="1">
            <a:spLocks noChangeArrowheads="1"/>
          </p:cNvSpPr>
          <p:nvPr/>
        </p:nvSpPr>
        <p:spPr bwMode="auto">
          <a:xfrm>
            <a:off x="11355685" y="1556792"/>
            <a:ext cx="7889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dirty="0">
                <a:cs typeface="Times New Roman" pitchFamily="18" charset="0"/>
              </a:rPr>
              <a:t>Film</a:t>
            </a:r>
          </a:p>
        </p:txBody>
      </p:sp>
      <p:sp>
        <p:nvSpPr>
          <p:cNvPr id="27664" name="Line 9"/>
          <p:cNvSpPr>
            <a:spLocks noChangeShapeType="1"/>
          </p:cNvSpPr>
          <p:nvPr>
            <p:custDataLst>
              <p:tags r:id="rId6"/>
            </p:custDataLst>
          </p:nvPr>
        </p:nvSpPr>
        <p:spPr bwMode="auto">
          <a:xfrm>
            <a:off x="7890422" y="2785169"/>
            <a:ext cx="1643063" cy="43021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GB" sz="2400">
              <a:latin typeface="Times New Roman" pitchFamily="18" charset="0"/>
              <a:cs typeface="Times New Roman" pitchFamily="18" charset="0"/>
            </a:endParaRPr>
          </a:p>
        </p:txBody>
      </p:sp>
      <p:cxnSp>
        <p:nvCxnSpPr>
          <p:cNvPr id="27665" name="Straight Connector 35"/>
          <p:cNvCxnSpPr>
            <a:cxnSpLocks noChangeShapeType="1"/>
          </p:cNvCxnSpPr>
          <p:nvPr/>
        </p:nvCxnSpPr>
        <p:spPr bwMode="auto">
          <a:xfrm flipH="1">
            <a:off x="9990684" y="1892994"/>
            <a:ext cx="0" cy="473075"/>
          </a:xfrm>
          <a:prstGeom prst="line">
            <a:avLst/>
          </a:prstGeom>
          <a:noFill/>
          <a:ln w="57150" algn="ctr">
            <a:solidFill>
              <a:schemeClr val="tx1"/>
            </a:solidFill>
            <a:round/>
            <a:headEnd/>
            <a:tailEnd/>
          </a:ln>
          <a:extLst>
            <a:ext uri="{909E8E84-426E-40DD-AFC4-6F175D3DCCD1}">
              <a14:hiddenFill xmlns:a14="http://schemas.microsoft.com/office/drawing/2010/main">
                <a:noFill/>
              </a14:hiddenFill>
            </a:ext>
          </a:extLst>
        </p:spPr>
      </p:cxnSp>
      <p:cxnSp>
        <p:nvCxnSpPr>
          <p:cNvPr id="27666" name="Straight Connector 36"/>
          <p:cNvCxnSpPr>
            <a:cxnSpLocks noChangeShapeType="1"/>
          </p:cNvCxnSpPr>
          <p:nvPr/>
        </p:nvCxnSpPr>
        <p:spPr bwMode="auto">
          <a:xfrm>
            <a:off x="9990684" y="3204268"/>
            <a:ext cx="0" cy="465138"/>
          </a:xfrm>
          <a:prstGeom prst="line">
            <a:avLst/>
          </a:prstGeom>
          <a:noFill/>
          <a:ln w="57150" algn="ctr">
            <a:solidFill>
              <a:schemeClr val="tx1"/>
            </a:solidFill>
            <a:round/>
            <a:headEnd/>
            <a:tailEnd/>
          </a:ln>
          <a:extLst>
            <a:ext uri="{909E8E84-426E-40DD-AFC4-6F175D3DCCD1}">
              <a14:hiddenFill xmlns:a14="http://schemas.microsoft.com/office/drawing/2010/main">
                <a:noFill/>
              </a14:hiddenFill>
            </a:ext>
          </a:extLst>
        </p:spPr>
      </p:cxnSp>
      <p:sp>
        <p:nvSpPr>
          <p:cNvPr id="27667" name="TextBox 37"/>
          <p:cNvSpPr txBox="1">
            <a:spLocks noChangeArrowheads="1"/>
          </p:cNvSpPr>
          <p:nvPr/>
        </p:nvSpPr>
        <p:spPr bwMode="auto">
          <a:xfrm>
            <a:off x="9423994" y="1484784"/>
            <a:ext cx="142763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dirty="0">
                <a:cs typeface="Times New Roman" pitchFamily="18" charset="0"/>
              </a:rPr>
              <a:t>Aperture</a:t>
            </a:r>
          </a:p>
        </p:txBody>
      </p:sp>
      <p:cxnSp>
        <p:nvCxnSpPr>
          <p:cNvPr id="5" name="Straight Connector 4"/>
          <p:cNvCxnSpPr>
            <a:cxnSpLocks noChangeShapeType="1"/>
          </p:cNvCxnSpPr>
          <p:nvPr/>
        </p:nvCxnSpPr>
        <p:spPr bwMode="auto">
          <a:xfrm flipV="1">
            <a:off x="8193634" y="2366068"/>
            <a:ext cx="1339850" cy="412750"/>
          </a:xfrm>
          <a:prstGeom prst="line">
            <a:avLst/>
          </a:prstGeom>
          <a:noFill/>
          <a:ln w="19050" algn="ctr">
            <a:solidFill>
              <a:srgbClr val="33CC33"/>
            </a:solidFill>
            <a:round/>
            <a:headEnd/>
            <a:tailEnd/>
          </a:ln>
          <a:extLst>
            <a:ext uri="{909E8E84-426E-40DD-AFC4-6F175D3DCCD1}">
              <a14:hiddenFill xmlns:a14="http://schemas.microsoft.com/office/drawing/2010/main">
                <a:noFill/>
              </a14:hiddenFill>
            </a:ext>
          </a:extLst>
        </p:spPr>
      </p:cxnSp>
      <p:cxnSp>
        <p:nvCxnSpPr>
          <p:cNvPr id="7" name="Straight Arrow Connector 6"/>
          <p:cNvCxnSpPr>
            <a:cxnSpLocks noChangeShapeType="1"/>
          </p:cNvCxnSpPr>
          <p:nvPr/>
        </p:nvCxnSpPr>
        <p:spPr bwMode="auto">
          <a:xfrm>
            <a:off x="9525546" y="2366068"/>
            <a:ext cx="2209800" cy="242888"/>
          </a:xfrm>
          <a:prstGeom prst="straightConnector1">
            <a:avLst/>
          </a:prstGeom>
          <a:noFill/>
          <a:ln w="19050" algn="ctr">
            <a:solidFill>
              <a:srgbClr val="33CC33"/>
            </a:solidFill>
            <a:round/>
            <a:headEnd/>
            <a:tailEnd type="triangle" w="med" len="med"/>
          </a:ln>
          <a:extLst>
            <a:ext uri="{909E8E84-426E-40DD-AFC4-6F175D3DCCD1}">
              <a14:hiddenFill xmlns:a14="http://schemas.microsoft.com/office/drawing/2010/main">
                <a:noFill/>
              </a14:hiddenFill>
            </a:ext>
          </a:extLst>
        </p:spPr>
      </p:cxnSp>
      <p:cxnSp>
        <p:nvCxnSpPr>
          <p:cNvPr id="46" name="Straight Connector 45"/>
          <p:cNvCxnSpPr>
            <a:cxnSpLocks noChangeShapeType="1"/>
          </p:cNvCxnSpPr>
          <p:nvPr/>
        </p:nvCxnSpPr>
        <p:spPr bwMode="auto">
          <a:xfrm>
            <a:off x="8193634" y="2778818"/>
            <a:ext cx="1339850" cy="400050"/>
          </a:xfrm>
          <a:prstGeom prst="line">
            <a:avLst/>
          </a:prstGeom>
          <a:noFill/>
          <a:ln w="19050" algn="ctr">
            <a:solidFill>
              <a:srgbClr val="33CC33"/>
            </a:solidFill>
            <a:round/>
            <a:headEnd/>
            <a:tailEnd/>
          </a:ln>
          <a:extLst>
            <a:ext uri="{909E8E84-426E-40DD-AFC4-6F175D3DCCD1}">
              <a14:hiddenFill xmlns:a14="http://schemas.microsoft.com/office/drawing/2010/main">
                <a:noFill/>
              </a14:hiddenFill>
            </a:ext>
          </a:extLst>
        </p:spPr>
      </p:cxnSp>
      <p:cxnSp>
        <p:nvCxnSpPr>
          <p:cNvPr id="49" name="Straight Arrow Connector 48"/>
          <p:cNvCxnSpPr>
            <a:cxnSpLocks noChangeShapeType="1"/>
          </p:cNvCxnSpPr>
          <p:nvPr/>
        </p:nvCxnSpPr>
        <p:spPr bwMode="auto">
          <a:xfrm flipV="1">
            <a:off x="9538246" y="2947094"/>
            <a:ext cx="2203450" cy="231775"/>
          </a:xfrm>
          <a:prstGeom prst="straightConnector1">
            <a:avLst/>
          </a:prstGeom>
          <a:noFill/>
          <a:ln w="19050" algn="ctr">
            <a:solidFill>
              <a:srgbClr val="33CC33"/>
            </a:solidFill>
            <a:round/>
            <a:headEnd/>
            <a:tailEnd type="triangle" w="med" len="med"/>
          </a:ln>
          <a:extLst>
            <a:ext uri="{909E8E84-426E-40DD-AFC4-6F175D3DCCD1}">
              <a14:hiddenFill xmlns:a14="http://schemas.microsoft.com/office/drawing/2010/main">
                <a:noFill/>
              </a14:hiddenFill>
            </a:ext>
          </a:extLst>
        </p:spPr>
      </p:cxnSp>
      <p:cxnSp>
        <p:nvCxnSpPr>
          <p:cNvPr id="72" name="Straight Connector 71"/>
          <p:cNvCxnSpPr>
            <a:cxnSpLocks noChangeShapeType="1"/>
          </p:cNvCxnSpPr>
          <p:nvPr/>
        </p:nvCxnSpPr>
        <p:spPr bwMode="auto">
          <a:xfrm flipV="1">
            <a:off x="7547522" y="2278756"/>
            <a:ext cx="1985963" cy="500062"/>
          </a:xfrm>
          <a:prstGeom prst="line">
            <a:avLst/>
          </a:prstGeom>
          <a:noFill/>
          <a:ln w="19050" algn="ctr">
            <a:solidFill>
              <a:srgbClr val="0066FF"/>
            </a:solidFill>
            <a:round/>
            <a:headEnd/>
            <a:tailEnd/>
          </a:ln>
          <a:extLst>
            <a:ext uri="{909E8E84-426E-40DD-AFC4-6F175D3DCCD1}">
              <a14:hiddenFill xmlns:a14="http://schemas.microsoft.com/office/drawing/2010/main">
                <a:noFill/>
              </a14:hiddenFill>
            </a:ext>
          </a:extLst>
        </p:spPr>
      </p:cxnSp>
      <p:cxnSp>
        <p:nvCxnSpPr>
          <p:cNvPr id="75" name="Straight Arrow Connector 74"/>
          <p:cNvCxnSpPr>
            <a:cxnSpLocks noChangeShapeType="1"/>
          </p:cNvCxnSpPr>
          <p:nvPr/>
        </p:nvCxnSpPr>
        <p:spPr bwMode="auto">
          <a:xfrm>
            <a:off x="9525546" y="2278757"/>
            <a:ext cx="2216150" cy="674687"/>
          </a:xfrm>
          <a:prstGeom prst="straightConnector1">
            <a:avLst/>
          </a:prstGeom>
          <a:noFill/>
          <a:ln w="19050" algn="ctr">
            <a:solidFill>
              <a:srgbClr val="0066FF"/>
            </a:solidFill>
            <a:round/>
            <a:headEnd/>
            <a:tailEnd type="triangle" w="med" len="med"/>
          </a:ln>
          <a:extLst>
            <a:ext uri="{909E8E84-426E-40DD-AFC4-6F175D3DCCD1}">
              <a14:hiddenFill xmlns:a14="http://schemas.microsoft.com/office/drawing/2010/main">
                <a:noFill/>
              </a14:hiddenFill>
            </a:ext>
          </a:extLst>
        </p:spPr>
      </p:cxnSp>
      <p:cxnSp>
        <p:nvCxnSpPr>
          <p:cNvPr id="81" name="Straight Connector 80"/>
          <p:cNvCxnSpPr>
            <a:cxnSpLocks noChangeShapeType="1"/>
          </p:cNvCxnSpPr>
          <p:nvPr/>
        </p:nvCxnSpPr>
        <p:spPr bwMode="auto">
          <a:xfrm>
            <a:off x="7547522" y="2785169"/>
            <a:ext cx="1985963" cy="487363"/>
          </a:xfrm>
          <a:prstGeom prst="line">
            <a:avLst/>
          </a:prstGeom>
          <a:noFill/>
          <a:ln w="19050" algn="ctr">
            <a:solidFill>
              <a:srgbClr val="0066FF"/>
            </a:solidFill>
            <a:round/>
            <a:headEnd/>
            <a:tailEnd/>
          </a:ln>
          <a:extLst>
            <a:ext uri="{909E8E84-426E-40DD-AFC4-6F175D3DCCD1}">
              <a14:hiddenFill xmlns:a14="http://schemas.microsoft.com/office/drawing/2010/main">
                <a:noFill/>
              </a14:hiddenFill>
            </a:ext>
          </a:extLst>
        </p:spPr>
      </p:cxnSp>
      <p:cxnSp>
        <p:nvCxnSpPr>
          <p:cNvPr id="84" name="Straight Arrow Connector 83"/>
          <p:cNvCxnSpPr>
            <a:cxnSpLocks noChangeShapeType="1"/>
          </p:cNvCxnSpPr>
          <p:nvPr/>
        </p:nvCxnSpPr>
        <p:spPr bwMode="auto">
          <a:xfrm flipV="1">
            <a:off x="9538246" y="2608957"/>
            <a:ext cx="2197100" cy="663575"/>
          </a:xfrm>
          <a:prstGeom prst="straightConnector1">
            <a:avLst/>
          </a:prstGeom>
          <a:noFill/>
          <a:ln w="19050" algn="ctr">
            <a:solidFill>
              <a:srgbClr val="0066FF"/>
            </a:solidFill>
            <a:round/>
            <a:headEnd/>
            <a:tailEnd type="triangle" w="med" len="med"/>
          </a:ln>
          <a:extLst>
            <a:ext uri="{909E8E84-426E-40DD-AFC4-6F175D3DCCD1}">
              <a14:hiddenFill xmlns:a14="http://schemas.microsoft.com/office/drawing/2010/main">
                <a:noFill/>
              </a14:hiddenFill>
            </a:ext>
          </a:extLst>
        </p:spPr>
      </p:cxnSp>
      <p:cxnSp>
        <p:nvCxnSpPr>
          <p:cNvPr id="27676" name="Straight Connector 59"/>
          <p:cNvCxnSpPr>
            <a:cxnSpLocks noChangeShapeType="1"/>
          </p:cNvCxnSpPr>
          <p:nvPr/>
        </p:nvCxnSpPr>
        <p:spPr bwMode="auto">
          <a:xfrm>
            <a:off x="7547521" y="2485131"/>
            <a:ext cx="0" cy="608012"/>
          </a:xfrm>
          <a:prstGeom prst="line">
            <a:avLst/>
          </a:prstGeom>
          <a:noFill/>
          <a:ln w="19050"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27677" name="Straight Connector 96"/>
          <p:cNvCxnSpPr>
            <a:cxnSpLocks noChangeShapeType="1"/>
          </p:cNvCxnSpPr>
          <p:nvPr/>
        </p:nvCxnSpPr>
        <p:spPr bwMode="auto">
          <a:xfrm>
            <a:off x="8193634" y="2485131"/>
            <a:ext cx="0" cy="608012"/>
          </a:xfrm>
          <a:prstGeom prst="line">
            <a:avLst/>
          </a:prstGeom>
          <a:noFill/>
          <a:ln w="19050" algn="ctr">
            <a:solidFill>
              <a:schemeClr val="tx1"/>
            </a:solidFill>
            <a:prstDash val="dash"/>
            <a:round/>
            <a:headEnd/>
            <a:tailEnd/>
          </a:ln>
          <a:extLst>
            <a:ext uri="{909E8E84-426E-40DD-AFC4-6F175D3DCCD1}">
              <a14:hiddenFill xmlns:a14="http://schemas.microsoft.com/office/drawing/2010/main">
                <a:noFill/>
              </a14:hiddenFill>
            </a:ext>
          </a:extLst>
        </p:spPr>
      </p:cxnSp>
      <p:sp>
        <p:nvSpPr>
          <p:cNvPr id="27678" name="Tree"/>
          <p:cNvSpPr>
            <a:spLocks noEditPoints="1" noChangeArrowheads="1"/>
          </p:cNvSpPr>
          <p:nvPr/>
        </p:nvSpPr>
        <p:spPr bwMode="auto">
          <a:xfrm>
            <a:off x="7763422" y="2604194"/>
            <a:ext cx="238125" cy="303213"/>
          </a:xfrm>
          <a:custGeom>
            <a:avLst/>
            <a:gdLst>
              <a:gd name="T0" fmla="*/ 159332679 w 21600"/>
              <a:gd name="T1" fmla="*/ 0 h 21600"/>
              <a:gd name="T2" fmla="*/ 91041008 w 21600"/>
              <a:gd name="T3" fmla="*/ 243676622 h 21600"/>
              <a:gd name="T4" fmla="*/ 45527857 w 21600"/>
              <a:gd name="T5" fmla="*/ 487353048 h 21600"/>
              <a:gd name="T6" fmla="*/ 0 w 21600"/>
              <a:gd name="T7" fmla="*/ 731029670 h 21600"/>
              <a:gd name="T8" fmla="*/ 227623125 w 21600"/>
              <a:gd name="T9" fmla="*/ 243676622 h 21600"/>
              <a:gd name="T10" fmla="*/ 273136276 w 21600"/>
              <a:gd name="T11" fmla="*/ 487353048 h 21600"/>
              <a:gd name="T12" fmla="*/ 318664134 w 21600"/>
              <a:gd name="T13" fmla="*/ 731029670 h 21600"/>
              <a:gd name="T14" fmla="*/ 17694720 60000 65536"/>
              <a:gd name="T15" fmla="*/ 11796480 60000 65536"/>
              <a:gd name="T16" fmla="*/ 11796480 60000 65536"/>
              <a:gd name="T17" fmla="*/ 11796480 60000 65536"/>
              <a:gd name="T18" fmla="*/ 0 60000 65536"/>
              <a:gd name="T19" fmla="*/ 0 60000 65536"/>
              <a:gd name="T20" fmla="*/ 0 60000 65536"/>
              <a:gd name="T21" fmla="*/ 761 w 21600"/>
              <a:gd name="T22" fmla="*/ 22454 h 21600"/>
              <a:gd name="T23" fmla="*/ 21069 w 21600"/>
              <a:gd name="T24" fmla="*/ 28282 h 216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600" h="21600">
                <a:moveTo>
                  <a:pt x="0" y="18900"/>
                </a:moveTo>
                <a:lnTo>
                  <a:pt x="9257" y="18900"/>
                </a:lnTo>
                <a:lnTo>
                  <a:pt x="9257" y="21600"/>
                </a:lnTo>
                <a:lnTo>
                  <a:pt x="12343" y="21600"/>
                </a:lnTo>
                <a:lnTo>
                  <a:pt x="12343" y="18900"/>
                </a:lnTo>
                <a:lnTo>
                  <a:pt x="21600" y="18900"/>
                </a:lnTo>
                <a:lnTo>
                  <a:pt x="12343" y="12600"/>
                </a:lnTo>
                <a:lnTo>
                  <a:pt x="18514" y="12600"/>
                </a:lnTo>
                <a:lnTo>
                  <a:pt x="12343" y="6300"/>
                </a:lnTo>
                <a:lnTo>
                  <a:pt x="15429" y="6300"/>
                </a:lnTo>
                <a:lnTo>
                  <a:pt x="10800" y="0"/>
                </a:lnTo>
                <a:lnTo>
                  <a:pt x="6171" y="6300"/>
                </a:lnTo>
                <a:lnTo>
                  <a:pt x="9257" y="6300"/>
                </a:lnTo>
                <a:lnTo>
                  <a:pt x="3086" y="12600"/>
                </a:lnTo>
                <a:lnTo>
                  <a:pt x="9257" y="12600"/>
                </a:lnTo>
                <a:lnTo>
                  <a:pt x="0" y="18900"/>
                </a:lnTo>
                <a:close/>
              </a:path>
            </a:pathLst>
          </a:custGeom>
          <a:solidFill>
            <a:srgbClr val="008000"/>
          </a:solidFill>
          <a:ln w="9525">
            <a:solidFill>
              <a:srgbClr val="000000"/>
            </a:solidFill>
            <a:miter lim="800000"/>
            <a:headEnd/>
            <a:tailEnd/>
          </a:ln>
        </p:spPr>
        <p:txBody>
          <a:bodyPr/>
          <a:lstStyle/>
          <a:p>
            <a:endParaRPr lang="en-GB" sz="2400">
              <a:latin typeface="Times New Roman" pitchFamily="18" charset="0"/>
              <a:cs typeface="Times New Roman" pitchFamily="18" charset="0"/>
            </a:endParaRPr>
          </a:p>
        </p:txBody>
      </p:sp>
      <p:grpSp>
        <p:nvGrpSpPr>
          <p:cNvPr id="124" name="Group 123"/>
          <p:cNvGrpSpPr>
            <a:grpSpLocks/>
          </p:cNvGrpSpPr>
          <p:nvPr/>
        </p:nvGrpSpPr>
        <p:grpSpPr bwMode="auto">
          <a:xfrm>
            <a:off x="9314410" y="3772594"/>
            <a:ext cx="414337" cy="1846263"/>
            <a:chOff x="7705055" y="3025091"/>
            <a:chExt cx="542007" cy="2220987"/>
          </a:xfrm>
        </p:grpSpPr>
        <p:pic>
          <p:nvPicPr>
            <p:cNvPr id="27699" name="Picture 8" descr="C:\Users\larryz\Pictures\Picture1.png"/>
            <p:cNvPicPr>
              <a:picLocks noChangeAspect="1" noChangeArrowheads="1"/>
            </p:cNvPicPr>
            <p:nvPr/>
          </p:nvPicPr>
          <p:blipFill>
            <a:blip r:embed="rId17" cstate="print">
              <a:extLst>
                <a:ext uri="{28A0092B-C50C-407E-A947-70E740481C1C}">
                  <a14:useLocalDpi xmlns:a14="http://schemas.microsoft.com/office/drawing/2010/main" val="0"/>
                </a:ext>
              </a:extLst>
            </a:blip>
            <a:srcRect l="77914" t="9837" r="-2" b="13004"/>
            <a:stretch>
              <a:fillRect/>
            </a:stretch>
          </p:blipFill>
          <p:spPr bwMode="auto">
            <a:xfrm>
              <a:off x="7976382" y="3025091"/>
              <a:ext cx="270680" cy="2172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00" name="Picture 8" descr="C:\Users\larryz\Pictures\Picture1.png"/>
            <p:cNvPicPr>
              <a:picLocks noChangeAspect="1" noChangeArrowheads="1"/>
            </p:cNvPicPr>
            <p:nvPr/>
          </p:nvPicPr>
          <p:blipFill>
            <a:blip r:embed="rId17" cstate="print">
              <a:extLst>
                <a:ext uri="{28A0092B-C50C-407E-A947-70E740481C1C}">
                  <a14:useLocalDpi xmlns:a14="http://schemas.microsoft.com/office/drawing/2010/main" val="0"/>
                </a:ext>
              </a:extLst>
            </a:blip>
            <a:srcRect l="77914" t="9837" r="-2" b="13004"/>
            <a:stretch>
              <a:fillRect/>
            </a:stretch>
          </p:blipFill>
          <p:spPr bwMode="auto">
            <a:xfrm rot="10800000">
              <a:off x="7705055" y="3073157"/>
              <a:ext cx="270680" cy="2172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5" name="Line 9"/>
          <p:cNvSpPr>
            <a:spLocks noChangeShapeType="1"/>
          </p:cNvSpPr>
          <p:nvPr>
            <p:custDataLst>
              <p:tags r:id="rId7"/>
            </p:custDataLst>
          </p:nvPr>
        </p:nvSpPr>
        <p:spPr bwMode="auto">
          <a:xfrm>
            <a:off x="7179221" y="4698106"/>
            <a:ext cx="4586288"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GB" sz="2400">
              <a:latin typeface="Times New Roman" pitchFamily="18" charset="0"/>
              <a:cs typeface="Times New Roman" pitchFamily="18" charset="0"/>
            </a:endParaRPr>
          </a:p>
        </p:txBody>
      </p:sp>
      <p:sp>
        <p:nvSpPr>
          <p:cNvPr id="126" name="Line 10"/>
          <p:cNvSpPr>
            <a:spLocks noChangeShapeType="1"/>
          </p:cNvSpPr>
          <p:nvPr>
            <p:custDataLst>
              <p:tags r:id="rId8"/>
            </p:custDataLst>
          </p:nvPr>
        </p:nvSpPr>
        <p:spPr bwMode="auto">
          <a:xfrm>
            <a:off x="9530310" y="4517132"/>
            <a:ext cx="2224087" cy="180975"/>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GB" sz="2400">
              <a:latin typeface="Times New Roman" pitchFamily="18" charset="0"/>
              <a:cs typeface="Times New Roman" pitchFamily="18" charset="0"/>
            </a:endParaRPr>
          </a:p>
        </p:txBody>
      </p:sp>
      <p:sp>
        <p:nvSpPr>
          <p:cNvPr id="127" name="Line 10"/>
          <p:cNvSpPr>
            <a:spLocks noChangeShapeType="1"/>
          </p:cNvSpPr>
          <p:nvPr>
            <p:custDataLst>
              <p:tags r:id="rId9"/>
            </p:custDataLst>
          </p:nvPr>
        </p:nvSpPr>
        <p:spPr bwMode="auto">
          <a:xfrm flipV="1">
            <a:off x="9543010" y="4704457"/>
            <a:ext cx="2211387" cy="149225"/>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GB" sz="2400">
              <a:latin typeface="Times New Roman" pitchFamily="18" charset="0"/>
              <a:cs typeface="Times New Roman" pitchFamily="18" charset="0"/>
            </a:endParaRPr>
          </a:p>
        </p:txBody>
      </p:sp>
      <p:sp>
        <p:nvSpPr>
          <p:cNvPr id="128" name="Line 9"/>
          <p:cNvSpPr>
            <a:spLocks noChangeShapeType="1"/>
          </p:cNvSpPr>
          <p:nvPr>
            <p:custDataLst>
              <p:tags r:id="rId10"/>
            </p:custDataLst>
          </p:nvPr>
        </p:nvSpPr>
        <p:spPr bwMode="auto">
          <a:xfrm flipV="1">
            <a:off x="7890421" y="4509194"/>
            <a:ext cx="1646238" cy="18891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GB" sz="2400">
              <a:latin typeface="Times New Roman" pitchFamily="18" charset="0"/>
              <a:cs typeface="Times New Roman" pitchFamily="18" charset="0"/>
            </a:endParaRPr>
          </a:p>
        </p:txBody>
      </p:sp>
      <p:cxnSp>
        <p:nvCxnSpPr>
          <p:cNvPr id="129" name="Straight Connector 128"/>
          <p:cNvCxnSpPr>
            <a:cxnSpLocks noChangeShapeType="1"/>
          </p:cNvCxnSpPr>
          <p:nvPr/>
        </p:nvCxnSpPr>
        <p:spPr bwMode="auto">
          <a:xfrm>
            <a:off x="11757571" y="3937693"/>
            <a:ext cx="0" cy="1568450"/>
          </a:xfrm>
          <a:prstGeom prst="line">
            <a:avLst/>
          </a:prstGeom>
          <a:noFill/>
          <a:ln w="38100" algn="ctr">
            <a:solidFill>
              <a:schemeClr val="tx1"/>
            </a:solidFill>
            <a:round/>
            <a:headEnd/>
            <a:tailEnd/>
          </a:ln>
          <a:extLst>
            <a:ext uri="{909E8E84-426E-40DD-AFC4-6F175D3DCCD1}">
              <a14:hiddenFill xmlns:a14="http://schemas.microsoft.com/office/drawing/2010/main">
                <a:noFill/>
              </a14:hiddenFill>
            </a:ext>
          </a:extLst>
        </p:spPr>
      </p:cxnSp>
      <p:sp>
        <p:nvSpPr>
          <p:cNvPr id="131" name="Line 9"/>
          <p:cNvSpPr>
            <a:spLocks noChangeShapeType="1"/>
          </p:cNvSpPr>
          <p:nvPr>
            <p:custDataLst>
              <p:tags r:id="rId11"/>
            </p:custDataLst>
          </p:nvPr>
        </p:nvSpPr>
        <p:spPr bwMode="auto">
          <a:xfrm>
            <a:off x="7890422" y="4704457"/>
            <a:ext cx="1660525" cy="1492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en-GB" sz="2400">
              <a:latin typeface="Times New Roman" pitchFamily="18" charset="0"/>
              <a:cs typeface="Times New Roman" pitchFamily="18" charset="0"/>
            </a:endParaRPr>
          </a:p>
        </p:txBody>
      </p:sp>
      <p:cxnSp>
        <p:nvCxnSpPr>
          <p:cNvPr id="132" name="Straight Connector 131"/>
          <p:cNvCxnSpPr>
            <a:cxnSpLocks noChangeShapeType="1"/>
          </p:cNvCxnSpPr>
          <p:nvPr/>
        </p:nvCxnSpPr>
        <p:spPr bwMode="auto">
          <a:xfrm>
            <a:off x="9990684" y="3813869"/>
            <a:ext cx="0" cy="715963"/>
          </a:xfrm>
          <a:prstGeom prst="line">
            <a:avLst/>
          </a:prstGeom>
          <a:noFill/>
          <a:ln w="57150" algn="ctr">
            <a:solidFill>
              <a:schemeClr val="tx1"/>
            </a:solidFill>
            <a:round/>
            <a:headEnd/>
            <a:tailEnd/>
          </a:ln>
          <a:extLst>
            <a:ext uri="{909E8E84-426E-40DD-AFC4-6F175D3DCCD1}">
              <a14:hiddenFill xmlns:a14="http://schemas.microsoft.com/office/drawing/2010/main">
                <a:noFill/>
              </a14:hiddenFill>
            </a:ext>
          </a:extLst>
        </p:spPr>
      </p:cxnSp>
      <p:cxnSp>
        <p:nvCxnSpPr>
          <p:cNvPr id="133" name="Straight Connector 132"/>
          <p:cNvCxnSpPr>
            <a:cxnSpLocks noChangeShapeType="1"/>
          </p:cNvCxnSpPr>
          <p:nvPr/>
        </p:nvCxnSpPr>
        <p:spPr bwMode="auto">
          <a:xfrm>
            <a:off x="9990684" y="4861619"/>
            <a:ext cx="0" cy="727075"/>
          </a:xfrm>
          <a:prstGeom prst="line">
            <a:avLst/>
          </a:prstGeom>
          <a:noFill/>
          <a:ln w="57150" algn="ctr">
            <a:solidFill>
              <a:schemeClr val="tx1"/>
            </a:solidFill>
            <a:round/>
            <a:headEnd/>
            <a:tailEnd/>
          </a:ln>
          <a:extLst>
            <a:ext uri="{909E8E84-426E-40DD-AFC4-6F175D3DCCD1}">
              <a14:hiddenFill xmlns:a14="http://schemas.microsoft.com/office/drawing/2010/main">
                <a:noFill/>
              </a14:hiddenFill>
            </a:ext>
          </a:extLst>
        </p:spPr>
      </p:cxnSp>
      <p:cxnSp>
        <p:nvCxnSpPr>
          <p:cNvPr id="135" name="Straight Connector 134"/>
          <p:cNvCxnSpPr>
            <a:cxnSpLocks noChangeShapeType="1"/>
          </p:cNvCxnSpPr>
          <p:nvPr/>
        </p:nvCxnSpPr>
        <p:spPr bwMode="auto">
          <a:xfrm flipV="1">
            <a:off x="8193635" y="4509194"/>
            <a:ext cx="1336675" cy="188913"/>
          </a:xfrm>
          <a:prstGeom prst="line">
            <a:avLst/>
          </a:prstGeom>
          <a:noFill/>
          <a:ln w="19050" algn="ctr">
            <a:solidFill>
              <a:srgbClr val="33CC33"/>
            </a:solidFill>
            <a:round/>
            <a:headEnd/>
            <a:tailEnd/>
          </a:ln>
          <a:extLst>
            <a:ext uri="{909E8E84-426E-40DD-AFC4-6F175D3DCCD1}">
              <a14:hiddenFill xmlns:a14="http://schemas.microsoft.com/office/drawing/2010/main">
                <a:noFill/>
              </a14:hiddenFill>
            </a:ext>
          </a:extLst>
        </p:spPr>
      </p:cxnSp>
      <p:cxnSp>
        <p:nvCxnSpPr>
          <p:cNvPr id="136" name="Straight Arrow Connector 135"/>
          <p:cNvCxnSpPr>
            <a:cxnSpLocks noChangeShapeType="1"/>
          </p:cNvCxnSpPr>
          <p:nvPr/>
        </p:nvCxnSpPr>
        <p:spPr bwMode="auto">
          <a:xfrm>
            <a:off x="9536659" y="4517132"/>
            <a:ext cx="2201862" cy="147637"/>
          </a:xfrm>
          <a:prstGeom prst="straightConnector1">
            <a:avLst/>
          </a:prstGeom>
          <a:noFill/>
          <a:ln w="19050" algn="ctr">
            <a:solidFill>
              <a:srgbClr val="33CC33"/>
            </a:solidFill>
            <a:round/>
            <a:headEnd/>
            <a:tailEnd type="triangle" w="med" len="med"/>
          </a:ln>
          <a:extLst>
            <a:ext uri="{909E8E84-426E-40DD-AFC4-6F175D3DCCD1}">
              <a14:hiddenFill xmlns:a14="http://schemas.microsoft.com/office/drawing/2010/main">
                <a:noFill/>
              </a14:hiddenFill>
            </a:ext>
          </a:extLst>
        </p:spPr>
      </p:cxnSp>
      <p:cxnSp>
        <p:nvCxnSpPr>
          <p:cNvPr id="137" name="Straight Connector 136"/>
          <p:cNvCxnSpPr>
            <a:cxnSpLocks noChangeShapeType="1"/>
          </p:cNvCxnSpPr>
          <p:nvPr/>
        </p:nvCxnSpPr>
        <p:spPr bwMode="auto">
          <a:xfrm>
            <a:off x="8193634" y="4698107"/>
            <a:ext cx="1338262" cy="147637"/>
          </a:xfrm>
          <a:prstGeom prst="line">
            <a:avLst/>
          </a:prstGeom>
          <a:noFill/>
          <a:ln w="19050" algn="ctr">
            <a:solidFill>
              <a:srgbClr val="33CC33"/>
            </a:solidFill>
            <a:round/>
            <a:headEnd/>
            <a:tailEnd/>
          </a:ln>
          <a:extLst>
            <a:ext uri="{909E8E84-426E-40DD-AFC4-6F175D3DCCD1}">
              <a14:hiddenFill xmlns:a14="http://schemas.microsoft.com/office/drawing/2010/main">
                <a:noFill/>
              </a14:hiddenFill>
            </a:ext>
          </a:extLst>
        </p:spPr>
      </p:cxnSp>
      <p:cxnSp>
        <p:nvCxnSpPr>
          <p:cNvPr id="138" name="Straight Arrow Connector 137"/>
          <p:cNvCxnSpPr>
            <a:cxnSpLocks noChangeShapeType="1"/>
          </p:cNvCxnSpPr>
          <p:nvPr/>
        </p:nvCxnSpPr>
        <p:spPr bwMode="auto">
          <a:xfrm flipV="1">
            <a:off x="9531897" y="4748907"/>
            <a:ext cx="2206625" cy="103187"/>
          </a:xfrm>
          <a:prstGeom prst="straightConnector1">
            <a:avLst/>
          </a:prstGeom>
          <a:noFill/>
          <a:ln w="19050" algn="ctr">
            <a:solidFill>
              <a:srgbClr val="33CC33"/>
            </a:solidFill>
            <a:round/>
            <a:headEnd/>
            <a:tailEnd type="triangle" w="med" len="med"/>
          </a:ln>
          <a:extLst>
            <a:ext uri="{909E8E84-426E-40DD-AFC4-6F175D3DCCD1}">
              <a14:hiddenFill xmlns:a14="http://schemas.microsoft.com/office/drawing/2010/main">
                <a:noFill/>
              </a14:hiddenFill>
            </a:ext>
          </a:extLst>
        </p:spPr>
      </p:cxnSp>
      <p:cxnSp>
        <p:nvCxnSpPr>
          <p:cNvPr id="139" name="Straight Connector 138"/>
          <p:cNvCxnSpPr>
            <a:cxnSpLocks noChangeShapeType="1"/>
          </p:cNvCxnSpPr>
          <p:nvPr/>
        </p:nvCxnSpPr>
        <p:spPr bwMode="auto">
          <a:xfrm flipV="1">
            <a:off x="7547521" y="4494906"/>
            <a:ext cx="1982788" cy="203200"/>
          </a:xfrm>
          <a:prstGeom prst="line">
            <a:avLst/>
          </a:prstGeom>
          <a:noFill/>
          <a:ln w="19050" algn="ctr">
            <a:solidFill>
              <a:srgbClr val="0066FF"/>
            </a:solidFill>
            <a:round/>
            <a:headEnd/>
            <a:tailEnd/>
          </a:ln>
          <a:extLst>
            <a:ext uri="{909E8E84-426E-40DD-AFC4-6F175D3DCCD1}">
              <a14:hiddenFill xmlns:a14="http://schemas.microsoft.com/office/drawing/2010/main">
                <a:noFill/>
              </a14:hiddenFill>
            </a:ext>
          </a:extLst>
        </p:spPr>
      </p:cxnSp>
      <p:cxnSp>
        <p:nvCxnSpPr>
          <p:cNvPr id="140" name="Straight Arrow Connector 139"/>
          <p:cNvCxnSpPr>
            <a:cxnSpLocks noChangeShapeType="1"/>
          </p:cNvCxnSpPr>
          <p:nvPr/>
        </p:nvCxnSpPr>
        <p:spPr bwMode="auto">
          <a:xfrm>
            <a:off x="9528721" y="4499668"/>
            <a:ext cx="2224088" cy="255588"/>
          </a:xfrm>
          <a:prstGeom prst="straightConnector1">
            <a:avLst/>
          </a:prstGeom>
          <a:noFill/>
          <a:ln w="19050" algn="ctr">
            <a:solidFill>
              <a:srgbClr val="0066FF"/>
            </a:solidFill>
            <a:round/>
            <a:headEnd/>
            <a:tailEnd type="triangle" w="med" len="med"/>
          </a:ln>
          <a:extLst>
            <a:ext uri="{909E8E84-426E-40DD-AFC4-6F175D3DCCD1}">
              <a14:hiddenFill xmlns:a14="http://schemas.microsoft.com/office/drawing/2010/main">
                <a:noFill/>
              </a14:hiddenFill>
            </a:ext>
          </a:extLst>
        </p:spPr>
      </p:cxnSp>
      <p:cxnSp>
        <p:nvCxnSpPr>
          <p:cNvPr id="141" name="Straight Connector 140"/>
          <p:cNvCxnSpPr>
            <a:cxnSpLocks noChangeShapeType="1"/>
          </p:cNvCxnSpPr>
          <p:nvPr/>
        </p:nvCxnSpPr>
        <p:spPr bwMode="auto">
          <a:xfrm>
            <a:off x="7547522" y="4704457"/>
            <a:ext cx="1990725" cy="166687"/>
          </a:xfrm>
          <a:prstGeom prst="line">
            <a:avLst/>
          </a:prstGeom>
          <a:noFill/>
          <a:ln w="19050" algn="ctr">
            <a:solidFill>
              <a:srgbClr val="0066FF"/>
            </a:solidFill>
            <a:round/>
            <a:headEnd/>
            <a:tailEnd/>
          </a:ln>
          <a:extLst>
            <a:ext uri="{909E8E84-426E-40DD-AFC4-6F175D3DCCD1}">
              <a14:hiddenFill xmlns:a14="http://schemas.microsoft.com/office/drawing/2010/main">
                <a:noFill/>
              </a14:hiddenFill>
            </a:ext>
          </a:extLst>
        </p:spPr>
      </p:cxnSp>
      <p:cxnSp>
        <p:nvCxnSpPr>
          <p:cNvPr id="142" name="Straight Arrow Connector 141"/>
          <p:cNvCxnSpPr>
            <a:cxnSpLocks noChangeShapeType="1"/>
          </p:cNvCxnSpPr>
          <p:nvPr/>
        </p:nvCxnSpPr>
        <p:spPr bwMode="auto">
          <a:xfrm flipV="1">
            <a:off x="9535071" y="4650482"/>
            <a:ext cx="2203450" cy="223837"/>
          </a:xfrm>
          <a:prstGeom prst="straightConnector1">
            <a:avLst/>
          </a:prstGeom>
          <a:noFill/>
          <a:ln w="19050" algn="ctr">
            <a:solidFill>
              <a:srgbClr val="0066FF"/>
            </a:solidFill>
            <a:round/>
            <a:headEnd/>
            <a:tailEnd type="triangle" w="med" len="med"/>
          </a:ln>
          <a:extLst>
            <a:ext uri="{909E8E84-426E-40DD-AFC4-6F175D3DCCD1}">
              <a14:hiddenFill xmlns:a14="http://schemas.microsoft.com/office/drawing/2010/main">
                <a:noFill/>
              </a14:hiddenFill>
            </a:ext>
          </a:extLst>
        </p:spPr>
      </p:cxnSp>
      <p:cxnSp>
        <p:nvCxnSpPr>
          <p:cNvPr id="143" name="Straight Connector 142"/>
          <p:cNvCxnSpPr>
            <a:cxnSpLocks noChangeShapeType="1"/>
          </p:cNvCxnSpPr>
          <p:nvPr/>
        </p:nvCxnSpPr>
        <p:spPr bwMode="auto">
          <a:xfrm>
            <a:off x="7255421" y="4406007"/>
            <a:ext cx="0" cy="606425"/>
          </a:xfrm>
          <a:prstGeom prst="line">
            <a:avLst/>
          </a:prstGeom>
          <a:noFill/>
          <a:ln w="19050" algn="ctr">
            <a:solidFill>
              <a:schemeClr val="tx1"/>
            </a:solidFill>
            <a:prstDash val="dash"/>
            <a:round/>
            <a:headEnd/>
            <a:tailEnd/>
          </a:ln>
          <a:extLst>
            <a:ext uri="{909E8E84-426E-40DD-AFC4-6F175D3DCCD1}">
              <a14:hiddenFill xmlns:a14="http://schemas.microsoft.com/office/drawing/2010/main">
                <a:noFill/>
              </a14:hiddenFill>
            </a:ext>
          </a:extLst>
        </p:spPr>
      </p:cxnSp>
      <p:cxnSp>
        <p:nvCxnSpPr>
          <p:cNvPr id="144" name="Straight Connector 143"/>
          <p:cNvCxnSpPr>
            <a:cxnSpLocks noChangeShapeType="1"/>
          </p:cNvCxnSpPr>
          <p:nvPr/>
        </p:nvCxnSpPr>
        <p:spPr bwMode="auto">
          <a:xfrm>
            <a:off x="8550821" y="4406007"/>
            <a:ext cx="0" cy="606425"/>
          </a:xfrm>
          <a:prstGeom prst="line">
            <a:avLst/>
          </a:prstGeom>
          <a:noFill/>
          <a:ln w="19050" algn="ctr">
            <a:solidFill>
              <a:schemeClr val="tx1"/>
            </a:solidFill>
            <a:prstDash val="dash"/>
            <a:round/>
            <a:headEnd/>
            <a:tailEnd/>
          </a:ln>
          <a:extLst>
            <a:ext uri="{909E8E84-426E-40DD-AFC4-6F175D3DCCD1}">
              <a14:hiddenFill xmlns:a14="http://schemas.microsoft.com/office/drawing/2010/main">
                <a:noFill/>
              </a14:hiddenFill>
            </a:ext>
          </a:extLst>
        </p:spPr>
      </p:cxnSp>
      <p:sp>
        <p:nvSpPr>
          <p:cNvPr id="145" name="Tree"/>
          <p:cNvSpPr>
            <a:spLocks noEditPoints="1" noChangeArrowheads="1"/>
          </p:cNvSpPr>
          <p:nvPr/>
        </p:nvSpPr>
        <p:spPr bwMode="auto">
          <a:xfrm>
            <a:off x="7763422" y="4525069"/>
            <a:ext cx="238125" cy="301625"/>
          </a:xfrm>
          <a:custGeom>
            <a:avLst/>
            <a:gdLst>
              <a:gd name="T0" fmla="*/ 159332679 w 21600"/>
              <a:gd name="T1" fmla="*/ 0 h 21600"/>
              <a:gd name="T2" fmla="*/ 91041008 w 21600"/>
              <a:gd name="T3" fmla="*/ 239867924 h 21600"/>
              <a:gd name="T4" fmla="*/ 45527857 w 21600"/>
              <a:gd name="T5" fmla="*/ 479736043 h 21600"/>
              <a:gd name="T6" fmla="*/ 0 w 21600"/>
              <a:gd name="T7" fmla="*/ 719603966 h 21600"/>
              <a:gd name="T8" fmla="*/ 227623125 w 21600"/>
              <a:gd name="T9" fmla="*/ 239867924 h 21600"/>
              <a:gd name="T10" fmla="*/ 273136276 w 21600"/>
              <a:gd name="T11" fmla="*/ 479736043 h 21600"/>
              <a:gd name="T12" fmla="*/ 318664134 w 21600"/>
              <a:gd name="T13" fmla="*/ 719603966 h 21600"/>
              <a:gd name="T14" fmla="*/ 17694720 60000 65536"/>
              <a:gd name="T15" fmla="*/ 11796480 60000 65536"/>
              <a:gd name="T16" fmla="*/ 11796480 60000 65536"/>
              <a:gd name="T17" fmla="*/ 11796480 60000 65536"/>
              <a:gd name="T18" fmla="*/ 0 60000 65536"/>
              <a:gd name="T19" fmla="*/ 0 60000 65536"/>
              <a:gd name="T20" fmla="*/ 0 60000 65536"/>
              <a:gd name="T21" fmla="*/ 761 w 21600"/>
              <a:gd name="T22" fmla="*/ 22454 h 21600"/>
              <a:gd name="T23" fmla="*/ 21069 w 21600"/>
              <a:gd name="T24" fmla="*/ 28282 h 216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600" h="21600">
                <a:moveTo>
                  <a:pt x="0" y="18900"/>
                </a:moveTo>
                <a:lnTo>
                  <a:pt x="9257" y="18900"/>
                </a:lnTo>
                <a:lnTo>
                  <a:pt x="9257" y="21600"/>
                </a:lnTo>
                <a:lnTo>
                  <a:pt x="12343" y="21600"/>
                </a:lnTo>
                <a:lnTo>
                  <a:pt x="12343" y="18900"/>
                </a:lnTo>
                <a:lnTo>
                  <a:pt x="21600" y="18900"/>
                </a:lnTo>
                <a:lnTo>
                  <a:pt x="12343" y="12600"/>
                </a:lnTo>
                <a:lnTo>
                  <a:pt x="18514" y="12600"/>
                </a:lnTo>
                <a:lnTo>
                  <a:pt x="12343" y="6300"/>
                </a:lnTo>
                <a:lnTo>
                  <a:pt x="15429" y="6300"/>
                </a:lnTo>
                <a:lnTo>
                  <a:pt x="10800" y="0"/>
                </a:lnTo>
                <a:lnTo>
                  <a:pt x="6171" y="6300"/>
                </a:lnTo>
                <a:lnTo>
                  <a:pt x="9257" y="6300"/>
                </a:lnTo>
                <a:lnTo>
                  <a:pt x="3086" y="12600"/>
                </a:lnTo>
                <a:lnTo>
                  <a:pt x="9257" y="12600"/>
                </a:lnTo>
                <a:lnTo>
                  <a:pt x="0" y="18900"/>
                </a:lnTo>
                <a:close/>
              </a:path>
            </a:pathLst>
          </a:custGeom>
          <a:solidFill>
            <a:srgbClr val="008000"/>
          </a:solidFill>
          <a:ln w="9525">
            <a:solidFill>
              <a:srgbClr val="000000"/>
            </a:solidFill>
            <a:miter lim="800000"/>
            <a:headEnd/>
            <a:tailEnd/>
          </a:ln>
        </p:spPr>
        <p:txBody>
          <a:bodyPr/>
          <a:lstStyle/>
          <a:p>
            <a:endParaRPr lang="en-GB" sz="2400">
              <a:latin typeface="Times New Roman" pitchFamily="18" charset="0"/>
              <a:cs typeface="Times New Roman" pitchFamily="18" charset="0"/>
            </a:endParaRPr>
          </a:p>
        </p:txBody>
      </p:sp>
      <p:sp>
        <p:nvSpPr>
          <p:cNvPr id="56" name="Rectangle 3"/>
          <p:cNvSpPr txBox="1">
            <a:spLocks noChangeArrowheads="1"/>
          </p:cNvSpPr>
          <p:nvPr>
            <p:custDataLst>
              <p:tags r:id="rId12"/>
            </p:custDataLst>
          </p:nvPr>
        </p:nvSpPr>
        <p:spPr>
          <a:xfrm>
            <a:off x="106861" y="1283889"/>
            <a:ext cx="8144966" cy="1440160"/>
          </a:xfrm>
          <a:prstGeom prst="rect">
            <a:avLst/>
          </a:prstGeom>
        </p:spPr>
        <p:txBody>
          <a:bodyPr vert="horz" lIns="91440" tIns="45720" rIns="91440" bIns="45720" rtlCol="0">
            <a:noAutofit/>
          </a:bodyPr>
          <a:lstStyle>
            <a:lvl1pPr marL="342900" indent="-342900" algn="just" defTabSz="914400" rtl="0" eaLnBrk="1" latinLnBrk="0" hangingPunct="1">
              <a:spcBef>
                <a:spcPct val="20000"/>
              </a:spcBef>
              <a:buFont typeface="Arial" pitchFamily="34" charset="0"/>
              <a:buNone/>
              <a:defRPr sz="3200" kern="1200">
                <a:solidFill>
                  <a:schemeClr val="tx1"/>
                </a:solidFill>
                <a:latin typeface="Times New Roman" pitchFamily="18" charset="0"/>
                <a:ea typeface="+mn-ea"/>
                <a:cs typeface="Times New Roman" pitchFamily="18" charset="0"/>
              </a:defRPr>
            </a:lvl1pPr>
            <a:lvl2pPr marL="742950" indent="-285750" algn="just" defTabSz="914400" rtl="0" eaLnBrk="1" latinLnBrk="0" hangingPunct="1">
              <a:spcBef>
                <a:spcPct val="20000"/>
              </a:spcBef>
              <a:buFont typeface="Wingdings" pitchFamily="2" charset="2"/>
              <a:buChar char="Ø"/>
              <a:defRPr sz="2800" kern="1200">
                <a:solidFill>
                  <a:schemeClr val="tx1"/>
                </a:solidFill>
                <a:latin typeface="Times New Roman" pitchFamily="18" charset="0"/>
                <a:ea typeface="+mn-ea"/>
                <a:cs typeface="Times New Roman" pitchFamily="18" charset="0"/>
              </a:defRPr>
            </a:lvl2pPr>
            <a:lvl3pPr marL="1143000" indent="-228600" algn="just" defTabSz="914400" rtl="0" eaLnBrk="1" latinLnBrk="0" hangingPunct="1">
              <a:spcBef>
                <a:spcPct val="20000"/>
              </a:spcBef>
              <a:buFont typeface="Wingdings" pitchFamily="2" charset="2"/>
              <a:buChar char="v"/>
              <a:defRPr sz="2400" kern="1200">
                <a:solidFill>
                  <a:schemeClr val="tx1"/>
                </a:solidFill>
                <a:latin typeface="Times New Roman" pitchFamily="18" charset="0"/>
                <a:ea typeface="+mn-ea"/>
                <a:cs typeface="Times New Roman" pitchFamily="18" charset="0"/>
              </a:defRPr>
            </a:lvl3pPr>
            <a:lvl4pPr marL="1600200" indent="-228600" algn="just" defTabSz="914400" rtl="0" eaLnBrk="1" latinLnBrk="0" hangingPunct="1">
              <a:spcBef>
                <a:spcPct val="20000"/>
              </a:spcBef>
              <a:buFont typeface="Wingdings" pitchFamily="2" charset="2"/>
              <a:buChar char="§"/>
              <a:defRPr sz="2000" kern="1200">
                <a:solidFill>
                  <a:schemeClr val="tx1"/>
                </a:solidFill>
                <a:latin typeface="Times New Roman" pitchFamily="18" charset="0"/>
                <a:ea typeface="+mn-ea"/>
                <a:cs typeface="Times New Roman" pitchFamily="18" charset="0"/>
              </a:defRPr>
            </a:lvl4pPr>
            <a:lvl5pPr marL="2057400" indent="-228600" algn="just" defTabSz="914400" rtl="0" eaLnBrk="1" latinLnBrk="0" hangingPunct="1">
              <a:spcBef>
                <a:spcPct val="20000"/>
              </a:spcBef>
              <a:buFont typeface="Courier New" pitchFamily="49" charset="0"/>
              <a:buChar char="o"/>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lang="en-US" dirty="0"/>
              <a:t>Changing the aperture size affects depth of field:</a:t>
            </a:r>
          </a:p>
          <a:p>
            <a:pPr>
              <a:defRPr/>
            </a:pPr>
            <a:r>
              <a:rPr lang="en-US" dirty="0"/>
              <a:t>A smaller aperture increases the range in which the object is approximately in focus</a:t>
            </a:r>
          </a:p>
        </p:txBody>
      </p:sp>
      <p:pic>
        <p:nvPicPr>
          <p:cNvPr id="51" name="Picture 5"/>
          <p:cNvPicPr>
            <a:picLocks noGrp="1" noChangeAspect="1" noChangeArrowheads="1"/>
          </p:cNvPicPr>
          <p:nvPr>
            <p:ph idx="1"/>
          </p:nvPr>
        </p:nvPicPr>
        <p:blipFill>
          <a:blip r:embed="rId18" cstate="print"/>
          <a:srcRect/>
          <a:stretch>
            <a:fillRect/>
          </a:stretch>
        </p:blipFill>
        <p:spPr>
          <a:xfrm>
            <a:off x="191344" y="4467366"/>
            <a:ext cx="6865639" cy="2346010"/>
          </a:xfrm>
        </p:spPr>
      </p:pic>
    </p:spTree>
    <p:extLst>
      <p:ext uri="{BB962C8B-B14F-4D97-AF65-F5344CB8AC3E}">
        <p14:creationId xmlns:p14="http://schemas.microsoft.com/office/powerpoint/2010/main" val="41814962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7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3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3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3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3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3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3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3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4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4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4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43"/>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4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4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51"/>
                                        </p:tgtEl>
                                        <p:attrNameLst>
                                          <p:attrName>style.visibility</p:attrName>
                                        </p:attrNameLst>
                                      </p:cBhvr>
                                      <p:to>
                                        <p:strVal val="visible"/>
                                      </p:to>
                                    </p:set>
                                    <p:anim calcmode="lin" valueType="num">
                                      <p:cBhvr additive="base">
                                        <p:cTn id="69" dur="500" fill="hold"/>
                                        <p:tgtEl>
                                          <p:spTgt spid="51"/>
                                        </p:tgtEl>
                                        <p:attrNameLst>
                                          <p:attrName>ppt_x</p:attrName>
                                        </p:attrNameLst>
                                      </p:cBhvr>
                                      <p:tavLst>
                                        <p:tav tm="0">
                                          <p:val>
                                            <p:strVal val="#ppt_x"/>
                                          </p:val>
                                        </p:tav>
                                        <p:tav tm="100000">
                                          <p:val>
                                            <p:strVal val="#ppt_x"/>
                                          </p:val>
                                        </p:tav>
                                      </p:tavLst>
                                    </p:anim>
                                    <p:anim calcmode="lin" valueType="num">
                                      <p:cBhvr additive="base">
                                        <p:cTn id="70"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animBg="1"/>
      <p:bldP spid="126" grpId="0" animBg="1"/>
      <p:bldP spid="127" grpId="0" animBg="1"/>
      <p:bldP spid="128" grpId="0" animBg="1"/>
      <p:bldP spid="131" grpId="0" animBg="1"/>
      <p:bldP spid="14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noAutofit/>
          </a:bodyPr>
          <a:lstStyle/>
          <a:p>
            <a:r>
              <a:rPr lang="en-US" sz="6600" dirty="0"/>
              <a:t>Camera Parameters</a:t>
            </a:r>
          </a:p>
        </p:txBody>
      </p:sp>
      <p:sp>
        <p:nvSpPr>
          <p:cNvPr id="28675" name="Content Placeholder 2"/>
          <p:cNvSpPr>
            <a:spLocks noGrp="1"/>
          </p:cNvSpPr>
          <p:nvPr>
            <p:ph idx="1"/>
          </p:nvPr>
        </p:nvSpPr>
        <p:spPr>
          <a:xfrm>
            <a:off x="119336" y="1268760"/>
            <a:ext cx="11161240" cy="5212694"/>
          </a:xfrm>
        </p:spPr>
        <p:txBody>
          <a:bodyPr>
            <a:noAutofit/>
          </a:bodyPr>
          <a:lstStyle/>
          <a:p>
            <a:pPr>
              <a:spcBef>
                <a:spcPts val="600"/>
              </a:spcBef>
              <a:spcAft>
                <a:spcPts val="600"/>
              </a:spcAft>
            </a:pPr>
            <a:r>
              <a:rPr lang="en-US" b="1" dirty="0"/>
              <a:t>Focus</a:t>
            </a:r>
            <a:r>
              <a:rPr lang="en-US" dirty="0"/>
              <a:t> – Shifts the depth that is in focus.</a:t>
            </a:r>
          </a:p>
          <a:p>
            <a:pPr>
              <a:spcBef>
                <a:spcPts val="600"/>
              </a:spcBef>
              <a:spcAft>
                <a:spcPts val="600"/>
              </a:spcAft>
            </a:pPr>
            <a:r>
              <a:rPr lang="en-US" b="1" dirty="0"/>
              <a:t>Focal length</a:t>
            </a:r>
            <a:r>
              <a:rPr lang="en-US" dirty="0"/>
              <a:t> – Adjusts the zoom, i.e., wide angle or telephoto lens.</a:t>
            </a:r>
          </a:p>
          <a:p>
            <a:pPr>
              <a:spcBef>
                <a:spcPts val="600"/>
              </a:spcBef>
              <a:spcAft>
                <a:spcPts val="600"/>
              </a:spcAft>
            </a:pPr>
            <a:r>
              <a:rPr lang="en-US" b="1" dirty="0"/>
              <a:t>Aperture</a:t>
            </a:r>
            <a:r>
              <a:rPr lang="en-US" dirty="0"/>
              <a:t> – Adjusts the depth of field and amount of light let into the sensor.</a:t>
            </a:r>
          </a:p>
          <a:p>
            <a:pPr>
              <a:spcBef>
                <a:spcPts val="600"/>
              </a:spcBef>
              <a:spcAft>
                <a:spcPts val="600"/>
              </a:spcAft>
            </a:pPr>
            <a:r>
              <a:rPr lang="en-US" b="1" dirty="0"/>
              <a:t>Exposure time</a:t>
            </a:r>
            <a:r>
              <a:rPr lang="en-US" dirty="0"/>
              <a:t> – How long an image is exposed.  The longer an image is exposed the more light, but could result in motion blur.</a:t>
            </a:r>
          </a:p>
          <a:p>
            <a:pPr>
              <a:spcBef>
                <a:spcPts val="600"/>
              </a:spcBef>
              <a:spcAft>
                <a:spcPts val="600"/>
              </a:spcAft>
            </a:pPr>
            <a:r>
              <a:rPr lang="en-US" b="1" dirty="0"/>
              <a:t>ISO</a:t>
            </a:r>
            <a:r>
              <a:rPr lang="en-US" dirty="0"/>
              <a:t> (International Organization for </a:t>
            </a:r>
            <a:r>
              <a:rPr lang="en-US" dirty="0" err="1"/>
              <a:t>Standardisation</a:t>
            </a:r>
            <a:r>
              <a:rPr lang="en-US" dirty="0"/>
              <a:t>) – Adjusts the sensitivity of the camera sensor. It is similar to a “gain” function in digital cameras. Increasing ISO brightens the image but also introduces more noise.</a:t>
            </a:r>
          </a:p>
        </p:txBody>
      </p:sp>
    </p:spTree>
    <p:extLst>
      <p:ext uri="{BB962C8B-B14F-4D97-AF65-F5344CB8AC3E}">
        <p14:creationId xmlns:p14="http://schemas.microsoft.com/office/powerpoint/2010/main" val="1844438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900" dirty="0"/>
              <a:t>Camera Projection</a:t>
            </a:r>
            <a:r>
              <a:rPr lang="en-US" sz="3100" dirty="0"/>
              <a:t> - 3D World to 2D Image (Perspective)</a:t>
            </a:r>
            <a:endParaRPr lang="en-US" dirty="0"/>
          </a:p>
        </p:txBody>
      </p:sp>
      <p:sp>
        <p:nvSpPr>
          <p:cNvPr id="4" name="Content Placeholder 2"/>
          <p:cNvSpPr txBox="1">
            <a:spLocks/>
          </p:cNvSpPr>
          <p:nvPr/>
        </p:nvSpPr>
        <p:spPr>
          <a:xfrm>
            <a:off x="226684" y="1501884"/>
            <a:ext cx="7813532" cy="3015273"/>
          </a:xfrm>
          <a:prstGeom prst="rect">
            <a:avLst/>
          </a:prstGeom>
        </p:spPr>
        <p:txBody>
          <a:bodyPr vert="horz" lIns="91440" tIns="45720" rIns="91440" bIns="45720" rtlCol="0">
            <a:noAutofit/>
          </a:bodyPr>
          <a:lstStyle>
            <a:lvl1pPr marL="342900" indent="-342900" algn="just" defTabSz="914400" rtl="0" eaLnBrk="1" latinLnBrk="0" hangingPunct="1">
              <a:spcBef>
                <a:spcPct val="20000"/>
              </a:spcBef>
              <a:buFont typeface="Arial" pitchFamily="34" charset="0"/>
              <a:buNone/>
              <a:defRPr sz="3200" kern="1200">
                <a:solidFill>
                  <a:schemeClr val="tx1"/>
                </a:solidFill>
                <a:latin typeface="Times New Roman" pitchFamily="18" charset="0"/>
                <a:ea typeface="+mn-ea"/>
                <a:cs typeface="Times New Roman" pitchFamily="18" charset="0"/>
              </a:defRPr>
            </a:lvl1pPr>
            <a:lvl2pPr marL="742950" indent="-285750" algn="just" defTabSz="914400" rtl="0" eaLnBrk="1" latinLnBrk="0" hangingPunct="1">
              <a:spcBef>
                <a:spcPct val="20000"/>
              </a:spcBef>
              <a:buFont typeface="Wingdings" pitchFamily="2" charset="2"/>
              <a:buChar char="Ø"/>
              <a:defRPr sz="2800" kern="1200">
                <a:solidFill>
                  <a:schemeClr val="tx1"/>
                </a:solidFill>
                <a:latin typeface="Times New Roman" pitchFamily="18" charset="0"/>
                <a:ea typeface="+mn-ea"/>
                <a:cs typeface="Times New Roman" pitchFamily="18" charset="0"/>
              </a:defRPr>
            </a:lvl2pPr>
            <a:lvl3pPr marL="1143000" indent="-228600" algn="just" defTabSz="914400" rtl="0" eaLnBrk="1" latinLnBrk="0" hangingPunct="1">
              <a:spcBef>
                <a:spcPct val="20000"/>
              </a:spcBef>
              <a:buFont typeface="Wingdings" pitchFamily="2" charset="2"/>
              <a:buChar char="v"/>
              <a:defRPr sz="2400" kern="1200">
                <a:solidFill>
                  <a:schemeClr val="tx1"/>
                </a:solidFill>
                <a:latin typeface="Times New Roman" pitchFamily="18" charset="0"/>
                <a:ea typeface="+mn-ea"/>
                <a:cs typeface="Times New Roman" pitchFamily="18" charset="0"/>
              </a:defRPr>
            </a:lvl3pPr>
            <a:lvl4pPr marL="1600200" indent="-228600" algn="just" defTabSz="914400" rtl="0" eaLnBrk="1" latinLnBrk="0" hangingPunct="1">
              <a:spcBef>
                <a:spcPct val="20000"/>
              </a:spcBef>
              <a:buFont typeface="Wingdings" pitchFamily="2" charset="2"/>
              <a:buChar char="§"/>
              <a:defRPr sz="2000" kern="1200">
                <a:solidFill>
                  <a:schemeClr val="tx1"/>
                </a:solidFill>
                <a:latin typeface="Times New Roman" pitchFamily="18" charset="0"/>
                <a:ea typeface="+mn-ea"/>
                <a:cs typeface="Times New Roman" pitchFamily="18" charset="0"/>
              </a:defRPr>
            </a:lvl4pPr>
            <a:lvl5pPr marL="2057400" indent="-228600" algn="just" defTabSz="914400" rtl="0" eaLnBrk="1" latinLnBrk="0" hangingPunct="1">
              <a:spcBef>
                <a:spcPct val="20000"/>
              </a:spcBef>
              <a:buFont typeface="Courier New" pitchFamily="49" charset="0"/>
              <a:buChar char="o"/>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600" dirty="0"/>
              <a:t>The Pinhole Camera Model</a:t>
            </a:r>
          </a:p>
          <a:p>
            <a:endParaRPr lang="en-US" sz="1800" dirty="0"/>
          </a:p>
          <a:p>
            <a:pPr>
              <a:buFont typeface="Wingdings" pitchFamily="2" charset="2"/>
              <a:buChar char="§"/>
            </a:pPr>
            <a:r>
              <a:rPr lang="en-US" dirty="0"/>
              <a:t>Light passes through a small aperture – the Pinhole</a:t>
            </a:r>
          </a:p>
          <a:p>
            <a:pPr>
              <a:buFont typeface="Wingdings" pitchFamily="2" charset="2"/>
              <a:buChar char="§"/>
            </a:pPr>
            <a:r>
              <a:rPr lang="en-US" dirty="0"/>
              <a:t>An image is formed on the back of the Camera </a:t>
            </a:r>
          </a:p>
          <a:p>
            <a:pPr>
              <a:buFont typeface="Wingdings" pitchFamily="2" charset="2"/>
              <a:buChar char="§"/>
            </a:pPr>
            <a:r>
              <a:rPr lang="en-US" dirty="0"/>
              <a:t>For each point in the scene there is one line through the pinhole, so one image point.</a:t>
            </a:r>
          </a:p>
        </p:txBody>
      </p:sp>
      <p:pic>
        <p:nvPicPr>
          <p:cNvPr id="5" name="Picture 2" descr="File:Pinhole-camera.svg">
            <a:hlinkClick r:id="rId2"/>
          </p:cNvPr>
          <p:cNvPicPr>
            <a:picLocks noChangeAspect="1" noChangeArrowheads="1"/>
          </p:cNvPicPr>
          <p:nvPr/>
        </p:nvPicPr>
        <p:blipFill>
          <a:blip r:embed="rId3" cstate="print"/>
          <a:srcRect/>
          <a:stretch>
            <a:fillRect/>
          </a:stretch>
        </p:blipFill>
        <p:spPr bwMode="auto">
          <a:xfrm>
            <a:off x="8382000" y="1916832"/>
            <a:ext cx="3810000" cy="2600325"/>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a:xfrm>
            <a:off x="190458" y="71414"/>
            <a:ext cx="10586061" cy="928694"/>
          </a:xfrm>
        </p:spPr>
        <p:txBody>
          <a:bodyPr>
            <a:normAutofit fontScale="90000"/>
          </a:bodyPr>
          <a:lstStyle/>
          <a:p>
            <a:pPr>
              <a:defRPr/>
            </a:pPr>
            <a:r>
              <a:rPr lang="en-US" sz="4900" dirty="0"/>
              <a:t>Camera Projection: </a:t>
            </a:r>
            <a:r>
              <a:rPr lang="en-US" sz="3200" dirty="0"/>
              <a:t>World </a:t>
            </a:r>
            <a:r>
              <a:rPr lang="en-US" sz="3200" dirty="0" err="1"/>
              <a:t>Coordinates</a:t>
            </a:r>
            <a:r>
              <a:rPr lang="en-US" sz="3200" dirty="0" err="1">
                <a:sym typeface="Wingdings" pitchFamily="2" charset="2"/>
              </a:rPr>
              <a:t>Image</a:t>
            </a:r>
            <a:r>
              <a:rPr lang="en-US" sz="3200" dirty="0">
                <a:sym typeface="Wingdings" pitchFamily="2" charset="2"/>
              </a:rPr>
              <a:t> Coordinates</a:t>
            </a:r>
            <a:endParaRPr lang="en-US" sz="3200" dirty="0"/>
          </a:p>
        </p:txBody>
      </p:sp>
      <p:sp>
        <p:nvSpPr>
          <p:cNvPr id="6" name="Rectangle 5"/>
          <p:cNvSpPr/>
          <p:nvPr/>
        </p:nvSpPr>
        <p:spPr>
          <a:xfrm>
            <a:off x="1981200" y="1447800"/>
            <a:ext cx="3581400" cy="2514600"/>
          </a:xfrm>
          <a:prstGeom prst="rect">
            <a:avLst/>
          </a:prstGeom>
          <a:solidFill>
            <a:schemeClr val="bg1">
              <a:lumMod val="95000"/>
            </a:schemeClr>
          </a:solidFill>
          <a:ln>
            <a:solidFill>
              <a:schemeClr val="tx1"/>
            </a:solidFill>
          </a:ln>
          <a:scene3d>
            <a:camera prst="perspectiveContrastingRightFacing">
              <a:rot lat="0" lon="180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lumMod val="95000"/>
                </a:prstClr>
              </a:solidFill>
              <a:latin typeface="Times New Roman" panose="02020603050405020304" pitchFamily="18" charset="0"/>
              <a:cs typeface="Times New Roman" panose="02020603050405020304" pitchFamily="18" charset="0"/>
            </a:endParaRPr>
          </a:p>
        </p:txBody>
      </p:sp>
      <p:grpSp>
        <p:nvGrpSpPr>
          <p:cNvPr id="3" name="Group 23"/>
          <p:cNvGrpSpPr>
            <a:grpSpLocks noChangeAspect="1"/>
          </p:cNvGrpSpPr>
          <p:nvPr/>
        </p:nvGrpSpPr>
        <p:grpSpPr>
          <a:xfrm rot="10800000">
            <a:off x="3429000" y="2162300"/>
            <a:ext cx="318038" cy="1567316"/>
            <a:chOff x="5029200" y="2090284"/>
            <a:chExt cx="457200" cy="2253116"/>
          </a:xfrm>
          <a:scene3d>
            <a:camera prst="isometricOffAxis2Right"/>
            <a:lightRig rig="threePt" dir="t"/>
          </a:scene3d>
        </p:grpSpPr>
        <p:sp>
          <p:nvSpPr>
            <p:cNvPr id="40" name="Rectangle 39"/>
            <p:cNvSpPr/>
            <p:nvPr/>
          </p:nvSpPr>
          <p:spPr>
            <a:xfrm>
              <a:off x="5029200" y="2819400"/>
              <a:ext cx="457200" cy="1524000"/>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Times New Roman" panose="02020603050405020304" pitchFamily="18" charset="0"/>
                <a:cs typeface="Times New Roman" panose="02020603050405020304" pitchFamily="18" charset="0"/>
              </a:endParaRPr>
            </a:p>
          </p:txBody>
        </p:sp>
        <p:sp>
          <p:nvSpPr>
            <p:cNvPr id="41" name="Freeform 40"/>
            <p:cNvSpPr/>
            <p:nvPr/>
          </p:nvSpPr>
          <p:spPr>
            <a:xfrm rot="21339833">
              <a:off x="5130616" y="2090284"/>
              <a:ext cx="267284" cy="677167"/>
            </a:xfrm>
            <a:custGeom>
              <a:avLst/>
              <a:gdLst>
                <a:gd name="connsiteX0" fmla="*/ 186047 w 364177"/>
                <a:gd name="connsiteY0" fmla="*/ 3958 h 744186"/>
                <a:gd name="connsiteX1" fmla="*/ 7917 w 364177"/>
                <a:gd name="connsiteY1" fmla="*/ 324592 h 744186"/>
                <a:gd name="connsiteX2" fmla="*/ 138546 w 364177"/>
                <a:gd name="connsiteY2" fmla="*/ 740228 h 744186"/>
                <a:gd name="connsiteX3" fmla="*/ 352302 w 364177"/>
                <a:gd name="connsiteY3" fmla="*/ 348343 h 744186"/>
                <a:gd name="connsiteX4" fmla="*/ 186047 w 364177"/>
                <a:gd name="connsiteY4" fmla="*/ 3958 h 744186"/>
                <a:gd name="connsiteX0" fmla="*/ 267082 w 445212"/>
                <a:gd name="connsiteY0" fmla="*/ 1697 h 739664"/>
                <a:gd name="connsiteX1" fmla="*/ 7916 w 445212"/>
                <a:gd name="connsiteY1" fmla="*/ 356267 h 739664"/>
                <a:gd name="connsiteX2" fmla="*/ 219581 w 445212"/>
                <a:gd name="connsiteY2" fmla="*/ 737967 h 739664"/>
                <a:gd name="connsiteX3" fmla="*/ 433337 w 445212"/>
                <a:gd name="connsiteY3" fmla="*/ 346082 h 739664"/>
                <a:gd name="connsiteX4" fmla="*/ 267082 w 445212"/>
                <a:gd name="connsiteY4" fmla="*/ 1697 h 739664"/>
                <a:gd name="connsiteX0" fmla="*/ 267084 w 514677"/>
                <a:gd name="connsiteY0" fmla="*/ 16504 h 769278"/>
                <a:gd name="connsiteX1" fmla="*/ 7918 w 514677"/>
                <a:gd name="connsiteY1" fmla="*/ 371074 h 769278"/>
                <a:gd name="connsiteX2" fmla="*/ 219583 w 514677"/>
                <a:gd name="connsiteY2" fmla="*/ 752774 h 769278"/>
                <a:gd name="connsiteX3" fmla="*/ 502803 w 514677"/>
                <a:gd name="connsiteY3" fmla="*/ 470100 h 769278"/>
                <a:gd name="connsiteX4" fmla="*/ 267084 w 514677"/>
                <a:gd name="connsiteY4" fmla="*/ 16504 h 769278"/>
                <a:gd name="connsiteX0" fmla="*/ 286213 w 533808"/>
                <a:gd name="connsiteY0" fmla="*/ 8823 h 753916"/>
                <a:gd name="connsiteX1" fmla="*/ 7917 w 533808"/>
                <a:gd name="connsiteY1" fmla="*/ 515356 h 753916"/>
                <a:gd name="connsiteX2" fmla="*/ 238712 w 533808"/>
                <a:gd name="connsiteY2" fmla="*/ 745093 h 753916"/>
                <a:gd name="connsiteX3" fmla="*/ 521932 w 533808"/>
                <a:gd name="connsiteY3" fmla="*/ 462419 h 753916"/>
                <a:gd name="connsiteX4" fmla="*/ 286213 w 533808"/>
                <a:gd name="connsiteY4" fmla="*/ 8823 h 75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808" h="753916">
                  <a:moveTo>
                    <a:pt x="286213" y="8823"/>
                  </a:moveTo>
                  <a:cubicBezTo>
                    <a:pt x="200544" y="17646"/>
                    <a:pt x="15834" y="392644"/>
                    <a:pt x="7917" y="515356"/>
                  </a:cubicBezTo>
                  <a:cubicBezTo>
                    <a:pt x="0" y="638068"/>
                    <a:pt x="153043" y="753916"/>
                    <a:pt x="238712" y="745093"/>
                  </a:cubicBezTo>
                  <a:cubicBezTo>
                    <a:pt x="324381" y="736270"/>
                    <a:pt x="510057" y="585131"/>
                    <a:pt x="521932" y="462419"/>
                  </a:cubicBezTo>
                  <a:cubicBezTo>
                    <a:pt x="533807" y="339707"/>
                    <a:pt x="371882" y="0"/>
                    <a:pt x="286213" y="8823"/>
                  </a:cubicBezTo>
                  <a:close/>
                </a:path>
              </a:pathLst>
            </a:cu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Times New Roman" panose="02020603050405020304" pitchFamily="18" charset="0"/>
                <a:cs typeface="Times New Roman" panose="02020603050405020304" pitchFamily="18" charset="0"/>
              </a:endParaRPr>
            </a:p>
          </p:txBody>
        </p:sp>
        <p:cxnSp>
          <p:nvCxnSpPr>
            <p:cNvPr id="42" name="Straight Connector 41"/>
            <p:cNvCxnSpPr>
              <a:stCxn id="40" idx="0"/>
              <a:endCxn id="41" idx="2"/>
            </p:cNvCxnSpPr>
            <p:nvPr/>
          </p:nvCxnSpPr>
          <p:spPr>
            <a:xfrm rot="5400000" flipH="1" flipV="1">
              <a:off x="5236615" y="2780833"/>
              <a:ext cx="59753" cy="1738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 name="Straight Connector 7"/>
          <p:cNvCxnSpPr/>
          <p:nvPr/>
        </p:nvCxnSpPr>
        <p:spPr>
          <a:xfrm rot="10800000" flipV="1">
            <a:off x="3581400" y="2619500"/>
            <a:ext cx="2057400" cy="105866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4" name="Group 24"/>
          <p:cNvGrpSpPr/>
          <p:nvPr/>
        </p:nvGrpSpPr>
        <p:grpSpPr>
          <a:xfrm>
            <a:off x="7543803" y="1552703"/>
            <a:ext cx="464125" cy="2336241"/>
            <a:chOff x="7162800" y="1914134"/>
            <a:chExt cx="464125" cy="2336241"/>
          </a:xfrm>
        </p:grpSpPr>
        <p:grpSp>
          <p:nvGrpSpPr>
            <p:cNvPr id="5" name="Group 18"/>
            <p:cNvGrpSpPr/>
            <p:nvPr/>
          </p:nvGrpSpPr>
          <p:grpSpPr>
            <a:xfrm>
              <a:off x="7162800" y="2474025"/>
              <a:ext cx="464125" cy="1776350"/>
              <a:chOff x="6324600" y="2971800"/>
              <a:chExt cx="464125" cy="1776350"/>
            </a:xfrm>
          </p:grpSpPr>
          <p:sp>
            <p:nvSpPr>
              <p:cNvPr id="35" name="Oval 34"/>
              <p:cNvSpPr/>
              <p:nvPr/>
            </p:nvSpPr>
            <p:spPr>
              <a:xfrm>
                <a:off x="6324600" y="4519550"/>
                <a:ext cx="457200" cy="228600"/>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Times New Roman" panose="02020603050405020304" pitchFamily="18" charset="0"/>
                  <a:cs typeface="Times New Roman" panose="02020603050405020304" pitchFamily="18" charset="0"/>
                </a:endParaRPr>
              </a:p>
            </p:txBody>
          </p:sp>
          <p:sp>
            <p:nvSpPr>
              <p:cNvPr id="36" name="Rectangle 35"/>
              <p:cNvSpPr/>
              <p:nvPr/>
            </p:nvSpPr>
            <p:spPr>
              <a:xfrm>
                <a:off x="6324600" y="3124200"/>
                <a:ext cx="457200" cy="152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Times New Roman" panose="02020603050405020304" pitchFamily="18" charset="0"/>
                  <a:cs typeface="Times New Roman" panose="02020603050405020304" pitchFamily="18" charset="0"/>
                </a:endParaRPr>
              </a:p>
            </p:txBody>
          </p:sp>
          <p:sp>
            <p:nvSpPr>
              <p:cNvPr id="37" name="Oval 36"/>
              <p:cNvSpPr/>
              <p:nvPr/>
            </p:nvSpPr>
            <p:spPr>
              <a:xfrm>
                <a:off x="6324600" y="2971800"/>
                <a:ext cx="457200" cy="228600"/>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Times New Roman" panose="02020603050405020304" pitchFamily="18" charset="0"/>
                  <a:cs typeface="Times New Roman" panose="02020603050405020304" pitchFamily="18" charset="0"/>
                </a:endParaRPr>
              </a:p>
            </p:txBody>
          </p:sp>
          <p:cxnSp>
            <p:nvCxnSpPr>
              <p:cNvPr id="38" name="Straight Connector 37"/>
              <p:cNvCxnSpPr/>
              <p:nvPr/>
            </p:nvCxnSpPr>
            <p:spPr>
              <a:xfrm rot="10800000" flipV="1">
                <a:off x="6324600" y="3086100"/>
                <a:ext cx="0" cy="15621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rot="10800000" flipV="1">
                <a:off x="6788725" y="3112325"/>
                <a:ext cx="0" cy="15621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4" name="Freeform 33"/>
            <p:cNvSpPr/>
            <p:nvPr/>
          </p:nvSpPr>
          <p:spPr>
            <a:xfrm rot="21339833">
              <a:off x="7250048" y="1914134"/>
              <a:ext cx="267284" cy="677167"/>
            </a:xfrm>
            <a:custGeom>
              <a:avLst/>
              <a:gdLst>
                <a:gd name="connsiteX0" fmla="*/ 186047 w 364177"/>
                <a:gd name="connsiteY0" fmla="*/ 3958 h 744186"/>
                <a:gd name="connsiteX1" fmla="*/ 7917 w 364177"/>
                <a:gd name="connsiteY1" fmla="*/ 324592 h 744186"/>
                <a:gd name="connsiteX2" fmla="*/ 138546 w 364177"/>
                <a:gd name="connsiteY2" fmla="*/ 740228 h 744186"/>
                <a:gd name="connsiteX3" fmla="*/ 352302 w 364177"/>
                <a:gd name="connsiteY3" fmla="*/ 348343 h 744186"/>
                <a:gd name="connsiteX4" fmla="*/ 186047 w 364177"/>
                <a:gd name="connsiteY4" fmla="*/ 3958 h 744186"/>
                <a:gd name="connsiteX0" fmla="*/ 267082 w 445212"/>
                <a:gd name="connsiteY0" fmla="*/ 1697 h 739664"/>
                <a:gd name="connsiteX1" fmla="*/ 7916 w 445212"/>
                <a:gd name="connsiteY1" fmla="*/ 356267 h 739664"/>
                <a:gd name="connsiteX2" fmla="*/ 219581 w 445212"/>
                <a:gd name="connsiteY2" fmla="*/ 737967 h 739664"/>
                <a:gd name="connsiteX3" fmla="*/ 433337 w 445212"/>
                <a:gd name="connsiteY3" fmla="*/ 346082 h 739664"/>
                <a:gd name="connsiteX4" fmla="*/ 267082 w 445212"/>
                <a:gd name="connsiteY4" fmla="*/ 1697 h 739664"/>
                <a:gd name="connsiteX0" fmla="*/ 267084 w 514677"/>
                <a:gd name="connsiteY0" fmla="*/ 16504 h 769278"/>
                <a:gd name="connsiteX1" fmla="*/ 7918 w 514677"/>
                <a:gd name="connsiteY1" fmla="*/ 371074 h 769278"/>
                <a:gd name="connsiteX2" fmla="*/ 219583 w 514677"/>
                <a:gd name="connsiteY2" fmla="*/ 752774 h 769278"/>
                <a:gd name="connsiteX3" fmla="*/ 502803 w 514677"/>
                <a:gd name="connsiteY3" fmla="*/ 470100 h 769278"/>
                <a:gd name="connsiteX4" fmla="*/ 267084 w 514677"/>
                <a:gd name="connsiteY4" fmla="*/ 16504 h 769278"/>
                <a:gd name="connsiteX0" fmla="*/ 286213 w 533808"/>
                <a:gd name="connsiteY0" fmla="*/ 8823 h 753916"/>
                <a:gd name="connsiteX1" fmla="*/ 7917 w 533808"/>
                <a:gd name="connsiteY1" fmla="*/ 515356 h 753916"/>
                <a:gd name="connsiteX2" fmla="*/ 238712 w 533808"/>
                <a:gd name="connsiteY2" fmla="*/ 745093 h 753916"/>
                <a:gd name="connsiteX3" fmla="*/ 521932 w 533808"/>
                <a:gd name="connsiteY3" fmla="*/ 462419 h 753916"/>
                <a:gd name="connsiteX4" fmla="*/ 286213 w 533808"/>
                <a:gd name="connsiteY4" fmla="*/ 8823 h 75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808" h="753916">
                  <a:moveTo>
                    <a:pt x="286213" y="8823"/>
                  </a:moveTo>
                  <a:cubicBezTo>
                    <a:pt x="200544" y="17646"/>
                    <a:pt x="15834" y="392644"/>
                    <a:pt x="7917" y="515356"/>
                  </a:cubicBezTo>
                  <a:cubicBezTo>
                    <a:pt x="0" y="638068"/>
                    <a:pt x="153043" y="753916"/>
                    <a:pt x="238712" y="745093"/>
                  </a:cubicBezTo>
                  <a:cubicBezTo>
                    <a:pt x="324381" y="736270"/>
                    <a:pt x="510057" y="585131"/>
                    <a:pt x="521932" y="462419"/>
                  </a:cubicBezTo>
                  <a:cubicBezTo>
                    <a:pt x="533807" y="339707"/>
                    <a:pt x="371882" y="0"/>
                    <a:pt x="286213" y="8823"/>
                  </a:cubicBezTo>
                  <a:close/>
                </a:path>
              </a:pathLst>
            </a:cu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Times New Roman" panose="02020603050405020304" pitchFamily="18" charset="0"/>
                <a:cs typeface="Times New Roman" panose="02020603050405020304" pitchFamily="18" charset="0"/>
              </a:endParaRPr>
            </a:p>
          </p:txBody>
        </p:sp>
      </p:grpSp>
      <p:sp>
        <p:nvSpPr>
          <p:cNvPr id="10" name="TextBox 9"/>
          <p:cNvSpPr txBox="1"/>
          <p:nvPr/>
        </p:nvSpPr>
        <p:spPr>
          <a:xfrm>
            <a:off x="4943872" y="3142709"/>
            <a:ext cx="1670958" cy="646331"/>
          </a:xfrm>
          <a:prstGeom prst="rect">
            <a:avLst/>
          </a:prstGeom>
          <a:noFill/>
        </p:spPr>
        <p:txBody>
          <a:bodyPr wrap="square" rtlCol="0">
            <a:spAutoFit/>
          </a:bodyPr>
          <a:lstStyle/>
          <a:p>
            <a:pPr algn="ctr"/>
            <a:r>
              <a:rPr lang="en-US" dirty="0">
                <a:solidFill>
                  <a:prstClr val="black"/>
                </a:solidFill>
                <a:latin typeface="Times New Roman" panose="02020603050405020304" pitchFamily="18" charset="0"/>
                <a:cs typeface="Times New Roman" panose="02020603050405020304" pitchFamily="18" charset="0"/>
              </a:rPr>
              <a:t>Camera Center (0, 0, 0)</a:t>
            </a:r>
          </a:p>
        </p:txBody>
      </p:sp>
      <p:graphicFrame>
        <p:nvGraphicFramePr>
          <p:cNvPr id="11" name="Object 10"/>
          <p:cNvGraphicFramePr>
            <a:graphicFrameLocks noChangeAspect="1"/>
          </p:cNvGraphicFramePr>
          <p:nvPr/>
        </p:nvGraphicFramePr>
        <p:xfrm>
          <a:off x="8365381" y="1206004"/>
          <a:ext cx="1042987" cy="1358900"/>
        </p:xfrm>
        <a:graphic>
          <a:graphicData uri="http://schemas.openxmlformats.org/presentationml/2006/ole">
            <mc:AlternateContent xmlns:mc="http://schemas.openxmlformats.org/markup-compatibility/2006">
              <mc:Choice xmlns:v="urn:schemas-microsoft-com:vml" Requires="v">
                <p:oleObj name="Equation" r:id="rId3" imgW="545760" imgH="711000" progId="Equation.3">
                  <p:embed/>
                </p:oleObj>
              </mc:Choice>
              <mc:Fallback>
                <p:oleObj name="Equation" r:id="rId3" imgW="545760" imgH="711000" progId="Equation.3">
                  <p:embed/>
                  <p:pic>
                    <p:nvPicPr>
                      <p:cNvPr id="11" name="Object 10"/>
                      <p:cNvPicPr>
                        <a:picLocks noChangeAspect="1" noChangeArrowheads="1"/>
                      </p:cNvPicPr>
                      <p:nvPr/>
                    </p:nvPicPr>
                    <p:blipFill>
                      <a:blip r:embed="rId4"/>
                      <a:srcRect/>
                      <a:stretch>
                        <a:fillRect/>
                      </a:stretch>
                    </p:blipFill>
                    <p:spPr bwMode="auto">
                      <a:xfrm>
                        <a:off x="8365381" y="1206004"/>
                        <a:ext cx="1042987" cy="1358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Box 11"/>
          <p:cNvSpPr txBox="1"/>
          <p:nvPr/>
        </p:nvSpPr>
        <p:spPr>
          <a:xfrm>
            <a:off x="7567550" y="838203"/>
            <a:ext cx="377026" cy="1015663"/>
          </a:xfrm>
          <a:prstGeom prst="rect">
            <a:avLst/>
          </a:prstGeom>
          <a:noFill/>
        </p:spPr>
        <p:txBody>
          <a:bodyPr wrap="none" rtlCol="0">
            <a:spAutoFit/>
          </a:bodyPr>
          <a:lstStyle/>
          <a:p>
            <a:r>
              <a:rPr lang="en-US" sz="6000" dirty="0">
                <a:solidFill>
                  <a:srgbClr val="FFC000"/>
                </a:solidFill>
                <a:latin typeface="Times New Roman" panose="02020603050405020304" pitchFamily="18" charset="0"/>
                <a:cs typeface="Times New Roman" panose="02020603050405020304" pitchFamily="18" charset="0"/>
              </a:rPr>
              <a:t>.</a:t>
            </a:r>
          </a:p>
        </p:txBody>
      </p:sp>
      <p:sp>
        <p:nvSpPr>
          <p:cNvPr id="13" name="TextBox 12"/>
          <p:cNvSpPr txBox="1"/>
          <p:nvPr/>
        </p:nvSpPr>
        <p:spPr>
          <a:xfrm>
            <a:off x="3412175" y="2964878"/>
            <a:ext cx="377026" cy="1015663"/>
          </a:xfrm>
          <a:prstGeom prst="rect">
            <a:avLst/>
          </a:prstGeom>
          <a:noFill/>
        </p:spPr>
        <p:txBody>
          <a:bodyPr wrap="none" rtlCol="0">
            <a:spAutoFit/>
          </a:bodyPr>
          <a:lstStyle/>
          <a:p>
            <a:r>
              <a:rPr lang="en-US" sz="6000" dirty="0">
                <a:solidFill>
                  <a:srgbClr val="1F497D"/>
                </a:solidFill>
                <a:latin typeface="Times New Roman" panose="02020603050405020304" pitchFamily="18" charset="0"/>
                <a:cs typeface="Times New Roman" panose="02020603050405020304" pitchFamily="18" charset="0"/>
              </a:rPr>
              <a:t>.</a:t>
            </a:r>
          </a:p>
        </p:txBody>
      </p:sp>
      <p:cxnSp>
        <p:nvCxnSpPr>
          <p:cNvPr id="14" name="Straight Connector 13"/>
          <p:cNvCxnSpPr/>
          <p:nvPr/>
        </p:nvCxnSpPr>
        <p:spPr>
          <a:xfrm rot="10800000">
            <a:off x="3886200" y="2619500"/>
            <a:ext cx="1752600" cy="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3710050" y="1898078"/>
            <a:ext cx="377026" cy="1015663"/>
          </a:xfrm>
          <a:prstGeom prst="rect">
            <a:avLst/>
          </a:prstGeom>
          <a:noFill/>
        </p:spPr>
        <p:txBody>
          <a:bodyPr wrap="none" rtlCol="0">
            <a:spAutoFit/>
          </a:bodyPr>
          <a:lstStyle/>
          <a:p>
            <a:r>
              <a:rPr lang="en-US" sz="6000" dirty="0">
                <a:solidFill>
                  <a:prstClr val="black"/>
                </a:solidFill>
                <a:latin typeface="Times New Roman" panose="02020603050405020304" pitchFamily="18" charset="0"/>
                <a:cs typeface="Times New Roman" panose="02020603050405020304" pitchFamily="18" charset="0"/>
              </a:rPr>
              <a:t>.</a:t>
            </a:r>
          </a:p>
        </p:txBody>
      </p:sp>
      <p:sp>
        <p:nvSpPr>
          <p:cNvPr id="16" name="Oval 15"/>
          <p:cNvSpPr/>
          <p:nvPr/>
        </p:nvSpPr>
        <p:spPr>
          <a:xfrm>
            <a:off x="5458095" y="2114800"/>
            <a:ext cx="304800" cy="990600"/>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Times New Roman" panose="02020603050405020304" pitchFamily="18" charset="0"/>
              <a:cs typeface="Times New Roman" panose="02020603050405020304" pitchFamily="18" charset="0"/>
            </a:endParaRPr>
          </a:p>
        </p:txBody>
      </p:sp>
      <p:sp>
        <p:nvSpPr>
          <p:cNvPr id="18" name="TextBox 17"/>
          <p:cNvSpPr txBox="1"/>
          <p:nvPr/>
        </p:nvSpPr>
        <p:spPr>
          <a:xfrm>
            <a:off x="4724400" y="2274125"/>
            <a:ext cx="255198" cy="369332"/>
          </a:xfrm>
          <a:prstGeom prst="rect">
            <a:avLst/>
          </a:prstGeom>
          <a:noFill/>
        </p:spPr>
        <p:txBody>
          <a:bodyPr wrap="none" rtlCol="0">
            <a:spAutoFit/>
          </a:bodyPr>
          <a:lstStyle/>
          <a:p>
            <a:r>
              <a:rPr lang="en-US" i="1" dirty="0">
                <a:solidFill>
                  <a:prstClr val="black"/>
                </a:solidFill>
                <a:latin typeface="Times New Roman" panose="02020603050405020304" pitchFamily="18" charset="0"/>
                <a:cs typeface="Times New Roman" panose="02020603050405020304" pitchFamily="18" charset="0"/>
              </a:rPr>
              <a:t>f</a:t>
            </a:r>
          </a:p>
        </p:txBody>
      </p:sp>
      <p:cxnSp>
        <p:nvCxnSpPr>
          <p:cNvPr id="19" name="Straight Connector 18"/>
          <p:cNvCxnSpPr/>
          <p:nvPr/>
        </p:nvCxnSpPr>
        <p:spPr>
          <a:xfrm rot="5400000">
            <a:off x="7265225" y="2112325"/>
            <a:ext cx="990600" cy="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5715000" y="2619500"/>
            <a:ext cx="2057400" cy="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6647162" y="2643457"/>
            <a:ext cx="274434" cy="369332"/>
          </a:xfrm>
          <a:prstGeom prst="rect">
            <a:avLst/>
          </a:prstGeom>
          <a:noFill/>
        </p:spPr>
        <p:txBody>
          <a:bodyPr wrap="none" rtlCol="0">
            <a:spAutoFit/>
          </a:bodyPr>
          <a:lstStyle/>
          <a:p>
            <a:r>
              <a:rPr lang="en-US" i="1" dirty="0">
                <a:solidFill>
                  <a:prstClr val="black"/>
                </a:solidFill>
                <a:latin typeface="Times New Roman" panose="02020603050405020304" pitchFamily="18" charset="0"/>
                <a:cs typeface="Times New Roman" panose="02020603050405020304" pitchFamily="18" charset="0"/>
              </a:rPr>
              <a:t>z</a:t>
            </a:r>
          </a:p>
        </p:txBody>
      </p:sp>
      <p:sp>
        <p:nvSpPr>
          <p:cNvPr id="22" name="TextBox 21"/>
          <p:cNvSpPr txBox="1"/>
          <p:nvPr/>
        </p:nvSpPr>
        <p:spPr>
          <a:xfrm>
            <a:off x="7713025" y="2314700"/>
            <a:ext cx="304800" cy="369332"/>
          </a:xfrm>
          <a:prstGeom prst="rect">
            <a:avLst/>
          </a:prstGeom>
          <a:noFill/>
        </p:spPr>
        <p:txBody>
          <a:bodyPr wrap="square" rtlCol="0">
            <a:spAutoFit/>
          </a:bodyPr>
          <a:lstStyle/>
          <a:p>
            <a:r>
              <a:rPr lang="en-US" i="1" dirty="0">
                <a:solidFill>
                  <a:prstClr val="black"/>
                </a:solidFill>
                <a:latin typeface="Times New Roman" panose="02020603050405020304" pitchFamily="18" charset="0"/>
                <a:cs typeface="Times New Roman" panose="02020603050405020304" pitchFamily="18" charset="0"/>
              </a:rPr>
              <a:t>y</a:t>
            </a:r>
          </a:p>
        </p:txBody>
      </p:sp>
      <p:graphicFrame>
        <p:nvGraphicFramePr>
          <p:cNvPr id="23" name="Object 3"/>
          <p:cNvGraphicFramePr>
            <a:graphicFrameLocks noChangeAspect="1"/>
          </p:cNvGraphicFramePr>
          <p:nvPr/>
        </p:nvGraphicFramePr>
        <p:xfrm>
          <a:off x="3475038" y="4238628"/>
          <a:ext cx="969962" cy="873125"/>
        </p:xfrm>
        <a:graphic>
          <a:graphicData uri="http://schemas.openxmlformats.org/presentationml/2006/ole">
            <mc:AlternateContent xmlns:mc="http://schemas.openxmlformats.org/markup-compatibility/2006">
              <mc:Choice xmlns:v="urn:schemas-microsoft-com:vml" Requires="v">
                <p:oleObj name="Equation" r:id="rId5" imgW="507960" imgH="457200" progId="Equation.3">
                  <p:embed/>
                </p:oleObj>
              </mc:Choice>
              <mc:Fallback>
                <p:oleObj name="Equation" r:id="rId5" imgW="507960" imgH="457200" progId="Equation.3">
                  <p:embed/>
                  <p:pic>
                    <p:nvPicPr>
                      <p:cNvPr id="23" name="Object 3"/>
                      <p:cNvPicPr>
                        <a:picLocks noChangeAspect="1" noChangeArrowheads="1"/>
                      </p:cNvPicPr>
                      <p:nvPr/>
                    </p:nvPicPr>
                    <p:blipFill>
                      <a:blip r:embed="rId6"/>
                      <a:srcRect/>
                      <a:stretch>
                        <a:fillRect/>
                      </a:stretch>
                    </p:blipFill>
                    <p:spPr bwMode="auto">
                      <a:xfrm>
                        <a:off x="3475038" y="4238628"/>
                        <a:ext cx="969962" cy="873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TextBox 5"/>
          <p:cNvSpPr txBox="1"/>
          <p:nvPr/>
        </p:nvSpPr>
        <p:spPr>
          <a:xfrm>
            <a:off x="5453145" y="1908640"/>
            <a:ext cx="377026" cy="1015663"/>
          </a:xfrm>
          <a:prstGeom prst="rect">
            <a:avLst/>
          </a:prstGeom>
          <a:noFill/>
        </p:spPr>
        <p:txBody>
          <a:bodyPr wrap="none" rtlCol="0">
            <a:spAutoFit/>
          </a:bodyPr>
          <a:lstStyle/>
          <a:p>
            <a:r>
              <a:rPr lang="en-US" sz="6000" dirty="0">
                <a:solidFill>
                  <a:prstClr val="black"/>
                </a:solidFill>
                <a:latin typeface="Times New Roman" panose="02020603050405020304" pitchFamily="18" charset="0"/>
                <a:cs typeface="Times New Roman" panose="02020603050405020304" pitchFamily="18" charset="0"/>
              </a:rPr>
              <a:t>.</a:t>
            </a:r>
          </a:p>
        </p:txBody>
      </p:sp>
      <p:cxnSp>
        <p:nvCxnSpPr>
          <p:cNvPr id="27" name="Straight Arrow Connector 26"/>
          <p:cNvCxnSpPr>
            <a:cxnSpLocks/>
          </p:cNvCxnSpPr>
          <p:nvPr/>
        </p:nvCxnSpPr>
        <p:spPr>
          <a:xfrm flipH="1" flipV="1">
            <a:off x="7796150" y="1547750"/>
            <a:ext cx="533644" cy="2286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H="1" flipV="1">
            <a:off x="3582988" y="3762503"/>
            <a:ext cx="18502" cy="71823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10800000">
            <a:off x="3657600" y="3686300"/>
            <a:ext cx="228600" cy="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5400000">
            <a:off x="3352800" y="3152900"/>
            <a:ext cx="1066800" cy="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3594223" y="2879216"/>
            <a:ext cx="364202" cy="369332"/>
          </a:xfrm>
          <a:prstGeom prst="rect">
            <a:avLst/>
          </a:prstGeom>
          <a:noFill/>
        </p:spPr>
        <p:txBody>
          <a:bodyPr wrap="none" rtlCol="0">
            <a:spAutoFit/>
          </a:bodyPr>
          <a:lstStyle/>
          <a:p>
            <a:r>
              <a:rPr lang="en-US" i="1" dirty="0">
                <a:solidFill>
                  <a:prstClr val="black"/>
                </a:solidFill>
                <a:latin typeface="Times New Roman" panose="02020603050405020304" pitchFamily="18" charset="0"/>
                <a:cs typeface="Times New Roman" panose="02020603050405020304" pitchFamily="18" charset="0"/>
              </a:rPr>
              <a:t>v’</a:t>
            </a:r>
          </a:p>
        </p:txBody>
      </p:sp>
      <p:sp>
        <p:nvSpPr>
          <p:cNvPr id="32" name="TextBox 31"/>
          <p:cNvSpPr txBox="1"/>
          <p:nvPr/>
        </p:nvSpPr>
        <p:spPr>
          <a:xfrm>
            <a:off x="3581399" y="3624471"/>
            <a:ext cx="377026" cy="369332"/>
          </a:xfrm>
          <a:prstGeom prst="rect">
            <a:avLst/>
          </a:prstGeom>
          <a:noFill/>
        </p:spPr>
        <p:txBody>
          <a:bodyPr wrap="none" rtlCol="0">
            <a:spAutoFit/>
          </a:bodyPr>
          <a:lstStyle/>
          <a:p>
            <a:r>
              <a:rPr lang="en-US" i="1" dirty="0">
                <a:solidFill>
                  <a:prstClr val="black"/>
                </a:solidFill>
                <a:latin typeface="Times New Roman" panose="02020603050405020304" pitchFamily="18" charset="0"/>
                <a:cs typeface="Times New Roman" panose="02020603050405020304" pitchFamily="18" charset="0"/>
              </a:rPr>
              <a:t>u’</a:t>
            </a:r>
          </a:p>
        </p:txBody>
      </p:sp>
      <p:cxnSp>
        <p:nvCxnSpPr>
          <p:cNvPr id="17" name="Straight Connector 16"/>
          <p:cNvCxnSpPr>
            <a:stCxn id="34" idx="0"/>
          </p:cNvCxnSpPr>
          <p:nvPr/>
        </p:nvCxnSpPr>
        <p:spPr>
          <a:xfrm flipH="1">
            <a:off x="5638800" y="1560840"/>
            <a:ext cx="2110530" cy="110616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43" name="Object 3"/>
          <p:cNvGraphicFramePr>
            <a:graphicFrameLocks noChangeAspect="1"/>
          </p:cNvGraphicFramePr>
          <p:nvPr/>
        </p:nvGraphicFramePr>
        <p:xfrm>
          <a:off x="6953250" y="5175253"/>
          <a:ext cx="1333500" cy="752475"/>
        </p:xfrm>
        <a:graphic>
          <a:graphicData uri="http://schemas.openxmlformats.org/presentationml/2006/ole">
            <mc:AlternateContent xmlns:mc="http://schemas.openxmlformats.org/markup-compatibility/2006">
              <mc:Choice xmlns:v="urn:schemas-microsoft-com:vml" Requires="v">
                <p:oleObj name="Equation" r:id="rId7" imgW="698400" imgH="393480" progId="Equation.3">
                  <p:embed/>
                </p:oleObj>
              </mc:Choice>
              <mc:Fallback>
                <p:oleObj name="Equation" r:id="rId7" imgW="698400" imgH="393480" progId="Equation.3">
                  <p:embed/>
                  <p:pic>
                    <p:nvPicPr>
                      <p:cNvPr id="43" name="Object 3"/>
                      <p:cNvPicPr>
                        <a:picLocks noChangeAspect="1" noChangeArrowheads="1"/>
                      </p:cNvPicPr>
                      <p:nvPr/>
                    </p:nvPicPr>
                    <p:blipFill>
                      <a:blip r:embed="rId8"/>
                      <a:srcRect/>
                      <a:stretch>
                        <a:fillRect/>
                      </a:stretch>
                    </p:blipFill>
                    <p:spPr bwMode="auto">
                      <a:xfrm>
                        <a:off x="6953250" y="5175253"/>
                        <a:ext cx="1333500" cy="752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 name="Object 3"/>
          <p:cNvGraphicFramePr>
            <a:graphicFrameLocks noChangeAspect="1"/>
          </p:cNvGraphicFramePr>
          <p:nvPr/>
        </p:nvGraphicFramePr>
        <p:xfrm>
          <a:off x="6894513" y="5935666"/>
          <a:ext cx="1357312" cy="752475"/>
        </p:xfrm>
        <a:graphic>
          <a:graphicData uri="http://schemas.openxmlformats.org/presentationml/2006/ole">
            <mc:AlternateContent xmlns:mc="http://schemas.openxmlformats.org/markup-compatibility/2006">
              <mc:Choice xmlns:v="urn:schemas-microsoft-com:vml" Requires="v">
                <p:oleObj name="Equation" r:id="rId9" imgW="711000" imgH="393480" progId="Equation.3">
                  <p:embed/>
                </p:oleObj>
              </mc:Choice>
              <mc:Fallback>
                <p:oleObj name="Equation" r:id="rId9" imgW="711000" imgH="393480" progId="Equation.3">
                  <p:embed/>
                  <p:pic>
                    <p:nvPicPr>
                      <p:cNvPr id="44" name="Object 3"/>
                      <p:cNvPicPr>
                        <a:picLocks noChangeAspect="1" noChangeArrowheads="1"/>
                      </p:cNvPicPr>
                      <p:nvPr/>
                    </p:nvPicPr>
                    <p:blipFill>
                      <a:blip r:embed="rId10"/>
                      <a:srcRect/>
                      <a:stretch>
                        <a:fillRect/>
                      </a:stretch>
                    </p:blipFill>
                    <p:spPr bwMode="auto">
                      <a:xfrm>
                        <a:off x="6894513" y="5935666"/>
                        <a:ext cx="1357312" cy="752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mc:Choice xmlns:a14="http://schemas.microsoft.com/office/drawing/2010/main" Requires="a14">
          <p:sp>
            <p:nvSpPr>
              <p:cNvPr id="45" name="Object 3"/>
              <p:cNvSpPr txBox="1"/>
              <p:nvPr/>
            </p:nvSpPr>
            <p:spPr bwMode="auto">
              <a:xfrm>
                <a:off x="8846264" y="5275758"/>
                <a:ext cx="2298946" cy="752475"/>
              </a:xfrm>
              <a:prstGeom prst="rect">
                <a:avLst/>
              </a:prstGeom>
              <a:noFill/>
            </p:spPr>
            <p:txBody>
              <a:bodyPr>
                <a:normAutofit/>
              </a:bodyPr>
              <a:lstStyle/>
              <a:p>
                <a:pPr/>
                <a14:m>
                  <m:oMath xmlns:m="http://schemas.openxmlformats.org/officeDocument/2006/math">
                    <m:sSup>
                      <m:sSupPr>
                        <m:ctrlPr>
                          <a:rPr lang="LID4096" i="1" smtClean="0">
                            <a:solidFill>
                              <a:srgbClr val="000000"/>
                            </a:solidFill>
                            <a:latin typeface="Cambria Math" panose="02040503050406030204" pitchFamily="18" charset="0"/>
                          </a:rPr>
                        </m:ctrlPr>
                      </m:sSupPr>
                      <m:e>
                        <m:r>
                          <a:rPr lang="LID4096" i="1">
                            <a:solidFill>
                              <a:srgbClr val="000000"/>
                            </a:solidFill>
                            <a:latin typeface="Cambria Math" panose="02040503050406030204" pitchFamily="18" charset="0"/>
                          </a:rPr>
                          <m:t>𝑢</m:t>
                        </m:r>
                      </m:e>
                      <m:sup>
                        <m:r>
                          <a:rPr lang="LID4096" i="1">
                            <a:solidFill>
                              <a:srgbClr val="000000"/>
                            </a:solidFill>
                            <a:latin typeface="Cambria Math" panose="02040503050406030204" pitchFamily="18" charset="0"/>
                          </a:rPr>
                          <m:t>′</m:t>
                        </m:r>
                      </m:sup>
                    </m:sSup>
                    <m:r>
                      <a:rPr lang="LID4096" i="1">
                        <a:solidFill>
                          <a:srgbClr val="000000"/>
                        </a:solidFill>
                        <a:latin typeface="Cambria Math" panose="02040503050406030204" pitchFamily="18" charset="0"/>
                      </a:rPr>
                      <m:t>=−2∗</m:t>
                    </m:r>
                    <m:f>
                      <m:fPr>
                        <m:ctrlPr>
                          <a:rPr lang="LID4096" i="1">
                            <a:solidFill>
                              <a:srgbClr val="000000"/>
                            </a:solidFill>
                            <a:latin typeface="Cambria Math" panose="02040503050406030204" pitchFamily="18" charset="0"/>
                          </a:rPr>
                        </m:ctrlPr>
                      </m:fPr>
                      <m:num>
                        <m:r>
                          <a:rPr lang="LID4096" i="1">
                            <a:solidFill>
                              <a:srgbClr val="000000"/>
                            </a:solidFill>
                            <a:latin typeface="Cambria Math" panose="02040503050406030204" pitchFamily="18" charset="0"/>
                          </a:rPr>
                          <m:t>2</m:t>
                        </m:r>
                      </m:num>
                      <m:den>
                        <m:r>
                          <a:rPr lang="LID4096" i="1">
                            <a:solidFill>
                              <a:srgbClr val="000000"/>
                            </a:solidFill>
                            <a:latin typeface="Cambria Math" panose="02040503050406030204" pitchFamily="18" charset="0"/>
                          </a:rPr>
                          <m:t>5</m:t>
                        </m:r>
                      </m:den>
                    </m:f>
                    <m:r>
                      <a:rPr lang="en-US" b="0" i="1" smtClean="0">
                        <a:solidFill>
                          <a:srgbClr val="000000"/>
                        </a:solidFill>
                        <a:latin typeface="Cambria Math" panose="02040503050406030204" pitchFamily="18" charset="0"/>
                      </a:rPr>
                      <m:t>= </m:t>
                    </m:r>
                  </m:oMath>
                </a14:m>
                <a:r>
                  <a:rPr lang="en-US" dirty="0">
                    <a:latin typeface="Times New Roman" panose="02020603050405020304" pitchFamily="18" charset="0"/>
                    <a:cs typeface="Times New Roman" panose="02020603050405020304" pitchFamily="18" charset="0"/>
                  </a:rPr>
                  <a:t>-0.8</a:t>
                </a:r>
                <a:endParaRPr lang="LID4096" dirty="0">
                  <a:latin typeface="Times New Roman" panose="02020603050405020304" pitchFamily="18" charset="0"/>
                  <a:cs typeface="Times New Roman" panose="02020603050405020304" pitchFamily="18" charset="0"/>
                </a:endParaRPr>
              </a:p>
            </p:txBody>
          </p:sp>
        </mc:Choice>
        <mc:Fallback>
          <p:sp>
            <p:nvSpPr>
              <p:cNvPr id="45" name="Object 3"/>
              <p:cNvSpPr txBox="1">
                <a:spLocks noRot="1" noChangeAspect="1" noMove="1" noResize="1" noEditPoints="1" noAdjustHandles="1" noChangeArrowheads="1" noChangeShapeType="1" noTextEdit="1"/>
              </p:cNvSpPr>
              <p:nvPr/>
            </p:nvSpPr>
            <p:spPr bwMode="auto">
              <a:xfrm>
                <a:off x="8846264" y="5275758"/>
                <a:ext cx="2298946" cy="752475"/>
              </a:xfrm>
              <a:prstGeom prst="rect">
                <a:avLst/>
              </a:prstGeom>
              <a:blipFill>
                <a:blip r:embed="rId11"/>
                <a:stretch>
                  <a:fillRect/>
                </a:stretch>
              </a:blipFill>
            </p:spPr>
            <p:txBody>
              <a:bodyPr/>
              <a:lstStyle/>
              <a:p>
                <a:r>
                  <a:rPr lang="LID4096">
                    <a:noFill/>
                  </a:rPr>
                  <a:t> </a:t>
                </a:r>
              </a:p>
            </p:txBody>
          </p:sp>
        </mc:Fallback>
      </mc:AlternateContent>
      <mc:AlternateContent xmlns:mc="http://schemas.openxmlformats.org/markup-compatibility/2006">
        <mc:Choice xmlns:a14="http://schemas.microsoft.com/office/drawing/2010/main" Requires="a14">
          <p:sp>
            <p:nvSpPr>
              <p:cNvPr id="46" name="Object 3"/>
              <p:cNvSpPr txBox="1"/>
              <p:nvPr/>
            </p:nvSpPr>
            <p:spPr bwMode="auto">
              <a:xfrm>
                <a:off x="8886874" y="6034111"/>
                <a:ext cx="2199952" cy="752475"/>
              </a:xfrm>
              <a:prstGeom prst="rect">
                <a:avLst/>
              </a:prstGeom>
              <a:noFill/>
            </p:spPr>
            <p:txBody>
              <a:bodyPr>
                <a:normAutofit/>
              </a:bodyPr>
              <a:lstStyle/>
              <a:p>
                <a:pPr/>
                <a14:m>
                  <m:oMath xmlns:m="http://schemas.openxmlformats.org/officeDocument/2006/math">
                    <m:sSup>
                      <m:sSupPr>
                        <m:ctrlPr>
                          <a:rPr lang="LID4096" i="1" smtClean="0">
                            <a:solidFill>
                              <a:srgbClr val="000000"/>
                            </a:solidFill>
                            <a:latin typeface="Cambria Math" panose="02040503050406030204" pitchFamily="18" charset="0"/>
                          </a:rPr>
                        </m:ctrlPr>
                      </m:sSupPr>
                      <m:e>
                        <m:r>
                          <a:rPr lang="LID4096" i="1">
                            <a:solidFill>
                              <a:srgbClr val="000000"/>
                            </a:solidFill>
                            <a:latin typeface="Cambria Math" panose="02040503050406030204" pitchFamily="18" charset="0"/>
                          </a:rPr>
                          <m:t>𝑣</m:t>
                        </m:r>
                      </m:e>
                      <m:sup>
                        <m:r>
                          <a:rPr lang="LID4096" i="1">
                            <a:solidFill>
                              <a:srgbClr val="000000"/>
                            </a:solidFill>
                            <a:latin typeface="Cambria Math" panose="02040503050406030204" pitchFamily="18" charset="0"/>
                          </a:rPr>
                          <m:t>′</m:t>
                        </m:r>
                      </m:sup>
                    </m:sSup>
                    <m:r>
                      <a:rPr lang="LID4096" i="1">
                        <a:solidFill>
                          <a:srgbClr val="000000"/>
                        </a:solidFill>
                        <a:latin typeface="Cambria Math" panose="02040503050406030204" pitchFamily="18" charset="0"/>
                      </a:rPr>
                      <m:t>=−3∗</m:t>
                    </m:r>
                    <m:f>
                      <m:fPr>
                        <m:ctrlPr>
                          <a:rPr lang="LID4096" i="1">
                            <a:solidFill>
                              <a:srgbClr val="000000"/>
                            </a:solidFill>
                            <a:latin typeface="Cambria Math" panose="02040503050406030204" pitchFamily="18" charset="0"/>
                          </a:rPr>
                        </m:ctrlPr>
                      </m:fPr>
                      <m:num>
                        <m:r>
                          <a:rPr lang="LID4096" i="1">
                            <a:solidFill>
                              <a:srgbClr val="000000"/>
                            </a:solidFill>
                            <a:latin typeface="Cambria Math" panose="02040503050406030204" pitchFamily="18" charset="0"/>
                          </a:rPr>
                          <m:t>2</m:t>
                        </m:r>
                      </m:num>
                      <m:den>
                        <m:r>
                          <a:rPr lang="LID4096" i="1">
                            <a:solidFill>
                              <a:srgbClr val="000000"/>
                            </a:solidFill>
                            <a:latin typeface="Cambria Math" panose="02040503050406030204" pitchFamily="18" charset="0"/>
                          </a:rPr>
                          <m:t>5</m:t>
                        </m:r>
                      </m:den>
                    </m:f>
                    <m:r>
                      <a:rPr lang="en-US" b="0" i="1" smtClean="0">
                        <a:solidFill>
                          <a:srgbClr val="000000"/>
                        </a:solidFill>
                        <a:latin typeface="Cambria Math" panose="02040503050406030204" pitchFamily="18" charset="0"/>
                      </a:rPr>
                      <m:t>= </m:t>
                    </m:r>
                  </m:oMath>
                </a14:m>
                <a:r>
                  <a:rPr lang="en-US" dirty="0">
                    <a:latin typeface="Times New Roman" panose="02020603050405020304" pitchFamily="18" charset="0"/>
                    <a:cs typeface="Times New Roman" panose="02020603050405020304" pitchFamily="18" charset="0"/>
                  </a:rPr>
                  <a:t>-1.2</a:t>
                </a:r>
                <a:endParaRPr lang="LID4096" dirty="0">
                  <a:latin typeface="Times New Roman" panose="02020603050405020304" pitchFamily="18" charset="0"/>
                  <a:cs typeface="Times New Roman" panose="02020603050405020304" pitchFamily="18" charset="0"/>
                </a:endParaRPr>
              </a:p>
            </p:txBody>
          </p:sp>
        </mc:Choice>
        <mc:Fallback>
          <p:sp>
            <p:nvSpPr>
              <p:cNvPr id="46" name="Object 3"/>
              <p:cNvSpPr txBox="1">
                <a:spLocks noRot="1" noChangeAspect="1" noMove="1" noResize="1" noEditPoints="1" noAdjustHandles="1" noChangeArrowheads="1" noChangeShapeType="1" noTextEdit="1"/>
              </p:cNvSpPr>
              <p:nvPr/>
            </p:nvSpPr>
            <p:spPr bwMode="auto">
              <a:xfrm>
                <a:off x="8886874" y="6034111"/>
                <a:ext cx="2199952" cy="752475"/>
              </a:xfrm>
              <a:prstGeom prst="rect">
                <a:avLst/>
              </a:prstGeom>
              <a:blipFill>
                <a:blip r:embed="rId12"/>
                <a:stretch>
                  <a:fillRect/>
                </a:stretch>
              </a:blipFill>
            </p:spPr>
            <p:txBody>
              <a:bodyPr/>
              <a:lstStyle/>
              <a:p>
                <a:r>
                  <a:rPr lang="LID4096">
                    <a:noFill/>
                  </a:rPr>
                  <a:t> </a:t>
                </a:r>
              </a:p>
            </p:txBody>
          </p:sp>
        </mc:Fallback>
      </mc:AlternateContent>
      <p:sp>
        <p:nvSpPr>
          <p:cNvPr id="7" name="Right Triangle 6"/>
          <p:cNvSpPr/>
          <p:nvPr/>
        </p:nvSpPr>
        <p:spPr>
          <a:xfrm flipV="1">
            <a:off x="3910792" y="2637084"/>
            <a:ext cx="1730143" cy="884116"/>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Times New Roman" panose="02020603050405020304" pitchFamily="18" charset="0"/>
              <a:cs typeface="Times New Roman" panose="02020603050405020304" pitchFamily="18" charset="0"/>
            </a:endParaRPr>
          </a:p>
        </p:txBody>
      </p:sp>
      <p:sp>
        <p:nvSpPr>
          <p:cNvPr id="48" name="Right Triangle 47"/>
          <p:cNvSpPr/>
          <p:nvPr/>
        </p:nvSpPr>
        <p:spPr>
          <a:xfrm rot="10800000" flipV="1">
            <a:off x="5692280" y="1588746"/>
            <a:ext cx="2043362" cy="1044174"/>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Times New Roman" panose="02020603050405020304" pitchFamily="18" charset="0"/>
              <a:cs typeface="Times New Roman" panose="02020603050405020304" pitchFamily="18" charset="0"/>
            </a:endParaRPr>
          </a:p>
        </p:txBody>
      </p:sp>
      <p:sp>
        <p:nvSpPr>
          <p:cNvPr id="49" name="TextBox 48"/>
          <p:cNvSpPr txBox="1"/>
          <p:nvPr/>
        </p:nvSpPr>
        <p:spPr>
          <a:xfrm>
            <a:off x="263352" y="5229200"/>
            <a:ext cx="4549607" cy="1569660"/>
          </a:xfrm>
          <a:prstGeom prst="rect">
            <a:avLst/>
          </a:prstGeom>
          <a:noFill/>
        </p:spPr>
        <p:txBody>
          <a:bodyPr wrap="square" rtlCol="0">
            <a:spAutoFit/>
          </a:bodyPr>
          <a:lstStyle/>
          <a:p>
            <a:r>
              <a:rPr lang="en-US" sz="2400" dirty="0">
                <a:solidFill>
                  <a:prstClr val="black"/>
                </a:solidFill>
                <a:latin typeface="Times New Roman" panose="02020603050405020304" pitchFamily="18" charset="0"/>
                <a:cs typeface="Times New Roman" panose="02020603050405020304" pitchFamily="18" charset="0"/>
              </a:rPr>
              <a:t>If </a:t>
            </a:r>
            <a:r>
              <a:rPr lang="en-US" sz="2400" i="1" dirty="0">
                <a:solidFill>
                  <a:prstClr val="black"/>
                </a:solidFill>
                <a:latin typeface="Times New Roman" panose="02020603050405020304" pitchFamily="18" charset="0"/>
                <a:cs typeface="Times New Roman" panose="02020603050405020304" pitchFamily="18" charset="0"/>
              </a:rPr>
              <a:t>f</a:t>
            </a:r>
            <a:r>
              <a:rPr lang="en-US" sz="2400" dirty="0">
                <a:solidFill>
                  <a:prstClr val="black"/>
                </a:solidFill>
                <a:latin typeface="Times New Roman" panose="02020603050405020304" pitchFamily="18" charset="0"/>
                <a:cs typeface="Times New Roman" panose="02020603050405020304" pitchFamily="18" charset="0"/>
              </a:rPr>
              <a:t> = 2; Camera position: (0, 0, 0);</a:t>
            </a:r>
          </a:p>
          <a:p>
            <a:r>
              <a:rPr lang="en-US" sz="2400" dirty="0">
                <a:solidFill>
                  <a:prstClr val="black"/>
                </a:solidFill>
                <a:latin typeface="Times New Roman" panose="02020603050405020304" pitchFamily="18" charset="0"/>
                <a:cs typeface="Times New Roman" panose="02020603050405020304" pitchFamily="18" charset="0"/>
              </a:rPr>
              <a:t>Camera direction = (0, 0, 1);</a:t>
            </a:r>
            <a:br>
              <a:rPr lang="en-US" sz="2400" dirty="0">
                <a:solidFill>
                  <a:prstClr val="black"/>
                </a:solidFill>
                <a:latin typeface="Times New Roman" panose="02020603050405020304" pitchFamily="18" charset="0"/>
                <a:cs typeface="Times New Roman" panose="02020603050405020304" pitchFamily="18" charset="0"/>
              </a:rPr>
            </a:br>
            <a:r>
              <a:rPr lang="en-US" sz="2400" i="1" dirty="0">
                <a:solidFill>
                  <a:prstClr val="black"/>
                </a:solidFill>
                <a:latin typeface="Times New Roman" panose="02020603050405020304" pitchFamily="18" charset="0"/>
                <a:cs typeface="Times New Roman" panose="02020603050405020304" pitchFamily="18" charset="0"/>
              </a:rPr>
              <a:t>X</a:t>
            </a:r>
            <a:r>
              <a:rPr lang="en-US" sz="2400" dirty="0">
                <a:solidFill>
                  <a:prstClr val="black"/>
                </a:solidFill>
                <a:latin typeface="Times New Roman" panose="02020603050405020304" pitchFamily="18" charset="0"/>
                <a:cs typeface="Times New Roman" panose="02020603050405020304" pitchFamily="18" charset="0"/>
              </a:rPr>
              <a:t> = (</a:t>
            </a:r>
            <a:r>
              <a:rPr lang="en-US" sz="2400" i="1" dirty="0">
                <a:solidFill>
                  <a:prstClr val="black"/>
                </a:solidFill>
                <a:latin typeface="Times New Roman" panose="02020603050405020304" pitchFamily="18" charset="0"/>
                <a:cs typeface="Times New Roman" panose="02020603050405020304" pitchFamily="18" charset="0"/>
              </a:rPr>
              <a:t>x</a:t>
            </a:r>
            <a:r>
              <a:rPr lang="en-US" sz="2400" dirty="0">
                <a:solidFill>
                  <a:prstClr val="black"/>
                </a:solidFill>
                <a:latin typeface="Times New Roman" panose="02020603050405020304" pitchFamily="18" charset="0"/>
                <a:cs typeface="Times New Roman" panose="02020603050405020304" pitchFamily="18" charset="0"/>
              </a:rPr>
              <a:t>, </a:t>
            </a:r>
            <a:r>
              <a:rPr lang="en-US" sz="2400" i="1" dirty="0">
                <a:solidFill>
                  <a:prstClr val="black"/>
                </a:solidFill>
                <a:latin typeface="Times New Roman" panose="02020603050405020304" pitchFamily="18" charset="0"/>
                <a:cs typeface="Times New Roman" panose="02020603050405020304" pitchFamily="18" charset="0"/>
              </a:rPr>
              <a:t>y</a:t>
            </a:r>
            <a:r>
              <a:rPr lang="en-US" sz="2400" dirty="0">
                <a:solidFill>
                  <a:prstClr val="black"/>
                </a:solidFill>
                <a:latin typeface="Times New Roman" panose="02020603050405020304" pitchFamily="18" charset="0"/>
                <a:cs typeface="Times New Roman" panose="02020603050405020304" pitchFamily="18" charset="0"/>
              </a:rPr>
              <a:t>, </a:t>
            </a:r>
            <a:r>
              <a:rPr lang="en-US" sz="2400" i="1" dirty="0">
                <a:solidFill>
                  <a:prstClr val="black"/>
                </a:solidFill>
                <a:latin typeface="Times New Roman" panose="02020603050405020304" pitchFamily="18" charset="0"/>
                <a:cs typeface="Times New Roman" panose="02020603050405020304" pitchFamily="18" charset="0"/>
              </a:rPr>
              <a:t>z</a:t>
            </a:r>
            <a:r>
              <a:rPr lang="en-US" sz="2400" dirty="0">
                <a:solidFill>
                  <a:prstClr val="black"/>
                </a:solidFill>
                <a:latin typeface="Times New Roman" panose="02020603050405020304" pitchFamily="18" charset="0"/>
                <a:cs typeface="Times New Roman" panose="02020603050405020304" pitchFamily="18" charset="0"/>
              </a:rPr>
              <a:t>) = (2, 3, 5);</a:t>
            </a:r>
          </a:p>
          <a:p>
            <a:r>
              <a:rPr lang="en-US" sz="2400" dirty="0">
                <a:solidFill>
                  <a:prstClr val="black"/>
                </a:solidFill>
                <a:latin typeface="Times New Roman" panose="02020603050405020304" pitchFamily="18" charset="0"/>
                <a:cs typeface="Times New Roman" panose="02020603050405020304" pitchFamily="18" charset="0"/>
              </a:rPr>
              <a:t>What are </a:t>
            </a:r>
            <a:r>
              <a:rPr lang="en-US" sz="2400" i="1" dirty="0">
                <a:solidFill>
                  <a:prstClr val="black"/>
                </a:solidFill>
                <a:latin typeface="Times New Roman" panose="02020603050405020304" pitchFamily="18" charset="0"/>
                <a:cs typeface="Times New Roman" panose="02020603050405020304" pitchFamily="18" charset="0"/>
              </a:rPr>
              <a:t>u</a:t>
            </a:r>
            <a:r>
              <a:rPr lang="en-US" sz="2400" dirty="0">
                <a:solidFill>
                  <a:prstClr val="black"/>
                </a:solidFill>
                <a:latin typeface="Times New Roman" panose="02020603050405020304" pitchFamily="18" charset="0"/>
                <a:cs typeface="Times New Roman" panose="02020603050405020304" pitchFamily="18" charset="0"/>
              </a:rPr>
              <a:t>’ and </a:t>
            </a:r>
            <a:r>
              <a:rPr lang="en-US" sz="2400" i="1" dirty="0">
                <a:solidFill>
                  <a:prstClr val="black"/>
                </a:solidFill>
                <a:latin typeface="Times New Roman" panose="02020603050405020304" pitchFamily="18" charset="0"/>
                <a:cs typeface="Times New Roman" panose="02020603050405020304" pitchFamily="18" charset="0"/>
              </a:rPr>
              <a:t>v</a:t>
            </a:r>
            <a:r>
              <a:rPr lang="en-US" sz="2400" dirty="0">
                <a:solidFill>
                  <a:prstClr val="black"/>
                </a:solidFill>
                <a:latin typeface="Times New Roman" panose="02020603050405020304" pitchFamily="18" charset="0"/>
                <a:cs typeface="Times New Roman" panose="02020603050405020304" pitchFamily="18" charset="0"/>
              </a:rPr>
              <a:t>’?</a:t>
            </a:r>
          </a:p>
        </p:txBody>
      </p:sp>
      <p:sp>
        <p:nvSpPr>
          <p:cNvPr id="9" name="TextBox 8"/>
          <p:cNvSpPr txBox="1"/>
          <p:nvPr/>
        </p:nvSpPr>
        <p:spPr>
          <a:xfrm>
            <a:off x="7486223" y="1918815"/>
            <a:ext cx="232299" cy="461665"/>
          </a:xfrm>
          <a:prstGeom prst="rect">
            <a:avLst/>
          </a:prstGeom>
          <a:noFill/>
        </p:spPr>
        <p:txBody>
          <a:bodyPr wrap="square" rtlCol="0">
            <a:spAutoFit/>
          </a:bodyPr>
          <a:lstStyle/>
          <a:p>
            <a:pPr algn="ctr"/>
            <a:r>
              <a:rPr lang="en-US" sz="2400" dirty="0">
                <a:solidFill>
                  <a:prstClr val="white"/>
                </a:solidFill>
                <a:latin typeface="Times New Roman" panose="02020603050405020304" pitchFamily="18" charset="0"/>
                <a:cs typeface="Times New Roman" panose="02020603050405020304" pitchFamily="18" charset="0"/>
              </a:rPr>
              <a:t>3</a:t>
            </a:r>
          </a:p>
        </p:txBody>
      </p:sp>
      <p:sp>
        <p:nvSpPr>
          <p:cNvPr id="50" name="TextBox 49"/>
          <p:cNvSpPr txBox="1"/>
          <p:nvPr/>
        </p:nvSpPr>
        <p:spPr>
          <a:xfrm>
            <a:off x="6716045" y="2241103"/>
            <a:ext cx="232299" cy="461665"/>
          </a:xfrm>
          <a:prstGeom prst="rect">
            <a:avLst/>
          </a:prstGeom>
          <a:noFill/>
        </p:spPr>
        <p:txBody>
          <a:bodyPr wrap="square" rtlCol="0">
            <a:spAutoFit/>
          </a:bodyPr>
          <a:lstStyle/>
          <a:p>
            <a:pPr algn="ctr"/>
            <a:r>
              <a:rPr lang="en-US" sz="2400" dirty="0">
                <a:solidFill>
                  <a:prstClr val="white"/>
                </a:solidFill>
                <a:latin typeface="Times New Roman" panose="02020603050405020304" pitchFamily="18" charset="0"/>
                <a:cs typeface="Times New Roman" panose="02020603050405020304" pitchFamily="18" charset="0"/>
              </a:rPr>
              <a:t>5</a:t>
            </a:r>
          </a:p>
        </p:txBody>
      </p:sp>
      <p:sp>
        <p:nvSpPr>
          <p:cNvPr id="51" name="TextBox 50"/>
          <p:cNvSpPr txBox="1"/>
          <p:nvPr/>
        </p:nvSpPr>
        <p:spPr>
          <a:xfrm>
            <a:off x="4450984" y="2565329"/>
            <a:ext cx="578216" cy="461665"/>
          </a:xfrm>
          <a:prstGeom prst="rect">
            <a:avLst/>
          </a:prstGeom>
          <a:noFill/>
        </p:spPr>
        <p:txBody>
          <a:bodyPr wrap="square" rtlCol="0">
            <a:spAutoFit/>
          </a:bodyPr>
          <a:lstStyle/>
          <a:p>
            <a:pPr algn="ctr"/>
            <a:r>
              <a:rPr lang="en-US" sz="2400" dirty="0">
                <a:solidFill>
                  <a:prstClr val="white"/>
                </a:solidFill>
                <a:latin typeface="Times New Roman" panose="02020603050405020304" pitchFamily="18" charset="0"/>
                <a:cs typeface="Times New Roman" panose="02020603050405020304" pitchFamily="18" charset="0"/>
              </a:rPr>
              <a:t>2</a:t>
            </a:r>
          </a:p>
        </p:txBody>
      </p:sp>
      <p:sp>
        <p:nvSpPr>
          <p:cNvPr id="52" name="TextBox 51"/>
          <p:cNvSpPr txBox="1"/>
          <p:nvPr/>
        </p:nvSpPr>
        <p:spPr>
          <a:xfrm>
            <a:off x="3936973" y="2803336"/>
            <a:ext cx="232299" cy="461665"/>
          </a:xfrm>
          <a:prstGeom prst="rect">
            <a:avLst/>
          </a:prstGeom>
          <a:noFill/>
        </p:spPr>
        <p:txBody>
          <a:bodyPr wrap="square" rtlCol="0">
            <a:spAutoFit/>
          </a:bodyPr>
          <a:lstStyle/>
          <a:p>
            <a:pPr algn="ctr"/>
            <a:r>
              <a:rPr lang="en-US" sz="2400" dirty="0">
                <a:solidFill>
                  <a:prstClr val="white"/>
                </a:solidFill>
                <a:latin typeface="Times New Roman" panose="02020603050405020304" pitchFamily="18" charset="0"/>
                <a:cs typeface="Times New Roman" panose="02020603050405020304" pitchFamily="18" charset="0"/>
              </a:rPr>
              <a:t>?</a:t>
            </a:r>
          </a:p>
        </p:txBody>
      </p:sp>
      <p:graphicFrame>
        <p:nvGraphicFramePr>
          <p:cNvPr id="53" name="Object 3"/>
          <p:cNvGraphicFramePr>
            <a:graphicFrameLocks noChangeAspect="1"/>
          </p:cNvGraphicFramePr>
          <p:nvPr/>
        </p:nvGraphicFramePr>
        <p:xfrm>
          <a:off x="5159375" y="5911850"/>
          <a:ext cx="1066800" cy="801688"/>
        </p:xfrm>
        <a:graphic>
          <a:graphicData uri="http://schemas.openxmlformats.org/presentationml/2006/ole">
            <mc:AlternateContent xmlns:mc="http://schemas.openxmlformats.org/markup-compatibility/2006">
              <mc:Choice xmlns:v="urn:schemas-microsoft-com:vml" Requires="v">
                <p:oleObj name="Equation" r:id="rId13" imgW="558720" imgH="419040" progId="Equation.3">
                  <p:embed/>
                </p:oleObj>
              </mc:Choice>
              <mc:Fallback>
                <p:oleObj name="Equation" r:id="rId13" imgW="558720" imgH="419040" progId="Equation.3">
                  <p:embed/>
                  <p:pic>
                    <p:nvPicPr>
                      <p:cNvPr id="53" name="Object 3"/>
                      <p:cNvPicPr>
                        <a:picLocks noChangeAspect="1" noChangeArrowheads="1"/>
                      </p:cNvPicPr>
                      <p:nvPr/>
                    </p:nvPicPr>
                    <p:blipFill>
                      <a:blip r:embed="rId14"/>
                      <a:srcRect/>
                      <a:stretch>
                        <a:fillRect/>
                      </a:stretch>
                    </p:blipFill>
                    <p:spPr bwMode="auto">
                      <a:xfrm>
                        <a:off x="5159375" y="5911850"/>
                        <a:ext cx="1066800" cy="801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L-Shape 24"/>
          <p:cNvSpPr/>
          <p:nvPr/>
        </p:nvSpPr>
        <p:spPr>
          <a:xfrm rot="5400000">
            <a:off x="7514611" y="2406022"/>
            <a:ext cx="217738" cy="206859"/>
          </a:xfrm>
          <a:prstGeom prst="corner">
            <a:avLst>
              <a:gd name="adj1" fmla="val 41763"/>
              <a:gd name="adj2" fmla="val 41763"/>
            </a:avLst>
          </a:prstGeom>
          <a:solidFill>
            <a:schemeClr val="bg1"/>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prstClr val="black"/>
              </a:solidFill>
              <a:latin typeface="Times New Roman" panose="02020603050405020304" pitchFamily="18" charset="0"/>
              <a:cs typeface="Times New Roman" panose="02020603050405020304" pitchFamily="18" charset="0"/>
            </a:endParaRPr>
          </a:p>
        </p:txBody>
      </p:sp>
      <p:sp>
        <p:nvSpPr>
          <p:cNvPr id="54" name="L-Shape 53"/>
          <p:cNvSpPr/>
          <p:nvPr/>
        </p:nvSpPr>
        <p:spPr>
          <a:xfrm rot="16200000">
            <a:off x="3884955" y="2635012"/>
            <a:ext cx="217738" cy="206859"/>
          </a:xfrm>
          <a:prstGeom prst="corner">
            <a:avLst>
              <a:gd name="adj1" fmla="val 41763"/>
              <a:gd name="adj2" fmla="val 41763"/>
            </a:avLst>
          </a:prstGeom>
          <a:solidFill>
            <a:schemeClr val="bg1"/>
          </a:solidFill>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prstClr val="black"/>
              </a:solidFill>
              <a:latin typeface="Times New Roman" panose="02020603050405020304" pitchFamily="18" charset="0"/>
              <a:cs typeface="Times New Roman" panose="02020603050405020304" pitchFamily="18" charset="0"/>
            </a:endParaRPr>
          </a:p>
        </p:txBody>
      </p:sp>
      <p:sp>
        <p:nvSpPr>
          <p:cNvPr id="26" name="Arc 25"/>
          <p:cNvSpPr/>
          <p:nvPr/>
        </p:nvSpPr>
        <p:spPr>
          <a:xfrm rot="1378401">
            <a:off x="5885995" y="2439544"/>
            <a:ext cx="251569" cy="251569"/>
          </a:xfrm>
          <a:prstGeom prst="arc">
            <a:avLst/>
          </a:prstGeom>
          <a:ln w="6032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latin typeface="Times New Roman" panose="02020603050405020304" pitchFamily="18" charset="0"/>
              <a:cs typeface="Times New Roman" panose="02020603050405020304" pitchFamily="18" charset="0"/>
            </a:endParaRPr>
          </a:p>
        </p:txBody>
      </p:sp>
      <p:sp>
        <p:nvSpPr>
          <p:cNvPr id="55" name="Arc 54"/>
          <p:cNvSpPr/>
          <p:nvPr/>
        </p:nvSpPr>
        <p:spPr>
          <a:xfrm rot="12192160">
            <a:off x="5144077" y="2590207"/>
            <a:ext cx="251569" cy="251569"/>
          </a:xfrm>
          <a:prstGeom prst="arc">
            <a:avLst/>
          </a:prstGeom>
          <a:ln w="6032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839883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5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fade">
                                      <p:cBhvr>
                                        <p:cTn id="12" dur="500"/>
                                        <p:tgtEl>
                                          <p:spTgt spid="4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4"/>
                                        </p:tgtEl>
                                        <p:attrNameLst>
                                          <p:attrName>style.visibility</p:attrName>
                                        </p:attrNameLst>
                                      </p:cBhvr>
                                      <p:to>
                                        <p:strVal val="visible"/>
                                      </p:to>
                                    </p:set>
                                    <p:animEffect transition="in" filter="fade">
                                      <p:cBhvr>
                                        <p:cTn id="27" dur="500"/>
                                        <p:tgtEl>
                                          <p:spTgt spid="5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5"/>
                                        </p:tgtEl>
                                        <p:attrNameLst>
                                          <p:attrName>style.visibility</p:attrName>
                                        </p:attrNameLst>
                                      </p:cBhvr>
                                      <p:to>
                                        <p:strVal val="visible"/>
                                      </p:to>
                                    </p:set>
                                    <p:animEffect transition="in" filter="fade">
                                      <p:cBhvr>
                                        <p:cTn id="37" dur="500"/>
                                        <p:tgtEl>
                                          <p:spTgt spid="5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0"/>
                                        </p:tgtEl>
                                        <p:attrNameLst>
                                          <p:attrName>style.visibility</p:attrName>
                                        </p:attrNameLst>
                                      </p:cBhvr>
                                      <p:to>
                                        <p:strVal val="visible"/>
                                      </p:to>
                                    </p:set>
                                    <p:animEffect transition="in" filter="fade">
                                      <p:cBhvr>
                                        <p:cTn id="47" dur="500"/>
                                        <p:tgtEl>
                                          <p:spTgt spid="5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51"/>
                                        </p:tgtEl>
                                        <p:attrNameLst>
                                          <p:attrName>style.visibility</p:attrName>
                                        </p:attrNameLst>
                                      </p:cBhvr>
                                      <p:to>
                                        <p:strVal val="visible"/>
                                      </p:to>
                                    </p:set>
                                    <p:animEffect transition="in" filter="fade">
                                      <p:cBhvr>
                                        <p:cTn id="52" dur="500"/>
                                        <p:tgtEl>
                                          <p:spTgt spid="51"/>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52"/>
                                        </p:tgtEl>
                                        <p:attrNameLst>
                                          <p:attrName>style.visibility</p:attrName>
                                        </p:attrNameLst>
                                      </p:cBhvr>
                                      <p:to>
                                        <p:strVal val="visible"/>
                                      </p:to>
                                    </p:set>
                                    <p:animEffect transition="in" filter="fade">
                                      <p:cBhvr>
                                        <p:cTn id="57" dur="500"/>
                                        <p:tgtEl>
                                          <p:spTgt spid="5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53"/>
                                        </p:tgtEl>
                                        <p:attrNameLst>
                                          <p:attrName>style.visibility</p:attrName>
                                        </p:attrNameLst>
                                      </p:cBhvr>
                                      <p:to>
                                        <p:strVal val="visible"/>
                                      </p:to>
                                    </p:set>
                                    <p:animEffect transition="in" filter="fade">
                                      <p:cBhvr>
                                        <p:cTn id="62" dur="500"/>
                                        <p:tgtEl>
                                          <p:spTgt spid="5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43"/>
                                        </p:tgtEl>
                                        <p:attrNameLst>
                                          <p:attrName>style.visibility</p:attrName>
                                        </p:attrNameLst>
                                      </p:cBhvr>
                                      <p:to>
                                        <p:strVal val="visible"/>
                                      </p:to>
                                    </p:set>
                                    <p:animEffect transition="in" filter="fade">
                                      <p:cBhvr>
                                        <p:cTn id="67" dur="500"/>
                                        <p:tgtEl>
                                          <p:spTgt spid="43"/>
                                        </p:tgtEl>
                                      </p:cBhvr>
                                    </p:animEffect>
                                  </p:childTnLst>
                                </p:cTn>
                              </p:par>
                              <p:par>
                                <p:cTn id="68" presetID="10" presetClass="entr" presetSubtype="0" fill="hold" nodeType="withEffect">
                                  <p:stCondLst>
                                    <p:cond delay="0"/>
                                  </p:stCondLst>
                                  <p:childTnLst>
                                    <p:set>
                                      <p:cBhvr>
                                        <p:cTn id="69" dur="1" fill="hold">
                                          <p:stCondLst>
                                            <p:cond delay="0"/>
                                          </p:stCondLst>
                                        </p:cTn>
                                        <p:tgtEl>
                                          <p:spTgt spid="44"/>
                                        </p:tgtEl>
                                        <p:attrNameLst>
                                          <p:attrName>style.visibility</p:attrName>
                                        </p:attrNameLst>
                                      </p:cBhvr>
                                      <p:to>
                                        <p:strVal val="visible"/>
                                      </p:to>
                                    </p:set>
                                    <p:animEffect transition="in" filter="fade">
                                      <p:cBhvr>
                                        <p:cTn id="70" dur="500"/>
                                        <p:tgtEl>
                                          <p:spTgt spid="44"/>
                                        </p:tgtEl>
                                      </p:cBhvr>
                                    </p:animEffect>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45"/>
                                        </p:tgtEl>
                                        <p:attrNameLst>
                                          <p:attrName>style.visibility</p:attrName>
                                        </p:attrNameLst>
                                      </p:cBhvr>
                                      <p:to>
                                        <p:strVal val="visible"/>
                                      </p:to>
                                    </p:set>
                                    <p:animEffect transition="in" filter="fade">
                                      <p:cBhvr>
                                        <p:cTn id="75" dur="1000"/>
                                        <p:tgtEl>
                                          <p:spTgt spid="45"/>
                                        </p:tgtEl>
                                      </p:cBhvr>
                                    </p:animEffect>
                                    <p:anim calcmode="lin" valueType="num">
                                      <p:cBhvr>
                                        <p:cTn id="76" dur="1000" fill="hold"/>
                                        <p:tgtEl>
                                          <p:spTgt spid="45"/>
                                        </p:tgtEl>
                                        <p:attrNameLst>
                                          <p:attrName>ppt_x</p:attrName>
                                        </p:attrNameLst>
                                      </p:cBhvr>
                                      <p:tavLst>
                                        <p:tav tm="0">
                                          <p:val>
                                            <p:strVal val="#ppt_x"/>
                                          </p:val>
                                        </p:tav>
                                        <p:tav tm="100000">
                                          <p:val>
                                            <p:strVal val="#ppt_x"/>
                                          </p:val>
                                        </p:tav>
                                      </p:tavLst>
                                    </p:anim>
                                    <p:anim calcmode="lin" valueType="num">
                                      <p:cBhvr>
                                        <p:cTn id="77" dur="1000" fill="hold"/>
                                        <p:tgtEl>
                                          <p:spTgt spid="45"/>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46"/>
                                        </p:tgtEl>
                                        <p:attrNameLst>
                                          <p:attrName>style.visibility</p:attrName>
                                        </p:attrNameLst>
                                      </p:cBhvr>
                                      <p:to>
                                        <p:strVal val="visible"/>
                                      </p:to>
                                    </p:set>
                                    <p:animEffect transition="in" filter="fade">
                                      <p:cBhvr>
                                        <p:cTn id="80" dur="1000"/>
                                        <p:tgtEl>
                                          <p:spTgt spid="46"/>
                                        </p:tgtEl>
                                      </p:cBhvr>
                                    </p:animEffect>
                                    <p:anim calcmode="lin" valueType="num">
                                      <p:cBhvr>
                                        <p:cTn id="81" dur="1000" fill="hold"/>
                                        <p:tgtEl>
                                          <p:spTgt spid="46"/>
                                        </p:tgtEl>
                                        <p:attrNameLst>
                                          <p:attrName>ppt_x</p:attrName>
                                        </p:attrNameLst>
                                      </p:cBhvr>
                                      <p:tavLst>
                                        <p:tav tm="0">
                                          <p:val>
                                            <p:strVal val="#ppt_x"/>
                                          </p:val>
                                        </p:tav>
                                        <p:tav tm="100000">
                                          <p:val>
                                            <p:strVal val="#ppt_x"/>
                                          </p:val>
                                        </p:tav>
                                      </p:tavLst>
                                    </p:anim>
                                    <p:anim calcmode="lin" valueType="num">
                                      <p:cBhvr>
                                        <p:cTn id="82"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6" grpId="0"/>
      <p:bldP spid="7" grpId="0" animBg="1"/>
      <p:bldP spid="48" grpId="0" animBg="1"/>
      <p:bldP spid="49" grpId="0"/>
      <p:bldP spid="9" grpId="0"/>
      <p:bldP spid="50" grpId="0"/>
      <p:bldP spid="51" grpId="0"/>
      <p:bldP spid="52" grpId="0"/>
      <p:bldP spid="25" grpId="0" animBg="1"/>
      <p:bldP spid="54" grpId="0" animBg="1"/>
      <p:bldP spid="26" grpId="0" animBg="1"/>
      <p:bldP spid="5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F5ADD-5E5E-FE5A-1590-3FD13DA46539}"/>
            </a:ext>
          </a:extLst>
        </p:cNvPr>
        <p:cNvGrpSpPr/>
        <p:nvPr/>
      </p:nvGrpSpPr>
      <p:grpSpPr>
        <a:xfrm>
          <a:off x="0" y="0"/>
          <a:ext cx="0" cy="0"/>
          <a:chOff x="0" y="0"/>
          <a:chExt cx="0" cy="0"/>
        </a:xfrm>
      </p:grpSpPr>
      <p:sp>
        <p:nvSpPr>
          <p:cNvPr id="45058" name="Title 1">
            <a:extLst>
              <a:ext uri="{FF2B5EF4-FFF2-40B4-BE49-F238E27FC236}">
                <a16:creationId xmlns:a16="http://schemas.microsoft.com/office/drawing/2014/main" id="{071D3AA8-20DD-3511-41A0-FD70F22A8550}"/>
              </a:ext>
            </a:extLst>
          </p:cNvPr>
          <p:cNvSpPr>
            <a:spLocks noGrp="1"/>
          </p:cNvSpPr>
          <p:nvPr>
            <p:ph type="title"/>
          </p:nvPr>
        </p:nvSpPr>
        <p:spPr>
          <a:xfrm>
            <a:off x="190458" y="71414"/>
            <a:ext cx="10586061" cy="928694"/>
          </a:xfrm>
        </p:spPr>
        <p:txBody>
          <a:bodyPr>
            <a:normAutofit fontScale="90000"/>
          </a:bodyPr>
          <a:lstStyle/>
          <a:p>
            <a:pPr>
              <a:defRPr/>
            </a:pPr>
            <a:r>
              <a:rPr lang="en-US" sz="4900" dirty="0"/>
              <a:t>Camera Projection: </a:t>
            </a:r>
            <a:r>
              <a:rPr lang="en-US" sz="3200" dirty="0"/>
              <a:t>World </a:t>
            </a:r>
            <a:r>
              <a:rPr lang="en-US" sz="3200" dirty="0" err="1"/>
              <a:t>Coordinates</a:t>
            </a:r>
            <a:r>
              <a:rPr lang="en-US" sz="3200" dirty="0" err="1">
                <a:sym typeface="Wingdings" pitchFamily="2" charset="2"/>
              </a:rPr>
              <a:t>Image</a:t>
            </a:r>
            <a:r>
              <a:rPr lang="en-US" sz="3200" dirty="0">
                <a:sym typeface="Wingdings" pitchFamily="2" charset="2"/>
              </a:rPr>
              <a:t> Coordinates</a:t>
            </a:r>
            <a:endParaRPr lang="en-US" sz="3200" dirty="0"/>
          </a:p>
        </p:txBody>
      </p:sp>
      <p:grpSp>
        <p:nvGrpSpPr>
          <p:cNvPr id="2" name="Group 3">
            <a:extLst>
              <a:ext uri="{FF2B5EF4-FFF2-40B4-BE49-F238E27FC236}">
                <a16:creationId xmlns:a16="http://schemas.microsoft.com/office/drawing/2014/main" id="{68FA06EF-C54C-8A90-2E11-A8CF1960947F}"/>
              </a:ext>
            </a:extLst>
          </p:cNvPr>
          <p:cNvGrpSpPr/>
          <p:nvPr/>
        </p:nvGrpSpPr>
        <p:grpSpPr>
          <a:xfrm>
            <a:off x="2286000" y="1556792"/>
            <a:ext cx="7186613" cy="3926775"/>
            <a:chOff x="0" y="1038100"/>
            <a:chExt cx="7186613" cy="3926775"/>
          </a:xfrm>
        </p:grpSpPr>
        <p:sp>
          <p:nvSpPr>
            <p:cNvPr id="33" name="Rectangle 32">
              <a:extLst>
                <a:ext uri="{FF2B5EF4-FFF2-40B4-BE49-F238E27FC236}">
                  <a16:creationId xmlns:a16="http://schemas.microsoft.com/office/drawing/2014/main" id="{942459AA-C526-A8F7-1DF7-078071298498}"/>
                </a:ext>
              </a:extLst>
            </p:cNvPr>
            <p:cNvSpPr/>
            <p:nvPr/>
          </p:nvSpPr>
          <p:spPr>
            <a:xfrm>
              <a:off x="0" y="1564575"/>
              <a:ext cx="3581400" cy="2514600"/>
            </a:xfrm>
            <a:prstGeom prst="rect">
              <a:avLst/>
            </a:prstGeom>
            <a:solidFill>
              <a:schemeClr val="bg1">
                <a:lumMod val="95000"/>
              </a:schemeClr>
            </a:solidFill>
            <a:ln>
              <a:solidFill>
                <a:schemeClr val="tx1"/>
              </a:solidFill>
            </a:ln>
            <a:scene3d>
              <a:camera prst="perspectiveContrastingRightFacing">
                <a:rot lat="0" lon="1800000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95000"/>
                  </a:schemeClr>
                </a:solidFill>
                <a:latin typeface="Times New Roman" panose="02020603050405020304" pitchFamily="18" charset="0"/>
                <a:cs typeface="Times New Roman" panose="02020603050405020304" pitchFamily="18" charset="0"/>
              </a:endParaRPr>
            </a:p>
          </p:txBody>
        </p:sp>
        <p:grpSp>
          <p:nvGrpSpPr>
            <p:cNvPr id="47" name="Group 23">
              <a:extLst>
                <a:ext uri="{FF2B5EF4-FFF2-40B4-BE49-F238E27FC236}">
                  <a16:creationId xmlns:a16="http://schemas.microsoft.com/office/drawing/2014/main" id="{F1753651-D7EB-5712-AD15-F3D0908A37CC}"/>
                </a:ext>
              </a:extLst>
            </p:cNvPr>
            <p:cNvGrpSpPr>
              <a:grpSpLocks noChangeAspect="1"/>
            </p:cNvGrpSpPr>
            <p:nvPr/>
          </p:nvGrpSpPr>
          <p:grpSpPr>
            <a:xfrm rot="10800000">
              <a:off x="1447800" y="2362200"/>
              <a:ext cx="318038" cy="1567316"/>
              <a:chOff x="5029200" y="2090284"/>
              <a:chExt cx="457200" cy="2253116"/>
            </a:xfrm>
            <a:scene3d>
              <a:camera prst="isometricOffAxis2Right"/>
              <a:lightRig rig="threePt" dir="t"/>
            </a:scene3d>
          </p:grpSpPr>
          <p:sp>
            <p:nvSpPr>
              <p:cNvPr id="45081" name="Rectangle 45080">
                <a:extLst>
                  <a:ext uri="{FF2B5EF4-FFF2-40B4-BE49-F238E27FC236}">
                    <a16:creationId xmlns:a16="http://schemas.microsoft.com/office/drawing/2014/main" id="{C62DAEE9-A0FE-5D1A-B4E1-3D9F75BD44DC}"/>
                  </a:ext>
                </a:extLst>
              </p:cNvPr>
              <p:cNvSpPr/>
              <p:nvPr/>
            </p:nvSpPr>
            <p:spPr>
              <a:xfrm>
                <a:off x="5029200" y="2819400"/>
                <a:ext cx="457200" cy="1524000"/>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45082" name="Freeform 40">
                <a:extLst>
                  <a:ext uri="{FF2B5EF4-FFF2-40B4-BE49-F238E27FC236}">
                    <a16:creationId xmlns:a16="http://schemas.microsoft.com/office/drawing/2014/main" id="{D5940C6E-4429-1AB7-40CE-9E77C4FEA3A3}"/>
                  </a:ext>
                </a:extLst>
              </p:cNvPr>
              <p:cNvSpPr/>
              <p:nvPr/>
            </p:nvSpPr>
            <p:spPr>
              <a:xfrm rot="21339833">
                <a:off x="5130616" y="2090284"/>
                <a:ext cx="267284" cy="677167"/>
              </a:xfrm>
              <a:custGeom>
                <a:avLst/>
                <a:gdLst>
                  <a:gd name="connsiteX0" fmla="*/ 186047 w 364177"/>
                  <a:gd name="connsiteY0" fmla="*/ 3958 h 744186"/>
                  <a:gd name="connsiteX1" fmla="*/ 7917 w 364177"/>
                  <a:gd name="connsiteY1" fmla="*/ 324592 h 744186"/>
                  <a:gd name="connsiteX2" fmla="*/ 138546 w 364177"/>
                  <a:gd name="connsiteY2" fmla="*/ 740228 h 744186"/>
                  <a:gd name="connsiteX3" fmla="*/ 352302 w 364177"/>
                  <a:gd name="connsiteY3" fmla="*/ 348343 h 744186"/>
                  <a:gd name="connsiteX4" fmla="*/ 186047 w 364177"/>
                  <a:gd name="connsiteY4" fmla="*/ 3958 h 744186"/>
                  <a:gd name="connsiteX0" fmla="*/ 267082 w 445212"/>
                  <a:gd name="connsiteY0" fmla="*/ 1697 h 739664"/>
                  <a:gd name="connsiteX1" fmla="*/ 7916 w 445212"/>
                  <a:gd name="connsiteY1" fmla="*/ 356267 h 739664"/>
                  <a:gd name="connsiteX2" fmla="*/ 219581 w 445212"/>
                  <a:gd name="connsiteY2" fmla="*/ 737967 h 739664"/>
                  <a:gd name="connsiteX3" fmla="*/ 433337 w 445212"/>
                  <a:gd name="connsiteY3" fmla="*/ 346082 h 739664"/>
                  <a:gd name="connsiteX4" fmla="*/ 267082 w 445212"/>
                  <a:gd name="connsiteY4" fmla="*/ 1697 h 739664"/>
                  <a:gd name="connsiteX0" fmla="*/ 267084 w 514677"/>
                  <a:gd name="connsiteY0" fmla="*/ 16504 h 769278"/>
                  <a:gd name="connsiteX1" fmla="*/ 7918 w 514677"/>
                  <a:gd name="connsiteY1" fmla="*/ 371074 h 769278"/>
                  <a:gd name="connsiteX2" fmla="*/ 219583 w 514677"/>
                  <a:gd name="connsiteY2" fmla="*/ 752774 h 769278"/>
                  <a:gd name="connsiteX3" fmla="*/ 502803 w 514677"/>
                  <a:gd name="connsiteY3" fmla="*/ 470100 h 769278"/>
                  <a:gd name="connsiteX4" fmla="*/ 267084 w 514677"/>
                  <a:gd name="connsiteY4" fmla="*/ 16504 h 769278"/>
                  <a:gd name="connsiteX0" fmla="*/ 286213 w 533808"/>
                  <a:gd name="connsiteY0" fmla="*/ 8823 h 753916"/>
                  <a:gd name="connsiteX1" fmla="*/ 7917 w 533808"/>
                  <a:gd name="connsiteY1" fmla="*/ 515356 h 753916"/>
                  <a:gd name="connsiteX2" fmla="*/ 238712 w 533808"/>
                  <a:gd name="connsiteY2" fmla="*/ 745093 h 753916"/>
                  <a:gd name="connsiteX3" fmla="*/ 521932 w 533808"/>
                  <a:gd name="connsiteY3" fmla="*/ 462419 h 753916"/>
                  <a:gd name="connsiteX4" fmla="*/ 286213 w 533808"/>
                  <a:gd name="connsiteY4" fmla="*/ 8823 h 75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808" h="753916">
                    <a:moveTo>
                      <a:pt x="286213" y="8823"/>
                    </a:moveTo>
                    <a:cubicBezTo>
                      <a:pt x="200544" y="17646"/>
                      <a:pt x="15834" y="392644"/>
                      <a:pt x="7917" y="515356"/>
                    </a:cubicBezTo>
                    <a:cubicBezTo>
                      <a:pt x="0" y="638068"/>
                      <a:pt x="153043" y="753916"/>
                      <a:pt x="238712" y="745093"/>
                    </a:cubicBezTo>
                    <a:cubicBezTo>
                      <a:pt x="324381" y="736270"/>
                      <a:pt x="510057" y="585131"/>
                      <a:pt x="521932" y="462419"/>
                    </a:cubicBezTo>
                    <a:cubicBezTo>
                      <a:pt x="533807" y="339707"/>
                      <a:pt x="371882" y="0"/>
                      <a:pt x="286213" y="8823"/>
                    </a:cubicBezTo>
                    <a:close/>
                  </a:path>
                </a:pathLst>
              </a:cu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45083" name="Straight Connector 45082">
                <a:extLst>
                  <a:ext uri="{FF2B5EF4-FFF2-40B4-BE49-F238E27FC236}">
                    <a16:creationId xmlns:a16="http://schemas.microsoft.com/office/drawing/2014/main" id="{A9866D8F-C998-F8D8-C570-FCF4DEE9B829}"/>
                  </a:ext>
                </a:extLst>
              </p:cNvPr>
              <p:cNvCxnSpPr>
                <a:stCxn id="45081" idx="0"/>
                <a:endCxn id="45082" idx="2"/>
              </p:cNvCxnSpPr>
              <p:nvPr/>
            </p:nvCxnSpPr>
            <p:spPr>
              <a:xfrm rot="5400000" flipH="1" flipV="1">
                <a:off x="5236615" y="2780833"/>
                <a:ext cx="59753" cy="1738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6" name="Straight Connector 55">
              <a:extLst>
                <a:ext uri="{FF2B5EF4-FFF2-40B4-BE49-F238E27FC236}">
                  <a16:creationId xmlns:a16="http://schemas.microsoft.com/office/drawing/2014/main" id="{BD63DB6F-B973-8C2F-6CCA-1291AE2147BB}"/>
                </a:ext>
              </a:extLst>
            </p:cNvPr>
            <p:cNvCxnSpPr/>
            <p:nvPr/>
          </p:nvCxnSpPr>
          <p:spPr>
            <a:xfrm rot="10800000" flipV="1">
              <a:off x="1600200" y="2819400"/>
              <a:ext cx="2057400" cy="105866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57" name="Group 24">
              <a:extLst>
                <a:ext uri="{FF2B5EF4-FFF2-40B4-BE49-F238E27FC236}">
                  <a16:creationId xmlns:a16="http://schemas.microsoft.com/office/drawing/2014/main" id="{29EFA348-F253-AE86-CE5F-01B403BF55EB}"/>
                </a:ext>
              </a:extLst>
            </p:cNvPr>
            <p:cNvGrpSpPr/>
            <p:nvPr/>
          </p:nvGrpSpPr>
          <p:grpSpPr>
            <a:xfrm>
              <a:off x="5562600" y="1752600"/>
              <a:ext cx="464125" cy="2336241"/>
              <a:chOff x="7162800" y="1914134"/>
              <a:chExt cx="464125" cy="2336241"/>
            </a:xfrm>
          </p:grpSpPr>
          <p:grpSp>
            <p:nvGrpSpPr>
              <p:cNvPr id="45074" name="Group 18">
                <a:extLst>
                  <a:ext uri="{FF2B5EF4-FFF2-40B4-BE49-F238E27FC236}">
                    <a16:creationId xmlns:a16="http://schemas.microsoft.com/office/drawing/2014/main" id="{81987AF5-0E6F-3396-6CE0-FA9DE2C00B51}"/>
                  </a:ext>
                </a:extLst>
              </p:cNvPr>
              <p:cNvGrpSpPr/>
              <p:nvPr/>
            </p:nvGrpSpPr>
            <p:grpSpPr>
              <a:xfrm>
                <a:off x="7162800" y="2474025"/>
                <a:ext cx="464125" cy="1776350"/>
                <a:chOff x="6324600" y="2971800"/>
                <a:chExt cx="464125" cy="1776350"/>
              </a:xfrm>
            </p:grpSpPr>
            <p:sp>
              <p:nvSpPr>
                <p:cNvPr id="45076" name="Oval 45075">
                  <a:extLst>
                    <a:ext uri="{FF2B5EF4-FFF2-40B4-BE49-F238E27FC236}">
                      <a16:creationId xmlns:a16="http://schemas.microsoft.com/office/drawing/2014/main" id="{377B167F-E281-9FF8-65A7-B078D28DF3C9}"/>
                    </a:ext>
                  </a:extLst>
                </p:cNvPr>
                <p:cNvSpPr/>
                <p:nvPr/>
              </p:nvSpPr>
              <p:spPr>
                <a:xfrm>
                  <a:off x="6324600" y="4519550"/>
                  <a:ext cx="457200" cy="228600"/>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5077" name="Rectangle 45076">
                  <a:extLst>
                    <a:ext uri="{FF2B5EF4-FFF2-40B4-BE49-F238E27FC236}">
                      <a16:creationId xmlns:a16="http://schemas.microsoft.com/office/drawing/2014/main" id="{BE1F62F1-1260-EAAD-8205-5275C154E6DE}"/>
                    </a:ext>
                  </a:extLst>
                </p:cNvPr>
                <p:cNvSpPr/>
                <p:nvPr/>
              </p:nvSpPr>
              <p:spPr>
                <a:xfrm>
                  <a:off x="6324600" y="3124200"/>
                  <a:ext cx="457200" cy="152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45078" name="Oval 45077">
                  <a:extLst>
                    <a:ext uri="{FF2B5EF4-FFF2-40B4-BE49-F238E27FC236}">
                      <a16:creationId xmlns:a16="http://schemas.microsoft.com/office/drawing/2014/main" id="{F20AD457-B0D1-A011-DC20-8F3425C9F744}"/>
                    </a:ext>
                  </a:extLst>
                </p:cNvPr>
                <p:cNvSpPr/>
                <p:nvPr/>
              </p:nvSpPr>
              <p:spPr>
                <a:xfrm>
                  <a:off x="6324600" y="2971800"/>
                  <a:ext cx="457200" cy="228600"/>
                </a:xfrm>
                <a:prstGeom prst="ellipse">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cxnSp>
              <p:nvCxnSpPr>
                <p:cNvPr id="45079" name="Straight Connector 45078">
                  <a:extLst>
                    <a:ext uri="{FF2B5EF4-FFF2-40B4-BE49-F238E27FC236}">
                      <a16:creationId xmlns:a16="http://schemas.microsoft.com/office/drawing/2014/main" id="{59131DF8-B09E-4375-D8D6-713B7A68780B}"/>
                    </a:ext>
                  </a:extLst>
                </p:cNvPr>
                <p:cNvCxnSpPr/>
                <p:nvPr/>
              </p:nvCxnSpPr>
              <p:spPr>
                <a:xfrm rot="10800000" flipV="1">
                  <a:off x="6324600" y="3086100"/>
                  <a:ext cx="0" cy="15621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080" name="Straight Connector 45079">
                  <a:extLst>
                    <a:ext uri="{FF2B5EF4-FFF2-40B4-BE49-F238E27FC236}">
                      <a16:creationId xmlns:a16="http://schemas.microsoft.com/office/drawing/2014/main" id="{46C6FEF6-DF64-FCE1-51E4-FB256DE3D58F}"/>
                    </a:ext>
                  </a:extLst>
                </p:cNvPr>
                <p:cNvCxnSpPr/>
                <p:nvPr/>
              </p:nvCxnSpPr>
              <p:spPr>
                <a:xfrm rot="10800000" flipV="1">
                  <a:off x="6788725" y="3112325"/>
                  <a:ext cx="0" cy="15621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5075" name="Freeform 33">
                <a:extLst>
                  <a:ext uri="{FF2B5EF4-FFF2-40B4-BE49-F238E27FC236}">
                    <a16:creationId xmlns:a16="http://schemas.microsoft.com/office/drawing/2014/main" id="{710652CF-542A-17B1-CA36-B589795E0679}"/>
                  </a:ext>
                </a:extLst>
              </p:cNvPr>
              <p:cNvSpPr/>
              <p:nvPr/>
            </p:nvSpPr>
            <p:spPr>
              <a:xfrm rot="21339833">
                <a:off x="7250048" y="1914134"/>
                <a:ext cx="267284" cy="677167"/>
              </a:xfrm>
              <a:custGeom>
                <a:avLst/>
                <a:gdLst>
                  <a:gd name="connsiteX0" fmla="*/ 186047 w 364177"/>
                  <a:gd name="connsiteY0" fmla="*/ 3958 h 744186"/>
                  <a:gd name="connsiteX1" fmla="*/ 7917 w 364177"/>
                  <a:gd name="connsiteY1" fmla="*/ 324592 h 744186"/>
                  <a:gd name="connsiteX2" fmla="*/ 138546 w 364177"/>
                  <a:gd name="connsiteY2" fmla="*/ 740228 h 744186"/>
                  <a:gd name="connsiteX3" fmla="*/ 352302 w 364177"/>
                  <a:gd name="connsiteY3" fmla="*/ 348343 h 744186"/>
                  <a:gd name="connsiteX4" fmla="*/ 186047 w 364177"/>
                  <a:gd name="connsiteY4" fmla="*/ 3958 h 744186"/>
                  <a:gd name="connsiteX0" fmla="*/ 267082 w 445212"/>
                  <a:gd name="connsiteY0" fmla="*/ 1697 h 739664"/>
                  <a:gd name="connsiteX1" fmla="*/ 7916 w 445212"/>
                  <a:gd name="connsiteY1" fmla="*/ 356267 h 739664"/>
                  <a:gd name="connsiteX2" fmla="*/ 219581 w 445212"/>
                  <a:gd name="connsiteY2" fmla="*/ 737967 h 739664"/>
                  <a:gd name="connsiteX3" fmla="*/ 433337 w 445212"/>
                  <a:gd name="connsiteY3" fmla="*/ 346082 h 739664"/>
                  <a:gd name="connsiteX4" fmla="*/ 267082 w 445212"/>
                  <a:gd name="connsiteY4" fmla="*/ 1697 h 739664"/>
                  <a:gd name="connsiteX0" fmla="*/ 267084 w 514677"/>
                  <a:gd name="connsiteY0" fmla="*/ 16504 h 769278"/>
                  <a:gd name="connsiteX1" fmla="*/ 7918 w 514677"/>
                  <a:gd name="connsiteY1" fmla="*/ 371074 h 769278"/>
                  <a:gd name="connsiteX2" fmla="*/ 219583 w 514677"/>
                  <a:gd name="connsiteY2" fmla="*/ 752774 h 769278"/>
                  <a:gd name="connsiteX3" fmla="*/ 502803 w 514677"/>
                  <a:gd name="connsiteY3" fmla="*/ 470100 h 769278"/>
                  <a:gd name="connsiteX4" fmla="*/ 267084 w 514677"/>
                  <a:gd name="connsiteY4" fmla="*/ 16504 h 769278"/>
                  <a:gd name="connsiteX0" fmla="*/ 286213 w 533808"/>
                  <a:gd name="connsiteY0" fmla="*/ 8823 h 753916"/>
                  <a:gd name="connsiteX1" fmla="*/ 7917 w 533808"/>
                  <a:gd name="connsiteY1" fmla="*/ 515356 h 753916"/>
                  <a:gd name="connsiteX2" fmla="*/ 238712 w 533808"/>
                  <a:gd name="connsiteY2" fmla="*/ 745093 h 753916"/>
                  <a:gd name="connsiteX3" fmla="*/ 521932 w 533808"/>
                  <a:gd name="connsiteY3" fmla="*/ 462419 h 753916"/>
                  <a:gd name="connsiteX4" fmla="*/ 286213 w 533808"/>
                  <a:gd name="connsiteY4" fmla="*/ 8823 h 75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3808" h="753916">
                    <a:moveTo>
                      <a:pt x="286213" y="8823"/>
                    </a:moveTo>
                    <a:cubicBezTo>
                      <a:pt x="200544" y="17646"/>
                      <a:pt x="15834" y="392644"/>
                      <a:pt x="7917" y="515356"/>
                    </a:cubicBezTo>
                    <a:cubicBezTo>
                      <a:pt x="0" y="638068"/>
                      <a:pt x="153043" y="753916"/>
                      <a:pt x="238712" y="745093"/>
                    </a:cubicBezTo>
                    <a:cubicBezTo>
                      <a:pt x="324381" y="736270"/>
                      <a:pt x="510057" y="585131"/>
                      <a:pt x="521932" y="462419"/>
                    </a:cubicBezTo>
                    <a:cubicBezTo>
                      <a:pt x="533807" y="339707"/>
                      <a:pt x="371882" y="0"/>
                      <a:pt x="286213" y="8823"/>
                    </a:cubicBezTo>
                    <a:close/>
                  </a:path>
                </a:pathLst>
              </a:cu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grpSp>
        <p:sp>
          <p:nvSpPr>
            <p:cNvPr id="58" name="TextBox 57">
              <a:extLst>
                <a:ext uri="{FF2B5EF4-FFF2-40B4-BE49-F238E27FC236}">
                  <a16:creationId xmlns:a16="http://schemas.microsoft.com/office/drawing/2014/main" id="{66DEB1A2-6DEE-97D6-5AD5-382E24FA61E2}"/>
                </a:ext>
              </a:extLst>
            </p:cNvPr>
            <p:cNvSpPr txBox="1"/>
            <p:nvPr/>
          </p:nvSpPr>
          <p:spPr>
            <a:xfrm>
              <a:off x="2873896" y="3276600"/>
              <a:ext cx="1681627"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Camera Center (</a:t>
              </a:r>
              <a:r>
                <a:rPr lang="en-US" i="1" dirty="0" err="1">
                  <a:latin typeface="Times New Roman" panose="02020603050405020304" pitchFamily="18" charset="0"/>
                  <a:cs typeface="Times New Roman" panose="02020603050405020304" pitchFamily="18" charset="0"/>
                </a:rPr>
                <a:t>t</a:t>
              </a:r>
              <a:r>
                <a:rPr lang="en-US" i="1" baseline="-25000" dirty="0" err="1">
                  <a:latin typeface="Times New Roman" panose="02020603050405020304" pitchFamily="18" charset="0"/>
                  <a:cs typeface="Times New Roman" panose="02020603050405020304" pitchFamily="18" charset="0"/>
                </a:rPr>
                <a:t>x</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t</a:t>
              </a:r>
              <a:r>
                <a:rPr lang="en-US" i="1" baseline="-25000" dirty="0" err="1">
                  <a:latin typeface="Times New Roman" panose="02020603050405020304" pitchFamily="18" charset="0"/>
                  <a:cs typeface="Times New Roman" panose="02020603050405020304" pitchFamily="18" charset="0"/>
                </a:rPr>
                <a:t>y</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t</a:t>
              </a:r>
              <a:r>
                <a:rPr lang="en-US" i="1" baseline="-25000" dirty="0" err="1">
                  <a:latin typeface="Times New Roman" panose="02020603050405020304" pitchFamily="18" charset="0"/>
                  <a:cs typeface="Times New Roman" panose="02020603050405020304" pitchFamily="18" charset="0"/>
                </a:rPr>
                <a:t>z</a:t>
              </a:r>
              <a:r>
                <a:rPr lang="en-US" dirty="0">
                  <a:latin typeface="Times New Roman" panose="02020603050405020304" pitchFamily="18" charset="0"/>
                  <a:cs typeface="Times New Roman" panose="02020603050405020304" pitchFamily="18" charset="0"/>
                </a:rPr>
                <a:t>)</a:t>
              </a:r>
            </a:p>
          </p:txBody>
        </p:sp>
        <mc:AlternateContent xmlns:mc="http://schemas.openxmlformats.org/markup-compatibility/2006">
          <mc:Choice xmlns:a14="http://schemas.microsoft.com/office/drawing/2010/main" Requires="a14">
            <p:sp>
              <p:nvSpPr>
                <p:cNvPr id="59" name="Object 58">
                  <a:extLst>
                    <a:ext uri="{FF2B5EF4-FFF2-40B4-BE49-F238E27FC236}">
                      <a16:creationId xmlns:a16="http://schemas.microsoft.com/office/drawing/2014/main" id="{0AB8EEE9-3A7F-AB88-6852-BB70FD0A428E}"/>
                    </a:ext>
                  </a:extLst>
                </p:cNvPr>
                <p:cNvSpPr txBox="1"/>
                <p:nvPr/>
              </p:nvSpPr>
              <p:spPr bwMode="auto">
                <a:xfrm>
                  <a:off x="6119813" y="1100558"/>
                  <a:ext cx="1066800" cy="133350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LID4096" i="1" smtClean="0">
                            <a:solidFill>
                              <a:srgbClr val="000000"/>
                            </a:solidFill>
                            <a:latin typeface="Cambria Math" panose="02040503050406030204" pitchFamily="18" charset="0"/>
                          </a:rPr>
                          <m:t>𝐏</m:t>
                        </m:r>
                        <m:r>
                          <a:rPr lang="LID4096" i="1" smtClean="0">
                            <a:solidFill>
                              <a:srgbClr val="000000"/>
                            </a:solidFill>
                            <a:latin typeface="Cambria Math" panose="02040503050406030204" pitchFamily="18" charset="0"/>
                          </a:rPr>
                          <m:t>=</m:t>
                        </m:r>
                        <m:d>
                          <m:dPr>
                            <m:begChr m:val="["/>
                            <m:endChr m:val="]"/>
                            <m:ctrlPr>
                              <a:rPr lang="LID4096" i="1">
                                <a:solidFill>
                                  <a:srgbClr val="000000"/>
                                </a:solidFill>
                                <a:latin typeface="Cambria Math" panose="02040503050406030204" pitchFamily="18" charset="0"/>
                              </a:rPr>
                            </m:ctrlPr>
                          </m:dPr>
                          <m:e>
                            <m:m>
                              <m:mPr>
                                <m:plcHide m:val="on"/>
                                <m:mcs>
                                  <m:mc>
                                    <m:mcPr>
                                      <m:count m:val="1"/>
                                      <m:mcJc m:val="center"/>
                                    </m:mcPr>
                                  </m:mc>
                                </m:mcs>
                                <m:ctrlPr>
                                  <a:rPr lang="LID4096" i="1">
                                    <a:solidFill>
                                      <a:srgbClr val="000000"/>
                                    </a:solidFill>
                                    <a:latin typeface="Cambria Math" panose="02040503050406030204" pitchFamily="18" charset="0"/>
                                  </a:rPr>
                                </m:ctrlPr>
                              </m:mPr>
                              <m:mr>
                                <m:e>
                                  <m:r>
                                    <a:rPr lang="LID4096" i="1">
                                      <a:solidFill>
                                        <a:srgbClr val="000000"/>
                                      </a:solidFill>
                                      <a:latin typeface="Cambria Math" panose="02040503050406030204" pitchFamily="18" charset="0"/>
                                    </a:rPr>
                                    <m:t>𝑋</m:t>
                                  </m:r>
                                </m:e>
                              </m:mr>
                              <m:mr>
                                <m:e>
                                  <m:r>
                                    <a:rPr lang="LID4096" i="1">
                                      <a:solidFill>
                                        <a:srgbClr val="000000"/>
                                      </a:solidFill>
                                      <a:latin typeface="Cambria Math" panose="02040503050406030204" pitchFamily="18" charset="0"/>
                                    </a:rPr>
                                    <m:t>𝑌</m:t>
                                  </m:r>
                                </m:e>
                              </m:mr>
                              <m:mr>
                                <m:e>
                                  <m:r>
                                    <a:rPr lang="LID4096" i="1">
                                      <a:solidFill>
                                        <a:srgbClr val="000000"/>
                                      </a:solidFill>
                                      <a:latin typeface="Cambria Math" panose="02040503050406030204" pitchFamily="18" charset="0"/>
                                    </a:rPr>
                                    <m:t>𝑍</m:t>
                                  </m:r>
                                </m:e>
                              </m:mr>
                            </m:m>
                          </m:e>
                        </m:d>
                      </m:oMath>
                    </m:oMathPara>
                  </a14:m>
                  <a:endParaRPr lang="LID4096" dirty="0"/>
                </a:p>
              </p:txBody>
            </p:sp>
          </mc:Choice>
          <mc:Fallback>
            <p:sp>
              <p:nvSpPr>
                <p:cNvPr id="59" name="Object 58">
                  <a:extLst>
                    <a:ext uri="{FF2B5EF4-FFF2-40B4-BE49-F238E27FC236}">
                      <a16:creationId xmlns:a16="http://schemas.microsoft.com/office/drawing/2014/main" id="{0AB8EEE9-3A7F-AB88-6852-BB70FD0A428E}"/>
                    </a:ext>
                  </a:extLst>
                </p:cNvPr>
                <p:cNvSpPr txBox="1">
                  <a:spLocks noRot="1" noChangeAspect="1" noMove="1" noResize="1" noEditPoints="1" noAdjustHandles="1" noChangeArrowheads="1" noChangeShapeType="1" noTextEdit="1"/>
                </p:cNvSpPr>
                <p:nvPr/>
              </p:nvSpPr>
              <p:spPr bwMode="auto">
                <a:xfrm>
                  <a:off x="6119813" y="1100558"/>
                  <a:ext cx="1066800" cy="1333500"/>
                </a:xfrm>
                <a:prstGeom prst="rect">
                  <a:avLst/>
                </a:prstGeom>
                <a:blipFill>
                  <a:blip r:embed="rId3"/>
                  <a:stretch>
                    <a:fillRect/>
                  </a:stretch>
                </a:blipFill>
              </p:spPr>
              <p:txBody>
                <a:bodyPr/>
                <a:lstStyle/>
                <a:p>
                  <a:r>
                    <a:rPr lang="LID4096">
                      <a:noFill/>
                    </a:rPr>
                    <a:t> </a:t>
                  </a:r>
                </a:p>
              </p:txBody>
            </p:sp>
          </mc:Fallback>
        </mc:AlternateContent>
        <p:sp>
          <p:nvSpPr>
            <p:cNvPr id="60" name="TextBox 59">
              <a:extLst>
                <a:ext uri="{FF2B5EF4-FFF2-40B4-BE49-F238E27FC236}">
                  <a16:creationId xmlns:a16="http://schemas.microsoft.com/office/drawing/2014/main" id="{F720EA12-411E-1800-2274-3B1E8DF4EF50}"/>
                </a:ext>
              </a:extLst>
            </p:cNvPr>
            <p:cNvSpPr txBox="1"/>
            <p:nvPr/>
          </p:nvSpPr>
          <p:spPr>
            <a:xfrm>
              <a:off x="5586350" y="1038100"/>
              <a:ext cx="377026" cy="1015663"/>
            </a:xfrm>
            <a:prstGeom prst="rect">
              <a:avLst/>
            </a:prstGeom>
            <a:noFill/>
          </p:spPr>
          <p:txBody>
            <a:bodyPr wrap="none" rtlCol="0">
              <a:spAutoFit/>
            </a:bodyPr>
            <a:lstStyle/>
            <a:p>
              <a:r>
                <a:rPr lang="en-US" sz="6000" dirty="0">
                  <a:solidFill>
                    <a:srgbClr val="FFC000"/>
                  </a:solidFill>
                  <a:latin typeface="Times New Roman" panose="02020603050405020304" pitchFamily="18" charset="0"/>
                  <a:cs typeface="Times New Roman" panose="02020603050405020304" pitchFamily="18" charset="0"/>
                </a:rPr>
                <a:t>.</a:t>
              </a:r>
            </a:p>
          </p:txBody>
        </p:sp>
        <p:sp>
          <p:nvSpPr>
            <p:cNvPr id="61" name="TextBox 60">
              <a:extLst>
                <a:ext uri="{FF2B5EF4-FFF2-40B4-BE49-F238E27FC236}">
                  <a16:creationId xmlns:a16="http://schemas.microsoft.com/office/drawing/2014/main" id="{AB796FE7-634E-038C-31B6-91A85401CB69}"/>
                </a:ext>
              </a:extLst>
            </p:cNvPr>
            <p:cNvSpPr txBox="1"/>
            <p:nvPr/>
          </p:nvSpPr>
          <p:spPr>
            <a:xfrm>
              <a:off x="1430975" y="3164775"/>
              <a:ext cx="377026" cy="1015663"/>
            </a:xfrm>
            <a:prstGeom prst="rect">
              <a:avLst/>
            </a:prstGeom>
            <a:noFill/>
          </p:spPr>
          <p:txBody>
            <a:bodyPr wrap="none" rtlCol="0">
              <a:spAutoFit/>
            </a:bodyPr>
            <a:lstStyle/>
            <a:p>
              <a:r>
                <a:rPr lang="en-US" sz="6000" dirty="0">
                  <a:solidFill>
                    <a:schemeClr val="tx2"/>
                  </a:solidFill>
                  <a:latin typeface="Times New Roman" panose="02020603050405020304" pitchFamily="18" charset="0"/>
                  <a:cs typeface="Times New Roman" panose="02020603050405020304" pitchFamily="18" charset="0"/>
                </a:rPr>
                <a:t>.</a:t>
              </a:r>
            </a:p>
          </p:txBody>
        </p:sp>
        <p:cxnSp>
          <p:nvCxnSpPr>
            <p:cNvPr id="62" name="Straight Connector 61">
              <a:extLst>
                <a:ext uri="{FF2B5EF4-FFF2-40B4-BE49-F238E27FC236}">
                  <a16:creationId xmlns:a16="http://schemas.microsoft.com/office/drawing/2014/main" id="{1066962E-6B49-DA28-82E4-FAD15A30BAA8}"/>
                </a:ext>
              </a:extLst>
            </p:cNvPr>
            <p:cNvCxnSpPr/>
            <p:nvPr/>
          </p:nvCxnSpPr>
          <p:spPr>
            <a:xfrm rot="10800000">
              <a:off x="1905000" y="2819400"/>
              <a:ext cx="1752600" cy="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4545D072-1A04-58FB-CB52-BAB22561CDF3}"/>
                </a:ext>
              </a:extLst>
            </p:cNvPr>
            <p:cNvSpPr txBox="1"/>
            <p:nvPr/>
          </p:nvSpPr>
          <p:spPr>
            <a:xfrm>
              <a:off x="1728850" y="2097975"/>
              <a:ext cx="377026" cy="1015663"/>
            </a:xfrm>
            <a:prstGeom prst="rect">
              <a:avLst/>
            </a:prstGeom>
            <a:noFill/>
          </p:spPr>
          <p:txBody>
            <a:bodyPr wrap="none" rtlCol="0">
              <a:spAutoFit/>
            </a:bodyPr>
            <a:lstStyle/>
            <a:p>
              <a:r>
                <a:rPr lang="en-US" sz="6000" dirty="0">
                  <a:latin typeface="Times New Roman" panose="02020603050405020304" pitchFamily="18" charset="0"/>
                  <a:cs typeface="Times New Roman" panose="02020603050405020304" pitchFamily="18" charset="0"/>
                </a:rPr>
                <a:t>.</a:t>
              </a:r>
            </a:p>
          </p:txBody>
        </p:sp>
        <p:sp>
          <p:nvSpPr>
            <p:cNvPr id="45056" name="Oval 45055">
              <a:extLst>
                <a:ext uri="{FF2B5EF4-FFF2-40B4-BE49-F238E27FC236}">
                  <a16:creationId xmlns:a16="http://schemas.microsoft.com/office/drawing/2014/main" id="{BDEA7B4F-00EB-8010-F3BD-1C21A9B6FC64}"/>
                </a:ext>
              </a:extLst>
            </p:cNvPr>
            <p:cNvSpPr/>
            <p:nvPr/>
          </p:nvSpPr>
          <p:spPr>
            <a:xfrm>
              <a:off x="3476895" y="2314700"/>
              <a:ext cx="304800" cy="990600"/>
            </a:xfrm>
            <a:prstGeom prst="ellipse">
              <a:avLst/>
            </a:prstGeom>
            <a:solidFill>
              <a:schemeClr val="bg1">
                <a:lumMod val="6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45057" name="TextBox 45056">
              <a:extLst>
                <a:ext uri="{FF2B5EF4-FFF2-40B4-BE49-F238E27FC236}">
                  <a16:creationId xmlns:a16="http://schemas.microsoft.com/office/drawing/2014/main" id="{FAD74E87-EDD3-38FA-62AD-37439B4AD067}"/>
                </a:ext>
              </a:extLst>
            </p:cNvPr>
            <p:cNvSpPr txBox="1"/>
            <p:nvPr/>
          </p:nvSpPr>
          <p:spPr>
            <a:xfrm>
              <a:off x="2743200" y="2474025"/>
              <a:ext cx="255198" cy="369332"/>
            </a:xfrm>
            <a:prstGeom prst="rect">
              <a:avLst/>
            </a:prstGeom>
            <a:noFill/>
          </p:spPr>
          <p:txBody>
            <a:bodyPr wrap="none" rtlCol="0">
              <a:spAutoFit/>
            </a:bodyPr>
            <a:lstStyle/>
            <a:p>
              <a:r>
                <a:rPr lang="en-US" i="1" dirty="0">
                  <a:latin typeface="Times New Roman" panose="02020603050405020304" pitchFamily="18" charset="0"/>
                  <a:cs typeface="Times New Roman" panose="02020603050405020304" pitchFamily="18" charset="0"/>
                </a:rPr>
                <a:t>f</a:t>
              </a:r>
            </a:p>
          </p:txBody>
        </p:sp>
        <p:cxnSp>
          <p:nvCxnSpPr>
            <p:cNvPr id="45059" name="Straight Connector 45058">
              <a:extLst>
                <a:ext uri="{FF2B5EF4-FFF2-40B4-BE49-F238E27FC236}">
                  <a16:creationId xmlns:a16="http://schemas.microsoft.com/office/drawing/2014/main" id="{017A6DB2-4231-F207-79BC-8ECF74F55C61}"/>
                </a:ext>
              </a:extLst>
            </p:cNvPr>
            <p:cNvCxnSpPr/>
            <p:nvPr/>
          </p:nvCxnSpPr>
          <p:spPr>
            <a:xfrm rot="5400000">
              <a:off x="5284025" y="2312225"/>
              <a:ext cx="990600" cy="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5060" name="Straight Connector 45059">
              <a:extLst>
                <a:ext uri="{FF2B5EF4-FFF2-40B4-BE49-F238E27FC236}">
                  <a16:creationId xmlns:a16="http://schemas.microsoft.com/office/drawing/2014/main" id="{6AABBBC0-3651-A2A8-1456-AFA142932F03}"/>
                </a:ext>
              </a:extLst>
            </p:cNvPr>
            <p:cNvCxnSpPr/>
            <p:nvPr/>
          </p:nvCxnSpPr>
          <p:spPr>
            <a:xfrm>
              <a:off x="3733800" y="2819400"/>
              <a:ext cx="2057400" cy="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5061" name="TextBox 45060">
              <a:extLst>
                <a:ext uri="{FF2B5EF4-FFF2-40B4-BE49-F238E27FC236}">
                  <a16:creationId xmlns:a16="http://schemas.microsoft.com/office/drawing/2014/main" id="{536ED1AF-D4BA-F804-8696-EC74F852E0BE}"/>
                </a:ext>
              </a:extLst>
            </p:cNvPr>
            <p:cNvSpPr txBox="1"/>
            <p:nvPr/>
          </p:nvSpPr>
          <p:spPr>
            <a:xfrm>
              <a:off x="4648200" y="2474025"/>
              <a:ext cx="312906" cy="369332"/>
            </a:xfrm>
            <a:prstGeom prst="rect">
              <a:avLst/>
            </a:prstGeom>
            <a:noFill/>
          </p:spPr>
          <p:txBody>
            <a:bodyPr wrap="none" rtlCol="0">
              <a:spAutoFit/>
            </a:bodyPr>
            <a:lstStyle/>
            <a:p>
              <a:r>
                <a:rPr lang="en-US" i="1" dirty="0">
                  <a:latin typeface="Times New Roman" panose="02020603050405020304" pitchFamily="18" charset="0"/>
                  <a:cs typeface="Times New Roman" panose="02020603050405020304" pitchFamily="18" charset="0"/>
                </a:rPr>
                <a:t>Z</a:t>
              </a:r>
            </a:p>
          </p:txBody>
        </p:sp>
        <p:sp>
          <p:nvSpPr>
            <p:cNvPr id="45062" name="TextBox 45061">
              <a:extLst>
                <a:ext uri="{FF2B5EF4-FFF2-40B4-BE49-F238E27FC236}">
                  <a16:creationId xmlns:a16="http://schemas.microsoft.com/office/drawing/2014/main" id="{AB6A47D1-C25E-0704-4A9C-E504A0465A5D}"/>
                </a:ext>
              </a:extLst>
            </p:cNvPr>
            <p:cNvSpPr txBox="1"/>
            <p:nvPr/>
          </p:nvSpPr>
          <p:spPr>
            <a:xfrm>
              <a:off x="5731825" y="2514600"/>
              <a:ext cx="304800" cy="369332"/>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Y</a:t>
              </a:r>
            </a:p>
          </p:txBody>
        </p:sp>
        <mc:AlternateContent xmlns:mc="http://schemas.openxmlformats.org/markup-compatibility/2006">
          <mc:Choice xmlns:a14="http://schemas.microsoft.com/office/drawing/2010/main" Requires="a14">
            <p:graphicFrame>
              <p:nvGraphicFramePr>
                <p:cNvPr id="45063" name="Object 3">
                  <a:extLst>
                    <a:ext uri="{FF2B5EF4-FFF2-40B4-BE49-F238E27FC236}">
                      <a16:creationId xmlns:a16="http://schemas.microsoft.com/office/drawing/2014/main" id="{E51BEDAF-9841-5A11-FA39-768668D00D09}"/>
                    </a:ext>
                  </a:extLst>
                </p:cNvPr>
                <p:cNvGraphicFramePr>
                  <a:graphicFrameLocks noChangeAspect="1"/>
                </p:cNvGraphicFramePr>
                <p:nvPr/>
              </p:nvGraphicFramePr>
              <p:xfrm>
                <a:off x="1495300" y="4067938"/>
                <a:ext cx="946150" cy="896937"/>
              </p:xfrm>
              <a:graphic>
                <a:graphicData uri="http://schemas.openxmlformats.org/presentationml/2006/ole">
                  <mc:AlternateContent>
                    <mc:Choice xmlns:v="urn:schemas-microsoft-com:vml" Requires="v">
                      <p:oleObj name="Equation" r:id="rId4" imgW="495000" imgH="469800" progId="Equation.3">
                        <p:embed/>
                      </p:oleObj>
                    </mc:Choice>
                    <mc:Fallback>
                      <p:oleObj name="Equation" r:id="rId4" imgW="495000" imgH="469800" progId="Equation.3">
                        <p:embed/>
                        <p:pic>
                          <p:nvPicPr>
                            <p:cNvPr id="45063" name="Object 3">
                              <a:extLst>
                                <a:ext uri="{FF2B5EF4-FFF2-40B4-BE49-F238E27FC236}">
                                  <a16:creationId xmlns:a16="http://schemas.microsoft.com/office/drawing/2014/main" id="{E51BEDAF-9841-5A11-FA39-768668D00D09}"/>
                                </a:ext>
                              </a:extLst>
                            </p:cNvPr>
                            <p:cNvPicPr>
                              <a:picLocks noChangeAspect="1" noChangeArrowheads="1"/>
                            </p:cNvPicPr>
                            <p:nvPr/>
                          </p:nvPicPr>
                          <p:blipFill>
                            <a:blip r:embed="rId5">
                              <a:extLst>
                                <a:ext uri="{28A0092B-C50C-407E-A947-70E740481C1C}">
                                  <a14:useLocalDpi val="0"/>
                                </a:ext>
                              </a:extLst>
                            </a:blip>
                            <a:srcRect/>
                            <a:stretch>
                              <a:fillRect/>
                            </a:stretch>
                          </p:blipFill>
                          <p:spPr bwMode="auto">
                            <a:xfrm>
                              <a:off x="1495300" y="4067938"/>
                              <a:ext cx="946150" cy="896937"/>
                            </a:xfrm>
                            <a:prstGeom prst="rect">
                              <a:avLst/>
                            </a:prstGeom>
                            <a:noFill/>
                            <a:extLst>
                              <a:ext uri="{909E8E84-426E-40DD-AFC4-6F175D3DCCD1}">
                                <a14:hiddenFill>
                                  <a:solidFill>
                                    <a:srgbClr val="FFFFFF"/>
                                  </a:solidFill>
                                </a14:hiddenFill>
                              </a:ext>
                            </a:extLst>
                          </p:spPr>
                        </p:pic>
                      </p:oleObj>
                    </mc:Fallback>
                  </mc:AlternateContent>
                </a:graphicData>
              </a:graphic>
            </p:graphicFrame>
          </mc:Choice>
          <mc:Fallback>
            <p:graphicFrame>
              <p:nvGraphicFramePr>
                <p:cNvPr id="45063" name="Object 3">
                  <a:extLst>
                    <a:ext uri="{FF2B5EF4-FFF2-40B4-BE49-F238E27FC236}">
                      <a16:creationId xmlns:a16="http://schemas.microsoft.com/office/drawing/2014/main" id="{E51BEDAF-9841-5A11-FA39-768668D00D09}"/>
                    </a:ext>
                  </a:extLst>
                </p:cNvPr>
                <p:cNvGraphicFramePr>
                  <a:graphicFrameLocks noChangeAspect="1"/>
                </p:cNvGraphicFramePr>
                <p:nvPr/>
              </p:nvGraphicFramePr>
              <p:xfrm>
                <a:off x="1495300" y="4067938"/>
                <a:ext cx="946150" cy="896937"/>
              </p:xfrm>
              <a:graphic>
                <a:graphicData uri="http://schemas.openxmlformats.org/presentationml/2006/ole">
                  <mc:AlternateContent>
                    <mc:Choice xmlns:v="urn:schemas-microsoft-com:vml" Requires="v">
                      <p:oleObj name="Equation" r:id="rId4" imgW="495000" imgH="469800" progId="Equation.3">
                        <p:embed/>
                      </p:oleObj>
                    </mc:Choice>
                    <mc:Fallback>
                      <p:oleObj name="Equation" r:id="rId4" imgW="495000" imgH="469800" progId="Equation.3">
                        <p:embed/>
                        <p:pic>
                          <p:nvPicPr>
                            <p:cNvPr id="45063" name="Object 3">
                              <a:extLst>
                                <a:ext uri="{FF2B5EF4-FFF2-40B4-BE49-F238E27FC236}">
                                  <a16:creationId xmlns:a16="http://schemas.microsoft.com/office/drawing/2014/main" id="{E51BEDAF-9841-5A11-FA39-768668D00D0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95300" y="4067938"/>
                              <a:ext cx="946150" cy="896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Fallback>
        </mc:AlternateContent>
        <p:sp>
          <p:nvSpPr>
            <p:cNvPr id="45064" name="TextBox 5">
              <a:extLst>
                <a:ext uri="{FF2B5EF4-FFF2-40B4-BE49-F238E27FC236}">
                  <a16:creationId xmlns:a16="http://schemas.microsoft.com/office/drawing/2014/main" id="{2BD725A5-13CF-2AEB-0343-2DC273543D3C}"/>
                </a:ext>
              </a:extLst>
            </p:cNvPr>
            <p:cNvSpPr txBox="1"/>
            <p:nvPr/>
          </p:nvSpPr>
          <p:spPr>
            <a:xfrm>
              <a:off x="3471945" y="2108537"/>
              <a:ext cx="377026" cy="1015663"/>
            </a:xfrm>
            <a:prstGeom prst="rect">
              <a:avLst/>
            </a:prstGeom>
            <a:noFill/>
          </p:spPr>
          <p:txBody>
            <a:bodyPr wrap="none" rtlCol="0">
              <a:spAutoFit/>
            </a:bodyPr>
            <a:lstStyle/>
            <a:p>
              <a:r>
                <a:rPr lang="en-US" sz="6000" dirty="0">
                  <a:latin typeface="Times New Roman" panose="02020603050405020304" pitchFamily="18" charset="0"/>
                  <a:cs typeface="Times New Roman" panose="02020603050405020304" pitchFamily="18" charset="0"/>
                </a:rPr>
                <a:t>.</a:t>
              </a:r>
            </a:p>
          </p:txBody>
        </p:sp>
        <p:sp>
          <p:nvSpPr>
            <p:cNvPr id="45065" name="TextBox 45064">
              <a:extLst>
                <a:ext uri="{FF2B5EF4-FFF2-40B4-BE49-F238E27FC236}">
                  <a16:creationId xmlns:a16="http://schemas.microsoft.com/office/drawing/2014/main" id="{FF181AB3-1553-D1A5-E313-502413A04591}"/>
                </a:ext>
              </a:extLst>
            </p:cNvPr>
            <p:cNvSpPr txBox="1"/>
            <p:nvPr/>
          </p:nvSpPr>
          <p:spPr>
            <a:xfrm>
              <a:off x="1600200" y="1600200"/>
              <a:ext cx="1066800" cy="923330"/>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Optical Center (</a:t>
              </a:r>
              <a:r>
                <a:rPr lang="en-US" i="1" dirty="0">
                  <a:latin typeface="Times New Roman" panose="02020603050405020304" pitchFamily="18" charset="0"/>
                  <a:cs typeface="Times New Roman" panose="02020603050405020304" pitchFamily="18" charset="0"/>
                </a:rPr>
                <a:t>u</a:t>
              </a:r>
              <a:r>
                <a:rPr lang="en-US" baseline="-25000" dirty="0">
                  <a:latin typeface="Times New Roman" panose="02020603050405020304" pitchFamily="18" charset="0"/>
                  <a:cs typeface="Times New Roman" panose="02020603050405020304" pitchFamily="18" charset="0"/>
                </a:rPr>
                <a:t>0</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v</a:t>
              </a:r>
              <a:r>
                <a:rPr lang="en-US" baseline="-25000" dirty="0">
                  <a:latin typeface="Times New Roman" panose="02020603050405020304" pitchFamily="18" charset="0"/>
                  <a:cs typeface="Times New Roman" panose="02020603050405020304" pitchFamily="18" charset="0"/>
                </a:rPr>
                <a:t>0</a:t>
              </a:r>
              <a:r>
                <a:rPr lang="en-US" dirty="0">
                  <a:latin typeface="Times New Roman" panose="02020603050405020304" pitchFamily="18" charset="0"/>
                  <a:cs typeface="Times New Roman" panose="02020603050405020304" pitchFamily="18" charset="0"/>
                </a:rPr>
                <a:t>)</a:t>
              </a:r>
            </a:p>
          </p:txBody>
        </p:sp>
        <p:cxnSp>
          <p:nvCxnSpPr>
            <p:cNvPr id="45066" name="Straight Arrow Connector 45065">
              <a:extLst>
                <a:ext uri="{FF2B5EF4-FFF2-40B4-BE49-F238E27FC236}">
                  <a16:creationId xmlns:a16="http://schemas.microsoft.com/office/drawing/2014/main" id="{3FF6182D-7521-0506-9FC5-8676FC21C61B}"/>
                </a:ext>
              </a:extLst>
            </p:cNvPr>
            <p:cNvCxnSpPr/>
            <p:nvPr/>
          </p:nvCxnSpPr>
          <p:spPr>
            <a:xfrm rot="5400000">
              <a:off x="1790700" y="2628900"/>
              <a:ext cx="2286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067" name="Straight Arrow Connector 45066">
              <a:extLst>
                <a:ext uri="{FF2B5EF4-FFF2-40B4-BE49-F238E27FC236}">
                  <a16:creationId xmlns:a16="http://schemas.microsoft.com/office/drawing/2014/main" id="{8FFB7841-CCD8-D2F6-E1D8-4828B0F54D72}"/>
                </a:ext>
              </a:extLst>
            </p:cNvPr>
            <p:cNvCxnSpPr/>
            <p:nvPr/>
          </p:nvCxnSpPr>
          <p:spPr>
            <a:xfrm rot="10800000">
              <a:off x="5814950" y="1747650"/>
              <a:ext cx="3048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068" name="Straight Arrow Connector 45067">
              <a:extLst>
                <a:ext uri="{FF2B5EF4-FFF2-40B4-BE49-F238E27FC236}">
                  <a16:creationId xmlns:a16="http://schemas.microsoft.com/office/drawing/2014/main" id="{815AD53F-2E5D-CA94-F8FA-8EC5AFFF6FBC}"/>
                </a:ext>
              </a:extLst>
            </p:cNvPr>
            <p:cNvCxnSpPr/>
            <p:nvPr/>
          </p:nvCxnSpPr>
          <p:spPr>
            <a:xfrm rot="5400000" flipH="1" flipV="1">
              <a:off x="1372394" y="4190206"/>
              <a:ext cx="4572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069" name="Straight Connector 45068">
              <a:extLst>
                <a:ext uri="{FF2B5EF4-FFF2-40B4-BE49-F238E27FC236}">
                  <a16:creationId xmlns:a16="http://schemas.microsoft.com/office/drawing/2014/main" id="{700B77F5-64D3-9D06-7AE4-53419F4DCC66}"/>
                </a:ext>
              </a:extLst>
            </p:cNvPr>
            <p:cNvCxnSpPr/>
            <p:nvPr/>
          </p:nvCxnSpPr>
          <p:spPr>
            <a:xfrm rot="10800000">
              <a:off x="1676400" y="3886200"/>
              <a:ext cx="228600" cy="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45070" name="Straight Connector 45069">
              <a:extLst>
                <a:ext uri="{FF2B5EF4-FFF2-40B4-BE49-F238E27FC236}">
                  <a16:creationId xmlns:a16="http://schemas.microsoft.com/office/drawing/2014/main" id="{B0A9FC25-988A-5267-C234-3E5A216BC1B2}"/>
                </a:ext>
              </a:extLst>
            </p:cNvPr>
            <p:cNvCxnSpPr/>
            <p:nvPr/>
          </p:nvCxnSpPr>
          <p:spPr>
            <a:xfrm rot="5400000">
              <a:off x="1371600" y="3352800"/>
              <a:ext cx="1066800" cy="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45071" name="TextBox 45070">
              <a:extLst>
                <a:ext uri="{FF2B5EF4-FFF2-40B4-BE49-F238E27FC236}">
                  <a16:creationId xmlns:a16="http://schemas.microsoft.com/office/drawing/2014/main" id="{119E7A76-4E2F-9880-026A-6EE9BC46848A}"/>
                </a:ext>
              </a:extLst>
            </p:cNvPr>
            <p:cNvSpPr txBox="1"/>
            <p:nvPr/>
          </p:nvSpPr>
          <p:spPr>
            <a:xfrm>
              <a:off x="1828800" y="3124200"/>
              <a:ext cx="287258" cy="369332"/>
            </a:xfrm>
            <a:prstGeom prst="rect">
              <a:avLst/>
            </a:prstGeom>
            <a:noFill/>
          </p:spPr>
          <p:txBody>
            <a:bodyPr wrap="none" rtlCol="0">
              <a:spAutoFit/>
            </a:bodyPr>
            <a:lstStyle/>
            <a:p>
              <a:r>
                <a:rPr lang="en-US" i="1" dirty="0">
                  <a:latin typeface="Times New Roman" panose="02020603050405020304" pitchFamily="18" charset="0"/>
                  <a:cs typeface="Times New Roman" panose="02020603050405020304" pitchFamily="18" charset="0"/>
                </a:rPr>
                <a:t>v</a:t>
              </a:r>
            </a:p>
          </p:txBody>
        </p:sp>
        <p:sp>
          <p:nvSpPr>
            <p:cNvPr id="45072" name="TextBox 45071">
              <a:extLst>
                <a:ext uri="{FF2B5EF4-FFF2-40B4-BE49-F238E27FC236}">
                  <a16:creationId xmlns:a16="http://schemas.microsoft.com/office/drawing/2014/main" id="{C02EC999-7BC4-AF7F-89C0-457C64A6B1B7}"/>
                </a:ext>
              </a:extLst>
            </p:cNvPr>
            <p:cNvSpPr txBox="1"/>
            <p:nvPr/>
          </p:nvSpPr>
          <p:spPr>
            <a:xfrm>
              <a:off x="1612075" y="3762293"/>
              <a:ext cx="300082" cy="369332"/>
            </a:xfrm>
            <a:prstGeom prst="rect">
              <a:avLst/>
            </a:prstGeom>
            <a:noFill/>
          </p:spPr>
          <p:txBody>
            <a:bodyPr wrap="none" rtlCol="0">
              <a:spAutoFit/>
            </a:bodyPr>
            <a:lstStyle/>
            <a:p>
              <a:r>
                <a:rPr lang="en-US" i="1" dirty="0">
                  <a:latin typeface="Times New Roman" panose="02020603050405020304" pitchFamily="18" charset="0"/>
                  <a:cs typeface="Times New Roman" panose="02020603050405020304" pitchFamily="18" charset="0"/>
                </a:rPr>
                <a:t>u</a:t>
              </a:r>
            </a:p>
          </p:txBody>
        </p:sp>
        <p:cxnSp>
          <p:nvCxnSpPr>
            <p:cNvPr id="45073" name="Straight Connector 45072">
              <a:extLst>
                <a:ext uri="{FF2B5EF4-FFF2-40B4-BE49-F238E27FC236}">
                  <a16:creationId xmlns:a16="http://schemas.microsoft.com/office/drawing/2014/main" id="{74635D27-4D5E-3E17-D217-F05F37010E7F}"/>
                </a:ext>
              </a:extLst>
            </p:cNvPr>
            <p:cNvCxnSpPr>
              <a:stCxn id="45075" idx="0"/>
            </p:cNvCxnSpPr>
            <p:nvPr/>
          </p:nvCxnSpPr>
          <p:spPr>
            <a:xfrm flipH="1">
              <a:off x="3657600" y="1760740"/>
              <a:ext cx="2110530" cy="110616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45084" name="Title 1">
            <a:extLst>
              <a:ext uri="{FF2B5EF4-FFF2-40B4-BE49-F238E27FC236}">
                <a16:creationId xmlns:a16="http://schemas.microsoft.com/office/drawing/2014/main" id="{0FA1F4CC-E8F3-5A8A-1173-B71950EB24BE}"/>
              </a:ext>
            </a:extLst>
          </p:cNvPr>
          <p:cNvSpPr txBox="1">
            <a:spLocks/>
          </p:cNvSpPr>
          <p:nvPr/>
        </p:nvSpPr>
        <p:spPr bwMode="auto">
          <a:xfrm>
            <a:off x="2133600" y="5803620"/>
            <a:ext cx="8229600" cy="9144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rmAutofit fontScale="97500"/>
          </a:bodyPr>
          <a:lstStyle>
            <a:lvl1pPr algn="l" rtl="0" eaLnBrk="0" fontAlgn="base" hangingPunct="0">
              <a:spcBef>
                <a:spcPct val="0"/>
              </a:spcBef>
              <a:spcAft>
                <a:spcPct val="0"/>
              </a:spcAft>
              <a:defRPr sz="4000" kern="1200">
                <a:solidFill>
                  <a:schemeClr val="tx1"/>
                </a:solidFill>
                <a:latin typeface="+mj-lt"/>
                <a:ea typeface="+mj-ea"/>
                <a:cs typeface="+mj-cs"/>
              </a:defRPr>
            </a:lvl1pPr>
            <a:lvl2pPr algn="l" rtl="0" eaLnBrk="0" fontAlgn="base" hangingPunct="0">
              <a:spcBef>
                <a:spcPct val="0"/>
              </a:spcBef>
              <a:spcAft>
                <a:spcPct val="0"/>
              </a:spcAft>
              <a:defRPr sz="3600">
                <a:solidFill>
                  <a:schemeClr val="tx1"/>
                </a:solidFill>
                <a:latin typeface="Calibri" pitchFamily="34" charset="0"/>
              </a:defRPr>
            </a:lvl2pPr>
            <a:lvl3pPr algn="l" rtl="0" eaLnBrk="0" fontAlgn="base" hangingPunct="0">
              <a:spcBef>
                <a:spcPct val="0"/>
              </a:spcBef>
              <a:spcAft>
                <a:spcPct val="0"/>
              </a:spcAft>
              <a:defRPr sz="3600">
                <a:solidFill>
                  <a:schemeClr val="tx1"/>
                </a:solidFill>
                <a:latin typeface="Calibri" pitchFamily="34" charset="0"/>
              </a:defRPr>
            </a:lvl3pPr>
            <a:lvl4pPr algn="l" rtl="0" eaLnBrk="0" fontAlgn="base" hangingPunct="0">
              <a:spcBef>
                <a:spcPct val="0"/>
              </a:spcBef>
              <a:spcAft>
                <a:spcPct val="0"/>
              </a:spcAft>
              <a:defRPr sz="3600">
                <a:solidFill>
                  <a:schemeClr val="tx1"/>
                </a:solidFill>
                <a:latin typeface="Calibri" pitchFamily="34" charset="0"/>
              </a:defRPr>
            </a:lvl4pPr>
            <a:lvl5pPr algn="l" rtl="0" eaLnBrk="0" fontAlgn="base" hangingPunct="0">
              <a:spcBef>
                <a:spcPct val="0"/>
              </a:spcBef>
              <a:spcAft>
                <a:spcPct val="0"/>
              </a:spcAft>
              <a:defRPr sz="3600">
                <a:solidFill>
                  <a:schemeClr val="tx1"/>
                </a:solidFill>
                <a:latin typeface="Calibri" pitchFamily="34" charset="0"/>
              </a:defRPr>
            </a:lvl5pPr>
            <a:lvl6pPr marL="457200" algn="l" rtl="0" fontAlgn="base">
              <a:spcBef>
                <a:spcPct val="0"/>
              </a:spcBef>
              <a:spcAft>
                <a:spcPct val="0"/>
              </a:spcAft>
              <a:defRPr sz="3600">
                <a:solidFill>
                  <a:schemeClr val="tx1"/>
                </a:solidFill>
                <a:latin typeface="Calibri" pitchFamily="34" charset="0"/>
              </a:defRPr>
            </a:lvl6pPr>
            <a:lvl7pPr marL="914400" algn="l" rtl="0" fontAlgn="base">
              <a:spcBef>
                <a:spcPct val="0"/>
              </a:spcBef>
              <a:spcAft>
                <a:spcPct val="0"/>
              </a:spcAft>
              <a:defRPr sz="3600">
                <a:solidFill>
                  <a:schemeClr val="tx1"/>
                </a:solidFill>
                <a:latin typeface="Calibri" pitchFamily="34" charset="0"/>
              </a:defRPr>
            </a:lvl7pPr>
            <a:lvl8pPr marL="1371600" algn="l" rtl="0" fontAlgn="base">
              <a:spcBef>
                <a:spcPct val="0"/>
              </a:spcBef>
              <a:spcAft>
                <a:spcPct val="0"/>
              </a:spcAft>
              <a:defRPr sz="3600">
                <a:solidFill>
                  <a:schemeClr val="tx1"/>
                </a:solidFill>
                <a:latin typeface="Calibri" pitchFamily="34" charset="0"/>
              </a:defRPr>
            </a:lvl8pPr>
            <a:lvl9pPr marL="1828800" algn="l" rtl="0" fontAlgn="base">
              <a:spcBef>
                <a:spcPct val="0"/>
              </a:spcBef>
              <a:spcAft>
                <a:spcPct val="0"/>
              </a:spcAft>
              <a:defRPr sz="3600">
                <a:solidFill>
                  <a:schemeClr val="tx1"/>
                </a:solidFill>
                <a:latin typeface="Calibri" pitchFamily="34" charset="0"/>
              </a:defRPr>
            </a:lvl9pPr>
          </a:lstStyle>
          <a:p>
            <a:pPr algn="ctr">
              <a:defRPr/>
            </a:pPr>
            <a:r>
              <a:rPr lang="en-US" sz="3200" dirty="0">
                <a:latin typeface="Times New Roman" panose="02020603050405020304" pitchFamily="18" charset="0"/>
                <a:cs typeface="Times New Roman" panose="02020603050405020304" pitchFamily="18" charset="0"/>
              </a:rPr>
              <a:t>How do we handle the general case?</a:t>
            </a:r>
          </a:p>
        </p:txBody>
      </p:sp>
    </p:spTree>
    <p:extLst>
      <p:ext uri="{BB962C8B-B14F-4D97-AF65-F5344CB8AC3E}">
        <p14:creationId xmlns:p14="http://schemas.microsoft.com/office/powerpoint/2010/main" val="345165896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4E0E222-A730-4912-9A5F-145BEC2E635B}"/>
              </a:ext>
            </a:extLst>
          </p:cNvPr>
          <p:cNvSpPr>
            <a:spLocks noGrp="1"/>
          </p:cNvSpPr>
          <p:nvPr>
            <p:ph type="title"/>
          </p:nvPr>
        </p:nvSpPr>
        <p:spPr>
          <a:xfrm>
            <a:off x="190458" y="71414"/>
            <a:ext cx="10586061" cy="928694"/>
          </a:xfrm>
        </p:spPr>
        <p:txBody>
          <a:bodyPr>
            <a:normAutofit/>
          </a:bodyPr>
          <a:lstStyle/>
          <a:p>
            <a:pPr>
              <a:defRPr/>
            </a:pPr>
            <a:r>
              <a:rPr lang="en-US" sz="4900" dirty="0"/>
              <a:t>Camera Projection: Watch @ </a:t>
            </a:r>
            <a:r>
              <a:rPr lang="en-US" sz="4900" dirty="0">
                <a:hlinkClick r:id="rId3"/>
              </a:rPr>
              <a:t>YouTube</a:t>
            </a:r>
            <a:endParaRPr lang="en-US" sz="3200" dirty="0"/>
          </a:p>
        </p:txBody>
      </p:sp>
      <p:pic>
        <p:nvPicPr>
          <p:cNvPr id="8" name="Picture 7">
            <a:extLst>
              <a:ext uri="{FF2B5EF4-FFF2-40B4-BE49-F238E27FC236}">
                <a16:creationId xmlns:a16="http://schemas.microsoft.com/office/drawing/2014/main" id="{A1B3F32F-2ACE-6091-D2B1-1BE2F533FA49}"/>
              </a:ext>
            </a:extLst>
          </p:cNvPr>
          <p:cNvPicPr>
            <a:picLocks noChangeAspect="1"/>
          </p:cNvPicPr>
          <p:nvPr/>
        </p:nvPicPr>
        <p:blipFill>
          <a:blip r:embed="rId4"/>
          <a:stretch>
            <a:fillRect/>
          </a:stretch>
        </p:blipFill>
        <p:spPr>
          <a:xfrm>
            <a:off x="190458" y="1268587"/>
            <a:ext cx="10586061" cy="5517999"/>
          </a:xfrm>
          <a:prstGeom prst="rect">
            <a:avLst/>
          </a:prstGeom>
        </p:spPr>
      </p:pic>
    </p:spTree>
    <p:extLst>
      <p:ext uri="{BB962C8B-B14F-4D97-AF65-F5344CB8AC3E}">
        <p14:creationId xmlns:p14="http://schemas.microsoft.com/office/powerpoint/2010/main" val="968857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Grp="1" noChangeArrowheads="1"/>
          </p:cNvSpPr>
          <p:nvPr>
            <p:ph type="title"/>
          </p:nvPr>
        </p:nvSpPr>
        <p:spPr/>
        <p:txBody>
          <a:bodyPr>
            <a:noAutofit/>
          </a:bodyPr>
          <a:lstStyle/>
          <a:p>
            <a:r>
              <a:rPr lang="en-US" sz="6000" dirty="0"/>
              <a:t>Camera Calibration</a:t>
            </a:r>
          </a:p>
        </p:txBody>
      </p:sp>
      <p:sp>
        <p:nvSpPr>
          <p:cNvPr id="57" name="Content Placeholder 56"/>
          <p:cNvSpPr>
            <a:spLocks noGrp="1"/>
          </p:cNvSpPr>
          <p:nvPr>
            <p:ph idx="1"/>
          </p:nvPr>
        </p:nvSpPr>
        <p:spPr>
          <a:xfrm>
            <a:off x="190459" y="1285860"/>
            <a:ext cx="10586061" cy="5500726"/>
          </a:xfrm>
        </p:spPr>
        <p:txBody>
          <a:bodyPr>
            <a:normAutofit/>
          </a:bodyPr>
          <a:lstStyle/>
          <a:p>
            <a:r>
              <a:rPr lang="en-US" dirty="0"/>
              <a:t>is the process of determining the parameters of a camera to correct distortions and map 3D world coordinates to 2D image coordinates accurately.</a:t>
            </a:r>
          </a:p>
          <a:p>
            <a:r>
              <a:rPr lang="en-US" dirty="0"/>
              <a:t>You can use these parameters to correct lens distortion, measure the size of an object in world units, or determine the location of the camera in the scene. </a:t>
            </a:r>
          </a:p>
          <a:p>
            <a:r>
              <a:rPr lang="en-US" dirty="0"/>
              <a:t>These tasks are used in applications such as machine vision to detect and measure objects. They are also used in robotics, for navigation systems, and 3-D scene reconstruction.</a:t>
            </a:r>
          </a:p>
        </p:txBody>
      </p:sp>
    </p:spTree>
    <p:extLst>
      <p:ext uri="{BB962C8B-B14F-4D97-AF65-F5344CB8AC3E}">
        <p14:creationId xmlns:p14="http://schemas.microsoft.com/office/powerpoint/2010/main" val="14091170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Grp="1" noChangeArrowheads="1"/>
          </p:cNvSpPr>
          <p:nvPr>
            <p:ph type="title"/>
          </p:nvPr>
        </p:nvSpPr>
        <p:spPr>
          <a:xfrm>
            <a:off x="190458" y="71414"/>
            <a:ext cx="10730077" cy="928694"/>
          </a:xfrm>
        </p:spPr>
        <p:txBody>
          <a:bodyPr>
            <a:noAutofit/>
          </a:bodyPr>
          <a:lstStyle/>
          <a:p>
            <a:r>
              <a:rPr lang="en-US" sz="6000" dirty="0"/>
              <a:t>Camera Calibration - Applications</a:t>
            </a:r>
          </a:p>
        </p:txBody>
      </p:sp>
      <p:pic>
        <p:nvPicPr>
          <p:cNvPr id="3" name="Picture 2"/>
          <p:cNvPicPr>
            <a:picLocks noChangeAspect="1"/>
          </p:cNvPicPr>
          <p:nvPr/>
        </p:nvPicPr>
        <p:blipFill>
          <a:blip r:embed="rId3"/>
          <a:stretch>
            <a:fillRect/>
          </a:stretch>
        </p:blipFill>
        <p:spPr>
          <a:xfrm>
            <a:off x="623392" y="1268760"/>
            <a:ext cx="9715338" cy="5464878"/>
          </a:xfrm>
          <a:prstGeom prst="rect">
            <a:avLst/>
          </a:prstGeom>
        </p:spPr>
      </p:pic>
    </p:spTree>
    <p:extLst>
      <p:ext uri="{BB962C8B-B14F-4D97-AF65-F5344CB8AC3E}">
        <p14:creationId xmlns:p14="http://schemas.microsoft.com/office/powerpoint/2010/main" val="7884582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Grp="1" noChangeArrowheads="1"/>
          </p:cNvSpPr>
          <p:nvPr>
            <p:ph type="title"/>
          </p:nvPr>
        </p:nvSpPr>
        <p:spPr/>
        <p:txBody>
          <a:bodyPr>
            <a:noAutofit/>
          </a:bodyPr>
          <a:lstStyle/>
          <a:p>
            <a:r>
              <a:rPr lang="en-US" sz="6000" dirty="0"/>
              <a:t>Camera Calibration Parameters</a:t>
            </a:r>
          </a:p>
        </p:txBody>
      </p:sp>
      <p:sp>
        <p:nvSpPr>
          <p:cNvPr id="57" name="Content Placeholder 56"/>
          <p:cNvSpPr>
            <a:spLocks noGrp="1"/>
          </p:cNvSpPr>
          <p:nvPr>
            <p:ph idx="1"/>
          </p:nvPr>
        </p:nvSpPr>
        <p:spPr>
          <a:xfrm>
            <a:off x="190460" y="1285860"/>
            <a:ext cx="10001320" cy="5500726"/>
          </a:xfrm>
        </p:spPr>
        <p:txBody>
          <a:bodyPr>
            <a:normAutofit/>
          </a:bodyPr>
          <a:lstStyle/>
          <a:p>
            <a:r>
              <a:rPr lang="en-US" sz="3600" dirty="0"/>
              <a:t>Camera parameters include </a:t>
            </a:r>
            <a:r>
              <a:rPr lang="en-US" sz="3600" dirty="0" err="1"/>
              <a:t>intrinsics</a:t>
            </a:r>
            <a:r>
              <a:rPr lang="en-US" sz="3600" dirty="0"/>
              <a:t>, </a:t>
            </a:r>
            <a:r>
              <a:rPr lang="en-US" sz="3600" dirty="0" err="1"/>
              <a:t>extrinsics</a:t>
            </a:r>
            <a:r>
              <a:rPr lang="en-US" sz="3600" dirty="0"/>
              <a:t>, and distortion coefficients. To estimate the camera parameters, you need to have 3-D world points and their corresponding 2-D image points. </a:t>
            </a:r>
          </a:p>
          <a:p>
            <a:r>
              <a:rPr lang="en-US" sz="3600" dirty="0"/>
              <a:t>You can get these correspondences using multiple images of a calibration pattern, such as a checkerboard. Using the correspondences, you can solve for the camera parameters. </a:t>
            </a:r>
          </a:p>
        </p:txBody>
      </p:sp>
      <p:pic>
        <p:nvPicPr>
          <p:cNvPr id="3" name="Picture 2"/>
          <p:cNvPicPr>
            <a:picLocks noChangeAspect="1"/>
          </p:cNvPicPr>
          <p:nvPr/>
        </p:nvPicPr>
        <p:blipFill rotWithShape="1">
          <a:blip r:embed="rId3"/>
          <a:srcRect l="6514" t="6339" r="13204" b="8909"/>
          <a:stretch/>
        </p:blipFill>
        <p:spPr>
          <a:xfrm>
            <a:off x="10344472" y="4941168"/>
            <a:ext cx="1728192" cy="1800200"/>
          </a:xfrm>
          <a:prstGeom prst="rect">
            <a:avLst/>
          </a:prstGeom>
        </p:spPr>
      </p:pic>
    </p:spTree>
    <p:extLst>
      <p:ext uri="{BB962C8B-B14F-4D97-AF65-F5344CB8AC3E}">
        <p14:creationId xmlns:p14="http://schemas.microsoft.com/office/powerpoint/2010/main" val="9662159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Grp="1" noChangeArrowheads="1"/>
          </p:cNvSpPr>
          <p:nvPr>
            <p:ph type="title"/>
          </p:nvPr>
        </p:nvSpPr>
        <p:spPr/>
        <p:txBody>
          <a:bodyPr>
            <a:noAutofit/>
          </a:bodyPr>
          <a:lstStyle/>
          <a:p>
            <a:r>
              <a:rPr lang="en-US" sz="6000" dirty="0"/>
              <a:t>Camera Calibration Parameters</a:t>
            </a:r>
          </a:p>
        </p:txBody>
      </p:sp>
      <p:sp>
        <p:nvSpPr>
          <p:cNvPr id="57" name="Content Placeholder 56"/>
          <p:cNvSpPr>
            <a:spLocks noGrp="1"/>
          </p:cNvSpPr>
          <p:nvPr>
            <p:ph idx="1"/>
          </p:nvPr>
        </p:nvSpPr>
        <p:spPr>
          <a:xfrm>
            <a:off x="190459" y="1285860"/>
            <a:ext cx="10586061" cy="5500726"/>
          </a:xfrm>
        </p:spPr>
        <p:txBody>
          <a:bodyPr>
            <a:normAutofit/>
          </a:bodyPr>
          <a:lstStyle/>
          <a:p>
            <a:r>
              <a:rPr lang="en-US" dirty="0"/>
              <a:t>The calibration algorithm calculates the camera matrix using the extrinsic and intrinsic parameters. </a:t>
            </a:r>
          </a:p>
          <a:p>
            <a:r>
              <a:rPr lang="en-US" dirty="0"/>
              <a:t>The extrinsic parameters represent a rigid transformation from 3-D world coordinate system to the 3-D camera’s coordinate system. </a:t>
            </a:r>
          </a:p>
          <a:p>
            <a:r>
              <a:rPr lang="en-US" dirty="0"/>
              <a:t>The intrinsic parameters represent a projective transformation from the 3-D camera’s coordinates into the 2-D image coordinates.</a:t>
            </a:r>
          </a:p>
        </p:txBody>
      </p:sp>
      <p:pic>
        <p:nvPicPr>
          <p:cNvPr id="4" name="Picture 3"/>
          <p:cNvPicPr>
            <a:picLocks noChangeAspect="1"/>
          </p:cNvPicPr>
          <p:nvPr/>
        </p:nvPicPr>
        <p:blipFill rotWithShape="1">
          <a:blip r:embed="rId3"/>
          <a:srcRect t="19181" b="26017"/>
          <a:stretch/>
        </p:blipFill>
        <p:spPr>
          <a:xfrm>
            <a:off x="6232866" y="5013176"/>
            <a:ext cx="5839798" cy="1800200"/>
          </a:xfrm>
          <a:prstGeom prst="rect">
            <a:avLst/>
          </a:prstGeom>
        </p:spPr>
      </p:pic>
    </p:spTree>
    <p:extLst>
      <p:ext uri="{BB962C8B-B14F-4D97-AF65-F5344CB8AC3E}">
        <p14:creationId xmlns:p14="http://schemas.microsoft.com/office/powerpoint/2010/main" val="4466794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Grp="1" noChangeArrowheads="1"/>
          </p:cNvSpPr>
          <p:nvPr>
            <p:ph type="title"/>
          </p:nvPr>
        </p:nvSpPr>
        <p:spPr/>
        <p:txBody>
          <a:bodyPr>
            <a:noAutofit/>
          </a:bodyPr>
          <a:lstStyle/>
          <a:p>
            <a:r>
              <a:rPr lang="en-US" sz="6000" dirty="0"/>
              <a:t>Camera Calibration Parameters</a:t>
            </a:r>
          </a:p>
        </p:txBody>
      </p:sp>
      <p:sp>
        <p:nvSpPr>
          <p:cNvPr id="57" name="Content Placeholder 56"/>
          <p:cNvSpPr>
            <a:spLocks noGrp="1"/>
          </p:cNvSpPr>
          <p:nvPr>
            <p:ph idx="1"/>
          </p:nvPr>
        </p:nvSpPr>
        <p:spPr>
          <a:xfrm>
            <a:off x="190459" y="1285860"/>
            <a:ext cx="10586061" cy="5500726"/>
          </a:xfrm>
        </p:spPr>
        <p:txBody>
          <a:bodyPr>
            <a:normAutofit/>
          </a:bodyPr>
          <a:lstStyle/>
          <a:p>
            <a:r>
              <a:rPr lang="en-US" dirty="0"/>
              <a:t>The </a:t>
            </a:r>
            <a:r>
              <a:rPr lang="en-US" b="1" dirty="0"/>
              <a:t>extrinsic parameters</a:t>
            </a:r>
            <a:r>
              <a:rPr lang="en-US" dirty="0"/>
              <a:t> consist of a rotation, </a:t>
            </a:r>
            <a:r>
              <a:rPr lang="en-US" i="1" dirty="0"/>
              <a:t>R</a:t>
            </a:r>
            <a:r>
              <a:rPr lang="en-US" dirty="0"/>
              <a:t>, and a translation, </a:t>
            </a:r>
            <a:r>
              <a:rPr lang="en-US" i="1" dirty="0"/>
              <a:t>t</a:t>
            </a:r>
            <a:r>
              <a:rPr lang="en-US" dirty="0"/>
              <a:t>. The origin of the camera’s coordinate system is at its optical center and its </a:t>
            </a:r>
            <a:r>
              <a:rPr lang="en-US" i="1" dirty="0"/>
              <a:t>x-</a:t>
            </a:r>
            <a:r>
              <a:rPr lang="en-US" dirty="0"/>
              <a:t> and </a:t>
            </a:r>
            <a:r>
              <a:rPr lang="en-US" i="1" dirty="0"/>
              <a:t>y-</a:t>
            </a:r>
            <a:r>
              <a:rPr lang="en-US" dirty="0"/>
              <a:t>axis define the image plane.</a:t>
            </a:r>
          </a:p>
        </p:txBody>
      </p:sp>
      <p:pic>
        <p:nvPicPr>
          <p:cNvPr id="2" name="Picture 1"/>
          <p:cNvPicPr>
            <a:picLocks noChangeAspect="1"/>
          </p:cNvPicPr>
          <p:nvPr/>
        </p:nvPicPr>
        <p:blipFill>
          <a:blip r:embed="rId3"/>
          <a:stretch>
            <a:fillRect/>
          </a:stretch>
        </p:blipFill>
        <p:spPr>
          <a:xfrm>
            <a:off x="2671762" y="3267422"/>
            <a:ext cx="6848475" cy="2609850"/>
          </a:xfrm>
          <a:prstGeom prst="rect">
            <a:avLst/>
          </a:prstGeom>
        </p:spPr>
      </p:pic>
    </p:spTree>
    <p:extLst>
      <p:ext uri="{BB962C8B-B14F-4D97-AF65-F5344CB8AC3E}">
        <p14:creationId xmlns:p14="http://schemas.microsoft.com/office/powerpoint/2010/main" val="15224718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Grp="1" noChangeArrowheads="1"/>
          </p:cNvSpPr>
          <p:nvPr>
            <p:ph type="title"/>
          </p:nvPr>
        </p:nvSpPr>
        <p:spPr/>
        <p:txBody>
          <a:bodyPr>
            <a:noAutofit/>
          </a:bodyPr>
          <a:lstStyle/>
          <a:p>
            <a:r>
              <a:rPr lang="en-US" sz="6000" dirty="0"/>
              <a:t>Camera Calibration Parameters</a:t>
            </a:r>
          </a:p>
        </p:txBody>
      </p:sp>
      <mc:AlternateContent xmlns:mc="http://schemas.openxmlformats.org/markup-compatibility/2006" xmlns:a14="http://schemas.microsoft.com/office/drawing/2010/main">
        <mc:Choice Requires="a14">
          <p:sp>
            <p:nvSpPr>
              <p:cNvPr id="57" name="Content Placeholder 56"/>
              <p:cNvSpPr>
                <a:spLocks noGrp="1"/>
              </p:cNvSpPr>
              <p:nvPr>
                <p:ph idx="1"/>
              </p:nvPr>
            </p:nvSpPr>
            <p:spPr>
              <a:xfrm>
                <a:off x="190459" y="1285860"/>
                <a:ext cx="11018109" cy="5500726"/>
              </a:xfrm>
            </p:spPr>
            <p:txBody>
              <a:bodyPr>
                <a:noAutofit/>
              </a:bodyPr>
              <a:lstStyle/>
              <a:p>
                <a:r>
                  <a:rPr lang="en-US" sz="2400" dirty="0"/>
                  <a:t>The </a:t>
                </a:r>
                <a:r>
                  <a:rPr lang="en-US" sz="2400" b="1" dirty="0"/>
                  <a:t>intrinsic parameters</a:t>
                </a:r>
                <a:r>
                  <a:rPr lang="en-US" sz="2400" dirty="0"/>
                  <a:t> include the focal length, the optical center, also known as the </a:t>
                </a:r>
                <a:r>
                  <a:rPr lang="en-US" sz="2400" i="1" dirty="0"/>
                  <a:t>principal point</a:t>
                </a:r>
                <a:r>
                  <a:rPr lang="en-US" sz="2400" dirty="0"/>
                  <a:t>, and the skew coefficient. The camera intrinsic matrix, </a:t>
                </a:r>
                <a:r>
                  <a:rPr lang="en-US" sz="2400" i="1" dirty="0"/>
                  <a:t>K</a:t>
                </a:r>
                <a:r>
                  <a:rPr lang="en-US" sz="2400" dirty="0"/>
                  <a:t>, is defined as:</a:t>
                </a:r>
              </a:p>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m>
                            <m:mPr>
                              <m:plcHide m:val="on"/>
                              <m:mcs>
                                <m:mc>
                                  <m:mcPr>
                                    <m:count m:val="3"/>
                                    <m:mcJc m:val="center"/>
                                  </m:mcPr>
                                </m:mc>
                              </m:mcs>
                              <m:ctrlPr>
                                <a:rPr lang="en-US" sz="2400" i="1" smtClean="0">
                                  <a:latin typeface="Cambria Math" panose="02040503050406030204" pitchFamily="18" charset="0"/>
                                </a:rPr>
                              </m:ctrlPr>
                            </m:mPr>
                            <m:mr>
                              <m:e>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𝑓</m:t>
                                    </m:r>
                                  </m:e>
                                  <m:sub>
                                    <m:r>
                                      <a:rPr lang="en-US" sz="2400" b="0" i="1" smtClean="0">
                                        <a:latin typeface="Cambria Math" panose="02040503050406030204" pitchFamily="18" charset="0"/>
                                      </a:rPr>
                                      <m:t>𝑥</m:t>
                                    </m:r>
                                  </m:sub>
                                </m:sSub>
                              </m:e>
                              <m:e>
                                <m:r>
                                  <a:rPr lang="en-US" sz="2400" i="1" smtClean="0">
                                    <a:latin typeface="Cambria Math" panose="02040503050406030204" pitchFamily="18" charset="0"/>
                                  </a:rPr>
                                  <m:t>0</m:t>
                                </m:r>
                              </m:e>
                              <m:e>
                                <m:r>
                                  <a:rPr lang="en-US" sz="2400" i="1" smtClean="0">
                                    <a:latin typeface="Cambria Math" panose="02040503050406030204" pitchFamily="18" charset="0"/>
                                  </a:rPr>
                                  <m:t>0</m:t>
                                </m:r>
                              </m:e>
                            </m:mr>
                            <m:mr>
                              <m:e>
                                <m:r>
                                  <a:rPr lang="en-US" sz="2400" b="0" i="1" smtClean="0">
                                    <a:latin typeface="Cambria Math" panose="02040503050406030204" pitchFamily="18" charset="0"/>
                                  </a:rPr>
                                  <m:t>𝑠</m:t>
                                </m:r>
                              </m:e>
                              <m:e>
                                <m:sSub>
                                  <m:sSubPr>
                                    <m:ctrlPr>
                                      <a:rPr lang="en-US" sz="2400" i="1">
                                        <a:latin typeface="Cambria Math" panose="02040503050406030204" pitchFamily="18" charset="0"/>
                                      </a:rPr>
                                    </m:ctrlPr>
                                  </m:sSubPr>
                                  <m:e>
                                    <m:r>
                                      <a:rPr lang="en-US" sz="2400" i="1">
                                        <a:latin typeface="Cambria Math" panose="02040503050406030204" pitchFamily="18" charset="0"/>
                                      </a:rPr>
                                      <m:t>𝑓</m:t>
                                    </m:r>
                                  </m:e>
                                  <m:sub>
                                    <m:r>
                                      <a:rPr lang="en-US" sz="2400" b="0" i="1" smtClean="0">
                                        <a:latin typeface="Cambria Math" panose="02040503050406030204" pitchFamily="18" charset="0"/>
                                      </a:rPr>
                                      <m:t>𝑦</m:t>
                                    </m:r>
                                  </m:sub>
                                </m:sSub>
                              </m:e>
                              <m:e>
                                <m:r>
                                  <a:rPr lang="en-US" sz="2400" i="1" smtClean="0">
                                    <a:latin typeface="Cambria Math" panose="02040503050406030204" pitchFamily="18" charset="0"/>
                                  </a:rPr>
                                  <m:t>0</m:t>
                                </m:r>
                              </m:e>
                            </m:mr>
                            <m:mr>
                              <m:e>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𝑐</m:t>
                                    </m:r>
                                  </m:e>
                                  <m:sub>
                                    <m:r>
                                      <a:rPr lang="en-US" sz="2400" i="1">
                                        <a:latin typeface="Cambria Math" panose="02040503050406030204" pitchFamily="18" charset="0"/>
                                      </a:rPr>
                                      <m:t>𝑥</m:t>
                                    </m:r>
                                  </m:sub>
                                </m:sSub>
                              </m:e>
                              <m:e>
                                <m:sSub>
                                  <m:sSubPr>
                                    <m:ctrlPr>
                                      <a:rPr lang="en-US" sz="2400" i="1">
                                        <a:latin typeface="Cambria Math" panose="02040503050406030204" pitchFamily="18" charset="0"/>
                                      </a:rPr>
                                    </m:ctrlPr>
                                  </m:sSubPr>
                                  <m:e>
                                    <m:r>
                                      <a:rPr lang="en-US" sz="2400" i="1">
                                        <a:latin typeface="Cambria Math" panose="02040503050406030204" pitchFamily="18" charset="0"/>
                                      </a:rPr>
                                      <m:t>𝑐</m:t>
                                    </m:r>
                                  </m:e>
                                  <m:sub>
                                    <m:r>
                                      <a:rPr lang="en-US" sz="2400" b="0" i="1" smtClean="0">
                                        <a:latin typeface="Cambria Math" panose="02040503050406030204" pitchFamily="18" charset="0"/>
                                      </a:rPr>
                                      <m:t>𝑦</m:t>
                                    </m:r>
                                  </m:sub>
                                </m:sSub>
                              </m:e>
                              <m:e>
                                <m:r>
                                  <a:rPr lang="en-US" sz="2400" i="1" smtClean="0">
                                    <a:latin typeface="Cambria Math" panose="02040503050406030204" pitchFamily="18" charset="0"/>
                                  </a:rPr>
                                  <m:t>1</m:t>
                                </m:r>
                              </m:e>
                            </m:mr>
                          </m:m>
                        </m:e>
                      </m:d>
                    </m:oMath>
                  </m:oMathPara>
                </a14:m>
                <a:endParaRPr lang="en-US" sz="2400" dirty="0"/>
              </a:p>
              <a:p>
                <a:r>
                  <a:rPr lang="en-US" sz="2400" dirty="0"/>
                  <a:t>							The pixel skew is defined as:</a:t>
                </a:r>
              </a:p>
              <a:p>
                <a:pPr algn="l"/>
                <a:r>
                  <a:rPr lang="en-US" sz="2400" dirty="0"/>
                  <a:t>[</a:t>
                </a:r>
                <a:r>
                  <a:rPr lang="en-US" sz="2400" i="1" dirty="0"/>
                  <a:t>c</a:t>
                </a:r>
                <a:r>
                  <a:rPr lang="en-US" sz="2400" i="1" baseline="-25000" dirty="0"/>
                  <a:t>x</a:t>
                </a:r>
                <a:r>
                  <a:rPr lang="en-US" sz="2400" i="1" dirty="0"/>
                  <a:t> c</a:t>
                </a:r>
                <a:r>
                  <a:rPr lang="en-US" sz="2400" i="1" baseline="-25000" dirty="0"/>
                  <a:t>y</a:t>
                </a:r>
                <a:r>
                  <a:rPr lang="en-US" sz="2400" dirty="0"/>
                  <a:t>] — Optical center (the principal point), in pixels.</a:t>
                </a:r>
              </a:p>
              <a:p>
                <a:pPr algn="l"/>
                <a:r>
                  <a:rPr lang="en-US" sz="2400" dirty="0"/>
                  <a:t>(</a:t>
                </a:r>
                <a:r>
                  <a:rPr lang="en-US" sz="2400" i="1" dirty="0" err="1"/>
                  <a:t>f</a:t>
                </a:r>
                <a:r>
                  <a:rPr lang="en-US" sz="2400" i="1" baseline="-25000" dirty="0" err="1"/>
                  <a:t>x</a:t>
                </a:r>
                <a:r>
                  <a:rPr lang="en-US" sz="2400" dirty="0"/>
                  <a:t>, </a:t>
                </a:r>
                <a:r>
                  <a:rPr lang="en-US" sz="2400" i="1" dirty="0" err="1"/>
                  <a:t>f</a:t>
                </a:r>
                <a:r>
                  <a:rPr lang="en-US" sz="2400" i="1" baseline="-25000" dirty="0" err="1"/>
                  <a:t>y</a:t>
                </a:r>
                <a:r>
                  <a:rPr lang="en-US" sz="2400" dirty="0"/>
                  <a:t>) — Focal length in pixels, where </a:t>
                </a:r>
                <a:r>
                  <a:rPr lang="en-US" sz="2400" i="1" dirty="0" err="1"/>
                  <a:t>f</a:t>
                </a:r>
                <a:r>
                  <a:rPr lang="en-US" sz="2400" i="1" baseline="-25000" dirty="0" err="1"/>
                  <a:t>x</a:t>
                </a:r>
                <a:r>
                  <a:rPr lang="en-US" sz="2400" i="1" dirty="0"/>
                  <a:t> </a:t>
                </a:r>
                <a:r>
                  <a:rPr lang="en-US" sz="2400" dirty="0"/>
                  <a:t>= </a:t>
                </a:r>
                <a:r>
                  <a:rPr lang="en-US" sz="2400" i="1" dirty="0"/>
                  <a:t>F</a:t>
                </a:r>
                <a:r>
                  <a:rPr lang="en-US" sz="2400" dirty="0"/>
                  <a:t>/</a:t>
                </a:r>
                <a:r>
                  <a:rPr lang="en-US" sz="2400" i="1" dirty="0" err="1"/>
                  <a:t>p</a:t>
                </a:r>
                <a:r>
                  <a:rPr lang="en-US" sz="2400" i="1" baseline="-25000" dirty="0" err="1"/>
                  <a:t>x</a:t>
                </a:r>
                <a:r>
                  <a:rPr lang="en-US" sz="2400" i="1" dirty="0"/>
                  <a:t>, </a:t>
                </a:r>
                <a:r>
                  <a:rPr lang="en-US" sz="2400" i="1" dirty="0" err="1"/>
                  <a:t>f</a:t>
                </a:r>
                <a:r>
                  <a:rPr lang="en-US" sz="2400" i="1" baseline="-25000" dirty="0" err="1"/>
                  <a:t>y</a:t>
                </a:r>
                <a:r>
                  <a:rPr lang="en-US" sz="2400" dirty="0"/>
                  <a:t>=</a:t>
                </a:r>
                <a:r>
                  <a:rPr lang="en-US" sz="2400" i="1" dirty="0"/>
                  <a:t>F</a:t>
                </a:r>
                <a:r>
                  <a:rPr lang="en-US" sz="2400" dirty="0"/>
                  <a:t>/</a:t>
                </a:r>
                <a:r>
                  <a:rPr lang="en-US" sz="2400" i="1" dirty="0" err="1"/>
                  <a:t>p</a:t>
                </a:r>
                <a:r>
                  <a:rPr lang="en-US" sz="2400" i="1" baseline="-25000" dirty="0" err="1"/>
                  <a:t>y</a:t>
                </a:r>
                <a:endParaRPr lang="en-US" sz="2400" baseline="-25000" dirty="0"/>
              </a:p>
              <a:p>
                <a:pPr algn="l"/>
                <a:r>
                  <a:rPr lang="en-US" sz="2400" i="1" dirty="0"/>
                  <a:t>F</a:t>
                </a:r>
                <a:r>
                  <a:rPr lang="en-US" sz="2400" dirty="0"/>
                  <a:t> — Focal length in world units, typically expressed in millimeters.</a:t>
                </a:r>
              </a:p>
              <a:p>
                <a:pPr algn="l"/>
                <a:r>
                  <a:rPr lang="en-US" sz="2400" dirty="0"/>
                  <a:t>(</a:t>
                </a:r>
                <a:r>
                  <a:rPr lang="en-US" sz="2400" i="1" dirty="0" err="1"/>
                  <a:t>p</a:t>
                </a:r>
                <a:r>
                  <a:rPr lang="en-US" sz="2400" i="1" baseline="-25000" dirty="0" err="1"/>
                  <a:t>x</a:t>
                </a:r>
                <a:r>
                  <a:rPr lang="en-US" sz="2400" dirty="0"/>
                  <a:t>, </a:t>
                </a:r>
                <a:r>
                  <a:rPr lang="en-US" sz="2400" i="1" dirty="0" err="1"/>
                  <a:t>p</a:t>
                </a:r>
                <a:r>
                  <a:rPr lang="en-US" sz="2400" i="1" baseline="-25000" dirty="0" err="1"/>
                  <a:t>y</a:t>
                </a:r>
                <a:r>
                  <a:rPr lang="en-US" sz="2400" dirty="0"/>
                  <a:t>) — Size of the pixel in world units.</a:t>
                </a:r>
              </a:p>
              <a:p>
                <a:pPr algn="l"/>
                <a:r>
                  <a:rPr lang="en-US" sz="2400" i="1" dirty="0"/>
                  <a:t>s</a:t>
                </a:r>
                <a:r>
                  <a:rPr lang="en-US" sz="2400" dirty="0"/>
                  <a:t> — Skew coefficient, which is non-zero if the image axes are not perpendicular.</a:t>
                </a:r>
              </a:p>
              <a:p>
                <a:pPr algn="l"/>
                <a:r>
                  <a:rPr lang="en-US" sz="2400" i="1" dirty="0"/>
                  <a:t>s </a:t>
                </a:r>
                <a:r>
                  <a:rPr lang="en-US" sz="2400" dirty="0"/>
                  <a:t>= </a:t>
                </a:r>
                <a:r>
                  <a:rPr lang="en-US" sz="2400" i="1" dirty="0" err="1"/>
                  <a:t>f</a:t>
                </a:r>
                <a:r>
                  <a:rPr lang="en-US" sz="2400" i="1" baseline="-25000" dirty="0" err="1"/>
                  <a:t>x</a:t>
                </a:r>
                <a:r>
                  <a:rPr lang="en-US" sz="2400" i="1" baseline="-25000" dirty="0"/>
                  <a:t> </a:t>
                </a:r>
                <a:r>
                  <a:rPr lang="en-US" sz="2400" dirty="0"/>
                  <a:t>tan</a:t>
                </a:r>
                <a:r>
                  <a:rPr lang="en-US" sz="2400" i="1" dirty="0"/>
                  <a:t>α</a:t>
                </a:r>
                <a:endParaRPr lang="en-US" sz="2400" dirty="0"/>
              </a:p>
            </p:txBody>
          </p:sp>
        </mc:Choice>
        <mc:Fallback xmlns="">
          <p:sp>
            <p:nvSpPr>
              <p:cNvPr id="57" name="Content Placeholder 56"/>
              <p:cNvSpPr>
                <a:spLocks noGrp="1" noRot="1" noChangeAspect="1" noMove="1" noResize="1" noEditPoints="1" noAdjustHandles="1" noChangeArrowheads="1" noChangeShapeType="1" noTextEdit="1"/>
              </p:cNvSpPr>
              <p:nvPr>
                <p:ph idx="1"/>
              </p:nvPr>
            </p:nvSpPr>
            <p:spPr>
              <a:xfrm>
                <a:off x="190459" y="1285860"/>
                <a:ext cx="11018109" cy="5500726"/>
              </a:xfrm>
              <a:blipFill>
                <a:blip r:embed="rId3"/>
                <a:stretch>
                  <a:fillRect l="-830" t="-887" r="-830" b="-1220"/>
                </a:stretch>
              </a:blipFill>
            </p:spPr>
            <p:txBody>
              <a:bodyPr/>
              <a:lstStyle/>
              <a:p>
                <a:r>
                  <a:rPr lang="en-US">
                    <a:noFill/>
                  </a:rPr>
                  <a:t> </a:t>
                </a:r>
              </a:p>
            </p:txBody>
          </p:sp>
        </mc:Fallback>
      </mc:AlternateContent>
      <p:pic>
        <p:nvPicPr>
          <p:cNvPr id="6" name="Picture 5"/>
          <p:cNvPicPr>
            <a:picLocks noChangeAspect="1"/>
          </p:cNvPicPr>
          <p:nvPr/>
        </p:nvPicPr>
        <p:blipFill>
          <a:blip r:embed="rId4"/>
          <a:stretch>
            <a:fillRect/>
          </a:stretch>
        </p:blipFill>
        <p:spPr>
          <a:xfrm>
            <a:off x="9476224" y="2996952"/>
            <a:ext cx="1660336" cy="1717707"/>
          </a:xfrm>
          <a:prstGeom prst="rect">
            <a:avLst/>
          </a:prstGeom>
        </p:spPr>
      </p:pic>
    </p:spTree>
    <p:extLst>
      <p:ext uri="{BB962C8B-B14F-4D97-AF65-F5344CB8AC3E}">
        <p14:creationId xmlns:p14="http://schemas.microsoft.com/office/powerpoint/2010/main" val="36193609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Grp="1" noChangeArrowheads="1"/>
          </p:cNvSpPr>
          <p:nvPr>
            <p:ph type="title"/>
          </p:nvPr>
        </p:nvSpPr>
        <p:spPr/>
        <p:txBody>
          <a:bodyPr>
            <a:noAutofit/>
          </a:bodyPr>
          <a:lstStyle/>
          <a:p>
            <a:r>
              <a:rPr lang="en-US" sz="6000" dirty="0"/>
              <a:t>Camera Calibration Parameters</a:t>
            </a:r>
          </a:p>
        </p:txBody>
      </p:sp>
      <p:sp>
        <p:nvSpPr>
          <p:cNvPr id="57" name="Content Placeholder 56"/>
          <p:cNvSpPr>
            <a:spLocks noGrp="1"/>
          </p:cNvSpPr>
          <p:nvPr>
            <p:ph idx="1"/>
          </p:nvPr>
        </p:nvSpPr>
        <p:spPr>
          <a:xfrm>
            <a:off x="190459" y="1285860"/>
            <a:ext cx="10586061" cy="5500726"/>
          </a:xfrm>
        </p:spPr>
        <p:txBody>
          <a:bodyPr>
            <a:normAutofit/>
          </a:bodyPr>
          <a:lstStyle/>
          <a:p>
            <a:r>
              <a:rPr lang="en-US" dirty="0"/>
              <a:t>After you calibrate a camera, to evaluate the accuracy of the estimated parameters, you can:</a:t>
            </a:r>
          </a:p>
          <a:p>
            <a:pPr marL="627063" indent="-287338">
              <a:buFont typeface="Courier New" panose="02070309020205020404" pitchFamily="49" charset="0"/>
              <a:buChar char="o"/>
            </a:pPr>
            <a:r>
              <a:rPr lang="en-US" dirty="0"/>
              <a:t>Plot the relative locations of the camera and the calibration pattern</a:t>
            </a:r>
          </a:p>
          <a:p>
            <a:pPr marL="627063" indent="-287338">
              <a:buFont typeface="Courier New" panose="02070309020205020404" pitchFamily="49" charset="0"/>
              <a:buChar char="o"/>
            </a:pPr>
            <a:r>
              <a:rPr lang="en-US" dirty="0"/>
              <a:t>Calculate the </a:t>
            </a:r>
            <a:r>
              <a:rPr lang="en-US" dirty="0" err="1"/>
              <a:t>reprojection</a:t>
            </a:r>
            <a:r>
              <a:rPr lang="en-US" dirty="0"/>
              <a:t> errors.</a:t>
            </a:r>
          </a:p>
          <a:p>
            <a:pPr marL="627063" indent="-287338">
              <a:buFont typeface="Courier New" panose="02070309020205020404" pitchFamily="49" charset="0"/>
              <a:buChar char="o"/>
            </a:pPr>
            <a:r>
              <a:rPr lang="en-US" dirty="0"/>
              <a:t>Calculate the parameter estimation errors.</a:t>
            </a:r>
          </a:p>
        </p:txBody>
      </p:sp>
    </p:spTree>
    <p:extLst>
      <p:ext uri="{BB962C8B-B14F-4D97-AF65-F5344CB8AC3E}">
        <p14:creationId xmlns:p14="http://schemas.microsoft.com/office/powerpoint/2010/main" val="2168198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Grp="1" noChangeArrowheads="1"/>
          </p:cNvSpPr>
          <p:nvPr>
            <p:ph type="title"/>
          </p:nvPr>
        </p:nvSpPr>
        <p:spPr>
          <a:xfrm>
            <a:off x="190458" y="71414"/>
            <a:ext cx="10442045" cy="928694"/>
          </a:xfrm>
        </p:spPr>
        <p:txBody>
          <a:bodyPr>
            <a:noAutofit/>
          </a:bodyPr>
          <a:lstStyle/>
          <a:p>
            <a:r>
              <a:rPr lang="en-US" sz="6000" dirty="0"/>
              <a:t>Distortion in Camera Calibration</a:t>
            </a:r>
          </a:p>
        </p:txBody>
      </p:sp>
      <p:sp>
        <p:nvSpPr>
          <p:cNvPr id="57" name="Content Placeholder 56"/>
          <p:cNvSpPr>
            <a:spLocks noGrp="1"/>
          </p:cNvSpPr>
          <p:nvPr>
            <p:ph idx="1"/>
          </p:nvPr>
        </p:nvSpPr>
        <p:spPr>
          <a:xfrm>
            <a:off x="190459" y="1285860"/>
            <a:ext cx="10586061" cy="5500726"/>
          </a:xfrm>
        </p:spPr>
        <p:txBody>
          <a:bodyPr>
            <a:normAutofit/>
          </a:bodyPr>
          <a:lstStyle/>
          <a:p>
            <a:r>
              <a:rPr lang="en-US" dirty="0"/>
              <a:t>The camera matrix does not account for lens distortion because an ideal pinhole camera does not have a lens. </a:t>
            </a:r>
          </a:p>
          <a:p>
            <a:r>
              <a:rPr lang="en-US" dirty="0"/>
              <a:t>To accurately represent a real camera, the camera model includes the radial and tangential lens distortion.</a:t>
            </a:r>
            <a:endParaRPr lang="en-US" b="1" dirty="0"/>
          </a:p>
          <a:p>
            <a:r>
              <a:rPr lang="en-US" b="1" dirty="0"/>
              <a:t>Radial distortion</a:t>
            </a:r>
            <a:r>
              <a:rPr lang="en-US" dirty="0"/>
              <a:t> occurs when light rays bend more near the edges of a lens than they do at its optical center. The smaller the lens, the greater the distortion.</a:t>
            </a:r>
            <a:endParaRPr lang="en-US" dirty="0">
              <a:effectLst/>
            </a:endParaRPr>
          </a:p>
        </p:txBody>
      </p:sp>
      <p:pic>
        <p:nvPicPr>
          <p:cNvPr id="2" name="Picture 1"/>
          <p:cNvPicPr>
            <a:picLocks noChangeAspect="1"/>
          </p:cNvPicPr>
          <p:nvPr/>
        </p:nvPicPr>
        <p:blipFill>
          <a:blip r:embed="rId3"/>
          <a:stretch>
            <a:fillRect/>
          </a:stretch>
        </p:blipFill>
        <p:spPr>
          <a:xfrm>
            <a:off x="6286891" y="4653135"/>
            <a:ext cx="5785773" cy="1944217"/>
          </a:xfrm>
          <a:prstGeom prst="rect">
            <a:avLst/>
          </a:prstGeom>
        </p:spPr>
      </p:pic>
    </p:spTree>
    <p:extLst>
      <p:ext uri="{BB962C8B-B14F-4D97-AF65-F5344CB8AC3E}">
        <p14:creationId xmlns:p14="http://schemas.microsoft.com/office/powerpoint/2010/main" val="26215334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Grp="1" noChangeArrowheads="1"/>
          </p:cNvSpPr>
          <p:nvPr>
            <p:ph type="title"/>
          </p:nvPr>
        </p:nvSpPr>
        <p:spPr>
          <a:xfrm>
            <a:off x="190458" y="71414"/>
            <a:ext cx="10442045" cy="928694"/>
          </a:xfrm>
        </p:spPr>
        <p:txBody>
          <a:bodyPr>
            <a:noAutofit/>
          </a:bodyPr>
          <a:lstStyle/>
          <a:p>
            <a:r>
              <a:rPr lang="en-US" sz="6000" dirty="0"/>
              <a:t>Distortion in Camera Calibration</a:t>
            </a:r>
          </a:p>
        </p:txBody>
      </p:sp>
      <p:sp>
        <p:nvSpPr>
          <p:cNvPr id="57" name="Content Placeholder 56"/>
          <p:cNvSpPr>
            <a:spLocks noGrp="1"/>
          </p:cNvSpPr>
          <p:nvPr>
            <p:ph idx="1"/>
          </p:nvPr>
        </p:nvSpPr>
        <p:spPr>
          <a:xfrm>
            <a:off x="190459" y="1285860"/>
            <a:ext cx="10586061" cy="5500726"/>
          </a:xfrm>
        </p:spPr>
        <p:txBody>
          <a:bodyPr>
            <a:noAutofit/>
          </a:bodyPr>
          <a:lstStyle/>
          <a:p>
            <a:pPr>
              <a:spcBef>
                <a:spcPts val="600"/>
              </a:spcBef>
              <a:spcAft>
                <a:spcPts val="600"/>
              </a:spcAft>
            </a:pPr>
            <a:r>
              <a:rPr lang="en-US" sz="2400" dirty="0"/>
              <a:t>The radial distortion coefficients model this type of distortion. The distorted points are denoted as (</a:t>
            </a:r>
            <a:r>
              <a:rPr lang="en-US" sz="2400" i="1" dirty="0" err="1"/>
              <a:t>x</a:t>
            </a:r>
            <a:r>
              <a:rPr lang="en-US" sz="2400" baseline="-25000" dirty="0" err="1"/>
              <a:t>distorted</a:t>
            </a:r>
            <a:r>
              <a:rPr lang="en-US" sz="2400" dirty="0"/>
              <a:t>, </a:t>
            </a:r>
            <a:r>
              <a:rPr lang="en-US" sz="2400" i="1" dirty="0" err="1"/>
              <a:t>y</a:t>
            </a:r>
            <a:r>
              <a:rPr lang="en-US" sz="2400" baseline="-25000" dirty="0" err="1"/>
              <a:t>distorted</a:t>
            </a:r>
            <a:r>
              <a:rPr lang="en-US" sz="2400" dirty="0"/>
              <a:t>):</a:t>
            </a:r>
          </a:p>
          <a:p>
            <a:pPr>
              <a:spcBef>
                <a:spcPts val="600"/>
              </a:spcBef>
              <a:spcAft>
                <a:spcPts val="600"/>
              </a:spcAft>
            </a:pPr>
            <a:r>
              <a:rPr lang="en-US" sz="2400" i="1" dirty="0" err="1"/>
              <a:t>x</a:t>
            </a:r>
            <a:r>
              <a:rPr lang="en-US" sz="2400" baseline="-25000" dirty="0" err="1"/>
              <a:t>distorted</a:t>
            </a:r>
            <a:r>
              <a:rPr lang="en-US" sz="2400" dirty="0"/>
              <a:t> = </a:t>
            </a:r>
            <a:r>
              <a:rPr lang="en-US" sz="2400" i="1" dirty="0"/>
              <a:t>x</a:t>
            </a:r>
            <a:r>
              <a:rPr lang="en-US" sz="2400" dirty="0"/>
              <a:t>(1 + </a:t>
            </a:r>
            <a:r>
              <a:rPr lang="en-US" sz="2400" i="1" dirty="0"/>
              <a:t>k</a:t>
            </a:r>
            <a:r>
              <a:rPr lang="en-US" sz="2400" baseline="-25000" dirty="0"/>
              <a:t>1</a:t>
            </a:r>
            <a:r>
              <a:rPr lang="en-US" sz="2400" dirty="0"/>
              <a:t>*</a:t>
            </a:r>
            <a:r>
              <a:rPr lang="en-US" sz="2400" i="1" dirty="0"/>
              <a:t>r</a:t>
            </a:r>
            <a:r>
              <a:rPr lang="en-US" sz="2400" baseline="30000" dirty="0"/>
              <a:t>2</a:t>
            </a:r>
            <a:r>
              <a:rPr lang="en-US" sz="2400" dirty="0"/>
              <a:t> + </a:t>
            </a:r>
            <a:r>
              <a:rPr lang="en-US" sz="2400" i="1" dirty="0"/>
              <a:t>k</a:t>
            </a:r>
            <a:r>
              <a:rPr lang="en-US" sz="2400" baseline="-25000" dirty="0"/>
              <a:t>2</a:t>
            </a:r>
            <a:r>
              <a:rPr lang="en-US" sz="2400" dirty="0"/>
              <a:t>*</a:t>
            </a:r>
            <a:r>
              <a:rPr lang="en-US" sz="2400" i="1" dirty="0"/>
              <a:t>r</a:t>
            </a:r>
            <a:r>
              <a:rPr lang="en-US" sz="2400" baseline="30000" dirty="0"/>
              <a:t>4</a:t>
            </a:r>
            <a:r>
              <a:rPr lang="en-US" sz="2400" dirty="0"/>
              <a:t> + </a:t>
            </a:r>
            <a:r>
              <a:rPr lang="en-US" sz="2400" i="1" dirty="0"/>
              <a:t>k</a:t>
            </a:r>
            <a:r>
              <a:rPr lang="en-US" sz="2400" baseline="-25000" dirty="0"/>
              <a:t>3</a:t>
            </a:r>
            <a:r>
              <a:rPr lang="en-US" sz="2400" dirty="0"/>
              <a:t>*</a:t>
            </a:r>
            <a:r>
              <a:rPr lang="en-US" sz="2400" i="1" dirty="0"/>
              <a:t>r</a:t>
            </a:r>
            <a:r>
              <a:rPr lang="en-US" sz="2400" baseline="30000" dirty="0"/>
              <a:t>6</a:t>
            </a:r>
            <a:r>
              <a:rPr lang="en-US" sz="2400" dirty="0"/>
              <a:t>)</a:t>
            </a:r>
          </a:p>
          <a:p>
            <a:pPr>
              <a:spcBef>
                <a:spcPts val="600"/>
              </a:spcBef>
              <a:spcAft>
                <a:spcPts val="600"/>
              </a:spcAft>
            </a:pPr>
            <a:r>
              <a:rPr lang="en-US" sz="2400" i="1" dirty="0" err="1"/>
              <a:t>y</a:t>
            </a:r>
            <a:r>
              <a:rPr lang="en-US" sz="2400" baseline="-25000" dirty="0" err="1"/>
              <a:t>distorted</a:t>
            </a:r>
            <a:r>
              <a:rPr lang="en-US" sz="2400" dirty="0"/>
              <a:t>= </a:t>
            </a:r>
            <a:r>
              <a:rPr lang="en-US" sz="2400" i="1" dirty="0"/>
              <a:t>y</a:t>
            </a:r>
            <a:r>
              <a:rPr lang="en-US" sz="2400" dirty="0"/>
              <a:t>(1 + </a:t>
            </a:r>
            <a:r>
              <a:rPr lang="en-US" sz="2400" i="1" dirty="0"/>
              <a:t>k</a:t>
            </a:r>
            <a:r>
              <a:rPr lang="en-US" sz="2400" baseline="-25000" dirty="0"/>
              <a:t>1</a:t>
            </a:r>
            <a:r>
              <a:rPr lang="en-US" sz="2400" dirty="0"/>
              <a:t>*</a:t>
            </a:r>
            <a:r>
              <a:rPr lang="en-US" sz="2400" i="1" dirty="0"/>
              <a:t>r</a:t>
            </a:r>
            <a:r>
              <a:rPr lang="en-US" sz="2400" baseline="30000" dirty="0"/>
              <a:t>2</a:t>
            </a:r>
            <a:r>
              <a:rPr lang="en-US" sz="2400" dirty="0"/>
              <a:t> + </a:t>
            </a:r>
            <a:r>
              <a:rPr lang="en-US" sz="2400" i="1" dirty="0"/>
              <a:t>k</a:t>
            </a:r>
            <a:r>
              <a:rPr lang="en-US" sz="2400" baseline="-25000" dirty="0"/>
              <a:t>2</a:t>
            </a:r>
            <a:r>
              <a:rPr lang="en-US" sz="2400" dirty="0"/>
              <a:t>*</a:t>
            </a:r>
            <a:r>
              <a:rPr lang="en-US" sz="2400" i="1" dirty="0"/>
              <a:t>r</a:t>
            </a:r>
            <a:r>
              <a:rPr lang="en-US" sz="2400" baseline="30000" dirty="0"/>
              <a:t>4</a:t>
            </a:r>
            <a:r>
              <a:rPr lang="en-US" sz="2400" dirty="0"/>
              <a:t> + </a:t>
            </a:r>
            <a:r>
              <a:rPr lang="en-US" sz="2400" i="1" dirty="0"/>
              <a:t>k</a:t>
            </a:r>
            <a:r>
              <a:rPr lang="en-US" sz="2400" baseline="-25000" dirty="0"/>
              <a:t>3</a:t>
            </a:r>
            <a:r>
              <a:rPr lang="en-US" sz="2400" dirty="0"/>
              <a:t>*</a:t>
            </a:r>
            <a:r>
              <a:rPr lang="en-US" sz="2400" i="1" dirty="0"/>
              <a:t>r</a:t>
            </a:r>
            <a:r>
              <a:rPr lang="en-US" sz="2400" baseline="30000" dirty="0"/>
              <a:t>6</a:t>
            </a:r>
            <a:r>
              <a:rPr lang="en-US" sz="2400" dirty="0"/>
              <a:t>)</a:t>
            </a:r>
          </a:p>
          <a:p>
            <a:pPr>
              <a:spcBef>
                <a:spcPts val="600"/>
              </a:spcBef>
              <a:spcAft>
                <a:spcPts val="600"/>
              </a:spcAft>
            </a:pPr>
            <a:r>
              <a:rPr lang="en-US" sz="2400" i="1" dirty="0"/>
              <a:t>x</a:t>
            </a:r>
            <a:r>
              <a:rPr lang="en-US" sz="2400" dirty="0"/>
              <a:t>, </a:t>
            </a:r>
            <a:r>
              <a:rPr lang="en-US" sz="2400" i="1" dirty="0"/>
              <a:t>y</a:t>
            </a:r>
            <a:r>
              <a:rPr lang="en-US" sz="2400" dirty="0"/>
              <a:t> — Undistorted pixel locations. </a:t>
            </a:r>
            <a:r>
              <a:rPr lang="en-US" sz="2400" i="1" dirty="0"/>
              <a:t>x</a:t>
            </a:r>
            <a:r>
              <a:rPr lang="en-US" sz="2400" dirty="0"/>
              <a:t> and </a:t>
            </a:r>
            <a:r>
              <a:rPr lang="en-US" sz="2400" i="1" dirty="0"/>
              <a:t>y</a:t>
            </a:r>
            <a:r>
              <a:rPr lang="en-US" sz="2400" dirty="0"/>
              <a:t> are in normalized image coordinates. Normalized image coordinates are calculated from pixel coordinates by translating to the optical center and dividing by the focal length in pixels. Thus, </a:t>
            </a:r>
            <a:r>
              <a:rPr lang="en-US" sz="2400" i="1" dirty="0"/>
              <a:t>x</a:t>
            </a:r>
            <a:r>
              <a:rPr lang="en-US" sz="2400" dirty="0"/>
              <a:t> and </a:t>
            </a:r>
            <a:r>
              <a:rPr lang="en-US" sz="2400" i="1" dirty="0"/>
              <a:t>y</a:t>
            </a:r>
            <a:r>
              <a:rPr lang="en-US" sz="2400" dirty="0"/>
              <a:t> are dimensionless.</a:t>
            </a:r>
          </a:p>
          <a:p>
            <a:pPr>
              <a:spcBef>
                <a:spcPts val="600"/>
              </a:spcBef>
              <a:spcAft>
                <a:spcPts val="600"/>
              </a:spcAft>
            </a:pPr>
            <a:r>
              <a:rPr lang="en-US" sz="2400" i="1" dirty="0"/>
              <a:t>k</a:t>
            </a:r>
            <a:r>
              <a:rPr lang="en-US" sz="2400" baseline="-25000" dirty="0"/>
              <a:t>1</a:t>
            </a:r>
            <a:r>
              <a:rPr lang="en-US" sz="2400" dirty="0"/>
              <a:t>, </a:t>
            </a:r>
            <a:r>
              <a:rPr lang="en-US" sz="2400" i="1" dirty="0"/>
              <a:t>k</a:t>
            </a:r>
            <a:r>
              <a:rPr lang="en-US" sz="2400" baseline="-25000" dirty="0"/>
              <a:t>2</a:t>
            </a:r>
            <a:r>
              <a:rPr lang="en-US" sz="2400" dirty="0"/>
              <a:t>, and </a:t>
            </a:r>
            <a:r>
              <a:rPr lang="en-US" sz="2400" i="1" dirty="0"/>
              <a:t>k</a:t>
            </a:r>
            <a:r>
              <a:rPr lang="en-US" sz="2400" baseline="-25000" dirty="0"/>
              <a:t>3</a:t>
            </a:r>
            <a:r>
              <a:rPr lang="en-US" sz="2400" dirty="0"/>
              <a:t> — Radial distortion coefficients of the lens.</a:t>
            </a:r>
          </a:p>
          <a:p>
            <a:pPr>
              <a:spcBef>
                <a:spcPts val="600"/>
              </a:spcBef>
              <a:spcAft>
                <a:spcPts val="600"/>
              </a:spcAft>
            </a:pPr>
            <a:r>
              <a:rPr lang="en-US" sz="2400" i="1" dirty="0"/>
              <a:t>r</a:t>
            </a:r>
            <a:r>
              <a:rPr lang="en-US" sz="2400" baseline="30000" dirty="0"/>
              <a:t>2</a:t>
            </a:r>
            <a:r>
              <a:rPr lang="en-US" sz="2400" dirty="0"/>
              <a:t>: </a:t>
            </a:r>
            <a:r>
              <a:rPr lang="en-US" sz="2400" i="1" dirty="0"/>
              <a:t>x</a:t>
            </a:r>
            <a:r>
              <a:rPr lang="en-US" sz="2400" baseline="30000" dirty="0"/>
              <a:t>2</a:t>
            </a:r>
            <a:r>
              <a:rPr lang="en-US" sz="2400" dirty="0"/>
              <a:t> + </a:t>
            </a:r>
            <a:r>
              <a:rPr lang="en-US" sz="2400" i="1" dirty="0"/>
              <a:t>y</a:t>
            </a:r>
            <a:r>
              <a:rPr lang="en-US" sz="2400" baseline="30000" dirty="0"/>
              <a:t>2</a:t>
            </a:r>
            <a:endParaRPr lang="en-US" sz="2400" dirty="0"/>
          </a:p>
          <a:p>
            <a:pPr>
              <a:spcBef>
                <a:spcPts val="600"/>
              </a:spcBef>
              <a:spcAft>
                <a:spcPts val="600"/>
              </a:spcAft>
            </a:pPr>
            <a:r>
              <a:rPr lang="en-US" sz="2400" dirty="0"/>
              <a:t>Typically, two coefficients are sufficient for calibration. For severe distortion, such as in wide-angle lenses, you can select 3 coefficients to include </a:t>
            </a:r>
            <a:r>
              <a:rPr lang="en-US" sz="2400" i="1" dirty="0"/>
              <a:t>k</a:t>
            </a:r>
            <a:r>
              <a:rPr lang="en-US" sz="2400" baseline="-25000" dirty="0"/>
              <a:t>3</a:t>
            </a:r>
            <a:r>
              <a:rPr lang="en-US" sz="2400" dirty="0"/>
              <a:t>.</a:t>
            </a:r>
          </a:p>
        </p:txBody>
      </p:sp>
    </p:spTree>
    <p:extLst>
      <p:ext uri="{BB962C8B-B14F-4D97-AF65-F5344CB8AC3E}">
        <p14:creationId xmlns:p14="http://schemas.microsoft.com/office/powerpoint/2010/main" val="22613050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Grp="1" noChangeArrowheads="1"/>
          </p:cNvSpPr>
          <p:nvPr>
            <p:ph type="title"/>
          </p:nvPr>
        </p:nvSpPr>
        <p:spPr>
          <a:xfrm>
            <a:off x="190458" y="71414"/>
            <a:ext cx="10442045" cy="928694"/>
          </a:xfrm>
        </p:spPr>
        <p:txBody>
          <a:bodyPr>
            <a:noAutofit/>
          </a:bodyPr>
          <a:lstStyle/>
          <a:p>
            <a:r>
              <a:rPr lang="en-US" sz="6000" dirty="0"/>
              <a:t>Distortion in Camera Calibration</a:t>
            </a:r>
          </a:p>
        </p:txBody>
      </p:sp>
      <p:sp>
        <p:nvSpPr>
          <p:cNvPr id="57" name="Content Placeholder 56"/>
          <p:cNvSpPr>
            <a:spLocks noGrp="1"/>
          </p:cNvSpPr>
          <p:nvPr>
            <p:ph idx="1"/>
          </p:nvPr>
        </p:nvSpPr>
        <p:spPr>
          <a:xfrm>
            <a:off x="190459" y="1285860"/>
            <a:ext cx="10586061" cy="5500726"/>
          </a:xfrm>
        </p:spPr>
        <p:txBody>
          <a:bodyPr>
            <a:normAutofit/>
          </a:bodyPr>
          <a:lstStyle/>
          <a:p>
            <a:r>
              <a:rPr lang="en-US" b="1" dirty="0"/>
              <a:t>Tangential distortion </a:t>
            </a:r>
            <a:r>
              <a:rPr lang="en-US" dirty="0"/>
              <a:t>occurs when the lens and the image plane are not parallel. The tangential distortion coefficients model this type of distortion.</a:t>
            </a:r>
            <a:endParaRPr lang="en-US" dirty="0">
              <a:effectLst/>
            </a:endParaRPr>
          </a:p>
        </p:txBody>
      </p:sp>
      <p:pic>
        <p:nvPicPr>
          <p:cNvPr id="3" name="Picture 2"/>
          <p:cNvPicPr>
            <a:picLocks noChangeAspect="1"/>
          </p:cNvPicPr>
          <p:nvPr/>
        </p:nvPicPr>
        <p:blipFill>
          <a:blip r:embed="rId3"/>
          <a:stretch>
            <a:fillRect/>
          </a:stretch>
        </p:blipFill>
        <p:spPr>
          <a:xfrm>
            <a:off x="4079776" y="3140968"/>
            <a:ext cx="6668455" cy="3528392"/>
          </a:xfrm>
          <a:prstGeom prst="rect">
            <a:avLst/>
          </a:prstGeom>
        </p:spPr>
      </p:pic>
    </p:spTree>
    <p:extLst>
      <p:ext uri="{BB962C8B-B14F-4D97-AF65-F5344CB8AC3E}">
        <p14:creationId xmlns:p14="http://schemas.microsoft.com/office/powerpoint/2010/main" val="8252470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Rectangle 2"/>
          <p:cNvSpPr>
            <a:spLocks noGrp="1" noChangeArrowheads="1"/>
          </p:cNvSpPr>
          <p:nvPr>
            <p:ph type="title"/>
          </p:nvPr>
        </p:nvSpPr>
        <p:spPr>
          <a:xfrm>
            <a:off x="190458" y="71414"/>
            <a:ext cx="10442045" cy="928694"/>
          </a:xfrm>
        </p:spPr>
        <p:txBody>
          <a:bodyPr>
            <a:noAutofit/>
          </a:bodyPr>
          <a:lstStyle/>
          <a:p>
            <a:r>
              <a:rPr lang="en-US" sz="6000" dirty="0"/>
              <a:t>Distortion in Camera Calibration</a:t>
            </a:r>
          </a:p>
        </p:txBody>
      </p:sp>
      <p:sp>
        <p:nvSpPr>
          <p:cNvPr id="57" name="Content Placeholder 56"/>
          <p:cNvSpPr>
            <a:spLocks noGrp="1"/>
          </p:cNvSpPr>
          <p:nvPr>
            <p:ph idx="1"/>
          </p:nvPr>
        </p:nvSpPr>
        <p:spPr>
          <a:xfrm>
            <a:off x="190459" y="1285860"/>
            <a:ext cx="10586061" cy="5500726"/>
          </a:xfrm>
        </p:spPr>
        <p:txBody>
          <a:bodyPr>
            <a:normAutofit lnSpcReduction="10000"/>
          </a:bodyPr>
          <a:lstStyle/>
          <a:p>
            <a:pPr>
              <a:spcBef>
                <a:spcPts val="600"/>
              </a:spcBef>
              <a:spcAft>
                <a:spcPts val="600"/>
              </a:spcAft>
            </a:pPr>
            <a:r>
              <a:rPr lang="en-US" dirty="0"/>
              <a:t>The distorted points are denoted as (</a:t>
            </a:r>
            <a:r>
              <a:rPr lang="en-US" i="1" dirty="0" err="1"/>
              <a:t>x</a:t>
            </a:r>
            <a:r>
              <a:rPr lang="en-US" baseline="-25000" dirty="0" err="1"/>
              <a:t>distorted</a:t>
            </a:r>
            <a:r>
              <a:rPr lang="en-US" dirty="0"/>
              <a:t>, </a:t>
            </a:r>
            <a:r>
              <a:rPr lang="en-US" i="1" dirty="0" err="1"/>
              <a:t>y</a:t>
            </a:r>
            <a:r>
              <a:rPr lang="en-US" baseline="-25000" dirty="0" err="1"/>
              <a:t>distorted</a:t>
            </a:r>
            <a:r>
              <a:rPr lang="en-US" dirty="0"/>
              <a:t>):</a:t>
            </a:r>
          </a:p>
          <a:p>
            <a:pPr>
              <a:spcBef>
                <a:spcPts val="600"/>
              </a:spcBef>
              <a:spcAft>
                <a:spcPts val="600"/>
              </a:spcAft>
            </a:pPr>
            <a:r>
              <a:rPr lang="en-US" i="1" dirty="0" err="1"/>
              <a:t>x</a:t>
            </a:r>
            <a:r>
              <a:rPr lang="en-US" baseline="-25000" dirty="0" err="1"/>
              <a:t>distorted</a:t>
            </a:r>
            <a:r>
              <a:rPr lang="en-US" dirty="0"/>
              <a:t> = </a:t>
            </a:r>
            <a:r>
              <a:rPr lang="en-US" i="1" dirty="0"/>
              <a:t>x</a:t>
            </a:r>
            <a:r>
              <a:rPr lang="en-US" dirty="0"/>
              <a:t> + [2 * </a:t>
            </a:r>
            <a:r>
              <a:rPr lang="en-US" i="1" dirty="0"/>
              <a:t>p</a:t>
            </a:r>
            <a:r>
              <a:rPr lang="en-US" baseline="-25000" dirty="0"/>
              <a:t>1</a:t>
            </a:r>
            <a:r>
              <a:rPr lang="en-US" dirty="0"/>
              <a:t> * </a:t>
            </a:r>
            <a:r>
              <a:rPr lang="en-US" i="1" dirty="0"/>
              <a:t>x</a:t>
            </a:r>
            <a:r>
              <a:rPr lang="en-US" dirty="0"/>
              <a:t> * </a:t>
            </a:r>
            <a:r>
              <a:rPr lang="en-US" i="1" dirty="0"/>
              <a:t>y</a:t>
            </a:r>
            <a:r>
              <a:rPr lang="en-US" dirty="0"/>
              <a:t> + </a:t>
            </a:r>
            <a:r>
              <a:rPr lang="en-US" i="1" dirty="0"/>
              <a:t>p</a:t>
            </a:r>
            <a:r>
              <a:rPr lang="en-US" baseline="-25000" dirty="0"/>
              <a:t>2</a:t>
            </a:r>
            <a:r>
              <a:rPr lang="en-US" dirty="0"/>
              <a:t> * (</a:t>
            </a:r>
            <a:r>
              <a:rPr lang="en-US" i="1" dirty="0"/>
              <a:t>r</a:t>
            </a:r>
            <a:r>
              <a:rPr lang="en-US" baseline="30000" dirty="0"/>
              <a:t>2</a:t>
            </a:r>
            <a:r>
              <a:rPr lang="en-US" dirty="0"/>
              <a:t> + 2 * </a:t>
            </a:r>
            <a:r>
              <a:rPr lang="en-US" i="1" dirty="0"/>
              <a:t>x</a:t>
            </a:r>
            <a:r>
              <a:rPr lang="en-US" baseline="30000" dirty="0"/>
              <a:t>2</a:t>
            </a:r>
            <a:r>
              <a:rPr lang="en-US" dirty="0"/>
              <a:t>)]</a:t>
            </a:r>
          </a:p>
          <a:p>
            <a:pPr>
              <a:spcBef>
                <a:spcPts val="600"/>
              </a:spcBef>
              <a:spcAft>
                <a:spcPts val="600"/>
              </a:spcAft>
            </a:pPr>
            <a:r>
              <a:rPr lang="en-US" i="1" dirty="0" err="1"/>
              <a:t>y</a:t>
            </a:r>
            <a:r>
              <a:rPr lang="en-US" baseline="-25000" dirty="0" err="1"/>
              <a:t>distorted</a:t>
            </a:r>
            <a:r>
              <a:rPr lang="en-US" dirty="0"/>
              <a:t> = </a:t>
            </a:r>
            <a:r>
              <a:rPr lang="en-US" i="1" dirty="0"/>
              <a:t>y</a:t>
            </a:r>
            <a:r>
              <a:rPr lang="en-US" dirty="0"/>
              <a:t> + [</a:t>
            </a:r>
            <a:r>
              <a:rPr lang="en-US" i="1" dirty="0"/>
              <a:t>p</a:t>
            </a:r>
            <a:r>
              <a:rPr lang="en-US" baseline="-25000" dirty="0"/>
              <a:t>1</a:t>
            </a:r>
            <a:r>
              <a:rPr lang="en-US" dirty="0"/>
              <a:t> * (</a:t>
            </a:r>
            <a:r>
              <a:rPr lang="en-US" i="1" dirty="0"/>
              <a:t>r</a:t>
            </a:r>
            <a:r>
              <a:rPr lang="en-US" baseline="30000" dirty="0"/>
              <a:t>2</a:t>
            </a:r>
            <a:r>
              <a:rPr lang="en-US" dirty="0"/>
              <a:t> + 2 *</a:t>
            </a:r>
            <a:r>
              <a:rPr lang="en-US" i="1" dirty="0"/>
              <a:t>y</a:t>
            </a:r>
            <a:r>
              <a:rPr lang="en-US" baseline="30000" dirty="0"/>
              <a:t>2</a:t>
            </a:r>
            <a:r>
              <a:rPr lang="en-US" dirty="0"/>
              <a:t>) + 2 * </a:t>
            </a:r>
            <a:r>
              <a:rPr lang="en-US" i="1" dirty="0"/>
              <a:t>p</a:t>
            </a:r>
            <a:r>
              <a:rPr lang="en-US" baseline="-25000" dirty="0"/>
              <a:t>2</a:t>
            </a:r>
            <a:r>
              <a:rPr lang="en-US" dirty="0"/>
              <a:t> * </a:t>
            </a:r>
            <a:r>
              <a:rPr lang="en-US" i="1" dirty="0"/>
              <a:t>x</a:t>
            </a:r>
            <a:r>
              <a:rPr lang="en-US" dirty="0"/>
              <a:t> * </a:t>
            </a:r>
            <a:r>
              <a:rPr lang="en-US" i="1" dirty="0"/>
              <a:t>y</a:t>
            </a:r>
            <a:r>
              <a:rPr lang="en-US" dirty="0"/>
              <a:t>]</a:t>
            </a:r>
          </a:p>
          <a:p>
            <a:pPr>
              <a:spcBef>
                <a:spcPts val="600"/>
              </a:spcBef>
              <a:spcAft>
                <a:spcPts val="600"/>
              </a:spcAft>
            </a:pPr>
            <a:r>
              <a:rPr lang="en-US" i="1" dirty="0"/>
              <a:t>x</a:t>
            </a:r>
            <a:r>
              <a:rPr lang="en-US" dirty="0"/>
              <a:t>, </a:t>
            </a:r>
            <a:r>
              <a:rPr lang="en-US" i="1" dirty="0"/>
              <a:t>y</a:t>
            </a:r>
            <a:r>
              <a:rPr lang="en-US" dirty="0"/>
              <a:t> — Undistorted pixel locations. </a:t>
            </a:r>
            <a:r>
              <a:rPr lang="en-US" i="1" dirty="0"/>
              <a:t>x</a:t>
            </a:r>
            <a:r>
              <a:rPr lang="en-US" dirty="0"/>
              <a:t> and </a:t>
            </a:r>
            <a:r>
              <a:rPr lang="en-US" i="1" dirty="0"/>
              <a:t>y</a:t>
            </a:r>
            <a:r>
              <a:rPr lang="en-US" dirty="0"/>
              <a:t> are in normalized image coordinates. Normalized image coordinates are calculated from pixel coordinates by translating to the optical center and dividing by the focal length in pixels. Thus, </a:t>
            </a:r>
            <a:r>
              <a:rPr lang="en-US" i="1" dirty="0"/>
              <a:t>x</a:t>
            </a:r>
            <a:r>
              <a:rPr lang="en-US" dirty="0"/>
              <a:t> and </a:t>
            </a:r>
            <a:r>
              <a:rPr lang="en-US" i="1" dirty="0"/>
              <a:t>y</a:t>
            </a:r>
            <a:r>
              <a:rPr lang="en-US" dirty="0"/>
              <a:t> are dimensionless.</a:t>
            </a:r>
          </a:p>
          <a:p>
            <a:pPr>
              <a:spcBef>
                <a:spcPts val="600"/>
              </a:spcBef>
              <a:spcAft>
                <a:spcPts val="600"/>
              </a:spcAft>
            </a:pPr>
            <a:r>
              <a:rPr lang="en-US" i="1" dirty="0"/>
              <a:t>p</a:t>
            </a:r>
            <a:r>
              <a:rPr lang="en-US" baseline="-25000" dirty="0"/>
              <a:t>1</a:t>
            </a:r>
            <a:r>
              <a:rPr lang="en-US" dirty="0"/>
              <a:t> and </a:t>
            </a:r>
            <a:r>
              <a:rPr lang="en-US" i="1" dirty="0"/>
              <a:t>p</a:t>
            </a:r>
            <a:r>
              <a:rPr lang="en-US" baseline="-25000" dirty="0"/>
              <a:t>2</a:t>
            </a:r>
            <a:r>
              <a:rPr lang="en-US" dirty="0"/>
              <a:t> — Tangential distortion coefficients of the lens.</a:t>
            </a:r>
          </a:p>
          <a:p>
            <a:pPr>
              <a:spcBef>
                <a:spcPts val="600"/>
              </a:spcBef>
              <a:spcAft>
                <a:spcPts val="600"/>
              </a:spcAft>
            </a:pPr>
            <a:r>
              <a:rPr lang="en-US" i="1" dirty="0"/>
              <a:t>r</a:t>
            </a:r>
            <a:r>
              <a:rPr lang="en-US" baseline="30000" dirty="0"/>
              <a:t>2</a:t>
            </a:r>
            <a:r>
              <a:rPr lang="en-US" dirty="0"/>
              <a:t>: </a:t>
            </a:r>
            <a:r>
              <a:rPr lang="en-US" i="1" dirty="0"/>
              <a:t>x</a:t>
            </a:r>
            <a:r>
              <a:rPr lang="en-US" baseline="30000" dirty="0"/>
              <a:t>2</a:t>
            </a:r>
            <a:r>
              <a:rPr lang="en-US" dirty="0"/>
              <a:t> + </a:t>
            </a:r>
            <a:r>
              <a:rPr lang="en-US" i="1" dirty="0"/>
              <a:t>y</a:t>
            </a:r>
            <a:r>
              <a:rPr lang="en-US" baseline="30000" dirty="0"/>
              <a:t>2</a:t>
            </a:r>
            <a:endParaRPr lang="en-US" dirty="0"/>
          </a:p>
        </p:txBody>
      </p:sp>
    </p:spTree>
    <p:extLst>
      <p:ext uri="{BB962C8B-B14F-4D97-AF65-F5344CB8AC3E}">
        <p14:creationId xmlns:p14="http://schemas.microsoft.com/office/powerpoint/2010/main" val="33393822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6000" dirty="0"/>
              <a:t>Camera Calibration - Example</a:t>
            </a:r>
          </a:p>
        </p:txBody>
      </p:sp>
      <p:pic>
        <p:nvPicPr>
          <p:cNvPr id="6" name="Picture 5"/>
          <p:cNvPicPr>
            <a:picLocks noChangeAspect="1"/>
          </p:cNvPicPr>
          <p:nvPr/>
        </p:nvPicPr>
        <p:blipFill rotWithShape="1">
          <a:blip r:embed="rId3"/>
          <a:srcRect t="18312" r="4877"/>
          <a:stretch/>
        </p:blipFill>
        <p:spPr>
          <a:xfrm>
            <a:off x="119336" y="1268760"/>
            <a:ext cx="11811083" cy="5544616"/>
          </a:xfrm>
          <a:prstGeom prst="rect">
            <a:avLst/>
          </a:prstGeom>
        </p:spPr>
      </p:pic>
    </p:spTree>
    <p:extLst>
      <p:ext uri="{BB962C8B-B14F-4D97-AF65-F5344CB8AC3E}">
        <p14:creationId xmlns:p14="http://schemas.microsoft.com/office/powerpoint/2010/main" val="982982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6000" dirty="0"/>
              <a:t>Augmented Reality (AR)</a:t>
            </a:r>
          </a:p>
        </p:txBody>
      </p:sp>
      <p:sp>
        <p:nvSpPr>
          <p:cNvPr id="4" name="Rectangle 3"/>
          <p:cNvSpPr/>
          <p:nvPr/>
        </p:nvSpPr>
        <p:spPr>
          <a:xfrm>
            <a:off x="155368" y="1412776"/>
            <a:ext cx="10693160" cy="4832092"/>
          </a:xfrm>
          <a:prstGeom prst="rect">
            <a:avLst/>
          </a:prstGeom>
        </p:spPr>
        <p:txBody>
          <a:bodyPr wrap="square">
            <a:spAutoFit/>
          </a:bodyPr>
          <a:lstStyle/>
          <a:p>
            <a:pPr algn="just">
              <a:spcBef>
                <a:spcPts val="600"/>
              </a:spcBef>
              <a:spcAft>
                <a:spcPts val="600"/>
              </a:spcAft>
            </a:pPr>
            <a:r>
              <a:rPr lang="en-US" sz="3200" dirty="0">
                <a:latin typeface="Times New Roman" panose="02020603050405020304" pitchFamily="18" charset="0"/>
                <a:cs typeface="Times New Roman" panose="02020603050405020304" pitchFamily="18" charset="0"/>
              </a:rPr>
              <a:t>AR is a collective term for placing objects and information on top of image data.</a:t>
            </a:r>
          </a:p>
          <a:p>
            <a:pPr algn="just">
              <a:spcBef>
                <a:spcPts val="600"/>
              </a:spcBef>
              <a:spcAft>
                <a:spcPts val="600"/>
              </a:spcAft>
            </a:pPr>
            <a:r>
              <a:rPr lang="en-US" sz="3200" dirty="0">
                <a:latin typeface="Times New Roman" panose="02020603050405020304" pitchFamily="18" charset="0"/>
                <a:cs typeface="Times New Roman" panose="02020603050405020304" pitchFamily="18" charset="0"/>
              </a:rPr>
              <a:t>3D AR is an interactive experience of a real-world environment where the objects that reside in the real world are enhanced by computer-generated perceptual information, sometimes across multiple sensory modalities.</a:t>
            </a:r>
          </a:p>
          <a:p>
            <a:pPr algn="just">
              <a:spcBef>
                <a:spcPts val="600"/>
              </a:spcBef>
              <a:spcAft>
                <a:spcPts val="600"/>
              </a:spcAft>
            </a:pPr>
            <a:r>
              <a:rPr lang="en-US" sz="3200" dirty="0">
                <a:latin typeface="Times New Roman" panose="02020603050405020304" pitchFamily="18" charset="0"/>
                <a:cs typeface="Times New Roman" panose="02020603050405020304" pitchFamily="18" charset="0"/>
              </a:rPr>
              <a:t>AR can be defined as a system that fulfills three basic features: a combination of real and virtual worlds, real-time interaction, and accurate 3D registration of virtual and real objects.</a:t>
            </a:r>
          </a:p>
        </p:txBody>
      </p:sp>
    </p:spTree>
    <p:extLst>
      <p:ext uri="{BB962C8B-B14F-4D97-AF65-F5344CB8AC3E}">
        <p14:creationId xmlns:p14="http://schemas.microsoft.com/office/powerpoint/2010/main" val="7831161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458" y="71414"/>
            <a:ext cx="10658069" cy="928694"/>
          </a:xfrm>
        </p:spPr>
        <p:txBody>
          <a:bodyPr>
            <a:noAutofit/>
          </a:bodyPr>
          <a:lstStyle/>
          <a:p>
            <a:r>
              <a:rPr lang="en-US" sz="5400" dirty="0"/>
              <a:t>AR Applications</a:t>
            </a:r>
          </a:p>
        </p:txBody>
      </p:sp>
      <p:sp>
        <p:nvSpPr>
          <p:cNvPr id="4" name="Rectangle 3"/>
          <p:cNvSpPr/>
          <p:nvPr/>
        </p:nvSpPr>
        <p:spPr>
          <a:xfrm>
            <a:off x="155368" y="1340768"/>
            <a:ext cx="5436576" cy="3139321"/>
          </a:xfrm>
          <a:prstGeom prst="rect">
            <a:avLst/>
          </a:prstGeom>
        </p:spPr>
        <p:txBody>
          <a:bodyPr wrap="square">
            <a:spAutoFit/>
          </a:bodyPr>
          <a:lstStyle/>
          <a:p>
            <a:pPr algn="just">
              <a:spcBef>
                <a:spcPts val="600"/>
              </a:spcBef>
              <a:spcAft>
                <a:spcPts val="600"/>
              </a:spcAft>
            </a:pPr>
            <a:r>
              <a:rPr lang="en-US" sz="2800" dirty="0">
                <a:latin typeface="Times New Roman" panose="02020603050405020304" pitchFamily="18" charset="0"/>
                <a:cs typeface="Times New Roman" panose="02020603050405020304" pitchFamily="18" charset="0"/>
              </a:rPr>
              <a:t>AR COVID-19 Glasses allow you to "See" the temperature of those around you.</a:t>
            </a:r>
          </a:p>
          <a:p>
            <a:pPr algn="just">
              <a:spcBef>
                <a:spcPts val="600"/>
              </a:spcBef>
              <a:spcAft>
                <a:spcPts val="600"/>
              </a:spcAft>
            </a:pPr>
            <a:r>
              <a:rPr lang="en-US" sz="2800" dirty="0">
                <a:latin typeface="Times New Roman" panose="02020603050405020304" pitchFamily="18" charset="0"/>
                <a:cs typeface="Times New Roman" panose="02020603050405020304" pitchFamily="18" charset="0"/>
              </a:rPr>
              <a:t>AR in Healthcare.</a:t>
            </a:r>
          </a:p>
          <a:p>
            <a:pPr algn="just">
              <a:spcBef>
                <a:spcPts val="600"/>
              </a:spcBef>
              <a:spcAft>
                <a:spcPts val="600"/>
              </a:spcAft>
            </a:pPr>
            <a:r>
              <a:rPr lang="en-US" sz="2800" dirty="0">
                <a:latin typeface="Times New Roman" panose="02020603050405020304" pitchFamily="18" charset="0"/>
                <a:cs typeface="Times New Roman" panose="02020603050405020304" pitchFamily="18" charset="0"/>
              </a:rPr>
              <a:t>Tourism Made Easier with AR Apps.</a:t>
            </a:r>
          </a:p>
          <a:p>
            <a:pPr algn="just">
              <a:spcBef>
                <a:spcPts val="600"/>
              </a:spcBef>
              <a:spcAft>
                <a:spcPts val="600"/>
              </a:spcAft>
            </a:pPr>
            <a:endParaRPr lang="en-US" sz="2800" dirty="0">
              <a:latin typeface="Times New Roman" panose="02020603050405020304" pitchFamily="18" charset="0"/>
              <a:cs typeface="Times New Roman" panose="02020603050405020304" pitchFamily="18" charset="0"/>
            </a:endParaRPr>
          </a:p>
        </p:txBody>
      </p:sp>
      <p:pic>
        <p:nvPicPr>
          <p:cNvPr id="387074" name="Picture 2" descr="Thermal"/>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36360" y="1528192"/>
            <a:ext cx="2775749" cy="1828800"/>
          </a:xfrm>
          <a:prstGeom prst="rect">
            <a:avLst/>
          </a:prstGeom>
          <a:noFill/>
          <a:extLst>
            <a:ext uri="{909E8E84-426E-40DD-AFC4-6F175D3DCCD1}">
              <a14:hiddenFill xmlns:a14="http://schemas.microsoft.com/office/drawing/2010/main">
                <a:solidFill>
                  <a:srgbClr val="FFFFFF"/>
                </a:solidFill>
              </a14:hiddenFill>
            </a:ext>
          </a:extLst>
        </p:spPr>
      </p:pic>
      <p:pic>
        <p:nvPicPr>
          <p:cNvPr id="387076" name="Picture 4" descr="AR COVID-19 Glasses Allow You to &quot;See&quot; the Temperature of Those around Yo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38603" y="1528192"/>
            <a:ext cx="3497757" cy="1828800"/>
          </a:xfrm>
          <a:prstGeom prst="rect">
            <a:avLst/>
          </a:prstGeom>
          <a:noFill/>
          <a:extLst>
            <a:ext uri="{909E8E84-426E-40DD-AFC4-6F175D3DCCD1}">
              <a14:hiddenFill xmlns:a14="http://schemas.microsoft.com/office/drawing/2010/main">
                <a:solidFill>
                  <a:srgbClr val="FFFFFF"/>
                </a:solidFill>
              </a14:hiddenFill>
            </a:ext>
          </a:extLst>
        </p:spPr>
      </p:pic>
      <p:pic>
        <p:nvPicPr>
          <p:cNvPr id="387078" name="Picture 6" descr="https://www.cubix.co/themes/responsiv-clean/assets/images/blog-images/Phone.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63352" y="3933056"/>
            <a:ext cx="5366201" cy="2808312"/>
          </a:xfrm>
          <a:prstGeom prst="rect">
            <a:avLst/>
          </a:prstGeom>
          <a:noFill/>
          <a:extLst>
            <a:ext uri="{909E8E84-426E-40DD-AFC4-6F175D3DCCD1}">
              <a14:hiddenFill xmlns:a14="http://schemas.microsoft.com/office/drawing/2010/main">
                <a:solidFill>
                  <a:srgbClr val="FFFFFF"/>
                </a:solidFill>
              </a14:hiddenFill>
            </a:ext>
          </a:extLst>
        </p:spPr>
      </p:pic>
      <p:pic>
        <p:nvPicPr>
          <p:cNvPr id="387080" name="Picture 8" descr="Benefits of Augmented Reality in Healthcare-AffinityV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51469" y="3483477"/>
            <a:ext cx="5760640" cy="3257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69090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458" y="71414"/>
            <a:ext cx="10658069" cy="928694"/>
          </a:xfrm>
        </p:spPr>
        <p:txBody>
          <a:bodyPr>
            <a:noAutofit/>
          </a:bodyPr>
          <a:lstStyle/>
          <a:p>
            <a:r>
              <a:rPr lang="en-US" sz="5400" dirty="0"/>
              <a:t>AR Applications</a:t>
            </a:r>
          </a:p>
        </p:txBody>
      </p:sp>
      <p:sp>
        <p:nvSpPr>
          <p:cNvPr id="4" name="Rectangle 3"/>
          <p:cNvSpPr/>
          <p:nvPr/>
        </p:nvSpPr>
        <p:spPr>
          <a:xfrm>
            <a:off x="155368" y="1412776"/>
            <a:ext cx="5701686" cy="1692771"/>
          </a:xfrm>
          <a:prstGeom prst="rect">
            <a:avLst/>
          </a:prstGeom>
        </p:spPr>
        <p:txBody>
          <a:bodyPr wrap="square">
            <a:spAutoFit/>
          </a:bodyPr>
          <a:lstStyle/>
          <a:p>
            <a:pPr algn="just">
              <a:spcBef>
                <a:spcPts val="600"/>
              </a:spcBef>
              <a:spcAft>
                <a:spcPts val="600"/>
              </a:spcAft>
            </a:pPr>
            <a:r>
              <a:rPr lang="en-US" sz="2800" dirty="0">
                <a:latin typeface="Times New Roman" panose="02020603050405020304" pitchFamily="18" charset="0"/>
                <a:cs typeface="Times New Roman" panose="02020603050405020304" pitchFamily="18" charset="0"/>
              </a:rPr>
              <a:t>AR Transforming the Retail Industry.</a:t>
            </a:r>
          </a:p>
          <a:p>
            <a:pPr algn="just">
              <a:spcBef>
                <a:spcPts val="600"/>
              </a:spcBef>
              <a:spcAft>
                <a:spcPts val="600"/>
              </a:spcAft>
            </a:pPr>
            <a:r>
              <a:rPr lang="en-US" sz="2800" dirty="0">
                <a:latin typeface="Times New Roman" panose="02020603050405020304" pitchFamily="18" charset="0"/>
                <a:cs typeface="Times New Roman" panose="02020603050405020304" pitchFamily="18" charset="0"/>
              </a:rPr>
              <a:t>Autonomous Vehicles and AR.</a:t>
            </a:r>
          </a:p>
          <a:p>
            <a:pPr algn="just">
              <a:spcBef>
                <a:spcPts val="600"/>
              </a:spcBef>
              <a:spcAft>
                <a:spcPts val="600"/>
              </a:spcAft>
            </a:pPr>
            <a:r>
              <a:rPr lang="en-US" sz="2800" dirty="0">
                <a:latin typeface="Times New Roman" panose="02020603050405020304" pitchFamily="18" charset="0"/>
                <a:cs typeface="Times New Roman" panose="02020603050405020304" pitchFamily="18" charset="0"/>
              </a:rPr>
              <a:t>Indoor Navigation with AR.</a:t>
            </a:r>
          </a:p>
        </p:txBody>
      </p:sp>
      <p:pic>
        <p:nvPicPr>
          <p:cNvPr id="7" name="Picture 6"/>
          <p:cNvPicPr>
            <a:picLocks noChangeAspect="1"/>
          </p:cNvPicPr>
          <p:nvPr/>
        </p:nvPicPr>
        <p:blipFill>
          <a:blip r:embed="rId3"/>
          <a:stretch>
            <a:fillRect/>
          </a:stretch>
        </p:blipFill>
        <p:spPr>
          <a:xfrm>
            <a:off x="7176120" y="1305322"/>
            <a:ext cx="4888632" cy="2749855"/>
          </a:xfrm>
          <a:prstGeom prst="rect">
            <a:avLst/>
          </a:prstGeom>
        </p:spPr>
      </p:pic>
      <p:pic>
        <p:nvPicPr>
          <p:cNvPr id="388102" name="Picture 6" descr="Augmented Reality in Autonomous Cars Advancements | Analytics Insigh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9616" y="3105547"/>
            <a:ext cx="4392488" cy="3623803"/>
          </a:xfrm>
          <a:prstGeom prst="rect">
            <a:avLst/>
          </a:prstGeom>
          <a:noFill/>
          <a:extLst>
            <a:ext uri="{909E8E84-426E-40DD-AFC4-6F175D3DCCD1}">
              <a14:hiddenFill xmlns:a14="http://schemas.microsoft.com/office/drawing/2010/main">
                <a:solidFill>
                  <a:srgbClr val="FFFFFF"/>
                </a:solidFill>
              </a14:hiddenFill>
            </a:ext>
          </a:extLst>
        </p:spPr>
      </p:pic>
      <p:pic>
        <p:nvPicPr>
          <p:cNvPr id="388104" name="Picture 8" descr="Augmented Reality Indoor Navigation Demo - ARCore based - YouTube"/>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500664" y="4149080"/>
            <a:ext cx="4572000" cy="2571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28001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458" y="71414"/>
            <a:ext cx="10658069" cy="928694"/>
          </a:xfrm>
        </p:spPr>
        <p:txBody>
          <a:bodyPr>
            <a:noAutofit/>
          </a:bodyPr>
          <a:lstStyle/>
          <a:p>
            <a:r>
              <a:rPr lang="en-US" sz="5400" dirty="0"/>
              <a:t>AR – Non-Classic Examples</a:t>
            </a:r>
          </a:p>
        </p:txBody>
      </p:sp>
      <p:sp>
        <p:nvSpPr>
          <p:cNvPr id="4" name="Rectangle 3"/>
          <p:cNvSpPr/>
          <p:nvPr/>
        </p:nvSpPr>
        <p:spPr>
          <a:xfrm>
            <a:off x="155368" y="1412776"/>
            <a:ext cx="5701686" cy="1107996"/>
          </a:xfrm>
          <a:prstGeom prst="rect">
            <a:avLst/>
          </a:prstGeom>
        </p:spPr>
        <p:txBody>
          <a:bodyPr wrap="square">
            <a:spAutoFit/>
          </a:bodyPr>
          <a:lstStyle/>
          <a:p>
            <a:pPr algn="just">
              <a:spcBef>
                <a:spcPts val="600"/>
              </a:spcBef>
              <a:spcAft>
                <a:spcPts val="600"/>
              </a:spcAft>
            </a:pPr>
            <a:r>
              <a:rPr lang="en-US" sz="2800" dirty="0" err="1">
                <a:latin typeface="Times New Roman" panose="02020603050405020304" pitchFamily="18" charset="0"/>
                <a:cs typeface="Times New Roman" panose="02020603050405020304" pitchFamily="18" charset="0"/>
              </a:rPr>
              <a:t>Fruits_identification.mlx</a:t>
            </a:r>
            <a:endParaRPr lang="en-US" sz="2800" dirty="0">
              <a:latin typeface="Times New Roman" panose="02020603050405020304" pitchFamily="18" charset="0"/>
              <a:cs typeface="Times New Roman" panose="02020603050405020304" pitchFamily="18" charset="0"/>
            </a:endParaRPr>
          </a:p>
          <a:p>
            <a:pPr algn="just">
              <a:spcBef>
                <a:spcPts val="600"/>
              </a:spcBef>
              <a:spcAft>
                <a:spcPts val="600"/>
              </a:spcAft>
            </a:pPr>
            <a:r>
              <a:rPr lang="en-US" sz="2800" dirty="0" err="1">
                <a:latin typeface="Times New Roman" panose="02020603050405020304" pitchFamily="18" charset="0"/>
                <a:cs typeface="Times New Roman" panose="02020603050405020304" pitchFamily="18" charset="0"/>
              </a:rPr>
              <a:t>CarTrackingCountingLightDarkAll.m</a:t>
            </a:r>
            <a:endParaRPr lang="en-US" sz="2800" dirty="0">
              <a:latin typeface="Times New Roman" panose="02020603050405020304" pitchFamily="18" charset="0"/>
              <a:cs typeface="Times New Roman" panose="02020603050405020304" pitchFamily="18" charset="0"/>
            </a:endParaRPr>
          </a:p>
        </p:txBody>
      </p:sp>
      <p:pic>
        <p:nvPicPr>
          <p:cNvPr id="389121" name="Picture 1" descr="C:\Users\drzha\AppData\Local\Temp\ConnectorClipboard7561078819359515951\image15897939831820.png"/>
          <p:cNvPicPr>
            <a:picLocks noChangeAspect="1" noChangeArrowheads="1"/>
          </p:cNvPicPr>
          <p:nvPr/>
        </p:nvPicPr>
        <p:blipFill rotWithShape="1">
          <a:blip r:embed="rId3">
            <a:extLst>
              <a:ext uri="{28A0092B-C50C-407E-A947-70E740481C1C}">
                <a14:useLocalDpi xmlns:a14="http://schemas.microsoft.com/office/drawing/2010/main" val="0"/>
              </a:ext>
            </a:extLst>
          </a:blip>
          <a:srcRect l="20869" t="12717" r="20322" b="27389"/>
          <a:stretch/>
        </p:blipFill>
        <p:spPr bwMode="auto">
          <a:xfrm>
            <a:off x="8542672" y="1412776"/>
            <a:ext cx="3472386" cy="252028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4"/>
          <a:stretch>
            <a:fillRect/>
          </a:stretch>
        </p:blipFill>
        <p:spPr>
          <a:xfrm>
            <a:off x="3575720" y="3501008"/>
            <a:ext cx="3096000" cy="2316000"/>
          </a:xfrm>
          <a:prstGeom prst="rect">
            <a:avLst/>
          </a:prstGeom>
        </p:spPr>
      </p:pic>
    </p:spTree>
    <p:extLst>
      <p:ext uri="{BB962C8B-B14F-4D97-AF65-F5344CB8AC3E}">
        <p14:creationId xmlns:p14="http://schemas.microsoft.com/office/powerpoint/2010/main" val="8404939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458" y="71414"/>
            <a:ext cx="10658069" cy="928694"/>
          </a:xfrm>
        </p:spPr>
        <p:txBody>
          <a:bodyPr>
            <a:noAutofit/>
          </a:bodyPr>
          <a:lstStyle/>
          <a:p>
            <a:r>
              <a:rPr lang="en-US" sz="5400" dirty="0"/>
              <a:t>AR – Non-Classic Examples</a:t>
            </a:r>
          </a:p>
        </p:txBody>
      </p:sp>
      <p:sp>
        <p:nvSpPr>
          <p:cNvPr id="4" name="Rectangle 3"/>
          <p:cNvSpPr/>
          <p:nvPr/>
        </p:nvSpPr>
        <p:spPr>
          <a:xfrm>
            <a:off x="47328" y="1268760"/>
            <a:ext cx="11773280" cy="1200329"/>
          </a:xfrm>
          <a:prstGeom prst="rect">
            <a:avLst/>
          </a:prstGeom>
        </p:spPr>
        <p:txBody>
          <a:bodyPr wrap="square">
            <a:spAutoFit/>
          </a:bodyPr>
          <a:lstStyle/>
          <a:p>
            <a:pPr algn="just">
              <a:spcBef>
                <a:spcPts val="600"/>
              </a:spcBef>
              <a:spcAft>
                <a:spcPts val="600"/>
              </a:spcAft>
            </a:pPr>
            <a:r>
              <a:rPr lang="en-US" sz="3600" dirty="0">
                <a:latin typeface="Times New Roman" panose="02020603050405020304" pitchFamily="18" charset="0"/>
                <a:cs typeface="Times New Roman" panose="02020603050405020304" pitchFamily="18" charset="0"/>
              </a:rPr>
              <a:t>Google Lens: Real-time translation onto the real object and virtual searching using device camera.</a:t>
            </a:r>
          </a:p>
        </p:txBody>
      </p:sp>
      <p:pic>
        <p:nvPicPr>
          <p:cNvPr id="1030" name="Picture 6" descr="Google's instant camera translation is imperfect magic">
            <a:extLst>
              <a:ext uri="{FF2B5EF4-FFF2-40B4-BE49-F238E27FC236}">
                <a16:creationId xmlns:a16="http://schemas.microsoft.com/office/drawing/2014/main" id="{5D246430-27CE-D5EA-6F33-1042E2300A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3075" y="2571750"/>
            <a:ext cx="7620000" cy="428625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Google Translate adds instant Camera translation and offline support for  seven Indian languages | DataReign">
            <a:extLst>
              <a:ext uri="{FF2B5EF4-FFF2-40B4-BE49-F238E27FC236}">
                <a16:creationId xmlns:a16="http://schemas.microsoft.com/office/drawing/2014/main" id="{0F980F11-7A55-8A60-501F-43C5FA8A95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122" y="4005320"/>
            <a:ext cx="4108780" cy="20543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17303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458" y="71414"/>
            <a:ext cx="10658069" cy="928694"/>
          </a:xfrm>
        </p:spPr>
        <p:txBody>
          <a:bodyPr>
            <a:noAutofit/>
          </a:bodyPr>
          <a:lstStyle/>
          <a:p>
            <a:r>
              <a:rPr lang="en-US" sz="5400" dirty="0"/>
              <a:t>AR – Non-Classic Examples</a:t>
            </a:r>
          </a:p>
        </p:txBody>
      </p:sp>
      <p:sp>
        <p:nvSpPr>
          <p:cNvPr id="4" name="Rectangle 3"/>
          <p:cNvSpPr/>
          <p:nvPr/>
        </p:nvSpPr>
        <p:spPr>
          <a:xfrm>
            <a:off x="47328" y="1268760"/>
            <a:ext cx="11773280" cy="1754326"/>
          </a:xfrm>
          <a:prstGeom prst="rect">
            <a:avLst/>
          </a:prstGeom>
        </p:spPr>
        <p:txBody>
          <a:bodyPr wrap="square">
            <a:spAutoFit/>
          </a:bodyPr>
          <a:lstStyle/>
          <a:p>
            <a:pPr algn="just">
              <a:spcBef>
                <a:spcPts val="600"/>
              </a:spcBef>
              <a:spcAft>
                <a:spcPts val="600"/>
              </a:spcAft>
            </a:pPr>
            <a:r>
              <a:rPr lang="en-US" sz="3600" dirty="0">
                <a:latin typeface="Times New Roman" panose="02020603050405020304" pitchFamily="18" charset="0"/>
                <a:cs typeface="Times New Roman" panose="02020603050405020304" pitchFamily="18" charset="0"/>
              </a:rPr>
              <a:t>Transcribe Glasses: Smart eyewear designed to convert spoken words into written text in real-time using speech recognition technology.</a:t>
            </a:r>
          </a:p>
        </p:txBody>
      </p:sp>
      <p:pic>
        <p:nvPicPr>
          <p:cNvPr id="1026" name="Picture 2" descr="Is This The Google Glass Revival?">
            <a:extLst>
              <a:ext uri="{FF2B5EF4-FFF2-40B4-BE49-F238E27FC236}">
                <a16:creationId xmlns:a16="http://schemas.microsoft.com/office/drawing/2014/main" id="{164C975C-3FFF-9042-B26D-F1721B6AE3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227784"/>
            <a:ext cx="121920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51237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445F5-9E32-7680-2392-B2B487D8E6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AA4D2C-22A5-FBEF-F89D-85A9370894E7}"/>
              </a:ext>
            </a:extLst>
          </p:cNvPr>
          <p:cNvSpPr>
            <a:spLocks noGrp="1"/>
          </p:cNvSpPr>
          <p:nvPr>
            <p:ph type="title"/>
          </p:nvPr>
        </p:nvSpPr>
        <p:spPr>
          <a:xfrm>
            <a:off x="190458" y="71414"/>
            <a:ext cx="10658069" cy="928694"/>
          </a:xfrm>
        </p:spPr>
        <p:txBody>
          <a:bodyPr>
            <a:noAutofit/>
          </a:bodyPr>
          <a:lstStyle/>
          <a:p>
            <a:r>
              <a:rPr lang="en-US" sz="5400" dirty="0"/>
              <a:t>AR – Examples</a:t>
            </a:r>
          </a:p>
        </p:txBody>
      </p:sp>
      <p:pic>
        <p:nvPicPr>
          <p:cNvPr id="3" name="Picture 2" descr="Jurassic World GIFs - Find &amp; Share on GIPHY">
            <a:extLst>
              <a:ext uri="{FF2B5EF4-FFF2-40B4-BE49-F238E27FC236}">
                <a16:creationId xmlns:a16="http://schemas.microsoft.com/office/drawing/2014/main" id="{C43F541B-25CE-D6C8-6B4A-9C8406C375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0056" y="1585496"/>
            <a:ext cx="5258634" cy="256358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an CRISPR Create Jurassic Park?">
            <a:extLst>
              <a:ext uri="{FF2B5EF4-FFF2-40B4-BE49-F238E27FC236}">
                <a16:creationId xmlns:a16="http://schemas.microsoft.com/office/drawing/2014/main" id="{76708F56-556E-34D2-BD0B-06AEEB213D4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5400" y="1585496"/>
            <a:ext cx="5628117" cy="4221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85970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Extra Stuff</a:t>
            </a:r>
          </a:p>
        </p:txBody>
      </p:sp>
    </p:spTree>
    <p:extLst>
      <p:ext uri="{BB962C8B-B14F-4D97-AF65-F5344CB8AC3E}">
        <p14:creationId xmlns:p14="http://schemas.microsoft.com/office/powerpoint/2010/main" val="6899494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Camera Projection</a:t>
            </a:r>
          </a:p>
        </p:txBody>
      </p:sp>
      <p:sp>
        <p:nvSpPr>
          <p:cNvPr id="3" name="Content Placeholder 2"/>
          <p:cNvSpPr>
            <a:spLocks noGrp="1"/>
          </p:cNvSpPr>
          <p:nvPr>
            <p:ph idx="1"/>
          </p:nvPr>
        </p:nvSpPr>
        <p:spPr>
          <a:xfrm>
            <a:off x="190459" y="1285860"/>
            <a:ext cx="8137789" cy="5500726"/>
          </a:xfrm>
        </p:spPr>
        <p:txBody>
          <a:bodyPr>
            <a:normAutofit/>
          </a:bodyPr>
          <a:lstStyle/>
          <a:p>
            <a:r>
              <a:rPr lang="en-US" sz="3600" dirty="0"/>
              <a:t>The Pinhole Camera Model</a:t>
            </a:r>
          </a:p>
          <a:p>
            <a:pPr>
              <a:buFont typeface="Courier New" pitchFamily="49" charset="0"/>
              <a:buChar char="o"/>
            </a:pPr>
            <a:r>
              <a:rPr lang="en-US" dirty="0"/>
              <a:t>Consider a pinhole camera in 3D space</a:t>
            </a:r>
          </a:p>
          <a:p>
            <a:pPr lvl="1">
              <a:buFont typeface="Courier New" pitchFamily="49" charset="0"/>
              <a:buChar char="o"/>
            </a:pPr>
            <a:r>
              <a:rPr lang="en-US" dirty="0"/>
              <a:t>The aperture, A, is at the origin</a:t>
            </a:r>
          </a:p>
          <a:p>
            <a:pPr lvl="1">
              <a:buFont typeface="Courier New" pitchFamily="49" charset="0"/>
              <a:buChar char="o"/>
            </a:pPr>
            <a:r>
              <a:rPr lang="en-US" dirty="0"/>
              <a:t>The image plane 1 unit down the </a:t>
            </a:r>
            <a:r>
              <a:rPr lang="en-US" i="1" dirty="0"/>
              <a:t>Z</a:t>
            </a:r>
            <a:r>
              <a:rPr lang="en-US" dirty="0"/>
              <a:t> axis, parallel to the </a:t>
            </a:r>
            <a:r>
              <a:rPr lang="en-US" i="1" dirty="0"/>
              <a:t>X</a:t>
            </a:r>
            <a:r>
              <a:rPr lang="en-US" dirty="0"/>
              <a:t>-</a:t>
            </a:r>
            <a:r>
              <a:rPr lang="en-US" i="1" dirty="0"/>
              <a:t>Y</a:t>
            </a:r>
            <a:r>
              <a:rPr lang="en-US" dirty="0"/>
              <a:t> plane</a:t>
            </a:r>
          </a:p>
          <a:p>
            <a:pPr>
              <a:buFont typeface="Courier New" pitchFamily="49" charset="0"/>
              <a:buChar char="o"/>
            </a:pPr>
            <a:r>
              <a:rPr lang="en-US" dirty="0"/>
              <a:t>Any point, </a:t>
            </a:r>
            <a:r>
              <a:rPr lang="en-US" i="1" dirty="0"/>
              <a:t>w</a:t>
            </a:r>
            <a:r>
              <a:rPr lang="en-US" dirty="0"/>
              <a:t>, in the world projects to some point, c, on the camera plane</a:t>
            </a:r>
            <a:endParaRPr lang="en-US" sz="2800" dirty="0"/>
          </a:p>
        </p:txBody>
      </p:sp>
      <p:pic>
        <p:nvPicPr>
          <p:cNvPr id="299010" name="Picture 2"/>
          <p:cNvPicPr>
            <a:picLocks noChangeAspect="1" noChangeArrowheads="1"/>
          </p:cNvPicPr>
          <p:nvPr/>
        </p:nvPicPr>
        <p:blipFill>
          <a:blip r:embed="rId3" cstate="print"/>
          <a:srcRect/>
          <a:stretch>
            <a:fillRect/>
          </a:stretch>
        </p:blipFill>
        <p:spPr bwMode="auto">
          <a:xfrm>
            <a:off x="8832304" y="1763567"/>
            <a:ext cx="3096344" cy="3465633"/>
          </a:xfrm>
          <a:prstGeom prst="rect">
            <a:avLst/>
          </a:prstGeom>
          <a:noFill/>
          <a:ln w="9525">
            <a:noFill/>
            <a:miter lim="800000"/>
            <a:headEnd/>
            <a:tailEnd/>
          </a:ln>
        </p:spPr>
      </p:pic>
    </p:spTree>
    <p:extLst>
      <p:ext uri="{BB962C8B-B14F-4D97-AF65-F5344CB8AC3E}">
        <p14:creationId xmlns:p14="http://schemas.microsoft.com/office/powerpoint/2010/main" val="13163605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3D World to a 2D Image</a:t>
            </a:r>
          </a:p>
        </p:txBody>
      </p:sp>
      <p:sp>
        <p:nvSpPr>
          <p:cNvPr id="3" name="Content Placeholder 2"/>
          <p:cNvSpPr>
            <a:spLocks noGrp="1"/>
          </p:cNvSpPr>
          <p:nvPr>
            <p:ph idx="1"/>
          </p:nvPr>
        </p:nvSpPr>
        <p:spPr>
          <a:xfrm>
            <a:off x="190459" y="1285860"/>
            <a:ext cx="8641845" cy="4735428"/>
          </a:xfrm>
        </p:spPr>
        <p:txBody>
          <a:bodyPr>
            <a:noAutofit/>
          </a:bodyPr>
          <a:lstStyle/>
          <a:p>
            <a:pPr>
              <a:spcBef>
                <a:spcPts val="600"/>
              </a:spcBef>
              <a:spcAft>
                <a:spcPts val="600"/>
              </a:spcAft>
              <a:buFont typeface="Courier New" pitchFamily="49" charset="0"/>
              <a:buChar char="o"/>
            </a:pPr>
            <a:r>
              <a:rPr lang="en-US" dirty="0"/>
              <a:t>We want to find the relationship between </a:t>
            </a:r>
            <a:r>
              <a:rPr lang="en-US" i="1" dirty="0"/>
              <a:t>w </a:t>
            </a:r>
            <a:r>
              <a:rPr lang="en-US" dirty="0"/>
              <a:t>and</a:t>
            </a:r>
            <a:r>
              <a:rPr lang="en-US" i="1" dirty="0"/>
              <a:t> c</a:t>
            </a:r>
          </a:p>
          <a:p>
            <a:pPr lvl="1">
              <a:spcBef>
                <a:spcPts val="600"/>
              </a:spcBef>
              <a:spcAft>
                <a:spcPts val="600"/>
              </a:spcAft>
              <a:buFont typeface="Courier New" pitchFamily="49" charset="0"/>
              <a:buChar char="o"/>
            </a:pPr>
            <a:r>
              <a:rPr lang="en-US" dirty="0"/>
              <a:t>We can represent these as 3D points  </a:t>
            </a:r>
            <a:r>
              <a:rPr lang="en-US" i="1" dirty="0"/>
              <a:t>w = </a:t>
            </a:r>
            <a:r>
              <a:rPr lang="en-US" dirty="0"/>
              <a:t>[</a:t>
            </a:r>
            <a:r>
              <a:rPr lang="en-US" i="1" dirty="0"/>
              <a:t>X, Y, Z</a:t>
            </a:r>
            <a:r>
              <a:rPr lang="en-US" dirty="0"/>
              <a:t>]</a:t>
            </a:r>
            <a:r>
              <a:rPr lang="en-US" i="1" baseline="30000" dirty="0"/>
              <a:t>T</a:t>
            </a:r>
          </a:p>
          <a:p>
            <a:pPr lvl="1">
              <a:spcBef>
                <a:spcPts val="600"/>
              </a:spcBef>
              <a:spcAft>
                <a:spcPts val="600"/>
              </a:spcAft>
              <a:buNone/>
            </a:pPr>
            <a:r>
              <a:rPr lang="en-US" i="1" dirty="0"/>
              <a:t>							       c = </a:t>
            </a:r>
            <a:r>
              <a:rPr lang="en-US" dirty="0"/>
              <a:t>[</a:t>
            </a:r>
            <a:r>
              <a:rPr lang="en-US" i="1" dirty="0"/>
              <a:t>x, y, </a:t>
            </a:r>
            <a:r>
              <a:rPr lang="en-US" dirty="0"/>
              <a:t>-1]</a:t>
            </a:r>
            <a:r>
              <a:rPr lang="en-US" i="1" baseline="30000" dirty="0"/>
              <a:t>T</a:t>
            </a:r>
          </a:p>
          <a:p>
            <a:pPr lvl="1">
              <a:spcBef>
                <a:spcPts val="600"/>
              </a:spcBef>
              <a:spcAft>
                <a:spcPts val="600"/>
              </a:spcAft>
              <a:buFont typeface="Courier New" pitchFamily="49" charset="0"/>
              <a:buChar char="o"/>
            </a:pPr>
            <a:r>
              <a:rPr lang="en-US" dirty="0"/>
              <a:t>We want some matrix, </a:t>
            </a:r>
            <a:r>
              <a:rPr lang="en-US" i="1" dirty="0"/>
              <a:t>P, so that 	c = P w</a:t>
            </a:r>
          </a:p>
          <a:p>
            <a:pPr>
              <a:spcBef>
                <a:spcPts val="600"/>
              </a:spcBef>
              <a:spcAft>
                <a:spcPts val="600"/>
              </a:spcAft>
              <a:buFont typeface="Courier New" pitchFamily="49" charset="0"/>
              <a:buChar char="o"/>
            </a:pPr>
            <a:r>
              <a:rPr lang="en-US" dirty="0"/>
              <a:t>This matrix, </a:t>
            </a:r>
            <a:r>
              <a:rPr lang="en-US" i="1" dirty="0"/>
              <a:t>P, </a:t>
            </a:r>
            <a:r>
              <a:rPr lang="en-US" dirty="0"/>
              <a:t>is called the </a:t>
            </a:r>
            <a:r>
              <a:rPr lang="en-US" i="1" dirty="0"/>
              <a:t>Projection Matrix </a:t>
            </a:r>
          </a:p>
          <a:p>
            <a:pPr lvl="1">
              <a:spcBef>
                <a:spcPts val="600"/>
              </a:spcBef>
              <a:spcAft>
                <a:spcPts val="600"/>
              </a:spcAft>
              <a:buFont typeface="Courier New" pitchFamily="49" charset="0"/>
              <a:buChar char="o"/>
            </a:pPr>
            <a:r>
              <a:rPr lang="en-US" dirty="0"/>
              <a:t>We can find it from the observation that </a:t>
            </a:r>
            <a:r>
              <a:rPr lang="en-US" i="1" dirty="0"/>
              <a:t>w, c, and A </a:t>
            </a:r>
            <a:r>
              <a:rPr lang="en-US" dirty="0"/>
              <a:t>(the origin) all lie on a line</a:t>
            </a:r>
          </a:p>
          <a:p>
            <a:pPr lvl="1">
              <a:spcBef>
                <a:spcPts val="600"/>
              </a:spcBef>
              <a:spcAft>
                <a:spcPts val="600"/>
              </a:spcAft>
              <a:buFont typeface="Courier New" pitchFamily="49" charset="0"/>
              <a:buChar char="o"/>
            </a:pPr>
            <a:r>
              <a:rPr lang="en-US" dirty="0"/>
              <a:t>So </a:t>
            </a:r>
            <a:r>
              <a:rPr lang="en-US" i="1" dirty="0"/>
              <a:t>w and c must be </a:t>
            </a:r>
            <a:r>
              <a:rPr lang="en-US" dirty="0"/>
              <a:t>some multiple of each other</a:t>
            </a:r>
          </a:p>
          <a:p>
            <a:pPr>
              <a:spcBef>
                <a:spcPts val="600"/>
              </a:spcBef>
              <a:spcAft>
                <a:spcPts val="600"/>
              </a:spcAft>
              <a:buFont typeface="Courier New" pitchFamily="49" charset="0"/>
              <a:buChar char="o"/>
            </a:pPr>
            <a:endParaRPr lang="en-US" sz="3600" i="1" dirty="0"/>
          </a:p>
          <a:p>
            <a:pPr>
              <a:spcBef>
                <a:spcPts val="600"/>
              </a:spcBef>
              <a:spcAft>
                <a:spcPts val="600"/>
              </a:spcAft>
            </a:pPr>
            <a:endParaRPr lang="en-US" dirty="0"/>
          </a:p>
        </p:txBody>
      </p:sp>
      <p:pic>
        <p:nvPicPr>
          <p:cNvPr id="6" name="Picture 2"/>
          <p:cNvPicPr>
            <a:picLocks noChangeAspect="1" noChangeArrowheads="1"/>
          </p:cNvPicPr>
          <p:nvPr/>
        </p:nvPicPr>
        <p:blipFill>
          <a:blip r:embed="rId2" cstate="print"/>
          <a:srcRect/>
          <a:stretch>
            <a:fillRect/>
          </a:stretch>
        </p:blipFill>
        <p:spPr bwMode="auto">
          <a:xfrm>
            <a:off x="8832304" y="1763567"/>
            <a:ext cx="3096344" cy="3465633"/>
          </a:xfrm>
          <a:prstGeom prst="rect">
            <a:avLst/>
          </a:prstGeom>
          <a:noFill/>
          <a:ln w="9525">
            <a:noFill/>
            <a:miter lim="800000"/>
            <a:headEnd/>
            <a:tailEnd/>
          </a:ln>
        </p:spPr>
      </p:pic>
    </p:spTree>
    <p:extLst>
      <p:ext uri="{BB962C8B-B14F-4D97-AF65-F5344CB8AC3E}">
        <p14:creationId xmlns:p14="http://schemas.microsoft.com/office/powerpoint/2010/main" val="4262871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Projection Matrix</a:t>
            </a:r>
          </a:p>
        </p:txBody>
      </p:sp>
      <p:sp>
        <p:nvSpPr>
          <p:cNvPr id="3" name="Content Placeholder 2"/>
          <p:cNvSpPr>
            <a:spLocks noGrp="1"/>
          </p:cNvSpPr>
          <p:nvPr>
            <p:ph idx="1"/>
          </p:nvPr>
        </p:nvSpPr>
        <p:spPr>
          <a:xfrm>
            <a:off x="47328" y="1285860"/>
            <a:ext cx="8533612" cy="5500726"/>
          </a:xfrm>
        </p:spPr>
        <p:txBody>
          <a:bodyPr>
            <a:noAutofit/>
          </a:bodyPr>
          <a:lstStyle/>
          <a:p>
            <a:pPr>
              <a:spcBef>
                <a:spcPts val="600"/>
              </a:spcBef>
              <a:spcAft>
                <a:spcPts val="600"/>
              </a:spcAft>
              <a:buFont typeface="Courier New" pitchFamily="49" charset="0"/>
              <a:buChar char="o"/>
            </a:pPr>
            <a:r>
              <a:rPr lang="en-US" sz="2800" dirty="0"/>
              <a:t>Since </a:t>
            </a:r>
            <a:r>
              <a:rPr lang="en-US" sz="2800" i="1" dirty="0"/>
              <a:t>w</a:t>
            </a:r>
            <a:r>
              <a:rPr lang="en-US" sz="2800" dirty="0"/>
              <a:t> and </a:t>
            </a:r>
            <a:r>
              <a:rPr lang="en-US" sz="2800" i="1" dirty="0"/>
              <a:t>c</a:t>
            </a:r>
            <a:r>
              <a:rPr lang="en-US" sz="2800" dirty="0"/>
              <a:t> are multiples of each other</a:t>
            </a:r>
          </a:p>
          <a:p>
            <a:pPr>
              <a:spcBef>
                <a:spcPts val="600"/>
              </a:spcBef>
              <a:spcAft>
                <a:spcPts val="600"/>
              </a:spcAft>
            </a:pPr>
            <a:r>
              <a:rPr lang="en-US" sz="2800" i="1" dirty="0"/>
              <a:t>		c = s w      =&gt;	</a:t>
            </a:r>
            <a:r>
              <a:rPr lang="en-US" sz="2800" dirty="0"/>
              <a:t>[</a:t>
            </a:r>
            <a:r>
              <a:rPr lang="en-US" sz="2800" i="1" dirty="0"/>
              <a:t>x, y, </a:t>
            </a:r>
            <a:r>
              <a:rPr lang="en-US" sz="2800" dirty="0"/>
              <a:t>-1]</a:t>
            </a:r>
            <a:r>
              <a:rPr lang="en-US" sz="2800" i="1" baseline="30000" dirty="0"/>
              <a:t>T</a:t>
            </a:r>
            <a:r>
              <a:rPr lang="en-US" sz="2800" i="1" dirty="0"/>
              <a:t> = s</a:t>
            </a:r>
            <a:r>
              <a:rPr lang="en-US" sz="2800" dirty="0"/>
              <a:t>[</a:t>
            </a:r>
            <a:r>
              <a:rPr lang="en-US" sz="2800" i="1" dirty="0"/>
              <a:t>X, Y, Z</a:t>
            </a:r>
            <a:r>
              <a:rPr lang="en-US" sz="2800" dirty="0"/>
              <a:t>]</a:t>
            </a:r>
            <a:r>
              <a:rPr lang="en-US" sz="2800" i="1" baseline="30000" dirty="0"/>
              <a:t>T</a:t>
            </a:r>
          </a:p>
          <a:p>
            <a:pPr marL="457200" lvl="1" indent="0">
              <a:spcBef>
                <a:spcPts val="600"/>
              </a:spcBef>
              <a:spcAft>
                <a:spcPts val="600"/>
              </a:spcAft>
              <a:buNone/>
            </a:pPr>
            <a:r>
              <a:rPr lang="en-US" sz="2400" dirty="0"/>
              <a:t>So we have </a:t>
            </a:r>
            <a:r>
              <a:rPr lang="en-US" sz="2400" i="1" dirty="0"/>
              <a:t>x = </a:t>
            </a:r>
            <a:r>
              <a:rPr lang="en-US" sz="2400" i="1" dirty="0" err="1"/>
              <a:t>sX</a:t>
            </a:r>
            <a:r>
              <a:rPr lang="en-US" sz="2400" i="1" dirty="0"/>
              <a:t>, y = </a:t>
            </a:r>
            <a:r>
              <a:rPr lang="en-US" sz="2400" i="1" dirty="0" err="1"/>
              <a:t>sY</a:t>
            </a:r>
            <a:r>
              <a:rPr lang="en-US" sz="2400" i="1" dirty="0"/>
              <a:t>, </a:t>
            </a:r>
            <a:r>
              <a:rPr lang="en-US" sz="2400" dirty="0"/>
              <a:t>-1</a:t>
            </a:r>
            <a:r>
              <a:rPr lang="en-US" sz="2400" i="1" dirty="0"/>
              <a:t>=</a:t>
            </a:r>
            <a:r>
              <a:rPr lang="en-US" sz="2400" i="1" dirty="0" err="1"/>
              <a:t>sZ</a:t>
            </a:r>
            <a:endParaRPr lang="en-US" sz="2400" i="1" dirty="0"/>
          </a:p>
          <a:p>
            <a:pPr marL="457200" lvl="1" indent="0">
              <a:spcBef>
                <a:spcPts val="600"/>
              </a:spcBef>
              <a:spcAft>
                <a:spcPts val="600"/>
              </a:spcAft>
              <a:buNone/>
            </a:pPr>
            <a:r>
              <a:rPr lang="en-US" sz="2400" dirty="0"/>
              <a:t>Therefore </a:t>
            </a:r>
            <a:r>
              <a:rPr lang="en-US" sz="2400" i="1" dirty="0"/>
              <a:t>s=</a:t>
            </a:r>
            <a:r>
              <a:rPr lang="en-US" sz="2400" dirty="0"/>
              <a:t>-1</a:t>
            </a:r>
            <a:r>
              <a:rPr lang="en-US" sz="2400" i="1" dirty="0"/>
              <a:t>/Z</a:t>
            </a:r>
          </a:p>
          <a:p>
            <a:pPr marL="457200" lvl="1" indent="0">
              <a:spcBef>
                <a:spcPts val="600"/>
              </a:spcBef>
              <a:spcAft>
                <a:spcPts val="600"/>
              </a:spcAft>
              <a:buNone/>
            </a:pPr>
            <a:r>
              <a:rPr lang="en-US" sz="2400" dirty="0"/>
              <a:t>Giving us </a:t>
            </a:r>
            <a:r>
              <a:rPr lang="en-US" sz="2400" i="1" dirty="0"/>
              <a:t>x = -X/Z, y = -Y/Z</a:t>
            </a:r>
          </a:p>
          <a:p>
            <a:pPr marL="0" indent="0">
              <a:spcBef>
                <a:spcPts val="600"/>
              </a:spcBef>
              <a:spcAft>
                <a:spcPts val="600"/>
              </a:spcAft>
            </a:pPr>
            <a:r>
              <a:rPr lang="en-US" sz="2800" dirty="0"/>
              <a:t>     So we end up with</a:t>
            </a:r>
          </a:p>
          <a:p>
            <a:pPr lvl="1">
              <a:spcBef>
                <a:spcPts val="600"/>
              </a:spcBef>
              <a:spcAft>
                <a:spcPts val="600"/>
              </a:spcAft>
              <a:buFont typeface="Courier New" pitchFamily="49" charset="0"/>
              <a:buChar char="o"/>
            </a:pPr>
            <a:endParaRPr lang="en-US" sz="1050" dirty="0"/>
          </a:p>
          <a:p>
            <a:pPr lvl="1">
              <a:spcBef>
                <a:spcPts val="600"/>
              </a:spcBef>
              <a:spcAft>
                <a:spcPts val="600"/>
              </a:spcAft>
              <a:buFont typeface="Courier New" pitchFamily="49" charset="0"/>
              <a:buChar char="o"/>
            </a:pPr>
            <a:endParaRPr lang="en-US" sz="1050" dirty="0"/>
          </a:p>
          <a:p>
            <a:pPr marL="457200" lvl="1" indent="0">
              <a:spcBef>
                <a:spcPts val="600"/>
              </a:spcBef>
              <a:spcAft>
                <a:spcPts val="600"/>
              </a:spcAft>
              <a:buNone/>
            </a:pPr>
            <a:r>
              <a:rPr lang="en-US" sz="2400" dirty="0"/>
              <a:t>But the matrix, </a:t>
            </a:r>
            <a:r>
              <a:rPr lang="en-US" sz="2400" i="1" dirty="0"/>
              <a:t>P</a:t>
            </a:r>
            <a:r>
              <a:rPr lang="en-US" sz="2400" dirty="0"/>
              <a:t>, depends on the value of </a:t>
            </a:r>
            <a:r>
              <a:rPr lang="en-US" sz="2400" i="1" dirty="0"/>
              <a:t>Z</a:t>
            </a:r>
            <a:r>
              <a:rPr lang="en-US" sz="2400" dirty="0"/>
              <a:t>, and we want one matrix </a:t>
            </a:r>
            <a:r>
              <a:rPr lang="en-US" sz="2400" i="1" dirty="0"/>
              <a:t>P</a:t>
            </a:r>
            <a:r>
              <a:rPr lang="en-US" sz="2400" dirty="0"/>
              <a:t> for all points</a:t>
            </a:r>
          </a:p>
          <a:p>
            <a:pPr marL="457200" lvl="1" indent="0">
              <a:spcBef>
                <a:spcPts val="600"/>
              </a:spcBef>
              <a:spcAft>
                <a:spcPts val="600"/>
              </a:spcAft>
              <a:buNone/>
            </a:pPr>
            <a:r>
              <a:rPr lang="en-US" sz="2400" dirty="0"/>
              <a:t>Homogeneous coordinates can help</a:t>
            </a:r>
          </a:p>
          <a:p>
            <a:pPr>
              <a:spcBef>
                <a:spcPts val="600"/>
              </a:spcBef>
              <a:spcAft>
                <a:spcPts val="600"/>
              </a:spcAft>
            </a:pPr>
            <a:endParaRPr lang="en-US" sz="2800" dirty="0"/>
          </a:p>
        </p:txBody>
      </p:sp>
      <p:graphicFrame>
        <p:nvGraphicFramePr>
          <p:cNvPr id="6" name="Object 5"/>
          <p:cNvGraphicFramePr>
            <a:graphicFrameLocks noChangeAspect="1"/>
          </p:cNvGraphicFramePr>
          <p:nvPr/>
        </p:nvGraphicFramePr>
        <p:xfrm>
          <a:off x="4150265" y="3869605"/>
          <a:ext cx="4249991" cy="1359595"/>
        </p:xfrm>
        <a:graphic>
          <a:graphicData uri="http://schemas.openxmlformats.org/presentationml/2006/ole">
            <mc:AlternateContent xmlns:mc="http://schemas.openxmlformats.org/markup-compatibility/2006">
              <mc:Choice xmlns:v="urn:schemas-microsoft-com:vml" Requires="v">
                <p:oleObj name="Equation" r:id="rId2" imgW="2222280" imgH="711000" progId="Equation.3">
                  <p:embed/>
                </p:oleObj>
              </mc:Choice>
              <mc:Fallback>
                <p:oleObj name="Equation" r:id="rId2" imgW="2222280" imgH="711000" progId="Equation.3">
                  <p:embed/>
                  <p:pic>
                    <p:nvPicPr>
                      <p:cNvPr id="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0265" y="3869605"/>
                        <a:ext cx="4249991" cy="1359595"/>
                      </a:xfrm>
                      <a:prstGeom prst="rect">
                        <a:avLst/>
                      </a:prstGeom>
                      <a:noFill/>
                    </p:spPr>
                  </p:pic>
                </p:oleObj>
              </mc:Fallback>
            </mc:AlternateContent>
          </a:graphicData>
        </a:graphic>
      </p:graphicFrame>
      <p:pic>
        <p:nvPicPr>
          <p:cNvPr id="7" name="Picture 2"/>
          <p:cNvPicPr>
            <a:picLocks noChangeAspect="1" noChangeArrowheads="1"/>
          </p:cNvPicPr>
          <p:nvPr/>
        </p:nvPicPr>
        <p:blipFill>
          <a:blip r:embed="rId4" cstate="print"/>
          <a:srcRect/>
          <a:stretch>
            <a:fillRect/>
          </a:stretch>
        </p:blipFill>
        <p:spPr bwMode="auto">
          <a:xfrm>
            <a:off x="8832304" y="1763567"/>
            <a:ext cx="3096344" cy="3465633"/>
          </a:xfrm>
          <a:prstGeom prst="rect">
            <a:avLst/>
          </a:prstGeom>
          <a:noFill/>
          <a:ln w="9525">
            <a:noFill/>
            <a:miter lim="800000"/>
            <a:headEnd/>
            <a:tailEnd/>
          </a:ln>
        </p:spPr>
      </p:pic>
    </p:spTree>
    <p:extLst>
      <p:ext uri="{BB962C8B-B14F-4D97-AF65-F5344CB8AC3E}">
        <p14:creationId xmlns:p14="http://schemas.microsoft.com/office/powerpoint/2010/main" val="10172228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668" y="1285860"/>
            <a:ext cx="10333812" cy="5500726"/>
          </a:xfrm>
        </p:spPr>
        <p:txBody>
          <a:bodyPr>
            <a:noAutofit/>
          </a:bodyPr>
          <a:lstStyle/>
          <a:p>
            <a:pPr>
              <a:spcBef>
                <a:spcPts val="600"/>
              </a:spcBef>
              <a:spcAft>
                <a:spcPts val="600"/>
              </a:spcAft>
              <a:buFont typeface="Courier New" pitchFamily="49" charset="0"/>
              <a:buChar char="o"/>
            </a:pPr>
            <a:r>
              <a:rPr lang="en-US" dirty="0"/>
              <a:t>Recall from review:</a:t>
            </a:r>
            <a:endParaRPr lang="en-US" i="1" baseline="30000" dirty="0"/>
          </a:p>
          <a:p>
            <a:pPr lvl="1">
              <a:spcBef>
                <a:spcPts val="600"/>
              </a:spcBef>
              <a:spcAft>
                <a:spcPts val="600"/>
              </a:spcAft>
              <a:buFont typeface="Courier New" pitchFamily="49" charset="0"/>
              <a:buChar char="o"/>
            </a:pPr>
            <a:r>
              <a:rPr lang="en-US" dirty="0"/>
              <a:t>We can represent a 3D vector [</a:t>
            </a:r>
            <a:r>
              <a:rPr lang="en-US" i="1" dirty="0"/>
              <a:t>x, y, z</a:t>
            </a:r>
            <a:r>
              <a:rPr lang="en-US" dirty="0"/>
              <a:t>]</a:t>
            </a:r>
            <a:r>
              <a:rPr lang="en-US" i="1" baseline="30000" dirty="0"/>
              <a:t>T</a:t>
            </a:r>
            <a:r>
              <a:rPr lang="en-US" dirty="0"/>
              <a:t> as a set of 4D vectors</a:t>
            </a:r>
            <a:endParaRPr lang="en-US" baseline="30000" dirty="0"/>
          </a:p>
          <a:p>
            <a:pPr lvl="1">
              <a:spcBef>
                <a:spcPts val="600"/>
              </a:spcBef>
              <a:spcAft>
                <a:spcPts val="600"/>
              </a:spcAft>
              <a:buFont typeface="Courier New" pitchFamily="49" charset="0"/>
              <a:buChar char="o"/>
            </a:pPr>
            <a:r>
              <a:rPr lang="en-US" dirty="0"/>
              <a:t>So any 4D vector [</a:t>
            </a:r>
            <a:r>
              <a:rPr lang="en-US" i="1" dirty="0"/>
              <a:t>x, y, z, k</a:t>
            </a:r>
            <a:r>
              <a:rPr lang="en-US" dirty="0"/>
              <a:t>]</a:t>
            </a:r>
            <a:r>
              <a:rPr lang="en-US" baseline="30000" dirty="0"/>
              <a:t>T </a:t>
            </a:r>
            <a:r>
              <a:rPr lang="en-US" dirty="0"/>
              <a:t>corresponds to a 3D point</a:t>
            </a:r>
          </a:p>
          <a:p>
            <a:pPr lvl="1">
              <a:spcBef>
                <a:spcPts val="600"/>
              </a:spcBef>
              <a:spcAft>
                <a:spcPts val="600"/>
              </a:spcAft>
              <a:buNone/>
            </a:pPr>
            <a:r>
              <a:rPr lang="en-US" dirty="0"/>
              <a:t>								                    [</a:t>
            </a:r>
            <a:r>
              <a:rPr lang="en-US" i="1" dirty="0"/>
              <a:t>x/k, y/k, z/k</a:t>
            </a:r>
            <a:r>
              <a:rPr lang="en-US" dirty="0"/>
              <a:t>]</a:t>
            </a:r>
            <a:r>
              <a:rPr lang="en-US" baseline="30000" dirty="0"/>
              <a:t>T</a:t>
            </a:r>
          </a:p>
          <a:p>
            <a:pPr>
              <a:spcBef>
                <a:spcPts val="600"/>
              </a:spcBef>
              <a:spcAft>
                <a:spcPts val="600"/>
              </a:spcAft>
              <a:buFont typeface="Courier New" pitchFamily="49" charset="0"/>
              <a:buChar char="o"/>
            </a:pPr>
            <a:r>
              <a:rPr lang="en-US" dirty="0"/>
              <a:t>Note that this brings in a division by </a:t>
            </a:r>
            <a:r>
              <a:rPr lang="en-US" i="1" dirty="0"/>
              <a:t>k</a:t>
            </a:r>
          </a:p>
          <a:p>
            <a:pPr lvl="1">
              <a:spcBef>
                <a:spcPts val="600"/>
              </a:spcBef>
              <a:spcAft>
                <a:spcPts val="600"/>
              </a:spcAft>
              <a:buFont typeface="Courier New" pitchFamily="49" charset="0"/>
              <a:buChar char="o"/>
            </a:pPr>
            <a:r>
              <a:rPr lang="en-US" dirty="0"/>
              <a:t>In the formulae we have for [</a:t>
            </a:r>
            <a:r>
              <a:rPr lang="en-US" i="1" dirty="0"/>
              <a:t>x, y, </a:t>
            </a:r>
            <a:r>
              <a:rPr lang="en-US" dirty="0"/>
              <a:t>-1]</a:t>
            </a:r>
            <a:r>
              <a:rPr lang="en-US" baseline="30000" dirty="0"/>
              <a:t>T</a:t>
            </a:r>
            <a:r>
              <a:rPr lang="en-US" dirty="0"/>
              <a:t> we have a division by –</a:t>
            </a:r>
            <a:r>
              <a:rPr lang="en-US" i="1" dirty="0"/>
              <a:t>Z</a:t>
            </a:r>
          </a:p>
          <a:p>
            <a:pPr lvl="1">
              <a:spcBef>
                <a:spcPts val="600"/>
              </a:spcBef>
              <a:spcAft>
                <a:spcPts val="600"/>
              </a:spcAft>
              <a:buFont typeface="Courier New" pitchFamily="49" charset="0"/>
              <a:buChar char="o"/>
            </a:pPr>
            <a:r>
              <a:rPr lang="en-US" dirty="0"/>
              <a:t>So we choose things so that </a:t>
            </a:r>
            <a:r>
              <a:rPr lang="en-US" i="1" dirty="0"/>
              <a:t>k</a:t>
            </a:r>
            <a:r>
              <a:rPr lang="en-US" dirty="0"/>
              <a:t> = -</a:t>
            </a:r>
            <a:r>
              <a:rPr lang="en-US" i="1" dirty="0"/>
              <a:t>Z</a:t>
            </a:r>
            <a:r>
              <a:rPr lang="en-US" dirty="0"/>
              <a:t>, and rewrite the projection using homogeneous coordinates</a:t>
            </a:r>
            <a:endParaRPr lang="en-US" sz="3200" i="1" dirty="0"/>
          </a:p>
          <a:p>
            <a:pPr>
              <a:spcBef>
                <a:spcPts val="600"/>
              </a:spcBef>
              <a:spcAft>
                <a:spcPts val="600"/>
              </a:spcAft>
            </a:pPr>
            <a:endParaRPr lang="en-US" dirty="0"/>
          </a:p>
        </p:txBody>
      </p:sp>
      <p:sp>
        <p:nvSpPr>
          <p:cNvPr id="8" name="Title 1"/>
          <p:cNvSpPr>
            <a:spLocks noGrp="1"/>
          </p:cNvSpPr>
          <p:nvPr>
            <p:ph type="title"/>
          </p:nvPr>
        </p:nvSpPr>
        <p:spPr>
          <a:xfrm>
            <a:off x="191344" y="71414"/>
            <a:ext cx="7500990" cy="928694"/>
          </a:xfrm>
        </p:spPr>
        <p:txBody>
          <a:bodyPr>
            <a:normAutofit/>
          </a:bodyPr>
          <a:lstStyle/>
          <a:p>
            <a:r>
              <a:rPr lang="en-US" dirty="0"/>
              <a:t>The Projection Matrix</a:t>
            </a:r>
          </a:p>
        </p:txBody>
      </p:sp>
    </p:spTree>
    <p:extLst>
      <p:ext uri="{BB962C8B-B14F-4D97-AF65-F5344CB8AC3E}">
        <p14:creationId xmlns:p14="http://schemas.microsoft.com/office/powerpoint/2010/main" val="15191070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191344" y="71414"/>
            <a:ext cx="8976490" cy="928694"/>
          </a:xfrm>
        </p:spPr>
        <p:txBody>
          <a:bodyPr>
            <a:normAutofit/>
          </a:bodyPr>
          <a:lstStyle/>
          <a:p>
            <a:r>
              <a:rPr lang="en-US" dirty="0"/>
              <a:t>The Projection Matrix</a:t>
            </a:r>
          </a:p>
        </p:txBody>
      </p:sp>
      <p:graphicFrame>
        <p:nvGraphicFramePr>
          <p:cNvPr id="302082" name="Object 2"/>
          <p:cNvGraphicFramePr>
            <a:graphicFrameLocks noChangeAspect="1"/>
          </p:cNvGraphicFramePr>
          <p:nvPr/>
        </p:nvGraphicFramePr>
        <p:xfrm>
          <a:off x="1991544" y="1412776"/>
          <a:ext cx="6768752" cy="2127952"/>
        </p:xfrm>
        <a:graphic>
          <a:graphicData uri="http://schemas.openxmlformats.org/presentationml/2006/ole">
            <mc:AlternateContent xmlns:mc="http://schemas.openxmlformats.org/markup-compatibility/2006">
              <mc:Choice xmlns:v="urn:schemas-microsoft-com:vml" Requires="v">
                <p:oleObj name="Equation" r:id="rId2" imgW="2908080" imgH="914400" progId="Equation.3">
                  <p:embed/>
                </p:oleObj>
              </mc:Choice>
              <mc:Fallback>
                <p:oleObj name="Equation" r:id="rId2" imgW="2908080" imgH="914400" progId="Equation.3">
                  <p:embed/>
                  <p:pic>
                    <p:nvPicPr>
                      <p:cNvPr id="302082"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1544" y="1412776"/>
                        <a:ext cx="6768752" cy="21279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2083" name="Object 3"/>
          <p:cNvGraphicFramePr>
            <a:graphicFrameLocks noChangeAspect="1"/>
          </p:cNvGraphicFramePr>
          <p:nvPr/>
        </p:nvGraphicFramePr>
        <p:xfrm>
          <a:off x="3431704" y="3861048"/>
          <a:ext cx="3930650" cy="2127250"/>
        </p:xfrm>
        <a:graphic>
          <a:graphicData uri="http://schemas.openxmlformats.org/presentationml/2006/ole">
            <mc:AlternateContent xmlns:mc="http://schemas.openxmlformats.org/markup-compatibility/2006">
              <mc:Choice xmlns:v="urn:schemas-microsoft-com:vml" Requires="v">
                <p:oleObj name="Equation" r:id="rId4" imgW="1688760" imgH="914400" progId="Equation.3">
                  <p:embed/>
                </p:oleObj>
              </mc:Choice>
              <mc:Fallback>
                <p:oleObj name="Equation" r:id="rId4" imgW="1688760" imgH="914400" progId="Equation.3">
                  <p:embed/>
                  <p:pic>
                    <p:nvPicPr>
                      <p:cNvPr id="302083"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31704" y="3861048"/>
                        <a:ext cx="3930650" cy="2127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p:cNvSpPr txBox="1"/>
          <p:nvPr/>
        </p:nvSpPr>
        <p:spPr>
          <a:xfrm>
            <a:off x="4863097" y="6093296"/>
            <a:ext cx="1223412" cy="523220"/>
          </a:xfrm>
          <a:prstGeom prst="rect">
            <a:avLst/>
          </a:prstGeom>
          <a:noFill/>
        </p:spPr>
        <p:txBody>
          <a:bodyPr wrap="none" rtlCol="0">
            <a:spAutoFit/>
          </a:bodyPr>
          <a:lstStyle/>
          <a:p>
            <a:r>
              <a:rPr lang="en-US" sz="2800" i="1" dirty="0">
                <a:latin typeface="Times New Roman" pitchFamily="18" charset="0"/>
                <a:cs typeface="Times New Roman" pitchFamily="18" charset="0"/>
              </a:rPr>
              <a:t>c = Pw</a:t>
            </a:r>
          </a:p>
        </p:txBody>
      </p:sp>
    </p:spTree>
    <p:extLst>
      <p:ext uri="{BB962C8B-B14F-4D97-AF65-F5344CB8AC3E}">
        <p14:creationId xmlns:p14="http://schemas.microsoft.com/office/powerpoint/2010/main" val="35746453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191344" y="71414"/>
            <a:ext cx="8976490" cy="928694"/>
          </a:xfrm>
        </p:spPr>
        <p:txBody>
          <a:bodyPr>
            <a:normAutofit/>
          </a:bodyPr>
          <a:lstStyle/>
          <a:p>
            <a:r>
              <a:rPr lang="en-US" dirty="0"/>
              <a:t>Properties of Projection</a:t>
            </a:r>
          </a:p>
        </p:txBody>
      </p:sp>
      <p:sp>
        <p:nvSpPr>
          <p:cNvPr id="6" name="Content Placeholder 2"/>
          <p:cNvSpPr>
            <a:spLocks noGrp="1"/>
          </p:cNvSpPr>
          <p:nvPr>
            <p:ph idx="1"/>
          </p:nvPr>
        </p:nvSpPr>
        <p:spPr>
          <a:xfrm>
            <a:off x="191344" y="1285860"/>
            <a:ext cx="7704856" cy="5500726"/>
          </a:xfrm>
        </p:spPr>
        <p:txBody>
          <a:bodyPr>
            <a:noAutofit/>
          </a:bodyPr>
          <a:lstStyle/>
          <a:p>
            <a:pPr>
              <a:buFont typeface="Courier New" pitchFamily="49" charset="0"/>
              <a:buChar char="o"/>
            </a:pPr>
            <a:r>
              <a:rPr lang="en-US" sz="3600" dirty="0"/>
              <a:t>Looking at the projection matrix, </a:t>
            </a:r>
            <a:r>
              <a:rPr lang="en-US" sz="3600" i="1" dirty="0"/>
              <a:t>P</a:t>
            </a:r>
          </a:p>
          <a:p>
            <a:pPr lvl="1">
              <a:buFont typeface="Courier New" pitchFamily="49" charset="0"/>
              <a:buChar char="o"/>
            </a:pPr>
            <a:r>
              <a:rPr lang="en-US" dirty="0"/>
              <a:t>The last column is all </a:t>
            </a:r>
            <a:r>
              <a:rPr lang="en-US" sz="3200" dirty="0"/>
              <a:t>zeroes, and the last row is –1 times the second last</a:t>
            </a:r>
          </a:p>
          <a:p>
            <a:pPr lvl="1">
              <a:buFont typeface="Courier New" pitchFamily="49" charset="0"/>
              <a:buChar char="o"/>
            </a:pPr>
            <a:r>
              <a:rPr lang="en-US" sz="3200" dirty="0"/>
              <a:t>This means that </a:t>
            </a:r>
            <a:r>
              <a:rPr lang="en-US" sz="3200" i="1" dirty="0"/>
              <a:t>P is </a:t>
            </a:r>
            <a:r>
              <a:rPr lang="en-US" sz="3200" dirty="0"/>
              <a:t>not invertible, so while we can find </a:t>
            </a:r>
            <a:r>
              <a:rPr lang="en-US" sz="3200" i="1" dirty="0"/>
              <a:t>c </a:t>
            </a:r>
            <a:r>
              <a:rPr lang="en-US" sz="3200" dirty="0"/>
              <a:t>from </a:t>
            </a:r>
            <a:r>
              <a:rPr lang="en-US" sz="3200" i="1" dirty="0"/>
              <a:t>w as c=Pw, we </a:t>
            </a:r>
            <a:r>
              <a:rPr lang="en-US" sz="3200" dirty="0"/>
              <a:t>cannot find </a:t>
            </a:r>
            <a:r>
              <a:rPr lang="en-US" sz="3200" i="1" dirty="0"/>
              <a:t>w as w=P</a:t>
            </a:r>
            <a:r>
              <a:rPr lang="en-US" sz="3200" baseline="30000" dirty="0"/>
              <a:t>-1</a:t>
            </a:r>
            <a:r>
              <a:rPr lang="en-US" sz="3200" i="1" dirty="0"/>
              <a:t>c</a:t>
            </a:r>
          </a:p>
          <a:p>
            <a:pPr lvl="1">
              <a:buFont typeface="Courier New" pitchFamily="49" charset="0"/>
              <a:buChar char="o"/>
            </a:pPr>
            <a:r>
              <a:rPr lang="en-US" sz="3200" dirty="0"/>
              <a:t>This is because each camera point relates to many world points</a:t>
            </a:r>
          </a:p>
        </p:txBody>
      </p:sp>
      <p:pic>
        <p:nvPicPr>
          <p:cNvPr id="303108" name="Picture 4"/>
          <p:cNvPicPr>
            <a:picLocks noChangeAspect="1" noChangeArrowheads="1"/>
          </p:cNvPicPr>
          <p:nvPr/>
        </p:nvPicPr>
        <p:blipFill>
          <a:blip r:embed="rId2" cstate="print"/>
          <a:srcRect/>
          <a:stretch>
            <a:fillRect/>
          </a:stretch>
        </p:blipFill>
        <p:spPr bwMode="auto">
          <a:xfrm>
            <a:off x="8767108" y="4221088"/>
            <a:ext cx="2680461" cy="2304256"/>
          </a:xfrm>
          <a:prstGeom prst="rect">
            <a:avLst/>
          </a:prstGeom>
          <a:noFill/>
          <a:ln w="9525">
            <a:noFill/>
            <a:miter lim="800000"/>
            <a:headEnd/>
            <a:tailEnd/>
          </a:ln>
        </p:spPr>
      </p:pic>
      <p:graphicFrame>
        <p:nvGraphicFramePr>
          <p:cNvPr id="2" name="Object 3">
            <a:extLst>
              <a:ext uri="{FF2B5EF4-FFF2-40B4-BE49-F238E27FC236}">
                <a16:creationId xmlns:a16="http://schemas.microsoft.com/office/drawing/2014/main" id="{569BCA5D-5345-4960-B721-5274CF19DC32}"/>
              </a:ext>
            </a:extLst>
          </p:cNvPr>
          <p:cNvGraphicFramePr>
            <a:graphicFrameLocks noChangeAspect="1"/>
          </p:cNvGraphicFramePr>
          <p:nvPr/>
        </p:nvGraphicFramePr>
        <p:xfrm>
          <a:off x="8142288" y="1662113"/>
          <a:ext cx="3930650" cy="2127250"/>
        </p:xfrm>
        <a:graphic>
          <a:graphicData uri="http://schemas.openxmlformats.org/presentationml/2006/ole">
            <mc:AlternateContent xmlns:mc="http://schemas.openxmlformats.org/markup-compatibility/2006">
              <mc:Choice xmlns:v="urn:schemas-microsoft-com:vml" Requires="v">
                <p:oleObj name="Equation" r:id="rId3" imgW="1688760" imgH="914400" progId="Equation.3">
                  <p:embed/>
                </p:oleObj>
              </mc:Choice>
              <mc:Fallback>
                <p:oleObj name="Equation" r:id="rId3" imgW="1688760" imgH="914400" progId="Equation.3">
                  <p:embed/>
                  <p:pic>
                    <p:nvPicPr>
                      <p:cNvPr id="2" name="Object 3">
                        <a:extLst>
                          <a:ext uri="{FF2B5EF4-FFF2-40B4-BE49-F238E27FC236}">
                            <a16:creationId xmlns:a16="http://schemas.microsoft.com/office/drawing/2014/main" id="{569BCA5D-5345-4960-B721-5274CF19DC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42288" y="1662113"/>
                        <a:ext cx="3930650" cy="2127250"/>
                      </a:xfrm>
                      <a:prstGeom prst="rect">
                        <a:avLst/>
                      </a:prstGeom>
                      <a:solidFill>
                        <a:schemeClr val="accent3">
                          <a:lumMod val="40000"/>
                          <a:lumOff val="60000"/>
                        </a:schemeClr>
                      </a:solidFill>
                    </p:spPr>
                  </p:pic>
                </p:oleObj>
              </mc:Fallback>
            </mc:AlternateContent>
          </a:graphicData>
        </a:graphic>
      </p:graphicFrame>
    </p:spTree>
    <p:extLst>
      <p:ext uri="{BB962C8B-B14F-4D97-AF65-F5344CB8AC3E}">
        <p14:creationId xmlns:p14="http://schemas.microsoft.com/office/powerpoint/2010/main" val="13126621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4546" name="Rectangle 2"/>
          <p:cNvSpPr>
            <a:spLocks noGrp="1" noChangeArrowheads="1"/>
          </p:cNvSpPr>
          <p:nvPr>
            <p:ph type="title"/>
          </p:nvPr>
        </p:nvSpPr>
        <p:spPr/>
        <p:txBody>
          <a:bodyPr/>
          <a:lstStyle/>
          <a:p>
            <a:r>
              <a:rPr lang="en-US"/>
              <a:t>Properties of Projection</a:t>
            </a:r>
          </a:p>
        </p:txBody>
      </p:sp>
      <p:sp>
        <p:nvSpPr>
          <p:cNvPr id="364547" name="Rectangle 3"/>
          <p:cNvSpPr>
            <a:spLocks noGrp="1" noChangeArrowheads="1"/>
          </p:cNvSpPr>
          <p:nvPr>
            <p:ph type="body" idx="1"/>
          </p:nvPr>
        </p:nvSpPr>
        <p:spPr/>
        <p:txBody>
          <a:bodyPr>
            <a:normAutofit lnSpcReduction="10000"/>
          </a:bodyPr>
          <a:lstStyle/>
          <a:p>
            <a:r>
              <a:rPr lang="en-US" dirty="0"/>
              <a:t>Preserves</a:t>
            </a:r>
          </a:p>
          <a:p>
            <a:pPr lvl="1" indent="-395288"/>
            <a:r>
              <a:rPr lang="en-US" dirty="0"/>
              <a:t>Lines and conics</a:t>
            </a:r>
          </a:p>
          <a:p>
            <a:pPr lvl="1" indent="-395288"/>
            <a:r>
              <a:rPr lang="en-US" dirty="0"/>
              <a:t>Incidence (whether a point lies on a line)</a:t>
            </a:r>
          </a:p>
          <a:p>
            <a:pPr lvl="1" indent="-395288"/>
            <a:r>
              <a:rPr lang="en-US" dirty="0"/>
              <a:t>Invariants (cross-ratio)</a:t>
            </a:r>
          </a:p>
          <a:p>
            <a:pPr lvl="1" indent="-395288"/>
            <a:r>
              <a:rPr lang="en-US" dirty="0"/>
              <a:t>can show that the </a:t>
            </a:r>
            <a:r>
              <a:rPr lang="en-US" i="1" dirty="0"/>
              <a:t>only</a:t>
            </a:r>
            <a:r>
              <a:rPr lang="en-US" dirty="0"/>
              <a:t> transformations that preserve lines and incidence are the projective transformations</a:t>
            </a:r>
          </a:p>
          <a:p>
            <a:pPr lvl="1"/>
            <a:endParaRPr lang="en-US" dirty="0"/>
          </a:p>
          <a:p>
            <a:r>
              <a:rPr lang="en-US" dirty="0"/>
              <a:t>Does not preserve</a:t>
            </a:r>
          </a:p>
          <a:p>
            <a:pPr lvl="1" indent="-395288"/>
            <a:r>
              <a:rPr lang="en-US" dirty="0"/>
              <a:t>Lengths</a:t>
            </a:r>
          </a:p>
          <a:p>
            <a:pPr lvl="1" indent="-395288"/>
            <a:r>
              <a:rPr lang="en-US" dirty="0"/>
              <a:t>Angles</a:t>
            </a:r>
          </a:p>
          <a:p>
            <a:pPr lvl="1" indent="-395288"/>
            <a:r>
              <a:rPr lang="en-US" dirty="0"/>
              <a:t>Parallelism</a:t>
            </a:r>
          </a:p>
          <a:p>
            <a:pPr lvl="1"/>
            <a:endParaRPr lang="en-US" dirty="0"/>
          </a:p>
        </p:txBody>
      </p:sp>
    </p:spTree>
    <p:extLst>
      <p:ext uri="{BB962C8B-B14F-4D97-AF65-F5344CB8AC3E}">
        <p14:creationId xmlns:p14="http://schemas.microsoft.com/office/powerpoint/2010/main" val="3106069293"/>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191344" y="71414"/>
            <a:ext cx="8976490" cy="928694"/>
          </a:xfrm>
        </p:spPr>
        <p:txBody>
          <a:bodyPr>
            <a:normAutofit/>
          </a:bodyPr>
          <a:lstStyle/>
          <a:p>
            <a:r>
              <a:rPr lang="en-US" dirty="0"/>
              <a:t>More General Cameras</a:t>
            </a:r>
          </a:p>
        </p:txBody>
      </p:sp>
      <p:sp>
        <p:nvSpPr>
          <p:cNvPr id="6" name="Content Placeholder 2"/>
          <p:cNvSpPr>
            <a:spLocks noGrp="1"/>
          </p:cNvSpPr>
          <p:nvPr>
            <p:ph idx="1"/>
          </p:nvPr>
        </p:nvSpPr>
        <p:spPr>
          <a:xfrm>
            <a:off x="191344" y="1285860"/>
            <a:ext cx="10657184" cy="5500726"/>
          </a:xfrm>
        </p:spPr>
        <p:txBody>
          <a:bodyPr>
            <a:noAutofit/>
          </a:bodyPr>
          <a:lstStyle/>
          <a:p>
            <a:pPr>
              <a:spcBef>
                <a:spcPts val="600"/>
              </a:spcBef>
              <a:spcAft>
                <a:spcPts val="600"/>
              </a:spcAft>
              <a:buFont typeface="Courier New" pitchFamily="49" charset="0"/>
              <a:buChar char="o"/>
            </a:pPr>
            <a:r>
              <a:rPr lang="en-US" dirty="0"/>
              <a:t>We have assumed that the camera</a:t>
            </a:r>
          </a:p>
          <a:p>
            <a:pPr lvl="1">
              <a:spcBef>
                <a:spcPts val="600"/>
              </a:spcBef>
              <a:spcAft>
                <a:spcPts val="600"/>
              </a:spcAft>
              <a:buFont typeface="Wingdings" panose="05000000000000000000" pitchFamily="2" charset="2"/>
              <a:buChar char="§"/>
            </a:pPr>
            <a:r>
              <a:rPr lang="en-US" dirty="0"/>
              <a:t>has an image plane 1 unit away from the pinhole aperture</a:t>
            </a:r>
          </a:p>
          <a:p>
            <a:pPr lvl="1">
              <a:spcBef>
                <a:spcPts val="600"/>
              </a:spcBef>
              <a:spcAft>
                <a:spcPts val="600"/>
              </a:spcAft>
              <a:buFont typeface="Wingdings" panose="05000000000000000000" pitchFamily="2" charset="2"/>
              <a:buChar char="§"/>
            </a:pPr>
            <a:r>
              <a:rPr lang="en-US" dirty="0"/>
              <a:t>looks along the </a:t>
            </a:r>
            <a:r>
              <a:rPr lang="en-US" i="1" dirty="0"/>
              <a:t>Z </a:t>
            </a:r>
            <a:r>
              <a:rPr lang="en-US" dirty="0"/>
              <a:t>axis</a:t>
            </a:r>
          </a:p>
          <a:p>
            <a:pPr lvl="1">
              <a:spcBef>
                <a:spcPts val="600"/>
              </a:spcBef>
              <a:spcAft>
                <a:spcPts val="600"/>
              </a:spcAft>
              <a:buFont typeface="Wingdings" panose="05000000000000000000" pitchFamily="2" charset="2"/>
              <a:buChar char="§"/>
            </a:pPr>
            <a:r>
              <a:rPr lang="en-US" dirty="0"/>
              <a:t>is located the origin</a:t>
            </a:r>
          </a:p>
          <a:p>
            <a:pPr>
              <a:spcBef>
                <a:spcPts val="600"/>
              </a:spcBef>
              <a:spcAft>
                <a:spcPts val="600"/>
              </a:spcAft>
              <a:buFont typeface="Courier New" pitchFamily="49" charset="0"/>
              <a:buChar char="o"/>
            </a:pPr>
            <a:r>
              <a:rPr lang="en-US" dirty="0"/>
              <a:t>It is useful to have a more flexible model of a camera</a:t>
            </a:r>
          </a:p>
          <a:p>
            <a:pPr>
              <a:spcBef>
                <a:spcPts val="600"/>
              </a:spcBef>
              <a:spcAft>
                <a:spcPts val="600"/>
              </a:spcAft>
              <a:buFont typeface="Courier New" pitchFamily="49" charset="0"/>
              <a:buChar char="o"/>
            </a:pPr>
            <a:r>
              <a:rPr lang="en-US" dirty="0"/>
              <a:t>We can relax all these assumptions</a:t>
            </a:r>
          </a:p>
          <a:p>
            <a:pPr lvl="1">
              <a:spcBef>
                <a:spcPts val="600"/>
              </a:spcBef>
              <a:spcAft>
                <a:spcPts val="600"/>
              </a:spcAft>
              <a:buFont typeface="Wingdings" panose="05000000000000000000" pitchFamily="2" charset="2"/>
              <a:buChar char="§"/>
            </a:pPr>
            <a:r>
              <a:rPr lang="en-US" dirty="0"/>
              <a:t>Having a different distance from the aperture is a </a:t>
            </a:r>
            <a:r>
              <a:rPr lang="en-US" i="1" dirty="0">
                <a:solidFill>
                  <a:srgbClr val="FF0000"/>
                </a:solidFill>
              </a:rPr>
              <a:t>scale</a:t>
            </a:r>
          </a:p>
          <a:p>
            <a:pPr lvl="1">
              <a:spcBef>
                <a:spcPts val="600"/>
              </a:spcBef>
              <a:spcAft>
                <a:spcPts val="600"/>
              </a:spcAft>
              <a:buFont typeface="Wingdings" panose="05000000000000000000" pitchFamily="2" charset="2"/>
              <a:buChar char="§"/>
            </a:pPr>
            <a:r>
              <a:rPr lang="en-US" dirty="0"/>
              <a:t>Looking in a different </a:t>
            </a:r>
            <a:r>
              <a:rPr lang="en-US" sz="3200" dirty="0"/>
              <a:t>direction is a </a:t>
            </a:r>
            <a:r>
              <a:rPr lang="en-US" sz="3200" i="1" dirty="0">
                <a:solidFill>
                  <a:srgbClr val="FF0000"/>
                </a:solidFill>
              </a:rPr>
              <a:t>rotation</a:t>
            </a:r>
          </a:p>
          <a:p>
            <a:pPr lvl="1">
              <a:spcBef>
                <a:spcPts val="600"/>
              </a:spcBef>
              <a:spcAft>
                <a:spcPts val="600"/>
              </a:spcAft>
              <a:buFont typeface="Wingdings" panose="05000000000000000000" pitchFamily="2" charset="2"/>
              <a:buChar char="§"/>
            </a:pPr>
            <a:r>
              <a:rPr lang="en-US" sz="3200" dirty="0"/>
              <a:t>Moving away from the origin is a </a:t>
            </a:r>
            <a:r>
              <a:rPr lang="en-US" sz="3200" i="1" dirty="0">
                <a:solidFill>
                  <a:srgbClr val="FF0000"/>
                </a:solidFill>
              </a:rPr>
              <a:t>translation</a:t>
            </a:r>
          </a:p>
        </p:txBody>
      </p:sp>
    </p:spTree>
    <p:extLst>
      <p:ext uri="{BB962C8B-B14F-4D97-AF65-F5344CB8AC3E}">
        <p14:creationId xmlns:p14="http://schemas.microsoft.com/office/powerpoint/2010/main" val="42447255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191344" y="71414"/>
            <a:ext cx="8976490" cy="928694"/>
          </a:xfrm>
        </p:spPr>
        <p:txBody>
          <a:bodyPr>
            <a:normAutofit/>
          </a:bodyPr>
          <a:lstStyle/>
          <a:p>
            <a:r>
              <a:rPr lang="en-US" dirty="0"/>
              <a:t>Focal Length &amp; Scale</a:t>
            </a:r>
          </a:p>
        </p:txBody>
      </p:sp>
      <p:sp>
        <p:nvSpPr>
          <p:cNvPr id="6" name="Content Placeholder 2"/>
          <p:cNvSpPr>
            <a:spLocks noGrp="1"/>
          </p:cNvSpPr>
          <p:nvPr>
            <p:ph idx="1"/>
          </p:nvPr>
        </p:nvSpPr>
        <p:spPr>
          <a:xfrm>
            <a:off x="191344" y="1285860"/>
            <a:ext cx="10153128" cy="5500726"/>
          </a:xfrm>
        </p:spPr>
        <p:txBody>
          <a:bodyPr>
            <a:noAutofit/>
          </a:bodyPr>
          <a:lstStyle/>
          <a:p>
            <a:pPr>
              <a:buFont typeface="Courier New" pitchFamily="49" charset="0"/>
              <a:buChar char="o"/>
            </a:pPr>
            <a:r>
              <a:rPr lang="en-US" sz="3600" dirty="0"/>
              <a:t>If the image plane is some distance, </a:t>
            </a:r>
            <a:r>
              <a:rPr lang="en-US" sz="3600" i="1" dirty="0"/>
              <a:t>f, </a:t>
            </a:r>
            <a:r>
              <a:rPr lang="en-US" sz="3600" dirty="0"/>
              <a:t>from the origin</a:t>
            </a:r>
          </a:p>
          <a:p>
            <a:pPr lvl="1">
              <a:buFont typeface="Wingdings" panose="05000000000000000000" pitchFamily="2" charset="2"/>
              <a:buChar char="§"/>
            </a:pPr>
            <a:r>
              <a:rPr lang="en-US" sz="3200" i="1" dirty="0"/>
              <a:t> f </a:t>
            </a:r>
            <a:r>
              <a:rPr lang="en-US" sz="3200" dirty="0"/>
              <a:t>is called the focal length of the camera</a:t>
            </a:r>
          </a:p>
          <a:p>
            <a:pPr lvl="1">
              <a:buFont typeface="Wingdings" panose="05000000000000000000" pitchFamily="2" charset="2"/>
              <a:buChar char="§"/>
            </a:pPr>
            <a:r>
              <a:rPr lang="en-US" sz="3200" dirty="0"/>
              <a:t>The image coordinates have the form</a:t>
            </a:r>
          </a:p>
          <a:p>
            <a:pPr lvl="1">
              <a:buNone/>
            </a:pPr>
            <a:r>
              <a:rPr lang="en-US" sz="3200" i="1" dirty="0"/>
              <a:t>				c = </a:t>
            </a:r>
            <a:r>
              <a:rPr lang="en-US" sz="3200" dirty="0"/>
              <a:t>[</a:t>
            </a:r>
            <a:r>
              <a:rPr lang="en-US" sz="3200" i="1" dirty="0"/>
              <a:t>x, y, -f, </a:t>
            </a:r>
            <a:r>
              <a:rPr lang="en-US" sz="3200" dirty="0"/>
              <a:t>1]</a:t>
            </a:r>
            <a:r>
              <a:rPr lang="en-US" sz="3200" i="1" baseline="30000" dirty="0"/>
              <a:t>T</a:t>
            </a:r>
          </a:p>
          <a:p>
            <a:pPr lvl="1">
              <a:buFont typeface="Wingdings" panose="05000000000000000000" pitchFamily="2" charset="2"/>
              <a:buChar char="§"/>
            </a:pPr>
            <a:r>
              <a:rPr lang="en-US" sz="3200" dirty="0"/>
              <a:t>We can relate this to a second camera</a:t>
            </a:r>
          </a:p>
          <a:p>
            <a:pPr lvl="1">
              <a:buNone/>
            </a:pPr>
            <a:r>
              <a:rPr lang="en-US" sz="3200" dirty="0"/>
              <a:t>    with </a:t>
            </a:r>
            <a:r>
              <a:rPr lang="en-US" sz="3200" i="1" dirty="0"/>
              <a:t>f </a:t>
            </a:r>
            <a:r>
              <a:rPr lang="en-US" sz="3200" dirty="0"/>
              <a:t>= 1</a:t>
            </a:r>
            <a:r>
              <a:rPr lang="en-US" sz="3200" i="1" dirty="0"/>
              <a:t>, </a:t>
            </a:r>
            <a:r>
              <a:rPr lang="en-US" sz="3200" dirty="0"/>
              <a:t>and image point </a:t>
            </a:r>
          </a:p>
          <a:p>
            <a:pPr lvl="1">
              <a:buNone/>
            </a:pPr>
            <a:r>
              <a:rPr lang="en-US" sz="3200" i="1" dirty="0"/>
              <a:t>				c’ </a:t>
            </a:r>
            <a:r>
              <a:rPr lang="en-US" sz="3200" dirty="0"/>
              <a:t>= [</a:t>
            </a:r>
            <a:r>
              <a:rPr lang="en-US" sz="3200" i="1" dirty="0"/>
              <a:t>x’, y’, </a:t>
            </a:r>
            <a:r>
              <a:rPr lang="en-US" sz="3200" dirty="0"/>
              <a:t>-1, 1]</a:t>
            </a:r>
            <a:r>
              <a:rPr lang="en-US" sz="3200" i="1" baseline="30000" dirty="0"/>
              <a:t>T</a:t>
            </a:r>
          </a:p>
        </p:txBody>
      </p:sp>
      <p:pic>
        <p:nvPicPr>
          <p:cNvPr id="304131" name="Picture 3"/>
          <p:cNvPicPr>
            <a:picLocks noChangeAspect="1" noChangeArrowheads="1"/>
          </p:cNvPicPr>
          <p:nvPr/>
        </p:nvPicPr>
        <p:blipFill>
          <a:blip r:embed="rId3" cstate="print"/>
          <a:srcRect/>
          <a:stretch>
            <a:fillRect/>
          </a:stretch>
        </p:blipFill>
        <p:spPr bwMode="auto">
          <a:xfrm>
            <a:off x="9076704" y="2420888"/>
            <a:ext cx="2535535" cy="2667824"/>
          </a:xfrm>
          <a:prstGeom prst="rect">
            <a:avLst/>
          </a:prstGeom>
          <a:noFill/>
          <a:ln w="9525">
            <a:noFill/>
            <a:miter lim="800000"/>
            <a:headEnd/>
            <a:tailEnd/>
          </a:ln>
        </p:spPr>
      </p:pic>
    </p:spTree>
    <p:extLst>
      <p:ext uri="{BB962C8B-B14F-4D97-AF65-F5344CB8AC3E}">
        <p14:creationId xmlns:p14="http://schemas.microsoft.com/office/powerpoint/2010/main" val="15585881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191344" y="71414"/>
            <a:ext cx="8976490" cy="928694"/>
          </a:xfrm>
        </p:spPr>
        <p:txBody>
          <a:bodyPr>
            <a:normAutofit/>
          </a:bodyPr>
          <a:lstStyle/>
          <a:p>
            <a:r>
              <a:rPr lang="en-US" dirty="0"/>
              <a:t>Focal Length &amp; Scale</a:t>
            </a:r>
          </a:p>
        </p:txBody>
      </p:sp>
      <p:sp>
        <p:nvSpPr>
          <p:cNvPr id="6" name="Content Placeholder 2"/>
          <p:cNvSpPr>
            <a:spLocks noGrp="1"/>
          </p:cNvSpPr>
          <p:nvPr>
            <p:ph idx="1"/>
          </p:nvPr>
        </p:nvSpPr>
        <p:spPr>
          <a:xfrm>
            <a:off x="191344" y="1285860"/>
            <a:ext cx="10585176" cy="5500726"/>
          </a:xfrm>
        </p:spPr>
        <p:txBody>
          <a:bodyPr>
            <a:noAutofit/>
          </a:bodyPr>
          <a:lstStyle/>
          <a:p>
            <a:pPr>
              <a:buFont typeface="Courier New" pitchFamily="49" charset="0"/>
              <a:buChar char="o"/>
            </a:pPr>
            <a:r>
              <a:rPr lang="en-US" dirty="0"/>
              <a:t>So a camera with focal length </a:t>
            </a:r>
            <a:r>
              <a:rPr lang="en-US" i="1" dirty="0"/>
              <a:t>f </a:t>
            </a:r>
            <a:r>
              <a:rPr lang="en-US" dirty="0"/>
              <a:t>is just a scaling, </a:t>
            </a:r>
            <a:r>
              <a:rPr lang="en-US" i="1" dirty="0"/>
              <a:t>S, </a:t>
            </a:r>
            <a:r>
              <a:rPr lang="en-US" dirty="0"/>
              <a:t>of our original camera</a:t>
            </a:r>
          </a:p>
          <a:p>
            <a:pPr lvl="1">
              <a:buFont typeface="Courier New" pitchFamily="49" charset="0"/>
              <a:buChar char="o"/>
            </a:pPr>
            <a:r>
              <a:rPr lang="en-US" dirty="0"/>
              <a:t>The focal length is the distance from the pinhole to the image plane</a:t>
            </a:r>
          </a:p>
          <a:p>
            <a:pPr lvl="1">
              <a:buFont typeface="Courier New" pitchFamily="49" charset="0"/>
              <a:buChar char="o"/>
            </a:pPr>
            <a:r>
              <a:rPr lang="en-US" dirty="0"/>
              <a:t>We sometimes apply similar scaling for different sized pixels</a:t>
            </a:r>
          </a:p>
        </p:txBody>
      </p:sp>
      <p:graphicFrame>
        <p:nvGraphicFramePr>
          <p:cNvPr id="304130" name="Object 2"/>
          <p:cNvGraphicFramePr>
            <a:graphicFrameLocks noChangeAspect="1"/>
          </p:cNvGraphicFramePr>
          <p:nvPr/>
        </p:nvGraphicFramePr>
        <p:xfrm>
          <a:off x="3575721" y="3861048"/>
          <a:ext cx="6767513" cy="2127250"/>
        </p:xfrm>
        <a:graphic>
          <a:graphicData uri="http://schemas.openxmlformats.org/presentationml/2006/ole">
            <mc:AlternateContent xmlns:mc="http://schemas.openxmlformats.org/markup-compatibility/2006">
              <mc:Choice xmlns:v="urn:schemas-microsoft-com:vml" Requires="v">
                <p:oleObj name="Equation" r:id="rId2" imgW="2908080" imgH="914400" progId="Equation.3">
                  <p:embed/>
                </p:oleObj>
              </mc:Choice>
              <mc:Fallback>
                <p:oleObj name="Equation" r:id="rId2" imgW="2908080" imgH="914400" progId="Equation.3">
                  <p:embed/>
                  <p:pic>
                    <p:nvPicPr>
                      <p:cNvPr id="30413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5721" y="3861048"/>
                        <a:ext cx="6767513" cy="2127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p:cNvSpPr txBox="1"/>
          <p:nvPr/>
        </p:nvSpPr>
        <p:spPr>
          <a:xfrm>
            <a:off x="3731774" y="6074132"/>
            <a:ext cx="6756715" cy="523220"/>
          </a:xfrm>
          <a:prstGeom prst="rect">
            <a:avLst/>
          </a:prstGeom>
          <a:noFill/>
        </p:spPr>
        <p:txBody>
          <a:bodyPr wrap="square" rtlCol="0">
            <a:spAutoFit/>
          </a:bodyPr>
          <a:lstStyle/>
          <a:p>
            <a:r>
              <a:rPr lang="en-US" sz="2800" i="1" dirty="0">
                <a:latin typeface="Times New Roman" pitchFamily="18" charset="0"/>
                <a:cs typeface="Times New Roman" pitchFamily="18" charset="0"/>
              </a:rPr>
              <a:t>c’                     =                S                       c</a:t>
            </a:r>
          </a:p>
        </p:txBody>
      </p:sp>
    </p:spTree>
    <p:extLst>
      <p:ext uri="{BB962C8B-B14F-4D97-AF65-F5344CB8AC3E}">
        <p14:creationId xmlns:p14="http://schemas.microsoft.com/office/powerpoint/2010/main" val="13023867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191344" y="71414"/>
            <a:ext cx="8976490" cy="928694"/>
          </a:xfrm>
        </p:spPr>
        <p:txBody>
          <a:bodyPr>
            <a:normAutofit/>
          </a:bodyPr>
          <a:lstStyle/>
          <a:p>
            <a:r>
              <a:rPr lang="en-US" dirty="0"/>
              <a:t>Direction &amp; Rotation</a:t>
            </a:r>
          </a:p>
        </p:txBody>
      </p:sp>
      <p:sp>
        <p:nvSpPr>
          <p:cNvPr id="6" name="Content Placeholder 2"/>
          <p:cNvSpPr>
            <a:spLocks noGrp="1"/>
          </p:cNvSpPr>
          <p:nvPr>
            <p:ph idx="1"/>
          </p:nvPr>
        </p:nvSpPr>
        <p:spPr>
          <a:xfrm>
            <a:off x="191344" y="1285860"/>
            <a:ext cx="10585176" cy="5500726"/>
          </a:xfrm>
        </p:spPr>
        <p:txBody>
          <a:bodyPr>
            <a:noAutofit/>
          </a:bodyPr>
          <a:lstStyle/>
          <a:p>
            <a:pPr>
              <a:buFont typeface="Courier New" pitchFamily="49" charset="0"/>
              <a:buChar char="o"/>
            </a:pPr>
            <a:r>
              <a:rPr lang="en-US" dirty="0"/>
              <a:t>Next we consider a camera that looks in a different direction</a:t>
            </a:r>
          </a:p>
          <a:p>
            <a:pPr lvl="1">
              <a:buFont typeface="Courier New" pitchFamily="49" charset="0"/>
              <a:buChar char="o"/>
            </a:pPr>
            <a:r>
              <a:rPr lang="en-US" dirty="0"/>
              <a:t>Recall from review, any rotation can be represented by a matrix of the form</a:t>
            </a:r>
          </a:p>
          <a:p>
            <a:pPr lvl="1">
              <a:buFont typeface="Courier New" pitchFamily="49" charset="0"/>
              <a:buChar char="o"/>
            </a:pPr>
            <a:endParaRPr lang="en-US" dirty="0"/>
          </a:p>
          <a:p>
            <a:pPr lvl="1">
              <a:buFont typeface="Courier New" pitchFamily="49" charset="0"/>
              <a:buChar char="o"/>
            </a:pPr>
            <a:endParaRPr lang="en-US" dirty="0"/>
          </a:p>
          <a:p>
            <a:pPr lvl="1">
              <a:buFont typeface="Courier New" pitchFamily="49" charset="0"/>
              <a:buChar char="o"/>
            </a:pPr>
            <a:endParaRPr lang="en-US" dirty="0"/>
          </a:p>
          <a:p>
            <a:pPr>
              <a:buFont typeface="Courier New" pitchFamily="49" charset="0"/>
              <a:buChar char="o"/>
            </a:pPr>
            <a:r>
              <a:rPr lang="en-US" dirty="0"/>
              <a:t>Given any camera at </a:t>
            </a:r>
            <a:r>
              <a:rPr lang="en-US" sz="2800" dirty="0"/>
              <a:t>the origin</a:t>
            </a:r>
          </a:p>
          <a:p>
            <a:pPr lvl="1">
              <a:buFont typeface="Courier New" pitchFamily="49" charset="0"/>
              <a:buChar char="o"/>
            </a:pPr>
            <a:r>
              <a:rPr lang="en-US" dirty="0"/>
              <a:t>We can find some rotation, </a:t>
            </a:r>
            <a:r>
              <a:rPr lang="en-US" i="1" dirty="0"/>
              <a:t>R, that turns </a:t>
            </a:r>
            <a:r>
              <a:rPr lang="en-US" dirty="0"/>
              <a:t>that camera into a camera looking along the </a:t>
            </a:r>
            <a:r>
              <a:rPr lang="en-US" i="1" dirty="0"/>
              <a:t>Z axis</a:t>
            </a:r>
          </a:p>
          <a:p>
            <a:pPr lvl="1">
              <a:buFont typeface="Courier New" pitchFamily="49" charset="0"/>
              <a:buChar char="o"/>
            </a:pPr>
            <a:r>
              <a:rPr lang="en-US" dirty="0"/>
              <a:t>We can then find a scale, </a:t>
            </a:r>
            <a:r>
              <a:rPr lang="en-US" i="1" dirty="0"/>
              <a:t>S, which </a:t>
            </a:r>
            <a:r>
              <a:rPr lang="en-US" dirty="0"/>
              <a:t>accounts for the camera’s focal length</a:t>
            </a:r>
          </a:p>
          <a:p>
            <a:pPr lvl="1">
              <a:buFont typeface="Courier New" pitchFamily="49" charset="0"/>
              <a:buChar char="o"/>
            </a:pPr>
            <a:endParaRPr lang="en-US" dirty="0"/>
          </a:p>
        </p:txBody>
      </p:sp>
      <p:graphicFrame>
        <p:nvGraphicFramePr>
          <p:cNvPr id="306179" name="Object 6"/>
          <p:cNvGraphicFramePr>
            <a:graphicFrameLocks noChangeAspect="1"/>
          </p:cNvGraphicFramePr>
          <p:nvPr/>
        </p:nvGraphicFramePr>
        <p:xfrm>
          <a:off x="6248422" y="2564904"/>
          <a:ext cx="2919412" cy="1765300"/>
        </p:xfrm>
        <a:graphic>
          <a:graphicData uri="http://schemas.openxmlformats.org/presentationml/2006/ole">
            <mc:AlternateContent xmlns:mc="http://schemas.openxmlformats.org/markup-compatibility/2006">
              <mc:Choice xmlns:v="urn:schemas-microsoft-com:vml" Requires="v">
                <p:oleObj name="Equation" r:id="rId2" imgW="1511280" imgH="914400" progId="Equation.3">
                  <p:embed/>
                </p:oleObj>
              </mc:Choice>
              <mc:Fallback>
                <p:oleObj name="Equation" r:id="rId2" imgW="1511280" imgH="914400" progId="Equation.3">
                  <p:embed/>
                  <p:pic>
                    <p:nvPicPr>
                      <p:cNvPr id="306179"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22" y="2564904"/>
                        <a:ext cx="2919412" cy="176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681050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191344" y="71414"/>
            <a:ext cx="8976490" cy="928694"/>
          </a:xfrm>
        </p:spPr>
        <p:txBody>
          <a:bodyPr>
            <a:normAutofit/>
          </a:bodyPr>
          <a:lstStyle/>
          <a:p>
            <a:r>
              <a:rPr lang="en-US" dirty="0"/>
              <a:t>Location &amp; Translation</a:t>
            </a:r>
          </a:p>
        </p:txBody>
      </p:sp>
      <p:sp>
        <p:nvSpPr>
          <p:cNvPr id="6" name="Content Placeholder 2"/>
          <p:cNvSpPr>
            <a:spLocks noGrp="1"/>
          </p:cNvSpPr>
          <p:nvPr>
            <p:ph idx="1"/>
          </p:nvPr>
        </p:nvSpPr>
        <p:spPr>
          <a:xfrm>
            <a:off x="191344" y="1285860"/>
            <a:ext cx="10657184" cy="5500726"/>
          </a:xfrm>
        </p:spPr>
        <p:txBody>
          <a:bodyPr>
            <a:noAutofit/>
          </a:bodyPr>
          <a:lstStyle/>
          <a:p>
            <a:pPr>
              <a:buFont typeface="Courier New" pitchFamily="49" charset="0"/>
              <a:buChar char="o"/>
            </a:pPr>
            <a:r>
              <a:rPr lang="en-US" dirty="0"/>
              <a:t>Finally the camera may not be at the origin</a:t>
            </a:r>
          </a:p>
          <a:p>
            <a:pPr lvl="1">
              <a:buFont typeface="Courier New" pitchFamily="49" charset="0"/>
              <a:buChar char="o"/>
            </a:pPr>
            <a:r>
              <a:rPr lang="en-US" dirty="0"/>
              <a:t>Again a matrix can </a:t>
            </a:r>
            <a:r>
              <a:rPr lang="en-US" sz="3200" dirty="0"/>
              <a:t>represent this a translation</a:t>
            </a:r>
          </a:p>
          <a:p>
            <a:pPr>
              <a:buFont typeface="Courier New" pitchFamily="49" charset="0"/>
              <a:buChar char="o"/>
            </a:pPr>
            <a:endParaRPr lang="en-US" dirty="0"/>
          </a:p>
          <a:p>
            <a:pPr>
              <a:buFont typeface="Courier New" pitchFamily="49" charset="0"/>
              <a:buChar char="o"/>
            </a:pPr>
            <a:endParaRPr lang="en-US" dirty="0"/>
          </a:p>
          <a:p>
            <a:pPr>
              <a:buFont typeface="Courier New" pitchFamily="49" charset="0"/>
              <a:buChar char="o"/>
            </a:pPr>
            <a:endParaRPr lang="en-US" dirty="0"/>
          </a:p>
          <a:p>
            <a:pPr>
              <a:buFont typeface="Courier New" pitchFamily="49" charset="0"/>
              <a:buChar char="o"/>
            </a:pPr>
            <a:r>
              <a:rPr lang="en-US" dirty="0"/>
              <a:t>So for any camera location</a:t>
            </a:r>
          </a:p>
          <a:p>
            <a:pPr lvl="1">
              <a:buFont typeface="Courier New" pitchFamily="49" charset="0"/>
              <a:buChar char="o"/>
            </a:pPr>
            <a:r>
              <a:rPr lang="en-US" dirty="0"/>
              <a:t>We can find a translation, </a:t>
            </a:r>
            <a:r>
              <a:rPr lang="en-US" i="1" dirty="0"/>
              <a:t>T</a:t>
            </a:r>
            <a:r>
              <a:rPr lang="en-US" dirty="0"/>
              <a:t>, that will bring the camera to the origin</a:t>
            </a:r>
          </a:p>
          <a:p>
            <a:pPr lvl="1">
              <a:buFont typeface="Courier New" pitchFamily="49" charset="0"/>
              <a:buChar char="o"/>
            </a:pPr>
            <a:r>
              <a:rPr lang="en-US" dirty="0"/>
              <a:t>We can then apply a rotation so that it looks along the </a:t>
            </a:r>
            <a:r>
              <a:rPr lang="en-US" i="1" dirty="0"/>
              <a:t>Z </a:t>
            </a:r>
            <a:r>
              <a:rPr lang="en-US" dirty="0"/>
              <a:t>axis, and a scale to account for the focal length</a:t>
            </a:r>
            <a:endParaRPr lang="en-US" sz="3200" dirty="0"/>
          </a:p>
        </p:txBody>
      </p:sp>
      <p:graphicFrame>
        <p:nvGraphicFramePr>
          <p:cNvPr id="307203" name="Object 10"/>
          <p:cNvGraphicFramePr>
            <a:graphicFrameLocks noChangeAspect="1"/>
          </p:cNvGraphicFramePr>
          <p:nvPr/>
        </p:nvGraphicFramePr>
        <p:xfrm>
          <a:off x="6312024" y="2636912"/>
          <a:ext cx="2593405" cy="1806813"/>
        </p:xfrm>
        <a:graphic>
          <a:graphicData uri="http://schemas.openxmlformats.org/presentationml/2006/ole">
            <mc:AlternateContent xmlns:mc="http://schemas.openxmlformats.org/markup-compatibility/2006">
              <mc:Choice xmlns:v="urn:schemas-microsoft-com:vml" Requires="v">
                <p:oleObj name="Equation" r:id="rId2" imgW="1180800" imgH="914400" progId="Equation.3">
                  <p:embed/>
                </p:oleObj>
              </mc:Choice>
              <mc:Fallback>
                <p:oleObj name="Equation" r:id="rId2" imgW="1180800" imgH="914400" progId="Equation.3">
                  <p:embed/>
                  <p:pic>
                    <p:nvPicPr>
                      <p:cNvPr id="307203"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2024" y="2636912"/>
                        <a:ext cx="2593405" cy="18068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263468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227" name="Picture 3"/>
          <p:cNvPicPr>
            <a:picLocks noChangeAspect="1" noChangeArrowheads="1"/>
          </p:cNvPicPr>
          <p:nvPr/>
        </p:nvPicPr>
        <p:blipFill>
          <a:blip r:embed="rId3" cstate="print"/>
          <a:srcRect/>
          <a:stretch>
            <a:fillRect/>
          </a:stretch>
        </p:blipFill>
        <p:spPr bwMode="auto">
          <a:xfrm>
            <a:off x="8760296" y="3140968"/>
            <a:ext cx="2736304" cy="2715256"/>
          </a:xfrm>
          <a:prstGeom prst="rect">
            <a:avLst/>
          </a:prstGeom>
          <a:noFill/>
          <a:ln w="9525">
            <a:noFill/>
            <a:miter lim="800000"/>
            <a:headEnd/>
            <a:tailEnd/>
          </a:ln>
        </p:spPr>
      </p:pic>
      <p:sp>
        <p:nvSpPr>
          <p:cNvPr id="8" name="Title 1"/>
          <p:cNvSpPr>
            <a:spLocks noGrp="1"/>
          </p:cNvSpPr>
          <p:nvPr>
            <p:ph type="title"/>
          </p:nvPr>
        </p:nvSpPr>
        <p:spPr>
          <a:xfrm>
            <a:off x="191344" y="71414"/>
            <a:ext cx="8976490" cy="928694"/>
          </a:xfrm>
        </p:spPr>
        <p:txBody>
          <a:bodyPr>
            <a:normAutofit/>
          </a:bodyPr>
          <a:lstStyle/>
          <a:p>
            <a:r>
              <a:rPr lang="en-US" sz="5400" dirty="0"/>
              <a:t>Example</a:t>
            </a:r>
          </a:p>
        </p:txBody>
      </p:sp>
      <p:sp>
        <p:nvSpPr>
          <p:cNvPr id="6" name="Content Placeholder 2"/>
          <p:cNvSpPr>
            <a:spLocks noGrp="1"/>
          </p:cNvSpPr>
          <p:nvPr>
            <p:ph idx="1"/>
          </p:nvPr>
        </p:nvSpPr>
        <p:spPr>
          <a:xfrm>
            <a:off x="191344" y="1285860"/>
            <a:ext cx="10585176" cy="1639084"/>
          </a:xfrm>
        </p:spPr>
        <p:txBody>
          <a:bodyPr>
            <a:noAutofit/>
          </a:bodyPr>
          <a:lstStyle/>
          <a:p>
            <a:pPr marL="0" indent="0"/>
            <a:r>
              <a:rPr lang="en-US" dirty="0"/>
              <a:t>We have a camera with focal length 1.5, direction along the line 45º between the X and Y axes, and </a:t>
            </a:r>
            <a:r>
              <a:rPr lang="en-US" sz="3200" dirty="0"/>
              <a:t>location (2, 5, 7). </a:t>
            </a:r>
            <a:r>
              <a:rPr lang="en-US" dirty="0"/>
              <a:t>Where does the world point (2, 6, 5) appear in the camera plane?</a:t>
            </a:r>
          </a:p>
        </p:txBody>
      </p:sp>
      <p:sp>
        <p:nvSpPr>
          <p:cNvPr id="5" name="TextBox 4">
            <a:extLst>
              <a:ext uri="{FF2B5EF4-FFF2-40B4-BE49-F238E27FC236}">
                <a16:creationId xmlns:a16="http://schemas.microsoft.com/office/drawing/2014/main" id="{2C469BA4-2E7F-4A73-0F6D-2C46B74B835E}"/>
              </a:ext>
            </a:extLst>
          </p:cNvPr>
          <p:cNvSpPr txBox="1"/>
          <p:nvPr/>
        </p:nvSpPr>
        <p:spPr>
          <a:xfrm>
            <a:off x="191344" y="3309952"/>
            <a:ext cx="8280920" cy="1938992"/>
          </a:xfrm>
          <a:prstGeom prst="rect">
            <a:avLst/>
          </a:prstGeom>
          <a:solidFill>
            <a:schemeClr val="accent5">
              <a:lumMod val="40000"/>
              <a:lumOff val="60000"/>
            </a:schemeClr>
          </a:solid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Note: A vector equally inclined toward X and Y-axes with no Z-component can be written as: </a:t>
            </a:r>
            <a:r>
              <a:rPr lang="en-US" sz="2400" i="1" dirty="0">
                <a:latin typeface="Times New Roman" panose="02020603050405020304" pitchFamily="18" charset="0"/>
                <a:cs typeface="Times New Roman" panose="02020603050405020304" pitchFamily="18" charset="0"/>
              </a:rPr>
              <a:t>d</a:t>
            </a:r>
            <a:r>
              <a:rPr lang="en-US" sz="2400" dirty="0">
                <a:latin typeface="Times New Roman" panose="02020603050405020304" pitchFamily="18" charset="0"/>
                <a:cs typeface="Times New Roman" panose="02020603050405020304" pitchFamily="18" charset="0"/>
              </a:rPr>
              <a:t> = (</a:t>
            </a:r>
            <a:r>
              <a:rPr lang="en-US" sz="2400" i="1" dirty="0">
                <a:latin typeface="Times New Roman" panose="02020603050405020304" pitchFamily="18" charset="0"/>
                <a:cs typeface="Times New Roman" panose="02020603050405020304" pitchFamily="18" charset="0"/>
              </a:rPr>
              <a:t>a</a:t>
            </a:r>
            <a:r>
              <a:rPr lang="en-US" sz="2400" dirty="0">
                <a:latin typeface="Times New Roman" panose="02020603050405020304" pitchFamily="18" charset="0"/>
                <a:cs typeface="Times New Roman" panose="02020603050405020304" pitchFamily="18" charset="0"/>
              </a:rPr>
              <a:t>, </a:t>
            </a:r>
            <a:r>
              <a:rPr lang="en-US" sz="2400" i="1" dirty="0">
                <a:latin typeface="Times New Roman" panose="02020603050405020304" pitchFamily="18" charset="0"/>
                <a:cs typeface="Times New Roman" panose="02020603050405020304" pitchFamily="18" charset="0"/>
              </a:rPr>
              <a:t>a</a:t>
            </a:r>
            <a:r>
              <a:rPr lang="en-US" sz="2400" dirty="0">
                <a:latin typeface="Times New Roman" panose="02020603050405020304" pitchFamily="18" charset="0"/>
                <a:cs typeface="Times New Roman" panose="02020603050405020304" pitchFamily="18" charset="0"/>
              </a:rPr>
              <a:t>, 0), where </a:t>
            </a:r>
            <a:r>
              <a:rPr lang="en-US" sz="2400" i="1" dirty="0">
                <a:latin typeface="Times New Roman" panose="02020603050405020304" pitchFamily="18" charset="0"/>
                <a:cs typeface="Times New Roman" panose="02020603050405020304" pitchFamily="18" charset="0"/>
              </a:rPr>
              <a:t>a</a:t>
            </a:r>
            <a:r>
              <a:rPr lang="en-US" sz="2400" dirty="0">
                <a:latin typeface="Times New Roman" panose="02020603050405020304" pitchFamily="18" charset="0"/>
                <a:cs typeface="Times New Roman" panose="02020603050405020304" pitchFamily="18" charset="0"/>
              </a:rPr>
              <a:t> is a scalar, e.g., (1, 1, 0)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PS: World point should be in the range of camera (FOV)</a:t>
            </a:r>
          </a:p>
        </p:txBody>
      </p:sp>
    </p:spTree>
    <p:extLst>
      <p:ext uri="{BB962C8B-B14F-4D97-AF65-F5344CB8AC3E}">
        <p14:creationId xmlns:p14="http://schemas.microsoft.com/office/powerpoint/2010/main" val="28380403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191344" y="71414"/>
            <a:ext cx="8976490" cy="928694"/>
          </a:xfrm>
        </p:spPr>
        <p:txBody>
          <a:bodyPr>
            <a:normAutofit/>
          </a:bodyPr>
          <a:lstStyle/>
          <a:p>
            <a:r>
              <a:rPr lang="en-US" sz="5400" dirty="0"/>
              <a:t>Example</a:t>
            </a:r>
          </a:p>
        </p:txBody>
      </p:sp>
      <p:sp>
        <p:nvSpPr>
          <p:cNvPr id="6" name="Content Placeholder 2"/>
          <p:cNvSpPr>
            <a:spLocks noGrp="1"/>
          </p:cNvSpPr>
          <p:nvPr>
            <p:ph idx="1"/>
          </p:nvPr>
        </p:nvSpPr>
        <p:spPr>
          <a:xfrm>
            <a:off x="191344" y="1285860"/>
            <a:ext cx="8856984" cy="5500726"/>
          </a:xfrm>
        </p:spPr>
        <p:txBody>
          <a:bodyPr>
            <a:noAutofit/>
          </a:bodyPr>
          <a:lstStyle/>
          <a:p>
            <a:pPr>
              <a:buFont typeface="Courier New" pitchFamily="49" charset="0"/>
              <a:buChar char="o"/>
            </a:pPr>
            <a:r>
              <a:rPr lang="en-US" sz="4000" dirty="0"/>
              <a:t>The basic plan</a:t>
            </a:r>
          </a:p>
          <a:p>
            <a:pPr lvl="1">
              <a:buFont typeface="Courier New" pitchFamily="49" charset="0"/>
              <a:buChar char="o"/>
            </a:pPr>
            <a:r>
              <a:rPr lang="en-US" sz="3200" dirty="0"/>
              <a:t>We apply transformation to make it a ‘standard camera’</a:t>
            </a:r>
          </a:p>
          <a:p>
            <a:pPr lvl="1">
              <a:buFont typeface="Courier New" pitchFamily="49" charset="0"/>
              <a:buChar char="o"/>
            </a:pPr>
            <a:r>
              <a:rPr lang="en-US" sz="3200" dirty="0"/>
              <a:t>We apply the same transformation to the point</a:t>
            </a:r>
          </a:p>
          <a:p>
            <a:pPr lvl="1">
              <a:buFont typeface="Courier New" pitchFamily="49" charset="0"/>
              <a:buChar char="o"/>
            </a:pPr>
            <a:r>
              <a:rPr lang="en-US" sz="3200" dirty="0"/>
              <a:t>We then see where the point appears in the transformed camera</a:t>
            </a:r>
            <a:endParaRPr lang="en-US" dirty="0"/>
          </a:p>
        </p:txBody>
      </p:sp>
      <p:pic>
        <p:nvPicPr>
          <p:cNvPr id="5" name="Picture 3"/>
          <p:cNvPicPr>
            <a:picLocks noChangeAspect="1" noChangeArrowheads="1"/>
          </p:cNvPicPr>
          <p:nvPr/>
        </p:nvPicPr>
        <p:blipFill>
          <a:blip r:embed="rId2" cstate="print"/>
          <a:srcRect/>
          <a:stretch>
            <a:fillRect/>
          </a:stretch>
        </p:blipFill>
        <p:spPr bwMode="auto">
          <a:xfrm>
            <a:off x="9264352" y="1772816"/>
            <a:ext cx="2736304" cy="2715256"/>
          </a:xfrm>
          <a:prstGeom prst="rect">
            <a:avLst/>
          </a:prstGeom>
          <a:noFill/>
          <a:ln w="9525">
            <a:noFill/>
            <a:miter lim="800000"/>
            <a:headEnd/>
            <a:tailEnd/>
          </a:ln>
        </p:spPr>
      </p:pic>
    </p:spTree>
    <p:extLst>
      <p:ext uri="{BB962C8B-B14F-4D97-AF65-F5344CB8AC3E}">
        <p14:creationId xmlns:p14="http://schemas.microsoft.com/office/powerpoint/2010/main" val="15132363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191344" y="71414"/>
            <a:ext cx="8976490" cy="928694"/>
          </a:xfrm>
        </p:spPr>
        <p:txBody>
          <a:bodyPr>
            <a:normAutofit/>
          </a:bodyPr>
          <a:lstStyle/>
          <a:p>
            <a:r>
              <a:rPr lang="en-US" dirty="0"/>
              <a:t>Step 1: Translation</a:t>
            </a:r>
          </a:p>
        </p:txBody>
      </p:sp>
      <p:sp>
        <p:nvSpPr>
          <p:cNvPr id="6" name="Content Placeholder 2"/>
          <p:cNvSpPr>
            <a:spLocks noGrp="1"/>
          </p:cNvSpPr>
          <p:nvPr>
            <p:ph idx="1"/>
          </p:nvPr>
        </p:nvSpPr>
        <p:spPr>
          <a:xfrm>
            <a:off x="191344" y="1285860"/>
            <a:ext cx="10153128" cy="5500726"/>
          </a:xfrm>
        </p:spPr>
        <p:txBody>
          <a:bodyPr>
            <a:noAutofit/>
          </a:bodyPr>
          <a:lstStyle/>
          <a:p>
            <a:pPr>
              <a:buFont typeface="Courier New" pitchFamily="49" charset="0"/>
              <a:buChar char="o"/>
            </a:pPr>
            <a:r>
              <a:rPr lang="en-US" sz="3600" dirty="0"/>
              <a:t>The camera is not at the origin, so</a:t>
            </a:r>
          </a:p>
          <a:p>
            <a:pPr lvl="1">
              <a:buFont typeface="Courier New" pitchFamily="49" charset="0"/>
              <a:buChar char="o"/>
            </a:pPr>
            <a:r>
              <a:rPr lang="en-US" dirty="0"/>
              <a:t>We apply a translation</a:t>
            </a:r>
          </a:p>
          <a:p>
            <a:pPr lvl="1">
              <a:buFont typeface="Courier New" pitchFamily="49" charset="0"/>
              <a:buChar char="o"/>
            </a:pPr>
            <a:r>
              <a:rPr lang="en-US" dirty="0"/>
              <a:t>The translation is</a:t>
            </a:r>
          </a:p>
        </p:txBody>
      </p:sp>
      <p:graphicFrame>
        <p:nvGraphicFramePr>
          <p:cNvPr id="309250" name="Object 10"/>
          <p:cNvGraphicFramePr>
            <a:graphicFrameLocks noChangeAspect="1"/>
          </p:cNvGraphicFramePr>
          <p:nvPr/>
        </p:nvGraphicFramePr>
        <p:xfrm>
          <a:off x="2423592" y="2996952"/>
          <a:ext cx="2759075" cy="1806575"/>
        </p:xfrm>
        <a:graphic>
          <a:graphicData uri="http://schemas.openxmlformats.org/presentationml/2006/ole">
            <mc:AlternateContent xmlns:mc="http://schemas.openxmlformats.org/markup-compatibility/2006">
              <mc:Choice xmlns:v="urn:schemas-microsoft-com:vml" Requires="v">
                <p:oleObj name="Equation" r:id="rId2" imgW="1257120" imgH="914400" progId="Equation.3">
                  <p:embed/>
                </p:oleObj>
              </mc:Choice>
              <mc:Fallback>
                <p:oleObj name="Equation" r:id="rId2" imgW="1257120" imgH="914400" progId="Equation.3">
                  <p:embed/>
                  <p:pic>
                    <p:nvPicPr>
                      <p:cNvPr id="30925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3592" y="2996952"/>
                        <a:ext cx="2759075" cy="180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09251" name="Picture 3"/>
          <p:cNvPicPr>
            <a:picLocks noChangeAspect="1" noChangeArrowheads="1"/>
          </p:cNvPicPr>
          <p:nvPr/>
        </p:nvPicPr>
        <p:blipFill>
          <a:blip r:embed="rId4" cstate="print"/>
          <a:srcRect/>
          <a:stretch>
            <a:fillRect/>
          </a:stretch>
        </p:blipFill>
        <p:spPr bwMode="auto">
          <a:xfrm>
            <a:off x="5796240" y="4221368"/>
            <a:ext cx="2460000" cy="2520000"/>
          </a:xfrm>
          <a:prstGeom prst="rect">
            <a:avLst/>
          </a:prstGeom>
          <a:noFill/>
          <a:ln w="9525">
            <a:noFill/>
            <a:miter lim="800000"/>
            <a:headEnd/>
            <a:tailEnd/>
          </a:ln>
        </p:spPr>
      </p:pic>
      <p:pic>
        <p:nvPicPr>
          <p:cNvPr id="9" name="Picture 3"/>
          <p:cNvPicPr>
            <a:picLocks noChangeAspect="1" noChangeArrowheads="1"/>
          </p:cNvPicPr>
          <p:nvPr/>
        </p:nvPicPr>
        <p:blipFill>
          <a:blip r:embed="rId5" cstate="print"/>
          <a:srcRect/>
          <a:stretch>
            <a:fillRect/>
          </a:stretch>
        </p:blipFill>
        <p:spPr bwMode="auto">
          <a:xfrm>
            <a:off x="9264352" y="1772816"/>
            <a:ext cx="2736304" cy="2715256"/>
          </a:xfrm>
          <a:prstGeom prst="rect">
            <a:avLst/>
          </a:prstGeom>
          <a:noFill/>
          <a:ln w="9525">
            <a:noFill/>
            <a:miter lim="800000"/>
            <a:headEnd/>
            <a:tailEnd/>
          </a:ln>
        </p:spPr>
      </p:pic>
      <p:sp>
        <p:nvSpPr>
          <p:cNvPr id="3" name="Left Arrow 2"/>
          <p:cNvSpPr/>
          <p:nvPr/>
        </p:nvSpPr>
        <p:spPr>
          <a:xfrm rot="19659930">
            <a:off x="8904312" y="4803527"/>
            <a:ext cx="504056" cy="35366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736984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191344" y="71414"/>
            <a:ext cx="8976490" cy="928694"/>
          </a:xfrm>
        </p:spPr>
        <p:txBody>
          <a:bodyPr>
            <a:normAutofit/>
          </a:bodyPr>
          <a:lstStyle/>
          <a:p>
            <a:r>
              <a:rPr lang="en-US" dirty="0"/>
              <a:t>Step 2: Rotation</a:t>
            </a:r>
          </a:p>
        </p:txBody>
      </p:sp>
      <p:sp>
        <p:nvSpPr>
          <p:cNvPr id="6" name="Content Placeholder 2"/>
          <p:cNvSpPr>
            <a:spLocks noGrp="1"/>
          </p:cNvSpPr>
          <p:nvPr>
            <p:ph idx="1"/>
          </p:nvPr>
        </p:nvSpPr>
        <p:spPr>
          <a:xfrm>
            <a:off x="191344" y="1285860"/>
            <a:ext cx="10585176" cy="5500726"/>
          </a:xfrm>
        </p:spPr>
        <p:txBody>
          <a:bodyPr>
            <a:noAutofit/>
          </a:bodyPr>
          <a:lstStyle/>
          <a:p>
            <a:pPr>
              <a:buFont typeface="Courier New" pitchFamily="49" charset="0"/>
              <a:buChar char="o"/>
            </a:pPr>
            <a:r>
              <a:rPr lang="en-US" sz="3600" dirty="0"/>
              <a:t>The camera is not pointing along the Z axis, so we rotate it</a:t>
            </a:r>
          </a:p>
          <a:p>
            <a:pPr lvl="1">
              <a:buFont typeface="Courier New" pitchFamily="49" charset="0"/>
              <a:buChar char="o"/>
            </a:pPr>
            <a:r>
              <a:rPr lang="en-US" sz="3200" dirty="0"/>
              <a:t>We can view this as two rotations:</a:t>
            </a:r>
          </a:p>
          <a:p>
            <a:pPr lvl="2">
              <a:buFont typeface="Wingdings" panose="05000000000000000000" pitchFamily="2" charset="2"/>
              <a:buChar char="§"/>
            </a:pPr>
            <a:r>
              <a:rPr lang="en-US" sz="2800" dirty="0"/>
              <a:t>A rotation of 45º from the X to Y axes leaves us looking along the Y axis</a:t>
            </a:r>
          </a:p>
          <a:p>
            <a:pPr lvl="2">
              <a:buFont typeface="Wingdings" panose="05000000000000000000" pitchFamily="2" charset="2"/>
              <a:buChar char="§"/>
            </a:pPr>
            <a:r>
              <a:rPr lang="en-US" sz="2800" dirty="0"/>
              <a:t>A rotation of 90º from Y to Z then leaves us looking along Z</a:t>
            </a:r>
            <a:endParaRPr lang="en-US" sz="3600" dirty="0"/>
          </a:p>
        </p:txBody>
      </p:sp>
    </p:spTree>
    <p:extLst>
      <p:ext uri="{BB962C8B-B14F-4D97-AF65-F5344CB8AC3E}">
        <p14:creationId xmlns:p14="http://schemas.microsoft.com/office/powerpoint/2010/main" val="39201938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191344" y="71414"/>
            <a:ext cx="8976490" cy="928694"/>
          </a:xfrm>
        </p:spPr>
        <p:txBody>
          <a:bodyPr>
            <a:normAutofit/>
          </a:bodyPr>
          <a:lstStyle/>
          <a:p>
            <a:r>
              <a:rPr lang="en-US" dirty="0"/>
              <a:t>Step 2: Rotation</a:t>
            </a:r>
          </a:p>
        </p:txBody>
      </p:sp>
      <p:sp>
        <p:nvSpPr>
          <p:cNvPr id="6" name="Content Placeholder 2"/>
          <p:cNvSpPr>
            <a:spLocks noGrp="1"/>
          </p:cNvSpPr>
          <p:nvPr>
            <p:ph idx="1"/>
          </p:nvPr>
        </p:nvSpPr>
        <p:spPr>
          <a:xfrm>
            <a:off x="191344" y="1285860"/>
            <a:ext cx="10297144" cy="5500726"/>
          </a:xfrm>
        </p:spPr>
        <p:txBody>
          <a:bodyPr>
            <a:noAutofit/>
          </a:bodyPr>
          <a:lstStyle/>
          <a:p>
            <a:pPr>
              <a:buFont typeface="Courier New" pitchFamily="49" charset="0"/>
              <a:buChar char="o"/>
            </a:pPr>
            <a:r>
              <a:rPr lang="en-US" dirty="0"/>
              <a:t>Rotate around Z axis by 45º</a:t>
            </a:r>
          </a:p>
          <a:p>
            <a:pPr>
              <a:buFont typeface="Courier New" pitchFamily="49" charset="0"/>
              <a:buChar char="o"/>
            </a:pPr>
            <a:endParaRPr lang="en-US" dirty="0"/>
          </a:p>
          <a:p>
            <a:pPr>
              <a:buFont typeface="Courier New" pitchFamily="49" charset="0"/>
              <a:buChar char="o"/>
            </a:pPr>
            <a:endParaRPr lang="en-US" dirty="0"/>
          </a:p>
          <a:p>
            <a:pPr>
              <a:buFont typeface="Courier New" pitchFamily="49" charset="0"/>
              <a:buChar char="o"/>
            </a:pPr>
            <a:endParaRPr lang="en-US" dirty="0"/>
          </a:p>
          <a:p>
            <a:pPr>
              <a:buFont typeface="Courier New" pitchFamily="49" charset="0"/>
              <a:buChar char="o"/>
            </a:pPr>
            <a:r>
              <a:rPr lang="en-US" dirty="0"/>
              <a:t>Rotate around X axis by 90º</a:t>
            </a:r>
          </a:p>
        </p:txBody>
      </p:sp>
      <p:pic>
        <p:nvPicPr>
          <p:cNvPr id="310275" name="Picture 3"/>
          <p:cNvPicPr>
            <a:picLocks noChangeAspect="1" noChangeArrowheads="1"/>
          </p:cNvPicPr>
          <p:nvPr/>
        </p:nvPicPr>
        <p:blipFill>
          <a:blip r:embed="rId2" cstate="print"/>
          <a:srcRect/>
          <a:stretch>
            <a:fillRect/>
          </a:stretch>
        </p:blipFill>
        <p:spPr bwMode="auto">
          <a:xfrm>
            <a:off x="1991544" y="2060849"/>
            <a:ext cx="1872208" cy="1340107"/>
          </a:xfrm>
          <a:prstGeom prst="rect">
            <a:avLst/>
          </a:prstGeom>
          <a:noFill/>
          <a:ln w="9525">
            <a:noFill/>
            <a:miter lim="800000"/>
            <a:headEnd/>
            <a:tailEnd/>
          </a:ln>
        </p:spPr>
      </p:pic>
      <p:pic>
        <p:nvPicPr>
          <p:cNvPr id="310276" name="Picture 4"/>
          <p:cNvPicPr>
            <a:picLocks noChangeAspect="1" noChangeArrowheads="1"/>
          </p:cNvPicPr>
          <p:nvPr/>
        </p:nvPicPr>
        <p:blipFill>
          <a:blip r:embed="rId3" cstate="print"/>
          <a:srcRect/>
          <a:stretch>
            <a:fillRect/>
          </a:stretch>
        </p:blipFill>
        <p:spPr bwMode="auto">
          <a:xfrm>
            <a:off x="1991545" y="4653136"/>
            <a:ext cx="1871151" cy="1368152"/>
          </a:xfrm>
          <a:prstGeom prst="rect">
            <a:avLst/>
          </a:prstGeom>
          <a:noFill/>
          <a:ln w="9525">
            <a:noFill/>
            <a:miter lim="800000"/>
            <a:headEnd/>
            <a:tailEnd/>
          </a:ln>
        </p:spPr>
      </p:pic>
      <p:graphicFrame>
        <p:nvGraphicFramePr>
          <p:cNvPr id="313346" name="Object 6"/>
          <p:cNvGraphicFramePr>
            <a:graphicFrameLocks noChangeAspect="1"/>
          </p:cNvGraphicFramePr>
          <p:nvPr/>
        </p:nvGraphicFramePr>
        <p:xfrm>
          <a:off x="4725342" y="1691736"/>
          <a:ext cx="5763147" cy="2025296"/>
        </p:xfrm>
        <a:graphic>
          <a:graphicData uri="http://schemas.openxmlformats.org/presentationml/2006/ole">
            <mc:AlternateContent xmlns:mc="http://schemas.openxmlformats.org/markup-compatibility/2006">
              <mc:Choice xmlns:v="urn:schemas-microsoft-com:vml" Requires="v">
                <p:oleObj name="Equation" r:id="rId4" imgW="3466800" imgH="1218960" progId="Equation.3">
                  <p:embed/>
                </p:oleObj>
              </mc:Choice>
              <mc:Fallback>
                <p:oleObj name="Equation" r:id="rId4" imgW="3466800" imgH="1218960" progId="Equation.3">
                  <p:embed/>
                  <p:pic>
                    <p:nvPicPr>
                      <p:cNvPr id="313346"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5342" y="1691736"/>
                        <a:ext cx="5763147" cy="20252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3347" name="Object 6"/>
          <p:cNvGraphicFramePr>
            <a:graphicFrameLocks noChangeAspect="1"/>
          </p:cNvGraphicFramePr>
          <p:nvPr/>
        </p:nvGraphicFramePr>
        <p:xfrm>
          <a:off x="4871864" y="4681538"/>
          <a:ext cx="5276850" cy="1517650"/>
        </p:xfrm>
        <a:graphic>
          <a:graphicData uri="http://schemas.openxmlformats.org/presentationml/2006/ole">
            <mc:AlternateContent xmlns:mc="http://schemas.openxmlformats.org/markup-compatibility/2006">
              <mc:Choice xmlns:v="urn:schemas-microsoft-com:vml" Requires="v">
                <p:oleObj name="Equation" r:id="rId6" imgW="3174840" imgH="914400" progId="Equation.3">
                  <p:embed/>
                </p:oleObj>
              </mc:Choice>
              <mc:Fallback>
                <p:oleObj name="Equation" r:id="rId6" imgW="3174840" imgH="914400" progId="Equation.3">
                  <p:embed/>
                  <p:pic>
                    <p:nvPicPr>
                      <p:cNvPr id="313347"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71864" y="4681538"/>
                        <a:ext cx="5276850" cy="1517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6865955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191344" y="71414"/>
            <a:ext cx="8976490" cy="928694"/>
          </a:xfrm>
        </p:spPr>
        <p:txBody>
          <a:bodyPr>
            <a:normAutofit/>
          </a:bodyPr>
          <a:lstStyle/>
          <a:p>
            <a:r>
              <a:rPr lang="en-US" dirty="0"/>
              <a:t>Step 3: Scaling</a:t>
            </a:r>
          </a:p>
        </p:txBody>
      </p:sp>
      <p:sp>
        <p:nvSpPr>
          <p:cNvPr id="6" name="Content Placeholder 2"/>
          <p:cNvSpPr>
            <a:spLocks noGrp="1"/>
          </p:cNvSpPr>
          <p:nvPr>
            <p:ph idx="1"/>
          </p:nvPr>
        </p:nvSpPr>
        <p:spPr>
          <a:xfrm>
            <a:off x="191344" y="1285860"/>
            <a:ext cx="8136904" cy="5500726"/>
          </a:xfrm>
        </p:spPr>
        <p:txBody>
          <a:bodyPr>
            <a:noAutofit/>
          </a:bodyPr>
          <a:lstStyle/>
          <a:p>
            <a:pPr>
              <a:buFont typeface="Courier New" pitchFamily="49" charset="0"/>
              <a:buChar char="o"/>
            </a:pPr>
            <a:r>
              <a:rPr lang="en-US" dirty="0"/>
              <a:t>Finally the focal length of the camera is not 1, so we scale</a:t>
            </a:r>
          </a:p>
        </p:txBody>
      </p:sp>
      <p:graphicFrame>
        <p:nvGraphicFramePr>
          <p:cNvPr id="313347" name="Object 6"/>
          <p:cNvGraphicFramePr>
            <a:graphicFrameLocks noChangeAspect="1"/>
          </p:cNvGraphicFramePr>
          <p:nvPr/>
        </p:nvGraphicFramePr>
        <p:xfrm>
          <a:off x="3287688" y="2492896"/>
          <a:ext cx="2047875" cy="2192338"/>
        </p:xfrm>
        <a:graphic>
          <a:graphicData uri="http://schemas.openxmlformats.org/presentationml/2006/ole">
            <mc:AlternateContent xmlns:mc="http://schemas.openxmlformats.org/markup-compatibility/2006">
              <mc:Choice xmlns:v="urn:schemas-microsoft-com:vml" Requires="v">
                <p:oleObj name="Equation" r:id="rId2" imgW="1231560" imgH="1320480" progId="Equation.3">
                  <p:embed/>
                </p:oleObj>
              </mc:Choice>
              <mc:Fallback>
                <p:oleObj name="Equation" r:id="rId2" imgW="1231560" imgH="1320480" progId="Equation.3">
                  <p:embed/>
                  <p:pic>
                    <p:nvPicPr>
                      <p:cNvPr id="313347"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7688" y="2492896"/>
                        <a:ext cx="2047875" cy="2192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14372" name="Picture 4"/>
          <p:cNvPicPr>
            <a:picLocks noChangeAspect="1" noChangeArrowheads="1"/>
          </p:cNvPicPr>
          <p:nvPr/>
        </p:nvPicPr>
        <p:blipFill>
          <a:blip r:embed="rId4" cstate="print"/>
          <a:srcRect/>
          <a:stretch>
            <a:fillRect/>
          </a:stretch>
        </p:blipFill>
        <p:spPr bwMode="auto">
          <a:xfrm>
            <a:off x="7927430" y="2132857"/>
            <a:ext cx="2489051" cy="3668075"/>
          </a:xfrm>
          <a:prstGeom prst="rect">
            <a:avLst/>
          </a:prstGeom>
          <a:noFill/>
          <a:ln w="9525">
            <a:noFill/>
            <a:miter lim="800000"/>
            <a:headEnd/>
            <a:tailEnd/>
          </a:ln>
        </p:spPr>
      </p:pic>
    </p:spTree>
    <p:extLst>
      <p:ext uri="{BB962C8B-B14F-4D97-AF65-F5344CB8AC3E}">
        <p14:creationId xmlns:p14="http://schemas.microsoft.com/office/powerpoint/2010/main" val="33024329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191344" y="71414"/>
            <a:ext cx="8976490" cy="928694"/>
          </a:xfrm>
        </p:spPr>
        <p:txBody>
          <a:bodyPr>
            <a:normAutofit/>
          </a:bodyPr>
          <a:lstStyle/>
          <a:p>
            <a:r>
              <a:rPr lang="en-US" dirty="0"/>
              <a:t>Putting it all together</a:t>
            </a:r>
          </a:p>
        </p:txBody>
      </p:sp>
      <p:sp>
        <p:nvSpPr>
          <p:cNvPr id="6" name="Content Placeholder 2"/>
          <p:cNvSpPr>
            <a:spLocks noGrp="1"/>
          </p:cNvSpPr>
          <p:nvPr>
            <p:ph idx="1"/>
          </p:nvPr>
        </p:nvSpPr>
        <p:spPr>
          <a:xfrm>
            <a:off x="191344" y="1285860"/>
            <a:ext cx="10585176" cy="5500726"/>
          </a:xfrm>
        </p:spPr>
        <p:txBody>
          <a:bodyPr>
            <a:noAutofit/>
          </a:bodyPr>
          <a:lstStyle/>
          <a:p>
            <a:pPr>
              <a:buFont typeface="Courier New" pitchFamily="49" charset="0"/>
              <a:buChar char="o"/>
            </a:pPr>
            <a:r>
              <a:rPr lang="en-US" dirty="0"/>
              <a:t>Now we have a series of transformations</a:t>
            </a:r>
          </a:p>
          <a:p>
            <a:pPr lvl="1">
              <a:buFont typeface="Courier New" pitchFamily="49" charset="0"/>
              <a:buChar char="o"/>
            </a:pPr>
            <a:r>
              <a:rPr lang="en-US" dirty="0"/>
              <a:t>A translation</a:t>
            </a:r>
          </a:p>
          <a:p>
            <a:pPr lvl="1">
              <a:buFont typeface="Courier New" pitchFamily="49" charset="0"/>
              <a:buChar char="o"/>
            </a:pPr>
            <a:r>
              <a:rPr lang="en-US" dirty="0"/>
              <a:t>Two rotations</a:t>
            </a:r>
          </a:p>
          <a:p>
            <a:pPr lvl="1">
              <a:buFont typeface="Courier New" pitchFamily="49" charset="0"/>
              <a:buChar char="o"/>
            </a:pPr>
            <a:r>
              <a:rPr lang="en-US" dirty="0"/>
              <a:t>A scaling</a:t>
            </a:r>
          </a:p>
          <a:p>
            <a:pPr>
              <a:buFont typeface="Courier New" pitchFamily="49" charset="0"/>
              <a:buChar char="o"/>
            </a:pPr>
            <a:r>
              <a:rPr lang="en-US" dirty="0"/>
              <a:t>We apply them to the point (2,6,5)</a:t>
            </a:r>
          </a:p>
          <a:p>
            <a:pPr lvl="1">
              <a:buFont typeface="Courier New" pitchFamily="49" charset="0"/>
              <a:buChar char="o"/>
            </a:pPr>
            <a:r>
              <a:rPr lang="en-US" dirty="0"/>
              <a:t>Note that order is important, both in matrix multiplication and the geometric interpretation</a:t>
            </a:r>
          </a:p>
          <a:p>
            <a:pPr>
              <a:buFont typeface="Courier New" pitchFamily="49" charset="0"/>
              <a:buChar char="o"/>
            </a:pPr>
            <a:r>
              <a:rPr lang="en-US" dirty="0"/>
              <a:t>The original point in homogenous world coordinates </a:t>
            </a:r>
          </a:p>
          <a:p>
            <a:pPr marL="0" indent="0"/>
            <a:r>
              <a:rPr lang="en-US" i="1" dirty="0"/>
              <a:t>								w = </a:t>
            </a:r>
            <a:r>
              <a:rPr lang="en-US" dirty="0"/>
              <a:t>[2,6,5,1]</a:t>
            </a:r>
            <a:r>
              <a:rPr lang="en-US" i="1" baseline="30000" dirty="0"/>
              <a:t>T</a:t>
            </a:r>
          </a:p>
          <a:p>
            <a:pPr>
              <a:buFont typeface="Courier New" pitchFamily="49" charset="0"/>
              <a:buChar char="o"/>
            </a:pPr>
            <a:r>
              <a:rPr lang="en-US" dirty="0"/>
              <a:t>The transformed point is then </a:t>
            </a:r>
            <a:r>
              <a:rPr lang="en-US" i="1" dirty="0"/>
              <a:t>w’=S R</a:t>
            </a:r>
            <a:r>
              <a:rPr lang="en-US" i="1" baseline="-25000" dirty="0"/>
              <a:t>X </a:t>
            </a:r>
            <a:r>
              <a:rPr lang="en-US" i="1" dirty="0"/>
              <a:t>R</a:t>
            </a:r>
            <a:r>
              <a:rPr lang="en-US" i="1" baseline="-25000" dirty="0"/>
              <a:t>Z </a:t>
            </a:r>
            <a:r>
              <a:rPr lang="en-US" i="1" dirty="0"/>
              <a:t>T w</a:t>
            </a:r>
          </a:p>
          <a:p>
            <a:pPr>
              <a:buFont typeface="Courier New" pitchFamily="49" charset="0"/>
              <a:buChar char="o"/>
            </a:pPr>
            <a:endParaRPr lang="en-US" dirty="0"/>
          </a:p>
        </p:txBody>
      </p:sp>
    </p:spTree>
    <p:extLst>
      <p:ext uri="{BB962C8B-B14F-4D97-AF65-F5344CB8AC3E}">
        <p14:creationId xmlns:p14="http://schemas.microsoft.com/office/powerpoint/2010/main" val="20563363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191344" y="71414"/>
            <a:ext cx="8976490" cy="928694"/>
          </a:xfrm>
        </p:spPr>
        <p:txBody>
          <a:bodyPr>
            <a:normAutofit/>
          </a:bodyPr>
          <a:lstStyle/>
          <a:p>
            <a:r>
              <a:rPr lang="en-US" dirty="0"/>
              <a:t>And a bit of arithmetic</a:t>
            </a:r>
          </a:p>
        </p:txBody>
      </p:sp>
      <p:graphicFrame>
        <p:nvGraphicFramePr>
          <p:cNvPr id="316418" name="Object 6"/>
          <p:cNvGraphicFramePr>
            <a:graphicFrameLocks noChangeAspect="1"/>
          </p:cNvGraphicFramePr>
          <p:nvPr/>
        </p:nvGraphicFramePr>
        <p:xfrm>
          <a:off x="551384" y="1412776"/>
          <a:ext cx="8353425" cy="5040312"/>
        </p:xfrm>
        <a:graphic>
          <a:graphicData uri="http://schemas.openxmlformats.org/presentationml/2006/ole">
            <mc:AlternateContent xmlns:mc="http://schemas.openxmlformats.org/markup-compatibility/2006">
              <mc:Choice xmlns:v="urn:schemas-microsoft-com:vml" Requires="v">
                <p:oleObj name="Equation" r:id="rId2" imgW="4457520" imgH="2692080" progId="Equation.3">
                  <p:embed/>
                </p:oleObj>
              </mc:Choice>
              <mc:Fallback>
                <p:oleObj name="Equation" r:id="rId2" imgW="4457520" imgH="2692080" progId="Equation.3">
                  <p:embed/>
                  <p:pic>
                    <p:nvPicPr>
                      <p:cNvPr id="316418"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384" y="1412776"/>
                        <a:ext cx="8353425" cy="5040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037710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191344" y="71414"/>
            <a:ext cx="8976490" cy="928694"/>
          </a:xfrm>
        </p:spPr>
        <p:txBody>
          <a:bodyPr>
            <a:normAutofit/>
          </a:bodyPr>
          <a:lstStyle/>
          <a:p>
            <a:r>
              <a:rPr lang="en-US" dirty="0"/>
              <a:t>And finally a projection</a:t>
            </a:r>
          </a:p>
        </p:txBody>
      </p:sp>
      <p:sp>
        <p:nvSpPr>
          <p:cNvPr id="4" name="Content Placeholder 2"/>
          <p:cNvSpPr>
            <a:spLocks noGrp="1"/>
          </p:cNvSpPr>
          <p:nvPr>
            <p:ph idx="1"/>
          </p:nvPr>
        </p:nvSpPr>
        <p:spPr>
          <a:xfrm>
            <a:off x="263352" y="1285860"/>
            <a:ext cx="9793088" cy="5500726"/>
          </a:xfrm>
        </p:spPr>
        <p:txBody>
          <a:bodyPr>
            <a:noAutofit/>
          </a:bodyPr>
          <a:lstStyle/>
          <a:p>
            <a:pPr>
              <a:buFont typeface="Courier New" pitchFamily="49" charset="0"/>
              <a:buChar char="o"/>
            </a:pPr>
            <a:r>
              <a:rPr lang="en-US" sz="3600" dirty="0"/>
              <a:t>After the transforms</a:t>
            </a:r>
          </a:p>
          <a:p>
            <a:pPr lvl="1">
              <a:buFont typeface="Courier New" pitchFamily="49" charset="0"/>
              <a:buChar char="o"/>
            </a:pPr>
            <a:r>
              <a:rPr lang="en-US" sz="3200" dirty="0"/>
              <a:t>The point and camera </a:t>
            </a:r>
            <a:r>
              <a:rPr lang="en-US" sz="3600" dirty="0"/>
              <a:t>are in a ‘standard’ setup</a:t>
            </a:r>
          </a:p>
          <a:p>
            <a:pPr lvl="1">
              <a:buFont typeface="Courier New" pitchFamily="49" charset="0"/>
              <a:buChar char="o"/>
            </a:pPr>
            <a:r>
              <a:rPr lang="en-US" sz="3200" dirty="0"/>
              <a:t>We can apply the projection matrix</a:t>
            </a:r>
          </a:p>
        </p:txBody>
      </p:sp>
      <p:graphicFrame>
        <p:nvGraphicFramePr>
          <p:cNvPr id="317443" name="Object 3"/>
          <p:cNvGraphicFramePr>
            <a:graphicFrameLocks noChangeAspect="1"/>
          </p:cNvGraphicFramePr>
          <p:nvPr/>
        </p:nvGraphicFramePr>
        <p:xfrm>
          <a:off x="7896200" y="2706915"/>
          <a:ext cx="2304256" cy="1692820"/>
        </p:xfrm>
        <a:graphic>
          <a:graphicData uri="http://schemas.openxmlformats.org/presentationml/2006/ole">
            <mc:AlternateContent xmlns:mc="http://schemas.openxmlformats.org/markup-compatibility/2006">
              <mc:Choice xmlns:v="urn:schemas-microsoft-com:vml" Requires="v">
                <p:oleObj name="Equation" r:id="rId2" imgW="1244520" imgH="914400" progId="Equation.3">
                  <p:embed/>
                </p:oleObj>
              </mc:Choice>
              <mc:Fallback>
                <p:oleObj name="Equation" r:id="rId2" imgW="1244520" imgH="914400" progId="Equation.3">
                  <p:embed/>
                  <p:pic>
                    <p:nvPicPr>
                      <p:cNvPr id="317443"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6200" y="2706915"/>
                        <a:ext cx="2304256" cy="16928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7444" name="Object 4"/>
          <p:cNvGraphicFramePr>
            <a:graphicFrameLocks noChangeAspect="1"/>
          </p:cNvGraphicFramePr>
          <p:nvPr/>
        </p:nvGraphicFramePr>
        <p:xfrm>
          <a:off x="839416" y="3729846"/>
          <a:ext cx="5940152" cy="3045166"/>
        </p:xfrm>
        <a:graphic>
          <a:graphicData uri="http://schemas.openxmlformats.org/presentationml/2006/ole">
            <mc:AlternateContent xmlns:mc="http://schemas.openxmlformats.org/markup-compatibility/2006">
              <mc:Choice xmlns:v="urn:schemas-microsoft-com:vml" Requires="v">
                <p:oleObj name="Equation" r:id="rId4" imgW="3022560" imgH="1549080" progId="Equation.3">
                  <p:embed/>
                </p:oleObj>
              </mc:Choice>
              <mc:Fallback>
                <p:oleObj name="Equation" r:id="rId4" imgW="3022560" imgH="1549080" progId="Equation.3">
                  <p:embed/>
                  <p:pic>
                    <p:nvPicPr>
                      <p:cNvPr id="317444"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9416" y="3729846"/>
                        <a:ext cx="5940152" cy="30451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extBox 1">
            <a:extLst>
              <a:ext uri="{FF2B5EF4-FFF2-40B4-BE49-F238E27FC236}">
                <a16:creationId xmlns:a16="http://schemas.microsoft.com/office/drawing/2014/main" id="{F79F079D-17EF-4293-A680-6ED18798CB3A}"/>
              </a:ext>
            </a:extLst>
          </p:cNvPr>
          <p:cNvSpPr txBox="1"/>
          <p:nvPr/>
        </p:nvSpPr>
        <p:spPr>
          <a:xfrm>
            <a:off x="7331397" y="5140003"/>
            <a:ext cx="4320480" cy="1384995"/>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Therefore, position of point on camera plane is (1, -2.8)</a:t>
            </a:r>
          </a:p>
          <a:p>
            <a:r>
              <a:rPr lang="en-US" sz="2800" dirty="0">
                <a:solidFill>
                  <a:srgbClr val="FF0000"/>
                </a:solidFill>
                <a:latin typeface="Times New Roman" panose="02020603050405020304" pitchFamily="18" charset="0"/>
                <a:cs typeface="Times New Roman" panose="02020603050405020304" pitchFamily="18" charset="0"/>
              </a:rPr>
              <a:t>Is it correct?</a:t>
            </a:r>
          </a:p>
        </p:txBody>
      </p:sp>
    </p:spTree>
    <p:extLst>
      <p:ext uri="{BB962C8B-B14F-4D97-AF65-F5344CB8AC3E}">
        <p14:creationId xmlns:p14="http://schemas.microsoft.com/office/powerpoint/2010/main" val="5201058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3A48B-2A45-7AB7-E157-828DC9D0FA97}"/>
              </a:ext>
            </a:extLst>
          </p:cNvPr>
          <p:cNvSpPr>
            <a:spLocks noGrp="1"/>
          </p:cNvSpPr>
          <p:nvPr>
            <p:ph type="title"/>
          </p:nvPr>
        </p:nvSpPr>
        <p:spPr/>
        <p:txBody>
          <a:bodyPr>
            <a:normAutofit/>
          </a:bodyPr>
          <a:lstStyle/>
          <a:p>
            <a:r>
              <a:rPr lang="en-US" sz="5400" dirty="0"/>
              <a:t>Exercise</a:t>
            </a:r>
            <a:endParaRPr lang="LID4096" sz="5400" dirty="0"/>
          </a:p>
        </p:txBody>
      </p:sp>
      <p:sp>
        <p:nvSpPr>
          <p:cNvPr id="3" name="Content Placeholder 2">
            <a:extLst>
              <a:ext uri="{FF2B5EF4-FFF2-40B4-BE49-F238E27FC236}">
                <a16:creationId xmlns:a16="http://schemas.microsoft.com/office/drawing/2014/main" id="{B4965E7D-C1F5-B54F-5454-74F0E1ABC98C}"/>
              </a:ext>
            </a:extLst>
          </p:cNvPr>
          <p:cNvSpPr>
            <a:spLocks noGrp="1"/>
          </p:cNvSpPr>
          <p:nvPr>
            <p:ph idx="1"/>
          </p:nvPr>
        </p:nvSpPr>
        <p:spPr>
          <a:xfrm>
            <a:off x="190459" y="1285860"/>
            <a:ext cx="10586061" cy="5500726"/>
          </a:xfrm>
        </p:spPr>
        <p:txBody>
          <a:bodyPr>
            <a:normAutofit/>
          </a:bodyPr>
          <a:lstStyle/>
          <a:p>
            <a:r>
              <a:rPr lang="en-US" dirty="0"/>
              <a:t>Write a code to determine where a point in the real world appears on the camera plane, given the camera's focal length, direction, location, and the 3D coordinates of the point. Test the previous example to verify the result. For example:</a:t>
            </a:r>
          </a:p>
          <a:p>
            <a:r>
              <a:rPr lang="en-US" dirty="0"/>
              <a:t>Input:</a:t>
            </a:r>
          </a:p>
          <a:p>
            <a:pPr marL="457200" lvl="1" indent="0">
              <a:buNone/>
            </a:pPr>
            <a:r>
              <a:rPr lang="en-US" sz="2400" dirty="0">
                <a:latin typeface="Arial" panose="020B0604020202020204" pitchFamily="34" charset="0"/>
                <a:cs typeface="Arial" panose="020B0604020202020204" pitchFamily="34" charset="0"/>
              </a:rPr>
              <a:t>Enter the focal length of the camera: 1.5</a:t>
            </a:r>
          </a:p>
          <a:p>
            <a:pPr marL="457200" lvl="1" indent="0">
              <a:buNone/>
            </a:pPr>
            <a:r>
              <a:rPr lang="en-US" sz="2400" dirty="0">
                <a:latin typeface="Arial" panose="020B0604020202020204" pitchFamily="34" charset="0"/>
                <a:cs typeface="Arial" panose="020B0604020202020204" pitchFamily="34" charset="0"/>
              </a:rPr>
              <a:t>Enter the camera position (x y z): 2 5 7</a:t>
            </a:r>
          </a:p>
          <a:p>
            <a:pPr marL="457200" lvl="1" indent="0">
              <a:buNone/>
            </a:pPr>
            <a:r>
              <a:rPr lang="en-US" sz="2400" dirty="0">
                <a:latin typeface="Arial" panose="020B0604020202020204" pitchFamily="34" charset="0"/>
                <a:cs typeface="Arial" panose="020B0604020202020204" pitchFamily="34" charset="0"/>
              </a:rPr>
              <a:t>Enter the camera direction vector (dx </a:t>
            </a:r>
            <a:r>
              <a:rPr lang="en-US" sz="2400" dirty="0" err="1">
                <a:latin typeface="Arial" panose="020B0604020202020204" pitchFamily="34" charset="0"/>
                <a:cs typeface="Arial" panose="020B0604020202020204" pitchFamily="34" charset="0"/>
              </a:rPr>
              <a:t>dy</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dz</a:t>
            </a:r>
            <a:r>
              <a:rPr lang="en-US" sz="2400" dirty="0">
                <a:latin typeface="Arial" panose="020B0604020202020204" pitchFamily="34" charset="0"/>
                <a:cs typeface="Arial" panose="020B0604020202020204" pitchFamily="34" charset="0"/>
              </a:rPr>
              <a:t>): 1 1 0</a:t>
            </a:r>
          </a:p>
          <a:p>
            <a:pPr marL="457200" lvl="1" indent="0">
              <a:buNone/>
            </a:pPr>
            <a:r>
              <a:rPr lang="en-US" sz="2400" dirty="0">
                <a:latin typeface="Arial" panose="020B0604020202020204" pitchFamily="34" charset="0"/>
                <a:cs typeface="Arial" panose="020B0604020202020204" pitchFamily="34" charset="0"/>
              </a:rPr>
              <a:t>Enter the 3D point coordinates (X Y Z): 2 6 5</a:t>
            </a:r>
          </a:p>
          <a:p>
            <a:r>
              <a:rPr lang="en-US" sz="2800" dirty="0">
                <a:latin typeface="Arial" panose="020B0604020202020204" pitchFamily="34" charset="0"/>
                <a:cs typeface="Arial" panose="020B0604020202020204" pitchFamily="34" charset="0"/>
              </a:rPr>
              <a:t>Output:</a:t>
            </a:r>
          </a:p>
          <a:p>
            <a:r>
              <a:rPr lang="en-US" sz="280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Point on the camera plane: 0 -2.8 </a:t>
            </a:r>
            <a:r>
              <a:rPr lang="en-US" sz="2400" dirty="0">
                <a:solidFill>
                  <a:srgbClr val="FF0000"/>
                </a:solidFill>
                <a:latin typeface="Arial" panose="020B0604020202020204" pitchFamily="34" charset="0"/>
                <a:cs typeface="Arial" panose="020B0604020202020204" pitchFamily="34" charset="0"/>
              </a:rPr>
              <a:t>(Is it correct?)</a:t>
            </a:r>
          </a:p>
        </p:txBody>
      </p:sp>
    </p:spTree>
    <p:extLst>
      <p:ext uri="{BB962C8B-B14F-4D97-AF65-F5344CB8AC3E}">
        <p14:creationId xmlns:p14="http://schemas.microsoft.com/office/powerpoint/2010/main" val="214344881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obscura"/>
          <p:cNvPicPr>
            <a:picLocks noChangeAspect="1" noChangeArrowheads="1"/>
          </p:cNvPicPr>
          <p:nvPr/>
        </p:nvPicPr>
        <p:blipFill>
          <a:blip r:embed="rId2" cstate="print">
            <a:lum bright="-18000" contrast="30000"/>
          </a:blip>
          <a:srcRect l="2309" t="2110" r="2077" b="3014"/>
          <a:stretch>
            <a:fillRect/>
          </a:stretch>
        </p:blipFill>
        <p:spPr bwMode="auto">
          <a:xfrm>
            <a:off x="3111501" y="1438276"/>
            <a:ext cx="5260975" cy="3997325"/>
          </a:xfrm>
          <a:prstGeom prst="rect">
            <a:avLst/>
          </a:prstGeom>
          <a:noFill/>
          <a:ln w="9525">
            <a:noFill/>
            <a:miter lim="800000"/>
            <a:headEnd/>
            <a:tailEnd/>
          </a:ln>
        </p:spPr>
      </p:pic>
      <p:sp>
        <p:nvSpPr>
          <p:cNvPr id="21507" name="Text Box 3"/>
          <p:cNvSpPr txBox="1">
            <a:spLocks noChangeArrowheads="1"/>
          </p:cNvSpPr>
          <p:nvPr/>
        </p:nvSpPr>
        <p:spPr bwMode="auto">
          <a:xfrm>
            <a:off x="3921125" y="5518151"/>
            <a:ext cx="3646488" cy="366713"/>
          </a:xfrm>
          <a:prstGeom prst="rect">
            <a:avLst/>
          </a:prstGeom>
          <a:noFill/>
          <a:ln w="9525">
            <a:noFill/>
            <a:miter lim="800000"/>
            <a:headEnd/>
            <a:tailEnd/>
          </a:ln>
        </p:spPr>
        <p:txBody>
          <a:bodyPr wrap="none">
            <a:spAutoFit/>
          </a:bodyPr>
          <a:lstStyle/>
          <a:p>
            <a:r>
              <a:rPr lang="en-US">
                <a:latin typeface="Palatino Linotype" pitchFamily="18" charset="0"/>
              </a:rPr>
              <a:t>Lens Based Camera Obscura, 1568</a:t>
            </a:r>
          </a:p>
        </p:txBody>
      </p:sp>
      <p:sp>
        <p:nvSpPr>
          <p:cNvPr id="21508" name="Rectangle 11"/>
          <p:cNvSpPr>
            <a:spLocks noGrp="1" noChangeArrowheads="1"/>
          </p:cNvSpPr>
          <p:nvPr>
            <p:ph type="title"/>
          </p:nvPr>
        </p:nvSpPr>
        <p:spPr/>
        <p:txBody>
          <a:bodyPr/>
          <a:lstStyle/>
          <a:p>
            <a:r>
              <a:rPr lang="en-US" altLang="zh-TW" dirty="0"/>
              <a:t>Before Film Was Invented</a:t>
            </a:r>
          </a:p>
        </p:txBody>
      </p:sp>
    </p:spTree>
    <p:extLst>
      <p:ext uri="{BB962C8B-B14F-4D97-AF65-F5344CB8AC3E}">
        <p14:creationId xmlns:p14="http://schemas.microsoft.com/office/powerpoint/2010/main" val="4238103232"/>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still_life"/>
          <p:cNvPicPr>
            <a:picLocks noChangeAspect="1" noChangeArrowheads="1"/>
          </p:cNvPicPr>
          <p:nvPr/>
        </p:nvPicPr>
        <p:blipFill>
          <a:blip r:embed="rId2" cstate="print">
            <a:lum bright="-6000" contrast="24000"/>
          </a:blip>
          <a:srcRect/>
          <a:stretch>
            <a:fillRect/>
          </a:stretch>
        </p:blipFill>
        <p:spPr bwMode="auto">
          <a:xfrm>
            <a:off x="3233738" y="1562100"/>
            <a:ext cx="4995862" cy="3848100"/>
          </a:xfrm>
          <a:prstGeom prst="rect">
            <a:avLst/>
          </a:prstGeom>
          <a:noFill/>
          <a:ln w="28575">
            <a:noFill/>
            <a:miter lim="800000"/>
            <a:headEnd/>
            <a:tailEnd/>
          </a:ln>
        </p:spPr>
      </p:pic>
      <p:sp>
        <p:nvSpPr>
          <p:cNvPr id="22531" name="Text Box 3"/>
          <p:cNvSpPr txBox="1">
            <a:spLocks noChangeArrowheads="1"/>
          </p:cNvSpPr>
          <p:nvPr/>
        </p:nvSpPr>
        <p:spPr bwMode="auto">
          <a:xfrm>
            <a:off x="3336926" y="5480051"/>
            <a:ext cx="4733925" cy="366713"/>
          </a:xfrm>
          <a:prstGeom prst="rect">
            <a:avLst/>
          </a:prstGeom>
          <a:noFill/>
          <a:ln w="9525">
            <a:noFill/>
            <a:miter lim="800000"/>
            <a:headEnd/>
            <a:tailEnd/>
          </a:ln>
        </p:spPr>
        <p:txBody>
          <a:bodyPr wrap="none">
            <a:spAutoFit/>
          </a:bodyPr>
          <a:lstStyle/>
          <a:p>
            <a:r>
              <a:rPr lang="en-US" i="1">
                <a:latin typeface="Palatino Linotype" pitchFamily="18" charset="0"/>
              </a:rPr>
              <a:t>Still Life</a:t>
            </a:r>
            <a:r>
              <a:rPr lang="en-US">
                <a:latin typeface="Palatino Linotype" pitchFamily="18" charset="0"/>
              </a:rPr>
              <a:t>, Louis Jaques Mande Daguerre, 1837</a:t>
            </a:r>
          </a:p>
        </p:txBody>
      </p:sp>
      <p:sp>
        <p:nvSpPr>
          <p:cNvPr id="22532" name="Rectangle 13"/>
          <p:cNvSpPr>
            <a:spLocks noGrp="1" noChangeArrowheads="1"/>
          </p:cNvSpPr>
          <p:nvPr>
            <p:ph type="title"/>
          </p:nvPr>
        </p:nvSpPr>
        <p:spPr/>
        <p:txBody>
          <a:bodyPr/>
          <a:lstStyle/>
          <a:p>
            <a:r>
              <a:rPr lang="en-US" altLang="zh-TW" dirty="0"/>
              <a:t>Film Camera</a:t>
            </a:r>
          </a:p>
        </p:txBody>
      </p:sp>
    </p:spTree>
    <p:extLst>
      <p:ext uri="{BB962C8B-B14F-4D97-AF65-F5344CB8AC3E}">
        <p14:creationId xmlns:p14="http://schemas.microsoft.com/office/powerpoint/2010/main" val="2388194831"/>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ltLang="zh-TW"/>
              <a:t>Color</a:t>
            </a:r>
          </a:p>
        </p:txBody>
      </p:sp>
      <p:sp>
        <p:nvSpPr>
          <p:cNvPr id="5" name="Content Placeholder 4"/>
          <p:cNvSpPr>
            <a:spLocks noGrp="1"/>
          </p:cNvSpPr>
          <p:nvPr>
            <p:ph idx="1"/>
          </p:nvPr>
        </p:nvSpPr>
        <p:spPr>
          <a:xfrm>
            <a:off x="1981200" y="1600200"/>
            <a:ext cx="8229600" cy="4800600"/>
          </a:xfrm>
        </p:spPr>
        <p:txBody>
          <a:bodyPr/>
          <a:lstStyle/>
          <a:p>
            <a:r>
              <a:rPr lang="en-US" sz="2800" dirty="0"/>
              <a:t>Most digital images are comprised of three color channels – </a:t>
            </a:r>
            <a:r>
              <a:rPr lang="en-US" sz="2800" dirty="0">
                <a:solidFill>
                  <a:srgbClr val="FF0000"/>
                </a:solidFill>
              </a:rPr>
              <a:t>red</a:t>
            </a:r>
            <a:r>
              <a:rPr lang="en-US" sz="2800" dirty="0"/>
              <a:t>, </a:t>
            </a:r>
            <a:r>
              <a:rPr lang="en-US" sz="2800" dirty="0">
                <a:solidFill>
                  <a:srgbClr val="00B050"/>
                </a:solidFill>
              </a:rPr>
              <a:t>green</a:t>
            </a:r>
            <a:r>
              <a:rPr lang="en-US" sz="2800" dirty="0"/>
              <a:t>, and, </a:t>
            </a:r>
            <a:r>
              <a:rPr lang="en-US" sz="2800" dirty="0">
                <a:solidFill>
                  <a:srgbClr val="3333FF"/>
                </a:solidFill>
              </a:rPr>
              <a:t>blue</a:t>
            </a:r>
            <a:r>
              <a:rPr lang="en-US" sz="2800" dirty="0"/>
              <a:t> – which combine to create most of the colors we can see</a:t>
            </a:r>
          </a:p>
          <a:p>
            <a:endParaRPr lang="en-US" sz="2800" dirty="0"/>
          </a:p>
          <a:p>
            <a:endParaRPr lang="en-US" sz="2800" dirty="0"/>
          </a:p>
          <a:p>
            <a:endParaRPr lang="en-US" sz="2800" dirty="0"/>
          </a:p>
          <a:p>
            <a:endParaRPr lang="en-US" sz="2800" dirty="0"/>
          </a:p>
          <a:p>
            <a:endParaRPr lang="en-US" sz="2800" dirty="0"/>
          </a:p>
          <a:p>
            <a:r>
              <a:rPr lang="en-US" sz="2800" dirty="0"/>
              <a:t>Why are there three?</a:t>
            </a:r>
          </a:p>
        </p:txBody>
      </p:sp>
      <p:pic>
        <p:nvPicPr>
          <p:cNvPr id="6" name="Picture 2"/>
          <p:cNvPicPr>
            <a:picLocks noChangeAspect="1" noChangeArrowheads="1"/>
          </p:cNvPicPr>
          <p:nvPr/>
        </p:nvPicPr>
        <p:blipFill>
          <a:blip r:embed="rId3" cstate="print"/>
          <a:srcRect/>
          <a:stretch>
            <a:fillRect/>
          </a:stretch>
        </p:blipFill>
        <p:spPr bwMode="auto">
          <a:xfrm>
            <a:off x="1676400" y="3645025"/>
            <a:ext cx="1892300" cy="1260475"/>
          </a:xfrm>
          <a:prstGeom prst="rect">
            <a:avLst/>
          </a:prstGeom>
          <a:noFill/>
          <a:ln w="9525" cap="flat" cmpd="sng">
            <a:noFill/>
            <a:prstDash val="solid"/>
            <a:miter lim="800000"/>
            <a:headEnd/>
            <a:tailEnd/>
          </a:ln>
          <a:effectLst>
            <a:outerShdw blurRad="101600" dist="76200" dir="2700000" algn="tl" rotWithShape="0">
              <a:prstClr val="black">
                <a:alpha val="40000"/>
              </a:prstClr>
            </a:outerShdw>
          </a:effectLst>
        </p:spPr>
      </p:pic>
      <p:pic>
        <p:nvPicPr>
          <p:cNvPr id="7" name="Picture 4" descr="C:\snavely\work\teaching\09Sp-CS1114\lectures\lec2\test\blue.jpg"/>
          <p:cNvPicPr>
            <a:picLocks noChangeAspect="1" noChangeArrowheads="1"/>
          </p:cNvPicPr>
          <p:nvPr/>
        </p:nvPicPr>
        <p:blipFill>
          <a:blip r:embed="rId4" cstate="print"/>
          <a:srcRect/>
          <a:stretch>
            <a:fillRect/>
          </a:stretch>
        </p:blipFill>
        <p:spPr bwMode="auto">
          <a:xfrm>
            <a:off x="8645525" y="3645024"/>
            <a:ext cx="1887538" cy="1257300"/>
          </a:xfrm>
          <a:prstGeom prst="rect">
            <a:avLst/>
          </a:prstGeom>
          <a:noFill/>
          <a:effectLst>
            <a:outerShdw blurRad="101600" dist="76200" dir="2700000" algn="tl" rotWithShape="0">
              <a:prstClr val="black">
                <a:alpha val="40000"/>
              </a:prstClr>
            </a:outerShdw>
          </a:effectLst>
        </p:spPr>
      </p:pic>
      <p:pic>
        <p:nvPicPr>
          <p:cNvPr id="8" name="Picture 5" descr="C:\snavely\work\teaching\09Sp-CS1114\lectures\lec2\test\green.jpg"/>
          <p:cNvPicPr>
            <a:picLocks noChangeAspect="1" noChangeArrowheads="1"/>
          </p:cNvPicPr>
          <p:nvPr/>
        </p:nvPicPr>
        <p:blipFill>
          <a:blip r:embed="rId5" cstate="print"/>
          <a:srcRect/>
          <a:stretch>
            <a:fillRect/>
          </a:stretch>
        </p:blipFill>
        <p:spPr bwMode="auto">
          <a:xfrm>
            <a:off x="6451600" y="3645024"/>
            <a:ext cx="1885950" cy="1257300"/>
          </a:xfrm>
          <a:prstGeom prst="rect">
            <a:avLst/>
          </a:prstGeom>
          <a:noFill/>
          <a:effectLst>
            <a:outerShdw blurRad="101600" dist="76200" dir="2700000" algn="tl" rotWithShape="0">
              <a:prstClr val="black">
                <a:alpha val="40000"/>
              </a:prstClr>
            </a:outerShdw>
          </a:effectLst>
        </p:spPr>
      </p:pic>
      <p:pic>
        <p:nvPicPr>
          <p:cNvPr id="9" name="Picture 6" descr="C:\snavely\work\teaching\09Sp-CS1114\lectures\lec2\test\red.jpg"/>
          <p:cNvPicPr>
            <a:picLocks noChangeAspect="1" noChangeArrowheads="1"/>
          </p:cNvPicPr>
          <p:nvPr/>
        </p:nvPicPr>
        <p:blipFill>
          <a:blip r:embed="rId6" cstate="print"/>
          <a:srcRect/>
          <a:stretch>
            <a:fillRect/>
          </a:stretch>
        </p:blipFill>
        <p:spPr bwMode="auto">
          <a:xfrm>
            <a:off x="4257675" y="3645024"/>
            <a:ext cx="1885950" cy="1257300"/>
          </a:xfrm>
          <a:prstGeom prst="rect">
            <a:avLst/>
          </a:prstGeom>
          <a:noFill/>
          <a:effectLst>
            <a:outerShdw blurRad="101600" dist="76200" dir="2700000" algn="tl" rotWithShape="0">
              <a:prstClr val="black">
                <a:alpha val="40000"/>
              </a:prstClr>
            </a:outerShdw>
          </a:effectLst>
        </p:spPr>
      </p:pic>
      <p:sp>
        <p:nvSpPr>
          <p:cNvPr id="10" name="TextBox 9"/>
          <p:cNvSpPr txBox="1">
            <a:spLocks noChangeArrowheads="1"/>
          </p:cNvSpPr>
          <p:nvPr/>
        </p:nvSpPr>
        <p:spPr bwMode="auto">
          <a:xfrm>
            <a:off x="3700463" y="3970463"/>
            <a:ext cx="389850" cy="584775"/>
          </a:xfrm>
          <a:prstGeom prst="rect">
            <a:avLst/>
          </a:prstGeom>
          <a:noFill/>
          <a:ln w="9525">
            <a:noFill/>
            <a:miter lim="800000"/>
            <a:headEnd/>
            <a:tailEnd/>
          </a:ln>
        </p:spPr>
        <p:txBody>
          <a:bodyPr wrap="none">
            <a:spAutoFit/>
          </a:bodyPr>
          <a:lstStyle/>
          <a:p>
            <a:r>
              <a:rPr lang="en-US" sz="3200" b="1">
                <a:latin typeface="Calibri" pitchFamily="34" charset="0"/>
              </a:rPr>
              <a:t>=</a:t>
            </a:r>
          </a:p>
        </p:txBody>
      </p:sp>
    </p:spTree>
    <p:extLst>
      <p:ext uri="{BB962C8B-B14F-4D97-AF65-F5344CB8AC3E}">
        <p14:creationId xmlns:p14="http://schemas.microsoft.com/office/powerpoint/2010/main" val="426937006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5">
                                            <p:txEl>
                                              <p:pRg st="6" end="6"/>
                                            </p:txEl>
                                          </p:spTgt>
                                        </p:tgtEl>
                                        <p:attrNameLst>
                                          <p:attrName>style.visibility</p:attrName>
                                        </p:attrNameLst>
                                      </p:cBhvr>
                                      <p:to>
                                        <p:strVal val="visible"/>
                                      </p:to>
                                    </p:set>
                                    <p:animEffect transition="in" filter="fade">
                                      <p:cBhvr>
                                        <p:cTn id="29"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10"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981200" y="0"/>
            <a:ext cx="8229600" cy="1143000"/>
          </a:xfrm>
        </p:spPr>
        <p:txBody>
          <a:bodyPr/>
          <a:lstStyle/>
          <a:p>
            <a:r>
              <a:rPr lang="en-US" dirty="0"/>
              <a:t>Color perception</a:t>
            </a:r>
          </a:p>
        </p:txBody>
      </p:sp>
      <p:sp>
        <p:nvSpPr>
          <p:cNvPr id="26627" name="Rectangle 3"/>
          <p:cNvSpPr>
            <a:spLocks noGrp="1" noChangeArrowheads="1"/>
          </p:cNvSpPr>
          <p:nvPr>
            <p:ph type="body" idx="1"/>
          </p:nvPr>
        </p:nvSpPr>
        <p:spPr>
          <a:xfrm>
            <a:off x="2209800" y="3701752"/>
            <a:ext cx="7772400" cy="2895600"/>
          </a:xfrm>
        </p:spPr>
        <p:txBody>
          <a:bodyPr>
            <a:noAutofit/>
          </a:bodyPr>
          <a:lstStyle/>
          <a:p>
            <a:pPr>
              <a:spcBef>
                <a:spcPts val="600"/>
              </a:spcBef>
              <a:buFont typeface="Courier New" pitchFamily="49" charset="0"/>
              <a:buChar char="o"/>
            </a:pPr>
            <a:r>
              <a:rPr lang="en-US" sz="2000" dirty="0"/>
              <a:t>Three types of cones</a:t>
            </a:r>
          </a:p>
          <a:p>
            <a:pPr lvl="1">
              <a:spcBef>
                <a:spcPts val="600"/>
              </a:spcBef>
              <a:buFont typeface="Courier New" pitchFamily="49" charset="0"/>
              <a:buChar char="o"/>
            </a:pPr>
            <a:r>
              <a:rPr lang="en-US" sz="1800" dirty="0"/>
              <a:t>Each is sensitive in a different region of the spectrum</a:t>
            </a:r>
          </a:p>
          <a:p>
            <a:pPr lvl="2">
              <a:spcBef>
                <a:spcPts val="600"/>
              </a:spcBef>
              <a:buFont typeface="Courier New" pitchFamily="49" charset="0"/>
              <a:buChar char="o"/>
            </a:pPr>
            <a:r>
              <a:rPr lang="en-US" sz="1600" dirty="0"/>
              <a:t>but regions overlap</a:t>
            </a:r>
          </a:p>
          <a:p>
            <a:pPr lvl="2">
              <a:spcBef>
                <a:spcPts val="600"/>
              </a:spcBef>
              <a:buFont typeface="Courier New" pitchFamily="49" charset="0"/>
              <a:buChar char="o"/>
            </a:pPr>
            <a:r>
              <a:rPr lang="en-US" sz="1600" dirty="0"/>
              <a:t>Short (S) corresponds to blue</a:t>
            </a:r>
          </a:p>
          <a:p>
            <a:pPr lvl="2">
              <a:spcBef>
                <a:spcPts val="600"/>
              </a:spcBef>
              <a:buFont typeface="Courier New" pitchFamily="49" charset="0"/>
              <a:buChar char="o"/>
            </a:pPr>
            <a:r>
              <a:rPr lang="en-US" sz="1600" dirty="0"/>
              <a:t>Medium (M) corresponds to green</a:t>
            </a:r>
          </a:p>
          <a:p>
            <a:pPr lvl="2">
              <a:spcBef>
                <a:spcPts val="600"/>
              </a:spcBef>
              <a:buFont typeface="Courier New" pitchFamily="49" charset="0"/>
              <a:buChar char="o"/>
            </a:pPr>
            <a:r>
              <a:rPr lang="en-US" sz="1600" dirty="0"/>
              <a:t>Long (L) corresponds to red</a:t>
            </a:r>
          </a:p>
          <a:p>
            <a:pPr lvl="1">
              <a:spcBef>
                <a:spcPts val="600"/>
              </a:spcBef>
              <a:buFont typeface="Courier New" pitchFamily="49" charset="0"/>
              <a:buChar char="o"/>
            </a:pPr>
            <a:r>
              <a:rPr lang="en-US" sz="1800" dirty="0"/>
              <a:t>Different sensitivities:  we are more sensitive to green than red</a:t>
            </a:r>
          </a:p>
          <a:p>
            <a:pPr lvl="2">
              <a:spcBef>
                <a:spcPts val="600"/>
              </a:spcBef>
              <a:buFont typeface="Courier New" pitchFamily="49" charset="0"/>
              <a:buChar char="o"/>
            </a:pPr>
            <a:r>
              <a:rPr lang="en-US" sz="1600" dirty="0"/>
              <a:t>varies from person to person (and with age)</a:t>
            </a:r>
          </a:p>
          <a:p>
            <a:pPr lvl="1">
              <a:spcBef>
                <a:spcPts val="600"/>
              </a:spcBef>
              <a:buFont typeface="Courier New" pitchFamily="49" charset="0"/>
              <a:buChar char="o"/>
            </a:pPr>
            <a:r>
              <a:rPr lang="en-US" sz="1800" dirty="0"/>
              <a:t>Colorblindness—deficiency in at least one type of cone</a:t>
            </a:r>
          </a:p>
        </p:txBody>
      </p:sp>
      <p:grpSp>
        <p:nvGrpSpPr>
          <p:cNvPr id="2" name="Group 6"/>
          <p:cNvGrpSpPr>
            <a:grpSpLocks/>
          </p:cNvGrpSpPr>
          <p:nvPr/>
        </p:nvGrpSpPr>
        <p:grpSpPr bwMode="auto">
          <a:xfrm>
            <a:off x="3733800" y="1201292"/>
            <a:ext cx="5500632" cy="2371725"/>
            <a:chOff x="2286000" y="1143000"/>
            <a:chExt cx="5500632" cy="2371725"/>
          </a:xfrm>
        </p:grpSpPr>
        <p:pic>
          <p:nvPicPr>
            <p:cNvPr id="26629" name="Picture 5" descr="eye_sml"/>
            <p:cNvPicPr>
              <a:picLocks noChangeAspect="1" noChangeArrowheads="1"/>
            </p:cNvPicPr>
            <p:nvPr/>
          </p:nvPicPr>
          <p:blipFill>
            <a:blip r:embed="rId3" cstate="print"/>
            <a:srcRect/>
            <a:stretch>
              <a:fillRect/>
            </a:stretch>
          </p:blipFill>
          <p:spPr bwMode="auto">
            <a:xfrm>
              <a:off x="2286000" y="1143000"/>
              <a:ext cx="3665538" cy="2371725"/>
            </a:xfrm>
            <a:prstGeom prst="rect">
              <a:avLst/>
            </a:prstGeom>
            <a:noFill/>
            <a:ln w="9525">
              <a:noFill/>
              <a:miter lim="800000"/>
              <a:headEnd/>
              <a:tailEnd/>
            </a:ln>
          </p:spPr>
        </p:pic>
        <p:sp>
          <p:nvSpPr>
            <p:cNvPr id="26630" name="Text Box 7"/>
            <p:cNvSpPr txBox="1">
              <a:spLocks noChangeArrowheads="1"/>
            </p:cNvSpPr>
            <p:nvPr/>
          </p:nvSpPr>
          <p:spPr bwMode="auto">
            <a:xfrm>
              <a:off x="6026150" y="1676400"/>
              <a:ext cx="1760482" cy="369332"/>
            </a:xfrm>
            <a:prstGeom prst="rect">
              <a:avLst/>
            </a:prstGeom>
            <a:noFill/>
            <a:ln w="9525">
              <a:noFill/>
              <a:miter lim="800000"/>
              <a:headEnd/>
              <a:tailEnd/>
            </a:ln>
          </p:spPr>
          <p:txBody>
            <a:bodyPr wrap="none">
              <a:spAutoFit/>
            </a:bodyPr>
            <a:lstStyle/>
            <a:p>
              <a:r>
                <a:rPr lang="en-US"/>
                <a:t>L response curve</a:t>
              </a:r>
            </a:p>
          </p:txBody>
        </p:sp>
        <p:sp>
          <p:nvSpPr>
            <p:cNvPr id="26631" name="Line 8"/>
            <p:cNvSpPr>
              <a:spLocks noChangeShapeType="1"/>
            </p:cNvSpPr>
            <p:nvPr/>
          </p:nvSpPr>
          <p:spPr bwMode="auto">
            <a:xfrm flipH="1">
              <a:off x="5181600" y="1905000"/>
              <a:ext cx="838200" cy="152400"/>
            </a:xfrm>
            <a:prstGeom prst="line">
              <a:avLst/>
            </a:prstGeom>
            <a:noFill/>
            <a:ln w="9525">
              <a:solidFill>
                <a:schemeClr val="tx1"/>
              </a:solidFill>
              <a:round/>
              <a:headEnd/>
              <a:tailEnd type="triangle" w="med" len="med"/>
            </a:ln>
          </p:spPr>
          <p:txBody>
            <a:bodyPr/>
            <a:lstStyle/>
            <a:p>
              <a:endParaRPr lang="en-US"/>
            </a:p>
          </p:txBody>
        </p:sp>
      </p:grpSp>
    </p:spTree>
    <p:extLst>
      <p:ext uri="{BB962C8B-B14F-4D97-AF65-F5344CB8AC3E}">
        <p14:creationId xmlns:p14="http://schemas.microsoft.com/office/powerpoint/2010/main" val="980267289"/>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p:cNvPicPr>
            <a:picLocks noChangeAspect="1" noChangeArrowheads="1"/>
          </p:cNvPicPr>
          <p:nvPr/>
        </p:nvPicPr>
        <p:blipFill>
          <a:blip r:embed="rId3" cstate="print"/>
          <a:srcRect/>
          <a:stretch>
            <a:fillRect/>
          </a:stretch>
        </p:blipFill>
        <p:spPr bwMode="auto">
          <a:xfrm>
            <a:off x="2098676" y="1438275"/>
            <a:ext cx="3343275" cy="4319588"/>
          </a:xfrm>
          <a:prstGeom prst="rect">
            <a:avLst/>
          </a:prstGeom>
          <a:noFill/>
          <a:ln w="9525">
            <a:noFill/>
            <a:miter lim="800000"/>
            <a:headEnd/>
            <a:tailEnd/>
          </a:ln>
        </p:spPr>
      </p:pic>
      <p:pic>
        <p:nvPicPr>
          <p:cNvPr id="173059" name="Picture 3"/>
          <p:cNvPicPr>
            <a:picLocks noChangeAspect="1" noChangeArrowheads="1"/>
          </p:cNvPicPr>
          <p:nvPr/>
        </p:nvPicPr>
        <p:blipFill>
          <a:blip r:embed="rId4" cstate="print"/>
          <a:srcRect/>
          <a:stretch>
            <a:fillRect/>
          </a:stretch>
        </p:blipFill>
        <p:spPr bwMode="auto">
          <a:xfrm>
            <a:off x="2098676" y="1438275"/>
            <a:ext cx="3343275" cy="4318000"/>
          </a:xfrm>
          <a:prstGeom prst="rect">
            <a:avLst/>
          </a:prstGeom>
          <a:noFill/>
          <a:ln w="9525">
            <a:noFill/>
            <a:miter lim="800000"/>
            <a:headEnd/>
            <a:tailEnd/>
          </a:ln>
        </p:spPr>
      </p:pic>
      <p:pic>
        <p:nvPicPr>
          <p:cNvPr id="173060" name="Picture 4"/>
          <p:cNvPicPr>
            <a:picLocks noChangeAspect="1" noChangeArrowheads="1"/>
          </p:cNvPicPr>
          <p:nvPr/>
        </p:nvPicPr>
        <p:blipFill>
          <a:blip r:embed="rId5" cstate="print"/>
          <a:srcRect/>
          <a:stretch>
            <a:fillRect/>
          </a:stretch>
        </p:blipFill>
        <p:spPr bwMode="auto">
          <a:xfrm>
            <a:off x="5303839" y="1306513"/>
            <a:ext cx="1882775" cy="1619250"/>
          </a:xfrm>
          <a:prstGeom prst="rect">
            <a:avLst/>
          </a:prstGeom>
          <a:noFill/>
          <a:ln w="9525">
            <a:noFill/>
            <a:miter lim="800000"/>
            <a:headEnd/>
            <a:tailEnd/>
          </a:ln>
        </p:spPr>
      </p:pic>
      <p:sp>
        <p:nvSpPr>
          <p:cNvPr id="27653" name="Rectangle 5"/>
          <p:cNvSpPr>
            <a:spLocks noGrp="1" noChangeArrowheads="1"/>
          </p:cNvSpPr>
          <p:nvPr>
            <p:ph type="title"/>
          </p:nvPr>
        </p:nvSpPr>
        <p:spPr/>
        <p:txBody>
          <a:bodyPr/>
          <a:lstStyle/>
          <a:p>
            <a:r>
              <a:rPr lang="en-US" altLang="zh-TW" sz="3200"/>
              <a:t>Field sequential</a:t>
            </a:r>
          </a:p>
        </p:txBody>
      </p:sp>
      <p:pic>
        <p:nvPicPr>
          <p:cNvPr id="173062" name="Picture 6"/>
          <p:cNvPicPr>
            <a:picLocks noChangeAspect="1" noChangeArrowheads="1"/>
          </p:cNvPicPr>
          <p:nvPr/>
        </p:nvPicPr>
        <p:blipFill>
          <a:blip r:embed="rId6" cstate="print"/>
          <a:srcRect/>
          <a:stretch>
            <a:fillRect/>
          </a:stretch>
        </p:blipFill>
        <p:spPr bwMode="auto">
          <a:xfrm>
            <a:off x="5303839" y="1304925"/>
            <a:ext cx="1882775" cy="1619250"/>
          </a:xfrm>
          <a:prstGeom prst="rect">
            <a:avLst/>
          </a:prstGeom>
          <a:noFill/>
          <a:ln w="9525">
            <a:noFill/>
            <a:miter lim="800000"/>
            <a:headEnd/>
            <a:tailEnd/>
          </a:ln>
        </p:spPr>
      </p:pic>
      <p:sp>
        <p:nvSpPr>
          <p:cNvPr id="27655" name="Text Box 7"/>
          <p:cNvSpPr txBox="1">
            <a:spLocks noChangeArrowheads="1"/>
          </p:cNvSpPr>
          <p:nvPr/>
        </p:nvSpPr>
        <p:spPr bwMode="auto">
          <a:xfrm>
            <a:off x="8750301" y="6462714"/>
            <a:ext cx="1557221" cy="276999"/>
          </a:xfrm>
          <a:prstGeom prst="rect">
            <a:avLst/>
          </a:prstGeom>
          <a:noFill/>
          <a:ln w="9525">
            <a:noFill/>
            <a:miter lim="800000"/>
            <a:headEnd/>
            <a:tailEnd/>
          </a:ln>
        </p:spPr>
        <p:txBody>
          <a:bodyPr wrap="none">
            <a:spAutoFit/>
          </a:bodyPr>
          <a:lstStyle/>
          <a:p>
            <a:r>
              <a:rPr lang="en-US" sz="1200"/>
              <a:t>YungYu Chuang’s slide</a:t>
            </a:r>
          </a:p>
        </p:txBody>
      </p:sp>
    </p:spTree>
    <p:extLst>
      <p:ext uri="{BB962C8B-B14F-4D97-AF65-F5344CB8AC3E}">
        <p14:creationId xmlns:p14="http://schemas.microsoft.com/office/powerpoint/2010/main" val="128760094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30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306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73062"/>
                                        </p:tgtEl>
                                        <p:attrNameLst>
                                          <p:attrName>style.visibility</p:attrName>
                                        </p:attrNameLst>
                                      </p:cBhvr>
                                      <p:to>
                                        <p:strVal val="visible"/>
                                      </p:to>
                                    </p:set>
                                    <p:animEffect transition="in" filter="fade">
                                      <p:cBhvr>
                                        <p:cTn id="15" dur="500"/>
                                        <p:tgtEl>
                                          <p:spTgt spid="1730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ltLang="zh-TW" sz="3200"/>
              <a:t>Field sequential</a:t>
            </a:r>
          </a:p>
        </p:txBody>
      </p:sp>
      <p:grpSp>
        <p:nvGrpSpPr>
          <p:cNvPr id="2" name="Group 3"/>
          <p:cNvGrpSpPr>
            <a:grpSpLocks/>
          </p:cNvGrpSpPr>
          <p:nvPr/>
        </p:nvGrpSpPr>
        <p:grpSpPr bwMode="auto">
          <a:xfrm>
            <a:off x="2098675" y="1438275"/>
            <a:ext cx="5087938" cy="4318000"/>
            <a:chOff x="362" y="906"/>
            <a:chExt cx="3205" cy="2720"/>
          </a:xfrm>
        </p:grpSpPr>
        <p:pic>
          <p:nvPicPr>
            <p:cNvPr id="28678" name="Picture 4"/>
            <p:cNvPicPr>
              <a:picLocks noChangeAspect="1" noChangeArrowheads="1"/>
            </p:cNvPicPr>
            <p:nvPr/>
          </p:nvPicPr>
          <p:blipFill>
            <a:blip r:embed="rId3" cstate="print"/>
            <a:srcRect/>
            <a:stretch>
              <a:fillRect/>
            </a:stretch>
          </p:blipFill>
          <p:spPr bwMode="auto">
            <a:xfrm>
              <a:off x="362" y="906"/>
              <a:ext cx="2106" cy="2720"/>
            </a:xfrm>
            <a:prstGeom prst="rect">
              <a:avLst/>
            </a:prstGeom>
            <a:noFill/>
            <a:ln w="9525">
              <a:noFill/>
              <a:miter lim="800000"/>
              <a:headEnd/>
              <a:tailEnd/>
            </a:ln>
          </p:spPr>
        </p:pic>
        <p:pic>
          <p:nvPicPr>
            <p:cNvPr id="28679" name="Picture 5"/>
            <p:cNvPicPr>
              <a:picLocks noChangeAspect="1" noChangeArrowheads="1"/>
            </p:cNvPicPr>
            <p:nvPr/>
          </p:nvPicPr>
          <p:blipFill>
            <a:blip r:embed="rId4" cstate="print"/>
            <a:srcRect/>
            <a:stretch>
              <a:fillRect/>
            </a:stretch>
          </p:blipFill>
          <p:spPr bwMode="auto">
            <a:xfrm>
              <a:off x="2381" y="1911"/>
              <a:ext cx="1186" cy="1020"/>
            </a:xfrm>
            <a:prstGeom prst="rect">
              <a:avLst/>
            </a:prstGeom>
            <a:noFill/>
            <a:ln w="9525">
              <a:noFill/>
              <a:miter lim="800000"/>
              <a:headEnd/>
              <a:tailEnd/>
            </a:ln>
          </p:spPr>
        </p:pic>
      </p:grpSp>
      <p:pic>
        <p:nvPicPr>
          <p:cNvPr id="28676" name="Picture 6"/>
          <p:cNvPicPr>
            <a:picLocks noChangeAspect="1" noChangeArrowheads="1"/>
          </p:cNvPicPr>
          <p:nvPr/>
        </p:nvPicPr>
        <p:blipFill>
          <a:blip r:embed="rId5" cstate="print"/>
          <a:srcRect/>
          <a:stretch>
            <a:fillRect/>
          </a:stretch>
        </p:blipFill>
        <p:spPr bwMode="auto">
          <a:xfrm>
            <a:off x="5303839" y="1304925"/>
            <a:ext cx="1882775" cy="1619250"/>
          </a:xfrm>
          <a:prstGeom prst="rect">
            <a:avLst/>
          </a:prstGeom>
          <a:noFill/>
          <a:ln w="9525">
            <a:noFill/>
            <a:miter lim="800000"/>
            <a:headEnd/>
            <a:tailEnd/>
          </a:ln>
        </p:spPr>
      </p:pic>
      <p:sp>
        <p:nvSpPr>
          <p:cNvPr id="28677" name="Text Box 7"/>
          <p:cNvSpPr txBox="1">
            <a:spLocks noChangeArrowheads="1"/>
          </p:cNvSpPr>
          <p:nvPr/>
        </p:nvSpPr>
        <p:spPr bwMode="auto">
          <a:xfrm>
            <a:off x="8750301" y="6462714"/>
            <a:ext cx="1557221" cy="276999"/>
          </a:xfrm>
          <a:prstGeom prst="rect">
            <a:avLst/>
          </a:prstGeom>
          <a:noFill/>
          <a:ln w="9525">
            <a:noFill/>
            <a:miter lim="800000"/>
            <a:headEnd/>
            <a:tailEnd/>
          </a:ln>
        </p:spPr>
        <p:txBody>
          <a:bodyPr wrap="none">
            <a:spAutoFit/>
          </a:bodyPr>
          <a:lstStyle/>
          <a:p>
            <a:r>
              <a:rPr lang="en-US" sz="1200"/>
              <a:t>YungYu Chuang’s slide</a:t>
            </a:r>
          </a:p>
        </p:txBody>
      </p:sp>
    </p:spTree>
    <p:extLst>
      <p:ext uri="{BB962C8B-B14F-4D97-AF65-F5344CB8AC3E}">
        <p14:creationId xmlns:p14="http://schemas.microsoft.com/office/powerpoint/2010/main" val="2907997566"/>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ltLang="zh-TW"/>
              <a:t>Prokudin-Gorskii (early 1900’s) </a:t>
            </a:r>
          </a:p>
        </p:txBody>
      </p:sp>
      <p:pic>
        <p:nvPicPr>
          <p:cNvPr id="179203" name="Picture 3" descr="p87-8086"/>
          <p:cNvPicPr>
            <a:picLocks noChangeAspect="1" noChangeArrowheads="1"/>
          </p:cNvPicPr>
          <p:nvPr/>
        </p:nvPicPr>
        <p:blipFill>
          <a:blip r:embed="rId3" cstate="print"/>
          <a:srcRect/>
          <a:stretch>
            <a:fillRect/>
          </a:stretch>
        </p:blipFill>
        <p:spPr bwMode="auto">
          <a:xfrm>
            <a:off x="5484814" y="1484314"/>
            <a:ext cx="4643437" cy="4010025"/>
          </a:xfrm>
          <a:prstGeom prst="rect">
            <a:avLst/>
          </a:prstGeom>
          <a:noFill/>
          <a:ln w="9525">
            <a:noFill/>
            <a:miter lim="800000"/>
            <a:headEnd/>
            <a:tailEnd/>
          </a:ln>
        </p:spPr>
      </p:pic>
      <p:grpSp>
        <p:nvGrpSpPr>
          <p:cNvPr id="2" name="Group 4"/>
          <p:cNvGrpSpPr>
            <a:grpSpLocks/>
          </p:cNvGrpSpPr>
          <p:nvPr/>
        </p:nvGrpSpPr>
        <p:grpSpPr bwMode="auto">
          <a:xfrm>
            <a:off x="1919289" y="1268413"/>
            <a:ext cx="1584325" cy="1439862"/>
            <a:chOff x="249" y="799"/>
            <a:chExt cx="998" cy="907"/>
          </a:xfrm>
        </p:grpSpPr>
        <p:sp>
          <p:nvSpPr>
            <p:cNvPr id="30736" name="Rectangle 5"/>
            <p:cNvSpPr>
              <a:spLocks noChangeArrowheads="1"/>
            </p:cNvSpPr>
            <p:nvPr/>
          </p:nvSpPr>
          <p:spPr bwMode="auto">
            <a:xfrm>
              <a:off x="249" y="799"/>
              <a:ext cx="998" cy="907"/>
            </a:xfrm>
            <a:prstGeom prst="rect">
              <a:avLst/>
            </a:prstGeom>
            <a:solidFill>
              <a:srgbClr val="FF0000"/>
            </a:solidFill>
            <a:ln w="9525">
              <a:noFill/>
              <a:miter lim="800000"/>
              <a:headEnd/>
              <a:tailEnd/>
            </a:ln>
          </p:spPr>
          <p:txBody>
            <a:bodyPr wrap="none" anchor="ctr"/>
            <a:lstStyle/>
            <a:p>
              <a:endParaRPr lang="en-US">
                <a:latin typeface="Calibri" pitchFamily="34" charset="0"/>
              </a:endParaRPr>
            </a:p>
          </p:txBody>
        </p:sp>
        <p:pic>
          <p:nvPicPr>
            <p:cNvPr id="30737" name="Picture 6"/>
            <p:cNvPicPr>
              <a:picLocks noChangeAspect="1" noChangeArrowheads="1"/>
            </p:cNvPicPr>
            <p:nvPr/>
          </p:nvPicPr>
          <p:blipFill>
            <a:blip r:embed="rId4" cstate="print"/>
            <a:srcRect/>
            <a:stretch>
              <a:fillRect/>
            </a:stretch>
          </p:blipFill>
          <p:spPr bwMode="auto">
            <a:xfrm>
              <a:off x="295" y="845"/>
              <a:ext cx="907" cy="806"/>
            </a:xfrm>
            <a:prstGeom prst="rect">
              <a:avLst/>
            </a:prstGeom>
            <a:noFill/>
            <a:ln w="9525">
              <a:noFill/>
              <a:miter lim="800000"/>
              <a:headEnd/>
              <a:tailEnd/>
            </a:ln>
          </p:spPr>
        </p:pic>
      </p:grpSp>
      <p:grpSp>
        <p:nvGrpSpPr>
          <p:cNvPr id="3" name="Group 7"/>
          <p:cNvGrpSpPr>
            <a:grpSpLocks/>
          </p:cNvGrpSpPr>
          <p:nvPr/>
        </p:nvGrpSpPr>
        <p:grpSpPr bwMode="auto">
          <a:xfrm>
            <a:off x="1919289" y="2781301"/>
            <a:ext cx="1584325" cy="1439863"/>
            <a:chOff x="249" y="1843"/>
            <a:chExt cx="998" cy="907"/>
          </a:xfrm>
        </p:grpSpPr>
        <p:sp>
          <p:nvSpPr>
            <p:cNvPr id="30734" name="Rectangle 8"/>
            <p:cNvSpPr>
              <a:spLocks noChangeArrowheads="1"/>
            </p:cNvSpPr>
            <p:nvPr/>
          </p:nvSpPr>
          <p:spPr bwMode="auto">
            <a:xfrm>
              <a:off x="249" y="1843"/>
              <a:ext cx="998" cy="907"/>
            </a:xfrm>
            <a:prstGeom prst="rect">
              <a:avLst/>
            </a:prstGeom>
            <a:solidFill>
              <a:srgbClr val="00FF00"/>
            </a:solidFill>
            <a:ln w="9525">
              <a:noFill/>
              <a:miter lim="800000"/>
              <a:headEnd/>
              <a:tailEnd/>
            </a:ln>
          </p:spPr>
          <p:txBody>
            <a:bodyPr wrap="none" anchor="ctr"/>
            <a:lstStyle/>
            <a:p>
              <a:endParaRPr lang="en-US">
                <a:latin typeface="Calibri" pitchFamily="34" charset="0"/>
              </a:endParaRPr>
            </a:p>
          </p:txBody>
        </p:sp>
        <p:pic>
          <p:nvPicPr>
            <p:cNvPr id="30735" name="Picture 9"/>
            <p:cNvPicPr>
              <a:picLocks noChangeAspect="1" noChangeArrowheads="1"/>
            </p:cNvPicPr>
            <p:nvPr/>
          </p:nvPicPr>
          <p:blipFill>
            <a:blip r:embed="rId5" cstate="print"/>
            <a:srcRect/>
            <a:stretch>
              <a:fillRect/>
            </a:stretch>
          </p:blipFill>
          <p:spPr bwMode="auto">
            <a:xfrm>
              <a:off x="295" y="1898"/>
              <a:ext cx="907" cy="806"/>
            </a:xfrm>
            <a:prstGeom prst="rect">
              <a:avLst/>
            </a:prstGeom>
            <a:noFill/>
            <a:ln w="9525">
              <a:noFill/>
              <a:miter lim="800000"/>
              <a:headEnd/>
              <a:tailEnd/>
            </a:ln>
          </p:spPr>
        </p:pic>
      </p:grpSp>
      <p:grpSp>
        <p:nvGrpSpPr>
          <p:cNvPr id="4" name="Group 10"/>
          <p:cNvGrpSpPr>
            <a:grpSpLocks/>
          </p:cNvGrpSpPr>
          <p:nvPr/>
        </p:nvGrpSpPr>
        <p:grpSpPr bwMode="auto">
          <a:xfrm>
            <a:off x="3575051" y="2492376"/>
            <a:ext cx="1800225" cy="2601913"/>
            <a:chOff x="1292" y="1616"/>
            <a:chExt cx="1134" cy="1639"/>
          </a:xfrm>
        </p:grpSpPr>
        <p:sp>
          <p:nvSpPr>
            <p:cNvPr id="30732" name="Rectangle 11"/>
            <p:cNvSpPr>
              <a:spLocks noChangeArrowheads="1"/>
            </p:cNvSpPr>
            <p:nvPr/>
          </p:nvSpPr>
          <p:spPr bwMode="auto">
            <a:xfrm>
              <a:off x="1338" y="2659"/>
              <a:ext cx="1059" cy="596"/>
            </a:xfrm>
            <a:prstGeom prst="rect">
              <a:avLst/>
            </a:prstGeom>
            <a:noFill/>
            <a:ln w="9525">
              <a:noFill/>
              <a:miter lim="800000"/>
              <a:headEnd/>
              <a:tailEnd/>
            </a:ln>
          </p:spPr>
          <p:txBody>
            <a:bodyPr wrap="none" anchor="ctr">
              <a:spAutoFit/>
            </a:bodyPr>
            <a:lstStyle/>
            <a:p>
              <a:pPr algn="ctr"/>
              <a:r>
                <a:rPr kumimoji="1" lang="en-US" altLang="zh-TW" sz="2800">
                  <a:latin typeface="Trebuchet MS" pitchFamily="34" charset="0"/>
                </a:rPr>
                <a:t>Lantern </a:t>
              </a:r>
            </a:p>
            <a:p>
              <a:pPr algn="ctr"/>
              <a:r>
                <a:rPr kumimoji="1" lang="en-US" altLang="zh-TW" sz="2800">
                  <a:latin typeface="Trebuchet MS" pitchFamily="34" charset="0"/>
                </a:rPr>
                <a:t>projector</a:t>
              </a:r>
            </a:p>
          </p:txBody>
        </p:sp>
        <p:pic>
          <p:nvPicPr>
            <p:cNvPr id="30733" name="Picture 12"/>
            <p:cNvPicPr>
              <a:picLocks noChangeAspect="1" noChangeArrowheads="1"/>
            </p:cNvPicPr>
            <p:nvPr/>
          </p:nvPicPr>
          <p:blipFill>
            <a:blip r:embed="rId6" cstate="print"/>
            <a:srcRect/>
            <a:stretch>
              <a:fillRect/>
            </a:stretch>
          </p:blipFill>
          <p:spPr bwMode="auto">
            <a:xfrm>
              <a:off x="1292" y="1616"/>
              <a:ext cx="1134" cy="1078"/>
            </a:xfrm>
            <a:prstGeom prst="rect">
              <a:avLst/>
            </a:prstGeom>
            <a:noFill/>
            <a:ln w="9525">
              <a:noFill/>
              <a:miter lim="800000"/>
              <a:headEnd/>
              <a:tailEnd/>
            </a:ln>
          </p:spPr>
        </p:pic>
      </p:grpSp>
      <p:sp>
        <p:nvSpPr>
          <p:cNvPr id="30727" name="Rectangle 13"/>
          <p:cNvSpPr>
            <a:spLocks noChangeArrowheads="1"/>
          </p:cNvSpPr>
          <p:nvPr/>
        </p:nvSpPr>
        <p:spPr bwMode="auto">
          <a:xfrm>
            <a:off x="2903538" y="5949951"/>
            <a:ext cx="6361112" cy="519113"/>
          </a:xfrm>
          <a:prstGeom prst="rect">
            <a:avLst/>
          </a:prstGeom>
          <a:noFill/>
          <a:ln w="9525">
            <a:noFill/>
            <a:miter lim="800000"/>
            <a:headEnd/>
            <a:tailEnd/>
          </a:ln>
        </p:spPr>
        <p:txBody>
          <a:bodyPr wrap="none">
            <a:spAutoFit/>
          </a:bodyPr>
          <a:lstStyle/>
          <a:p>
            <a:r>
              <a:rPr kumimoji="1" lang="en-US" altLang="zh-TW" sz="2800">
                <a:latin typeface="Trebuchet MS" pitchFamily="34" charset="0"/>
                <a:hlinkClick r:id="rId7"/>
              </a:rPr>
              <a:t>http://www.loc.gov/exhibits/empire/</a:t>
            </a:r>
            <a:endParaRPr kumimoji="1" lang="en-US" altLang="zh-TW" sz="2800">
              <a:latin typeface="Trebuchet MS" pitchFamily="34" charset="0"/>
            </a:endParaRPr>
          </a:p>
        </p:txBody>
      </p:sp>
      <p:grpSp>
        <p:nvGrpSpPr>
          <p:cNvPr id="5" name="Group 14"/>
          <p:cNvGrpSpPr>
            <a:grpSpLocks/>
          </p:cNvGrpSpPr>
          <p:nvPr/>
        </p:nvGrpSpPr>
        <p:grpSpPr bwMode="auto">
          <a:xfrm>
            <a:off x="1919289" y="4292601"/>
            <a:ext cx="1584325" cy="1439863"/>
            <a:chOff x="249" y="2840"/>
            <a:chExt cx="998" cy="907"/>
          </a:xfrm>
        </p:grpSpPr>
        <p:sp>
          <p:nvSpPr>
            <p:cNvPr id="30730" name="Rectangle 15"/>
            <p:cNvSpPr>
              <a:spLocks noChangeArrowheads="1"/>
            </p:cNvSpPr>
            <p:nvPr/>
          </p:nvSpPr>
          <p:spPr bwMode="auto">
            <a:xfrm>
              <a:off x="249" y="2840"/>
              <a:ext cx="998" cy="907"/>
            </a:xfrm>
            <a:prstGeom prst="rect">
              <a:avLst/>
            </a:prstGeom>
            <a:solidFill>
              <a:srgbClr val="0000FF"/>
            </a:solidFill>
            <a:ln w="9525">
              <a:noFill/>
              <a:miter lim="800000"/>
              <a:headEnd/>
              <a:tailEnd/>
            </a:ln>
          </p:spPr>
          <p:txBody>
            <a:bodyPr wrap="none" anchor="ctr"/>
            <a:lstStyle/>
            <a:p>
              <a:endParaRPr lang="en-US">
                <a:latin typeface="Calibri" pitchFamily="34" charset="0"/>
              </a:endParaRPr>
            </a:p>
          </p:txBody>
        </p:sp>
        <p:pic>
          <p:nvPicPr>
            <p:cNvPr id="30731" name="Picture 16"/>
            <p:cNvPicPr>
              <a:picLocks noChangeAspect="1" noChangeArrowheads="1"/>
            </p:cNvPicPr>
            <p:nvPr/>
          </p:nvPicPr>
          <p:blipFill>
            <a:blip r:embed="rId8" cstate="print"/>
            <a:srcRect/>
            <a:stretch>
              <a:fillRect/>
            </a:stretch>
          </p:blipFill>
          <p:spPr bwMode="auto">
            <a:xfrm>
              <a:off x="295" y="2886"/>
              <a:ext cx="907" cy="806"/>
            </a:xfrm>
            <a:prstGeom prst="rect">
              <a:avLst/>
            </a:prstGeom>
            <a:noFill/>
            <a:ln w="9525">
              <a:noFill/>
              <a:miter lim="800000"/>
              <a:headEnd/>
              <a:tailEnd/>
            </a:ln>
          </p:spPr>
        </p:pic>
      </p:grpSp>
    </p:spTree>
    <p:extLst>
      <p:ext uri="{BB962C8B-B14F-4D97-AF65-F5344CB8AC3E}">
        <p14:creationId xmlns:p14="http://schemas.microsoft.com/office/powerpoint/2010/main" val="333619728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9203"/>
                                        </p:tgtEl>
                                        <p:attrNameLst>
                                          <p:attrName>style.visibility</p:attrName>
                                        </p:attrNameLst>
                                      </p:cBhvr>
                                      <p:to>
                                        <p:strVal val="visible"/>
                                      </p:to>
                                    </p:set>
                                    <p:animEffect transition="in" filter="fade">
                                      <p:cBhvr>
                                        <p:cTn id="12" dur="500"/>
                                        <p:tgtEl>
                                          <p:spTgt spid="179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zh-TW"/>
              <a:t>Prokudin-Gorskii (early 1990’s)</a:t>
            </a:r>
          </a:p>
        </p:txBody>
      </p:sp>
      <p:pic>
        <p:nvPicPr>
          <p:cNvPr id="31747" name="Picture 3" descr="p87-5006"/>
          <p:cNvPicPr>
            <a:picLocks noChangeAspect="1" noChangeArrowheads="1"/>
          </p:cNvPicPr>
          <p:nvPr/>
        </p:nvPicPr>
        <p:blipFill>
          <a:blip r:embed="rId3" cstate="print"/>
          <a:srcRect/>
          <a:stretch>
            <a:fillRect/>
          </a:stretch>
        </p:blipFill>
        <p:spPr bwMode="auto">
          <a:xfrm>
            <a:off x="4224338" y="1125538"/>
            <a:ext cx="5688012" cy="5033962"/>
          </a:xfrm>
          <a:prstGeom prst="rect">
            <a:avLst/>
          </a:prstGeom>
          <a:noFill/>
          <a:ln w="9525">
            <a:noFill/>
            <a:miter lim="800000"/>
            <a:headEnd/>
            <a:tailEnd/>
          </a:ln>
        </p:spPr>
      </p:pic>
      <p:pic>
        <p:nvPicPr>
          <p:cNvPr id="31748" name="Picture 4" descr="Three Negatives - Pinkhus Karlinskii. . . Supervisor of Chernigov Floodgate"/>
          <p:cNvPicPr>
            <a:picLocks noChangeAspect="1" noChangeArrowheads="1"/>
          </p:cNvPicPr>
          <p:nvPr/>
        </p:nvPicPr>
        <p:blipFill>
          <a:blip r:embed="rId4" cstate="print"/>
          <a:srcRect/>
          <a:stretch>
            <a:fillRect/>
          </a:stretch>
        </p:blipFill>
        <p:spPr bwMode="auto">
          <a:xfrm>
            <a:off x="2271713" y="1125538"/>
            <a:ext cx="1808162" cy="5040312"/>
          </a:xfrm>
          <a:prstGeom prst="rect">
            <a:avLst/>
          </a:prstGeom>
          <a:noFill/>
          <a:ln w="9525">
            <a:noFill/>
            <a:miter lim="800000"/>
            <a:headEnd/>
            <a:tailEnd/>
          </a:ln>
        </p:spPr>
      </p:pic>
    </p:spTree>
    <p:extLst>
      <p:ext uri="{BB962C8B-B14F-4D97-AF65-F5344CB8AC3E}">
        <p14:creationId xmlns:p14="http://schemas.microsoft.com/office/powerpoint/2010/main" val="261301940"/>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r>
              <a:rPr lang="en-US"/>
              <a:t>Color sensing in camera: Prism</a:t>
            </a:r>
          </a:p>
        </p:txBody>
      </p:sp>
      <p:sp>
        <p:nvSpPr>
          <p:cNvPr id="1028" name="Rectangle 3"/>
          <p:cNvSpPr>
            <a:spLocks noGrp="1" noChangeArrowheads="1"/>
          </p:cNvSpPr>
          <p:nvPr>
            <p:ph type="body" idx="1"/>
          </p:nvPr>
        </p:nvSpPr>
        <p:spPr>
          <a:xfrm>
            <a:off x="1981200" y="1524001"/>
            <a:ext cx="8229600" cy="4602163"/>
          </a:xfrm>
        </p:spPr>
        <p:txBody>
          <a:bodyPr/>
          <a:lstStyle/>
          <a:p>
            <a:pPr>
              <a:buFontTx/>
              <a:buChar char="•"/>
            </a:pPr>
            <a:r>
              <a:rPr lang="en-US"/>
              <a:t>Requires three chips and precise alignment</a:t>
            </a:r>
          </a:p>
          <a:p>
            <a:pPr>
              <a:buFontTx/>
              <a:buChar char="•"/>
            </a:pPr>
            <a:r>
              <a:rPr lang="en-US"/>
              <a:t>More expensive</a:t>
            </a:r>
          </a:p>
        </p:txBody>
      </p:sp>
      <p:pic>
        <p:nvPicPr>
          <p:cNvPr id="1029" name="Picture 10"/>
          <p:cNvPicPr>
            <a:picLocks noChangeAspect="1" noChangeArrowheads="1"/>
          </p:cNvPicPr>
          <p:nvPr/>
        </p:nvPicPr>
        <p:blipFill>
          <a:blip r:embed="rId3" cstate="print"/>
          <a:srcRect/>
          <a:stretch>
            <a:fillRect/>
          </a:stretch>
        </p:blipFill>
        <p:spPr bwMode="auto">
          <a:xfrm>
            <a:off x="7239000" y="3581400"/>
            <a:ext cx="2743200" cy="2249488"/>
          </a:xfrm>
          <a:prstGeom prst="rect">
            <a:avLst/>
          </a:prstGeom>
          <a:noFill/>
          <a:ln w="9525">
            <a:noFill/>
            <a:miter lim="800000"/>
            <a:headEnd/>
            <a:tailEnd/>
          </a:ln>
        </p:spPr>
      </p:pic>
      <p:grpSp>
        <p:nvGrpSpPr>
          <p:cNvPr id="2" name="Group 8"/>
          <p:cNvGrpSpPr>
            <a:grpSpLocks/>
          </p:cNvGrpSpPr>
          <p:nvPr/>
        </p:nvGrpSpPr>
        <p:grpSpPr bwMode="auto">
          <a:xfrm>
            <a:off x="2514601" y="3048000"/>
            <a:ext cx="3975941" cy="3569732"/>
            <a:chOff x="1054100" y="3048000"/>
            <a:chExt cx="3976350" cy="3569732"/>
          </a:xfrm>
        </p:grpSpPr>
        <p:graphicFrame>
          <p:nvGraphicFramePr>
            <p:cNvPr id="1026" name="Object 2"/>
            <p:cNvGraphicFramePr>
              <a:graphicFrameLocks noChangeAspect="1"/>
            </p:cNvGraphicFramePr>
            <p:nvPr/>
          </p:nvGraphicFramePr>
          <p:xfrm>
            <a:off x="1054100" y="3352800"/>
            <a:ext cx="3213100" cy="3009900"/>
          </p:xfrm>
          <a:graphic>
            <a:graphicData uri="http://schemas.openxmlformats.org/presentationml/2006/ole">
              <mc:AlternateContent xmlns:mc="http://schemas.openxmlformats.org/markup-compatibility/2006">
                <mc:Choice xmlns:v="urn:schemas-microsoft-com:vml" Requires="v">
                  <p:oleObj name="Image" r:id="rId4" imgW="3212698" imgH="3009524" progId="">
                    <p:embed/>
                  </p:oleObj>
                </mc:Choice>
                <mc:Fallback>
                  <p:oleObj name="Image" r:id="rId4" imgW="3212698" imgH="3009524" progId="">
                    <p:embed/>
                    <p:pic>
                      <p:nvPicPr>
                        <p:cNvPr id="1026"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4100" y="3352800"/>
                          <a:ext cx="3213100" cy="300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1" name="Text Box 13"/>
            <p:cNvSpPr txBox="1">
              <a:spLocks noChangeArrowheads="1"/>
            </p:cNvSpPr>
            <p:nvPr/>
          </p:nvSpPr>
          <p:spPr bwMode="auto">
            <a:xfrm>
              <a:off x="2270125" y="6248400"/>
              <a:ext cx="840382" cy="369332"/>
            </a:xfrm>
            <a:prstGeom prst="rect">
              <a:avLst/>
            </a:prstGeom>
            <a:noFill/>
            <a:ln w="9525">
              <a:noFill/>
              <a:miter lim="800000"/>
              <a:headEnd/>
              <a:tailEnd/>
            </a:ln>
          </p:spPr>
          <p:txBody>
            <a:bodyPr wrap="none">
              <a:spAutoFit/>
            </a:bodyPr>
            <a:lstStyle/>
            <a:p>
              <a:r>
                <a:rPr lang="en-US">
                  <a:latin typeface="Calibri" pitchFamily="34" charset="0"/>
                </a:rPr>
                <a:t>CCD(B)</a:t>
              </a:r>
            </a:p>
          </p:txBody>
        </p:sp>
        <p:sp>
          <p:nvSpPr>
            <p:cNvPr id="1032" name="Text Box 14"/>
            <p:cNvSpPr txBox="1">
              <a:spLocks noChangeArrowheads="1"/>
            </p:cNvSpPr>
            <p:nvPr/>
          </p:nvSpPr>
          <p:spPr bwMode="auto">
            <a:xfrm>
              <a:off x="4169228" y="4550230"/>
              <a:ext cx="861222" cy="369332"/>
            </a:xfrm>
            <a:prstGeom prst="rect">
              <a:avLst/>
            </a:prstGeom>
            <a:noFill/>
            <a:ln w="9525">
              <a:noFill/>
              <a:miter lim="800000"/>
              <a:headEnd/>
              <a:tailEnd/>
            </a:ln>
          </p:spPr>
          <p:txBody>
            <a:bodyPr wrap="none">
              <a:spAutoFit/>
            </a:bodyPr>
            <a:lstStyle/>
            <a:p>
              <a:r>
                <a:rPr lang="en-US">
                  <a:latin typeface="Calibri" pitchFamily="34" charset="0"/>
                </a:rPr>
                <a:t>CCD(G)</a:t>
              </a:r>
            </a:p>
          </p:txBody>
        </p:sp>
        <p:sp>
          <p:nvSpPr>
            <p:cNvPr id="1033" name="Text Box 15"/>
            <p:cNvSpPr txBox="1">
              <a:spLocks noChangeArrowheads="1"/>
            </p:cNvSpPr>
            <p:nvPr/>
          </p:nvSpPr>
          <p:spPr bwMode="auto">
            <a:xfrm>
              <a:off x="1981200" y="3048000"/>
              <a:ext cx="840381" cy="369332"/>
            </a:xfrm>
            <a:prstGeom prst="rect">
              <a:avLst/>
            </a:prstGeom>
            <a:noFill/>
            <a:ln w="9525">
              <a:noFill/>
              <a:miter lim="800000"/>
              <a:headEnd/>
              <a:tailEnd/>
            </a:ln>
          </p:spPr>
          <p:txBody>
            <a:bodyPr wrap="none">
              <a:spAutoFit/>
            </a:bodyPr>
            <a:lstStyle/>
            <a:p>
              <a:r>
                <a:rPr lang="en-US">
                  <a:latin typeface="Calibri" pitchFamily="34" charset="0"/>
                </a:rPr>
                <a:t>CCD(R)</a:t>
              </a:r>
            </a:p>
          </p:txBody>
        </p:sp>
      </p:grpSp>
    </p:spTree>
    <p:extLst>
      <p:ext uri="{BB962C8B-B14F-4D97-AF65-F5344CB8AC3E}">
        <p14:creationId xmlns:p14="http://schemas.microsoft.com/office/powerpoint/2010/main" val="3829425447"/>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a:t>Sport photography</a:t>
            </a:r>
          </a:p>
        </p:txBody>
      </p:sp>
      <p:sp>
        <p:nvSpPr>
          <p:cNvPr id="30723" name="Content Placeholder 2"/>
          <p:cNvSpPr>
            <a:spLocks noGrp="1"/>
          </p:cNvSpPr>
          <p:nvPr>
            <p:ph idx="1"/>
          </p:nvPr>
        </p:nvSpPr>
        <p:spPr/>
        <p:txBody>
          <a:bodyPr/>
          <a:lstStyle/>
          <a:p>
            <a:r>
              <a:rPr lang="en-US"/>
              <a:t>Why do they have such big lenses?</a:t>
            </a:r>
          </a:p>
        </p:txBody>
      </p:sp>
      <p:pic>
        <p:nvPicPr>
          <p:cNvPr id="30724" name="Picture 2" descr="http://www.pwn3d.us/wp-content/uploads/2008/07/img_9364.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08923" y="1988841"/>
            <a:ext cx="5419725" cy="406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5" name="TextBox 3"/>
          <p:cNvSpPr txBox="1">
            <a:spLocks noChangeArrowheads="1"/>
          </p:cNvSpPr>
          <p:nvPr/>
        </p:nvSpPr>
        <p:spPr bwMode="auto">
          <a:xfrm>
            <a:off x="6432722" y="6027441"/>
            <a:ext cx="14478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1200" b="1">
                <a:hlinkClick r:id="rId3" action="ppaction://hlinkfile" tooltip="Return Home"/>
              </a:rPr>
              <a:t>Dirkus Maximus</a:t>
            </a:r>
            <a:endParaRPr lang="en-US" sz="1200"/>
          </a:p>
        </p:txBody>
      </p:sp>
    </p:spTree>
    <p:extLst>
      <p:ext uri="{BB962C8B-B14F-4D97-AF65-F5344CB8AC3E}">
        <p14:creationId xmlns:p14="http://schemas.microsoft.com/office/powerpoint/2010/main" val="210442439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noAutofit/>
          </a:bodyPr>
          <a:lstStyle/>
          <a:p>
            <a:r>
              <a:rPr lang="en-US" sz="6600" dirty="0"/>
              <a:t>Causes of Noise</a:t>
            </a:r>
          </a:p>
        </p:txBody>
      </p:sp>
      <p:sp>
        <p:nvSpPr>
          <p:cNvPr id="29699" name="Content Placeholder 2"/>
          <p:cNvSpPr>
            <a:spLocks noGrp="1"/>
          </p:cNvSpPr>
          <p:nvPr>
            <p:ph idx="1"/>
          </p:nvPr>
        </p:nvSpPr>
        <p:spPr/>
        <p:txBody>
          <a:bodyPr>
            <a:normAutofit/>
          </a:bodyPr>
          <a:lstStyle/>
          <a:p>
            <a:pPr>
              <a:spcBef>
                <a:spcPts val="600"/>
              </a:spcBef>
              <a:spcAft>
                <a:spcPts val="600"/>
              </a:spcAft>
            </a:pPr>
            <a:r>
              <a:rPr lang="en-US" sz="3600" dirty="0"/>
              <a:t>Shot noise – variation in the number of photons (low light situations.)</a:t>
            </a:r>
          </a:p>
          <a:p>
            <a:pPr>
              <a:spcBef>
                <a:spcPts val="600"/>
              </a:spcBef>
              <a:spcAft>
                <a:spcPts val="600"/>
              </a:spcAft>
            </a:pPr>
            <a:r>
              <a:rPr lang="en-US" sz="3600" dirty="0"/>
              <a:t>Readout noise – Noise added upon readout of pixel.  In some cases can be subtracted out.</a:t>
            </a:r>
          </a:p>
          <a:p>
            <a:pPr>
              <a:spcBef>
                <a:spcPts val="600"/>
              </a:spcBef>
              <a:spcAft>
                <a:spcPts val="600"/>
              </a:spcAft>
            </a:pPr>
            <a:r>
              <a:rPr lang="en-US" sz="3600" dirty="0"/>
              <a:t>Dark noise – Noise caused by electrons thermally generated.  Depends on the temperature of device.</a:t>
            </a:r>
          </a:p>
        </p:txBody>
      </p:sp>
    </p:spTree>
    <p:extLst>
      <p:ext uri="{BB962C8B-B14F-4D97-AF65-F5344CB8AC3E}">
        <p14:creationId xmlns:p14="http://schemas.microsoft.com/office/powerpoint/2010/main" val="341722726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custDataLst>
              <p:tags r:id="rId1"/>
            </p:custDataLst>
          </p:nvPr>
        </p:nvSpPr>
        <p:spPr/>
        <p:txBody>
          <a:bodyPr/>
          <a:lstStyle/>
          <a:p>
            <a:r>
              <a:rPr lang="en-US" dirty="0"/>
              <a:t>The Eye</a:t>
            </a:r>
          </a:p>
        </p:txBody>
      </p:sp>
      <p:sp>
        <p:nvSpPr>
          <p:cNvPr id="15363" name="Rectangle 3"/>
          <p:cNvSpPr>
            <a:spLocks noGrp="1" noChangeArrowheads="1"/>
          </p:cNvSpPr>
          <p:nvPr>
            <p:ph type="body" idx="1"/>
            <p:custDataLst>
              <p:tags r:id="rId2"/>
            </p:custDataLst>
          </p:nvPr>
        </p:nvSpPr>
        <p:spPr>
          <a:xfrm>
            <a:off x="263352" y="1556792"/>
            <a:ext cx="6970612" cy="4896544"/>
          </a:xfrm>
        </p:spPr>
        <p:txBody>
          <a:bodyPr rtlCol="0">
            <a:noAutofit/>
          </a:bodyPr>
          <a:lstStyle/>
          <a:p>
            <a:pPr>
              <a:defRPr/>
            </a:pPr>
            <a:r>
              <a:rPr lang="en-US" sz="3600" dirty="0"/>
              <a:t>The human eye is a camera</a:t>
            </a:r>
          </a:p>
          <a:p>
            <a:pPr>
              <a:defRPr/>
            </a:pPr>
            <a:r>
              <a:rPr lang="en-US" sz="2800" b="1" dirty="0"/>
              <a:t>Iris</a:t>
            </a:r>
            <a:r>
              <a:rPr lang="en-US" sz="2800" dirty="0"/>
              <a:t> - colored annulus with radial muscles, responsible for controlling the diameter and size of the pupil and thus the amount of light reaching the retina.</a:t>
            </a:r>
          </a:p>
          <a:p>
            <a:pPr>
              <a:defRPr/>
            </a:pPr>
            <a:r>
              <a:rPr lang="en-US" sz="2800" b="1" dirty="0"/>
              <a:t>Pupil</a:t>
            </a:r>
            <a:r>
              <a:rPr lang="en-US" sz="2800" dirty="0"/>
              <a:t> - the hole (aperture) whose size is controlled by the iris</a:t>
            </a:r>
          </a:p>
          <a:p>
            <a:pPr>
              <a:defRPr/>
            </a:pPr>
            <a:r>
              <a:rPr lang="en-US" sz="2800" dirty="0"/>
              <a:t>What’s the “film”?</a:t>
            </a:r>
          </a:p>
          <a:p>
            <a:pPr>
              <a:defRPr/>
            </a:pPr>
            <a:r>
              <a:rPr lang="en-US" sz="2800" b="1" dirty="0"/>
              <a:t>Photoreceptor cells - </a:t>
            </a:r>
            <a:r>
              <a:rPr lang="en-US" sz="2800" dirty="0"/>
              <a:t>(rods and cones) in the </a:t>
            </a:r>
            <a:r>
              <a:rPr lang="en-US" sz="2800" b="1" dirty="0"/>
              <a:t>retina</a:t>
            </a:r>
          </a:p>
          <a:p>
            <a:pPr lvl="1">
              <a:buNone/>
              <a:defRPr/>
            </a:pPr>
            <a:endParaRPr lang="en-US" dirty="0"/>
          </a:p>
        </p:txBody>
      </p:sp>
      <p:pic>
        <p:nvPicPr>
          <p:cNvPr id="165890" name="Picture 2" descr="File:Schematic diagram of the human eye en.svg">
            <a:hlinkClick r:id="rId5"/>
          </p:cNvPr>
          <p:cNvPicPr>
            <a:picLocks noChangeAspect="1" noChangeArrowheads="1"/>
          </p:cNvPicPr>
          <p:nvPr/>
        </p:nvPicPr>
        <p:blipFill>
          <a:blip r:embed="rId6" cstate="print"/>
          <a:srcRect/>
          <a:stretch>
            <a:fillRect/>
          </a:stretch>
        </p:blipFill>
        <p:spPr bwMode="auto">
          <a:xfrm>
            <a:off x="7233964" y="1538435"/>
            <a:ext cx="4838700" cy="4914901"/>
          </a:xfrm>
          <a:prstGeom prst="rect">
            <a:avLst/>
          </a:prstGeom>
          <a:noFill/>
        </p:spPr>
      </p:pic>
    </p:spTree>
    <p:extLst>
      <p:ext uri="{BB962C8B-B14F-4D97-AF65-F5344CB8AC3E}">
        <p14:creationId xmlns:p14="http://schemas.microsoft.com/office/powerpoint/2010/main" val="1089973111"/>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p:cNvSpPr txBox="1">
            <a:spLocks noChangeArrowheads="1"/>
          </p:cNvSpPr>
          <p:nvPr/>
        </p:nvSpPr>
        <p:spPr bwMode="auto">
          <a:xfrm>
            <a:off x="2783632" y="4695527"/>
            <a:ext cx="4099969" cy="461665"/>
          </a:xfrm>
          <a:prstGeom prst="rect">
            <a:avLst/>
          </a:prstGeom>
          <a:noFill/>
          <a:ln w="9525">
            <a:noFill/>
            <a:miter lim="800000"/>
            <a:headEnd/>
            <a:tailEnd/>
          </a:ln>
        </p:spPr>
        <p:txBody>
          <a:bodyPr wrap="none">
            <a:spAutoFit/>
          </a:bodyPr>
          <a:lstStyle/>
          <a:p>
            <a:r>
              <a:rPr lang="en-US" sz="2400" dirty="0">
                <a:latin typeface="Palatino Linotype" pitchFamily="18" charset="0"/>
              </a:rPr>
              <a:t>Silicon Image Detector,  1970</a:t>
            </a:r>
          </a:p>
        </p:txBody>
      </p:sp>
      <p:pic>
        <p:nvPicPr>
          <p:cNvPr id="23556" name="Picture 4" descr="ccd_four"/>
          <p:cNvPicPr>
            <a:picLocks noChangeAspect="1" noChangeArrowheads="1"/>
          </p:cNvPicPr>
          <p:nvPr/>
        </p:nvPicPr>
        <p:blipFill>
          <a:blip r:embed="rId2" cstate="print"/>
          <a:srcRect/>
          <a:stretch>
            <a:fillRect/>
          </a:stretch>
        </p:blipFill>
        <p:spPr bwMode="auto">
          <a:xfrm>
            <a:off x="3309864" y="1772816"/>
            <a:ext cx="3000449" cy="1994893"/>
          </a:xfrm>
          <a:prstGeom prst="rect">
            <a:avLst/>
          </a:prstGeom>
          <a:noFill/>
          <a:ln w="9525">
            <a:noFill/>
            <a:miter lim="800000"/>
            <a:headEnd/>
            <a:tailEnd/>
          </a:ln>
        </p:spPr>
      </p:pic>
      <p:sp>
        <p:nvSpPr>
          <p:cNvPr id="23557" name="Rectangle 15"/>
          <p:cNvSpPr>
            <a:spLocks noGrp="1" noChangeArrowheads="1"/>
          </p:cNvSpPr>
          <p:nvPr>
            <p:ph type="title"/>
          </p:nvPr>
        </p:nvSpPr>
        <p:spPr/>
        <p:txBody>
          <a:bodyPr/>
          <a:lstStyle/>
          <a:p>
            <a:r>
              <a:rPr lang="en-US"/>
              <a:t>Silicon Image Detector</a:t>
            </a:r>
          </a:p>
        </p:txBody>
      </p:sp>
    </p:spTree>
    <p:extLst>
      <p:ext uri="{BB962C8B-B14F-4D97-AF65-F5344CB8AC3E}">
        <p14:creationId xmlns:p14="http://schemas.microsoft.com/office/powerpoint/2010/main" val="3518604030"/>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custDataLst>
              <p:tags r:id="rId1"/>
            </p:custDataLst>
          </p:nvPr>
        </p:nvSpPr>
        <p:spPr/>
        <p:txBody>
          <a:bodyPr/>
          <a:lstStyle/>
          <a:p>
            <a:r>
              <a:rPr lang="en-US"/>
              <a:t>Digital camera</a:t>
            </a:r>
          </a:p>
        </p:txBody>
      </p:sp>
      <p:sp>
        <p:nvSpPr>
          <p:cNvPr id="16387" name="Rectangle 3"/>
          <p:cNvSpPr>
            <a:spLocks noGrp="1" noChangeArrowheads="1"/>
          </p:cNvSpPr>
          <p:nvPr>
            <p:ph type="body" idx="1"/>
            <p:custDataLst>
              <p:tags r:id="rId2"/>
            </p:custDataLst>
          </p:nvPr>
        </p:nvSpPr>
        <p:spPr>
          <a:xfrm>
            <a:off x="2286001" y="6248400"/>
            <a:ext cx="7580313" cy="381000"/>
          </a:xfrm>
        </p:spPr>
        <p:txBody>
          <a:bodyPr>
            <a:normAutofit fontScale="92500" lnSpcReduction="20000"/>
          </a:bodyPr>
          <a:lstStyle/>
          <a:p>
            <a:pPr marL="914400" lvl="2" indent="0">
              <a:buNone/>
              <a:defRPr/>
            </a:pPr>
            <a:r>
              <a:rPr lang="en-US" dirty="0">
                <a:hlinkClick r:id="rId6"/>
              </a:rPr>
              <a:t>http://electronics.howstuffworks.com/digital-camera.htm</a:t>
            </a:r>
            <a:r>
              <a:rPr lang="en-US" dirty="0"/>
              <a:t> </a:t>
            </a:r>
          </a:p>
          <a:p>
            <a:pPr lvl="2">
              <a:defRPr/>
            </a:pPr>
            <a:endParaRPr lang="en-US" dirty="0"/>
          </a:p>
        </p:txBody>
      </p:sp>
      <p:pic>
        <p:nvPicPr>
          <p:cNvPr id="33796" name="Picture 7" descr="PowerShot SD200"/>
          <p:cNvPicPr>
            <a:picLocks noChangeAspect="1" noChangeArrowheads="1"/>
          </p:cNvPicPr>
          <p:nvPr>
            <p:custDataLst>
              <p:tags r:id="rId3"/>
            </p:custDataLst>
          </p:nvPr>
        </p:nvPicPr>
        <p:blipFill>
          <a:blip r:embed="rId7" cstate="print">
            <a:extLst>
              <a:ext uri="{28A0092B-C50C-407E-A947-70E740481C1C}">
                <a14:useLocalDpi xmlns:a14="http://schemas.microsoft.com/office/drawing/2010/main" val="0"/>
              </a:ext>
            </a:extLst>
          </a:blip>
          <a:srcRect/>
          <a:stretch>
            <a:fillRect/>
          </a:stretch>
        </p:blipFill>
        <p:spPr bwMode="auto">
          <a:xfrm>
            <a:off x="274290" y="1557536"/>
            <a:ext cx="3373438"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7" name="Picture 7" descr="http://www.itechnews.net/wp-content/uploads/2009/08/Nikon-CoolPix-S640-IS-Digital-Camera-black.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836596" y="1768797"/>
            <a:ext cx="1636713" cy="125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8" name="Picture 9" descr="http://www.blogcdn.com/www.engadget.com/media/2010/10/htc-trophy-hero-dsc5763-engadget.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168008" y="1497335"/>
            <a:ext cx="2362200"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9" name="TextBox 1"/>
          <p:cNvSpPr txBox="1">
            <a:spLocks noChangeArrowheads="1"/>
          </p:cNvSpPr>
          <p:nvPr/>
        </p:nvSpPr>
        <p:spPr bwMode="auto">
          <a:xfrm>
            <a:off x="912019" y="3482753"/>
            <a:ext cx="669614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3600" dirty="0">
                <a:cs typeface="Times New Roman" pitchFamily="18" charset="0"/>
              </a:rPr>
              <a:t>CCD                  vs.             CMOS</a:t>
            </a:r>
          </a:p>
        </p:txBody>
      </p:sp>
      <p:sp>
        <p:nvSpPr>
          <p:cNvPr id="33800" name="TextBox 2"/>
          <p:cNvSpPr txBox="1">
            <a:spLocks noChangeArrowheads="1"/>
          </p:cNvSpPr>
          <p:nvPr/>
        </p:nvSpPr>
        <p:spPr bwMode="auto">
          <a:xfrm>
            <a:off x="407367" y="4164360"/>
            <a:ext cx="5077446"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buFont typeface="Arial" charset="0"/>
              <a:buChar char="•"/>
            </a:pPr>
            <a:r>
              <a:rPr lang="en-US" sz="2800" dirty="0">
                <a:cs typeface="Times New Roman" pitchFamily="18" charset="0"/>
              </a:rPr>
              <a:t>Low-noise images</a:t>
            </a:r>
          </a:p>
          <a:p>
            <a:pPr>
              <a:buFont typeface="Arial" charset="0"/>
              <a:buChar char="•"/>
            </a:pPr>
            <a:r>
              <a:rPr lang="en-US" sz="2800" dirty="0">
                <a:cs typeface="Times New Roman" pitchFamily="18" charset="0"/>
              </a:rPr>
              <a:t>Consume more power</a:t>
            </a:r>
          </a:p>
          <a:p>
            <a:pPr>
              <a:buFont typeface="Arial" charset="0"/>
              <a:buChar char="•"/>
            </a:pPr>
            <a:r>
              <a:rPr lang="en-US" sz="2800" dirty="0">
                <a:cs typeface="Times New Roman" pitchFamily="18" charset="0"/>
              </a:rPr>
              <a:t>More and higher quality pixels</a:t>
            </a:r>
          </a:p>
        </p:txBody>
      </p:sp>
      <p:sp>
        <p:nvSpPr>
          <p:cNvPr id="33801" name="TextBox 9"/>
          <p:cNvSpPr txBox="1">
            <a:spLocks noChangeArrowheads="1"/>
          </p:cNvSpPr>
          <p:nvPr/>
        </p:nvSpPr>
        <p:spPr bwMode="auto">
          <a:xfrm>
            <a:off x="5951984" y="4192180"/>
            <a:ext cx="5976664"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buFont typeface="Arial" charset="0"/>
              <a:buChar char="•"/>
            </a:pPr>
            <a:r>
              <a:rPr lang="en-US" sz="2800" dirty="0">
                <a:cs typeface="Times New Roman" pitchFamily="18" charset="0"/>
              </a:rPr>
              <a:t>More noise (sensor area is smaller)</a:t>
            </a:r>
          </a:p>
          <a:p>
            <a:pPr>
              <a:buFont typeface="Arial" charset="0"/>
              <a:buChar char="•"/>
            </a:pPr>
            <a:r>
              <a:rPr lang="en-US" sz="2800" dirty="0">
                <a:cs typeface="Times New Roman" pitchFamily="18" charset="0"/>
              </a:rPr>
              <a:t>Consume much less power</a:t>
            </a:r>
          </a:p>
          <a:p>
            <a:pPr>
              <a:buFont typeface="Arial" charset="0"/>
              <a:buChar char="•"/>
            </a:pPr>
            <a:r>
              <a:rPr lang="en-US" sz="2800" dirty="0">
                <a:cs typeface="Times New Roman" pitchFamily="18" charset="0"/>
              </a:rPr>
              <a:t>Popular in camera phones</a:t>
            </a:r>
          </a:p>
          <a:p>
            <a:pPr>
              <a:buFont typeface="Arial" charset="0"/>
              <a:buChar char="•"/>
            </a:pPr>
            <a:r>
              <a:rPr lang="en-US" sz="2800" dirty="0">
                <a:cs typeface="Times New Roman" pitchFamily="18" charset="0"/>
              </a:rPr>
              <a:t>Getting better all the time</a:t>
            </a:r>
          </a:p>
        </p:txBody>
      </p:sp>
    </p:spTree>
    <p:extLst>
      <p:ext uri="{BB962C8B-B14F-4D97-AF65-F5344CB8AC3E}">
        <p14:creationId xmlns:p14="http://schemas.microsoft.com/office/powerpoint/2010/main" val="404989391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a:t>Mega-pixels</a:t>
            </a:r>
          </a:p>
        </p:txBody>
      </p:sp>
      <p:sp>
        <p:nvSpPr>
          <p:cNvPr id="34819" name="Content Placeholder 2"/>
          <p:cNvSpPr>
            <a:spLocks noGrp="1"/>
          </p:cNvSpPr>
          <p:nvPr>
            <p:ph idx="1"/>
          </p:nvPr>
        </p:nvSpPr>
        <p:spPr/>
        <p:txBody>
          <a:bodyPr/>
          <a:lstStyle/>
          <a:p>
            <a:r>
              <a:rPr lang="en-US"/>
              <a:t>Are more mega-pixels better?</a:t>
            </a:r>
          </a:p>
        </p:txBody>
      </p:sp>
      <p:pic>
        <p:nvPicPr>
          <p:cNvPr id="34820" name="Picture 2" descr="http://www.visionary-voyager.com.au/corel/photopaint/Photofun/correction/images/noise/noise_Fig2_ccdanatomy.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03796" y="1477214"/>
            <a:ext cx="5696860" cy="5048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1" name="TextBox 4"/>
          <p:cNvSpPr txBox="1">
            <a:spLocks noChangeArrowheads="1"/>
          </p:cNvSpPr>
          <p:nvPr/>
        </p:nvSpPr>
        <p:spPr bwMode="auto">
          <a:xfrm>
            <a:off x="191344" y="3284984"/>
            <a:ext cx="511256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sz="2800" dirty="0">
                <a:cs typeface="Times New Roman" pitchFamily="18" charset="0"/>
              </a:rPr>
              <a:t>More mega-pixels require higher quality lens.</a:t>
            </a:r>
          </a:p>
        </p:txBody>
      </p:sp>
    </p:spTree>
    <p:extLst>
      <p:ext uri="{BB962C8B-B14F-4D97-AF65-F5344CB8AC3E}">
        <p14:creationId xmlns:p14="http://schemas.microsoft.com/office/powerpoint/2010/main" val="131686495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1026"/>
          <p:cNvSpPr>
            <a:spLocks noGrp="1" noChangeArrowheads="1"/>
          </p:cNvSpPr>
          <p:nvPr>
            <p:ph type="title"/>
          </p:nvPr>
        </p:nvSpPr>
        <p:spPr/>
        <p:txBody>
          <a:bodyPr/>
          <a:lstStyle/>
          <a:p>
            <a:r>
              <a:rPr lang="en-US"/>
              <a:t>Why Calibrate?</a:t>
            </a:r>
          </a:p>
        </p:txBody>
      </p:sp>
      <p:sp>
        <p:nvSpPr>
          <p:cNvPr id="355331" name="Rectangle 1027"/>
          <p:cNvSpPr>
            <a:spLocks noGrp="1" noChangeArrowheads="1"/>
          </p:cNvSpPr>
          <p:nvPr>
            <p:ph type="body" idx="1"/>
          </p:nvPr>
        </p:nvSpPr>
        <p:spPr/>
        <p:txBody>
          <a:bodyPr/>
          <a:lstStyle/>
          <a:p>
            <a:r>
              <a:rPr lang="en-US" dirty="0"/>
              <a:t>Want to solve for 3D geometry</a:t>
            </a:r>
          </a:p>
          <a:p>
            <a:r>
              <a:rPr lang="en-US" dirty="0"/>
              <a:t>Alternative approach</a:t>
            </a:r>
          </a:p>
          <a:p>
            <a:pPr lvl="1">
              <a:buFont typeface="Courier New" pitchFamily="49" charset="0"/>
              <a:buChar char="o"/>
            </a:pPr>
            <a:r>
              <a:rPr lang="en-US" dirty="0"/>
              <a:t>Solve for 3D shape without known cameras</a:t>
            </a:r>
          </a:p>
          <a:p>
            <a:pPr lvl="2">
              <a:buFont typeface="Courier New" pitchFamily="49" charset="0"/>
              <a:buChar char="o"/>
            </a:pPr>
            <a:r>
              <a:rPr lang="en-US" dirty="0"/>
              <a:t>Structure from motion (unknown </a:t>
            </a:r>
            <a:r>
              <a:rPr lang="en-US" dirty="0" err="1"/>
              <a:t>extrinsics</a:t>
            </a:r>
            <a:r>
              <a:rPr lang="en-US" dirty="0"/>
              <a:t>)</a:t>
            </a:r>
          </a:p>
          <a:p>
            <a:pPr lvl="2">
              <a:buFont typeface="Courier New" pitchFamily="49" charset="0"/>
              <a:buChar char="o"/>
            </a:pPr>
            <a:r>
              <a:rPr lang="en-US" dirty="0"/>
              <a:t>Self calibration (unknown </a:t>
            </a:r>
            <a:r>
              <a:rPr lang="en-US" dirty="0" err="1"/>
              <a:t>intrinsics</a:t>
            </a:r>
            <a:r>
              <a:rPr lang="en-US" dirty="0"/>
              <a:t> &amp; </a:t>
            </a:r>
            <a:r>
              <a:rPr lang="en-US" dirty="0" err="1"/>
              <a:t>extrinsics</a:t>
            </a:r>
            <a:r>
              <a:rPr lang="en-US" dirty="0"/>
              <a:t>)</a:t>
            </a:r>
          </a:p>
          <a:p>
            <a:r>
              <a:rPr lang="en-US" dirty="0"/>
              <a:t>Why bother pre-calibrating the camera?</a:t>
            </a:r>
          </a:p>
        </p:txBody>
      </p:sp>
      <p:sp>
        <p:nvSpPr>
          <p:cNvPr id="355332" name="Rectangle 1028"/>
          <p:cNvSpPr>
            <a:spLocks noChangeArrowheads="1"/>
          </p:cNvSpPr>
          <p:nvPr/>
        </p:nvSpPr>
        <p:spPr bwMode="auto">
          <a:xfrm>
            <a:off x="767408" y="4581128"/>
            <a:ext cx="9145016"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914400" lvl="1" indent="-457200">
              <a:spcBef>
                <a:spcPct val="20000"/>
              </a:spcBef>
              <a:buFont typeface="Wingdings" panose="05000000000000000000" pitchFamily="2" charset="2"/>
              <a:buChar char="§"/>
            </a:pPr>
            <a:r>
              <a:rPr lang="en-US" sz="2400" dirty="0">
                <a:latin typeface="Times New Roman" pitchFamily="18" charset="0"/>
                <a:cs typeface="Times New Roman" pitchFamily="18" charset="0"/>
              </a:rPr>
              <a:t>Simplifies the 3D reconstruction problem</a:t>
            </a:r>
          </a:p>
          <a:p>
            <a:pPr marL="1371600" lvl="2" indent="-457200">
              <a:spcBef>
                <a:spcPct val="20000"/>
              </a:spcBef>
              <a:buFont typeface="Wingdings" panose="05000000000000000000" pitchFamily="2" charset="2"/>
              <a:buChar char="§"/>
            </a:pPr>
            <a:r>
              <a:rPr lang="en-US" sz="2000" dirty="0">
                <a:latin typeface="Times New Roman" pitchFamily="18" charset="0"/>
                <a:cs typeface="Times New Roman" pitchFamily="18" charset="0"/>
              </a:rPr>
              <a:t>fewer parameters to solve for later on</a:t>
            </a:r>
          </a:p>
          <a:p>
            <a:pPr marL="914400" lvl="1" indent="-457200">
              <a:spcBef>
                <a:spcPct val="20000"/>
              </a:spcBef>
              <a:buFont typeface="Wingdings" panose="05000000000000000000" pitchFamily="2" charset="2"/>
              <a:buChar char="§"/>
            </a:pPr>
            <a:r>
              <a:rPr lang="en-US" sz="2400" dirty="0">
                <a:latin typeface="Times New Roman" pitchFamily="18" charset="0"/>
                <a:cs typeface="Times New Roman" pitchFamily="18" charset="0"/>
              </a:rPr>
              <a:t>Improves accuracy</a:t>
            </a:r>
          </a:p>
          <a:p>
            <a:pPr marL="914400" lvl="1" indent="-457200">
              <a:spcBef>
                <a:spcPct val="20000"/>
              </a:spcBef>
              <a:buFont typeface="Wingdings" panose="05000000000000000000" pitchFamily="2" charset="2"/>
              <a:buChar char="§"/>
            </a:pPr>
            <a:r>
              <a:rPr lang="en-US" sz="2400" dirty="0">
                <a:latin typeface="Times New Roman" pitchFamily="18" charset="0"/>
                <a:cs typeface="Times New Roman" pitchFamily="18" charset="0"/>
              </a:rPr>
              <a:t>Not too hard to do</a:t>
            </a:r>
          </a:p>
          <a:p>
            <a:pPr marL="914400" lvl="1" indent="-457200">
              <a:spcBef>
                <a:spcPct val="20000"/>
              </a:spcBef>
              <a:buFont typeface="Wingdings" panose="05000000000000000000" pitchFamily="2" charset="2"/>
              <a:buChar char="§"/>
            </a:pPr>
            <a:r>
              <a:rPr lang="en-US" sz="2400" dirty="0">
                <a:latin typeface="Times New Roman" pitchFamily="18" charset="0"/>
                <a:cs typeface="Times New Roman" pitchFamily="18" charset="0"/>
              </a:rPr>
              <a:t>Eliminates certain ambiguities (scale of scene)</a:t>
            </a:r>
          </a:p>
        </p:txBody>
      </p:sp>
    </p:spTree>
    <p:extLst>
      <p:ext uri="{BB962C8B-B14F-4D97-AF65-F5344CB8AC3E}">
        <p14:creationId xmlns:p14="http://schemas.microsoft.com/office/powerpoint/2010/main" val="3085964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5533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35533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499"/>
                                          </p:stCondLst>
                                        </p:cTn>
                                        <p:tgtEl>
                                          <p:spTgt spid="355332">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355332">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35533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32" grpId="0" build="p"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1026"/>
          <p:cNvSpPr>
            <a:spLocks noGrp="1" noChangeArrowheads="1"/>
          </p:cNvSpPr>
          <p:nvPr>
            <p:ph type="title"/>
          </p:nvPr>
        </p:nvSpPr>
        <p:spPr/>
        <p:txBody>
          <a:bodyPr/>
          <a:lstStyle/>
          <a:p>
            <a:r>
              <a:rPr lang="en-US"/>
              <a:t>Applications</a:t>
            </a:r>
          </a:p>
        </p:txBody>
      </p:sp>
      <p:sp>
        <p:nvSpPr>
          <p:cNvPr id="358403" name="Rectangle 1027"/>
          <p:cNvSpPr>
            <a:spLocks noGrp="1" noChangeArrowheads="1"/>
          </p:cNvSpPr>
          <p:nvPr>
            <p:ph type="body" idx="1"/>
          </p:nvPr>
        </p:nvSpPr>
        <p:spPr/>
        <p:txBody>
          <a:bodyPr>
            <a:normAutofit/>
          </a:bodyPr>
          <a:lstStyle/>
          <a:p>
            <a:endParaRPr lang="en-US" dirty="0"/>
          </a:p>
          <a:p>
            <a:endParaRPr lang="en-US" dirty="0"/>
          </a:p>
          <a:p>
            <a:endParaRPr lang="en-US" dirty="0"/>
          </a:p>
          <a:p>
            <a:endParaRPr lang="en-US" dirty="0"/>
          </a:p>
          <a:p>
            <a:endParaRPr lang="en-US" dirty="0"/>
          </a:p>
          <a:p>
            <a:endParaRPr lang="en-US" dirty="0"/>
          </a:p>
          <a:p>
            <a:pPr marL="457200" indent="-457200">
              <a:buFont typeface="Wingdings" pitchFamily="2" charset="2"/>
              <a:buChar char="§"/>
            </a:pPr>
            <a:r>
              <a:rPr lang="en-US" dirty="0"/>
              <a:t>3D Modeling</a:t>
            </a:r>
          </a:p>
          <a:p>
            <a:pPr marL="457200" indent="-457200">
              <a:buFont typeface="Wingdings" pitchFamily="2" charset="2"/>
              <a:buChar char="§"/>
            </a:pPr>
            <a:r>
              <a:rPr lang="en-US" dirty="0"/>
              <a:t>Match Move</a:t>
            </a:r>
          </a:p>
          <a:p>
            <a:pPr marL="457200" indent="-457200">
              <a:buFont typeface="Wingdings" pitchFamily="2" charset="2"/>
              <a:buChar char="§"/>
            </a:pPr>
            <a:r>
              <a:rPr lang="en-US" dirty="0"/>
              <a:t>Image-Based Rendering</a:t>
            </a:r>
          </a:p>
        </p:txBody>
      </p:sp>
      <p:pic>
        <p:nvPicPr>
          <p:cNvPr id="358405" name="Picture 1029" descr="http://www.cs.washington.edu/education/courses/cse590ss/01wi/projects/project2/students/allen/orig124.jpg">
            <a:hlinkClick r:id="rId2" action="ppaction://hlinkfil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63552" y="1628800"/>
            <a:ext cx="3505200" cy="2336800"/>
          </a:xfrm>
          <a:prstGeom prst="rect">
            <a:avLst/>
          </a:prstGeom>
          <a:noFill/>
          <a:extLst>
            <a:ext uri="{909E8E84-426E-40DD-AFC4-6F175D3DCCD1}">
              <a14:hiddenFill xmlns:a14="http://schemas.microsoft.com/office/drawing/2010/main">
                <a:solidFill>
                  <a:srgbClr val="FFFFFF"/>
                </a:solidFill>
              </a14:hiddenFill>
            </a:ext>
          </a:extLst>
        </p:spPr>
      </p:pic>
      <p:pic>
        <p:nvPicPr>
          <p:cNvPr id="358407" name="Picture 1031" descr="http://www.cs.washington.edu/education/courses/cse590ss/01wi/projects/project2/students/allen/mm124.jpg">
            <a:hlinkClick r:id="rId4" action="ppaction://hlinkfile"/>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483152" y="1628800"/>
            <a:ext cx="3505200" cy="2336800"/>
          </a:xfrm>
          <a:prstGeom prst="rect">
            <a:avLst/>
          </a:prstGeom>
          <a:noFill/>
          <a:extLst>
            <a:ext uri="{909E8E84-426E-40DD-AFC4-6F175D3DCCD1}">
              <a14:hiddenFill xmlns:a14="http://schemas.microsoft.com/office/drawing/2010/main">
                <a:solidFill>
                  <a:srgbClr val="FFFFFF"/>
                </a:solidFill>
              </a14:hiddenFill>
            </a:ext>
          </a:extLst>
        </p:spPr>
      </p:pic>
      <p:sp>
        <p:nvSpPr>
          <p:cNvPr id="358408" name="Line 1032"/>
          <p:cNvSpPr>
            <a:spLocks noChangeShapeType="1"/>
          </p:cNvSpPr>
          <p:nvPr/>
        </p:nvSpPr>
        <p:spPr bwMode="auto">
          <a:xfrm>
            <a:off x="5797352" y="2771800"/>
            <a:ext cx="533400" cy="0"/>
          </a:xfrm>
          <a:prstGeom prst="line">
            <a:avLst/>
          </a:prstGeom>
          <a:noFill/>
          <a:ln w="571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a:latin typeface="Times New Roman" pitchFamily="18" charset="0"/>
              <a:cs typeface="Times New Roman" pitchFamily="18" charset="0"/>
            </a:endParaRPr>
          </a:p>
        </p:txBody>
      </p:sp>
      <p:sp>
        <p:nvSpPr>
          <p:cNvPr id="358409" name="Text Box 1033"/>
          <p:cNvSpPr txBox="1">
            <a:spLocks noChangeArrowheads="1"/>
          </p:cNvSpPr>
          <p:nvPr/>
        </p:nvSpPr>
        <p:spPr bwMode="auto">
          <a:xfrm>
            <a:off x="3587552" y="4019576"/>
            <a:ext cx="496180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400">
                <a:latin typeface="Times New Roman" pitchFamily="18" charset="0"/>
                <a:cs typeface="Times New Roman" pitchFamily="18" charset="0"/>
              </a:rPr>
              <a:t>Images courtesy of Brett Allen (“Vision for Graphics”, winter `01)</a:t>
            </a:r>
          </a:p>
        </p:txBody>
      </p:sp>
      <p:pic>
        <p:nvPicPr>
          <p:cNvPr id="358411" name="Picture 1035" descr="http://graphics.stanford.edu/projects/lightfield/gantry-w-bunny.jpg">
            <a:hlinkClick r:id="rId6" action="ppaction://hlinkfile"/>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055296" y="4653136"/>
            <a:ext cx="1250950" cy="2057400"/>
          </a:xfrm>
          <a:prstGeom prst="rect">
            <a:avLst/>
          </a:prstGeom>
          <a:noFill/>
          <a:extLst>
            <a:ext uri="{909E8E84-426E-40DD-AFC4-6F175D3DCCD1}">
              <a14:hiddenFill xmlns:a14="http://schemas.microsoft.com/office/drawing/2010/main">
                <a:solidFill>
                  <a:srgbClr val="FFFFFF"/>
                </a:solidFill>
              </a14:hiddenFill>
            </a:ext>
          </a:extLst>
        </p:spPr>
      </p:pic>
      <p:sp>
        <p:nvSpPr>
          <p:cNvPr id="358412" name="Text Box 1036"/>
          <p:cNvSpPr txBox="1">
            <a:spLocks noChangeArrowheads="1"/>
          </p:cNvSpPr>
          <p:nvPr/>
        </p:nvSpPr>
        <p:spPr bwMode="auto">
          <a:xfrm>
            <a:off x="8399910" y="5218286"/>
            <a:ext cx="2160587"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1400">
                <a:latin typeface="Times New Roman" pitchFamily="18" charset="0"/>
                <a:cs typeface="Times New Roman" pitchFamily="18" charset="0"/>
              </a:rPr>
              <a:t>Light field capture</a:t>
            </a:r>
          </a:p>
          <a:p>
            <a:r>
              <a:rPr lang="en-US" sz="1400">
                <a:latin typeface="Times New Roman" pitchFamily="18" charset="0"/>
                <a:cs typeface="Times New Roman" pitchFamily="18" charset="0"/>
              </a:rPr>
              <a:t>and rendering</a:t>
            </a:r>
          </a:p>
          <a:p>
            <a:r>
              <a:rPr lang="en-US" sz="1400">
                <a:latin typeface="Times New Roman" pitchFamily="18" charset="0"/>
                <a:cs typeface="Times New Roman" pitchFamily="18" charset="0"/>
              </a:rPr>
              <a:t>(Levoy &amp; Hanrahan, 96)</a:t>
            </a:r>
          </a:p>
        </p:txBody>
      </p:sp>
    </p:spTree>
    <p:extLst>
      <p:ext uri="{BB962C8B-B14F-4D97-AF65-F5344CB8AC3E}">
        <p14:creationId xmlns:p14="http://schemas.microsoft.com/office/powerpoint/2010/main" val="108249356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Rectangle 2"/>
          <p:cNvSpPr>
            <a:spLocks noGrp="1" noChangeArrowheads="1"/>
          </p:cNvSpPr>
          <p:nvPr>
            <p:ph type="title"/>
          </p:nvPr>
        </p:nvSpPr>
        <p:spPr/>
        <p:txBody>
          <a:bodyPr/>
          <a:lstStyle/>
          <a:p>
            <a:r>
              <a:rPr lang="en-US"/>
              <a:t>Camera Parameters</a:t>
            </a:r>
          </a:p>
        </p:txBody>
      </p:sp>
      <p:sp>
        <p:nvSpPr>
          <p:cNvPr id="356355" name="Rectangle 3"/>
          <p:cNvSpPr>
            <a:spLocks noGrp="1" noChangeArrowheads="1"/>
          </p:cNvSpPr>
          <p:nvPr>
            <p:ph type="body" idx="1"/>
          </p:nvPr>
        </p:nvSpPr>
        <p:spPr/>
        <p:txBody>
          <a:bodyPr/>
          <a:lstStyle/>
          <a:p>
            <a:r>
              <a:rPr lang="en-US" dirty="0"/>
              <a:t>So far we’ve talked about:</a:t>
            </a:r>
          </a:p>
          <a:p>
            <a:pPr lvl="1">
              <a:buFont typeface="Arial" pitchFamily="34" charset="0"/>
              <a:buChar char="•"/>
            </a:pPr>
            <a:r>
              <a:rPr lang="en-US" dirty="0"/>
              <a:t>focal length </a:t>
            </a:r>
          </a:p>
          <a:p>
            <a:pPr lvl="1">
              <a:buFont typeface="Arial" pitchFamily="34" charset="0"/>
              <a:buChar char="•"/>
            </a:pPr>
            <a:r>
              <a:rPr lang="en-US" dirty="0"/>
              <a:t>principal (and nodal) point</a:t>
            </a:r>
          </a:p>
          <a:p>
            <a:pPr lvl="1">
              <a:buFont typeface="Arial" pitchFamily="34" charset="0"/>
              <a:buChar char="•"/>
            </a:pPr>
            <a:r>
              <a:rPr lang="en-US" dirty="0"/>
              <a:t>radial distortion</a:t>
            </a:r>
          </a:p>
          <a:p>
            <a:pPr lvl="1">
              <a:buFont typeface="Arial" pitchFamily="34" charset="0"/>
              <a:buChar char="•"/>
            </a:pPr>
            <a:r>
              <a:rPr lang="en-US" dirty="0"/>
              <a:t>CCD dimensions</a:t>
            </a:r>
          </a:p>
          <a:p>
            <a:pPr lvl="1">
              <a:buFont typeface="Arial" pitchFamily="34" charset="0"/>
              <a:buChar char="•"/>
            </a:pPr>
            <a:r>
              <a:rPr lang="en-US" dirty="0"/>
              <a:t>aperture</a:t>
            </a:r>
          </a:p>
          <a:p>
            <a:r>
              <a:rPr lang="en-US" dirty="0"/>
              <a:t>There is also</a:t>
            </a:r>
          </a:p>
          <a:p>
            <a:pPr lvl="1">
              <a:buFont typeface="Arial" pitchFamily="34" charset="0"/>
              <a:buChar char="•"/>
            </a:pPr>
            <a:r>
              <a:rPr lang="en-US" dirty="0"/>
              <a:t>optical center</a:t>
            </a:r>
          </a:p>
          <a:p>
            <a:pPr lvl="1">
              <a:buFont typeface="Arial" pitchFamily="34" charset="0"/>
              <a:buChar char="•"/>
            </a:pPr>
            <a:r>
              <a:rPr lang="en-US" dirty="0"/>
              <a:t>orientation</a:t>
            </a:r>
          </a:p>
          <a:p>
            <a:pPr lvl="1">
              <a:buFont typeface="Arial" pitchFamily="34" charset="0"/>
              <a:buChar char="•"/>
            </a:pPr>
            <a:r>
              <a:rPr lang="en-US" dirty="0"/>
              <a:t>digitizer parameters</a:t>
            </a:r>
          </a:p>
          <a:p>
            <a:pPr lvl="1"/>
            <a:endParaRPr lang="en-US" dirty="0"/>
          </a:p>
        </p:txBody>
      </p:sp>
    </p:spTree>
    <p:extLst>
      <p:ext uri="{BB962C8B-B14F-4D97-AF65-F5344CB8AC3E}">
        <p14:creationId xmlns:p14="http://schemas.microsoft.com/office/powerpoint/2010/main" val="203620214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2"/>
          <p:cNvSpPr>
            <a:spLocks noGrp="1" noChangeArrowheads="1"/>
          </p:cNvSpPr>
          <p:nvPr>
            <p:ph type="title"/>
          </p:nvPr>
        </p:nvSpPr>
        <p:spPr/>
        <p:txBody>
          <a:bodyPr/>
          <a:lstStyle/>
          <a:p>
            <a:r>
              <a:rPr lang="en-US"/>
              <a:t>Do we need all this stuff?</a:t>
            </a:r>
          </a:p>
        </p:txBody>
      </p:sp>
      <p:sp>
        <p:nvSpPr>
          <p:cNvPr id="376835" name="Rectangle 3"/>
          <p:cNvSpPr>
            <a:spLocks noGrp="1" noChangeArrowheads="1"/>
          </p:cNvSpPr>
          <p:nvPr>
            <p:ph type="body" idx="1"/>
          </p:nvPr>
        </p:nvSpPr>
        <p:spPr>
          <a:xfrm>
            <a:off x="1703512" y="1268760"/>
            <a:ext cx="7772400" cy="3352800"/>
          </a:xfrm>
        </p:spPr>
        <p:txBody>
          <a:bodyPr>
            <a:noAutofit/>
          </a:bodyPr>
          <a:lstStyle/>
          <a:p>
            <a:pPr marL="457200" indent="-457200">
              <a:spcBef>
                <a:spcPts val="600"/>
              </a:spcBef>
              <a:buFont typeface="Courier New" pitchFamily="49" charset="0"/>
              <a:buChar char="o"/>
            </a:pPr>
            <a:r>
              <a:rPr lang="en-US" sz="2400" dirty="0"/>
              <a:t>Usually simplify to “computable stuff”</a:t>
            </a:r>
          </a:p>
          <a:p>
            <a:pPr lvl="1">
              <a:spcBef>
                <a:spcPts val="600"/>
              </a:spcBef>
              <a:buFont typeface="Courier New" pitchFamily="49" charset="0"/>
              <a:buChar char="o"/>
            </a:pPr>
            <a:r>
              <a:rPr lang="en-US" sz="2400" dirty="0" err="1"/>
              <a:t>Intrinsics</a:t>
            </a:r>
            <a:r>
              <a:rPr lang="en-US" sz="2400" dirty="0"/>
              <a:t>:</a:t>
            </a:r>
          </a:p>
          <a:p>
            <a:pPr lvl="2">
              <a:spcBef>
                <a:spcPts val="600"/>
              </a:spcBef>
              <a:buFont typeface="Courier New" pitchFamily="49" charset="0"/>
              <a:buChar char="o"/>
            </a:pPr>
            <a:r>
              <a:rPr lang="en-US" sz="2000" dirty="0"/>
              <a:t>scale factor (“focal length”)</a:t>
            </a:r>
          </a:p>
          <a:p>
            <a:pPr lvl="2">
              <a:spcBef>
                <a:spcPts val="600"/>
              </a:spcBef>
              <a:buFont typeface="Courier New" pitchFamily="49" charset="0"/>
              <a:buChar char="o"/>
            </a:pPr>
            <a:r>
              <a:rPr lang="en-US" sz="2000" dirty="0"/>
              <a:t>aspect ratio</a:t>
            </a:r>
          </a:p>
          <a:p>
            <a:pPr lvl="2">
              <a:spcBef>
                <a:spcPts val="600"/>
              </a:spcBef>
              <a:buFont typeface="Courier New" pitchFamily="49" charset="0"/>
              <a:buChar char="o"/>
            </a:pPr>
            <a:r>
              <a:rPr lang="en-US" sz="2000" dirty="0"/>
              <a:t>principle point</a:t>
            </a:r>
          </a:p>
          <a:p>
            <a:pPr lvl="2">
              <a:spcBef>
                <a:spcPts val="600"/>
              </a:spcBef>
              <a:buFont typeface="Courier New" pitchFamily="49" charset="0"/>
              <a:buChar char="o"/>
            </a:pPr>
            <a:r>
              <a:rPr lang="en-US" sz="2000" dirty="0"/>
              <a:t>radial distortion</a:t>
            </a:r>
          </a:p>
          <a:p>
            <a:pPr lvl="1">
              <a:spcBef>
                <a:spcPts val="600"/>
              </a:spcBef>
              <a:buFont typeface="Courier New" pitchFamily="49" charset="0"/>
              <a:buChar char="o"/>
            </a:pPr>
            <a:r>
              <a:rPr lang="en-US" sz="2400" dirty="0" err="1"/>
              <a:t>Extrinsics</a:t>
            </a:r>
            <a:endParaRPr lang="en-US" sz="2400" dirty="0"/>
          </a:p>
          <a:p>
            <a:pPr lvl="2">
              <a:spcBef>
                <a:spcPts val="600"/>
              </a:spcBef>
              <a:buFont typeface="Courier New" pitchFamily="49" charset="0"/>
              <a:buChar char="o"/>
            </a:pPr>
            <a:r>
              <a:rPr lang="en-US" sz="2000" dirty="0"/>
              <a:t>optical center</a:t>
            </a:r>
          </a:p>
          <a:p>
            <a:pPr lvl="2">
              <a:spcBef>
                <a:spcPts val="600"/>
              </a:spcBef>
              <a:buFont typeface="Courier New" pitchFamily="49" charset="0"/>
              <a:buChar char="o"/>
            </a:pPr>
            <a:r>
              <a:rPr lang="en-US" sz="2000" dirty="0"/>
              <a:t>camera orientation</a:t>
            </a:r>
          </a:p>
        </p:txBody>
      </p:sp>
      <p:grpSp>
        <p:nvGrpSpPr>
          <p:cNvPr id="376841" name="Group 9"/>
          <p:cNvGrpSpPr>
            <a:grpSpLocks/>
          </p:cNvGrpSpPr>
          <p:nvPr/>
        </p:nvGrpSpPr>
        <p:grpSpPr bwMode="auto">
          <a:xfrm>
            <a:off x="2209800" y="5084763"/>
            <a:ext cx="7772400" cy="1676401"/>
            <a:chOff x="432" y="3203"/>
            <a:chExt cx="4896" cy="1056"/>
          </a:xfrm>
        </p:grpSpPr>
        <p:sp>
          <p:nvSpPr>
            <p:cNvPr id="376837" name="Rectangle 5"/>
            <p:cNvSpPr>
              <a:spLocks noChangeArrowheads="1"/>
            </p:cNvSpPr>
            <p:nvPr/>
          </p:nvSpPr>
          <p:spPr bwMode="auto">
            <a:xfrm>
              <a:off x="432" y="3203"/>
              <a:ext cx="4896"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r>
                <a:rPr lang="en-US" sz="2800" dirty="0">
                  <a:latin typeface="Times New Roman" pitchFamily="18" charset="0"/>
                  <a:cs typeface="Times New Roman" pitchFamily="18" charset="0"/>
                </a:rPr>
                <a:t>How does this relate to projection matrix?</a:t>
              </a:r>
            </a:p>
            <a:p>
              <a:pPr marL="742950" lvl="1" indent="-285750">
                <a:spcBef>
                  <a:spcPct val="20000"/>
                </a:spcBef>
                <a:buFontTx/>
                <a:buChar char="•"/>
              </a:pPr>
              <a:endParaRPr lang="en-US" sz="2000" dirty="0">
                <a:latin typeface="Times New Roman" pitchFamily="18" charset="0"/>
                <a:cs typeface="Times New Roman" pitchFamily="18" charset="0"/>
              </a:endParaRPr>
            </a:p>
            <a:p>
              <a:pPr marL="742950" lvl="1" indent="-285750">
                <a:spcBef>
                  <a:spcPct val="20000"/>
                </a:spcBef>
                <a:buFontTx/>
                <a:buChar char="•"/>
              </a:pPr>
              <a:endParaRPr lang="en-US" sz="2000" dirty="0">
                <a:latin typeface="Times New Roman" pitchFamily="18" charset="0"/>
                <a:cs typeface="Times New Roman" pitchFamily="18" charset="0"/>
              </a:endParaRPr>
            </a:p>
          </p:txBody>
        </p:sp>
        <p:graphicFrame>
          <p:nvGraphicFramePr>
            <p:cNvPr id="376838" name="Object 6"/>
            <p:cNvGraphicFramePr>
              <a:graphicFrameLocks noChangeAspect="1"/>
            </p:cNvGraphicFramePr>
            <p:nvPr/>
          </p:nvGraphicFramePr>
          <p:xfrm>
            <a:off x="1809" y="3510"/>
            <a:ext cx="1934" cy="749"/>
          </p:xfrm>
          <a:graphic>
            <a:graphicData uri="http://schemas.openxmlformats.org/presentationml/2006/ole">
              <mc:AlternateContent xmlns:mc="http://schemas.openxmlformats.org/markup-compatibility/2006">
                <mc:Choice xmlns:v="urn:schemas-microsoft-com:vml" Requires="v">
                  <p:oleObj name="Equation" r:id="rId2" imgW="2362200" imgH="914400" progId="Equation.3">
                    <p:embed/>
                  </p:oleObj>
                </mc:Choice>
                <mc:Fallback>
                  <p:oleObj name="Equation" r:id="rId2" imgW="2362200" imgH="914400" progId="Equation.3">
                    <p:embed/>
                    <p:pic>
                      <p:nvPicPr>
                        <p:cNvPr id="376838"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9" y="3510"/>
                          <a:ext cx="1934" cy="7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120678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768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2"/>
          <p:cNvSpPr>
            <a:spLocks noGrp="1" noChangeArrowheads="1"/>
          </p:cNvSpPr>
          <p:nvPr>
            <p:ph type="title"/>
          </p:nvPr>
        </p:nvSpPr>
        <p:spPr/>
        <p:txBody>
          <a:bodyPr/>
          <a:lstStyle/>
          <a:p>
            <a:r>
              <a:rPr lang="en-US"/>
              <a:t>The Projection Matrix</a:t>
            </a:r>
          </a:p>
        </p:txBody>
      </p:sp>
      <p:sp>
        <p:nvSpPr>
          <p:cNvPr id="360452" name="Rectangle 4"/>
          <p:cNvSpPr>
            <a:spLocks noChangeArrowheads="1"/>
          </p:cNvSpPr>
          <p:nvPr/>
        </p:nvSpPr>
        <p:spPr bwMode="auto">
          <a:xfrm>
            <a:off x="2209800" y="1447800"/>
            <a:ext cx="77724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r>
              <a:rPr lang="en-US" sz="2800">
                <a:latin typeface="Times New Roman" pitchFamily="18" charset="0"/>
                <a:cs typeface="Times New Roman" pitchFamily="18" charset="0"/>
              </a:rPr>
              <a:t>Matrix Projection:</a:t>
            </a:r>
            <a:endParaRPr lang="en-US">
              <a:latin typeface="Times New Roman" pitchFamily="18" charset="0"/>
              <a:cs typeface="Times New Roman" pitchFamily="18" charset="0"/>
            </a:endParaRPr>
          </a:p>
        </p:txBody>
      </p:sp>
      <p:graphicFrame>
        <p:nvGraphicFramePr>
          <p:cNvPr id="360453" name="Object 5"/>
          <p:cNvGraphicFramePr>
            <a:graphicFrameLocks noChangeAspect="1"/>
          </p:cNvGraphicFramePr>
          <p:nvPr/>
        </p:nvGraphicFramePr>
        <p:xfrm>
          <a:off x="5184776" y="1143000"/>
          <a:ext cx="3070225" cy="1189038"/>
        </p:xfrm>
        <a:graphic>
          <a:graphicData uri="http://schemas.openxmlformats.org/presentationml/2006/ole">
            <mc:AlternateContent xmlns:mc="http://schemas.openxmlformats.org/markup-compatibility/2006">
              <mc:Choice xmlns:v="urn:schemas-microsoft-com:vml" Requires="v">
                <p:oleObj name="Equation" r:id="rId2" imgW="2362200" imgH="914400" progId="Equation.3">
                  <p:embed/>
                </p:oleObj>
              </mc:Choice>
              <mc:Fallback>
                <p:oleObj name="Equation" r:id="rId2" imgW="2362200" imgH="914400" progId="Equation.3">
                  <p:embed/>
                  <p:pic>
                    <p:nvPicPr>
                      <p:cNvPr id="360453"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4776" y="1143000"/>
                        <a:ext cx="3070225" cy="1189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0456" name="Rectangle 8"/>
          <p:cNvSpPr>
            <a:spLocks noChangeArrowheads="1"/>
          </p:cNvSpPr>
          <p:nvPr/>
        </p:nvSpPr>
        <p:spPr bwMode="auto">
          <a:xfrm>
            <a:off x="2209800" y="2667000"/>
            <a:ext cx="80010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r>
              <a:rPr lang="en-US" b="1">
                <a:latin typeface="Times New Roman" pitchFamily="18" charset="0"/>
                <a:cs typeface="Times New Roman" pitchFamily="18" charset="0"/>
                <a:sym typeface="Symbol" pitchFamily="18" charset="2"/>
              </a:rPr>
              <a:t>M</a:t>
            </a:r>
            <a:r>
              <a:rPr lang="en-US">
                <a:latin typeface="Times New Roman" pitchFamily="18" charset="0"/>
                <a:cs typeface="Times New Roman" pitchFamily="18" charset="0"/>
              </a:rPr>
              <a:t> can be decomposed into </a:t>
            </a:r>
            <a:r>
              <a:rPr lang="en-US" b="1">
                <a:latin typeface="Times New Roman" pitchFamily="18" charset="0"/>
                <a:cs typeface="Times New Roman" pitchFamily="18" charset="0"/>
              </a:rPr>
              <a:t>t</a:t>
            </a:r>
            <a:r>
              <a:rPr lang="en-US">
                <a:latin typeface="Times New Roman" pitchFamily="18" charset="0"/>
                <a:cs typeface="Times New Roman" pitchFamily="18" charset="0"/>
              </a:rPr>
              <a:t> </a:t>
            </a:r>
            <a:r>
              <a:rPr lang="en-US">
                <a:latin typeface="Times New Roman" pitchFamily="18" charset="0"/>
                <a:cs typeface="Times New Roman" pitchFamily="18" charset="0"/>
                <a:sym typeface="Symbol" pitchFamily="18" charset="2"/>
              </a:rPr>
              <a:t> </a:t>
            </a:r>
            <a:r>
              <a:rPr lang="en-US" b="1">
                <a:latin typeface="Times New Roman" pitchFamily="18" charset="0"/>
                <a:cs typeface="Times New Roman" pitchFamily="18" charset="0"/>
                <a:sym typeface="Symbol" pitchFamily="18" charset="2"/>
              </a:rPr>
              <a:t>R</a:t>
            </a:r>
            <a:r>
              <a:rPr lang="en-US">
                <a:latin typeface="Times New Roman" pitchFamily="18" charset="0"/>
                <a:cs typeface="Times New Roman" pitchFamily="18" charset="0"/>
                <a:sym typeface="Symbol" pitchFamily="18" charset="2"/>
              </a:rPr>
              <a:t>  project  </a:t>
            </a:r>
            <a:r>
              <a:rPr lang="en-US" b="1">
                <a:latin typeface="Times New Roman" pitchFamily="18" charset="0"/>
                <a:cs typeface="Times New Roman" pitchFamily="18" charset="0"/>
                <a:sym typeface="Symbol" pitchFamily="18" charset="2"/>
              </a:rPr>
              <a:t>A</a:t>
            </a:r>
          </a:p>
        </p:txBody>
      </p:sp>
      <p:graphicFrame>
        <p:nvGraphicFramePr>
          <p:cNvPr id="360457" name="Object 9"/>
          <p:cNvGraphicFramePr>
            <a:graphicFrameLocks noChangeAspect="1"/>
          </p:cNvGraphicFramePr>
          <p:nvPr/>
        </p:nvGraphicFramePr>
        <p:xfrm>
          <a:off x="3217863" y="3200401"/>
          <a:ext cx="4857750" cy="925513"/>
        </p:xfrm>
        <a:graphic>
          <a:graphicData uri="http://schemas.openxmlformats.org/presentationml/2006/ole">
            <mc:AlternateContent xmlns:mc="http://schemas.openxmlformats.org/markup-compatibility/2006">
              <mc:Choice xmlns:v="urn:schemas-microsoft-com:vml" Requires="v">
                <p:oleObj name="Equation" r:id="rId4" imgW="3733800" imgH="711200" progId="Equation.3">
                  <p:embed/>
                </p:oleObj>
              </mc:Choice>
              <mc:Fallback>
                <p:oleObj name="Equation" r:id="rId4" imgW="3733800" imgH="711200" progId="Equation.3">
                  <p:embed/>
                  <p:pic>
                    <p:nvPicPr>
                      <p:cNvPr id="360457"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17863" y="3200401"/>
                        <a:ext cx="4857750" cy="925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0458" name="Text Box 10"/>
          <p:cNvSpPr txBox="1">
            <a:spLocks noChangeArrowheads="1"/>
          </p:cNvSpPr>
          <p:nvPr/>
        </p:nvSpPr>
        <p:spPr bwMode="auto">
          <a:xfrm>
            <a:off x="4876801" y="4049714"/>
            <a:ext cx="91242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400">
                <a:latin typeface="Times New Roman" pitchFamily="18" charset="0"/>
                <a:cs typeface="Times New Roman" pitchFamily="18" charset="0"/>
              </a:rPr>
              <a:t>projection</a:t>
            </a:r>
          </a:p>
        </p:txBody>
      </p:sp>
      <p:sp>
        <p:nvSpPr>
          <p:cNvPr id="360459" name="Text Box 11"/>
          <p:cNvSpPr txBox="1">
            <a:spLocks noChangeArrowheads="1"/>
          </p:cNvSpPr>
          <p:nvPr/>
        </p:nvSpPr>
        <p:spPr bwMode="auto">
          <a:xfrm>
            <a:off x="3733800" y="4049713"/>
            <a:ext cx="11699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400">
                <a:latin typeface="Times New Roman" pitchFamily="18" charset="0"/>
                <a:cs typeface="Times New Roman" pitchFamily="18" charset="0"/>
              </a:rPr>
              <a:t>intrinsics (</a:t>
            </a:r>
            <a:r>
              <a:rPr lang="en-US" sz="1400" b="1">
                <a:latin typeface="Times New Roman" pitchFamily="18" charset="0"/>
                <a:cs typeface="Times New Roman" pitchFamily="18" charset="0"/>
              </a:rPr>
              <a:t>A</a:t>
            </a:r>
            <a:r>
              <a:rPr lang="en-US" sz="1400">
                <a:latin typeface="Times New Roman" pitchFamily="18" charset="0"/>
                <a:cs typeface="Times New Roman" pitchFamily="18" charset="0"/>
              </a:rPr>
              <a:t>)</a:t>
            </a:r>
          </a:p>
        </p:txBody>
      </p:sp>
      <p:sp>
        <p:nvSpPr>
          <p:cNvPr id="360460" name="Text Box 12"/>
          <p:cNvSpPr txBox="1">
            <a:spLocks noChangeArrowheads="1"/>
          </p:cNvSpPr>
          <p:nvPr/>
        </p:nvSpPr>
        <p:spPr bwMode="auto">
          <a:xfrm>
            <a:off x="5999164" y="4049714"/>
            <a:ext cx="96212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400">
                <a:latin typeface="Times New Roman" pitchFamily="18" charset="0"/>
                <a:cs typeface="Times New Roman" pitchFamily="18" charset="0"/>
              </a:rPr>
              <a:t>orientation</a:t>
            </a:r>
          </a:p>
        </p:txBody>
      </p:sp>
      <p:sp>
        <p:nvSpPr>
          <p:cNvPr id="360461" name="Text Box 13"/>
          <p:cNvSpPr txBox="1">
            <a:spLocks noChangeArrowheads="1"/>
          </p:cNvSpPr>
          <p:nvPr/>
        </p:nvSpPr>
        <p:spPr bwMode="auto">
          <a:xfrm>
            <a:off x="7162801" y="4049714"/>
            <a:ext cx="76335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400">
                <a:latin typeface="Times New Roman" pitchFamily="18" charset="0"/>
                <a:cs typeface="Times New Roman" pitchFamily="18" charset="0"/>
              </a:rPr>
              <a:t>position</a:t>
            </a:r>
          </a:p>
        </p:txBody>
      </p:sp>
    </p:spTree>
    <p:extLst>
      <p:ext uri="{BB962C8B-B14F-4D97-AF65-F5344CB8AC3E}">
        <p14:creationId xmlns:p14="http://schemas.microsoft.com/office/powerpoint/2010/main" val="134575054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 2"/>
          <p:cNvSpPr>
            <a:spLocks noGrp="1" noChangeArrowheads="1"/>
          </p:cNvSpPr>
          <p:nvPr>
            <p:ph type="title"/>
          </p:nvPr>
        </p:nvSpPr>
        <p:spPr/>
        <p:txBody>
          <a:bodyPr/>
          <a:lstStyle/>
          <a:p>
            <a:r>
              <a:rPr lang="en-US" dirty="0"/>
              <a:t>Goal of Calibration</a:t>
            </a:r>
          </a:p>
        </p:txBody>
      </p:sp>
      <p:sp>
        <p:nvSpPr>
          <p:cNvPr id="388099" name="Rectangle 3"/>
          <p:cNvSpPr>
            <a:spLocks noGrp="1" noChangeArrowheads="1"/>
          </p:cNvSpPr>
          <p:nvPr>
            <p:ph type="body" idx="1"/>
          </p:nvPr>
        </p:nvSpPr>
        <p:spPr>
          <a:xfrm>
            <a:off x="2209800" y="1525488"/>
            <a:ext cx="7772400" cy="1066800"/>
          </a:xfrm>
        </p:spPr>
        <p:txBody>
          <a:bodyPr/>
          <a:lstStyle/>
          <a:p>
            <a:r>
              <a:rPr lang="en-US" dirty="0"/>
              <a:t>Learn mapping from 3D to 2D</a:t>
            </a:r>
          </a:p>
          <a:p>
            <a:r>
              <a:rPr lang="en-US" sz="2400" dirty="0"/>
              <a:t>Can take different forms:</a:t>
            </a:r>
          </a:p>
        </p:txBody>
      </p:sp>
      <p:graphicFrame>
        <p:nvGraphicFramePr>
          <p:cNvPr id="388100" name="Object 4"/>
          <p:cNvGraphicFramePr>
            <a:graphicFrameLocks noChangeAspect="1"/>
          </p:cNvGraphicFramePr>
          <p:nvPr/>
        </p:nvGraphicFramePr>
        <p:xfrm>
          <a:off x="5410201" y="2681064"/>
          <a:ext cx="3070225" cy="1189038"/>
        </p:xfrm>
        <a:graphic>
          <a:graphicData uri="http://schemas.openxmlformats.org/presentationml/2006/ole">
            <mc:AlternateContent xmlns:mc="http://schemas.openxmlformats.org/markup-compatibility/2006">
              <mc:Choice xmlns:v="urn:schemas-microsoft-com:vml" Requires="v">
                <p:oleObj name="Equation" r:id="rId2" imgW="2362200" imgH="914400" progId="Equation.3">
                  <p:embed/>
                </p:oleObj>
              </mc:Choice>
              <mc:Fallback>
                <p:oleObj name="Equation" r:id="rId2" imgW="2362200" imgH="914400" progId="Equation.3">
                  <p:embed/>
                  <p:pic>
                    <p:nvPicPr>
                      <p:cNvPr id="38810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201" y="2681064"/>
                        <a:ext cx="3070225" cy="1189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8102" name="Rectangle 6"/>
          <p:cNvSpPr>
            <a:spLocks noChangeArrowheads="1"/>
          </p:cNvSpPr>
          <p:nvPr/>
        </p:nvSpPr>
        <p:spPr bwMode="auto">
          <a:xfrm>
            <a:off x="2209800" y="3125688"/>
            <a:ext cx="7772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lvl="1" indent="-285750">
              <a:spcBef>
                <a:spcPct val="20000"/>
              </a:spcBef>
              <a:buFontTx/>
              <a:buChar char="•"/>
            </a:pPr>
            <a:r>
              <a:rPr lang="en-US" sz="2000">
                <a:latin typeface="Times New Roman" pitchFamily="18" charset="0"/>
                <a:cs typeface="Times New Roman" pitchFamily="18" charset="0"/>
              </a:rPr>
              <a:t>Projection matrix:</a:t>
            </a:r>
          </a:p>
        </p:txBody>
      </p:sp>
      <p:sp>
        <p:nvSpPr>
          <p:cNvPr id="388103" name="Rectangle 7"/>
          <p:cNvSpPr>
            <a:spLocks noChangeArrowheads="1"/>
          </p:cNvSpPr>
          <p:nvPr/>
        </p:nvSpPr>
        <p:spPr bwMode="auto">
          <a:xfrm>
            <a:off x="2209800" y="4192488"/>
            <a:ext cx="3276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lvl="1" indent="-285750">
              <a:spcBef>
                <a:spcPct val="20000"/>
              </a:spcBef>
              <a:buFontTx/>
              <a:buChar char="•"/>
            </a:pPr>
            <a:r>
              <a:rPr lang="en-US" sz="2000">
                <a:latin typeface="Times New Roman" pitchFamily="18" charset="0"/>
                <a:cs typeface="Times New Roman" pitchFamily="18" charset="0"/>
              </a:rPr>
              <a:t>Camera parameters:  </a:t>
            </a:r>
          </a:p>
        </p:txBody>
      </p:sp>
      <p:graphicFrame>
        <p:nvGraphicFramePr>
          <p:cNvPr id="388104" name="Object 8"/>
          <p:cNvGraphicFramePr>
            <a:graphicFrameLocks noChangeAspect="1"/>
          </p:cNvGraphicFramePr>
          <p:nvPr/>
        </p:nvGraphicFramePr>
        <p:xfrm>
          <a:off x="5651500" y="4136803"/>
          <a:ext cx="2819400" cy="427037"/>
        </p:xfrm>
        <a:graphic>
          <a:graphicData uri="http://schemas.openxmlformats.org/presentationml/2006/ole">
            <mc:AlternateContent xmlns:mc="http://schemas.openxmlformats.org/markup-compatibility/2006">
              <mc:Choice xmlns:v="urn:schemas-microsoft-com:vml" Requires="v">
                <p:oleObj name="Equation" r:id="rId4" imgW="1346200" imgH="203200" progId="Equation.3">
                  <p:embed/>
                </p:oleObj>
              </mc:Choice>
              <mc:Fallback>
                <p:oleObj name="Equation" r:id="rId4" imgW="1346200" imgH="203200" progId="Equation.3">
                  <p:embed/>
                  <p:pic>
                    <p:nvPicPr>
                      <p:cNvPr id="388104"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51500" y="4136803"/>
                        <a:ext cx="2819400" cy="427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8105" name="Rectangle 9"/>
          <p:cNvSpPr>
            <a:spLocks noChangeArrowheads="1"/>
          </p:cNvSpPr>
          <p:nvPr/>
        </p:nvSpPr>
        <p:spPr bwMode="auto">
          <a:xfrm>
            <a:off x="2209800" y="5271864"/>
            <a:ext cx="4343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742950" lvl="1" indent="-285750">
              <a:spcBef>
                <a:spcPct val="20000"/>
              </a:spcBef>
              <a:buFontTx/>
              <a:buChar char="•"/>
            </a:pPr>
            <a:r>
              <a:rPr lang="en-US" sz="2000">
                <a:latin typeface="Times New Roman" pitchFamily="18" charset="0"/>
                <a:cs typeface="Times New Roman" pitchFamily="18" charset="0"/>
              </a:rPr>
              <a:t>General mapping</a:t>
            </a:r>
          </a:p>
        </p:txBody>
      </p:sp>
      <p:graphicFrame>
        <p:nvGraphicFramePr>
          <p:cNvPr id="388106" name="Object 10"/>
          <p:cNvGraphicFramePr>
            <a:graphicFrameLocks noChangeAspect="1"/>
          </p:cNvGraphicFramePr>
          <p:nvPr/>
        </p:nvGraphicFramePr>
        <p:xfrm>
          <a:off x="5200650" y="5271864"/>
          <a:ext cx="1276350" cy="427038"/>
        </p:xfrm>
        <a:graphic>
          <a:graphicData uri="http://schemas.openxmlformats.org/presentationml/2006/ole">
            <mc:AlternateContent xmlns:mc="http://schemas.openxmlformats.org/markup-compatibility/2006">
              <mc:Choice xmlns:v="urn:schemas-microsoft-com:vml" Requires="v">
                <p:oleObj name="Equation" r:id="rId6" imgW="609336" imgH="203112" progId="Equation.3">
                  <p:embed/>
                </p:oleObj>
              </mc:Choice>
              <mc:Fallback>
                <p:oleObj name="Equation" r:id="rId6" imgW="609336" imgH="203112" progId="Equation.3">
                  <p:embed/>
                  <p:pic>
                    <p:nvPicPr>
                      <p:cNvPr id="388106"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00650" y="5271864"/>
                        <a:ext cx="1276350" cy="427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4621771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p:cNvSpPr>
            <a:spLocks noGrp="1" noChangeArrowheads="1"/>
          </p:cNvSpPr>
          <p:nvPr>
            <p:ph type="title"/>
          </p:nvPr>
        </p:nvSpPr>
        <p:spPr>
          <a:xfrm>
            <a:off x="1775520" y="214536"/>
            <a:ext cx="8077200" cy="838200"/>
          </a:xfrm>
        </p:spPr>
        <p:txBody>
          <a:bodyPr/>
          <a:lstStyle/>
          <a:p>
            <a:r>
              <a:rPr lang="en-US" sz="3200" dirty="0"/>
              <a:t>Calibration:  Basic Idea</a:t>
            </a:r>
          </a:p>
        </p:txBody>
      </p:sp>
      <p:sp>
        <p:nvSpPr>
          <p:cNvPr id="290819" name="Rectangle 3"/>
          <p:cNvSpPr>
            <a:spLocks noGrp="1" noChangeArrowheads="1"/>
          </p:cNvSpPr>
          <p:nvPr>
            <p:ph type="body" idx="1"/>
          </p:nvPr>
        </p:nvSpPr>
        <p:spPr>
          <a:xfrm>
            <a:off x="1847528" y="1310208"/>
            <a:ext cx="7772400" cy="1219200"/>
          </a:xfrm>
        </p:spPr>
        <p:txBody>
          <a:bodyPr>
            <a:normAutofit fontScale="92500" lnSpcReduction="20000"/>
          </a:bodyPr>
          <a:lstStyle/>
          <a:p>
            <a:pPr>
              <a:lnSpc>
                <a:spcPct val="90000"/>
              </a:lnSpc>
            </a:pPr>
            <a:r>
              <a:rPr lang="en-US" dirty="0"/>
              <a:t>Place a known object in the scene</a:t>
            </a:r>
          </a:p>
          <a:p>
            <a:pPr lvl="1">
              <a:lnSpc>
                <a:spcPct val="90000"/>
              </a:lnSpc>
              <a:buFont typeface="Arial" pitchFamily="34" charset="0"/>
              <a:buChar char="•"/>
            </a:pPr>
            <a:r>
              <a:rPr lang="en-US" dirty="0"/>
              <a:t>identify correspondence between image and scene</a:t>
            </a:r>
          </a:p>
          <a:p>
            <a:pPr lvl="1">
              <a:lnSpc>
                <a:spcPct val="90000"/>
              </a:lnSpc>
              <a:buFont typeface="Arial" pitchFamily="34" charset="0"/>
              <a:buChar char="•"/>
            </a:pPr>
            <a:r>
              <a:rPr lang="en-US" dirty="0"/>
              <a:t>compute mapping from scene to image</a:t>
            </a:r>
          </a:p>
          <a:p>
            <a:pPr lvl="1">
              <a:lnSpc>
                <a:spcPct val="90000"/>
              </a:lnSpc>
            </a:pPr>
            <a:endParaRPr lang="en-US" dirty="0"/>
          </a:p>
          <a:p>
            <a:pPr lvl="1">
              <a:lnSpc>
                <a:spcPct val="90000"/>
              </a:lnSpc>
            </a:pPr>
            <a:endParaRPr lang="en-US" dirty="0"/>
          </a:p>
          <a:p>
            <a:pPr lvl="1">
              <a:lnSpc>
                <a:spcPct val="90000"/>
              </a:lnSpc>
            </a:pPr>
            <a:endParaRPr lang="en-US" dirty="0"/>
          </a:p>
          <a:p>
            <a:pPr lvl="1">
              <a:lnSpc>
                <a:spcPct val="90000"/>
              </a:lnSpc>
            </a:pPr>
            <a:endParaRPr lang="en-US" dirty="0"/>
          </a:p>
          <a:p>
            <a:pPr lvl="1">
              <a:lnSpc>
                <a:spcPct val="90000"/>
              </a:lnSpc>
            </a:pPr>
            <a:endParaRPr lang="en-US" dirty="0"/>
          </a:p>
          <a:p>
            <a:pPr lvl="1">
              <a:lnSpc>
                <a:spcPct val="90000"/>
              </a:lnSpc>
            </a:pPr>
            <a:endParaRPr lang="en-US" dirty="0"/>
          </a:p>
          <a:p>
            <a:pPr lvl="1">
              <a:lnSpc>
                <a:spcPct val="90000"/>
              </a:lnSpc>
            </a:pPr>
            <a:endParaRPr lang="en-US" dirty="0"/>
          </a:p>
        </p:txBody>
      </p:sp>
      <p:pic>
        <p:nvPicPr>
          <p:cNvPr id="290820" name="Picture 4" descr="D:\szeliski\misc\UWcourses\images\CalCube.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56040" y="2492897"/>
            <a:ext cx="3810000" cy="3140075"/>
          </a:xfrm>
          <a:prstGeom prst="rect">
            <a:avLst/>
          </a:prstGeom>
          <a:noFill/>
          <a:extLst>
            <a:ext uri="{909E8E84-426E-40DD-AFC4-6F175D3DCCD1}">
              <a14:hiddenFill xmlns:a14="http://schemas.microsoft.com/office/drawing/2010/main">
                <a:solidFill>
                  <a:srgbClr val="FFFFFF"/>
                </a:solidFill>
              </a14:hiddenFill>
            </a:ext>
          </a:extLst>
        </p:spPr>
      </p:pic>
      <p:sp>
        <p:nvSpPr>
          <p:cNvPr id="290821" name="Rectangle 5"/>
          <p:cNvSpPr>
            <a:spLocks noChangeArrowheads="1"/>
          </p:cNvSpPr>
          <p:nvPr/>
        </p:nvSpPr>
        <p:spPr bwMode="auto">
          <a:xfrm>
            <a:off x="1851992" y="5805264"/>
            <a:ext cx="7772400" cy="86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nSpc>
                <a:spcPct val="90000"/>
              </a:lnSpc>
              <a:spcBef>
                <a:spcPct val="20000"/>
              </a:spcBef>
            </a:pPr>
            <a:r>
              <a:rPr lang="en-US" sz="2800" dirty="0">
                <a:latin typeface="Times New Roman" pitchFamily="18" charset="0"/>
                <a:cs typeface="Times New Roman" pitchFamily="18" charset="0"/>
              </a:rPr>
              <a:t>Problem:  must know geometry very accurately</a:t>
            </a:r>
          </a:p>
          <a:p>
            <a:pPr marL="742950" lvl="1" indent="-285750">
              <a:lnSpc>
                <a:spcPct val="90000"/>
              </a:lnSpc>
              <a:spcBef>
                <a:spcPct val="20000"/>
              </a:spcBef>
              <a:buFontTx/>
              <a:buChar char="•"/>
            </a:pPr>
            <a:r>
              <a:rPr lang="en-US" sz="2000" dirty="0">
                <a:latin typeface="Times New Roman" pitchFamily="18" charset="0"/>
                <a:cs typeface="Times New Roman" pitchFamily="18" charset="0"/>
              </a:rPr>
              <a:t>how to get this info?</a:t>
            </a:r>
          </a:p>
        </p:txBody>
      </p:sp>
    </p:spTree>
    <p:extLst>
      <p:ext uri="{BB962C8B-B14F-4D97-AF65-F5344CB8AC3E}">
        <p14:creationId xmlns:p14="http://schemas.microsoft.com/office/powerpoint/2010/main" val="32322524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9082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29082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21" grpId="0" build="p"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p:txBody>
          <a:bodyPr/>
          <a:lstStyle/>
          <a:p>
            <a:r>
              <a:rPr lang="en-US"/>
              <a:t>Calibration Approaches</a:t>
            </a:r>
          </a:p>
        </p:txBody>
      </p:sp>
      <p:sp>
        <p:nvSpPr>
          <p:cNvPr id="359427" name="Rectangle 3"/>
          <p:cNvSpPr>
            <a:spLocks noGrp="1" noChangeArrowheads="1"/>
          </p:cNvSpPr>
          <p:nvPr>
            <p:ph type="body" idx="1"/>
          </p:nvPr>
        </p:nvSpPr>
        <p:spPr>
          <a:xfrm>
            <a:off x="1775520" y="1250776"/>
            <a:ext cx="7772400" cy="5562600"/>
          </a:xfrm>
        </p:spPr>
        <p:txBody>
          <a:bodyPr>
            <a:noAutofit/>
          </a:bodyPr>
          <a:lstStyle/>
          <a:p>
            <a:pPr marL="533400" indent="-533400"/>
            <a:r>
              <a:rPr lang="en-US" sz="2400" dirty="0"/>
              <a:t>Possible approaches (not comprehensive!)</a:t>
            </a:r>
          </a:p>
          <a:p>
            <a:pPr marL="838200" lvl="1" indent="-381000"/>
            <a:r>
              <a:rPr lang="en-US" sz="1800" dirty="0"/>
              <a:t>Experimental design</a:t>
            </a:r>
          </a:p>
          <a:p>
            <a:pPr marL="1257300" lvl="2" indent="-342900"/>
            <a:r>
              <a:rPr lang="en-US" sz="1600" dirty="0"/>
              <a:t>planar patterns</a:t>
            </a:r>
          </a:p>
          <a:p>
            <a:pPr marL="1257300" lvl="2" indent="-342900"/>
            <a:r>
              <a:rPr lang="en-US" sz="1600" dirty="0"/>
              <a:t>non-planar grids</a:t>
            </a:r>
          </a:p>
          <a:p>
            <a:pPr marL="838200" lvl="1" indent="-381000"/>
            <a:r>
              <a:rPr lang="en-US" sz="1800" dirty="0"/>
              <a:t>Optimization techniques</a:t>
            </a:r>
          </a:p>
          <a:p>
            <a:pPr marL="1257300" lvl="2" indent="-342900"/>
            <a:r>
              <a:rPr lang="en-US" sz="1600" dirty="0"/>
              <a:t>direct linear regression</a:t>
            </a:r>
          </a:p>
          <a:p>
            <a:pPr marL="1257300" lvl="2" indent="-342900"/>
            <a:r>
              <a:rPr lang="en-US" sz="1600" dirty="0"/>
              <a:t>non-linear optimization</a:t>
            </a:r>
          </a:p>
          <a:p>
            <a:pPr marL="838200" lvl="1" indent="-381000"/>
            <a:r>
              <a:rPr lang="en-US" sz="1800" dirty="0"/>
              <a:t>Cues</a:t>
            </a:r>
          </a:p>
          <a:p>
            <a:pPr marL="1257300" lvl="2" indent="-342900"/>
            <a:r>
              <a:rPr lang="en-US" sz="1600" dirty="0"/>
              <a:t>3D -&gt; 2D</a:t>
            </a:r>
          </a:p>
          <a:p>
            <a:pPr marL="1257300" lvl="2" indent="-342900"/>
            <a:r>
              <a:rPr lang="en-US" sz="1600" dirty="0"/>
              <a:t>vanishing points</a:t>
            </a:r>
          </a:p>
          <a:p>
            <a:pPr marL="1257300" lvl="2" indent="-342900"/>
            <a:r>
              <a:rPr lang="en-US" sz="1600" dirty="0"/>
              <a:t>special camera motions</a:t>
            </a:r>
          </a:p>
          <a:p>
            <a:pPr marL="1676400" lvl="3" indent="-304800"/>
            <a:r>
              <a:rPr lang="en-US" sz="1400" dirty="0"/>
              <a:t>panorama stitching</a:t>
            </a:r>
          </a:p>
          <a:p>
            <a:pPr marL="1676400" lvl="3" indent="-304800"/>
            <a:r>
              <a:rPr lang="en-US" sz="1400" dirty="0"/>
              <a:t>circular camera movement</a:t>
            </a:r>
          </a:p>
          <a:p>
            <a:pPr marL="533400" indent="-533400"/>
            <a:r>
              <a:rPr lang="en-US" sz="2400" dirty="0"/>
              <a:t>Want</a:t>
            </a:r>
          </a:p>
          <a:p>
            <a:pPr marL="838200" lvl="1" indent="-381000"/>
            <a:r>
              <a:rPr lang="en-US" sz="1800" dirty="0"/>
              <a:t>accuracy</a:t>
            </a:r>
          </a:p>
          <a:p>
            <a:pPr marL="838200" lvl="1" indent="-381000"/>
            <a:r>
              <a:rPr lang="en-US" sz="1800" dirty="0"/>
              <a:t>ease of use</a:t>
            </a:r>
          </a:p>
          <a:p>
            <a:pPr marL="838200" lvl="1" indent="-381000"/>
            <a:r>
              <a:rPr lang="en-US" sz="1800" dirty="0"/>
              <a:t>usually a trade-off</a:t>
            </a:r>
          </a:p>
        </p:txBody>
      </p:sp>
    </p:spTree>
    <p:extLst>
      <p:ext uri="{BB962C8B-B14F-4D97-AF65-F5344CB8AC3E}">
        <p14:creationId xmlns:p14="http://schemas.microsoft.com/office/powerpoint/2010/main" val="255933576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1060" descr="Edittex"/>
          <p:cNvPicPr>
            <a:picLocks noChangeAspect="1" noChangeArrowheads="1"/>
          </p:cNvPicPr>
          <p:nvPr>
            <p:custDataLst>
              <p:tags r:id="rId1"/>
            </p:custDataLst>
          </p:nvPr>
        </p:nvPicPr>
        <p:blipFill>
          <a:blip r:embed="rId17" cstate="print"/>
          <a:srcRect/>
          <a:stretch>
            <a:fillRect/>
          </a:stretch>
        </p:blipFill>
        <p:spPr bwMode="auto">
          <a:xfrm>
            <a:off x="8381058" y="3896916"/>
            <a:ext cx="612775" cy="219075"/>
          </a:xfrm>
          <a:prstGeom prst="rect">
            <a:avLst/>
          </a:prstGeom>
          <a:noFill/>
          <a:ln w="9525">
            <a:noFill/>
            <a:miter lim="800000"/>
            <a:headEnd/>
            <a:tailEnd/>
          </a:ln>
        </p:spPr>
      </p:pic>
      <p:pic>
        <p:nvPicPr>
          <p:cNvPr id="1030" name="Picture 1056" descr="Edittex"/>
          <p:cNvPicPr>
            <a:picLocks noChangeAspect="1" noChangeArrowheads="1"/>
          </p:cNvPicPr>
          <p:nvPr>
            <p:custDataLst>
              <p:tags r:id="rId2"/>
            </p:custDataLst>
          </p:nvPr>
        </p:nvPicPr>
        <p:blipFill>
          <a:blip r:embed="rId18" cstate="print"/>
          <a:srcRect/>
          <a:stretch>
            <a:fillRect/>
          </a:stretch>
        </p:blipFill>
        <p:spPr bwMode="auto">
          <a:xfrm>
            <a:off x="8468370" y="4354116"/>
            <a:ext cx="201612" cy="227013"/>
          </a:xfrm>
          <a:prstGeom prst="rect">
            <a:avLst/>
          </a:prstGeom>
          <a:noFill/>
          <a:ln w="9525">
            <a:noFill/>
            <a:miter lim="800000"/>
            <a:headEnd/>
            <a:tailEnd/>
          </a:ln>
        </p:spPr>
      </p:pic>
      <p:sp>
        <p:nvSpPr>
          <p:cNvPr id="1031" name="Rectangle 1026"/>
          <p:cNvSpPr>
            <a:spLocks noGrp="1" noChangeArrowheads="1"/>
          </p:cNvSpPr>
          <p:nvPr>
            <p:ph type="title"/>
            <p:custDataLst>
              <p:tags r:id="rId3"/>
            </p:custDataLst>
          </p:nvPr>
        </p:nvSpPr>
        <p:spPr>
          <a:xfrm>
            <a:off x="1602432" y="44624"/>
            <a:ext cx="8229600" cy="1143000"/>
          </a:xfrm>
        </p:spPr>
        <p:txBody>
          <a:bodyPr/>
          <a:lstStyle/>
          <a:p>
            <a:r>
              <a:rPr lang="en-US" dirty="0"/>
              <a:t>Camera parameters</a:t>
            </a:r>
          </a:p>
        </p:txBody>
      </p:sp>
      <p:sp>
        <p:nvSpPr>
          <p:cNvPr id="1032" name="Rectangle 1038"/>
          <p:cNvSpPr>
            <a:spLocks noChangeArrowheads="1"/>
          </p:cNvSpPr>
          <p:nvPr>
            <p:custDataLst>
              <p:tags r:id="rId4"/>
            </p:custDataLst>
          </p:nvPr>
        </p:nvSpPr>
        <p:spPr bwMode="auto">
          <a:xfrm>
            <a:off x="1831032" y="1382315"/>
            <a:ext cx="8153400" cy="1600200"/>
          </a:xfrm>
          <a:prstGeom prst="rect">
            <a:avLst/>
          </a:prstGeom>
          <a:noFill/>
          <a:ln w="9525">
            <a:noFill/>
            <a:miter lim="800000"/>
            <a:headEnd/>
            <a:tailEnd/>
          </a:ln>
        </p:spPr>
        <p:txBody>
          <a:bodyPr/>
          <a:lstStyle/>
          <a:p>
            <a:pPr marL="342900" indent="-342900">
              <a:spcBef>
                <a:spcPct val="20000"/>
              </a:spcBef>
            </a:pPr>
            <a:r>
              <a:rPr lang="en-US" sz="2000" dirty="0">
                <a:latin typeface="Times New Roman" pitchFamily="18" charset="0"/>
                <a:cs typeface="Times New Roman" pitchFamily="18" charset="0"/>
              </a:rPr>
              <a:t>A camera is described by several parameters</a:t>
            </a:r>
          </a:p>
          <a:p>
            <a:pPr marL="742950" lvl="1" indent="-285750">
              <a:spcBef>
                <a:spcPct val="20000"/>
              </a:spcBef>
              <a:buFontTx/>
              <a:buChar char="•"/>
            </a:pPr>
            <a:r>
              <a:rPr lang="en-US" dirty="0">
                <a:latin typeface="Times New Roman" pitchFamily="18" charset="0"/>
                <a:cs typeface="Times New Roman" pitchFamily="18" charset="0"/>
              </a:rPr>
              <a:t>Translation </a:t>
            </a:r>
            <a:r>
              <a:rPr lang="en-US" dirty="0">
                <a:solidFill>
                  <a:srgbClr val="3333FF"/>
                </a:solidFill>
                <a:latin typeface="Times New Roman" pitchFamily="18" charset="0"/>
                <a:cs typeface="Times New Roman" pitchFamily="18" charset="0"/>
              </a:rPr>
              <a:t>T</a:t>
            </a:r>
            <a:r>
              <a:rPr lang="en-US" dirty="0">
                <a:latin typeface="Times New Roman" pitchFamily="18" charset="0"/>
                <a:cs typeface="Times New Roman" pitchFamily="18" charset="0"/>
              </a:rPr>
              <a:t> of the optical center from the origin of world </a:t>
            </a:r>
            <a:r>
              <a:rPr lang="en-US" dirty="0" err="1">
                <a:latin typeface="Times New Roman" pitchFamily="18" charset="0"/>
                <a:cs typeface="Times New Roman" pitchFamily="18" charset="0"/>
              </a:rPr>
              <a:t>coords</a:t>
            </a:r>
            <a:endParaRPr lang="en-US" dirty="0">
              <a:latin typeface="Times New Roman" pitchFamily="18" charset="0"/>
              <a:cs typeface="Times New Roman" pitchFamily="18" charset="0"/>
            </a:endParaRPr>
          </a:p>
          <a:p>
            <a:pPr marL="742950" lvl="1" indent="-285750">
              <a:spcBef>
                <a:spcPct val="20000"/>
              </a:spcBef>
              <a:buFontTx/>
              <a:buChar char="•"/>
            </a:pPr>
            <a:r>
              <a:rPr lang="en-US" dirty="0">
                <a:latin typeface="Times New Roman" pitchFamily="18" charset="0"/>
                <a:cs typeface="Times New Roman" pitchFamily="18" charset="0"/>
              </a:rPr>
              <a:t>Rotation </a:t>
            </a:r>
            <a:r>
              <a:rPr lang="en-US" dirty="0">
                <a:solidFill>
                  <a:srgbClr val="3333FF"/>
                </a:solidFill>
                <a:latin typeface="Times New Roman" pitchFamily="18" charset="0"/>
                <a:cs typeface="Times New Roman" pitchFamily="18" charset="0"/>
              </a:rPr>
              <a:t>R</a:t>
            </a:r>
            <a:r>
              <a:rPr lang="en-US" dirty="0">
                <a:latin typeface="Times New Roman" pitchFamily="18" charset="0"/>
                <a:cs typeface="Times New Roman" pitchFamily="18" charset="0"/>
              </a:rPr>
              <a:t> of the image plane</a:t>
            </a:r>
          </a:p>
          <a:p>
            <a:pPr marL="742950" lvl="1" indent="-285750">
              <a:spcBef>
                <a:spcPct val="20000"/>
              </a:spcBef>
              <a:buFontTx/>
              <a:buChar char="•"/>
            </a:pPr>
            <a:r>
              <a:rPr lang="en-US" dirty="0">
                <a:latin typeface="Times New Roman" pitchFamily="18" charset="0"/>
                <a:cs typeface="Times New Roman" pitchFamily="18" charset="0"/>
              </a:rPr>
              <a:t>focal length </a:t>
            </a:r>
            <a:r>
              <a:rPr lang="en-US" dirty="0">
                <a:solidFill>
                  <a:srgbClr val="FF0000"/>
                </a:solidFill>
                <a:latin typeface="Times New Roman" pitchFamily="18" charset="0"/>
                <a:cs typeface="Times New Roman" pitchFamily="18" charset="0"/>
              </a:rPr>
              <a:t>f</a:t>
            </a:r>
            <a:r>
              <a:rPr lang="en-US" dirty="0">
                <a:latin typeface="Times New Roman" pitchFamily="18" charset="0"/>
                <a:cs typeface="Times New Roman" pitchFamily="18" charset="0"/>
              </a:rPr>
              <a:t>, principle point </a:t>
            </a:r>
            <a:r>
              <a:rPr lang="en-US" dirty="0">
                <a:solidFill>
                  <a:srgbClr val="FF0000"/>
                </a:solidFill>
                <a:latin typeface="Times New Roman" pitchFamily="18" charset="0"/>
                <a:cs typeface="Times New Roman" pitchFamily="18" charset="0"/>
              </a:rPr>
              <a:t>(</a:t>
            </a:r>
            <a:r>
              <a:rPr lang="en-US" dirty="0" err="1">
                <a:solidFill>
                  <a:srgbClr val="FF0000"/>
                </a:solidFill>
                <a:latin typeface="Times New Roman" pitchFamily="18" charset="0"/>
                <a:cs typeface="Times New Roman" pitchFamily="18" charset="0"/>
              </a:rPr>
              <a:t>x’</a:t>
            </a:r>
            <a:r>
              <a:rPr lang="en-US" baseline="-25000" dirty="0" err="1">
                <a:solidFill>
                  <a:srgbClr val="FF0000"/>
                </a:solidFill>
                <a:latin typeface="Times New Roman" pitchFamily="18" charset="0"/>
                <a:cs typeface="Times New Roman" pitchFamily="18" charset="0"/>
              </a:rPr>
              <a:t>c</a:t>
            </a:r>
            <a:r>
              <a:rPr lang="en-US" dirty="0">
                <a:solidFill>
                  <a:srgbClr val="FF0000"/>
                </a:solidFill>
                <a:latin typeface="Times New Roman" pitchFamily="18" charset="0"/>
                <a:cs typeface="Times New Roman" pitchFamily="18" charset="0"/>
              </a:rPr>
              <a:t>, </a:t>
            </a:r>
            <a:r>
              <a:rPr lang="en-US" dirty="0" err="1">
                <a:solidFill>
                  <a:srgbClr val="FF0000"/>
                </a:solidFill>
                <a:latin typeface="Times New Roman" pitchFamily="18" charset="0"/>
                <a:cs typeface="Times New Roman" pitchFamily="18" charset="0"/>
              </a:rPr>
              <a:t>y’</a:t>
            </a:r>
            <a:r>
              <a:rPr lang="en-US" baseline="-25000" dirty="0" err="1">
                <a:solidFill>
                  <a:srgbClr val="FF0000"/>
                </a:solidFill>
                <a:latin typeface="Times New Roman" pitchFamily="18" charset="0"/>
                <a:cs typeface="Times New Roman" pitchFamily="18" charset="0"/>
              </a:rPr>
              <a:t>c</a:t>
            </a:r>
            <a:r>
              <a:rPr lang="en-US" dirty="0">
                <a:solidFill>
                  <a:srgbClr val="FF0000"/>
                </a:solidFill>
                <a:latin typeface="Times New Roman" pitchFamily="18" charset="0"/>
                <a:cs typeface="Times New Roman" pitchFamily="18" charset="0"/>
              </a:rPr>
              <a:t>)</a:t>
            </a:r>
            <a:r>
              <a:rPr lang="en-US" dirty="0">
                <a:latin typeface="Times New Roman" pitchFamily="18" charset="0"/>
                <a:cs typeface="Times New Roman" pitchFamily="18" charset="0"/>
              </a:rPr>
              <a:t>, pixel size </a:t>
            </a:r>
            <a:r>
              <a:rPr lang="en-US" dirty="0">
                <a:solidFill>
                  <a:srgbClr val="FF0000"/>
                </a:solidFill>
                <a:latin typeface="Times New Roman" pitchFamily="18" charset="0"/>
                <a:cs typeface="Times New Roman" pitchFamily="18" charset="0"/>
              </a:rPr>
              <a:t>(</a:t>
            </a:r>
            <a:r>
              <a:rPr lang="en-US" dirty="0" err="1">
                <a:solidFill>
                  <a:srgbClr val="FF0000"/>
                </a:solidFill>
                <a:latin typeface="Times New Roman" pitchFamily="18" charset="0"/>
                <a:cs typeface="Times New Roman" pitchFamily="18" charset="0"/>
              </a:rPr>
              <a:t>s</a:t>
            </a:r>
            <a:r>
              <a:rPr lang="en-US" baseline="-25000" dirty="0" err="1">
                <a:solidFill>
                  <a:srgbClr val="FF0000"/>
                </a:solidFill>
                <a:latin typeface="Times New Roman" pitchFamily="18" charset="0"/>
                <a:cs typeface="Times New Roman" pitchFamily="18" charset="0"/>
              </a:rPr>
              <a:t>x</a:t>
            </a:r>
            <a:r>
              <a:rPr lang="en-US" dirty="0">
                <a:solidFill>
                  <a:srgbClr val="FF0000"/>
                </a:solidFill>
                <a:latin typeface="Times New Roman" pitchFamily="18" charset="0"/>
                <a:cs typeface="Times New Roman" pitchFamily="18" charset="0"/>
              </a:rPr>
              <a:t>, </a:t>
            </a:r>
            <a:r>
              <a:rPr lang="en-US" dirty="0" err="1">
                <a:solidFill>
                  <a:srgbClr val="FF0000"/>
                </a:solidFill>
                <a:latin typeface="Times New Roman" pitchFamily="18" charset="0"/>
                <a:cs typeface="Times New Roman" pitchFamily="18" charset="0"/>
              </a:rPr>
              <a:t>s</a:t>
            </a:r>
            <a:r>
              <a:rPr lang="en-US" baseline="-25000" dirty="0" err="1">
                <a:solidFill>
                  <a:srgbClr val="FF0000"/>
                </a:solidFill>
                <a:latin typeface="Times New Roman" pitchFamily="18" charset="0"/>
                <a:cs typeface="Times New Roman" pitchFamily="18" charset="0"/>
              </a:rPr>
              <a:t>y</a:t>
            </a:r>
            <a:r>
              <a:rPr lang="en-US" dirty="0">
                <a:solidFill>
                  <a:srgbClr val="FF0000"/>
                </a:solidFill>
                <a:latin typeface="Times New Roman" pitchFamily="18" charset="0"/>
                <a:cs typeface="Times New Roman" pitchFamily="18" charset="0"/>
              </a:rPr>
              <a:t>)</a:t>
            </a:r>
          </a:p>
          <a:p>
            <a:pPr marL="742950" lvl="1" indent="-285750">
              <a:spcBef>
                <a:spcPct val="20000"/>
              </a:spcBef>
              <a:buFontTx/>
              <a:buChar char="•"/>
            </a:pPr>
            <a:r>
              <a:rPr lang="en-US" dirty="0">
                <a:latin typeface="Times New Roman" pitchFamily="18" charset="0"/>
                <a:cs typeface="Times New Roman" pitchFamily="18" charset="0"/>
              </a:rPr>
              <a:t>blue parameters are called “</a:t>
            </a:r>
            <a:r>
              <a:rPr lang="en-US" dirty="0" err="1">
                <a:solidFill>
                  <a:srgbClr val="3333FF"/>
                </a:solidFill>
                <a:latin typeface="Times New Roman" pitchFamily="18" charset="0"/>
                <a:cs typeface="Times New Roman" pitchFamily="18" charset="0"/>
              </a:rPr>
              <a:t>extrinsics</a:t>
            </a:r>
            <a:r>
              <a:rPr lang="en-US" dirty="0">
                <a:latin typeface="Times New Roman" pitchFamily="18" charset="0"/>
                <a:cs typeface="Times New Roman" pitchFamily="18" charset="0"/>
              </a:rPr>
              <a:t>,”  red are “</a:t>
            </a:r>
            <a:r>
              <a:rPr lang="en-US" dirty="0" err="1">
                <a:solidFill>
                  <a:srgbClr val="FF0000"/>
                </a:solidFill>
                <a:latin typeface="Times New Roman" pitchFamily="18" charset="0"/>
                <a:cs typeface="Times New Roman" pitchFamily="18" charset="0"/>
              </a:rPr>
              <a:t>intrinsics</a:t>
            </a:r>
            <a:r>
              <a:rPr lang="en-US" dirty="0">
                <a:latin typeface="Times New Roman" pitchFamily="18" charset="0"/>
                <a:cs typeface="Times New Roman" pitchFamily="18" charset="0"/>
              </a:rPr>
              <a:t>”</a:t>
            </a:r>
          </a:p>
        </p:txBody>
      </p:sp>
      <p:sp>
        <p:nvSpPr>
          <p:cNvPr id="1034" name="Rectangle 1046"/>
          <p:cNvSpPr>
            <a:spLocks noChangeArrowheads="1"/>
          </p:cNvSpPr>
          <p:nvPr>
            <p:custDataLst>
              <p:tags r:id="rId5"/>
            </p:custDataLst>
          </p:nvPr>
        </p:nvSpPr>
        <p:spPr bwMode="auto">
          <a:xfrm>
            <a:off x="7927032" y="3211115"/>
            <a:ext cx="1447800" cy="1143000"/>
          </a:xfrm>
          <a:prstGeom prst="rect">
            <a:avLst/>
          </a:prstGeom>
          <a:noFill/>
          <a:ln w="19050">
            <a:solidFill>
              <a:schemeClr val="tx1"/>
            </a:solidFill>
            <a:miter lim="800000"/>
            <a:headEnd/>
            <a:tailEnd/>
          </a:ln>
        </p:spPr>
        <p:txBody>
          <a:bodyPr wrap="none" anchor="ctr"/>
          <a:lstStyle/>
          <a:p>
            <a:endParaRPr lang="en-US">
              <a:latin typeface="Times New Roman" pitchFamily="18" charset="0"/>
              <a:cs typeface="Times New Roman" pitchFamily="18" charset="0"/>
            </a:endParaRPr>
          </a:p>
        </p:txBody>
      </p:sp>
      <p:sp>
        <p:nvSpPr>
          <p:cNvPr id="1035" name="Line 1047"/>
          <p:cNvSpPr>
            <a:spLocks noChangeShapeType="1"/>
          </p:cNvSpPr>
          <p:nvPr>
            <p:custDataLst>
              <p:tags r:id="rId6"/>
            </p:custDataLst>
          </p:nvPr>
        </p:nvSpPr>
        <p:spPr bwMode="auto">
          <a:xfrm flipV="1">
            <a:off x="8612832" y="3211115"/>
            <a:ext cx="0" cy="609600"/>
          </a:xfrm>
          <a:prstGeom prst="line">
            <a:avLst/>
          </a:prstGeom>
          <a:noFill/>
          <a:ln w="9525">
            <a:solidFill>
              <a:schemeClr val="tx1"/>
            </a:solidFill>
            <a:round/>
            <a:headEnd/>
            <a:tailEnd type="triangle" w="med" len="med"/>
          </a:ln>
        </p:spPr>
        <p:txBody>
          <a:bodyPr/>
          <a:lstStyle/>
          <a:p>
            <a:endParaRPr lang="en-US">
              <a:latin typeface="Times New Roman" pitchFamily="18" charset="0"/>
              <a:cs typeface="Times New Roman" pitchFamily="18" charset="0"/>
            </a:endParaRPr>
          </a:p>
        </p:txBody>
      </p:sp>
      <p:sp>
        <p:nvSpPr>
          <p:cNvPr id="1036" name="Line 1048"/>
          <p:cNvSpPr>
            <a:spLocks noChangeShapeType="1"/>
          </p:cNvSpPr>
          <p:nvPr>
            <p:custDataLst>
              <p:tags r:id="rId7"/>
            </p:custDataLst>
          </p:nvPr>
        </p:nvSpPr>
        <p:spPr bwMode="auto">
          <a:xfrm rot="5400000" flipV="1">
            <a:off x="8917632" y="3515915"/>
            <a:ext cx="0" cy="609600"/>
          </a:xfrm>
          <a:prstGeom prst="line">
            <a:avLst/>
          </a:prstGeom>
          <a:noFill/>
          <a:ln w="9525">
            <a:solidFill>
              <a:schemeClr val="tx1"/>
            </a:solidFill>
            <a:round/>
            <a:headEnd/>
            <a:tailEnd type="triangle" w="med" len="med"/>
          </a:ln>
        </p:spPr>
        <p:txBody>
          <a:bodyPr/>
          <a:lstStyle/>
          <a:p>
            <a:endParaRPr lang="en-US">
              <a:latin typeface="Times New Roman" pitchFamily="18" charset="0"/>
              <a:cs typeface="Times New Roman" pitchFamily="18" charset="0"/>
            </a:endParaRPr>
          </a:p>
        </p:txBody>
      </p:sp>
      <p:pic>
        <p:nvPicPr>
          <p:cNvPr id="1037" name="Picture 1049" descr="Edittex"/>
          <p:cNvPicPr>
            <a:picLocks noChangeAspect="1" noChangeArrowheads="1"/>
          </p:cNvPicPr>
          <p:nvPr>
            <p:custDataLst>
              <p:tags r:id="rId8"/>
            </p:custDataLst>
          </p:nvPr>
        </p:nvPicPr>
        <p:blipFill>
          <a:blip r:embed="rId19" cstate="print"/>
          <a:srcRect/>
          <a:stretch>
            <a:fillRect/>
          </a:stretch>
        </p:blipFill>
        <p:spPr bwMode="auto">
          <a:xfrm>
            <a:off x="9235132" y="3744515"/>
            <a:ext cx="215900" cy="177800"/>
          </a:xfrm>
          <a:prstGeom prst="rect">
            <a:avLst/>
          </a:prstGeom>
          <a:noFill/>
          <a:ln w="9525">
            <a:noFill/>
            <a:miter lim="800000"/>
            <a:headEnd/>
            <a:tailEnd/>
          </a:ln>
        </p:spPr>
      </p:pic>
      <p:pic>
        <p:nvPicPr>
          <p:cNvPr id="1038" name="Picture 1050" descr="Edittex"/>
          <p:cNvPicPr>
            <a:picLocks noChangeAspect="1" noChangeArrowheads="1"/>
          </p:cNvPicPr>
          <p:nvPr>
            <p:custDataLst>
              <p:tags r:id="rId9"/>
            </p:custDataLst>
          </p:nvPr>
        </p:nvPicPr>
        <p:blipFill>
          <a:blip r:embed="rId20" cstate="print"/>
          <a:srcRect/>
          <a:stretch>
            <a:fillRect/>
          </a:stretch>
        </p:blipFill>
        <p:spPr bwMode="auto">
          <a:xfrm>
            <a:off x="8314382" y="3336529"/>
            <a:ext cx="190500" cy="179387"/>
          </a:xfrm>
          <a:prstGeom prst="rect">
            <a:avLst/>
          </a:prstGeom>
          <a:noFill/>
          <a:ln w="9525">
            <a:noFill/>
            <a:miter lim="800000"/>
            <a:headEnd/>
            <a:tailEnd/>
          </a:ln>
        </p:spPr>
      </p:pic>
      <p:sp>
        <p:nvSpPr>
          <p:cNvPr id="1039" name="Line 1052"/>
          <p:cNvSpPr>
            <a:spLocks noChangeShapeType="1"/>
          </p:cNvSpPr>
          <p:nvPr>
            <p:custDataLst>
              <p:tags r:id="rId10"/>
            </p:custDataLst>
          </p:nvPr>
        </p:nvSpPr>
        <p:spPr bwMode="auto">
          <a:xfrm flipV="1">
            <a:off x="7844482" y="3744515"/>
            <a:ext cx="0" cy="609600"/>
          </a:xfrm>
          <a:prstGeom prst="line">
            <a:avLst/>
          </a:prstGeom>
          <a:noFill/>
          <a:ln w="9525">
            <a:solidFill>
              <a:schemeClr val="tx1"/>
            </a:solidFill>
            <a:round/>
            <a:headEnd/>
            <a:tailEnd type="triangle" w="med" len="med"/>
          </a:ln>
        </p:spPr>
        <p:txBody>
          <a:bodyPr/>
          <a:lstStyle/>
          <a:p>
            <a:endParaRPr lang="en-US">
              <a:latin typeface="Times New Roman" pitchFamily="18" charset="0"/>
              <a:cs typeface="Times New Roman" pitchFamily="18" charset="0"/>
            </a:endParaRPr>
          </a:p>
        </p:txBody>
      </p:sp>
      <p:sp>
        <p:nvSpPr>
          <p:cNvPr id="1040" name="Line 1053"/>
          <p:cNvSpPr>
            <a:spLocks noChangeShapeType="1"/>
          </p:cNvSpPr>
          <p:nvPr>
            <p:custDataLst>
              <p:tags r:id="rId11"/>
            </p:custDataLst>
          </p:nvPr>
        </p:nvSpPr>
        <p:spPr bwMode="auto">
          <a:xfrm rot="5400000" flipV="1">
            <a:off x="8231832" y="4125515"/>
            <a:ext cx="0" cy="609600"/>
          </a:xfrm>
          <a:prstGeom prst="line">
            <a:avLst/>
          </a:prstGeom>
          <a:noFill/>
          <a:ln w="9525">
            <a:solidFill>
              <a:schemeClr val="tx1"/>
            </a:solidFill>
            <a:round/>
            <a:headEnd/>
            <a:tailEnd type="triangle" w="med" len="med"/>
          </a:ln>
        </p:spPr>
        <p:txBody>
          <a:bodyPr/>
          <a:lstStyle/>
          <a:p>
            <a:endParaRPr lang="en-US">
              <a:latin typeface="Times New Roman" pitchFamily="18" charset="0"/>
              <a:cs typeface="Times New Roman" pitchFamily="18" charset="0"/>
            </a:endParaRPr>
          </a:p>
        </p:txBody>
      </p:sp>
      <p:pic>
        <p:nvPicPr>
          <p:cNvPr id="1041" name="Picture 1057" descr="Edittex"/>
          <p:cNvPicPr>
            <a:picLocks noChangeAspect="1" noChangeArrowheads="1"/>
          </p:cNvPicPr>
          <p:nvPr>
            <p:custDataLst>
              <p:tags r:id="rId12"/>
            </p:custDataLst>
          </p:nvPr>
        </p:nvPicPr>
        <p:blipFill>
          <a:blip r:embed="rId21" cstate="print"/>
          <a:srcRect/>
          <a:stretch>
            <a:fillRect/>
          </a:stretch>
        </p:blipFill>
        <p:spPr bwMode="auto">
          <a:xfrm>
            <a:off x="7584132" y="3744515"/>
            <a:ext cx="190500" cy="261938"/>
          </a:xfrm>
          <a:prstGeom prst="rect">
            <a:avLst/>
          </a:prstGeom>
          <a:noFill/>
          <a:ln w="9525">
            <a:noFill/>
            <a:miter lim="800000"/>
            <a:headEnd/>
            <a:tailEnd/>
          </a:ln>
        </p:spPr>
      </p:pic>
      <p:sp>
        <p:nvSpPr>
          <p:cNvPr id="1042" name="Oval 1061"/>
          <p:cNvSpPr>
            <a:spLocks noChangeArrowheads="1"/>
          </p:cNvSpPr>
          <p:nvPr>
            <p:custDataLst>
              <p:tags r:id="rId13"/>
            </p:custDataLst>
          </p:nvPr>
        </p:nvSpPr>
        <p:spPr bwMode="auto">
          <a:xfrm>
            <a:off x="8569970" y="3777853"/>
            <a:ext cx="76200" cy="76200"/>
          </a:xfrm>
          <a:prstGeom prst="ellipse">
            <a:avLst/>
          </a:prstGeom>
          <a:solidFill>
            <a:schemeClr val="accent1"/>
          </a:solidFill>
          <a:ln w="9525">
            <a:solidFill>
              <a:schemeClr val="tx1"/>
            </a:solidFill>
            <a:round/>
            <a:headEnd/>
            <a:tailEnd/>
          </a:ln>
        </p:spPr>
        <p:txBody>
          <a:bodyPr wrap="none" anchor="ctr"/>
          <a:lstStyle/>
          <a:p>
            <a:endParaRPr lang="en-US">
              <a:latin typeface="Times New Roman" pitchFamily="18" charset="0"/>
              <a:cs typeface="Times New Roman" pitchFamily="18" charset="0"/>
            </a:endParaRPr>
          </a:p>
        </p:txBody>
      </p:sp>
      <p:sp>
        <p:nvSpPr>
          <p:cNvPr id="1043" name="Freeform 1063"/>
          <p:cNvSpPr>
            <a:spLocks/>
          </p:cNvSpPr>
          <p:nvPr>
            <p:custDataLst>
              <p:tags r:id="rId14"/>
            </p:custDataLst>
          </p:nvPr>
        </p:nvSpPr>
        <p:spPr bwMode="auto">
          <a:xfrm>
            <a:off x="6174432" y="2131615"/>
            <a:ext cx="3136900" cy="1612900"/>
          </a:xfrm>
          <a:custGeom>
            <a:avLst/>
            <a:gdLst>
              <a:gd name="T0" fmla="*/ 0 w 1976"/>
              <a:gd name="T1" fmla="*/ 241300 h 1016"/>
              <a:gd name="T2" fmla="*/ 1447800 w 1976"/>
              <a:gd name="T3" fmla="*/ 12700 h 1016"/>
              <a:gd name="T4" fmla="*/ 2438400 w 1976"/>
              <a:gd name="T5" fmla="*/ 317500 h 1016"/>
              <a:gd name="T6" fmla="*/ 3124200 w 1976"/>
              <a:gd name="T7" fmla="*/ 1003300 h 1016"/>
              <a:gd name="T8" fmla="*/ 2514600 w 1976"/>
              <a:gd name="T9" fmla="*/ 1612900 h 1016"/>
              <a:gd name="T10" fmla="*/ 0 60000 65536"/>
              <a:gd name="T11" fmla="*/ 0 60000 65536"/>
              <a:gd name="T12" fmla="*/ 0 60000 65536"/>
              <a:gd name="T13" fmla="*/ 0 60000 65536"/>
              <a:gd name="T14" fmla="*/ 0 60000 65536"/>
              <a:gd name="T15" fmla="*/ 0 w 1976"/>
              <a:gd name="T16" fmla="*/ 0 h 1016"/>
              <a:gd name="T17" fmla="*/ 1976 w 1976"/>
              <a:gd name="T18" fmla="*/ 1016 h 1016"/>
            </a:gdLst>
            <a:ahLst/>
            <a:cxnLst>
              <a:cxn ang="T10">
                <a:pos x="T0" y="T1"/>
              </a:cxn>
              <a:cxn ang="T11">
                <a:pos x="T2" y="T3"/>
              </a:cxn>
              <a:cxn ang="T12">
                <a:pos x="T4" y="T5"/>
              </a:cxn>
              <a:cxn ang="T13">
                <a:pos x="T6" y="T7"/>
              </a:cxn>
              <a:cxn ang="T14">
                <a:pos x="T8" y="T9"/>
              </a:cxn>
            </a:cxnLst>
            <a:rect l="T15" t="T16" r="T17" b="T18"/>
            <a:pathLst>
              <a:path w="1976" h="1016">
                <a:moveTo>
                  <a:pt x="0" y="152"/>
                </a:moveTo>
                <a:cubicBezTo>
                  <a:pt x="328" y="76"/>
                  <a:pt x="656" y="0"/>
                  <a:pt x="912" y="8"/>
                </a:cubicBezTo>
                <a:cubicBezTo>
                  <a:pt x="1168" y="16"/>
                  <a:pt x="1360" y="96"/>
                  <a:pt x="1536" y="200"/>
                </a:cubicBezTo>
                <a:cubicBezTo>
                  <a:pt x="1712" y="304"/>
                  <a:pt x="1960" y="496"/>
                  <a:pt x="1968" y="632"/>
                </a:cubicBezTo>
                <a:cubicBezTo>
                  <a:pt x="1976" y="768"/>
                  <a:pt x="1780" y="892"/>
                  <a:pt x="1584" y="1016"/>
                </a:cubicBezTo>
              </a:path>
            </a:pathLst>
          </a:custGeom>
          <a:noFill/>
          <a:ln w="9525">
            <a:solidFill>
              <a:schemeClr val="tx1"/>
            </a:solidFill>
            <a:round/>
            <a:headEnd/>
            <a:tailEnd type="triangle" w="med" len="med"/>
          </a:ln>
        </p:spPr>
        <p:txBody>
          <a:bodyPr/>
          <a:lstStyle/>
          <a:p>
            <a:endParaRPr lang="en-US">
              <a:latin typeface="Times New Roman" pitchFamily="18" charset="0"/>
              <a:cs typeface="Times New Roman" pitchFamily="18" charset="0"/>
            </a:endParaRPr>
          </a:p>
        </p:txBody>
      </p:sp>
    </p:spTree>
    <p:extLst>
      <p:ext uri="{BB962C8B-B14F-4D97-AF65-F5344CB8AC3E}">
        <p14:creationId xmlns:p14="http://schemas.microsoft.com/office/powerpoint/2010/main" val="286470193"/>
      </p:ext>
    </p:extLst>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045"/>
          <p:cNvGrpSpPr>
            <a:grpSpLocks/>
          </p:cNvGrpSpPr>
          <p:nvPr>
            <p:custDataLst>
              <p:tags r:id="rId1"/>
            </p:custDataLst>
          </p:nvPr>
        </p:nvGrpSpPr>
        <p:grpSpPr bwMode="auto">
          <a:xfrm>
            <a:off x="1831032" y="1700809"/>
            <a:ext cx="8153400" cy="3508375"/>
            <a:chOff x="432" y="1680"/>
            <a:chExt cx="5136" cy="2210"/>
          </a:xfrm>
        </p:grpSpPr>
        <p:sp>
          <p:nvSpPr>
            <p:cNvPr id="1044" name="Rectangle 1037"/>
            <p:cNvSpPr>
              <a:spLocks noChangeArrowheads="1"/>
            </p:cNvSpPr>
            <p:nvPr>
              <p:custDataLst>
                <p:tags r:id="rId4"/>
              </p:custDataLst>
            </p:nvPr>
          </p:nvSpPr>
          <p:spPr bwMode="auto">
            <a:xfrm>
              <a:off x="432" y="1680"/>
              <a:ext cx="5136" cy="1392"/>
            </a:xfrm>
            <a:prstGeom prst="rect">
              <a:avLst/>
            </a:prstGeom>
            <a:noFill/>
            <a:ln w="9525">
              <a:noFill/>
              <a:miter lim="800000"/>
              <a:headEnd/>
              <a:tailEnd/>
            </a:ln>
          </p:spPr>
          <p:txBody>
            <a:bodyPr/>
            <a:lstStyle/>
            <a:p>
              <a:pPr marL="342900" indent="-342900">
                <a:spcBef>
                  <a:spcPct val="20000"/>
                </a:spcBef>
              </a:pPr>
              <a:r>
                <a:rPr lang="en-US" sz="2000" dirty="0">
                  <a:latin typeface="Times New Roman" pitchFamily="18" charset="0"/>
                  <a:cs typeface="Times New Roman" pitchFamily="18" charset="0"/>
                </a:rPr>
                <a:t>Projection equation</a:t>
              </a:r>
            </a:p>
            <a:p>
              <a:pPr marL="342900" indent="-342900">
                <a:spcBef>
                  <a:spcPct val="20000"/>
                </a:spcBef>
              </a:pPr>
              <a:endParaRPr lang="en-US" sz="2000" dirty="0">
                <a:latin typeface="Times New Roman" pitchFamily="18" charset="0"/>
                <a:cs typeface="Times New Roman" pitchFamily="18" charset="0"/>
              </a:endParaRPr>
            </a:p>
            <a:p>
              <a:pPr marL="342900" indent="-342900">
                <a:spcBef>
                  <a:spcPct val="20000"/>
                </a:spcBef>
              </a:pPr>
              <a:endParaRPr lang="en-US" sz="2000" dirty="0">
                <a:latin typeface="Times New Roman" pitchFamily="18" charset="0"/>
                <a:cs typeface="Times New Roman" pitchFamily="18" charset="0"/>
              </a:endParaRPr>
            </a:p>
            <a:p>
              <a:pPr marL="342900" indent="-342900">
                <a:spcBef>
                  <a:spcPct val="20000"/>
                </a:spcBef>
              </a:pPr>
              <a:endParaRPr lang="en-US" sz="2000" dirty="0">
                <a:latin typeface="Times New Roman" pitchFamily="18" charset="0"/>
                <a:cs typeface="Times New Roman" pitchFamily="18" charset="0"/>
              </a:endParaRPr>
            </a:p>
            <a:p>
              <a:pPr marL="742950" lvl="1" indent="-285750">
                <a:spcBef>
                  <a:spcPct val="20000"/>
                </a:spcBef>
                <a:buFontTx/>
                <a:buChar char="•"/>
              </a:pPr>
              <a:r>
                <a:rPr lang="en-US" dirty="0">
                  <a:latin typeface="Times New Roman" pitchFamily="18" charset="0"/>
                  <a:cs typeface="Times New Roman" pitchFamily="18" charset="0"/>
                </a:rPr>
                <a:t>The projection matrix models the cumulative effect of all parameters</a:t>
              </a:r>
            </a:p>
            <a:p>
              <a:pPr marL="742950" lvl="1" indent="-285750">
                <a:spcBef>
                  <a:spcPct val="20000"/>
                </a:spcBef>
                <a:buFontTx/>
                <a:buChar char="•"/>
              </a:pPr>
              <a:r>
                <a:rPr lang="en-US" dirty="0">
                  <a:latin typeface="Times New Roman" pitchFamily="18" charset="0"/>
                  <a:cs typeface="Times New Roman" pitchFamily="18" charset="0"/>
                </a:rPr>
                <a:t>Useful to decompose into a series of operations</a:t>
              </a:r>
              <a:endParaRPr lang="en-US" b="1" dirty="0">
                <a:latin typeface="Times New Roman" pitchFamily="18" charset="0"/>
                <a:cs typeface="Times New Roman" pitchFamily="18" charset="0"/>
              </a:endParaRPr>
            </a:p>
          </p:txBody>
        </p:sp>
        <p:graphicFrame>
          <p:nvGraphicFramePr>
            <p:cNvPr id="1026" name="Object 1028"/>
            <p:cNvGraphicFramePr>
              <a:graphicFrameLocks noChangeAspect="1"/>
            </p:cNvGraphicFramePr>
            <p:nvPr/>
          </p:nvGraphicFramePr>
          <p:xfrm>
            <a:off x="1599" y="1872"/>
            <a:ext cx="1883" cy="749"/>
          </p:xfrm>
          <a:graphic>
            <a:graphicData uri="http://schemas.openxmlformats.org/presentationml/2006/ole">
              <mc:AlternateContent xmlns:mc="http://schemas.openxmlformats.org/markup-compatibility/2006">
                <mc:Choice xmlns:v="urn:schemas-microsoft-com:vml" Requires="v">
                  <p:oleObj name="Equation" r:id="rId13" imgW="2298600" imgH="914400" progId="Equation.3">
                    <p:embed/>
                  </p:oleObj>
                </mc:Choice>
                <mc:Fallback>
                  <p:oleObj name="Equation" r:id="rId13" imgW="2298600" imgH="914400" progId="Equation.3">
                    <p:embed/>
                    <p:pic>
                      <p:nvPicPr>
                        <p:cNvPr id="1026" name="Object 102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99" y="1872"/>
                          <a:ext cx="1883" cy="7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7" name="Object 1032"/>
            <p:cNvGraphicFramePr>
              <a:graphicFrameLocks noChangeAspect="1"/>
            </p:cNvGraphicFramePr>
            <p:nvPr/>
          </p:nvGraphicFramePr>
          <p:xfrm>
            <a:off x="1089" y="3120"/>
            <a:ext cx="3329" cy="583"/>
          </p:xfrm>
          <a:graphic>
            <a:graphicData uri="http://schemas.openxmlformats.org/presentationml/2006/ole">
              <mc:AlternateContent xmlns:mc="http://schemas.openxmlformats.org/markup-compatibility/2006">
                <mc:Choice xmlns:v="urn:schemas-microsoft-com:vml" Requires="v">
                  <p:oleObj name="Equation" r:id="rId15" imgW="4063680" imgH="711000" progId="Equation.3">
                    <p:embed/>
                  </p:oleObj>
                </mc:Choice>
                <mc:Fallback>
                  <p:oleObj name="Equation" r:id="rId15" imgW="4063680" imgH="711000" progId="Equation.3">
                    <p:embed/>
                    <p:pic>
                      <p:nvPicPr>
                        <p:cNvPr id="1027" name="Object 103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89" y="3120"/>
                          <a:ext cx="3329" cy="5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45" name="Text Box 1033"/>
            <p:cNvSpPr txBox="1">
              <a:spLocks noChangeArrowheads="1"/>
            </p:cNvSpPr>
            <p:nvPr>
              <p:custDataLst>
                <p:tags r:id="rId5"/>
              </p:custDataLst>
            </p:nvPr>
          </p:nvSpPr>
          <p:spPr bwMode="auto">
            <a:xfrm>
              <a:off x="2269" y="3696"/>
              <a:ext cx="575" cy="194"/>
            </a:xfrm>
            <a:prstGeom prst="rect">
              <a:avLst/>
            </a:prstGeom>
            <a:noFill/>
            <a:ln w="9525">
              <a:noFill/>
              <a:miter lim="800000"/>
              <a:headEnd/>
              <a:tailEnd/>
            </a:ln>
          </p:spPr>
          <p:txBody>
            <a:bodyPr wrap="none">
              <a:spAutoFit/>
            </a:bodyPr>
            <a:lstStyle/>
            <a:p>
              <a:r>
                <a:rPr lang="en-US" sz="1400">
                  <a:latin typeface="Times New Roman" pitchFamily="18" charset="0"/>
                  <a:cs typeface="Times New Roman" pitchFamily="18" charset="0"/>
                </a:rPr>
                <a:t>projection</a:t>
              </a:r>
            </a:p>
          </p:txBody>
        </p:sp>
        <p:sp>
          <p:nvSpPr>
            <p:cNvPr id="1046" name="Text Box 1034"/>
            <p:cNvSpPr txBox="1">
              <a:spLocks noChangeArrowheads="1"/>
            </p:cNvSpPr>
            <p:nvPr>
              <p:custDataLst>
                <p:tags r:id="rId6"/>
              </p:custDataLst>
            </p:nvPr>
          </p:nvSpPr>
          <p:spPr bwMode="auto">
            <a:xfrm>
              <a:off x="1549" y="3696"/>
              <a:ext cx="527" cy="194"/>
            </a:xfrm>
            <a:prstGeom prst="rect">
              <a:avLst/>
            </a:prstGeom>
            <a:noFill/>
            <a:ln w="9525">
              <a:noFill/>
              <a:miter lim="800000"/>
              <a:headEnd/>
              <a:tailEnd/>
            </a:ln>
          </p:spPr>
          <p:txBody>
            <a:bodyPr wrap="none">
              <a:spAutoFit/>
            </a:bodyPr>
            <a:lstStyle/>
            <a:p>
              <a:r>
                <a:rPr lang="en-US" sz="1400">
                  <a:solidFill>
                    <a:srgbClr val="FF0000"/>
                  </a:solidFill>
                  <a:latin typeface="Times New Roman" pitchFamily="18" charset="0"/>
                  <a:cs typeface="Times New Roman" pitchFamily="18" charset="0"/>
                </a:rPr>
                <a:t>intrinsics</a:t>
              </a:r>
            </a:p>
          </p:txBody>
        </p:sp>
        <p:sp>
          <p:nvSpPr>
            <p:cNvPr id="1047" name="Text Box 1035"/>
            <p:cNvSpPr txBox="1">
              <a:spLocks noChangeArrowheads="1"/>
            </p:cNvSpPr>
            <p:nvPr>
              <p:custDataLst>
                <p:tags r:id="rId7"/>
              </p:custDataLst>
            </p:nvPr>
          </p:nvSpPr>
          <p:spPr bwMode="auto">
            <a:xfrm>
              <a:off x="3072" y="3696"/>
              <a:ext cx="468" cy="194"/>
            </a:xfrm>
            <a:prstGeom prst="rect">
              <a:avLst/>
            </a:prstGeom>
            <a:noFill/>
            <a:ln w="9525">
              <a:noFill/>
              <a:miter lim="800000"/>
              <a:headEnd/>
              <a:tailEnd/>
            </a:ln>
          </p:spPr>
          <p:txBody>
            <a:bodyPr wrap="none">
              <a:spAutoFit/>
            </a:bodyPr>
            <a:lstStyle/>
            <a:p>
              <a:r>
                <a:rPr lang="en-US" sz="1400">
                  <a:solidFill>
                    <a:srgbClr val="3333FF"/>
                  </a:solidFill>
                  <a:latin typeface="Times New Roman" pitchFamily="18" charset="0"/>
                  <a:cs typeface="Times New Roman" pitchFamily="18" charset="0"/>
                </a:rPr>
                <a:t>rotation</a:t>
              </a:r>
            </a:p>
          </p:txBody>
        </p:sp>
        <p:sp>
          <p:nvSpPr>
            <p:cNvPr id="1048" name="Text Box 1036"/>
            <p:cNvSpPr txBox="1">
              <a:spLocks noChangeArrowheads="1"/>
            </p:cNvSpPr>
            <p:nvPr>
              <p:custDataLst>
                <p:tags r:id="rId8"/>
              </p:custDataLst>
            </p:nvPr>
          </p:nvSpPr>
          <p:spPr bwMode="auto">
            <a:xfrm>
              <a:off x="3709" y="3696"/>
              <a:ext cx="594" cy="194"/>
            </a:xfrm>
            <a:prstGeom prst="rect">
              <a:avLst/>
            </a:prstGeom>
            <a:noFill/>
            <a:ln w="9525">
              <a:noFill/>
              <a:miter lim="800000"/>
              <a:headEnd/>
              <a:tailEnd/>
            </a:ln>
          </p:spPr>
          <p:txBody>
            <a:bodyPr wrap="none">
              <a:spAutoFit/>
            </a:bodyPr>
            <a:lstStyle/>
            <a:p>
              <a:r>
                <a:rPr lang="en-US" sz="1400">
                  <a:solidFill>
                    <a:srgbClr val="3333FF"/>
                  </a:solidFill>
                  <a:latin typeface="Times New Roman" pitchFamily="18" charset="0"/>
                  <a:cs typeface="Times New Roman" pitchFamily="18" charset="0"/>
                </a:rPr>
                <a:t>translation</a:t>
              </a:r>
            </a:p>
          </p:txBody>
        </p:sp>
        <p:sp>
          <p:nvSpPr>
            <p:cNvPr id="1049" name="Text Box 1041"/>
            <p:cNvSpPr txBox="1">
              <a:spLocks noChangeArrowheads="1"/>
            </p:cNvSpPr>
            <p:nvPr>
              <p:custDataLst>
                <p:tags r:id="rId9"/>
              </p:custDataLst>
            </p:nvPr>
          </p:nvSpPr>
          <p:spPr bwMode="auto">
            <a:xfrm>
              <a:off x="4272" y="2928"/>
              <a:ext cx="906" cy="212"/>
            </a:xfrm>
            <a:prstGeom prst="rect">
              <a:avLst/>
            </a:prstGeom>
            <a:noFill/>
            <a:ln w="9525">
              <a:noFill/>
              <a:miter lim="800000"/>
              <a:headEnd/>
              <a:tailEnd/>
            </a:ln>
          </p:spPr>
          <p:txBody>
            <a:bodyPr wrap="none">
              <a:spAutoFit/>
            </a:bodyPr>
            <a:lstStyle/>
            <a:p>
              <a:pPr algn="ctr"/>
              <a:r>
                <a:rPr lang="en-US" sz="1600">
                  <a:latin typeface="Times New Roman" pitchFamily="18" charset="0"/>
                  <a:cs typeface="Times New Roman" pitchFamily="18" charset="0"/>
                </a:rPr>
                <a:t>identity matrix</a:t>
              </a:r>
            </a:p>
          </p:txBody>
        </p:sp>
        <p:sp>
          <p:nvSpPr>
            <p:cNvPr id="1050" name="Line 1042"/>
            <p:cNvSpPr>
              <a:spLocks noChangeShapeType="1"/>
            </p:cNvSpPr>
            <p:nvPr>
              <p:custDataLst>
                <p:tags r:id="rId10"/>
              </p:custDataLst>
            </p:nvPr>
          </p:nvSpPr>
          <p:spPr bwMode="auto">
            <a:xfrm flipH="1">
              <a:off x="3840" y="3072"/>
              <a:ext cx="432" cy="192"/>
            </a:xfrm>
            <a:prstGeom prst="line">
              <a:avLst/>
            </a:prstGeom>
            <a:noFill/>
            <a:ln w="9525">
              <a:solidFill>
                <a:schemeClr val="tx1"/>
              </a:solidFill>
              <a:round/>
              <a:headEnd/>
              <a:tailEnd type="triangle" w="med" len="med"/>
            </a:ln>
          </p:spPr>
          <p:txBody>
            <a:bodyPr/>
            <a:lstStyle/>
            <a:p>
              <a:endParaRPr lang="en-US">
                <a:latin typeface="Times New Roman" pitchFamily="18" charset="0"/>
                <a:cs typeface="Times New Roman" pitchFamily="18" charset="0"/>
              </a:endParaRPr>
            </a:p>
          </p:txBody>
        </p:sp>
      </p:grpSp>
      <p:sp>
        <p:nvSpPr>
          <p:cNvPr id="1031" name="Rectangle 1026"/>
          <p:cNvSpPr>
            <a:spLocks noGrp="1" noChangeArrowheads="1"/>
          </p:cNvSpPr>
          <p:nvPr>
            <p:ph type="title"/>
            <p:custDataLst>
              <p:tags r:id="rId2"/>
            </p:custDataLst>
          </p:nvPr>
        </p:nvSpPr>
        <p:spPr>
          <a:xfrm>
            <a:off x="1602432" y="44624"/>
            <a:ext cx="8229600" cy="1143000"/>
          </a:xfrm>
        </p:spPr>
        <p:txBody>
          <a:bodyPr/>
          <a:lstStyle/>
          <a:p>
            <a:r>
              <a:rPr lang="en-US" dirty="0"/>
              <a:t>Camera parameters</a:t>
            </a:r>
          </a:p>
        </p:txBody>
      </p:sp>
      <p:sp>
        <p:nvSpPr>
          <p:cNvPr id="1033" name="Rectangle 1044"/>
          <p:cNvSpPr>
            <a:spLocks noChangeArrowheads="1"/>
          </p:cNvSpPr>
          <p:nvPr>
            <p:custDataLst>
              <p:tags r:id="rId3"/>
            </p:custDataLst>
          </p:nvPr>
        </p:nvSpPr>
        <p:spPr bwMode="auto">
          <a:xfrm>
            <a:off x="1831032" y="5206008"/>
            <a:ext cx="8153400" cy="609600"/>
          </a:xfrm>
          <a:prstGeom prst="rect">
            <a:avLst/>
          </a:prstGeom>
          <a:noFill/>
          <a:ln w="9525">
            <a:noFill/>
            <a:miter lim="800000"/>
            <a:headEnd/>
            <a:tailEnd/>
          </a:ln>
        </p:spPr>
        <p:txBody>
          <a:bodyPr/>
          <a:lstStyle/>
          <a:p>
            <a:pPr marL="742950" lvl="1" indent="-285750">
              <a:spcBef>
                <a:spcPct val="20000"/>
              </a:spcBef>
              <a:buFontTx/>
              <a:buChar char="•"/>
            </a:pPr>
            <a:r>
              <a:rPr lang="en-US">
                <a:latin typeface="Times New Roman" pitchFamily="18" charset="0"/>
                <a:cs typeface="Times New Roman" pitchFamily="18" charset="0"/>
              </a:rPr>
              <a:t>The definitions of these parameters are </a:t>
            </a:r>
            <a:r>
              <a:rPr lang="en-US" b="1">
                <a:latin typeface="Times New Roman" pitchFamily="18" charset="0"/>
                <a:cs typeface="Times New Roman" pitchFamily="18" charset="0"/>
              </a:rPr>
              <a:t>not</a:t>
            </a:r>
            <a:r>
              <a:rPr lang="en-US">
                <a:latin typeface="Times New Roman" pitchFamily="18" charset="0"/>
                <a:cs typeface="Times New Roman" pitchFamily="18" charset="0"/>
              </a:rPr>
              <a:t> completely standardized</a:t>
            </a:r>
          </a:p>
          <a:p>
            <a:pPr marL="1143000" lvl="2" indent="-228600">
              <a:spcBef>
                <a:spcPct val="20000"/>
              </a:spcBef>
              <a:buFontTx/>
              <a:buChar char="–"/>
            </a:pPr>
            <a:r>
              <a:rPr lang="en-US" sz="1600">
                <a:latin typeface="Times New Roman" pitchFamily="18" charset="0"/>
                <a:cs typeface="Times New Roman" pitchFamily="18" charset="0"/>
              </a:rPr>
              <a:t>especially intrinsics—varies from one book to another</a:t>
            </a:r>
          </a:p>
        </p:txBody>
      </p:sp>
    </p:spTree>
    <p:extLst>
      <p:ext uri="{BB962C8B-B14F-4D97-AF65-F5344CB8AC3E}">
        <p14:creationId xmlns:p14="http://schemas.microsoft.com/office/powerpoint/2010/main" val="77690444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33"/>
                                        </p:tgtEl>
                                        <p:attrNameLst>
                                          <p:attrName>style.visibility</p:attrName>
                                        </p:attrNameLst>
                                      </p:cBhvr>
                                      <p:to>
                                        <p:strVal val="visible"/>
                                      </p:to>
                                    </p:set>
                                    <p:animEffect transition="in" filter="fade">
                                      <p:cBhvr>
                                        <p:cTn id="12" dur="500"/>
                                        <p:tgtEl>
                                          <p:spTgt spid="10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3"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458" y="71414"/>
            <a:ext cx="10658069" cy="928694"/>
          </a:xfrm>
        </p:spPr>
        <p:txBody>
          <a:bodyPr>
            <a:noAutofit/>
          </a:bodyPr>
          <a:lstStyle/>
          <a:p>
            <a:r>
              <a:rPr lang="en-US" sz="4800" dirty="0"/>
              <a:t>How to Improve Calibration Accuracy</a:t>
            </a:r>
          </a:p>
        </p:txBody>
      </p:sp>
      <p:sp>
        <p:nvSpPr>
          <p:cNvPr id="3" name="Content Placeholder 2"/>
          <p:cNvSpPr>
            <a:spLocks noGrp="1"/>
          </p:cNvSpPr>
          <p:nvPr>
            <p:ph idx="1"/>
          </p:nvPr>
        </p:nvSpPr>
        <p:spPr>
          <a:xfrm>
            <a:off x="190459" y="1285860"/>
            <a:ext cx="10658069" cy="5500726"/>
          </a:xfrm>
        </p:spPr>
        <p:txBody>
          <a:bodyPr>
            <a:normAutofit lnSpcReduction="10000"/>
          </a:bodyPr>
          <a:lstStyle/>
          <a:p>
            <a:pPr>
              <a:lnSpc>
                <a:spcPct val="110000"/>
              </a:lnSpc>
              <a:spcBef>
                <a:spcPts val="600"/>
              </a:spcBef>
              <a:spcAft>
                <a:spcPts val="600"/>
              </a:spcAft>
            </a:pPr>
            <a:r>
              <a:rPr lang="en-US" dirty="0"/>
              <a:t>Modify calibration settings. Try using 3 radial distortion coefficients, estimating tangential distortion, or the skew.</a:t>
            </a:r>
          </a:p>
          <a:p>
            <a:pPr>
              <a:lnSpc>
                <a:spcPct val="110000"/>
              </a:lnSpc>
              <a:spcBef>
                <a:spcPts val="600"/>
              </a:spcBef>
              <a:spcAft>
                <a:spcPts val="600"/>
              </a:spcAft>
            </a:pPr>
            <a:r>
              <a:rPr lang="en-US" dirty="0"/>
              <a:t>Take more calibration images. The pattern in the images must be in different 3D orientations, and it should be positioned such that you have </a:t>
            </a:r>
            <a:r>
              <a:rPr lang="en-US" dirty="0" err="1"/>
              <a:t>keypoints</a:t>
            </a:r>
            <a:r>
              <a:rPr lang="en-US" dirty="0"/>
              <a:t> in all parts of the field of view. In particular, it is very important to have </a:t>
            </a:r>
            <a:r>
              <a:rPr lang="en-US" dirty="0" err="1"/>
              <a:t>keypoints</a:t>
            </a:r>
            <a:r>
              <a:rPr lang="en-US" dirty="0"/>
              <a:t> close to the edges and the corners of the image in order to get a better estimate of the distortion coefficients.</a:t>
            </a:r>
          </a:p>
          <a:p>
            <a:pPr>
              <a:lnSpc>
                <a:spcPct val="110000"/>
              </a:lnSpc>
              <a:spcBef>
                <a:spcPts val="600"/>
              </a:spcBef>
              <a:spcAft>
                <a:spcPts val="600"/>
              </a:spcAft>
            </a:pPr>
            <a:r>
              <a:rPr lang="en-US" dirty="0"/>
              <a:t>Exclude images that have high </a:t>
            </a:r>
            <a:r>
              <a:rPr lang="en-US" dirty="0" err="1"/>
              <a:t>reprojection</a:t>
            </a:r>
            <a:r>
              <a:rPr lang="en-US" dirty="0"/>
              <a:t> errors and re-calibrate.</a:t>
            </a:r>
          </a:p>
        </p:txBody>
      </p:sp>
    </p:spTree>
    <p:extLst>
      <p:ext uri="{BB962C8B-B14F-4D97-AF65-F5344CB8AC3E}">
        <p14:creationId xmlns:p14="http://schemas.microsoft.com/office/powerpoint/2010/main" val="428313327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5.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frac{1}{d_o} + \frac{1}{d_i} = &#10;\frac{1}{f}&#10;\]&#10;\end{document}&#10;"/>
  <p:tag name="EXTERNALNAME" val="Edittex"/>
  <p:tag name="BLEND" val="False"/>
  <p:tag name="TRANSPARENT" val="False"/>
  <p:tag name="BITMAPFORMAT" val="bmpmono"/>
  <p:tag name="DEBUGINTERACTIVE" val="True"/>
  <p:tag name="ORIGWIDTH" val="431.125"/>
  <p:tag name="_INSTRUCTOR VIEW19C14C36-AC8E-43BC-9DB6-C2AAF774C7DC|PANE__TAG" val="_"/>
</p:tagLst>
</file>

<file path=ppt/tags/tag6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6.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frac{1}{d_o} + \frac{1}{d_i} = &#10;\frac{1}{f}&#10;\]&#10;\end{document}&#10;"/>
  <p:tag name="EXTERNALNAME" val="Edittex"/>
  <p:tag name="BLEND" val="False"/>
  <p:tag name="TRANSPARENT" val="False"/>
  <p:tag name="BITMAPFORMAT" val="bmpmono"/>
  <p:tag name="DEBUGINTERACTIVE" val="True"/>
  <p:tag name="ORIGWIDTH" val="431.125"/>
  <p:tag name="_INSTRUCTOR VIEW19C14C36-AC8E-43BC-9DB6-C2AAF774C7DC|PANE__TAG" val="_"/>
</p:tagLst>
</file>

<file path=ppt/tags/tag77.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frac{1}{d_o} + \frac{1}{d_i} = &#10;\frac{1}{f}&#10;\]&#10;\end{document}&#10;"/>
  <p:tag name="EXTERNALNAME" val="Edittex"/>
  <p:tag name="BLEND" val="False"/>
  <p:tag name="TRANSPARENT" val="False"/>
  <p:tag name="BITMAPFORMAT" val="bmpmono"/>
  <p:tag name="DEBUGINTERACTIVE" val="True"/>
  <p:tag name="ORIGWIDTH" val="431.125"/>
  <p:tag name="_INSTRUCTOR VIEW19C14C36-AC8E-43BC-9DB6-C2AAF774C7DC|PANE__TAG" val="_"/>
</p:tagLst>
</file>

<file path=ppt/tags/tag78.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frac{1}{d_o} + \frac{1}{d_i} = &#10;\frac{1}{f}&#10;\]&#10;\end{document}&#10;"/>
  <p:tag name="EXTERNALNAME" val="Edittex"/>
  <p:tag name="BLEND" val="False"/>
  <p:tag name="TRANSPARENT" val="False"/>
  <p:tag name="BITMAPFORMAT" val="bmpmono"/>
  <p:tag name="DEBUGINTERACTIVE" val="True"/>
  <p:tag name="ORIGWIDTH" val="431.125"/>
  <p:tag name="_INSTRUCTOR VIEW19C14C36-AC8E-43BC-9DB6-C2AAF774C7DC|PANE__TAG" val="_"/>
</p:tagLst>
</file>

<file path=ppt/tags/tag7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6.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frac{1}{d_o} + \frac{1}{d_i} = &#10;\frac{1}{f}&#10;\]&#10;\end{document}&#10;"/>
  <p:tag name="EXTERNALNAME" val="Edittex"/>
  <p:tag name="BLEND" val="False"/>
  <p:tag name="TRANSPARENT" val="False"/>
  <p:tag name="BITMAPFORMAT" val="bmpmono"/>
  <p:tag name="DEBUGINTERACTIVE" val="True"/>
  <p:tag name="ORIGWIDTH" val="431.125"/>
  <p:tag name="_INSTRUCTOR VIEW19C14C36-AC8E-43BC-9DB6-C2AAF774C7DC|PANE__TAG" val="_"/>
</p:tagLst>
</file>

<file path=ppt/tags/tag8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2.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x'_c, y'_c)&#10;\]&#10;\end{document}&#10;"/>
  <p:tag name="EXTERNALNAME" val="Edittex"/>
  <p:tag name="BLEND" val="False"/>
  <p:tag name="TRANSPARENT" val="False"/>
  <p:tag name="BITMAPFORMAT" val="bmpmono"/>
  <p:tag name="DEBUGINTERACTIVE" val="True"/>
  <p:tag name="ORIGWIDTH" val="239.375"/>
  <p:tag name="_INSTRUCTOR VIEW19C14C36-AC8E-43BC-9DB6-C2AAF774C7DC|PANE__TAG" val="_"/>
</p:tagLst>
</file>

<file path=ppt/tags/tag113.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x'&#10;\]&#10;\end{document}&#10;"/>
  <p:tag name="EXTERNALNAME" val="Edittex"/>
  <p:tag name="BLEND" val="False"/>
  <p:tag name="TRANSPARENT" val="False"/>
  <p:tag name="BITMAPFORMAT" val="bmpmono"/>
  <p:tag name="DEBUGINTERACTIVE" val="True"/>
  <p:tag name="ORIGWIDTH" val="63"/>
  <p:tag name="_INSTRUCTOR VIEW19C14C36-AC8E-43BC-9DB6-C2AAF774C7DC|PANE__TAG" val="_"/>
</p:tagLst>
</file>

<file path=ppt/tags/tag1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9.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X&#10;\]&#10;\end{document}&#10;"/>
  <p:tag name="EXTERNALNAME" val="Edittex"/>
  <p:tag name="BLEND" val="False"/>
  <p:tag name="TRANSPARENT" val="False"/>
  <p:tag name="BITMAPFORMAT" val="bmpmono"/>
  <p:tag name="DEBUGINTERACTIVE" val="True"/>
  <p:tag name="ORIGWIDTH" val="67.5"/>
  <p:tag name="_INSTRUCTOR VIEW19C14C36-AC8E-43BC-9DB6-C2AAF774C7DC|PANE__TAG" val="_"/>
</p:tagLst>
</file>

<file path=ppt/tags/tag120.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Y&#10;\]&#10;\end{document}&#10;"/>
  <p:tag name="EXTERNALNAME" val="Edittex"/>
  <p:tag name="BLEND" val="False"/>
  <p:tag name="TRANSPARENT" val="False"/>
  <p:tag name="BITMAPFORMAT" val="bmpmono"/>
  <p:tag name="DEBUGINTERACTIVE" val="True"/>
  <p:tag name="ORIGWIDTH" val="59.375"/>
  <p:tag name="_INSTRUCTOR VIEW19C14C36-AC8E-43BC-9DB6-C2AAF774C7DC|PANE__TAG" val="_"/>
</p:tagLst>
</file>

<file path=ppt/tags/tag1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3.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y'&#10;\]&#10;\end{document}&#10;"/>
  <p:tag name="EXTERNALNAME" val="Edittex"/>
  <p:tag name="BLEND" val="False"/>
  <p:tag name="TRANSPARENT" val="False"/>
  <p:tag name="BITMAPFORMAT" val="bmpmono"/>
  <p:tag name="DEBUGINTERACTIVE" val="True"/>
  <p:tag name="ORIGWIDTH" val="59.375"/>
  <p:tag name="_INSTRUCTOR VIEW19C14C36-AC8E-43BC-9DB6-C2AAF774C7DC|PANE__TAG" val="_"/>
</p:tagLst>
</file>

<file path=ppt/tags/tag1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32221</TotalTime>
  <Words>4685</Words>
  <Application>Microsoft Office PowerPoint</Application>
  <PresentationFormat>Widescreen</PresentationFormat>
  <Paragraphs>610</Paragraphs>
  <Slides>87</Slides>
  <Notes>50</Notes>
  <HiddenSlides>1</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87</vt:i4>
      </vt:variant>
    </vt:vector>
  </HeadingPairs>
  <TitlesOfParts>
    <vt:vector size="98" baseType="lpstr">
      <vt:lpstr>Arial</vt:lpstr>
      <vt:lpstr>Calibri</vt:lpstr>
      <vt:lpstr>Cambria Math</vt:lpstr>
      <vt:lpstr>Courier New</vt:lpstr>
      <vt:lpstr>Palatino Linotype</vt:lpstr>
      <vt:lpstr>Times New Roman</vt:lpstr>
      <vt:lpstr>Trebuchet MS</vt:lpstr>
      <vt:lpstr>Wingdings</vt:lpstr>
      <vt:lpstr>Office Theme</vt:lpstr>
      <vt:lpstr>Image</vt:lpstr>
      <vt:lpstr>Equation</vt:lpstr>
      <vt:lpstr>Camera Models &amp; Augmented Reality</vt:lpstr>
      <vt:lpstr>Review</vt:lpstr>
      <vt:lpstr>Historical Context</vt:lpstr>
      <vt:lpstr>Image Formation</vt:lpstr>
      <vt:lpstr>Pinhole Camera</vt:lpstr>
      <vt:lpstr>Pinhole Camera</vt:lpstr>
      <vt:lpstr>Pinhole Camera - Result</vt:lpstr>
      <vt:lpstr>Shrinking the Aperture</vt:lpstr>
      <vt:lpstr>Adding a Lens</vt:lpstr>
      <vt:lpstr>Adding a Lens</vt:lpstr>
      <vt:lpstr>Thin Lens</vt:lpstr>
      <vt:lpstr>Thin Lens Assumption</vt:lpstr>
      <vt:lpstr>Field of View (FOV)</vt:lpstr>
      <vt:lpstr>Depth of Field (DOF)</vt:lpstr>
      <vt:lpstr>Camera Parameters</vt:lpstr>
      <vt:lpstr>Camera Projection - 3D World to 2D Image (Perspective)</vt:lpstr>
      <vt:lpstr>Camera Projection: World CoordinatesImage Coordinates</vt:lpstr>
      <vt:lpstr>Camera Projection: World CoordinatesImage Coordinates</vt:lpstr>
      <vt:lpstr>Camera Projection: Watch @ YouTube</vt:lpstr>
      <vt:lpstr>Camera Calibration</vt:lpstr>
      <vt:lpstr>Camera Calibration - Applications</vt:lpstr>
      <vt:lpstr>Camera Calibration Parameters</vt:lpstr>
      <vt:lpstr>Camera Calibration Parameters</vt:lpstr>
      <vt:lpstr>Camera Calibration Parameters</vt:lpstr>
      <vt:lpstr>Camera Calibration Parameters</vt:lpstr>
      <vt:lpstr>Camera Calibration Parameters</vt:lpstr>
      <vt:lpstr>Distortion in Camera Calibration</vt:lpstr>
      <vt:lpstr>Distortion in Camera Calibration</vt:lpstr>
      <vt:lpstr>Distortion in Camera Calibration</vt:lpstr>
      <vt:lpstr>Distortion in Camera Calibration</vt:lpstr>
      <vt:lpstr>Camera Calibration - Example</vt:lpstr>
      <vt:lpstr>Augmented Reality (AR)</vt:lpstr>
      <vt:lpstr>AR Applications</vt:lpstr>
      <vt:lpstr>AR Applications</vt:lpstr>
      <vt:lpstr>AR – Non-Classic Examples</vt:lpstr>
      <vt:lpstr>AR – Non-Classic Examples</vt:lpstr>
      <vt:lpstr>AR – Non-Classic Examples</vt:lpstr>
      <vt:lpstr>AR – Examples</vt:lpstr>
      <vt:lpstr>Extra Stuff</vt:lpstr>
      <vt:lpstr>Camera Projection</vt:lpstr>
      <vt:lpstr>3D World to a 2D Image</vt:lpstr>
      <vt:lpstr>The Projection Matrix</vt:lpstr>
      <vt:lpstr>The Projection Matrix</vt:lpstr>
      <vt:lpstr>The Projection Matrix</vt:lpstr>
      <vt:lpstr>Properties of Projection</vt:lpstr>
      <vt:lpstr>Properties of Projection</vt:lpstr>
      <vt:lpstr>More General Cameras</vt:lpstr>
      <vt:lpstr>Focal Length &amp; Scale</vt:lpstr>
      <vt:lpstr>Focal Length &amp; Scale</vt:lpstr>
      <vt:lpstr>Direction &amp; Rotation</vt:lpstr>
      <vt:lpstr>Location &amp; Translation</vt:lpstr>
      <vt:lpstr>Example</vt:lpstr>
      <vt:lpstr>Example</vt:lpstr>
      <vt:lpstr>Step 1: Translation</vt:lpstr>
      <vt:lpstr>Step 2: Rotation</vt:lpstr>
      <vt:lpstr>Step 2: Rotation</vt:lpstr>
      <vt:lpstr>Step 3: Scaling</vt:lpstr>
      <vt:lpstr>Putting it all together</vt:lpstr>
      <vt:lpstr>And a bit of arithmetic</vt:lpstr>
      <vt:lpstr>And finally a projection</vt:lpstr>
      <vt:lpstr>Exercise</vt:lpstr>
      <vt:lpstr>Before Film Was Invented</vt:lpstr>
      <vt:lpstr>Film Camera</vt:lpstr>
      <vt:lpstr>Color</vt:lpstr>
      <vt:lpstr>Color perception</vt:lpstr>
      <vt:lpstr>Field sequential</vt:lpstr>
      <vt:lpstr>Field sequential</vt:lpstr>
      <vt:lpstr>Prokudin-Gorskii (early 1900’s) </vt:lpstr>
      <vt:lpstr>Prokudin-Gorskii (early 1990’s)</vt:lpstr>
      <vt:lpstr>Color sensing in camera: Prism</vt:lpstr>
      <vt:lpstr>Sport photography</vt:lpstr>
      <vt:lpstr>Causes of Noise</vt:lpstr>
      <vt:lpstr>The Eye</vt:lpstr>
      <vt:lpstr>Silicon Image Detector</vt:lpstr>
      <vt:lpstr>Digital camera</vt:lpstr>
      <vt:lpstr>Mega-pixels</vt:lpstr>
      <vt:lpstr>Why Calibrate?</vt:lpstr>
      <vt:lpstr>Applications</vt:lpstr>
      <vt:lpstr>Camera Parameters</vt:lpstr>
      <vt:lpstr>Do we need all this stuff?</vt:lpstr>
      <vt:lpstr>The Projection Matrix</vt:lpstr>
      <vt:lpstr>Goal of Calibration</vt:lpstr>
      <vt:lpstr>Calibration:  Basic Idea</vt:lpstr>
      <vt:lpstr>Calibration Approaches</vt:lpstr>
      <vt:lpstr>Camera parameters</vt:lpstr>
      <vt:lpstr>Camera parameters</vt:lpstr>
      <vt:lpstr>How to Improve Calibration Accuracy</vt:lpstr>
    </vt:vector>
  </TitlesOfParts>
  <Company>FAST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zulfiqar.habib</dc:creator>
  <cp:lastModifiedBy>Zulfiqar Habib</cp:lastModifiedBy>
  <cp:revision>462</cp:revision>
  <dcterms:created xsi:type="dcterms:W3CDTF">2009-08-01T06:17:21Z</dcterms:created>
  <dcterms:modified xsi:type="dcterms:W3CDTF">2024-12-24T11:59:53Z</dcterms:modified>
</cp:coreProperties>
</file>