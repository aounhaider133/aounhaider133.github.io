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453" r:id="rId3"/>
    <p:sldId id="485" r:id="rId4"/>
    <p:sldId id="433" r:id="rId5"/>
    <p:sldId id="434" r:id="rId6"/>
    <p:sldId id="435" r:id="rId7"/>
    <p:sldId id="436" r:id="rId8"/>
    <p:sldId id="437" r:id="rId9"/>
    <p:sldId id="441" r:id="rId10"/>
    <p:sldId id="455" r:id="rId11"/>
    <p:sldId id="456" r:id="rId12"/>
    <p:sldId id="449" r:id="rId13"/>
    <p:sldId id="450" r:id="rId14"/>
    <p:sldId id="451" r:id="rId15"/>
    <p:sldId id="452" r:id="rId16"/>
    <p:sldId id="457" r:id="rId17"/>
    <p:sldId id="458" r:id="rId18"/>
    <p:sldId id="484" r:id="rId19"/>
    <p:sldId id="445" r:id="rId20"/>
    <p:sldId id="446" r:id="rId21"/>
    <p:sldId id="483" r:id="rId22"/>
    <p:sldId id="367" r:id="rId23"/>
    <p:sldId id="460" r:id="rId24"/>
    <p:sldId id="448" r:id="rId25"/>
    <p:sldId id="48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80"/>
    <a:srgbClr val="EAF1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326" autoAdjust="0"/>
    <p:restoredTop sz="94660"/>
  </p:normalViewPr>
  <p:slideViewPr>
    <p:cSldViewPr>
      <p:cViewPr varScale="1">
        <p:scale>
          <a:sx n="69" d="100"/>
          <a:sy n="69" d="100"/>
        </p:scale>
        <p:origin x="76" y="2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DA5527-8220-42B8-ACF3-24A1AB195A99}" type="datetimeFigureOut">
              <a:rPr lang="en-US" smtClean="0"/>
              <a:pPr/>
              <a:t>10/9/2024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A17DC7-5FA3-4B0E-8E6A-F6882B79CF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3310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C77E45-76C1-48AC-8770-A01EE13E3D9C}" type="datetimeFigureOut">
              <a:rPr lang="en-US" smtClean="0"/>
              <a:pPr/>
              <a:t>10/9/2024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308B8D-8E1E-4C22-9F0A-2468901663B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268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08B8D-8E1E-4C22-9F0A-2468901663B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96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3D45B2-DD93-4C3D-A0BB-2D34CC9D2FF3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Regression and classification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are categorized under the same umbrella of supervised machine learning. ... 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main difference between them is that the output variable in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regression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numerical (or continuous) while that for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classification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categorical (or discrete)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8360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5775B2-D818-4E00-903F-85FB5C01A723}" type="slidenum">
              <a:rPr lang="en-US"/>
              <a:pPr/>
              <a:t>3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251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1CF26C-3313-469D-95BF-87F9820F1C80}" type="slidenum">
              <a:rPr lang="en-US"/>
              <a:pPr/>
              <a:t>4</a:t>
            </a:fld>
            <a:endParaRPr lang="en-US"/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2283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C4A697-40E0-4CBD-935B-F123B2D24F2E}" type="slidenum">
              <a:rPr lang="en-US"/>
              <a:pPr/>
              <a:t>5</a:t>
            </a:fld>
            <a:endParaRPr lang="en-US"/>
          </a:p>
        </p:txBody>
      </p:sp>
      <p:sp>
        <p:nvSpPr>
          <p:cNvPr id="158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351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29D304-44C3-43A6-8E19-BD64A3E85C25}" type="slidenum">
              <a:rPr lang="en-US"/>
              <a:pPr/>
              <a:t>6</a:t>
            </a:fld>
            <a:endParaRPr lang="en-US"/>
          </a:p>
        </p:txBody>
      </p:sp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99832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74C9F7C-C1BD-4573-9643-439B8E11D903}" type="slidenum">
              <a:rPr lang="en-US"/>
              <a:pPr/>
              <a:t>7</a:t>
            </a:fld>
            <a:endParaRPr lang="en-US"/>
          </a:p>
        </p:txBody>
      </p:sp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1561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FB33F7-4AFA-46EA-B786-64E34610BF20}" type="slidenum">
              <a:rPr lang="en-US"/>
              <a:pPr/>
              <a:t>8</a:t>
            </a:fld>
            <a:endParaRPr lang="en-US"/>
          </a:p>
        </p:txBody>
      </p:sp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963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F1A421-3E56-4548-B32E-1C8804A3DF5B}" type="slidenum">
              <a:rPr lang="en-US"/>
              <a:pPr/>
              <a:t>9</a:t>
            </a:fld>
            <a:endParaRPr lang="en-US"/>
          </a:p>
        </p:txBody>
      </p:sp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612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0FB92F-1F03-4320-B270-11338CA3B47B}" type="slidenum">
              <a:rPr lang="en-US"/>
              <a:pPr/>
              <a:t>10</a:t>
            </a:fld>
            <a:endParaRPr lang="en-US"/>
          </a:p>
        </p:txBody>
      </p:sp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9379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F7C104-8848-4A57-99C5-473CE95957CB}" type="slidenum">
              <a:rPr lang="en-US"/>
              <a:pPr/>
              <a:t>11</a:t>
            </a:fld>
            <a:endParaRPr lang="en-US"/>
          </a:p>
        </p:txBody>
      </p:sp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84186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5E6C2F-C59E-49F4-B0CC-31E1ADC575B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7232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6A692B-009C-43E3-9C01-59636D2B4AB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928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45DA11-05B4-4C7C-8B66-D819C08A4F06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0472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45DA11-05B4-4C7C-8B66-D819C08A4F0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474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101ED1-4156-4B36-92D1-48096FD339D8}" type="slidenum">
              <a:rPr lang="en-US"/>
              <a:pPr/>
              <a:t>16</a:t>
            </a:fld>
            <a:endParaRPr lang="en-US"/>
          </a:p>
        </p:txBody>
      </p:sp>
      <p:sp>
        <p:nvSpPr>
          <p:cNvPr id="168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7675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4AC0B0-CCFC-49E7-927B-3961EB6A808E}" type="slidenum">
              <a:rPr lang="en-US"/>
              <a:pPr/>
              <a:t>17</a:t>
            </a:fld>
            <a:endParaRPr lang="en-US"/>
          </a:p>
        </p:txBody>
      </p:sp>
      <p:sp>
        <p:nvSpPr>
          <p:cNvPr id="179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01968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5FDEDF-DE93-4A0C-B23B-A9B62C1933F1}" type="slidenum">
              <a:rPr lang="en-US"/>
              <a:pPr/>
              <a:t>19</a:t>
            </a:fld>
            <a:endParaRPr lang="en-US"/>
          </a:p>
        </p:txBody>
      </p:sp>
      <p:sp>
        <p:nvSpPr>
          <p:cNvPr id="173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2358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BDA941-6929-4662-B3C8-43F88260241B}" type="slidenum">
              <a:rPr lang="en-US"/>
              <a:pPr/>
              <a:t>20</a:t>
            </a:fld>
            <a:endParaRPr lang="en-US"/>
          </a:p>
        </p:txBody>
      </p:sp>
      <p:sp>
        <p:nvSpPr>
          <p:cNvPr id="176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76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03431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78BF57-4E26-4C6C-9C71-3D3E807B3521}" type="slidenum">
              <a:rPr lang="en-US"/>
              <a:pPr/>
              <a:t>22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GB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7720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134D10-7706-4AB0-B4DC-C9B2B7157425}" type="slidenum">
              <a:rPr lang="en-US"/>
              <a:pPr/>
              <a:t>24</a:t>
            </a:fld>
            <a:endParaRPr lang="en-US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7610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134D10-7706-4AB0-B4DC-C9B2B7157425}" type="slidenum">
              <a:rPr lang="en-US"/>
              <a:pPr/>
              <a:t>25</a:t>
            </a:fld>
            <a:endParaRPr lang="en-US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https://fpcv.cs.columbia.edu/</a:t>
            </a:r>
          </a:p>
        </p:txBody>
      </p:sp>
    </p:spTree>
    <p:extLst>
      <p:ext uri="{BB962C8B-B14F-4D97-AF65-F5344CB8AC3E}">
        <p14:creationId xmlns:p14="http://schemas.microsoft.com/office/powerpoint/2010/main" val="748157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9581" y="142852"/>
            <a:ext cx="10458451" cy="857256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459" y="1285860"/>
            <a:ext cx="11715832" cy="53578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1219200" y="63246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4470400" y="6324600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042400" y="63246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4235E4-7E4F-4E21-B451-3954ADC1CD4B}" type="slidenum">
              <a:rPr lang="en-US"/>
              <a:pPr>
                <a:defRPr/>
              </a:pPr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0459" y="71414"/>
            <a:ext cx="10001320" cy="9286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459" y="1285860"/>
            <a:ext cx="11715832" cy="5500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190501" y="1071546"/>
            <a:ext cx="10588428" cy="5170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8929" y="8872"/>
            <a:ext cx="1077711" cy="1097280"/>
          </a:xfrm>
          <a:prstGeom prst="rect">
            <a:avLst/>
          </a:prstGeom>
        </p:spPr>
      </p:pic>
      <p:sp>
        <p:nvSpPr>
          <p:cNvPr id="10" name="Text Box 11"/>
          <p:cNvSpPr txBox="1">
            <a:spLocks noChangeArrowheads="1"/>
          </p:cNvSpPr>
          <p:nvPr userDrawn="1"/>
        </p:nvSpPr>
        <p:spPr bwMode="auto">
          <a:xfrm>
            <a:off x="11622509" y="807095"/>
            <a:ext cx="54373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fld id="{E4FF5167-E4CB-45F3-85CD-7EC8641D6DEE}" type="slidenum">
              <a:rPr lang="en-US" sz="2400" b="1">
                <a:solidFill>
                  <a:srgbClr val="FF0000"/>
                </a:solidFill>
              </a:rPr>
              <a:pPr/>
              <a:t>‹#›</a:t>
            </a:fld>
            <a:endParaRPr lang="en-US" sz="2400" b="1" dirty="0">
              <a:solidFill>
                <a:srgbClr val="FF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just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just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just" defTabSz="914400" rtl="0" eaLnBrk="1" latinLnBrk="0" hangingPunct="1">
        <a:spcBef>
          <a:spcPct val="20000"/>
        </a:spcBef>
        <a:buFont typeface="Wingdings" pitchFamily="2" charset="2"/>
        <a:buChar char="v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just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just" defTabSz="914400" rtl="0" eaLnBrk="1" latinLnBrk="0" hangingPunct="1">
        <a:spcBef>
          <a:spcPct val="20000"/>
        </a:spcBef>
        <a:buFont typeface="Courier New" pitchFamily="49" charset="0"/>
        <a:buChar char="o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vig.cuilahore.edu.pk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2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emf"/><Relationship Id="rId4" Type="http://schemas.openxmlformats.org/officeDocument/2006/relationships/image" Target="../media/image9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6.t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embed/2IVAznQwdS4?autoplay=1" TargetMode="External"/><Relationship Id="rId3" Type="http://schemas.openxmlformats.org/officeDocument/2006/relationships/hyperlink" Target="https://www.youtube.com/embed/onWJQY5oFhs?autoplay=1" TargetMode="External"/><Relationship Id="rId7" Type="http://schemas.openxmlformats.org/officeDocument/2006/relationships/hyperlink" Target="https://www.youtube.com/embed/PCNz_zttmtA?autoplay=1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embed/22mpExWh1LY?autoplay=1" TargetMode="External"/><Relationship Id="rId5" Type="http://schemas.openxmlformats.org/officeDocument/2006/relationships/hyperlink" Target="https://www.youtube.com/embed/TRr8TGIk50c?autoplay=1" TargetMode="External"/><Relationship Id="rId4" Type="http://schemas.openxmlformats.org/officeDocument/2006/relationships/hyperlink" Target="https://www.youtube.com/embed/4pYyD2uSeko?autoplay=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TW" sz="5400" dirty="0">
                <a:solidFill>
                  <a:srgbClr val="FF0000"/>
                </a:solidFill>
              </a:rPr>
              <a:t>Image Segmentation</a:t>
            </a:r>
            <a:endParaRPr lang="en-US" sz="5400" dirty="0"/>
          </a:p>
        </p:txBody>
      </p:sp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3650955" y="1235318"/>
            <a:ext cx="33986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Last updated: 09-10-2024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9580" y="2143564"/>
            <a:ext cx="1056693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400" b="1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[MS] Mubarak S.</a:t>
            </a:r>
            <a:r>
              <a:rPr lang="en-US" sz="24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, Fundamentals of Computer Vision, 1997. (Ch. 2)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400" b="1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[SR] </a:t>
            </a:r>
            <a:r>
              <a:rPr lang="en-US" sz="2400" b="1" kern="0" dirty="0" err="1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Szeliski</a:t>
            </a:r>
            <a:r>
              <a:rPr lang="en-US" sz="2400" b="1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R</a:t>
            </a:r>
            <a:r>
              <a:rPr lang="en-US" sz="24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., Computer Vision - Algorithms and Applications, Springer, 2011. (Ch. 4, 5)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400" b="1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[GR1] Gonzalez</a:t>
            </a:r>
            <a:r>
              <a:rPr lang="en-US" sz="24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. C., Woods R. E., </a:t>
            </a:r>
            <a:r>
              <a:rPr lang="en-US" sz="2400" kern="0" dirty="0" err="1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Eddins</a:t>
            </a:r>
            <a:r>
              <a:rPr lang="en-US" sz="24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S. L., </a:t>
            </a:r>
            <a:r>
              <a:rPr lang="en-US" sz="2400" i="1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Digital Image Processing Using </a:t>
            </a:r>
            <a:r>
              <a:rPr lang="en-US" sz="2400" i="1" kern="0" dirty="0" err="1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Matlab</a:t>
            </a:r>
            <a:r>
              <a:rPr lang="en-US" sz="24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, Pearson Education, 2</a:t>
            </a:r>
            <a:r>
              <a:rPr lang="en-US" sz="2400" kern="0" baseline="3000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sz="24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edition, 2009. (Ch. 10)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400" b="1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[GR2] Gonzalez</a:t>
            </a:r>
            <a:r>
              <a:rPr lang="en-US" sz="24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. C., Woods R. E., </a:t>
            </a:r>
            <a:r>
              <a:rPr lang="en-US" sz="2400" kern="0" dirty="0" err="1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Eddins</a:t>
            </a:r>
            <a:r>
              <a:rPr lang="en-US" sz="24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S. L., </a:t>
            </a:r>
            <a:r>
              <a:rPr lang="en-US" sz="2400" i="1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Digital Image Processing</a:t>
            </a:r>
            <a:r>
              <a:rPr lang="en-US" sz="24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, Pearson Education, 3</a:t>
            </a:r>
            <a:r>
              <a:rPr lang="en-US" sz="2400" kern="0" baseline="3000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sz="2400" kern="0" dirty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rPr>
              <a:t> edition, 2007.	(Ch. 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8773" y="5830844"/>
            <a:ext cx="4404796" cy="954107"/>
          </a:xfrm>
          <a:prstGeom prst="rect">
            <a:avLst/>
          </a:prstGeom>
          <a:solidFill>
            <a:srgbClr val="00CC99">
              <a:lumMod val="75000"/>
            </a:srgb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Dr. Zulfiqar Habib, Professor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  <a:hlinkClick r:id="rId3"/>
              </a:rPr>
              <a:t>http://vig.cuilahore.edu.pk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18704" y="142852"/>
            <a:ext cx="9333680" cy="85725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lang="en-US" altLang="zh-TW" sz="5400" dirty="0">
                <a:solidFill>
                  <a:srgbClr val="FF0000"/>
                </a:solidFill>
              </a:rPr>
              <a:t>Image Segmentation</a:t>
            </a:r>
            <a:endParaRPr lang="en-US" sz="5400" dirty="0"/>
          </a:p>
        </p:txBody>
      </p:sp>
      <p:grpSp>
        <p:nvGrpSpPr>
          <p:cNvPr id="6" name="Group 5"/>
          <p:cNvGrpSpPr/>
          <p:nvPr/>
        </p:nvGrpSpPr>
        <p:grpSpPr>
          <a:xfrm>
            <a:off x="179512" y="1628800"/>
            <a:ext cx="10741024" cy="4896544"/>
            <a:chOff x="107504" y="2276872"/>
            <a:chExt cx="8496944" cy="4032448"/>
          </a:xfrm>
        </p:grpSpPr>
        <p:grpSp>
          <p:nvGrpSpPr>
            <p:cNvPr id="7" name="Canvas 379"/>
            <p:cNvGrpSpPr/>
            <p:nvPr/>
          </p:nvGrpSpPr>
          <p:grpSpPr>
            <a:xfrm>
              <a:off x="107504" y="2708920"/>
              <a:ext cx="8496944" cy="3600400"/>
              <a:chOff x="0" y="-154446"/>
              <a:chExt cx="6171690" cy="1544461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0" y="0"/>
                <a:ext cx="5857875" cy="1390015"/>
              </a:xfrm>
              <a:prstGeom prst="rect">
                <a:avLst/>
              </a:prstGeom>
            </p:spPr>
            <p:txBody>
              <a:bodyPr/>
              <a:lstStyle/>
              <a:p>
                <a:endParaRPr lang="LID4096"/>
              </a:p>
            </p:txBody>
          </p:sp>
          <p:sp>
            <p:nvSpPr>
              <p:cNvPr id="14" name="Cloud Callout 13"/>
              <p:cNvSpPr/>
              <p:nvPr/>
            </p:nvSpPr>
            <p:spPr>
              <a:xfrm>
                <a:off x="26738" y="742489"/>
                <a:ext cx="1072896" cy="621792"/>
              </a:xfrm>
              <a:prstGeom prst="cloudCallout">
                <a:avLst>
                  <a:gd name="adj1" fmla="val -4185"/>
                  <a:gd name="adj2" fmla="val -83096"/>
                </a:avLst>
              </a:prstGeom>
              <a:gradFill flip="none" rotWithShape="1">
                <a:gsLst>
                  <a:gs pos="0">
                    <a:srgbClr val="5B9BD5">
                      <a:tint val="66000"/>
                      <a:satMod val="160000"/>
                    </a:srgbClr>
                  </a:gs>
                  <a:gs pos="50000">
                    <a:srgbClr val="5B9BD5">
                      <a:tint val="44500"/>
                      <a:satMod val="160000"/>
                    </a:srgbClr>
                  </a:gs>
                  <a:gs pos="100000">
                    <a:srgbClr val="5B9BD5">
                      <a:tint val="23500"/>
                      <a:satMod val="160000"/>
                    </a:srgbClr>
                  </a:gs>
                </a:gsLst>
                <a:lin ang="0" scaled="1"/>
                <a:tileRect/>
              </a:gra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>
                  <a:lnSpc>
                    <a:spcPct val="125000"/>
                  </a:lnSpc>
                </a:pP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Problem domain</a:t>
                </a:r>
                <a:endParaRPr lang="en-US" sz="32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Rounded Rectangle 14"/>
              <p:cNvSpPr/>
              <p:nvPr/>
            </p:nvSpPr>
            <p:spPr>
              <a:xfrm>
                <a:off x="139221" y="25302"/>
                <a:ext cx="919876" cy="505968"/>
              </a:xfrm>
              <a:prstGeom prst="round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25000"/>
                  </a:lnSpc>
                </a:pP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Image acquisition</a:t>
                </a:r>
                <a:endParaRPr lang="en-US" sz="32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6" name="Straight Arrow Connector 15"/>
              <p:cNvCxnSpPr>
                <a:stCxn id="15" idx="3"/>
              </p:cNvCxnSpPr>
              <p:nvPr/>
            </p:nvCxnSpPr>
            <p:spPr>
              <a:xfrm>
                <a:off x="1059097" y="278286"/>
                <a:ext cx="180000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17" name="Rounded Rectangle 16"/>
              <p:cNvSpPr/>
              <p:nvPr/>
            </p:nvSpPr>
            <p:spPr>
              <a:xfrm>
                <a:off x="1233129" y="30972"/>
                <a:ext cx="1066239" cy="505460"/>
              </a:xfrm>
              <a:prstGeom prst="round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Preprocessing</a:t>
                </a:r>
                <a:endParaRPr lang="en-US" sz="32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8" name="Straight Arrow Connector 17"/>
              <p:cNvCxnSpPr/>
              <p:nvPr/>
            </p:nvCxnSpPr>
            <p:spPr>
              <a:xfrm>
                <a:off x="2293813" y="283735"/>
                <a:ext cx="179705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19" name="Rounded Rectangle 18"/>
              <p:cNvSpPr/>
              <p:nvPr/>
            </p:nvSpPr>
            <p:spPr>
              <a:xfrm>
                <a:off x="2471614" y="37313"/>
                <a:ext cx="1030797" cy="505460"/>
              </a:xfrm>
              <a:prstGeom prst="round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5000"/>
                  </a:lnSpc>
                  <a:spcAft>
                    <a:spcPts val="800"/>
                  </a:spcAft>
                </a:pP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Segmentation</a:t>
                </a:r>
                <a:endParaRPr lang="en-US" sz="32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0" name="Straight Arrow Connector 19"/>
              <p:cNvCxnSpPr/>
              <p:nvPr/>
            </p:nvCxnSpPr>
            <p:spPr>
              <a:xfrm>
                <a:off x="3510474" y="290043"/>
                <a:ext cx="179705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21" name="Rounded Rectangle 20"/>
              <p:cNvSpPr/>
              <p:nvPr/>
            </p:nvSpPr>
            <p:spPr>
              <a:xfrm>
                <a:off x="3682404" y="43622"/>
                <a:ext cx="854225" cy="505460"/>
              </a:xfrm>
              <a:prstGeom prst="round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5000"/>
                  </a:lnSpc>
                  <a:spcAft>
                    <a:spcPts val="800"/>
                  </a:spcAft>
                </a:pP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Feature extraction</a:t>
                </a:r>
                <a:endParaRPr lang="en-US" sz="32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2" name="Straight Arrow Connector 21"/>
              <p:cNvCxnSpPr/>
              <p:nvPr/>
            </p:nvCxnSpPr>
            <p:spPr>
              <a:xfrm flipV="1">
                <a:off x="4538387" y="-154446"/>
                <a:ext cx="616688" cy="247114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23" name="Rounded Rectangle 22"/>
              <p:cNvSpPr/>
              <p:nvPr/>
            </p:nvSpPr>
            <p:spPr>
              <a:xfrm>
                <a:off x="5141085" y="49925"/>
                <a:ext cx="1030605" cy="505460"/>
              </a:xfrm>
              <a:prstGeom prst="round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5000"/>
                  </a:lnSpc>
                  <a:spcAft>
                    <a:spcPts val="800"/>
                  </a:spcAft>
                </a:pP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Classification / </a:t>
                </a: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Regression</a:t>
                </a:r>
                <a:endParaRPr lang="en-US" sz="32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2339692" y="771719"/>
                <a:ext cx="1318228" cy="605395"/>
              </a:xfrm>
              <a:prstGeom prst="ellipse">
                <a:avLst/>
              </a:prstGeom>
              <a:solidFill>
                <a:srgbClr val="5B9BD5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25000"/>
                  </a:lnSpc>
                </a:pP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Knowledge base</a:t>
                </a:r>
                <a:endParaRPr lang="en-US" sz="32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5" name="Straight Arrow Connector 24"/>
              <p:cNvCxnSpPr>
                <a:endCxn id="19" idx="2"/>
              </p:cNvCxnSpPr>
              <p:nvPr/>
            </p:nvCxnSpPr>
            <p:spPr>
              <a:xfrm flipV="1">
                <a:off x="2986724" y="542773"/>
                <a:ext cx="0" cy="216000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triangle"/>
                <a:tailEnd type="triangle"/>
              </a:ln>
              <a:effectLst/>
            </p:spPr>
          </p:cxnSp>
          <p:cxnSp>
            <p:nvCxnSpPr>
              <p:cNvPr id="26" name="Straight Arrow Connector 25"/>
              <p:cNvCxnSpPr>
                <a:stCxn id="17" idx="2"/>
                <a:endCxn id="24" idx="1"/>
              </p:cNvCxnSpPr>
              <p:nvPr/>
            </p:nvCxnSpPr>
            <p:spPr>
              <a:xfrm>
                <a:off x="1766249" y="536432"/>
                <a:ext cx="766493" cy="323945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triangle"/>
                <a:tailEnd type="triangle"/>
              </a:ln>
              <a:effectLst/>
            </p:spPr>
          </p:cxnSp>
          <p:cxnSp>
            <p:nvCxnSpPr>
              <p:cNvPr id="27" name="Straight Arrow Connector 26"/>
              <p:cNvCxnSpPr>
                <a:stCxn id="15" idx="2"/>
                <a:endCxn id="24" idx="2"/>
              </p:cNvCxnSpPr>
              <p:nvPr/>
            </p:nvCxnSpPr>
            <p:spPr>
              <a:xfrm>
                <a:off x="599159" y="531270"/>
                <a:ext cx="1740533" cy="543147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triangle"/>
                <a:tailEnd type="triangle"/>
              </a:ln>
              <a:effectLst/>
            </p:spPr>
          </p:cxnSp>
          <p:cxnSp>
            <p:nvCxnSpPr>
              <p:cNvPr id="28" name="Straight Arrow Connector 27"/>
              <p:cNvCxnSpPr>
                <a:stCxn id="23" idx="2"/>
                <a:endCxn id="24" idx="6"/>
              </p:cNvCxnSpPr>
              <p:nvPr/>
            </p:nvCxnSpPr>
            <p:spPr>
              <a:xfrm flipH="1">
                <a:off x="3657919" y="555385"/>
                <a:ext cx="1998468" cy="519031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triangle"/>
                <a:tailEnd type="triangle"/>
              </a:ln>
              <a:effectLst/>
            </p:spPr>
          </p:cxnSp>
          <p:cxnSp>
            <p:nvCxnSpPr>
              <p:cNvPr id="29" name="Straight Arrow Connector 28"/>
              <p:cNvCxnSpPr>
                <a:stCxn id="21" idx="2"/>
                <a:endCxn id="24" idx="7"/>
              </p:cNvCxnSpPr>
              <p:nvPr/>
            </p:nvCxnSpPr>
            <p:spPr>
              <a:xfrm flipH="1">
                <a:off x="3464870" y="548884"/>
                <a:ext cx="644647" cy="311183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headEnd type="triangle"/>
                <a:tailEnd type="triangle"/>
              </a:ln>
              <a:effectLst/>
            </p:spPr>
          </p:cxnSp>
          <p:sp>
            <p:nvSpPr>
              <p:cNvPr id="30" name="Down Arrow 29"/>
              <p:cNvSpPr/>
              <p:nvPr/>
            </p:nvSpPr>
            <p:spPr>
              <a:xfrm>
                <a:off x="5765799" y="556006"/>
                <a:ext cx="144379" cy="277972"/>
              </a:xfrm>
              <a:prstGeom prst="downArrow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4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Cloud 30"/>
              <p:cNvSpPr/>
              <p:nvPr/>
            </p:nvSpPr>
            <p:spPr>
              <a:xfrm>
                <a:off x="4850034" y="829897"/>
                <a:ext cx="1217051" cy="470569"/>
              </a:xfrm>
              <a:prstGeom prst="cloud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25000"/>
                  </a:lnSpc>
                </a:pPr>
                <a:r>
                  <a:rPr lang="en-US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</a:t>
                </a:r>
                <a:endParaRPr lang="en-US" sz="32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8" name="Straight Arrow Connector 7"/>
            <p:cNvCxnSpPr/>
            <p:nvPr/>
          </p:nvCxnSpPr>
          <p:spPr>
            <a:xfrm flipV="1">
              <a:off x="5760477" y="2708920"/>
              <a:ext cx="0" cy="468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5220071" y="2276872"/>
              <a:ext cx="1133287" cy="432048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 Generation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6340812" y="2492896"/>
              <a:ext cx="864000" cy="0"/>
            </a:xfrm>
            <a:prstGeom prst="straightConnector1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1" name="Rounded Rectangle 10"/>
            <p:cNvSpPr/>
            <p:nvPr/>
          </p:nvSpPr>
          <p:spPr>
            <a:xfrm>
              <a:off x="7190894" y="2276872"/>
              <a:ext cx="1413554" cy="432048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Models</a:t>
              </a: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 flipV="1">
              <a:off x="7950010" y="2708920"/>
              <a:ext cx="6366" cy="5040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ounded Rectangle 2"/>
          <p:cNvSpPr/>
          <p:nvPr/>
        </p:nvSpPr>
        <p:spPr>
          <a:xfrm>
            <a:off x="4481035" y="2696243"/>
            <a:ext cx="1808001" cy="139824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897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IE" dirty="0"/>
              <a:t>Segmentation Techniques</a:t>
            </a:r>
            <a:endParaRPr 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3352" y="1333500"/>
            <a:ext cx="10297144" cy="5524500"/>
          </a:xfrm>
        </p:spPr>
        <p:txBody>
          <a:bodyPr>
            <a:normAutofit/>
          </a:bodyPr>
          <a:lstStyle/>
          <a:p>
            <a:r>
              <a:rPr lang="en-US" sz="280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The main types of image segmentation techniques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Thresholding: Separates regions based on intensity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Clustering: Groups pixels into clusters, such as k-means clustering.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Edge-Based Segmentation: Uses edge detection to identify boundaries.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Region-Based Segmentation: Groups pixels based on region-growing methods.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Deep Learning-Based Segmentation: Uses neural networks for pixel-wise classification, such as Convolutional Neural Network (CNN) and Deep Neural Networks (DNN).</a:t>
            </a:r>
          </a:p>
        </p:txBody>
      </p:sp>
    </p:spTree>
    <p:extLst>
      <p:ext uri="{BB962C8B-B14F-4D97-AF65-F5344CB8AC3E}">
        <p14:creationId xmlns:p14="http://schemas.microsoft.com/office/powerpoint/2010/main" val="2531250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IE" dirty="0" err="1"/>
              <a:t>Thresholding</a:t>
            </a:r>
            <a:endParaRPr 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459" y="1333500"/>
            <a:ext cx="10370037" cy="5524500"/>
          </a:xfrm>
        </p:spPr>
        <p:txBody>
          <a:bodyPr/>
          <a:lstStyle/>
          <a:p>
            <a:r>
              <a:rPr lang="tr-TR" dirty="0"/>
              <a:t>Thresholding enjoys a central position in image segmentation</a:t>
            </a:r>
            <a:r>
              <a:rPr lang="en-US" dirty="0"/>
              <a:t>.</a:t>
            </a:r>
            <a:endParaRPr lang="en-IE" dirty="0"/>
          </a:p>
          <a:p>
            <a:r>
              <a:rPr lang="en-IE" dirty="0"/>
              <a:t>First we will continue to look at the problem of segmentation, this time though in terms of </a:t>
            </a:r>
            <a:r>
              <a:rPr lang="en-IE" dirty="0" err="1"/>
              <a:t>thresholding</a:t>
            </a:r>
            <a:r>
              <a:rPr lang="en-IE" dirty="0"/>
              <a:t>.</a:t>
            </a:r>
          </a:p>
          <a:p>
            <a:r>
              <a:rPr lang="en-IE" dirty="0"/>
              <a:t>In particular we will look at:</a:t>
            </a:r>
          </a:p>
          <a:p>
            <a:pPr lvl="1">
              <a:buFont typeface="Courier New" pitchFamily="49" charset="0"/>
              <a:buChar char="o"/>
            </a:pPr>
            <a:r>
              <a:rPr lang="en-IE" sz="3200" dirty="0"/>
              <a:t>What is </a:t>
            </a:r>
            <a:r>
              <a:rPr lang="en-IE" sz="3200" dirty="0" err="1"/>
              <a:t>thresholding</a:t>
            </a:r>
            <a:r>
              <a:rPr lang="en-IE" sz="3200" dirty="0"/>
              <a:t>?</a:t>
            </a:r>
          </a:p>
          <a:p>
            <a:pPr lvl="1">
              <a:buFont typeface="Courier New" pitchFamily="49" charset="0"/>
              <a:buChar char="o"/>
            </a:pPr>
            <a:r>
              <a:rPr lang="en-IE" sz="3200" dirty="0"/>
              <a:t>Simple </a:t>
            </a:r>
            <a:r>
              <a:rPr lang="en-IE" sz="3200" dirty="0" err="1"/>
              <a:t>thresholding</a:t>
            </a:r>
            <a:endParaRPr lang="en-IE" sz="3200" dirty="0"/>
          </a:p>
          <a:p>
            <a:pPr lvl="1">
              <a:buFont typeface="Courier New" pitchFamily="49" charset="0"/>
              <a:buChar char="o"/>
            </a:pPr>
            <a:r>
              <a:rPr lang="en-IE" sz="3200" dirty="0"/>
              <a:t>Adaptive </a:t>
            </a:r>
            <a:r>
              <a:rPr lang="en-IE" sz="3200" dirty="0" err="1"/>
              <a:t>thresholding</a:t>
            </a:r>
            <a:endParaRPr lang="en-IE" sz="3200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IE" dirty="0"/>
              <a:t>Simple </a:t>
            </a:r>
            <a:r>
              <a:rPr lang="en-IE" dirty="0" err="1"/>
              <a:t>Thresholding</a:t>
            </a:r>
            <a:endParaRPr lang="en-US" dirty="0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459" y="1285860"/>
            <a:ext cx="10298029" cy="5500726"/>
          </a:xfrm>
        </p:spPr>
        <p:txBody>
          <a:bodyPr/>
          <a:lstStyle/>
          <a:p>
            <a:r>
              <a:rPr lang="en-IE" dirty="0" err="1"/>
              <a:t>Thresholding</a:t>
            </a:r>
            <a:r>
              <a:rPr lang="en-IE" dirty="0"/>
              <a:t> is usually the first step in any segmentation approach</a:t>
            </a:r>
          </a:p>
          <a:p>
            <a:r>
              <a:rPr lang="en-IE" dirty="0"/>
              <a:t>Single value </a:t>
            </a:r>
            <a:r>
              <a:rPr lang="en-IE" dirty="0" err="1"/>
              <a:t>thresholding</a:t>
            </a:r>
            <a:r>
              <a:rPr lang="en-IE" dirty="0"/>
              <a:t> can be given mathematically as follows:</a:t>
            </a:r>
            <a:endParaRPr lang="en-US" dirty="0"/>
          </a:p>
        </p:txBody>
      </p:sp>
      <p:graphicFrame>
        <p:nvGraphicFramePr>
          <p:cNvPr id="157700" name="Object 4"/>
          <p:cNvGraphicFramePr>
            <a:graphicFrameLocks noChangeAspect="1"/>
          </p:cNvGraphicFramePr>
          <p:nvPr/>
        </p:nvGraphicFramePr>
        <p:xfrm>
          <a:off x="4310051" y="3929067"/>
          <a:ext cx="5368925" cy="150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25400" imgH="457200" progId="Equation.3">
                  <p:embed/>
                </p:oleObj>
              </mc:Choice>
              <mc:Fallback>
                <p:oleObj name="Equation" r:id="rId3" imgW="1625400" imgH="457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0051" y="3929067"/>
                        <a:ext cx="5368925" cy="1509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IE"/>
              <a:t>Thresholding Example</a:t>
            </a:r>
            <a:endParaRPr lang="en-US"/>
          </a:p>
        </p:txBody>
      </p:sp>
      <p:sp>
        <p:nvSpPr>
          <p:cNvPr id="145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459" y="1285860"/>
            <a:ext cx="10298029" cy="5500726"/>
          </a:xfrm>
        </p:spPr>
        <p:txBody>
          <a:bodyPr/>
          <a:lstStyle/>
          <a:p>
            <a:r>
              <a:rPr lang="en-IE" dirty="0"/>
              <a:t>Imagine a poker playing robot that needs to visually interpret the cards in its hand</a:t>
            </a:r>
            <a:endParaRPr lang="en-US" dirty="0"/>
          </a:p>
        </p:txBody>
      </p:sp>
      <p:pic>
        <p:nvPicPr>
          <p:cNvPr id="14541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28839" y="2622550"/>
            <a:ext cx="3648075" cy="2933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45416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64301" y="2622550"/>
            <a:ext cx="3648075" cy="2933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45417" name="Text Box 9"/>
          <p:cNvSpPr txBox="1">
            <a:spLocks noChangeArrowheads="1"/>
          </p:cNvSpPr>
          <p:nvPr/>
        </p:nvSpPr>
        <p:spPr bwMode="auto">
          <a:xfrm>
            <a:off x="2952729" y="5722939"/>
            <a:ext cx="2053767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IE" sz="2400">
                <a:latin typeface="Times New Roman" pitchFamily="18" charset="0"/>
                <a:cs typeface="Times New Roman" pitchFamily="18" charset="0"/>
              </a:rPr>
              <a:t>Original Image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5418" name="Text Box 10"/>
          <p:cNvSpPr txBox="1">
            <a:spLocks noChangeArrowheads="1"/>
          </p:cNvSpPr>
          <p:nvPr/>
        </p:nvSpPr>
        <p:spPr bwMode="auto">
          <a:xfrm>
            <a:off x="7046891" y="5722939"/>
            <a:ext cx="2566728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IE" sz="2400">
                <a:latin typeface="Times New Roman" pitchFamily="18" charset="0"/>
                <a:cs typeface="Times New Roman" pitchFamily="18" charset="0"/>
              </a:rPr>
              <a:t>Thresholded Image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IE"/>
              <a:t>But Be Careful</a:t>
            </a:r>
            <a:endParaRPr lang="en-US"/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IE"/>
              <a:t>If you get the threshold wrong the results can be disastrous</a:t>
            </a:r>
            <a:endParaRPr lang="en-US"/>
          </a:p>
        </p:txBody>
      </p:sp>
      <p:pic>
        <p:nvPicPr>
          <p:cNvPr id="146440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28839" y="2617788"/>
            <a:ext cx="3648075" cy="2933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46441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13501" y="2616200"/>
            <a:ext cx="3648075" cy="29337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46442" name="Text Box 10"/>
          <p:cNvSpPr txBox="1">
            <a:spLocks noChangeArrowheads="1"/>
          </p:cNvSpPr>
          <p:nvPr/>
        </p:nvSpPr>
        <p:spPr bwMode="auto">
          <a:xfrm>
            <a:off x="2666977" y="5722939"/>
            <a:ext cx="2618217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IE" sz="2400" dirty="0">
                <a:latin typeface="Times New Roman" pitchFamily="18" charset="0"/>
                <a:cs typeface="Times New Roman" pitchFamily="18" charset="0"/>
              </a:rPr>
              <a:t>Threshold Too Low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6443" name="Text Box 11"/>
          <p:cNvSpPr txBox="1">
            <a:spLocks noChangeArrowheads="1"/>
          </p:cNvSpPr>
          <p:nvPr/>
        </p:nvSpPr>
        <p:spPr bwMode="auto">
          <a:xfrm>
            <a:off x="6918302" y="5722939"/>
            <a:ext cx="2669513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IE" sz="2400">
                <a:latin typeface="Times New Roman" pitchFamily="18" charset="0"/>
                <a:cs typeface="Times New Roman" pitchFamily="18" charset="0"/>
              </a:rPr>
              <a:t>Threshold Too High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 cstate="print"/>
          <a:srcRect r="20425"/>
          <a:stretch>
            <a:fillRect/>
          </a:stretch>
        </p:blipFill>
        <p:spPr bwMode="auto">
          <a:xfrm>
            <a:off x="6075660" y="1360488"/>
            <a:ext cx="6069012" cy="549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IE" dirty="0"/>
              <a:t>Basic Global </a:t>
            </a:r>
            <a:r>
              <a:rPr lang="en-IE" dirty="0" err="1"/>
              <a:t>Thresholding</a:t>
            </a:r>
            <a:endParaRPr lang="en-US" dirty="0"/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459" y="1285860"/>
            <a:ext cx="7057669" cy="5500726"/>
          </a:xfrm>
        </p:spPr>
        <p:txBody>
          <a:bodyPr/>
          <a:lstStyle/>
          <a:p>
            <a:r>
              <a:rPr lang="en-IE" dirty="0"/>
              <a:t>Based on the histogram of an image</a:t>
            </a:r>
          </a:p>
          <a:p>
            <a:r>
              <a:rPr lang="en-IE" dirty="0"/>
              <a:t>Partition the image histogram using a single global threshold</a:t>
            </a:r>
          </a:p>
          <a:p>
            <a:r>
              <a:rPr lang="en-IE" dirty="0"/>
              <a:t>The success of this technique very strongly depends on how well the histogram can be partitioned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821" name="Picture 5"/>
          <p:cNvPicPr>
            <a:picLocks noChangeAspect="1" noChangeArrowheads="1"/>
          </p:cNvPicPr>
          <p:nvPr/>
        </p:nvPicPr>
        <p:blipFill>
          <a:blip r:embed="rId3" cstate="print"/>
          <a:srcRect r="59834" b="50543"/>
          <a:stretch>
            <a:fillRect/>
          </a:stretch>
        </p:blipFill>
        <p:spPr bwMode="auto">
          <a:xfrm>
            <a:off x="1800226" y="2108201"/>
            <a:ext cx="2868613" cy="34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2822" name="Picture 6"/>
          <p:cNvPicPr>
            <a:picLocks noChangeAspect="1" noChangeArrowheads="1"/>
          </p:cNvPicPr>
          <p:nvPr/>
        </p:nvPicPr>
        <p:blipFill>
          <a:blip r:embed="rId3" cstate="print"/>
          <a:srcRect l="19623" t="49657" r="39417"/>
          <a:stretch>
            <a:fillRect/>
          </a:stretch>
        </p:blipFill>
        <p:spPr bwMode="auto">
          <a:xfrm>
            <a:off x="7521576" y="2078039"/>
            <a:ext cx="2925763" cy="3481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2823" name="Picture 7"/>
          <p:cNvPicPr>
            <a:picLocks noChangeAspect="1" noChangeArrowheads="1"/>
          </p:cNvPicPr>
          <p:nvPr/>
        </p:nvPicPr>
        <p:blipFill>
          <a:blip r:embed="rId3" cstate="print"/>
          <a:srcRect l="40166" t="16899" r="20047" b="50543"/>
          <a:stretch>
            <a:fillRect/>
          </a:stretch>
        </p:blipFill>
        <p:spPr bwMode="auto">
          <a:xfrm>
            <a:off x="4667251" y="2693989"/>
            <a:ext cx="2841625" cy="225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2824" name="Line 8"/>
          <p:cNvSpPr>
            <a:spLocks noChangeShapeType="1"/>
          </p:cNvSpPr>
          <p:nvPr/>
        </p:nvSpPr>
        <p:spPr bwMode="auto">
          <a:xfrm flipV="1">
            <a:off x="5957888" y="2547938"/>
            <a:ext cx="0" cy="2609850"/>
          </a:xfrm>
          <a:prstGeom prst="line">
            <a:avLst/>
          </a:prstGeom>
          <a:noFill/>
          <a:ln w="12700">
            <a:solidFill>
              <a:srgbClr val="FF6600"/>
            </a:solidFill>
            <a:prstDash val="dash"/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50827" y="1238250"/>
            <a:ext cx="260350" cy="5229225"/>
            <a:chOff x="-2" y="1034"/>
            <a:chExt cx="164" cy="3294"/>
          </a:xfrm>
        </p:grpSpPr>
        <p:pic>
          <p:nvPicPr>
            <p:cNvPr id="162826" name="Picture 10" descr="book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</p:spPr>
        </p:pic>
        <p:sp>
          <p:nvSpPr>
            <p:cNvPr id="162827" name="Rectangle 11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/>
              <a:r>
                <a:rPr lang="en-IE" sz="1200">
                  <a:solidFill>
                    <a:schemeClr val="bg1"/>
                  </a:solidFill>
                </a:rPr>
                <a:t>Images taken from Gonzalez &amp; Woods, Digital Image Processing (2002)</a:t>
              </a:r>
              <a:endParaRPr lang="en-US" sz="1200">
                <a:solidFill>
                  <a:schemeClr val="bg1"/>
                </a:solidFill>
              </a:endParaRPr>
            </a:p>
          </p:txBody>
        </p:sp>
      </p:grp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190459" y="71414"/>
            <a:ext cx="10001320" cy="928694"/>
          </a:xfrm>
          <a:ln/>
        </p:spPr>
        <p:txBody>
          <a:bodyPr/>
          <a:lstStyle/>
          <a:p>
            <a:r>
              <a:rPr lang="en-IE" dirty="0"/>
              <a:t>Basic Global </a:t>
            </a:r>
            <a:r>
              <a:rPr lang="en-IE" dirty="0" err="1"/>
              <a:t>Thresholding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844" y="71414"/>
            <a:ext cx="7786742" cy="928694"/>
          </a:xfrm>
          <a:ln/>
        </p:spPr>
        <p:txBody>
          <a:bodyPr>
            <a:normAutofit/>
          </a:bodyPr>
          <a:lstStyle/>
          <a:p>
            <a:r>
              <a:rPr lang="en-IE" sz="3600" dirty="0"/>
              <a:t>Basic Global </a:t>
            </a:r>
            <a:r>
              <a:rPr lang="en-IE" sz="3600" dirty="0" err="1"/>
              <a:t>Thresholding</a:t>
            </a:r>
            <a:r>
              <a:rPr lang="en-IE" sz="3600" dirty="0"/>
              <a:t> Algorithm</a:t>
            </a:r>
            <a:endParaRPr lang="en-US" sz="3600" dirty="0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IE" dirty="0"/>
              <a:t>The basic global threshold, T, is calculated</a:t>
            </a:r>
          </a:p>
          <a:p>
            <a:pPr marL="609600" indent="-609600"/>
            <a:r>
              <a:rPr lang="en-IE" dirty="0"/>
              <a:t> as follows:</a:t>
            </a:r>
          </a:p>
          <a:p>
            <a:pPr marL="1247775" lvl="1" indent="-533400">
              <a:buFontTx/>
              <a:buAutoNum type="arabicPeriod"/>
            </a:pPr>
            <a:r>
              <a:rPr lang="en-IE" dirty="0"/>
              <a:t>Select an initial estimate for T (typically the average grey level in the image)</a:t>
            </a:r>
          </a:p>
          <a:p>
            <a:pPr marL="1247775" lvl="1" indent="-533400">
              <a:buFontTx/>
              <a:buAutoNum type="arabicPeriod"/>
            </a:pPr>
            <a:r>
              <a:rPr lang="en-US" dirty="0"/>
              <a:t>Segment the image using T to produce two groups of pixels: </a:t>
            </a:r>
          </a:p>
          <a:p>
            <a:pPr marL="1647825" lvl="2" indent="-533400">
              <a:buFont typeface="Courier New" pitchFamily="49" charset="0"/>
              <a:buChar char="o"/>
            </a:pPr>
            <a:r>
              <a:rPr lang="en-US" dirty="0"/>
              <a:t>G</a:t>
            </a:r>
            <a:r>
              <a:rPr lang="en-US" baseline="-25000" dirty="0"/>
              <a:t>1</a:t>
            </a:r>
            <a:r>
              <a:rPr lang="en-US" dirty="0"/>
              <a:t> consisting of pixels with grey levels &gt;T and </a:t>
            </a:r>
          </a:p>
          <a:p>
            <a:pPr marL="1647825" lvl="2" indent="-533400">
              <a:buFont typeface="Courier New" pitchFamily="49" charset="0"/>
              <a:buChar char="o"/>
            </a:pPr>
            <a:r>
              <a:rPr lang="en-US" dirty="0"/>
              <a:t>G</a:t>
            </a:r>
            <a:r>
              <a:rPr lang="en-US" baseline="-25000" dirty="0"/>
              <a:t>2</a:t>
            </a:r>
            <a:r>
              <a:rPr lang="en-US" dirty="0"/>
              <a:t> consisting pixels with grey levels </a:t>
            </a:r>
            <a:r>
              <a:rPr lang="en-US" dirty="0">
                <a:cs typeface="Arial" charset="0"/>
              </a:rPr>
              <a:t>≤</a:t>
            </a:r>
            <a:r>
              <a:rPr lang="en-US" dirty="0"/>
              <a:t> T</a:t>
            </a:r>
          </a:p>
          <a:p>
            <a:pPr marL="1247775" lvl="1" indent="-533400">
              <a:buFontTx/>
              <a:buAutoNum type="arabicPeriod"/>
            </a:pPr>
            <a:r>
              <a:rPr lang="en-US" dirty="0"/>
              <a:t>Compute the average grey levels of pixels in G</a:t>
            </a:r>
            <a:r>
              <a:rPr lang="en-US" baseline="-25000" dirty="0"/>
              <a:t>1</a:t>
            </a:r>
            <a:r>
              <a:rPr lang="en-US" dirty="0"/>
              <a:t> to give μ</a:t>
            </a:r>
            <a:r>
              <a:rPr lang="en-US" baseline="-25000" dirty="0"/>
              <a:t>1</a:t>
            </a:r>
            <a:r>
              <a:rPr lang="en-US" dirty="0"/>
              <a:t> and G</a:t>
            </a:r>
            <a:r>
              <a:rPr lang="en-US" baseline="-25000" dirty="0"/>
              <a:t>2</a:t>
            </a:r>
            <a:r>
              <a:rPr lang="en-US" dirty="0"/>
              <a:t> to give μ</a:t>
            </a:r>
            <a:r>
              <a:rPr lang="en-US" baseline="-25000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394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r>
              <a:rPr lang="en-IE" sz="3600" dirty="0"/>
              <a:t>Basic Global </a:t>
            </a:r>
            <a:r>
              <a:rPr lang="en-IE" sz="3600" dirty="0" err="1"/>
              <a:t>Thresholding</a:t>
            </a:r>
            <a:r>
              <a:rPr lang="en-IE" sz="3600" dirty="0"/>
              <a:t> Algorithm</a:t>
            </a:r>
            <a:endParaRPr lang="en-US" sz="3600" dirty="0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459" y="1285860"/>
            <a:ext cx="10658069" cy="5500726"/>
          </a:xfrm>
        </p:spPr>
        <p:txBody>
          <a:bodyPr/>
          <a:lstStyle/>
          <a:p>
            <a:pPr marL="1247775" lvl="1" indent="-533400">
              <a:buFontTx/>
              <a:buAutoNum type="arabicPeriod" startAt="4"/>
            </a:pPr>
            <a:r>
              <a:rPr lang="en-US" dirty="0"/>
              <a:t>Compute a new threshold value: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1247775" lvl="1" indent="-533400">
              <a:buFontTx/>
              <a:buAutoNum type="arabicPeriod" startAt="4"/>
            </a:pPr>
            <a:r>
              <a:rPr lang="en-US" dirty="0"/>
              <a:t>Repeat steps 2 – 4 until the difference in T in successive iterations is less than a predefined parameter T</a:t>
            </a:r>
            <a:r>
              <a:rPr lang="en-US" baseline="-25000" dirty="0">
                <a:cs typeface="Arial" charset="0"/>
              </a:rPr>
              <a:t>0</a:t>
            </a:r>
          </a:p>
          <a:p>
            <a:endParaRPr lang="en-IE" dirty="0">
              <a:cs typeface="Arial" charset="0"/>
            </a:endParaRPr>
          </a:p>
          <a:p>
            <a:r>
              <a:rPr lang="en-IE" dirty="0">
                <a:cs typeface="Arial" charset="0"/>
              </a:rPr>
              <a:t>This algorithm works very well for finding thresholds when the histogram is suitable</a:t>
            </a:r>
            <a:endParaRPr lang="en-US" dirty="0">
              <a:cs typeface="Arial" charset="0"/>
            </a:endParaRPr>
          </a:p>
        </p:txBody>
      </p:sp>
      <p:graphicFrame>
        <p:nvGraphicFramePr>
          <p:cNvPr id="159748" name="Object 4"/>
          <p:cNvGraphicFramePr>
            <a:graphicFrameLocks noChangeAspect="1"/>
          </p:cNvGraphicFramePr>
          <p:nvPr/>
        </p:nvGraphicFramePr>
        <p:xfrm>
          <a:off x="3887789" y="1868489"/>
          <a:ext cx="2338387" cy="120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61760" imgH="393480" progId="Equation.3">
                  <p:embed/>
                </p:oleObj>
              </mc:Choice>
              <mc:Fallback>
                <p:oleObj name="Equation" r:id="rId3" imgW="7617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7789" y="1868489"/>
                        <a:ext cx="2338387" cy="1208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0148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1344" y="1285860"/>
            <a:ext cx="10585176" cy="535785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dirty="0"/>
              <a:t>We start by treating the normalized histogram as a discrete pdf with 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dirty="0"/>
              <a:t>                                                       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dirty="0"/>
              <a:t>where </a:t>
            </a:r>
            <a:r>
              <a:rPr lang="tr-TR" i="1" dirty="0"/>
              <a:t>n</a:t>
            </a:r>
            <a:r>
              <a:rPr lang="tr-TR" dirty="0"/>
              <a:t> is the number of pixels in the image, </a:t>
            </a:r>
            <a:r>
              <a:rPr lang="tr-TR" i="1" dirty="0"/>
              <a:t>n</a:t>
            </a:r>
            <a:r>
              <a:rPr lang="tr-TR" i="1" baseline="-16000" dirty="0"/>
              <a:t>q</a:t>
            </a:r>
            <a:r>
              <a:rPr lang="tr-TR" dirty="0"/>
              <a:t> is the number of</a:t>
            </a:r>
            <a:r>
              <a:rPr lang="en-US" dirty="0"/>
              <a:t> </a:t>
            </a:r>
            <a:r>
              <a:rPr lang="tr-TR" dirty="0"/>
              <a:t>pixels that have intensity level </a:t>
            </a:r>
            <a:r>
              <a:rPr lang="tr-TR" i="1" dirty="0"/>
              <a:t>r</a:t>
            </a:r>
            <a:r>
              <a:rPr lang="tr-TR" i="1" baseline="-16000" dirty="0"/>
              <a:t>q</a:t>
            </a:r>
            <a:r>
              <a:rPr lang="tr-TR" dirty="0"/>
              <a:t> and  </a:t>
            </a:r>
            <a:r>
              <a:rPr lang="tr-TR" i="1" dirty="0"/>
              <a:t>L</a:t>
            </a:r>
            <a:r>
              <a:rPr lang="tr-TR" dirty="0"/>
              <a:t> is the total number of possible intensity levels in the image.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dirty="0"/>
              <a:t>Suppose that a threshold </a:t>
            </a:r>
            <a:r>
              <a:rPr lang="tr-TR" i="1" dirty="0"/>
              <a:t>k</a:t>
            </a:r>
            <a:r>
              <a:rPr lang="tr-TR" dirty="0"/>
              <a:t> is chosen s.t.  </a:t>
            </a:r>
            <a:r>
              <a:rPr lang="tr-TR" i="1" dirty="0"/>
              <a:t>C</a:t>
            </a:r>
            <a:r>
              <a:rPr lang="tr-TR" baseline="-16000" dirty="0"/>
              <a:t>0</a:t>
            </a:r>
            <a:r>
              <a:rPr lang="tr-TR" dirty="0"/>
              <a:t> is the set of pixels with levels [0, 1, ..., </a:t>
            </a:r>
            <a:r>
              <a:rPr lang="tr-TR" i="1" dirty="0"/>
              <a:t>k</a:t>
            </a:r>
            <a:r>
              <a:rPr lang="tr-TR" dirty="0"/>
              <a:t>-1] and </a:t>
            </a:r>
            <a:r>
              <a:rPr lang="tr-TR" i="1" dirty="0"/>
              <a:t>C</a:t>
            </a:r>
            <a:r>
              <a:rPr lang="tr-TR" baseline="-16000" dirty="0"/>
              <a:t>1</a:t>
            </a:r>
            <a:r>
              <a:rPr lang="tr-TR" dirty="0"/>
              <a:t> is the set of pixels with levels [</a:t>
            </a:r>
            <a:r>
              <a:rPr lang="tr-TR" i="1" dirty="0"/>
              <a:t>k</a:t>
            </a:r>
            <a:r>
              <a:rPr lang="tr-TR" dirty="0"/>
              <a:t>, </a:t>
            </a:r>
            <a:r>
              <a:rPr lang="tr-TR" i="1" dirty="0"/>
              <a:t>k</a:t>
            </a:r>
            <a:r>
              <a:rPr lang="tr-TR" dirty="0"/>
              <a:t>+1, ..., </a:t>
            </a:r>
            <a:r>
              <a:rPr lang="tr-TR" i="1" dirty="0"/>
              <a:t>L</a:t>
            </a:r>
            <a:r>
              <a:rPr lang="tr-TR" dirty="0"/>
              <a:t>-1].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tr-TR" sz="2800" dirty="0"/>
          </a:p>
        </p:txBody>
      </p:sp>
      <p:graphicFrame>
        <p:nvGraphicFramePr>
          <p:cNvPr id="21506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04966959"/>
              </p:ext>
            </p:extLst>
          </p:nvPr>
        </p:nvGraphicFramePr>
        <p:xfrm>
          <a:off x="3306083" y="1915168"/>
          <a:ext cx="6185427" cy="1081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44440" imgH="355320" progId="Equation.3">
                  <p:embed/>
                </p:oleObj>
              </mc:Choice>
              <mc:Fallback>
                <p:oleObj name="Equation" r:id="rId3" imgW="2044440" imgH="3553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6083" y="1915168"/>
                        <a:ext cx="6185427" cy="10817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844" y="71414"/>
            <a:ext cx="7500990" cy="928694"/>
          </a:xfrm>
          <a:ln/>
        </p:spPr>
        <p:txBody>
          <a:bodyPr>
            <a:normAutofit/>
          </a:bodyPr>
          <a:lstStyle/>
          <a:p>
            <a:r>
              <a:rPr lang="en-IE" sz="3600" dirty="0" err="1"/>
              <a:t>Thresholding</a:t>
            </a:r>
            <a:r>
              <a:rPr lang="en-IE" sz="3600" dirty="0"/>
              <a:t> using Otsu Method</a:t>
            </a:r>
            <a:endParaRPr lang="en-US" sz="3600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1344" y="1428736"/>
            <a:ext cx="10585176" cy="4116388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2800" dirty="0"/>
              <a:t>Otsu method choses the threshold value </a:t>
            </a:r>
            <a:r>
              <a:rPr lang="tr-TR" sz="2800" i="1" dirty="0"/>
              <a:t>k</a:t>
            </a:r>
            <a:r>
              <a:rPr lang="tr-TR" sz="2800" dirty="0"/>
              <a:t> that maximizes the </a:t>
            </a:r>
            <a:r>
              <a:rPr lang="tr-TR" sz="2800" i="1" dirty="0"/>
              <a:t>between-class variance                                                                   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tr-TR" sz="2800" i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tr-TR" sz="2800" i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2800" dirty="0"/>
              <a:t>where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tr-TR" sz="2800" dirty="0"/>
          </a:p>
        </p:txBody>
      </p:sp>
      <p:graphicFrame>
        <p:nvGraphicFramePr>
          <p:cNvPr id="22530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167042" y="2500306"/>
          <a:ext cx="5718395" cy="642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92160" imgH="215640" progId="Equation.3">
                  <p:embed/>
                </p:oleObj>
              </mc:Choice>
              <mc:Fallback>
                <p:oleObj name="Equation" r:id="rId3" imgW="1892160" imgH="215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042" y="2500306"/>
                        <a:ext cx="5718395" cy="6429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7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4025037677"/>
              </p:ext>
            </p:extLst>
          </p:nvPr>
        </p:nvGraphicFramePr>
        <p:xfrm>
          <a:off x="3149600" y="3702050"/>
          <a:ext cx="5732463" cy="276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869920" imgH="1384200" progId="Equation.3">
                  <p:embed/>
                </p:oleObj>
              </mc:Choice>
              <mc:Fallback>
                <p:oleObj name="Equation" r:id="rId5" imgW="2869920" imgH="1384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00" y="3702050"/>
                        <a:ext cx="5732463" cy="2765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844" y="71414"/>
            <a:ext cx="7500990" cy="928694"/>
          </a:xfrm>
          <a:ln/>
        </p:spPr>
        <p:txBody>
          <a:bodyPr>
            <a:normAutofit/>
          </a:bodyPr>
          <a:lstStyle/>
          <a:p>
            <a:r>
              <a:rPr lang="en-IE" sz="3600" dirty="0" err="1"/>
              <a:t>Thresholding</a:t>
            </a:r>
            <a:r>
              <a:rPr lang="en-IE" sz="3600" dirty="0"/>
              <a:t> using Otsu Method</a:t>
            </a:r>
            <a:endParaRPr lang="en-US" sz="3600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8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1344" y="1428736"/>
            <a:ext cx="10513168" cy="464347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defRPr/>
            </a:pPr>
            <a:r>
              <a:rPr lang="tr-TR" sz="2800" dirty="0">
                <a:latin typeface="Arial" pitchFamily="34" charset="0"/>
                <a:cs typeface="Arial" pitchFamily="34" charset="0"/>
              </a:rPr>
              <a:t>T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tr-TR" sz="2800" dirty="0">
                <a:latin typeface="Arial" pitchFamily="34" charset="0"/>
                <a:cs typeface="Arial" pitchFamily="34" charset="0"/>
              </a:rPr>
              <a:t>=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tr-TR" sz="2800" dirty="0">
                <a:latin typeface="Arial" pitchFamily="34" charset="0"/>
                <a:cs typeface="Arial" pitchFamily="34" charset="0"/>
              </a:rPr>
              <a:t>graythresh(f) 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800" dirty="0"/>
              <a:t>takes an image, computes its histogram, and then finds the threshold value that maximizes the between-class variance. 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800" dirty="0"/>
              <a:t>The threshold is returned as a normalized value between 0.0 and 1.0, where f is the input image and T is the resulting threshold.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844" y="71414"/>
            <a:ext cx="7500990" cy="928694"/>
          </a:xfrm>
          <a:ln/>
        </p:spPr>
        <p:txBody>
          <a:bodyPr>
            <a:normAutofit/>
          </a:bodyPr>
          <a:lstStyle/>
          <a:p>
            <a:r>
              <a:rPr lang="en-IE" sz="3600" dirty="0" err="1"/>
              <a:t>Thresholding</a:t>
            </a:r>
            <a:r>
              <a:rPr lang="en-IE" sz="3600" dirty="0"/>
              <a:t> using Otsu Method</a:t>
            </a:r>
            <a:endParaRPr lang="en-US" sz="3600" dirty="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8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63352" y="1428736"/>
            <a:ext cx="5857916" cy="464347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&gt;&gt; </a:t>
            </a:r>
            <a:r>
              <a:rPr lang="tr-TR" sz="2800" dirty="0">
                <a:latin typeface="Arial" pitchFamily="34" charset="0"/>
                <a:cs typeface="Arial" pitchFamily="34" charset="0"/>
              </a:rPr>
              <a:t>I = imread('coins.png');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defRPr/>
            </a:pPr>
            <a:r>
              <a:rPr lang="tr-TR" sz="2800" dirty="0">
                <a:latin typeface="Arial" pitchFamily="34" charset="0"/>
                <a:cs typeface="Arial" pitchFamily="34" charset="0"/>
              </a:rPr>
              <a:t>&gt;&gt; imhist(I)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&gt;&gt; </a:t>
            </a:r>
            <a:r>
              <a:rPr lang="tr-TR" sz="2800" dirty="0">
                <a:latin typeface="Arial" pitchFamily="34" charset="0"/>
                <a:cs typeface="Arial" pitchFamily="34" charset="0"/>
              </a:rPr>
              <a:t>level = graythresh(I)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defRPr/>
            </a:pPr>
            <a:r>
              <a:rPr lang="tr-TR" sz="2800" dirty="0">
                <a:latin typeface="Arial" pitchFamily="34" charset="0"/>
                <a:cs typeface="Arial" pitchFamily="34" charset="0"/>
              </a:rPr>
              <a:t>level =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defRPr/>
            </a:pPr>
            <a:r>
              <a:rPr lang="tr-TR" sz="2800" dirty="0">
                <a:latin typeface="Arial" pitchFamily="34" charset="0"/>
                <a:cs typeface="Arial" pitchFamily="34" charset="0"/>
              </a:rPr>
              <a:t>    0.4941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&gt;&gt; </a:t>
            </a:r>
            <a:r>
              <a:rPr lang="tr-TR" sz="2800" dirty="0">
                <a:latin typeface="Arial" pitchFamily="34" charset="0"/>
                <a:cs typeface="Arial" pitchFamily="34" charset="0"/>
              </a:rPr>
              <a:t>BW = im2bw(I,level);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&gt;&gt; </a:t>
            </a:r>
            <a:r>
              <a:rPr lang="tr-TR" sz="2800" dirty="0">
                <a:latin typeface="Arial" pitchFamily="34" charset="0"/>
                <a:cs typeface="Arial" pitchFamily="34" charset="0"/>
              </a:rPr>
              <a:t>imshow(BW)</a:t>
            </a:r>
            <a:endParaRPr lang="en-US" sz="2800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844" y="71414"/>
            <a:ext cx="7500990" cy="928694"/>
          </a:xfrm>
          <a:ln/>
        </p:spPr>
        <p:txBody>
          <a:bodyPr>
            <a:normAutofit fontScale="90000"/>
          </a:bodyPr>
          <a:lstStyle/>
          <a:p>
            <a:r>
              <a:rPr lang="en-IE" sz="3600" dirty="0" err="1"/>
              <a:t>Thresholding</a:t>
            </a:r>
            <a:r>
              <a:rPr lang="en-IE" sz="3600" dirty="0"/>
              <a:t> using Otsu Method: Example</a:t>
            </a:r>
            <a:endParaRPr lang="en-US" sz="3600" dirty="0"/>
          </a:p>
        </p:txBody>
      </p:sp>
      <p:pic>
        <p:nvPicPr>
          <p:cNvPr id="372738" name="Picture 2"/>
          <p:cNvPicPr>
            <a:picLocks noChangeAspect="1" noChangeArrowheads="1"/>
          </p:cNvPicPr>
          <p:nvPr/>
        </p:nvPicPr>
        <p:blipFill>
          <a:blip r:embed="rId3"/>
          <a:srcRect l="12500" t="7063" r="8482" b="5436"/>
          <a:stretch>
            <a:fillRect/>
          </a:stretch>
        </p:blipFill>
        <p:spPr bwMode="auto">
          <a:xfrm>
            <a:off x="8217272" y="3214686"/>
            <a:ext cx="2236447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2739" name="Picture 3"/>
          <p:cNvPicPr>
            <a:picLocks noChangeAspect="1" noChangeArrowheads="1"/>
          </p:cNvPicPr>
          <p:nvPr/>
        </p:nvPicPr>
        <p:blipFill>
          <a:blip r:embed="rId4"/>
          <a:srcRect l="17780" t="9036" r="17564" b="18674"/>
          <a:stretch>
            <a:fillRect/>
          </a:stretch>
        </p:blipFill>
        <p:spPr bwMode="auto">
          <a:xfrm>
            <a:off x="8221280" y="1285860"/>
            <a:ext cx="2232438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2740" name="Picture 4"/>
          <p:cNvPicPr>
            <a:picLocks noChangeAspect="1" noChangeArrowheads="1"/>
          </p:cNvPicPr>
          <p:nvPr/>
        </p:nvPicPr>
        <p:blipFill>
          <a:blip r:embed="rId5"/>
          <a:srcRect l="17672" t="9237" r="17672" b="16215"/>
          <a:stretch>
            <a:fillRect/>
          </a:stretch>
        </p:blipFill>
        <p:spPr bwMode="auto">
          <a:xfrm>
            <a:off x="8239140" y="5089910"/>
            <a:ext cx="2143140" cy="1768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r>
              <a:rPr lang="en-IE" sz="3600" dirty="0"/>
              <a:t>Problems With Single Value Thresholding…</a:t>
            </a:r>
            <a:endParaRPr lang="en-US" sz="3600" dirty="0"/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9376" y="1214422"/>
            <a:ext cx="7272808" cy="5500726"/>
          </a:xfrm>
        </p:spPr>
        <p:txBody>
          <a:bodyPr>
            <a:normAutofit/>
          </a:bodyPr>
          <a:lstStyle/>
          <a:p>
            <a:r>
              <a:rPr lang="en-IE" sz="2800" dirty="0"/>
              <a:t>Single value </a:t>
            </a:r>
            <a:r>
              <a:rPr lang="en-IE" sz="2800" dirty="0" err="1"/>
              <a:t>thresholding</a:t>
            </a:r>
            <a:r>
              <a:rPr lang="en-IE" sz="2800" dirty="0"/>
              <a:t> only works for bimodal histograms</a:t>
            </a:r>
          </a:p>
          <a:p>
            <a:r>
              <a:rPr lang="en-IE" sz="2800" dirty="0"/>
              <a:t>Images with other kinds of histograms need more than a single threshold</a:t>
            </a:r>
          </a:p>
          <a:p>
            <a:r>
              <a:rPr lang="en-IE" sz="2800" dirty="0"/>
              <a:t>Uneven illumination can really upset a single valued </a:t>
            </a:r>
            <a:r>
              <a:rPr lang="en-IE" sz="2800" dirty="0" err="1"/>
              <a:t>thresholding</a:t>
            </a:r>
            <a:r>
              <a:rPr lang="en-IE" sz="2800" dirty="0"/>
              <a:t> scheme</a:t>
            </a:r>
            <a:endParaRPr lang="en-US" sz="2800" dirty="0"/>
          </a:p>
        </p:txBody>
      </p:sp>
      <p:pic>
        <p:nvPicPr>
          <p:cNvPr id="165893" name="Picture 5"/>
          <p:cNvPicPr>
            <a:picLocks noChangeAspect="1" noChangeArrowheads="1"/>
          </p:cNvPicPr>
          <p:nvPr/>
        </p:nvPicPr>
        <p:blipFill rotWithShape="1">
          <a:blip r:embed="rId3" cstate="print"/>
          <a:srcRect l="7147" r="7080" b="29030"/>
          <a:stretch/>
        </p:blipFill>
        <p:spPr bwMode="auto">
          <a:xfrm>
            <a:off x="7824191" y="1349698"/>
            <a:ext cx="4320481" cy="171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5895" name="Line 7"/>
          <p:cNvSpPr>
            <a:spLocks noChangeShapeType="1"/>
          </p:cNvSpPr>
          <p:nvPr/>
        </p:nvSpPr>
        <p:spPr bwMode="auto">
          <a:xfrm flipH="1" flipV="1">
            <a:off x="8976320" y="1316360"/>
            <a:ext cx="21998" cy="1464568"/>
          </a:xfrm>
          <a:prstGeom prst="line">
            <a:avLst/>
          </a:prstGeom>
          <a:noFill/>
          <a:ln w="12700">
            <a:solidFill>
              <a:srgbClr val="FF6600"/>
            </a:solidFill>
            <a:prstDash val="dash"/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75010" y="1350172"/>
            <a:ext cx="260350" cy="5229225"/>
            <a:chOff x="-2" y="1034"/>
            <a:chExt cx="164" cy="3294"/>
          </a:xfrm>
        </p:grpSpPr>
        <p:pic>
          <p:nvPicPr>
            <p:cNvPr id="165899" name="Picture 11" descr="book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</p:spPr>
        </p:pic>
        <p:sp>
          <p:nvSpPr>
            <p:cNvPr id="165900" name="Rectangle 12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/>
              <a:r>
                <a:rPr lang="en-IE" sz="1200">
                  <a:solidFill>
                    <a:schemeClr val="bg1"/>
                  </a:solidFill>
                </a:rPr>
                <a:t>Images taken from Gonzalez &amp; Woods, Digital Image Processing (2002)</a:t>
              </a:r>
              <a:endParaRPr lang="en-US" sz="1200">
                <a:solidFill>
                  <a:schemeClr val="bg1"/>
                </a:solidFill>
              </a:endParaRPr>
            </a:p>
          </p:txBody>
        </p:sp>
      </p:grpSp>
      <p:sp>
        <p:nvSpPr>
          <p:cNvPr id="11" name="Line 7"/>
          <p:cNvSpPr>
            <a:spLocks noChangeShapeType="1"/>
          </p:cNvSpPr>
          <p:nvPr/>
        </p:nvSpPr>
        <p:spPr bwMode="auto">
          <a:xfrm flipH="1" flipV="1">
            <a:off x="10848528" y="1268760"/>
            <a:ext cx="21998" cy="1464568"/>
          </a:xfrm>
          <a:prstGeom prst="line">
            <a:avLst/>
          </a:prstGeom>
          <a:noFill/>
          <a:ln w="12700">
            <a:solidFill>
              <a:srgbClr val="FF6600"/>
            </a:solidFill>
            <a:prstDash val="dash"/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 flipH="1" flipV="1">
            <a:off x="11402594" y="1268760"/>
            <a:ext cx="21998" cy="1464568"/>
          </a:xfrm>
          <a:prstGeom prst="line">
            <a:avLst/>
          </a:prstGeom>
          <a:noFill/>
          <a:ln w="12700">
            <a:solidFill>
              <a:srgbClr val="FF6600"/>
            </a:solidFill>
            <a:prstDash val="dash"/>
            <a:round/>
            <a:headEnd/>
            <a:tailEnd/>
          </a:ln>
          <a:effectLst/>
        </p:spPr>
        <p:txBody>
          <a:bodyPr wrap="none"/>
          <a:lstStyle/>
          <a:p>
            <a:endParaRPr lang="en-US"/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5" cstate="print"/>
          <a:srcRect t="66454" r="19046"/>
          <a:stretch>
            <a:fillRect/>
          </a:stretch>
        </p:blipFill>
        <p:spPr bwMode="auto">
          <a:xfrm>
            <a:off x="6181591" y="5242665"/>
            <a:ext cx="3946857" cy="1585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8"/>
          <p:cNvPicPr>
            <a:picLocks noChangeAspect="1" noChangeArrowheads="1"/>
          </p:cNvPicPr>
          <p:nvPr/>
        </p:nvPicPr>
        <p:blipFill>
          <a:blip r:embed="rId5" cstate="print"/>
          <a:srcRect l="20078" r="39122" b="66971"/>
          <a:stretch>
            <a:fillRect/>
          </a:stretch>
        </p:blipFill>
        <p:spPr bwMode="auto">
          <a:xfrm>
            <a:off x="6204746" y="3596037"/>
            <a:ext cx="1989359" cy="1561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9"/>
          <p:cNvPicPr>
            <a:picLocks noChangeAspect="1" noChangeArrowheads="1"/>
          </p:cNvPicPr>
          <p:nvPr/>
        </p:nvPicPr>
        <p:blipFill>
          <a:blip r:embed="rId5" cstate="print"/>
          <a:srcRect t="33363" r="59729" b="34032"/>
          <a:stretch>
            <a:fillRect/>
          </a:stretch>
        </p:blipFill>
        <p:spPr bwMode="auto">
          <a:xfrm>
            <a:off x="8148962" y="3602452"/>
            <a:ext cx="1963871" cy="1542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10"/>
          <p:cNvPicPr>
            <a:picLocks noChangeAspect="1" noChangeArrowheads="1"/>
          </p:cNvPicPr>
          <p:nvPr/>
        </p:nvPicPr>
        <p:blipFill>
          <a:blip r:embed="rId6" cstate="print"/>
          <a:srcRect l="59723" b="49637"/>
          <a:stretch>
            <a:fillRect/>
          </a:stretch>
        </p:blipFill>
        <p:spPr bwMode="auto">
          <a:xfrm>
            <a:off x="10154039" y="5225450"/>
            <a:ext cx="1990633" cy="160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" name="Picture 11"/>
          <p:cNvPicPr>
            <a:picLocks noChangeAspect="1" noChangeArrowheads="1"/>
          </p:cNvPicPr>
          <p:nvPr/>
        </p:nvPicPr>
        <p:blipFill>
          <a:blip r:embed="rId5" cstate="print">
            <a:grayscl/>
            <a:biLevel thresh="50000"/>
          </a:blip>
          <a:srcRect l="20056" r="39137" b="66977"/>
          <a:stretch>
            <a:fillRect/>
          </a:stretch>
        </p:blipFill>
        <p:spPr bwMode="auto">
          <a:xfrm>
            <a:off x="10139436" y="3596037"/>
            <a:ext cx="1989359" cy="1561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40433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r>
              <a:rPr lang="en-IE" sz="3600" dirty="0"/>
              <a:t>Problems With Single Value Thresholding</a:t>
            </a:r>
            <a:endParaRPr lang="en-US" sz="3600" dirty="0"/>
          </a:p>
        </p:txBody>
      </p:sp>
      <p:pic>
        <p:nvPicPr>
          <p:cNvPr id="178180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 cstate="print"/>
          <a:srcRect l="19704" t="38593" r="33118" b="31313"/>
          <a:stretch>
            <a:fillRect/>
          </a:stretch>
        </p:blipFill>
        <p:spPr>
          <a:xfrm>
            <a:off x="8040216" y="1268760"/>
            <a:ext cx="4073525" cy="2751138"/>
          </a:xfrm>
          <a:noFill/>
          <a:ln/>
        </p:spPr>
      </p:pic>
      <p:sp>
        <p:nvSpPr>
          <p:cNvPr id="178181" name="Rectangle 5"/>
          <p:cNvSpPr>
            <a:spLocks noChangeArrowheads="1"/>
          </p:cNvSpPr>
          <p:nvPr/>
        </p:nvSpPr>
        <p:spPr bwMode="auto">
          <a:xfrm>
            <a:off x="695400" y="1333500"/>
            <a:ext cx="7200800" cy="3535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I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say we want to isolate the contents </a:t>
            </a:r>
            <a:br>
              <a:rPr lang="en-I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bottles.</a:t>
            </a:r>
          </a:p>
          <a:p>
            <a:pPr>
              <a:spcBef>
                <a:spcPct val="20000"/>
              </a:spcBef>
            </a:pPr>
            <a:r>
              <a:rPr lang="en-I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about what the histogram for this </a:t>
            </a:r>
            <a:br>
              <a:rPr lang="en-I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E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would look like.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47018" y="1484784"/>
            <a:ext cx="260350" cy="5229225"/>
            <a:chOff x="-2" y="1034"/>
            <a:chExt cx="164" cy="3294"/>
          </a:xfrm>
        </p:grpSpPr>
        <p:pic>
          <p:nvPicPr>
            <p:cNvPr id="178183" name="Picture 7" descr="book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-5400000">
              <a:off x="17" y="4184"/>
              <a:ext cx="125" cy="164"/>
            </a:xfrm>
            <a:prstGeom prst="rect">
              <a:avLst/>
            </a:prstGeom>
            <a:noFill/>
          </p:spPr>
        </p:pic>
        <p:sp>
          <p:nvSpPr>
            <p:cNvPr id="178184" name="Rectangle 8"/>
            <p:cNvSpPr>
              <a:spLocks noChangeArrowheads="1"/>
            </p:cNvSpPr>
            <p:nvPr/>
          </p:nvSpPr>
          <p:spPr bwMode="auto">
            <a:xfrm rot="-5400000">
              <a:off x="-1508" y="2540"/>
              <a:ext cx="3172" cy="159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/>
              <a:r>
                <a:rPr lang="en-IE" sz="12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Images taken from Gonzalez &amp; Woods, Digital Image Processing (2002)</a:t>
              </a:r>
              <a:endParaRPr lang="en-US" sz="1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767408" y="3524711"/>
            <a:ext cx="537592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&gt;&gt; b =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imread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('bottles.jpg');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&gt;&gt;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imhist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(b);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l="12619" t="6498" r="8785" b="6498"/>
          <a:stretch/>
        </p:blipFill>
        <p:spPr>
          <a:xfrm>
            <a:off x="8765404" y="4077072"/>
            <a:ext cx="3312367" cy="27468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33424D-304A-6C54-E585-40A54DCFAD47}"/>
              </a:ext>
            </a:extLst>
          </p:cNvPr>
          <p:cNvSpPr txBox="1"/>
          <p:nvPr/>
        </p:nvSpPr>
        <p:spPr>
          <a:xfrm>
            <a:off x="1343472" y="5036983"/>
            <a:ext cx="61052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IE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would happen if we use a single threshold value?</a:t>
            </a:r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235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Role of Uneven Illumination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56861" y="5534332"/>
            <a:ext cx="2305140" cy="4869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742950" indent="-285750" algn="just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just" defTabSz="914400" rtl="0" eaLnBrk="1" latinLnBrk="0" hangingPunct="1">
              <a:spcBef>
                <a:spcPct val="20000"/>
              </a:spcBef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just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just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/>
              <a:t>Normal image</a:t>
            </a:r>
            <a:endParaRPr lang="en-US" sz="240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762001" y="5517232"/>
            <a:ext cx="2520280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742950" indent="-285750" algn="just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just" defTabSz="914400" rtl="0" eaLnBrk="1" latinLnBrk="0" hangingPunct="1">
              <a:spcBef>
                <a:spcPct val="20000"/>
              </a:spcBef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just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just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IE" sz="2400" dirty="0"/>
              <a:t>Intensity ramp in the range [0.2, 0.6]</a:t>
            </a:r>
            <a:endParaRPr lang="en-US" sz="240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5354288" y="5517232"/>
            <a:ext cx="3261992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742950" indent="-285750" algn="just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just" defTabSz="914400" rtl="0" eaLnBrk="1" latinLnBrk="0" hangingPunct="1">
              <a:spcBef>
                <a:spcPct val="20000"/>
              </a:spcBef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just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just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lang="en-IE" sz="2400" dirty="0"/>
              <a:t>Product of normal image and intensity ramp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340767"/>
            <a:ext cx="7611217" cy="402037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8248" y="1412776"/>
            <a:ext cx="3744416" cy="28803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either balance the illumination or apply adaptive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thresholding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500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IE" dirty="0"/>
              <a:t>Basic Adaptive Thresholding</a:t>
            </a:r>
            <a:endParaRPr lang="en-US" dirty="0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459" y="1285860"/>
            <a:ext cx="5761525" cy="5500726"/>
          </a:xfrm>
        </p:spPr>
        <p:txBody>
          <a:bodyPr/>
          <a:lstStyle/>
          <a:p>
            <a:r>
              <a:rPr lang="en-IE" dirty="0"/>
              <a:t>An approach to handling situations in which single value </a:t>
            </a:r>
            <a:r>
              <a:rPr lang="en-IE" dirty="0" err="1"/>
              <a:t>thresholding</a:t>
            </a:r>
            <a:r>
              <a:rPr lang="en-IE" dirty="0"/>
              <a:t> will not work is to divide an image into sub images and threshold these individually</a:t>
            </a:r>
          </a:p>
          <a:p>
            <a:r>
              <a:rPr lang="en-IE" dirty="0"/>
              <a:t>Since the threshold for each pixel depends on its location within an image this technique is called </a:t>
            </a:r>
            <a:r>
              <a:rPr lang="en-IE" i="1" dirty="0"/>
              <a:t>adaptive</a:t>
            </a:r>
            <a:endParaRPr lang="en-US" i="1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 cstate="print"/>
          <a:srcRect t="66454" r="19046"/>
          <a:stretch>
            <a:fillRect/>
          </a:stretch>
        </p:blipFill>
        <p:spPr bwMode="auto">
          <a:xfrm>
            <a:off x="6156837" y="1484784"/>
            <a:ext cx="5915827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460" y="1285860"/>
            <a:ext cx="5977548" cy="5524500"/>
          </a:xfrm>
        </p:spPr>
        <p:txBody>
          <a:bodyPr>
            <a:normAutofit/>
          </a:bodyPr>
          <a:lstStyle/>
          <a:p>
            <a:r>
              <a:rPr lang="en-IE" dirty="0"/>
              <a:t>The image shows an example of using adaptive </a:t>
            </a:r>
            <a:r>
              <a:rPr lang="en-IE" dirty="0" err="1"/>
              <a:t>thresholding</a:t>
            </a:r>
            <a:r>
              <a:rPr lang="en-IE" dirty="0"/>
              <a:t> with the image shown previously</a:t>
            </a:r>
          </a:p>
          <a:p>
            <a:r>
              <a:rPr lang="en-IE" dirty="0"/>
              <a:t>As can be seen, success is mixed</a:t>
            </a:r>
          </a:p>
          <a:p>
            <a:r>
              <a:rPr lang="en-IE" dirty="0"/>
              <a:t>But, we can further subdivide the troublesome sub images for more success</a:t>
            </a:r>
          </a:p>
          <a:p>
            <a:pPr algn="l">
              <a:spcBef>
                <a:spcPts val="1200"/>
              </a:spcBef>
            </a:pPr>
            <a:r>
              <a:rPr lang="en-IE" dirty="0"/>
              <a:t>Further subdivided the troublesome part, successful </a:t>
            </a:r>
            <a:r>
              <a:rPr lang="en-IE" dirty="0" err="1"/>
              <a:t>thresholding</a:t>
            </a:r>
            <a:r>
              <a:rPr lang="en-IE" dirty="0"/>
              <a:t> is achieved</a:t>
            </a:r>
            <a:endParaRPr lang="en-US" dirty="0"/>
          </a:p>
        </p:txBody>
      </p:sp>
      <p:pic>
        <p:nvPicPr>
          <p:cNvPr id="174084" name="Picture 4"/>
          <p:cNvPicPr>
            <a:picLocks noChangeAspect="1" noChangeArrowheads="1"/>
          </p:cNvPicPr>
          <p:nvPr/>
        </p:nvPicPr>
        <p:blipFill>
          <a:blip r:embed="rId3" cstate="print"/>
          <a:srcRect l="19243" t="49608"/>
          <a:stretch>
            <a:fillRect/>
          </a:stretch>
        </p:blipFill>
        <p:spPr bwMode="auto">
          <a:xfrm>
            <a:off x="6240015" y="1268760"/>
            <a:ext cx="5904657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9951988" y="1916832"/>
            <a:ext cx="752524" cy="576064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032104" y="1916832"/>
            <a:ext cx="752524" cy="576064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 rotWithShape="1">
          <a:blip r:embed="rId4" cstate="print">
            <a:lum bright="1000" contrast="-8000"/>
          </a:blip>
          <a:srcRect t="32712" r="52"/>
          <a:stretch/>
        </p:blipFill>
        <p:spPr bwMode="auto">
          <a:xfrm>
            <a:off x="6168008" y="3723294"/>
            <a:ext cx="5988578" cy="3070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FE2EA294-5582-41AE-9541-8521DFB866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459" y="71414"/>
            <a:ext cx="10001320" cy="928694"/>
          </a:xfrm>
          <a:ln/>
        </p:spPr>
        <p:txBody>
          <a:bodyPr/>
          <a:lstStyle/>
          <a:p>
            <a:r>
              <a:rPr lang="en-IE" dirty="0"/>
              <a:t>Basic Adaptive Thresholding: Example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Role of Noise in Image </a:t>
            </a:r>
            <a:r>
              <a:rPr lang="en-US" dirty="0" err="1"/>
              <a:t>Thresholding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21" y="1340768"/>
            <a:ext cx="7654479" cy="4062051"/>
          </a:xfrm>
          <a:prstGeom prst="rect">
            <a:avLst/>
          </a:prstGeom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56861" y="5534332"/>
            <a:ext cx="2305140" cy="4869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742950" indent="-285750" algn="just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just" defTabSz="914400" rtl="0" eaLnBrk="1" latinLnBrk="0" hangingPunct="1">
              <a:spcBef>
                <a:spcPct val="20000"/>
              </a:spcBef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just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just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/>
              <a:t>Noiseless image</a:t>
            </a:r>
            <a:endParaRPr lang="en-US" sz="240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762001" y="5517232"/>
            <a:ext cx="2520280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742950" indent="-285750" algn="just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just" defTabSz="914400" rtl="0" eaLnBrk="1" latinLnBrk="0" hangingPunct="1">
              <a:spcBef>
                <a:spcPct val="20000"/>
              </a:spcBef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just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just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IE" sz="2000" dirty="0"/>
              <a:t>Image with additive Gaussian noise of mean 0 and standard deviation 10</a:t>
            </a:r>
            <a:endParaRPr lang="en-US" sz="200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5354289" y="5517232"/>
            <a:ext cx="2520280" cy="93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742950" indent="-285750" algn="just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just" defTabSz="914400" rtl="0" eaLnBrk="1" latinLnBrk="0" hangingPunct="1">
              <a:spcBef>
                <a:spcPct val="20000"/>
              </a:spcBef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just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just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IE" sz="2000" dirty="0"/>
              <a:t>Image with additive Gaussian noise of mean 0 and standard deviation 50</a:t>
            </a:r>
            <a:endParaRPr lang="en-US" sz="2000" dirty="0"/>
          </a:p>
        </p:txBody>
      </p:sp>
      <p:sp>
        <p:nvSpPr>
          <p:cNvPr id="8" name="Rounded Rectangle 7"/>
          <p:cNvSpPr/>
          <p:nvPr/>
        </p:nvSpPr>
        <p:spPr>
          <a:xfrm>
            <a:off x="8328248" y="2492896"/>
            <a:ext cx="3744416" cy="19442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 the noise should be removed before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thresholding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532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dirty="0"/>
              <a:t>Segmentation</a:t>
            </a: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459" y="1285860"/>
            <a:ext cx="10658069" cy="5500726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E" dirty="0"/>
              <a:t>Segmentation attempts to partition the pixels of an image into groups that strongly correlate with the objects in an image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E" dirty="0"/>
              <a:t>Typically the first step in any automated computer vision application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B2E047-DC74-BB77-C41D-8F9E515A6D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629" t="57060" r="37240" b="16805"/>
          <a:stretch/>
        </p:blipFill>
        <p:spPr>
          <a:xfrm>
            <a:off x="8184472" y="4149079"/>
            <a:ext cx="2160000" cy="19109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C21E52-EFFE-5C0A-B716-2A9A01ADCC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181" t="8825" r="65688" b="66025"/>
          <a:stretch/>
        </p:blipFill>
        <p:spPr>
          <a:xfrm>
            <a:off x="3575720" y="4185082"/>
            <a:ext cx="2160000" cy="1838987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E94024BC-799B-85AC-6866-A3A4AB0428B8}"/>
              </a:ext>
            </a:extLst>
          </p:cNvPr>
          <p:cNvSpPr/>
          <p:nvPr/>
        </p:nvSpPr>
        <p:spPr>
          <a:xfrm>
            <a:off x="6726958" y="5061939"/>
            <a:ext cx="648072" cy="4552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99365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 of Water in Bottles</a:t>
            </a:r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312" y="1340769"/>
            <a:ext cx="3125792" cy="19442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328" y="1340768"/>
            <a:ext cx="7560840" cy="3652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b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imread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('bottles.jpg');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t=double(</a:t>
            </a:r>
            <a:r>
              <a:rPr lang="en-US" dirty="0" err="1">
                <a:solidFill>
                  <a:srgbClr val="0000FF"/>
                </a:solidFill>
                <a:latin typeface="Courier New" panose="02070309020205020404" pitchFamily="49" charset="0"/>
              </a:rPr>
              <a:t>multithresh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(b,2))/256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 err="1">
                <a:solidFill>
                  <a:srgbClr val="0000FF"/>
                </a:solidFill>
                <a:latin typeface="Courier New" panose="02070309020205020404" pitchFamily="49" charset="0"/>
              </a:rPr>
              <a:t>bL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 = im2bw(</a:t>
            </a:r>
            <a:r>
              <a:rPr lang="en-US" dirty="0" err="1">
                <a:solidFill>
                  <a:srgbClr val="0000FF"/>
                </a:solidFill>
                <a:latin typeface="Courier New" panose="02070309020205020404" pitchFamily="49" charset="0"/>
              </a:rPr>
              <a:t>b,t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(1));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 err="1">
                <a:solidFill>
                  <a:srgbClr val="0000FF"/>
                </a:solidFill>
                <a:latin typeface="Courier New" panose="02070309020205020404" pitchFamily="49" charset="0"/>
              </a:rPr>
              <a:t>bH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 = im2bw(</a:t>
            </a:r>
            <a:r>
              <a:rPr lang="en-US" dirty="0" err="1">
                <a:solidFill>
                  <a:srgbClr val="0000FF"/>
                </a:solidFill>
                <a:latin typeface="Courier New" panose="02070309020205020404" pitchFamily="49" charset="0"/>
              </a:rPr>
              <a:t>b,t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(2));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L = 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bL-bH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L1 = medfilt2(L,[9 9],'symmetric');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subplot(2,3,1),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(b),title('Bottles'),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subplot(2,3,2),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bL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), title('Liquid White'),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subplot(2,3,3),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bH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), title('Liquid Black'),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subplot(2,3,4),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(L), title('Liquid with noise'),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subplot(2,3,5),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imshow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(L1), title('Pure Liquid')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12181" t="6675" r="8962" b="16194"/>
          <a:stretch/>
        </p:blipFill>
        <p:spPr>
          <a:xfrm>
            <a:off x="7526206" y="3429000"/>
            <a:ext cx="4618466" cy="338437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63352" y="5431669"/>
            <a:ext cx="39613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 =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0.2070    0.6758</a:t>
            </a:r>
          </a:p>
        </p:txBody>
      </p:sp>
    </p:spTree>
    <p:extLst>
      <p:ext uri="{BB962C8B-B14F-4D97-AF65-F5344CB8AC3E}">
        <p14:creationId xmlns:p14="http://schemas.microsoft.com/office/powerpoint/2010/main" val="14883600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r>
              <a:rPr lang="en-IE" sz="5400" dirty="0"/>
              <a:t>Summary</a:t>
            </a:r>
            <a:endParaRPr lang="en-US" sz="5400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459" y="1357298"/>
            <a:ext cx="10514053" cy="5072098"/>
          </a:xfrm>
        </p:spPr>
        <p:txBody>
          <a:bodyPr/>
          <a:lstStyle/>
          <a:p>
            <a:r>
              <a:rPr lang="en-IE" dirty="0"/>
              <a:t>We have begun looking at segmentation, and in particular thresholding</a:t>
            </a:r>
          </a:p>
          <a:p>
            <a:r>
              <a:rPr lang="en-IE" dirty="0"/>
              <a:t>We saw the basic global </a:t>
            </a:r>
            <a:r>
              <a:rPr lang="en-IE" dirty="0" err="1"/>
              <a:t>thresholding</a:t>
            </a:r>
            <a:r>
              <a:rPr lang="en-IE" dirty="0"/>
              <a:t> algorithm and its shortcomings</a:t>
            </a:r>
          </a:p>
          <a:p>
            <a:r>
              <a:rPr lang="en-IE" dirty="0"/>
              <a:t>We observed how noise or uneven illumination effect image segmentation</a:t>
            </a:r>
          </a:p>
          <a:p>
            <a:r>
              <a:rPr lang="en-IE" dirty="0"/>
              <a:t>We also saw a simple way to overcome some of these limitations using adaptive </a:t>
            </a:r>
            <a:r>
              <a:rPr lang="en-IE" dirty="0" err="1"/>
              <a:t>thresholding</a:t>
            </a:r>
            <a:endParaRPr lang="en-IE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>
            <a:normAutofit/>
          </a:bodyPr>
          <a:lstStyle/>
          <a:p>
            <a:r>
              <a:rPr lang="en-IE" sz="5400" dirty="0"/>
              <a:t>#Video Lectures</a:t>
            </a:r>
            <a:endParaRPr lang="en-US" sz="5400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459" y="1357298"/>
            <a:ext cx="10514053" cy="5072098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solidFill>
                  <a:srgbClr val="000000"/>
                </a:solidFill>
                <a:effectLst/>
                <a:hlinkClick r:id="rId3"/>
              </a:rPr>
              <a:t>Overview</a:t>
            </a:r>
            <a:endParaRPr lang="en-US" sz="3600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solidFill>
                  <a:srgbClr val="5A5A5A"/>
                </a:solidFill>
                <a:effectLst/>
                <a:hlinkClick r:id="rId4"/>
              </a:rPr>
              <a:t>Segmentation by humans</a:t>
            </a:r>
            <a:endParaRPr lang="en-US" sz="3600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solidFill>
                  <a:srgbClr val="000000"/>
                </a:solidFill>
                <a:effectLst/>
                <a:hlinkClick r:id="rId5"/>
              </a:rPr>
              <a:t>Segmentation as Clustering</a:t>
            </a:r>
            <a:endParaRPr lang="en-US" sz="3600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solidFill>
                  <a:srgbClr val="000000"/>
                </a:solidFill>
                <a:effectLst/>
                <a:hlinkClick r:id="rId6"/>
              </a:rPr>
              <a:t>k-Means Segmentation</a:t>
            </a:r>
            <a:endParaRPr lang="en-US" sz="3600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solidFill>
                  <a:srgbClr val="000000"/>
                </a:solidFill>
                <a:effectLst/>
                <a:hlinkClick r:id="rId7"/>
              </a:rPr>
              <a:t>Mean-Shift Segmentation</a:t>
            </a:r>
            <a:endParaRPr lang="en-US" sz="3600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b="0" i="0" u="none" strike="noStrike" dirty="0">
                <a:solidFill>
                  <a:srgbClr val="000000"/>
                </a:solidFill>
                <a:effectLst/>
                <a:hlinkClick r:id="rId8"/>
              </a:rPr>
              <a:t>Graph Based Segmentation</a:t>
            </a:r>
            <a:endParaRPr lang="en-US" sz="3600" b="0" i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5428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13228</TotalTime>
  <Words>1324</Words>
  <Application>Microsoft Office PowerPoint</Application>
  <PresentationFormat>Widescreen</PresentationFormat>
  <Paragraphs>169</Paragraphs>
  <Slides>25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Courier New</vt:lpstr>
      <vt:lpstr>Times New Roman</vt:lpstr>
      <vt:lpstr>Wingdings</vt:lpstr>
      <vt:lpstr>Office Theme</vt:lpstr>
      <vt:lpstr>Equation</vt:lpstr>
      <vt:lpstr>Image Segmentation</vt:lpstr>
      <vt:lpstr>PowerPoint Presentation</vt:lpstr>
      <vt:lpstr>Segmentation Techniques</vt:lpstr>
      <vt:lpstr>Thresholding</vt:lpstr>
      <vt:lpstr>Simple Thresholding</vt:lpstr>
      <vt:lpstr>Thresholding Example</vt:lpstr>
      <vt:lpstr>But Be Careful</vt:lpstr>
      <vt:lpstr>Basic Global Thresholding</vt:lpstr>
      <vt:lpstr>Basic Global Thresholding</vt:lpstr>
      <vt:lpstr>Basic Global Thresholding Algorithm</vt:lpstr>
      <vt:lpstr>Basic Global Thresholding Algorithm</vt:lpstr>
      <vt:lpstr>Thresholding using Otsu Method</vt:lpstr>
      <vt:lpstr>Thresholding using Otsu Method</vt:lpstr>
      <vt:lpstr>Thresholding using Otsu Method</vt:lpstr>
      <vt:lpstr>Thresholding using Otsu Method: Example</vt:lpstr>
      <vt:lpstr>Problems With Single Value Thresholding…</vt:lpstr>
      <vt:lpstr>Problems With Single Value Thresholding</vt:lpstr>
      <vt:lpstr>The Role of Uneven Illumination</vt:lpstr>
      <vt:lpstr>Basic Adaptive Thresholding</vt:lpstr>
      <vt:lpstr>Basic Adaptive Thresholding: Example</vt:lpstr>
      <vt:lpstr>The Role of Noise in Image Thresholding</vt:lpstr>
      <vt:lpstr>Segmentation</vt:lpstr>
      <vt:lpstr>Segmentation of Water in Bottles</vt:lpstr>
      <vt:lpstr>Summary</vt:lpstr>
      <vt:lpstr>#Video Lectures</vt:lpstr>
    </vt:vector>
  </TitlesOfParts>
  <Company>FAST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zulfiqar.habib</dc:creator>
  <cp:lastModifiedBy>Zulfiqar Habib</cp:lastModifiedBy>
  <cp:revision>192</cp:revision>
  <dcterms:created xsi:type="dcterms:W3CDTF">2009-08-01T06:17:21Z</dcterms:created>
  <dcterms:modified xsi:type="dcterms:W3CDTF">2024-10-09T09:55:05Z</dcterms:modified>
</cp:coreProperties>
</file>