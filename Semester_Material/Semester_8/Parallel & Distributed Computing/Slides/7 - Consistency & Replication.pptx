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</p:sldMasterIdLst>
  <p:notesMasterIdLst>
    <p:notesMasterId r:id="rId79"/>
  </p:notesMasterIdLst>
  <p:sldIdLst>
    <p:sldId id="32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330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331" r:id="rId42"/>
    <p:sldId id="294" r:id="rId43"/>
    <p:sldId id="295" r:id="rId44"/>
    <p:sldId id="296" r:id="rId45"/>
    <p:sldId id="332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0093" autoAdjust="0"/>
  </p:normalViewPr>
  <p:slideViewPr>
    <p:cSldViewPr>
      <p:cViewPr varScale="1">
        <p:scale>
          <a:sx n="150" d="100"/>
          <a:sy n="150" d="100"/>
        </p:scale>
        <p:origin x="18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theme" Target="theme/theme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611438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3D1660-5E25-42A9-96BA-80E8938436C9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27175" y="433388"/>
            <a:ext cx="1555750" cy="1166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A04BAF-4878-412C-9516-F172A6018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344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Effect/Result of each operation should be propagated in real-time.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A04BAF-4878-412C-9516-F172A60183A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8848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Staleness of replica: How old replica is, sometimes a few hours old replica is acceptable in case of whether data which changes after hours approximately.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A04BAF-4878-412C-9516-F172A60183A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7495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does not matter from which server user is reading the replica, he must get the up-to-date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A04BAF-4878-412C-9516-F172A60183A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4034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write must wait old one to finish first.</a:t>
            </a:r>
          </a:p>
          <a:p>
            <a:r>
              <a:rPr lang="en-US" dirty="0"/>
              <a:t>Write operations by the same process are performed in same order in which they were initiated.</a:t>
            </a:r>
          </a:p>
          <a:p>
            <a:r>
              <a:rPr lang="en-US" dirty="0"/>
              <a:t>Commutative operations =&gt; order not matters, operations can be performed in any order (weaker form of monotonic write)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A04BAF-4878-412C-9516-F172A60183A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1867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Invalidation protocols:</a:t>
            </a:r>
            <a:r>
              <a:rPr lang="en-US" dirty="0"/>
              <a:t> Inform other copies that an update has taken place and that the data they contain are no longer valid.</a:t>
            </a:r>
          </a:p>
          <a:p>
            <a:r>
              <a:rPr lang="en-US" dirty="0"/>
              <a:t>Active replication consumes less bandwidth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A04BAF-4878-412C-9516-F172A60183A7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6406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Method C is transaction of $100,000 and it can make result inconsistent due to call by multiple replicas of method ‘B’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A04BAF-4878-412C-9516-F172A60183A7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2218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replica acts as coordinator and performs forwarding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A04BAF-4878-412C-9516-F172A60183A7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749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Quorum:</a:t>
            </a:r>
            <a:r>
              <a:rPr lang="en-US" dirty="0"/>
              <a:t> Maximum number of processes required to accomplish the task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A04BAF-4878-412C-9516-F172A60183A7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8199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Replication depends on read/update ratio.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A04BAF-4878-412C-9516-F172A60183A7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2210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ADAD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1190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ADAD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56145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9185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2571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87712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ADAD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197711"/>
            <a:ext cx="3215004" cy="207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18413" y="1663039"/>
            <a:ext cx="3171190" cy="1133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319272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ADAD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197711"/>
            <a:ext cx="2451100" cy="207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0505" y="795972"/>
            <a:ext cx="4149090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319272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12308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5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5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5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5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5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5.xml"/><Relationship Id="rId5" Type="http://schemas.openxmlformats.org/officeDocument/2006/relationships/image" Target="../media/image8.png"/><Relationship Id="rId4" Type="http://schemas.openxmlformats.org/officeDocument/2006/relationships/slide" Target="slide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5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5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19.xml"/><Relationship Id="rId4" Type="http://schemas.openxmlformats.org/officeDocument/2006/relationships/slide" Target="slide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19.xml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19.xml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slide" Target="slide26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slide" Target="slide2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9.xml"/><Relationship Id="rId4" Type="http://schemas.openxmlformats.org/officeDocument/2006/relationships/slide" Target="slide23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slide" Target="slide29.xml"/><Relationship Id="rId3" Type="http://schemas.openxmlformats.org/officeDocument/2006/relationships/slide" Target="slide23.xml"/><Relationship Id="rId7" Type="http://schemas.openxmlformats.org/officeDocument/2006/relationships/image" Target="../media/image20.pn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3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3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35.xml"/><Relationship Id="rId4" Type="http://schemas.openxmlformats.org/officeDocument/2006/relationships/image" Target="../media/image25.jp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" Target="slide3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" Target="slide3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" Target="slide3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" Target="slide3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" Target="slide3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" Target="slide3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4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" Target="slide3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41.xml"/><Relationship Id="rId4" Type="http://schemas.openxmlformats.org/officeDocument/2006/relationships/image" Target="../media/image27.jp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" Target="slide3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41.xml"/><Relationship Id="rId4" Type="http://schemas.openxmlformats.org/officeDocument/2006/relationships/image" Target="../media/image28.jp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" Target="slide3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4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slide" Target="slide45.xml"/><Relationship Id="rId4" Type="http://schemas.openxmlformats.org/officeDocument/2006/relationships/slide" Target="slide3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" Target="slide3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4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" Target="slide3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4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" Target="slide3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45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" Target="slide3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45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" Target="slide3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45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" Target="slide3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45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" Target="slide3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52.xml"/><Relationship Id="rId4" Type="http://schemas.openxmlformats.org/officeDocument/2006/relationships/image" Target="../media/image29.jp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slide" Target="slide52.xml"/><Relationship Id="rId5" Type="http://schemas.openxmlformats.org/officeDocument/2006/relationships/image" Target="../media/image30.jpg"/><Relationship Id="rId4" Type="http://schemas.openxmlformats.org/officeDocument/2006/relationships/slide" Target="slide36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slide" Target="slide5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2.png"/><Relationship Id="rId5" Type="http://schemas.openxmlformats.org/officeDocument/2006/relationships/image" Target="../media/image31.jpg"/><Relationship Id="rId4" Type="http://schemas.openxmlformats.org/officeDocument/2006/relationships/slide" Target="slide36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" Target="slide5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3.jp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" Target="slide5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3.jp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" Target="slide5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4.jp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" Target="slide5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4.jp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slide" Target="slide59.xml"/><Relationship Id="rId3" Type="http://schemas.openxmlformats.org/officeDocument/2006/relationships/slide" Target="slide2.xml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slide" Target="slide55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" Target="slide5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60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" Target="slide5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60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" Target="slide5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60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" Target="slide5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60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" Target="slide5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60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" Target="slide5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60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" Target="slide5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60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" Target="slide5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60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" Target="slide5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68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" Target="slide5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68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" Target="slide5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68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" Target="slide5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68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" Target="slide5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68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slide" Target="slide7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slide" Target="slide7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8.jp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" Target="slide7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9.jpg"/><Relationship Id="rId4" Type="http://schemas.openxmlformats.org/officeDocument/2006/relationships/slide" Target="slide7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4459" y="1196975"/>
            <a:ext cx="2819400" cy="573234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1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Arial"/>
              </a:rPr>
              <a:t>CSC334 - Parallel &amp; </a:t>
            </a: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Arial"/>
              </a:rPr>
              <a:t>Distributed</a:t>
            </a:r>
            <a:r>
              <a:rPr kumimoji="0" sz="1400" b="1" i="0" u="none" strike="noStrike" kern="0" cap="none" spc="120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1400" b="1" i="0" u="none" strike="noStrike" kern="0" cap="none" spc="-10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Arial"/>
              </a:rPr>
              <a:t>Computing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4459" y="2720975"/>
            <a:ext cx="304800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0" lvl="0" indent="0" algn="l" defTabSz="91440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Mr. Aoun Haider, Ms. Muntaha Amjad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8DB585-3963-CA43-FDEC-0C7B8A8CDD4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1650" y="206375"/>
            <a:ext cx="866509" cy="865384"/>
          </a:xfrm>
          <a:prstGeom prst="rect">
            <a:avLst/>
          </a:prstGeom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9E91E2BF-A6A0-AC80-E93D-ED3E8CF1D086}"/>
              </a:ext>
            </a:extLst>
          </p:cNvPr>
          <p:cNvSpPr txBox="1"/>
          <p:nvPr/>
        </p:nvSpPr>
        <p:spPr>
          <a:xfrm>
            <a:off x="952055" y="1933968"/>
            <a:ext cx="2761804" cy="311624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1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1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rial"/>
                <a:cs typeface="Arial"/>
              </a:rPr>
              <a:t>Chapter 7: Consistency and Replication</a:t>
            </a:r>
            <a:endParaRPr kumimoji="0" sz="1100" b="0" i="1" u="none" strike="noStrike" kern="0" cap="none" spc="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7994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98581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Introduction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200" y="197711"/>
            <a:ext cx="4241800" cy="2453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Replication</a:t>
            </a:r>
            <a:endParaRPr sz="1200">
              <a:latin typeface="Arial"/>
              <a:cs typeface="Arial"/>
            </a:endParaRPr>
          </a:p>
          <a:p>
            <a:pPr marL="296545" algn="just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Why</a:t>
            </a:r>
            <a:r>
              <a:rPr sz="1000" spc="-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replicate</a:t>
            </a:r>
            <a:endParaRPr sz="1000">
              <a:latin typeface="Arial"/>
              <a:cs typeface="Arial"/>
            </a:endParaRPr>
          </a:p>
          <a:p>
            <a:pPr marL="298450" marR="43180" algn="just">
              <a:lnSpc>
                <a:spcPct val="111600"/>
              </a:lnSpc>
              <a:spcBef>
                <a:spcPts val="175"/>
              </a:spcBef>
            </a:pPr>
            <a:r>
              <a:rPr sz="900" spc="-10" dirty="0">
                <a:latin typeface="Arial"/>
                <a:cs typeface="Arial"/>
              </a:rPr>
              <a:t>Assume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simple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model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which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make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copy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specific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part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system </a:t>
            </a:r>
            <a:r>
              <a:rPr sz="900" dirty="0">
                <a:latin typeface="Arial"/>
                <a:cs typeface="Arial"/>
              </a:rPr>
              <a:t>(meaning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code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data).</a:t>
            </a:r>
            <a:endParaRPr sz="900">
              <a:latin typeface="Arial"/>
              <a:cs typeface="Arial"/>
            </a:endParaRPr>
          </a:p>
          <a:p>
            <a:pPr marL="555625" marR="106045" indent="-120650" algn="just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Increase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reliability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copy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live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specifications,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switch </a:t>
            </a:r>
            <a:r>
              <a:rPr sz="900" dirty="0">
                <a:latin typeface="Arial"/>
                <a:cs typeface="Arial"/>
              </a:rPr>
              <a:t>over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other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copy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while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repairing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failing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one.</a:t>
            </a:r>
            <a:endParaRPr sz="900">
              <a:latin typeface="Arial"/>
              <a:cs typeface="Arial"/>
            </a:endParaRPr>
          </a:p>
          <a:p>
            <a:pPr marL="555625" marR="74295" indent="-120650" algn="just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Performance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simply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spread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requests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between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different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replicated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parts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keep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load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balanced,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ensure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quick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responses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taking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proximity </a:t>
            </a:r>
            <a:r>
              <a:rPr sz="900" dirty="0">
                <a:latin typeface="Arial"/>
                <a:cs typeface="Arial"/>
              </a:rPr>
              <a:t>into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account.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850">
              <a:latin typeface="Arial"/>
              <a:cs typeface="Arial"/>
            </a:endParaRPr>
          </a:p>
          <a:p>
            <a:pPr marL="298450">
              <a:lnSpc>
                <a:spcPct val="100000"/>
              </a:lnSpc>
            </a:pP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The</a:t>
            </a:r>
            <a:r>
              <a:rPr sz="10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problem</a:t>
            </a:r>
            <a:endParaRPr sz="1000">
              <a:latin typeface="Arial"/>
              <a:cs typeface="Arial"/>
            </a:endParaRPr>
          </a:p>
          <a:p>
            <a:pPr marL="302260" marR="154940">
              <a:lnSpc>
                <a:spcPct val="111600"/>
              </a:lnSpc>
              <a:spcBef>
                <a:spcPts val="170"/>
              </a:spcBef>
            </a:pPr>
            <a:r>
              <a:rPr sz="900" dirty="0">
                <a:latin typeface="Arial"/>
                <a:cs typeface="Arial"/>
              </a:rPr>
              <a:t>Having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multiple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copies,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means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any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copy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changes,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change </a:t>
            </a:r>
            <a:r>
              <a:rPr sz="900" dirty="0">
                <a:latin typeface="Arial"/>
                <a:cs typeface="Arial"/>
              </a:rPr>
              <a:t>should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made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copies: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replicas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need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to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be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kept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same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is,</a:t>
            </a:r>
            <a:r>
              <a:rPr sz="900" spc="-25" dirty="0">
                <a:latin typeface="Arial"/>
                <a:cs typeface="Arial"/>
              </a:rPr>
              <a:t> be </a:t>
            </a:r>
            <a:r>
              <a:rPr sz="900" dirty="0">
                <a:latin typeface="Arial"/>
                <a:cs typeface="Arial"/>
              </a:rPr>
              <a:t>kept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consistent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67056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Reasons</a:t>
            </a:r>
            <a:r>
              <a:rPr sz="500" spc="-30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for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7994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98581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Introduction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200" y="197711"/>
            <a:ext cx="4216400" cy="23736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Performance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and</a:t>
            </a:r>
            <a:r>
              <a:rPr sz="12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scalability</a:t>
            </a:r>
            <a:endParaRPr sz="12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Main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issue</a:t>
            </a:r>
            <a:endParaRPr sz="1000">
              <a:latin typeface="Arial"/>
              <a:cs typeface="Arial"/>
            </a:endParaRPr>
          </a:p>
          <a:p>
            <a:pPr marL="302260" marR="148590" indent="-3810">
              <a:lnSpc>
                <a:spcPts val="1210"/>
              </a:lnSpc>
              <a:spcBef>
                <a:spcPts val="40"/>
              </a:spcBef>
            </a:pPr>
            <a:r>
              <a:rPr sz="900" spc="-65" dirty="0">
                <a:latin typeface="Arial"/>
                <a:cs typeface="Arial"/>
              </a:rPr>
              <a:t>To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keep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replicas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consistent,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generally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ensure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conflicting </a:t>
            </a:r>
            <a:r>
              <a:rPr sz="900" dirty="0">
                <a:latin typeface="Arial"/>
                <a:cs typeface="Arial"/>
              </a:rPr>
              <a:t>operations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done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same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order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everywhere</a:t>
            </a:r>
            <a:endParaRPr sz="9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  <a:spcBef>
                <a:spcPts val="74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Conflicting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operations:</a:t>
            </a:r>
            <a:r>
              <a:rPr sz="1000" spc="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From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world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transactions</a:t>
            </a:r>
            <a:endParaRPr sz="1000">
              <a:latin typeface="Arial"/>
              <a:cs typeface="Arial"/>
            </a:endParaRPr>
          </a:p>
          <a:p>
            <a:pPr marL="555625" marR="510540" indent="-120650">
              <a:lnSpc>
                <a:spcPct val="111600"/>
              </a:lnSpc>
              <a:spcBef>
                <a:spcPts val="580"/>
              </a:spcBef>
              <a:buFont typeface="Menlo"/>
              <a:buChar char="•"/>
              <a:tabLst>
                <a:tab pos="556260" algn="l"/>
              </a:tabLst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Read–write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conflict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</a:t>
            </a:r>
            <a:r>
              <a:rPr sz="900" spc="-25" dirty="0">
                <a:latin typeface="Arial"/>
                <a:cs typeface="Arial"/>
              </a:rPr>
              <a:t> act </a:t>
            </a:r>
            <a:r>
              <a:rPr sz="900" spc="-10" dirty="0">
                <a:latin typeface="Arial"/>
                <a:cs typeface="Arial"/>
              </a:rPr>
              <a:t>concurrently</a:t>
            </a:r>
            <a:endParaRPr sz="9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125"/>
              </a:spcBef>
              <a:buFont typeface="Menlo"/>
              <a:buChar char="•"/>
              <a:tabLst>
                <a:tab pos="556260" algn="l"/>
              </a:tabLst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Write–write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conflict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two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concurrent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operations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Issue</a:t>
            </a:r>
            <a:endParaRPr sz="1000">
              <a:latin typeface="Arial"/>
              <a:cs typeface="Arial"/>
            </a:endParaRPr>
          </a:p>
          <a:p>
            <a:pPr marL="302260" marR="17780">
              <a:lnSpc>
                <a:spcPts val="1210"/>
              </a:lnSpc>
              <a:spcBef>
                <a:spcPts val="35"/>
              </a:spcBef>
            </a:pPr>
            <a:r>
              <a:rPr sz="900" spc="-10" dirty="0">
                <a:latin typeface="Arial"/>
                <a:cs typeface="Arial"/>
              </a:rPr>
              <a:t>Guaranteeing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global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ordering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conflicting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costly operation,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downgrading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scalability.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Solution:</a:t>
            </a:r>
            <a:r>
              <a:rPr sz="900" spc="1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weaken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consistency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requirements </a:t>
            </a:r>
            <a:r>
              <a:rPr sz="900" dirty="0">
                <a:latin typeface="Arial"/>
                <a:cs typeface="Arial"/>
              </a:rPr>
              <a:t>so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hopefully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global</a:t>
            </a:r>
            <a:r>
              <a:rPr sz="900" spc="-10" dirty="0">
                <a:latin typeface="Arial"/>
                <a:cs typeface="Arial"/>
              </a:rPr>
              <a:t> synchronization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10" dirty="0">
                <a:latin typeface="Arial"/>
                <a:cs typeface="Arial"/>
              </a:rPr>
              <a:t> avoided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67056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Reasons</a:t>
            </a:r>
            <a:r>
              <a:rPr sz="500" spc="-30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for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76320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Data-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centric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Data-</a:t>
            </a:r>
            <a:r>
              <a:rPr dirty="0"/>
              <a:t>centric</a:t>
            </a:r>
            <a:r>
              <a:rPr spc="-40" dirty="0"/>
              <a:t> </a:t>
            </a:r>
            <a:r>
              <a:rPr dirty="0"/>
              <a:t>consistency</a:t>
            </a:r>
            <a:r>
              <a:rPr spc="-35" dirty="0"/>
              <a:t> </a:t>
            </a:r>
            <a:r>
              <a:rPr spc="-10" dirty="0"/>
              <a:t>models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547" y="471706"/>
            <a:ext cx="3916045" cy="110807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434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Consistency</a:t>
            </a:r>
            <a:r>
              <a:rPr sz="1000" spc="-6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model</a:t>
            </a:r>
            <a:endParaRPr sz="1000">
              <a:latin typeface="Arial"/>
              <a:cs typeface="Arial"/>
            </a:endParaRPr>
          </a:p>
          <a:p>
            <a:pPr marL="15875" marR="5080" indent="-3810">
              <a:lnSpc>
                <a:spcPct val="111600"/>
              </a:lnSpc>
              <a:spcBef>
                <a:spcPts val="175"/>
              </a:spcBef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contract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between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(distributed)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store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processes,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data </a:t>
            </a:r>
            <a:r>
              <a:rPr sz="900" dirty="0">
                <a:latin typeface="Arial"/>
                <a:cs typeface="Arial"/>
              </a:rPr>
              <a:t>store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specifies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precisely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results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5" dirty="0">
                <a:latin typeface="Arial"/>
                <a:cs typeface="Arial"/>
              </a:rPr>
              <a:t> in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presence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concurrency.</a:t>
            </a:r>
            <a:endParaRPr sz="90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810"/>
              </a:spcBef>
            </a:pP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Essential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store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distributed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collection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storages:</a:t>
            </a:r>
            <a:endParaRPr sz="9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73898" y="1694677"/>
            <a:ext cx="2058946" cy="1077711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7994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617645" y="-1515"/>
            <a:ext cx="9372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Data-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centric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200" y="197711"/>
            <a:ext cx="3810000" cy="16084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Some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notations</a:t>
            </a:r>
            <a:endParaRPr sz="1200" dirty="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Read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and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write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operations</a:t>
            </a:r>
            <a:endParaRPr sz="1000" dirty="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695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i="1" spc="-10" dirty="0">
                <a:solidFill>
                  <a:srgbClr val="C80000"/>
                </a:solidFill>
                <a:latin typeface="Arial"/>
                <a:cs typeface="Arial"/>
              </a:rPr>
              <a:t>W</a:t>
            </a:r>
            <a:r>
              <a:rPr sz="1050" i="1" spc="-15" baseline="-15873" dirty="0">
                <a:solidFill>
                  <a:srgbClr val="C80000"/>
                </a:solidFill>
                <a:latin typeface="Arial"/>
                <a:cs typeface="Arial"/>
              </a:rPr>
              <a:t>i</a:t>
            </a:r>
            <a:r>
              <a:rPr sz="1050" i="1" spc="-127" baseline="-15873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(</a:t>
            </a:r>
            <a:r>
              <a:rPr sz="900" i="1" dirty="0">
                <a:solidFill>
                  <a:srgbClr val="C80000"/>
                </a:solidFill>
                <a:latin typeface="Arial"/>
                <a:cs typeface="Arial"/>
              </a:rPr>
              <a:t>x</a:t>
            </a:r>
            <a:r>
              <a:rPr sz="900" i="1" spc="-17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)</a:t>
            </a:r>
            <a:r>
              <a:rPr sz="900" i="1" dirty="0">
                <a:solidFill>
                  <a:srgbClr val="C80000"/>
                </a:solidFill>
                <a:latin typeface="Arial"/>
                <a:cs typeface="Arial"/>
              </a:rPr>
              <a:t>a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240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writes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value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lang="en-US" sz="900" spc="-5" dirty="0">
                <a:latin typeface="Arial"/>
                <a:cs typeface="Arial"/>
              </a:rPr>
              <a:t>data item </a:t>
            </a:r>
            <a:r>
              <a:rPr sz="900" i="1" spc="-50" dirty="0">
                <a:latin typeface="Arial"/>
                <a:cs typeface="Arial"/>
              </a:rPr>
              <a:t>x</a:t>
            </a:r>
            <a:endParaRPr sz="900" dirty="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i="1" spc="-10" dirty="0">
                <a:solidFill>
                  <a:srgbClr val="C80000"/>
                </a:solidFill>
                <a:latin typeface="Arial"/>
                <a:cs typeface="Arial"/>
              </a:rPr>
              <a:t>R</a:t>
            </a:r>
            <a:r>
              <a:rPr sz="1050" i="1" spc="-15" baseline="-15873" dirty="0">
                <a:solidFill>
                  <a:srgbClr val="C80000"/>
                </a:solidFill>
                <a:latin typeface="Arial"/>
                <a:cs typeface="Arial"/>
              </a:rPr>
              <a:t>i</a:t>
            </a:r>
            <a:r>
              <a:rPr sz="1050" i="1" spc="-127" baseline="-15873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(</a:t>
            </a:r>
            <a:r>
              <a:rPr sz="900" i="1" dirty="0">
                <a:solidFill>
                  <a:srgbClr val="C80000"/>
                </a:solidFill>
                <a:latin typeface="Arial"/>
                <a:cs typeface="Arial"/>
              </a:rPr>
              <a:t>x</a:t>
            </a:r>
            <a:r>
              <a:rPr sz="900" i="1" spc="-17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)</a:t>
            </a:r>
            <a:r>
              <a:rPr sz="900" i="1" dirty="0">
                <a:solidFill>
                  <a:srgbClr val="C80000"/>
                </a:solidFill>
                <a:latin typeface="Arial"/>
                <a:cs typeface="Arial"/>
              </a:rPr>
              <a:t>b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240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reads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value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b</a:t>
            </a:r>
            <a:r>
              <a:rPr sz="900" i="1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lang="en-US" sz="900" spc="-5" dirty="0">
                <a:latin typeface="Arial"/>
                <a:cs typeface="Arial"/>
              </a:rPr>
              <a:t>data item </a:t>
            </a:r>
            <a:r>
              <a:rPr sz="900" i="1" spc="-50" dirty="0">
                <a:latin typeface="Arial"/>
                <a:cs typeface="Arial"/>
              </a:rPr>
              <a:t>x</a:t>
            </a:r>
            <a:endParaRPr sz="900" dirty="0">
              <a:latin typeface="Arial"/>
              <a:cs typeface="Arial"/>
            </a:endParaRPr>
          </a:p>
          <a:p>
            <a:pPr marL="551815" indent="-116839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552450" algn="l"/>
              </a:tabLst>
            </a:pPr>
            <a:r>
              <a:rPr sz="900" dirty="0">
                <a:latin typeface="Arial"/>
                <a:cs typeface="Arial"/>
              </a:rPr>
              <a:t>All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items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initially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value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C80000"/>
                </a:solidFill>
                <a:latin typeface="Arial"/>
                <a:cs typeface="Arial"/>
              </a:rPr>
              <a:t>NIL</a:t>
            </a:r>
            <a:endParaRPr sz="9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 dirty="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Possible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behavior</a:t>
            </a:r>
            <a:endParaRPr sz="1000" dirty="0">
              <a:latin typeface="Arial"/>
              <a:cs typeface="Arial"/>
            </a:endParaRPr>
          </a:p>
          <a:p>
            <a:pPr marL="297180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latin typeface="Arial"/>
                <a:cs typeface="Arial"/>
              </a:rPr>
              <a:t>We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omit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index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possible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draw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according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time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(x-axis):</a:t>
            </a:r>
            <a:endParaRPr sz="900" dirty="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75418" y="2101561"/>
            <a:ext cx="2504620" cy="406602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8" name="object 8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467" y="3349927"/>
            <a:ext cx="95758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5" action="ppaction://hlinksldjump"/>
              </a:rPr>
              <a:t>Consistent</a:t>
            </a:r>
            <a:r>
              <a:rPr sz="500" spc="-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ordering</a:t>
            </a:r>
            <a:r>
              <a:rPr sz="500" spc="-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of</a:t>
            </a:r>
            <a:r>
              <a:rPr sz="500" spc="-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operations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76320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Data-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centric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Sequential</a:t>
            </a:r>
            <a:r>
              <a:rPr spc="-65" dirty="0"/>
              <a:t> </a:t>
            </a:r>
            <a:r>
              <a:rPr spc="-10" dirty="0"/>
              <a:t>consistency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204" y="499476"/>
            <a:ext cx="3917950" cy="64960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Definition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result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execution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same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processes </a:t>
            </a:r>
            <a:r>
              <a:rPr sz="900" dirty="0">
                <a:latin typeface="Arial"/>
                <a:cs typeface="Arial"/>
              </a:rPr>
              <a:t>were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executed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some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sequential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order,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operations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individual </a:t>
            </a:r>
            <a:r>
              <a:rPr sz="900" dirty="0">
                <a:latin typeface="Arial"/>
                <a:cs typeface="Arial"/>
              </a:rPr>
              <a:t>process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appear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this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sequence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order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specified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program.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45804" y="1247916"/>
            <a:ext cx="1757611" cy="69893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393825" y="1992942"/>
            <a:ext cx="181673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sequentially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consistent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store</a:t>
            </a:r>
            <a:endParaRPr sz="9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45804" y="2341894"/>
            <a:ext cx="1757611" cy="69893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31125" y="3086933"/>
            <a:ext cx="234251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store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sequentially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consistent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0" name="object 10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3467" y="3349927"/>
            <a:ext cx="95758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6" action="ppaction://hlinksldjump"/>
              </a:rPr>
              <a:t>Consistent</a:t>
            </a:r>
            <a:r>
              <a:rPr sz="500" spc="-20" dirty="0">
                <a:latin typeface="Arial"/>
                <a:cs typeface="Arial"/>
                <a:hlinkClick r:id="rId6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6" action="ppaction://hlinksldjump"/>
              </a:rPr>
              <a:t>ordering</a:t>
            </a:r>
            <a:r>
              <a:rPr sz="500" spc="-20" dirty="0">
                <a:latin typeface="Arial"/>
                <a:cs typeface="Arial"/>
                <a:hlinkClick r:id="rId6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6" action="ppaction://hlinksldjump"/>
              </a:rPr>
              <a:t>of</a:t>
            </a:r>
            <a:r>
              <a:rPr sz="500" spc="-20" dirty="0">
                <a:latin typeface="Arial"/>
                <a:cs typeface="Arial"/>
                <a:hlinkClick r:id="rId6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6" action="ppaction://hlinksldjump"/>
              </a:rPr>
              <a:t>operations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7994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617645" y="-1515"/>
            <a:ext cx="9372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Data-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centric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803525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Example</a:t>
            </a:r>
            <a:endParaRPr sz="1200">
              <a:latin typeface="Arial"/>
              <a:cs typeface="Arial"/>
            </a:endParaRPr>
          </a:p>
          <a:p>
            <a:pPr marL="26035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Three</a:t>
            </a: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concurrent</a:t>
            </a: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processes</a:t>
            </a: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(initial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values:</a:t>
            </a:r>
            <a:r>
              <a:rPr sz="1000" spc="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0)</a:t>
            </a:r>
            <a:endParaRPr sz="1000">
              <a:latin typeface="Arial"/>
              <a:cs typeface="Arial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032421" y="779945"/>
          <a:ext cx="2543175" cy="431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47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7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7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8750">
                <a:tc>
                  <a:txBody>
                    <a:bodyPr/>
                    <a:lstStyle/>
                    <a:p>
                      <a:pPr marL="75565">
                        <a:lnSpc>
                          <a:spcPts val="1035"/>
                        </a:lnSpc>
                      </a:pPr>
                      <a:r>
                        <a:rPr sz="900" dirty="0">
                          <a:latin typeface="Arial"/>
                          <a:cs typeface="Arial"/>
                        </a:rPr>
                        <a:t>Process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spc="-2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050" i="1" spc="-37" baseline="-15873" dirty="0">
                          <a:latin typeface="Arial"/>
                          <a:cs typeface="Arial"/>
                        </a:rPr>
                        <a:t>1</a:t>
                      </a:r>
                      <a:endParaRPr sz="1050" baseline="-15873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35"/>
                        </a:lnSpc>
                      </a:pPr>
                      <a:r>
                        <a:rPr sz="900" dirty="0">
                          <a:latin typeface="Arial"/>
                          <a:cs typeface="Arial"/>
                        </a:rPr>
                        <a:t>Process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spc="-2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050" i="1" spc="-37" baseline="-15873" dirty="0">
                          <a:latin typeface="Arial"/>
                          <a:cs typeface="Arial"/>
                        </a:rPr>
                        <a:t>2</a:t>
                      </a:r>
                      <a:endParaRPr sz="1050" baseline="-15873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35"/>
                        </a:lnSpc>
                      </a:pPr>
                      <a:r>
                        <a:rPr sz="900" dirty="0">
                          <a:latin typeface="Arial"/>
                          <a:cs typeface="Arial"/>
                        </a:rPr>
                        <a:t>Process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spc="-2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050" i="1" spc="-37" baseline="-15873" dirty="0">
                          <a:latin typeface="Arial"/>
                          <a:cs typeface="Arial"/>
                        </a:rPr>
                        <a:t>3</a:t>
                      </a:r>
                      <a:endParaRPr sz="1050" baseline="-15873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065">
                <a:tc>
                  <a:txBody>
                    <a:bodyPr/>
                    <a:lstStyle/>
                    <a:p>
                      <a:pPr marL="69215">
                        <a:lnSpc>
                          <a:spcPts val="994"/>
                        </a:lnSpc>
                      </a:pPr>
                      <a:r>
                        <a:rPr sz="1000" spc="9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000" spc="1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i="1" spc="390" dirty="0">
                          <a:latin typeface="Menlo"/>
                          <a:cs typeface="Menlo"/>
                        </a:rPr>
                        <a:t>←</a:t>
                      </a:r>
                      <a:r>
                        <a:rPr sz="1000" i="1" spc="-165" dirty="0">
                          <a:latin typeface="Menlo"/>
                          <a:cs typeface="Menlo"/>
                        </a:rPr>
                        <a:t> </a:t>
                      </a:r>
                      <a:r>
                        <a:rPr sz="1000" spc="120" dirty="0">
                          <a:latin typeface="Times New Roman"/>
                          <a:cs typeface="Times New Roman"/>
                        </a:rPr>
                        <a:t>1;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994"/>
                        </a:lnSpc>
                      </a:pPr>
                      <a:r>
                        <a:rPr sz="1000" spc="95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1000" spc="1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i="1" spc="390" dirty="0">
                          <a:latin typeface="Menlo"/>
                          <a:cs typeface="Menlo"/>
                        </a:rPr>
                        <a:t>←</a:t>
                      </a:r>
                      <a:r>
                        <a:rPr sz="1000" i="1" spc="-165" dirty="0">
                          <a:latin typeface="Menlo"/>
                          <a:cs typeface="Menlo"/>
                        </a:rPr>
                        <a:t> </a:t>
                      </a:r>
                      <a:r>
                        <a:rPr sz="1000" spc="120" dirty="0">
                          <a:latin typeface="Times New Roman"/>
                          <a:cs typeface="Times New Roman"/>
                        </a:rPr>
                        <a:t>1;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994"/>
                        </a:lnSpc>
                      </a:pPr>
                      <a:r>
                        <a:rPr sz="1000" spc="150" dirty="0">
                          <a:latin typeface="Times New Roman"/>
                          <a:cs typeface="Times New Roman"/>
                        </a:rPr>
                        <a:t>z</a:t>
                      </a:r>
                      <a:r>
                        <a:rPr sz="1000" spc="1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i="1" spc="390" dirty="0">
                          <a:latin typeface="Menlo"/>
                          <a:cs typeface="Menlo"/>
                        </a:rPr>
                        <a:t>←</a:t>
                      </a:r>
                      <a:r>
                        <a:rPr sz="1000" i="1" spc="-165" dirty="0">
                          <a:latin typeface="Menlo"/>
                          <a:cs typeface="Menlo"/>
                        </a:rPr>
                        <a:t> </a:t>
                      </a:r>
                      <a:r>
                        <a:rPr sz="1000" spc="130" dirty="0">
                          <a:latin typeface="Times New Roman"/>
                          <a:cs typeface="Times New Roman"/>
                        </a:rPr>
                        <a:t>1;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3985">
                <a:tc>
                  <a:txBody>
                    <a:bodyPr/>
                    <a:lstStyle/>
                    <a:p>
                      <a:pPr marL="69215">
                        <a:lnSpc>
                          <a:spcPts val="960"/>
                        </a:lnSpc>
                      </a:pPr>
                      <a:r>
                        <a:rPr sz="1000" spc="125" dirty="0">
                          <a:latin typeface="Times New Roman"/>
                          <a:cs typeface="Times New Roman"/>
                        </a:rPr>
                        <a:t>print(y,z);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960"/>
                        </a:lnSpc>
                      </a:pPr>
                      <a:r>
                        <a:rPr sz="1000" spc="125" dirty="0">
                          <a:latin typeface="Times New Roman"/>
                          <a:cs typeface="Times New Roman"/>
                        </a:rPr>
                        <a:t>print(x,z);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960"/>
                        </a:lnSpc>
                      </a:pPr>
                      <a:r>
                        <a:rPr sz="1000" spc="120" dirty="0">
                          <a:latin typeface="Times New Roman"/>
                          <a:cs typeface="Times New Roman"/>
                        </a:rPr>
                        <a:t>print(x,y);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7" name="object 7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8" name="object 8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467" y="3349927"/>
            <a:ext cx="95758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Consistent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ordering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of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operations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7994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617645" y="-1515"/>
            <a:ext cx="9372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Data-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centric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803525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Example</a:t>
            </a:r>
            <a:endParaRPr sz="1200">
              <a:latin typeface="Arial"/>
              <a:cs typeface="Arial"/>
            </a:endParaRPr>
          </a:p>
          <a:p>
            <a:pPr marL="26035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Three</a:t>
            </a: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concurrent</a:t>
            </a: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processes</a:t>
            </a: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(initial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values:</a:t>
            </a:r>
            <a:r>
              <a:rPr sz="1000" spc="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0)</a:t>
            </a:r>
            <a:endParaRPr sz="1000">
              <a:latin typeface="Arial"/>
              <a:cs typeface="Arial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032421" y="779945"/>
          <a:ext cx="2543175" cy="431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47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7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7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8750">
                <a:tc>
                  <a:txBody>
                    <a:bodyPr/>
                    <a:lstStyle/>
                    <a:p>
                      <a:pPr marL="75565">
                        <a:lnSpc>
                          <a:spcPts val="1035"/>
                        </a:lnSpc>
                      </a:pPr>
                      <a:r>
                        <a:rPr sz="900" dirty="0">
                          <a:latin typeface="Arial"/>
                          <a:cs typeface="Arial"/>
                        </a:rPr>
                        <a:t>Process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spc="-2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050" i="1" spc="-37" baseline="-15873" dirty="0">
                          <a:latin typeface="Arial"/>
                          <a:cs typeface="Arial"/>
                        </a:rPr>
                        <a:t>1</a:t>
                      </a:r>
                      <a:endParaRPr sz="1050" baseline="-15873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35"/>
                        </a:lnSpc>
                      </a:pPr>
                      <a:r>
                        <a:rPr sz="900" dirty="0">
                          <a:latin typeface="Arial"/>
                          <a:cs typeface="Arial"/>
                        </a:rPr>
                        <a:t>Process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spc="-2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050" i="1" spc="-37" baseline="-15873" dirty="0">
                          <a:latin typeface="Arial"/>
                          <a:cs typeface="Arial"/>
                        </a:rPr>
                        <a:t>2</a:t>
                      </a:r>
                      <a:endParaRPr sz="1050" baseline="-15873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35"/>
                        </a:lnSpc>
                      </a:pPr>
                      <a:r>
                        <a:rPr sz="900" dirty="0">
                          <a:latin typeface="Arial"/>
                          <a:cs typeface="Arial"/>
                        </a:rPr>
                        <a:t>Process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spc="-2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050" i="1" spc="-37" baseline="-15873" dirty="0">
                          <a:latin typeface="Arial"/>
                          <a:cs typeface="Arial"/>
                        </a:rPr>
                        <a:t>3</a:t>
                      </a:r>
                      <a:endParaRPr sz="1050" baseline="-15873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065">
                <a:tc>
                  <a:txBody>
                    <a:bodyPr/>
                    <a:lstStyle/>
                    <a:p>
                      <a:pPr marL="69215">
                        <a:lnSpc>
                          <a:spcPts val="994"/>
                        </a:lnSpc>
                      </a:pPr>
                      <a:r>
                        <a:rPr sz="1000" spc="9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000" spc="1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i="1" spc="390" dirty="0">
                          <a:latin typeface="Menlo"/>
                          <a:cs typeface="Menlo"/>
                        </a:rPr>
                        <a:t>←</a:t>
                      </a:r>
                      <a:r>
                        <a:rPr sz="1000" i="1" spc="-165" dirty="0">
                          <a:latin typeface="Menlo"/>
                          <a:cs typeface="Menlo"/>
                        </a:rPr>
                        <a:t> </a:t>
                      </a:r>
                      <a:r>
                        <a:rPr sz="1000" spc="120" dirty="0">
                          <a:latin typeface="Times New Roman"/>
                          <a:cs typeface="Times New Roman"/>
                        </a:rPr>
                        <a:t>1;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994"/>
                        </a:lnSpc>
                      </a:pPr>
                      <a:r>
                        <a:rPr sz="1000" spc="95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1000" spc="1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i="1" spc="390" dirty="0">
                          <a:latin typeface="Menlo"/>
                          <a:cs typeface="Menlo"/>
                        </a:rPr>
                        <a:t>←</a:t>
                      </a:r>
                      <a:r>
                        <a:rPr sz="1000" i="1" spc="-165" dirty="0">
                          <a:latin typeface="Menlo"/>
                          <a:cs typeface="Menlo"/>
                        </a:rPr>
                        <a:t> </a:t>
                      </a:r>
                      <a:r>
                        <a:rPr sz="1000" spc="120" dirty="0">
                          <a:latin typeface="Times New Roman"/>
                          <a:cs typeface="Times New Roman"/>
                        </a:rPr>
                        <a:t>1;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994"/>
                        </a:lnSpc>
                      </a:pPr>
                      <a:r>
                        <a:rPr sz="1000" spc="150" dirty="0">
                          <a:latin typeface="Times New Roman"/>
                          <a:cs typeface="Times New Roman"/>
                        </a:rPr>
                        <a:t>z</a:t>
                      </a:r>
                      <a:r>
                        <a:rPr sz="1000" spc="1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i="1" spc="390" dirty="0">
                          <a:latin typeface="Menlo"/>
                          <a:cs typeface="Menlo"/>
                        </a:rPr>
                        <a:t>←</a:t>
                      </a:r>
                      <a:r>
                        <a:rPr sz="1000" i="1" spc="-165" dirty="0">
                          <a:latin typeface="Menlo"/>
                          <a:cs typeface="Menlo"/>
                        </a:rPr>
                        <a:t> </a:t>
                      </a:r>
                      <a:r>
                        <a:rPr sz="1000" spc="130" dirty="0">
                          <a:latin typeface="Times New Roman"/>
                          <a:cs typeface="Times New Roman"/>
                        </a:rPr>
                        <a:t>1;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3985">
                <a:tc>
                  <a:txBody>
                    <a:bodyPr/>
                    <a:lstStyle/>
                    <a:p>
                      <a:pPr marL="69215">
                        <a:lnSpc>
                          <a:spcPts val="960"/>
                        </a:lnSpc>
                      </a:pPr>
                      <a:r>
                        <a:rPr sz="1000" spc="125" dirty="0">
                          <a:latin typeface="Times New Roman"/>
                          <a:cs typeface="Times New Roman"/>
                        </a:rPr>
                        <a:t>print(y,z);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960"/>
                        </a:lnSpc>
                      </a:pPr>
                      <a:r>
                        <a:rPr sz="1000" spc="125" dirty="0">
                          <a:latin typeface="Times New Roman"/>
                          <a:cs typeface="Times New Roman"/>
                        </a:rPr>
                        <a:t>print(x,z);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960"/>
                        </a:lnSpc>
                      </a:pPr>
                      <a:r>
                        <a:rPr sz="1000" spc="120" dirty="0">
                          <a:latin typeface="Times New Roman"/>
                          <a:cs typeface="Times New Roman"/>
                        </a:rPr>
                        <a:t>print(x,y);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347294" y="1439397"/>
            <a:ext cx="17341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Example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execution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sequences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3352" y="1729307"/>
            <a:ext cx="3586347" cy="1293179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0" name="object 10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3467" y="3349927"/>
            <a:ext cx="95758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5" action="ppaction://hlinksldjump"/>
              </a:rPr>
              <a:t>Consistent</a:t>
            </a:r>
            <a:r>
              <a:rPr sz="500" spc="-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ordering</a:t>
            </a:r>
            <a:r>
              <a:rPr sz="500" spc="-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of</a:t>
            </a:r>
            <a:r>
              <a:rPr sz="500" spc="-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operations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7994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617645" y="-1515"/>
            <a:ext cx="9372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Data-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centric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1465580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How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tricky</a:t>
            </a:r>
            <a:r>
              <a:rPr sz="12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can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it</a:t>
            </a:r>
            <a:r>
              <a:rPr sz="12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get?</a:t>
            </a:r>
            <a:endParaRPr sz="1200">
              <a:latin typeface="Arial"/>
              <a:cs typeface="Arial"/>
            </a:endParaRPr>
          </a:p>
          <a:p>
            <a:pPr marR="38735" algn="ctr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Seemingly</a:t>
            </a:r>
            <a:r>
              <a:rPr sz="1000" spc="-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okay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9582" y="732844"/>
            <a:ext cx="2504620" cy="406602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8" name="object 8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467" y="3349927"/>
            <a:ext cx="95758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5" action="ppaction://hlinksldjump"/>
              </a:rPr>
              <a:t>Consistent</a:t>
            </a:r>
            <a:r>
              <a:rPr sz="500" spc="-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ordering</a:t>
            </a:r>
            <a:r>
              <a:rPr sz="500" spc="-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of</a:t>
            </a:r>
            <a:r>
              <a:rPr sz="500" spc="-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operations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7994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617645" y="-1515"/>
            <a:ext cx="9372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Data-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centric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1465580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How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tricky</a:t>
            </a:r>
            <a:r>
              <a:rPr sz="12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can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it</a:t>
            </a:r>
            <a:r>
              <a:rPr sz="12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get?</a:t>
            </a:r>
            <a:endParaRPr sz="1200">
              <a:latin typeface="Arial"/>
              <a:cs typeface="Arial"/>
            </a:endParaRPr>
          </a:p>
          <a:p>
            <a:pPr marR="38735" algn="ctr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Seemingly</a:t>
            </a:r>
            <a:r>
              <a:rPr sz="1000" spc="-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okay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9582" y="732844"/>
            <a:ext cx="2504620" cy="40660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21894" y="1293576"/>
            <a:ext cx="33458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But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not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really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(don’t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forget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that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3333B2"/>
                </a:solidFill>
                <a:latin typeface="Arial"/>
                <a:cs typeface="Arial"/>
              </a:rPr>
              <a:t>P</a:t>
            </a:r>
            <a:r>
              <a:rPr sz="1050" i="1" baseline="-15873" dirty="0">
                <a:solidFill>
                  <a:srgbClr val="3333B2"/>
                </a:solidFill>
                <a:latin typeface="Arial"/>
                <a:cs typeface="Arial"/>
              </a:rPr>
              <a:t>1</a:t>
            </a:r>
            <a:r>
              <a:rPr sz="1050" i="1" spc="157" baseline="-15873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and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3333B2"/>
                </a:solidFill>
                <a:latin typeface="Arial"/>
                <a:cs typeface="Arial"/>
              </a:rPr>
              <a:t>P</a:t>
            </a:r>
            <a:r>
              <a:rPr sz="1050" i="1" baseline="-15873" dirty="0">
                <a:solidFill>
                  <a:srgbClr val="3333B2"/>
                </a:solidFill>
                <a:latin typeface="Arial"/>
                <a:cs typeface="Arial"/>
              </a:rPr>
              <a:t>2</a:t>
            </a:r>
            <a:r>
              <a:rPr sz="1050" i="1" spc="232" baseline="-15873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act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concurrently)</a:t>
            </a:r>
            <a:endParaRPr sz="1000">
              <a:latin typeface="Arial"/>
              <a:cs typeface="Arial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885621" y="1572590"/>
          <a:ext cx="2829557" cy="13087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81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52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25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7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06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57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5580">
                <a:tc gridSpan="4"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b="1" spc="-10" dirty="0">
                          <a:latin typeface="Arial"/>
                          <a:cs typeface="Arial"/>
                        </a:rPr>
                        <a:t>Possible</a:t>
                      </a:r>
                      <a:r>
                        <a:rPr sz="9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ordering</a:t>
                      </a:r>
                      <a:r>
                        <a:rPr sz="9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9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10" dirty="0">
                          <a:latin typeface="Arial"/>
                          <a:cs typeface="Arial"/>
                        </a:rPr>
                        <a:t>operations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0988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b="1" spc="-10" dirty="0">
                          <a:latin typeface="Arial"/>
                          <a:cs typeface="Arial"/>
                        </a:rPr>
                        <a:t>Result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580">
                <a:tc>
                  <a:txBody>
                    <a:bodyPr/>
                    <a:lstStyle/>
                    <a:p>
                      <a:pPr marR="7620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3495" marB="0">
                    <a:lnL w="63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3495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2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82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3495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75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75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3515">
                <a:tc>
                  <a:txBody>
                    <a:bodyPr/>
                    <a:lstStyle/>
                    <a:p>
                      <a:pPr marR="762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82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1905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75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75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3515">
                <a:tc>
                  <a:txBody>
                    <a:bodyPr/>
                    <a:lstStyle/>
                    <a:p>
                      <a:pPr marR="762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82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75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75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3515">
                <a:tc>
                  <a:txBody>
                    <a:bodyPr/>
                    <a:lstStyle/>
                    <a:p>
                      <a:pPr marR="762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82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1905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75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75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3515">
                <a:tc>
                  <a:txBody>
                    <a:bodyPr/>
                    <a:lstStyle/>
                    <a:p>
                      <a:pPr marR="762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82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75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75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3515">
                <a:tc>
                  <a:txBody>
                    <a:bodyPr/>
                    <a:lstStyle/>
                    <a:p>
                      <a:pPr marR="762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82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75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68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75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9" name="object 9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0" name="object 10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3467" y="3349927"/>
            <a:ext cx="95758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5" action="ppaction://hlinksldjump"/>
              </a:rPr>
              <a:t>Consistent</a:t>
            </a:r>
            <a:r>
              <a:rPr sz="500" spc="-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ordering</a:t>
            </a:r>
            <a:r>
              <a:rPr sz="500" spc="-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of</a:t>
            </a:r>
            <a:r>
              <a:rPr sz="500" spc="-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operations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76320" algn="l"/>
              </a:tabLst>
            </a:pPr>
            <a:r>
              <a:rPr sz="500" dirty="0"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4" action="ppaction://hlinksldjump"/>
              </a:rPr>
              <a:t>Data-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4" action="ppaction://hlinksldjump"/>
              </a:rPr>
              <a:t>centric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4" action="ppaction://hlinksldjump"/>
              </a:rPr>
              <a:t>consistency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4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How</a:t>
            </a:r>
            <a:r>
              <a:rPr spc="-35" dirty="0"/>
              <a:t> </a:t>
            </a:r>
            <a:r>
              <a:rPr dirty="0"/>
              <a:t>tricky</a:t>
            </a:r>
            <a:r>
              <a:rPr spc="-30" dirty="0"/>
              <a:t> </a:t>
            </a:r>
            <a:r>
              <a:rPr dirty="0"/>
              <a:t>can</a:t>
            </a:r>
            <a:r>
              <a:rPr spc="-35" dirty="0"/>
              <a:t> </a:t>
            </a:r>
            <a:r>
              <a:rPr dirty="0"/>
              <a:t>it</a:t>
            </a:r>
            <a:r>
              <a:rPr spc="-30" dirty="0"/>
              <a:t> </a:t>
            </a:r>
            <a:r>
              <a:rPr spc="-20" dirty="0"/>
              <a:t>get?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7294" y="463654"/>
            <a:ext cx="3913504" cy="79248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Linearizability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ct val="111600"/>
              </a:lnSpc>
              <a:spcBef>
                <a:spcPts val="175"/>
              </a:spcBef>
            </a:pPr>
            <a:r>
              <a:rPr sz="900" dirty="0">
                <a:latin typeface="Arial"/>
                <a:cs typeface="Arial"/>
              </a:rPr>
              <a:t>Each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should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appear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take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effect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instantaneously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some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moment </a:t>
            </a:r>
            <a:r>
              <a:rPr sz="900" dirty="0">
                <a:latin typeface="Arial"/>
                <a:cs typeface="Arial"/>
              </a:rPr>
              <a:t>between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start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completion.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Operations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complete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within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given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time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(shaded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area)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59582" y="1256515"/>
            <a:ext cx="2504620" cy="56355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41350" y="1962079"/>
            <a:ext cx="104521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With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better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results</a:t>
            </a:r>
            <a:endParaRPr sz="100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886891" y="2215032"/>
          <a:ext cx="2828287" cy="9417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81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52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76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13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38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5580">
                <a:tc gridSpan="4"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b="1" spc="-10" dirty="0">
                          <a:latin typeface="Arial"/>
                          <a:cs typeface="Arial"/>
                        </a:rPr>
                        <a:t>Possible</a:t>
                      </a:r>
                      <a:r>
                        <a:rPr sz="9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ordering</a:t>
                      </a:r>
                      <a:r>
                        <a:rPr sz="9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9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10" dirty="0">
                          <a:latin typeface="Arial"/>
                          <a:cs typeface="Arial"/>
                        </a:rPr>
                        <a:t>operations</a:t>
                      </a:r>
                      <a:endParaRPr sz="900" dirty="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0861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b="1" spc="-10" dirty="0">
                          <a:latin typeface="Arial"/>
                          <a:cs typeface="Arial"/>
                        </a:rPr>
                        <a:t>Result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580">
                <a:tc>
                  <a:txBody>
                    <a:bodyPr/>
                    <a:lstStyle/>
                    <a:p>
                      <a:pPr marR="7620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 dirty="0">
                        <a:latin typeface="Arial"/>
                        <a:cs typeface="Arial"/>
                      </a:endParaRPr>
                    </a:p>
                  </a:txBody>
                  <a:tcPr marL="0" marR="0" marT="23495" marB="0">
                    <a:lnL w="63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82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3495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905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3495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31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75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75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3515">
                <a:tc>
                  <a:txBody>
                    <a:bodyPr/>
                    <a:lstStyle/>
                    <a:p>
                      <a:pPr marR="762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82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1524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75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 dirty="0">
                        <a:latin typeface="Arial"/>
                        <a:cs typeface="Arial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75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3515">
                <a:tc>
                  <a:txBody>
                    <a:bodyPr/>
                    <a:lstStyle/>
                    <a:p>
                      <a:pPr marR="762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82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1905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4318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75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75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3515">
                <a:tc>
                  <a:txBody>
                    <a:bodyPr/>
                    <a:lstStyle/>
                    <a:p>
                      <a:pPr marR="762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82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75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75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95758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6" action="ppaction://hlinksldjump"/>
              </a:rPr>
              <a:t>Consistent</a:t>
            </a:r>
            <a:r>
              <a:rPr sz="500" spc="-20" dirty="0">
                <a:latin typeface="Arial"/>
                <a:cs typeface="Arial"/>
                <a:hlinkClick r:id="rId6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6" action="ppaction://hlinksldjump"/>
              </a:rPr>
              <a:t>ordering</a:t>
            </a:r>
            <a:r>
              <a:rPr sz="500" spc="-20" dirty="0">
                <a:latin typeface="Arial"/>
                <a:cs typeface="Arial"/>
                <a:hlinkClick r:id="rId6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6" action="ppaction://hlinksldjump"/>
              </a:rPr>
              <a:t>of</a:t>
            </a:r>
            <a:r>
              <a:rPr sz="500" spc="-20" dirty="0">
                <a:latin typeface="Arial"/>
                <a:cs typeface="Arial"/>
                <a:hlinkClick r:id="rId6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6" action="ppaction://hlinksldjump"/>
              </a:rPr>
              <a:t>operations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76320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Data-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centric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Causal</a:t>
            </a:r>
            <a:r>
              <a:rPr spc="-45" dirty="0"/>
              <a:t> </a:t>
            </a:r>
            <a:r>
              <a:rPr spc="-10" dirty="0"/>
              <a:t>consistency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1947" y="499476"/>
            <a:ext cx="3919220" cy="64960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Definition</a:t>
            </a:r>
            <a:endParaRPr sz="1000">
              <a:latin typeface="Arial"/>
              <a:cs typeface="Arial"/>
            </a:endParaRPr>
          </a:p>
          <a:p>
            <a:pPr marL="17780" marR="5080" indent="-5715">
              <a:lnSpc>
                <a:spcPts val="1210"/>
              </a:lnSpc>
              <a:spcBef>
                <a:spcPts val="35"/>
              </a:spcBef>
            </a:pPr>
            <a:r>
              <a:rPr sz="900" spc="-10" dirty="0">
                <a:latin typeface="Arial"/>
                <a:cs typeface="Arial"/>
              </a:rPr>
              <a:t>Writes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potentially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causally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related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must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seen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processes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the </a:t>
            </a:r>
            <a:r>
              <a:rPr sz="900" dirty="0">
                <a:latin typeface="Arial"/>
                <a:cs typeface="Arial"/>
              </a:rPr>
              <a:t>same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order.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Concurrent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seen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different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order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different processes.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0093" y="1246315"/>
            <a:ext cx="2808966" cy="69893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76819" y="1991355"/>
            <a:ext cx="205105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violation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causally-</a:t>
            </a:r>
            <a:r>
              <a:rPr sz="900" dirty="0">
                <a:latin typeface="Arial"/>
                <a:cs typeface="Arial"/>
              </a:rPr>
              <a:t>consistent</a:t>
            </a:r>
            <a:r>
              <a:rPr sz="900" spc="-10" dirty="0">
                <a:latin typeface="Arial"/>
                <a:cs typeface="Arial"/>
              </a:rPr>
              <a:t> store</a:t>
            </a:r>
            <a:endParaRPr sz="9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20093" y="2340293"/>
            <a:ext cx="2808966" cy="69893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808405" y="3085332"/>
            <a:ext cx="298767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correct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sequence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events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causally-</a:t>
            </a:r>
            <a:r>
              <a:rPr sz="900" dirty="0">
                <a:latin typeface="Arial"/>
                <a:cs typeface="Arial"/>
              </a:rPr>
              <a:t>consistent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store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0" name="object 10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3467" y="3349927"/>
            <a:ext cx="95758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6" action="ppaction://hlinksldjump"/>
              </a:rPr>
              <a:t>Consistent</a:t>
            </a:r>
            <a:r>
              <a:rPr sz="500" spc="-20" dirty="0">
                <a:latin typeface="Arial"/>
                <a:cs typeface="Arial"/>
                <a:hlinkClick r:id="rId6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6" action="ppaction://hlinksldjump"/>
              </a:rPr>
              <a:t>ordering</a:t>
            </a:r>
            <a:r>
              <a:rPr sz="500" spc="-20" dirty="0">
                <a:latin typeface="Arial"/>
                <a:cs typeface="Arial"/>
                <a:hlinkClick r:id="rId6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6" action="ppaction://hlinksldjump"/>
              </a:rPr>
              <a:t>of</a:t>
            </a:r>
            <a:r>
              <a:rPr sz="500" spc="-20" dirty="0">
                <a:latin typeface="Arial"/>
                <a:cs typeface="Arial"/>
                <a:hlinkClick r:id="rId6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6" action="ppaction://hlinksldjump"/>
              </a:rPr>
              <a:t>operations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76320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Data-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centric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Consistency</a:t>
            </a:r>
            <a:r>
              <a:rPr spc="-55" dirty="0"/>
              <a:t> </a:t>
            </a:r>
            <a:r>
              <a:rPr dirty="0"/>
              <a:t>models,</a:t>
            </a:r>
            <a:r>
              <a:rPr spc="-55" dirty="0"/>
              <a:t> </a:t>
            </a:r>
            <a:r>
              <a:rPr spc="-10" dirty="0"/>
              <a:t>serializability,</a:t>
            </a:r>
            <a:r>
              <a:rPr spc="-50" dirty="0"/>
              <a:t> </a:t>
            </a:r>
            <a:r>
              <a:rPr spc="-10" dirty="0"/>
              <a:t>transactions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547" y="470520"/>
            <a:ext cx="3916679" cy="70421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44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Overwhelming,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but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often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already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known</a:t>
            </a:r>
            <a:endParaRPr sz="1000">
              <a:latin typeface="Arial"/>
              <a:cs typeface="Arial"/>
            </a:endParaRPr>
          </a:p>
          <a:p>
            <a:pPr marL="15875" marR="5080" indent="-3810">
              <a:lnSpc>
                <a:spcPct val="111600"/>
              </a:lnSpc>
              <a:spcBef>
                <a:spcPts val="180"/>
              </a:spcBef>
            </a:pPr>
            <a:r>
              <a:rPr sz="900" dirty="0">
                <a:latin typeface="Arial"/>
                <a:cs typeface="Arial"/>
              </a:rPr>
              <a:t>Again,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world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transactions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order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execution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all </a:t>
            </a:r>
            <a:r>
              <a:rPr sz="900" spc="-10" dirty="0">
                <a:latin typeface="Arial"/>
                <a:cs typeface="Arial"/>
              </a:rPr>
              <a:t>operations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transactions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way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final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result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matches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a</a:t>
            </a:r>
            <a:r>
              <a:rPr sz="900" dirty="0">
                <a:latin typeface="Arial"/>
                <a:cs typeface="Arial"/>
              </a:rPr>
              <a:t> serial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execution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those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transactions?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keyword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serializability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59815" y="147740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796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177580" y="147740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796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595331" y="147740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796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33298" y="1853184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796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051050" y="1853184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796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468801" y="1853184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796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397840" y="1377319"/>
          <a:ext cx="3970020" cy="6508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757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9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6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8905">
                <a:tc>
                  <a:txBody>
                    <a:bodyPr/>
                    <a:lstStyle/>
                    <a:p>
                      <a:pPr marL="31750">
                        <a:lnSpc>
                          <a:spcPts val="915"/>
                        </a:lnSpc>
                      </a:pPr>
                      <a:r>
                        <a:rPr sz="1000" spc="-105" dirty="0">
                          <a:latin typeface="Times New Roman"/>
                          <a:cs typeface="Times New Roman"/>
                        </a:rPr>
                        <a:t>BEGIN</a:t>
                      </a:r>
                      <a:r>
                        <a:rPr sz="10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55" dirty="0">
                          <a:latin typeface="Times New Roman"/>
                          <a:cs typeface="Times New Roman"/>
                        </a:rPr>
                        <a:t>TRANSACTION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3355">
                        <a:lnSpc>
                          <a:spcPts val="915"/>
                        </a:lnSpc>
                      </a:pPr>
                      <a:r>
                        <a:rPr sz="1000" spc="-105" dirty="0">
                          <a:latin typeface="Times New Roman"/>
                          <a:cs typeface="Times New Roman"/>
                        </a:rPr>
                        <a:t>BEGIN</a:t>
                      </a:r>
                      <a:r>
                        <a:rPr sz="10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55" dirty="0">
                          <a:latin typeface="Times New Roman"/>
                          <a:cs typeface="Times New Roman"/>
                        </a:rPr>
                        <a:t>TRANSACTION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3355">
                        <a:lnSpc>
                          <a:spcPts val="915"/>
                        </a:lnSpc>
                      </a:pPr>
                      <a:r>
                        <a:rPr sz="1000" spc="-105" dirty="0">
                          <a:latin typeface="Times New Roman"/>
                          <a:cs typeface="Times New Roman"/>
                        </a:rPr>
                        <a:t>BEGIN</a:t>
                      </a:r>
                      <a:r>
                        <a:rPr sz="10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20" dirty="0">
                          <a:latin typeface="Times New Roman"/>
                          <a:cs typeface="Times New Roman"/>
                        </a:rPr>
                        <a:t>TRANSACTION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5095">
                <a:tc>
                  <a:txBody>
                    <a:bodyPr/>
                    <a:lstStyle/>
                    <a:p>
                      <a:pPr marL="145415">
                        <a:lnSpc>
                          <a:spcPts val="885"/>
                        </a:lnSpc>
                      </a:pPr>
                      <a:r>
                        <a:rPr sz="1000" spc="9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000" spc="1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000" spc="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45" dirty="0">
                          <a:latin typeface="Times New Roman"/>
                          <a:cs typeface="Times New Roman"/>
                        </a:rPr>
                        <a:t>0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87020">
                        <a:lnSpc>
                          <a:spcPts val="885"/>
                        </a:lnSpc>
                      </a:pPr>
                      <a:r>
                        <a:rPr sz="1000" spc="9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000" spc="1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000" spc="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45" dirty="0">
                          <a:latin typeface="Times New Roman"/>
                          <a:cs typeface="Times New Roman"/>
                        </a:rPr>
                        <a:t>0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87020">
                        <a:lnSpc>
                          <a:spcPts val="885"/>
                        </a:lnSpc>
                      </a:pPr>
                      <a:r>
                        <a:rPr sz="1000" spc="9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000" spc="1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000" spc="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45" dirty="0">
                          <a:latin typeface="Times New Roman"/>
                          <a:cs typeface="Times New Roman"/>
                        </a:rPr>
                        <a:t>0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5095">
                <a:tc>
                  <a:txBody>
                    <a:bodyPr/>
                    <a:lstStyle/>
                    <a:p>
                      <a:pPr marL="145415">
                        <a:lnSpc>
                          <a:spcPts val="885"/>
                        </a:lnSpc>
                      </a:pPr>
                      <a:r>
                        <a:rPr sz="1000" spc="9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000" spc="1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000" spc="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9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000" spc="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1000" spc="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45" dirty="0">
                          <a:latin typeface="Times New Roman"/>
                          <a:cs typeface="Times New Roman"/>
                        </a:rPr>
                        <a:t>1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87020">
                        <a:lnSpc>
                          <a:spcPts val="885"/>
                        </a:lnSpc>
                      </a:pPr>
                      <a:r>
                        <a:rPr sz="1000" spc="9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000" spc="1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000" spc="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9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000" spc="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1000" spc="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45" dirty="0">
                          <a:latin typeface="Times New Roman"/>
                          <a:cs typeface="Times New Roman"/>
                        </a:rPr>
                        <a:t>2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87020">
                        <a:lnSpc>
                          <a:spcPts val="885"/>
                        </a:lnSpc>
                      </a:pPr>
                      <a:r>
                        <a:rPr sz="1000" spc="9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000" spc="1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000" spc="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9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000" spc="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1000" spc="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45" dirty="0">
                          <a:latin typeface="Times New Roman"/>
                          <a:cs typeface="Times New Roman"/>
                        </a:rPr>
                        <a:t>3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1920">
                <a:tc>
                  <a:txBody>
                    <a:bodyPr/>
                    <a:lstStyle/>
                    <a:p>
                      <a:pPr marL="31750">
                        <a:lnSpc>
                          <a:spcPts val="865"/>
                        </a:lnSpc>
                      </a:pPr>
                      <a:r>
                        <a:rPr sz="1000" spc="-165" dirty="0">
                          <a:latin typeface="Times New Roman"/>
                          <a:cs typeface="Times New Roman"/>
                        </a:rPr>
                        <a:t>END</a:t>
                      </a:r>
                      <a:r>
                        <a:rPr sz="10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55" dirty="0">
                          <a:latin typeface="Times New Roman"/>
                          <a:cs typeface="Times New Roman"/>
                        </a:rPr>
                        <a:t>TRANSACTION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3355">
                        <a:lnSpc>
                          <a:spcPts val="865"/>
                        </a:lnSpc>
                      </a:pPr>
                      <a:r>
                        <a:rPr sz="1000" spc="-165" dirty="0">
                          <a:latin typeface="Times New Roman"/>
                          <a:cs typeface="Times New Roman"/>
                        </a:rPr>
                        <a:t>END</a:t>
                      </a:r>
                      <a:r>
                        <a:rPr sz="10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55" dirty="0">
                          <a:latin typeface="Times New Roman"/>
                          <a:cs typeface="Times New Roman"/>
                        </a:rPr>
                        <a:t>TRANSACTION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3355">
                        <a:lnSpc>
                          <a:spcPts val="865"/>
                        </a:lnSpc>
                      </a:pPr>
                      <a:r>
                        <a:rPr sz="1000" spc="-165" dirty="0">
                          <a:latin typeface="Times New Roman"/>
                          <a:cs typeface="Times New Roman"/>
                        </a:rPr>
                        <a:t>END</a:t>
                      </a:r>
                      <a:r>
                        <a:rPr sz="10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55" dirty="0">
                          <a:latin typeface="Times New Roman"/>
                          <a:cs typeface="Times New Roman"/>
                        </a:rPr>
                        <a:t>TRANSACTION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9860">
                <a:tc>
                  <a:txBody>
                    <a:bodyPr/>
                    <a:lstStyle/>
                    <a:p>
                      <a:pPr marL="37465">
                        <a:lnSpc>
                          <a:spcPts val="980"/>
                        </a:lnSpc>
                      </a:pPr>
                      <a:r>
                        <a:rPr sz="900" spc="-20" dirty="0">
                          <a:solidFill>
                            <a:srgbClr val="3333B2"/>
                          </a:solidFill>
                          <a:latin typeface="Arial"/>
                          <a:cs typeface="Arial"/>
                        </a:rPr>
                        <a:t>Transaction</a:t>
                      </a:r>
                      <a:r>
                        <a:rPr sz="900" spc="45" dirty="0">
                          <a:solidFill>
                            <a:srgbClr val="3333B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spc="-25" dirty="0">
                          <a:solidFill>
                            <a:srgbClr val="3333B2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1050" i="1" spc="-37" baseline="-15873" dirty="0">
                          <a:solidFill>
                            <a:srgbClr val="3333B2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050" baseline="-15873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9705">
                        <a:lnSpc>
                          <a:spcPts val="980"/>
                        </a:lnSpc>
                      </a:pPr>
                      <a:r>
                        <a:rPr sz="900" spc="-20" dirty="0">
                          <a:solidFill>
                            <a:srgbClr val="3333B2"/>
                          </a:solidFill>
                          <a:latin typeface="Arial"/>
                          <a:cs typeface="Arial"/>
                        </a:rPr>
                        <a:t>Transaction</a:t>
                      </a:r>
                      <a:r>
                        <a:rPr sz="900" spc="45" dirty="0">
                          <a:solidFill>
                            <a:srgbClr val="3333B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spc="-25" dirty="0">
                          <a:solidFill>
                            <a:srgbClr val="3333B2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1050" i="1" spc="-37" baseline="-15873" dirty="0">
                          <a:solidFill>
                            <a:srgbClr val="3333B2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050" baseline="-15873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9705">
                        <a:lnSpc>
                          <a:spcPts val="980"/>
                        </a:lnSpc>
                      </a:pPr>
                      <a:r>
                        <a:rPr sz="900" spc="-20" dirty="0">
                          <a:solidFill>
                            <a:srgbClr val="3333B2"/>
                          </a:solidFill>
                          <a:latin typeface="Arial"/>
                          <a:cs typeface="Arial"/>
                        </a:rPr>
                        <a:t>Transaction</a:t>
                      </a:r>
                      <a:r>
                        <a:rPr sz="900" spc="45" dirty="0">
                          <a:solidFill>
                            <a:srgbClr val="3333B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spc="-25" dirty="0">
                          <a:solidFill>
                            <a:srgbClr val="3333B2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1050" i="1" spc="-37" baseline="-15873" dirty="0">
                          <a:solidFill>
                            <a:srgbClr val="3333B2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050" baseline="-15873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343128" y="2085624"/>
            <a:ext cx="13182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A</a:t>
            </a:r>
            <a:r>
              <a:rPr sz="1000" spc="-25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number</a:t>
            </a:r>
            <a:r>
              <a:rPr sz="1000" spc="-25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of</a:t>
            </a:r>
            <a:r>
              <a:rPr sz="1000" spc="-25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C994C"/>
                </a:solidFill>
                <a:latin typeface="Arial"/>
                <a:cs typeface="Arial"/>
              </a:rPr>
              <a:t>schedules</a:t>
            </a:r>
            <a:endParaRPr sz="1000">
              <a:latin typeface="Arial"/>
              <a:cs typeface="Arial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410641" y="2338578"/>
          <a:ext cx="3779518" cy="8013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0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22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10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631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Time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130" dirty="0">
                          <a:latin typeface="Menlo"/>
                          <a:cs typeface="Menlo"/>
                        </a:rPr>
                        <a:t>−→</a:t>
                      </a:r>
                      <a:endParaRPr sz="800">
                        <a:latin typeface="Menlo"/>
                        <a:cs typeface="Menlo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87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spc="-25" dirty="0">
                          <a:latin typeface="Arial"/>
                          <a:cs typeface="Arial"/>
                        </a:rPr>
                        <a:t>S1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0" dirty="0">
                          <a:latin typeface="Arial"/>
                          <a:cs typeface="Arial"/>
                        </a:rPr>
                        <a:t>0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0" dirty="0">
                          <a:latin typeface="Arial"/>
                          <a:cs typeface="Arial"/>
                        </a:rPr>
                        <a:t>1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0" dirty="0">
                          <a:latin typeface="Arial"/>
                          <a:cs typeface="Arial"/>
                        </a:rPr>
                        <a:t>0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0" dirty="0">
                          <a:latin typeface="Arial"/>
                          <a:cs typeface="Arial"/>
                        </a:rPr>
                        <a:t>2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0" dirty="0">
                          <a:latin typeface="Arial"/>
                          <a:cs typeface="Arial"/>
                        </a:rPr>
                        <a:t>0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0" dirty="0">
                          <a:latin typeface="Arial"/>
                          <a:cs typeface="Arial"/>
                        </a:rPr>
                        <a:t>3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8890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spc="-10" dirty="0">
                          <a:solidFill>
                            <a:srgbClr val="3333B2"/>
                          </a:solidFill>
                          <a:latin typeface="Arial"/>
                          <a:cs typeface="Arial"/>
                        </a:rPr>
                        <a:t>Legal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81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5" dirty="0">
                          <a:latin typeface="Arial"/>
                          <a:cs typeface="Arial"/>
                        </a:rPr>
                        <a:t>S2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0" dirty="0">
                          <a:latin typeface="Arial"/>
                          <a:cs typeface="Arial"/>
                        </a:rPr>
                        <a:t>0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0" dirty="0">
                          <a:latin typeface="Arial"/>
                          <a:cs typeface="Arial"/>
                        </a:rPr>
                        <a:t>0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0" dirty="0">
                          <a:latin typeface="Arial"/>
                          <a:cs typeface="Arial"/>
                        </a:rPr>
                        <a:t>1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0" dirty="0">
                          <a:latin typeface="Arial"/>
                          <a:cs typeface="Arial"/>
                        </a:rPr>
                        <a:t>2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0" dirty="0">
                          <a:latin typeface="Arial"/>
                          <a:cs typeface="Arial"/>
                        </a:rPr>
                        <a:t>0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0" dirty="0">
                          <a:latin typeface="Arial"/>
                          <a:cs typeface="Arial"/>
                        </a:rPr>
                        <a:t>3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8890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10" dirty="0">
                          <a:solidFill>
                            <a:srgbClr val="3333B2"/>
                          </a:solidFill>
                          <a:latin typeface="Arial"/>
                          <a:cs typeface="Arial"/>
                        </a:rPr>
                        <a:t>Legal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81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5" dirty="0">
                          <a:latin typeface="Arial"/>
                          <a:cs typeface="Arial"/>
                        </a:rPr>
                        <a:t>S3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0" dirty="0">
                          <a:latin typeface="Arial"/>
                          <a:cs typeface="Arial"/>
                        </a:rPr>
                        <a:t>0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0" dirty="0">
                          <a:latin typeface="Arial"/>
                          <a:cs typeface="Arial"/>
                        </a:rPr>
                        <a:t>0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0" dirty="0">
                          <a:latin typeface="Arial"/>
                          <a:cs typeface="Arial"/>
                        </a:rPr>
                        <a:t>1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0" dirty="0">
                          <a:latin typeface="Arial"/>
                          <a:cs typeface="Arial"/>
                        </a:rPr>
                        <a:t>0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0" dirty="0">
                          <a:latin typeface="Arial"/>
                          <a:cs typeface="Arial"/>
                        </a:rPr>
                        <a:t>2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0" dirty="0">
                          <a:latin typeface="Arial"/>
                          <a:cs typeface="Arial"/>
                        </a:rPr>
                        <a:t>3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10" dirty="0">
                          <a:solidFill>
                            <a:srgbClr val="C80000"/>
                          </a:solidFill>
                          <a:latin typeface="Arial"/>
                          <a:cs typeface="Arial"/>
                        </a:rPr>
                        <a:t>Illegal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5" dirty="0">
                          <a:latin typeface="Arial"/>
                          <a:cs typeface="Arial"/>
                        </a:rPr>
                        <a:t>S4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0" dirty="0">
                          <a:latin typeface="Arial"/>
                          <a:cs typeface="Arial"/>
                        </a:rPr>
                        <a:t>0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0" dirty="0">
                          <a:latin typeface="Arial"/>
                          <a:cs typeface="Arial"/>
                        </a:rPr>
                        <a:t>0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0" dirty="0">
                          <a:latin typeface="Arial"/>
                          <a:cs typeface="Arial"/>
                        </a:rPr>
                        <a:t>3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0" dirty="0">
                          <a:latin typeface="Arial"/>
                          <a:cs typeface="Arial"/>
                        </a:rPr>
                        <a:t>0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0" dirty="0">
                          <a:latin typeface="Arial"/>
                          <a:cs typeface="Arial"/>
                        </a:rPr>
                        <a:t>1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0" dirty="0">
                          <a:latin typeface="Arial"/>
                          <a:cs typeface="Arial"/>
                        </a:rPr>
                        <a:t>2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10" dirty="0">
                          <a:solidFill>
                            <a:srgbClr val="C80000"/>
                          </a:solidFill>
                          <a:latin typeface="Arial"/>
                          <a:cs typeface="Arial"/>
                        </a:rPr>
                        <a:t>Illegal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4" name="object 14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5" name="object 15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3467" y="3349927"/>
            <a:ext cx="95758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Consistent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ordering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of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operations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76320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Data-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centric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Grouping</a:t>
            </a:r>
            <a:r>
              <a:rPr spc="-55" dirty="0"/>
              <a:t> </a:t>
            </a:r>
            <a:r>
              <a:rPr spc="-10" dirty="0"/>
              <a:t>operations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4594" y="514774"/>
            <a:ext cx="3930015" cy="11169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Entry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consistency:</a:t>
            </a:r>
            <a:r>
              <a:rPr sz="1000" spc="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Definition</a:t>
            </a:r>
            <a:endParaRPr sz="1000">
              <a:latin typeface="Arial"/>
              <a:cs typeface="Arial"/>
            </a:endParaRPr>
          </a:p>
          <a:p>
            <a:pPr marL="274320" indent="-116839">
              <a:lnSpc>
                <a:spcPct val="100000"/>
              </a:lnSpc>
              <a:spcBef>
                <a:spcPts val="700"/>
              </a:spcBef>
              <a:buClr>
                <a:srgbClr val="3333B2"/>
              </a:buClr>
              <a:buFont typeface="Menlo"/>
              <a:buChar char="•"/>
              <a:tabLst>
                <a:tab pos="274955" algn="l"/>
              </a:tabLst>
            </a:pPr>
            <a:r>
              <a:rPr sz="900" dirty="0">
                <a:latin typeface="Arial"/>
                <a:cs typeface="Arial"/>
              </a:rPr>
              <a:t>Accesses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locks</a:t>
            </a:r>
            <a:r>
              <a:rPr sz="900" spc="-3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sequentially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consistent.</a:t>
            </a:r>
            <a:endParaRPr sz="900">
              <a:latin typeface="Arial"/>
              <a:cs typeface="Arial"/>
            </a:endParaRPr>
          </a:p>
          <a:p>
            <a:pPr marL="278130" marR="119380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dirty="0">
                <a:latin typeface="Arial"/>
                <a:cs typeface="Arial"/>
              </a:rPr>
              <a:t>No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access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lock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allowed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performed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until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previous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writes have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completed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everywhere.</a:t>
            </a:r>
            <a:endParaRPr sz="900">
              <a:latin typeface="Arial"/>
              <a:cs typeface="Arial"/>
            </a:endParaRPr>
          </a:p>
          <a:p>
            <a:pPr marL="278130" marR="17780" indent="-120650">
              <a:lnSpc>
                <a:spcPct val="111600"/>
              </a:lnSpc>
              <a:spcBef>
                <a:spcPts val="395"/>
              </a:spcBef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dirty="0">
                <a:latin typeface="Arial"/>
                <a:cs typeface="Arial"/>
              </a:rPr>
              <a:t>No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access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allowed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performed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until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previous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accesses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to </a:t>
            </a:r>
            <a:r>
              <a:rPr sz="900" dirty="0">
                <a:latin typeface="Arial"/>
                <a:cs typeface="Arial"/>
              </a:rPr>
              <a:t>locks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been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performed.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95758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Consistent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ordering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of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operations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76320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Data-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centric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Grouping</a:t>
            </a:r>
            <a:r>
              <a:rPr spc="-55" dirty="0"/>
              <a:t> </a:t>
            </a:r>
            <a:r>
              <a:rPr spc="-10" dirty="0"/>
              <a:t>operations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21894" y="514774"/>
            <a:ext cx="3955415" cy="19037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Entry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consistency:</a:t>
            </a:r>
            <a:r>
              <a:rPr sz="1000" spc="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Definition</a:t>
            </a:r>
            <a:endParaRPr sz="1000">
              <a:latin typeface="Arial"/>
              <a:cs typeface="Arial"/>
            </a:endParaRPr>
          </a:p>
          <a:p>
            <a:pPr marL="287020" indent="-116839">
              <a:lnSpc>
                <a:spcPct val="100000"/>
              </a:lnSpc>
              <a:spcBef>
                <a:spcPts val="700"/>
              </a:spcBef>
              <a:buClr>
                <a:srgbClr val="3333B2"/>
              </a:buClr>
              <a:buFont typeface="Menlo"/>
              <a:buChar char="•"/>
              <a:tabLst>
                <a:tab pos="287655" algn="l"/>
              </a:tabLst>
            </a:pPr>
            <a:r>
              <a:rPr sz="900" dirty="0">
                <a:latin typeface="Arial"/>
                <a:cs typeface="Arial"/>
              </a:rPr>
              <a:t>Accesses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locks</a:t>
            </a:r>
            <a:r>
              <a:rPr sz="900" spc="-3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sequentially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consistent.</a:t>
            </a:r>
            <a:endParaRPr sz="900">
              <a:latin typeface="Arial"/>
              <a:cs typeface="Arial"/>
            </a:endParaRPr>
          </a:p>
          <a:p>
            <a:pPr marL="290830" marR="132080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291465" algn="l"/>
              </a:tabLst>
            </a:pPr>
            <a:r>
              <a:rPr sz="900" dirty="0">
                <a:latin typeface="Arial"/>
                <a:cs typeface="Arial"/>
              </a:rPr>
              <a:t>No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access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lock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allowed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performed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until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previous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writes have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completed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everywhere.</a:t>
            </a:r>
            <a:endParaRPr sz="900">
              <a:latin typeface="Arial"/>
              <a:cs typeface="Arial"/>
            </a:endParaRPr>
          </a:p>
          <a:p>
            <a:pPr marL="290830" marR="30480" indent="-120650">
              <a:lnSpc>
                <a:spcPct val="111600"/>
              </a:lnSpc>
              <a:spcBef>
                <a:spcPts val="395"/>
              </a:spcBef>
              <a:buClr>
                <a:srgbClr val="3333B2"/>
              </a:buClr>
              <a:buFont typeface="Menlo"/>
              <a:buChar char="•"/>
              <a:tabLst>
                <a:tab pos="291465" algn="l"/>
              </a:tabLst>
            </a:pPr>
            <a:r>
              <a:rPr sz="900" dirty="0">
                <a:latin typeface="Arial"/>
                <a:cs typeface="Arial"/>
              </a:rPr>
              <a:t>No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access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allowed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performed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until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previous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accesses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to </a:t>
            </a:r>
            <a:r>
              <a:rPr sz="900" dirty="0">
                <a:latin typeface="Arial"/>
                <a:cs typeface="Arial"/>
              </a:rPr>
              <a:t>locks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been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performed.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Basic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idea</a:t>
            </a:r>
            <a:endParaRPr sz="1000">
              <a:latin typeface="Arial"/>
              <a:cs typeface="Arial"/>
            </a:endParaRPr>
          </a:p>
          <a:p>
            <a:pPr marL="38100" marR="21590" indent="-3810">
              <a:lnSpc>
                <a:spcPts val="1210"/>
              </a:lnSpc>
              <a:spcBef>
                <a:spcPts val="35"/>
              </a:spcBef>
            </a:pPr>
            <a:r>
              <a:rPr sz="900" spc="-45" dirty="0">
                <a:latin typeface="Arial"/>
                <a:cs typeface="Arial"/>
              </a:rPr>
              <a:t>You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don’t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series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immediately </a:t>
            </a:r>
            <a:r>
              <a:rPr sz="900" dirty="0">
                <a:latin typeface="Arial"/>
                <a:cs typeface="Arial"/>
              </a:rPr>
              <a:t>known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other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processes.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45" dirty="0">
                <a:latin typeface="Arial"/>
                <a:cs typeface="Arial"/>
              </a:rPr>
              <a:t>You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just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want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effect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series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itself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be </a:t>
            </a:r>
            <a:r>
              <a:rPr sz="900" spc="-10" dirty="0">
                <a:latin typeface="Arial"/>
                <a:cs typeface="Arial"/>
              </a:rPr>
              <a:t>known.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95758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Consistent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ordering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of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operations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7994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617645" y="-1515"/>
            <a:ext cx="9372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Data-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centric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766695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Grouping</a:t>
            </a:r>
            <a:r>
              <a:rPr sz="1200" spc="-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operations</a:t>
            </a:r>
            <a:endParaRPr sz="1200">
              <a:latin typeface="Arial"/>
              <a:cs typeface="Arial"/>
            </a:endParaRPr>
          </a:p>
          <a:p>
            <a:pPr marL="26035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valid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event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sequence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for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entry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consistency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0248" y="827721"/>
            <a:ext cx="3168660" cy="51899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41947" y="1578430"/>
            <a:ext cx="3819525" cy="106045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17780" marR="508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Entry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consistency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implies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lock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unlock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(implicitly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or </a:t>
            </a:r>
            <a:r>
              <a:rPr sz="900" spc="-10" dirty="0">
                <a:latin typeface="Arial"/>
                <a:cs typeface="Arial"/>
              </a:rPr>
              <a:t>not).</a:t>
            </a:r>
            <a:endParaRPr sz="900">
              <a:latin typeface="Arial"/>
              <a:cs typeface="Arial"/>
            </a:endParaRPr>
          </a:p>
          <a:p>
            <a:pPr marL="17780">
              <a:lnSpc>
                <a:spcPct val="100000"/>
              </a:lnSpc>
              <a:spcBef>
                <a:spcPts val="750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Question</a:t>
            </a:r>
            <a:endParaRPr sz="1000">
              <a:latin typeface="Arial"/>
              <a:cs typeface="Arial"/>
            </a:endParaRPr>
          </a:p>
          <a:p>
            <a:pPr marL="17780" marR="127000" indent="-5715">
              <a:lnSpc>
                <a:spcPct val="111600"/>
              </a:lnSpc>
              <a:spcBef>
                <a:spcPts val="15"/>
              </a:spcBef>
            </a:pPr>
            <a:r>
              <a:rPr sz="900" dirty="0">
                <a:latin typeface="Arial"/>
                <a:cs typeface="Arial"/>
              </a:rPr>
              <a:t>What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would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convenient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way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making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consistency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less </a:t>
            </a:r>
            <a:r>
              <a:rPr sz="900" dirty="0">
                <a:latin typeface="Arial"/>
                <a:cs typeface="Arial"/>
              </a:rPr>
              <a:t>transparent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programmers?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95758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5" action="ppaction://hlinksldjump"/>
              </a:rPr>
              <a:t>Consistent</a:t>
            </a:r>
            <a:r>
              <a:rPr sz="500" spc="-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ordering</a:t>
            </a:r>
            <a:r>
              <a:rPr sz="500" spc="-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of</a:t>
            </a:r>
            <a:r>
              <a:rPr sz="500" spc="-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operations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76320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Data-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centric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Eventual</a:t>
            </a:r>
            <a:r>
              <a:rPr spc="-85" dirty="0"/>
              <a:t> </a:t>
            </a:r>
            <a:r>
              <a:rPr spc="-10" dirty="0"/>
              <a:t>consistency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204" y="484211"/>
            <a:ext cx="3847465" cy="238633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Definition</a:t>
            </a:r>
            <a:endParaRPr sz="1000">
              <a:latin typeface="Arial"/>
              <a:cs typeface="Arial"/>
            </a:endParaRPr>
          </a:p>
          <a:p>
            <a:pPr marL="12700" marR="5080" indent="381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Consider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collection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stores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(concurrent)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operations.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The </a:t>
            </a:r>
            <a:r>
              <a:rPr sz="900" dirty="0">
                <a:latin typeface="Arial"/>
                <a:cs typeface="Arial"/>
              </a:rPr>
              <a:t>strores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eventually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consistent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lack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certain </a:t>
            </a:r>
            <a:r>
              <a:rPr sz="900" dirty="0">
                <a:latin typeface="Arial"/>
                <a:cs typeface="Arial"/>
              </a:rPr>
              <a:t>moment,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point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propagated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way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replicas </a:t>
            </a:r>
            <a:r>
              <a:rPr sz="900" dirty="0">
                <a:latin typeface="Arial"/>
                <a:cs typeface="Arial"/>
              </a:rPr>
              <a:t>will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same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stored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(until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accepted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again).</a:t>
            </a:r>
            <a:endParaRPr sz="90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560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Srong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eventual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consistency</a:t>
            </a:r>
            <a:endParaRPr sz="1000">
              <a:latin typeface="Arial"/>
              <a:cs typeface="Arial"/>
            </a:endParaRPr>
          </a:p>
          <a:p>
            <a:pPr marL="16510" marR="54610">
              <a:lnSpc>
                <a:spcPct val="111600"/>
              </a:lnSpc>
              <a:spcBef>
                <a:spcPts val="185"/>
              </a:spcBef>
            </a:pPr>
            <a:r>
              <a:rPr sz="900" dirty="0">
                <a:latin typeface="Arial"/>
                <a:cs typeface="Arial"/>
              </a:rPr>
              <a:t>Basic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idea: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conflicting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updates,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globally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determined </a:t>
            </a:r>
            <a:r>
              <a:rPr sz="900" dirty="0">
                <a:latin typeface="Arial"/>
                <a:cs typeface="Arial"/>
              </a:rPr>
              <a:t>resolution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mechanism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(for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example,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NTP,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simply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let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“most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recent” </a:t>
            </a:r>
            <a:r>
              <a:rPr sz="900" dirty="0">
                <a:latin typeface="Arial"/>
                <a:cs typeface="Arial"/>
              </a:rPr>
              <a:t>update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win).</a:t>
            </a:r>
            <a:endParaRPr sz="90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630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Program</a:t>
            </a:r>
            <a:r>
              <a:rPr sz="1000" spc="-6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consistency</a:t>
            </a:r>
            <a:endParaRPr sz="1000">
              <a:latin typeface="Arial"/>
              <a:cs typeface="Arial"/>
            </a:endParaRPr>
          </a:p>
          <a:p>
            <a:pPr marL="16510" marR="186690">
              <a:lnSpc>
                <a:spcPct val="111600"/>
              </a:lnSpc>
              <a:spcBef>
                <a:spcPts val="185"/>
              </a:spcBef>
            </a:pPr>
            <a:r>
              <a:rPr sz="900" i="1" dirty="0">
                <a:latin typeface="Arial"/>
                <a:cs typeface="Arial"/>
              </a:rPr>
              <a:t>P</a:t>
            </a:r>
            <a:r>
              <a:rPr sz="900" i="1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monotonic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problem</a:t>
            </a:r>
            <a:r>
              <a:rPr sz="900" spc="-1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input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sets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900" i="1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T</a:t>
            </a:r>
            <a:r>
              <a:rPr sz="900" i="1" spc="-1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spc="50" dirty="0">
                <a:latin typeface="Arial"/>
                <a:cs typeface="Arial"/>
              </a:rPr>
              <a:t>P</a:t>
            </a:r>
            <a:r>
              <a:rPr sz="900" spc="50" dirty="0">
                <a:latin typeface="Arial"/>
                <a:cs typeface="Arial"/>
              </a:rPr>
              <a:t>(</a:t>
            </a:r>
            <a:r>
              <a:rPr sz="900" i="1" spc="50" dirty="0">
                <a:latin typeface="Arial"/>
                <a:cs typeface="Arial"/>
              </a:rPr>
              <a:t>S</a:t>
            </a:r>
            <a:r>
              <a:rPr sz="900" spc="50" dirty="0">
                <a:latin typeface="Arial"/>
                <a:cs typeface="Arial"/>
              </a:rPr>
              <a:t>)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i="1" spc="150" dirty="0">
                <a:latin typeface="Menlo"/>
                <a:cs typeface="Menlo"/>
              </a:rPr>
              <a:t>⊆</a:t>
            </a:r>
            <a:r>
              <a:rPr sz="900" i="1" spc="-345" dirty="0">
                <a:latin typeface="Menlo"/>
                <a:cs typeface="Menlo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T</a:t>
            </a:r>
            <a:r>
              <a:rPr sz="900" i="1" spc="-1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).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Observation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program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solving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monotonic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problem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start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with </a:t>
            </a:r>
            <a:r>
              <a:rPr sz="900" dirty="0">
                <a:latin typeface="Arial"/>
                <a:cs typeface="Arial"/>
              </a:rPr>
              <a:t>incomplete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information,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but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guaranteed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roll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back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when </a:t>
            </a:r>
            <a:r>
              <a:rPr sz="900" dirty="0">
                <a:latin typeface="Arial"/>
                <a:cs typeface="Arial"/>
              </a:rPr>
              <a:t>missing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information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becomes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available.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4C994C"/>
                </a:solidFill>
                <a:latin typeface="Arial"/>
                <a:cs typeface="Arial"/>
              </a:rPr>
              <a:t>Example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filling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shopping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cart.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61849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Eventual</a:t>
            </a:r>
            <a:r>
              <a:rPr sz="500" spc="4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consistency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76320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Data-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centric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Eventual</a:t>
            </a:r>
            <a:r>
              <a:rPr spc="-85" dirty="0"/>
              <a:t> </a:t>
            </a:r>
            <a:r>
              <a:rPr spc="-10" dirty="0"/>
              <a:t>consistency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204" y="484211"/>
            <a:ext cx="3847465" cy="279400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Definition</a:t>
            </a:r>
            <a:endParaRPr sz="1000">
              <a:latin typeface="Arial"/>
              <a:cs typeface="Arial"/>
            </a:endParaRPr>
          </a:p>
          <a:p>
            <a:pPr marL="12700" marR="5080" indent="381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Consider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collection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stores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(concurrent)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operations.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The </a:t>
            </a:r>
            <a:r>
              <a:rPr sz="900" dirty="0">
                <a:latin typeface="Arial"/>
                <a:cs typeface="Arial"/>
              </a:rPr>
              <a:t>strores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eventually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consistent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lack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certain </a:t>
            </a:r>
            <a:r>
              <a:rPr sz="900" dirty="0">
                <a:latin typeface="Arial"/>
                <a:cs typeface="Arial"/>
              </a:rPr>
              <a:t>moment,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point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propagated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way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replicas </a:t>
            </a:r>
            <a:r>
              <a:rPr sz="900" dirty="0">
                <a:latin typeface="Arial"/>
                <a:cs typeface="Arial"/>
              </a:rPr>
              <a:t>will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same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stored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(until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accepted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again).</a:t>
            </a:r>
            <a:endParaRPr sz="90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560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Srong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eventual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consistency</a:t>
            </a:r>
            <a:endParaRPr sz="1000">
              <a:latin typeface="Arial"/>
              <a:cs typeface="Arial"/>
            </a:endParaRPr>
          </a:p>
          <a:p>
            <a:pPr marL="16510" marR="54610">
              <a:lnSpc>
                <a:spcPct val="111600"/>
              </a:lnSpc>
              <a:spcBef>
                <a:spcPts val="185"/>
              </a:spcBef>
            </a:pPr>
            <a:r>
              <a:rPr sz="900" dirty="0">
                <a:latin typeface="Arial"/>
                <a:cs typeface="Arial"/>
              </a:rPr>
              <a:t>Basic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idea: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conflicting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updates,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globally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determined </a:t>
            </a:r>
            <a:r>
              <a:rPr sz="900" dirty="0">
                <a:latin typeface="Arial"/>
                <a:cs typeface="Arial"/>
              </a:rPr>
              <a:t>resolution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mechanism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(for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example,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NTP,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simply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let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“most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recent” </a:t>
            </a:r>
            <a:r>
              <a:rPr sz="900" dirty="0">
                <a:latin typeface="Arial"/>
                <a:cs typeface="Arial"/>
              </a:rPr>
              <a:t>update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win).</a:t>
            </a:r>
            <a:endParaRPr sz="90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630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Program</a:t>
            </a:r>
            <a:r>
              <a:rPr sz="1000" spc="-6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consistency</a:t>
            </a:r>
            <a:endParaRPr sz="1000">
              <a:latin typeface="Arial"/>
              <a:cs typeface="Arial"/>
            </a:endParaRPr>
          </a:p>
          <a:p>
            <a:pPr marL="16510" marR="186690">
              <a:lnSpc>
                <a:spcPct val="111600"/>
              </a:lnSpc>
              <a:spcBef>
                <a:spcPts val="185"/>
              </a:spcBef>
            </a:pPr>
            <a:r>
              <a:rPr sz="900" i="1" dirty="0">
                <a:latin typeface="Arial"/>
                <a:cs typeface="Arial"/>
              </a:rPr>
              <a:t>P</a:t>
            </a:r>
            <a:r>
              <a:rPr sz="900" i="1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monotonic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problem</a:t>
            </a:r>
            <a:r>
              <a:rPr sz="900" spc="-1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input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sets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900" i="1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T</a:t>
            </a:r>
            <a:r>
              <a:rPr sz="900" i="1" spc="-1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spc="50" dirty="0">
                <a:latin typeface="Arial"/>
                <a:cs typeface="Arial"/>
              </a:rPr>
              <a:t>P</a:t>
            </a:r>
            <a:r>
              <a:rPr sz="900" spc="50" dirty="0">
                <a:latin typeface="Arial"/>
                <a:cs typeface="Arial"/>
              </a:rPr>
              <a:t>(</a:t>
            </a:r>
            <a:r>
              <a:rPr sz="900" i="1" spc="50" dirty="0">
                <a:latin typeface="Arial"/>
                <a:cs typeface="Arial"/>
              </a:rPr>
              <a:t>S</a:t>
            </a:r>
            <a:r>
              <a:rPr sz="900" spc="50" dirty="0">
                <a:latin typeface="Arial"/>
                <a:cs typeface="Arial"/>
              </a:rPr>
              <a:t>)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i="1" spc="150" dirty="0">
                <a:latin typeface="Menlo"/>
                <a:cs typeface="Menlo"/>
              </a:rPr>
              <a:t>⊆</a:t>
            </a:r>
            <a:r>
              <a:rPr sz="900" i="1" spc="-345" dirty="0">
                <a:latin typeface="Menlo"/>
                <a:cs typeface="Menlo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T</a:t>
            </a:r>
            <a:r>
              <a:rPr sz="900" i="1" spc="-1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).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Observation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program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solving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monotonic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problem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start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with </a:t>
            </a:r>
            <a:r>
              <a:rPr sz="900" dirty="0">
                <a:latin typeface="Arial"/>
                <a:cs typeface="Arial"/>
              </a:rPr>
              <a:t>incomplete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information,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but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guaranteed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roll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back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when </a:t>
            </a:r>
            <a:r>
              <a:rPr sz="900" dirty="0">
                <a:latin typeface="Arial"/>
                <a:cs typeface="Arial"/>
              </a:rPr>
              <a:t>missing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information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becomes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available.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4C994C"/>
                </a:solidFill>
                <a:latin typeface="Arial"/>
                <a:cs typeface="Arial"/>
              </a:rPr>
              <a:t>Example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filling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shopping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cart.</a:t>
            </a:r>
            <a:endParaRPr sz="90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630"/>
              </a:spcBef>
            </a:pP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Important</a:t>
            </a:r>
            <a:r>
              <a:rPr sz="1000" spc="-1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295"/>
              </a:spcBef>
            </a:pP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cases,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avoiding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global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synchronization.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61849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Eventual</a:t>
            </a:r>
            <a:r>
              <a:rPr sz="500" spc="4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consistency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76320" algn="l"/>
              </a:tabLst>
            </a:pPr>
            <a:r>
              <a:rPr sz="500" dirty="0"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4" action="ppaction://hlinksldjump"/>
              </a:rPr>
              <a:t>Data-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4" action="ppaction://hlinksldjump"/>
              </a:rPr>
              <a:t>centric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4" action="ppaction://hlinksldjump"/>
              </a:rPr>
              <a:t>consistency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4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Continuous</a:t>
            </a:r>
            <a:r>
              <a:rPr spc="-85" dirty="0"/>
              <a:t> </a:t>
            </a:r>
            <a:r>
              <a:rPr spc="-10" dirty="0"/>
              <a:t>Consistency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5950" y="514774"/>
            <a:ext cx="3782695" cy="1497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We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can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actually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talk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about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degree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consistency</a:t>
            </a:r>
            <a:endParaRPr sz="1000" dirty="0">
              <a:latin typeface="Arial"/>
              <a:cs typeface="Arial"/>
            </a:endParaRPr>
          </a:p>
          <a:p>
            <a:pPr marL="296545" indent="-120650">
              <a:lnSpc>
                <a:spcPct val="100000"/>
              </a:lnSpc>
              <a:spcBef>
                <a:spcPts val="710"/>
              </a:spcBef>
              <a:buClr>
                <a:srgbClr val="3333B2"/>
              </a:buClr>
              <a:buFont typeface="Menlo"/>
              <a:buChar char="•"/>
              <a:tabLst>
                <a:tab pos="297180" algn="l"/>
              </a:tabLst>
            </a:pPr>
            <a:r>
              <a:rPr sz="900" dirty="0">
                <a:latin typeface="Arial"/>
                <a:cs typeface="Arial"/>
              </a:rPr>
              <a:t>replicas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differ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their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numerical</a:t>
            </a:r>
            <a:r>
              <a:rPr sz="9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value</a:t>
            </a:r>
            <a:endParaRPr sz="900" dirty="0">
              <a:latin typeface="Arial"/>
              <a:cs typeface="Arial"/>
            </a:endParaRPr>
          </a:p>
          <a:p>
            <a:pPr marL="296545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297180" algn="l"/>
              </a:tabLst>
            </a:pPr>
            <a:r>
              <a:rPr sz="900" dirty="0">
                <a:latin typeface="Arial"/>
                <a:cs typeface="Arial"/>
              </a:rPr>
              <a:t>replicas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may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differ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their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relative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staleness</a:t>
            </a:r>
            <a:endParaRPr sz="900" dirty="0">
              <a:latin typeface="Arial"/>
              <a:cs typeface="Arial"/>
            </a:endParaRPr>
          </a:p>
          <a:p>
            <a:pPr marL="296545" marR="30480" indent="-120650">
              <a:lnSpc>
                <a:spcPct val="111600"/>
              </a:lnSpc>
              <a:buClr>
                <a:srgbClr val="3333B2"/>
              </a:buClr>
              <a:buFont typeface="Menlo"/>
              <a:buChar char="•"/>
              <a:tabLst>
                <a:tab pos="297180" algn="l"/>
              </a:tabLst>
            </a:pPr>
            <a:r>
              <a:rPr sz="900" dirty="0">
                <a:latin typeface="Arial"/>
                <a:cs typeface="Arial"/>
              </a:rPr>
              <a:t>there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differences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regarding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(number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order)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performed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update</a:t>
            </a:r>
            <a:r>
              <a:rPr sz="9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operations</a:t>
            </a:r>
            <a:endParaRPr sz="9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 dirty="0">
              <a:latin typeface="Arial"/>
              <a:cs typeface="Arial"/>
            </a:endParaRPr>
          </a:p>
          <a:p>
            <a:pPr marL="43815">
              <a:lnSpc>
                <a:spcPct val="100000"/>
              </a:lnSpc>
            </a:pP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Conit</a:t>
            </a:r>
            <a:endParaRPr sz="1000" dirty="0">
              <a:latin typeface="Arial"/>
              <a:cs typeface="Arial"/>
            </a:endParaRPr>
          </a:p>
          <a:p>
            <a:pPr marL="43815" marR="19685">
              <a:lnSpc>
                <a:spcPts val="1210"/>
              </a:lnSpc>
              <a:spcBef>
                <a:spcPts val="40"/>
              </a:spcBef>
            </a:pPr>
            <a:r>
              <a:rPr sz="900" dirty="0">
                <a:latin typeface="Arial"/>
                <a:cs typeface="Arial"/>
              </a:rPr>
              <a:t>Consistency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unit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⇒</a:t>
            </a:r>
            <a:r>
              <a:rPr sz="900" i="1" spc="-295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specifies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data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unit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over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consistency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be </a:t>
            </a:r>
            <a:r>
              <a:rPr sz="900" spc="-10" dirty="0">
                <a:latin typeface="Arial"/>
                <a:cs typeface="Arial"/>
              </a:rPr>
              <a:t>measured.</a:t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69342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5" action="ppaction://hlinksldjump"/>
              </a:rPr>
              <a:t>Continuous</a:t>
            </a:r>
            <a:r>
              <a:rPr sz="500" spc="6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consistency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7994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617645" y="-1515"/>
            <a:ext cx="9372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Data-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centric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106489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Example:</a:t>
            </a:r>
            <a:r>
              <a:rPr sz="1200" spc="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Conit</a:t>
            </a:r>
            <a:endParaRPr sz="1200" dirty="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04496" y="540937"/>
            <a:ext cx="2999125" cy="181308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21894" y="2513449"/>
            <a:ext cx="3888740" cy="710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Conit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(contains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0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variables</a:t>
            </a:r>
            <a:r>
              <a:rPr sz="10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3333B2"/>
                </a:solidFill>
                <a:latin typeface="Arial"/>
                <a:cs typeface="Arial"/>
              </a:rPr>
              <a:t>g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,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3333B2"/>
                </a:solidFill>
                <a:latin typeface="Arial"/>
                <a:cs typeface="Arial"/>
              </a:rPr>
              <a:t>p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,</a:t>
            </a:r>
            <a:r>
              <a:rPr sz="10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and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3333B2"/>
                </a:solidFill>
                <a:latin typeface="Arial"/>
                <a:cs typeface="Arial"/>
              </a:rPr>
              <a:t>d</a:t>
            </a:r>
            <a:r>
              <a:rPr sz="1000" i="1" spc="-18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50" dirty="0">
                <a:solidFill>
                  <a:srgbClr val="3333B2"/>
                </a:solidFill>
                <a:latin typeface="Arial"/>
                <a:cs typeface="Arial"/>
              </a:rPr>
              <a:t>)</a:t>
            </a:r>
            <a:endParaRPr sz="1000" dirty="0">
              <a:latin typeface="Arial"/>
              <a:cs typeface="Arial"/>
            </a:endParaRPr>
          </a:p>
          <a:p>
            <a:pPr marL="290830" indent="-120650">
              <a:lnSpc>
                <a:spcPct val="100000"/>
              </a:lnSpc>
              <a:spcBef>
                <a:spcPts val="710"/>
              </a:spcBef>
              <a:buClr>
                <a:srgbClr val="3333B2"/>
              </a:buClr>
              <a:buFont typeface="Menlo"/>
              <a:buChar char="•"/>
              <a:tabLst>
                <a:tab pos="291465" algn="l"/>
              </a:tabLst>
            </a:pPr>
            <a:r>
              <a:rPr sz="900" dirty="0">
                <a:latin typeface="Arial"/>
                <a:cs typeface="Arial"/>
              </a:rPr>
              <a:t>Each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replica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vector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clock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([known]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time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@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A,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[known]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time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@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B)</a:t>
            </a:r>
            <a:endParaRPr sz="900" dirty="0">
              <a:latin typeface="Arial"/>
              <a:cs typeface="Arial"/>
            </a:endParaRPr>
          </a:p>
          <a:p>
            <a:pPr marL="290830" marR="154940" indent="-120650">
              <a:lnSpc>
                <a:spcPct val="111600"/>
              </a:lnSpc>
              <a:buClr>
                <a:srgbClr val="3333B2"/>
              </a:buClr>
              <a:buFont typeface="Menlo"/>
              <a:buChar char="•"/>
              <a:tabLst>
                <a:tab pos="291465" algn="l"/>
              </a:tabLst>
            </a:pPr>
            <a:r>
              <a:rPr sz="900" i="1" dirty="0">
                <a:latin typeface="Arial"/>
                <a:cs typeface="Arial"/>
              </a:rPr>
              <a:t>B</a:t>
            </a:r>
            <a:r>
              <a:rPr sz="900" i="1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sends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i="1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spc="-60" dirty="0">
                <a:latin typeface="Arial"/>
                <a:cs typeface="Arial"/>
              </a:rPr>
              <a:t>[</a:t>
            </a:r>
            <a:r>
              <a:rPr sz="900" i="1" spc="-60" dirty="0">
                <a:latin typeface="Menlo"/>
                <a:cs typeface="Menlo"/>
              </a:rPr>
              <a:t>⟨</a:t>
            </a:r>
            <a:r>
              <a:rPr sz="900" spc="-60" dirty="0">
                <a:latin typeface="Arial"/>
                <a:cs typeface="Arial"/>
              </a:rPr>
              <a:t>5</a:t>
            </a:r>
            <a:r>
              <a:rPr sz="900" i="1" spc="-60" dirty="0">
                <a:latin typeface="Arial"/>
                <a:cs typeface="Arial"/>
              </a:rPr>
              <a:t>,</a:t>
            </a:r>
            <a:r>
              <a:rPr sz="900" i="1" spc="-155" dirty="0">
                <a:latin typeface="Arial"/>
                <a:cs typeface="Arial"/>
              </a:rPr>
              <a:t> </a:t>
            </a:r>
            <a:r>
              <a:rPr sz="900" i="1" spc="-90" dirty="0">
                <a:latin typeface="Arial"/>
                <a:cs typeface="Arial"/>
              </a:rPr>
              <a:t>B</a:t>
            </a:r>
            <a:r>
              <a:rPr sz="900" i="1" spc="-90" dirty="0">
                <a:latin typeface="Menlo"/>
                <a:cs typeface="Menlo"/>
              </a:rPr>
              <a:t>⟩</a:t>
            </a:r>
            <a:r>
              <a:rPr sz="900" i="1" spc="-345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g</a:t>
            </a:r>
            <a:r>
              <a:rPr sz="900" i="1" spc="-10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←</a:t>
            </a:r>
            <a:r>
              <a:rPr sz="900" i="1" spc="-345" dirty="0">
                <a:latin typeface="Menlo"/>
                <a:cs typeface="Menlo"/>
              </a:rPr>
              <a:t> </a:t>
            </a:r>
            <a:r>
              <a:rPr sz="900" i="1" dirty="0">
                <a:latin typeface="Arial"/>
                <a:cs typeface="Arial"/>
              </a:rPr>
              <a:t>d</a:t>
            </a:r>
            <a:r>
              <a:rPr sz="900" i="1" spc="-45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+</a:t>
            </a:r>
            <a:r>
              <a:rPr sz="900" spc="-1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45</a:t>
            </a:r>
            <a:r>
              <a:rPr sz="900" dirty="0">
                <a:latin typeface="Arial"/>
                <a:cs typeface="Arial"/>
              </a:rPr>
              <a:t>];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i="1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made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this</a:t>
            </a:r>
            <a:r>
              <a:rPr sz="900" spc="-10" dirty="0">
                <a:latin typeface="Arial"/>
                <a:cs typeface="Arial"/>
              </a:rPr>
              <a:t> operation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permanent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(cannot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rolled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back)</a:t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69342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5" action="ppaction://hlinksldjump"/>
              </a:rPr>
              <a:t>Continuous</a:t>
            </a:r>
            <a:r>
              <a:rPr sz="500" spc="6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consistency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7994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617645" y="-1515"/>
            <a:ext cx="9372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Data-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centric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106489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Example:</a:t>
            </a:r>
            <a:r>
              <a:rPr sz="1200" spc="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Conit</a:t>
            </a:r>
            <a:endParaRPr sz="1200" dirty="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04496" y="552710"/>
            <a:ext cx="2999125" cy="181308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21894" y="2542888"/>
            <a:ext cx="3831590" cy="5575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Conit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(contains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0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variables</a:t>
            </a:r>
            <a:r>
              <a:rPr sz="10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3333B2"/>
                </a:solidFill>
                <a:latin typeface="Arial"/>
                <a:cs typeface="Arial"/>
              </a:rPr>
              <a:t>g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,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3333B2"/>
                </a:solidFill>
                <a:latin typeface="Arial"/>
                <a:cs typeface="Arial"/>
              </a:rPr>
              <a:t>p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,</a:t>
            </a:r>
            <a:r>
              <a:rPr sz="10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and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3333B2"/>
                </a:solidFill>
                <a:latin typeface="Arial"/>
                <a:cs typeface="Arial"/>
              </a:rPr>
              <a:t>d</a:t>
            </a:r>
            <a:r>
              <a:rPr sz="1000" i="1" spc="-18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50" dirty="0">
                <a:solidFill>
                  <a:srgbClr val="3333B2"/>
                </a:solidFill>
                <a:latin typeface="Arial"/>
                <a:cs typeface="Arial"/>
              </a:rPr>
              <a:t>)</a:t>
            </a:r>
            <a:endParaRPr sz="1000" dirty="0">
              <a:latin typeface="Arial"/>
              <a:cs typeface="Arial"/>
            </a:endParaRPr>
          </a:p>
          <a:p>
            <a:pPr marL="290830" indent="-120650">
              <a:lnSpc>
                <a:spcPct val="100000"/>
              </a:lnSpc>
              <a:spcBef>
                <a:spcPts val="710"/>
              </a:spcBef>
              <a:buClr>
                <a:srgbClr val="3333B2"/>
              </a:buClr>
              <a:buFont typeface="Menlo"/>
              <a:buChar char="•"/>
              <a:tabLst>
                <a:tab pos="291465" algn="l"/>
              </a:tabLst>
            </a:pPr>
            <a:r>
              <a:rPr sz="900" i="1" dirty="0">
                <a:latin typeface="Arial"/>
                <a:cs typeface="Arial"/>
              </a:rPr>
              <a:t>A</a:t>
            </a:r>
            <a:r>
              <a:rPr sz="900" i="1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three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pending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⇒</a:t>
            </a:r>
            <a:r>
              <a:rPr sz="900" i="1" spc="-295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order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deviation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3</a:t>
            </a:r>
            <a:endParaRPr sz="900" dirty="0">
              <a:latin typeface="Arial"/>
              <a:cs typeface="Arial"/>
            </a:endParaRPr>
          </a:p>
          <a:p>
            <a:pPr marL="290830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291465" algn="l"/>
              </a:tabLst>
            </a:pPr>
            <a:r>
              <a:rPr sz="900" i="1" dirty="0">
                <a:latin typeface="Arial"/>
                <a:cs typeface="Arial"/>
              </a:rPr>
              <a:t>A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missed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two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B</a:t>
            </a:r>
            <a:r>
              <a:rPr sz="900" dirty="0">
                <a:latin typeface="Arial"/>
                <a:cs typeface="Arial"/>
              </a:rPr>
              <a:t>;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max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diff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70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+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412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units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⇒</a:t>
            </a:r>
            <a:r>
              <a:rPr sz="900" i="1" spc="-295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(2</a:t>
            </a:r>
            <a:r>
              <a:rPr sz="900" i="1" dirty="0">
                <a:latin typeface="Arial"/>
                <a:cs typeface="Arial"/>
              </a:rPr>
              <a:t>,</a:t>
            </a:r>
            <a:r>
              <a:rPr sz="900" i="1" spc="-15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482)</a:t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69342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5" action="ppaction://hlinksldjump"/>
              </a:rPr>
              <a:t>Continuous</a:t>
            </a:r>
            <a:r>
              <a:rPr sz="500" spc="6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consistency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5">
            <a:extLst>
              <a:ext uri="{FF2B5EF4-FFF2-40B4-BE49-F238E27FC236}">
                <a16:creationId xmlns:a16="http://schemas.microsoft.com/office/drawing/2014/main" id="{88F2E125-BE39-49EE-0D08-5544BD4ECB44}"/>
              </a:ext>
            </a:extLst>
          </p:cNvPr>
          <p:cNvSpPr txBox="1"/>
          <p:nvPr/>
        </p:nvSpPr>
        <p:spPr>
          <a:xfrm>
            <a:off x="95300" y="197711"/>
            <a:ext cx="1447750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200" dirty="0">
                <a:solidFill>
                  <a:srgbClr val="3333B2"/>
                </a:solidFill>
                <a:latin typeface="Arial"/>
                <a:cs typeface="Arial"/>
              </a:rPr>
              <a:t>Granularity of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Conit</a:t>
            </a:r>
            <a:endParaRPr sz="1200" dirty="0">
              <a:latin typeface="Arial"/>
              <a:cs typeface="Arial"/>
            </a:endParaRPr>
          </a:p>
        </p:txBody>
      </p:sp>
      <p:grpSp>
        <p:nvGrpSpPr>
          <p:cNvPr id="3" name="object 8">
            <a:extLst>
              <a:ext uri="{FF2B5EF4-FFF2-40B4-BE49-F238E27FC236}">
                <a16:creationId xmlns:a16="http://schemas.microsoft.com/office/drawing/2014/main" id="{EB795377-4397-AFE0-9098-3CEF1FC7D6A2}"/>
              </a:ext>
            </a:extLst>
          </p:cNvPr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4" name="object 9">
              <a:extLst>
                <a:ext uri="{FF2B5EF4-FFF2-40B4-BE49-F238E27FC236}">
                  <a16:creationId xmlns:a16="http://schemas.microsoft.com/office/drawing/2014/main" id="{CEFB86C1-F5B4-F9B1-175A-7D161EAD8165}"/>
                </a:ext>
              </a:extLst>
            </p:cNvPr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10">
              <a:extLst>
                <a:ext uri="{FF2B5EF4-FFF2-40B4-BE49-F238E27FC236}">
                  <a16:creationId xmlns:a16="http://schemas.microsoft.com/office/drawing/2014/main" id="{898061AF-7FDC-5248-4E4F-E2D8EB087B6A}"/>
                </a:ext>
              </a:extLst>
            </p:cNvPr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3">
            <a:extLst>
              <a:ext uri="{FF2B5EF4-FFF2-40B4-BE49-F238E27FC236}">
                <a16:creationId xmlns:a16="http://schemas.microsoft.com/office/drawing/2014/main" id="{78FB7719-E0F0-A5CF-91C9-A1716306CE59}"/>
              </a:ext>
            </a:extLst>
          </p:cNvPr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ED11FE3-34D9-220E-ED5E-405211C51B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345" y="673400"/>
            <a:ext cx="3806759" cy="1131739"/>
          </a:xfrm>
          <a:prstGeom prst="rect">
            <a:avLst/>
          </a:prstGeom>
        </p:spPr>
      </p:pic>
      <p:sp>
        <p:nvSpPr>
          <p:cNvPr id="9" name="object 7">
            <a:extLst>
              <a:ext uri="{FF2B5EF4-FFF2-40B4-BE49-F238E27FC236}">
                <a16:creationId xmlns:a16="http://schemas.microsoft.com/office/drawing/2014/main" id="{51833408-927D-AEE9-00B9-E9BB20BEFAB4}"/>
              </a:ext>
            </a:extLst>
          </p:cNvPr>
          <p:cNvSpPr txBox="1"/>
          <p:nvPr/>
        </p:nvSpPr>
        <p:spPr>
          <a:xfrm>
            <a:off x="247650" y="1977898"/>
            <a:ext cx="3831590" cy="49949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lang="en-US" sz="1000" dirty="0">
                <a:solidFill>
                  <a:schemeClr val="tx1"/>
                </a:solidFill>
                <a:latin typeface="Arial"/>
                <a:cs typeface="Arial"/>
              </a:rPr>
              <a:t>Size of conit makes update propagation difficult.</a:t>
            </a:r>
          </a:p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lang="en-US" sz="1000" dirty="0">
                <a:solidFill>
                  <a:schemeClr val="tx1"/>
                </a:solidFill>
                <a:latin typeface="Arial"/>
                <a:cs typeface="Arial"/>
              </a:rPr>
              <a:t>Too small =&gt; performance overhead</a:t>
            </a:r>
          </a:p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lang="en-US" sz="1000" dirty="0">
                <a:solidFill>
                  <a:schemeClr val="tx1"/>
                </a:solidFill>
                <a:latin typeface="Arial"/>
                <a:cs typeface="Arial"/>
              </a:rPr>
              <a:t>Too large =&gt; update propagation delay </a:t>
            </a:r>
            <a:endParaRPr sz="9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429A338F-3612-7FAC-9704-03E7200F8DED}"/>
              </a:ext>
            </a:extLst>
          </p:cNvPr>
          <p:cNvSpPr txBox="1"/>
          <p:nvPr/>
        </p:nvSpPr>
        <p:spPr>
          <a:xfrm>
            <a:off x="53467" y="-1515"/>
            <a:ext cx="7994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replication</a:t>
            </a:r>
            <a:endParaRPr sz="5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022604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48379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Client-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centric consistency</a:t>
            </a:r>
            <a:r>
              <a:rPr sz="500" spc="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Consistency</a:t>
            </a:r>
            <a:r>
              <a:rPr spc="-60" dirty="0"/>
              <a:t> </a:t>
            </a:r>
            <a:r>
              <a:rPr dirty="0"/>
              <a:t>for</a:t>
            </a:r>
            <a:r>
              <a:rPr spc="-55" dirty="0"/>
              <a:t> </a:t>
            </a:r>
            <a:r>
              <a:rPr dirty="0"/>
              <a:t>mobile</a:t>
            </a:r>
            <a:r>
              <a:rPr spc="-55" dirty="0"/>
              <a:t> </a:t>
            </a:r>
            <a:r>
              <a:rPr spc="-10" dirty="0"/>
              <a:t>users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4594" y="472482"/>
            <a:ext cx="3821429" cy="161798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430"/>
              </a:spcBef>
            </a:pPr>
            <a:r>
              <a:rPr sz="1000" spc="-10" dirty="0">
                <a:solidFill>
                  <a:srgbClr val="4C994C"/>
                </a:solidFill>
                <a:latin typeface="Arial"/>
                <a:cs typeface="Arial"/>
              </a:rPr>
              <a:t>Example</a:t>
            </a:r>
            <a:endParaRPr sz="1000" dirty="0">
              <a:latin typeface="Arial"/>
              <a:cs typeface="Arial"/>
            </a:endParaRPr>
          </a:p>
          <a:p>
            <a:pPr marL="25400" marR="189865">
              <a:lnSpc>
                <a:spcPct val="111600"/>
              </a:lnSpc>
              <a:spcBef>
                <a:spcPts val="170"/>
              </a:spcBef>
            </a:pPr>
            <a:r>
              <a:rPr sz="900" dirty="0">
                <a:latin typeface="Arial"/>
                <a:cs typeface="Arial"/>
              </a:rPr>
              <a:t>Consider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distributed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database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you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access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through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your </a:t>
            </a:r>
            <a:r>
              <a:rPr sz="900" dirty="0">
                <a:latin typeface="Arial"/>
                <a:cs typeface="Arial"/>
              </a:rPr>
              <a:t>notebook.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Assume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your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notebook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database.</a:t>
            </a:r>
            <a:endParaRPr sz="900" dirty="0">
              <a:latin typeface="Arial"/>
              <a:cs typeface="Arial"/>
            </a:endParaRPr>
          </a:p>
          <a:p>
            <a:pPr marL="274320" indent="-116839">
              <a:lnSpc>
                <a:spcPct val="100000"/>
              </a:lnSpc>
              <a:spcBef>
                <a:spcPts val="520"/>
              </a:spcBef>
              <a:buClr>
                <a:srgbClr val="3333B2"/>
              </a:buClr>
              <a:buFont typeface="Menlo"/>
              <a:buChar char="•"/>
              <a:tabLst>
                <a:tab pos="274955" algn="l"/>
              </a:tabLst>
            </a:pPr>
            <a:r>
              <a:rPr sz="900" dirty="0">
                <a:latin typeface="Arial"/>
                <a:cs typeface="Arial"/>
              </a:rPr>
              <a:t>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location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you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access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database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updates.</a:t>
            </a:r>
            <a:endParaRPr sz="900" dirty="0">
              <a:latin typeface="Arial"/>
              <a:cs typeface="Arial"/>
            </a:endParaRPr>
          </a:p>
          <a:p>
            <a:pPr marL="278130" marR="17780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274955" algn="l"/>
              </a:tabLst>
            </a:pPr>
            <a:r>
              <a:rPr sz="900" dirty="0">
                <a:latin typeface="Arial"/>
                <a:cs typeface="Arial"/>
              </a:rPr>
              <a:t>At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location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B</a:t>
            </a:r>
            <a:r>
              <a:rPr sz="900" i="1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you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continue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your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work,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but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unless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you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access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same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location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you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detect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inconsistencies:</a:t>
            </a:r>
            <a:endParaRPr sz="900" dirty="0">
              <a:latin typeface="Arial"/>
              <a:cs typeface="Arial"/>
            </a:endParaRPr>
          </a:p>
          <a:p>
            <a:pPr marL="531495" lvl="1" indent="-121285">
              <a:lnSpc>
                <a:spcPct val="100000"/>
              </a:lnSpc>
              <a:spcBef>
                <a:spcPts val="525"/>
              </a:spcBef>
              <a:buClr>
                <a:srgbClr val="264C26"/>
              </a:buClr>
              <a:buFont typeface="Menlo"/>
              <a:buChar char="•"/>
              <a:tabLst>
                <a:tab pos="532130" algn="l"/>
              </a:tabLst>
            </a:pPr>
            <a:r>
              <a:rPr sz="900" dirty="0">
                <a:latin typeface="Arial"/>
                <a:cs typeface="Arial"/>
              </a:rPr>
              <a:t>your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yet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been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propagated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spc="-50" dirty="0">
                <a:latin typeface="Arial"/>
                <a:cs typeface="Arial"/>
              </a:rPr>
              <a:t>B</a:t>
            </a:r>
            <a:endParaRPr sz="900" dirty="0">
              <a:latin typeface="Arial"/>
              <a:cs typeface="Arial"/>
            </a:endParaRPr>
          </a:p>
          <a:p>
            <a:pPr marL="531495" lvl="1" indent="-121285">
              <a:lnSpc>
                <a:spcPct val="100000"/>
              </a:lnSpc>
              <a:spcBef>
                <a:spcPts val="125"/>
              </a:spcBef>
              <a:buClr>
                <a:srgbClr val="264C26"/>
              </a:buClr>
              <a:buFont typeface="Menlo"/>
              <a:buChar char="•"/>
              <a:tabLst>
                <a:tab pos="532130" algn="l"/>
              </a:tabLst>
            </a:pPr>
            <a:r>
              <a:rPr sz="900" dirty="0">
                <a:latin typeface="Arial"/>
                <a:cs typeface="Arial"/>
              </a:rPr>
              <a:t>you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newer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entries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available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spc="-50" dirty="0">
                <a:latin typeface="Arial"/>
                <a:cs typeface="Arial"/>
              </a:rPr>
              <a:t>A</a:t>
            </a:r>
            <a:endParaRPr sz="900" dirty="0">
              <a:latin typeface="Arial"/>
              <a:cs typeface="Arial"/>
            </a:endParaRPr>
          </a:p>
          <a:p>
            <a:pPr marL="531495" lvl="1" indent="-121285">
              <a:lnSpc>
                <a:spcPct val="100000"/>
              </a:lnSpc>
              <a:spcBef>
                <a:spcPts val="125"/>
              </a:spcBef>
              <a:buClr>
                <a:srgbClr val="264C26"/>
              </a:buClr>
              <a:buFont typeface="Menlo"/>
              <a:buChar char="•"/>
              <a:tabLst>
                <a:tab pos="532130" algn="l"/>
              </a:tabLst>
            </a:pPr>
            <a:r>
              <a:rPr sz="900" dirty="0">
                <a:latin typeface="Arial"/>
                <a:cs typeface="Arial"/>
              </a:rPr>
              <a:t>your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B</a:t>
            </a:r>
            <a:r>
              <a:rPr sz="900" i="1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eventually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conflict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those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-50" dirty="0">
                <a:latin typeface="Arial"/>
                <a:cs typeface="Arial"/>
              </a:rPr>
              <a:t>A</a:t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48379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Client-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centric consistency</a:t>
            </a:r>
            <a:r>
              <a:rPr sz="500" spc="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Consistency</a:t>
            </a:r>
            <a:r>
              <a:rPr spc="-60" dirty="0"/>
              <a:t> </a:t>
            </a:r>
            <a:r>
              <a:rPr dirty="0"/>
              <a:t>for</a:t>
            </a:r>
            <a:r>
              <a:rPr spc="-55" dirty="0"/>
              <a:t> </a:t>
            </a:r>
            <a:r>
              <a:rPr dirty="0"/>
              <a:t>mobile</a:t>
            </a:r>
            <a:r>
              <a:rPr spc="-55" dirty="0"/>
              <a:t> </a:t>
            </a:r>
            <a:r>
              <a:rPr spc="-10" dirty="0"/>
              <a:t>users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21894" y="472482"/>
            <a:ext cx="3967479" cy="240538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0"/>
              </a:spcBef>
            </a:pPr>
            <a:r>
              <a:rPr sz="1000" spc="-10" dirty="0">
                <a:solidFill>
                  <a:srgbClr val="4C994C"/>
                </a:solidFill>
                <a:latin typeface="Arial"/>
                <a:cs typeface="Arial"/>
              </a:rPr>
              <a:t>Example</a:t>
            </a:r>
            <a:endParaRPr sz="1000">
              <a:latin typeface="Arial"/>
              <a:cs typeface="Arial"/>
            </a:endParaRPr>
          </a:p>
          <a:p>
            <a:pPr marL="38100" marR="323850">
              <a:lnSpc>
                <a:spcPct val="111600"/>
              </a:lnSpc>
              <a:spcBef>
                <a:spcPts val="170"/>
              </a:spcBef>
            </a:pPr>
            <a:r>
              <a:rPr sz="900" dirty="0">
                <a:latin typeface="Arial"/>
                <a:cs typeface="Arial"/>
              </a:rPr>
              <a:t>Consider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distributed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database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you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access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through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your </a:t>
            </a:r>
            <a:r>
              <a:rPr sz="900" dirty="0">
                <a:latin typeface="Arial"/>
                <a:cs typeface="Arial"/>
              </a:rPr>
              <a:t>notebook.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Assume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your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notebook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database.</a:t>
            </a:r>
            <a:endParaRPr sz="900">
              <a:latin typeface="Arial"/>
              <a:cs typeface="Arial"/>
            </a:endParaRPr>
          </a:p>
          <a:p>
            <a:pPr marL="287020" indent="-116839">
              <a:lnSpc>
                <a:spcPct val="100000"/>
              </a:lnSpc>
              <a:spcBef>
                <a:spcPts val="520"/>
              </a:spcBef>
              <a:buClr>
                <a:srgbClr val="3333B2"/>
              </a:buClr>
              <a:buFont typeface="Menlo"/>
              <a:buChar char="•"/>
              <a:tabLst>
                <a:tab pos="287655" algn="l"/>
              </a:tabLst>
            </a:pPr>
            <a:r>
              <a:rPr sz="900" dirty="0">
                <a:latin typeface="Arial"/>
                <a:cs typeface="Arial"/>
              </a:rPr>
              <a:t>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location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you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access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database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updates.</a:t>
            </a:r>
            <a:endParaRPr sz="900">
              <a:latin typeface="Arial"/>
              <a:cs typeface="Arial"/>
            </a:endParaRPr>
          </a:p>
          <a:p>
            <a:pPr marL="290830" marR="151130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287655" algn="l"/>
              </a:tabLst>
            </a:pPr>
            <a:r>
              <a:rPr sz="900" dirty="0">
                <a:latin typeface="Arial"/>
                <a:cs typeface="Arial"/>
              </a:rPr>
              <a:t>At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location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B</a:t>
            </a:r>
            <a:r>
              <a:rPr sz="900" i="1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you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continue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your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work,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but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unless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you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access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same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location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you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detect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inconsistencies:</a:t>
            </a:r>
            <a:endParaRPr sz="900">
              <a:latin typeface="Arial"/>
              <a:cs typeface="Arial"/>
            </a:endParaRPr>
          </a:p>
          <a:p>
            <a:pPr marL="544195" lvl="1" indent="-121285">
              <a:lnSpc>
                <a:spcPct val="100000"/>
              </a:lnSpc>
              <a:spcBef>
                <a:spcPts val="525"/>
              </a:spcBef>
              <a:buClr>
                <a:srgbClr val="264C26"/>
              </a:buClr>
              <a:buFont typeface="Menlo"/>
              <a:buChar char="•"/>
              <a:tabLst>
                <a:tab pos="544830" algn="l"/>
              </a:tabLst>
            </a:pPr>
            <a:r>
              <a:rPr sz="900" dirty="0">
                <a:latin typeface="Arial"/>
                <a:cs typeface="Arial"/>
              </a:rPr>
              <a:t>your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yet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been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propagated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spc="-50" dirty="0">
                <a:latin typeface="Arial"/>
                <a:cs typeface="Arial"/>
              </a:rPr>
              <a:t>B</a:t>
            </a:r>
            <a:endParaRPr sz="900">
              <a:latin typeface="Arial"/>
              <a:cs typeface="Arial"/>
            </a:endParaRPr>
          </a:p>
          <a:p>
            <a:pPr marL="544195" lvl="1" indent="-121285">
              <a:lnSpc>
                <a:spcPct val="100000"/>
              </a:lnSpc>
              <a:spcBef>
                <a:spcPts val="125"/>
              </a:spcBef>
              <a:buClr>
                <a:srgbClr val="264C26"/>
              </a:buClr>
              <a:buFont typeface="Menlo"/>
              <a:buChar char="•"/>
              <a:tabLst>
                <a:tab pos="544830" algn="l"/>
              </a:tabLst>
            </a:pPr>
            <a:r>
              <a:rPr sz="900" dirty="0">
                <a:latin typeface="Arial"/>
                <a:cs typeface="Arial"/>
              </a:rPr>
              <a:t>you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newer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entries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available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spc="-50" dirty="0">
                <a:latin typeface="Arial"/>
                <a:cs typeface="Arial"/>
              </a:rPr>
              <a:t>A</a:t>
            </a:r>
            <a:endParaRPr sz="900">
              <a:latin typeface="Arial"/>
              <a:cs typeface="Arial"/>
            </a:endParaRPr>
          </a:p>
          <a:p>
            <a:pPr marL="544195" lvl="1" indent="-121285">
              <a:lnSpc>
                <a:spcPct val="100000"/>
              </a:lnSpc>
              <a:spcBef>
                <a:spcPts val="125"/>
              </a:spcBef>
              <a:buClr>
                <a:srgbClr val="264C26"/>
              </a:buClr>
              <a:buFont typeface="Menlo"/>
              <a:buChar char="•"/>
              <a:tabLst>
                <a:tab pos="544830" algn="l"/>
              </a:tabLst>
            </a:pPr>
            <a:r>
              <a:rPr sz="900" dirty="0">
                <a:latin typeface="Arial"/>
                <a:cs typeface="Arial"/>
              </a:rPr>
              <a:t>your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B</a:t>
            </a:r>
            <a:r>
              <a:rPr sz="900" i="1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eventually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conflict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those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-50" dirty="0">
                <a:latin typeface="Arial"/>
                <a:cs typeface="Arial"/>
              </a:rPr>
              <a:t>A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</a:pPr>
            <a:r>
              <a:rPr sz="1000" spc="-20" dirty="0">
                <a:solidFill>
                  <a:srgbClr val="C80000"/>
                </a:solidFill>
                <a:latin typeface="Arial"/>
                <a:cs typeface="Arial"/>
              </a:rPr>
              <a:t>Note</a:t>
            </a:r>
            <a:endParaRPr sz="1000">
              <a:latin typeface="Arial"/>
              <a:cs typeface="Arial"/>
            </a:endParaRPr>
          </a:p>
          <a:p>
            <a:pPr marL="38100" marR="17780" indent="-3810" algn="just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only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thing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you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really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want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entries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you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updated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and/or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i="1" spc="-25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,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B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30" dirty="0">
                <a:latin typeface="Arial"/>
                <a:cs typeface="Arial"/>
              </a:rPr>
              <a:t>way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you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left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them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dirty="0">
                <a:latin typeface="Arial"/>
                <a:cs typeface="Arial"/>
              </a:rPr>
              <a:t>.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case,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database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will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appear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be </a:t>
            </a:r>
            <a:r>
              <a:rPr sz="900" dirty="0">
                <a:latin typeface="Arial"/>
                <a:cs typeface="Arial"/>
              </a:rPr>
              <a:t>consistent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to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you</a:t>
            </a:r>
            <a:r>
              <a:rPr sz="900" spc="-2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48379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Client-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centric consistency</a:t>
            </a:r>
            <a:r>
              <a:rPr sz="500" spc="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Basic</a:t>
            </a:r>
            <a:r>
              <a:rPr spc="-35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382" y="465487"/>
            <a:ext cx="3490595" cy="360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5080" indent="-4445">
              <a:lnSpc>
                <a:spcPct val="109600"/>
              </a:lnSpc>
              <a:spcBef>
                <a:spcPts val="100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principle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mobile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user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accessing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different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replicas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50" dirty="0">
                <a:solidFill>
                  <a:srgbClr val="3333B2"/>
                </a:solidFill>
                <a:latin typeface="Arial"/>
                <a:cs typeface="Arial"/>
              </a:rPr>
              <a:t>a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distributed</a:t>
            </a:r>
            <a:r>
              <a:rPr sz="1000" spc="-6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database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7936" y="910835"/>
            <a:ext cx="3374806" cy="2062396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48379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Client-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centric consistency</a:t>
            </a:r>
            <a:r>
              <a:rPr sz="500" spc="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Client-</a:t>
            </a:r>
            <a:r>
              <a:rPr dirty="0"/>
              <a:t>centric</a:t>
            </a:r>
            <a:r>
              <a:rPr spc="-30" dirty="0"/>
              <a:t> </a:t>
            </a:r>
            <a:r>
              <a:rPr dirty="0"/>
              <a:t>consistency:</a:t>
            </a:r>
            <a:r>
              <a:rPr spc="45" dirty="0"/>
              <a:t> </a:t>
            </a:r>
            <a:r>
              <a:rPr spc="-10" dirty="0"/>
              <a:t>notation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4594" y="443244"/>
            <a:ext cx="3914775" cy="1010919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660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Notations</a:t>
            </a:r>
            <a:endParaRPr sz="1000">
              <a:latin typeface="Arial"/>
              <a:cs typeface="Arial"/>
            </a:endParaRPr>
          </a:p>
          <a:p>
            <a:pPr marL="278130" indent="-120650">
              <a:lnSpc>
                <a:spcPct val="100000"/>
              </a:lnSpc>
              <a:spcBef>
                <a:spcPts val="500"/>
              </a:spcBef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i="1" dirty="0">
                <a:solidFill>
                  <a:srgbClr val="C80000"/>
                </a:solidFill>
                <a:latin typeface="Arial"/>
                <a:cs typeface="Arial"/>
              </a:rPr>
              <a:t>W</a:t>
            </a:r>
            <a:r>
              <a:rPr sz="1050" i="1" baseline="-15873" dirty="0">
                <a:solidFill>
                  <a:srgbClr val="C80000"/>
                </a:solidFill>
                <a:latin typeface="Arial"/>
                <a:cs typeface="Arial"/>
              </a:rPr>
              <a:t>1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(</a:t>
            </a:r>
            <a:r>
              <a:rPr sz="900" i="1" dirty="0">
                <a:solidFill>
                  <a:srgbClr val="C80000"/>
                </a:solidFill>
                <a:latin typeface="Arial"/>
                <a:cs typeface="Arial"/>
              </a:rPr>
              <a:t>x</a:t>
            </a:r>
            <a:r>
              <a:rPr sz="1050" i="1" baseline="-15873" dirty="0">
                <a:solidFill>
                  <a:srgbClr val="C80000"/>
                </a:solidFill>
                <a:latin typeface="Arial"/>
                <a:cs typeface="Arial"/>
              </a:rPr>
              <a:t>2</a:t>
            </a:r>
            <a:r>
              <a:rPr sz="1050" i="1" spc="-157" baseline="-15873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55" dirty="0">
                <a:solidFill>
                  <a:srgbClr val="C80000"/>
                </a:solidFill>
                <a:latin typeface="Arial"/>
                <a:cs typeface="Arial"/>
              </a:rPr>
              <a:t>)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1050" i="1" baseline="-15873" dirty="0">
                <a:latin typeface="Arial"/>
                <a:cs typeface="Arial"/>
              </a:rPr>
              <a:t>1</a:t>
            </a:r>
            <a:r>
              <a:rPr sz="1050" i="1" spc="127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leads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version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1050" i="1" baseline="-15873" dirty="0">
                <a:latin typeface="Arial"/>
                <a:cs typeface="Arial"/>
              </a:rPr>
              <a:t>2</a:t>
            </a:r>
            <a:r>
              <a:rPr sz="1050" i="1" spc="179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spc="-50" dirty="0">
                <a:latin typeface="Arial"/>
                <a:cs typeface="Arial"/>
              </a:rPr>
              <a:t>x</a:t>
            </a:r>
            <a:endParaRPr sz="900">
              <a:latin typeface="Arial"/>
              <a:cs typeface="Arial"/>
            </a:endParaRPr>
          </a:p>
          <a:p>
            <a:pPr marL="278130" indent="-1206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i="1" dirty="0">
                <a:solidFill>
                  <a:srgbClr val="C80000"/>
                </a:solidFill>
                <a:latin typeface="Arial"/>
                <a:cs typeface="Arial"/>
              </a:rPr>
              <a:t>W</a:t>
            </a:r>
            <a:r>
              <a:rPr sz="1050" i="1" baseline="-15873" dirty="0">
                <a:solidFill>
                  <a:srgbClr val="C80000"/>
                </a:solidFill>
                <a:latin typeface="Arial"/>
                <a:cs typeface="Arial"/>
              </a:rPr>
              <a:t>1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(</a:t>
            </a:r>
            <a:r>
              <a:rPr sz="900" i="1" dirty="0">
                <a:solidFill>
                  <a:srgbClr val="C80000"/>
                </a:solidFill>
                <a:latin typeface="Arial"/>
                <a:cs typeface="Arial"/>
              </a:rPr>
              <a:t>x</a:t>
            </a:r>
            <a:r>
              <a:rPr sz="1050" i="1" baseline="-15873" dirty="0">
                <a:solidFill>
                  <a:srgbClr val="C80000"/>
                </a:solidFill>
                <a:latin typeface="Arial"/>
                <a:cs typeface="Arial"/>
              </a:rPr>
              <a:t>i</a:t>
            </a:r>
            <a:r>
              <a:rPr sz="1050" i="1" spc="-127" baseline="-15873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;</a:t>
            </a:r>
            <a:r>
              <a:rPr sz="900" spc="-15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C80000"/>
                </a:solidFill>
                <a:latin typeface="Arial"/>
                <a:cs typeface="Arial"/>
              </a:rPr>
              <a:t>x</a:t>
            </a:r>
            <a:r>
              <a:rPr sz="1050" i="1" spc="-15" baseline="-15873" dirty="0">
                <a:solidFill>
                  <a:srgbClr val="C80000"/>
                </a:solidFill>
                <a:latin typeface="Arial"/>
                <a:cs typeface="Arial"/>
              </a:rPr>
              <a:t>j</a:t>
            </a:r>
            <a:r>
              <a:rPr sz="1050" i="1" spc="-127" baseline="-15873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55" dirty="0">
                <a:solidFill>
                  <a:srgbClr val="C80000"/>
                </a:solidFill>
                <a:latin typeface="Arial"/>
                <a:cs typeface="Arial"/>
              </a:rPr>
              <a:t>)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indicates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1050" i="1" baseline="-15873" dirty="0">
                <a:latin typeface="Arial"/>
                <a:cs typeface="Arial"/>
              </a:rPr>
              <a:t>1</a:t>
            </a:r>
            <a:r>
              <a:rPr sz="1050" i="1" spc="135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produces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version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1050" i="1" baseline="-15873" dirty="0">
                <a:latin typeface="Arial"/>
                <a:cs typeface="Arial"/>
              </a:rPr>
              <a:t>j</a:t>
            </a:r>
            <a:r>
              <a:rPr sz="1050" i="1" spc="232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based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0" dirty="0">
                <a:latin typeface="Arial"/>
                <a:cs typeface="Arial"/>
              </a:rPr>
              <a:t> previous version</a:t>
            </a:r>
            <a:endParaRPr sz="900">
              <a:latin typeface="Arial"/>
              <a:cs typeface="Arial"/>
            </a:endParaRPr>
          </a:p>
          <a:p>
            <a:pPr marL="278130">
              <a:lnSpc>
                <a:spcPct val="100000"/>
              </a:lnSpc>
              <a:spcBef>
                <a:spcPts val="125"/>
              </a:spcBef>
            </a:pPr>
            <a:r>
              <a:rPr sz="900" i="1" spc="-10" dirty="0">
                <a:latin typeface="Arial"/>
                <a:cs typeface="Arial"/>
              </a:rPr>
              <a:t>x</a:t>
            </a:r>
            <a:r>
              <a:rPr sz="1050" i="1" spc="-15" baseline="-15873" dirty="0">
                <a:latin typeface="Arial"/>
                <a:cs typeface="Arial"/>
              </a:rPr>
              <a:t>i</a:t>
            </a:r>
            <a:r>
              <a:rPr sz="1050" i="1" spc="-112" baseline="-15873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78130" indent="-1206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i="1" dirty="0">
                <a:solidFill>
                  <a:srgbClr val="C80000"/>
                </a:solidFill>
                <a:latin typeface="Arial"/>
                <a:cs typeface="Arial"/>
              </a:rPr>
              <a:t>W</a:t>
            </a:r>
            <a:r>
              <a:rPr sz="1050" i="1" baseline="-15873" dirty="0">
                <a:solidFill>
                  <a:srgbClr val="C80000"/>
                </a:solidFill>
                <a:latin typeface="Arial"/>
                <a:cs typeface="Arial"/>
              </a:rPr>
              <a:t>1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(</a:t>
            </a:r>
            <a:r>
              <a:rPr sz="900" i="1" dirty="0">
                <a:solidFill>
                  <a:srgbClr val="C80000"/>
                </a:solidFill>
                <a:latin typeface="Arial"/>
                <a:cs typeface="Arial"/>
              </a:rPr>
              <a:t>x</a:t>
            </a:r>
            <a:r>
              <a:rPr sz="1050" i="1" baseline="-15873" dirty="0">
                <a:solidFill>
                  <a:srgbClr val="C80000"/>
                </a:solidFill>
                <a:latin typeface="Arial"/>
                <a:cs typeface="Arial"/>
              </a:rPr>
              <a:t>i</a:t>
            </a:r>
            <a:r>
              <a:rPr sz="1050" i="1" spc="-127" baseline="-15873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i="1" spc="-110" dirty="0">
                <a:solidFill>
                  <a:srgbClr val="C80000"/>
                </a:solidFill>
                <a:latin typeface="Menlo"/>
                <a:cs typeface="Menlo"/>
              </a:rPr>
              <a:t>|</a:t>
            </a:r>
            <a:r>
              <a:rPr sz="900" i="1" spc="-110" dirty="0">
                <a:solidFill>
                  <a:srgbClr val="C80000"/>
                </a:solidFill>
                <a:latin typeface="Arial"/>
                <a:cs typeface="Arial"/>
              </a:rPr>
              <a:t>x</a:t>
            </a:r>
            <a:r>
              <a:rPr sz="1050" i="1" spc="-165" baseline="-15873" dirty="0">
                <a:solidFill>
                  <a:srgbClr val="C80000"/>
                </a:solidFill>
                <a:latin typeface="Arial"/>
                <a:cs typeface="Arial"/>
              </a:rPr>
              <a:t>j</a:t>
            </a:r>
            <a:r>
              <a:rPr sz="1050" i="1" spc="-127" baseline="-15873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55" dirty="0">
                <a:solidFill>
                  <a:srgbClr val="C80000"/>
                </a:solidFill>
                <a:latin typeface="Arial"/>
                <a:cs typeface="Arial"/>
              </a:rPr>
              <a:t>)</a:t>
            </a:r>
            <a:r>
              <a:rPr sz="900" spc="-3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indicates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1050" i="1" baseline="-15873" dirty="0">
                <a:latin typeface="Arial"/>
                <a:cs typeface="Arial"/>
              </a:rPr>
              <a:t>1</a:t>
            </a:r>
            <a:r>
              <a:rPr sz="1050" i="1" spc="135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produces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version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1050" i="1" baseline="-15873" dirty="0">
                <a:latin typeface="Arial"/>
                <a:cs typeface="Arial"/>
              </a:rPr>
              <a:t>j</a:t>
            </a:r>
            <a:r>
              <a:rPr sz="1050" i="1" spc="209" baseline="-15873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concurrently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version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x</a:t>
            </a:r>
            <a:r>
              <a:rPr sz="1050" i="1" spc="-15" baseline="-15873" dirty="0">
                <a:latin typeface="Arial"/>
                <a:cs typeface="Arial"/>
              </a:rPr>
              <a:t>i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49339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Monotonic</a:t>
            </a:r>
            <a:r>
              <a:rPr sz="500" spc="-3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reads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48379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Client-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centric consistency</a:t>
            </a:r>
            <a:r>
              <a:rPr sz="500" spc="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Monotonic</a:t>
            </a:r>
            <a:r>
              <a:rPr spc="-65" dirty="0"/>
              <a:t> </a:t>
            </a:r>
            <a:r>
              <a:rPr spc="-10" dirty="0"/>
              <a:t>reads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204" y="472482"/>
            <a:ext cx="3895725" cy="143700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430"/>
              </a:spcBef>
            </a:pPr>
            <a:r>
              <a:rPr sz="1000" spc="-10" dirty="0">
                <a:solidFill>
                  <a:srgbClr val="4C994C"/>
                </a:solidFill>
                <a:latin typeface="Arial"/>
                <a:cs typeface="Arial"/>
              </a:rPr>
              <a:t>Example</a:t>
            </a:r>
            <a:endParaRPr sz="1000">
              <a:latin typeface="Arial"/>
              <a:cs typeface="Arial"/>
            </a:endParaRPr>
          </a:p>
          <a:p>
            <a:pPr marL="12700" marR="30480">
              <a:lnSpc>
                <a:spcPct val="111600"/>
              </a:lnSpc>
              <a:spcBef>
                <a:spcPts val="170"/>
              </a:spcBef>
            </a:pPr>
            <a:r>
              <a:rPr sz="900" spc="-10" dirty="0">
                <a:latin typeface="Arial"/>
                <a:cs typeface="Arial"/>
              </a:rPr>
              <a:t>Automatically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your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personal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calendar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different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servers. </a:t>
            </a:r>
            <a:r>
              <a:rPr sz="900" dirty="0">
                <a:latin typeface="Arial"/>
                <a:cs typeface="Arial"/>
              </a:rPr>
              <a:t>Monotonic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guarantees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updates,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matter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from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automatic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takes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place.</a:t>
            </a:r>
            <a:endParaRPr sz="90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810"/>
              </a:spcBef>
            </a:pPr>
            <a:r>
              <a:rPr sz="1000" spc="-10" dirty="0">
                <a:solidFill>
                  <a:srgbClr val="4C994C"/>
                </a:solidFill>
                <a:latin typeface="Arial"/>
                <a:cs typeface="Arial"/>
              </a:rPr>
              <a:t>Example</a:t>
            </a:r>
            <a:endParaRPr sz="1000">
              <a:latin typeface="Arial"/>
              <a:cs typeface="Arial"/>
            </a:endParaRPr>
          </a:p>
          <a:p>
            <a:pPr marL="16510" marR="5080">
              <a:lnSpc>
                <a:spcPct val="111600"/>
              </a:lnSpc>
              <a:spcBef>
                <a:spcPts val="170"/>
              </a:spcBef>
            </a:pPr>
            <a:r>
              <a:rPr sz="900" dirty="0">
                <a:latin typeface="Arial"/>
                <a:cs typeface="Arial"/>
              </a:rPr>
              <a:t>Reading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(not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modifying)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incoming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mail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while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you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move.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Each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time </a:t>
            </a:r>
            <a:r>
              <a:rPr sz="900" dirty="0">
                <a:latin typeface="Arial"/>
                <a:cs typeface="Arial"/>
              </a:rPr>
              <a:t>you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connect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different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e-</a:t>
            </a:r>
            <a:r>
              <a:rPr sz="900" dirty="0">
                <a:latin typeface="Arial"/>
                <a:cs typeface="Arial"/>
              </a:rPr>
              <a:t>mail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server,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fetches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(at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least)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the </a:t>
            </a:r>
            <a:r>
              <a:rPr sz="900" dirty="0">
                <a:latin typeface="Arial"/>
                <a:cs typeface="Arial"/>
              </a:rPr>
              <a:t>updates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you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previously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visited.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49339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Monotonic</a:t>
            </a:r>
            <a:r>
              <a:rPr sz="500" spc="-3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reads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48379" algn="l"/>
              </a:tabLst>
            </a:pPr>
            <a:r>
              <a:rPr sz="500" dirty="0"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4" action="ppaction://hlinksldjump"/>
              </a:rPr>
              <a:t>Client-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4" action="ppaction://hlinksldjump"/>
              </a:rPr>
              <a:t>centric consistency</a:t>
            </a:r>
            <a:r>
              <a:rPr sz="500" spc="5" dirty="0">
                <a:solidFill>
                  <a:srgbClr val="FFFFFF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4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Monotonic</a:t>
            </a:r>
            <a:r>
              <a:rPr spc="-65" dirty="0"/>
              <a:t> </a:t>
            </a:r>
            <a:r>
              <a:rPr spc="-10" dirty="0"/>
              <a:t>reads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7294" y="499476"/>
            <a:ext cx="3913504" cy="49657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Definition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latin typeface="Arial"/>
                <a:cs typeface="Arial"/>
              </a:rPr>
              <a:t>If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process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reads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value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data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item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spc="-20" dirty="0">
                <a:latin typeface="Arial"/>
                <a:cs typeface="Arial"/>
              </a:rPr>
              <a:t>x</a:t>
            </a:r>
            <a:r>
              <a:rPr sz="900" i="1" spc="-17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any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successive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read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operation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on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00" i="1" dirty="0">
                <a:latin typeface="Arial"/>
                <a:cs typeface="Arial"/>
              </a:rPr>
              <a:t>x</a:t>
            </a:r>
            <a:r>
              <a:rPr sz="900" i="1" spc="5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will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always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return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same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recent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value.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65179" y="1131850"/>
            <a:ext cx="1717261" cy="33883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98905" y="1516870"/>
            <a:ext cx="200660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monotonic-</a:t>
            </a:r>
            <a:r>
              <a:rPr sz="900" dirty="0">
                <a:latin typeface="Arial"/>
                <a:cs typeface="Arial"/>
              </a:rPr>
              <a:t>read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consistent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store</a:t>
            </a:r>
            <a:endParaRPr sz="9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65179" y="1969898"/>
            <a:ext cx="1717261" cy="33883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99032" y="2354917"/>
            <a:ext cx="260667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store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provide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monotonic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reads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0" name="object 10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3467" y="3349927"/>
            <a:ext cx="49339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7" action="ppaction://hlinksldjump"/>
              </a:rPr>
              <a:t>Monotonic</a:t>
            </a:r>
            <a:r>
              <a:rPr sz="500" spc="-30" dirty="0">
                <a:latin typeface="Arial"/>
                <a:cs typeface="Arial"/>
                <a:hlinkClick r:id="rId7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7" action="ppaction://hlinksldjump"/>
              </a:rPr>
              <a:t>reads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48379" algn="l"/>
              </a:tabLst>
            </a:pPr>
            <a:r>
              <a:rPr sz="500" dirty="0"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4" action="ppaction://hlinksldjump"/>
              </a:rPr>
              <a:t>Client-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4" action="ppaction://hlinksldjump"/>
              </a:rPr>
              <a:t>centric consistency</a:t>
            </a:r>
            <a:r>
              <a:rPr sz="500" spc="5" dirty="0">
                <a:solidFill>
                  <a:srgbClr val="FFFFFF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4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Monotonic</a:t>
            </a:r>
            <a:r>
              <a:rPr spc="-65" dirty="0"/>
              <a:t> </a:t>
            </a:r>
            <a:r>
              <a:rPr spc="-10" dirty="0"/>
              <a:t>writes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0847" y="472482"/>
            <a:ext cx="3926204" cy="128397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430"/>
              </a:spcBef>
            </a:pPr>
            <a:r>
              <a:rPr sz="1000" spc="-10" dirty="0">
                <a:solidFill>
                  <a:srgbClr val="4C994C"/>
                </a:solidFill>
                <a:latin typeface="Arial"/>
                <a:cs typeface="Arial"/>
              </a:rPr>
              <a:t>Example</a:t>
            </a:r>
            <a:endParaRPr sz="1000">
              <a:latin typeface="Arial"/>
              <a:cs typeface="Arial"/>
            </a:endParaRPr>
          </a:p>
          <a:p>
            <a:pPr marL="28575" marR="17780">
              <a:lnSpc>
                <a:spcPct val="111600"/>
              </a:lnSpc>
              <a:spcBef>
                <a:spcPts val="170"/>
              </a:spcBef>
            </a:pPr>
            <a:r>
              <a:rPr sz="900" dirty="0">
                <a:latin typeface="Arial"/>
                <a:cs typeface="Arial"/>
              </a:rPr>
              <a:t>Updating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program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S</a:t>
            </a:r>
            <a:r>
              <a:rPr sz="1050" i="1" spc="-15" baseline="-15873" dirty="0">
                <a:latin typeface="Arial"/>
                <a:cs typeface="Arial"/>
              </a:rPr>
              <a:t>2</a:t>
            </a:r>
            <a:r>
              <a:rPr sz="1050" i="1" spc="-157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ensuring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components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which </a:t>
            </a:r>
            <a:r>
              <a:rPr sz="900" dirty="0">
                <a:latin typeface="Arial"/>
                <a:cs typeface="Arial"/>
              </a:rPr>
              <a:t>compilation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linking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depends,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also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placed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S</a:t>
            </a:r>
            <a:r>
              <a:rPr sz="1050" i="1" spc="-15" baseline="-15873" dirty="0">
                <a:latin typeface="Arial"/>
                <a:cs typeface="Arial"/>
              </a:rPr>
              <a:t>2</a:t>
            </a:r>
            <a:r>
              <a:rPr sz="1050" i="1" spc="-157" baseline="-15873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  <a:spcBef>
                <a:spcPts val="810"/>
              </a:spcBef>
            </a:pPr>
            <a:r>
              <a:rPr sz="1000" spc="-10" dirty="0">
                <a:solidFill>
                  <a:srgbClr val="4C994C"/>
                </a:solidFill>
                <a:latin typeface="Arial"/>
                <a:cs typeface="Arial"/>
              </a:rPr>
              <a:t>Example</a:t>
            </a:r>
            <a:endParaRPr sz="1000">
              <a:latin typeface="Arial"/>
              <a:cs typeface="Arial"/>
            </a:endParaRPr>
          </a:p>
          <a:p>
            <a:pPr marL="25400" marR="201930" indent="3175">
              <a:lnSpc>
                <a:spcPct val="111600"/>
              </a:lnSpc>
              <a:spcBef>
                <a:spcPts val="170"/>
              </a:spcBef>
            </a:pPr>
            <a:r>
              <a:rPr sz="900" dirty="0">
                <a:latin typeface="Arial"/>
                <a:cs typeface="Arial"/>
              </a:rPr>
              <a:t>Maintaining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versions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replicated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files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correct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order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everywhere </a:t>
            </a:r>
            <a:r>
              <a:rPr sz="900" dirty="0">
                <a:latin typeface="Arial"/>
                <a:cs typeface="Arial"/>
              </a:rPr>
              <a:t>(propagate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previous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version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newest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version</a:t>
            </a:r>
            <a:r>
              <a:rPr sz="900" spc="-25" dirty="0">
                <a:latin typeface="Arial"/>
                <a:cs typeface="Arial"/>
              </a:rPr>
              <a:t> is </a:t>
            </a:r>
            <a:r>
              <a:rPr sz="900" spc="-10" dirty="0">
                <a:latin typeface="Arial"/>
                <a:cs typeface="Arial"/>
              </a:rPr>
              <a:t>installed).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50101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5" action="ppaction://hlinksldjump"/>
              </a:rPr>
              <a:t>Monotonic</a:t>
            </a:r>
            <a:r>
              <a:rPr sz="500" spc="-3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writes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48379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Client-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centric consistency</a:t>
            </a:r>
            <a:r>
              <a:rPr sz="500" spc="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Monotonic</a:t>
            </a:r>
            <a:r>
              <a:rPr spc="-65" dirty="0"/>
              <a:t> </a:t>
            </a:r>
            <a:r>
              <a:rPr spc="-10" dirty="0"/>
              <a:t>writes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547" y="499476"/>
            <a:ext cx="3643629" cy="49657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Definition</a:t>
            </a:r>
            <a:endParaRPr sz="1000">
              <a:latin typeface="Arial"/>
              <a:cs typeface="Arial"/>
            </a:endParaRPr>
          </a:p>
          <a:p>
            <a:pPr marL="15875" marR="5080" indent="-381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item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spc="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completed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before</a:t>
            </a:r>
            <a:r>
              <a:rPr sz="900" spc="-25" dirty="0">
                <a:latin typeface="Arial"/>
                <a:cs typeface="Arial"/>
              </a:rPr>
              <a:t> any </a:t>
            </a:r>
            <a:r>
              <a:rPr sz="900" spc="-10" dirty="0">
                <a:latin typeface="Arial"/>
                <a:cs typeface="Arial"/>
              </a:rPr>
              <a:t>successive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spc="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same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process.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4320" y="1246658"/>
            <a:ext cx="1717261" cy="33883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20599" y="1246658"/>
            <a:ext cx="1717261" cy="33883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178166" y="1659516"/>
            <a:ext cx="19050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25" dirty="0">
                <a:latin typeface="Arial"/>
                <a:cs typeface="Arial"/>
              </a:rPr>
              <a:t>OK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59997" y="1659516"/>
            <a:ext cx="39941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Arial"/>
                <a:cs typeface="Arial"/>
              </a:rPr>
              <a:t>Not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OK</a:t>
            </a:r>
            <a:endParaRPr sz="9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34320" y="2173428"/>
            <a:ext cx="1717261" cy="33883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620599" y="2173428"/>
            <a:ext cx="1717261" cy="33883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073746" y="2586286"/>
            <a:ext cx="39941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Arial"/>
                <a:cs typeface="Arial"/>
              </a:rPr>
              <a:t>Not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OK</a:t>
            </a:r>
            <a:endParaRPr sz="9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64421" y="2586286"/>
            <a:ext cx="19050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25" dirty="0">
                <a:latin typeface="Arial"/>
                <a:cs typeface="Arial"/>
              </a:rPr>
              <a:t>OK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4" name="object 14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3467" y="3349927"/>
            <a:ext cx="50101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8" action="ppaction://hlinksldjump"/>
              </a:rPr>
              <a:t>Monotonic</a:t>
            </a:r>
            <a:r>
              <a:rPr sz="500" spc="-30" dirty="0">
                <a:latin typeface="Arial"/>
                <a:cs typeface="Arial"/>
                <a:hlinkClick r:id="rId8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8" action="ppaction://hlinksldjump"/>
              </a:rPr>
              <a:t>writes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48379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Client-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centric consistency</a:t>
            </a:r>
            <a:r>
              <a:rPr sz="500" spc="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Read</a:t>
            </a:r>
            <a:r>
              <a:rPr spc="-45" dirty="0"/>
              <a:t> </a:t>
            </a:r>
            <a:r>
              <a:rPr dirty="0"/>
              <a:t>your</a:t>
            </a:r>
            <a:r>
              <a:rPr spc="-45" dirty="0"/>
              <a:t> </a:t>
            </a:r>
            <a:r>
              <a:rPr spc="-10" dirty="0"/>
              <a:t>writes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763" y="499476"/>
            <a:ext cx="3810635" cy="49657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Definition</a:t>
            </a:r>
            <a:endParaRPr sz="1000">
              <a:latin typeface="Arial"/>
              <a:cs typeface="Arial"/>
            </a:endParaRPr>
          </a:p>
          <a:p>
            <a:pPr marL="15875" marR="5080" indent="-381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effect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item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x</a:t>
            </a:r>
            <a:r>
              <a:rPr sz="900" i="1" spc="-17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will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always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be </a:t>
            </a:r>
            <a:r>
              <a:rPr sz="900" dirty="0">
                <a:latin typeface="Arial"/>
                <a:cs typeface="Arial"/>
              </a:rPr>
              <a:t>seen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successive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spc="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same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process.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65179" y="1131850"/>
            <a:ext cx="1717261" cy="33883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210904" y="1516870"/>
            <a:ext cx="19050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25" dirty="0">
                <a:latin typeface="Arial"/>
                <a:cs typeface="Arial"/>
              </a:rPr>
              <a:t>OK</a:t>
            </a:r>
            <a:endParaRPr sz="9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65179" y="1969898"/>
            <a:ext cx="1717261" cy="33883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106485" y="2354917"/>
            <a:ext cx="39941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Arial"/>
                <a:cs typeface="Arial"/>
              </a:rPr>
              <a:t>Not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OK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0" name="object 10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3467" y="3349927"/>
            <a:ext cx="49974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6" action="ppaction://hlinksldjump"/>
              </a:rPr>
              <a:t>Read</a:t>
            </a:r>
            <a:r>
              <a:rPr sz="500" spc="-25" dirty="0">
                <a:latin typeface="Arial"/>
                <a:cs typeface="Arial"/>
                <a:hlinkClick r:id="rId6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6" action="ppaction://hlinksldjump"/>
              </a:rPr>
              <a:t>your</a:t>
            </a:r>
            <a:r>
              <a:rPr sz="500" spc="-20" dirty="0">
                <a:latin typeface="Arial"/>
                <a:cs typeface="Arial"/>
                <a:hlinkClick r:id="rId6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6" action="ppaction://hlinksldjump"/>
              </a:rPr>
              <a:t>writes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48379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Client-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centric consistency</a:t>
            </a:r>
            <a:r>
              <a:rPr sz="500" spc="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Read</a:t>
            </a:r>
            <a:r>
              <a:rPr spc="-45" dirty="0"/>
              <a:t> </a:t>
            </a:r>
            <a:r>
              <a:rPr dirty="0"/>
              <a:t>your</a:t>
            </a:r>
            <a:r>
              <a:rPr spc="-45" dirty="0"/>
              <a:t> </a:t>
            </a:r>
            <a:r>
              <a:rPr spc="-10" dirty="0"/>
              <a:t>writes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763" y="499476"/>
            <a:ext cx="3810635" cy="49657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Definition</a:t>
            </a:r>
            <a:endParaRPr sz="1000">
              <a:latin typeface="Arial"/>
              <a:cs typeface="Arial"/>
            </a:endParaRPr>
          </a:p>
          <a:p>
            <a:pPr marL="15875" marR="5080" indent="-381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effect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item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x</a:t>
            </a:r>
            <a:r>
              <a:rPr sz="900" i="1" spc="-17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will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always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be </a:t>
            </a:r>
            <a:r>
              <a:rPr sz="900" dirty="0">
                <a:latin typeface="Arial"/>
                <a:cs typeface="Arial"/>
              </a:rPr>
              <a:t>seen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successive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spc="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same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process.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65179" y="1131850"/>
            <a:ext cx="1717261" cy="33883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210904" y="1516870"/>
            <a:ext cx="19050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25" dirty="0">
                <a:latin typeface="Arial"/>
                <a:cs typeface="Arial"/>
              </a:rPr>
              <a:t>OK</a:t>
            </a:r>
            <a:endParaRPr sz="9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65179" y="1969898"/>
            <a:ext cx="1717261" cy="33883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47294" y="2354917"/>
            <a:ext cx="3908425" cy="7327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255" algn="ctr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Arial"/>
                <a:cs typeface="Arial"/>
              </a:rPr>
              <a:t>Not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OK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sz="1000" spc="-10" dirty="0">
                <a:solidFill>
                  <a:srgbClr val="4C994C"/>
                </a:solidFill>
                <a:latin typeface="Arial"/>
                <a:cs typeface="Arial"/>
              </a:rPr>
              <a:t>Example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ct val="111600"/>
              </a:lnSpc>
              <a:spcBef>
                <a:spcPts val="170"/>
              </a:spcBef>
            </a:pPr>
            <a:r>
              <a:rPr sz="900" dirty="0">
                <a:latin typeface="Arial"/>
                <a:cs typeface="Arial"/>
              </a:rPr>
              <a:t>Updating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your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Web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page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guaranteeing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your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Web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browser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shows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the </a:t>
            </a:r>
            <a:r>
              <a:rPr sz="900" spc="-10" dirty="0">
                <a:latin typeface="Arial"/>
                <a:cs typeface="Arial"/>
              </a:rPr>
              <a:t>newest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version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instead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cached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copy.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0" name="object 10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3467" y="3349927"/>
            <a:ext cx="49974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6" action="ppaction://hlinksldjump"/>
              </a:rPr>
              <a:t>Read</a:t>
            </a:r>
            <a:r>
              <a:rPr sz="500" spc="-25" dirty="0">
                <a:latin typeface="Arial"/>
                <a:cs typeface="Arial"/>
                <a:hlinkClick r:id="rId6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6" action="ppaction://hlinksldjump"/>
              </a:rPr>
              <a:t>your</a:t>
            </a:r>
            <a:r>
              <a:rPr sz="500" spc="-20" dirty="0">
                <a:latin typeface="Arial"/>
                <a:cs typeface="Arial"/>
                <a:hlinkClick r:id="rId6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6" action="ppaction://hlinksldjump"/>
              </a:rPr>
              <a:t>writes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48379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Client-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centric consistency</a:t>
            </a:r>
            <a:r>
              <a:rPr sz="500" spc="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Writes</a:t>
            </a:r>
            <a:r>
              <a:rPr spc="-30" dirty="0"/>
              <a:t> </a:t>
            </a:r>
            <a:r>
              <a:rPr spc="-10" dirty="0"/>
              <a:t>follow</a:t>
            </a:r>
            <a:r>
              <a:rPr spc="-30" dirty="0"/>
              <a:t> </a:t>
            </a:r>
            <a:r>
              <a:rPr spc="-10" dirty="0"/>
              <a:t>reads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547" y="499476"/>
            <a:ext cx="3917315" cy="64960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Definition</a:t>
            </a:r>
            <a:endParaRPr sz="1000">
              <a:latin typeface="Arial"/>
              <a:cs typeface="Arial"/>
            </a:endParaRPr>
          </a:p>
          <a:p>
            <a:pPr marL="15875" marR="5080" indent="-381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item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spc="6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following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previous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read </a:t>
            </a:r>
            <a:r>
              <a:rPr sz="900" dirty="0">
                <a:latin typeface="Arial"/>
                <a:cs typeface="Arial"/>
              </a:rPr>
              <a:t>operation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spc="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same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guaranteed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take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place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same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recent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value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spc="5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was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read.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65179" y="1262457"/>
            <a:ext cx="1717261" cy="33883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210904" y="1647477"/>
            <a:ext cx="19050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25" dirty="0">
                <a:latin typeface="Arial"/>
                <a:cs typeface="Arial"/>
              </a:rPr>
              <a:t>OK</a:t>
            </a:r>
            <a:endParaRPr sz="9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65179" y="2100504"/>
            <a:ext cx="1717261" cy="33883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106485" y="2485524"/>
            <a:ext cx="39941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Arial"/>
                <a:cs typeface="Arial"/>
              </a:rPr>
              <a:t>Not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OK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0" name="object 10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3467" y="3349927"/>
            <a:ext cx="55816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6" action="ppaction://hlinksldjump"/>
              </a:rPr>
              <a:t>Writes </a:t>
            </a:r>
            <a:r>
              <a:rPr sz="500" spc="-10" dirty="0">
                <a:latin typeface="Arial"/>
                <a:cs typeface="Arial"/>
                <a:hlinkClick r:id="rId6" action="ppaction://hlinksldjump"/>
              </a:rPr>
              <a:t>follow</a:t>
            </a:r>
            <a:r>
              <a:rPr sz="500" dirty="0">
                <a:latin typeface="Arial"/>
                <a:cs typeface="Arial"/>
                <a:hlinkClick r:id="rId6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6" action="ppaction://hlinksldjump"/>
              </a:rPr>
              <a:t>reads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48379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Client-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centric consistency</a:t>
            </a:r>
            <a:r>
              <a:rPr sz="500" spc="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Writes</a:t>
            </a:r>
            <a:r>
              <a:rPr spc="-30" dirty="0"/>
              <a:t> </a:t>
            </a:r>
            <a:r>
              <a:rPr spc="-10" dirty="0"/>
              <a:t>follow</a:t>
            </a:r>
            <a:r>
              <a:rPr spc="-30" dirty="0"/>
              <a:t> </a:t>
            </a:r>
            <a:r>
              <a:rPr spc="-10" dirty="0"/>
              <a:t>reads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547" y="499476"/>
            <a:ext cx="3917315" cy="64960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Definition</a:t>
            </a:r>
            <a:endParaRPr sz="1000">
              <a:latin typeface="Arial"/>
              <a:cs typeface="Arial"/>
            </a:endParaRPr>
          </a:p>
          <a:p>
            <a:pPr marL="15875" marR="5080" indent="-381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item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spc="6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following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previous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read </a:t>
            </a:r>
            <a:r>
              <a:rPr sz="900" dirty="0">
                <a:latin typeface="Arial"/>
                <a:cs typeface="Arial"/>
              </a:rPr>
              <a:t>operation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spc="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same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guaranteed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take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place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same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recent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value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spc="5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was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read.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65179" y="1262457"/>
            <a:ext cx="1717261" cy="33883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210904" y="1647477"/>
            <a:ext cx="19050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25" dirty="0">
                <a:latin typeface="Arial"/>
                <a:cs typeface="Arial"/>
              </a:rPr>
              <a:t>OK</a:t>
            </a:r>
            <a:endParaRPr sz="9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65179" y="2100504"/>
            <a:ext cx="1717261" cy="33883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35915" y="2485524"/>
            <a:ext cx="3827145" cy="7327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2395" algn="ctr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Arial"/>
                <a:cs typeface="Arial"/>
              </a:rPr>
              <a:t>Not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OK</a:t>
            </a:r>
            <a:endParaRPr sz="900">
              <a:latin typeface="Arial"/>
              <a:cs typeface="Arial"/>
            </a:endParaRPr>
          </a:p>
          <a:p>
            <a:pPr marL="23495">
              <a:lnSpc>
                <a:spcPct val="100000"/>
              </a:lnSpc>
              <a:spcBef>
                <a:spcPts val="715"/>
              </a:spcBef>
            </a:pPr>
            <a:r>
              <a:rPr sz="1000" spc="-10" dirty="0">
                <a:solidFill>
                  <a:srgbClr val="4C994C"/>
                </a:solidFill>
                <a:latin typeface="Arial"/>
                <a:cs typeface="Arial"/>
              </a:rPr>
              <a:t>Example</a:t>
            </a:r>
            <a:endParaRPr sz="1000">
              <a:latin typeface="Arial"/>
              <a:cs typeface="Arial"/>
            </a:endParaRPr>
          </a:p>
          <a:p>
            <a:pPr marL="12700" marR="5080" indent="10795">
              <a:lnSpc>
                <a:spcPct val="111600"/>
              </a:lnSpc>
              <a:spcBef>
                <a:spcPts val="170"/>
              </a:spcBef>
            </a:pPr>
            <a:r>
              <a:rPr sz="900" dirty="0">
                <a:latin typeface="Arial"/>
                <a:cs typeface="Arial"/>
              </a:rPr>
              <a:t>See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reactions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posted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articles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you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original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posting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(a</a:t>
            </a:r>
            <a:r>
              <a:rPr sz="900" spc="-20" dirty="0">
                <a:latin typeface="Arial"/>
                <a:cs typeface="Arial"/>
              </a:rPr>
              <a:t> read </a:t>
            </a:r>
            <a:r>
              <a:rPr sz="900" dirty="0">
                <a:latin typeface="Arial"/>
                <a:cs typeface="Arial"/>
              </a:rPr>
              <a:t>“pulls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in”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corresponding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operation).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0" name="object 10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3467" y="3349927"/>
            <a:ext cx="55816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6" action="ppaction://hlinksldjump"/>
              </a:rPr>
              <a:t>Writes </a:t>
            </a:r>
            <a:r>
              <a:rPr sz="500" spc="-10" dirty="0">
                <a:latin typeface="Arial"/>
                <a:cs typeface="Arial"/>
                <a:hlinkClick r:id="rId6" action="ppaction://hlinksldjump"/>
              </a:rPr>
              <a:t>follow</a:t>
            </a:r>
            <a:r>
              <a:rPr sz="500" dirty="0">
                <a:latin typeface="Arial"/>
                <a:cs typeface="Arial"/>
                <a:hlinkClick r:id="rId6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6" action="ppaction://hlinksldjump"/>
              </a:rPr>
              <a:t>reads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48379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Client-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centric consistency</a:t>
            </a:r>
            <a:r>
              <a:rPr sz="500" spc="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Example:</a:t>
            </a:r>
            <a:r>
              <a:rPr spc="35" dirty="0"/>
              <a:t> </a:t>
            </a:r>
            <a:r>
              <a:rPr spc="-10" dirty="0"/>
              <a:t>ZooKeeper</a:t>
            </a:r>
            <a:r>
              <a:rPr spc="-35" dirty="0"/>
              <a:t> </a:t>
            </a:r>
            <a:r>
              <a:rPr spc="-10" dirty="0"/>
              <a:t>consistency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128" y="499476"/>
            <a:ext cx="3429000" cy="75184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000" spc="-50" dirty="0">
                <a:solidFill>
                  <a:srgbClr val="3333B2"/>
                </a:solidFill>
                <a:latin typeface="Arial"/>
                <a:cs typeface="Arial"/>
              </a:rPr>
              <a:t>Yet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another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model?</a:t>
            </a:r>
            <a:endParaRPr sz="1000">
              <a:latin typeface="Arial"/>
              <a:cs typeface="Arial"/>
            </a:endParaRPr>
          </a:p>
          <a:p>
            <a:pPr marL="16510" marR="5080">
              <a:lnSpc>
                <a:spcPts val="1210"/>
              </a:lnSpc>
              <a:spcBef>
                <a:spcPts val="35"/>
              </a:spcBef>
            </a:pPr>
            <a:r>
              <a:rPr sz="900" spc="-10" dirty="0">
                <a:latin typeface="Arial"/>
                <a:cs typeface="Arial"/>
              </a:rPr>
              <a:t>ZooKeeper’s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consistency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model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mixes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elements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data-</a:t>
            </a:r>
            <a:r>
              <a:rPr sz="900" dirty="0">
                <a:latin typeface="Arial"/>
                <a:cs typeface="Arial"/>
              </a:rPr>
              <a:t>centric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and </a:t>
            </a:r>
            <a:r>
              <a:rPr sz="900" spc="-10" dirty="0">
                <a:latin typeface="Arial"/>
                <a:cs typeface="Arial"/>
              </a:rPr>
              <a:t>client-</a:t>
            </a:r>
            <a:r>
              <a:rPr sz="900" dirty="0">
                <a:latin typeface="Arial"/>
                <a:cs typeface="Arial"/>
              </a:rPr>
              <a:t>centric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models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000" spc="-40" dirty="0">
                <a:solidFill>
                  <a:srgbClr val="4C994C"/>
                </a:solidFill>
                <a:latin typeface="Arial"/>
                <a:cs typeface="Arial"/>
              </a:rPr>
              <a:t>Take</a:t>
            </a:r>
            <a:r>
              <a:rPr sz="1000" spc="-25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a</a:t>
            </a:r>
            <a:r>
              <a:rPr sz="1000" spc="-25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naive</a:t>
            </a:r>
            <a:r>
              <a:rPr sz="1000" spc="-25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C994C"/>
                </a:solidFill>
                <a:latin typeface="Arial"/>
                <a:cs typeface="Arial"/>
              </a:rPr>
              <a:t>example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7630" y="1363792"/>
            <a:ext cx="2475035" cy="1275559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0" y="3348469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ADAD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3467" y="3346954"/>
            <a:ext cx="14103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Arial"/>
                <a:cs typeface="Arial"/>
                <a:hlinkClick r:id="rId5" action="ppaction://hlinksldjump"/>
              </a:rPr>
              <a:t>Example:</a:t>
            </a:r>
            <a:r>
              <a:rPr sz="500" spc="2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client-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centric</a:t>
            </a:r>
            <a:r>
              <a:rPr sz="500" spc="-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consistency</a:t>
            </a:r>
            <a:r>
              <a:rPr sz="500" spc="-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in</a:t>
            </a:r>
            <a:r>
              <a:rPr sz="500" spc="-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ZooKeeper</a:t>
            </a:r>
            <a:endParaRPr sz="5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303995" y="3348469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7994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931424" y="-1515"/>
            <a:ext cx="6235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Replica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management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3576954" cy="645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Replica</a:t>
            </a:r>
            <a:r>
              <a:rPr sz="1200" spc="-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placement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Essence</a:t>
            </a:r>
            <a:endParaRPr sz="10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latin typeface="Arial"/>
                <a:cs typeface="Arial"/>
              </a:rPr>
              <a:t>Figure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out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best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K</a:t>
            </a:r>
            <a:r>
              <a:rPr sz="900" i="1" spc="10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places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out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N</a:t>
            </a:r>
            <a:r>
              <a:rPr sz="900" i="1" spc="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possible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locations.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90487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3" action="ppaction://hlinksldjump"/>
              </a:rPr>
              <a:t>Finding</a:t>
            </a:r>
            <a:r>
              <a:rPr sz="500" spc="-2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the</a:t>
            </a:r>
            <a:r>
              <a:rPr sz="500" spc="-2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best</a:t>
            </a:r>
            <a:r>
              <a:rPr sz="500" spc="-1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server</a:t>
            </a:r>
            <a:r>
              <a:rPr sz="500" spc="-2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location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90010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Replica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management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Replica</a:t>
            </a:r>
            <a:r>
              <a:rPr spc="-55" dirty="0"/>
              <a:t> </a:t>
            </a:r>
            <a:r>
              <a:rPr spc="-10" dirty="0"/>
              <a:t>placement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4594" y="499476"/>
            <a:ext cx="3938904" cy="100647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Essence</a:t>
            </a:r>
            <a:endParaRPr sz="10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latin typeface="Arial"/>
                <a:cs typeface="Arial"/>
              </a:rPr>
              <a:t>Figure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out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best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K</a:t>
            </a:r>
            <a:r>
              <a:rPr sz="900" i="1" spc="10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places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out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N</a:t>
            </a:r>
            <a:r>
              <a:rPr sz="900" i="1" spc="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possible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locations.</a:t>
            </a:r>
            <a:endParaRPr sz="900">
              <a:latin typeface="Arial"/>
              <a:cs typeface="Arial"/>
            </a:endParaRPr>
          </a:p>
          <a:p>
            <a:pPr marL="278130" marR="17780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dirty="0">
                <a:latin typeface="Arial"/>
                <a:cs typeface="Arial"/>
              </a:rPr>
              <a:t>Select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best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location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out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-20" dirty="0">
                <a:latin typeface="Arial"/>
                <a:cs typeface="Arial"/>
              </a:rPr>
              <a:t>N</a:t>
            </a:r>
            <a:r>
              <a:rPr sz="900" i="1" spc="-60" dirty="0">
                <a:latin typeface="Arial"/>
                <a:cs typeface="Arial"/>
              </a:rPr>
              <a:t> </a:t>
            </a:r>
            <a:r>
              <a:rPr sz="900" i="1" spc="125" dirty="0">
                <a:latin typeface="Menlo"/>
                <a:cs typeface="Menlo"/>
              </a:rPr>
              <a:t>−</a:t>
            </a:r>
            <a:r>
              <a:rPr sz="900" i="1" spc="125" dirty="0">
                <a:latin typeface="Arial"/>
                <a:cs typeface="Arial"/>
              </a:rPr>
              <a:t>K</a:t>
            </a:r>
            <a:r>
              <a:rPr sz="900" i="1" spc="10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average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distance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to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clients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is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minimal</a:t>
            </a:r>
            <a:r>
              <a:rPr sz="900" dirty="0">
                <a:latin typeface="Arial"/>
                <a:cs typeface="Arial"/>
              </a:rPr>
              <a:t>.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choose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next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best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server.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Note:</a:t>
            </a:r>
            <a:r>
              <a:rPr sz="900" spc="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first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chosen </a:t>
            </a:r>
            <a:r>
              <a:rPr sz="900" dirty="0">
                <a:latin typeface="Arial"/>
                <a:cs typeface="Arial"/>
              </a:rPr>
              <a:t>location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minimizes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average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distance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clients.)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Computationally expensive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90487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3" action="ppaction://hlinksldjump"/>
              </a:rPr>
              <a:t>Finding</a:t>
            </a:r>
            <a:r>
              <a:rPr sz="500" spc="-2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the</a:t>
            </a:r>
            <a:r>
              <a:rPr sz="500" spc="-2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best</a:t>
            </a:r>
            <a:r>
              <a:rPr sz="500" spc="-1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server</a:t>
            </a:r>
            <a:r>
              <a:rPr sz="500" spc="-2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location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90010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Replica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management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Replica</a:t>
            </a:r>
            <a:r>
              <a:rPr spc="-55" dirty="0"/>
              <a:t> </a:t>
            </a:r>
            <a:r>
              <a:rPr spc="-10" dirty="0"/>
              <a:t>placement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4594" y="499476"/>
            <a:ext cx="3938904" cy="136334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Essence</a:t>
            </a:r>
            <a:endParaRPr sz="10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latin typeface="Arial"/>
                <a:cs typeface="Arial"/>
              </a:rPr>
              <a:t>Figure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out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best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K</a:t>
            </a:r>
            <a:r>
              <a:rPr sz="900" i="1" spc="10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places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out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N</a:t>
            </a:r>
            <a:r>
              <a:rPr sz="900" i="1" spc="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possible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locations.</a:t>
            </a:r>
            <a:endParaRPr sz="900">
              <a:latin typeface="Arial"/>
              <a:cs typeface="Arial"/>
            </a:endParaRPr>
          </a:p>
          <a:p>
            <a:pPr marL="278130" marR="17780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dirty="0">
                <a:latin typeface="Arial"/>
                <a:cs typeface="Arial"/>
              </a:rPr>
              <a:t>Select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best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location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out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-20" dirty="0">
                <a:latin typeface="Arial"/>
                <a:cs typeface="Arial"/>
              </a:rPr>
              <a:t>N</a:t>
            </a:r>
            <a:r>
              <a:rPr sz="900" i="1" spc="-60" dirty="0">
                <a:latin typeface="Arial"/>
                <a:cs typeface="Arial"/>
              </a:rPr>
              <a:t> </a:t>
            </a:r>
            <a:r>
              <a:rPr sz="900" i="1" spc="125" dirty="0">
                <a:latin typeface="Menlo"/>
                <a:cs typeface="Menlo"/>
              </a:rPr>
              <a:t>−</a:t>
            </a:r>
            <a:r>
              <a:rPr sz="900" i="1" spc="125" dirty="0">
                <a:latin typeface="Arial"/>
                <a:cs typeface="Arial"/>
              </a:rPr>
              <a:t>K</a:t>
            </a:r>
            <a:r>
              <a:rPr sz="900" i="1" spc="10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average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distance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to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clients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is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minimal</a:t>
            </a:r>
            <a:r>
              <a:rPr sz="900" dirty="0">
                <a:latin typeface="Arial"/>
                <a:cs typeface="Arial"/>
              </a:rPr>
              <a:t>.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choose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next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best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server.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Note:</a:t>
            </a:r>
            <a:r>
              <a:rPr sz="900" spc="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first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chosen </a:t>
            </a:r>
            <a:r>
              <a:rPr sz="900" dirty="0">
                <a:latin typeface="Arial"/>
                <a:cs typeface="Arial"/>
              </a:rPr>
              <a:t>location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minimizes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average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distance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clients.)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Computationally expensive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78130" marR="179705" indent="-120650">
              <a:lnSpc>
                <a:spcPct val="111600"/>
              </a:lnSpc>
              <a:spcBef>
                <a:spcPts val="395"/>
              </a:spcBef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dirty="0">
                <a:latin typeface="Arial"/>
                <a:cs typeface="Arial"/>
              </a:rPr>
              <a:t>Select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K</a:t>
            </a:r>
            <a:r>
              <a:rPr sz="900" i="1" spc="-1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-</a:t>
            </a:r>
            <a:r>
              <a:rPr sz="900" dirty="0">
                <a:latin typeface="Arial"/>
                <a:cs typeface="Arial"/>
              </a:rPr>
              <a:t>th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largest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autonomous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system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place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5" dirty="0">
                <a:latin typeface="Arial"/>
                <a:cs typeface="Arial"/>
              </a:rPr>
              <a:t> the </a:t>
            </a:r>
            <a:r>
              <a:rPr sz="900" spc="-10" dirty="0">
                <a:latin typeface="Arial"/>
                <a:cs typeface="Arial"/>
              </a:rPr>
              <a:t>best-</a:t>
            </a:r>
            <a:r>
              <a:rPr sz="900" dirty="0">
                <a:latin typeface="Arial"/>
                <a:cs typeface="Arial"/>
              </a:rPr>
              <a:t>connected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host.</a:t>
            </a:r>
            <a:r>
              <a:rPr sz="900" spc="7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Computationally</a:t>
            </a:r>
            <a:r>
              <a:rPr sz="900" spc="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expensive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90487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3" action="ppaction://hlinksldjump"/>
              </a:rPr>
              <a:t>Finding</a:t>
            </a:r>
            <a:r>
              <a:rPr sz="500" spc="-2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the</a:t>
            </a:r>
            <a:r>
              <a:rPr sz="500" spc="-2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best</a:t>
            </a:r>
            <a:r>
              <a:rPr sz="500" spc="-1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server</a:t>
            </a:r>
            <a:r>
              <a:rPr sz="500" spc="-2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location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90010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Replica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management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Replica</a:t>
            </a:r>
            <a:r>
              <a:rPr spc="-55" dirty="0"/>
              <a:t> </a:t>
            </a:r>
            <a:r>
              <a:rPr spc="-10" dirty="0"/>
              <a:t>placement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4594" y="499476"/>
            <a:ext cx="3938904" cy="187325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Essence</a:t>
            </a:r>
            <a:endParaRPr sz="10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latin typeface="Arial"/>
                <a:cs typeface="Arial"/>
              </a:rPr>
              <a:t>Figure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out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best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K</a:t>
            </a:r>
            <a:r>
              <a:rPr sz="900" i="1" spc="10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places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out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N</a:t>
            </a:r>
            <a:r>
              <a:rPr sz="900" i="1" spc="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possible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locations.</a:t>
            </a:r>
            <a:endParaRPr sz="900">
              <a:latin typeface="Arial"/>
              <a:cs typeface="Arial"/>
            </a:endParaRPr>
          </a:p>
          <a:p>
            <a:pPr marL="278130" marR="17780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dirty="0">
                <a:latin typeface="Arial"/>
                <a:cs typeface="Arial"/>
              </a:rPr>
              <a:t>Select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best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location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out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-20" dirty="0">
                <a:latin typeface="Arial"/>
                <a:cs typeface="Arial"/>
              </a:rPr>
              <a:t>N</a:t>
            </a:r>
            <a:r>
              <a:rPr sz="900" i="1" spc="-60" dirty="0">
                <a:latin typeface="Arial"/>
                <a:cs typeface="Arial"/>
              </a:rPr>
              <a:t> </a:t>
            </a:r>
            <a:r>
              <a:rPr sz="900" i="1" spc="125" dirty="0">
                <a:latin typeface="Menlo"/>
                <a:cs typeface="Menlo"/>
              </a:rPr>
              <a:t>−</a:t>
            </a:r>
            <a:r>
              <a:rPr sz="900" i="1" spc="125" dirty="0">
                <a:latin typeface="Arial"/>
                <a:cs typeface="Arial"/>
              </a:rPr>
              <a:t>K</a:t>
            </a:r>
            <a:r>
              <a:rPr sz="900" i="1" spc="10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average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distance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to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clients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is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minimal</a:t>
            </a:r>
            <a:r>
              <a:rPr sz="900" dirty="0">
                <a:latin typeface="Arial"/>
                <a:cs typeface="Arial"/>
              </a:rPr>
              <a:t>.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choose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next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best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server.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Note:</a:t>
            </a:r>
            <a:r>
              <a:rPr sz="900" spc="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first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chosen </a:t>
            </a:r>
            <a:r>
              <a:rPr sz="900" dirty="0">
                <a:latin typeface="Arial"/>
                <a:cs typeface="Arial"/>
              </a:rPr>
              <a:t>location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minimizes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average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distance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clients.)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Computationally expensive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78130" marR="179705" indent="-120650">
              <a:lnSpc>
                <a:spcPct val="111600"/>
              </a:lnSpc>
              <a:spcBef>
                <a:spcPts val="395"/>
              </a:spcBef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dirty="0">
                <a:latin typeface="Arial"/>
                <a:cs typeface="Arial"/>
              </a:rPr>
              <a:t>Select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K</a:t>
            </a:r>
            <a:r>
              <a:rPr sz="900" i="1" spc="-1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-</a:t>
            </a:r>
            <a:r>
              <a:rPr sz="900" dirty="0">
                <a:latin typeface="Arial"/>
                <a:cs typeface="Arial"/>
              </a:rPr>
              <a:t>th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largest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autonomous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system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place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5" dirty="0">
                <a:latin typeface="Arial"/>
                <a:cs typeface="Arial"/>
              </a:rPr>
              <a:t> the </a:t>
            </a:r>
            <a:r>
              <a:rPr sz="900" spc="-10" dirty="0">
                <a:latin typeface="Arial"/>
                <a:cs typeface="Arial"/>
              </a:rPr>
              <a:t>best-</a:t>
            </a:r>
            <a:r>
              <a:rPr sz="900" dirty="0">
                <a:latin typeface="Arial"/>
                <a:cs typeface="Arial"/>
              </a:rPr>
              <a:t>connected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host.</a:t>
            </a:r>
            <a:r>
              <a:rPr sz="900" spc="7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Computationally</a:t>
            </a:r>
            <a:r>
              <a:rPr sz="900" spc="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expensive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78130" marR="102235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spc="-10" dirty="0">
                <a:latin typeface="Arial"/>
                <a:cs typeface="Arial"/>
              </a:rPr>
              <a:t>Position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d</a:t>
            </a:r>
            <a:r>
              <a:rPr sz="900" i="1" spc="-16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-</a:t>
            </a:r>
            <a:r>
              <a:rPr sz="900" dirty="0">
                <a:latin typeface="Arial"/>
                <a:cs typeface="Arial"/>
              </a:rPr>
              <a:t>dimensional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geometric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space,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distance </a:t>
            </a:r>
            <a:r>
              <a:rPr sz="900" dirty="0">
                <a:latin typeface="Arial"/>
                <a:cs typeface="Arial"/>
              </a:rPr>
              <a:t>reflects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latency.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Identify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K</a:t>
            </a:r>
            <a:r>
              <a:rPr sz="900" i="1" spc="9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regions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highest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density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place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a</a:t>
            </a:r>
            <a:r>
              <a:rPr sz="900" dirty="0">
                <a:latin typeface="Arial"/>
                <a:cs typeface="Arial"/>
              </a:rPr>
              <a:t> server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every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one.</a:t>
            </a:r>
            <a:r>
              <a:rPr sz="900" spc="4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Computationally cheap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90487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3" action="ppaction://hlinksldjump"/>
              </a:rPr>
              <a:t>Finding</a:t>
            </a:r>
            <a:r>
              <a:rPr sz="500" spc="-2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the</a:t>
            </a:r>
            <a:r>
              <a:rPr sz="500" spc="-2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best</a:t>
            </a:r>
            <a:r>
              <a:rPr sz="500" spc="-1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server</a:t>
            </a:r>
            <a:r>
              <a:rPr sz="500" spc="-2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location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017C3-8BA4-EBCF-6C01-7E7EFC05C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7570125-A9B0-3284-55A3-2B61F637E95B}"/>
              </a:ext>
            </a:extLst>
          </p:cNvPr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90010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Replica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management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4169609-6536-5409-D8F8-9B92CDDA04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Replica</a:t>
            </a:r>
            <a:r>
              <a:rPr spc="-55" dirty="0"/>
              <a:t> </a:t>
            </a:r>
            <a:r>
              <a:rPr spc="-10" dirty="0"/>
              <a:t>placement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527A9E47-C598-490A-8782-019E668586FE}"/>
              </a:ext>
            </a:extLst>
          </p:cNvPr>
          <p:cNvSpPr txBox="1"/>
          <p:nvPr/>
        </p:nvSpPr>
        <p:spPr>
          <a:xfrm>
            <a:off x="334594" y="499476"/>
            <a:ext cx="3938904" cy="938077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Essence</a:t>
            </a:r>
            <a:endParaRPr sz="1000" dirty="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lang="en-US" sz="900" dirty="0">
                <a:latin typeface="Arial"/>
                <a:cs typeface="Arial"/>
              </a:rPr>
              <a:t>Identify regions (where content is most demanded, and internode latency is low), place replicas in the identified regions.</a:t>
            </a:r>
          </a:p>
          <a:p>
            <a:pPr marL="25400">
              <a:lnSpc>
                <a:spcPct val="100000"/>
              </a:lnSpc>
              <a:spcBef>
                <a:spcPts val="215"/>
              </a:spcBef>
            </a:pPr>
            <a:r>
              <a:rPr lang="en-US" sz="900" spc="-10" dirty="0">
                <a:solidFill>
                  <a:srgbClr val="3333B2"/>
                </a:solidFill>
                <a:latin typeface="Arial"/>
                <a:cs typeface="Arial"/>
              </a:rPr>
              <a:t>Problem</a:t>
            </a:r>
            <a:endParaRPr lang="en-US" sz="900" dirty="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lang="en-US" sz="900" dirty="0">
                <a:latin typeface="Arial"/>
                <a:cs typeface="Arial"/>
              </a:rPr>
              <a:t>Too large cell =&gt; multiple clusters in same node</a:t>
            </a:r>
          </a:p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lang="en-US" sz="900" dirty="0">
                <a:latin typeface="Arial"/>
                <a:cs typeface="Arial"/>
              </a:rPr>
              <a:t>Too small cell =&gt; multiple replicas at same space</a:t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5" name="object 5">
            <a:extLst>
              <a:ext uri="{FF2B5EF4-FFF2-40B4-BE49-F238E27FC236}">
                <a16:creationId xmlns:a16="http://schemas.microsoft.com/office/drawing/2014/main" id="{A69355EB-C41D-9A72-4FDE-8410B1CA8537}"/>
              </a:ext>
            </a:extLst>
          </p:cNvPr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4388D852-CE9C-3E52-2D34-6E7D246825FA}"/>
                </a:ext>
              </a:extLst>
            </p:cNvPr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D5808612-14D6-B42B-4B1A-4ABD31676F1D}"/>
                </a:ext>
              </a:extLst>
            </p:cNvPr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D6B9D470-AB9F-F43F-35C4-DE1497D46585}"/>
              </a:ext>
            </a:extLst>
          </p:cNvPr>
          <p:cNvSpPr txBox="1"/>
          <p:nvPr/>
        </p:nvSpPr>
        <p:spPr>
          <a:xfrm>
            <a:off x="53467" y="3349927"/>
            <a:ext cx="90487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3" action="ppaction://hlinksldjump"/>
              </a:rPr>
              <a:t>Finding</a:t>
            </a:r>
            <a:r>
              <a:rPr sz="500" spc="-2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the</a:t>
            </a:r>
            <a:r>
              <a:rPr sz="500" spc="-2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best</a:t>
            </a:r>
            <a:r>
              <a:rPr sz="500" spc="-1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server</a:t>
            </a:r>
            <a:r>
              <a:rPr sz="500" spc="-2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location</a:t>
            </a:r>
            <a:endParaRPr sz="500">
              <a:latin typeface="Arial"/>
              <a:cs typeface="Arial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5C781C5-1A0F-698F-9E27-85AD87B863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091" y="1658040"/>
            <a:ext cx="2527808" cy="1319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736374"/>
      </p:ext>
    </p:extLst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90010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Replica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management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Content</a:t>
            </a:r>
            <a:r>
              <a:rPr spc="-50" dirty="0"/>
              <a:t> </a:t>
            </a:r>
            <a:r>
              <a:rPr spc="-10" dirty="0"/>
              <a:t>replication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0847" y="470520"/>
            <a:ext cx="3853815" cy="131572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44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Distinguish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different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processes</a:t>
            </a:r>
            <a:endParaRPr sz="10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309"/>
              </a:spcBef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capable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hosting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replica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object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data:</a:t>
            </a:r>
            <a:endParaRPr sz="900">
              <a:latin typeface="Arial"/>
              <a:cs typeface="Arial"/>
            </a:endParaRPr>
          </a:p>
          <a:p>
            <a:pPr marL="281940" indent="-120650">
              <a:lnSpc>
                <a:spcPct val="100000"/>
              </a:lnSpc>
              <a:spcBef>
                <a:spcPts val="520"/>
              </a:spcBef>
              <a:buFont typeface="Menlo"/>
              <a:buChar char="•"/>
              <a:tabLst>
                <a:tab pos="282575" algn="l"/>
              </a:tabLst>
            </a:pP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Permanent</a:t>
            </a:r>
            <a:r>
              <a:rPr sz="9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replicas:</a:t>
            </a:r>
            <a:r>
              <a:rPr sz="900" spc="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Process/machine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always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having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replica</a:t>
            </a:r>
            <a:endParaRPr sz="900">
              <a:latin typeface="Arial"/>
              <a:cs typeface="Arial"/>
            </a:endParaRPr>
          </a:p>
          <a:p>
            <a:pPr marL="281940" marR="17780" indent="-120650">
              <a:lnSpc>
                <a:spcPct val="111600"/>
              </a:lnSpc>
              <a:spcBef>
                <a:spcPts val="400"/>
              </a:spcBef>
              <a:buFont typeface="Menlo"/>
              <a:buChar char="•"/>
              <a:tabLst>
                <a:tab pos="282575" algn="l"/>
              </a:tabLst>
            </a:pP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Server-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initiated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replica:</a:t>
            </a:r>
            <a:r>
              <a:rPr sz="900" spc="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dynamically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host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replica</a:t>
            </a:r>
            <a:r>
              <a:rPr sz="900" spc="-25" dirty="0">
                <a:latin typeface="Arial"/>
                <a:cs typeface="Arial"/>
              </a:rPr>
              <a:t> on </a:t>
            </a:r>
            <a:r>
              <a:rPr sz="900" dirty="0">
                <a:latin typeface="Arial"/>
                <a:cs typeface="Arial"/>
              </a:rPr>
              <a:t>request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another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store</a:t>
            </a:r>
            <a:endParaRPr sz="900">
              <a:latin typeface="Arial"/>
              <a:cs typeface="Arial"/>
            </a:endParaRPr>
          </a:p>
          <a:p>
            <a:pPr marL="281940" marR="62230" indent="-120650">
              <a:lnSpc>
                <a:spcPct val="111600"/>
              </a:lnSpc>
              <a:spcBef>
                <a:spcPts val="400"/>
              </a:spcBef>
              <a:buFont typeface="Menlo"/>
              <a:buChar char="•"/>
              <a:tabLst>
                <a:tab pos="282575" algn="l"/>
              </a:tabLst>
            </a:pP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Client-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initiated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replica:</a:t>
            </a:r>
            <a:r>
              <a:rPr sz="900" spc="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dynamically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host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replica</a:t>
            </a:r>
            <a:r>
              <a:rPr sz="900" spc="-25" dirty="0">
                <a:latin typeface="Arial"/>
                <a:cs typeface="Arial"/>
              </a:rPr>
              <a:t> on </a:t>
            </a:r>
            <a:r>
              <a:rPr sz="900" dirty="0">
                <a:latin typeface="Arial"/>
                <a:cs typeface="Arial"/>
              </a:rPr>
              <a:t>request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client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cache</a:t>
            </a:r>
            <a:r>
              <a:rPr sz="900" spc="-10" dirty="0">
                <a:latin typeface="Arial"/>
                <a:cs typeface="Arial"/>
              </a:rPr>
              <a:t>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985519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Content</a:t>
            </a:r>
            <a:r>
              <a:rPr sz="500" spc="-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replication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and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placement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90010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Replica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management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Content</a:t>
            </a:r>
            <a:r>
              <a:rPr spc="-50" dirty="0"/>
              <a:t> </a:t>
            </a:r>
            <a:r>
              <a:rPr spc="-10" dirty="0"/>
              <a:t>replication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382" y="465487"/>
            <a:ext cx="3917315" cy="360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5080" indent="-4445">
              <a:lnSpc>
                <a:spcPct val="109600"/>
              </a:lnSpc>
              <a:spcBef>
                <a:spcPts val="100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logical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organization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different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kinds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copies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data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store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into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three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concentric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rings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6277" y="931702"/>
            <a:ext cx="3610382" cy="1259860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985519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5" action="ppaction://hlinksldjump"/>
              </a:rPr>
              <a:t>Content</a:t>
            </a:r>
            <a:r>
              <a:rPr sz="500" spc="-2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replication</a:t>
            </a:r>
            <a:r>
              <a:rPr sz="500" spc="-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and</a:t>
            </a:r>
            <a:r>
              <a:rPr sz="500" spc="-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placement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7994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931424" y="-1515"/>
            <a:ext cx="6235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Replica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management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903855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Server-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initiated</a:t>
            </a:r>
            <a:r>
              <a:rPr sz="12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replicas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Counting</a:t>
            </a:r>
            <a:r>
              <a:rPr sz="1000" spc="-30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access</a:t>
            </a:r>
            <a:r>
              <a:rPr sz="1000" spc="-25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requests</a:t>
            </a:r>
            <a:r>
              <a:rPr sz="1000" spc="-25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from</a:t>
            </a:r>
            <a:r>
              <a:rPr sz="1000" spc="-25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C994C"/>
                </a:solidFill>
                <a:latin typeface="Arial"/>
                <a:cs typeface="Arial"/>
              </a:rPr>
              <a:t>different</a:t>
            </a:r>
            <a:r>
              <a:rPr sz="1000" spc="-30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C994C"/>
                </a:solidFill>
                <a:latin typeface="Arial"/>
                <a:cs typeface="Arial"/>
              </a:rPr>
              <a:t>clients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6175" y="802591"/>
            <a:ext cx="2474389" cy="129148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54748" y="2207885"/>
            <a:ext cx="3736340" cy="791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115" marR="30480" indent="-120650">
              <a:lnSpc>
                <a:spcPct val="111600"/>
              </a:lnSpc>
              <a:spcBef>
                <a:spcPts val="100"/>
              </a:spcBef>
              <a:buClr>
                <a:srgbClr val="3333B2"/>
              </a:buClr>
              <a:buFont typeface="Menlo"/>
              <a:buChar char="•"/>
              <a:tabLst>
                <a:tab pos="158750" algn="l"/>
              </a:tabLst>
            </a:pPr>
            <a:r>
              <a:rPr sz="900" spc="-10" dirty="0">
                <a:latin typeface="Arial"/>
                <a:cs typeface="Arial"/>
              </a:rPr>
              <a:t>Keep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track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access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counts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per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file,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aggregated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considering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server </a:t>
            </a:r>
            <a:r>
              <a:rPr sz="900" dirty="0">
                <a:latin typeface="Arial"/>
                <a:cs typeface="Arial"/>
              </a:rPr>
              <a:t>closest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requesting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clients</a:t>
            </a:r>
            <a:endParaRPr sz="900">
              <a:latin typeface="Arial"/>
              <a:cs typeface="Arial"/>
            </a:endParaRPr>
          </a:p>
          <a:p>
            <a:pPr marL="158115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158750" algn="l"/>
              </a:tabLst>
            </a:pPr>
            <a:r>
              <a:rPr sz="900" dirty="0">
                <a:latin typeface="Arial"/>
                <a:cs typeface="Arial"/>
              </a:rPr>
              <a:t>Number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accesses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drops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below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threshold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D</a:t>
            </a:r>
            <a:r>
              <a:rPr sz="900" i="1" spc="10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⇒</a:t>
            </a:r>
            <a:r>
              <a:rPr sz="900" i="1" spc="-295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drop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file</a:t>
            </a:r>
            <a:endParaRPr sz="900">
              <a:latin typeface="Arial"/>
              <a:cs typeface="Arial"/>
            </a:endParaRPr>
          </a:p>
          <a:p>
            <a:pPr marL="158115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158750" algn="l"/>
              </a:tabLst>
            </a:pPr>
            <a:r>
              <a:rPr sz="900" dirty="0">
                <a:latin typeface="Arial"/>
                <a:cs typeface="Arial"/>
              </a:rPr>
              <a:t>Number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accesses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exceeds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threshold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R</a:t>
            </a:r>
            <a:r>
              <a:rPr sz="900" i="1" spc="20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⇒</a:t>
            </a:r>
            <a:r>
              <a:rPr sz="900" i="1" spc="-295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replicate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file</a:t>
            </a:r>
            <a:endParaRPr sz="900">
              <a:latin typeface="Arial"/>
              <a:cs typeface="Arial"/>
            </a:endParaRPr>
          </a:p>
          <a:p>
            <a:pPr marL="158115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158750" algn="l"/>
              </a:tabLst>
            </a:pPr>
            <a:r>
              <a:rPr sz="900" dirty="0">
                <a:latin typeface="Arial"/>
                <a:cs typeface="Arial"/>
              </a:rPr>
              <a:t>Number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access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between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D</a:t>
            </a:r>
            <a:r>
              <a:rPr sz="900" i="1" spc="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R</a:t>
            </a:r>
            <a:r>
              <a:rPr sz="900" i="1" spc="15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⇒</a:t>
            </a:r>
            <a:r>
              <a:rPr sz="900" i="1" spc="-295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migrate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file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985519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5" action="ppaction://hlinksldjump"/>
              </a:rPr>
              <a:t>Content</a:t>
            </a:r>
            <a:r>
              <a:rPr sz="500" spc="-2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replication</a:t>
            </a:r>
            <a:r>
              <a:rPr sz="500" spc="-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and</a:t>
            </a:r>
            <a:r>
              <a:rPr sz="500" spc="-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placement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364E3-6277-F553-0847-44C29851F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F1693C4-D9AF-90FD-5FE2-5B13DD5B040B}"/>
              </a:ext>
            </a:extLst>
          </p:cNvPr>
          <p:cNvSpPr txBox="1"/>
          <p:nvPr/>
        </p:nvSpPr>
        <p:spPr>
          <a:xfrm>
            <a:off x="53467" y="-1515"/>
            <a:ext cx="7994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E31FD6A-1362-D9DE-5B13-F5B5C2A35752}"/>
              </a:ext>
            </a:extLst>
          </p:cNvPr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B410C7FB-A602-2799-06AD-B0754FA0B8A3}"/>
              </a:ext>
            </a:extLst>
          </p:cNvPr>
          <p:cNvSpPr txBox="1"/>
          <p:nvPr/>
        </p:nvSpPr>
        <p:spPr>
          <a:xfrm>
            <a:off x="3931424" y="-1515"/>
            <a:ext cx="6235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Replica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management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A06E4101-553B-2EDD-B544-48580199D14D}"/>
              </a:ext>
            </a:extLst>
          </p:cNvPr>
          <p:cNvSpPr txBox="1"/>
          <p:nvPr/>
        </p:nvSpPr>
        <p:spPr>
          <a:xfrm>
            <a:off x="95300" y="197711"/>
            <a:ext cx="2903855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200" spc="-10" dirty="0">
                <a:solidFill>
                  <a:srgbClr val="3333B2"/>
                </a:solidFill>
                <a:latin typeface="Arial"/>
                <a:cs typeface="Arial"/>
              </a:rPr>
              <a:t>Client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-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initiated</a:t>
            </a:r>
            <a:r>
              <a:rPr sz="12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replicas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6C626E86-1F14-DB5B-A6BA-FAE5EF077E08}"/>
              </a:ext>
            </a:extLst>
          </p:cNvPr>
          <p:cNvSpPr txBox="1"/>
          <p:nvPr/>
        </p:nvSpPr>
        <p:spPr>
          <a:xfrm>
            <a:off x="400050" y="506469"/>
            <a:ext cx="3736340" cy="9694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8915" marR="30480" indent="-171450">
              <a:lnSpc>
                <a:spcPct val="111600"/>
              </a:lnSpc>
              <a:spcBef>
                <a:spcPts val="100"/>
              </a:spcBef>
              <a:buClr>
                <a:srgbClr val="3333B2"/>
              </a:buClr>
              <a:buFont typeface="Arial" panose="020B0604020202020204" pitchFamily="34" charset="0"/>
              <a:buChar char="•"/>
              <a:tabLst>
                <a:tab pos="158750" algn="l"/>
              </a:tabLst>
            </a:pPr>
            <a:r>
              <a:rPr lang="en-US" sz="900" dirty="0">
                <a:latin typeface="Arial"/>
                <a:cs typeface="Arial"/>
              </a:rPr>
              <a:t>Client can initiate a request, and local cache can be maintained to store the copy of data</a:t>
            </a:r>
          </a:p>
          <a:p>
            <a:pPr marL="208915" marR="30480" indent="-171450">
              <a:lnSpc>
                <a:spcPct val="111600"/>
              </a:lnSpc>
              <a:spcBef>
                <a:spcPts val="100"/>
              </a:spcBef>
              <a:buClr>
                <a:srgbClr val="3333B2"/>
              </a:buClr>
              <a:buFont typeface="Arial" panose="020B0604020202020204" pitchFamily="34" charset="0"/>
              <a:buChar char="•"/>
              <a:tabLst>
                <a:tab pos="158750" algn="l"/>
              </a:tabLst>
            </a:pPr>
            <a:r>
              <a:rPr lang="en-US" sz="900" dirty="0">
                <a:latin typeface="Arial"/>
                <a:cs typeface="Arial"/>
              </a:rPr>
              <a:t>If higher update frequency, avoid caching due to stale copy</a:t>
            </a:r>
          </a:p>
          <a:p>
            <a:pPr marL="208915" marR="30480" indent="-171450">
              <a:lnSpc>
                <a:spcPct val="111600"/>
              </a:lnSpc>
              <a:spcBef>
                <a:spcPts val="100"/>
              </a:spcBef>
              <a:buClr>
                <a:srgbClr val="3333B2"/>
              </a:buClr>
              <a:buFont typeface="Arial" panose="020B0604020202020204" pitchFamily="34" charset="0"/>
              <a:buChar char="•"/>
              <a:tabLst>
                <a:tab pos="158750" algn="l"/>
              </a:tabLst>
            </a:pPr>
            <a:r>
              <a:rPr lang="en-US" sz="900" dirty="0">
                <a:latin typeface="Arial"/>
                <a:cs typeface="Arial"/>
              </a:rPr>
              <a:t>If higher read frequency, use caching to improve performance</a:t>
            </a:r>
          </a:p>
          <a:p>
            <a:pPr marL="208915" marR="30480" indent="-171450">
              <a:lnSpc>
                <a:spcPct val="111600"/>
              </a:lnSpc>
              <a:spcBef>
                <a:spcPts val="100"/>
              </a:spcBef>
              <a:buClr>
                <a:srgbClr val="3333B2"/>
              </a:buClr>
              <a:buFont typeface="Arial" panose="020B0604020202020204" pitchFamily="34" charset="0"/>
              <a:buChar char="•"/>
              <a:tabLst>
                <a:tab pos="158750" algn="l"/>
              </a:tabLst>
            </a:pPr>
            <a:r>
              <a:rPr lang="en-US" sz="900" dirty="0">
                <a:latin typeface="Arial"/>
                <a:cs typeface="Arial"/>
              </a:rPr>
              <a:t>Cache can be shared among clients in a local area network (difficult to impose)</a:t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8" name="object 8">
            <a:extLst>
              <a:ext uri="{FF2B5EF4-FFF2-40B4-BE49-F238E27FC236}">
                <a16:creationId xmlns:a16="http://schemas.microsoft.com/office/drawing/2014/main" id="{504999A6-2AE4-2583-0892-CC95A6CB725C}"/>
              </a:ext>
            </a:extLst>
          </p:cNvPr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83B42E12-5D53-0C39-7E0E-6823A84CB7CE}"/>
                </a:ext>
              </a:extLst>
            </p:cNvPr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A4E3C07F-5B09-BF67-61B9-51500A06D3E3}"/>
                </a:ext>
              </a:extLst>
            </p:cNvPr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>
            <a:extLst>
              <a:ext uri="{FF2B5EF4-FFF2-40B4-BE49-F238E27FC236}">
                <a16:creationId xmlns:a16="http://schemas.microsoft.com/office/drawing/2014/main" id="{E42751E7-C244-E053-2D86-D00DBC81C58A}"/>
              </a:ext>
            </a:extLst>
          </p:cNvPr>
          <p:cNvSpPr txBox="1"/>
          <p:nvPr/>
        </p:nvSpPr>
        <p:spPr>
          <a:xfrm>
            <a:off x="53467" y="3349927"/>
            <a:ext cx="985519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Content</a:t>
            </a:r>
            <a:r>
              <a:rPr sz="500" spc="-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replication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and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placement</a:t>
            </a:r>
            <a:endParaRPr sz="5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17295109"/>
      </p:ext>
    </p:extLst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90010" algn="l"/>
              </a:tabLst>
            </a:pPr>
            <a:r>
              <a:rPr sz="500" dirty="0"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4" action="ppaction://hlinksldjump"/>
              </a:rPr>
              <a:t>Replica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4" action="ppaction://hlinksldjump"/>
              </a:rPr>
              <a:t>management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Content</a:t>
            </a:r>
            <a:r>
              <a:rPr spc="-50" dirty="0"/>
              <a:t> </a:t>
            </a:r>
            <a:r>
              <a:rPr spc="-10" dirty="0"/>
              <a:t>distribution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21894" y="514774"/>
            <a:ext cx="3966845" cy="1598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Consider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only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client-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server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combination</a:t>
            </a:r>
            <a:endParaRPr sz="1000">
              <a:latin typeface="Arial"/>
              <a:cs typeface="Arial"/>
            </a:endParaRPr>
          </a:p>
          <a:p>
            <a:pPr marL="290830" indent="-120650">
              <a:lnSpc>
                <a:spcPct val="100000"/>
              </a:lnSpc>
              <a:spcBef>
                <a:spcPts val="700"/>
              </a:spcBef>
              <a:buClr>
                <a:srgbClr val="3333B2"/>
              </a:buClr>
              <a:buFont typeface="Menlo"/>
              <a:buChar char="•"/>
              <a:tabLst>
                <a:tab pos="291465" algn="l"/>
              </a:tabLst>
            </a:pPr>
            <a:r>
              <a:rPr sz="900" dirty="0">
                <a:latin typeface="Arial"/>
                <a:cs typeface="Arial"/>
              </a:rPr>
              <a:t>Propagate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only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notification/invalidation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(often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used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caches)</a:t>
            </a:r>
            <a:endParaRPr sz="900">
              <a:latin typeface="Arial"/>
              <a:cs typeface="Arial"/>
            </a:endParaRPr>
          </a:p>
          <a:p>
            <a:pPr marL="290830" marR="74295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287655" algn="l"/>
              </a:tabLst>
            </a:pPr>
            <a:r>
              <a:rPr sz="900" spc="-25" dirty="0">
                <a:latin typeface="Arial"/>
                <a:cs typeface="Arial"/>
              </a:rPr>
              <a:t>Transfer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data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copy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another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(distributed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databases):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passive replication</a:t>
            </a:r>
            <a:endParaRPr sz="900">
              <a:latin typeface="Arial"/>
              <a:cs typeface="Arial"/>
            </a:endParaRPr>
          </a:p>
          <a:p>
            <a:pPr marL="290830" indent="-120650">
              <a:lnSpc>
                <a:spcPct val="100000"/>
              </a:lnSpc>
              <a:spcBef>
                <a:spcPts val="520"/>
              </a:spcBef>
              <a:buClr>
                <a:srgbClr val="3333B2"/>
              </a:buClr>
              <a:buFont typeface="Menlo"/>
              <a:buChar char="•"/>
              <a:tabLst>
                <a:tab pos="291465" algn="l"/>
              </a:tabLst>
            </a:pPr>
            <a:r>
              <a:rPr sz="900" dirty="0">
                <a:latin typeface="Arial"/>
                <a:cs typeface="Arial"/>
              </a:rPr>
              <a:t>Propagate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operation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other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copies: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active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replication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sz="1000" spc="-20" dirty="0">
                <a:solidFill>
                  <a:srgbClr val="C80000"/>
                </a:solidFill>
                <a:latin typeface="Arial"/>
                <a:cs typeface="Arial"/>
              </a:rPr>
              <a:t>Note</a:t>
            </a:r>
            <a:endParaRPr sz="1000">
              <a:latin typeface="Arial"/>
              <a:cs typeface="Arial"/>
            </a:endParaRPr>
          </a:p>
          <a:p>
            <a:pPr marL="38100" marR="32384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No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single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approach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best,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but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depends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highly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available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bandwidth</a:t>
            </a:r>
            <a:r>
              <a:rPr sz="900" spc="-25" dirty="0">
                <a:latin typeface="Arial"/>
                <a:cs typeface="Arial"/>
              </a:rPr>
              <a:t> and </a:t>
            </a:r>
            <a:r>
              <a:rPr sz="900" spc="-10" dirty="0">
                <a:latin typeface="Arial"/>
                <a:cs typeface="Arial"/>
              </a:rPr>
              <a:t>read-to-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ratio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replicas.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57023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5" action="ppaction://hlinksldjump"/>
              </a:rPr>
              <a:t>Content</a:t>
            </a:r>
            <a:r>
              <a:rPr sz="500" spc="-2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distribution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90010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Replica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management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Content</a:t>
            </a:r>
            <a:r>
              <a:rPr spc="-60" dirty="0"/>
              <a:t> </a:t>
            </a:r>
            <a:r>
              <a:rPr dirty="0"/>
              <a:t>distribution:</a:t>
            </a:r>
            <a:r>
              <a:rPr spc="10" dirty="0"/>
              <a:t> </a:t>
            </a:r>
            <a:r>
              <a:rPr dirty="0"/>
              <a:t>client/server</a:t>
            </a:r>
            <a:r>
              <a:rPr spc="-60" dirty="0"/>
              <a:t> </a:t>
            </a:r>
            <a:r>
              <a:rPr spc="-10" dirty="0"/>
              <a:t>system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0428" y="464471"/>
            <a:ext cx="3885565" cy="1096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209" marR="109855" indent="-4445">
              <a:lnSpc>
                <a:spcPct val="109600"/>
              </a:lnSpc>
              <a:spcBef>
                <a:spcPts val="100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comparison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between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push-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based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and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pull-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based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protocols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in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the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case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0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multiple-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client,</a:t>
            </a:r>
            <a:r>
              <a:rPr sz="10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single-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server</a:t>
            </a:r>
            <a:r>
              <a:rPr sz="10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systems</a:t>
            </a:r>
            <a:endParaRPr sz="1000">
              <a:latin typeface="Arial"/>
              <a:cs typeface="Arial"/>
            </a:endParaRPr>
          </a:p>
          <a:p>
            <a:pPr marL="282575" marR="453390" indent="-120650">
              <a:lnSpc>
                <a:spcPct val="111600"/>
              </a:lnSpc>
              <a:spcBef>
                <a:spcPts val="580"/>
              </a:spcBef>
              <a:buClr>
                <a:srgbClr val="3333B2"/>
              </a:buClr>
              <a:buFont typeface="Menlo"/>
              <a:buChar char="•"/>
              <a:tabLst>
                <a:tab pos="283210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Pushing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updates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server-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initiated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approach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</a:t>
            </a:r>
            <a:r>
              <a:rPr sz="900" spc="-25" dirty="0">
                <a:latin typeface="Arial"/>
                <a:cs typeface="Arial"/>
              </a:rPr>
              <a:t> is </a:t>
            </a:r>
            <a:r>
              <a:rPr sz="900" dirty="0">
                <a:latin typeface="Arial"/>
                <a:cs typeface="Arial"/>
              </a:rPr>
              <a:t>propagated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regardless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whether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target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asked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it.</a:t>
            </a:r>
            <a:endParaRPr sz="900">
              <a:latin typeface="Arial"/>
              <a:cs typeface="Arial"/>
            </a:endParaRPr>
          </a:p>
          <a:p>
            <a:pPr marL="282575" marR="17780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283210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Pulling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updates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client-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initiated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approach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requests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be </a:t>
            </a:r>
            <a:r>
              <a:rPr sz="900" spc="-10" dirty="0">
                <a:latin typeface="Arial"/>
                <a:cs typeface="Arial"/>
              </a:rPr>
              <a:t>updated.</a:t>
            </a:r>
            <a:endParaRPr sz="9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756513" y="1663039"/>
          <a:ext cx="3089909" cy="11334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8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1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96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319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spc="-10" dirty="0">
                          <a:solidFill>
                            <a:srgbClr val="3333B2"/>
                          </a:solidFill>
                          <a:latin typeface="Arial"/>
                          <a:cs typeface="Arial"/>
                        </a:rPr>
                        <a:t>Issue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spc="-10" dirty="0">
                          <a:solidFill>
                            <a:srgbClr val="3333B2"/>
                          </a:solidFill>
                          <a:latin typeface="Arial"/>
                          <a:cs typeface="Arial"/>
                        </a:rPr>
                        <a:t>Push-based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spc="-10" dirty="0">
                          <a:solidFill>
                            <a:srgbClr val="3333B2"/>
                          </a:solidFill>
                          <a:latin typeface="Arial"/>
                          <a:cs typeface="Arial"/>
                        </a:rPr>
                        <a:t>Pull-based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spc="-25" dirty="0">
                          <a:latin typeface="Arial"/>
                          <a:cs typeface="Arial"/>
                        </a:rPr>
                        <a:t>1: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List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client</a:t>
                      </a:r>
                      <a:r>
                        <a:rPr sz="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caches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spc="-20" dirty="0">
                          <a:latin typeface="Arial"/>
                          <a:cs typeface="Arial"/>
                        </a:rPr>
                        <a:t>None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spc="-25" dirty="0">
                          <a:latin typeface="Arial"/>
                          <a:cs typeface="Arial"/>
                        </a:rPr>
                        <a:t>2: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Update</a:t>
                      </a:r>
                      <a:r>
                        <a:rPr sz="8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(and</a:t>
                      </a:r>
                      <a:r>
                        <a:rPr sz="8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possibly</a:t>
                      </a:r>
                      <a:r>
                        <a:rPr sz="8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fetch</a:t>
                      </a:r>
                      <a:r>
                        <a:rPr sz="8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update)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Poll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update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spc="-25" dirty="0">
                          <a:latin typeface="Arial"/>
                          <a:cs typeface="Arial"/>
                        </a:rPr>
                        <a:t>3: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Immediate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(or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fetch-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update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time)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Fetch-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update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 time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695">
                <a:tc gridSpan="3"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1:</a:t>
                      </a:r>
                      <a:r>
                        <a:rPr sz="800" i="1" spc="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State</a:t>
                      </a:r>
                      <a:r>
                        <a:rPr sz="800" i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at</a:t>
                      </a:r>
                      <a:r>
                        <a:rPr sz="800" i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server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 marL="78105" marR="1649730">
                        <a:lnSpc>
                          <a:spcPct val="130100"/>
                        </a:lnSpc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2:</a:t>
                      </a:r>
                      <a:r>
                        <a:rPr sz="800" i="1" spc="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Messages</a:t>
                      </a:r>
                      <a:r>
                        <a:rPr sz="800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800" i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be</a:t>
                      </a:r>
                      <a:r>
                        <a:rPr sz="800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exchanged 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3:</a:t>
                      </a:r>
                      <a:r>
                        <a:rPr sz="800" i="1" spc="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Response</a:t>
                      </a:r>
                      <a:r>
                        <a:rPr sz="800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time</a:t>
                      </a:r>
                      <a:r>
                        <a:rPr sz="800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at</a:t>
                      </a:r>
                      <a:r>
                        <a:rPr sz="800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800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client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57023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Content</a:t>
            </a:r>
            <a:r>
              <a:rPr sz="500" spc="-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distribution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90010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Replica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management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Content</a:t>
            </a:r>
            <a:r>
              <a:rPr spc="-50" dirty="0"/>
              <a:t> </a:t>
            </a:r>
            <a:r>
              <a:rPr spc="-10" dirty="0"/>
              <a:t>distribution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1947" y="423556"/>
            <a:ext cx="3796665" cy="90487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17780" marR="5080" indent="-5715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We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dynamically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switch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between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pulling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pushing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leases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A</a:t>
            </a:r>
            <a:r>
              <a:rPr sz="900" dirty="0">
                <a:latin typeface="Arial"/>
                <a:cs typeface="Arial"/>
              </a:rPr>
              <a:t> contract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promises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push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until</a:t>
            </a:r>
            <a:r>
              <a:rPr sz="900" spc="-25" dirty="0">
                <a:latin typeface="Arial"/>
                <a:cs typeface="Arial"/>
              </a:rPr>
              <a:t> the </a:t>
            </a:r>
            <a:r>
              <a:rPr sz="900" dirty="0">
                <a:latin typeface="Arial"/>
                <a:cs typeface="Arial"/>
              </a:rPr>
              <a:t>lease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expires.</a:t>
            </a:r>
            <a:endParaRPr sz="900">
              <a:latin typeface="Arial"/>
              <a:cs typeface="Arial"/>
            </a:endParaRPr>
          </a:p>
          <a:p>
            <a:pPr marL="17780">
              <a:lnSpc>
                <a:spcPct val="100000"/>
              </a:lnSpc>
              <a:spcBef>
                <a:spcPts val="745"/>
              </a:spcBef>
            </a:pP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Make</a:t>
            </a:r>
            <a:r>
              <a:rPr sz="10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lease</a:t>
            </a:r>
            <a:r>
              <a:rPr sz="10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expiration</a:t>
            </a:r>
            <a:r>
              <a:rPr sz="10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time</a:t>
            </a:r>
            <a:r>
              <a:rPr sz="10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adaptive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57023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Content</a:t>
            </a:r>
            <a:r>
              <a:rPr sz="500" spc="-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distribution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90010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Replica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management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Content</a:t>
            </a:r>
            <a:r>
              <a:rPr spc="-50" dirty="0"/>
              <a:t> </a:t>
            </a:r>
            <a:r>
              <a:rPr spc="-10" dirty="0"/>
              <a:t>distribution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29247" y="423556"/>
            <a:ext cx="3944620" cy="128333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3048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30480" marR="140335" indent="-5715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We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dynamically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switch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between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pulling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pushing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leases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A</a:t>
            </a:r>
            <a:r>
              <a:rPr sz="900" dirty="0">
                <a:latin typeface="Arial"/>
                <a:cs typeface="Arial"/>
              </a:rPr>
              <a:t> contract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promises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push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until</a:t>
            </a:r>
            <a:r>
              <a:rPr sz="900" spc="-25" dirty="0">
                <a:latin typeface="Arial"/>
                <a:cs typeface="Arial"/>
              </a:rPr>
              <a:t> the </a:t>
            </a:r>
            <a:r>
              <a:rPr sz="900" dirty="0">
                <a:latin typeface="Arial"/>
                <a:cs typeface="Arial"/>
              </a:rPr>
              <a:t>lease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expires.</a:t>
            </a:r>
            <a:endParaRPr sz="900">
              <a:latin typeface="Arial"/>
              <a:cs typeface="Arial"/>
            </a:endParaRPr>
          </a:p>
          <a:p>
            <a:pPr marL="30480">
              <a:lnSpc>
                <a:spcPct val="100000"/>
              </a:lnSpc>
              <a:spcBef>
                <a:spcPts val="745"/>
              </a:spcBef>
            </a:pP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Make</a:t>
            </a:r>
            <a:r>
              <a:rPr sz="10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lease</a:t>
            </a:r>
            <a:r>
              <a:rPr sz="10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expiration</a:t>
            </a:r>
            <a:r>
              <a:rPr sz="10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time</a:t>
            </a:r>
            <a:r>
              <a:rPr sz="10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adaptive</a:t>
            </a:r>
            <a:endParaRPr sz="1000">
              <a:latin typeface="Arial"/>
              <a:cs typeface="Arial"/>
            </a:endParaRPr>
          </a:p>
          <a:p>
            <a:pPr marL="283210" marR="17780" indent="-120650">
              <a:lnSpc>
                <a:spcPct val="111600"/>
              </a:lnSpc>
              <a:spcBef>
                <a:spcPts val="565"/>
              </a:spcBef>
              <a:buFont typeface="Menlo"/>
              <a:buChar char="•"/>
              <a:tabLst>
                <a:tab pos="283845" algn="l"/>
              </a:tabLst>
            </a:pP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Age-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based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leases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object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hasn’t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changed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time,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will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not </a:t>
            </a:r>
            <a:r>
              <a:rPr sz="900" dirty="0">
                <a:latin typeface="Arial"/>
                <a:cs typeface="Arial"/>
              </a:rPr>
              <a:t>change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near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future,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provide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long-</a:t>
            </a:r>
            <a:r>
              <a:rPr sz="900" dirty="0">
                <a:latin typeface="Arial"/>
                <a:cs typeface="Arial"/>
              </a:rPr>
              <a:t>lasting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lease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57023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Content</a:t>
            </a:r>
            <a:r>
              <a:rPr sz="500" spc="-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distribution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90010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Replica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management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Content</a:t>
            </a:r>
            <a:r>
              <a:rPr spc="-50" dirty="0"/>
              <a:t> </a:t>
            </a:r>
            <a:r>
              <a:rPr spc="-10" dirty="0"/>
              <a:t>distribution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1947" y="423556"/>
            <a:ext cx="3796665" cy="90487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17780" marR="5080" indent="-5715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We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dynamically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switch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between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pulling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pushing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leases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A</a:t>
            </a:r>
            <a:r>
              <a:rPr sz="900" dirty="0">
                <a:latin typeface="Arial"/>
                <a:cs typeface="Arial"/>
              </a:rPr>
              <a:t> contract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promises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push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until</a:t>
            </a:r>
            <a:r>
              <a:rPr sz="900" spc="-25" dirty="0">
                <a:latin typeface="Arial"/>
                <a:cs typeface="Arial"/>
              </a:rPr>
              <a:t> the </a:t>
            </a:r>
            <a:r>
              <a:rPr sz="900" dirty="0">
                <a:latin typeface="Arial"/>
                <a:cs typeface="Arial"/>
              </a:rPr>
              <a:t>lease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expires.</a:t>
            </a:r>
            <a:endParaRPr sz="900">
              <a:latin typeface="Arial"/>
              <a:cs typeface="Arial"/>
            </a:endParaRPr>
          </a:p>
          <a:p>
            <a:pPr marL="17780">
              <a:lnSpc>
                <a:spcPct val="100000"/>
              </a:lnSpc>
              <a:spcBef>
                <a:spcPts val="745"/>
              </a:spcBef>
            </a:pP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Make</a:t>
            </a:r>
            <a:r>
              <a:rPr sz="10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lease</a:t>
            </a:r>
            <a:r>
              <a:rPr sz="10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expiration</a:t>
            </a:r>
            <a:r>
              <a:rPr sz="10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time</a:t>
            </a:r>
            <a:r>
              <a:rPr sz="10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adaptive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0148" y="1731902"/>
            <a:ext cx="3788410" cy="485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8270" marR="5080" indent="-116205">
              <a:lnSpc>
                <a:spcPct val="111600"/>
              </a:lnSpc>
              <a:spcBef>
                <a:spcPts val="100"/>
              </a:spcBef>
              <a:buFont typeface="Menlo"/>
              <a:buChar char="•"/>
              <a:tabLst>
                <a:tab pos="133350" algn="l"/>
              </a:tabLst>
            </a:pP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Renewal-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frequency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based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leases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often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requests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a</a:t>
            </a:r>
            <a:r>
              <a:rPr sz="900" spc="-10" dirty="0">
                <a:latin typeface="Arial"/>
                <a:cs typeface="Arial"/>
              </a:rPr>
              <a:t> specific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object,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longer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expiration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time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client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(for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object) </a:t>
            </a:r>
            <a:r>
              <a:rPr sz="900" dirty="0">
                <a:latin typeface="Arial"/>
                <a:cs typeface="Arial"/>
              </a:rPr>
              <a:t>will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be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57023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Content</a:t>
            </a:r>
            <a:r>
              <a:rPr sz="500" spc="-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distribution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90010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Replica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management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Content</a:t>
            </a:r>
            <a:r>
              <a:rPr spc="-50" dirty="0"/>
              <a:t> </a:t>
            </a:r>
            <a:r>
              <a:rPr spc="-10" dirty="0"/>
              <a:t>distribution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1947" y="423556"/>
            <a:ext cx="3796665" cy="90487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17780" marR="5080" indent="-5715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We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dynamically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switch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between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pulling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pushing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leases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A</a:t>
            </a:r>
            <a:r>
              <a:rPr sz="900" dirty="0">
                <a:latin typeface="Arial"/>
                <a:cs typeface="Arial"/>
              </a:rPr>
              <a:t> contract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promises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push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until</a:t>
            </a:r>
            <a:r>
              <a:rPr sz="900" spc="-25" dirty="0">
                <a:latin typeface="Arial"/>
                <a:cs typeface="Arial"/>
              </a:rPr>
              <a:t> the </a:t>
            </a:r>
            <a:r>
              <a:rPr sz="900" dirty="0">
                <a:latin typeface="Arial"/>
                <a:cs typeface="Arial"/>
              </a:rPr>
              <a:t>lease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expires.</a:t>
            </a:r>
            <a:endParaRPr sz="900">
              <a:latin typeface="Arial"/>
              <a:cs typeface="Arial"/>
            </a:endParaRPr>
          </a:p>
          <a:p>
            <a:pPr marL="17780">
              <a:lnSpc>
                <a:spcPct val="100000"/>
              </a:lnSpc>
              <a:spcBef>
                <a:spcPts val="745"/>
              </a:spcBef>
            </a:pP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Make</a:t>
            </a:r>
            <a:r>
              <a:rPr sz="10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lease</a:t>
            </a:r>
            <a:r>
              <a:rPr sz="10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expiration</a:t>
            </a:r>
            <a:r>
              <a:rPr sz="10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time</a:t>
            </a:r>
            <a:r>
              <a:rPr sz="10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adaptive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0148" y="2241807"/>
            <a:ext cx="3409950" cy="332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2715" marR="5080" indent="-120650">
              <a:lnSpc>
                <a:spcPct val="111600"/>
              </a:lnSpc>
              <a:spcBef>
                <a:spcPts val="100"/>
              </a:spcBef>
              <a:buFont typeface="Menlo"/>
              <a:buChar char="•"/>
              <a:tabLst>
                <a:tab pos="133350" algn="l"/>
              </a:tabLst>
            </a:pP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State-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based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leases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loaded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shorter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the </a:t>
            </a:r>
            <a:r>
              <a:rPr sz="900" spc="-10" dirty="0">
                <a:latin typeface="Arial"/>
                <a:cs typeface="Arial"/>
              </a:rPr>
              <a:t>expiration </a:t>
            </a:r>
            <a:r>
              <a:rPr sz="900" dirty="0">
                <a:latin typeface="Arial"/>
                <a:cs typeface="Arial"/>
              </a:rPr>
              <a:t>times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become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57023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Content</a:t>
            </a:r>
            <a:r>
              <a:rPr sz="500" spc="-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distribution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90010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Replica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management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Content</a:t>
            </a:r>
            <a:r>
              <a:rPr spc="-50" dirty="0"/>
              <a:t> </a:t>
            </a:r>
            <a:r>
              <a:rPr spc="-10" dirty="0"/>
              <a:t>distribution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6547" y="423556"/>
            <a:ext cx="3977640" cy="263080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4318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43180" marR="160655" indent="-5715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We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dynamically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switch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between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pulling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pushing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leases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A</a:t>
            </a:r>
            <a:r>
              <a:rPr sz="900" dirty="0">
                <a:latin typeface="Arial"/>
                <a:cs typeface="Arial"/>
              </a:rPr>
              <a:t> contract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promises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push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until</a:t>
            </a:r>
            <a:r>
              <a:rPr sz="900" spc="-25" dirty="0">
                <a:latin typeface="Arial"/>
                <a:cs typeface="Arial"/>
              </a:rPr>
              <a:t> the </a:t>
            </a:r>
            <a:r>
              <a:rPr sz="900" dirty="0">
                <a:latin typeface="Arial"/>
                <a:cs typeface="Arial"/>
              </a:rPr>
              <a:t>lease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expires.</a:t>
            </a:r>
            <a:endParaRPr sz="9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745"/>
              </a:spcBef>
            </a:pP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Make</a:t>
            </a:r>
            <a:r>
              <a:rPr sz="10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lease</a:t>
            </a:r>
            <a:r>
              <a:rPr sz="10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expiration</a:t>
            </a:r>
            <a:r>
              <a:rPr sz="10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time</a:t>
            </a:r>
            <a:r>
              <a:rPr sz="10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adaptive</a:t>
            </a:r>
            <a:endParaRPr sz="1000">
              <a:latin typeface="Arial"/>
              <a:cs typeface="Arial"/>
            </a:endParaRPr>
          </a:p>
          <a:p>
            <a:pPr marL="295910" marR="38100" indent="-120650">
              <a:lnSpc>
                <a:spcPct val="111600"/>
              </a:lnSpc>
              <a:spcBef>
                <a:spcPts val="565"/>
              </a:spcBef>
              <a:buFont typeface="Menlo"/>
              <a:buChar char="•"/>
              <a:tabLst>
                <a:tab pos="296545" algn="l"/>
              </a:tabLst>
            </a:pP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Age-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based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leases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object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hasn’t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changed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time,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will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not </a:t>
            </a:r>
            <a:r>
              <a:rPr sz="900" dirty="0">
                <a:latin typeface="Arial"/>
                <a:cs typeface="Arial"/>
              </a:rPr>
              <a:t>change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near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future,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provide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long-</a:t>
            </a:r>
            <a:r>
              <a:rPr sz="900" dirty="0">
                <a:latin typeface="Arial"/>
                <a:cs typeface="Arial"/>
              </a:rPr>
              <a:t>lasting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lease</a:t>
            </a:r>
            <a:endParaRPr sz="900">
              <a:latin typeface="Arial"/>
              <a:cs typeface="Arial"/>
            </a:endParaRPr>
          </a:p>
          <a:p>
            <a:pPr marL="292100" marR="30480" indent="-116205">
              <a:lnSpc>
                <a:spcPct val="111600"/>
              </a:lnSpc>
              <a:spcBef>
                <a:spcPts val="400"/>
              </a:spcBef>
              <a:buFont typeface="Menlo"/>
              <a:buChar char="•"/>
              <a:tabLst>
                <a:tab pos="296545" algn="l"/>
              </a:tabLst>
            </a:pP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Renewal-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frequency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based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leases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often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requests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a</a:t>
            </a:r>
            <a:r>
              <a:rPr sz="900" spc="-10" dirty="0">
                <a:latin typeface="Arial"/>
                <a:cs typeface="Arial"/>
              </a:rPr>
              <a:t> specific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object,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longer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expiration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time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client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(for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object) </a:t>
            </a:r>
            <a:r>
              <a:rPr sz="900" dirty="0">
                <a:latin typeface="Arial"/>
                <a:cs typeface="Arial"/>
              </a:rPr>
              <a:t>will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be</a:t>
            </a:r>
            <a:endParaRPr sz="900">
              <a:latin typeface="Arial"/>
              <a:cs typeface="Arial"/>
            </a:endParaRPr>
          </a:p>
          <a:p>
            <a:pPr marL="295910" marR="408305" indent="-120650">
              <a:lnSpc>
                <a:spcPct val="111600"/>
              </a:lnSpc>
              <a:spcBef>
                <a:spcPts val="400"/>
              </a:spcBef>
              <a:buFont typeface="Menlo"/>
              <a:buChar char="•"/>
              <a:tabLst>
                <a:tab pos="296545" algn="l"/>
              </a:tabLst>
            </a:pP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State-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based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leases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loaded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shorter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the </a:t>
            </a:r>
            <a:r>
              <a:rPr sz="900" spc="-10" dirty="0">
                <a:latin typeface="Arial"/>
                <a:cs typeface="Arial"/>
              </a:rPr>
              <a:t>expiration </a:t>
            </a:r>
            <a:r>
              <a:rPr sz="900" dirty="0">
                <a:latin typeface="Arial"/>
                <a:cs typeface="Arial"/>
              </a:rPr>
              <a:t>times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become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</a:pP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Question</a:t>
            </a:r>
            <a:endParaRPr sz="10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latin typeface="Arial"/>
                <a:cs typeface="Arial"/>
              </a:rPr>
              <a:t>Why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this?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57023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Content</a:t>
            </a:r>
            <a:r>
              <a:rPr sz="500" spc="-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distribution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90010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Replica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management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Managing</a:t>
            </a:r>
            <a:r>
              <a:rPr spc="-60" dirty="0"/>
              <a:t> </a:t>
            </a:r>
            <a:r>
              <a:rPr dirty="0"/>
              <a:t>replicated</a:t>
            </a:r>
            <a:r>
              <a:rPr spc="-55" dirty="0"/>
              <a:t> </a:t>
            </a:r>
            <a:r>
              <a:rPr spc="-10" dirty="0"/>
              <a:t>objects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67448" y="499583"/>
            <a:ext cx="3822065" cy="9950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5415" marR="29209" indent="-120650">
              <a:lnSpc>
                <a:spcPct val="111600"/>
              </a:lnSpc>
              <a:spcBef>
                <a:spcPts val="100"/>
              </a:spcBef>
              <a:buClr>
                <a:srgbClr val="3333B2"/>
              </a:buClr>
              <a:buFont typeface="Menlo"/>
              <a:buChar char="•"/>
              <a:tabLst>
                <a:tab pos="146050" algn="l"/>
              </a:tabLst>
            </a:pPr>
            <a:r>
              <a:rPr sz="900" spc="-10" dirty="0">
                <a:latin typeface="Arial"/>
                <a:cs typeface="Arial"/>
              </a:rPr>
              <a:t>Prevent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concurrent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execution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multiple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invocations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same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object: </a:t>
            </a:r>
            <a:r>
              <a:rPr sz="900" dirty="0">
                <a:latin typeface="Arial"/>
                <a:cs typeface="Arial"/>
              </a:rPr>
              <a:t>access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internal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object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serialized.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local </a:t>
            </a:r>
            <a:r>
              <a:rPr sz="900" dirty="0">
                <a:latin typeface="Arial"/>
                <a:cs typeface="Arial"/>
              </a:rPr>
              <a:t>locking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mechanisms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sufficient.</a:t>
            </a:r>
            <a:endParaRPr sz="900">
              <a:latin typeface="Arial"/>
              <a:cs typeface="Arial"/>
            </a:endParaRPr>
          </a:p>
          <a:p>
            <a:pPr marL="145415" marR="17780" indent="-120650" algn="just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146050" algn="l"/>
              </a:tabLst>
            </a:pPr>
            <a:r>
              <a:rPr sz="900" dirty="0">
                <a:latin typeface="Arial"/>
                <a:cs typeface="Arial"/>
              </a:rPr>
              <a:t>Ensure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changes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replicated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state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object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same: </a:t>
            </a:r>
            <a:r>
              <a:rPr sz="900" dirty="0">
                <a:latin typeface="Arial"/>
                <a:cs typeface="Arial"/>
              </a:rPr>
              <a:t>no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two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independent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method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invocations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take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place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different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replicas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at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same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time: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deterministic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thread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scheduling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51954" y="1607649"/>
            <a:ext cx="2931246" cy="1521795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81343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5" action="ppaction://hlinksldjump"/>
              </a:rPr>
              <a:t>Managing</a:t>
            </a:r>
            <a:r>
              <a:rPr sz="500" spc="-3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replicated</a:t>
            </a:r>
            <a:r>
              <a:rPr sz="500" spc="-2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objects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7994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replication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931424" y="-1515"/>
            <a:ext cx="6235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4" action="ppaction://hlinksldjump"/>
              </a:rPr>
              <a:t>Replica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4" action="ppaction://hlinksldjump"/>
              </a:rPr>
              <a:t>management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745105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Replicated-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object</a:t>
            </a:r>
            <a:r>
              <a:rPr sz="1200" spc="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invocations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Problem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when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invocating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replicated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object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59909" y="798784"/>
            <a:ext cx="2680588" cy="1634276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8" name="object 8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467" y="3349927"/>
            <a:ext cx="81343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6" action="ppaction://hlinksldjump"/>
              </a:rPr>
              <a:t>Managing</a:t>
            </a:r>
            <a:r>
              <a:rPr sz="500" spc="-30" dirty="0">
                <a:latin typeface="Arial"/>
                <a:cs typeface="Arial"/>
                <a:hlinkClick r:id="rId6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6" action="ppaction://hlinksldjump"/>
              </a:rPr>
              <a:t>replicated</a:t>
            </a:r>
            <a:r>
              <a:rPr sz="500" spc="-25" dirty="0">
                <a:latin typeface="Arial"/>
                <a:cs typeface="Arial"/>
                <a:hlinkClick r:id="rId6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6" action="ppaction://hlinksldjump"/>
              </a:rPr>
              <a:t>objects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7994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replication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931424" y="-1515"/>
            <a:ext cx="6235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4" action="ppaction://hlinksldjump"/>
              </a:rPr>
              <a:t>Replica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4" action="ppaction://hlinksldjump"/>
              </a:rPr>
              <a:t>management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1993264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Replicated-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object</a:t>
            </a:r>
            <a:r>
              <a:rPr sz="1200" spc="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invocations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15008" y="602059"/>
            <a:ext cx="1806456" cy="156256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644775" y="562837"/>
            <a:ext cx="1476161" cy="157521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68273" y="2205070"/>
            <a:ext cx="109664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latin typeface="Arial"/>
                <a:cs typeface="Arial"/>
              </a:rPr>
              <a:t>Forwarding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 </a:t>
            </a:r>
            <a:r>
              <a:rPr sz="900" spc="-10" dirty="0">
                <a:latin typeface="Arial"/>
                <a:cs typeface="Arial"/>
              </a:rPr>
              <a:t>request</a:t>
            </a:r>
            <a:endParaRPr sz="9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87683" y="2205070"/>
            <a:ext cx="99060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Arial"/>
                <a:cs typeface="Arial"/>
              </a:rPr>
              <a:t>Returning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reply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1" name="object 11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3467" y="3349927"/>
            <a:ext cx="81343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7" action="ppaction://hlinksldjump"/>
              </a:rPr>
              <a:t>Managing</a:t>
            </a:r>
            <a:r>
              <a:rPr sz="500" spc="-30" dirty="0">
                <a:latin typeface="Arial"/>
                <a:cs typeface="Arial"/>
                <a:hlinkClick r:id="rId7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7" action="ppaction://hlinksldjump"/>
              </a:rPr>
              <a:t>replicated</a:t>
            </a:r>
            <a:r>
              <a:rPr sz="500" spc="-25" dirty="0">
                <a:latin typeface="Arial"/>
                <a:cs typeface="Arial"/>
                <a:hlinkClick r:id="rId7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7" action="ppaction://hlinksldjump"/>
              </a:rPr>
              <a:t>objects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7994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910368" y="-1515"/>
            <a:ext cx="6445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3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protocols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1677670" cy="4787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Primary-based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protocols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930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Primary-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backup</a:t>
            </a:r>
            <a:r>
              <a:rPr sz="1000" spc="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protocol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7011" y="787043"/>
            <a:ext cx="2753960" cy="1860852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8" name="object 8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467" y="3349927"/>
            <a:ext cx="140017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3" action="ppaction://hlinksldjump"/>
              </a:rPr>
              <a:t>Sequential</a:t>
            </a:r>
            <a:r>
              <a:rPr sz="500" spc="-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consistency:</a:t>
            </a:r>
            <a:r>
              <a:rPr sz="500" spc="3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Primary-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based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protocols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7994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910368" y="-1515"/>
            <a:ext cx="6445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3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protocols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1677670" cy="4787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Primary-based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protocols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930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Primary-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backup</a:t>
            </a:r>
            <a:r>
              <a:rPr sz="1000" spc="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protocol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7011" y="787043"/>
            <a:ext cx="2753960" cy="186085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43763" y="2729131"/>
            <a:ext cx="3808095" cy="54927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434"/>
              </a:spcBef>
            </a:pP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Example</a:t>
            </a:r>
            <a:r>
              <a:rPr sz="1000" spc="-15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C994C"/>
                </a:solidFill>
                <a:latin typeface="Arial"/>
                <a:cs typeface="Arial"/>
              </a:rPr>
              <a:t>primary-</a:t>
            </a: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backup</a:t>
            </a:r>
            <a:r>
              <a:rPr sz="1000" spc="-10" dirty="0">
                <a:solidFill>
                  <a:srgbClr val="4C994C"/>
                </a:solidFill>
                <a:latin typeface="Arial"/>
                <a:cs typeface="Arial"/>
              </a:rPr>
              <a:t> protocol</a:t>
            </a:r>
            <a:endParaRPr sz="1000">
              <a:latin typeface="Arial"/>
              <a:cs typeface="Arial"/>
            </a:endParaRPr>
          </a:p>
          <a:p>
            <a:pPr marL="15875" marR="5080" indent="-3810">
              <a:lnSpc>
                <a:spcPct val="111600"/>
              </a:lnSpc>
              <a:spcBef>
                <a:spcPts val="175"/>
              </a:spcBef>
            </a:pPr>
            <a:r>
              <a:rPr sz="900" spc="-10" dirty="0">
                <a:latin typeface="Arial"/>
                <a:cs typeface="Arial"/>
              </a:rPr>
              <a:t>Traditionally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applied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distributed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databases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file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require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a</a:t>
            </a:r>
            <a:r>
              <a:rPr sz="900" dirty="0">
                <a:latin typeface="Arial"/>
                <a:cs typeface="Arial"/>
              </a:rPr>
              <a:t> high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degree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fault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tolerance.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Replicas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often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placed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same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LAN.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140017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3" action="ppaction://hlinksldjump"/>
              </a:rPr>
              <a:t>Sequential</a:t>
            </a:r>
            <a:r>
              <a:rPr sz="500" spc="-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consistency:</a:t>
            </a:r>
            <a:r>
              <a:rPr sz="500" spc="3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Primary-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based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protocols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7994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910368" y="-1515"/>
            <a:ext cx="6445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3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protocols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574925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Primary-based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protocols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Primary-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backup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protocol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with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local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writes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7011" y="804155"/>
            <a:ext cx="2753960" cy="1801910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8" name="object 8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467" y="3349927"/>
            <a:ext cx="140017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3" action="ppaction://hlinksldjump"/>
              </a:rPr>
              <a:t>Sequential</a:t>
            </a:r>
            <a:r>
              <a:rPr sz="500" spc="-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consistency:</a:t>
            </a:r>
            <a:r>
              <a:rPr sz="500" spc="3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Primary-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based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protocols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7994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910368" y="-1515"/>
            <a:ext cx="6445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3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protocols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574925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Primary-based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protocols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Primary-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backup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protocol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with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local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writes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7011" y="804155"/>
            <a:ext cx="2753960" cy="180191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47294" y="2710983"/>
            <a:ext cx="3876675" cy="54927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Example</a:t>
            </a:r>
            <a:r>
              <a:rPr sz="1000" spc="-25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C994C"/>
                </a:solidFill>
                <a:latin typeface="Arial"/>
                <a:cs typeface="Arial"/>
              </a:rPr>
              <a:t>primary-</a:t>
            </a: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backup</a:t>
            </a:r>
            <a:r>
              <a:rPr sz="1000" spc="-20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protocol</a:t>
            </a:r>
            <a:r>
              <a:rPr sz="1000" spc="-25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with</a:t>
            </a:r>
            <a:r>
              <a:rPr sz="1000" spc="-20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local</a:t>
            </a:r>
            <a:r>
              <a:rPr sz="1000" spc="-25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C994C"/>
                </a:solidFill>
                <a:latin typeface="Arial"/>
                <a:cs typeface="Arial"/>
              </a:rPr>
              <a:t>writes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ct val="111600"/>
              </a:lnSpc>
              <a:spcBef>
                <a:spcPts val="175"/>
              </a:spcBef>
            </a:pPr>
            <a:r>
              <a:rPr sz="900" dirty="0">
                <a:latin typeface="Arial"/>
                <a:cs typeface="Arial"/>
              </a:rPr>
              <a:t>Mobile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computing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disconnected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mode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(ship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relevant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files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before disconnecting,</a:t>
            </a:r>
            <a:r>
              <a:rPr sz="900" dirty="0">
                <a:latin typeface="Arial"/>
                <a:cs typeface="Arial"/>
              </a:rPr>
              <a:t> and update later </a:t>
            </a:r>
            <a:r>
              <a:rPr sz="900" spc="-20" dirty="0">
                <a:latin typeface="Arial"/>
                <a:cs typeface="Arial"/>
              </a:rPr>
              <a:t>on).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140017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3" action="ppaction://hlinksldjump"/>
              </a:rPr>
              <a:t>Sequential</a:t>
            </a:r>
            <a:r>
              <a:rPr sz="500" spc="-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consistency:</a:t>
            </a:r>
            <a:r>
              <a:rPr sz="500" spc="3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Primary-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based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protocols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69054" algn="l"/>
              </a:tabLst>
            </a:pPr>
            <a:r>
              <a:rPr sz="500" dirty="0"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4" action="ppaction://hlinksldjump"/>
              </a:rPr>
              <a:t>Consistency</a:t>
            </a:r>
            <a:r>
              <a:rPr sz="500" spc="-35" dirty="0">
                <a:solidFill>
                  <a:srgbClr val="FFFFFF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4" action="ppaction://hlinksldjump"/>
              </a:rPr>
              <a:t>protocols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Replicated-</a:t>
            </a:r>
            <a:r>
              <a:rPr dirty="0"/>
              <a:t>write</a:t>
            </a:r>
            <a:r>
              <a:rPr spc="30" dirty="0"/>
              <a:t> </a:t>
            </a:r>
            <a:r>
              <a:rPr spc="-10" dirty="0"/>
              <a:t>protocols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0847" y="472482"/>
            <a:ext cx="3845560" cy="109537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430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Quorum-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based</a:t>
            </a:r>
            <a:r>
              <a:rPr sz="1000" spc="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protocols</a:t>
            </a:r>
            <a:endParaRPr sz="1000">
              <a:latin typeface="Arial"/>
              <a:cs typeface="Arial"/>
            </a:endParaRPr>
          </a:p>
          <a:p>
            <a:pPr marL="28575" marR="17780" indent="-3810">
              <a:lnSpc>
                <a:spcPct val="111600"/>
              </a:lnSpc>
              <a:spcBef>
                <a:spcPts val="170"/>
              </a:spcBef>
            </a:pPr>
            <a:r>
              <a:rPr sz="900" dirty="0">
                <a:latin typeface="Arial"/>
                <a:cs typeface="Arial"/>
              </a:rPr>
              <a:t>Assume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N</a:t>
            </a:r>
            <a:r>
              <a:rPr sz="900" i="1" spc="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replicas.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Ensure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carried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out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way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majority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vote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established: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distinguish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read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quorum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N</a:t>
            </a:r>
            <a:r>
              <a:rPr sz="1050" i="1" baseline="-15873" dirty="0">
                <a:latin typeface="Arial"/>
                <a:cs typeface="Arial"/>
              </a:rPr>
              <a:t>R</a:t>
            </a:r>
            <a:r>
              <a:rPr sz="1050" i="1" spc="157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write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quorum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N</a:t>
            </a:r>
            <a:r>
              <a:rPr sz="1050" i="1" spc="-15" baseline="-15873" dirty="0">
                <a:latin typeface="Arial"/>
                <a:cs typeface="Arial"/>
              </a:rPr>
              <a:t>W</a:t>
            </a:r>
            <a:r>
              <a:rPr sz="1050" i="1" spc="-75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.</a:t>
            </a:r>
            <a:r>
              <a:rPr sz="900" spc="4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Ensure:</a:t>
            </a:r>
            <a:endParaRPr sz="900">
              <a:latin typeface="Arial"/>
              <a:cs typeface="Arial"/>
            </a:endParaRPr>
          </a:p>
          <a:p>
            <a:pPr marL="281940" indent="-158750">
              <a:lnSpc>
                <a:spcPct val="100000"/>
              </a:lnSpc>
              <a:spcBef>
                <a:spcPts val="520"/>
              </a:spcBef>
              <a:buClr>
                <a:srgbClr val="3333B2"/>
              </a:buClr>
              <a:buFont typeface="Arial"/>
              <a:buAutoNum type="arabicPeriod"/>
              <a:tabLst>
                <a:tab pos="282575" algn="l"/>
              </a:tabLst>
            </a:pPr>
            <a:r>
              <a:rPr sz="900" i="1" dirty="0">
                <a:solidFill>
                  <a:srgbClr val="C80000"/>
                </a:solidFill>
                <a:latin typeface="Arial"/>
                <a:cs typeface="Arial"/>
              </a:rPr>
              <a:t>N</a:t>
            </a:r>
            <a:r>
              <a:rPr sz="1050" i="1" baseline="-15873" dirty="0">
                <a:solidFill>
                  <a:srgbClr val="C80000"/>
                </a:solidFill>
                <a:latin typeface="Arial"/>
                <a:cs typeface="Arial"/>
              </a:rPr>
              <a:t>R</a:t>
            </a:r>
            <a:r>
              <a:rPr sz="1050" i="1" spc="15" baseline="-15873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185" dirty="0">
                <a:solidFill>
                  <a:srgbClr val="C80000"/>
                </a:solidFill>
                <a:latin typeface="Arial"/>
                <a:cs typeface="Arial"/>
              </a:rPr>
              <a:t>+</a:t>
            </a:r>
            <a:r>
              <a:rPr sz="900" spc="-1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C80000"/>
                </a:solidFill>
                <a:latin typeface="Arial"/>
                <a:cs typeface="Arial"/>
              </a:rPr>
              <a:t>N</a:t>
            </a:r>
            <a:r>
              <a:rPr sz="1050" i="1" baseline="-15873" dirty="0">
                <a:solidFill>
                  <a:srgbClr val="C80000"/>
                </a:solidFill>
                <a:latin typeface="Arial"/>
                <a:cs typeface="Arial"/>
              </a:rPr>
              <a:t>W</a:t>
            </a:r>
            <a:r>
              <a:rPr sz="1050" i="1" spc="209" baseline="-15873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i="1" spc="165" dirty="0">
                <a:solidFill>
                  <a:srgbClr val="C80000"/>
                </a:solidFill>
                <a:latin typeface="Arial"/>
                <a:cs typeface="Arial"/>
              </a:rPr>
              <a:t>&gt;</a:t>
            </a:r>
            <a:r>
              <a:rPr sz="900" i="1" spc="-5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C80000"/>
                </a:solidFill>
                <a:latin typeface="Arial"/>
                <a:cs typeface="Arial"/>
              </a:rPr>
              <a:t>N</a:t>
            </a:r>
            <a:r>
              <a:rPr sz="900" i="1" spc="6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(prevent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read-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10" dirty="0">
                <a:latin typeface="Arial"/>
                <a:cs typeface="Arial"/>
              </a:rPr>
              <a:t> conflicts)</a:t>
            </a:r>
            <a:endParaRPr sz="900">
              <a:latin typeface="Arial"/>
              <a:cs typeface="Arial"/>
            </a:endParaRPr>
          </a:p>
          <a:p>
            <a:pPr marL="281940" indent="-158750">
              <a:lnSpc>
                <a:spcPct val="100000"/>
              </a:lnSpc>
              <a:spcBef>
                <a:spcPts val="425"/>
              </a:spcBef>
              <a:buClr>
                <a:srgbClr val="3333B2"/>
              </a:buClr>
              <a:buFont typeface="Arial"/>
              <a:buAutoNum type="arabicPeriod"/>
              <a:tabLst>
                <a:tab pos="282575" algn="l"/>
              </a:tabLst>
            </a:pPr>
            <a:r>
              <a:rPr sz="900" i="1" dirty="0">
                <a:solidFill>
                  <a:srgbClr val="C80000"/>
                </a:solidFill>
                <a:latin typeface="Arial"/>
                <a:cs typeface="Arial"/>
              </a:rPr>
              <a:t>N</a:t>
            </a:r>
            <a:r>
              <a:rPr sz="1050" i="1" baseline="-15873" dirty="0">
                <a:solidFill>
                  <a:srgbClr val="C80000"/>
                </a:solidFill>
                <a:latin typeface="Arial"/>
                <a:cs typeface="Arial"/>
              </a:rPr>
              <a:t>W</a:t>
            </a:r>
            <a:r>
              <a:rPr sz="1050" i="1" spc="225" baseline="-15873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i="1" spc="165" dirty="0">
                <a:solidFill>
                  <a:srgbClr val="C80000"/>
                </a:solidFill>
                <a:latin typeface="Arial"/>
                <a:cs typeface="Arial"/>
              </a:rPr>
              <a:t>&gt;</a:t>
            </a:r>
            <a:r>
              <a:rPr sz="900" i="1" spc="-5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i="1" spc="80" dirty="0">
                <a:solidFill>
                  <a:srgbClr val="C80000"/>
                </a:solidFill>
                <a:latin typeface="Arial"/>
                <a:cs typeface="Arial"/>
              </a:rPr>
              <a:t>N/</a:t>
            </a:r>
            <a:r>
              <a:rPr sz="900" spc="80" dirty="0">
                <a:solidFill>
                  <a:srgbClr val="C80000"/>
                </a:solidFill>
                <a:latin typeface="Arial"/>
                <a:cs typeface="Arial"/>
              </a:rPr>
              <a:t>2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(prevent</a:t>
            </a:r>
            <a:r>
              <a:rPr sz="90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write-</a:t>
            </a:r>
            <a:r>
              <a:rPr sz="900" dirty="0">
                <a:latin typeface="Arial"/>
                <a:cs typeface="Arial"/>
              </a:rPr>
              <a:t>write </a:t>
            </a:r>
            <a:r>
              <a:rPr sz="900" spc="-10" dirty="0">
                <a:latin typeface="Arial"/>
                <a:cs typeface="Arial"/>
              </a:rPr>
              <a:t>conflicts)</a:t>
            </a:r>
            <a:endParaRPr sz="9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28256" y="1914932"/>
            <a:ext cx="901587" cy="7927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853183" y="1914932"/>
            <a:ext cx="901587" cy="7927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178124" y="1914932"/>
            <a:ext cx="901587" cy="79277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79729" y="2774691"/>
            <a:ext cx="39878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latin typeface="Arial"/>
                <a:cs typeface="Arial"/>
              </a:rPr>
              <a:t>Correct</a:t>
            </a:r>
            <a:endParaRPr sz="9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24630" y="2774691"/>
            <a:ext cx="95885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latin typeface="Arial"/>
                <a:cs typeface="Arial"/>
              </a:rPr>
              <a:t>Write-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conflict</a:t>
            </a:r>
            <a:endParaRPr sz="9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04433" y="2774691"/>
            <a:ext cx="84963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Arial"/>
                <a:cs typeface="Arial"/>
              </a:rPr>
              <a:t>Correct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(ROWA)</a:t>
            </a:r>
            <a:endParaRPr sz="9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0" y="3348469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ADAD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3467" y="3346954"/>
            <a:ext cx="14408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Arial"/>
                <a:cs typeface="Arial"/>
                <a:hlinkClick r:id="rId8" action="ppaction://hlinksldjump"/>
              </a:rPr>
              <a:t>Sequential consistency:</a:t>
            </a:r>
            <a:r>
              <a:rPr sz="500" spc="40" dirty="0">
                <a:latin typeface="Arial"/>
                <a:cs typeface="Arial"/>
                <a:hlinkClick r:id="rId8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8" action="ppaction://hlinksldjump"/>
              </a:rPr>
              <a:t>Replicated-</a:t>
            </a:r>
            <a:r>
              <a:rPr sz="500" dirty="0">
                <a:latin typeface="Arial"/>
                <a:cs typeface="Arial"/>
                <a:hlinkClick r:id="rId8" action="ppaction://hlinksldjump"/>
              </a:rPr>
              <a:t>write</a:t>
            </a:r>
            <a:r>
              <a:rPr sz="500" spc="5" dirty="0">
                <a:latin typeface="Arial"/>
                <a:cs typeface="Arial"/>
                <a:hlinkClick r:id="rId8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8" action="ppaction://hlinksldjump"/>
              </a:rPr>
              <a:t>protocols</a:t>
            </a:r>
            <a:endParaRPr sz="5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303995" y="3348469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69054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3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protocols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Continuous</a:t>
            </a:r>
            <a:r>
              <a:rPr spc="-65" dirty="0"/>
              <a:t> </a:t>
            </a:r>
            <a:r>
              <a:rPr dirty="0"/>
              <a:t>consistency:</a:t>
            </a:r>
            <a:r>
              <a:rPr spc="10" dirty="0"/>
              <a:t> </a:t>
            </a:r>
            <a:r>
              <a:rPr dirty="0"/>
              <a:t>Numerical</a:t>
            </a:r>
            <a:r>
              <a:rPr spc="-65" dirty="0"/>
              <a:t> </a:t>
            </a:r>
            <a:r>
              <a:rPr spc="-10" dirty="0"/>
              <a:t>errors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21894" y="514774"/>
            <a:ext cx="3963670" cy="17297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Principal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operation</a:t>
            </a:r>
            <a:endParaRPr sz="1000">
              <a:latin typeface="Arial"/>
              <a:cs typeface="Arial"/>
            </a:endParaRPr>
          </a:p>
          <a:p>
            <a:pPr marL="290830" indent="-120650">
              <a:lnSpc>
                <a:spcPct val="100000"/>
              </a:lnSpc>
              <a:spcBef>
                <a:spcPts val="695"/>
              </a:spcBef>
              <a:buClr>
                <a:srgbClr val="3333B2"/>
              </a:buClr>
              <a:buFont typeface="Menlo"/>
              <a:buChar char="•"/>
              <a:tabLst>
                <a:tab pos="291465" algn="l"/>
              </a:tabLst>
            </a:pPr>
            <a:r>
              <a:rPr sz="900" dirty="0">
                <a:latin typeface="Arial"/>
                <a:cs typeface="Arial"/>
              </a:rPr>
              <a:t>Every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209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log,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denoted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C80000"/>
                </a:solidFill>
                <a:latin typeface="Arial"/>
                <a:cs typeface="Arial"/>
              </a:rPr>
              <a:t>L</a:t>
            </a:r>
            <a:r>
              <a:rPr sz="1050" i="1" spc="-15" baseline="-15873" dirty="0">
                <a:solidFill>
                  <a:srgbClr val="C80000"/>
                </a:solidFill>
                <a:latin typeface="Arial"/>
                <a:cs typeface="Arial"/>
              </a:rPr>
              <a:t>i</a:t>
            </a:r>
            <a:r>
              <a:rPr sz="1050" i="1" spc="-127" baseline="-15873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88290" marR="30480" indent="-117475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291465" algn="l"/>
              </a:tabLst>
            </a:pPr>
            <a:r>
              <a:rPr sz="900" spc="-10" dirty="0">
                <a:latin typeface="Arial"/>
                <a:cs typeface="Arial"/>
              </a:rPr>
              <a:t>Consider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item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spc="5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let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C80000"/>
                </a:solidFill>
                <a:latin typeface="Arial"/>
                <a:cs typeface="Arial"/>
              </a:rPr>
              <a:t>val</a:t>
            </a:r>
            <a:r>
              <a:rPr sz="900" i="1" spc="-17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(</a:t>
            </a:r>
            <a:r>
              <a:rPr sz="900" i="1" dirty="0">
                <a:solidFill>
                  <a:srgbClr val="C80000"/>
                </a:solidFill>
                <a:latin typeface="Arial"/>
                <a:cs typeface="Arial"/>
              </a:rPr>
              <a:t>W</a:t>
            </a:r>
            <a:r>
              <a:rPr sz="900" i="1" spc="-1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55" dirty="0">
                <a:solidFill>
                  <a:srgbClr val="C80000"/>
                </a:solidFill>
                <a:latin typeface="Arial"/>
                <a:cs typeface="Arial"/>
              </a:rPr>
              <a:t>)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denote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numerical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change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its </a:t>
            </a:r>
            <a:r>
              <a:rPr sz="900" dirty="0">
                <a:latin typeface="Arial"/>
                <a:cs typeface="Arial"/>
              </a:rPr>
              <a:t>value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after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W</a:t>
            </a:r>
            <a:r>
              <a:rPr sz="900" i="1" spc="-1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.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Assume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that</a:t>
            </a:r>
            <a:endParaRPr sz="900">
              <a:latin typeface="Arial"/>
              <a:cs typeface="Arial"/>
            </a:endParaRPr>
          </a:p>
          <a:p>
            <a:pPr marL="253365" algn="ctr">
              <a:lnSpc>
                <a:spcPct val="100000"/>
              </a:lnSpc>
              <a:spcBef>
                <a:spcPts val="969"/>
              </a:spcBef>
            </a:pPr>
            <a:r>
              <a:rPr sz="900" i="1" dirty="0">
                <a:latin typeface="Menlo"/>
                <a:cs typeface="Menlo"/>
              </a:rPr>
              <a:t>∀</a:t>
            </a:r>
            <a:r>
              <a:rPr sz="900" i="1" dirty="0">
                <a:latin typeface="Arial"/>
                <a:cs typeface="Arial"/>
              </a:rPr>
              <a:t>W</a:t>
            </a:r>
            <a:r>
              <a:rPr sz="900" i="1" spc="7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i="1" spc="-20" dirty="0">
                <a:latin typeface="Arial"/>
                <a:cs typeface="Arial"/>
              </a:rPr>
              <a:t>val</a:t>
            </a:r>
            <a:r>
              <a:rPr sz="900" i="1" spc="-17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W</a:t>
            </a:r>
            <a:r>
              <a:rPr sz="900" i="1" spc="-125" dirty="0">
                <a:latin typeface="Arial"/>
                <a:cs typeface="Arial"/>
              </a:rPr>
              <a:t> </a:t>
            </a:r>
            <a:r>
              <a:rPr sz="900" spc="55" dirty="0">
                <a:latin typeface="Arial"/>
                <a:cs typeface="Arial"/>
              </a:rPr>
              <a:t>)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i="1" spc="165" dirty="0">
                <a:latin typeface="Arial"/>
                <a:cs typeface="Arial"/>
              </a:rPr>
              <a:t>&gt;</a:t>
            </a:r>
            <a:r>
              <a:rPr sz="900" i="1" spc="-5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0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900">
              <a:latin typeface="Arial"/>
              <a:cs typeface="Arial"/>
            </a:endParaRPr>
          </a:p>
          <a:p>
            <a:pPr marL="290830" marR="125730" indent="-120650">
              <a:lnSpc>
                <a:spcPct val="111600"/>
              </a:lnSpc>
              <a:buClr>
                <a:srgbClr val="3333B2"/>
              </a:buClr>
              <a:buFont typeface="Menlo"/>
              <a:buChar char="•"/>
              <a:tabLst>
                <a:tab pos="291465" algn="l"/>
              </a:tabLst>
            </a:pPr>
            <a:r>
              <a:rPr sz="900" i="1" dirty="0">
                <a:latin typeface="Arial"/>
                <a:cs typeface="Arial"/>
              </a:rPr>
              <a:t>W</a:t>
            </a:r>
            <a:r>
              <a:rPr sz="900" i="1" spc="10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initially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forwarded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N</a:t>
            </a:r>
            <a:r>
              <a:rPr sz="900" i="1" spc="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replicas,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denoted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C80000"/>
                </a:solidFill>
                <a:latin typeface="Arial"/>
                <a:cs typeface="Arial"/>
              </a:rPr>
              <a:t>origin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(</a:t>
            </a:r>
            <a:r>
              <a:rPr sz="900" i="1" dirty="0">
                <a:solidFill>
                  <a:srgbClr val="C80000"/>
                </a:solidFill>
                <a:latin typeface="Arial"/>
                <a:cs typeface="Arial"/>
              </a:rPr>
              <a:t>W</a:t>
            </a:r>
            <a:r>
              <a:rPr sz="900" i="1" spc="-1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)</a:t>
            </a:r>
            <a:r>
              <a:rPr sz="900" spc="-25" dirty="0">
                <a:latin typeface="Arial"/>
                <a:cs typeface="Arial"/>
              </a:rPr>
              <a:t>. </a:t>
            </a:r>
            <a:r>
              <a:rPr sz="900" i="1" spc="-10" dirty="0">
                <a:latin typeface="Arial"/>
                <a:cs typeface="Arial"/>
              </a:rPr>
              <a:t>TW</a:t>
            </a:r>
            <a:r>
              <a:rPr sz="900" i="1" spc="-1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</a:t>
            </a:r>
            <a:r>
              <a:rPr sz="900" i="1" dirty="0">
                <a:latin typeface="Arial"/>
                <a:cs typeface="Arial"/>
              </a:rPr>
              <a:t>i,</a:t>
            </a:r>
            <a:r>
              <a:rPr sz="900" i="1" spc="-15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j</a:t>
            </a:r>
            <a:r>
              <a:rPr sz="900" i="1" spc="-17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writes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 executed</a:t>
            </a:r>
            <a:r>
              <a:rPr sz="9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by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server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3333B2"/>
                </a:solidFill>
                <a:latin typeface="Arial"/>
                <a:cs typeface="Arial"/>
              </a:rPr>
              <a:t>S</a:t>
            </a:r>
            <a:r>
              <a:rPr sz="1050" i="1" baseline="-15873" dirty="0">
                <a:solidFill>
                  <a:srgbClr val="3333B2"/>
                </a:solidFill>
                <a:latin typeface="Arial"/>
                <a:cs typeface="Arial"/>
              </a:rPr>
              <a:t>i</a:t>
            </a:r>
            <a:r>
              <a:rPr sz="1050" i="1" spc="232" baseline="-15873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that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originated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from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3333B2"/>
                </a:solidFill>
                <a:latin typeface="Arial"/>
                <a:cs typeface="Arial"/>
              </a:rPr>
              <a:t>S</a:t>
            </a:r>
            <a:r>
              <a:rPr sz="1050" i="1" spc="-15" baseline="-15873" dirty="0">
                <a:solidFill>
                  <a:srgbClr val="3333B2"/>
                </a:solidFill>
                <a:latin typeface="Arial"/>
                <a:cs typeface="Arial"/>
              </a:rPr>
              <a:t>j</a:t>
            </a:r>
            <a:r>
              <a:rPr sz="1050" i="1" spc="-127" baseline="-15873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:</a:t>
            </a:r>
            <a:endParaRPr sz="900">
              <a:latin typeface="Arial"/>
              <a:cs typeface="Arial"/>
            </a:endParaRPr>
          </a:p>
          <a:p>
            <a:pPr marL="253365" algn="ctr">
              <a:lnSpc>
                <a:spcPct val="100000"/>
              </a:lnSpc>
              <a:spcBef>
                <a:spcPts val="575"/>
              </a:spcBef>
            </a:pPr>
            <a:r>
              <a:rPr sz="900" i="1" spc="-10" dirty="0">
                <a:latin typeface="Arial"/>
                <a:cs typeface="Arial"/>
              </a:rPr>
              <a:t>TW</a:t>
            </a:r>
            <a:r>
              <a:rPr sz="900" i="1" spc="-1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</a:t>
            </a:r>
            <a:r>
              <a:rPr sz="900" i="1" dirty="0">
                <a:latin typeface="Arial"/>
                <a:cs typeface="Arial"/>
              </a:rPr>
              <a:t>i,</a:t>
            </a:r>
            <a:r>
              <a:rPr sz="900" i="1" spc="-14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j</a:t>
            </a:r>
            <a:r>
              <a:rPr sz="900" i="1" spc="-17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1950" spc="-52" baseline="-8547" dirty="0">
                <a:latin typeface="Times New Roman"/>
                <a:cs typeface="Times New Roman"/>
              </a:rPr>
              <a:t>∑</a:t>
            </a:r>
            <a:r>
              <a:rPr sz="900" i="1" spc="-35" dirty="0">
                <a:latin typeface="Menlo"/>
                <a:cs typeface="Menlo"/>
              </a:rPr>
              <a:t>{</a:t>
            </a:r>
            <a:r>
              <a:rPr sz="900" i="1" spc="-35" dirty="0">
                <a:latin typeface="Arial"/>
                <a:cs typeface="Arial"/>
              </a:rPr>
              <a:t>val</a:t>
            </a:r>
            <a:r>
              <a:rPr sz="900" i="1" spc="-16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W</a:t>
            </a:r>
            <a:r>
              <a:rPr sz="900" i="1" spc="-1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)</a:t>
            </a:r>
            <a:r>
              <a:rPr sz="900" i="1" spc="-20" dirty="0">
                <a:latin typeface="Menlo"/>
                <a:cs typeface="Menlo"/>
              </a:rPr>
              <a:t>|</a:t>
            </a:r>
            <a:r>
              <a:rPr sz="900" i="1" spc="-20" dirty="0">
                <a:latin typeface="Arial"/>
                <a:cs typeface="Arial"/>
              </a:rPr>
              <a:t>origin</a:t>
            </a:r>
            <a:r>
              <a:rPr sz="900" spc="-20" dirty="0">
                <a:latin typeface="Arial"/>
                <a:cs typeface="Arial"/>
              </a:rPr>
              <a:t>(</a:t>
            </a:r>
            <a:r>
              <a:rPr sz="900" i="1" spc="-20" dirty="0">
                <a:latin typeface="Arial"/>
                <a:cs typeface="Arial"/>
              </a:rPr>
              <a:t>W</a:t>
            </a:r>
            <a:r>
              <a:rPr sz="900" i="1" spc="-120" dirty="0">
                <a:latin typeface="Arial"/>
                <a:cs typeface="Arial"/>
              </a:rPr>
              <a:t> </a:t>
            </a:r>
            <a:r>
              <a:rPr sz="900" spc="55" dirty="0">
                <a:latin typeface="Arial"/>
                <a:cs typeface="Arial"/>
              </a:rPr>
              <a:t>)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1050" i="1" baseline="-15873" dirty="0">
                <a:latin typeface="Arial"/>
                <a:cs typeface="Arial"/>
              </a:rPr>
              <a:t>j</a:t>
            </a:r>
            <a:r>
              <a:rPr sz="1050" i="1" spc="277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&amp;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W</a:t>
            </a:r>
            <a:r>
              <a:rPr sz="900" i="1" spc="90" dirty="0">
                <a:latin typeface="Arial"/>
                <a:cs typeface="Arial"/>
              </a:rPr>
              <a:t> </a:t>
            </a:r>
            <a:r>
              <a:rPr sz="900" i="1" spc="50" dirty="0">
                <a:latin typeface="Menlo"/>
                <a:cs typeface="Menlo"/>
              </a:rPr>
              <a:t>∈</a:t>
            </a:r>
            <a:r>
              <a:rPr sz="900" i="1" spc="-330" dirty="0">
                <a:latin typeface="Menlo"/>
                <a:cs typeface="Menlo"/>
              </a:rPr>
              <a:t> </a:t>
            </a:r>
            <a:r>
              <a:rPr sz="900" i="1" spc="-10" dirty="0">
                <a:latin typeface="Arial"/>
                <a:cs typeface="Arial"/>
              </a:rPr>
              <a:t>L</a:t>
            </a:r>
            <a:r>
              <a:rPr sz="1050" i="1" spc="-15" baseline="-15873" dirty="0">
                <a:latin typeface="Arial"/>
                <a:cs typeface="Arial"/>
              </a:rPr>
              <a:t>i</a:t>
            </a:r>
            <a:r>
              <a:rPr sz="1050" i="1" spc="-112" baseline="-15873" dirty="0">
                <a:latin typeface="Arial"/>
                <a:cs typeface="Arial"/>
              </a:rPr>
              <a:t> </a:t>
            </a:r>
            <a:r>
              <a:rPr sz="900" i="1" spc="-50" dirty="0">
                <a:latin typeface="Menlo"/>
                <a:cs typeface="Menlo"/>
              </a:rPr>
              <a:t>}</a:t>
            </a:r>
            <a:endParaRPr sz="900">
              <a:latin typeface="Menlo"/>
              <a:cs typeface="Menlo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107632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Implementing</a:t>
            </a:r>
            <a:r>
              <a:rPr sz="500" spc="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continuous</a:t>
            </a:r>
            <a:r>
              <a:rPr sz="500" spc="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consistency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7994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910368" y="-1515"/>
            <a:ext cx="6445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3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protocols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846070" cy="645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Continuous</a:t>
            </a:r>
            <a:r>
              <a:rPr sz="1200" spc="-6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consistency:</a:t>
            </a:r>
            <a:r>
              <a:rPr sz="1200" spc="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Numerical</a:t>
            </a:r>
            <a:r>
              <a:rPr sz="1200" spc="-6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errors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055"/>
              </a:spcBef>
            </a:pPr>
            <a:r>
              <a:rPr sz="1000" spc="-20" dirty="0">
                <a:solidFill>
                  <a:srgbClr val="C80000"/>
                </a:solidFill>
                <a:latin typeface="Arial"/>
                <a:cs typeface="Arial"/>
              </a:rPr>
              <a:t>Note</a:t>
            </a:r>
            <a:endParaRPr sz="1000">
              <a:latin typeface="Arial"/>
              <a:cs typeface="Arial"/>
            </a:endParaRPr>
          </a:p>
          <a:p>
            <a:pPr marL="260350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latin typeface="Arial"/>
                <a:cs typeface="Arial"/>
              </a:rPr>
              <a:t>Actual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value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v</a:t>
            </a:r>
            <a:r>
              <a:rPr sz="900" i="1" spc="-1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t</a:t>
            </a:r>
            <a:r>
              <a:rPr sz="900" i="1" spc="-170" dirty="0">
                <a:latin typeface="Arial"/>
                <a:cs typeface="Arial"/>
              </a:rPr>
              <a:t> </a:t>
            </a:r>
            <a:r>
              <a:rPr sz="900" spc="55" dirty="0">
                <a:latin typeface="Arial"/>
                <a:cs typeface="Arial"/>
              </a:rPr>
              <a:t>)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x</a:t>
            </a:r>
            <a:r>
              <a:rPr sz="900" i="1" spc="-17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: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53983" y="929718"/>
            <a:ext cx="8953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5" dirty="0">
                <a:latin typeface="Arial"/>
                <a:cs typeface="Arial"/>
              </a:rPr>
              <a:t>N</a:t>
            </a:r>
            <a:endParaRPr sz="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25866" y="975988"/>
            <a:ext cx="1356360" cy="3321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900" i="1" spc="-10" dirty="0">
                <a:latin typeface="Arial"/>
                <a:cs typeface="Arial"/>
              </a:rPr>
              <a:t>v</a:t>
            </a:r>
            <a:r>
              <a:rPr sz="900" i="1" spc="-15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t</a:t>
            </a:r>
            <a:r>
              <a:rPr sz="900" i="1" spc="-165" dirty="0">
                <a:latin typeface="Arial"/>
                <a:cs typeface="Arial"/>
              </a:rPr>
              <a:t> </a:t>
            </a:r>
            <a:r>
              <a:rPr sz="900" spc="55" dirty="0">
                <a:latin typeface="Arial"/>
                <a:cs typeface="Arial"/>
              </a:rPr>
              <a:t>)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v</a:t>
            </a:r>
            <a:r>
              <a:rPr sz="1050" i="1" baseline="-15873" dirty="0">
                <a:latin typeface="Arial"/>
                <a:cs typeface="Arial"/>
              </a:rPr>
              <a:t>init</a:t>
            </a:r>
            <a:r>
              <a:rPr sz="1050" i="1" spc="89" baseline="-15873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+</a:t>
            </a:r>
            <a:r>
              <a:rPr sz="900" spc="135" dirty="0">
                <a:latin typeface="Arial"/>
                <a:cs typeface="Arial"/>
              </a:rPr>
              <a:t> </a:t>
            </a:r>
            <a:r>
              <a:rPr sz="1950" baseline="-8547" dirty="0">
                <a:latin typeface="Times New Roman"/>
                <a:cs typeface="Times New Roman"/>
              </a:rPr>
              <a:t>∑</a:t>
            </a:r>
            <a:r>
              <a:rPr sz="1950" spc="52" baseline="-8547" dirty="0">
                <a:latin typeface="Times New Roman"/>
                <a:cs typeface="Times New Roman"/>
              </a:rPr>
              <a:t> </a:t>
            </a:r>
            <a:r>
              <a:rPr sz="900" i="1" spc="-10" dirty="0">
                <a:latin typeface="Arial"/>
                <a:cs typeface="Arial"/>
              </a:rPr>
              <a:t>TW</a:t>
            </a:r>
            <a:r>
              <a:rPr sz="900" i="1" spc="-1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</a:t>
            </a:r>
            <a:r>
              <a:rPr sz="900" i="1" dirty="0">
                <a:latin typeface="Arial"/>
                <a:cs typeface="Arial"/>
              </a:rPr>
              <a:t>k,</a:t>
            </a:r>
            <a:r>
              <a:rPr sz="900" i="1" spc="-15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k</a:t>
            </a:r>
            <a:r>
              <a:rPr sz="900" i="1" spc="-15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]</a:t>
            </a:r>
            <a:endParaRPr sz="900">
              <a:latin typeface="Arial"/>
              <a:cs typeface="Arial"/>
            </a:endParaRPr>
          </a:p>
          <a:p>
            <a:pPr marL="195580" algn="ctr">
              <a:lnSpc>
                <a:spcPct val="100000"/>
              </a:lnSpc>
              <a:spcBef>
                <a:spcPts val="25"/>
              </a:spcBef>
            </a:pPr>
            <a:r>
              <a:rPr sz="700" i="1" spc="-10" dirty="0">
                <a:latin typeface="Arial"/>
                <a:cs typeface="Arial"/>
              </a:rPr>
              <a:t>k</a:t>
            </a:r>
            <a:r>
              <a:rPr sz="700" i="1" spc="-120" dirty="0">
                <a:latin typeface="Arial"/>
                <a:cs typeface="Arial"/>
              </a:rPr>
              <a:t> </a:t>
            </a:r>
            <a:r>
              <a:rPr sz="700" spc="50" dirty="0">
                <a:latin typeface="Arial"/>
                <a:cs typeface="Arial"/>
              </a:rPr>
              <a:t>=1</a:t>
            </a:r>
            <a:endParaRPr sz="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9049" y="1366565"/>
            <a:ext cx="134175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Arial"/>
                <a:cs typeface="Arial"/>
              </a:rPr>
              <a:t>value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v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209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spc="6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S</a:t>
            </a:r>
            <a:r>
              <a:rPr sz="1050" i="1" spc="-15" baseline="-15873" dirty="0">
                <a:latin typeface="Arial"/>
                <a:cs typeface="Arial"/>
              </a:rPr>
              <a:t>i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:</a:t>
            </a:r>
            <a:endParaRPr sz="9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15082" y="1522262"/>
            <a:ext cx="8953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5" dirty="0">
                <a:latin typeface="Arial"/>
                <a:cs typeface="Arial"/>
              </a:rPr>
              <a:t>N</a:t>
            </a:r>
            <a:endParaRPr sz="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98028" y="1568532"/>
            <a:ext cx="1212215" cy="3321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900" i="1" dirty="0">
                <a:latin typeface="Arial"/>
                <a:cs typeface="Arial"/>
              </a:rPr>
              <a:t>v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179" baseline="-15873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v</a:t>
            </a:r>
            <a:r>
              <a:rPr sz="1050" i="1" baseline="-15873" dirty="0">
                <a:latin typeface="Arial"/>
                <a:cs typeface="Arial"/>
              </a:rPr>
              <a:t>init</a:t>
            </a:r>
            <a:r>
              <a:rPr sz="1050" i="1" spc="75" baseline="-15873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+</a:t>
            </a:r>
            <a:r>
              <a:rPr sz="900" spc="120" dirty="0">
                <a:latin typeface="Arial"/>
                <a:cs typeface="Arial"/>
              </a:rPr>
              <a:t> </a:t>
            </a:r>
            <a:r>
              <a:rPr sz="1950" baseline="-8547" dirty="0">
                <a:latin typeface="Times New Roman"/>
                <a:cs typeface="Times New Roman"/>
              </a:rPr>
              <a:t>∑</a:t>
            </a:r>
            <a:r>
              <a:rPr sz="1950" spc="30" baseline="-8547" dirty="0">
                <a:latin typeface="Times New Roman"/>
                <a:cs typeface="Times New Roman"/>
              </a:rPr>
              <a:t> </a:t>
            </a:r>
            <a:r>
              <a:rPr sz="900" i="1" spc="-10" dirty="0">
                <a:latin typeface="Arial"/>
                <a:cs typeface="Arial"/>
              </a:rPr>
              <a:t>TW</a:t>
            </a:r>
            <a:r>
              <a:rPr sz="900" i="1" spc="-1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</a:t>
            </a:r>
            <a:r>
              <a:rPr sz="900" i="1" dirty="0">
                <a:latin typeface="Arial"/>
                <a:cs typeface="Arial"/>
              </a:rPr>
              <a:t>i,</a:t>
            </a:r>
            <a:r>
              <a:rPr sz="900" i="1" spc="-15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k</a:t>
            </a:r>
            <a:r>
              <a:rPr sz="900" i="1" spc="-16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]</a:t>
            </a:r>
            <a:endParaRPr sz="900">
              <a:latin typeface="Arial"/>
              <a:cs typeface="Arial"/>
            </a:endParaRPr>
          </a:p>
          <a:p>
            <a:pPr marL="118110" algn="ctr">
              <a:lnSpc>
                <a:spcPct val="100000"/>
              </a:lnSpc>
              <a:spcBef>
                <a:spcPts val="25"/>
              </a:spcBef>
            </a:pPr>
            <a:r>
              <a:rPr sz="700" i="1" spc="-10" dirty="0">
                <a:latin typeface="Arial"/>
                <a:cs typeface="Arial"/>
              </a:rPr>
              <a:t>k</a:t>
            </a:r>
            <a:r>
              <a:rPr sz="700" i="1" spc="-120" dirty="0">
                <a:latin typeface="Arial"/>
                <a:cs typeface="Arial"/>
              </a:rPr>
              <a:t> </a:t>
            </a:r>
            <a:r>
              <a:rPr sz="700" spc="50" dirty="0">
                <a:latin typeface="Arial"/>
                <a:cs typeface="Arial"/>
              </a:rPr>
              <a:t>=1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2" name="object 12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3467" y="3349927"/>
            <a:ext cx="107632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Implementing</a:t>
            </a:r>
            <a:r>
              <a:rPr sz="500" spc="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continuous</a:t>
            </a:r>
            <a:r>
              <a:rPr sz="500" spc="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consistency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7994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910368" y="-1515"/>
            <a:ext cx="6445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3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protocols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900" y="197711"/>
            <a:ext cx="3166110" cy="645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Continuous</a:t>
            </a:r>
            <a:r>
              <a:rPr sz="1200" spc="-6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consistency:</a:t>
            </a:r>
            <a:r>
              <a:rPr sz="1200" spc="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Numerical</a:t>
            </a:r>
            <a:r>
              <a:rPr sz="1200" spc="-6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errors</a:t>
            </a:r>
            <a:endParaRPr sz="12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Problem</a:t>
            </a:r>
            <a:endParaRPr sz="1000">
              <a:latin typeface="Arial"/>
              <a:cs typeface="Arial"/>
            </a:endParaRPr>
          </a:p>
          <a:p>
            <a:pPr marL="284480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latin typeface="Arial"/>
                <a:cs typeface="Arial"/>
              </a:rPr>
              <a:t>We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ensure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v</a:t>
            </a:r>
            <a:r>
              <a:rPr sz="900" i="1" spc="-1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t</a:t>
            </a:r>
            <a:r>
              <a:rPr sz="900" i="1" spc="-170" dirty="0">
                <a:latin typeface="Arial"/>
                <a:cs typeface="Arial"/>
              </a:rPr>
              <a:t> </a:t>
            </a:r>
            <a:r>
              <a:rPr sz="900" spc="55" dirty="0">
                <a:latin typeface="Arial"/>
                <a:cs typeface="Arial"/>
              </a:rPr>
              <a:t>)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i="1" spc="85" dirty="0">
                <a:latin typeface="Menlo"/>
                <a:cs typeface="Menlo"/>
              </a:rPr>
              <a:t>−</a:t>
            </a:r>
            <a:r>
              <a:rPr sz="900" i="1" spc="85" dirty="0">
                <a:latin typeface="Arial"/>
                <a:cs typeface="Arial"/>
              </a:rPr>
              <a:t>v</a:t>
            </a:r>
            <a:r>
              <a:rPr sz="1050" i="1" spc="127" baseline="-15873" dirty="0">
                <a:latin typeface="Arial"/>
                <a:cs typeface="Arial"/>
              </a:rPr>
              <a:t>i</a:t>
            </a:r>
            <a:r>
              <a:rPr sz="1050" i="1" spc="150" baseline="-15873" dirty="0">
                <a:latin typeface="Arial"/>
                <a:cs typeface="Arial"/>
              </a:rPr>
              <a:t> </a:t>
            </a:r>
            <a:r>
              <a:rPr sz="900" i="1" spc="165" dirty="0">
                <a:latin typeface="Arial"/>
                <a:cs typeface="Arial"/>
              </a:rPr>
              <a:t>&lt;</a:t>
            </a:r>
            <a:r>
              <a:rPr sz="900" i="1" spc="-60" dirty="0">
                <a:latin typeface="Arial"/>
                <a:cs typeface="Arial"/>
              </a:rPr>
              <a:t> </a:t>
            </a:r>
            <a:r>
              <a:rPr sz="900" i="1" dirty="0">
                <a:latin typeface="Times New Roman"/>
                <a:cs typeface="Times New Roman"/>
              </a:rPr>
              <a:t>δ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217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every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S</a:t>
            </a:r>
            <a:r>
              <a:rPr sz="1050" i="1" spc="-15" baseline="-15873" dirty="0">
                <a:latin typeface="Arial"/>
                <a:cs typeface="Arial"/>
              </a:rPr>
              <a:t>i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107632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Implementing</a:t>
            </a:r>
            <a:r>
              <a:rPr sz="500" spc="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continuous</a:t>
            </a:r>
            <a:r>
              <a:rPr sz="500" spc="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consistency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69054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3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protocols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Continuous</a:t>
            </a:r>
            <a:r>
              <a:rPr spc="-65" dirty="0"/>
              <a:t> </a:t>
            </a:r>
            <a:r>
              <a:rPr dirty="0"/>
              <a:t>consistency:</a:t>
            </a:r>
            <a:r>
              <a:rPr spc="10" dirty="0"/>
              <a:t> </a:t>
            </a:r>
            <a:r>
              <a:rPr dirty="0"/>
              <a:t>Numerical</a:t>
            </a:r>
            <a:r>
              <a:rPr spc="-65" dirty="0"/>
              <a:t> </a:t>
            </a:r>
            <a:r>
              <a:rPr spc="-10" dirty="0"/>
              <a:t>errors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29247" y="499307"/>
            <a:ext cx="3944620" cy="92710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3048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Problem</a:t>
            </a:r>
            <a:endParaRPr sz="10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latin typeface="Arial"/>
                <a:cs typeface="Arial"/>
              </a:rPr>
              <a:t>We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ensure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v</a:t>
            </a:r>
            <a:r>
              <a:rPr sz="900" i="1" spc="-1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t</a:t>
            </a:r>
            <a:r>
              <a:rPr sz="900" i="1" spc="-170" dirty="0">
                <a:latin typeface="Arial"/>
                <a:cs typeface="Arial"/>
              </a:rPr>
              <a:t> </a:t>
            </a:r>
            <a:r>
              <a:rPr sz="900" spc="55" dirty="0">
                <a:latin typeface="Arial"/>
                <a:cs typeface="Arial"/>
              </a:rPr>
              <a:t>)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i="1" spc="85" dirty="0">
                <a:latin typeface="Menlo"/>
                <a:cs typeface="Menlo"/>
              </a:rPr>
              <a:t>−</a:t>
            </a:r>
            <a:r>
              <a:rPr sz="900" i="1" spc="85" dirty="0">
                <a:latin typeface="Arial"/>
                <a:cs typeface="Arial"/>
              </a:rPr>
              <a:t>v</a:t>
            </a:r>
            <a:r>
              <a:rPr sz="1050" i="1" spc="127" baseline="-15873" dirty="0">
                <a:latin typeface="Arial"/>
                <a:cs typeface="Arial"/>
              </a:rPr>
              <a:t>i</a:t>
            </a:r>
            <a:r>
              <a:rPr sz="1050" i="1" spc="150" baseline="-15873" dirty="0">
                <a:latin typeface="Arial"/>
                <a:cs typeface="Arial"/>
              </a:rPr>
              <a:t> </a:t>
            </a:r>
            <a:r>
              <a:rPr sz="900" i="1" spc="165" dirty="0">
                <a:latin typeface="Arial"/>
                <a:cs typeface="Arial"/>
              </a:rPr>
              <a:t>&lt;</a:t>
            </a:r>
            <a:r>
              <a:rPr sz="900" i="1" spc="-60" dirty="0">
                <a:latin typeface="Arial"/>
                <a:cs typeface="Arial"/>
              </a:rPr>
              <a:t> </a:t>
            </a:r>
            <a:r>
              <a:rPr sz="900" i="1" dirty="0">
                <a:latin typeface="Times New Roman"/>
                <a:cs typeface="Times New Roman"/>
              </a:rPr>
              <a:t>δ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217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every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S</a:t>
            </a:r>
            <a:r>
              <a:rPr sz="1050" i="1" spc="-15" baseline="-15873" dirty="0">
                <a:latin typeface="Arial"/>
                <a:cs typeface="Arial"/>
              </a:rPr>
              <a:t>i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6034">
              <a:lnSpc>
                <a:spcPct val="100000"/>
              </a:lnSpc>
              <a:spcBef>
                <a:spcPts val="8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Approach</a:t>
            </a:r>
            <a:endParaRPr sz="1000">
              <a:latin typeface="Arial"/>
              <a:cs typeface="Arial"/>
            </a:endParaRPr>
          </a:p>
          <a:p>
            <a:pPr marL="30480">
              <a:lnSpc>
                <a:spcPct val="100000"/>
              </a:lnSpc>
              <a:spcBef>
                <a:spcPts val="295"/>
              </a:spcBef>
            </a:pPr>
            <a:r>
              <a:rPr sz="900" dirty="0">
                <a:latin typeface="Arial"/>
                <a:cs typeface="Arial"/>
              </a:rPr>
              <a:t>Let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every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1050" i="1" baseline="-15873" dirty="0">
                <a:latin typeface="Arial"/>
                <a:cs typeface="Arial"/>
              </a:rPr>
              <a:t>k</a:t>
            </a:r>
            <a:r>
              <a:rPr sz="1050" i="1" spc="225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maintain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view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TW</a:t>
            </a:r>
            <a:r>
              <a:rPr sz="1050" i="1" spc="-15" baseline="-15873" dirty="0">
                <a:latin typeface="Arial"/>
                <a:cs typeface="Arial"/>
              </a:rPr>
              <a:t>k</a:t>
            </a:r>
            <a:r>
              <a:rPr sz="1050" i="1" spc="-112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</a:t>
            </a:r>
            <a:r>
              <a:rPr sz="900" i="1" dirty="0">
                <a:latin typeface="Arial"/>
                <a:cs typeface="Arial"/>
              </a:rPr>
              <a:t>i,</a:t>
            </a:r>
            <a:r>
              <a:rPr sz="900" i="1" spc="-15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j</a:t>
            </a:r>
            <a:r>
              <a:rPr sz="900" i="1" spc="-17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what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believes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value </a:t>
            </a:r>
            <a:r>
              <a:rPr sz="900" spc="-25" dirty="0">
                <a:latin typeface="Arial"/>
                <a:cs typeface="Arial"/>
              </a:rPr>
              <a:t>of</a:t>
            </a:r>
            <a:endParaRPr sz="900">
              <a:latin typeface="Arial"/>
              <a:cs typeface="Arial"/>
            </a:endParaRPr>
          </a:p>
          <a:p>
            <a:pPr marL="30480">
              <a:lnSpc>
                <a:spcPct val="100000"/>
              </a:lnSpc>
              <a:spcBef>
                <a:spcPts val="125"/>
              </a:spcBef>
            </a:pPr>
            <a:r>
              <a:rPr sz="900" i="1" spc="-10" dirty="0">
                <a:latin typeface="Arial"/>
                <a:cs typeface="Arial"/>
              </a:rPr>
              <a:t>TW</a:t>
            </a:r>
            <a:r>
              <a:rPr sz="900" i="1" spc="-1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</a:t>
            </a:r>
            <a:r>
              <a:rPr sz="900" i="1" dirty="0">
                <a:latin typeface="Arial"/>
                <a:cs typeface="Arial"/>
              </a:rPr>
              <a:t>i,</a:t>
            </a:r>
            <a:r>
              <a:rPr sz="900" i="1" spc="-15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j</a:t>
            </a:r>
            <a:r>
              <a:rPr sz="900" i="1" spc="-17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].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This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information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gossiped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when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propagated.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107632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Implementing</a:t>
            </a:r>
            <a:r>
              <a:rPr sz="500" spc="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continuous</a:t>
            </a:r>
            <a:r>
              <a:rPr sz="500" spc="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consistency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69054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3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protocols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Continuous</a:t>
            </a:r>
            <a:r>
              <a:rPr spc="-65" dirty="0"/>
              <a:t> </a:t>
            </a:r>
            <a:r>
              <a:rPr dirty="0"/>
              <a:t>consistency:</a:t>
            </a:r>
            <a:r>
              <a:rPr spc="10" dirty="0"/>
              <a:t> </a:t>
            </a:r>
            <a:r>
              <a:rPr dirty="0"/>
              <a:t>Numerical</a:t>
            </a:r>
            <a:r>
              <a:rPr spc="-65" dirty="0"/>
              <a:t> </a:t>
            </a:r>
            <a:r>
              <a:rPr spc="-10" dirty="0"/>
              <a:t>errors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6547" y="499307"/>
            <a:ext cx="3970020" cy="148590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4318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Problem</a:t>
            </a:r>
            <a:endParaRPr sz="10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latin typeface="Arial"/>
                <a:cs typeface="Arial"/>
              </a:rPr>
              <a:t>We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ensure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v</a:t>
            </a:r>
            <a:r>
              <a:rPr sz="900" i="1" spc="-1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t</a:t>
            </a:r>
            <a:r>
              <a:rPr sz="900" i="1" spc="-170" dirty="0">
                <a:latin typeface="Arial"/>
                <a:cs typeface="Arial"/>
              </a:rPr>
              <a:t> </a:t>
            </a:r>
            <a:r>
              <a:rPr sz="900" spc="55" dirty="0">
                <a:latin typeface="Arial"/>
                <a:cs typeface="Arial"/>
              </a:rPr>
              <a:t>)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i="1" spc="85" dirty="0">
                <a:latin typeface="Menlo"/>
                <a:cs typeface="Menlo"/>
              </a:rPr>
              <a:t>−</a:t>
            </a:r>
            <a:r>
              <a:rPr sz="900" i="1" spc="85" dirty="0">
                <a:latin typeface="Arial"/>
                <a:cs typeface="Arial"/>
              </a:rPr>
              <a:t>v</a:t>
            </a:r>
            <a:r>
              <a:rPr sz="1050" i="1" spc="127" baseline="-15873" dirty="0">
                <a:latin typeface="Arial"/>
                <a:cs typeface="Arial"/>
              </a:rPr>
              <a:t>i</a:t>
            </a:r>
            <a:r>
              <a:rPr sz="1050" i="1" spc="150" baseline="-15873" dirty="0">
                <a:latin typeface="Arial"/>
                <a:cs typeface="Arial"/>
              </a:rPr>
              <a:t> </a:t>
            </a:r>
            <a:r>
              <a:rPr sz="900" i="1" spc="165" dirty="0">
                <a:latin typeface="Arial"/>
                <a:cs typeface="Arial"/>
              </a:rPr>
              <a:t>&lt;</a:t>
            </a:r>
            <a:r>
              <a:rPr sz="900" i="1" spc="-60" dirty="0">
                <a:latin typeface="Arial"/>
                <a:cs typeface="Arial"/>
              </a:rPr>
              <a:t> </a:t>
            </a:r>
            <a:r>
              <a:rPr sz="900" i="1" dirty="0">
                <a:latin typeface="Times New Roman"/>
                <a:cs typeface="Times New Roman"/>
              </a:rPr>
              <a:t>δ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217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every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S</a:t>
            </a:r>
            <a:r>
              <a:rPr sz="1050" i="1" spc="-15" baseline="-15873" dirty="0">
                <a:latin typeface="Arial"/>
                <a:cs typeface="Arial"/>
              </a:rPr>
              <a:t>i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38735">
              <a:lnSpc>
                <a:spcPct val="100000"/>
              </a:lnSpc>
              <a:spcBef>
                <a:spcPts val="8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Approach</a:t>
            </a:r>
            <a:endParaRPr sz="10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295"/>
              </a:spcBef>
            </a:pPr>
            <a:r>
              <a:rPr sz="900" dirty="0">
                <a:latin typeface="Arial"/>
                <a:cs typeface="Arial"/>
              </a:rPr>
              <a:t>Let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every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1050" i="1" baseline="-15873" dirty="0">
                <a:latin typeface="Arial"/>
                <a:cs typeface="Arial"/>
              </a:rPr>
              <a:t>k</a:t>
            </a:r>
            <a:r>
              <a:rPr sz="1050" i="1" spc="225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maintain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view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TW</a:t>
            </a:r>
            <a:r>
              <a:rPr sz="1050" i="1" spc="-15" baseline="-15873" dirty="0">
                <a:latin typeface="Arial"/>
                <a:cs typeface="Arial"/>
              </a:rPr>
              <a:t>k</a:t>
            </a:r>
            <a:r>
              <a:rPr sz="1050" i="1" spc="-112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</a:t>
            </a:r>
            <a:r>
              <a:rPr sz="900" i="1" dirty="0">
                <a:latin typeface="Arial"/>
                <a:cs typeface="Arial"/>
              </a:rPr>
              <a:t>i,</a:t>
            </a:r>
            <a:r>
              <a:rPr sz="900" i="1" spc="-15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j</a:t>
            </a:r>
            <a:r>
              <a:rPr sz="900" i="1" spc="-17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what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believes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value </a:t>
            </a:r>
            <a:r>
              <a:rPr sz="900" spc="-25" dirty="0">
                <a:latin typeface="Arial"/>
                <a:cs typeface="Arial"/>
              </a:rPr>
              <a:t>of</a:t>
            </a:r>
            <a:endParaRPr sz="9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125"/>
              </a:spcBef>
            </a:pPr>
            <a:r>
              <a:rPr sz="900" i="1" spc="-10" dirty="0">
                <a:latin typeface="Arial"/>
                <a:cs typeface="Arial"/>
              </a:rPr>
              <a:t>TW</a:t>
            </a:r>
            <a:r>
              <a:rPr sz="900" i="1" spc="-1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</a:t>
            </a:r>
            <a:r>
              <a:rPr sz="900" i="1" dirty="0">
                <a:latin typeface="Arial"/>
                <a:cs typeface="Arial"/>
              </a:rPr>
              <a:t>i,</a:t>
            </a:r>
            <a:r>
              <a:rPr sz="900" i="1" spc="-15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j</a:t>
            </a:r>
            <a:r>
              <a:rPr sz="900" i="1" spc="-17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].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This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information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gossiped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when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propagated.</a:t>
            </a:r>
            <a:endParaRPr sz="9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815"/>
              </a:spcBef>
            </a:pPr>
            <a:r>
              <a:rPr sz="1000" spc="-20" dirty="0">
                <a:solidFill>
                  <a:srgbClr val="C80000"/>
                </a:solidFill>
                <a:latin typeface="Arial"/>
                <a:cs typeface="Arial"/>
              </a:rPr>
              <a:t>Note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00">
              <a:latin typeface="Arial"/>
              <a:cs typeface="Arial"/>
            </a:endParaRPr>
          </a:p>
          <a:p>
            <a:pPr marL="1162685">
              <a:lnSpc>
                <a:spcPct val="100000"/>
              </a:lnSpc>
              <a:spcBef>
                <a:spcPts val="5"/>
              </a:spcBef>
            </a:pPr>
            <a:r>
              <a:rPr sz="900" dirty="0">
                <a:latin typeface="Arial"/>
                <a:cs typeface="Arial"/>
              </a:rPr>
              <a:t>0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150" dirty="0">
                <a:latin typeface="Menlo"/>
                <a:cs typeface="Menlo"/>
              </a:rPr>
              <a:t>≤</a:t>
            </a:r>
            <a:r>
              <a:rPr sz="900" i="1" spc="-315" dirty="0">
                <a:latin typeface="Menlo"/>
                <a:cs typeface="Menlo"/>
              </a:rPr>
              <a:t> </a:t>
            </a:r>
            <a:r>
              <a:rPr sz="900" i="1" spc="-10" dirty="0">
                <a:latin typeface="Arial"/>
                <a:cs typeface="Arial"/>
              </a:rPr>
              <a:t>TW</a:t>
            </a:r>
            <a:r>
              <a:rPr sz="1050" i="1" spc="-15" baseline="-15873" dirty="0">
                <a:latin typeface="Arial"/>
                <a:cs typeface="Arial"/>
              </a:rPr>
              <a:t>k</a:t>
            </a:r>
            <a:r>
              <a:rPr sz="1050" i="1" spc="-82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</a:t>
            </a:r>
            <a:r>
              <a:rPr sz="900" i="1" dirty="0">
                <a:latin typeface="Arial"/>
                <a:cs typeface="Arial"/>
              </a:rPr>
              <a:t>i,</a:t>
            </a:r>
            <a:r>
              <a:rPr sz="900" i="1" spc="-14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j</a:t>
            </a:r>
            <a:r>
              <a:rPr sz="900" i="1" spc="-1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150" dirty="0">
                <a:latin typeface="Menlo"/>
                <a:cs typeface="Menlo"/>
              </a:rPr>
              <a:t>≤</a:t>
            </a:r>
            <a:r>
              <a:rPr sz="900" i="1" spc="-315" dirty="0">
                <a:latin typeface="Menlo"/>
                <a:cs typeface="Menlo"/>
              </a:rPr>
              <a:t> </a:t>
            </a:r>
            <a:r>
              <a:rPr sz="900" i="1" spc="-10" dirty="0">
                <a:latin typeface="Arial"/>
                <a:cs typeface="Arial"/>
              </a:rPr>
              <a:t>TW</a:t>
            </a:r>
            <a:r>
              <a:rPr sz="900" i="1" spc="-1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</a:t>
            </a:r>
            <a:r>
              <a:rPr sz="900" i="1" dirty="0">
                <a:latin typeface="Arial"/>
                <a:cs typeface="Arial"/>
              </a:rPr>
              <a:t>i,</a:t>
            </a:r>
            <a:r>
              <a:rPr sz="900" i="1" spc="-14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j</a:t>
            </a:r>
            <a:r>
              <a:rPr sz="900" i="1" spc="-1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150" dirty="0">
                <a:latin typeface="Menlo"/>
                <a:cs typeface="Menlo"/>
              </a:rPr>
              <a:t>≤</a:t>
            </a:r>
            <a:r>
              <a:rPr sz="900" i="1" spc="-315" dirty="0">
                <a:latin typeface="Menlo"/>
                <a:cs typeface="Menlo"/>
              </a:rPr>
              <a:t> </a:t>
            </a:r>
            <a:r>
              <a:rPr sz="900" i="1" spc="-10" dirty="0">
                <a:latin typeface="Arial"/>
                <a:cs typeface="Arial"/>
              </a:rPr>
              <a:t>TW</a:t>
            </a:r>
            <a:r>
              <a:rPr sz="900" i="1" spc="-1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</a:t>
            </a:r>
            <a:r>
              <a:rPr sz="900" i="1" dirty="0">
                <a:latin typeface="Arial"/>
                <a:cs typeface="Arial"/>
              </a:rPr>
              <a:t>j,</a:t>
            </a:r>
            <a:r>
              <a:rPr sz="900" i="1" spc="-14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j</a:t>
            </a:r>
            <a:r>
              <a:rPr sz="900" i="1" spc="-160" dirty="0">
                <a:latin typeface="Arial"/>
                <a:cs typeface="Arial"/>
              </a:rPr>
              <a:t> </a:t>
            </a:r>
            <a:r>
              <a:rPr sz="900" spc="-60" dirty="0">
                <a:latin typeface="Arial"/>
                <a:cs typeface="Arial"/>
              </a:rPr>
              <a:t>]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107632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Implementing</a:t>
            </a:r>
            <a:r>
              <a:rPr sz="500" spc="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continuous</a:t>
            </a:r>
            <a:r>
              <a:rPr sz="500" spc="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consistency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69054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3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protocols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Continuous</a:t>
            </a:r>
            <a:r>
              <a:rPr spc="-65" dirty="0"/>
              <a:t> </a:t>
            </a:r>
            <a:r>
              <a:rPr dirty="0"/>
              <a:t>consistency:</a:t>
            </a:r>
            <a:r>
              <a:rPr spc="10" dirty="0"/>
              <a:t> </a:t>
            </a:r>
            <a:r>
              <a:rPr dirty="0"/>
              <a:t>Numerical</a:t>
            </a:r>
            <a:r>
              <a:rPr spc="-65" dirty="0"/>
              <a:t> </a:t>
            </a:r>
            <a:r>
              <a:rPr spc="-10" dirty="0"/>
              <a:t>errors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4594" y="499476"/>
            <a:ext cx="3938904" cy="75692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Solution</a:t>
            </a:r>
            <a:endParaRPr sz="1000">
              <a:latin typeface="Arial"/>
              <a:cs typeface="Arial"/>
            </a:endParaRPr>
          </a:p>
          <a:p>
            <a:pPr marL="25400" marR="17780">
              <a:lnSpc>
                <a:spcPts val="1210"/>
              </a:lnSpc>
              <a:spcBef>
                <a:spcPts val="35"/>
              </a:spcBef>
            </a:pPr>
            <a:r>
              <a:rPr sz="900" i="1" dirty="0">
                <a:latin typeface="Arial"/>
                <a:cs typeface="Arial"/>
              </a:rPr>
              <a:t>S</a:t>
            </a:r>
            <a:r>
              <a:rPr sz="1050" i="1" baseline="-15873" dirty="0">
                <a:latin typeface="Arial"/>
                <a:cs typeface="Arial"/>
              </a:rPr>
              <a:t>k</a:t>
            </a:r>
            <a:r>
              <a:rPr sz="1050" i="1" spc="187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sends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operations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202" baseline="-15873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when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it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sees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that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spc="-20" dirty="0">
                <a:solidFill>
                  <a:srgbClr val="3333B2"/>
                </a:solidFill>
                <a:latin typeface="Arial"/>
                <a:cs typeface="Arial"/>
              </a:rPr>
              <a:t>TW</a:t>
            </a:r>
            <a:r>
              <a:rPr sz="1050" i="1" spc="-30" baseline="-15873" dirty="0">
                <a:solidFill>
                  <a:srgbClr val="3333B2"/>
                </a:solidFill>
                <a:latin typeface="Arial"/>
                <a:cs typeface="Arial"/>
              </a:rPr>
              <a:t>k</a:t>
            </a:r>
            <a:r>
              <a:rPr sz="1050" i="1" spc="-112" baseline="-15873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[</a:t>
            </a:r>
            <a:r>
              <a:rPr sz="900" i="1" dirty="0">
                <a:solidFill>
                  <a:srgbClr val="3333B2"/>
                </a:solidFill>
                <a:latin typeface="Arial"/>
                <a:cs typeface="Arial"/>
              </a:rPr>
              <a:t>i,</a:t>
            </a:r>
            <a:r>
              <a:rPr sz="900" i="1" spc="-1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3333B2"/>
                </a:solidFill>
                <a:latin typeface="Arial"/>
                <a:cs typeface="Arial"/>
              </a:rPr>
              <a:t>k</a:t>
            </a:r>
            <a:r>
              <a:rPr sz="900" i="1" spc="-16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]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is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getting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too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far</a:t>
            </a:r>
            <a:r>
              <a:rPr sz="9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from</a:t>
            </a:r>
            <a:r>
              <a:rPr sz="9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3333B2"/>
                </a:solidFill>
                <a:latin typeface="Arial"/>
                <a:cs typeface="Arial"/>
              </a:rPr>
              <a:t>TW</a:t>
            </a:r>
            <a:r>
              <a:rPr sz="900" i="1" spc="-1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[</a:t>
            </a:r>
            <a:r>
              <a:rPr sz="900" i="1" dirty="0">
                <a:solidFill>
                  <a:srgbClr val="3333B2"/>
                </a:solidFill>
                <a:latin typeface="Arial"/>
                <a:cs typeface="Arial"/>
              </a:rPr>
              <a:t>k,</a:t>
            </a:r>
            <a:r>
              <a:rPr sz="900" i="1" spc="-1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3333B2"/>
                </a:solidFill>
                <a:latin typeface="Arial"/>
                <a:cs typeface="Arial"/>
              </a:rPr>
              <a:t>k</a:t>
            </a:r>
            <a:r>
              <a:rPr sz="900" i="1" spc="-16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]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particular,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when</a:t>
            </a:r>
            <a:endParaRPr sz="900">
              <a:latin typeface="Arial"/>
              <a:cs typeface="Arial"/>
            </a:endParaRPr>
          </a:p>
          <a:p>
            <a:pPr marL="1136650">
              <a:lnSpc>
                <a:spcPct val="100000"/>
              </a:lnSpc>
              <a:spcBef>
                <a:spcPts val="905"/>
              </a:spcBef>
            </a:pPr>
            <a:r>
              <a:rPr sz="900" i="1" spc="-10" dirty="0">
                <a:latin typeface="Arial"/>
                <a:cs typeface="Arial"/>
              </a:rPr>
              <a:t>TW</a:t>
            </a:r>
            <a:r>
              <a:rPr sz="900" i="1" spc="-1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</a:t>
            </a:r>
            <a:r>
              <a:rPr sz="900" i="1" dirty="0">
                <a:latin typeface="Arial"/>
                <a:cs typeface="Arial"/>
              </a:rPr>
              <a:t>k,</a:t>
            </a:r>
            <a:r>
              <a:rPr sz="900" i="1" spc="-14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k</a:t>
            </a:r>
            <a:r>
              <a:rPr sz="900" i="1" spc="-1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</a:t>
            </a:r>
            <a:r>
              <a:rPr sz="900" spc="-100" dirty="0">
                <a:latin typeface="Arial"/>
                <a:cs typeface="Arial"/>
              </a:rPr>
              <a:t> </a:t>
            </a:r>
            <a:r>
              <a:rPr sz="900" i="1" spc="60" dirty="0">
                <a:latin typeface="Menlo"/>
                <a:cs typeface="Menlo"/>
              </a:rPr>
              <a:t>−</a:t>
            </a:r>
            <a:r>
              <a:rPr sz="900" i="1" spc="60" dirty="0">
                <a:latin typeface="Arial"/>
                <a:cs typeface="Arial"/>
              </a:rPr>
              <a:t>TW</a:t>
            </a:r>
            <a:r>
              <a:rPr sz="1050" i="1" spc="89" baseline="-15873" dirty="0">
                <a:latin typeface="Arial"/>
                <a:cs typeface="Arial"/>
              </a:rPr>
              <a:t>k</a:t>
            </a:r>
            <a:r>
              <a:rPr sz="1050" i="1" spc="-82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</a:t>
            </a:r>
            <a:r>
              <a:rPr sz="900" i="1" dirty="0">
                <a:latin typeface="Arial"/>
                <a:cs typeface="Arial"/>
              </a:rPr>
              <a:t>i,</a:t>
            </a:r>
            <a:r>
              <a:rPr sz="900" i="1" spc="-14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k</a:t>
            </a:r>
            <a:r>
              <a:rPr sz="900" i="1" spc="-1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165" dirty="0">
                <a:latin typeface="Arial"/>
                <a:cs typeface="Arial"/>
              </a:rPr>
              <a:t>&gt;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Times New Roman"/>
                <a:cs typeface="Times New Roman"/>
              </a:rPr>
              <a:t>δ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-97" baseline="-15873" dirty="0">
                <a:latin typeface="Arial"/>
                <a:cs typeface="Arial"/>
              </a:rPr>
              <a:t> </a:t>
            </a:r>
            <a:r>
              <a:rPr sz="900" i="1" spc="80" dirty="0">
                <a:latin typeface="Arial"/>
                <a:cs typeface="Arial"/>
              </a:rPr>
              <a:t>/</a:t>
            </a:r>
            <a:r>
              <a:rPr sz="900" spc="80" dirty="0">
                <a:latin typeface="Arial"/>
                <a:cs typeface="Arial"/>
              </a:rPr>
              <a:t>(</a:t>
            </a:r>
            <a:r>
              <a:rPr sz="900" i="1" spc="80" dirty="0">
                <a:latin typeface="Arial"/>
                <a:cs typeface="Arial"/>
              </a:rPr>
              <a:t>N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spc="150" dirty="0">
                <a:latin typeface="Menlo"/>
                <a:cs typeface="Menlo"/>
              </a:rPr>
              <a:t>−</a:t>
            </a:r>
            <a:r>
              <a:rPr sz="900" i="1" spc="-400" dirty="0">
                <a:latin typeface="Menlo"/>
                <a:cs typeface="Menlo"/>
              </a:rPr>
              <a:t> </a:t>
            </a:r>
            <a:r>
              <a:rPr sz="900" spc="-35" dirty="0">
                <a:latin typeface="Arial"/>
                <a:cs typeface="Arial"/>
              </a:rPr>
              <a:t>1)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107632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Implementing</a:t>
            </a:r>
            <a:r>
              <a:rPr sz="500" spc="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continuous</a:t>
            </a:r>
            <a:r>
              <a:rPr sz="500" spc="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consistency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69054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3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protocols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Continuous</a:t>
            </a:r>
            <a:r>
              <a:rPr spc="-65" dirty="0"/>
              <a:t> </a:t>
            </a:r>
            <a:r>
              <a:rPr dirty="0"/>
              <a:t>consistency:</a:t>
            </a:r>
            <a:r>
              <a:rPr spc="10" dirty="0"/>
              <a:t> </a:t>
            </a:r>
            <a:r>
              <a:rPr dirty="0"/>
              <a:t>Numerical</a:t>
            </a:r>
            <a:r>
              <a:rPr spc="-65" dirty="0"/>
              <a:t> </a:t>
            </a:r>
            <a:r>
              <a:rPr spc="-10" dirty="0"/>
              <a:t>errors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05663" y="499476"/>
            <a:ext cx="3980815" cy="145732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53975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Solution</a:t>
            </a:r>
            <a:endParaRPr sz="1000">
              <a:latin typeface="Arial"/>
              <a:cs typeface="Arial"/>
            </a:endParaRPr>
          </a:p>
          <a:p>
            <a:pPr marL="53975" marR="30480">
              <a:lnSpc>
                <a:spcPts val="1210"/>
              </a:lnSpc>
              <a:spcBef>
                <a:spcPts val="35"/>
              </a:spcBef>
            </a:pPr>
            <a:r>
              <a:rPr sz="900" i="1" dirty="0">
                <a:latin typeface="Arial"/>
                <a:cs typeface="Arial"/>
              </a:rPr>
              <a:t>S</a:t>
            </a:r>
            <a:r>
              <a:rPr sz="1050" i="1" baseline="-15873" dirty="0">
                <a:latin typeface="Arial"/>
                <a:cs typeface="Arial"/>
              </a:rPr>
              <a:t>k</a:t>
            </a:r>
            <a:r>
              <a:rPr sz="1050" i="1" spc="187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sends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operations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202" baseline="-15873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when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it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sees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that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spc="-20" dirty="0">
                <a:solidFill>
                  <a:srgbClr val="3333B2"/>
                </a:solidFill>
                <a:latin typeface="Arial"/>
                <a:cs typeface="Arial"/>
              </a:rPr>
              <a:t>TW</a:t>
            </a:r>
            <a:r>
              <a:rPr sz="1050" i="1" spc="-30" baseline="-15873" dirty="0">
                <a:solidFill>
                  <a:srgbClr val="3333B2"/>
                </a:solidFill>
                <a:latin typeface="Arial"/>
                <a:cs typeface="Arial"/>
              </a:rPr>
              <a:t>k</a:t>
            </a:r>
            <a:r>
              <a:rPr sz="1050" i="1" spc="-112" baseline="-15873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[</a:t>
            </a:r>
            <a:r>
              <a:rPr sz="900" i="1" dirty="0">
                <a:solidFill>
                  <a:srgbClr val="3333B2"/>
                </a:solidFill>
                <a:latin typeface="Arial"/>
                <a:cs typeface="Arial"/>
              </a:rPr>
              <a:t>i,</a:t>
            </a:r>
            <a:r>
              <a:rPr sz="900" i="1" spc="-1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3333B2"/>
                </a:solidFill>
                <a:latin typeface="Arial"/>
                <a:cs typeface="Arial"/>
              </a:rPr>
              <a:t>k</a:t>
            </a:r>
            <a:r>
              <a:rPr sz="900" i="1" spc="-16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]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is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getting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too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far</a:t>
            </a:r>
            <a:r>
              <a:rPr sz="9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from</a:t>
            </a:r>
            <a:r>
              <a:rPr sz="9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3333B2"/>
                </a:solidFill>
                <a:latin typeface="Arial"/>
                <a:cs typeface="Arial"/>
              </a:rPr>
              <a:t>TW</a:t>
            </a:r>
            <a:r>
              <a:rPr sz="900" i="1" spc="-1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[</a:t>
            </a:r>
            <a:r>
              <a:rPr sz="900" i="1" dirty="0">
                <a:solidFill>
                  <a:srgbClr val="3333B2"/>
                </a:solidFill>
                <a:latin typeface="Arial"/>
                <a:cs typeface="Arial"/>
              </a:rPr>
              <a:t>k,</a:t>
            </a:r>
            <a:r>
              <a:rPr sz="900" i="1" spc="-1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3333B2"/>
                </a:solidFill>
                <a:latin typeface="Arial"/>
                <a:cs typeface="Arial"/>
              </a:rPr>
              <a:t>k</a:t>
            </a:r>
            <a:r>
              <a:rPr sz="900" i="1" spc="-16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]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particular,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when</a:t>
            </a:r>
            <a:endParaRPr sz="900">
              <a:latin typeface="Arial"/>
              <a:cs typeface="Arial"/>
            </a:endParaRPr>
          </a:p>
          <a:p>
            <a:pPr marL="1165225">
              <a:lnSpc>
                <a:spcPct val="100000"/>
              </a:lnSpc>
              <a:spcBef>
                <a:spcPts val="905"/>
              </a:spcBef>
            </a:pPr>
            <a:r>
              <a:rPr sz="900" i="1" spc="-10" dirty="0">
                <a:latin typeface="Arial"/>
                <a:cs typeface="Arial"/>
              </a:rPr>
              <a:t>TW</a:t>
            </a:r>
            <a:r>
              <a:rPr sz="900" i="1" spc="-1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</a:t>
            </a:r>
            <a:r>
              <a:rPr sz="900" i="1" dirty="0">
                <a:latin typeface="Arial"/>
                <a:cs typeface="Arial"/>
              </a:rPr>
              <a:t>k,</a:t>
            </a:r>
            <a:r>
              <a:rPr sz="900" i="1" spc="-14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k</a:t>
            </a:r>
            <a:r>
              <a:rPr sz="900" i="1" spc="-1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</a:t>
            </a:r>
            <a:r>
              <a:rPr sz="900" spc="-100" dirty="0">
                <a:latin typeface="Arial"/>
                <a:cs typeface="Arial"/>
              </a:rPr>
              <a:t> </a:t>
            </a:r>
            <a:r>
              <a:rPr sz="900" i="1" spc="60" dirty="0">
                <a:latin typeface="Menlo"/>
                <a:cs typeface="Menlo"/>
              </a:rPr>
              <a:t>−</a:t>
            </a:r>
            <a:r>
              <a:rPr sz="900" i="1" spc="60" dirty="0">
                <a:latin typeface="Arial"/>
                <a:cs typeface="Arial"/>
              </a:rPr>
              <a:t>TW</a:t>
            </a:r>
            <a:r>
              <a:rPr sz="1050" i="1" spc="89" baseline="-15873" dirty="0">
                <a:latin typeface="Arial"/>
                <a:cs typeface="Arial"/>
              </a:rPr>
              <a:t>k</a:t>
            </a:r>
            <a:r>
              <a:rPr sz="1050" i="1" spc="-82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</a:t>
            </a:r>
            <a:r>
              <a:rPr sz="900" i="1" dirty="0">
                <a:latin typeface="Arial"/>
                <a:cs typeface="Arial"/>
              </a:rPr>
              <a:t>i,</a:t>
            </a:r>
            <a:r>
              <a:rPr sz="900" i="1" spc="-14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k</a:t>
            </a:r>
            <a:r>
              <a:rPr sz="900" i="1" spc="-1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165" dirty="0">
                <a:latin typeface="Arial"/>
                <a:cs typeface="Arial"/>
              </a:rPr>
              <a:t>&gt;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Times New Roman"/>
                <a:cs typeface="Times New Roman"/>
              </a:rPr>
              <a:t>δ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-97" baseline="-15873" dirty="0">
                <a:latin typeface="Arial"/>
                <a:cs typeface="Arial"/>
              </a:rPr>
              <a:t> </a:t>
            </a:r>
            <a:r>
              <a:rPr sz="900" i="1" spc="80" dirty="0">
                <a:latin typeface="Arial"/>
                <a:cs typeface="Arial"/>
              </a:rPr>
              <a:t>/</a:t>
            </a:r>
            <a:r>
              <a:rPr sz="900" spc="80" dirty="0">
                <a:latin typeface="Arial"/>
                <a:cs typeface="Arial"/>
              </a:rPr>
              <a:t>(</a:t>
            </a:r>
            <a:r>
              <a:rPr sz="900" i="1" spc="80" dirty="0">
                <a:latin typeface="Arial"/>
                <a:cs typeface="Arial"/>
              </a:rPr>
              <a:t>N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spc="150" dirty="0">
                <a:latin typeface="Menlo"/>
                <a:cs typeface="Menlo"/>
              </a:rPr>
              <a:t>−</a:t>
            </a:r>
            <a:r>
              <a:rPr sz="900" i="1" spc="-400" dirty="0">
                <a:latin typeface="Menlo"/>
                <a:cs typeface="Menlo"/>
              </a:rPr>
              <a:t> </a:t>
            </a:r>
            <a:r>
              <a:rPr sz="900" spc="-35" dirty="0">
                <a:latin typeface="Arial"/>
                <a:cs typeface="Arial"/>
              </a:rPr>
              <a:t>1)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00">
              <a:latin typeface="Arial"/>
              <a:cs typeface="Arial"/>
            </a:endParaRPr>
          </a:p>
          <a:p>
            <a:pPr marL="53975">
              <a:lnSpc>
                <a:spcPct val="100000"/>
              </a:lnSpc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Question</a:t>
            </a:r>
            <a:endParaRPr sz="1000">
              <a:latin typeface="Arial"/>
              <a:cs typeface="Arial"/>
            </a:endParaRPr>
          </a:p>
          <a:p>
            <a:pPr marL="53975" marR="147955" indent="-3810">
              <a:lnSpc>
                <a:spcPct val="111600"/>
              </a:lnSpc>
              <a:spcBef>
                <a:spcPts val="20"/>
              </a:spcBef>
            </a:pPr>
            <a:r>
              <a:rPr sz="900" spc="-65" dirty="0">
                <a:latin typeface="Arial"/>
                <a:cs typeface="Arial"/>
              </a:rPr>
              <a:t>To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what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extent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pessimistic</a:t>
            </a:r>
            <a:r>
              <a:rPr sz="900" spc="-1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here: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where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Times New Roman"/>
                <a:cs typeface="Times New Roman"/>
              </a:rPr>
              <a:t>δ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900" i="1" spc="80" dirty="0">
                <a:latin typeface="Arial"/>
                <a:cs typeface="Arial"/>
              </a:rPr>
              <a:t>/</a:t>
            </a:r>
            <a:r>
              <a:rPr sz="900" spc="80" dirty="0">
                <a:latin typeface="Arial"/>
                <a:cs typeface="Arial"/>
              </a:rPr>
              <a:t>(</a:t>
            </a:r>
            <a:r>
              <a:rPr sz="900" i="1" spc="80" dirty="0">
                <a:latin typeface="Arial"/>
                <a:cs typeface="Arial"/>
              </a:rPr>
              <a:t>N</a:t>
            </a:r>
            <a:r>
              <a:rPr sz="900" i="1" spc="-65" dirty="0">
                <a:latin typeface="Arial"/>
                <a:cs typeface="Arial"/>
              </a:rPr>
              <a:t> </a:t>
            </a:r>
            <a:r>
              <a:rPr sz="900" i="1" spc="150" dirty="0">
                <a:latin typeface="Menlo"/>
                <a:cs typeface="Menlo"/>
              </a:rPr>
              <a:t>−</a:t>
            </a:r>
            <a:r>
              <a:rPr sz="900" i="1" spc="-420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1)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come </a:t>
            </a:r>
            <a:r>
              <a:rPr sz="900" spc="-10" dirty="0">
                <a:latin typeface="Arial"/>
                <a:cs typeface="Arial"/>
              </a:rPr>
              <a:t>from?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107632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Implementing</a:t>
            </a:r>
            <a:r>
              <a:rPr sz="500" spc="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continuous</a:t>
            </a:r>
            <a:r>
              <a:rPr sz="500" spc="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consistency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69054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3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protocols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Continuous</a:t>
            </a:r>
            <a:r>
              <a:rPr spc="-65" dirty="0"/>
              <a:t> </a:t>
            </a:r>
            <a:r>
              <a:rPr dirty="0"/>
              <a:t>consistency:</a:t>
            </a:r>
            <a:r>
              <a:rPr spc="10" dirty="0"/>
              <a:t> </a:t>
            </a:r>
            <a:r>
              <a:rPr dirty="0"/>
              <a:t>Numerical</a:t>
            </a:r>
            <a:r>
              <a:rPr spc="-65" dirty="0"/>
              <a:t> </a:t>
            </a:r>
            <a:r>
              <a:rPr spc="-10" dirty="0"/>
              <a:t>errors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05663" y="499476"/>
            <a:ext cx="3980815" cy="201612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53975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Solution</a:t>
            </a:r>
            <a:endParaRPr sz="1000">
              <a:latin typeface="Arial"/>
              <a:cs typeface="Arial"/>
            </a:endParaRPr>
          </a:p>
          <a:p>
            <a:pPr marL="53975" marR="30480">
              <a:lnSpc>
                <a:spcPts val="1210"/>
              </a:lnSpc>
              <a:spcBef>
                <a:spcPts val="35"/>
              </a:spcBef>
            </a:pPr>
            <a:r>
              <a:rPr sz="900" i="1" dirty="0">
                <a:latin typeface="Arial"/>
                <a:cs typeface="Arial"/>
              </a:rPr>
              <a:t>S</a:t>
            </a:r>
            <a:r>
              <a:rPr sz="1050" i="1" baseline="-15873" dirty="0">
                <a:latin typeface="Arial"/>
                <a:cs typeface="Arial"/>
              </a:rPr>
              <a:t>k</a:t>
            </a:r>
            <a:r>
              <a:rPr sz="1050" i="1" spc="187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sends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operations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202" baseline="-15873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when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it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sees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that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spc="-20" dirty="0">
                <a:solidFill>
                  <a:srgbClr val="3333B2"/>
                </a:solidFill>
                <a:latin typeface="Arial"/>
                <a:cs typeface="Arial"/>
              </a:rPr>
              <a:t>TW</a:t>
            </a:r>
            <a:r>
              <a:rPr sz="1050" i="1" spc="-30" baseline="-15873" dirty="0">
                <a:solidFill>
                  <a:srgbClr val="3333B2"/>
                </a:solidFill>
                <a:latin typeface="Arial"/>
                <a:cs typeface="Arial"/>
              </a:rPr>
              <a:t>k</a:t>
            </a:r>
            <a:r>
              <a:rPr sz="1050" i="1" spc="-112" baseline="-15873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[</a:t>
            </a:r>
            <a:r>
              <a:rPr sz="900" i="1" dirty="0">
                <a:solidFill>
                  <a:srgbClr val="3333B2"/>
                </a:solidFill>
                <a:latin typeface="Arial"/>
                <a:cs typeface="Arial"/>
              </a:rPr>
              <a:t>i,</a:t>
            </a:r>
            <a:r>
              <a:rPr sz="900" i="1" spc="-1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3333B2"/>
                </a:solidFill>
                <a:latin typeface="Arial"/>
                <a:cs typeface="Arial"/>
              </a:rPr>
              <a:t>k</a:t>
            </a:r>
            <a:r>
              <a:rPr sz="900" i="1" spc="-16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]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is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getting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too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far</a:t>
            </a:r>
            <a:r>
              <a:rPr sz="9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from</a:t>
            </a:r>
            <a:r>
              <a:rPr sz="9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3333B2"/>
                </a:solidFill>
                <a:latin typeface="Arial"/>
                <a:cs typeface="Arial"/>
              </a:rPr>
              <a:t>TW</a:t>
            </a:r>
            <a:r>
              <a:rPr sz="900" i="1" spc="-1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[</a:t>
            </a:r>
            <a:r>
              <a:rPr sz="900" i="1" dirty="0">
                <a:solidFill>
                  <a:srgbClr val="3333B2"/>
                </a:solidFill>
                <a:latin typeface="Arial"/>
                <a:cs typeface="Arial"/>
              </a:rPr>
              <a:t>k,</a:t>
            </a:r>
            <a:r>
              <a:rPr sz="900" i="1" spc="-1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3333B2"/>
                </a:solidFill>
                <a:latin typeface="Arial"/>
                <a:cs typeface="Arial"/>
              </a:rPr>
              <a:t>k</a:t>
            </a:r>
            <a:r>
              <a:rPr sz="900" i="1" spc="-16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]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particular,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when</a:t>
            </a:r>
            <a:endParaRPr sz="900">
              <a:latin typeface="Arial"/>
              <a:cs typeface="Arial"/>
            </a:endParaRPr>
          </a:p>
          <a:p>
            <a:pPr marL="1165225">
              <a:lnSpc>
                <a:spcPct val="100000"/>
              </a:lnSpc>
              <a:spcBef>
                <a:spcPts val="905"/>
              </a:spcBef>
            </a:pPr>
            <a:r>
              <a:rPr sz="900" i="1" spc="-10" dirty="0">
                <a:latin typeface="Arial"/>
                <a:cs typeface="Arial"/>
              </a:rPr>
              <a:t>TW</a:t>
            </a:r>
            <a:r>
              <a:rPr sz="900" i="1" spc="-1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</a:t>
            </a:r>
            <a:r>
              <a:rPr sz="900" i="1" dirty="0">
                <a:latin typeface="Arial"/>
                <a:cs typeface="Arial"/>
              </a:rPr>
              <a:t>k,</a:t>
            </a:r>
            <a:r>
              <a:rPr sz="900" i="1" spc="-14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k</a:t>
            </a:r>
            <a:r>
              <a:rPr sz="900" i="1" spc="-1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</a:t>
            </a:r>
            <a:r>
              <a:rPr sz="900" spc="-100" dirty="0">
                <a:latin typeface="Arial"/>
                <a:cs typeface="Arial"/>
              </a:rPr>
              <a:t> </a:t>
            </a:r>
            <a:r>
              <a:rPr sz="900" i="1" spc="60" dirty="0">
                <a:latin typeface="Menlo"/>
                <a:cs typeface="Menlo"/>
              </a:rPr>
              <a:t>−</a:t>
            </a:r>
            <a:r>
              <a:rPr sz="900" i="1" spc="60" dirty="0">
                <a:latin typeface="Arial"/>
                <a:cs typeface="Arial"/>
              </a:rPr>
              <a:t>TW</a:t>
            </a:r>
            <a:r>
              <a:rPr sz="1050" i="1" spc="89" baseline="-15873" dirty="0">
                <a:latin typeface="Arial"/>
                <a:cs typeface="Arial"/>
              </a:rPr>
              <a:t>k</a:t>
            </a:r>
            <a:r>
              <a:rPr sz="1050" i="1" spc="-82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</a:t>
            </a:r>
            <a:r>
              <a:rPr sz="900" i="1" dirty="0">
                <a:latin typeface="Arial"/>
                <a:cs typeface="Arial"/>
              </a:rPr>
              <a:t>i,</a:t>
            </a:r>
            <a:r>
              <a:rPr sz="900" i="1" spc="-14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k</a:t>
            </a:r>
            <a:r>
              <a:rPr sz="900" i="1" spc="-1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165" dirty="0">
                <a:latin typeface="Arial"/>
                <a:cs typeface="Arial"/>
              </a:rPr>
              <a:t>&gt;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Times New Roman"/>
                <a:cs typeface="Times New Roman"/>
              </a:rPr>
              <a:t>δ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-97" baseline="-15873" dirty="0">
                <a:latin typeface="Arial"/>
                <a:cs typeface="Arial"/>
              </a:rPr>
              <a:t> </a:t>
            </a:r>
            <a:r>
              <a:rPr sz="900" i="1" spc="80" dirty="0">
                <a:latin typeface="Arial"/>
                <a:cs typeface="Arial"/>
              </a:rPr>
              <a:t>/</a:t>
            </a:r>
            <a:r>
              <a:rPr sz="900" spc="80" dirty="0">
                <a:latin typeface="Arial"/>
                <a:cs typeface="Arial"/>
              </a:rPr>
              <a:t>(</a:t>
            </a:r>
            <a:r>
              <a:rPr sz="900" i="1" spc="80" dirty="0">
                <a:latin typeface="Arial"/>
                <a:cs typeface="Arial"/>
              </a:rPr>
              <a:t>N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spc="150" dirty="0">
                <a:latin typeface="Menlo"/>
                <a:cs typeface="Menlo"/>
              </a:rPr>
              <a:t>−</a:t>
            </a:r>
            <a:r>
              <a:rPr sz="900" i="1" spc="-400" dirty="0">
                <a:latin typeface="Menlo"/>
                <a:cs typeface="Menlo"/>
              </a:rPr>
              <a:t> </a:t>
            </a:r>
            <a:r>
              <a:rPr sz="900" spc="-35" dirty="0">
                <a:latin typeface="Arial"/>
                <a:cs typeface="Arial"/>
              </a:rPr>
              <a:t>1)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00">
              <a:latin typeface="Arial"/>
              <a:cs typeface="Arial"/>
            </a:endParaRPr>
          </a:p>
          <a:p>
            <a:pPr marL="53975">
              <a:lnSpc>
                <a:spcPct val="100000"/>
              </a:lnSpc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Question</a:t>
            </a:r>
            <a:endParaRPr sz="1000">
              <a:latin typeface="Arial"/>
              <a:cs typeface="Arial"/>
            </a:endParaRPr>
          </a:p>
          <a:p>
            <a:pPr marL="53975" marR="147955" indent="-3810">
              <a:lnSpc>
                <a:spcPct val="111600"/>
              </a:lnSpc>
              <a:spcBef>
                <a:spcPts val="20"/>
              </a:spcBef>
            </a:pPr>
            <a:r>
              <a:rPr sz="900" spc="-65" dirty="0">
                <a:latin typeface="Arial"/>
                <a:cs typeface="Arial"/>
              </a:rPr>
              <a:t>To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what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extent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pessimistic</a:t>
            </a:r>
            <a:r>
              <a:rPr sz="900" spc="-1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here: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where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Times New Roman"/>
                <a:cs typeface="Times New Roman"/>
              </a:rPr>
              <a:t>δ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900" i="1" spc="80" dirty="0">
                <a:latin typeface="Arial"/>
                <a:cs typeface="Arial"/>
              </a:rPr>
              <a:t>/</a:t>
            </a:r>
            <a:r>
              <a:rPr sz="900" spc="80" dirty="0">
                <a:latin typeface="Arial"/>
                <a:cs typeface="Arial"/>
              </a:rPr>
              <a:t>(</a:t>
            </a:r>
            <a:r>
              <a:rPr sz="900" i="1" spc="80" dirty="0">
                <a:latin typeface="Arial"/>
                <a:cs typeface="Arial"/>
              </a:rPr>
              <a:t>N</a:t>
            </a:r>
            <a:r>
              <a:rPr sz="900" i="1" spc="-65" dirty="0">
                <a:latin typeface="Arial"/>
                <a:cs typeface="Arial"/>
              </a:rPr>
              <a:t> </a:t>
            </a:r>
            <a:r>
              <a:rPr sz="900" i="1" spc="150" dirty="0">
                <a:latin typeface="Menlo"/>
                <a:cs typeface="Menlo"/>
              </a:rPr>
              <a:t>−</a:t>
            </a:r>
            <a:r>
              <a:rPr sz="900" i="1" spc="-420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1)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come </a:t>
            </a:r>
            <a:r>
              <a:rPr sz="900" spc="-10" dirty="0">
                <a:latin typeface="Arial"/>
                <a:cs typeface="Arial"/>
              </a:rPr>
              <a:t>from?</a:t>
            </a:r>
            <a:endParaRPr sz="900">
              <a:latin typeface="Arial"/>
              <a:cs typeface="Arial"/>
            </a:endParaRPr>
          </a:p>
          <a:p>
            <a:pPr marL="53975">
              <a:lnSpc>
                <a:spcPct val="100000"/>
              </a:lnSpc>
              <a:spcBef>
                <a:spcPts val="810"/>
              </a:spcBef>
            </a:pPr>
            <a:r>
              <a:rPr sz="1000" spc="-20" dirty="0">
                <a:solidFill>
                  <a:srgbClr val="C80000"/>
                </a:solidFill>
                <a:latin typeface="Arial"/>
                <a:cs typeface="Arial"/>
              </a:rPr>
              <a:t>Note</a:t>
            </a:r>
            <a:endParaRPr sz="1000">
              <a:latin typeface="Arial"/>
              <a:cs typeface="Arial"/>
            </a:endParaRPr>
          </a:p>
          <a:p>
            <a:pPr marL="53975" marR="70485">
              <a:lnSpc>
                <a:spcPts val="1210"/>
              </a:lnSpc>
              <a:spcBef>
                <a:spcPts val="40"/>
              </a:spcBef>
            </a:pPr>
            <a:r>
              <a:rPr sz="900" dirty="0">
                <a:latin typeface="Arial"/>
                <a:cs typeface="Arial"/>
              </a:rPr>
              <a:t>Staleness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done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analogously,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essentially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keeping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track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has </a:t>
            </a:r>
            <a:r>
              <a:rPr sz="900" dirty="0">
                <a:latin typeface="Arial"/>
                <a:cs typeface="Arial"/>
              </a:rPr>
              <a:t>been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seen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last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202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(see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book).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107632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Implementing</a:t>
            </a:r>
            <a:r>
              <a:rPr sz="500" spc="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continuous</a:t>
            </a:r>
            <a:r>
              <a:rPr sz="500" spc="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consistency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69054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3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protocols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Implementing</a:t>
            </a:r>
            <a:r>
              <a:rPr spc="-35" dirty="0"/>
              <a:t> </a:t>
            </a:r>
            <a:r>
              <a:rPr spc="-10" dirty="0"/>
              <a:t>client-</a:t>
            </a:r>
            <a:r>
              <a:rPr dirty="0"/>
              <a:t>centric</a:t>
            </a:r>
            <a:r>
              <a:rPr spc="-30" dirty="0"/>
              <a:t> </a:t>
            </a:r>
            <a:r>
              <a:rPr spc="-10" dirty="0"/>
              <a:t>consistency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4594" y="470520"/>
            <a:ext cx="3800475" cy="111188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44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Keeping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it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 simple</a:t>
            </a:r>
            <a:endParaRPr sz="1000">
              <a:latin typeface="Arial"/>
              <a:cs typeface="Arial"/>
            </a:endParaRPr>
          </a:p>
          <a:p>
            <a:pPr marL="25400" marR="17780">
              <a:lnSpc>
                <a:spcPct val="111600"/>
              </a:lnSpc>
              <a:spcBef>
                <a:spcPts val="180"/>
              </a:spcBef>
            </a:pPr>
            <a:r>
              <a:rPr sz="900" dirty="0">
                <a:latin typeface="Arial"/>
                <a:cs typeface="Arial"/>
              </a:rPr>
              <a:t>Each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W</a:t>
            </a:r>
            <a:r>
              <a:rPr sz="900" i="1" spc="9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assigned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globally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unique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identifier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origin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server</a:t>
            </a:r>
            <a:r>
              <a:rPr sz="900" dirty="0">
                <a:latin typeface="Arial"/>
                <a:cs typeface="Arial"/>
              </a:rPr>
              <a:t>.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each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keep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track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two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sets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writes:</a:t>
            </a:r>
            <a:endParaRPr sz="900">
              <a:latin typeface="Arial"/>
              <a:cs typeface="Arial"/>
            </a:endParaRPr>
          </a:p>
          <a:p>
            <a:pPr marL="278130" marR="140335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Read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set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(identifiers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the)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relevant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client’s</a:t>
            </a:r>
            <a:r>
              <a:rPr sz="900" spc="-20" dirty="0">
                <a:latin typeface="Arial"/>
                <a:cs typeface="Arial"/>
              </a:rPr>
              <a:t> read </a:t>
            </a:r>
            <a:r>
              <a:rPr sz="900" spc="-10" dirty="0">
                <a:latin typeface="Arial"/>
                <a:cs typeface="Arial"/>
              </a:rPr>
              <a:t>operations</a:t>
            </a:r>
            <a:endParaRPr sz="900">
              <a:latin typeface="Arial"/>
              <a:cs typeface="Arial"/>
            </a:endParaRPr>
          </a:p>
          <a:p>
            <a:pPr marL="278130" indent="-1206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Write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set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(identifiers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the)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client’s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operations.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112712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Implementing</a:t>
            </a:r>
            <a:r>
              <a:rPr sz="500" spc="6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client-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centric</a:t>
            </a:r>
            <a:r>
              <a:rPr sz="500" spc="6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consistency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69054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3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protocols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Implementing</a:t>
            </a:r>
            <a:r>
              <a:rPr spc="-35" dirty="0"/>
              <a:t> </a:t>
            </a:r>
            <a:r>
              <a:rPr spc="-10" dirty="0"/>
              <a:t>client-</a:t>
            </a:r>
            <a:r>
              <a:rPr dirty="0"/>
              <a:t>centric</a:t>
            </a:r>
            <a:r>
              <a:rPr spc="-30" dirty="0"/>
              <a:t> </a:t>
            </a:r>
            <a:r>
              <a:rPr spc="-10" dirty="0"/>
              <a:t>consistency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21894" y="470520"/>
            <a:ext cx="3905250" cy="1923414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4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Keeping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it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 simple</a:t>
            </a:r>
            <a:endParaRPr sz="1000">
              <a:latin typeface="Arial"/>
              <a:cs typeface="Arial"/>
            </a:endParaRPr>
          </a:p>
          <a:p>
            <a:pPr marL="38100" marR="109855">
              <a:lnSpc>
                <a:spcPct val="111600"/>
              </a:lnSpc>
              <a:spcBef>
                <a:spcPts val="180"/>
              </a:spcBef>
            </a:pPr>
            <a:r>
              <a:rPr sz="900" dirty="0">
                <a:latin typeface="Arial"/>
                <a:cs typeface="Arial"/>
              </a:rPr>
              <a:t>Each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W</a:t>
            </a:r>
            <a:r>
              <a:rPr sz="900" i="1" spc="9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assigned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globally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unique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identifier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origin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server</a:t>
            </a:r>
            <a:r>
              <a:rPr sz="900" dirty="0">
                <a:latin typeface="Arial"/>
                <a:cs typeface="Arial"/>
              </a:rPr>
              <a:t>.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each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keep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track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two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sets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writes:</a:t>
            </a:r>
            <a:endParaRPr sz="900">
              <a:latin typeface="Arial"/>
              <a:cs typeface="Arial"/>
            </a:endParaRPr>
          </a:p>
          <a:p>
            <a:pPr marL="290830" marR="232410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291465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Read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set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(identifiers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the)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relevant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client’s</a:t>
            </a:r>
            <a:r>
              <a:rPr sz="900" spc="-20" dirty="0">
                <a:latin typeface="Arial"/>
                <a:cs typeface="Arial"/>
              </a:rPr>
              <a:t> read </a:t>
            </a:r>
            <a:r>
              <a:rPr sz="900" spc="-10" dirty="0">
                <a:latin typeface="Arial"/>
                <a:cs typeface="Arial"/>
              </a:rPr>
              <a:t>operations</a:t>
            </a:r>
            <a:endParaRPr sz="900">
              <a:latin typeface="Arial"/>
              <a:cs typeface="Arial"/>
            </a:endParaRPr>
          </a:p>
          <a:p>
            <a:pPr marL="290830" indent="-1206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291465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Write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set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(identifiers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the)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client’s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operations.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Monotonic-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read</a:t>
            </a:r>
            <a:r>
              <a:rPr sz="1000" spc="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consistency</a:t>
            </a:r>
            <a:endParaRPr sz="1000">
              <a:latin typeface="Arial"/>
              <a:cs typeface="Arial"/>
            </a:endParaRPr>
          </a:p>
          <a:p>
            <a:pPr marL="38100" marR="17780" indent="-5715">
              <a:lnSpc>
                <a:spcPct val="111600"/>
              </a:lnSpc>
              <a:spcBef>
                <a:spcPts val="175"/>
              </a:spcBef>
            </a:pPr>
            <a:r>
              <a:rPr sz="900" dirty="0">
                <a:latin typeface="Arial"/>
                <a:cs typeface="Arial"/>
              </a:rPr>
              <a:t>When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</a:t>
            </a:r>
            <a:r>
              <a:rPr sz="900" i="1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wants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</a:t>
            </a:r>
            <a:r>
              <a:rPr sz="900" i="1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passes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set.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900" i="1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pull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in </a:t>
            </a:r>
            <a:r>
              <a:rPr sz="900" dirty="0">
                <a:latin typeface="Arial"/>
                <a:cs typeface="Arial"/>
              </a:rPr>
              <a:t>any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before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executing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after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set</a:t>
            </a:r>
            <a:r>
              <a:rPr sz="900" spc="-25" dirty="0">
                <a:latin typeface="Arial"/>
                <a:cs typeface="Arial"/>
              </a:rPr>
              <a:t> is </a:t>
            </a:r>
            <a:r>
              <a:rPr sz="900" spc="-10" dirty="0">
                <a:latin typeface="Arial"/>
                <a:cs typeface="Arial"/>
              </a:rPr>
              <a:t>updated.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112712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Implementing</a:t>
            </a:r>
            <a:r>
              <a:rPr sz="500" spc="6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client-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centric</a:t>
            </a:r>
            <a:r>
              <a:rPr sz="500" spc="6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consistency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69054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3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protocols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Implementing</a:t>
            </a:r>
            <a:r>
              <a:rPr spc="-35" dirty="0"/>
              <a:t> </a:t>
            </a:r>
            <a:r>
              <a:rPr spc="-10" dirty="0"/>
              <a:t>client-</a:t>
            </a:r>
            <a:r>
              <a:rPr dirty="0"/>
              <a:t>centric</a:t>
            </a:r>
            <a:r>
              <a:rPr spc="-30" dirty="0"/>
              <a:t> </a:t>
            </a:r>
            <a:r>
              <a:rPr spc="-10" dirty="0"/>
              <a:t>consistency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21894" y="470520"/>
            <a:ext cx="3933825" cy="266065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4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Keeping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it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 simple</a:t>
            </a:r>
            <a:endParaRPr sz="1000">
              <a:latin typeface="Arial"/>
              <a:cs typeface="Arial"/>
            </a:endParaRPr>
          </a:p>
          <a:p>
            <a:pPr marL="38100" marR="137795">
              <a:lnSpc>
                <a:spcPct val="111600"/>
              </a:lnSpc>
              <a:spcBef>
                <a:spcPts val="180"/>
              </a:spcBef>
            </a:pPr>
            <a:r>
              <a:rPr sz="900" dirty="0">
                <a:latin typeface="Arial"/>
                <a:cs typeface="Arial"/>
              </a:rPr>
              <a:t>Each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W</a:t>
            </a:r>
            <a:r>
              <a:rPr sz="900" i="1" spc="9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assigned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globally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unique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identifier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origin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server</a:t>
            </a:r>
            <a:r>
              <a:rPr sz="900" dirty="0">
                <a:latin typeface="Arial"/>
                <a:cs typeface="Arial"/>
              </a:rPr>
              <a:t>.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each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keep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track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two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sets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writes:</a:t>
            </a:r>
            <a:endParaRPr sz="900">
              <a:latin typeface="Arial"/>
              <a:cs typeface="Arial"/>
            </a:endParaRPr>
          </a:p>
          <a:p>
            <a:pPr marL="290830" marR="260985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291465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Read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set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(identifiers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the)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relevant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client’s</a:t>
            </a:r>
            <a:r>
              <a:rPr sz="900" spc="-20" dirty="0">
                <a:latin typeface="Arial"/>
                <a:cs typeface="Arial"/>
              </a:rPr>
              <a:t> read </a:t>
            </a:r>
            <a:r>
              <a:rPr sz="900" spc="-10" dirty="0">
                <a:latin typeface="Arial"/>
                <a:cs typeface="Arial"/>
              </a:rPr>
              <a:t>operations</a:t>
            </a:r>
            <a:endParaRPr sz="900">
              <a:latin typeface="Arial"/>
              <a:cs typeface="Arial"/>
            </a:endParaRPr>
          </a:p>
          <a:p>
            <a:pPr marL="290830" indent="-1206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291465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Write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set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(identifiers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the)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client’s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operations.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Monotonic-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read</a:t>
            </a:r>
            <a:r>
              <a:rPr sz="1000" spc="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consistency</a:t>
            </a:r>
            <a:endParaRPr sz="1000">
              <a:latin typeface="Arial"/>
              <a:cs typeface="Arial"/>
            </a:endParaRPr>
          </a:p>
          <a:p>
            <a:pPr marL="38100" marR="45720" indent="-5715">
              <a:lnSpc>
                <a:spcPct val="111600"/>
              </a:lnSpc>
              <a:spcBef>
                <a:spcPts val="175"/>
              </a:spcBef>
            </a:pPr>
            <a:r>
              <a:rPr sz="900" dirty="0">
                <a:latin typeface="Arial"/>
                <a:cs typeface="Arial"/>
              </a:rPr>
              <a:t>When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</a:t>
            </a:r>
            <a:r>
              <a:rPr sz="900" i="1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wants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</a:t>
            </a:r>
            <a:r>
              <a:rPr sz="900" i="1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passes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set.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900" i="1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pull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in </a:t>
            </a:r>
            <a:r>
              <a:rPr sz="900" dirty="0">
                <a:latin typeface="Arial"/>
                <a:cs typeface="Arial"/>
              </a:rPr>
              <a:t>any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before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executing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after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set</a:t>
            </a:r>
            <a:r>
              <a:rPr sz="900" spc="-25" dirty="0">
                <a:latin typeface="Arial"/>
                <a:cs typeface="Arial"/>
              </a:rPr>
              <a:t> is </a:t>
            </a:r>
            <a:r>
              <a:rPr sz="900" spc="-10" dirty="0">
                <a:latin typeface="Arial"/>
                <a:cs typeface="Arial"/>
              </a:rPr>
              <a:t>updated.</a:t>
            </a:r>
            <a:endParaRPr sz="900">
              <a:latin typeface="Arial"/>
              <a:cs typeface="Arial"/>
            </a:endParaRPr>
          </a:p>
          <a:p>
            <a:pPr marL="38100" algn="just">
              <a:lnSpc>
                <a:spcPct val="100000"/>
              </a:lnSpc>
              <a:spcBef>
                <a:spcPts val="810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Monotonic-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write</a:t>
            </a:r>
            <a:r>
              <a:rPr sz="1000" spc="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consistency</a:t>
            </a:r>
            <a:endParaRPr sz="1000">
              <a:latin typeface="Arial"/>
              <a:cs typeface="Arial"/>
            </a:endParaRPr>
          </a:p>
          <a:p>
            <a:pPr marL="38100" marR="17780" indent="-5715" algn="just">
              <a:lnSpc>
                <a:spcPct val="111600"/>
              </a:lnSpc>
              <a:spcBef>
                <a:spcPts val="175"/>
              </a:spcBef>
            </a:pPr>
            <a:r>
              <a:rPr sz="900" dirty="0">
                <a:latin typeface="Arial"/>
                <a:cs typeface="Arial"/>
              </a:rPr>
              <a:t>When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</a:t>
            </a:r>
            <a:r>
              <a:rPr sz="900" i="1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wants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</a:t>
            </a:r>
            <a:r>
              <a:rPr sz="900" i="1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passes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set.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900" i="1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pull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in </a:t>
            </a:r>
            <a:r>
              <a:rPr sz="900" dirty="0">
                <a:latin typeface="Arial"/>
                <a:cs typeface="Arial"/>
              </a:rPr>
              <a:t>any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updates,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executes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correct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order,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executes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write </a:t>
            </a:r>
            <a:r>
              <a:rPr sz="900" dirty="0">
                <a:latin typeface="Arial"/>
                <a:cs typeface="Arial"/>
              </a:rPr>
              <a:t>operation,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after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updated.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112712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Implementing</a:t>
            </a:r>
            <a:r>
              <a:rPr sz="500" spc="6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client-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centric</a:t>
            </a:r>
            <a:r>
              <a:rPr sz="500" spc="6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consistency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69054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3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protocols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Implementing</a:t>
            </a:r>
            <a:r>
              <a:rPr spc="-35" dirty="0"/>
              <a:t> </a:t>
            </a:r>
            <a:r>
              <a:rPr spc="-10" dirty="0"/>
              <a:t>client-</a:t>
            </a:r>
            <a:r>
              <a:rPr dirty="0"/>
              <a:t>centric</a:t>
            </a:r>
            <a:r>
              <a:rPr spc="-30" dirty="0"/>
              <a:t> </a:t>
            </a:r>
            <a:r>
              <a:rPr spc="-10" dirty="0"/>
              <a:t>consistency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1947" y="471706"/>
            <a:ext cx="3886835" cy="70231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434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Read-your-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writes</a:t>
            </a:r>
            <a:r>
              <a:rPr sz="1000" spc="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consistency</a:t>
            </a:r>
            <a:endParaRPr sz="1000">
              <a:latin typeface="Arial"/>
              <a:cs typeface="Arial"/>
            </a:endParaRPr>
          </a:p>
          <a:p>
            <a:pPr marL="17780" marR="5080" indent="-5715">
              <a:lnSpc>
                <a:spcPct val="111600"/>
              </a:lnSpc>
              <a:spcBef>
                <a:spcPts val="175"/>
              </a:spcBef>
            </a:pPr>
            <a:r>
              <a:rPr sz="900" dirty="0">
                <a:latin typeface="Arial"/>
                <a:cs typeface="Arial"/>
              </a:rPr>
              <a:t>When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</a:t>
            </a:r>
            <a:r>
              <a:rPr sz="900" i="1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wants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</a:t>
            </a:r>
            <a:r>
              <a:rPr sz="900" i="1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passes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set.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900" i="1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pull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in </a:t>
            </a:r>
            <a:r>
              <a:rPr sz="900" dirty="0">
                <a:latin typeface="Arial"/>
                <a:cs typeface="Arial"/>
              </a:rPr>
              <a:t>any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before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executing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after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set</a:t>
            </a:r>
            <a:r>
              <a:rPr sz="900" spc="-25" dirty="0">
                <a:latin typeface="Arial"/>
                <a:cs typeface="Arial"/>
              </a:rPr>
              <a:t> is </a:t>
            </a:r>
            <a:r>
              <a:rPr sz="900" spc="-10" dirty="0">
                <a:latin typeface="Arial"/>
                <a:cs typeface="Arial"/>
              </a:rPr>
              <a:t>updated.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112712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Implementing</a:t>
            </a:r>
            <a:r>
              <a:rPr sz="500" spc="6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client-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centric</a:t>
            </a:r>
            <a:r>
              <a:rPr sz="500" spc="6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consistency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69054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3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protocols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Implementing</a:t>
            </a:r>
            <a:r>
              <a:rPr spc="-35" dirty="0"/>
              <a:t> </a:t>
            </a:r>
            <a:r>
              <a:rPr spc="-10" dirty="0"/>
              <a:t>client-</a:t>
            </a:r>
            <a:r>
              <a:rPr dirty="0"/>
              <a:t>centric</a:t>
            </a:r>
            <a:r>
              <a:rPr spc="-30" dirty="0"/>
              <a:t> </a:t>
            </a:r>
            <a:r>
              <a:rPr spc="-10" dirty="0"/>
              <a:t>consistency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1350" y="471706"/>
            <a:ext cx="3887470" cy="143954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8415">
              <a:lnSpc>
                <a:spcPct val="100000"/>
              </a:lnSpc>
              <a:spcBef>
                <a:spcPts val="434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Read-your-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writes</a:t>
            </a:r>
            <a:r>
              <a:rPr sz="1000" spc="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consistency</a:t>
            </a:r>
            <a:endParaRPr sz="1000" dirty="0">
              <a:latin typeface="Arial"/>
              <a:cs typeface="Arial"/>
            </a:endParaRPr>
          </a:p>
          <a:p>
            <a:pPr marL="18415" marR="5080" indent="-5715">
              <a:lnSpc>
                <a:spcPct val="111600"/>
              </a:lnSpc>
              <a:spcBef>
                <a:spcPts val="175"/>
              </a:spcBef>
            </a:pPr>
            <a:r>
              <a:rPr sz="900" dirty="0">
                <a:latin typeface="Arial"/>
                <a:cs typeface="Arial"/>
              </a:rPr>
              <a:t>When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</a:t>
            </a:r>
            <a:r>
              <a:rPr sz="900" i="1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wants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</a:t>
            </a:r>
            <a:r>
              <a:rPr sz="900" i="1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passes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set.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900" i="1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pull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in </a:t>
            </a:r>
            <a:r>
              <a:rPr sz="900" dirty="0">
                <a:latin typeface="Arial"/>
                <a:cs typeface="Arial"/>
              </a:rPr>
              <a:t>any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before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executing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after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set</a:t>
            </a:r>
            <a:r>
              <a:rPr sz="900" spc="-25" dirty="0">
                <a:latin typeface="Arial"/>
                <a:cs typeface="Arial"/>
              </a:rPr>
              <a:t> is </a:t>
            </a:r>
            <a:r>
              <a:rPr sz="900" spc="-10" dirty="0">
                <a:latin typeface="Arial"/>
                <a:cs typeface="Arial"/>
              </a:rPr>
              <a:t>updated.</a:t>
            </a:r>
            <a:endParaRPr sz="900" dirty="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810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Writes-follows-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reads</a:t>
            </a:r>
            <a:r>
              <a:rPr sz="1000" spc="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consistency</a:t>
            </a:r>
            <a:endParaRPr sz="1000" dirty="0">
              <a:latin typeface="Arial"/>
              <a:cs typeface="Arial"/>
            </a:endParaRPr>
          </a:p>
          <a:p>
            <a:pPr marL="18415" marR="5080" indent="-5715" algn="just">
              <a:lnSpc>
                <a:spcPct val="111600"/>
              </a:lnSpc>
              <a:spcBef>
                <a:spcPts val="180"/>
              </a:spcBef>
            </a:pPr>
            <a:r>
              <a:rPr sz="900" dirty="0">
                <a:latin typeface="Arial"/>
                <a:cs typeface="Arial"/>
              </a:rPr>
              <a:t>When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</a:t>
            </a:r>
            <a:r>
              <a:rPr sz="900" i="1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wants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</a:t>
            </a:r>
            <a:r>
              <a:rPr sz="900" i="1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passes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set.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900" i="1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pull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in </a:t>
            </a:r>
            <a:r>
              <a:rPr sz="900" dirty="0">
                <a:latin typeface="Arial"/>
                <a:cs typeface="Arial"/>
              </a:rPr>
              <a:t>any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updates,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executes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correct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order,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executes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write </a:t>
            </a:r>
            <a:r>
              <a:rPr sz="900" dirty="0">
                <a:latin typeface="Arial"/>
                <a:cs typeface="Arial"/>
              </a:rPr>
              <a:t>operation,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after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updated.</a:t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112712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Implementing</a:t>
            </a:r>
            <a:r>
              <a:rPr sz="500" spc="6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client-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centric</a:t>
            </a:r>
            <a:r>
              <a:rPr sz="500" spc="6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consistency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7994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264585" y="-1515"/>
            <a:ext cx="129032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Example:</a:t>
            </a:r>
            <a:r>
              <a:rPr sz="500" spc="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Caching</a:t>
            </a:r>
            <a:r>
              <a:rPr sz="500" spc="-1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and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replication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in</a:t>
            </a:r>
            <a:r>
              <a:rPr sz="500" spc="-1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the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Web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200" y="197711"/>
            <a:ext cx="4215765" cy="16871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Example:</a:t>
            </a:r>
            <a:r>
              <a:rPr sz="1200" spc="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replication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in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3333B2"/>
                </a:solidFill>
                <a:latin typeface="Arial"/>
                <a:cs typeface="Arial"/>
              </a:rPr>
              <a:t>Web</a:t>
            </a:r>
            <a:endParaRPr sz="1200" dirty="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Client-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side</a:t>
            </a:r>
            <a:r>
              <a:rPr sz="1000" spc="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caches</a:t>
            </a:r>
            <a:endParaRPr sz="1000" dirty="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505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browser</a:t>
            </a:r>
            <a:endParaRPr sz="900" dirty="0">
              <a:latin typeface="Arial"/>
              <a:cs typeface="Arial"/>
            </a:endParaRPr>
          </a:p>
          <a:p>
            <a:pPr marL="551815" indent="-116839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552450" algn="l"/>
              </a:tabLst>
            </a:pPr>
            <a:r>
              <a:rPr sz="900" dirty="0">
                <a:latin typeface="Arial"/>
                <a:cs typeface="Arial"/>
              </a:rPr>
              <a:t>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client’s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site,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notably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through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Web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proxy</a:t>
            </a:r>
            <a:endParaRPr sz="9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 dirty="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Caches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at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ISPs</a:t>
            </a:r>
            <a:endParaRPr sz="1000" dirty="0">
              <a:latin typeface="Arial"/>
              <a:cs typeface="Arial"/>
            </a:endParaRPr>
          </a:p>
          <a:p>
            <a:pPr marL="302260" marR="1778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Internet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Service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Providers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also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place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caches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(1)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reduce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cross-</a:t>
            </a:r>
            <a:r>
              <a:rPr sz="900" dirty="0">
                <a:latin typeface="Arial"/>
                <a:cs typeface="Arial"/>
              </a:rPr>
              <a:t>ISP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traffic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(2)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improve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client-</a:t>
            </a:r>
            <a:r>
              <a:rPr sz="900" dirty="0">
                <a:latin typeface="Arial"/>
                <a:cs typeface="Arial"/>
              </a:rPr>
              <a:t>side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performance.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May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get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nasty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request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needs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pass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many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ISPs.</a:t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fade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7994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264585" y="-1515"/>
            <a:ext cx="129032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Example:</a:t>
            </a:r>
            <a:r>
              <a:rPr sz="500" spc="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Caching</a:t>
            </a:r>
            <a:r>
              <a:rPr sz="500" spc="-1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and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replication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in</a:t>
            </a:r>
            <a:r>
              <a:rPr sz="500" spc="-1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the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Web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140462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Cooperative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caching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7814" y="552842"/>
            <a:ext cx="3100044" cy="1588986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8" name="object 8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4">
            <a:extLst>
              <a:ext uri="{FF2B5EF4-FFF2-40B4-BE49-F238E27FC236}">
                <a16:creationId xmlns:a16="http://schemas.microsoft.com/office/drawing/2014/main" id="{54511B42-B7C0-D4A7-69E7-6C70F05C8226}"/>
              </a:ext>
            </a:extLst>
          </p:cNvPr>
          <p:cNvSpPr txBox="1"/>
          <p:nvPr/>
        </p:nvSpPr>
        <p:spPr>
          <a:xfrm>
            <a:off x="360260" y="2332420"/>
            <a:ext cx="3887470" cy="818813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8415" marR="5080" indent="-5715" algn="just">
              <a:lnSpc>
                <a:spcPct val="111600"/>
              </a:lnSpc>
              <a:spcBef>
                <a:spcPts val="180"/>
              </a:spcBef>
            </a:pPr>
            <a:r>
              <a:rPr lang="en-US" sz="900" dirty="0">
                <a:latin typeface="Arial"/>
                <a:cs typeface="Arial"/>
              </a:rPr>
              <a:t>Whenever a cache miss occurs at a Web Proxy, the proxy first checks a number of neighboring proxies to see if one of them contains the requested document. If such a check fails, the proxy forwards the request to the Web Server responsible for the document. It is traditionally deployed with Web Cache belonging to the same organization or institution. </a:t>
            </a:r>
            <a:endParaRPr sz="900" dirty="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223260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Example:</a:t>
            </a:r>
            <a:r>
              <a:rPr sz="500" spc="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Caching</a:t>
            </a:r>
            <a:r>
              <a:rPr sz="500" spc="-1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and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replication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in</a:t>
            </a:r>
            <a:r>
              <a:rPr sz="500" spc="-1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the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Web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Web-</a:t>
            </a:r>
            <a:r>
              <a:rPr dirty="0"/>
              <a:t>cache</a:t>
            </a:r>
            <a:r>
              <a:rPr spc="-10" dirty="0"/>
              <a:t> consistency</a:t>
            </a:r>
          </a:p>
        </p:txBody>
      </p:sp>
      <p:sp>
        <p:nvSpPr>
          <p:cNvPr id="4" name="object 4"/>
          <p:cNvSpPr/>
          <p:nvPr/>
        </p:nvSpPr>
        <p:spPr>
          <a:xfrm>
            <a:off x="3489769" y="1569618"/>
            <a:ext cx="26670" cy="0"/>
          </a:xfrm>
          <a:custGeom>
            <a:avLst/>
            <a:gdLst/>
            <a:ahLst/>
            <a:cxnLst/>
            <a:rect l="l" t="t" r="r" b="b"/>
            <a:pathLst>
              <a:path w="26670">
                <a:moveTo>
                  <a:pt x="0" y="0"/>
                </a:moveTo>
                <a:lnTo>
                  <a:pt x="26568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620479" y="2136444"/>
            <a:ext cx="26670" cy="0"/>
          </a:xfrm>
          <a:custGeom>
            <a:avLst/>
            <a:gdLst/>
            <a:ahLst/>
            <a:cxnLst/>
            <a:rect l="l" t="t" r="r" b="b"/>
            <a:pathLst>
              <a:path w="26669">
                <a:moveTo>
                  <a:pt x="0" y="0"/>
                </a:moveTo>
                <a:lnTo>
                  <a:pt x="26568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31063" y="470520"/>
            <a:ext cx="3942715" cy="1939289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44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How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to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guarantee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freshness?</a:t>
            </a:r>
            <a:endParaRPr sz="10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309"/>
              </a:spcBef>
            </a:pPr>
            <a:r>
              <a:rPr sz="900" spc="-65" dirty="0">
                <a:latin typeface="Arial"/>
                <a:cs typeface="Arial"/>
              </a:rPr>
              <a:t>To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prevent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stale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information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returned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client:</a:t>
            </a:r>
            <a:endParaRPr sz="900">
              <a:latin typeface="Arial"/>
              <a:cs typeface="Arial"/>
            </a:endParaRPr>
          </a:p>
          <a:p>
            <a:pPr marL="281940" marR="22225" indent="-120650">
              <a:lnSpc>
                <a:spcPct val="111600"/>
              </a:lnSpc>
              <a:spcBef>
                <a:spcPts val="395"/>
              </a:spcBef>
              <a:buClr>
                <a:srgbClr val="3333B2"/>
              </a:buClr>
              <a:buFont typeface="Menlo"/>
              <a:buChar char="•"/>
              <a:tabLst>
                <a:tab pos="282575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Option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1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let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cache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contact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original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content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still </a:t>
            </a:r>
            <a:r>
              <a:rPr sz="900" dirty="0">
                <a:latin typeface="Arial"/>
                <a:cs typeface="Arial"/>
              </a:rPr>
              <a:t>up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date.</a:t>
            </a:r>
            <a:endParaRPr sz="900">
              <a:latin typeface="Arial"/>
              <a:cs typeface="Arial"/>
            </a:endParaRPr>
          </a:p>
          <a:p>
            <a:pPr marL="281940" marR="17780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282575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Option</a:t>
            </a:r>
            <a:r>
              <a:rPr sz="900" spc="-4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2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Assign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expiration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time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</a:t>
            </a:r>
            <a:r>
              <a:rPr sz="1050" i="1" baseline="-15873" dirty="0">
                <a:latin typeface="Arial"/>
                <a:cs typeface="Arial"/>
              </a:rPr>
              <a:t>expire</a:t>
            </a:r>
            <a:r>
              <a:rPr sz="1050" i="1" spc="112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depends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how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long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ago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document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was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last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modified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cached.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</a:t>
            </a:r>
            <a:r>
              <a:rPr sz="1050" i="1" baseline="-15873" dirty="0">
                <a:latin typeface="Arial"/>
                <a:cs typeface="Arial"/>
              </a:rPr>
              <a:t>last</a:t>
            </a:r>
            <a:r>
              <a:rPr sz="1050" i="1" spc="52" baseline="-15873" dirty="0">
                <a:latin typeface="Arial"/>
                <a:cs typeface="Arial"/>
              </a:rPr>
              <a:t> </a:t>
            </a:r>
            <a:r>
              <a:rPr sz="1050" i="1" baseline="-15873" dirty="0">
                <a:latin typeface="Arial"/>
                <a:cs typeface="Arial"/>
              </a:rPr>
              <a:t>modified</a:t>
            </a:r>
            <a:r>
              <a:rPr sz="1050" i="1" spc="112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the </a:t>
            </a:r>
            <a:r>
              <a:rPr sz="900" dirty="0">
                <a:latin typeface="Arial"/>
                <a:cs typeface="Arial"/>
              </a:rPr>
              <a:t>last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modification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time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document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(as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recorded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owner),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and </a:t>
            </a:r>
            <a:r>
              <a:rPr sz="900" i="1" dirty="0">
                <a:latin typeface="Arial"/>
                <a:cs typeface="Arial"/>
              </a:rPr>
              <a:t>T</a:t>
            </a:r>
            <a:r>
              <a:rPr sz="1050" i="1" baseline="-15873" dirty="0">
                <a:latin typeface="Arial"/>
                <a:cs typeface="Arial"/>
              </a:rPr>
              <a:t>cached</a:t>
            </a:r>
            <a:r>
              <a:rPr sz="1050" i="1" spc="112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time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was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cached,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then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000">
              <a:latin typeface="Arial"/>
              <a:cs typeface="Arial"/>
            </a:endParaRPr>
          </a:p>
          <a:p>
            <a:pPr marL="1012190">
              <a:lnSpc>
                <a:spcPct val="100000"/>
              </a:lnSpc>
            </a:pPr>
            <a:r>
              <a:rPr sz="1350" i="1" baseline="12345" dirty="0">
                <a:latin typeface="Arial"/>
                <a:cs typeface="Arial"/>
              </a:rPr>
              <a:t>T</a:t>
            </a:r>
            <a:r>
              <a:rPr sz="700" i="1" dirty="0">
                <a:latin typeface="Arial"/>
                <a:cs typeface="Arial"/>
              </a:rPr>
              <a:t>expire</a:t>
            </a:r>
            <a:r>
              <a:rPr sz="700" i="1" spc="155" dirty="0">
                <a:latin typeface="Arial"/>
                <a:cs typeface="Arial"/>
              </a:rPr>
              <a:t> </a:t>
            </a:r>
            <a:r>
              <a:rPr sz="1350" spc="277" baseline="12345" dirty="0">
                <a:latin typeface="Arial"/>
                <a:cs typeface="Arial"/>
              </a:rPr>
              <a:t>=</a:t>
            </a:r>
            <a:r>
              <a:rPr sz="1350" spc="44" baseline="12345" dirty="0">
                <a:latin typeface="Arial"/>
                <a:cs typeface="Arial"/>
              </a:rPr>
              <a:t> </a:t>
            </a:r>
            <a:r>
              <a:rPr sz="1350" i="1" baseline="12345" dirty="0">
                <a:latin typeface="Times New Roman"/>
                <a:cs typeface="Times New Roman"/>
              </a:rPr>
              <a:t>α</a:t>
            </a:r>
            <a:r>
              <a:rPr sz="1350" baseline="12345" dirty="0">
                <a:latin typeface="Arial"/>
                <a:cs typeface="Arial"/>
              </a:rPr>
              <a:t>(</a:t>
            </a:r>
            <a:r>
              <a:rPr sz="1350" i="1" baseline="12345" dirty="0">
                <a:latin typeface="Arial"/>
                <a:cs typeface="Arial"/>
              </a:rPr>
              <a:t>T</a:t>
            </a:r>
            <a:r>
              <a:rPr sz="700" i="1" dirty="0">
                <a:latin typeface="Arial"/>
                <a:cs typeface="Arial"/>
              </a:rPr>
              <a:t>cached</a:t>
            </a:r>
            <a:r>
              <a:rPr sz="700" i="1" spc="45" dirty="0">
                <a:latin typeface="Arial"/>
                <a:cs typeface="Arial"/>
              </a:rPr>
              <a:t> </a:t>
            </a:r>
            <a:r>
              <a:rPr sz="1350" i="1" baseline="12345" dirty="0">
                <a:latin typeface="Menlo"/>
                <a:cs typeface="Menlo"/>
              </a:rPr>
              <a:t>−</a:t>
            </a:r>
            <a:r>
              <a:rPr sz="1350" i="1" baseline="12345" dirty="0">
                <a:latin typeface="Arial"/>
                <a:cs typeface="Arial"/>
              </a:rPr>
              <a:t>T</a:t>
            </a:r>
            <a:r>
              <a:rPr sz="700" i="1" dirty="0">
                <a:latin typeface="Arial"/>
                <a:cs typeface="Arial"/>
              </a:rPr>
              <a:t>last</a:t>
            </a:r>
            <a:r>
              <a:rPr sz="700" i="1" spc="165" dirty="0">
                <a:latin typeface="Arial"/>
                <a:cs typeface="Arial"/>
              </a:rPr>
              <a:t> </a:t>
            </a:r>
            <a:r>
              <a:rPr sz="700" i="1" dirty="0">
                <a:latin typeface="Arial"/>
                <a:cs typeface="Arial"/>
              </a:rPr>
              <a:t>modified</a:t>
            </a:r>
            <a:r>
              <a:rPr sz="1350" baseline="12345" dirty="0">
                <a:latin typeface="Arial"/>
                <a:cs typeface="Arial"/>
              </a:rPr>
              <a:t>)</a:t>
            </a:r>
            <a:r>
              <a:rPr sz="1350" spc="-104" baseline="12345" dirty="0">
                <a:latin typeface="Arial"/>
                <a:cs typeface="Arial"/>
              </a:rPr>
              <a:t> </a:t>
            </a:r>
            <a:r>
              <a:rPr sz="1350" spc="277" baseline="12345" dirty="0">
                <a:latin typeface="Arial"/>
                <a:cs typeface="Arial"/>
              </a:rPr>
              <a:t>+</a:t>
            </a:r>
            <a:r>
              <a:rPr sz="1350" spc="-120" baseline="12345" dirty="0">
                <a:latin typeface="Arial"/>
                <a:cs typeface="Arial"/>
              </a:rPr>
              <a:t> </a:t>
            </a:r>
            <a:r>
              <a:rPr sz="1350" i="1" spc="-15" baseline="12345" dirty="0">
                <a:latin typeface="Arial"/>
                <a:cs typeface="Arial"/>
              </a:rPr>
              <a:t>T</a:t>
            </a:r>
            <a:r>
              <a:rPr sz="700" i="1" spc="-10" dirty="0">
                <a:latin typeface="Arial"/>
                <a:cs typeface="Arial"/>
              </a:rPr>
              <a:t>cached</a:t>
            </a:r>
            <a:endParaRPr sz="700">
              <a:latin typeface="Arial"/>
              <a:cs typeface="Arial"/>
            </a:endParaRPr>
          </a:p>
          <a:p>
            <a:pPr marL="277495">
              <a:lnSpc>
                <a:spcPct val="100000"/>
              </a:lnSpc>
              <a:spcBef>
                <a:spcPts val="770"/>
              </a:spcBef>
            </a:pPr>
            <a:r>
              <a:rPr sz="900" dirty="0">
                <a:latin typeface="Arial"/>
                <a:cs typeface="Arial"/>
              </a:rPr>
              <a:t>with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85" dirty="0">
                <a:latin typeface="Times New Roman"/>
                <a:cs typeface="Times New Roman"/>
              </a:rPr>
              <a:t>α</a:t>
            </a:r>
            <a:r>
              <a:rPr sz="900" i="1" spc="25" dirty="0">
                <a:latin typeface="Times New Roman"/>
                <a:cs typeface="Times New Roman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0</a:t>
            </a:r>
            <a:r>
              <a:rPr sz="900" i="1" dirty="0">
                <a:latin typeface="Arial"/>
                <a:cs typeface="Arial"/>
              </a:rPr>
              <a:t>.</a:t>
            </a:r>
            <a:r>
              <a:rPr sz="900" dirty="0">
                <a:latin typeface="Arial"/>
                <a:cs typeface="Arial"/>
              </a:rPr>
              <a:t>2.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Until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</a:t>
            </a:r>
            <a:r>
              <a:rPr sz="1050" i="1" baseline="-15873" dirty="0">
                <a:latin typeface="Arial"/>
                <a:cs typeface="Arial"/>
              </a:rPr>
              <a:t>expire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document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considered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valid.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8" name="object 8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fade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7994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replication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264585" y="-1515"/>
            <a:ext cx="129032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4" action="ppaction://hlinksldjump"/>
              </a:rPr>
              <a:t>Example:</a:t>
            </a:r>
            <a:r>
              <a:rPr sz="500" spc="10" dirty="0">
                <a:solidFill>
                  <a:srgbClr val="FFFFFF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4" action="ppaction://hlinksldjump"/>
              </a:rPr>
              <a:t>Caching</a:t>
            </a:r>
            <a:r>
              <a:rPr sz="500" spc="-15" dirty="0">
                <a:solidFill>
                  <a:srgbClr val="FFFFFF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4" action="ppaction://hlinksldjump"/>
              </a:rPr>
              <a:t>and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4" action="ppaction://hlinksldjump"/>
              </a:rPr>
              <a:t>replication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4" action="ppaction://hlinksldjump"/>
              </a:rPr>
              <a:t>in</a:t>
            </a:r>
            <a:r>
              <a:rPr sz="500" spc="-15" dirty="0">
                <a:solidFill>
                  <a:srgbClr val="FFFFFF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4" action="ppaction://hlinksldjump"/>
              </a:rPr>
              <a:t>the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4" action="ppaction://hlinksldjump"/>
              </a:rPr>
              <a:t>Web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62890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Alternatives</a:t>
            </a:r>
            <a:r>
              <a:rPr sz="1200" spc="-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for</a:t>
            </a:r>
            <a:r>
              <a:rPr sz="12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caching</a:t>
            </a:r>
            <a:r>
              <a:rPr sz="12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and</a:t>
            </a:r>
            <a:r>
              <a:rPr sz="12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replication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80136" y="485216"/>
            <a:ext cx="3847886" cy="174558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54748" y="2314248"/>
            <a:ext cx="3831590" cy="944244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58115" indent="-120650">
              <a:lnSpc>
                <a:spcPct val="100000"/>
              </a:lnSpc>
              <a:spcBef>
                <a:spcPts val="225"/>
              </a:spcBef>
              <a:buClr>
                <a:srgbClr val="3333B2"/>
              </a:buClr>
              <a:buFont typeface="Menlo"/>
              <a:buChar char="•"/>
              <a:tabLst>
                <a:tab pos="158750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Database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copy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edge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same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origin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server</a:t>
            </a:r>
            <a:endParaRPr sz="900">
              <a:latin typeface="Arial"/>
              <a:cs typeface="Arial"/>
            </a:endParaRPr>
          </a:p>
          <a:p>
            <a:pPr marL="158115" marR="30480" indent="-120650">
              <a:lnSpc>
                <a:spcPct val="111600"/>
              </a:lnSpc>
              <a:buClr>
                <a:srgbClr val="3333B2"/>
              </a:buClr>
              <a:buFont typeface="Menlo"/>
              <a:buChar char="•"/>
              <a:tabLst>
                <a:tab pos="158750" algn="l"/>
              </a:tabLst>
            </a:pP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Content-aware</a:t>
            </a:r>
            <a:r>
              <a:rPr sz="900" spc="-1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cache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check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(normal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query)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answered </a:t>
            </a:r>
            <a:r>
              <a:rPr sz="900" spc="-20" dirty="0">
                <a:latin typeface="Arial"/>
                <a:cs typeface="Arial"/>
              </a:rPr>
              <a:t>with </a:t>
            </a:r>
            <a:r>
              <a:rPr sz="900" spc="-10" dirty="0">
                <a:latin typeface="Arial"/>
                <a:cs typeface="Arial"/>
              </a:rPr>
              <a:t>cached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data.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Requires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knows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about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cached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edge.</a:t>
            </a:r>
            <a:endParaRPr sz="900">
              <a:latin typeface="Arial"/>
              <a:cs typeface="Arial"/>
            </a:endParaRPr>
          </a:p>
          <a:p>
            <a:pPr marL="158115" marR="49530" indent="-120650">
              <a:lnSpc>
                <a:spcPct val="111600"/>
              </a:lnSpc>
              <a:buClr>
                <a:srgbClr val="3333B2"/>
              </a:buClr>
              <a:buFont typeface="Menlo"/>
              <a:buChar char="•"/>
              <a:tabLst>
                <a:tab pos="158750" algn="l"/>
              </a:tabLst>
            </a:pP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Content-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blind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cache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store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query,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result.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exact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same </a:t>
            </a:r>
            <a:r>
              <a:rPr sz="900" dirty="0">
                <a:latin typeface="Arial"/>
                <a:cs typeface="Arial"/>
              </a:rPr>
              <a:t>query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issued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again,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return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result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cache.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4324</TotalTime>
  <Words>6073</Words>
  <Application>Microsoft Office PowerPoint</Application>
  <PresentationFormat>Custom</PresentationFormat>
  <Paragraphs>745</Paragraphs>
  <Slides>76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76</vt:i4>
      </vt:variant>
    </vt:vector>
  </HeadingPairs>
  <TitlesOfParts>
    <vt:vector size="83" baseType="lpstr">
      <vt:lpstr>Aptos</vt:lpstr>
      <vt:lpstr>Arial</vt:lpstr>
      <vt:lpstr>Calibri</vt:lpstr>
      <vt:lpstr>Menlo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Data-centric consistency models</vt:lpstr>
      <vt:lpstr>PowerPoint Presentation</vt:lpstr>
      <vt:lpstr>Sequential consistency</vt:lpstr>
      <vt:lpstr>PowerPoint Presentation</vt:lpstr>
      <vt:lpstr>PowerPoint Presentation</vt:lpstr>
      <vt:lpstr>PowerPoint Presentation</vt:lpstr>
      <vt:lpstr>PowerPoint Presentation</vt:lpstr>
      <vt:lpstr>How tricky can it get?</vt:lpstr>
      <vt:lpstr>Causal consistency</vt:lpstr>
      <vt:lpstr>Consistency models, serializability, transactions</vt:lpstr>
      <vt:lpstr>Grouping operations</vt:lpstr>
      <vt:lpstr>Grouping operations</vt:lpstr>
      <vt:lpstr>PowerPoint Presentation</vt:lpstr>
      <vt:lpstr>Eventual consistency</vt:lpstr>
      <vt:lpstr>Eventual consistency</vt:lpstr>
      <vt:lpstr>Continuous Consistency</vt:lpstr>
      <vt:lpstr>PowerPoint Presentation</vt:lpstr>
      <vt:lpstr>PowerPoint Presentation</vt:lpstr>
      <vt:lpstr>PowerPoint Presentation</vt:lpstr>
      <vt:lpstr>Consistency for mobile users</vt:lpstr>
      <vt:lpstr>Consistency for mobile users</vt:lpstr>
      <vt:lpstr>Basic architecture</vt:lpstr>
      <vt:lpstr>Client-centric consistency: notation</vt:lpstr>
      <vt:lpstr>Monotonic reads</vt:lpstr>
      <vt:lpstr>Monotonic reads</vt:lpstr>
      <vt:lpstr>Monotonic writes</vt:lpstr>
      <vt:lpstr>Monotonic writes</vt:lpstr>
      <vt:lpstr>Read your writes</vt:lpstr>
      <vt:lpstr>Read your writes</vt:lpstr>
      <vt:lpstr>Writes follow reads</vt:lpstr>
      <vt:lpstr>Writes follow reads</vt:lpstr>
      <vt:lpstr>Example: ZooKeeper consistency</vt:lpstr>
      <vt:lpstr>PowerPoint Presentation</vt:lpstr>
      <vt:lpstr>Replica placement</vt:lpstr>
      <vt:lpstr>Replica placement</vt:lpstr>
      <vt:lpstr>Replica placement</vt:lpstr>
      <vt:lpstr>Replica placement</vt:lpstr>
      <vt:lpstr>Content replication</vt:lpstr>
      <vt:lpstr>Content replication</vt:lpstr>
      <vt:lpstr>PowerPoint Presentation</vt:lpstr>
      <vt:lpstr>PowerPoint Presentation</vt:lpstr>
      <vt:lpstr>Content distribution</vt:lpstr>
      <vt:lpstr>Content distribution: client/server system</vt:lpstr>
      <vt:lpstr>Content distribution</vt:lpstr>
      <vt:lpstr>Content distribution</vt:lpstr>
      <vt:lpstr>Content distribution</vt:lpstr>
      <vt:lpstr>Content distribution</vt:lpstr>
      <vt:lpstr>Content distribution</vt:lpstr>
      <vt:lpstr>Managing replicated objects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Replicated-write protocols</vt:lpstr>
      <vt:lpstr>Continuous consistency: Numerical errors</vt:lpstr>
      <vt:lpstr>PowerPoint Presentation</vt:lpstr>
      <vt:lpstr>PowerPoint Presentation</vt:lpstr>
      <vt:lpstr>Continuous consistency: Numerical errors</vt:lpstr>
      <vt:lpstr>Continuous consistency: Numerical errors</vt:lpstr>
      <vt:lpstr>Continuous consistency: Numerical errors</vt:lpstr>
      <vt:lpstr>Continuous consistency: Numerical errors</vt:lpstr>
      <vt:lpstr>Continuous consistency: Numerical errors</vt:lpstr>
      <vt:lpstr>Implementing client-centric consistency</vt:lpstr>
      <vt:lpstr>Implementing client-centric consistency</vt:lpstr>
      <vt:lpstr>Implementing client-centric consistency</vt:lpstr>
      <vt:lpstr>Implementing client-centric consistency</vt:lpstr>
      <vt:lpstr>Implementing client-centric consistency</vt:lpstr>
      <vt:lpstr>PowerPoint Presentation</vt:lpstr>
      <vt:lpstr>PowerPoint Presentation</vt:lpstr>
      <vt:lpstr>Web-cache consistency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Distributed Systems   (4th edition, version 01)</dc:title>
  <cp:lastModifiedBy>FA21-BAF-072 (MUHAMMAD KAWISH  )</cp:lastModifiedBy>
  <cp:revision>27</cp:revision>
  <dcterms:created xsi:type="dcterms:W3CDTF">2023-04-27T06:31:27Z</dcterms:created>
  <dcterms:modified xsi:type="dcterms:W3CDTF">2025-02-01T15:54:22Z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2023-04-27T00:00:00Z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2023-04-27T00:00:00Z</vt:filetime>
  </property>
  <property fmtid="{D5CDD505-2E9C-101B-9397-08002B2CF9AE}" pid="5" name="PTEX.Fullbanner">
    <vt:lpwstr>This is pdfTeX, Version 3.141592653-2.6-1.40.24 (TeX Live 2022) kpathsea version 6.3.4</vt:lpwstr>
  </property>
  <property fmtid="{D5CDD505-2E9C-101B-9397-08002B2CF9AE}" pid="6" name="Producer">
    <vt:lpwstr>pdfTeX-1.40.24</vt:lpwstr>
  </property>
</Properties>
</file>